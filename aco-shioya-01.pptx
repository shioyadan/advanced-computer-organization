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5" r:id="rId1"/>
  </p:sldMasterIdLst>
  <p:notesMasterIdLst>
    <p:notesMasterId r:id="rId112"/>
  </p:notesMasterIdLst>
  <p:sldIdLst>
    <p:sldId id="263" r:id="rId2"/>
    <p:sldId id="492" r:id="rId3"/>
    <p:sldId id="264" r:id="rId4"/>
    <p:sldId id="266" r:id="rId5"/>
    <p:sldId id="267" r:id="rId6"/>
    <p:sldId id="268" r:id="rId7"/>
    <p:sldId id="269" r:id="rId8"/>
    <p:sldId id="270" r:id="rId9"/>
    <p:sldId id="311" r:id="rId10"/>
    <p:sldId id="274" r:id="rId11"/>
    <p:sldId id="316" r:id="rId12"/>
    <p:sldId id="273" r:id="rId13"/>
    <p:sldId id="277" r:id="rId14"/>
    <p:sldId id="276" r:id="rId15"/>
    <p:sldId id="278" r:id="rId16"/>
    <p:sldId id="279" r:id="rId17"/>
    <p:sldId id="280" r:id="rId18"/>
    <p:sldId id="281" r:id="rId19"/>
    <p:sldId id="282" r:id="rId20"/>
    <p:sldId id="291" r:id="rId21"/>
    <p:sldId id="283" r:id="rId22"/>
    <p:sldId id="284" r:id="rId23"/>
    <p:sldId id="285" r:id="rId24"/>
    <p:sldId id="286" r:id="rId25"/>
    <p:sldId id="287" r:id="rId26"/>
    <p:sldId id="288" r:id="rId27"/>
    <p:sldId id="289" r:id="rId28"/>
    <p:sldId id="290" r:id="rId29"/>
    <p:sldId id="304" r:id="rId30"/>
    <p:sldId id="293" r:id="rId31"/>
    <p:sldId id="294" r:id="rId32"/>
    <p:sldId id="296" r:id="rId33"/>
    <p:sldId id="301" r:id="rId34"/>
    <p:sldId id="299" r:id="rId35"/>
    <p:sldId id="300" r:id="rId36"/>
    <p:sldId id="319" r:id="rId37"/>
    <p:sldId id="303" r:id="rId38"/>
    <p:sldId id="292" r:id="rId39"/>
    <p:sldId id="302" r:id="rId40"/>
    <p:sldId id="298" r:id="rId41"/>
    <p:sldId id="297" r:id="rId42"/>
    <p:sldId id="306" r:id="rId43"/>
    <p:sldId id="328" r:id="rId44"/>
    <p:sldId id="275" r:id="rId45"/>
    <p:sldId id="312" r:id="rId46"/>
    <p:sldId id="314" r:id="rId47"/>
    <p:sldId id="320" r:id="rId48"/>
    <p:sldId id="321" r:id="rId49"/>
    <p:sldId id="323" r:id="rId50"/>
    <p:sldId id="324" r:id="rId51"/>
    <p:sldId id="325" r:id="rId52"/>
    <p:sldId id="326" r:id="rId53"/>
    <p:sldId id="307" r:id="rId54"/>
    <p:sldId id="329" r:id="rId55"/>
    <p:sldId id="309" r:id="rId56"/>
    <p:sldId id="310" r:id="rId57"/>
    <p:sldId id="327" r:id="rId58"/>
    <p:sldId id="330" r:id="rId59"/>
    <p:sldId id="331" r:id="rId60"/>
    <p:sldId id="332" r:id="rId61"/>
    <p:sldId id="335" r:id="rId62"/>
    <p:sldId id="452" r:id="rId63"/>
    <p:sldId id="352" r:id="rId64"/>
    <p:sldId id="336" r:id="rId65"/>
    <p:sldId id="341" r:id="rId66"/>
    <p:sldId id="437" r:id="rId67"/>
    <p:sldId id="340" r:id="rId68"/>
    <p:sldId id="342" r:id="rId69"/>
    <p:sldId id="347" r:id="rId70"/>
    <p:sldId id="345" r:id="rId71"/>
    <p:sldId id="346" r:id="rId72"/>
    <p:sldId id="348" r:id="rId73"/>
    <p:sldId id="413" r:id="rId74"/>
    <p:sldId id="414" r:id="rId75"/>
    <p:sldId id="415" r:id="rId76"/>
    <p:sldId id="438" r:id="rId77"/>
    <p:sldId id="416" r:id="rId78"/>
    <p:sldId id="494" r:id="rId79"/>
    <p:sldId id="439" r:id="rId80"/>
    <p:sldId id="495" r:id="rId81"/>
    <p:sldId id="369" r:id="rId82"/>
    <p:sldId id="488" r:id="rId83"/>
    <p:sldId id="490" r:id="rId84"/>
    <p:sldId id="489" r:id="rId85"/>
    <p:sldId id="491" r:id="rId86"/>
    <p:sldId id="493" r:id="rId87"/>
    <p:sldId id="496" r:id="rId88"/>
    <p:sldId id="497" r:id="rId89"/>
    <p:sldId id="498" r:id="rId90"/>
    <p:sldId id="499" r:id="rId91"/>
    <p:sldId id="521" r:id="rId92"/>
    <p:sldId id="522" r:id="rId93"/>
    <p:sldId id="523" r:id="rId94"/>
    <p:sldId id="524" r:id="rId95"/>
    <p:sldId id="525" r:id="rId96"/>
    <p:sldId id="906" r:id="rId97"/>
    <p:sldId id="907" r:id="rId98"/>
    <p:sldId id="343" r:id="rId99"/>
    <p:sldId id="351" r:id="rId100"/>
    <p:sldId id="349" r:id="rId101"/>
    <p:sldId id="917" r:id="rId102"/>
    <p:sldId id="909" r:id="rId103"/>
    <p:sldId id="908" r:id="rId104"/>
    <p:sldId id="910" r:id="rId105"/>
    <p:sldId id="911" r:id="rId106"/>
    <p:sldId id="912" r:id="rId107"/>
    <p:sldId id="913" r:id="rId108"/>
    <p:sldId id="914" r:id="rId109"/>
    <p:sldId id="915" r:id="rId110"/>
    <p:sldId id="916" r:id="rId11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99"/>
    <a:srgbClr val="009999"/>
    <a:srgbClr val="FFFFFF"/>
    <a:srgbClr val="31869D"/>
    <a:srgbClr val="4444E8"/>
    <a:srgbClr val="4E4EF6"/>
    <a:srgbClr val="5555FF"/>
    <a:srgbClr val="4141FF"/>
    <a:srgbClr val="6666FF"/>
    <a:srgbClr val="2525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00" autoAdjust="0"/>
    <p:restoredTop sz="91397" autoAdjust="0"/>
  </p:normalViewPr>
  <p:slideViewPr>
    <p:cSldViewPr>
      <p:cViewPr varScale="1">
        <p:scale>
          <a:sx n="161" d="100"/>
          <a:sy n="161" d="100"/>
        </p:scale>
        <p:origin x="360" y="88"/>
      </p:cViewPr>
      <p:guideLst>
        <p:guide orient="horz" pos="2160"/>
        <p:guide pos="3840"/>
      </p:guideLst>
    </p:cSldViewPr>
  </p:slideViewPr>
  <p:outlineViewPr>
    <p:cViewPr>
      <p:scale>
        <a:sx n="33" d="100"/>
        <a:sy n="33" d="100"/>
      </p:scale>
      <p:origin x="0" y="-22210"/>
    </p:cViewPr>
  </p:outlineViewPr>
  <p:notesTextViewPr>
    <p:cViewPr>
      <p:scale>
        <a:sx n="100" d="100"/>
        <a:sy n="100" d="100"/>
      </p:scale>
      <p:origin x="0" y="0"/>
    </p:cViewPr>
  </p:notesTextViewPr>
  <p:notesViewPr>
    <p:cSldViewPr>
      <p:cViewPr varScale="1">
        <p:scale>
          <a:sx n="65" d="100"/>
          <a:sy n="65" d="100"/>
        </p:scale>
        <p:origin x="2386" y="62"/>
      </p:cViewPr>
      <p:guideLst/>
    </p:cSldViewPr>
  </p:notesViewPr>
  <p:gridSpacing cx="90001" cy="90001"/>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BE53D4-1A7B-4FFE-8A95-4265B045F058}" type="datetimeFigureOut">
              <a:rPr kumimoji="1" lang="ja-JP" altLang="en-US" smtClean="0"/>
              <a:t>2026/4/20</a:t>
            </a:fld>
            <a:endParaRPr kumimoji="1" lang="ja-JP" altLang="en-US"/>
          </a:p>
        </p:txBody>
      </p:sp>
      <p:sp>
        <p:nvSpPr>
          <p:cNvPr id="4" name="スライド イメージ プレースホルダー 3"/>
          <p:cNvSpPr>
            <a:spLocks noGrp="1" noRot="1" noChangeAspect="1"/>
          </p:cNvSpPr>
          <p:nvPr>
            <p:ph type="sldImg" idx="2"/>
          </p:nvPr>
        </p:nvSpPr>
        <p:spPr>
          <a:xfrm>
            <a:off x="-50800" y="161925"/>
            <a:ext cx="6959600" cy="39147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A5F4D4-1F28-49A5-8AEE-E46B08553EC4}" type="slidenum">
              <a:rPr kumimoji="1" lang="ja-JP" altLang="en-US" smtClean="0"/>
              <a:t>‹#›</a:t>
            </a:fld>
            <a:endParaRPr kumimoji="1" lang="ja-JP" altLang="en-US"/>
          </a:p>
        </p:txBody>
      </p:sp>
    </p:spTree>
    <p:extLst>
      <p:ext uri="{BB962C8B-B14F-4D97-AF65-F5344CB8AC3E}">
        <p14:creationId xmlns:p14="http://schemas.microsoft.com/office/powerpoint/2010/main" val="169212330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1</a:t>
            </a:fld>
            <a:endParaRPr kumimoji="1" lang="ja-JP" altLang="en-US"/>
          </a:p>
        </p:txBody>
      </p:sp>
    </p:spTree>
    <p:extLst>
      <p:ext uri="{BB962C8B-B14F-4D97-AF65-F5344CB8AC3E}">
        <p14:creationId xmlns:p14="http://schemas.microsoft.com/office/powerpoint/2010/main" val="19292280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2D41652B-3AD4-4EDB-ADC3-5A33266A65F5}" type="slidenum">
              <a:rPr lang="en-US" altLang="ja-JP" smtClean="0"/>
              <a:pPr/>
              <a:t>53</a:t>
            </a:fld>
            <a:endParaRPr lang="en-US" altLang="ja-JP"/>
          </a:p>
        </p:txBody>
      </p:sp>
    </p:spTree>
    <p:extLst>
      <p:ext uri="{BB962C8B-B14F-4D97-AF65-F5344CB8AC3E}">
        <p14:creationId xmlns:p14="http://schemas.microsoft.com/office/powerpoint/2010/main" val="8811319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2D41652B-3AD4-4EDB-ADC3-5A33266A65F5}" type="slidenum">
              <a:rPr lang="en-US" altLang="ja-JP" smtClean="0"/>
              <a:pPr/>
              <a:t>54</a:t>
            </a:fld>
            <a:endParaRPr lang="en-US" altLang="ja-JP"/>
          </a:p>
        </p:txBody>
      </p:sp>
    </p:spTree>
    <p:extLst>
      <p:ext uri="{BB962C8B-B14F-4D97-AF65-F5344CB8AC3E}">
        <p14:creationId xmlns:p14="http://schemas.microsoft.com/office/powerpoint/2010/main" val="2483965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2D41652B-3AD4-4EDB-ADC3-5A33266A65F5}" type="slidenum">
              <a:rPr lang="en-US" altLang="ja-JP" smtClean="0"/>
              <a:pPr/>
              <a:t>55</a:t>
            </a:fld>
            <a:endParaRPr lang="en-US" altLang="ja-JP"/>
          </a:p>
        </p:txBody>
      </p:sp>
    </p:spTree>
    <p:extLst>
      <p:ext uri="{BB962C8B-B14F-4D97-AF65-F5344CB8AC3E}">
        <p14:creationId xmlns:p14="http://schemas.microsoft.com/office/powerpoint/2010/main" val="33917112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2D41652B-3AD4-4EDB-ADC3-5A33266A65F5}" type="slidenum">
              <a:rPr lang="en-US" altLang="ja-JP" smtClean="0"/>
              <a:pPr/>
              <a:t>56</a:t>
            </a:fld>
            <a:endParaRPr lang="en-US" altLang="ja-JP"/>
          </a:p>
        </p:txBody>
      </p:sp>
    </p:spTree>
    <p:extLst>
      <p:ext uri="{BB962C8B-B14F-4D97-AF65-F5344CB8AC3E}">
        <p14:creationId xmlns:p14="http://schemas.microsoft.com/office/powerpoint/2010/main" val="1010480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1" name="正方形/長方形 20"/>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sp>
        <p:nvSpPr>
          <p:cNvPr id="7170" name="Rectangle 2"/>
          <p:cNvSpPr>
            <a:spLocks noGrp="1" noChangeArrowheads="1"/>
          </p:cNvSpPr>
          <p:nvPr>
            <p:ph type="ctrTitle"/>
          </p:nvPr>
        </p:nvSpPr>
        <p:spPr>
          <a:xfrm>
            <a:off x="935943" y="278965"/>
            <a:ext cx="10560117" cy="2340026"/>
          </a:xfrm>
          <a:prstGeom prst="rect">
            <a:avLst/>
          </a:prstGeom>
        </p:spPr>
        <p:txBody>
          <a:bodyPr anchor="ctr"/>
          <a:lstStyle>
            <a:lvl1pPr algn="ctr">
              <a:defRPr sz="3200" b="1">
                <a:solidFill>
                  <a:schemeClr val="bg1"/>
                </a:solidFill>
              </a:defRPr>
            </a:lvl1pPr>
          </a:lstStyle>
          <a:p>
            <a:r>
              <a:rPr lang="ja-JP" altLang="en-US"/>
              <a:t>マスター タイトルの書式設定</a:t>
            </a:r>
            <a:endParaRPr lang="ja-JP" altLang="en-US" dirty="0"/>
          </a:p>
        </p:txBody>
      </p:sp>
      <p:sp>
        <p:nvSpPr>
          <p:cNvPr id="7171" name="Rectangle 3"/>
          <p:cNvSpPr>
            <a:spLocks noGrp="1" noChangeArrowheads="1"/>
          </p:cNvSpPr>
          <p:nvPr>
            <p:ph type="subTitle" idx="1"/>
          </p:nvPr>
        </p:nvSpPr>
        <p:spPr>
          <a:xfrm>
            <a:off x="2255957" y="4149008"/>
            <a:ext cx="9600107" cy="1440017"/>
          </a:xfrm>
        </p:spPr>
        <p:txBody>
          <a:bodyPr anchor="b"/>
          <a:lstStyle>
            <a:lvl1pPr marL="0" indent="0" algn="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endParaRPr lang="ja-JP" altLang="en-US" dirty="0"/>
          </a:p>
        </p:txBody>
      </p:sp>
      <p:sp>
        <p:nvSpPr>
          <p:cNvPr id="5" name="正方形/長方形 4"/>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6" name="直線コネクタ 5"/>
          <p:cNvCxnSpPr>
            <a:cxnSpLocks/>
          </p:cNvCxnSpPr>
          <p:nvPr/>
        </p:nvCxnSpPr>
        <p:spPr bwMode="auto">
          <a:xfrm>
            <a:off x="695940" y="3068996"/>
            <a:ext cx="10710119" cy="0"/>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2" name="正方形/長方形 1">
            <a:extLst>
              <a:ext uri="{FF2B5EF4-FFF2-40B4-BE49-F238E27FC236}">
                <a16:creationId xmlns:a16="http://schemas.microsoft.com/office/drawing/2014/main" id="{813827C5-4275-31A2-853D-AD2CF14BBA98}"/>
              </a:ext>
            </a:extLst>
          </p:cNvPr>
          <p:cNvSpPr/>
          <p:nvPr userDrawn="1"/>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3" name="直線コネクタ 2">
            <a:extLst>
              <a:ext uri="{FF2B5EF4-FFF2-40B4-BE49-F238E27FC236}">
                <a16:creationId xmlns:a16="http://schemas.microsoft.com/office/drawing/2014/main" id="{7B0AFE8A-4F74-BD8B-20D9-616B7AE7DADC}"/>
              </a:ext>
            </a:extLst>
          </p:cNvPr>
          <p:cNvCxnSpPr/>
          <p:nvPr userDrawn="1"/>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685929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a:t>マスター タイトルの書式設定</a:t>
            </a:r>
            <a:endParaRPr lang="ja-JP" altLang="en-US" dirty="0"/>
          </a:p>
        </p:txBody>
      </p:sp>
      <p:sp>
        <p:nvSpPr>
          <p:cNvPr id="8"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2" name="テキスト プレースホルダー 11"/>
          <p:cNvSpPr>
            <a:spLocks noGrp="1"/>
          </p:cNvSpPr>
          <p:nvPr>
            <p:ph type="body" sz="quarter" idx="10"/>
          </p:nvPr>
        </p:nvSpPr>
        <p:spPr>
          <a:xfrm>
            <a:off x="1775952" y="1088974"/>
            <a:ext cx="8730097" cy="5219751"/>
          </a:xfrm>
        </p:spPr>
        <p:txBody>
          <a:bodyPr/>
          <a:lstStyle>
            <a:lvl2pPr>
              <a:buClr>
                <a:schemeClr val="accent5">
                  <a:lumMod val="60000"/>
                  <a:lumOff val="40000"/>
                </a:schemeClr>
              </a:buClr>
              <a:defRPr/>
            </a:lvl2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6"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2" name="Rectangle 20">
            <a:extLst>
              <a:ext uri="{FF2B5EF4-FFF2-40B4-BE49-F238E27FC236}">
                <a16:creationId xmlns:a16="http://schemas.microsoft.com/office/drawing/2014/main" id="{7D04F621-C209-E75B-F5AE-4EC68827B138}"/>
              </a:ext>
            </a:extLst>
          </p:cNvPr>
          <p:cNvSpPr txBox="1">
            <a:spLocks noChangeArrowheads="1"/>
          </p:cNvSpPr>
          <p:nvPr userDrawn="1"/>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Tree>
    <p:extLst>
      <p:ext uri="{BB962C8B-B14F-4D97-AF65-F5344CB8AC3E}">
        <p14:creationId xmlns:p14="http://schemas.microsoft.com/office/powerpoint/2010/main" val="29127011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a:t>マスター タイトルの書式設定</a:t>
            </a:r>
            <a:endParaRPr lang="ja-JP" altLang="en-US" dirty="0"/>
          </a:p>
        </p:txBody>
      </p:sp>
      <p:sp>
        <p:nvSpPr>
          <p:cNvPr id="7"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pPr/>
              <a:t>‹#›</a:t>
            </a:fld>
            <a:endParaRPr kumimoji="1" lang="ja-JP" altLang="en-US" dirty="0"/>
          </a:p>
        </p:txBody>
      </p:sp>
    </p:spTree>
    <p:extLst>
      <p:ext uri="{BB962C8B-B14F-4D97-AF65-F5344CB8AC3E}">
        <p14:creationId xmlns:p14="http://schemas.microsoft.com/office/powerpoint/2010/main" val="27121136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セクションタイトル">
    <p:bg>
      <p:bgPr>
        <a:solidFill>
          <a:schemeClr val="accent5"/>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pPr/>
              <a:t>‹#›</a:t>
            </a:fld>
            <a:endParaRPr kumimoji="1" lang="ja-JP" altLang="en-US"/>
          </a:p>
        </p:txBody>
      </p:sp>
      <p:sp>
        <p:nvSpPr>
          <p:cNvPr id="3" name="タイトル 2"/>
          <p:cNvSpPr>
            <a:spLocks noGrp="1"/>
          </p:cNvSpPr>
          <p:nvPr>
            <p:ph type="title"/>
          </p:nvPr>
        </p:nvSpPr>
        <p:spPr>
          <a:xfrm>
            <a:off x="1325947" y="2078985"/>
            <a:ext cx="9600107" cy="990011"/>
          </a:xfrm>
        </p:spPr>
        <p:txBody>
          <a:bodyPr anchor="b"/>
          <a:lstStyle>
            <a:lvl1pPr algn="ctr">
              <a:defRPr sz="3200" b="0"/>
            </a:lvl1pPr>
          </a:lstStyle>
          <a:p>
            <a:r>
              <a:rPr kumimoji="1" lang="ja-JP" altLang="en-US"/>
              <a:t>マスター タイトルの書式設定</a:t>
            </a:r>
            <a:endParaRPr kumimoji="1" lang="ja-JP" altLang="en-US" dirty="0"/>
          </a:p>
        </p:txBody>
      </p:sp>
      <p:cxnSp>
        <p:nvCxnSpPr>
          <p:cNvPr id="5" name="直線コネクタ 4">
            <a:extLst>
              <a:ext uri="{FF2B5EF4-FFF2-40B4-BE49-F238E27FC236}">
                <a16:creationId xmlns:a16="http://schemas.microsoft.com/office/drawing/2014/main" id="{7A61BF30-B8F3-19FE-7662-81071F95A583}"/>
              </a:ext>
            </a:extLst>
          </p:cNvPr>
          <p:cNvCxnSpPr>
            <a:cxnSpLocks/>
          </p:cNvCxnSpPr>
          <p:nvPr/>
        </p:nvCxnSpPr>
        <p:spPr bwMode="auto">
          <a:xfrm>
            <a:off x="695940" y="3068996"/>
            <a:ext cx="10710119" cy="0"/>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1793524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tx1">
                    <a:lumMod val="75000"/>
                    <a:lumOff val="25000"/>
                  </a:schemeClr>
                </a:solidFill>
              </a:defRPr>
            </a:lvl1pPr>
          </a:lstStyle>
          <a:p>
            <a:fld id="{D2D8002D-B5B0-4BAC-B1F6-782DDCCE6D9C}" type="slidenum">
              <a:rPr kumimoji="1" lang="ja-JP" altLang="en-US" smtClean="0"/>
              <a:pPr/>
              <a:t>‹#›</a:t>
            </a:fld>
            <a:endParaRPr kumimoji="1" lang="ja-JP" altLang="en-US"/>
          </a:p>
        </p:txBody>
      </p:sp>
    </p:spTree>
    <p:extLst>
      <p:ext uri="{BB962C8B-B14F-4D97-AF65-F5344CB8AC3E}">
        <p14:creationId xmlns:p14="http://schemas.microsoft.com/office/powerpoint/2010/main" val="3396113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1775952" y="1088975"/>
            <a:ext cx="10080112" cy="52200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22" name="Rectangle 2"/>
          <p:cNvSpPr>
            <a:spLocks noGrp="1" noChangeArrowheads="1"/>
          </p:cNvSpPr>
          <p:nvPr>
            <p:ph type="title"/>
          </p:nvPr>
        </p:nvSpPr>
        <p:spPr bwMode="auto">
          <a:xfrm>
            <a:off x="575939" y="0"/>
            <a:ext cx="11616061"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dirty="0"/>
              <a:t>マスタ タイトルの書式設定</a:t>
            </a:r>
          </a:p>
        </p:txBody>
      </p:sp>
      <p:sp>
        <p:nvSpPr>
          <p:cNvPr id="6164"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pPr/>
              <a:t>‹#›</a:t>
            </a:fld>
            <a:endParaRPr kumimoji="1" lang="ja-JP" altLang="en-US" dirty="0"/>
          </a:p>
        </p:txBody>
      </p:sp>
      <p:sp>
        <p:nvSpPr>
          <p:cNvPr id="6" name="正方形/長方形 5"/>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3" name="正方形/長方形 2">
            <a:extLst>
              <a:ext uri="{FF2B5EF4-FFF2-40B4-BE49-F238E27FC236}">
                <a16:creationId xmlns:a16="http://schemas.microsoft.com/office/drawing/2014/main" id="{20B7F19E-FA20-B8CB-C604-8C1C29606C60}"/>
              </a:ext>
            </a:extLst>
          </p:cNvPr>
          <p:cNvSpPr/>
          <p:nvPr userDrawn="1"/>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Tree>
    <p:extLst>
      <p:ext uri="{BB962C8B-B14F-4D97-AF65-F5344CB8AC3E}">
        <p14:creationId xmlns:p14="http://schemas.microsoft.com/office/powerpoint/2010/main" val="594288497"/>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Lst>
  <p:hf hdr="0" ftr="0" dt="0"/>
  <p:txStyles>
    <p:titleStyle>
      <a:lvl1pPr algn="l" rtl="0" eaLnBrk="1" fontAlgn="base" hangingPunct="1">
        <a:spcBef>
          <a:spcPct val="0"/>
        </a:spcBef>
        <a:spcAft>
          <a:spcPct val="0"/>
        </a:spcAft>
        <a:defRPr kumimoji="1" sz="28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5pPr>
      <a:lvl6pPr marL="4572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6pPr>
      <a:lvl7pPr marL="9144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7pPr>
      <a:lvl8pPr marL="13716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8pPr>
      <a:lvl9pPr marL="18288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5">
            <a:lumMod val="60000"/>
            <a:lumOff val="40000"/>
          </a:schemeClr>
        </a:buClr>
        <a:buSzPct val="9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5">
            <a:lumMod val="60000"/>
            <a:lumOff val="40000"/>
          </a:schemeClr>
        </a:buClr>
        <a:buSzPct val="70000"/>
        <a:buFont typeface="Segoe UI" panose="020B0502040204020203" pitchFamily="34" charset="0"/>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chemeClr val="accent5">
            <a:lumMod val="60000"/>
            <a:lumOff val="40000"/>
          </a:schemeClr>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people.eecs.berkeley.edu/~krste/papers/EECS-2016-1.pdf" TargetMode="Externa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hyperlink" Target="https://github.com/riscv/riscv-profiles/tree/main/src" TargetMode="Externa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hyperlink" Target="https://lists.riscv.org/g/tech-profiles/attachment/321/0/A%20case%20to%20remove%20the%20C%20extension%20from%20app%20profiles%2C%20part%202%20-%20Profiles%20TG%2020231005.pdf"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hyperlink" Target="https://github.com/rsd-devel/rsd" TargetMode="Externa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jpe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tier4.jp/media/detail/?sys_id=7J02G1SrOq4QhedPXvwB4V&amp;category=NEWS" TargetMode="Externa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nsitexe.com/akaria/processor/ns/ns72a/" TargetMode="Externa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www.sifive.com/" TargetMode="Externa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865953" y="1988985"/>
            <a:ext cx="8460094" cy="630007"/>
          </a:xfrm>
        </p:spPr>
        <p:txBody>
          <a:bodyPr/>
          <a:lstStyle/>
          <a:p>
            <a:r>
              <a:rPr lang="ja-JP" altLang="en-US" sz="2800"/>
              <a:t>先進計算機構成論 </a:t>
            </a:r>
            <a:r>
              <a:rPr lang="en-US" altLang="ja-JP" sz="2800" dirty="0"/>
              <a:t>01</a:t>
            </a:r>
            <a:endParaRPr lang="ja-JP" altLang="en-US" sz="2800" dirty="0"/>
          </a:p>
        </p:txBody>
      </p:sp>
      <p:sp>
        <p:nvSpPr>
          <p:cNvPr id="6" name="サブタイトル 2"/>
          <p:cNvSpPr txBox="1">
            <a:spLocks/>
          </p:cNvSpPr>
          <p:nvPr/>
        </p:nvSpPr>
        <p:spPr bwMode="auto">
          <a:xfrm>
            <a:off x="2405960" y="3699003"/>
            <a:ext cx="7650085" cy="54000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marL="0" indent="0" algn="r" rtl="0" eaLnBrk="1" fontAlgn="base" hangingPunct="1">
              <a:lnSpc>
                <a:spcPct val="150000"/>
              </a:lnSpc>
              <a:spcBef>
                <a:spcPts val="0"/>
              </a:spcBef>
              <a:spcAft>
                <a:spcPts val="0"/>
              </a:spcAft>
              <a:buClr>
                <a:schemeClr val="accent5"/>
              </a:buClr>
              <a:buFont typeface="Wingdings" pitchFamily="2" charset="2"/>
              <a:buNone/>
              <a:tabLst>
                <a:tab pos="2057400" algn="l"/>
              </a:tabLst>
              <a:defRPr kumimoji="1" sz="2000">
                <a:solidFill>
                  <a:schemeClr val="bg1"/>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algn="ctr">
              <a:lnSpc>
                <a:spcPct val="100000"/>
              </a:lnSpc>
            </a:pPr>
            <a:r>
              <a:rPr lang="ja-JP" altLang="en-US" sz="1600" kern="0" dirty="0"/>
              <a:t>東京大学大学院 情報理工学系研究科 創造情報学専攻</a:t>
            </a:r>
            <a:endParaRPr lang="en-US" altLang="ja-JP" sz="1600" kern="0" dirty="0"/>
          </a:p>
          <a:p>
            <a:pPr algn="ctr">
              <a:lnSpc>
                <a:spcPct val="100000"/>
              </a:lnSpc>
            </a:pPr>
            <a:r>
              <a:rPr lang="ja-JP" altLang="en-US" sz="1600" kern="0" dirty="0"/>
              <a:t>塩谷 亮太 </a:t>
            </a:r>
            <a:endParaRPr lang="en-US" altLang="ja-JP" sz="1600" kern="0" dirty="0"/>
          </a:p>
          <a:p>
            <a:pPr algn="ctr">
              <a:lnSpc>
                <a:spcPct val="100000"/>
              </a:lnSpc>
            </a:pPr>
            <a:r>
              <a:rPr lang="en-US" altLang="ja-JP" sz="1600" kern="0" dirty="0"/>
              <a:t>shioya@ci.i.u-tokyo.ac.jp</a:t>
            </a:r>
            <a:endParaRPr lang="ja-JP" altLang="en-US" sz="1600" kern="0" dirty="0"/>
          </a:p>
        </p:txBody>
      </p:sp>
    </p:spTree>
    <p:extLst>
      <p:ext uri="{BB962C8B-B14F-4D97-AF65-F5344CB8AC3E}">
        <p14:creationId xmlns:p14="http://schemas.microsoft.com/office/powerpoint/2010/main" val="3814304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前回のアンケートの結果</a:t>
            </a:r>
          </a:p>
        </p:txBody>
      </p:sp>
      <p:sp>
        <p:nvSpPr>
          <p:cNvPr id="3" name="テキスト プレースホルダー 2"/>
          <p:cNvSpPr>
            <a:spLocks noGrp="1"/>
          </p:cNvSpPr>
          <p:nvPr>
            <p:ph type="body" sz="quarter" idx="10"/>
          </p:nvPr>
        </p:nvSpPr>
        <p:spPr/>
        <p:txBody>
          <a:bodyPr/>
          <a:lstStyle/>
          <a:p>
            <a:r>
              <a:rPr kumimoji="1" lang="ja-JP" altLang="en-US" dirty="0"/>
              <a:t>「聞いた事はある」以上の人の割合</a:t>
            </a:r>
            <a:endParaRPr kumimoji="1" lang="en-US" altLang="ja-JP" dirty="0"/>
          </a:p>
          <a:p>
            <a:pPr marL="817200" lvl="1" indent="-457200">
              <a:buFont typeface="+mj-lt"/>
              <a:buAutoNum type="arabicPeriod"/>
            </a:pPr>
            <a:r>
              <a:rPr kumimoji="1" lang="ja-JP" altLang="en-US" dirty="0"/>
              <a:t>組み合わせ回路と順序回路  </a:t>
            </a:r>
            <a:r>
              <a:rPr kumimoji="1" lang="en-US" altLang="ja-JP" dirty="0"/>
              <a:t>	82%</a:t>
            </a:r>
          </a:p>
          <a:p>
            <a:pPr marL="817200" lvl="1" indent="-457200">
              <a:buFont typeface="+mj-lt"/>
              <a:buAutoNum type="arabicPeriod"/>
            </a:pPr>
            <a:r>
              <a:rPr kumimoji="1" lang="ja-JP" altLang="en-US" dirty="0"/>
              <a:t>命令とは何か</a:t>
            </a:r>
            <a:r>
              <a:rPr kumimoji="1" lang="en-US" altLang="ja-JP" dirty="0"/>
              <a:t> 			91%</a:t>
            </a:r>
          </a:p>
          <a:p>
            <a:pPr marL="817200" lvl="1" indent="-457200">
              <a:buFont typeface="+mj-lt"/>
              <a:buAutoNum type="arabicPeriod"/>
            </a:pPr>
            <a:r>
              <a:rPr kumimoji="1" lang="ja-JP" altLang="en-US" dirty="0"/>
              <a:t>命令パイプライン          </a:t>
            </a:r>
            <a:r>
              <a:rPr kumimoji="1" lang="en-US" altLang="ja-JP" dirty="0"/>
              <a:t>		88%</a:t>
            </a:r>
          </a:p>
          <a:p>
            <a:pPr marL="817200" lvl="1" indent="-457200">
              <a:buFont typeface="+mj-lt"/>
              <a:buAutoNum type="arabicPeriod"/>
            </a:pPr>
            <a:r>
              <a:rPr kumimoji="1" lang="ja-JP" altLang="en-US" dirty="0"/>
              <a:t>キャッシュ                </a:t>
            </a:r>
            <a:r>
              <a:rPr kumimoji="1" lang="en-US" altLang="ja-JP" dirty="0"/>
              <a:t>		94%</a:t>
            </a:r>
          </a:p>
          <a:p>
            <a:pPr marL="817200" lvl="1" indent="-457200">
              <a:buFont typeface="+mj-lt"/>
              <a:buAutoNum type="arabicPeriod"/>
            </a:pPr>
            <a:r>
              <a:rPr kumimoji="1" lang="ja-JP" altLang="en-US" dirty="0"/>
              <a:t>スーパスカラ              </a:t>
            </a:r>
            <a:r>
              <a:rPr kumimoji="1" lang="en-US" altLang="ja-JP" dirty="0"/>
              <a:t>		73%</a:t>
            </a:r>
          </a:p>
        </p:txBody>
      </p:sp>
    </p:spTree>
    <p:extLst>
      <p:ext uri="{BB962C8B-B14F-4D97-AF65-F5344CB8AC3E}">
        <p14:creationId xmlns:p14="http://schemas.microsoft.com/office/powerpoint/2010/main" val="8823806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今日の内容：コンピュータの基本の復習</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コンピュータの基本</a:t>
            </a:r>
            <a:endParaRPr kumimoji="1" lang="en-US" altLang="ja-JP" dirty="0"/>
          </a:p>
          <a:p>
            <a:pPr marL="817200" lvl="1" indent="-457200">
              <a:buFont typeface="+mj-lt"/>
              <a:buAutoNum type="arabicPeriod"/>
            </a:pPr>
            <a:r>
              <a:rPr lang="ja-JP" altLang="en-US" dirty="0"/>
              <a:t>命令やプログラム，機械語とはなにか</a:t>
            </a:r>
            <a:endParaRPr lang="en-US" altLang="ja-JP" dirty="0"/>
          </a:p>
          <a:p>
            <a:pPr marL="817200" lvl="1" indent="-457200">
              <a:buFont typeface="+mj-lt"/>
              <a:buAutoNum type="arabicPeriod"/>
            </a:pPr>
            <a:r>
              <a:rPr kumimoji="1" lang="ja-JP" altLang="en-US" dirty="0"/>
              <a:t>単純な </a:t>
            </a:r>
            <a:r>
              <a:rPr kumimoji="1" lang="en-US" altLang="ja-JP" dirty="0"/>
              <a:t>CPU </a:t>
            </a:r>
            <a:r>
              <a:rPr kumimoji="1" lang="ja-JP" altLang="en-US" dirty="0"/>
              <a:t>の構造と動作</a:t>
            </a:r>
            <a:endParaRPr kumimoji="1" lang="en-US" altLang="ja-JP" dirty="0"/>
          </a:p>
          <a:p>
            <a:pPr marL="457200" indent="-457200">
              <a:buFont typeface="+mj-lt"/>
              <a:buAutoNum type="arabicPeriod"/>
            </a:pPr>
            <a:r>
              <a:rPr kumimoji="1" lang="en-US" altLang="ja-JP" dirty="0"/>
              <a:t>C </a:t>
            </a:r>
            <a:r>
              <a:rPr kumimoji="1" lang="ja-JP" altLang="en-US" dirty="0"/>
              <a:t>言語</a:t>
            </a:r>
            <a:r>
              <a:rPr lang="ja-JP" altLang="en-US" dirty="0"/>
              <a:t>で書かれた</a:t>
            </a:r>
            <a:r>
              <a:rPr kumimoji="1" lang="ja-JP" altLang="en-US" dirty="0"/>
              <a:t>プログラムの実行を考える</a:t>
            </a:r>
            <a:endParaRPr kumimoji="1" lang="en-US" altLang="ja-JP" dirty="0"/>
          </a:p>
          <a:p>
            <a:pPr marL="817200" lvl="1" indent="-457200">
              <a:buFont typeface="+mj-lt"/>
              <a:buAutoNum type="arabicPeriod"/>
            </a:pPr>
            <a:r>
              <a:rPr lang="en-US" altLang="ja-JP" dirty="0"/>
              <a:t>C </a:t>
            </a:r>
            <a:r>
              <a:rPr lang="ja-JP" altLang="en-US" dirty="0"/>
              <a:t>言語と機械語の対応</a:t>
            </a:r>
            <a:endParaRPr kumimoji="1" lang="en-US" altLang="ja-JP" dirty="0"/>
          </a:p>
          <a:p>
            <a:pPr marL="457200" indent="-457200">
              <a:buFont typeface="+mj-lt"/>
              <a:buAutoNum type="arabicPeriod"/>
            </a:pPr>
            <a:r>
              <a:rPr kumimoji="1" lang="ja-JP" altLang="en-US" dirty="0"/>
              <a:t>命令セットの例：</a:t>
            </a:r>
            <a:r>
              <a:rPr kumimoji="1" lang="en-US" altLang="ja-JP" dirty="0"/>
              <a:t>RISC-V</a:t>
            </a:r>
          </a:p>
          <a:p>
            <a:r>
              <a:rPr kumimoji="1" lang="ja-JP" altLang="en-US" dirty="0"/>
              <a:t>今回は予備知識があまりない人をターゲットにしています</a:t>
            </a:r>
            <a:endParaRPr kumimoji="1" lang="en-US" altLang="ja-JP" dirty="0"/>
          </a:p>
        </p:txBody>
      </p:sp>
    </p:spTree>
    <p:extLst>
      <p:ext uri="{BB962C8B-B14F-4D97-AF65-F5344CB8AC3E}">
        <p14:creationId xmlns:p14="http://schemas.microsoft.com/office/powerpoint/2010/main" val="2649275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lang="ja-JP" altLang="en-US" dirty="0"/>
              <a:t>命令やプログラム，機械語とはなにか</a:t>
            </a:r>
          </a:p>
        </p:txBody>
      </p:sp>
    </p:spTree>
    <p:extLst>
      <p:ext uri="{BB962C8B-B14F-4D97-AF65-F5344CB8AC3E}">
        <p14:creationId xmlns:p14="http://schemas.microsoft.com/office/powerpoint/2010/main" val="2317933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プログラム</a:t>
            </a:r>
          </a:p>
        </p:txBody>
      </p:sp>
      <p:sp>
        <p:nvSpPr>
          <p:cNvPr id="3" name="コンテンツ プレースホルダー 2"/>
          <p:cNvSpPr>
            <a:spLocks noGrp="1"/>
          </p:cNvSpPr>
          <p:nvPr>
            <p:ph type="body" sz="quarter" idx="10"/>
          </p:nvPr>
        </p:nvSpPr>
        <p:spPr>
          <a:prstGeom prst="rect">
            <a:avLst/>
          </a:prstGeom>
        </p:spPr>
        <p:txBody>
          <a:bodyPr/>
          <a:lstStyle/>
          <a:p>
            <a:r>
              <a:rPr lang="ja-JP" altLang="en-US" dirty="0"/>
              <a:t>プログラムとは</a:t>
            </a:r>
            <a:endParaRPr lang="en-US" altLang="ja-JP" dirty="0"/>
          </a:p>
          <a:p>
            <a:pPr lvl="1"/>
            <a:r>
              <a:rPr lang="ja-JP" altLang="en-US" dirty="0"/>
              <a:t>計算の手順を表したもの</a:t>
            </a:r>
            <a:endParaRPr lang="en-US" altLang="ja-JP" dirty="0"/>
          </a:p>
          <a:p>
            <a:pPr lvl="1"/>
            <a:r>
              <a:rPr lang="ja-JP" altLang="en-US" dirty="0"/>
              <a:t>実体：メモリの上にある，計算方法を指示する数字（命令）の列</a:t>
            </a:r>
            <a:endParaRPr lang="en-US" altLang="ja-JP" dirty="0"/>
          </a:p>
          <a:p>
            <a:r>
              <a:rPr lang="ja-JP" altLang="en-US" dirty="0"/>
              <a:t>（フォン）ノイマン型 </a:t>
            </a:r>
            <a:r>
              <a:rPr lang="en-US" altLang="ja-JP" dirty="0"/>
              <a:t>(von Neumann-type) </a:t>
            </a:r>
            <a:r>
              <a:rPr lang="ja-JP" altLang="en-US" dirty="0"/>
              <a:t>コンピュータ</a:t>
            </a:r>
            <a:endParaRPr lang="en-US" altLang="ja-JP" dirty="0"/>
          </a:p>
          <a:p>
            <a:pPr lvl="1"/>
            <a:r>
              <a:rPr lang="ja-JP" altLang="en-US" dirty="0"/>
              <a:t>プログラムに従って計算をする機械</a:t>
            </a:r>
            <a:endParaRPr lang="en-US" altLang="ja-JP" dirty="0"/>
          </a:p>
          <a:p>
            <a:pPr lvl="1"/>
            <a:r>
              <a:rPr lang="ja-JP" altLang="en-US" dirty="0"/>
              <a:t>メモリに格納された命令を取り出して順に実行</a:t>
            </a:r>
            <a:endParaRPr lang="en-US" altLang="ja-JP" dirty="0"/>
          </a:p>
          <a:p>
            <a:pPr lvl="1"/>
            <a:r>
              <a:rPr lang="ja-JP" altLang="en-US" dirty="0"/>
              <a:t>他にもあるけど，これが今日では主流</a:t>
            </a:r>
            <a:endParaRPr lang="en-US" altLang="ja-JP" dirty="0"/>
          </a:p>
          <a:p>
            <a:r>
              <a:rPr lang="ja-JP" altLang="en-US" dirty="0"/>
              <a:t>次項から，簡単な例を使って説明</a:t>
            </a:r>
            <a:endParaRPr lang="en-US" altLang="ja-JP" dirty="0"/>
          </a:p>
        </p:txBody>
      </p:sp>
    </p:spTree>
    <p:extLst>
      <p:ext uri="{BB962C8B-B14F-4D97-AF65-F5344CB8AC3E}">
        <p14:creationId xmlns:p14="http://schemas.microsoft.com/office/powerpoint/2010/main" val="25589907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例：</a:t>
            </a:r>
            <a:r>
              <a:rPr lang="en-US" altLang="ja-JP" dirty="0"/>
              <a:t>A + B - C</a:t>
            </a:r>
          </a:p>
        </p:txBody>
      </p:sp>
      <p:sp>
        <p:nvSpPr>
          <p:cNvPr id="3" name="コンテンツ プレースホルダー 2"/>
          <p:cNvSpPr>
            <a:spLocks noGrp="1"/>
          </p:cNvSpPr>
          <p:nvPr>
            <p:ph type="body" sz="quarter" idx="10"/>
          </p:nvPr>
        </p:nvSpPr>
        <p:spPr>
          <a:xfrm>
            <a:off x="2209800" y="1676400"/>
            <a:ext cx="7848600" cy="4903788"/>
          </a:xfrm>
          <a:prstGeom prst="rect">
            <a:avLst/>
          </a:prstGeom>
        </p:spPr>
        <p:txBody>
          <a:bodyPr/>
          <a:lstStyle/>
          <a:p>
            <a:r>
              <a:rPr lang="ja-JP" altLang="en-US" dirty="0"/>
              <a:t>「</a:t>
            </a:r>
            <a:r>
              <a:rPr lang="en-US" altLang="ja-JP" dirty="0"/>
              <a:t>A+B-C</a:t>
            </a:r>
            <a:r>
              <a:rPr lang="ja-JP" altLang="en-US" dirty="0"/>
              <a:t>」の計算の手順：</a:t>
            </a:r>
            <a:endParaRPr lang="en-US" altLang="ja-JP" dirty="0"/>
          </a:p>
          <a:p>
            <a:pPr marL="906462" lvl="1" indent="-457200">
              <a:buFont typeface="+mj-lt"/>
              <a:buAutoNum type="arabicPeriod"/>
            </a:pPr>
            <a:r>
              <a:rPr lang="en-US" altLang="ja-JP" dirty="0"/>
              <a:t>A </a:t>
            </a:r>
            <a:r>
              <a:rPr lang="ja-JP" altLang="en-US" dirty="0"/>
              <a:t>と </a:t>
            </a:r>
            <a:r>
              <a:rPr lang="en-US" altLang="ja-JP" dirty="0"/>
              <a:t>B </a:t>
            </a:r>
            <a:r>
              <a:rPr lang="ja-JP" altLang="en-US" dirty="0"/>
              <a:t>を足す</a:t>
            </a:r>
            <a:endParaRPr lang="en-US" altLang="ja-JP" dirty="0"/>
          </a:p>
          <a:p>
            <a:pPr marL="906462" lvl="1" indent="-457200">
              <a:buFont typeface="+mj-lt"/>
              <a:buAutoNum type="arabicPeriod"/>
            </a:pPr>
            <a:r>
              <a:rPr lang="en-US" altLang="ja-JP" dirty="0"/>
              <a:t>1. </a:t>
            </a:r>
            <a:r>
              <a:rPr lang="ja-JP" altLang="en-US" dirty="0"/>
              <a:t>の結果から </a:t>
            </a:r>
            <a:r>
              <a:rPr lang="en-US" altLang="ja-JP" dirty="0"/>
              <a:t>C </a:t>
            </a:r>
            <a:r>
              <a:rPr lang="ja-JP" altLang="en-US" dirty="0"/>
              <a:t>を引く</a:t>
            </a:r>
          </a:p>
          <a:p>
            <a:r>
              <a:rPr lang="ja-JP" altLang="en-US" dirty="0"/>
              <a:t>なんとなく形式的に表すと：</a:t>
            </a:r>
            <a:endParaRPr kumimoji="1" lang="en-US" altLang="ja-JP" dirty="0"/>
          </a:p>
          <a:p>
            <a:pPr marL="906462" lvl="1" indent="-457200">
              <a:buFont typeface="+mj-lt"/>
              <a:buAutoNum type="arabicPeriod"/>
            </a:pPr>
            <a:r>
              <a:rPr lang="en-US" altLang="ja-JP" dirty="0">
                <a:latin typeface="Consolas" panose="020B0609020204030204" pitchFamily="49" charset="0"/>
              </a:rPr>
              <a:t>add A, B </a:t>
            </a:r>
            <a:r>
              <a:rPr lang="ja-JP" altLang="en-US" dirty="0">
                <a:latin typeface="Consolas" panose="020B0609020204030204" pitchFamily="49" charset="0"/>
              </a:rPr>
              <a:t>→ </a:t>
            </a:r>
            <a:r>
              <a:rPr lang="en-US" altLang="ja-JP" dirty="0">
                <a:latin typeface="Consolas" panose="020B0609020204030204" pitchFamily="49" charset="0"/>
              </a:rPr>
              <a:t>D</a:t>
            </a:r>
            <a:r>
              <a:rPr lang="en-US" altLang="ja-JP" dirty="0"/>
              <a:t>	  </a:t>
            </a:r>
            <a:r>
              <a:rPr lang="en-US" altLang="ja-JP" dirty="0">
                <a:solidFill>
                  <a:schemeClr val="accent3">
                    <a:lumMod val="75000"/>
                  </a:schemeClr>
                </a:solidFill>
              </a:rPr>
              <a:t>// D </a:t>
            </a:r>
            <a:r>
              <a:rPr lang="ja-JP" altLang="en-US" dirty="0">
                <a:solidFill>
                  <a:schemeClr val="accent3">
                    <a:lumMod val="75000"/>
                  </a:schemeClr>
                </a:solidFill>
              </a:rPr>
              <a:t>は一時的に結果をおいておく変数</a:t>
            </a:r>
            <a:endParaRPr lang="en-US" altLang="ja-JP" dirty="0">
              <a:solidFill>
                <a:schemeClr val="accent3">
                  <a:lumMod val="75000"/>
                </a:schemeClr>
              </a:solidFill>
            </a:endParaRPr>
          </a:p>
          <a:p>
            <a:pPr marL="906462" lvl="1" indent="-457200">
              <a:buFont typeface="+mj-lt"/>
              <a:buAutoNum type="arabicPeriod"/>
            </a:pPr>
            <a:r>
              <a:rPr kumimoji="1" lang="en-US" altLang="ja-JP" dirty="0">
                <a:latin typeface="Consolas" panose="020B0609020204030204" pitchFamily="49" charset="0"/>
              </a:rPr>
              <a:t>sub </a:t>
            </a:r>
            <a:r>
              <a:rPr lang="en-US" altLang="ja-JP" dirty="0">
                <a:latin typeface="Consolas" panose="020B0609020204030204" pitchFamily="49" charset="0"/>
              </a:rPr>
              <a:t>D, C </a:t>
            </a:r>
            <a:r>
              <a:rPr lang="ja-JP" altLang="en-US" dirty="0">
                <a:latin typeface="Consolas" panose="020B0609020204030204" pitchFamily="49" charset="0"/>
              </a:rPr>
              <a:t>→ </a:t>
            </a:r>
            <a:r>
              <a:rPr lang="en-US" altLang="ja-JP" dirty="0">
                <a:latin typeface="Consolas" panose="020B0609020204030204" pitchFamily="49" charset="0"/>
              </a:rPr>
              <a:t>E</a:t>
            </a:r>
            <a:r>
              <a:rPr lang="en-US" altLang="ja-JP" dirty="0"/>
              <a:t>	  </a:t>
            </a:r>
            <a:r>
              <a:rPr lang="en-US" altLang="ja-JP" dirty="0">
                <a:solidFill>
                  <a:schemeClr val="accent3">
                    <a:lumMod val="75000"/>
                  </a:schemeClr>
                </a:solidFill>
              </a:rPr>
              <a:t>// E </a:t>
            </a:r>
            <a:r>
              <a:rPr lang="ja-JP" altLang="en-US" dirty="0">
                <a:solidFill>
                  <a:schemeClr val="accent3">
                    <a:lumMod val="75000"/>
                  </a:schemeClr>
                </a:solidFill>
              </a:rPr>
              <a:t>に </a:t>
            </a:r>
            <a:r>
              <a:rPr lang="en-US" altLang="ja-JP" dirty="0">
                <a:solidFill>
                  <a:schemeClr val="accent3">
                    <a:lumMod val="75000"/>
                  </a:schemeClr>
                </a:solidFill>
              </a:rPr>
              <a:t>A + B - C </a:t>
            </a:r>
            <a:r>
              <a:rPr lang="ja-JP" altLang="en-US" dirty="0">
                <a:solidFill>
                  <a:schemeClr val="accent3">
                    <a:lumMod val="75000"/>
                  </a:schemeClr>
                </a:solidFill>
              </a:rPr>
              <a:t>の結果</a:t>
            </a:r>
            <a:endParaRPr lang="en-US" altLang="ja-JP" dirty="0">
              <a:solidFill>
                <a:schemeClr val="accent3">
                  <a:lumMod val="75000"/>
                </a:schemeClr>
              </a:solidFill>
            </a:endParaRPr>
          </a:p>
        </p:txBody>
      </p:sp>
    </p:spTree>
    <p:extLst>
      <p:ext uri="{BB962C8B-B14F-4D97-AF65-F5344CB8AC3E}">
        <p14:creationId xmlns:p14="http://schemas.microsoft.com/office/powerpoint/2010/main" val="29833660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例：</a:t>
            </a:r>
            <a:r>
              <a:rPr lang="en-US" altLang="ja-JP" dirty="0"/>
              <a:t>A + B - C</a:t>
            </a:r>
          </a:p>
        </p:txBody>
      </p:sp>
      <p:sp>
        <p:nvSpPr>
          <p:cNvPr id="3" name="コンテンツ プレースホルダー 2"/>
          <p:cNvSpPr>
            <a:spLocks noGrp="1"/>
          </p:cNvSpPr>
          <p:nvPr>
            <p:ph type="body" sz="quarter" idx="10"/>
          </p:nvPr>
        </p:nvSpPr>
        <p:spPr>
          <a:xfrm>
            <a:off x="2135956" y="1178975"/>
            <a:ext cx="7848600" cy="4903788"/>
          </a:xfrm>
          <a:prstGeom prst="rect">
            <a:avLst/>
          </a:prstGeom>
        </p:spPr>
        <p:txBody>
          <a:bodyPr/>
          <a:lstStyle/>
          <a:p>
            <a:r>
              <a:rPr lang="ja-JP" altLang="en-US" dirty="0"/>
              <a:t>形式的に表すと</a:t>
            </a:r>
            <a:r>
              <a:rPr kumimoji="1" lang="ja-JP" altLang="en-US" dirty="0"/>
              <a:t>：</a:t>
            </a:r>
            <a:endParaRPr kumimoji="1" lang="en-US" altLang="ja-JP" dirty="0"/>
          </a:p>
          <a:p>
            <a:pPr marL="906462" lvl="1" indent="-457200">
              <a:buFont typeface="+mj-lt"/>
              <a:buAutoNum type="arabicPeriod"/>
            </a:pPr>
            <a:r>
              <a:rPr lang="en-US" altLang="ja-JP" dirty="0">
                <a:latin typeface="Consolas" panose="020B0609020204030204" pitchFamily="49" charset="0"/>
              </a:rPr>
              <a:t>add A, B </a:t>
            </a:r>
            <a:r>
              <a:rPr lang="ja-JP" altLang="en-US" dirty="0">
                <a:latin typeface="Consolas" panose="020B0609020204030204" pitchFamily="49" charset="0"/>
              </a:rPr>
              <a:t>→ </a:t>
            </a:r>
            <a:r>
              <a:rPr lang="en-US" altLang="ja-JP" dirty="0">
                <a:latin typeface="Consolas" panose="020B0609020204030204" pitchFamily="49" charset="0"/>
              </a:rPr>
              <a:t>D</a:t>
            </a:r>
            <a:r>
              <a:rPr lang="en-US" altLang="ja-JP" dirty="0"/>
              <a:t>	  </a:t>
            </a:r>
            <a:r>
              <a:rPr lang="en-US" altLang="ja-JP" dirty="0">
                <a:solidFill>
                  <a:schemeClr val="accent3">
                    <a:lumMod val="75000"/>
                  </a:schemeClr>
                </a:solidFill>
              </a:rPr>
              <a:t>// D </a:t>
            </a:r>
            <a:r>
              <a:rPr lang="ja-JP" altLang="en-US" dirty="0">
                <a:solidFill>
                  <a:schemeClr val="accent3">
                    <a:lumMod val="75000"/>
                  </a:schemeClr>
                </a:solidFill>
              </a:rPr>
              <a:t>は一時的に結果をおいておく変数</a:t>
            </a:r>
            <a:endParaRPr lang="en-US" altLang="ja-JP" dirty="0">
              <a:solidFill>
                <a:schemeClr val="accent3">
                  <a:lumMod val="75000"/>
                </a:schemeClr>
              </a:solidFill>
            </a:endParaRPr>
          </a:p>
          <a:p>
            <a:pPr marL="906462" lvl="1" indent="-457200">
              <a:buFont typeface="+mj-lt"/>
              <a:buAutoNum type="arabicPeriod"/>
            </a:pPr>
            <a:r>
              <a:rPr lang="en-US" altLang="ja-JP" dirty="0">
                <a:latin typeface="Consolas" panose="020B0609020204030204" pitchFamily="49" charset="0"/>
              </a:rPr>
              <a:t>sub D, C </a:t>
            </a:r>
            <a:r>
              <a:rPr lang="ja-JP" altLang="en-US" dirty="0">
                <a:latin typeface="Consolas" panose="020B0609020204030204" pitchFamily="49" charset="0"/>
              </a:rPr>
              <a:t>→ </a:t>
            </a:r>
            <a:r>
              <a:rPr lang="en-US" altLang="ja-JP" dirty="0">
                <a:latin typeface="Consolas" panose="020B0609020204030204" pitchFamily="49" charset="0"/>
              </a:rPr>
              <a:t>E</a:t>
            </a:r>
            <a:r>
              <a:rPr lang="en-US" altLang="ja-JP" dirty="0"/>
              <a:t>	  </a:t>
            </a:r>
            <a:r>
              <a:rPr lang="en-US" altLang="ja-JP" dirty="0">
                <a:solidFill>
                  <a:schemeClr val="accent3">
                    <a:lumMod val="75000"/>
                  </a:schemeClr>
                </a:solidFill>
              </a:rPr>
              <a:t>// E </a:t>
            </a:r>
            <a:r>
              <a:rPr lang="ja-JP" altLang="en-US" dirty="0">
                <a:solidFill>
                  <a:schemeClr val="accent3">
                    <a:lumMod val="75000"/>
                  </a:schemeClr>
                </a:solidFill>
              </a:rPr>
              <a:t>に </a:t>
            </a:r>
            <a:r>
              <a:rPr lang="en-US" altLang="ja-JP" dirty="0">
                <a:solidFill>
                  <a:schemeClr val="accent3">
                    <a:lumMod val="75000"/>
                  </a:schemeClr>
                </a:solidFill>
              </a:rPr>
              <a:t>A + B - C </a:t>
            </a:r>
            <a:r>
              <a:rPr lang="ja-JP" altLang="en-US" dirty="0">
                <a:solidFill>
                  <a:schemeClr val="accent3">
                    <a:lumMod val="75000"/>
                  </a:schemeClr>
                </a:solidFill>
              </a:rPr>
              <a:t>の結果</a:t>
            </a:r>
            <a:endParaRPr lang="en-US" altLang="ja-JP" dirty="0">
              <a:solidFill>
                <a:schemeClr val="accent3">
                  <a:lumMod val="75000"/>
                </a:schemeClr>
              </a:solidFill>
            </a:endParaRPr>
          </a:p>
          <a:p>
            <a:r>
              <a:rPr lang="ja-JP" altLang="en-US" dirty="0"/>
              <a:t>数字の列で表してみる：</a:t>
            </a:r>
            <a:endParaRPr lang="en-US" altLang="ja-JP" dirty="0"/>
          </a:p>
          <a:p>
            <a:pPr lvl="1"/>
            <a:r>
              <a:rPr lang="ja-JP" altLang="en-US" dirty="0"/>
              <a:t>変換の規則：</a:t>
            </a:r>
            <a:endParaRPr lang="en-US" altLang="ja-JP" dirty="0"/>
          </a:p>
          <a:p>
            <a:pPr lvl="1"/>
            <a:endParaRPr lang="en-US" altLang="ja-JP" dirty="0"/>
          </a:p>
          <a:p>
            <a:pPr lvl="1"/>
            <a:endParaRPr lang="en-US" altLang="ja-JP" dirty="0"/>
          </a:p>
          <a:p>
            <a:pPr lvl="1"/>
            <a:endParaRPr lang="en-US" altLang="ja-JP" dirty="0"/>
          </a:p>
          <a:p>
            <a:pPr lvl="1"/>
            <a:r>
              <a:rPr lang="ja-JP" altLang="en-US" dirty="0"/>
              <a:t>数列：</a:t>
            </a:r>
            <a:endParaRPr lang="en-US" altLang="ja-JP" dirty="0"/>
          </a:p>
          <a:p>
            <a:pPr marL="1354138" lvl="2" indent="-457200">
              <a:buFont typeface="+mj-lt"/>
              <a:buAutoNum type="arabicPeriod"/>
            </a:pPr>
            <a:r>
              <a:rPr lang="en-US" altLang="ja-JP" dirty="0"/>
              <a:t>0, 2, 3, 5		</a:t>
            </a:r>
            <a:r>
              <a:rPr lang="en-US" altLang="ja-JP" dirty="0">
                <a:solidFill>
                  <a:schemeClr val="accent5"/>
                </a:solidFill>
              </a:rPr>
              <a:t>// </a:t>
            </a:r>
            <a:r>
              <a:rPr lang="en-US" altLang="ja-JP" dirty="0">
                <a:solidFill>
                  <a:schemeClr val="accent5"/>
                </a:solidFill>
                <a:latin typeface="Consolas" panose="020B0609020204030204" pitchFamily="49" charset="0"/>
              </a:rPr>
              <a:t>add(0) A(2), B(3) </a:t>
            </a:r>
            <a:r>
              <a:rPr lang="ja-JP" altLang="en-US" dirty="0">
                <a:solidFill>
                  <a:schemeClr val="accent5"/>
                </a:solidFill>
                <a:latin typeface="Consolas" panose="020B0609020204030204" pitchFamily="49" charset="0"/>
              </a:rPr>
              <a:t>→ </a:t>
            </a:r>
            <a:r>
              <a:rPr lang="en-US" altLang="ja-JP" dirty="0">
                <a:solidFill>
                  <a:schemeClr val="accent5"/>
                </a:solidFill>
                <a:latin typeface="Consolas" panose="020B0609020204030204" pitchFamily="49" charset="0"/>
              </a:rPr>
              <a:t>D(5)</a:t>
            </a:r>
          </a:p>
          <a:p>
            <a:pPr marL="1354138" lvl="2" indent="-457200">
              <a:buFont typeface="+mj-lt"/>
              <a:buAutoNum type="arabicPeriod"/>
            </a:pPr>
            <a:r>
              <a:rPr lang="en-US" altLang="ja-JP" dirty="0"/>
              <a:t>1, 5, 4, 6		</a:t>
            </a:r>
            <a:r>
              <a:rPr lang="en-US" altLang="ja-JP" dirty="0">
                <a:solidFill>
                  <a:schemeClr val="accent5"/>
                </a:solidFill>
              </a:rPr>
              <a:t>// </a:t>
            </a:r>
            <a:r>
              <a:rPr lang="en-US" altLang="ja-JP" dirty="0">
                <a:solidFill>
                  <a:schemeClr val="accent5"/>
                </a:solidFill>
                <a:latin typeface="Consolas" panose="020B0609020204030204" pitchFamily="49" charset="0"/>
              </a:rPr>
              <a:t>sub(1) D(5), C(4) </a:t>
            </a:r>
            <a:r>
              <a:rPr lang="ja-JP" altLang="en-US" dirty="0">
                <a:solidFill>
                  <a:schemeClr val="accent5"/>
                </a:solidFill>
                <a:latin typeface="Consolas" panose="020B0609020204030204" pitchFamily="49" charset="0"/>
              </a:rPr>
              <a:t>→ </a:t>
            </a:r>
            <a:r>
              <a:rPr lang="en-US" altLang="ja-JP" dirty="0">
                <a:solidFill>
                  <a:schemeClr val="accent5"/>
                </a:solidFill>
                <a:latin typeface="Consolas" panose="020B0609020204030204" pitchFamily="49" charset="0"/>
              </a:rPr>
              <a:t>E(6)</a:t>
            </a:r>
          </a:p>
        </p:txBody>
      </p:sp>
      <p:graphicFrame>
        <p:nvGraphicFramePr>
          <p:cNvPr id="5" name="表 4"/>
          <p:cNvGraphicFramePr>
            <a:graphicFrameLocks noGrp="1"/>
          </p:cNvGraphicFramePr>
          <p:nvPr>
            <p:extLst>
              <p:ext uri="{D42A27DB-BD31-4B8C-83A1-F6EECF244321}">
                <p14:modId xmlns:p14="http://schemas.microsoft.com/office/powerpoint/2010/main" val="3321745557"/>
              </p:ext>
            </p:extLst>
          </p:nvPr>
        </p:nvGraphicFramePr>
        <p:xfrm>
          <a:off x="2945966" y="3699003"/>
          <a:ext cx="6120071" cy="670560"/>
        </p:xfrm>
        <a:graphic>
          <a:graphicData uri="http://schemas.openxmlformats.org/drawingml/2006/table">
            <a:tbl>
              <a:tblPr firstRow="1" bandRow="1">
                <a:tableStyleId>{9D7B26C5-4107-4FEC-AEDC-1716B250A1EF}</a:tableStyleId>
              </a:tblPr>
              <a:tblGrid>
                <a:gridCol w="1112741">
                  <a:extLst>
                    <a:ext uri="{9D8B030D-6E8A-4147-A177-3AD203B41FA5}">
                      <a16:colId xmlns:a16="http://schemas.microsoft.com/office/drawing/2014/main" val="20000"/>
                    </a:ext>
                  </a:extLst>
                </a:gridCol>
                <a:gridCol w="741827">
                  <a:extLst>
                    <a:ext uri="{9D8B030D-6E8A-4147-A177-3AD203B41FA5}">
                      <a16:colId xmlns:a16="http://schemas.microsoft.com/office/drawing/2014/main" val="20001"/>
                    </a:ext>
                  </a:extLst>
                </a:gridCol>
                <a:gridCol w="741827">
                  <a:extLst>
                    <a:ext uri="{9D8B030D-6E8A-4147-A177-3AD203B41FA5}">
                      <a16:colId xmlns:a16="http://schemas.microsoft.com/office/drawing/2014/main" val="20002"/>
                    </a:ext>
                  </a:extLst>
                </a:gridCol>
                <a:gridCol w="741827">
                  <a:extLst>
                    <a:ext uri="{9D8B030D-6E8A-4147-A177-3AD203B41FA5}">
                      <a16:colId xmlns:a16="http://schemas.microsoft.com/office/drawing/2014/main" val="20003"/>
                    </a:ext>
                  </a:extLst>
                </a:gridCol>
                <a:gridCol w="741827">
                  <a:extLst>
                    <a:ext uri="{9D8B030D-6E8A-4147-A177-3AD203B41FA5}">
                      <a16:colId xmlns:a16="http://schemas.microsoft.com/office/drawing/2014/main" val="20004"/>
                    </a:ext>
                  </a:extLst>
                </a:gridCol>
                <a:gridCol w="741827">
                  <a:extLst>
                    <a:ext uri="{9D8B030D-6E8A-4147-A177-3AD203B41FA5}">
                      <a16:colId xmlns:a16="http://schemas.microsoft.com/office/drawing/2014/main" val="20005"/>
                    </a:ext>
                  </a:extLst>
                </a:gridCol>
                <a:gridCol w="741827">
                  <a:extLst>
                    <a:ext uri="{9D8B030D-6E8A-4147-A177-3AD203B41FA5}">
                      <a16:colId xmlns:a16="http://schemas.microsoft.com/office/drawing/2014/main" val="20006"/>
                    </a:ext>
                  </a:extLst>
                </a:gridCol>
                <a:gridCol w="556368">
                  <a:extLst>
                    <a:ext uri="{9D8B030D-6E8A-4147-A177-3AD203B41FA5}">
                      <a16:colId xmlns:a16="http://schemas.microsoft.com/office/drawing/2014/main" val="20007"/>
                    </a:ext>
                  </a:extLst>
                </a:gridCol>
              </a:tblGrid>
              <a:tr h="325840">
                <a:tc>
                  <a:txBody>
                    <a:bodyPr/>
                    <a:lstStyle/>
                    <a:p>
                      <a:pPr algn="ctr"/>
                      <a:r>
                        <a:rPr kumimoji="1" lang="ja-JP" altLang="en-US" sz="1600" b="0" dirty="0">
                          <a:latin typeface="メイリオ" panose="020B0604030504040204" pitchFamily="50" charset="-128"/>
                          <a:ea typeface="メイリオ" panose="020B0604030504040204" pitchFamily="50" charset="-128"/>
                        </a:rPr>
                        <a:t>意味：</a:t>
                      </a: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add</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sub</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A</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B</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C</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D</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E</a:t>
                      </a:r>
                      <a:endParaRPr kumimoji="1" lang="ja-JP" altLang="en-US" sz="1600" b="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0"/>
                  </a:ext>
                </a:extLst>
              </a:tr>
              <a:tr h="325840">
                <a:tc>
                  <a:txBody>
                    <a:bodyPr/>
                    <a:lstStyle/>
                    <a:p>
                      <a:pPr algn="ctr"/>
                      <a:r>
                        <a:rPr kumimoji="1" lang="ja-JP" altLang="en-US" sz="1600" b="0" dirty="0">
                          <a:latin typeface="メイリオ" panose="020B0604030504040204" pitchFamily="50" charset="-128"/>
                          <a:ea typeface="メイリオ" panose="020B0604030504040204" pitchFamily="50" charset="-128"/>
                        </a:rPr>
                        <a:t>数字：</a:t>
                      </a: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0</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1</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2</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3</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4</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5</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6</a:t>
                      </a:r>
                      <a:endParaRPr kumimoji="1" lang="ja-JP" altLang="en-US" sz="1600" b="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4944626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例：</a:t>
            </a:r>
            <a:r>
              <a:rPr lang="en-US" altLang="ja-JP" dirty="0"/>
              <a:t>A + B - C</a:t>
            </a:r>
          </a:p>
        </p:txBody>
      </p:sp>
      <p:sp>
        <p:nvSpPr>
          <p:cNvPr id="3" name="コンテンツ プレースホルダー 2"/>
          <p:cNvSpPr>
            <a:spLocks noGrp="1"/>
          </p:cNvSpPr>
          <p:nvPr>
            <p:ph type="body" sz="quarter" idx="10"/>
          </p:nvPr>
        </p:nvSpPr>
        <p:spPr>
          <a:xfrm>
            <a:off x="2209800" y="1448978"/>
            <a:ext cx="7848600" cy="4903788"/>
          </a:xfrm>
          <a:prstGeom prst="rect">
            <a:avLst/>
          </a:prstGeom>
        </p:spPr>
        <p:txBody>
          <a:bodyPr/>
          <a:lstStyle/>
          <a:p>
            <a:r>
              <a:rPr lang="ja-JP" altLang="en-US" dirty="0"/>
              <a:t>数列を</a:t>
            </a:r>
            <a:r>
              <a:rPr lang="en-US" altLang="ja-JP" dirty="0"/>
              <a:t>1</a:t>
            </a:r>
            <a:r>
              <a:rPr lang="ja-JP" altLang="en-US" dirty="0"/>
              <a:t>次元に展開すると：</a:t>
            </a:r>
            <a:endParaRPr lang="en-US" altLang="ja-JP" dirty="0"/>
          </a:p>
          <a:p>
            <a:pPr lvl="1"/>
            <a:r>
              <a:rPr lang="en-US" altLang="ja-JP" dirty="0">
                <a:solidFill>
                  <a:schemeClr val="accent5"/>
                </a:solidFill>
              </a:rPr>
              <a:t>0, 2, 3, 5</a:t>
            </a:r>
            <a:r>
              <a:rPr lang="en-US" altLang="ja-JP" dirty="0"/>
              <a:t>, </a:t>
            </a:r>
            <a:r>
              <a:rPr lang="en-US" altLang="ja-JP" dirty="0">
                <a:solidFill>
                  <a:schemeClr val="accent6"/>
                </a:solidFill>
              </a:rPr>
              <a:t>1, 5, 4, 6</a:t>
            </a:r>
            <a:br>
              <a:rPr lang="en-US" altLang="ja-JP" dirty="0">
                <a:solidFill>
                  <a:schemeClr val="accent6"/>
                </a:solidFill>
              </a:rPr>
            </a:br>
            <a:endParaRPr lang="en-US" altLang="ja-JP" dirty="0">
              <a:solidFill>
                <a:schemeClr val="accent6"/>
              </a:solidFill>
            </a:endParaRPr>
          </a:p>
          <a:p>
            <a:endParaRPr lang="en-US" altLang="ja-JP" dirty="0"/>
          </a:p>
          <a:p>
            <a:r>
              <a:rPr lang="ja-JP" altLang="en-US" dirty="0"/>
              <a:t>先頭から順に数字を読んで，変換規則をみながら計算する</a:t>
            </a:r>
            <a:endParaRPr lang="en-US" altLang="ja-JP" dirty="0"/>
          </a:p>
          <a:p>
            <a:pPr marL="906462" lvl="1" indent="-457200">
              <a:buFont typeface="+mj-lt"/>
              <a:buAutoNum type="arabicPeriod"/>
            </a:pPr>
            <a:r>
              <a:rPr lang="ja-JP" altLang="en-US" dirty="0"/>
              <a:t>先頭は </a:t>
            </a:r>
            <a:r>
              <a:rPr lang="en-US" altLang="ja-JP" dirty="0"/>
              <a:t>0 </a:t>
            </a:r>
            <a:r>
              <a:rPr lang="ja-JP" altLang="en-US" dirty="0"/>
              <a:t>なので，これは足し算</a:t>
            </a:r>
            <a:endParaRPr lang="en-US" altLang="ja-JP" dirty="0"/>
          </a:p>
          <a:p>
            <a:pPr lvl="2"/>
            <a:r>
              <a:rPr lang="ja-JP" altLang="en-US" dirty="0"/>
              <a:t>続く</a:t>
            </a:r>
            <a:r>
              <a:rPr lang="en-US" altLang="ja-JP" dirty="0"/>
              <a:t>2</a:t>
            </a:r>
            <a:r>
              <a:rPr lang="ja-JP" altLang="en-US" dirty="0" err="1"/>
              <a:t>つの</a:t>
            </a:r>
            <a:r>
              <a:rPr lang="ja-JP" altLang="en-US" dirty="0"/>
              <a:t>数字は足し算の入力で，その次は出力</a:t>
            </a:r>
            <a:endParaRPr lang="en-US" altLang="ja-JP" dirty="0"/>
          </a:p>
          <a:p>
            <a:pPr marL="906462" lvl="1" indent="-457200">
              <a:buFont typeface="+mj-lt"/>
              <a:buAutoNum type="arabicPeriod"/>
            </a:pPr>
            <a:r>
              <a:rPr lang="ja-JP" altLang="en-US" dirty="0"/>
              <a:t>次は </a:t>
            </a:r>
            <a:r>
              <a:rPr lang="en-US" altLang="ja-JP" dirty="0"/>
              <a:t>2 </a:t>
            </a:r>
            <a:r>
              <a:rPr lang="ja-JP" altLang="en-US" dirty="0"/>
              <a:t>なので，これは</a:t>
            </a:r>
            <a:r>
              <a:rPr lang="en-US" altLang="ja-JP" dirty="0"/>
              <a:t>A</a:t>
            </a:r>
            <a:r>
              <a:rPr lang="ja-JP" altLang="en-US" dirty="0" err="1"/>
              <a:t>．</a:t>
            </a:r>
            <a:r>
              <a:rPr lang="ja-JP" altLang="en-US" dirty="0"/>
              <a:t>次は </a:t>
            </a:r>
            <a:r>
              <a:rPr lang="en-US" altLang="ja-JP" dirty="0"/>
              <a:t>3 </a:t>
            </a:r>
            <a:r>
              <a:rPr lang="ja-JP" altLang="en-US" dirty="0"/>
              <a:t>なので </a:t>
            </a:r>
            <a:r>
              <a:rPr lang="en-US" altLang="ja-JP" dirty="0"/>
              <a:t>B</a:t>
            </a:r>
          </a:p>
          <a:p>
            <a:pPr marL="906462" lvl="1" indent="-457200">
              <a:buFont typeface="+mj-lt"/>
              <a:buAutoNum type="arabicPeriod"/>
            </a:pPr>
            <a:r>
              <a:rPr lang="ja-JP" altLang="en-US" dirty="0"/>
              <a:t>結果を </a:t>
            </a:r>
            <a:r>
              <a:rPr lang="en-US" altLang="ja-JP" dirty="0"/>
              <a:t>5(E) </a:t>
            </a:r>
            <a:r>
              <a:rPr lang="ja-JP" altLang="en-US" dirty="0"/>
              <a:t>に入れる </a:t>
            </a:r>
            <a:r>
              <a:rPr lang="en-US" altLang="ja-JP" dirty="0"/>
              <a:t>…</a:t>
            </a:r>
          </a:p>
          <a:p>
            <a:pPr marL="906462" lvl="1" indent="-457200">
              <a:buFont typeface="+mj-lt"/>
              <a:buAutoNum type="arabicPeriod"/>
            </a:pPr>
            <a:r>
              <a:rPr lang="ja-JP" altLang="en-US" dirty="0"/>
              <a:t>次は </a:t>
            </a:r>
            <a:r>
              <a:rPr lang="en-US" altLang="ja-JP" dirty="0"/>
              <a:t>1 </a:t>
            </a:r>
            <a:r>
              <a:rPr lang="ja-JP" altLang="en-US" dirty="0" err="1"/>
              <a:t>なの</a:t>
            </a:r>
            <a:r>
              <a:rPr lang="ja-JP" altLang="en-US" dirty="0"/>
              <a:t>で</a:t>
            </a:r>
            <a:r>
              <a:rPr lang="en-US" altLang="ja-JP" dirty="0"/>
              <a:t>…</a:t>
            </a:r>
          </a:p>
        </p:txBody>
      </p:sp>
      <p:graphicFrame>
        <p:nvGraphicFramePr>
          <p:cNvPr id="5" name="表 4"/>
          <p:cNvGraphicFramePr>
            <a:graphicFrameLocks noGrp="1"/>
          </p:cNvGraphicFramePr>
          <p:nvPr>
            <p:extLst>
              <p:ext uri="{D42A27DB-BD31-4B8C-83A1-F6EECF244321}">
                <p14:modId xmlns:p14="http://schemas.microsoft.com/office/powerpoint/2010/main" val="2290631675"/>
              </p:ext>
            </p:extLst>
          </p:nvPr>
        </p:nvGraphicFramePr>
        <p:xfrm>
          <a:off x="2945966" y="2618991"/>
          <a:ext cx="6120071" cy="670560"/>
        </p:xfrm>
        <a:graphic>
          <a:graphicData uri="http://schemas.openxmlformats.org/drawingml/2006/table">
            <a:tbl>
              <a:tblPr firstRow="1" bandRow="1">
                <a:tableStyleId>{9D7B26C5-4107-4FEC-AEDC-1716B250A1EF}</a:tableStyleId>
              </a:tblPr>
              <a:tblGrid>
                <a:gridCol w="1112741">
                  <a:extLst>
                    <a:ext uri="{9D8B030D-6E8A-4147-A177-3AD203B41FA5}">
                      <a16:colId xmlns:a16="http://schemas.microsoft.com/office/drawing/2014/main" val="20000"/>
                    </a:ext>
                  </a:extLst>
                </a:gridCol>
                <a:gridCol w="741827">
                  <a:extLst>
                    <a:ext uri="{9D8B030D-6E8A-4147-A177-3AD203B41FA5}">
                      <a16:colId xmlns:a16="http://schemas.microsoft.com/office/drawing/2014/main" val="20001"/>
                    </a:ext>
                  </a:extLst>
                </a:gridCol>
                <a:gridCol w="741827">
                  <a:extLst>
                    <a:ext uri="{9D8B030D-6E8A-4147-A177-3AD203B41FA5}">
                      <a16:colId xmlns:a16="http://schemas.microsoft.com/office/drawing/2014/main" val="20002"/>
                    </a:ext>
                  </a:extLst>
                </a:gridCol>
                <a:gridCol w="741827">
                  <a:extLst>
                    <a:ext uri="{9D8B030D-6E8A-4147-A177-3AD203B41FA5}">
                      <a16:colId xmlns:a16="http://schemas.microsoft.com/office/drawing/2014/main" val="20003"/>
                    </a:ext>
                  </a:extLst>
                </a:gridCol>
                <a:gridCol w="741827">
                  <a:extLst>
                    <a:ext uri="{9D8B030D-6E8A-4147-A177-3AD203B41FA5}">
                      <a16:colId xmlns:a16="http://schemas.microsoft.com/office/drawing/2014/main" val="20004"/>
                    </a:ext>
                  </a:extLst>
                </a:gridCol>
                <a:gridCol w="741827">
                  <a:extLst>
                    <a:ext uri="{9D8B030D-6E8A-4147-A177-3AD203B41FA5}">
                      <a16:colId xmlns:a16="http://schemas.microsoft.com/office/drawing/2014/main" val="20005"/>
                    </a:ext>
                  </a:extLst>
                </a:gridCol>
                <a:gridCol w="741827">
                  <a:extLst>
                    <a:ext uri="{9D8B030D-6E8A-4147-A177-3AD203B41FA5}">
                      <a16:colId xmlns:a16="http://schemas.microsoft.com/office/drawing/2014/main" val="20006"/>
                    </a:ext>
                  </a:extLst>
                </a:gridCol>
                <a:gridCol w="556368">
                  <a:extLst>
                    <a:ext uri="{9D8B030D-6E8A-4147-A177-3AD203B41FA5}">
                      <a16:colId xmlns:a16="http://schemas.microsoft.com/office/drawing/2014/main" val="20007"/>
                    </a:ext>
                  </a:extLst>
                </a:gridCol>
              </a:tblGrid>
              <a:tr h="335280">
                <a:tc>
                  <a:txBody>
                    <a:bodyPr/>
                    <a:lstStyle/>
                    <a:p>
                      <a:pPr algn="ctr"/>
                      <a:r>
                        <a:rPr kumimoji="1" lang="ja-JP" altLang="en-US" sz="1600" b="0" dirty="0">
                          <a:latin typeface="メイリオ" panose="020B0604030504040204" pitchFamily="50" charset="-128"/>
                          <a:ea typeface="メイリオ" panose="020B0604030504040204" pitchFamily="50" charset="-128"/>
                        </a:rPr>
                        <a:t>意味：</a:t>
                      </a: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add</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sub</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A</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B</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C</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D</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E</a:t>
                      </a:r>
                      <a:endParaRPr kumimoji="1" lang="ja-JP" altLang="en-US" sz="1600" b="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0"/>
                  </a:ext>
                </a:extLst>
              </a:tr>
              <a:tr h="325840">
                <a:tc>
                  <a:txBody>
                    <a:bodyPr/>
                    <a:lstStyle/>
                    <a:p>
                      <a:pPr algn="ctr"/>
                      <a:r>
                        <a:rPr kumimoji="1" lang="ja-JP" altLang="en-US" sz="1600" b="0" dirty="0">
                          <a:latin typeface="メイリオ" panose="020B0604030504040204" pitchFamily="50" charset="-128"/>
                          <a:ea typeface="メイリオ" panose="020B0604030504040204" pitchFamily="50" charset="-128"/>
                        </a:rPr>
                        <a:t>数字：</a:t>
                      </a: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0</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1</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2</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3</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4</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5</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6</a:t>
                      </a:r>
                      <a:endParaRPr kumimoji="1" lang="ja-JP" altLang="en-US" sz="1600" b="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053828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プログラムの表現と用語（１）</a:t>
            </a:r>
          </a:p>
        </p:txBody>
      </p:sp>
      <p:sp>
        <p:nvSpPr>
          <p:cNvPr id="5" name="テキスト プレースホルダー 4"/>
          <p:cNvSpPr>
            <a:spLocks noGrp="1"/>
          </p:cNvSpPr>
          <p:nvPr>
            <p:ph type="body" sz="quarter" idx="10"/>
          </p:nvPr>
        </p:nvSpPr>
        <p:spPr/>
        <p:txBody>
          <a:bodyPr/>
          <a:lstStyle/>
          <a:p>
            <a:r>
              <a:rPr lang="ja-JP" altLang="en-US" dirty="0"/>
              <a:t>バイナリ：　		</a:t>
            </a:r>
            <a:r>
              <a:rPr lang="en-US" altLang="ja-JP" dirty="0">
                <a:solidFill>
                  <a:schemeClr val="accent5"/>
                </a:solidFill>
              </a:rPr>
              <a:t>0, 2, 3, 5, </a:t>
            </a:r>
            <a:r>
              <a:rPr lang="en-US" altLang="ja-JP" dirty="0"/>
              <a:t>1, 5, 4, 6</a:t>
            </a:r>
          </a:p>
          <a:p>
            <a:pPr lvl="1"/>
            <a:r>
              <a:rPr lang="ja-JP" altLang="en-US" dirty="0"/>
              <a:t>計算方法を表す数字の列</a:t>
            </a:r>
            <a:endParaRPr lang="en-US" altLang="ja-JP" dirty="0"/>
          </a:p>
          <a:p>
            <a:pPr lvl="1"/>
            <a:r>
              <a:rPr lang="ja-JP" altLang="en-US" dirty="0"/>
              <a:t>コンピュータが直接理解できるのは，このバイナリのみ</a:t>
            </a:r>
            <a:endParaRPr lang="en-US" altLang="ja-JP" dirty="0"/>
          </a:p>
          <a:p>
            <a:r>
              <a:rPr lang="ja-JP" altLang="en-US" dirty="0"/>
              <a:t>アセンブリ言語：	</a:t>
            </a:r>
            <a:r>
              <a:rPr lang="en-US" altLang="ja-JP" dirty="0">
                <a:solidFill>
                  <a:schemeClr val="accent5"/>
                </a:solidFill>
                <a:latin typeface="Consolas" panose="020B0609020204030204" pitchFamily="49" charset="0"/>
              </a:rPr>
              <a:t>add A, B → D</a:t>
            </a:r>
          </a:p>
          <a:p>
            <a:pPr lvl="1"/>
            <a:r>
              <a:rPr lang="ja-JP" altLang="en-US" dirty="0"/>
              <a:t>バイナリと１：１に対応しており，基本的に「相互に」変換可能</a:t>
            </a:r>
            <a:endParaRPr lang="en-US" altLang="ja-JP" dirty="0"/>
          </a:p>
          <a:p>
            <a:pPr lvl="1"/>
            <a:r>
              <a:rPr lang="ja-JP" altLang="en-US" dirty="0"/>
              <a:t>要はバイナリを人間にとって読みやすくしたもの</a:t>
            </a:r>
            <a:endParaRPr lang="en-US" altLang="ja-JP" dirty="0"/>
          </a:p>
          <a:p>
            <a:r>
              <a:rPr lang="ja-JP" altLang="en-US" dirty="0"/>
              <a:t>機械語：</a:t>
            </a:r>
            <a:endParaRPr lang="en-US" altLang="ja-JP" dirty="0"/>
          </a:p>
          <a:p>
            <a:pPr lvl="1"/>
            <a:r>
              <a:rPr lang="ja-JP" altLang="en-US" dirty="0"/>
              <a:t>上記のバイナリないしはアセンブリ言語で表現されたプログラム</a:t>
            </a:r>
            <a:endParaRPr lang="en-US" altLang="ja-JP" dirty="0"/>
          </a:p>
        </p:txBody>
      </p:sp>
    </p:spTree>
    <p:extLst>
      <p:ext uri="{BB962C8B-B14F-4D97-AF65-F5344CB8AC3E}">
        <p14:creationId xmlns:p14="http://schemas.microsoft.com/office/powerpoint/2010/main" val="14926859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プログラムの表現と用語（２）</a:t>
            </a:r>
          </a:p>
        </p:txBody>
      </p:sp>
      <p:sp>
        <p:nvSpPr>
          <p:cNvPr id="5" name="テキスト プレースホルダー 4"/>
          <p:cNvSpPr>
            <a:spLocks noGrp="1"/>
          </p:cNvSpPr>
          <p:nvPr>
            <p:ph type="body" sz="quarter" idx="10"/>
          </p:nvPr>
        </p:nvSpPr>
        <p:spPr/>
        <p:txBody>
          <a:bodyPr/>
          <a:lstStyle/>
          <a:p>
            <a:r>
              <a:rPr lang="ja-JP" altLang="en-US" dirty="0"/>
              <a:t>命令：</a:t>
            </a:r>
            <a:endParaRPr lang="en-US" altLang="ja-JP" dirty="0"/>
          </a:p>
          <a:p>
            <a:pPr lvl="1"/>
            <a:r>
              <a:rPr lang="ja-JP" altLang="en-US" dirty="0"/>
              <a:t>コンピュータが解釈できるプログラム内の計算手順の最小単位</a:t>
            </a:r>
            <a:endParaRPr lang="en-US" altLang="ja-JP" dirty="0"/>
          </a:p>
          <a:p>
            <a:pPr lvl="1"/>
            <a:r>
              <a:rPr lang="ja-JP" altLang="en-US" dirty="0"/>
              <a:t>「</a:t>
            </a:r>
            <a:r>
              <a:rPr lang="en-US" altLang="ja-JP" b="1" dirty="0">
                <a:solidFill>
                  <a:schemeClr val="accent5"/>
                </a:solidFill>
              </a:rPr>
              <a:t> </a:t>
            </a:r>
            <a:r>
              <a:rPr lang="en-US" altLang="ja-JP" dirty="0">
                <a:solidFill>
                  <a:schemeClr val="tx1">
                    <a:lumMod val="85000"/>
                    <a:lumOff val="15000"/>
                  </a:schemeClr>
                </a:solidFill>
              </a:rPr>
              <a:t>0</a:t>
            </a:r>
            <a:r>
              <a:rPr lang="en-US" altLang="ja-JP" b="1" dirty="0">
                <a:solidFill>
                  <a:schemeClr val="tx1">
                    <a:lumMod val="85000"/>
                    <a:lumOff val="15000"/>
                  </a:schemeClr>
                </a:solidFill>
              </a:rPr>
              <a:t>,</a:t>
            </a:r>
            <a:r>
              <a:rPr lang="en-US" altLang="ja-JP" dirty="0">
                <a:solidFill>
                  <a:schemeClr val="tx1">
                    <a:lumMod val="85000"/>
                    <a:lumOff val="15000"/>
                  </a:schemeClr>
                </a:solidFill>
              </a:rPr>
              <a:t> 2, 3, 5</a:t>
            </a:r>
            <a:r>
              <a:rPr lang="en-US" altLang="ja-JP" dirty="0">
                <a:solidFill>
                  <a:schemeClr val="accent5"/>
                </a:solidFill>
              </a:rPr>
              <a:t> </a:t>
            </a:r>
            <a:r>
              <a:rPr lang="ja-JP" altLang="en-US" dirty="0">
                <a:solidFill>
                  <a:schemeClr val="tx1">
                    <a:lumMod val="85000"/>
                    <a:lumOff val="15000"/>
                  </a:schemeClr>
                </a:solidFill>
              </a:rPr>
              <a:t>」「</a:t>
            </a:r>
            <a:r>
              <a:rPr lang="en-US" altLang="ja-JP" dirty="0"/>
              <a:t>add A, B→D</a:t>
            </a:r>
            <a:r>
              <a:rPr lang="ja-JP" altLang="en-US" dirty="0"/>
              <a:t>」</a:t>
            </a:r>
            <a:endParaRPr lang="en-US" altLang="ja-JP" dirty="0"/>
          </a:p>
          <a:p>
            <a:r>
              <a:rPr lang="ja-JP" altLang="en-US" dirty="0"/>
              <a:t>オプコード </a:t>
            </a:r>
            <a:r>
              <a:rPr lang="en-US" altLang="ja-JP" dirty="0"/>
              <a:t>(opcode)</a:t>
            </a:r>
          </a:p>
          <a:p>
            <a:pPr lvl="1"/>
            <a:r>
              <a:rPr lang="ja-JP" altLang="en-US" dirty="0"/>
              <a:t>命令でどういう計算をするか指定する部分</a:t>
            </a:r>
            <a:endParaRPr lang="en-US" altLang="ja-JP" dirty="0"/>
          </a:p>
          <a:p>
            <a:pPr lvl="1"/>
            <a:r>
              <a:rPr lang="ja-JP" altLang="en-US" dirty="0"/>
              <a:t>「 </a:t>
            </a:r>
            <a:r>
              <a:rPr lang="en-US" altLang="ja-JP" b="1" dirty="0">
                <a:solidFill>
                  <a:schemeClr val="accent5"/>
                </a:solidFill>
              </a:rPr>
              <a:t>0,</a:t>
            </a:r>
            <a:r>
              <a:rPr lang="en-US" altLang="ja-JP" dirty="0">
                <a:solidFill>
                  <a:schemeClr val="accent5"/>
                </a:solidFill>
              </a:rPr>
              <a:t> </a:t>
            </a:r>
            <a:r>
              <a:rPr lang="en-US" altLang="ja-JP" dirty="0">
                <a:solidFill>
                  <a:schemeClr val="tx1">
                    <a:lumMod val="85000"/>
                    <a:lumOff val="15000"/>
                  </a:schemeClr>
                </a:solidFill>
              </a:rPr>
              <a:t>2, 3, 5</a:t>
            </a:r>
            <a:r>
              <a:rPr lang="en-US" altLang="ja-JP" dirty="0">
                <a:solidFill>
                  <a:schemeClr val="accent5"/>
                </a:solidFill>
              </a:rPr>
              <a:t> </a:t>
            </a:r>
            <a:r>
              <a:rPr lang="ja-JP" altLang="en-US" dirty="0">
                <a:solidFill>
                  <a:schemeClr val="tx1">
                    <a:lumMod val="85000"/>
                    <a:lumOff val="15000"/>
                  </a:schemeClr>
                </a:solidFill>
              </a:rPr>
              <a:t>」「</a:t>
            </a:r>
            <a:r>
              <a:rPr lang="en-US" altLang="ja-JP" b="1" dirty="0">
                <a:solidFill>
                  <a:schemeClr val="accent5"/>
                </a:solidFill>
                <a:latin typeface="Consolas" panose="020B0609020204030204" pitchFamily="49" charset="0"/>
              </a:rPr>
              <a:t>add</a:t>
            </a:r>
            <a:r>
              <a:rPr lang="en-US" altLang="ja-JP" dirty="0">
                <a:solidFill>
                  <a:schemeClr val="accent5"/>
                </a:solidFill>
                <a:latin typeface="Consolas" panose="020B0609020204030204" pitchFamily="49" charset="0"/>
              </a:rPr>
              <a:t> </a:t>
            </a:r>
            <a:r>
              <a:rPr lang="en-US" altLang="ja-JP" dirty="0">
                <a:solidFill>
                  <a:schemeClr val="tx1">
                    <a:lumMod val="85000"/>
                    <a:lumOff val="15000"/>
                  </a:schemeClr>
                </a:solidFill>
                <a:latin typeface="Consolas" panose="020B0609020204030204" pitchFamily="49" charset="0"/>
              </a:rPr>
              <a:t>A,B→D</a:t>
            </a:r>
            <a:r>
              <a:rPr lang="ja-JP" altLang="en-US" dirty="0"/>
              <a:t> 」</a:t>
            </a:r>
            <a:endParaRPr lang="en-US" altLang="ja-JP" dirty="0"/>
          </a:p>
          <a:p>
            <a:r>
              <a:rPr lang="ja-JP" altLang="en-US" dirty="0"/>
              <a:t>オペランド </a:t>
            </a:r>
            <a:r>
              <a:rPr lang="en-US" altLang="ja-JP" dirty="0"/>
              <a:t>(operand)</a:t>
            </a:r>
          </a:p>
          <a:p>
            <a:pPr lvl="1"/>
            <a:r>
              <a:rPr lang="ja-JP" altLang="en-US" dirty="0"/>
              <a:t>計算の入出力対象を指定する部分</a:t>
            </a:r>
            <a:endParaRPr lang="en-US" altLang="ja-JP" dirty="0"/>
          </a:p>
          <a:p>
            <a:pPr lvl="1"/>
            <a:r>
              <a:rPr lang="ja-JP" altLang="en-US" dirty="0"/>
              <a:t>「 </a:t>
            </a:r>
            <a:r>
              <a:rPr lang="en-US" altLang="ja-JP" dirty="0">
                <a:solidFill>
                  <a:schemeClr val="tx1">
                    <a:lumMod val="85000"/>
                    <a:lumOff val="15000"/>
                  </a:schemeClr>
                </a:solidFill>
              </a:rPr>
              <a:t>0, </a:t>
            </a:r>
            <a:r>
              <a:rPr lang="en-US" altLang="ja-JP" b="1" dirty="0">
                <a:solidFill>
                  <a:schemeClr val="accent5"/>
                </a:solidFill>
              </a:rPr>
              <a:t>2, 3, </a:t>
            </a:r>
            <a:r>
              <a:rPr lang="en-US" altLang="ja-JP" b="1" dirty="0">
                <a:solidFill>
                  <a:schemeClr val="accent6"/>
                </a:solidFill>
              </a:rPr>
              <a:t>5</a:t>
            </a:r>
            <a:r>
              <a:rPr lang="en-US" altLang="ja-JP" dirty="0">
                <a:solidFill>
                  <a:schemeClr val="accent5"/>
                </a:solidFill>
              </a:rPr>
              <a:t> </a:t>
            </a:r>
            <a:r>
              <a:rPr lang="ja-JP" altLang="en-US" dirty="0">
                <a:solidFill>
                  <a:schemeClr val="tx1">
                    <a:lumMod val="85000"/>
                    <a:lumOff val="15000"/>
                  </a:schemeClr>
                </a:solidFill>
              </a:rPr>
              <a:t>」「</a:t>
            </a:r>
            <a:r>
              <a:rPr lang="en-US" altLang="ja-JP" dirty="0">
                <a:solidFill>
                  <a:schemeClr val="tx1">
                    <a:lumMod val="85000"/>
                    <a:lumOff val="15000"/>
                  </a:schemeClr>
                </a:solidFill>
                <a:latin typeface="Consolas" panose="020B0609020204030204" pitchFamily="49" charset="0"/>
              </a:rPr>
              <a:t>add </a:t>
            </a:r>
            <a:r>
              <a:rPr lang="en-US" altLang="ja-JP" b="1" dirty="0">
                <a:solidFill>
                  <a:schemeClr val="accent5"/>
                </a:solidFill>
                <a:latin typeface="Consolas" panose="020B0609020204030204" pitchFamily="49" charset="0"/>
              </a:rPr>
              <a:t>A,B→</a:t>
            </a:r>
            <a:r>
              <a:rPr lang="en-US" altLang="ja-JP" b="1" dirty="0">
                <a:solidFill>
                  <a:schemeClr val="accent6"/>
                </a:solidFill>
                <a:latin typeface="Consolas" panose="020B0609020204030204" pitchFamily="49" charset="0"/>
              </a:rPr>
              <a:t>D</a:t>
            </a:r>
            <a:r>
              <a:rPr lang="ja-JP" altLang="en-US" dirty="0">
                <a:solidFill>
                  <a:schemeClr val="tx1">
                    <a:lumMod val="85000"/>
                    <a:lumOff val="15000"/>
                  </a:schemeClr>
                </a:solidFill>
              </a:rPr>
              <a:t> </a:t>
            </a:r>
            <a:r>
              <a:rPr lang="ja-JP" altLang="en-US" dirty="0"/>
              <a:t>」</a:t>
            </a:r>
            <a:endParaRPr lang="en-US" altLang="ja-JP" dirty="0"/>
          </a:p>
          <a:p>
            <a:pPr lvl="1"/>
            <a:r>
              <a:rPr lang="ja-JP" altLang="en-US" dirty="0"/>
              <a:t>入力をソース，出力をディスティネーション とよぶ</a:t>
            </a:r>
            <a:endParaRPr lang="en-US" altLang="ja-JP" dirty="0"/>
          </a:p>
        </p:txBody>
      </p:sp>
    </p:spTree>
    <p:extLst>
      <p:ext uri="{BB962C8B-B14F-4D97-AF65-F5344CB8AC3E}">
        <p14:creationId xmlns:p14="http://schemas.microsoft.com/office/powerpoint/2010/main" val="15379456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命令セット・アーキテクチャ</a:t>
            </a:r>
            <a:endParaRPr lang="en-US" altLang="ja-JP" dirty="0"/>
          </a:p>
        </p:txBody>
      </p:sp>
      <p:sp>
        <p:nvSpPr>
          <p:cNvPr id="5" name="テキスト プレースホルダー 4"/>
          <p:cNvSpPr>
            <a:spLocks noGrp="1"/>
          </p:cNvSpPr>
          <p:nvPr>
            <p:ph type="body" sz="quarter" idx="10"/>
          </p:nvPr>
        </p:nvSpPr>
        <p:spPr/>
        <p:txBody>
          <a:bodyPr/>
          <a:lstStyle/>
          <a:p>
            <a:r>
              <a:rPr lang="ja-JP" altLang="en-US" dirty="0"/>
              <a:t>バイナリの数字と実際に行う計算のルールを定めたもの：</a:t>
            </a:r>
            <a:endParaRPr lang="en-US" altLang="ja-JP" dirty="0"/>
          </a:p>
          <a:p>
            <a:pPr lvl="1"/>
            <a:r>
              <a:rPr lang="ja-JP" altLang="en-US" dirty="0"/>
              <a:t>どのような演算をサポートするか</a:t>
            </a:r>
            <a:endParaRPr lang="en-US" altLang="ja-JP" dirty="0"/>
          </a:p>
          <a:p>
            <a:pPr lvl="2"/>
            <a:r>
              <a:rPr lang="ja-JP" altLang="en-US" dirty="0"/>
              <a:t>「</a:t>
            </a:r>
            <a:r>
              <a:rPr lang="en-US" altLang="ja-JP" dirty="0"/>
              <a:t>add, sub …</a:t>
            </a:r>
            <a:r>
              <a:rPr lang="ja-JP" altLang="en-US" dirty="0"/>
              <a:t>」</a:t>
            </a:r>
            <a:endParaRPr lang="en-US" altLang="ja-JP" dirty="0"/>
          </a:p>
          <a:p>
            <a:pPr lvl="1"/>
            <a:r>
              <a:rPr lang="ja-JP" altLang="en-US" dirty="0"/>
              <a:t>バイナリのどの数字にどのような意味を持たすか</a:t>
            </a:r>
            <a:endParaRPr lang="en-US" altLang="ja-JP" dirty="0"/>
          </a:p>
          <a:p>
            <a:pPr lvl="2"/>
            <a:r>
              <a:rPr lang="ja-JP" altLang="en-US" dirty="0"/>
              <a:t>「</a:t>
            </a:r>
            <a:r>
              <a:rPr lang="en-US" altLang="ja-JP" dirty="0"/>
              <a:t>0 </a:t>
            </a:r>
            <a:r>
              <a:rPr lang="ja-JP" altLang="en-US" dirty="0"/>
              <a:t>なら </a:t>
            </a:r>
            <a:r>
              <a:rPr lang="en-US" altLang="ja-JP" dirty="0"/>
              <a:t>add</a:t>
            </a:r>
            <a:r>
              <a:rPr lang="ja-JP" altLang="en-US" dirty="0"/>
              <a:t>」</a:t>
            </a:r>
            <a:endParaRPr lang="en-US" altLang="ja-JP" dirty="0"/>
          </a:p>
          <a:p>
            <a:pPr lvl="1"/>
            <a:r>
              <a:rPr lang="ja-JP" altLang="en-US" dirty="0"/>
              <a:t>数字の順番の意味</a:t>
            </a:r>
            <a:endParaRPr lang="en-US" altLang="ja-JP" dirty="0"/>
          </a:p>
          <a:p>
            <a:pPr lvl="2"/>
            <a:r>
              <a:rPr lang="ja-JP" altLang="en-US" dirty="0"/>
              <a:t>「最初の１桁が計算の種類，次が入力･･･」</a:t>
            </a:r>
            <a:endParaRPr lang="en-US" altLang="ja-JP" dirty="0"/>
          </a:p>
          <a:p>
            <a:pPr lvl="1"/>
            <a:r>
              <a:rPr lang="ja-JP" altLang="en-US" dirty="0"/>
              <a:t>各数字に何桁（何ビット）割り当てるか</a:t>
            </a:r>
            <a:endParaRPr lang="en-US" altLang="ja-JP" dirty="0"/>
          </a:p>
          <a:p>
            <a:pPr lvl="2"/>
            <a:r>
              <a:rPr lang="ja-JP" altLang="en-US" dirty="0"/>
              <a:t>「</a:t>
            </a:r>
            <a:r>
              <a:rPr lang="en-US" altLang="ja-JP" dirty="0"/>
              <a:t>10</a:t>
            </a:r>
            <a:r>
              <a:rPr lang="ja-JP" altLang="en-US" dirty="0"/>
              <a:t>進数で１桁ずつ」</a:t>
            </a:r>
            <a:endParaRPr lang="en-US" altLang="ja-JP" dirty="0"/>
          </a:p>
        </p:txBody>
      </p:sp>
    </p:spTree>
    <p:extLst>
      <p:ext uri="{BB962C8B-B14F-4D97-AF65-F5344CB8AC3E}">
        <p14:creationId xmlns:p14="http://schemas.microsoft.com/office/powerpoint/2010/main" val="31483751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命令セット・アーキテクチャ</a:t>
            </a:r>
            <a:endParaRPr lang="en-US" altLang="ja-JP" dirty="0"/>
          </a:p>
        </p:txBody>
      </p:sp>
      <p:sp>
        <p:nvSpPr>
          <p:cNvPr id="5" name="テキスト プレースホルダー 4"/>
          <p:cNvSpPr>
            <a:spLocks noGrp="1"/>
          </p:cNvSpPr>
          <p:nvPr>
            <p:ph type="body" sz="quarter" idx="10"/>
          </p:nvPr>
        </p:nvSpPr>
        <p:spPr/>
        <p:txBody>
          <a:bodyPr/>
          <a:lstStyle/>
          <a:p>
            <a:r>
              <a:rPr lang="ja-JP" altLang="en-US" dirty="0"/>
              <a:t>ルールはコンピュータ（</a:t>
            </a:r>
            <a:r>
              <a:rPr lang="en-US" altLang="ja-JP" dirty="0"/>
              <a:t>CPU</a:t>
            </a:r>
            <a:r>
              <a:rPr lang="ja-JP" altLang="en-US" dirty="0"/>
              <a:t>）の種類ごとに異なる</a:t>
            </a:r>
            <a:endParaRPr lang="en-US" altLang="ja-JP" dirty="0"/>
          </a:p>
          <a:p>
            <a:pPr lvl="1"/>
            <a:r>
              <a:rPr lang="ja-JP" altLang="en-US" dirty="0"/>
              <a:t>「互換性」とは，上記のルールが同じであること</a:t>
            </a:r>
            <a:endParaRPr lang="en-US" altLang="ja-JP" dirty="0"/>
          </a:p>
        </p:txBody>
      </p:sp>
    </p:spTree>
    <p:extLst>
      <p:ext uri="{BB962C8B-B14F-4D97-AF65-F5344CB8AC3E}">
        <p14:creationId xmlns:p14="http://schemas.microsoft.com/office/powerpoint/2010/main" val="14609655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ここまでのまとめ</a:t>
            </a:r>
          </a:p>
        </p:txBody>
      </p:sp>
      <p:sp>
        <p:nvSpPr>
          <p:cNvPr id="3" name="コンテンツ プレースホルダー 2"/>
          <p:cNvSpPr>
            <a:spLocks noGrp="1"/>
          </p:cNvSpPr>
          <p:nvPr>
            <p:ph type="body" sz="quarter" idx="10"/>
          </p:nvPr>
        </p:nvSpPr>
        <p:spPr>
          <a:prstGeom prst="rect">
            <a:avLst/>
          </a:prstGeom>
        </p:spPr>
        <p:txBody>
          <a:bodyPr/>
          <a:lstStyle/>
          <a:p>
            <a:r>
              <a:rPr lang="ja-JP" altLang="en-US" dirty="0"/>
              <a:t>コンピュータとは</a:t>
            </a:r>
            <a:endParaRPr lang="en-US" altLang="ja-JP" dirty="0"/>
          </a:p>
          <a:p>
            <a:pPr lvl="1"/>
            <a:r>
              <a:rPr kumimoji="1" lang="ja-JP" altLang="en-US" dirty="0"/>
              <a:t>プログラムに従って計算をする機械</a:t>
            </a:r>
            <a:endParaRPr kumimoji="1" lang="en-US" altLang="ja-JP" dirty="0"/>
          </a:p>
          <a:p>
            <a:r>
              <a:rPr lang="ja-JP" altLang="en-US" dirty="0"/>
              <a:t>プログラムとは</a:t>
            </a:r>
            <a:endParaRPr lang="en-US" altLang="ja-JP" dirty="0"/>
          </a:p>
          <a:p>
            <a:pPr lvl="1"/>
            <a:r>
              <a:rPr lang="ja-JP" altLang="en-US" dirty="0"/>
              <a:t>計算の手順を表したもの</a:t>
            </a:r>
            <a:endParaRPr lang="en-US" altLang="ja-JP" dirty="0"/>
          </a:p>
          <a:p>
            <a:pPr lvl="1"/>
            <a:r>
              <a:rPr lang="ja-JP" altLang="en-US" dirty="0"/>
              <a:t>メモリの上にある，命令（計算方法）の列</a:t>
            </a:r>
            <a:endParaRPr lang="en-US" altLang="ja-JP" dirty="0"/>
          </a:p>
          <a:p>
            <a:r>
              <a:rPr lang="ja-JP" altLang="en-US" dirty="0"/>
              <a:t>命令とは</a:t>
            </a:r>
            <a:endParaRPr lang="en-US" altLang="ja-JP" dirty="0"/>
          </a:p>
          <a:p>
            <a:pPr lvl="1"/>
            <a:r>
              <a:rPr lang="ja-JP" altLang="en-US" dirty="0"/>
              <a:t>コンピュータが解釈できる計算手順の最小単位</a:t>
            </a:r>
            <a:endParaRPr lang="en-US" altLang="ja-JP" dirty="0"/>
          </a:p>
          <a:p>
            <a:pPr lvl="2"/>
            <a:r>
              <a:rPr lang="ja-JP" altLang="en-US" dirty="0"/>
              <a:t>最終的な実体としては，数字の列</a:t>
            </a:r>
            <a:endParaRPr lang="en-US" altLang="ja-JP" dirty="0"/>
          </a:p>
          <a:p>
            <a:pPr lvl="1"/>
            <a:r>
              <a:rPr lang="ja-JP" altLang="en-US" dirty="0"/>
              <a:t>命令セット：</a:t>
            </a:r>
            <a:endParaRPr lang="en-US" altLang="ja-JP" dirty="0"/>
          </a:p>
          <a:p>
            <a:pPr lvl="2"/>
            <a:r>
              <a:rPr lang="ja-JP" altLang="en-US" dirty="0"/>
              <a:t>命令の数字と，それに対応する計算方法を定めたもの</a:t>
            </a:r>
            <a:endParaRPr lang="en-US" altLang="ja-JP" dirty="0"/>
          </a:p>
          <a:p>
            <a:pPr lvl="1"/>
            <a:endParaRPr lang="en-US" altLang="ja-JP" dirty="0"/>
          </a:p>
        </p:txBody>
      </p:sp>
    </p:spTree>
    <p:extLst>
      <p:ext uri="{BB962C8B-B14F-4D97-AF65-F5344CB8AC3E}">
        <p14:creationId xmlns:p14="http://schemas.microsoft.com/office/powerpoint/2010/main" val="21305302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lang="ja-JP" altLang="en-US" dirty="0"/>
              <a:t>単純な </a:t>
            </a:r>
            <a:r>
              <a:rPr lang="en-US" altLang="ja-JP" dirty="0"/>
              <a:t>CPU </a:t>
            </a:r>
            <a:r>
              <a:rPr lang="ja-JP" altLang="en-US" dirty="0"/>
              <a:t>の構造と動作</a:t>
            </a:r>
            <a:endParaRPr kumimoji="1" lang="ja-JP" altLang="en-US" dirty="0"/>
          </a:p>
        </p:txBody>
      </p:sp>
    </p:spTree>
    <p:extLst>
      <p:ext uri="{BB962C8B-B14F-4D97-AF65-F5344CB8AC3E}">
        <p14:creationId xmlns:p14="http://schemas.microsoft.com/office/powerpoint/2010/main" val="35494477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lang="ja-JP" altLang="en-US" dirty="0"/>
              <a:t>単純な </a:t>
            </a:r>
            <a:r>
              <a:rPr lang="en-US" altLang="ja-JP" dirty="0"/>
              <a:t>CPU </a:t>
            </a:r>
            <a:r>
              <a:rPr lang="ja-JP" altLang="en-US" dirty="0"/>
              <a:t>の構造と動作</a:t>
            </a:r>
            <a:endParaRPr lang="en-US" altLang="ja-JP" dirty="0"/>
          </a:p>
        </p:txBody>
      </p:sp>
      <p:sp>
        <p:nvSpPr>
          <p:cNvPr id="5" name="テキスト プレースホルダー 4"/>
          <p:cNvSpPr>
            <a:spLocks noGrp="1"/>
          </p:cNvSpPr>
          <p:nvPr>
            <p:ph type="body" sz="quarter" idx="10"/>
          </p:nvPr>
        </p:nvSpPr>
        <p:spPr>
          <a:xfrm>
            <a:off x="1775952" y="1178976"/>
            <a:ext cx="8532044" cy="5219751"/>
          </a:xfrm>
        </p:spPr>
        <p:txBody>
          <a:bodyPr/>
          <a:lstStyle/>
          <a:p>
            <a:r>
              <a:rPr lang="ja-JP" altLang="en-US" dirty="0"/>
              <a:t>下記のようなプログラムを処理できる，最低限のコンピュータを説明</a:t>
            </a:r>
            <a:endParaRPr lang="en-US" altLang="ja-JP" dirty="0"/>
          </a:p>
          <a:p>
            <a:pPr marL="994138" lvl="1" indent="-457200">
              <a:buFont typeface="+mj-lt"/>
              <a:buAutoNum type="arabicPeriod"/>
            </a:pPr>
            <a:r>
              <a:rPr lang="en-US" altLang="ja-JP" dirty="0"/>
              <a:t>0, 2, 3, 5		</a:t>
            </a:r>
            <a:r>
              <a:rPr lang="en-US" altLang="ja-JP" dirty="0">
                <a:solidFill>
                  <a:schemeClr val="accent5"/>
                </a:solidFill>
              </a:rPr>
              <a:t>// </a:t>
            </a:r>
            <a:r>
              <a:rPr lang="en-US" altLang="ja-JP" dirty="0">
                <a:solidFill>
                  <a:schemeClr val="accent5"/>
                </a:solidFill>
                <a:latin typeface="Consolas" panose="020B0609020204030204" pitchFamily="49" charset="0"/>
              </a:rPr>
              <a:t>add(0) A(2), B(3) </a:t>
            </a:r>
            <a:r>
              <a:rPr lang="ja-JP" altLang="en-US" dirty="0">
                <a:solidFill>
                  <a:schemeClr val="accent5"/>
                </a:solidFill>
                <a:latin typeface="Consolas" panose="020B0609020204030204" pitchFamily="49" charset="0"/>
              </a:rPr>
              <a:t>→ </a:t>
            </a:r>
            <a:r>
              <a:rPr lang="en-US" altLang="ja-JP" dirty="0">
                <a:solidFill>
                  <a:schemeClr val="accent5"/>
                </a:solidFill>
                <a:latin typeface="Consolas" panose="020B0609020204030204" pitchFamily="49" charset="0"/>
              </a:rPr>
              <a:t>D(5)</a:t>
            </a:r>
          </a:p>
          <a:p>
            <a:pPr marL="994138" lvl="1" indent="-457200">
              <a:buFont typeface="+mj-lt"/>
              <a:buAutoNum type="arabicPeriod"/>
            </a:pPr>
            <a:r>
              <a:rPr lang="en-US" altLang="ja-JP" dirty="0"/>
              <a:t>1, 5, 4, 6		</a:t>
            </a:r>
            <a:r>
              <a:rPr lang="en-US" altLang="ja-JP" dirty="0">
                <a:solidFill>
                  <a:schemeClr val="accent5"/>
                </a:solidFill>
              </a:rPr>
              <a:t>// </a:t>
            </a:r>
            <a:r>
              <a:rPr lang="en-US" altLang="ja-JP" dirty="0">
                <a:solidFill>
                  <a:schemeClr val="accent5"/>
                </a:solidFill>
                <a:latin typeface="Consolas" panose="020B0609020204030204" pitchFamily="49" charset="0"/>
              </a:rPr>
              <a:t>sub(1) D(5), C(4) </a:t>
            </a:r>
            <a:r>
              <a:rPr lang="ja-JP" altLang="en-US" dirty="0">
                <a:solidFill>
                  <a:schemeClr val="accent5"/>
                </a:solidFill>
                <a:latin typeface="Consolas" panose="020B0609020204030204" pitchFamily="49" charset="0"/>
              </a:rPr>
              <a:t>→ </a:t>
            </a:r>
            <a:r>
              <a:rPr lang="en-US" altLang="ja-JP" dirty="0">
                <a:solidFill>
                  <a:schemeClr val="accent5"/>
                </a:solidFill>
                <a:latin typeface="Consolas" panose="020B0609020204030204" pitchFamily="49" charset="0"/>
              </a:rPr>
              <a:t>E(6)</a:t>
            </a:r>
          </a:p>
          <a:p>
            <a:endParaRPr kumimoji="1" lang="ja-JP" altLang="en-US" dirty="0"/>
          </a:p>
        </p:txBody>
      </p:sp>
    </p:spTree>
    <p:extLst>
      <p:ext uri="{BB962C8B-B14F-4D97-AF65-F5344CB8AC3E}">
        <p14:creationId xmlns:p14="http://schemas.microsoft.com/office/powerpoint/2010/main" val="3098595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コンピュータ</a:t>
            </a:r>
          </a:p>
        </p:txBody>
      </p:sp>
      <p:sp>
        <p:nvSpPr>
          <p:cNvPr id="5" name="テキスト プレースホルダー 4"/>
          <p:cNvSpPr>
            <a:spLocks noGrp="1"/>
          </p:cNvSpPr>
          <p:nvPr>
            <p:ph type="body" sz="quarter" idx="10"/>
          </p:nvPr>
        </p:nvSpPr>
        <p:spPr/>
        <p:txBody>
          <a:bodyPr/>
          <a:lstStyle/>
          <a:p>
            <a:r>
              <a:rPr lang="ja-JP" altLang="en-US" dirty="0"/>
              <a:t>「プログラム ＝ 命令列 </a:t>
            </a:r>
            <a:r>
              <a:rPr lang="en-US" altLang="ja-JP" dirty="0"/>
              <a:t>= </a:t>
            </a:r>
            <a:r>
              <a:rPr lang="ja-JP" altLang="en-US" dirty="0"/>
              <a:t>数字の列」に従って計算をする機械</a:t>
            </a:r>
          </a:p>
          <a:p>
            <a:r>
              <a:rPr lang="ja-JP" altLang="en-US" dirty="0"/>
              <a:t>構成要素：</a:t>
            </a:r>
          </a:p>
          <a:p>
            <a:pPr lvl="1"/>
            <a:r>
              <a:rPr lang="en-US" altLang="ja-JP" dirty="0"/>
              <a:t>CPU    </a:t>
            </a:r>
            <a:r>
              <a:rPr lang="ja-JP" altLang="en-US" dirty="0"/>
              <a:t>（計算するもの）</a:t>
            </a:r>
          </a:p>
          <a:p>
            <a:pPr lvl="2"/>
            <a:r>
              <a:rPr lang="ja-JP" altLang="en-US" dirty="0"/>
              <a:t>演算器</a:t>
            </a:r>
          </a:p>
          <a:p>
            <a:pPr lvl="2"/>
            <a:r>
              <a:rPr lang="ja-JP" altLang="en-US" dirty="0"/>
              <a:t>レジスタ</a:t>
            </a:r>
          </a:p>
          <a:p>
            <a:pPr lvl="2"/>
            <a:r>
              <a:rPr lang="en-US" altLang="ja-JP" dirty="0"/>
              <a:t>PC</a:t>
            </a:r>
          </a:p>
          <a:p>
            <a:pPr lvl="1"/>
            <a:r>
              <a:rPr lang="ja-JP" altLang="en-US" dirty="0"/>
              <a:t>メモリ（データを記憶するもの）</a:t>
            </a:r>
            <a:endParaRPr kumimoji="1" lang="ja-JP" altLang="en-US" dirty="0"/>
          </a:p>
        </p:txBody>
      </p:sp>
    </p:spTree>
    <p:extLst>
      <p:ext uri="{BB962C8B-B14F-4D97-AF65-F5344CB8AC3E}">
        <p14:creationId xmlns:p14="http://schemas.microsoft.com/office/powerpoint/2010/main" val="6537514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メモリ</a:t>
            </a:r>
            <a:endParaRPr kumimoji="1" lang="ja-JP" altLang="en-US" dirty="0"/>
          </a:p>
        </p:txBody>
      </p:sp>
      <p:sp>
        <p:nvSpPr>
          <p:cNvPr id="3" name="コンテンツ プレースホルダー 2"/>
          <p:cNvSpPr>
            <a:spLocks noGrp="1"/>
          </p:cNvSpPr>
          <p:nvPr>
            <p:ph type="body" sz="quarter" idx="10"/>
          </p:nvPr>
        </p:nvSpPr>
        <p:spPr>
          <a:xfrm>
            <a:off x="2135956" y="2528990"/>
            <a:ext cx="7848600" cy="3690041"/>
          </a:xfrm>
          <a:prstGeom prst="rect">
            <a:avLst/>
          </a:prstGeom>
        </p:spPr>
        <p:txBody>
          <a:bodyPr/>
          <a:lstStyle/>
          <a:p>
            <a:r>
              <a:rPr lang="ja-JP" altLang="en-US" dirty="0"/>
              <a:t>メモリは命令列と，計算するデータを保持する</a:t>
            </a:r>
            <a:endParaRPr lang="en-US" altLang="ja-JP" dirty="0"/>
          </a:p>
          <a:p>
            <a:pPr lvl="1"/>
            <a:r>
              <a:rPr lang="ja-JP" altLang="en-US" dirty="0"/>
              <a:t>単一の巨大な配列があると思えばよい</a:t>
            </a:r>
            <a:endParaRPr lang="en-US" altLang="ja-JP" dirty="0"/>
          </a:p>
          <a:p>
            <a:pPr lvl="1"/>
            <a:r>
              <a:rPr lang="en-US" altLang="ja-JP" dirty="0"/>
              <a:t>C </a:t>
            </a:r>
            <a:r>
              <a:rPr lang="ja-JP" altLang="en-US" dirty="0"/>
              <a:t>言語の配列は，これを切り出して見せている</a:t>
            </a:r>
            <a:endParaRPr lang="en-US" altLang="ja-JP" dirty="0"/>
          </a:p>
          <a:p>
            <a:r>
              <a:rPr lang="ja-JP" altLang="en-US" dirty="0"/>
              <a:t>数字が入る箱がたくさん並んでいるイメージ</a:t>
            </a:r>
            <a:endParaRPr lang="en-US" altLang="ja-JP" dirty="0"/>
          </a:p>
          <a:p>
            <a:pPr lvl="1"/>
            <a:r>
              <a:rPr lang="ja-JP" altLang="en-US" dirty="0"/>
              <a:t>アドレス：箱の通し番号（住所）</a:t>
            </a:r>
            <a:endParaRPr lang="en-US" altLang="ja-JP" dirty="0"/>
          </a:p>
          <a:p>
            <a:pPr lvl="1"/>
            <a:r>
              <a:rPr lang="ja-JP" altLang="en-US" dirty="0"/>
              <a:t>データ　：箱の中身の数字</a:t>
            </a:r>
            <a:endParaRPr lang="en-US" altLang="ja-JP" dirty="0"/>
          </a:p>
        </p:txBody>
      </p:sp>
      <p:sp>
        <p:nvSpPr>
          <p:cNvPr id="4" name="Freeform 10"/>
          <p:cNvSpPr>
            <a:spLocks/>
          </p:cNvSpPr>
          <p:nvPr/>
        </p:nvSpPr>
        <p:spPr bwMode="auto">
          <a:xfrm rot="16200000">
            <a:off x="6230978" y="1494004"/>
            <a:ext cx="450059" cy="54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 name="connsiteX0" fmla="*/ 0 w 10000"/>
              <a:gd name="connsiteY0" fmla="*/ 0 h 10000"/>
              <a:gd name="connsiteX1" fmla="*/ 19 w 10000"/>
              <a:gd name="connsiteY1" fmla="*/ 12 h 10000"/>
              <a:gd name="connsiteX2" fmla="*/ 0 w 10000"/>
              <a:gd name="connsiteY2" fmla="*/ 10000 h 10000"/>
              <a:gd name="connsiteX3" fmla="*/ 10000 w 10000"/>
              <a:gd name="connsiteY3" fmla="*/ 10000 h 10000"/>
              <a:gd name="connsiteX0" fmla="*/ 0 w 10000"/>
              <a:gd name="connsiteY0" fmla="*/ 54 h 10054"/>
              <a:gd name="connsiteX1" fmla="*/ 3828 w 10000"/>
              <a:gd name="connsiteY1" fmla="*/ 0 h 10054"/>
              <a:gd name="connsiteX2" fmla="*/ 0 w 10000"/>
              <a:gd name="connsiteY2" fmla="*/ 10054 h 10054"/>
              <a:gd name="connsiteX3" fmla="*/ 10000 w 10000"/>
              <a:gd name="connsiteY3" fmla="*/ 10054 h 10054"/>
              <a:gd name="connsiteX0" fmla="*/ 9471 w 10000"/>
              <a:gd name="connsiteY0" fmla="*/ 87 h 10054"/>
              <a:gd name="connsiteX1" fmla="*/ 3828 w 10000"/>
              <a:gd name="connsiteY1" fmla="*/ 0 h 10054"/>
              <a:gd name="connsiteX2" fmla="*/ 0 w 10000"/>
              <a:gd name="connsiteY2" fmla="*/ 10054 h 10054"/>
              <a:gd name="connsiteX3" fmla="*/ 10000 w 10000"/>
              <a:gd name="connsiteY3" fmla="*/ 10054 h 10054"/>
              <a:gd name="connsiteX0" fmla="*/ 10053 w 10053"/>
              <a:gd name="connsiteY0" fmla="*/ 21 h 10054"/>
              <a:gd name="connsiteX1" fmla="*/ 3828 w 10053"/>
              <a:gd name="connsiteY1" fmla="*/ 0 h 10054"/>
              <a:gd name="connsiteX2" fmla="*/ 0 w 10053"/>
              <a:gd name="connsiteY2" fmla="*/ 10054 h 10054"/>
              <a:gd name="connsiteX3" fmla="*/ 10000 w 10053"/>
              <a:gd name="connsiteY3" fmla="*/ 10054 h 10054"/>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106 w 10106"/>
              <a:gd name="connsiteY0" fmla="*/ 55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88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0 h 10033"/>
              <a:gd name="connsiteX1" fmla="*/ 71 w 10106"/>
              <a:gd name="connsiteY1" fmla="*/ 12 h 10033"/>
              <a:gd name="connsiteX2" fmla="*/ 0 w 10106"/>
              <a:gd name="connsiteY2" fmla="*/ 10033 h 10033"/>
              <a:gd name="connsiteX3" fmla="*/ 10000 w 10106"/>
              <a:gd name="connsiteY3" fmla="*/ 10033 h 10033"/>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22 h 10022"/>
              <a:gd name="connsiteX1" fmla="*/ 71 w 10106"/>
              <a:gd name="connsiteY1" fmla="*/ 1 h 10022"/>
              <a:gd name="connsiteX2" fmla="*/ 0 w 10106"/>
              <a:gd name="connsiteY2" fmla="*/ 10022 h 10022"/>
              <a:gd name="connsiteX3" fmla="*/ 10000 w 10106"/>
              <a:gd name="connsiteY3" fmla="*/ 10022 h 10022"/>
              <a:gd name="connsiteX0" fmla="*/ 9894 w 10000"/>
              <a:gd name="connsiteY0" fmla="*/ 22 h 10022"/>
              <a:gd name="connsiteX1" fmla="*/ 71 w 10000"/>
              <a:gd name="connsiteY1" fmla="*/ 1 h 10022"/>
              <a:gd name="connsiteX2" fmla="*/ 0 w 10000"/>
              <a:gd name="connsiteY2" fmla="*/ 10022 h 10022"/>
              <a:gd name="connsiteX3" fmla="*/ 10000 w 10000"/>
              <a:gd name="connsiteY3" fmla="*/ 10022 h 10022"/>
            </a:gdLst>
            <a:ahLst/>
            <a:cxnLst>
              <a:cxn ang="0">
                <a:pos x="connsiteX0" y="connsiteY0"/>
              </a:cxn>
              <a:cxn ang="0">
                <a:pos x="connsiteX1" y="connsiteY1"/>
              </a:cxn>
              <a:cxn ang="0">
                <a:pos x="connsiteX2" y="connsiteY2"/>
              </a:cxn>
              <a:cxn ang="0">
                <a:pos x="connsiteX3" y="connsiteY3"/>
              </a:cxn>
            </a:cxnLst>
            <a:rect l="l" t="t" r="r" b="b"/>
            <a:pathLst>
              <a:path w="10000" h="10022">
                <a:moveTo>
                  <a:pt x="9894" y="22"/>
                </a:moveTo>
                <a:cubicBezTo>
                  <a:pt x="9900" y="26"/>
                  <a:pt x="65" y="-3"/>
                  <a:pt x="71" y="1"/>
                </a:cubicBezTo>
                <a:cubicBezTo>
                  <a:pt x="65" y="3330"/>
                  <a:pt x="6" y="6693"/>
                  <a:pt x="0" y="10022"/>
                </a:cubicBezTo>
                <a:lnTo>
                  <a:pt x="10000" y="10022"/>
                </a:lnTo>
              </a:path>
            </a:pathLst>
          </a:custGeom>
          <a:ln>
            <a:headEnd/>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dirty="0">
              <a:solidFill>
                <a:schemeClr val="tx1">
                  <a:lumMod val="75000"/>
                  <a:lumOff val="25000"/>
                </a:schemeClr>
              </a:solidFill>
              <a:latin typeface="Arial Narrow" pitchFamily="34" charset="0"/>
              <a:cs typeface="Times New Roman" pitchFamily="18" charset="0"/>
            </a:endParaRPr>
          </a:p>
        </p:txBody>
      </p:sp>
      <p:sp>
        <p:nvSpPr>
          <p:cNvPr id="7" name="正方形/長方形 6"/>
          <p:cNvSpPr/>
          <p:nvPr/>
        </p:nvSpPr>
        <p:spPr bwMode="auto">
          <a:xfrm>
            <a:off x="6096001" y="1538979"/>
            <a:ext cx="720009" cy="450005"/>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3Eh</a:t>
            </a:r>
            <a:endPar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8" name="Freeform 10"/>
          <p:cNvSpPr>
            <a:spLocks/>
          </p:cNvSpPr>
          <p:nvPr/>
        </p:nvSpPr>
        <p:spPr bwMode="auto">
          <a:xfrm rot="16200000">
            <a:off x="6950987" y="1494004"/>
            <a:ext cx="450059" cy="54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 name="connsiteX0" fmla="*/ 0 w 10000"/>
              <a:gd name="connsiteY0" fmla="*/ 0 h 10000"/>
              <a:gd name="connsiteX1" fmla="*/ 19 w 10000"/>
              <a:gd name="connsiteY1" fmla="*/ 12 h 10000"/>
              <a:gd name="connsiteX2" fmla="*/ 0 w 10000"/>
              <a:gd name="connsiteY2" fmla="*/ 10000 h 10000"/>
              <a:gd name="connsiteX3" fmla="*/ 10000 w 10000"/>
              <a:gd name="connsiteY3" fmla="*/ 10000 h 10000"/>
              <a:gd name="connsiteX0" fmla="*/ 0 w 10000"/>
              <a:gd name="connsiteY0" fmla="*/ 54 h 10054"/>
              <a:gd name="connsiteX1" fmla="*/ 3828 w 10000"/>
              <a:gd name="connsiteY1" fmla="*/ 0 h 10054"/>
              <a:gd name="connsiteX2" fmla="*/ 0 w 10000"/>
              <a:gd name="connsiteY2" fmla="*/ 10054 h 10054"/>
              <a:gd name="connsiteX3" fmla="*/ 10000 w 10000"/>
              <a:gd name="connsiteY3" fmla="*/ 10054 h 10054"/>
              <a:gd name="connsiteX0" fmla="*/ 9471 w 10000"/>
              <a:gd name="connsiteY0" fmla="*/ 87 h 10054"/>
              <a:gd name="connsiteX1" fmla="*/ 3828 w 10000"/>
              <a:gd name="connsiteY1" fmla="*/ 0 h 10054"/>
              <a:gd name="connsiteX2" fmla="*/ 0 w 10000"/>
              <a:gd name="connsiteY2" fmla="*/ 10054 h 10054"/>
              <a:gd name="connsiteX3" fmla="*/ 10000 w 10000"/>
              <a:gd name="connsiteY3" fmla="*/ 10054 h 10054"/>
              <a:gd name="connsiteX0" fmla="*/ 10053 w 10053"/>
              <a:gd name="connsiteY0" fmla="*/ 21 h 10054"/>
              <a:gd name="connsiteX1" fmla="*/ 3828 w 10053"/>
              <a:gd name="connsiteY1" fmla="*/ 0 h 10054"/>
              <a:gd name="connsiteX2" fmla="*/ 0 w 10053"/>
              <a:gd name="connsiteY2" fmla="*/ 10054 h 10054"/>
              <a:gd name="connsiteX3" fmla="*/ 10000 w 10053"/>
              <a:gd name="connsiteY3" fmla="*/ 10054 h 10054"/>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106 w 10106"/>
              <a:gd name="connsiteY0" fmla="*/ 55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88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0 h 10033"/>
              <a:gd name="connsiteX1" fmla="*/ 71 w 10106"/>
              <a:gd name="connsiteY1" fmla="*/ 12 h 10033"/>
              <a:gd name="connsiteX2" fmla="*/ 0 w 10106"/>
              <a:gd name="connsiteY2" fmla="*/ 10033 h 10033"/>
              <a:gd name="connsiteX3" fmla="*/ 10000 w 10106"/>
              <a:gd name="connsiteY3" fmla="*/ 10033 h 10033"/>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22 h 10022"/>
              <a:gd name="connsiteX1" fmla="*/ 71 w 10106"/>
              <a:gd name="connsiteY1" fmla="*/ 1 h 10022"/>
              <a:gd name="connsiteX2" fmla="*/ 0 w 10106"/>
              <a:gd name="connsiteY2" fmla="*/ 10022 h 10022"/>
              <a:gd name="connsiteX3" fmla="*/ 10000 w 10106"/>
              <a:gd name="connsiteY3" fmla="*/ 10022 h 10022"/>
              <a:gd name="connsiteX0" fmla="*/ 9894 w 10000"/>
              <a:gd name="connsiteY0" fmla="*/ 22 h 10022"/>
              <a:gd name="connsiteX1" fmla="*/ 71 w 10000"/>
              <a:gd name="connsiteY1" fmla="*/ 1 h 10022"/>
              <a:gd name="connsiteX2" fmla="*/ 0 w 10000"/>
              <a:gd name="connsiteY2" fmla="*/ 10022 h 10022"/>
              <a:gd name="connsiteX3" fmla="*/ 10000 w 10000"/>
              <a:gd name="connsiteY3" fmla="*/ 10022 h 10022"/>
            </a:gdLst>
            <a:ahLst/>
            <a:cxnLst>
              <a:cxn ang="0">
                <a:pos x="connsiteX0" y="connsiteY0"/>
              </a:cxn>
              <a:cxn ang="0">
                <a:pos x="connsiteX1" y="connsiteY1"/>
              </a:cxn>
              <a:cxn ang="0">
                <a:pos x="connsiteX2" y="connsiteY2"/>
              </a:cxn>
              <a:cxn ang="0">
                <a:pos x="connsiteX3" y="connsiteY3"/>
              </a:cxn>
            </a:cxnLst>
            <a:rect l="l" t="t" r="r" b="b"/>
            <a:pathLst>
              <a:path w="10000" h="10022">
                <a:moveTo>
                  <a:pt x="9894" y="22"/>
                </a:moveTo>
                <a:cubicBezTo>
                  <a:pt x="9900" y="26"/>
                  <a:pt x="65" y="-3"/>
                  <a:pt x="71" y="1"/>
                </a:cubicBezTo>
                <a:cubicBezTo>
                  <a:pt x="65" y="3330"/>
                  <a:pt x="6" y="6693"/>
                  <a:pt x="0" y="10022"/>
                </a:cubicBezTo>
                <a:lnTo>
                  <a:pt x="10000" y="10022"/>
                </a:lnTo>
              </a:path>
            </a:pathLst>
          </a:custGeom>
          <a:ln>
            <a:headEnd/>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dirty="0">
              <a:solidFill>
                <a:schemeClr val="tx1">
                  <a:lumMod val="75000"/>
                  <a:lumOff val="25000"/>
                </a:schemeClr>
              </a:solidFill>
              <a:latin typeface="Arial Narrow" pitchFamily="34" charset="0"/>
              <a:cs typeface="Times New Roman" pitchFamily="18" charset="0"/>
            </a:endParaRPr>
          </a:p>
        </p:txBody>
      </p:sp>
      <p:sp>
        <p:nvSpPr>
          <p:cNvPr id="9" name="正方形/長方形 8"/>
          <p:cNvSpPr/>
          <p:nvPr/>
        </p:nvSpPr>
        <p:spPr bwMode="auto">
          <a:xfrm>
            <a:off x="6816010" y="1538979"/>
            <a:ext cx="720009" cy="450005"/>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01h</a:t>
            </a:r>
            <a:endPar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0" name="Freeform 10"/>
          <p:cNvSpPr>
            <a:spLocks/>
          </p:cNvSpPr>
          <p:nvPr/>
        </p:nvSpPr>
        <p:spPr bwMode="auto">
          <a:xfrm rot="16200000">
            <a:off x="7670992" y="1494005"/>
            <a:ext cx="450059" cy="54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 name="connsiteX0" fmla="*/ 0 w 10000"/>
              <a:gd name="connsiteY0" fmla="*/ 0 h 10000"/>
              <a:gd name="connsiteX1" fmla="*/ 19 w 10000"/>
              <a:gd name="connsiteY1" fmla="*/ 12 h 10000"/>
              <a:gd name="connsiteX2" fmla="*/ 0 w 10000"/>
              <a:gd name="connsiteY2" fmla="*/ 10000 h 10000"/>
              <a:gd name="connsiteX3" fmla="*/ 10000 w 10000"/>
              <a:gd name="connsiteY3" fmla="*/ 10000 h 10000"/>
              <a:gd name="connsiteX0" fmla="*/ 0 w 10000"/>
              <a:gd name="connsiteY0" fmla="*/ 54 h 10054"/>
              <a:gd name="connsiteX1" fmla="*/ 3828 w 10000"/>
              <a:gd name="connsiteY1" fmla="*/ 0 h 10054"/>
              <a:gd name="connsiteX2" fmla="*/ 0 w 10000"/>
              <a:gd name="connsiteY2" fmla="*/ 10054 h 10054"/>
              <a:gd name="connsiteX3" fmla="*/ 10000 w 10000"/>
              <a:gd name="connsiteY3" fmla="*/ 10054 h 10054"/>
              <a:gd name="connsiteX0" fmla="*/ 9471 w 10000"/>
              <a:gd name="connsiteY0" fmla="*/ 87 h 10054"/>
              <a:gd name="connsiteX1" fmla="*/ 3828 w 10000"/>
              <a:gd name="connsiteY1" fmla="*/ 0 h 10054"/>
              <a:gd name="connsiteX2" fmla="*/ 0 w 10000"/>
              <a:gd name="connsiteY2" fmla="*/ 10054 h 10054"/>
              <a:gd name="connsiteX3" fmla="*/ 10000 w 10000"/>
              <a:gd name="connsiteY3" fmla="*/ 10054 h 10054"/>
              <a:gd name="connsiteX0" fmla="*/ 10053 w 10053"/>
              <a:gd name="connsiteY0" fmla="*/ 21 h 10054"/>
              <a:gd name="connsiteX1" fmla="*/ 3828 w 10053"/>
              <a:gd name="connsiteY1" fmla="*/ 0 h 10054"/>
              <a:gd name="connsiteX2" fmla="*/ 0 w 10053"/>
              <a:gd name="connsiteY2" fmla="*/ 10054 h 10054"/>
              <a:gd name="connsiteX3" fmla="*/ 10000 w 10053"/>
              <a:gd name="connsiteY3" fmla="*/ 10054 h 10054"/>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106 w 10106"/>
              <a:gd name="connsiteY0" fmla="*/ 55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88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0 h 10033"/>
              <a:gd name="connsiteX1" fmla="*/ 71 w 10106"/>
              <a:gd name="connsiteY1" fmla="*/ 12 h 10033"/>
              <a:gd name="connsiteX2" fmla="*/ 0 w 10106"/>
              <a:gd name="connsiteY2" fmla="*/ 10033 h 10033"/>
              <a:gd name="connsiteX3" fmla="*/ 10000 w 10106"/>
              <a:gd name="connsiteY3" fmla="*/ 10033 h 10033"/>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22 h 10022"/>
              <a:gd name="connsiteX1" fmla="*/ 71 w 10106"/>
              <a:gd name="connsiteY1" fmla="*/ 1 h 10022"/>
              <a:gd name="connsiteX2" fmla="*/ 0 w 10106"/>
              <a:gd name="connsiteY2" fmla="*/ 10022 h 10022"/>
              <a:gd name="connsiteX3" fmla="*/ 10000 w 10106"/>
              <a:gd name="connsiteY3" fmla="*/ 10022 h 10022"/>
              <a:gd name="connsiteX0" fmla="*/ 9894 w 10000"/>
              <a:gd name="connsiteY0" fmla="*/ 22 h 10022"/>
              <a:gd name="connsiteX1" fmla="*/ 71 w 10000"/>
              <a:gd name="connsiteY1" fmla="*/ 1 h 10022"/>
              <a:gd name="connsiteX2" fmla="*/ 0 w 10000"/>
              <a:gd name="connsiteY2" fmla="*/ 10022 h 10022"/>
              <a:gd name="connsiteX3" fmla="*/ 10000 w 10000"/>
              <a:gd name="connsiteY3" fmla="*/ 10022 h 10022"/>
            </a:gdLst>
            <a:ahLst/>
            <a:cxnLst>
              <a:cxn ang="0">
                <a:pos x="connsiteX0" y="connsiteY0"/>
              </a:cxn>
              <a:cxn ang="0">
                <a:pos x="connsiteX1" y="connsiteY1"/>
              </a:cxn>
              <a:cxn ang="0">
                <a:pos x="connsiteX2" y="connsiteY2"/>
              </a:cxn>
              <a:cxn ang="0">
                <a:pos x="connsiteX3" y="connsiteY3"/>
              </a:cxn>
            </a:cxnLst>
            <a:rect l="l" t="t" r="r" b="b"/>
            <a:pathLst>
              <a:path w="10000" h="10022">
                <a:moveTo>
                  <a:pt x="9894" y="22"/>
                </a:moveTo>
                <a:cubicBezTo>
                  <a:pt x="9900" y="26"/>
                  <a:pt x="65" y="-3"/>
                  <a:pt x="71" y="1"/>
                </a:cubicBezTo>
                <a:cubicBezTo>
                  <a:pt x="65" y="3330"/>
                  <a:pt x="6" y="6693"/>
                  <a:pt x="0" y="10022"/>
                </a:cubicBezTo>
                <a:lnTo>
                  <a:pt x="10000" y="10022"/>
                </a:lnTo>
              </a:path>
            </a:pathLst>
          </a:custGeom>
          <a:ln>
            <a:headEnd/>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dirty="0">
              <a:solidFill>
                <a:schemeClr val="tx1">
                  <a:lumMod val="75000"/>
                  <a:lumOff val="25000"/>
                </a:schemeClr>
              </a:solidFill>
              <a:latin typeface="Arial Narrow" pitchFamily="34" charset="0"/>
              <a:cs typeface="Times New Roman" pitchFamily="18" charset="0"/>
            </a:endParaRPr>
          </a:p>
        </p:txBody>
      </p:sp>
      <p:sp>
        <p:nvSpPr>
          <p:cNvPr id="11" name="正方形/長方形 10"/>
          <p:cNvSpPr/>
          <p:nvPr/>
        </p:nvSpPr>
        <p:spPr bwMode="auto">
          <a:xfrm>
            <a:off x="7536018" y="1538979"/>
            <a:ext cx="720009" cy="450005"/>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32h</a:t>
            </a:r>
            <a:endPar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2" name="Freeform 10"/>
          <p:cNvSpPr>
            <a:spLocks/>
          </p:cNvSpPr>
          <p:nvPr/>
        </p:nvSpPr>
        <p:spPr bwMode="auto">
          <a:xfrm rot="16200000">
            <a:off x="8391000" y="1494005"/>
            <a:ext cx="450059" cy="54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 name="connsiteX0" fmla="*/ 0 w 10000"/>
              <a:gd name="connsiteY0" fmla="*/ 0 h 10000"/>
              <a:gd name="connsiteX1" fmla="*/ 19 w 10000"/>
              <a:gd name="connsiteY1" fmla="*/ 12 h 10000"/>
              <a:gd name="connsiteX2" fmla="*/ 0 w 10000"/>
              <a:gd name="connsiteY2" fmla="*/ 10000 h 10000"/>
              <a:gd name="connsiteX3" fmla="*/ 10000 w 10000"/>
              <a:gd name="connsiteY3" fmla="*/ 10000 h 10000"/>
              <a:gd name="connsiteX0" fmla="*/ 0 w 10000"/>
              <a:gd name="connsiteY0" fmla="*/ 54 h 10054"/>
              <a:gd name="connsiteX1" fmla="*/ 3828 w 10000"/>
              <a:gd name="connsiteY1" fmla="*/ 0 h 10054"/>
              <a:gd name="connsiteX2" fmla="*/ 0 w 10000"/>
              <a:gd name="connsiteY2" fmla="*/ 10054 h 10054"/>
              <a:gd name="connsiteX3" fmla="*/ 10000 w 10000"/>
              <a:gd name="connsiteY3" fmla="*/ 10054 h 10054"/>
              <a:gd name="connsiteX0" fmla="*/ 9471 w 10000"/>
              <a:gd name="connsiteY0" fmla="*/ 87 h 10054"/>
              <a:gd name="connsiteX1" fmla="*/ 3828 w 10000"/>
              <a:gd name="connsiteY1" fmla="*/ 0 h 10054"/>
              <a:gd name="connsiteX2" fmla="*/ 0 w 10000"/>
              <a:gd name="connsiteY2" fmla="*/ 10054 h 10054"/>
              <a:gd name="connsiteX3" fmla="*/ 10000 w 10000"/>
              <a:gd name="connsiteY3" fmla="*/ 10054 h 10054"/>
              <a:gd name="connsiteX0" fmla="*/ 10053 w 10053"/>
              <a:gd name="connsiteY0" fmla="*/ 21 h 10054"/>
              <a:gd name="connsiteX1" fmla="*/ 3828 w 10053"/>
              <a:gd name="connsiteY1" fmla="*/ 0 h 10054"/>
              <a:gd name="connsiteX2" fmla="*/ 0 w 10053"/>
              <a:gd name="connsiteY2" fmla="*/ 10054 h 10054"/>
              <a:gd name="connsiteX3" fmla="*/ 10000 w 10053"/>
              <a:gd name="connsiteY3" fmla="*/ 10054 h 10054"/>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106 w 10106"/>
              <a:gd name="connsiteY0" fmla="*/ 55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88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0 h 10033"/>
              <a:gd name="connsiteX1" fmla="*/ 71 w 10106"/>
              <a:gd name="connsiteY1" fmla="*/ 12 h 10033"/>
              <a:gd name="connsiteX2" fmla="*/ 0 w 10106"/>
              <a:gd name="connsiteY2" fmla="*/ 10033 h 10033"/>
              <a:gd name="connsiteX3" fmla="*/ 10000 w 10106"/>
              <a:gd name="connsiteY3" fmla="*/ 10033 h 10033"/>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22 h 10022"/>
              <a:gd name="connsiteX1" fmla="*/ 71 w 10106"/>
              <a:gd name="connsiteY1" fmla="*/ 1 h 10022"/>
              <a:gd name="connsiteX2" fmla="*/ 0 w 10106"/>
              <a:gd name="connsiteY2" fmla="*/ 10022 h 10022"/>
              <a:gd name="connsiteX3" fmla="*/ 10000 w 10106"/>
              <a:gd name="connsiteY3" fmla="*/ 10022 h 10022"/>
              <a:gd name="connsiteX0" fmla="*/ 9894 w 10000"/>
              <a:gd name="connsiteY0" fmla="*/ 22 h 10022"/>
              <a:gd name="connsiteX1" fmla="*/ 71 w 10000"/>
              <a:gd name="connsiteY1" fmla="*/ 1 h 10022"/>
              <a:gd name="connsiteX2" fmla="*/ 0 w 10000"/>
              <a:gd name="connsiteY2" fmla="*/ 10022 h 10022"/>
              <a:gd name="connsiteX3" fmla="*/ 10000 w 10000"/>
              <a:gd name="connsiteY3" fmla="*/ 10022 h 10022"/>
            </a:gdLst>
            <a:ahLst/>
            <a:cxnLst>
              <a:cxn ang="0">
                <a:pos x="connsiteX0" y="connsiteY0"/>
              </a:cxn>
              <a:cxn ang="0">
                <a:pos x="connsiteX1" y="connsiteY1"/>
              </a:cxn>
              <a:cxn ang="0">
                <a:pos x="connsiteX2" y="connsiteY2"/>
              </a:cxn>
              <a:cxn ang="0">
                <a:pos x="connsiteX3" y="connsiteY3"/>
              </a:cxn>
            </a:cxnLst>
            <a:rect l="l" t="t" r="r" b="b"/>
            <a:pathLst>
              <a:path w="10000" h="10022">
                <a:moveTo>
                  <a:pt x="9894" y="22"/>
                </a:moveTo>
                <a:cubicBezTo>
                  <a:pt x="9900" y="26"/>
                  <a:pt x="65" y="-3"/>
                  <a:pt x="71" y="1"/>
                </a:cubicBezTo>
                <a:cubicBezTo>
                  <a:pt x="65" y="3330"/>
                  <a:pt x="6" y="6693"/>
                  <a:pt x="0" y="10022"/>
                </a:cubicBezTo>
                <a:lnTo>
                  <a:pt x="10000" y="10022"/>
                </a:lnTo>
              </a:path>
            </a:pathLst>
          </a:custGeom>
          <a:ln>
            <a:headEnd/>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dirty="0">
              <a:solidFill>
                <a:schemeClr val="tx1">
                  <a:lumMod val="75000"/>
                  <a:lumOff val="25000"/>
                </a:schemeClr>
              </a:solidFill>
              <a:latin typeface="Arial Narrow" pitchFamily="34" charset="0"/>
              <a:cs typeface="Times New Roman" pitchFamily="18" charset="0"/>
            </a:endParaRPr>
          </a:p>
        </p:txBody>
      </p:sp>
      <p:sp>
        <p:nvSpPr>
          <p:cNvPr id="13" name="正方形/長方形 12"/>
          <p:cNvSpPr/>
          <p:nvPr/>
        </p:nvSpPr>
        <p:spPr bwMode="auto">
          <a:xfrm>
            <a:off x="8256026" y="1538979"/>
            <a:ext cx="720009" cy="450005"/>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20h</a:t>
            </a:r>
            <a:endPar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Freeform 10"/>
          <p:cNvSpPr>
            <a:spLocks/>
          </p:cNvSpPr>
          <p:nvPr/>
        </p:nvSpPr>
        <p:spPr bwMode="auto">
          <a:xfrm rot="16200000">
            <a:off x="9111008" y="1494005"/>
            <a:ext cx="450059" cy="54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 name="connsiteX0" fmla="*/ 0 w 10000"/>
              <a:gd name="connsiteY0" fmla="*/ 0 h 10000"/>
              <a:gd name="connsiteX1" fmla="*/ 19 w 10000"/>
              <a:gd name="connsiteY1" fmla="*/ 12 h 10000"/>
              <a:gd name="connsiteX2" fmla="*/ 0 w 10000"/>
              <a:gd name="connsiteY2" fmla="*/ 10000 h 10000"/>
              <a:gd name="connsiteX3" fmla="*/ 10000 w 10000"/>
              <a:gd name="connsiteY3" fmla="*/ 10000 h 10000"/>
              <a:gd name="connsiteX0" fmla="*/ 0 w 10000"/>
              <a:gd name="connsiteY0" fmla="*/ 54 h 10054"/>
              <a:gd name="connsiteX1" fmla="*/ 3828 w 10000"/>
              <a:gd name="connsiteY1" fmla="*/ 0 h 10054"/>
              <a:gd name="connsiteX2" fmla="*/ 0 w 10000"/>
              <a:gd name="connsiteY2" fmla="*/ 10054 h 10054"/>
              <a:gd name="connsiteX3" fmla="*/ 10000 w 10000"/>
              <a:gd name="connsiteY3" fmla="*/ 10054 h 10054"/>
              <a:gd name="connsiteX0" fmla="*/ 9471 w 10000"/>
              <a:gd name="connsiteY0" fmla="*/ 87 h 10054"/>
              <a:gd name="connsiteX1" fmla="*/ 3828 w 10000"/>
              <a:gd name="connsiteY1" fmla="*/ 0 h 10054"/>
              <a:gd name="connsiteX2" fmla="*/ 0 w 10000"/>
              <a:gd name="connsiteY2" fmla="*/ 10054 h 10054"/>
              <a:gd name="connsiteX3" fmla="*/ 10000 w 10000"/>
              <a:gd name="connsiteY3" fmla="*/ 10054 h 10054"/>
              <a:gd name="connsiteX0" fmla="*/ 10053 w 10053"/>
              <a:gd name="connsiteY0" fmla="*/ 21 h 10054"/>
              <a:gd name="connsiteX1" fmla="*/ 3828 w 10053"/>
              <a:gd name="connsiteY1" fmla="*/ 0 h 10054"/>
              <a:gd name="connsiteX2" fmla="*/ 0 w 10053"/>
              <a:gd name="connsiteY2" fmla="*/ 10054 h 10054"/>
              <a:gd name="connsiteX3" fmla="*/ 10000 w 10053"/>
              <a:gd name="connsiteY3" fmla="*/ 10054 h 10054"/>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106 w 10106"/>
              <a:gd name="connsiteY0" fmla="*/ 55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88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0 h 10033"/>
              <a:gd name="connsiteX1" fmla="*/ 71 w 10106"/>
              <a:gd name="connsiteY1" fmla="*/ 12 h 10033"/>
              <a:gd name="connsiteX2" fmla="*/ 0 w 10106"/>
              <a:gd name="connsiteY2" fmla="*/ 10033 h 10033"/>
              <a:gd name="connsiteX3" fmla="*/ 10000 w 10106"/>
              <a:gd name="connsiteY3" fmla="*/ 10033 h 10033"/>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22 h 10022"/>
              <a:gd name="connsiteX1" fmla="*/ 71 w 10106"/>
              <a:gd name="connsiteY1" fmla="*/ 1 h 10022"/>
              <a:gd name="connsiteX2" fmla="*/ 0 w 10106"/>
              <a:gd name="connsiteY2" fmla="*/ 10022 h 10022"/>
              <a:gd name="connsiteX3" fmla="*/ 10000 w 10106"/>
              <a:gd name="connsiteY3" fmla="*/ 10022 h 10022"/>
              <a:gd name="connsiteX0" fmla="*/ 9894 w 10000"/>
              <a:gd name="connsiteY0" fmla="*/ 22 h 10022"/>
              <a:gd name="connsiteX1" fmla="*/ 71 w 10000"/>
              <a:gd name="connsiteY1" fmla="*/ 1 h 10022"/>
              <a:gd name="connsiteX2" fmla="*/ 0 w 10000"/>
              <a:gd name="connsiteY2" fmla="*/ 10022 h 10022"/>
              <a:gd name="connsiteX3" fmla="*/ 10000 w 10000"/>
              <a:gd name="connsiteY3" fmla="*/ 10022 h 10022"/>
            </a:gdLst>
            <a:ahLst/>
            <a:cxnLst>
              <a:cxn ang="0">
                <a:pos x="connsiteX0" y="connsiteY0"/>
              </a:cxn>
              <a:cxn ang="0">
                <a:pos x="connsiteX1" y="connsiteY1"/>
              </a:cxn>
              <a:cxn ang="0">
                <a:pos x="connsiteX2" y="connsiteY2"/>
              </a:cxn>
              <a:cxn ang="0">
                <a:pos x="connsiteX3" y="connsiteY3"/>
              </a:cxn>
            </a:cxnLst>
            <a:rect l="l" t="t" r="r" b="b"/>
            <a:pathLst>
              <a:path w="10000" h="10022">
                <a:moveTo>
                  <a:pt x="9894" y="22"/>
                </a:moveTo>
                <a:cubicBezTo>
                  <a:pt x="9900" y="26"/>
                  <a:pt x="65" y="-3"/>
                  <a:pt x="71" y="1"/>
                </a:cubicBezTo>
                <a:cubicBezTo>
                  <a:pt x="65" y="3330"/>
                  <a:pt x="6" y="6693"/>
                  <a:pt x="0" y="10022"/>
                </a:cubicBezTo>
                <a:lnTo>
                  <a:pt x="10000" y="10022"/>
                </a:lnTo>
              </a:path>
            </a:pathLst>
          </a:custGeom>
          <a:ln>
            <a:headEnd/>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dirty="0">
              <a:solidFill>
                <a:schemeClr val="tx1">
                  <a:lumMod val="75000"/>
                  <a:lumOff val="25000"/>
                </a:schemeClr>
              </a:solidFill>
              <a:latin typeface="Arial Narrow" pitchFamily="34" charset="0"/>
              <a:cs typeface="Times New Roman" pitchFamily="18" charset="0"/>
            </a:endParaRPr>
          </a:p>
        </p:txBody>
      </p:sp>
      <p:sp>
        <p:nvSpPr>
          <p:cNvPr id="15" name="正方形/長方形 14"/>
          <p:cNvSpPr/>
          <p:nvPr/>
        </p:nvSpPr>
        <p:spPr bwMode="auto">
          <a:xfrm>
            <a:off x="8976034" y="1538979"/>
            <a:ext cx="720009" cy="450005"/>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80h</a:t>
            </a:r>
            <a:endPar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6" name="Freeform 10"/>
          <p:cNvSpPr>
            <a:spLocks/>
          </p:cNvSpPr>
          <p:nvPr/>
        </p:nvSpPr>
        <p:spPr bwMode="auto">
          <a:xfrm rot="16200000">
            <a:off x="3350946" y="1494006"/>
            <a:ext cx="450059" cy="54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 name="connsiteX0" fmla="*/ 0 w 10000"/>
              <a:gd name="connsiteY0" fmla="*/ 0 h 10000"/>
              <a:gd name="connsiteX1" fmla="*/ 19 w 10000"/>
              <a:gd name="connsiteY1" fmla="*/ 12 h 10000"/>
              <a:gd name="connsiteX2" fmla="*/ 0 w 10000"/>
              <a:gd name="connsiteY2" fmla="*/ 10000 h 10000"/>
              <a:gd name="connsiteX3" fmla="*/ 10000 w 10000"/>
              <a:gd name="connsiteY3" fmla="*/ 10000 h 10000"/>
              <a:gd name="connsiteX0" fmla="*/ 0 w 10000"/>
              <a:gd name="connsiteY0" fmla="*/ 54 h 10054"/>
              <a:gd name="connsiteX1" fmla="*/ 3828 w 10000"/>
              <a:gd name="connsiteY1" fmla="*/ 0 h 10054"/>
              <a:gd name="connsiteX2" fmla="*/ 0 w 10000"/>
              <a:gd name="connsiteY2" fmla="*/ 10054 h 10054"/>
              <a:gd name="connsiteX3" fmla="*/ 10000 w 10000"/>
              <a:gd name="connsiteY3" fmla="*/ 10054 h 10054"/>
              <a:gd name="connsiteX0" fmla="*/ 9471 w 10000"/>
              <a:gd name="connsiteY0" fmla="*/ 87 h 10054"/>
              <a:gd name="connsiteX1" fmla="*/ 3828 w 10000"/>
              <a:gd name="connsiteY1" fmla="*/ 0 h 10054"/>
              <a:gd name="connsiteX2" fmla="*/ 0 w 10000"/>
              <a:gd name="connsiteY2" fmla="*/ 10054 h 10054"/>
              <a:gd name="connsiteX3" fmla="*/ 10000 w 10000"/>
              <a:gd name="connsiteY3" fmla="*/ 10054 h 10054"/>
              <a:gd name="connsiteX0" fmla="*/ 10053 w 10053"/>
              <a:gd name="connsiteY0" fmla="*/ 21 h 10054"/>
              <a:gd name="connsiteX1" fmla="*/ 3828 w 10053"/>
              <a:gd name="connsiteY1" fmla="*/ 0 h 10054"/>
              <a:gd name="connsiteX2" fmla="*/ 0 w 10053"/>
              <a:gd name="connsiteY2" fmla="*/ 10054 h 10054"/>
              <a:gd name="connsiteX3" fmla="*/ 10000 w 10053"/>
              <a:gd name="connsiteY3" fmla="*/ 10054 h 10054"/>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106 w 10106"/>
              <a:gd name="connsiteY0" fmla="*/ 55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88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0 h 10033"/>
              <a:gd name="connsiteX1" fmla="*/ 71 w 10106"/>
              <a:gd name="connsiteY1" fmla="*/ 12 h 10033"/>
              <a:gd name="connsiteX2" fmla="*/ 0 w 10106"/>
              <a:gd name="connsiteY2" fmla="*/ 10033 h 10033"/>
              <a:gd name="connsiteX3" fmla="*/ 10000 w 10106"/>
              <a:gd name="connsiteY3" fmla="*/ 10033 h 10033"/>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22 h 10022"/>
              <a:gd name="connsiteX1" fmla="*/ 71 w 10106"/>
              <a:gd name="connsiteY1" fmla="*/ 1 h 10022"/>
              <a:gd name="connsiteX2" fmla="*/ 0 w 10106"/>
              <a:gd name="connsiteY2" fmla="*/ 10022 h 10022"/>
              <a:gd name="connsiteX3" fmla="*/ 10000 w 10106"/>
              <a:gd name="connsiteY3" fmla="*/ 10022 h 10022"/>
              <a:gd name="connsiteX0" fmla="*/ 9894 w 10000"/>
              <a:gd name="connsiteY0" fmla="*/ 22 h 10022"/>
              <a:gd name="connsiteX1" fmla="*/ 71 w 10000"/>
              <a:gd name="connsiteY1" fmla="*/ 1 h 10022"/>
              <a:gd name="connsiteX2" fmla="*/ 0 w 10000"/>
              <a:gd name="connsiteY2" fmla="*/ 10022 h 10022"/>
              <a:gd name="connsiteX3" fmla="*/ 10000 w 10000"/>
              <a:gd name="connsiteY3" fmla="*/ 10022 h 10022"/>
            </a:gdLst>
            <a:ahLst/>
            <a:cxnLst>
              <a:cxn ang="0">
                <a:pos x="connsiteX0" y="connsiteY0"/>
              </a:cxn>
              <a:cxn ang="0">
                <a:pos x="connsiteX1" y="connsiteY1"/>
              </a:cxn>
              <a:cxn ang="0">
                <a:pos x="connsiteX2" y="connsiteY2"/>
              </a:cxn>
              <a:cxn ang="0">
                <a:pos x="connsiteX3" y="connsiteY3"/>
              </a:cxn>
            </a:cxnLst>
            <a:rect l="l" t="t" r="r" b="b"/>
            <a:pathLst>
              <a:path w="10000" h="10022">
                <a:moveTo>
                  <a:pt x="9894" y="22"/>
                </a:moveTo>
                <a:cubicBezTo>
                  <a:pt x="9900" y="26"/>
                  <a:pt x="65" y="-3"/>
                  <a:pt x="71" y="1"/>
                </a:cubicBezTo>
                <a:cubicBezTo>
                  <a:pt x="65" y="3330"/>
                  <a:pt x="6" y="6693"/>
                  <a:pt x="0" y="10022"/>
                </a:cubicBezTo>
                <a:lnTo>
                  <a:pt x="10000" y="10022"/>
                </a:lnTo>
              </a:path>
            </a:pathLst>
          </a:custGeom>
          <a:ln>
            <a:headEnd/>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dirty="0">
              <a:solidFill>
                <a:schemeClr val="tx1">
                  <a:lumMod val="75000"/>
                  <a:lumOff val="25000"/>
                </a:schemeClr>
              </a:solidFill>
              <a:latin typeface="Arial Narrow" pitchFamily="34" charset="0"/>
              <a:cs typeface="Times New Roman" pitchFamily="18" charset="0"/>
            </a:endParaRPr>
          </a:p>
        </p:txBody>
      </p:sp>
      <p:sp>
        <p:nvSpPr>
          <p:cNvPr id="17" name="正方形/長方形 16"/>
          <p:cNvSpPr/>
          <p:nvPr/>
        </p:nvSpPr>
        <p:spPr bwMode="auto">
          <a:xfrm>
            <a:off x="3215969" y="1538981"/>
            <a:ext cx="720009" cy="450005"/>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07h</a:t>
            </a:r>
            <a:endPar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8" name="Freeform 10"/>
          <p:cNvSpPr>
            <a:spLocks/>
          </p:cNvSpPr>
          <p:nvPr/>
        </p:nvSpPr>
        <p:spPr bwMode="auto">
          <a:xfrm rot="16200000">
            <a:off x="4070955" y="1494006"/>
            <a:ext cx="450059" cy="54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 name="connsiteX0" fmla="*/ 0 w 10000"/>
              <a:gd name="connsiteY0" fmla="*/ 0 h 10000"/>
              <a:gd name="connsiteX1" fmla="*/ 19 w 10000"/>
              <a:gd name="connsiteY1" fmla="*/ 12 h 10000"/>
              <a:gd name="connsiteX2" fmla="*/ 0 w 10000"/>
              <a:gd name="connsiteY2" fmla="*/ 10000 h 10000"/>
              <a:gd name="connsiteX3" fmla="*/ 10000 w 10000"/>
              <a:gd name="connsiteY3" fmla="*/ 10000 h 10000"/>
              <a:gd name="connsiteX0" fmla="*/ 0 w 10000"/>
              <a:gd name="connsiteY0" fmla="*/ 54 h 10054"/>
              <a:gd name="connsiteX1" fmla="*/ 3828 w 10000"/>
              <a:gd name="connsiteY1" fmla="*/ 0 h 10054"/>
              <a:gd name="connsiteX2" fmla="*/ 0 w 10000"/>
              <a:gd name="connsiteY2" fmla="*/ 10054 h 10054"/>
              <a:gd name="connsiteX3" fmla="*/ 10000 w 10000"/>
              <a:gd name="connsiteY3" fmla="*/ 10054 h 10054"/>
              <a:gd name="connsiteX0" fmla="*/ 9471 w 10000"/>
              <a:gd name="connsiteY0" fmla="*/ 87 h 10054"/>
              <a:gd name="connsiteX1" fmla="*/ 3828 w 10000"/>
              <a:gd name="connsiteY1" fmla="*/ 0 h 10054"/>
              <a:gd name="connsiteX2" fmla="*/ 0 w 10000"/>
              <a:gd name="connsiteY2" fmla="*/ 10054 h 10054"/>
              <a:gd name="connsiteX3" fmla="*/ 10000 w 10000"/>
              <a:gd name="connsiteY3" fmla="*/ 10054 h 10054"/>
              <a:gd name="connsiteX0" fmla="*/ 10053 w 10053"/>
              <a:gd name="connsiteY0" fmla="*/ 21 h 10054"/>
              <a:gd name="connsiteX1" fmla="*/ 3828 w 10053"/>
              <a:gd name="connsiteY1" fmla="*/ 0 h 10054"/>
              <a:gd name="connsiteX2" fmla="*/ 0 w 10053"/>
              <a:gd name="connsiteY2" fmla="*/ 10054 h 10054"/>
              <a:gd name="connsiteX3" fmla="*/ 10000 w 10053"/>
              <a:gd name="connsiteY3" fmla="*/ 10054 h 10054"/>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106 w 10106"/>
              <a:gd name="connsiteY0" fmla="*/ 55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88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0 h 10033"/>
              <a:gd name="connsiteX1" fmla="*/ 71 w 10106"/>
              <a:gd name="connsiteY1" fmla="*/ 12 h 10033"/>
              <a:gd name="connsiteX2" fmla="*/ 0 w 10106"/>
              <a:gd name="connsiteY2" fmla="*/ 10033 h 10033"/>
              <a:gd name="connsiteX3" fmla="*/ 10000 w 10106"/>
              <a:gd name="connsiteY3" fmla="*/ 10033 h 10033"/>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22 h 10022"/>
              <a:gd name="connsiteX1" fmla="*/ 71 w 10106"/>
              <a:gd name="connsiteY1" fmla="*/ 1 h 10022"/>
              <a:gd name="connsiteX2" fmla="*/ 0 w 10106"/>
              <a:gd name="connsiteY2" fmla="*/ 10022 h 10022"/>
              <a:gd name="connsiteX3" fmla="*/ 10000 w 10106"/>
              <a:gd name="connsiteY3" fmla="*/ 10022 h 10022"/>
              <a:gd name="connsiteX0" fmla="*/ 9894 w 10000"/>
              <a:gd name="connsiteY0" fmla="*/ 22 h 10022"/>
              <a:gd name="connsiteX1" fmla="*/ 71 w 10000"/>
              <a:gd name="connsiteY1" fmla="*/ 1 h 10022"/>
              <a:gd name="connsiteX2" fmla="*/ 0 w 10000"/>
              <a:gd name="connsiteY2" fmla="*/ 10022 h 10022"/>
              <a:gd name="connsiteX3" fmla="*/ 10000 w 10000"/>
              <a:gd name="connsiteY3" fmla="*/ 10022 h 10022"/>
            </a:gdLst>
            <a:ahLst/>
            <a:cxnLst>
              <a:cxn ang="0">
                <a:pos x="connsiteX0" y="connsiteY0"/>
              </a:cxn>
              <a:cxn ang="0">
                <a:pos x="connsiteX1" y="connsiteY1"/>
              </a:cxn>
              <a:cxn ang="0">
                <a:pos x="connsiteX2" y="connsiteY2"/>
              </a:cxn>
              <a:cxn ang="0">
                <a:pos x="connsiteX3" y="connsiteY3"/>
              </a:cxn>
            </a:cxnLst>
            <a:rect l="l" t="t" r="r" b="b"/>
            <a:pathLst>
              <a:path w="10000" h="10022">
                <a:moveTo>
                  <a:pt x="9894" y="22"/>
                </a:moveTo>
                <a:cubicBezTo>
                  <a:pt x="9900" y="26"/>
                  <a:pt x="65" y="-3"/>
                  <a:pt x="71" y="1"/>
                </a:cubicBezTo>
                <a:cubicBezTo>
                  <a:pt x="65" y="3330"/>
                  <a:pt x="6" y="6693"/>
                  <a:pt x="0" y="10022"/>
                </a:cubicBezTo>
                <a:lnTo>
                  <a:pt x="10000" y="10022"/>
                </a:lnTo>
              </a:path>
            </a:pathLst>
          </a:custGeom>
          <a:ln>
            <a:headEnd/>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dirty="0">
              <a:solidFill>
                <a:schemeClr val="tx1">
                  <a:lumMod val="75000"/>
                  <a:lumOff val="25000"/>
                </a:schemeClr>
              </a:solidFill>
              <a:latin typeface="Arial Narrow" pitchFamily="34" charset="0"/>
              <a:cs typeface="Times New Roman" pitchFamily="18" charset="0"/>
            </a:endParaRPr>
          </a:p>
        </p:txBody>
      </p:sp>
      <p:sp>
        <p:nvSpPr>
          <p:cNvPr id="19" name="正方形/長方形 18"/>
          <p:cNvSpPr/>
          <p:nvPr/>
        </p:nvSpPr>
        <p:spPr bwMode="auto">
          <a:xfrm>
            <a:off x="3935978" y="1538981"/>
            <a:ext cx="720009" cy="450005"/>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10h</a:t>
            </a:r>
            <a:endPar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3215969" y="2078985"/>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0h</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1" name="正方形/長方形 20"/>
          <p:cNvSpPr/>
          <p:nvPr/>
        </p:nvSpPr>
        <p:spPr bwMode="auto">
          <a:xfrm>
            <a:off x="3935977" y="2078984"/>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1h</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2" name="Freeform 10"/>
          <p:cNvSpPr>
            <a:spLocks/>
          </p:cNvSpPr>
          <p:nvPr/>
        </p:nvSpPr>
        <p:spPr bwMode="auto">
          <a:xfrm rot="16200000">
            <a:off x="4790959" y="1494005"/>
            <a:ext cx="450059" cy="54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 name="connsiteX0" fmla="*/ 0 w 10000"/>
              <a:gd name="connsiteY0" fmla="*/ 0 h 10000"/>
              <a:gd name="connsiteX1" fmla="*/ 19 w 10000"/>
              <a:gd name="connsiteY1" fmla="*/ 12 h 10000"/>
              <a:gd name="connsiteX2" fmla="*/ 0 w 10000"/>
              <a:gd name="connsiteY2" fmla="*/ 10000 h 10000"/>
              <a:gd name="connsiteX3" fmla="*/ 10000 w 10000"/>
              <a:gd name="connsiteY3" fmla="*/ 10000 h 10000"/>
              <a:gd name="connsiteX0" fmla="*/ 0 w 10000"/>
              <a:gd name="connsiteY0" fmla="*/ 54 h 10054"/>
              <a:gd name="connsiteX1" fmla="*/ 3828 w 10000"/>
              <a:gd name="connsiteY1" fmla="*/ 0 h 10054"/>
              <a:gd name="connsiteX2" fmla="*/ 0 w 10000"/>
              <a:gd name="connsiteY2" fmla="*/ 10054 h 10054"/>
              <a:gd name="connsiteX3" fmla="*/ 10000 w 10000"/>
              <a:gd name="connsiteY3" fmla="*/ 10054 h 10054"/>
              <a:gd name="connsiteX0" fmla="*/ 9471 w 10000"/>
              <a:gd name="connsiteY0" fmla="*/ 87 h 10054"/>
              <a:gd name="connsiteX1" fmla="*/ 3828 w 10000"/>
              <a:gd name="connsiteY1" fmla="*/ 0 h 10054"/>
              <a:gd name="connsiteX2" fmla="*/ 0 w 10000"/>
              <a:gd name="connsiteY2" fmla="*/ 10054 h 10054"/>
              <a:gd name="connsiteX3" fmla="*/ 10000 w 10000"/>
              <a:gd name="connsiteY3" fmla="*/ 10054 h 10054"/>
              <a:gd name="connsiteX0" fmla="*/ 10053 w 10053"/>
              <a:gd name="connsiteY0" fmla="*/ 21 h 10054"/>
              <a:gd name="connsiteX1" fmla="*/ 3828 w 10053"/>
              <a:gd name="connsiteY1" fmla="*/ 0 h 10054"/>
              <a:gd name="connsiteX2" fmla="*/ 0 w 10053"/>
              <a:gd name="connsiteY2" fmla="*/ 10054 h 10054"/>
              <a:gd name="connsiteX3" fmla="*/ 10000 w 10053"/>
              <a:gd name="connsiteY3" fmla="*/ 10054 h 10054"/>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106 w 10106"/>
              <a:gd name="connsiteY0" fmla="*/ 55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88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0 h 10033"/>
              <a:gd name="connsiteX1" fmla="*/ 71 w 10106"/>
              <a:gd name="connsiteY1" fmla="*/ 12 h 10033"/>
              <a:gd name="connsiteX2" fmla="*/ 0 w 10106"/>
              <a:gd name="connsiteY2" fmla="*/ 10033 h 10033"/>
              <a:gd name="connsiteX3" fmla="*/ 10000 w 10106"/>
              <a:gd name="connsiteY3" fmla="*/ 10033 h 10033"/>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22 h 10022"/>
              <a:gd name="connsiteX1" fmla="*/ 71 w 10106"/>
              <a:gd name="connsiteY1" fmla="*/ 1 h 10022"/>
              <a:gd name="connsiteX2" fmla="*/ 0 w 10106"/>
              <a:gd name="connsiteY2" fmla="*/ 10022 h 10022"/>
              <a:gd name="connsiteX3" fmla="*/ 10000 w 10106"/>
              <a:gd name="connsiteY3" fmla="*/ 10022 h 10022"/>
              <a:gd name="connsiteX0" fmla="*/ 9894 w 10000"/>
              <a:gd name="connsiteY0" fmla="*/ 22 h 10022"/>
              <a:gd name="connsiteX1" fmla="*/ 71 w 10000"/>
              <a:gd name="connsiteY1" fmla="*/ 1 h 10022"/>
              <a:gd name="connsiteX2" fmla="*/ 0 w 10000"/>
              <a:gd name="connsiteY2" fmla="*/ 10022 h 10022"/>
              <a:gd name="connsiteX3" fmla="*/ 10000 w 10000"/>
              <a:gd name="connsiteY3" fmla="*/ 10022 h 10022"/>
            </a:gdLst>
            <a:ahLst/>
            <a:cxnLst>
              <a:cxn ang="0">
                <a:pos x="connsiteX0" y="connsiteY0"/>
              </a:cxn>
              <a:cxn ang="0">
                <a:pos x="connsiteX1" y="connsiteY1"/>
              </a:cxn>
              <a:cxn ang="0">
                <a:pos x="connsiteX2" y="connsiteY2"/>
              </a:cxn>
              <a:cxn ang="0">
                <a:pos x="connsiteX3" y="connsiteY3"/>
              </a:cxn>
            </a:cxnLst>
            <a:rect l="l" t="t" r="r" b="b"/>
            <a:pathLst>
              <a:path w="10000" h="10022">
                <a:moveTo>
                  <a:pt x="9894" y="22"/>
                </a:moveTo>
                <a:cubicBezTo>
                  <a:pt x="9900" y="26"/>
                  <a:pt x="65" y="-3"/>
                  <a:pt x="71" y="1"/>
                </a:cubicBezTo>
                <a:cubicBezTo>
                  <a:pt x="65" y="3330"/>
                  <a:pt x="6" y="6693"/>
                  <a:pt x="0" y="10022"/>
                </a:cubicBezTo>
                <a:lnTo>
                  <a:pt x="10000" y="10022"/>
                </a:lnTo>
              </a:path>
            </a:pathLst>
          </a:custGeom>
          <a:ln>
            <a:headEnd/>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dirty="0">
              <a:solidFill>
                <a:schemeClr val="tx1">
                  <a:lumMod val="75000"/>
                  <a:lumOff val="25000"/>
                </a:schemeClr>
              </a:solidFill>
              <a:latin typeface="Arial Narrow" pitchFamily="34" charset="0"/>
              <a:cs typeface="Times New Roman" pitchFamily="18" charset="0"/>
            </a:endParaRPr>
          </a:p>
        </p:txBody>
      </p:sp>
      <p:sp>
        <p:nvSpPr>
          <p:cNvPr id="23" name="正方形/長方形 22"/>
          <p:cNvSpPr/>
          <p:nvPr/>
        </p:nvSpPr>
        <p:spPr bwMode="auto">
          <a:xfrm>
            <a:off x="4655982" y="1538980"/>
            <a:ext cx="720009" cy="450005"/>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30h</a:t>
            </a:r>
            <a:endPar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4655981" y="2078983"/>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2h</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5" name="正方形/長方形 24"/>
          <p:cNvSpPr/>
          <p:nvPr/>
        </p:nvSpPr>
        <p:spPr bwMode="auto">
          <a:xfrm>
            <a:off x="6096001" y="2078984"/>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8000h</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6" name="正方形/長方形 25"/>
          <p:cNvSpPr/>
          <p:nvPr/>
        </p:nvSpPr>
        <p:spPr bwMode="auto">
          <a:xfrm>
            <a:off x="6816009" y="2078983"/>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8001h</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7" name="正方形/長方形 26"/>
          <p:cNvSpPr/>
          <p:nvPr/>
        </p:nvSpPr>
        <p:spPr bwMode="auto">
          <a:xfrm>
            <a:off x="7536013" y="2078982"/>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8002h</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9" name="正方形/長方形 28"/>
          <p:cNvSpPr/>
          <p:nvPr/>
        </p:nvSpPr>
        <p:spPr bwMode="auto">
          <a:xfrm>
            <a:off x="8256025" y="2078984"/>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8003h</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0" name="正方形/長方形 29"/>
          <p:cNvSpPr/>
          <p:nvPr/>
        </p:nvSpPr>
        <p:spPr bwMode="auto">
          <a:xfrm>
            <a:off x="8976033" y="2078984"/>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8004h</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1" name="正方形/長方形 30"/>
          <p:cNvSpPr/>
          <p:nvPr/>
        </p:nvSpPr>
        <p:spPr bwMode="auto">
          <a:xfrm>
            <a:off x="5375993" y="1718980"/>
            <a:ext cx="720007"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2800" b="1"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28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2" name="正方形/長方形 31"/>
          <p:cNvSpPr/>
          <p:nvPr/>
        </p:nvSpPr>
        <p:spPr bwMode="auto">
          <a:xfrm>
            <a:off x="9696041" y="1718980"/>
            <a:ext cx="720007"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2800" b="1"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28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3" name="正方形/長方形 32"/>
          <p:cNvSpPr/>
          <p:nvPr/>
        </p:nvSpPr>
        <p:spPr bwMode="auto">
          <a:xfrm>
            <a:off x="9696041" y="2078984"/>
            <a:ext cx="720007"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2800" b="1"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28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4" name="正方形/長方形 33"/>
          <p:cNvSpPr/>
          <p:nvPr/>
        </p:nvSpPr>
        <p:spPr bwMode="auto">
          <a:xfrm>
            <a:off x="5375993" y="2078984"/>
            <a:ext cx="720007"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2800" b="1"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28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5" name="正方形/長方形 34"/>
          <p:cNvSpPr/>
          <p:nvPr/>
        </p:nvSpPr>
        <p:spPr bwMode="auto">
          <a:xfrm>
            <a:off x="2225957" y="2078984"/>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アドレス：</a:t>
            </a:r>
          </a:p>
        </p:txBody>
      </p:sp>
      <p:sp>
        <p:nvSpPr>
          <p:cNvPr id="36" name="正方形/長方形 35"/>
          <p:cNvSpPr/>
          <p:nvPr/>
        </p:nvSpPr>
        <p:spPr bwMode="auto">
          <a:xfrm>
            <a:off x="2225957" y="1628979"/>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データ：</a:t>
            </a:r>
          </a:p>
        </p:txBody>
      </p:sp>
    </p:spTree>
    <p:extLst>
      <p:ext uri="{BB962C8B-B14F-4D97-AF65-F5344CB8AC3E}">
        <p14:creationId xmlns:p14="http://schemas.microsoft.com/office/powerpoint/2010/main" val="2228014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CPU</a:t>
            </a:r>
            <a:endParaRPr kumimoji="1" lang="ja-JP" altLang="en-US" dirty="0"/>
          </a:p>
        </p:txBody>
      </p:sp>
      <p:sp>
        <p:nvSpPr>
          <p:cNvPr id="3" name="コンテンツ プレースホルダー 2"/>
          <p:cNvSpPr>
            <a:spLocks noGrp="1"/>
          </p:cNvSpPr>
          <p:nvPr>
            <p:ph type="body" sz="quarter" idx="10"/>
          </p:nvPr>
        </p:nvSpPr>
        <p:spPr>
          <a:xfrm>
            <a:off x="2045955" y="1358977"/>
            <a:ext cx="7848600" cy="4903788"/>
          </a:xfrm>
          <a:prstGeom prst="rect">
            <a:avLst/>
          </a:prstGeom>
        </p:spPr>
        <p:txBody>
          <a:bodyPr/>
          <a:lstStyle/>
          <a:p>
            <a:r>
              <a:rPr kumimoji="1" lang="ja-JP" altLang="en-US" dirty="0"/>
              <a:t>コンピュータの心臓部</a:t>
            </a:r>
            <a:endParaRPr kumimoji="1" lang="en-US" altLang="ja-JP" dirty="0"/>
          </a:p>
          <a:p>
            <a:pPr lvl="1"/>
            <a:r>
              <a:rPr lang="ja-JP" altLang="en-US" dirty="0"/>
              <a:t>メモリから命令を読み出し，計算する</a:t>
            </a:r>
            <a:endParaRPr lang="en-US" altLang="ja-JP" dirty="0"/>
          </a:p>
          <a:p>
            <a:r>
              <a:rPr lang="ja-JP" altLang="en-US" dirty="0"/>
              <a:t>構成要素：</a:t>
            </a:r>
            <a:endParaRPr lang="en-US" altLang="ja-JP" dirty="0"/>
          </a:p>
          <a:p>
            <a:pPr lvl="1"/>
            <a:r>
              <a:rPr lang="ja-JP" altLang="en-US" dirty="0">
                <a:solidFill>
                  <a:schemeClr val="accent2"/>
                </a:solidFill>
              </a:rPr>
              <a:t>演算器（</a:t>
            </a:r>
            <a:r>
              <a:rPr lang="en-US" altLang="ja-JP" dirty="0">
                <a:solidFill>
                  <a:schemeClr val="accent2"/>
                </a:solidFill>
              </a:rPr>
              <a:t>FU: Functional Unit</a:t>
            </a:r>
            <a:r>
              <a:rPr lang="ja-JP" altLang="en-US" dirty="0">
                <a:solidFill>
                  <a:schemeClr val="accent2"/>
                </a:solidFill>
              </a:rPr>
              <a:t>）</a:t>
            </a:r>
            <a:endParaRPr lang="en-US" altLang="ja-JP" dirty="0">
              <a:solidFill>
                <a:schemeClr val="accent2"/>
              </a:solidFill>
            </a:endParaRPr>
          </a:p>
          <a:p>
            <a:pPr lvl="2"/>
            <a:r>
              <a:rPr lang="ja-JP" altLang="en-US" dirty="0"/>
              <a:t>加算器や </a:t>
            </a:r>
            <a:r>
              <a:rPr lang="en-US" altLang="ja-JP" dirty="0"/>
              <a:t>AND </a:t>
            </a:r>
            <a:r>
              <a:rPr lang="ja-JP" altLang="en-US" dirty="0"/>
              <a:t>演算器など</a:t>
            </a:r>
            <a:endParaRPr lang="en-US" altLang="ja-JP" dirty="0"/>
          </a:p>
          <a:p>
            <a:pPr lvl="2"/>
            <a:r>
              <a:rPr lang="ja-JP" altLang="en-US" dirty="0"/>
              <a:t>指示された種類の演算を行う</a:t>
            </a:r>
            <a:endParaRPr lang="en-US" altLang="ja-JP" dirty="0"/>
          </a:p>
          <a:p>
            <a:pPr lvl="1"/>
            <a:r>
              <a:rPr lang="ja-JP" altLang="en-US" dirty="0">
                <a:solidFill>
                  <a:schemeClr val="accent1"/>
                </a:solidFill>
              </a:rPr>
              <a:t>レジスタ・ファイル（右図では </a:t>
            </a:r>
            <a:r>
              <a:rPr lang="en-US" altLang="ja-JP" dirty="0">
                <a:solidFill>
                  <a:schemeClr val="accent1"/>
                </a:solidFill>
              </a:rPr>
              <a:t>A,B,C…</a:t>
            </a:r>
            <a:r>
              <a:rPr lang="ja-JP" altLang="en-US" dirty="0">
                <a:solidFill>
                  <a:schemeClr val="accent1"/>
                </a:solidFill>
              </a:rPr>
              <a:t>）</a:t>
            </a:r>
            <a:endParaRPr lang="en-US" altLang="ja-JP" dirty="0">
              <a:solidFill>
                <a:schemeClr val="accent1"/>
              </a:solidFill>
            </a:endParaRPr>
          </a:p>
          <a:p>
            <a:pPr lvl="2"/>
            <a:r>
              <a:rPr lang="ja-JP" altLang="en-US" dirty="0"/>
              <a:t>メモリと同様にデータを記憶する</a:t>
            </a:r>
            <a:endParaRPr lang="en-US" altLang="ja-JP" dirty="0"/>
          </a:p>
          <a:p>
            <a:pPr lvl="3"/>
            <a:r>
              <a:rPr lang="ja-JP" altLang="en-US" dirty="0"/>
              <a:t>位置を指定して読み書きする</a:t>
            </a:r>
            <a:endParaRPr lang="en-US" altLang="ja-JP" dirty="0"/>
          </a:p>
          <a:p>
            <a:pPr lvl="2"/>
            <a:r>
              <a:rPr lang="en-US" altLang="ja-JP" dirty="0"/>
              <a:t>CPU </a:t>
            </a:r>
            <a:r>
              <a:rPr lang="ja-JP" altLang="en-US" dirty="0"/>
              <a:t>の演算は，このレジスタ上でのみ行う</a:t>
            </a:r>
            <a:endParaRPr lang="en-US" altLang="ja-JP" dirty="0"/>
          </a:p>
          <a:p>
            <a:pPr lvl="1"/>
            <a:r>
              <a:rPr lang="en-US" altLang="ja-JP" dirty="0">
                <a:solidFill>
                  <a:schemeClr val="accent5"/>
                </a:solidFill>
              </a:rPr>
              <a:t>PC</a:t>
            </a:r>
          </a:p>
          <a:p>
            <a:pPr lvl="2"/>
            <a:r>
              <a:rPr lang="ja-JP" altLang="en-US" dirty="0"/>
              <a:t>現在見ている命令のアドレスを記憶している場所</a:t>
            </a:r>
            <a:endParaRPr lang="en-US" altLang="ja-JP" dirty="0"/>
          </a:p>
        </p:txBody>
      </p:sp>
      <p:sp>
        <p:nvSpPr>
          <p:cNvPr id="5" name="正方形/長方形 4"/>
          <p:cNvSpPr/>
          <p:nvPr/>
        </p:nvSpPr>
        <p:spPr bwMode="auto">
          <a:xfrm>
            <a:off x="8976032" y="1988984"/>
            <a:ext cx="1440016" cy="2880032"/>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9246035"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A</a:t>
            </a:r>
            <a:endParaRPr lang="ja-JP" altLang="en-US" dirty="0">
              <a:latin typeface="メイリオ" panose="020B0604030504040204" pitchFamily="50" charset="-128"/>
              <a:ea typeface="メイリオ" panose="020B0604030504040204" pitchFamily="50" charset="-128"/>
            </a:endParaRPr>
          </a:p>
        </p:txBody>
      </p:sp>
      <p:sp>
        <p:nvSpPr>
          <p:cNvPr id="7" name="正方形/長方形 6"/>
          <p:cNvSpPr/>
          <p:nvPr/>
        </p:nvSpPr>
        <p:spPr bwMode="auto">
          <a:xfrm>
            <a:off x="9876042" y="2528990"/>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9246035"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B</a:t>
            </a:r>
            <a:endParaRPr lang="ja-JP" altLang="en-US" dirty="0">
              <a:latin typeface="メイリオ" panose="020B0604030504040204" pitchFamily="50" charset="-128"/>
              <a:ea typeface="メイリオ" panose="020B0604030504040204" pitchFamily="50" charset="-128"/>
            </a:endParaRPr>
          </a:p>
        </p:txBody>
      </p:sp>
      <p:sp>
        <p:nvSpPr>
          <p:cNvPr id="9" name="正方形/長方形 8"/>
          <p:cNvSpPr/>
          <p:nvPr/>
        </p:nvSpPr>
        <p:spPr bwMode="auto">
          <a:xfrm>
            <a:off x="9246035"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C</a:t>
            </a:r>
            <a:endParaRPr lang="ja-JP" altLang="en-US" dirty="0">
              <a:latin typeface="メイリオ" panose="020B0604030504040204" pitchFamily="50" charset="-128"/>
              <a:ea typeface="メイリオ" panose="020B0604030504040204" pitchFamily="50" charset="-128"/>
            </a:endParaRPr>
          </a:p>
        </p:txBody>
      </p:sp>
      <p:sp>
        <p:nvSpPr>
          <p:cNvPr id="10" name="正方形/長方形 9"/>
          <p:cNvSpPr/>
          <p:nvPr/>
        </p:nvSpPr>
        <p:spPr bwMode="auto">
          <a:xfrm>
            <a:off x="9246035"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D</a:t>
            </a:r>
            <a:endParaRPr lang="ja-JP" altLang="en-US" dirty="0">
              <a:latin typeface="メイリオ" panose="020B0604030504040204" pitchFamily="50" charset="-128"/>
              <a:ea typeface="メイリオ" panose="020B0604030504040204" pitchFamily="50" charset="-128"/>
            </a:endParaRPr>
          </a:p>
        </p:txBody>
      </p:sp>
      <p:sp>
        <p:nvSpPr>
          <p:cNvPr id="12" name="フローチャート: 手作業 11"/>
          <p:cNvSpPr/>
          <p:nvPr/>
        </p:nvSpPr>
        <p:spPr bwMode="auto">
          <a:xfrm rot="16200000">
            <a:off x="9598844" y="3796199"/>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13" name="正方形/長方形 12"/>
          <p:cNvSpPr/>
          <p:nvPr/>
        </p:nvSpPr>
        <p:spPr bwMode="auto">
          <a:xfrm>
            <a:off x="9246035"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E</a:t>
            </a:r>
            <a:endParaRPr lang="ja-JP" altLang="en-US" dirty="0">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9246035" y="432901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F</a:t>
            </a:r>
            <a:endParaRPr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488241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CPU </a:t>
            </a:r>
            <a:r>
              <a:rPr kumimoji="1" lang="ja-JP" altLang="en-US" dirty="0"/>
              <a:t>の動作</a:t>
            </a:r>
          </a:p>
        </p:txBody>
      </p:sp>
      <p:sp>
        <p:nvSpPr>
          <p:cNvPr id="3" name="コンテンツ プレースホルダー 2"/>
          <p:cNvSpPr>
            <a:spLocks noGrp="1"/>
          </p:cNvSpPr>
          <p:nvPr>
            <p:ph type="body" sz="quarter" idx="10"/>
          </p:nvPr>
        </p:nvSpPr>
        <p:spPr>
          <a:prstGeom prst="rect">
            <a:avLst/>
          </a:prstGeom>
        </p:spPr>
        <p:txBody>
          <a:bodyPr/>
          <a:lstStyle/>
          <a:p>
            <a:r>
              <a:rPr lang="en-US" altLang="ja-JP" dirty="0"/>
              <a:t>PC</a:t>
            </a:r>
            <a:r>
              <a:rPr lang="ja-JP" altLang="en-US" dirty="0"/>
              <a:t>（</a:t>
            </a:r>
            <a:r>
              <a:rPr lang="en-US" altLang="ja-JP" dirty="0"/>
              <a:t>Program Counter</a:t>
            </a:r>
            <a:r>
              <a:rPr lang="ja-JP" altLang="en-US" dirty="0"/>
              <a:t>）</a:t>
            </a:r>
            <a:r>
              <a:rPr lang="en-US" altLang="ja-JP" dirty="0"/>
              <a:t>:</a:t>
            </a:r>
          </a:p>
          <a:p>
            <a:pPr lvl="1"/>
            <a:r>
              <a:rPr lang="ja-JP" altLang="en-US" dirty="0">
                <a:solidFill>
                  <a:schemeClr val="accent5"/>
                </a:solidFill>
              </a:rPr>
              <a:t>現在処理する命令のアドレスを保持</a:t>
            </a:r>
            <a:endParaRPr lang="en-US" altLang="ja-JP" dirty="0">
              <a:solidFill>
                <a:schemeClr val="accent5"/>
              </a:solidFill>
            </a:endParaRPr>
          </a:p>
          <a:p>
            <a:r>
              <a:rPr lang="ja-JP" altLang="en-US" dirty="0"/>
              <a:t>おおざっぱな命令の処理：</a:t>
            </a:r>
            <a:endParaRPr lang="en-US" altLang="ja-JP" dirty="0"/>
          </a:p>
          <a:p>
            <a:pPr marL="906462" lvl="1" indent="-457200">
              <a:buFont typeface="+mj-lt"/>
              <a:buAutoNum type="arabicPeriod"/>
            </a:pPr>
            <a:r>
              <a:rPr lang="en-US" altLang="ja-JP" dirty="0"/>
              <a:t>PC </a:t>
            </a:r>
            <a:r>
              <a:rPr lang="ja-JP" altLang="en-US" dirty="0"/>
              <a:t>が指すアドレスのメモリから読む</a:t>
            </a:r>
            <a:endParaRPr lang="en-US" altLang="ja-JP" dirty="0"/>
          </a:p>
          <a:p>
            <a:pPr marL="906462" lvl="1" indent="-457200">
              <a:buFont typeface="+mj-lt"/>
              <a:buAutoNum type="arabicPeriod"/>
            </a:pPr>
            <a:r>
              <a:rPr lang="ja-JP" altLang="en-US" dirty="0"/>
              <a:t>読んできた命令に応じて処理をする</a:t>
            </a:r>
            <a:endParaRPr lang="en-US" altLang="ja-JP" dirty="0"/>
          </a:p>
          <a:p>
            <a:pPr marL="906462" lvl="1" indent="-457200">
              <a:buFont typeface="+mj-lt"/>
              <a:buAutoNum type="arabicPeriod"/>
            </a:pPr>
            <a:r>
              <a:rPr lang="en-US" altLang="ja-JP" dirty="0"/>
              <a:t>PC </a:t>
            </a:r>
            <a:r>
              <a:rPr lang="ja-JP" altLang="en-US" dirty="0"/>
              <a:t>を更新（数字をたす）</a:t>
            </a:r>
            <a:endParaRPr lang="en-US" altLang="ja-JP" dirty="0"/>
          </a:p>
          <a:p>
            <a:pPr marL="906462" lvl="1" indent="-457200">
              <a:buFont typeface="+mj-lt"/>
              <a:buAutoNum type="arabicPeriod"/>
            </a:pPr>
            <a:r>
              <a:rPr lang="en-US" altLang="ja-JP" dirty="0"/>
              <a:t>1. </a:t>
            </a:r>
            <a:r>
              <a:rPr lang="ja-JP" altLang="en-US" dirty="0"/>
              <a:t>にもどる</a:t>
            </a:r>
            <a:endParaRPr lang="en-US" altLang="ja-JP" dirty="0"/>
          </a:p>
        </p:txBody>
      </p:sp>
    </p:spTree>
    <p:extLst>
      <p:ext uri="{BB962C8B-B14F-4D97-AF65-F5344CB8AC3E}">
        <p14:creationId xmlns:p14="http://schemas.microsoft.com/office/powerpoint/2010/main" val="31856407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CPU </a:t>
            </a:r>
            <a:r>
              <a:rPr kumimoji="1" lang="ja-JP" altLang="en-US" dirty="0"/>
              <a:t>の動作</a:t>
            </a:r>
          </a:p>
        </p:txBody>
      </p:sp>
      <p:sp>
        <p:nvSpPr>
          <p:cNvPr id="3" name="コンテンツ プレースホルダー 2"/>
          <p:cNvSpPr>
            <a:spLocks noGrp="1"/>
          </p:cNvSpPr>
          <p:nvPr>
            <p:ph type="body" sz="quarter" idx="10"/>
          </p:nvPr>
        </p:nvSpPr>
        <p:spPr>
          <a:xfrm>
            <a:off x="2135957" y="1088975"/>
            <a:ext cx="8010089" cy="1620018"/>
          </a:xfrm>
          <a:prstGeom prst="rect">
            <a:avLst/>
          </a:prstGeom>
        </p:spPr>
        <p:txBody>
          <a:bodyPr/>
          <a:lstStyle/>
          <a:p>
            <a:pPr marL="546462" indent="-457200"/>
            <a:r>
              <a:rPr lang="ja-JP" altLang="en-US" dirty="0"/>
              <a:t>レシピをみながら料理をするのに似ている</a:t>
            </a:r>
            <a:endParaRPr lang="en-US" altLang="ja-JP" dirty="0"/>
          </a:p>
          <a:p>
            <a:pPr marL="906462" lvl="1" indent="-457200"/>
            <a:r>
              <a:rPr lang="ja-JP" altLang="en-US" dirty="0"/>
              <a:t>レシピの各手順が命令</a:t>
            </a:r>
            <a:endParaRPr lang="en-US" altLang="ja-JP" dirty="0"/>
          </a:p>
          <a:p>
            <a:pPr marL="906462" lvl="1" indent="-457200"/>
            <a:r>
              <a:rPr lang="ja-JP" altLang="en-US" dirty="0"/>
              <a:t>今何個目の手順を見てるか，を憶えているのかが </a:t>
            </a:r>
            <a:r>
              <a:rPr lang="en-US" altLang="ja-JP" dirty="0"/>
              <a:t>PC </a:t>
            </a:r>
          </a:p>
          <a:p>
            <a:pPr marL="906462" lvl="1" indent="-457200"/>
            <a:r>
              <a:rPr lang="ja-JP" altLang="en-US" dirty="0"/>
              <a:t>ひとつひとつ手順を取り出して，指示に従って処理</a:t>
            </a:r>
            <a:endParaRPr lang="en-US" altLang="ja-JP" dirty="0"/>
          </a:p>
        </p:txBody>
      </p:sp>
      <p:sp>
        <p:nvSpPr>
          <p:cNvPr id="4" name="正方形/長方形 3"/>
          <p:cNvSpPr/>
          <p:nvPr/>
        </p:nvSpPr>
        <p:spPr bwMode="auto">
          <a:xfrm>
            <a:off x="5195990" y="3429000"/>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3">
                    <a:lumMod val="50000"/>
                  </a:schemeClr>
                </a:solidFill>
              </a:rPr>
              <a:t>1.</a:t>
            </a:r>
            <a:r>
              <a:rPr lang="ja-JP" altLang="en-US" sz="1600" dirty="0">
                <a:solidFill>
                  <a:schemeClr val="accent3">
                    <a:lumMod val="50000"/>
                  </a:schemeClr>
                </a:solidFill>
              </a:rPr>
              <a:t>野菜を切る</a:t>
            </a:r>
          </a:p>
        </p:txBody>
      </p:sp>
      <p:sp>
        <p:nvSpPr>
          <p:cNvPr id="5" name="正方形/長方形 4"/>
          <p:cNvSpPr/>
          <p:nvPr/>
        </p:nvSpPr>
        <p:spPr bwMode="auto">
          <a:xfrm>
            <a:off x="5195990" y="3789004"/>
            <a:ext cx="1440000" cy="360004"/>
          </a:xfrm>
          <a:prstGeom prst="rect">
            <a:avLst/>
          </a:prstGeom>
          <a:solidFill>
            <a:schemeClr val="accent3">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bg1"/>
                </a:solidFill>
              </a:rPr>
              <a:t>2.</a:t>
            </a:r>
            <a:r>
              <a:rPr lang="ja-JP" altLang="en-US" sz="1400" dirty="0">
                <a:solidFill>
                  <a:schemeClr val="bg1"/>
                </a:solidFill>
              </a:rPr>
              <a:t>野菜を炒める</a:t>
            </a:r>
          </a:p>
        </p:txBody>
      </p:sp>
      <p:sp>
        <p:nvSpPr>
          <p:cNvPr id="6" name="正方形/長方形 5"/>
          <p:cNvSpPr/>
          <p:nvPr/>
        </p:nvSpPr>
        <p:spPr bwMode="auto">
          <a:xfrm>
            <a:off x="5195990" y="4149008"/>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2">
                    <a:lumMod val="50000"/>
                  </a:schemeClr>
                </a:solidFill>
              </a:rPr>
              <a:t>3.</a:t>
            </a:r>
            <a:r>
              <a:rPr lang="ja-JP" altLang="en-US" sz="1600" dirty="0">
                <a:solidFill>
                  <a:schemeClr val="accent2">
                    <a:lumMod val="50000"/>
                  </a:schemeClr>
                </a:solidFill>
              </a:rPr>
              <a:t>肉を切る</a:t>
            </a:r>
          </a:p>
        </p:txBody>
      </p:sp>
      <p:sp>
        <p:nvSpPr>
          <p:cNvPr id="7" name="正方形/長方形 6"/>
          <p:cNvSpPr/>
          <p:nvPr/>
        </p:nvSpPr>
        <p:spPr bwMode="auto">
          <a:xfrm>
            <a:off x="5195990" y="4509012"/>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4.</a:t>
            </a:r>
            <a:r>
              <a:rPr lang="ja-JP" altLang="en-US" sz="1600" dirty="0">
                <a:solidFill>
                  <a:schemeClr val="bg1"/>
                </a:solidFill>
              </a:rPr>
              <a:t>肉を炒める</a:t>
            </a:r>
          </a:p>
        </p:txBody>
      </p:sp>
      <p:sp>
        <p:nvSpPr>
          <p:cNvPr id="8" name="正方形/長方形 7"/>
          <p:cNvSpPr/>
          <p:nvPr/>
        </p:nvSpPr>
        <p:spPr bwMode="auto">
          <a:xfrm>
            <a:off x="5195990" y="4869016"/>
            <a:ext cx="1440000" cy="360004"/>
          </a:xfrm>
          <a:prstGeom prst="rect">
            <a:avLst/>
          </a:prstGeom>
          <a:solidFill>
            <a:schemeClr val="accent2">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5.</a:t>
            </a:r>
            <a:r>
              <a:rPr lang="ja-JP" altLang="en-US" sz="1600" dirty="0">
                <a:solidFill>
                  <a:schemeClr val="bg1"/>
                </a:solidFill>
              </a:rPr>
              <a:t>煮込む</a:t>
            </a:r>
          </a:p>
        </p:txBody>
      </p:sp>
      <p:sp>
        <p:nvSpPr>
          <p:cNvPr id="9" name="正方形/長方形 8"/>
          <p:cNvSpPr/>
          <p:nvPr/>
        </p:nvSpPr>
        <p:spPr bwMode="auto">
          <a:xfrm>
            <a:off x="5195990" y="5229020"/>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bg1"/>
                </a:solidFill>
              </a:rPr>
              <a:t>6.</a:t>
            </a:r>
            <a:r>
              <a:rPr lang="ja-JP" altLang="en-US" sz="1400" dirty="0">
                <a:solidFill>
                  <a:schemeClr val="bg1"/>
                </a:solidFill>
              </a:rPr>
              <a:t>ルーを入れる</a:t>
            </a:r>
          </a:p>
        </p:txBody>
      </p:sp>
      <p:sp>
        <p:nvSpPr>
          <p:cNvPr id="10" name="正方形/長方形 9"/>
          <p:cNvSpPr/>
          <p:nvPr/>
        </p:nvSpPr>
        <p:spPr bwMode="auto">
          <a:xfrm>
            <a:off x="5195990" y="5589024"/>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2">
                    <a:lumMod val="50000"/>
                  </a:schemeClr>
                </a:solidFill>
              </a:rPr>
              <a:t>7.</a:t>
            </a:r>
            <a:r>
              <a:rPr lang="ja-JP" altLang="en-US" sz="1600" dirty="0">
                <a:solidFill>
                  <a:schemeClr val="accent2">
                    <a:lumMod val="50000"/>
                  </a:schemeClr>
                </a:solidFill>
              </a:rPr>
              <a:t>コメを研ぐ</a:t>
            </a:r>
          </a:p>
        </p:txBody>
      </p:sp>
      <p:sp>
        <p:nvSpPr>
          <p:cNvPr id="11" name="正方形/長方形 10"/>
          <p:cNvSpPr/>
          <p:nvPr/>
        </p:nvSpPr>
        <p:spPr bwMode="auto">
          <a:xfrm>
            <a:off x="5195990" y="5949028"/>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8.</a:t>
            </a:r>
            <a:r>
              <a:rPr lang="ja-JP" altLang="en-US" sz="1600" dirty="0">
                <a:solidFill>
                  <a:schemeClr val="bg1"/>
                </a:solidFill>
              </a:rPr>
              <a:t>コメを炊く</a:t>
            </a:r>
          </a:p>
        </p:txBody>
      </p:sp>
      <p:sp>
        <p:nvSpPr>
          <p:cNvPr id="12" name="正方形/長方形 11"/>
          <p:cNvSpPr/>
          <p:nvPr/>
        </p:nvSpPr>
        <p:spPr bwMode="auto">
          <a:xfrm>
            <a:off x="5195990" y="6309032"/>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9.</a:t>
            </a:r>
            <a:r>
              <a:rPr lang="ja-JP" altLang="en-US" sz="1600" dirty="0">
                <a:solidFill>
                  <a:schemeClr val="bg1"/>
                </a:solidFill>
              </a:rPr>
              <a:t>もりつける</a:t>
            </a:r>
          </a:p>
        </p:txBody>
      </p:sp>
      <p:grpSp>
        <p:nvGrpSpPr>
          <p:cNvPr id="13" name="グループ化 12"/>
          <p:cNvGrpSpPr/>
          <p:nvPr/>
        </p:nvGrpSpPr>
        <p:grpSpPr>
          <a:xfrm rot="5400000">
            <a:off x="3080965" y="4824017"/>
            <a:ext cx="3330038" cy="540006"/>
            <a:chOff x="3533396" y="3248998"/>
            <a:chExt cx="3330038" cy="540006"/>
          </a:xfrm>
        </p:grpSpPr>
        <p:cxnSp>
          <p:nvCxnSpPr>
            <p:cNvPr id="14" name="直線コネクタ 13"/>
            <p:cNvCxnSpPr/>
            <p:nvPr/>
          </p:nvCxnSpPr>
          <p:spPr bwMode="auto">
            <a:xfrm rot="16200000">
              <a:off x="5198415" y="1853981"/>
              <a:ext cx="0" cy="3330038"/>
            </a:xfrm>
            <a:prstGeom prst="line">
              <a:avLst/>
            </a:prstGeom>
            <a:noFill/>
            <a:ln w="12700" cap="flat" cmpd="sng" algn="ctr">
              <a:solidFill>
                <a:schemeClr val="accent6"/>
              </a:solidFill>
              <a:prstDash val="solid"/>
              <a:round/>
              <a:headEnd type="none" w="med" len="med"/>
              <a:tailEnd type="none" w="med" len="med"/>
            </a:ln>
            <a:effectLst/>
          </p:spPr>
        </p:cxnSp>
        <p:cxnSp>
          <p:nvCxnSpPr>
            <p:cNvPr id="15" name="直線コネクタ 14"/>
            <p:cNvCxnSpPr/>
            <p:nvPr/>
          </p:nvCxnSpPr>
          <p:spPr bwMode="auto">
            <a:xfrm flipH="1" flipV="1">
              <a:off x="6593430" y="3248998"/>
              <a:ext cx="270003" cy="270003"/>
            </a:xfrm>
            <a:prstGeom prst="line">
              <a:avLst/>
            </a:prstGeom>
            <a:noFill/>
            <a:ln w="12700" cap="flat" cmpd="sng" algn="ctr">
              <a:solidFill>
                <a:schemeClr val="accent6"/>
              </a:solidFill>
              <a:prstDash val="solid"/>
              <a:round/>
              <a:headEnd type="none" w="med" len="med"/>
              <a:tailEnd type="none" w="med" len="med"/>
            </a:ln>
            <a:effectLst/>
          </p:spPr>
        </p:cxnSp>
        <p:cxnSp>
          <p:nvCxnSpPr>
            <p:cNvPr id="16" name="直線コネクタ 15"/>
            <p:cNvCxnSpPr/>
            <p:nvPr/>
          </p:nvCxnSpPr>
          <p:spPr bwMode="auto">
            <a:xfrm flipH="1">
              <a:off x="6593430" y="3519001"/>
              <a:ext cx="270004" cy="270003"/>
            </a:xfrm>
            <a:prstGeom prst="line">
              <a:avLst/>
            </a:prstGeom>
            <a:noFill/>
            <a:ln w="12700" cap="flat" cmpd="sng" algn="ctr">
              <a:solidFill>
                <a:schemeClr val="accent6"/>
              </a:solidFill>
              <a:prstDash val="solid"/>
              <a:round/>
              <a:headEnd type="none" w="med" len="med"/>
              <a:tailEnd type="none" w="med" len="med"/>
            </a:ln>
            <a:effectLst/>
          </p:spPr>
        </p:cxnSp>
      </p:grpSp>
      <p:sp>
        <p:nvSpPr>
          <p:cNvPr id="17" name="テキスト ボックス 16"/>
          <p:cNvSpPr txBox="1"/>
          <p:nvPr/>
        </p:nvSpPr>
        <p:spPr>
          <a:xfrm>
            <a:off x="4745985" y="2888994"/>
            <a:ext cx="1620018" cy="369332"/>
          </a:xfrm>
          <a:prstGeom prst="rect">
            <a:avLst/>
          </a:prstGeom>
          <a:noFill/>
        </p:spPr>
        <p:txBody>
          <a:bodyPr wrap="none" rtlCol="0">
            <a:noAutofit/>
          </a:bodyPr>
          <a:lstStyle/>
          <a:p>
            <a:r>
              <a:rPr lang="ja-JP" altLang="en-US" sz="2400" dirty="0">
                <a:solidFill>
                  <a:srgbClr val="5E6363"/>
                </a:solidFill>
              </a:rPr>
              <a:t>カレーのレシピ</a:t>
            </a:r>
          </a:p>
        </p:txBody>
      </p:sp>
    </p:spTree>
    <p:extLst>
      <p:ext uri="{BB962C8B-B14F-4D97-AF65-F5344CB8AC3E}">
        <p14:creationId xmlns:p14="http://schemas.microsoft.com/office/powerpoint/2010/main" val="35018201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具体的な命令の処理</a:t>
            </a:r>
          </a:p>
        </p:txBody>
      </p:sp>
      <p:sp>
        <p:nvSpPr>
          <p:cNvPr id="3" name="コンテンツ プレースホルダー 2"/>
          <p:cNvSpPr>
            <a:spLocks noGrp="1"/>
          </p:cNvSpPr>
          <p:nvPr>
            <p:ph type="body" sz="quarter" idx="10"/>
          </p:nvPr>
        </p:nvSpPr>
        <p:spPr>
          <a:prstGeom prst="rect">
            <a:avLst/>
          </a:prstGeom>
        </p:spPr>
        <p:txBody>
          <a:bodyPr/>
          <a:lstStyle/>
          <a:p>
            <a:pPr marL="457200" indent="-457200">
              <a:buFont typeface="+mj-lt"/>
              <a:buAutoNum type="arabicPeriod"/>
            </a:pPr>
            <a:r>
              <a:rPr kumimoji="1" lang="ja-JP" altLang="en-US" dirty="0"/>
              <a:t>命令のメモリからの読み出し（フェッチ）</a:t>
            </a:r>
            <a:endParaRPr kumimoji="1" lang="en-US" altLang="ja-JP" dirty="0"/>
          </a:p>
          <a:p>
            <a:pPr marL="457200" indent="-457200">
              <a:buFont typeface="+mj-lt"/>
              <a:buAutoNum type="arabicPeriod"/>
            </a:pPr>
            <a:r>
              <a:rPr lang="ja-JP" altLang="en-US" dirty="0"/>
              <a:t>命令の解釈（デコード）</a:t>
            </a:r>
            <a:endParaRPr lang="en-US" altLang="ja-JP" dirty="0"/>
          </a:p>
          <a:p>
            <a:pPr marL="457200" indent="-457200">
              <a:buFont typeface="+mj-lt"/>
              <a:buAutoNum type="arabicPeriod"/>
            </a:pPr>
            <a:r>
              <a:rPr kumimoji="1" lang="ja-JP" altLang="en-US" dirty="0"/>
              <a:t>レジスタの読み出し</a:t>
            </a:r>
            <a:endParaRPr kumimoji="1" lang="en-US" altLang="ja-JP" dirty="0"/>
          </a:p>
          <a:p>
            <a:pPr marL="457200" indent="-457200">
              <a:buFont typeface="+mj-lt"/>
              <a:buAutoNum type="arabicPeriod"/>
            </a:pPr>
            <a:r>
              <a:rPr lang="ja-JP" altLang="en-US" dirty="0"/>
              <a:t>演算の実行</a:t>
            </a:r>
            <a:endParaRPr lang="en-US" altLang="ja-JP" dirty="0"/>
          </a:p>
          <a:p>
            <a:pPr marL="457200" indent="-457200">
              <a:buFont typeface="+mj-lt"/>
              <a:buAutoNum type="arabicPeriod"/>
            </a:pPr>
            <a:r>
              <a:rPr kumimoji="1" lang="ja-JP" altLang="en-US" dirty="0"/>
              <a:t>結果</a:t>
            </a:r>
            <a:r>
              <a:rPr lang="ja-JP" altLang="en-US" dirty="0"/>
              <a:t>のレジスタのへの書き戻し</a:t>
            </a:r>
            <a:endParaRPr kumimoji="1" lang="ja-JP" altLang="en-US" dirty="0"/>
          </a:p>
        </p:txBody>
      </p:sp>
    </p:spTree>
    <p:extLst>
      <p:ext uri="{BB962C8B-B14F-4D97-AF65-F5344CB8AC3E}">
        <p14:creationId xmlns:p14="http://schemas.microsoft.com/office/powerpoint/2010/main" val="27899970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2"/>
            <a:r>
              <a:rPr lang="en-US" altLang="ja-JP" b="1" dirty="0">
                <a:solidFill>
                  <a:schemeClr val="bg1"/>
                </a:solidFill>
                <a:latin typeface="メイリオ" panose="020B0604030504040204" pitchFamily="50" charset="-128"/>
                <a:ea typeface="メイリオ" panose="020B0604030504040204" pitchFamily="50" charset="-128"/>
              </a:rPr>
              <a:t>0. </a:t>
            </a:r>
            <a:r>
              <a:rPr lang="ja-JP" altLang="en-US" b="1" dirty="0">
                <a:solidFill>
                  <a:schemeClr val="bg1"/>
                </a:solidFill>
                <a:latin typeface="メイリオ" panose="020B0604030504040204" pitchFamily="50" charset="-128"/>
                <a:ea typeface="メイリオ" panose="020B0604030504040204" pitchFamily="50" charset="-128"/>
              </a:rPr>
              <a:t>初期状態</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3" name="コンテンツ プレースホルダー 2"/>
          <p:cNvSpPr>
            <a:spLocks noGrp="1"/>
          </p:cNvSpPr>
          <p:nvPr>
            <p:ph type="body" sz="quarter" idx="10"/>
          </p:nvPr>
        </p:nvSpPr>
        <p:spPr>
          <a:xfrm>
            <a:off x="1865954" y="1676400"/>
            <a:ext cx="4950054" cy="4903788"/>
          </a:xfrm>
          <a:prstGeom prst="rect">
            <a:avLst/>
          </a:prstGeom>
        </p:spPr>
        <p:txBody>
          <a:bodyPr/>
          <a:lstStyle/>
          <a:p>
            <a:pPr marL="269875" lvl="2">
              <a:buClr>
                <a:srgbClr val="6666FF"/>
              </a:buClr>
              <a:buFont typeface="Wingdings" pitchFamily="2" charset="2"/>
              <a:buChar char="n"/>
            </a:pPr>
            <a:endParaRPr lang="en-US" altLang="ja-JP" dirty="0"/>
          </a:p>
          <a:p>
            <a:r>
              <a:rPr lang="en-US" altLang="ja-JP" dirty="0"/>
              <a:t>PC </a:t>
            </a:r>
            <a:r>
              <a:rPr lang="ja-JP" altLang="en-US" dirty="0"/>
              <a:t>はアドレス０を指している</a:t>
            </a:r>
            <a:endParaRPr lang="en-US" altLang="ja-JP" dirty="0"/>
          </a:p>
          <a:p>
            <a:r>
              <a:rPr kumimoji="1" lang="ja-JP" altLang="en-US" dirty="0"/>
              <a:t>レジスタの初期値は</a:t>
            </a:r>
            <a:r>
              <a:rPr kumimoji="1" lang="en-US" altLang="ja-JP" dirty="0"/>
              <a:t>1,2,3…</a:t>
            </a:r>
          </a:p>
          <a:p>
            <a:r>
              <a:rPr lang="ja-JP" altLang="en-US" dirty="0"/>
              <a:t>メモリには，</a:t>
            </a:r>
            <a:endParaRPr lang="en-US" altLang="ja-JP" dirty="0"/>
          </a:p>
          <a:p>
            <a:pPr lvl="1"/>
            <a:r>
              <a:rPr lang="en-US" altLang="ja-JP" dirty="0"/>
              <a:t>0</a:t>
            </a:r>
            <a:r>
              <a:rPr lang="ja-JP" altLang="en-US" dirty="0"/>
              <a:t>番地に </a:t>
            </a:r>
            <a:r>
              <a:rPr lang="en-US" altLang="ja-JP" dirty="0"/>
              <a:t>0235 (</a:t>
            </a:r>
            <a:r>
              <a:rPr lang="en-US" altLang="ja-JP" dirty="0">
                <a:latin typeface="Consolas" panose="020B0609020204030204" pitchFamily="49" charset="0"/>
              </a:rPr>
              <a:t>add A,B</a:t>
            </a:r>
            <a:r>
              <a:rPr lang="ja-JP" altLang="en-US" dirty="0">
                <a:latin typeface="Consolas" panose="020B0609020204030204" pitchFamily="49" charset="0"/>
              </a:rPr>
              <a:t>→</a:t>
            </a:r>
            <a:r>
              <a:rPr lang="en-US" altLang="ja-JP" dirty="0">
                <a:latin typeface="Consolas" panose="020B0609020204030204" pitchFamily="49" charset="0"/>
              </a:rPr>
              <a:t>D</a:t>
            </a:r>
            <a:r>
              <a:rPr lang="en-US" altLang="ja-JP" dirty="0"/>
              <a:t>) </a:t>
            </a:r>
          </a:p>
          <a:p>
            <a:pPr lvl="1"/>
            <a:r>
              <a:rPr lang="en-US" altLang="ja-JP" dirty="0"/>
              <a:t>1</a:t>
            </a:r>
            <a:r>
              <a:rPr lang="ja-JP" altLang="en-US" dirty="0"/>
              <a:t>番地に </a:t>
            </a:r>
            <a:r>
              <a:rPr lang="en-US" altLang="ja-JP" dirty="0"/>
              <a:t>1546 (</a:t>
            </a:r>
            <a:r>
              <a:rPr lang="en-US" altLang="ja-JP" dirty="0">
                <a:latin typeface="Consolas" panose="020B0609020204030204" pitchFamily="49" charset="0"/>
              </a:rPr>
              <a:t>sub D,C</a:t>
            </a:r>
            <a:r>
              <a:rPr lang="ja-JP" altLang="en-US" dirty="0">
                <a:latin typeface="Consolas" panose="020B0609020204030204" pitchFamily="49" charset="0"/>
              </a:rPr>
              <a:t>→</a:t>
            </a:r>
            <a:r>
              <a:rPr lang="en-US" altLang="ja-JP" dirty="0">
                <a:latin typeface="Consolas" panose="020B0609020204030204" pitchFamily="49" charset="0"/>
              </a:rPr>
              <a:t>E</a:t>
            </a:r>
            <a:r>
              <a:rPr lang="en-US" altLang="ja-JP" dirty="0"/>
              <a:t>) </a:t>
            </a:r>
          </a:p>
          <a:p>
            <a:endParaRPr lang="en-US" altLang="ja-JP" dirty="0"/>
          </a:p>
          <a:p>
            <a:endParaRPr lang="en-US" altLang="ja-JP" dirty="0"/>
          </a:p>
          <a:p>
            <a:endParaRPr lang="en-US" altLang="ja-JP" dirty="0"/>
          </a:p>
          <a:p>
            <a:endParaRPr kumimoji="1" lang="en-US" altLang="ja-JP" dirty="0"/>
          </a:p>
          <a:p>
            <a:endParaRPr kumimoji="1" lang="ja-JP" altLang="en-US" dirty="0"/>
          </a:p>
        </p:txBody>
      </p:sp>
      <p:sp>
        <p:nvSpPr>
          <p:cNvPr id="5" name="正方形/長方形 4"/>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1" name="フローチャート: 手作業 10"/>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12" name="正方形/長方形 11"/>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5" name="正方形/長方形 14"/>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18" name="正方形/長方形 17"/>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b="1" dirty="0">
                <a:latin typeface="メイリオ" panose="020B0604030504040204" pitchFamily="50" charset="-128"/>
                <a:ea typeface="メイリオ" panose="020B0604030504040204" pitchFamily="50" charset="-128"/>
              </a:rPr>
              <a:t>0235</a:t>
            </a:r>
            <a:endParaRPr lang="ja-JP" altLang="en-US" b="1" dirty="0">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b="1" dirty="0">
                <a:latin typeface="メイリオ" panose="020B0604030504040204" pitchFamily="50" charset="-128"/>
                <a:ea typeface="メイリオ" panose="020B0604030504040204" pitchFamily="50" charset="-128"/>
              </a:rPr>
              <a:t>1546</a:t>
            </a:r>
            <a:endParaRPr lang="ja-JP" altLang="en-US" b="1" dirty="0">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1" name="正方形/長方形 20"/>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2" name="正方形/長方形 21"/>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25" name="正方形/長方形 24"/>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26" name="正方形/長方形 25"/>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27" name="正方形/長方形 26"/>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28" name="正方形/長方形 27"/>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1</a:t>
            </a:r>
            <a:endParaRPr lang="ja-JP" altLang="en-US" sz="2000" b="1" dirty="0">
              <a:latin typeface="メイリオ" panose="020B0604030504040204" pitchFamily="50" charset="-128"/>
              <a:ea typeface="メイリオ" panose="020B0604030504040204" pitchFamily="50" charset="-128"/>
            </a:endParaRPr>
          </a:p>
        </p:txBody>
      </p:sp>
      <p:sp>
        <p:nvSpPr>
          <p:cNvPr id="29" name="正方形/長方形 28"/>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2</a:t>
            </a:r>
            <a:endParaRPr lang="ja-JP" altLang="en-US" sz="2000" b="1" dirty="0">
              <a:latin typeface="メイリオ" panose="020B0604030504040204" pitchFamily="50" charset="-128"/>
              <a:ea typeface="メイリオ" panose="020B0604030504040204" pitchFamily="50" charset="-128"/>
            </a:endParaRPr>
          </a:p>
        </p:txBody>
      </p:sp>
      <p:sp>
        <p:nvSpPr>
          <p:cNvPr id="30" name="正方形/長方形 29"/>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3</a:t>
            </a:r>
            <a:endParaRPr lang="ja-JP" altLang="en-US" sz="2000" b="1" dirty="0">
              <a:latin typeface="メイリオ" panose="020B0604030504040204" pitchFamily="50" charset="-128"/>
              <a:ea typeface="メイリオ" panose="020B0604030504040204" pitchFamily="50" charset="-128"/>
            </a:endParaRPr>
          </a:p>
        </p:txBody>
      </p:sp>
      <p:sp>
        <p:nvSpPr>
          <p:cNvPr id="31" name="正方形/長方形 30"/>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2" name="正方形/長方形 31"/>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3" name="正方形/長方形 32"/>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4" name="正方形/長方形 33"/>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cxnSp>
        <p:nvCxnSpPr>
          <p:cNvPr id="36" name="直線コネクタ 35"/>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直線コネクタ 36"/>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直線コネクタ 37"/>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直線コネクタ 40"/>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3" name="直線コネクタ 42"/>
          <p:cNvCxnSpPr/>
          <p:nvPr/>
        </p:nvCxnSpPr>
        <p:spPr bwMode="auto">
          <a:xfrm flipV="1">
            <a:off x="6816008" y="4419011"/>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6" name="直線コネクタ 45"/>
          <p:cNvCxnSpPr/>
          <p:nvPr/>
        </p:nvCxnSpPr>
        <p:spPr bwMode="auto">
          <a:xfrm flipH="1">
            <a:off x="6816010" y="4599013"/>
            <a:ext cx="1260013"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1" name="直線コネクタ 50"/>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3" name="直線コネクタ 52"/>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 name="曲線コネクタ 16"/>
          <p:cNvCxnSpPr>
            <a:stCxn id="34" idx="3"/>
            <a:endCxn id="24" idx="1"/>
          </p:cNvCxnSpPr>
          <p:nvPr/>
        </p:nvCxnSpPr>
        <p:spPr bwMode="auto">
          <a:xfrm flipV="1">
            <a:off x="7986022" y="2168986"/>
            <a:ext cx="630007" cy="180002"/>
          </a:xfrm>
          <a:prstGeom prst="curvedConnector3">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7653160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2"/>
            <a:r>
              <a:rPr lang="en-US" altLang="ja-JP" b="1" dirty="0">
                <a:solidFill>
                  <a:schemeClr val="bg1"/>
                </a:solidFill>
                <a:latin typeface="メイリオ" panose="020B0604030504040204" pitchFamily="50" charset="-128"/>
                <a:ea typeface="メイリオ" panose="020B0604030504040204" pitchFamily="50" charset="-128"/>
              </a:rPr>
              <a:t>1. </a:t>
            </a:r>
            <a:r>
              <a:rPr lang="ja-JP" altLang="en-US" b="1" dirty="0">
                <a:solidFill>
                  <a:schemeClr val="bg1"/>
                </a:solidFill>
                <a:latin typeface="メイリオ" panose="020B0604030504040204" pitchFamily="50" charset="-128"/>
                <a:ea typeface="メイリオ" panose="020B0604030504040204" pitchFamily="50" charset="-128"/>
              </a:rPr>
              <a:t>命令の読み出し（フェッチ）</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3" name="コンテンツ プレースホルダー 2"/>
          <p:cNvSpPr>
            <a:spLocks noGrp="1"/>
          </p:cNvSpPr>
          <p:nvPr>
            <p:ph type="body" sz="quarter" idx="10"/>
          </p:nvPr>
        </p:nvSpPr>
        <p:spPr>
          <a:xfrm>
            <a:off x="1055944" y="1178975"/>
            <a:ext cx="5040056" cy="4903788"/>
          </a:xfrm>
          <a:prstGeom prst="rect">
            <a:avLst/>
          </a:prstGeom>
        </p:spPr>
        <p:txBody>
          <a:bodyPr/>
          <a:lstStyle/>
          <a:p>
            <a:pPr marL="457200" indent="-457200">
              <a:buFont typeface="+mj-lt"/>
              <a:buAutoNum type="arabicPeriod"/>
            </a:pPr>
            <a:r>
              <a:rPr lang="en-US" altLang="ja-JP" dirty="0"/>
              <a:t>PC</a:t>
            </a:r>
            <a:r>
              <a:rPr lang="ja-JP" altLang="en-US" dirty="0"/>
              <a:t> が指している命令の番地を読む</a:t>
            </a:r>
            <a:endParaRPr lang="en-US" altLang="ja-JP" dirty="0"/>
          </a:p>
          <a:p>
            <a:pPr marL="817200" lvl="1" indent="-457200">
              <a:buFont typeface="+mj-lt"/>
              <a:buAutoNum type="arabicPeriod"/>
            </a:pPr>
            <a:r>
              <a:rPr lang="ja-JP" altLang="en-US" dirty="0"/>
              <a:t>今はアドレス０を指している</a:t>
            </a:r>
            <a:endParaRPr lang="en-US" altLang="ja-JP" dirty="0"/>
          </a:p>
          <a:p>
            <a:pPr marL="457200" indent="-457200">
              <a:buFont typeface="+mj-lt"/>
              <a:buAutoNum type="arabicPeriod"/>
            </a:pPr>
            <a:r>
              <a:rPr lang="ja-JP" altLang="en-US" dirty="0"/>
              <a:t>内容である </a:t>
            </a:r>
            <a:r>
              <a:rPr lang="en-US" altLang="ja-JP" dirty="0"/>
              <a:t>0235 </a:t>
            </a:r>
            <a:r>
              <a:rPr lang="ja-JP" altLang="en-US" dirty="0"/>
              <a:t>が得られる</a:t>
            </a:r>
            <a:endParaRPr lang="en-US" altLang="ja-JP" dirty="0"/>
          </a:p>
          <a:p>
            <a:pPr marL="457200" indent="-457200">
              <a:buFont typeface="+mj-lt"/>
              <a:buAutoNum type="arabicPeriod"/>
            </a:pPr>
            <a:r>
              <a:rPr lang="en-US" altLang="ja-JP" dirty="0"/>
              <a:t>CPU </a:t>
            </a:r>
            <a:r>
              <a:rPr lang="ja-JP" altLang="en-US" dirty="0"/>
              <a:t>内にもってくる</a:t>
            </a:r>
            <a:endParaRPr lang="en-US" altLang="ja-JP" dirty="0"/>
          </a:p>
        </p:txBody>
      </p:sp>
      <p:sp>
        <p:nvSpPr>
          <p:cNvPr id="5" name="正方形/長方形 4"/>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5" name="正方形/長方形 14"/>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18" name="正方形/長方形 17"/>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rgbClr val="FF0000"/>
                </a:solidFill>
                <a:latin typeface="メイリオ" panose="020B0604030504040204" pitchFamily="50" charset="-128"/>
                <a:ea typeface="メイリオ" panose="020B0604030504040204" pitchFamily="50" charset="-128"/>
              </a:rPr>
              <a:t>0235</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1546</a:t>
            </a:r>
            <a:endParaRPr lang="ja-JP" altLang="en-US" dirty="0">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1" name="正方形/長方形 20"/>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2" name="正方形/長方形 21"/>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25" name="正方形/長方形 24"/>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26" name="正方形/長方形 25"/>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27" name="正方形/長方形 26"/>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cxnSp>
        <p:nvCxnSpPr>
          <p:cNvPr id="17" name="曲線コネクタ 16"/>
          <p:cNvCxnSpPr>
            <a:endCxn id="24" idx="1"/>
          </p:cNvCxnSpPr>
          <p:nvPr/>
        </p:nvCxnSpPr>
        <p:spPr bwMode="auto">
          <a:xfrm flipV="1">
            <a:off x="7986022" y="2168986"/>
            <a:ext cx="630007" cy="180002"/>
          </a:xfrm>
          <a:prstGeom prst="curvedConnector3">
            <a:avLst/>
          </a:prstGeom>
          <a:ln>
            <a:solidFill>
              <a:srgbClr val="FF0000"/>
            </a:solidFill>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42" name="直線コネクタ 41"/>
          <p:cNvCxnSpPr>
            <a:endCxn id="73" idx="2"/>
          </p:cNvCxnSpPr>
          <p:nvPr/>
        </p:nvCxnSpPr>
        <p:spPr bwMode="auto">
          <a:xfrm flipV="1">
            <a:off x="7176012" y="5229020"/>
            <a:ext cx="0" cy="360004"/>
          </a:xfrm>
          <a:prstGeom prst="line">
            <a:avLst/>
          </a:prstGeom>
          <a:ln w="15875">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4" name="直線コネクタ 43"/>
          <p:cNvCxnSpPr/>
          <p:nvPr/>
        </p:nvCxnSpPr>
        <p:spPr bwMode="auto">
          <a:xfrm flipH="1">
            <a:off x="7176012" y="5589024"/>
            <a:ext cx="2520028" cy="0"/>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5" name="直線コネクタ 44"/>
          <p:cNvCxnSpPr/>
          <p:nvPr/>
        </p:nvCxnSpPr>
        <p:spPr bwMode="auto">
          <a:xfrm flipV="1">
            <a:off x="9696041" y="2258988"/>
            <a:ext cx="1" cy="3330036"/>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8" name="正方形/長方形 47"/>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49" name="正方形/長方形 48"/>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0" name="正方形/長方形 49"/>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5" name="フローチャート: 手作業 54"/>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56" name="正方形/長方形 55"/>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7" name="正方形/長方形 56"/>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8" name="正方形/長方形 57"/>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59" name="正方形/長方形 58"/>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60" name="正方形/長方形 59"/>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61" name="正方形/長方形 60"/>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62" name="正方形/長方形 61"/>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63" name="正方形/長方形 62"/>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64" name="正方形/長方形 63"/>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cxnSp>
        <p:nvCxnSpPr>
          <p:cNvPr id="65" name="直線コネクタ 64"/>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6" name="直線コネクタ 65"/>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7" name="直線コネクタ 66"/>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8" name="直線コネクタ 67"/>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9" name="直線コネクタ 68"/>
          <p:cNvCxnSpPr/>
          <p:nvPr/>
        </p:nvCxnSpPr>
        <p:spPr bwMode="auto">
          <a:xfrm flipV="1">
            <a:off x="6816008" y="4419011"/>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0" name="直線コネクタ 69"/>
          <p:cNvCxnSpPr/>
          <p:nvPr/>
        </p:nvCxnSpPr>
        <p:spPr bwMode="auto">
          <a:xfrm flipH="1">
            <a:off x="6816010" y="4599013"/>
            <a:ext cx="1260013"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1" name="直線コネクタ 70"/>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2" name="直線コネクタ 71"/>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73" name="正方形/長方形 72"/>
          <p:cNvSpPr/>
          <p:nvPr/>
        </p:nvSpPr>
        <p:spPr bwMode="auto">
          <a:xfrm>
            <a:off x="6816008" y="4869016"/>
            <a:ext cx="720008" cy="360004"/>
          </a:xfrm>
          <a:prstGeom prst="rect">
            <a:avLst/>
          </a:prstGeom>
          <a:noFill/>
          <a:ln>
            <a:solidFill>
              <a:schemeClr val="tx1">
                <a:lumMod val="75000"/>
                <a:lumOff val="25000"/>
              </a:schemeClr>
            </a:solid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0235</a:t>
            </a:r>
            <a:endParaRPr lang="ja-JP" altLang="en-US"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5127082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2"/>
            <a:r>
              <a:rPr lang="ja-JP" altLang="en-US" b="1" dirty="0">
                <a:solidFill>
                  <a:schemeClr val="bg1"/>
                </a:solidFill>
                <a:latin typeface="メイリオ" panose="020B0604030504040204" pitchFamily="50" charset="-128"/>
                <a:ea typeface="メイリオ" panose="020B0604030504040204" pitchFamily="50" charset="-128"/>
              </a:rPr>
              <a:t>２</a:t>
            </a:r>
            <a:r>
              <a:rPr lang="en-US" altLang="ja-JP" b="1" dirty="0">
                <a:solidFill>
                  <a:schemeClr val="bg1"/>
                </a:solidFill>
                <a:latin typeface="メイリオ" panose="020B0604030504040204" pitchFamily="50" charset="-128"/>
                <a:ea typeface="メイリオ" panose="020B0604030504040204" pitchFamily="50" charset="-128"/>
              </a:rPr>
              <a:t>. </a:t>
            </a:r>
            <a:r>
              <a:rPr lang="ja-JP" altLang="en-US" b="1" dirty="0">
                <a:solidFill>
                  <a:schemeClr val="bg1"/>
                </a:solidFill>
                <a:latin typeface="メイリオ" panose="020B0604030504040204" pitchFamily="50" charset="-128"/>
                <a:ea typeface="メイリオ" panose="020B0604030504040204" pitchFamily="50" charset="-128"/>
              </a:rPr>
              <a:t>命令の解釈（デコード）</a:t>
            </a:r>
            <a:br>
              <a:rPr lang="en-US" altLang="ja-JP" b="1" dirty="0">
                <a:solidFill>
                  <a:schemeClr val="bg1"/>
                </a:solidFill>
                <a:latin typeface="メイリオ" panose="020B0604030504040204" pitchFamily="50" charset="-128"/>
                <a:ea typeface="メイリオ" panose="020B0604030504040204" pitchFamily="50" charset="-128"/>
              </a:rPr>
            </a:br>
            <a:r>
              <a:rPr lang="ja-JP" altLang="en-US" b="1" dirty="0">
                <a:solidFill>
                  <a:schemeClr val="bg1"/>
                </a:solidFill>
                <a:latin typeface="メイリオ" panose="020B0604030504040204" pitchFamily="50" charset="-128"/>
                <a:ea typeface="メイリオ" panose="020B0604030504040204" pitchFamily="50" charset="-128"/>
              </a:rPr>
              <a:t>オプコードやオペランドが何かを割り出す</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3" name="コンテンツ プレースホルダー 2"/>
          <p:cNvSpPr>
            <a:spLocks noGrp="1"/>
          </p:cNvSpPr>
          <p:nvPr>
            <p:ph type="body" sz="quarter" idx="10"/>
          </p:nvPr>
        </p:nvSpPr>
        <p:spPr>
          <a:xfrm>
            <a:off x="1775952" y="1676400"/>
            <a:ext cx="5040056" cy="3372618"/>
          </a:xfrm>
          <a:prstGeom prst="rect">
            <a:avLst/>
          </a:prstGeom>
        </p:spPr>
        <p:txBody>
          <a:bodyPr/>
          <a:lstStyle/>
          <a:p>
            <a:pPr marL="457200" indent="-457200">
              <a:buFont typeface="+mj-lt"/>
              <a:buAutoNum type="arabicPeriod"/>
            </a:pPr>
            <a:endParaRPr lang="en-US" altLang="ja-JP" dirty="0"/>
          </a:p>
          <a:p>
            <a:pPr marL="457200" indent="-457200">
              <a:buFont typeface="+mj-lt"/>
              <a:buAutoNum type="arabicPeriod"/>
            </a:pPr>
            <a:r>
              <a:rPr lang="en-US" altLang="ja-JP" dirty="0"/>
              <a:t>0235 </a:t>
            </a:r>
            <a:r>
              <a:rPr lang="ja-JP" altLang="en-US" dirty="0"/>
              <a:t>の意味を解釈する</a:t>
            </a:r>
            <a:endParaRPr lang="en-US" altLang="ja-JP" dirty="0"/>
          </a:p>
          <a:p>
            <a:pPr marL="904875" lvl="1" indent="-457200"/>
            <a:r>
              <a:rPr lang="en-US" altLang="ja-JP" dirty="0"/>
              <a:t>0: add</a:t>
            </a:r>
          </a:p>
          <a:p>
            <a:pPr marL="904875" lvl="1" indent="-457200"/>
            <a:r>
              <a:rPr lang="en-US" altLang="ja-JP" dirty="0"/>
              <a:t>2: </a:t>
            </a:r>
            <a:r>
              <a:rPr lang="ja-JP" altLang="en-US" dirty="0"/>
              <a:t>レジスタ</a:t>
            </a:r>
            <a:r>
              <a:rPr lang="en-US" altLang="ja-JP" dirty="0"/>
              <a:t>A</a:t>
            </a:r>
            <a:r>
              <a:rPr lang="ja-JP" altLang="en-US" dirty="0"/>
              <a:t>を読む</a:t>
            </a:r>
            <a:endParaRPr lang="en-US" altLang="ja-JP" dirty="0"/>
          </a:p>
          <a:p>
            <a:pPr marL="904875" lvl="1" indent="-457200"/>
            <a:r>
              <a:rPr lang="en-US" altLang="ja-JP" dirty="0"/>
              <a:t>3: </a:t>
            </a:r>
            <a:r>
              <a:rPr lang="ja-JP" altLang="en-US" dirty="0"/>
              <a:t>レジスタ</a:t>
            </a:r>
            <a:r>
              <a:rPr lang="en-US" altLang="ja-JP" dirty="0"/>
              <a:t>B</a:t>
            </a:r>
            <a:r>
              <a:rPr lang="ja-JP" altLang="en-US" dirty="0"/>
              <a:t>を読む</a:t>
            </a:r>
            <a:endParaRPr lang="en-US" altLang="ja-JP" dirty="0"/>
          </a:p>
          <a:p>
            <a:pPr marL="904875" lvl="1" indent="-457200"/>
            <a:r>
              <a:rPr lang="en-US" altLang="ja-JP" dirty="0"/>
              <a:t>5: </a:t>
            </a:r>
            <a:r>
              <a:rPr lang="ja-JP" altLang="en-US" dirty="0"/>
              <a:t>結果はレジスタ</a:t>
            </a:r>
            <a:r>
              <a:rPr lang="en-US" altLang="ja-JP" dirty="0"/>
              <a:t>D</a:t>
            </a:r>
            <a:r>
              <a:rPr lang="ja-JP" altLang="en-US" dirty="0"/>
              <a:t>に書く</a:t>
            </a:r>
            <a:endParaRPr lang="en-US" altLang="ja-JP" dirty="0"/>
          </a:p>
        </p:txBody>
      </p:sp>
      <p:sp>
        <p:nvSpPr>
          <p:cNvPr id="5" name="正方形/長方形 4"/>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5" name="正方形/長方形 14"/>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18" name="正方形/長方形 17"/>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solidFill>
                <a:latin typeface="メイリオ" panose="020B0604030504040204" pitchFamily="50" charset="-128"/>
                <a:ea typeface="メイリオ" panose="020B0604030504040204" pitchFamily="50" charset="-128"/>
              </a:rPr>
              <a:t>0235</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1546</a:t>
            </a:r>
            <a:endParaRPr lang="ja-JP" altLang="en-US" dirty="0">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1" name="正方形/長方形 20"/>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2" name="正方形/長方形 21"/>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25" name="正方形/長方形 24"/>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26" name="正方形/長方形 25"/>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27" name="正方形/長方形 26"/>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48" name="正方形/長方形 47"/>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49" name="正方形/長方形 48"/>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0" name="正方形/長方形 49"/>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5" name="フローチャート: 手作業 54"/>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56" name="正方形/長方形 55"/>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7" name="正方形/長方形 56"/>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8" name="正方形/長方形 57"/>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59" name="正方形/長方形 58"/>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60" name="正方形/長方形 59"/>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61" name="正方形/長方形 60"/>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62" name="正方形/長方形 61"/>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63" name="正方形/長方形 62"/>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64" name="正方形/長方形 63"/>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cxnSp>
        <p:nvCxnSpPr>
          <p:cNvPr id="65" name="直線コネクタ 64"/>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6" name="直線コネクタ 65"/>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7" name="直線コネクタ 66"/>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8" name="直線コネクタ 67"/>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9" name="直線コネクタ 68"/>
          <p:cNvCxnSpPr/>
          <p:nvPr/>
        </p:nvCxnSpPr>
        <p:spPr bwMode="auto">
          <a:xfrm flipV="1">
            <a:off x="6816008" y="4419011"/>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0" name="直線コネクタ 69"/>
          <p:cNvCxnSpPr/>
          <p:nvPr/>
        </p:nvCxnSpPr>
        <p:spPr bwMode="auto">
          <a:xfrm flipH="1">
            <a:off x="6816010" y="4599013"/>
            <a:ext cx="1260013"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1" name="直線コネクタ 70"/>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2" name="直線コネクタ 71"/>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73" name="正方形/長方形 72"/>
          <p:cNvSpPr/>
          <p:nvPr/>
        </p:nvSpPr>
        <p:spPr bwMode="auto">
          <a:xfrm>
            <a:off x="6816008" y="4869016"/>
            <a:ext cx="720008" cy="360004"/>
          </a:xfrm>
          <a:prstGeom prst="rect">
            <a:avLst/>
          </a:prstGeom>
          <a:noFill/>
          <a:ln>
            <a:solidFill>
              <a:schemeClr val="tx1">
                <a:lumMod val="75000"/>
                <a:lumOff val="25000"/>
              </a:schemeClr>
            </a:solid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0235</a:t>
            </a:r>
            <a:endParaRPr lang="ja-JP" altLang="en-US" dirty="0">
              <a:solidFill>
                <a:srgbClr val="FF0000"/>
              </a:solidFill>
              <a:latin typeface="メイリオ" panose="020B0604030504040204" pitchFamily="50" charset="-128"/>
              <a:ea typeface="メイリオ" panose="020B0604030504040204" pitchFamily="50" charset="-128"/>
            </a:endParaRPr>
          </a:p>
        </p:txBody>
      </p:sp>
      <p:graphicFrame>
        <p:nvGraphicFramePr>
          <p:cNvPr id="41" name="表 40"/>
          <p:cNvGraphicFramePr>
            <a:graphicFrameLocks noGrp="1"/>
          </p:cNvGraphicFramePr>
          <p:nvPr>
            <p:extLst>
              <p:ext uri="{D42A27DB-BD31-4B8C-83A1-F6EECF244321}">
                <p14:modId xmlns:p14="http://schemas.microsoft.com/office/powerpoint/2010/main" val="1019937563"/>
              </p:ext>
            </p:extLst>
          </p:nvPr>
        </p:nvGraphicFramePr>
        <p:xfrm>
          <a:off x="1865954" y="5859027"/>
          <a:ext cx="6120071" cy="670560"/>
        </p:xfrm>
        <a:graphic>
          <a:graphicData uri="http://schemas.openxmlformats.org/drawingml/2006/table">
            <a:tbl>
              <a:tblPr firstRow="1" bandRow="1">
                <a:tableStyleId>{9D7B26C5-4107-4FEC-AEDC-1716B250A1EF}</a:tableStyleId>
              </a:tblPr>
              <a:tblGrid>
                <a:gridCol w="1112741">
                  <a:extLst>
                    <a:ext uri="{9D8B030D-6E8A-4147-A177-3AD203B41FA5}">
                      <a16:colId xmlns:a16="http://schemas.microsoft.com/office/drawing/2014/main" val="20000"/>
                    </a:ext>
                  </a:extLst>
                </a:gridCol>
                <a:gridCol w="741827">
                  <a:extLst>
                    <a:ext uri="{9D8B030D-6E8A-4147-A177-3AD203B41FA5}">
                      <a16:colId xmlns:a16="http://schemas.microsoft.com/office/drawing/2014/main" val="20001"/>
                    </a:ext>
                  </a:extLst>
                </a:gridCol>
                <a:gridCol w="741827">
                  <a:extLst>
                    <a:ext uri="{9D8B030D-6E8A-4147-A177-3AD203B41FA5}">
                      <a16:colId xmlns:a16="http://schemas.microsoft.com/office/drawing/2014/main" val="20002"/>
                    </a:ext>
                  </a:extLst>
                </a:gridCol>
                <a:gridCol w="741827">
                  <a:extLst>
                    <a:ext uri="{9D8B030D-6E8A-4147-A177-3AD203B41FA5}">
                      <a16:colId xmlns:a16="http://schemas.microsoft.com/office/drawing/2014/main" val="20003"/>
                    </a:ext>
                  </a:extLst>
                </a:gridCol>
                <a:gridCol w="741827">
                  <a:extLst>
                    <a:ext uri="{9D8B030D-6E8A-4147-A177-3AD203B41FA5}">
                      <a16:colId xmlns:a16="http://schemas.microsoft.com/office/drawing/2014/main" val="20004"/>
                    </a:ext>
                  </a:extLst>
                </a:gridCol>
                <a:gridCol w="741827">
                  <a:extLst>
                    <a:ext uri="{9D8B030D-6E8A-4147-A177-3AD203B41FA5}">
                      <a16:colId xmlns:a16="http://schemas.microsoft.com/office/drawing/2014/main" val="20005"/>
                    </a:ext>
                  </a:extLst>
                </a:gridCol>
                <a:gridCol w="741827">
                  <a:extLst>
                    <a:ext uri="{9D8B030D-6E8A-4147-A177-3AD203B41FA5}">
                      <a16:colId xmlns:a16="http://schemas.microsoft.com/office/drawing/2014/main" val="20006"/>
                    </a:ext>
                  </a:extLst>
                </a:gridCol>
                <a:gridCol w="556368">
                  <a:extLst>
                    <a:ext uri="{9D8B030D-6E8A-4147-A177-3AD203B41FA5}">
                      <a16:colId xmlns:a16="http://schemas.microsoft.com/office/drawing/2014/main" val="20007"/>
                    </a:ext>
                  </a:extLst>
                </a:gridCol>
              </a:tblGrid>
              <a:tr h="325840">
                <a:tc>
                  <a:txBody>
                    <a:bodyPr/>
                    <a:lstStyle/>
                    <a:p>
                      <a:pPr algn="ctr"/>
                      <a:r>
                        <a:rPr kumimoji="1" lang="ja-JP" altLang="en-US" sz="1600" b="0" dirty="0">
                          <a:latin typeface="メイリオ" panose="020B0604030504040204" pitchFamily="50" charset="-128"/>
                          <a:ea typeface="メイリオ" panose="020B0604030504040204" pitchFamily="50" charset="-128"/>
                        </a:rPr>
                        <a:t>意味：</a:t>
                      </a: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add</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sub</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A</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B</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C</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D</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E</a:t>
                      </a:r>
                      <a:endParaRPr kumimoji="1" lang="ja-JP" altLang="en-US" sz="1600" b="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0"/>
                  </a:ext>
                </a:extLst>
              </a:tr>
              <a:tr h="325840">
                <a:tc>
                  <a:txBody>
                    <a:bodyPr/>
                    <a:lstStyle/>
                    <a:p>
                      <a:pPr algn="ctr"/>
                      <a:r>
                        <a:rPr kumimoji="1" lang="ja-JP" altLang="en-US" sz="1600" b="0" dirty="0">
                          <a:latin typeface="メイリオ" panose="020B0604030504040204" pitchFamily="50" charset="-128"/>
                          <a:ea typeface="メイリオ" panose="020B0604030504040204" pitchFamily="50" charset="-128"/>
                        </a:rPr>
                        <a:t>数字：</a:t>
                      </a: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0</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1</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2</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3</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4</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5</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6</a:t>
                      </a:r>
                      <a:endParaRPr kumimoji="1" lang="ja-JP" altLang="en-US" sz="1600" b="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5774283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2"/>
            <a:r>
              <a:rPr lang="ja-JP" altLang="en-US" b="1" dirty="0">
                <a:solidFill>
                  <a:schemeClr val="bg1"/>
                </a:solidFill>
                <a:latin typeface="メイリオ" panose="020B0604030504040204" pitchFamily="50" charset="-128"/>
                <a:ea typeface="メイリオ" panose="020B0604030504040204" pitchFamily="50" charset="-128"/>
              </a:rPr>
              <a:t>３</a:t>
            </a:r>
            <a:r>
              <a:rPr lang="en-US" altLang="ja-JP" b="1" dirty="0">
                <a:solidFill>
                  <a:schemeClr val="bg1"/>
                </a:solidFill>
                <a:latin typeface="メイリオ" panose="020B0604030504040204" pitchFamily="50" charset="-128"/>
                <a:ea typeface="メイリオ" panose="020B0604030504040204" pitchFamily="50" charset="-128"/>
              </a:rPr>
              <a:t>. </a:t>
            </a:r>
            <a:r>
              <a:rPr lang="ja-JP" altLang="en-US" b="1" dirty="0">
                <a:solidFill>
                  <a:schemeClr val="bg1"/>
                </a:solidFill>
                <a:latin typeface="メイリオ" panose="020B0604030504040204" pitchFamily="50" charset="-128"/>
                <a:ea typeface="メイリオ" panose="020B0604030504040204" pitchFamily="50" charset="-128"/>
              </a:rPr>
              <a:t>レジスタ読み出し</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3" name="コンテンツ プレースホルダー 2"/>
          <p:cNvSpPr>
            <a:spLocks noGrp="1"/>
          </p:cNvSpPr>
          <p:nvPr>
            <p:ph type="body" sz="quarter" idx="10"/>
          </p:nvPr>
        </p:nvSpPr>
        <p:spPr>
          <a:xfrm>
            <a:off x="1685952" y="1538980"/>
            <a:ext cx="4410049" cy="4861207"/>
          </a:xfrm>
          <a:prstGeom prst="rect">
            <a:avLst/>
          </a:prstGeom>
        </p:spPr>
        <p:txBody>
          <a:bodyPr/>
          <a:lstStyle/>
          <a:p>
            <a:pPr marL="457200" indent="-457200">
              <a:buFont typeface="+mj-lt"/>
              <a:buAutoNum type="arabicPeriod"/>
            </a:pPr>
            <a:r>
              <a:rPr lang="en-US" altLang="ja-JP" dirty="0"/>
              <a:t>A </a:t>
            </a:r>
            <a:r>
              <a:rPr lang="ja-JP" altLang="en-US" dirty="0"/>
              <a:t>と </a:t>
            </a:r>
            <a:r>
              <a:rPr lang="en-US" altLang="ja-JP" dirty="0"/>
              <a:t>B </a:t>
            </a:r>
            <a:r>
              <a:rPr lang="ja-JP" altLang="en-US" dirty="0"/>
              <a:t>をレジスタから読みだす</a:t>
            </a:r>
            <a:endParaRPr lang="en-US" altLang="ja-JP" dirty="0"/>
          </a:p>
          <a:p>
            <a:pPr marL="904875" lvl="1" indent="-457200"/>
            <a:r>
              <a:rPr lang="ja-JP" altLang="en-US" dirty="0"/>
              <a:t>先ほどのデコード結果に従う</a:t>
            </a:r>
            <a:endParaRPr lang="en-US" altLang="ja-JP" dirty="0"/>
          </a:p>
          <a:p>
            <a:pPr marL="457200" indent="-457200">
              <a:buFont typeface="+mj-lt"/>
              <a:buAutoNum type="arabicPeriod"/>
            </a:pPr>
            <a:r>
              <a:rPr lang="ja-JP" altLang="en-US" dirty="0"/>
              <a:t>中身である </a:t>
            </a:r>
            <a:r>
              <a:rPr lang="en-US" altLang="ja-JP" dirty="0"/>
              <a:t>1 </a:t>
            </a:r>
            <a:r>
              <a:rPr lang="ja-JP" altLang="en-US" dirty="0"/>
              <a:t>と </a:t>
            </a:r>
            <a:r>
              <a:rPr lang="en-US" altLang="ja-JP" dirty="0"/>
              <a:t>2 </a:t>
            </a:r>
            <a:r>
              <a:rPr lang="ja-JP" altLang="en-US" dirty="0"/>
              <a:t>が取れる</a:t>
            </a:r>
            <a:endParaRPr lang="en-US" altLang="ja-JP" dirty="0"/>
          </a:p>
          <a:p>
            <a:pPr marL="904875" lvl="1" indent="-457200"/>
            <a:r>
              <a:rPr lang="ja-JP" altLang="en-US" dirty="0"/>
              <a:t>「</a:t>
            </a:r>
            <a:r>
              <a:rPr lang="en-US" altLang="ja-JP" dirty="0"/>
              <a:t>0235</a:t>
            </a:r>
            <a:r>
              <a:rPr lang="ja-JP" altLang="en-US" dirty="0"/>
              <a:t>」は レジスタの</a:t>
            </a:r>
            <a:br>
              <a:rPr lang="en-US" altLang="ja-JP" dirty="0"/>
            </a:br>
            <a:r>
              <a:rPr lang="ja-JP" altLang="en-US" dirty="0"/>
              <a:t>「読み出す場所」を</a:t>
            </a:r>
            <a:br>
              <a:rPr lang="en-US" altLang="ja-JP" dirty="0"/>
            </a:br>
            <a:r>
              <a:rPr lang="ja-JP" altLang="en-US" dirty="0"/>
              <a:t>表してることに注意</a:t>
            </a:r>
            <a:endParaRPr lang="en-US" altLang="ja-JP" dirty="0"/>
          </a:p>
        </p:txBody>
      </p:sp>
      <p:sp>
        <p:nvSpPr>
          <p:cNvPr id="46" name="正方形/長方形 45"/>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47" name="正方形/長方形 46"/>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53" name="正方形/長方形 52"/>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solidFill>
                <a:latin typeface="メイリオ" panose="020B0604030504040204" pitchFamily="50" charset="-128"/>
                <a:ea typeface="メイリオ" panose="020B0604030504040204" pitchFamily="50" charset="-128"/>
              </a:rPr>
              <a:t>0235</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74" name="正方形/長方形 73"/>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1546</a:t>
            </a:r>
            <a:endParaRPr lang="ja-JP" altLang="en-US" dirty="0">
              <a:latin typeface="メイリオ" panose="020B0604030504040204" pitchFamily="50" charset="-128"/>
              <a:ea typeface="メイリオ" panose="020B0604030504040204" pitchFamily="50" charset="-128"/>
            </a:endParaRPr>
          </a:p>
        </p:txBody>
      </p:sp>
      <p:sp>
        <p:nvSpPr>
          <p:cNvPr id="75" name="正方形/長方形 74"/>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76" name="正方形/長方形 75"/>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77" name="正方形/長方形 76"/>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78" name="正方形/長方形 77"/>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79" name="正方形/長方形 78"/>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80" name="正方形/長方形 79"/>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81" name="正方形/長方形 80"/>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82" name="正方形/長方形 81"/>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3" name="正方形/長方形 82"/>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5" name="正方形/長方形 84"/>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6" name="正方形/長方形 85"/>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7" name="フローチャート: 手作業 86"/>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88" name="正方形/長方形 87"/>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9" name="正方形/長方形 88"/>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90" name="正方形/長方形 89"/>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1</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91" name="正方形/長方形 90"/>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2</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92" name="正方形/長方形 91"/>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93" name="正方形/長方形 92"/>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4" name="正方形/長方形 93"/>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5" name="正方形/長方形 94"/>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6" name="正方形/長方形 95"/>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cxnSp>
        <p:nvCxnSpPr>
          <p:cNvPr id="97" name="直線コネクタ 96"/>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8" name="直線コネクタ 97"/>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9" name="直線コネクタ 98"/>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0" name="直線コネクタ 99"/>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1" name="直線コネクタ 100"/>
          <p:cNvCxnSpPr/>
          <p:nvPr/>
        </p:nvCxnSpPr>
        <p:spPr bwMode="auto">
          <a:xfrm flipV="1">
            <a:off x="6816008" y="4419011"/>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2" name="直線コネクタ 101"/>
          <p:cNvCxnSpPr/>
          <p:nvPr/>
        </p:nvCxnSpPr>
        <p:spPr bwMode="auto">
          <a:xfrm flipH="1">
            <a:off x="6816010" y="4599013"/>
            <a:ext cx="1260013"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3" name="直線コネクタ 102"/>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4" name="直線コネクタ 103"/>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05" name="正方形/長方形 104"/>
          <p:cNvSpPr/>
          <p:nvPr/>
        </p:nvSpPr>
        <p:spPr bwMode="auto">
          <a:xfrm>
            <a:off x="6816008" y="4869016"/>
            <a:ext cx="720008" cy="360004"/>
          </a:xfrm>
          <a:prstGeom prst="rect">
            <a:avLst/>
          </a:prstGeom>
          <a:noFill/>
          <a:ln>
            <a:solidFill>
              <a:schemeClr val="tx1">
                <a:lumMod val="75000"/>
                <a:lumOff val="25000"/>
              </a:schemeClr>
            </a:solid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0235</a:t>
            </a:r>
            <a:endParaRPr lang="ja-JP" altLang="en-US" dirty="0">
              <a:solidFill>
                <a:schemeClr val="tx1"/>
              </a:solidFill>
              <a:latin typeface="メイリオ" panose="020B0604030504040204" pitchFamily="50" charset="-128"/>
              <a:ea typeface="メイリオ" panose="020B0604030504040204" pitchFamily="50" charset="-128"/>
            </a:endParaRPr>
          </a:p>
        </p:txBody>
      </p:sp>
      <p:cxnSp>
        <p:nvCxnSpPr>
          <p:cNvPr id="106" name="曲線コネクタ 105"/>
          <p:cNvCxnSpPr/>
          <p:nvPr/>
        </p:nvCxnSpPr>
        <p:spPr bwMode="auto">
          <a:xfrm>
            <a:off x="6906009" y="2438989"/>
            <a:ext cx="720008" cy="540006"/>
          </a:xfrm>
          <a:prstGeom prst="curvedConnector3">
            <a:avLst/>
          </a:prstGeom>
          <a:ln>
            <a:solidFill>
              <a:srgbClr val="FF0000"/>
            </a:solidFill>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108" name="曲線コネクタ 107"/>
          <p:cNvCxnSpPr/>
          <p:nvPr/>
        </p:nvCxnSpPr>
        <p:spPr bwMode="auto">
          <a:xfrm>
            <a:off x="6906009" y="2798994"/>
            <a:ext cx="720008" cy="630007"/>
          </a:xfrm>
          <a:prstGeom prst="curvedConnector3">
            <a:avLst/>
          </a:prstGeom>
          <a:ln>
            <a:solidFill>
              <a:srgbClr val="FF0000"/>
            </a:solidFill>
            <a:headEnd type="none" w="med" len="med"/>
            <a:tailEnd type="triangle"/>
          </a:ln>
        </p:spPr>
        <p:style>
          <a:lnRef idx="3">
            <a:schemeClr val="accent5"/>
          </a:lnRef>
          <a:fillRef idx="0">
            <a:schemeClr val="accent5"/>
          </a:fillRef>
          <a:effectRef idx="2">
            <a:schemeClr val="accent5"/>
          </a:effectRef>
          <a:fontRef idx="minor">
            <a:schemeClr val="tx1"/>
          </a:fontRef>
        </p:style>
      </p:cxnSp>
      <p:graphicFrame>
        <p:nvGraphicFramePr>
          <p:cNvPr id="42" name="表 41"/>
          <p:cNvGraphicFramePr>
            <a:graphicFrameLocks noGrp="1"/>
          </p:cNvGraphicFramePr>
          <p:nvPr>
            <p:extLst>
              <p:ext uri="{D42A27DB-BD31-4B8C-83A1-F6EECF244321}">
                <p14:modId xmlns:p14="http://schemas.microsoft.com/office/powerpoint/2010/main" val="1431092230"/>
              </p:ext>
            </p:extLst>
          </p:nvPr>
        </p:nvGraphicFramePr>
        <p:xfrm>
          <a:off x="1865954" y="5859027"/>
          <a:ext cx="6120071" cy="670560"/>
        </p:xfrm>
        <a:graphic>
          <a:graphicData uri="http://schemas.openxmlformats.org/drawingml/2006/table">
            <a:tbl>
              <a:tblPr firstRow="1" bandRow="1">
                <a:tableStyleId>{9D7B26C5-4107-4FEC-AEDC-1716B250A1EF}</a:tableStyleId>
              </a:tblPr>
              <a:tblGrid>
                <a:gridCol w="1112741">
                  <a:extLst>
                    <a:ext uri="{9D8B030D-6E8A-4147-A177-3AD203B41FA5}">
                      <a16:colId xmlns:a16="http://schemas.microsoft.com/office/drawing/2014/main" val="20000"/>
                    </a:ext>
                  </a:extLst>
                </a:gridCol>
                <a:gridCol w="741827">
                  <a:extLst>
                    <a:ext uri="{9D8B030D-6E8A-4147-A177-3AD203B41FA5}">
                      <a16:colId xmlns:a16="http://schemas.microsoft.com/office/drawing/2014/main" val="20001"/>
                    </a:ext>
                  </a:extLst>
                </a:gridCol>
                <a:gridCol w="741827">
                  <a:extLst>
                    <a:ext uri="{9D8B030D-6E8A-4147-A177-3AD203B41FA5}">
                      <a16:colId xmlns:a16="http://schemas.microsoft.com/office/drawing/2014/main" val="20002"/>
                    </a:ext>
                  </a:extLst>
                </a:gridCol>
                <a:gridCol w="741827">
                  <a:extLst>
                    <a:ext uri="{9D8B030D-6E8A-4147-A177-3AD203B41FA5}">
                      <a16:colId xmlns:a16="http://schemas.microsoft.com/office/drawing/2014/main" val="20003"/>
                    </a:ext>
                  </a:extLst>
                </a:gridCol>
                <a:gridCol w="741827">
                  <a:extLst>
                    <a:ext uri="{9D8B030D-6E8A-4147-A177-3AD203B41FA5}">
                      <a16:colId xmlns:a16="http://schemas.microsoft.com/office/drawing/2014/main" val="20004"/>
                    </a:ext>
                  </a:extLst>
                </a:gridCol>
                <a:gridCol w="741827">
                  <a:extLst>
                    <a:ext uri="{9D8B030D-6E8A-4147-A177-3AD203B41FA5}">
                      <a16:colId xmlns:a16="http://schemas.microsoft.com/office/drawing/2014/main" val="20005"/>
                    </a:ext>
                  </a:extLst>
                </a:gridCol>
                <a:gridCol w="741827">
                  <a:extLst>
                    <a:ext uri="{9D8B030D-6E8A-4147-A177-3AD203B41FA5}">
                      <a16:colId xmlns:a16="http://schemas.microsoft.com/office/drawing/2014/main" val="20006"/>
                    </a:ext>
                  </a:extLst>
                </a:gridCol>
                <a:gridCol w="556368">
                  <a:extLst>
                    <a:ext uri="{9D8B030D-6E8A-4147-A177-3AD203B41FA5}">
                      <a16:colId xmlns:a16="http://schemas.microsoft.com/office/drawing/2014/main" val="20007"/>
                    </a:ext>
                  </a:extLst>
                </a:gridCol>
              </a:tblGrid>
              <a:tr h="325840">
                <a:tc>
                  <a:txBody>
                    <a:bodyPr/>
                    <a:lstStyle/>
                    <a:p>
                      <a:pPr algn="ctr"/>
                      <a:r>
                        <a:rPr kumimoji="1" lang="ja-JP" altLang="en-US" sz="1600" b="0" dirty="0">
                          <a:latin typeface="メイリオ" panose="020B0604030504040204" pitchFamily="50" charset="-128"/>
                          <a:ea typeface="メイリオ" panose="020B0604030504040204" pitchFamily="50" charset="-128"/>
                        </a:rPr>
                        <a:t>意味：</a:t>
                      </a: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add</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sub</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A</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B</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C</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D</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E</a:t>
                      </a:r>
                      <a:endParaRPr kumimoji="1" lang="ja-JP" altLang="en-US" sz="1600" b="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0"/>
                  </a:ext>
                </a:extLst>
              </a:tr>
              <a:tr h="325840">
                <a:tc>
                  <a:txBody>
                    <a:bodyPr/>
                    <a:lstStyle/>
                    <a:p>
                      <a:pPr algn="ctr"/>
                      <a:r>
                        <a:rPr kumimoji="1" lang="ja-JP" altLang="en-US" sz="1600" b="0" dirty="0">
                          <a:latin typeface="メイリオ" panose="020B0604030504040204" pitchFamily="50" charset="-128"/>
                          <a:ea typeface="メイリオ" panose="020B0604030504040204" pitchFamily="50" charset="-128"/>
                        </a:rPr>
                        <a:t>数字：</a:t>
                      </a: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0</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1</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2</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3</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4</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1" dirty="0">
                          <a:solidFill>
                            <a:schemeClr val="accent5"/>
                          </a:solidFill>
                          <a:latin typeface="メイリオ" panose="020B0604030504040204" pitchFamily="50" charset="-128"/>
                          <a:ea typeface="メイリオ" panose="020B0604030504040204" pitchFamily="50" charset="-128"/>
                        </a:rPr>
                        <a:t>5</a:t>
                      </a:r>
                      <a:endParaRPr kumimoji="1" lang="ja-JP" altLang="en-US" sz="1600" b="1" dirty="0">
                        <a:solidFill>
                          <a:schemeClr val="accent5"/>
                        </a:solidFill>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6</a:t>
                      </a:r>
                      <a:endParaRPr kumimoji="1" lang="ja-JP" altLang="en-US" sz="1600" b="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2570214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2"/>
            <a:r>
              <a:rPr lang="en-US" altLang="ja-JP" b="1" dirty="0">
                <a:solidFill>
                  <a:schemeClr val="bg1"/>
                </a:solidFill>
                <a:latin typeface="メイリオ" panose="020B0604030504040204" pitchFamily="50" charset="-128"/>
                <a:ea typeface="メイリオ" panose="020B0604030504040204" pitchFamily="50" charset="-128"/>
              </a:rPr>
              <a:t>4. </a:t>
            </a:r>
            <a:r>
              <a:rPr lang="ja-JP" altLang="en-US" b="1" dirty="0">
                <a:solidFill>
                  <a:schemeClr val="bg1"/>
                </a:solidFill>
                <a:latin typeface="メイリオ" panose="020B0604030504040204" pitchFamily="50" charset="-128"/>
                <a:ea typeface="メイリオ" panose="020B0604030504040204" pitchFamily="50" charset="-128"/>
              </a:rPr>
              <a:t>演算の実行</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3" name="コンテンツ プレースホルダー 2"/>
          <p:cNvSpPr>
            <a:spLocks noGrp="1"/>
          </p:cNvSpPr>
          <p:nvPr>
            <p:ph type="body" sz="quarter" idx="10"/>
          </p:nvPr>
        </p:nvSpPr>
        <p:spPr>
          <a:xfrm>
            <a:off x="1775952" y="1676400"/>
            <a:ext cx="5040056" cy="4903788"/>
          </a:xfrm>
          <a:prstGeom prst="rect">
            <a:avLst/>
          </a:prstGeom>
        </p:spPr>
        <p:txBody>
          <a:bodyPr/>
          <a:lstStyle/>
          <a:p>
            <a:pPr marL="457200" indent="-457200">
              <a:buFont typeface="+mj-lt"/>
              <a:buAutoNum type="arabicPeriod"/>
            </a:pPr>
            <a:r>
              <a:rPr lang="ja-JP" altLang="en-US" dirty="0"/>
              <a:t>演算器（</a:t>
            </a:r>
            <a:r>
              <a:rPr lang="en-US" altLang="ja-JP" dirty="0"/>
              <a:t>FU</a:t>
            </a:r>
            <a:r>
              <a:rPr lang="ja-JP" altLang="en-US" dirty="0"/>
              <a:t>）で，足し算をする</a:t>
            </a:r>
            <a:endParaRPr lang="en-US" altLang="ja-JP" dirty="0"/>
          </a:p>
          <a:p>
            <a:pPr marL="904875" lvl="1" indent="-457200"/>
            <a:r>
              <a:rPr lang="ja-JP" altLang="en-US" dirty="0"/>
              <a:t>１＋２ </a:t>
            </a:r>
            <a:r>
              <a:rPr lang="en-US" altLang="ja-JP" dirty="0"/>
              <a:t>= 3</a:t>
            </a:r>
          </a:p>
          <a:p>
            <a:pPr marL="457200" indent="-457200">
              <a:buFont typeface="+mj-lt"/>
              <a:buAutoNum type="arabicPeriod"/>
            </a:pPr>
            <a:endParaRPr lang="en-US" altLang="ja-JP" dirty="0"/>
          </a:p>
        </p:txBody>
      </p:sp>
      <p:sp>
        <p:nvSpPr>
          <p:cNvPr id="46" name="正方形/長方形 45"/>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47" name="正方形/長方形 46"/>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53" name="正方形/長方形 52"/>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solidFill>
                <a:latin typeface="メイリオ" panose="020B0604030504040204" pitchFamily="50" charset="-128"/>
                <a:ea typeface="メイリオ" panose="020B0604030504040204" pitchFamily="50" charset="-128"/>
              </a:rPr>
              <a:t>0235</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74" name="正方形/長方形 73"/>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1546</a:t>
            </a:r>
            <a:endParaRPr lang="ja-JP" altLang="en-US" dirty="0">
              <a:latin typeface="メイリオ" panose="020B0604030504040204" pitchFamily="50" charset="-128"/>
              <a:ea typeface="メイリオ" panose="020B0604030504040204" pitchFamily="50" charset="-128"/>
            </a:endParaRPr>
          </a:p>
        </p:txBody>
      </p:sp>
      <p:sp>
        <p:nvSpPr>
          <p:cNvPr id="75" name="正方形/長方形 74"/>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76" name="正方形/長方形 75"/>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77" name="正方形/長方形 76"/>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78" name="正方形/長方形 77"/>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79" name="正方形/長方形 78"/>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80" name="正方形/長方形 79"/>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81" name="正方形/長方形 80"/>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82" name="正方形/長方形 81"/>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3" name="正方形/長方形 82"/>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5" name="正方形/長方形 84"/>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6" name="正方形/長方形 85"/>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7" name="フローチャート: 手作業 86"/>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88" name="正方形/長方形 87"/>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9" name="正方形/長方形 88"/>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90" name="正方形/長方形 89"/>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latin typeface="メイリオ" panose="020B0604030504040204" pitchFamily="50" charset="-128"/>
                <a:ea typeface="メイリオ" panose="020B0604030504040204" pitchFamily="50" charset="-128"/>
              </a:rPr>
              <a:t>1</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91" name="正方形/長方形 90"/>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latin typeface="メイリオ" panose="020B0604030504040204" pitchFamily="50" charset="-128"/>
                <a:ea typeface="メイリオ" panose="020B0604030504040204" pitchFamily="50" charset="-128"/>
              </a:rPr>
              <a:t>2</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92" name="正方形/長方形 91"/>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93" name="正方形/長方形 92"/>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4" name="正方形/長方形 93"/>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5" name="正方形/長方形 94"/>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6" name="正方形/長方形 95"/>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cxnSp>
        <p:nvCxnSpPr>
          <p:cNvPr id="97" name="直線コネクタ 96"/>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8" name="直線コネクタ 97"/>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9" name="直線コネクタ 98"/>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0" name="直線コネクタ 99"/>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1" name="直線コネクタ 100"/>
          <p:cNvCxnSpPr/>
          <p:nvPr/>
        </p:nvCxnSpPr>
        <p:spPr bwMode="auto">
          <a:xfrm flipV="1">
            <a:off x="6816008" y="4419011"/>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2" name="直線コネクタ 101"/>
          <p:cNvCxnSpPr/>
          <p:nvPr/>
        </p:nvCxnSpPr>
        <p:spPr bwMode="auto">
          <a:xfrm flipH="1">
            <a:off x="6816010" y="4599013"/>
            <a:ext cx="1260013"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3" name="直線コネクタ 102"/>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4" name="直線コネクタ 103"/>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05" name="正方形/長方形 104"/>
          <p:cNvSpPr/>
          <p:nvPr/>
        </p:nvSpPr>
        <p:spPr bwMode="auto">
          <a:xfrm>
            <a:off x="6816008" y="4869016"/>
            <a:ext cx="720008" cy="360004"/>
          </a:xfrm>
          <a:prstGeom prst="rect">
            <a:avLst/>
          </a:prstGeom>
          <a:noFill/>
          <a:ln>
            <a:solidFill>
              <a:schemeClr val="tx1">
                <a:lumMod val="75000"/>
                <a:lumOff val="25000"/>
              </a:schemeClr>
            </a:solid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0235</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43" name="正方形/長方形 42"/>
          <p:cNvSpPr/>
          <p:nvPr/>
        </p:nvSpPr>
        <p:spPr bwMode="auto">
          <a:xfrm>
            <a:off x="7266013" y="2798993"/>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1</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44" name="正方形/長方形 43"/>
          <p:cNvSpPr/>
          <p:nvPr/>
        </p:nvSpPr>
        <p:spPr bwMode="auto">
          <a:xfrm>
            <a:off x="7266013" y="3338999"/>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2</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45" name="正方形/長方形 44"/>
          <p:cNvSpPr/>
          <p:nvPr/>
        </p:nvSpPr>
        <p:spPr bwMode="auto">
          <a:xfrm>
            <a:off x="7986021" y="306899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rgbClr val="FF0000"/>
                </a:solidFill>
                <a:latin typeface="メイリオ" panose="020B0604030504040204" pitchFamily="50" charset="-128"/>
                <a:ea typeface="メイリオ" panose="020B0604030504040204" pitchFamily="50" charset="-128"/>
              </a:rPr>
              <a:t>３</a:t>
            </a:r>
          </a:p>
        </p:txBody>
      </p:sp>
    </p:spTree>
    <p:extLst>
      <p:ext uri="{BB962C8B-B14F-4D97-AF65-F5344CB8AC3E}">
        <p14:creationId xmlns:p14="http://schemas.microsoft.com/office/powerpoint/2010/main" val="33813606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5. </a:t>
            </a:r>
            <a:r>
              <a:rPr lang="ja-JP" altLang="en-US" dirty="0"/>
              <a:t>レジスタへの結果の書き戻し</a:t>
            </a:r>
          </a:p>
        </p:txBody>
      </p:sp>
      <p:sp>
        <p:nvSpPr>
          <p:cNvPr id="3" name="コンテンツ プレースホルダー 2"/>
          <p:cNvSpPr>
            <a:spLocks noGrp="1"/>
          </p:cNvSpPr>
          <p:nvPr>
            <p:ph type="body" sz="quarter" idx="10"/>
          </p:nvPr>
        </p:nvSpPr>
        <p:spPr>
          <a:xfrm>
            <a:off x="1775952" y="1676400"/>
            <a:ext cx="5040056" cy="4903788"/>
          </a:xfrm>
          <a:prstGeom prst="rect">
            <a:avLst/>
          </a:prstGeom>
        </p:spPr>
        <p:txBody>
          <a:bodyPr/>
          <a:lstStyle/>
          <a:p>
            <a:pPr marL="457200" indent="-457200">
              <a:buFont typeface="+mj-lt"/>
              <a:buAutoNum type="arabicPeriod"/>
            </a:pPr>
            <a:r>
              <a:rPr lang="en-US" altLang="ja-JP" dirty="0"/>
              <a:t>D </a:t>
            </a:r>
            <a:r>
              <a:rPr lang="ja-JP" altLang="en-US" dirty="0"/>
              <a:t>に結果の</a:t>
            </a:r>
            <a:r>
              <a:rPr lang="en-US" altLang="ja-JP" dirty="0"/>
              <a:t>3</a:t>
            </a:r>
            <a:r>
              <a:rPr lang="ja-JP" altLang="en-US" dirty="0"/>
              <a:t>を書き込む</a:t>
            </a:r>
            <a:endParaRPr lang="en-US" altLang="ja-JP" dirty="0"/>
          </a:p>
          <a:p>
            <a:pPr marL="457200" indent="-457200">
              <a:buFont typeface="+mj-lt"/>
              <a:buAutoNum type="arabicPeriod"/>
            </a:pPr>
            <a:endParaRPr lang="en-US" altLang="ja-JP" dirty="0"/>
          </a:p>
        </p:txBody>
      </p:sp>
      <p:sp>
        <p:nvSpPr>
          <p:cNvPr id="46" name="正方形/長方形 45"/>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47" name="正方形/長方形 46"/>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53" name="正方形/長方形 52"/>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solidFill>
                <a:latin typeface="メイリオ" panose="020B0604030504040204" pitchFamily="50" charset="-128"/>
                <a:ea typeface="メイリオ" panose="020B0604030504040204" pitchFamily="50" charset="-128"/>
              </a:rPr>
              <a:t>0235</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74" name="正方形/長方形 73"/>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1546</a:t>
            </a:r>
            <a:endParaRPr lang="ja-JP" altLang="en-US" dirty="0">
              <a:latin typeface="メイリオ" panose="020B0604030504040204" pitchFamily="50" charset="-128"/>
              <a:ea typeface="メイリオ" panose="020B0604030504040204" pitchFamily="50" charset="-128"/>
            </a:endParaRPr>
          </a:p>
        </p:txBody>
      </p:sp>
      <p:sp>
        <p:nvSpPr>
          <p:cNvPr id="75" name="正方形/長方形 74"/>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76" name="正方形/長方形 75"/>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77" name="正方形/長方形 76"/>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78" name="正方形/長方形 77"/>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79" name="正方形/長方形 78"/>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80" name="正方形/長方形 79"/>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81" name="正方形/長方形 80"/>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82" name="正方形/長方形 81"/>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3" name="正方形/長方形 82"/>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5" name="正方形/長方形 84"/>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6" name="正方形/長方形 85"/>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7" name="フローチャート: 手作業 86"/>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88" name="正方形/長方形 87"/>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9" name="正方形/長方形 88"/>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90" name="正方形/長方形 89"/>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latin typeface="メイリオ" panose="020B0604030504040204" pitchFamily="50" charset="-128"/>
                <a:ea typeface="メイリオ" panose="020B0604030504040204" pitchFamily="50" charset="-128"/>
              </a:rPr>
              <a:t>1</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91" name="正方形/長方形 90"/>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latin typeface="メイリオ" panose="020B0604030504040204" pitchFamily="50" charset="-128"/>
                <a:ea typeface="メイリオ" panose="020B0604030504040204" pitchFamily="50" charset="-128"/>
              </a:rPr>
              <a:t>2</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92" name="正方形/長方形 91"/>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93" name="正方形/長方形 92"/>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3</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94" name="正方形/長方形 93"/>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5" name="正方形/長方形 94"/>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6" name="正方形/長方形 95"/>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cxnSp>
        <p:nvCxnSpPr>
          <p:cNvPr id="97" name="直線コネクタ 96"/>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8" name="直線コネクタ 97"/>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9" name="直線コネクタ 98"/>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0" name="直線コネクタ 99"/>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1" name="直線コネクタ 100"/>
          <p:cNvCxnSpPr/>
          <p:nvPr/>
        </p:nvCxnSpPr>
        <p:spPr bwMode="auto">
          <a:xfrm flipV="1">
            <a:off x="6816008" y="4419011"/>
            <a:ext cx="0" cy="180002"/>
          </a:xfrm>
          <a:prstGeom prst="line">
            <a:avLst/>
          </a:prstGeom>
          <a:ln w="15875">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2" name="直線コネクタ 101"/>
          <p:cNvCxnSpPr/>
          <p:nvPr/>
        </p:nvCxnSpPr>
        <p:spPr bwMode="auto">
          <a:xfrm flipH="1">
            <a:off x="6816010" y="4599013"/>
            <a:ext cx="1260013" cy="0"/>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3" name="直線コネクタ 102"/>
          <p:cNvCxnSpPr/>
          <p:nvPr/>
        </p:nvCxnSpPr>
        <p:spPr bwMode="auto">
          <a:xfrm flipH="1">
            <a:off x="7986022" y="3248998"/>
            <a:ext cx="90001" cy="0"/>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4" name="直線コネクタ 103"/>
          <p:cNvCxnSpPr/>
          <p:nvPr/>
        </p:nvCxnSpPr>
        <p:spPr bwMode="auto">
          <a:xfrm flipV="1">
            <a:off x="8076023" y="3248999"/>
            <a:ext cx="1" cy="1350015"/>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05" name="正方形/長方形 104"/>
          <p:cNvSpPr/>
          <p:nvPr/>
        </p:nvSpPr>
        <p:spPr bwMode="auto">
          <a:xfrm>
            <a:off x="6816008" y="4869016"/>
            <a:ext cx="720008" cy="360004"/>
          </a:xfrm>
          <a:prstGeom prst="rect">
            <a:avLst/>
          </a:prstGeom>
          <a:noFill/>
          <a:ln>
            <a:solidFill>
              <a:schemeClr val="tx1">
                <a:lumMod val="75000"/>
                <a:lumOff val="25000"/>
              </a:schemeClr>
            </a:solid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0235</a:t>
            </a:r>
            <a:endParaRPr lang="ja-JP" altLang="en-US"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717146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6. </a:t>
            </a:r>
            <a:r>
              <a:rPr lang="ja-JP" altLang="en-US" dirty="0"/>
              <a:t>次の命令へ</a:t>
            </a:r>
          </a:p>
        </p:txBody>
      </p:sp>
      <p:sp>
        <p:nvSpPr>
          <p:cNvPr id="3" name="コンテンツ プレースホルダー 2"/>
          <p:cNvSpPr>
            <a:spLocks noGrp="1"/>
          </p:cNvSpPr>
          <p:nvPr>
            <p:ph type="body" sz="quarter" idx="10"/>
          </p:nvPr>
        </p:nvSpPr>
        <p:spPr>
          <a:xfrm>
            <a:off x="1775952" y="1676400"/>
            <a:ext cx="5040056" cy="4903788"/>
          </a:xfrm>
          <a:prstGeom prst="rect">
            <a:avLst/>
          </a:prstGeom>
        </p:spPr>
        <p:txBody>
          <a:bodyPr/>
          <a:lstStyle/>
          <a:p>
            <a:pPr marL="457200" indent="-457200">
              <a:buFont typeface="+mj-lt"/>
              <a:buAutoNum type="arabicPeriod"/>
            </a:pPr>
            <a:r>
              <a:rPr lang="en-US" altLang="ja-JP" dirty="0"/>
              <a:t>PC </a:t>
            </a:r>
            <a:r>
              <a:rPr lang="ja-JP" altLang="en-US" dirty="0"/>
              <a:t>に＋１をする</a:t>
            </a:r>
            <a:endParaRPr lang="en-US" altLang="ja-JP" dirty="0"/>
          </a:p>
          <a:p>
            <a:pPr marL="457200" indent="-457200">
              <a:buFont typeface="+mj-lt"/>
              <a:buAutoNum type="arabicPeriod"/>
            </a:pPr>
            <a:r>
              <a:rPr lang="en-US" altLang="ja-JP" dirty="0"/>
              <a:t>1. </a:t>
            </a:r>
            <a:r>
              <a:rPr lang="ja-JP" altLang="en-US" dirty="0"/>
              <a:t>の命令の読み出しに戻る</a:t>
            </a:r>
            <a:endParaRPr lang="en-US" altLang="ja-JP" dirty="0"/>
          </a:p>
        </p:txBody>
      </p:sp>
      <p:sp>
        <p:nvSpPr>
          <p:cNvPr id="46" name="正方形/長方形 45"/>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47" name="正方形/長方形 46"/>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53" name="正方形/長方形 52"/>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solidFill>
                <a:latin typeface="メイリオ" panose="020B0604030504040204" pitchFamily="50" charset="-128"/>
                <a:ea typeface="メイリオ" panose="020B0604030504040204" pitchFamily="50" charset="-128"/>
              </a:rPr>
              <a:t>0235</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74" name="正方形/長方形 73"/>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1546</a:t>
            </a:r>
            <a:endParaRPr lang="ja-JP" altLang="en-US" dirty="0">
              <a:latin typeface="メイリオ" panose="020B0604030504040204" pitchFamily="50" charset="-128"/>
              <a:ea typeface="メイリオ" panose="020B0604030504040204" pitchFamily="50" charset="-128"/>
            </a:endParaRPr>
          </a:p>
        </p:txBody>
      </p:sp>
      <p:sp>
        <p:nvSpPr>
          <p:cNvPr id="75" name="正方形/長方形 74"/>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76" name="正方形/長方形 75"/>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77" name="正方形/長方形 76"/>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78" name="正方形/長方形 77"/>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79" name="正方形/長方形 78"/>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80" name="正方形/長方形 79"/>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81" name="正方形/長方形 80"/>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82" name="正方形/長方形 81"/>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3" name="正方形/長方形 82"/>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5" name="正方形/長方形 84"/>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6" name="正方形/長方形 85"/>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7" name="フローチャート: 手作業 86"/>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88" name="正方形/長方形 87"/>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9" name="正方形/長方形 88"/>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90" name="正方形/長方形 89"/>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latin typeface="メイリオ" panose="020B0604030504040204" pitchFamily="50" charset="-128"/>
                <a:ea typeface="メイリオ" panose="020B0604030504040204" pitchFamily="50" charset="-128"/>
              </a:rPr>
              <a:t>1</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91" name="正方形/長方形 90"/>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latin typeface="メイリオ" panose="020B0604030504040204" pitchFamily="50" charset="-128"/>
                <a:ea typeface="メイリオ" panose="020B0604030504040204" pitchFamily="50" charset="-128"/>
              </a:rPr>
              <a:t>2</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92" name="正方形/長方形 91"/>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93" name="正方形/長方形 92"/>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bg1"/>
                </a:solidFill>
                <a:latin typeface="メイリオ" panose="020B0604030504040204" pitchFamily="50" charset="-128"/>
                <a:ea typeface="メイリオ" panose="020B0604030504040204" pitchFamily="50" charset="-128"/>
              </a:rPr>
              <a:t>３</a:t>
            </a:r>
          </a:p>
        </p:txBody>
      </p:sp>
      <p:sp>
        <p:nvSpPr>
          <p:cNvPr id="94" name="正方形/長方形 93"/>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5" name="正方形/長方形 94"/>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6" name="正方形/長方形 95"/>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rgbClr val="FF0000"/>
                </a:solidFill>
                <a:latin typeface="メイリオ" panose="020B0604030504040204" pitchFamily="50" charset="-128"/>
                <a:ea typeface="メイリオ" panose="020B0604030504040204" pitchFamily="50" charset="-128"/>
              </a:rPr>
              <a:t>1</a:t>
            </a:r>
            <a:endParaRPr lang="ja-JP" altLang="en-US" b="1" dirty="0">
              <a:solidFill>
                <a:srgbClr val="FF0000"/>
              </a:solidFill>
              <a:latin typeface="メイリオ" panose="020B0604030504040204" pitchFamily="50" charset="-128"/>
              <a:ea typeface="メイリオ" panose="020B0604030504040204" pitchFamily="50" charset="-128"/>
            </a:endParaRPr>
          </a:p>
        </p:txBody>
      </p:sp>
      <p:cxnSp>
        <p:nvCxnSpPr>
          <p:cNvPr id="97" name="直線コネクタ 96"/>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8" name="直線コネクタ 97"/>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9" name="直線コネクタ 98"/>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0" name="直線コネクタ 99"/>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1" name="直線コネクタ 100"/>
          <p:cNvCxnSpPr/>
          <p:nvPr/>
        </p:nvCxnSpPr>
        <p:spPr bwMode="auto">
          <a:xfrm flipV="1">
            <a:off x="6816008" y="4419011"/>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2" name="直線コネクタ 101"/>
          <p:cNvCxnSpPr/>
          <p:nvPr/>
        </p:nvCxnSpPr>
        <p:spPr bwMode="auto">
          <a:xfrm flipH="1">
            <a:off x="6816010" y="4599013"/>
            <a:ext cx="1260013"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3" name="直線コネクタ 102"/>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4" name="直線コネクタ 103"/>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05" name="正方形/長方形 104"/>
          <p:cNvSpPr/>
          <p:nvPr/>
        </p:nvSpPr>
        <p:spPr bwMode="auto">
          <a:xfrm>
            <a:off x="6816008" y="4869016"/>
            <a:ext cx="720008" cy="360004"/>
          </a:xfrm>
          <a:prstGeom prst="rect">
            <a:avLst/>
          </a:prstGeom>
          <a:noFill/>
          <a:ln>
            <a:solidFill>
              <a:schemeClr val="tx1">
                <a:lumMod val="75000"/>
                <a:lumOff val="25000"/>
              </a:schemeClr>
            </a:solid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solidFill>
              <a:latin typeface="メイリオ" panose="020B0604030504040204" pitchFamily="50" charset="-128"/>
              <a:ea typeface="メイリオ" panose="020B0604030504040204" pitchFamily="50" charset="-128"/>
            </a:endParaRPr>
          </a:p>
        </p:txBody>
      </p:sp>
      <p:cxnSp>
        <p:nvCxnSpPr>
          <p:cNvPr id="41" name="曲線コネクタ 40"/>
          <p:cNvCxnSpPr>
            <a:endCxn id="79" idx="1"/>
          </p:cNvCxnSpPr>
          <p:nvPr/>
        </p:nvCxnSpPr>
        <p:spPr bwMode="auto">
          <a:xfrm>
            <a:off x="7986022" y="2348988"/>
            <a:ext cx="630007" cy="180002"/>
          </a:xfrm>
          <a:prstGeom prst="curvedConnector3">
            <a:avLst/>
          </a:prstGeom>
          <a:ln>
            <a:solidFill>
              <a:srgbClr val="FF0000"/>
            </a:solidFill>
            <a:headEnd type="none" w="med" len="med"/>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28872290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その他の命令</a:t>
            </a:r>
            <a:endParaRPr lang="en-US" altLang="ja-JP" dirty="0"/>
          </a:p>
        </p:txBody>
      </p:sp>
      <p:sp>
        <p:nvSpPr>
          <p:cNvPr id="3" name="テキスト プレースホルダー 2"/>
          <p:cNvSpPr>
            <a:spLocks noGrp="1"/>
          </p:cNvSpPr>
          <p:nvPr>
            <p:ph type="body" sz="quarter" idx="10"/>
          </p:nvPr>
        </p:nvSpPr>
        <p:spPr/>
        <p:txBody>
          <a:bodyPr/>
          <a:lstStyle/>
          <a:p>
            <a:r>
              <a:rPr kumimoji="1" lang="ja-JP" altLang="en-US" dirty="0"/>
              <a:t>その他各種の演算命令 ＝ </a:t>
            </a:r>
            <a:r>
              <a:rPr lang="ja-JP" altLang="en-US" dirty="0"/>
              <a:t>乗算や除算，論理演算など</a:t>
            </a:r>
            <a:endParaRPr lang="en-US" altLang="ja-JP" dirty="0"/>
          </a:p>
          <a:p>
            <a:pPr lvl="1"/>
            <a:r>
              <a:rPr lang="ja-JP" altLang="en-US" dirty="0"/>
              <a:t>これらは，演算器で行う演算の内容が異なるのみ</a:t>
            </a:r>
            <a:endParaRPr lang="en-US" altLang="ja-JP" dirty="0"/>
          </a:p>
          <a:p>
            <a:pPr lvl="1"/>
            <a:r>
              <a:rPr lang="en-US" altLang="ja-JP" dirty="0"/>
              <a:t>CPU </a:t>
            </a:r>
            <a:r>
              <a:rPr lang="ja-JP" altLang="en-US" dirty="0"/>
              <a:t>全体の制御は，加算や減算と同様に行えばよい</a:t>
            </a:r>
            <a:endParaRPr lang="en-US" altLang="ja-JP" dirty="0"/>
          </a:p>
          <a:p>
            <a:r>
              <a:rPr lang="ja-JP" altLang="en-US" dirty="0"/>
              <a:t>演算とは異なる，その他の命令：</a:t>
            </a:r>
            <a:endParaRPr kumimoji="1" lang="en-US" altLang="ja-JP" dirty="0"/>
          </a:p>
          <a:p>
            <a:pPr marL="817200" lvl="1" indent="-457200">
              <a:buFont typeface="+mj-lt"/>
              <a:buAutoNum type="arabicPeriod"/>
            </a:pPr>
            <a:r>
              <a:rPr kumimoji="1" lang="ja-JP" altLang="en-US" dirty="0"/>
              <a:t>メモリの読み書き</a:t>
            </a:r>
            <a:endParaRPr kumimoji="1" lang="en-US" altLang="ja-JP" dirty="0"/>
          </a:p>
          <a:p>
            <a:pPr marL="817200" lvl="1" indent="-457200">
              <a:buFont typeface="+mj-lt"/>
              <a:buAutoNum type="arabicPeriod"/>
            </a:pPr>
            <a:r>
              <a:rPr kumimoji="1" lang="ja-JP" altLang="en-US" dirty="0"/>
              <a:t>制御</a:t>
            </a:r>
            <a:endParaRPr kumimoji="1" lang="en-US" altLang="ja-JP" dirty="0"/>
          </a:p>
          <a:p>
            <a:pPr marL="817200" lvl="1" indent="-457200">
              <a:buFont typeface="+mj-lt"/>
              <a:buAutoNum type="arabicPeriod"/>
            </a:pPr>
            <a:r>
              <a:rPr lang="ja-JP" altLang="en-US" dirty="0"/>
              <a:t>即値（レジスタの値の書き換え）</a:t>
            </a:r>
            <a:endParaRPr kumimoji="1" lang="en-US" altLang="ja-JP" dirty="0"/>
          </a:p>
        </p:txBody>
      </p:sp>
    </p:spTree>
    <p:extLst>
      <p:ext uri="{BB962C8B-B14F-4D97-AF65-F5344CB8AC3E}">
        <p14:creationId xmlns:p14="http://schemas.microsoft.com/office/powerpoint/2010/main" val="4039972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メモリの読み書き</a:t>
            </a:r>
            <a:endParaRPr lang="en-US" altLang="ja-JP" dirty="0"/>
          </a:p>
        </p:txBody>
      </p:sp>
      <p:sp>
        <p:nvSpPr>
          <p:cNvPr id="3" name="テキスト プレースホルダー 2"/>
          <p:cNvSpPr>
            <a:spLocks noGrp="1"/>
          </p:cNvSpPr>
          <p:nvPr>
            <p:ph type="body" sz="quarter" idx="10"/>
          </p:nvPr>
        </p:nvSpPr>
        <p:spPr/>
        <p:txBody>
          <a:bodyPr/>
          <a:lstStyle/>
          <a:p>
            <a:r>
              <a:rPr kumimoji="1" lang="ja-JP" altLang="en-US" dirty="0"/>
              <a:t>メモリの読み書き</a:t>
            </a:r>
            <a:endParaRPr kumimoji="1" lang="en-US" altLang="ja-JP" dirty="0"/>
          </a:p>
          <a:p>
            <a:pPr marL="817200" lvl="1" indent="-457200">
              <a:buFont typeface="+mj-lt"/>
              <a:buAutoNum type="arabicPeriod"/>
            </a:pPr>
            <a:r>
              <a:rPr kumimoji="1" lang="ja-JP" altLang="en-US" dirty="0"/>
              <a:t>ロード命令：メモリからデータを読み出す</a:t>
            </a:r>
            <a:endParaRPr kumimoji="1" lang="en-US" altLang="ja-JP" dirty="0"/>
          </a:p>
          <a:p>
            <a:pPr marL="817200" lvl="1" indent="-457200">
              <a:buFont typeface="+mj-lt"/>
              <a:buAutoNum type="arabicPeriod"/>
            </a:pPr>
            <a:r>
              <a:rPr kumimoji="1" lang="ja-JP" altLang="en-US" dirty="0"/>
              <a:t>ストア命令：メモリへデータを書き込む</a:t>
            </a:r>
            <a:endParaRPr kumimoji="1" lang="en-US" altLang="ja-JP" dirty="0"/>
          </a:p>
        </p:txBody>
      </p:sp>
    </p:spTree>
    <p:extLst>
      <p:ext uri="{BB962C8B-B14F-4D97-AF65-F5344CB8AC3E}">
        <p14:creationId xmlns:p14="http://schemas.microsoft.com/office/powerpoint/2010/main" val="3260016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2"/>
            <a:r>
              <a:rPr lang="ja-JP" altLang="en-US" b="1" dirty="0">
                <a:solidFill>
                  <a:schemeClr val="bg1"/>
                </a:solidFill>
                <a:latin typeface="メイリオ" panose="020B0604030504040204" pitchFamily="50" charset="-128"/>
                <a:ea typeface="メイリオ" panose="020B0604030504040204" pitchFamily="50" charset="-128"/>
              </a:rPr>
              <a:t>ロード命令（</a:t>
            </a:r>
            <a:r>
              <a:rPr lang="en-US" altLang="ja-JP" b="1" dirty="0" err="1">
                <a:solidFill>
                  <a:schemeClr val="bg1"/>
                </a:solidFill>
                <a:latin typeface="メイリオ" panose="020B0604030504040204" pitchFamily="50" charset="-128"/>
                <a:ea typeface="メイリオ" panose="020B0604030504040204" pitchFamily="50" charset="-128"/>
              </a:rPr>
              <a:t>ld</a:t>
            </a:r>
            <a:r>
              <a:rPr lang="en-US" altLang="ja-JP" b="1" dirty="0">
                <a:solidFill>
                  <a:schemeClr val="bg1"/>
                </a:solidFill>
                <a:latin typeface="メイリオ" panose="020B0604030504040204" pitchFamily="50" charset="-128"/>
                <a:ea typeface="メイリオ" panose="020B0604030504040204" pitchFamily="50" charset="-128"/>
              </a:rPr>
              <a:t>: load</a:t>
            </a:r>
            <a:r>
              <a:rPr lang="ja-JP" altLang="en-US" b="1" dirty="0">
                <a:solidFill>
                  <a:schemeClr val="bg1"/>
                </a:solidFill>
                <a:latin typeface="メイリオ" panose="020B0604030504040204" pitchFamily="50" charset="-128"/>
                <a:ea typeface="メイリオ" panose="020B0604030504040204" pitchFamily="50" charset="-128"/>
              </a:rPr>
              <a: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3" name="コンテンツ プレースホルダー 2"/>
          <p:cNvSpPr>
            <a:spLocks noGrp="1"/>
          </p:cNvSpPr>
          <p:nvPr>
            <p:ph type="body" sz="quarter" idx="10"/>
          </p:nvPr>
        </p:nvSpPr>
        <p:spPr>
          <a:xfrm>
            <a:off x="1865954" y="1676400"/>
            <a:ext cx="4950054" cy="4903788"/>
          </a:xfrm>
          <a:prstGeom prst="rect">
            <a:avLst/>
          </a:prstGeom>
        </p:spPr>
        <p:txBody>
          <a:bodyPr/>
          <a:lstStyle/>
          <a:p>
            <a:r>
              <a:rPr lang="en-US" altLang="ja-JP" dirty="0" err="1">
                <a:latin typeface="Consolas" panose="020B0609020204030204" pitchFamily="49" charset="0"/>
              </a:rPr>
              <a:t>ld</a:t>
            </a:r>
            <a:r>
              <a:rPr lang="en-US" altLang="ja-JP" dirty="0">
                <a:latin typeface="Consolas" panose="020B0609020204030204" pitchFamily="49" charset="0"/>
              </a:rPr>
              <a:t> (A) </a:t>
            </a:r>
            <a:r>
              <a:rPr lang="ja-JP" altLang="en-US" dirty="0">
                <a:latin typeface="Consolas" panose="020B0609020204030204" pitchFamily="49" charset="0"/>
              </a:rPr>
              <a:t>→ </a:t>
            </a:r>
            <a:r>
              <a:rPr lang="en-US" altLang="ja-JP" dirty="0">
                <a:latin typeface="Consolas" panose="020B0609020204030204" pitchFamily="49" charset="0"/>
              </a:rPr>
              <a:t>D</a:t>
            </a:r>
          </a:p>
          <a:p>
            <a:pPr lvl="1"/>
            <a:r>
              <a:rPr lang="en-US" altLang="ja-JP" dirty="0">
                <a:latin typeface="Consolas" panose="020B0609020204030204" pitchFamily="49" charset="0"/>
              </a:rPr>
              <a:t>A </a:t>
            </a:r>
            <a:r>
              <a:rPr lang="ja-JP" altLang="en-US" dirty="0">
                <a:latin typeface="Consolas" panose="020B0609020204030204" pitchFamily="49" charset="0"/>
              </a:rPr>
              <a:t>の中が指しているメモリの</a:t>
            </a:r>
            <a:br>
              <a:rPr lang="en-US" altLang="ja-JP" dirty="0">
                <a:latin typeface="Consolas" panose="020B0609020204030204" pitchFamily="49" charset="0"/>
              </a:rPr>
            </a:br>
            <a:r>
              <a:rPr lang="ja-JP" altLang="en-US" dirty="0">
                <a:latin typeface="Consolas" panose="020B0609020204030204" pitchFamily="49" charset="0"/>
              </a:rPr>
              <a:t>場所を </a:t>
            </a:r>
            <a:r>
              <a:rPr lang="en-US" altLang="ja-JP" dirty="0">
                <a:latin typeface="Consolas" panose="020B0609020204030204" pitchFamily="49" charset="0"/>
              </a:rPr>
              <a:t>D </a:t>
            </a:r>
            <a:r>
              <a:rPr lang="ja-JP" altLang="en-US" dirty="0">
                <a:latin typeface="Consolas" panose="020B0609020204030204" pitchFamily="49" charset="0"/>
              </a:rPr>
              <a:t>に読み込む</a:t>
            </a:r>
            <a:endParaRPr lang="en-US" altLang="ja-JP" dirty="0">
              <a:latin typeface="Consolas" panose="020B0609020204030204" pitchFamily="49" charset="0"/>
            </a:endParaRPr>
          </a:p>
          <a:p>
            <a:pPr lvl="1"/>
            <a:r>
              <a:rPr kumimoji="1" lang="ja-JP" altLang="en-US" dirty="0"/>
              <a:t>（</a:t>
            </a:r>
            <a:r>
              <a:rPr kumimoji="1" lang="en-US" altLang="ja-JP" dirty="0"/>
              <a:t>A</a:t>
            </a:r>
            <a:r>
              <a:rPr kumimoji="1" lang="ja-JP" altLang="en-US" dirty="0"/>
              <a:t>）は，</a:t>
            </a:r>
            <a:r>
              <a:rPr kumimoji="1" lang="en-US" altLang="ja-JP" dirty="0"/>
              <a:t>C </a:t>
            </a:r>
            <a:r>
              <a:rPr kumimoji="1" lang="ja-JP" altLang="en-US" dirty="0"/>
              <a:t>言語</a:t>
            </a:r>
            <a:r>
              <a:rPr kumimoji="1" lang="en-US" altLang="ja-JP" dirty="0"/>
              <a:t> </a:t>
            </a:r>
            <a:r>
              <a:rPr kumimoji="1" lang="ja-JP" altLang="en-US" dirty="0"/>
              <a:t>で言う *</a:t>
            </a:r>
            <a:r>
              <a:rPr kumimoji="1" lang="en-US" altLang="ja-JP" dirty="0"/>
              <a:t>A</a:t>
            </a:r>
          </a:p>
          <a:p>
            <a:pPr marL="457200" indent="-457200">
              <a:buFont typeface="+mj-lt"/>
              <a:buAutoNum type="arabicPeriod"/>
            </a:pPr>
            <a:r>
              <a:rPr kumimoji="1" lang="en-US" altLang="ja-JP" dirty="0"/>
              <a:t>A </a:t>
            </a:r>
            <a:r>
              <a:rPr kumimoji="1" lang="ja-JP" altLang="en-US" dirty="0"/>
              <a:t>の中身であるアドレス９を，</a:t>
            </a:r>
            <a:br>
              <a:rPr kumimoji="1" lang="en-US" altLang="ja-JP" dirty="0"/>
            </a:br>
            <a:r>
              <a:rPr kumimoji="1" lang="ja-JP" altLang="en-US" dirty="0"/>
              <a:t>メモリから読むと </a:t>
            </a:r>
            <a:r>
              <a:rPr kumimoji="1" lang="en-US" altLang="ja-JP" dirty="0"/>
              <a:t>5 </a:t>
            </a:r>
            <a:r>
              <a:rPr kumimoji="1" lang="ja-JP" altLang="en-US" dirty="0"/>
              <a:t>が取れる</a:t>
            </a:r>
            <a:endParaRPr kumimoji="1" lang="en-US" altLang="ja-JP" dirty="0"/>
          </a:p>
          <a:p>
            <a:pPr marL="457200" indent="-457200">
              <a:buFont typeface="+mj-lt"/>
              <a:buAutoNum type="arabicPeriod"/>
            </a:pPr>
            <a:r>
              <a:rPr kumimoji="1" lang="en-US" altLang="ja-JP" dirty="0"/>
              <a:t>5 </a:t>
            </a:r>
            <a:r>
              <a:rPr kumimoji="1" lang="ja-JP" altLang="en-US" dirty="0"/>
              <a:t>を </a:t>
            </a:r>
            <a:r>
              <a:rPr kumimoji="1" lang="en-US" altLang="ja-JP" dirty="0"/>
              <a:t>D </a:t>
            </a:r>
            <a:r>
              <a:rPr kumimoji="1" lang="ja-JP" altLang="en-US" dirty="0"/>
              <a:t>に書き込む</a:t>
            </a:r>
          </a:p>
        </p:txBody>
      </p:sp>
      <p:sp>
        <p:nvSpPr>
          <p:cNvPr id="5" name="正方形/長方形 4"/>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1" name="フローチャート: 手作業 10"/>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12" name="正方形/長方形 11"/>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5" name="正方形/長方形 14"/>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18" name="正方形/長方形 17"/>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a:solidFill>
                  <a:srgbClr val="FF0000"/>
                </a:solidFill>
                <a:latin typeface="Consolas" panose="020B0609020204030204" pitchFamily="49" charset="0"/>
              </a:rPr>
              <a:t>ld </a:t>
            </a:r>
            <a:r>
              <a:rPr lang="en-US" altLang="ja-JP" dirty="0">
                <a:solidFill>
                  <a:srgbClr val="FF0000"/>
                </a:solidFill>
                <a:latin typeface="Consolas" panose="020B0609020204030204" pitchFamily="49" charset="0"/>
              </a:rPr>
              <a:t>(A) </a:t>
            </a:r>
            <a:r>
              <a:rPr lang="ja-JP" altLang="en-US" dirty="0">
                <a:solidFill>
                  <a:srgbClr val="FF0000"/>
                </a:solidFill>
                <a:latin typeface="Consolas" panose="020B0609020204030204" pitchFamily="49" charset="0"/>
              </a:rPr>
              <a:t>→ </a:t>
            </a:r>
            <a:r>
              <a:rPr lang="en-US" altLang="ja-JP" dirty="0">
                <a:solidFill>
                  <a:srgbClr val="FF0000"/>
                </a:solidFill>
                <a:latin typeface="Consolas" panose="020B0609020204030204" pitchFamily="49" charset="0"/>
              </a:rPr>
              <a:t>D</a:t>
            </a:r>
            <a:endParaRPr lang="ja-JP" altLang="en-US" dirty="0">
              <a:solidFill>
                <a:srgbClr val="FF0000"/>
              </a:solidFill>
            </a:endParaRPr>
          </a:p>
          <a:p>
            <a:pPr algn="ct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1" name="正方形/長方形 20"/>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2" name="正方形/長方形 21"/>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25" name="正方形/長方形 24"/>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26" name="正方形/長方形 25"/>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27" name="正方形/長方形 26"/>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28" name="正方形/長方形 27"/>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solidFill>
                  <a:srgbClr val="FF0000"/>
                </a:solidFill>
                <a:latin typeface="メイリオ" panose="020B0604030504040204" pitchFamily="50" charset="-128"/>
                <a:ea typeface="メイリオ" panose="020B0604030504040204" pitchFamily="50" charset="-128"/>
              </a:rPr>
              <a:t>9</a:t>
            </a:r>
            <a:endParaRPr lang="ja-JP" altLang="en-US" sz="2000" b="1" dirty="0">
              <a:solidFill>
                <a:srgbClr val="FF0000"/>
              </a:solidFill>
              <a:latin typeface="メイリオ" panose="020B0604030504040204" pitchFamily="50" charset="-128"/>
              <a:ea typeface="メイリオ" panose="020B0604030504040204" pitchFamily="50" charset="-128"/>
            </a:endParaRPr>
          </a:p>
        </p:txBody>
      </p:sp>
      <p:sp>
        <p:nvSpPr>
          <p:cNvPr id="29" name="正方形/長方形 28"/>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0</a:t>
            </a:r>
            <a:endParaRPr lang="ja-JP" altLang="en-US" sz="2000" b="1" dirty="0">
              <a:latin typeface="メイリオ" panose="020B0604030504040204" pitchFamily="50" charset="-128"/>
              <a:ea typeface="メイリオ" panose="020B0604030504040204" pitchFamily="50" charset="-128"/>
            </a:endParaRPr>
          </a:p>
        </p:txBody>
      </p:sp>
      <p:sp>
        <p:nvSpPr>
          <p:cNvPr id="30" name="正方形/長方形 29"/>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0</a:t>
            </a:r>
            <a:endParaRPr lang="ja-JP" altLang="en-US" sz="2000" b="1" dirty="0">
              <a:latin typeface="メイリオ" panose="020B0604030504040204" pitchFamily="50" charset="-128"/>
              <a:ea typeface="メイリオ" panose="020B0604030504040204" pitchFamily="50" charset="-128"/>
            </a:endParaRPr>
          </a:p>
        </p:txBody>
      </p:sp>
      <p:sp>
        <p:nvSpPr>
          <p:cNvPr id="31" name="正方形/長方形 30"/>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rgbClr val="FF0000"/>
                </a:solidFill>
                <a:latin typeface="メイリオ" panose="020B0604030504040204" pitchFamily="50" charset="-128"/>
                <a:ea typeface="メイリオ" panose="020B0604030504040204" pitchFamily="50" charset="-128"/>
              </a:rPr>
              <a:t>5</a:t>
            </a:r>
            <a:endParaRPr lang="ja-JP" altLang="en-US" b="1" dirty="0">
              <a:solidFill>
                <a:srgbClr val="FF0000"/>
              </a:solidFill>
              <a:latin typeface="メイリオ" panose="020B0604030504040204" pitchFamily="50" charset="-128"/>
              <a:ea typeface="メイリオ" panose="020B0604030504040204" pitchFamily="50" charset="-128"/>
            </a:endParaRPr>
          </a:p>
        </p:txBody>
      </p:sp>
      <p:sp>
        <p:nvSpPr>
          <p:cNvPr id="32" name="正方形/長方形 31"/>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3" name="正方形/長方形 32"/>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4" name="正方形/長方形 33"/>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cxnSp>
        <p:nvCxnSpPr>
          <p:cNvPr id="36" name="直線コネクタ 35"/>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直線コネクタ 36"/>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直線コネクタ 37"/>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直線コネクタ 40"/>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3" name="直線コネクタ 42"/>
          <p:cNvCxnSpPr>
            <a:endCxn id="32" idx="0"/>
          </p:cNvCxnSpPr>
          <p:nvPr/>
        </p:nvCxnSpPr>
        <p:spPr bwMode="auto">
          <a:xfrm flipV="1">
            <a:off x="6816008" y="3609003"/>
            <a:ext cx="0" cy="1080013"/>
          </a:xfrm>
          <a:prstGeom prst="line">
            <a:avLst/>
          </a:prstGeom>
          <a:ln w="15875">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6" name="直線コネクタ 45"/>
          <p:cNvCxnSpPr/>
          <p:nvPr/>
        </p:nvCxnSpPr>
        <p:spPr bwMode="auto">
          <a:xfrm flipH="1" flipV="1">
            <a:off x="6816008" y="4689015"/>
            <a:ext cx="540006" cy="1"/>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1" name="直線コネクタ 50"/>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3" name="直線コネクタ 52"/>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0" name="直線コネクタ 39"/>
          <p:cNvCxnSpPr/>
          <p:nvPr/>
        </p:nvCxnSpPr>
        <p:spPr bwMode="auto">
          <a:xfrm>
            <a:off x="7356014" y="4509012"/>
            <a:ext cx="0" cy="36000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4" name="直線コネクタ 43"/>
          <p:cNvCxnSpPr/>
          <p:nvPr/>
        </p:nvCxnSpPr>
        <p:spPr bwMode="auto">
          <a:xfrm flipH="1">
            <a:off x="7356016" y="4599013"/>
            <a:ext cx="720007"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0" name="直線コネクタ 49"/>
          <p:cNvCxnSpPr/>
          <p:nvPr/>
        </p:nvCxnSpPr>
        <p:spPr bwMode="auto">
          <a:xfrm flipV="1">
            <a:off x="8346025" y="4779016"/>
            <a:ext cx="0" cy="810009"/>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2" name="直線コネクタ 51"/>
          <p:cNvCxnSpPr/>
          <p:nvPr/>
        </p:nvCxnSpPr>
        <p:spPr bwMode="auto">
          <a:xfrm flipH="1">
            <a:off x="8346026" y="5589024"/>
            <a:ext cx="1350014" cy="0"/>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4" name="直線コネクタ 53"/>
          <p:cNvCxnSpPr/>
          <p:nvPr/>
        </p:nvCxnSpPr>
        <p:spPr bwMode="auto">
          <a:xfrm flipV="1">
            <a:off x="9696040" y="4689014"/>
            <a:ext cx="0" cy="900010"/>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2" name="直線コネクタ 61"/>
          <p:cNvCxnSpPr/>
          <p:nvPr/>
        </p:nvCxnSpPr>
        <p:spPr bwMode="auto">
          <a:xfrm flipH="1">
            <a:off x="7356015" y="4779016"/>
            <a:ext cx="990011" cy="1"/>
          </a:xfrm>
          <a:prstGeom prst="line">
            <a:avLst/>
          </a:prstGeom>
          <a:ln w="15875">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65" name="正方形/長方形 64"/>
          <p:cNvSpPr/>
          <p:nvPr/>
        </p:nvSpPr>
        <p:spPr bwMode="auto">
          <a:xfrm>
            <a:off x="8976032" y="432901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rgbClr val="FF0000"/>
                </a:solidFill>
                <a:latin typeface="メイリオ" panose="020B0604030504040204" pitchFamily="50" charset="-128"/>
                <a:ea typeface="メイリオ" panose="020B0604030504040204" pitchFamily="50" charset="-128"/>
              </a:rPr>
              <a:t>5</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66" name="正方形/長方形 65"/>
          <p:cNvSpPr/>
          <p:nvPr/>
        </p:nvSpPr>
        <p:spPr bwMode="auto">
          <a:xfrm>
            <a:off x="8616028" y="4329010"/>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9</a:t>
            </a:r>
            <a:endParaRPr lang="ja-JP" altLang="en-US" dirty="0">
              <a:latin typeface="メイリオ" panose="020B0604030504040204" pitchFamily="50" charset="-128"/>
              <a:ea typeface="メイリオ" panose="020B0604030504040204" pitchFamily="50" charset="-128"/>
            </a:endParaRPr>
          </a:p>
        </p:txBody>
      </p:sp>
      <p:cxnSp>
        <p:nvCxnSpPr>
          <p:cNvPr id="67" name="曲線コネクタ 66"/>
          <p:cNvCxnSpPr/>
          <p:nvPr/>
        </p:nvCxnSpPr>
        <p:spPr bwMode="auto">
          <a:xfrm flipV="1">
            <a:off x="7986022" y="2168986"/>
            <a:ext cx="630007" cy="180002"/>
          </a:xfrm>
          <a:prstGeom prst="curvedConnector3">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69" name="曲線コネクタ 68"/>
          <p:cNvCxnSpPr>
            <a:stCxn id="28" idx="3"/>
            <a:endCxn id="66" idx="1"/>
          </p:cNvCxnSpPr>
          <p:nvPr/>
        </p:nvCxnSpPr>
        <p:spPr bwMode="auto">
          <a:xfrm>
            <a:off x="6996010" y="2348988"/>
            <a:ext cx="1620018" cy="2160024"/>
          </a:xfrm>
          <a:prstGeom prst="curvedConnector3">
            <a:avLst>
              <a:gd name="adj1" fmla="val 50000"/>
            </a:avLst>
          </a:prstGeom>
          <a:ln w="15875">
            <a:solidFill>
              <a:srgbClr val="FF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1488921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2"/>
            <a:r>
              <a:rPr lang="ja-JP" altLang="en-US" b="1" dirty="0">
                <a:solidFill>
                  <a:schemeClr val="bg1"/>
                </a:solidFill>
                <a:latin typeface="メイリオ" panose="020B0604030504040204" pitchFamily="50" charset="-128"/>
                <a:ea typeface="メイリオ" panose="020B0604030504040204" pitchFamily="50" charset="-128"/>
              </a:rPr>
              <a:t>ストア命令 </a:t>
            </a:r>
            <a:r>
              <a:rPr lang="en-US" altLang="ja-JP" b="1" dirty="0">
                <a:solidFill>
                  <a:schemeClr val="bg1"/>
                </a:solidFill>
                <a:latin typeface="メイリオ" panose="020B0604030504040204" pitchFamily="50" charset="-128"/>
                <a:ea typeface="メイリオ" panose="020B0604030504040204" pitchFamily="50" charset="-128"/>
              </a:rPr>
              <a:t>(</a:t>
            </a:r>
            <a:r>
              <a:rPr lang="en-US" altLang="ja-JP" b="1" dirty="0" err="1">
                <a:solidFill>
                  <a:schemeClr val="bg1"/>
                </a:solidFill>
                <a:latin typeface="メイリオ" panose="020B0604030504040204" pitchFamily="50" charset="-128"/>
                <a:ea typeface="メイリオ" panose="020B0604030504040204" pitchFamily="50" charset="-128"/>
              </a:rPr>
              <a:t>st</a:t>
            </a:r>
            <a:r>
              <a:rPr lang="en-US" altLang="ja-JP" b="1" dirty="0">
                <a:solidFill>
                  <a:schemeClr val="bg1"/>
                </a:solidFill>
                <a:latin typeface="メイリオ" panose="020B0604030504040204" pitchFamily="50" charset="-128"/>
                <a:ea typeface="メイリオ" panose="020B0604030504040204" pitchFamily="50" charset="-128"/>
              </a:rPr>
              <a:t>: store)</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3" name="コンテンツ プレースホルダー 2"/>
          <p:cNvSpPr>
            <a:spLocks noGrp="1"/>
          </p:cNvSpPr>
          <p:nvPr>
            <p:ph type="body" sz="quarter" idx="10"/>
          </p:nvPr>
        </p:nvSpPr>
        <p:spPr>
          <a:xfrm>
            <a:off x="1865954" y="1676400"/>
            <a:ext cx="4950054" cy="4903788"/>
          </a:xfrm>
          <a:prstGeom prst="rect">
            <a:avLst/>
          </a:prstGeom>
        </p:spPr>
        <p:txBody>
          <a:bodyPr/>
          <a:lstStyle/>
          <a:p>
            <a:r>
              <a:rPr lang="en-US" altLang="ja-JP" dirty="0" err="1">
                <a:latin typeface="Consolas" panose="020B0609020204030204" pitchFamily="49" charset="0"/>
              </a:rPr>
              <a:t>st</a:t>
            </a:r>
            <a:r>
              <a:rPr lang="en-US" altLang="ja-JP" dirty="0">
                <a:latin typeface="Consolas" panose="020B0609020204030204" pitchFamily="49" charset="0"/>
              </a:rPr>
              <a:t> D </a:t>
            </a:r>
            <a:r>
              <a:rPr lang="ja-JP" altLang="en-US" dirty="0">
                <a:latin typeface="Consolas" panose="020B0609020204030204" pitchFamily="49" charset="0"/>
              </a:rPr>
              <a:t>→ </a:t>
            </a:r>
            <a:r>
              <a:rPr lang="en-US" altLang="ja-JP" dirty="0">
                <a:latin typeface="Consolas" panose="020B0609020204030204" pitchFamily="49" charset="0"/>
              </a:rPr>
              <a:t>(A)</a:t>
            </a:r>
          </a:p>
          <a:p>
            <a:pPr lvl="1"/>
            <a:r>
              <a:rPr kumimoji="1" lang="en-US" altLang="ja-JP" dirty="0">
                <a:latin typeface="Consolas" panose="020B0609020204030204" pitchFamily="49" charset="0"/>
              </a:rPr>
              <a:t>A </a:t>
            </a:r>
            <a:r>
              <a:rPr kumimoji="1" lang="ja-JP" altLang="en-US" dirty="0">
                <a:latin typeface="Consolas" panose="020B0609020204030204" pitchFamily="49" charset="0"/>
              </a:rPr>
              <a:t>の中が指しているメモリの</a:t>
            </a:r>
            <a:br>
              <a:rPr kumimoji="1" lang="en-US" altLang="ja-JP" dirty="0">
                <a:latin typeface="Consolas" panose="020B0609020204030204" pitchFamily="49" charset="0"/>
              </a:rPr>
            </a:br>
            <a:r>
              <a:rPr kumimoji="1" lang="ja-JP" altLang="en-US" dirty="0">
                <a:latin typeface="Consolas" panose="020B0609020204030204" pitchFamily="49" charset="0"/>
              </a:rPr>
              <a:t>場所に </a:t>
            </a:r>
            <a:r>
              <a:rPr kumimoji="1" lang="en-US" altLang="ja-JP" dirty="0">
                <a:latin typeface="Consolas" panose="020B0609020204030204" pitchFamily="49" charset="0"/>
              </a:rPr>
              <a:t>D </a:t>
            </a:r>
            <a:r>
              <a:rPr kumimoji="1" lang="ja-JP" altLang="en-US" dirty="0">
                <a:latin typeface="Consolas" panose="020B0609020204030204" pitchFamily="49" charset="0"/>
              </a:rPr>
              <a:t>を書き込む</a:t>
            </a:r>
            <a:endParaRPr kumimoji="1" lang="en-US" altLang="ja-JP" dirty="0">
              <a:latin typeface="Consolas" panose="020B0609020204030204" pitchFamily="49" charset="0"/>
            </a:endParaRPr>
          </a:p>
          <a:p>
            <a:pPr marL="457200" indent="-457200">
              <a:buFont typeface="+mj-lt"/>
              <a:buAutoNum type="arabicPeriod"/>
            </a:pPr>
            <a:r>
              <a:rPr kumimoji="1" lang="en-US" altLang="ja-JP" dirty="0"/>
              <a:t>A </a:t>
            </a:r>
            <a:r>
              <a:rPr lang="ja-JP" altLang="en-US" dirty="0"/>
              <a:t>の中身で</a:t>
            </a:r>
            <a:r>
              <a:rPr kumimoji="1" lang="ja-JP" altLang="en-US" dirty="0"/>
              <a:t>あるアドレス９に，</a:t>
            </a:r>
            <a:br>
              <a:rPr kumimoji="1" lang="en-US" altLang="ja-JP" dirty="0"/>
            </a:br>
            <a:r>
              <a:rPr kumimoji="1" lang="en-US" altLang="ja-JP" dirty="0"/>
              <a:t>D </a:t>
            </a:r>
            <a:r>
              <a:rPr kumimoji="1" lang="ja-JP" altLang="en-US" dirty="0"/>
              <a:t>の中身 </a:t>
            </a:r>
            <a:r>
              <a:rPr kumimoji="1" lang="en-US" altLang="ja-JP" dirty="0"/>
              <a:t>5 </a:t>
            </a:r>
            <a:r>
              <a:rPr kumimoji="1" lang="ja-JP" altLang="en-US" dirty="0"/>
              <a:t>を書き込む</a:t>
            </a:r>
          </a:p>
        </p:txBody>
      </p:sp>
      <p:sp>
        <p:nvSpPr>
          <p:cNvPr id="5" name="正方形/長方形 4"/>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1" name="フローチャート: 手作業 10"/>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12" name="正方形/長方形 11"/>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5" name="正方形/長方形 14"/>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18" name="正方形/長方形 17"/>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err="1">
                <a:latin typeface="Consolas" panose="020B0609020204030204" pitchFamily="49" charset="0"/>
              </a:rPr>
              <a:t>st</a:t>
            </a:r>
            <a:r>
              <a:rPr lang="en-US" altLang="ja-JP" dirty="0">
                <a:latin typeface="Consolas" panose="020B0609020204030204" pitchFamily="49" charset="0"/>
              </a:rPr>
              <a:t> D </a:t>
            </a:r>
            <a:r>
              <a:rPr lang="ja-JP" altLang="en-US" dirty="0">
                <a:latin typeface="Consolas" panose="020B0609020204030204" pitchFamily="49" charset="0"/>
              </a:rPr>
              <a:t>→ </a:t>
            </a:r>
            <a:r>
              <a:rPr lang="en-US" altLang="ja-JP" dirty="0">
                <a:latin typeface="Consolas" panose="020B0609020204030204" pitchFamily="49" charset="0"/>
              </a:rPr>
              <a:t>(A)</a:t>
            </a:r>
            <a:endParaRPr lang="ja-JP" altLang="en-US" dirty="0"/>
          </a:p>
          <a:p>
            <a:pPr algn="ctr"/>
            <a:endParaRPr lang="ja-JP" altLang="en-US" dirty="0">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1" name="正方形/長方形 20"/>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2" name="正方形/長方形 21"/>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25" name="正方形/長方形 24"/>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26" name="正方形/長方形 25"/>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27" name="正方形/長方形 26"/>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28" name="正方形/長方形 27"/>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solidFill>
                  <a:srgbClr val="FF0000"/>
                </a:solidFill>
                <a:latin typeface="メイリオ" panose="020B0604030504040204" pitchFamily="50" charset="-128"/>
                <a:ea typeface="メイリオ" panose="020B0604030504040204" pitchFamily="50" charset="-128"/>
              </a:rPr>
              <a:t>9</a:t>
            </a:r>
            <a:endParaRPr lang="ja-JP" altLang="en-US" sz="2000" b="1" dirty="0">
              <a:solidFill>
                <a:srgbClr val="FF0000"/>
              </a:solidFill>
              <a:latin typeface="メイリオ" panose="020B0604030504040204" pitchFamily="50" charset="-128"/>
              <a:ea typeface="メイリオ" panose="020B0604030504040204" pitchFamily="50" charset="-128"/>
            </a:endParaRPr>
          </a:p>
        </p:txBody>
      </p:sp>
      <p:sp>
        <p:nvSpPr>
          <p:cNvPr id="29" name="正方形/長方形 28"/>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0</a:t>
            </a:r>
            <a:endParaRPr lang="ja-JP" altLang="en-US" sz="2000" b="1" dirty="0">
              <a:latin typeface="メイリオ" panose="020B0604030504040204" pitchFamily="50" charset="-128"/>
              <a:ea typeface="メイリオ" panose="020B0604030504040204" pitchFamily="50" charset="-128"/>
            </a:endParaRPr>
          </a:p>
        </p:txBody>
      </p:sp>
      <p:sp>
        <p:nvSpPr>
          <p:cNvPr id="30" name="正方形/長方形 29"/>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0</a:t>
            </a:r>
            <a:endParaRPr lang="ja-JP" altLang="en-US" sz="2000" b="1" dirty="0">
              <a:latin typeface="メイリオ" panose="020B0604030504040204" pitchFamily="50" charset="-128"/>
              <a:ea typeface="メイリオ" panose="020B0604030504040204" pitchFamily="50" charset="-128"/>
            </a:endParaRPr>
          </a:p>
        </p:txBody>
      </p:sp>
      <p:sp>
        <p:nvSpPr>
          <p:cNvPr id="31" name="正方形/長方形 30"/>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rgbClr val="FF0000"/>
                </a:solidFill>
                <a:latin typeface="メイリオ" panose="020B0604030504040204" pitchFamily="50" charset="-128"/>
                <a:ea typeface="メイリオ" panose="020B0604030504040204" pitchFamily="50" charset="-128"/>
              </a:rPr>
              <a:t>3</a:t>
            </a:r>
            <a:endParaRPr lang="ja-JP" altLang="en-US" b="1" dirty="0">
              <a:solidFill>
                <a:srgbClr val="FF0000"/>
              </a:solidFill>
              <a:latin typeface="メイリオ" panose="020B0604030504040204" pitchFamily="50" charset="-128"/>
              <a:ea typeface="メイリオ" panose="020B0604030504040204" pitchFamily="50" charset="-128"/>
            </a:endParaRPr>
          </a:p>
        </p:txBody>
      </p:sp>
      <p:sp>
        <p:nvSpPr>
          <p:cNvPr id="32" name="正方形/長方形 31"/>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3" name="正方形/長方形 32"/>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4" name="正方形/長方形 33"/>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cxnSp>
        <p:nvCxnSpPr>
          <p:cNvPr id="36" name="直線コネクタ 35"/>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直線コネクタ 36"/>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直線コネクタ 37"/>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直線コネクタ 40"/>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3" name="直線コネクタ 42"/>
          <p:cNvCxnSpPr/>
          <p:nvPr/>
        </p:nvCxnSpPr>
        <p:spPr bwMode="auto">
          <a:xfrm flipV="1">
            <a:off x="6816008" y="4329010"/>
            <a:ext cx="0" cy="360006"/>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6" name="直線コネクタ 45"/>
          <p:cNvCxnSpPr/>
          <p:nvPr/>
        </p:nvCxnSpPr>
        <p:spPr bwMode="auto">
          <a:xfrm flipH="1" flipV="1">
            <a:off x="6816008" y="4689015"/>
            <a:ext cx="540006" cy="1"/>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1" name="直線コネクタ 50"/>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3" name="直線コネクタ 52"/>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0" name="直線コネクタ 39"/>
          <p:cNvCxnSpPr/>
          <p:nvPr/>
        </p:nvCxnSpPr>
        <p:spPr bwMode="auto">
          <a:xfrm>
            <a:off x="7356014" y="4509012"/>
            <a:ext cx="0" cy="36000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4" name="直線コネクタ 43"/>
          <p:cNvCxnSpPr/>
          <p:nvPr/>
        </p:nvCxnSpPr>
        <p:spPr bwMode="auto">
          <a:xfrm flipH="1">
            <a:off x="7356016" y="4599013"/>
            <a:ext cx="720007"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2" name="直線コネクタ 61"/>
          <p:cNvCxnSpPr/>
          <p:nvPr/>
        </p:nvCxnSpPr>
        <p:spPr bwMode="auto">
          <a:xfrm flipH="1">
            <a:off x="7356015" y="4779016"/>
            <a:ext cx="990011" cy="1"/>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65" name="正方形/長方形 64"/>
          <p:cNvSpPr/>
          <p:nvPr/>
        </p:nvSpPr>
        <p:spPr bwMode="auto">
          <a:xfrm>
            <a:off x="8976032" y="432901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rgbClr val="FF0000"/>
                </a:solidFill>
                <a:latin typeface="メイリオ" panose="020B0604030504040204" pitchFamily="50" charset="-128"/>
                <a:ea typeface="メイリオ" panose="020B0604030504040204" pitchFamily="50" charset="-128"/>
              </a:rPr>
              <a:t>3</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66" name="正方形/長方形 65"/>
          <p:cNvSpPr/>
          <p:nvPr/>
        </p:nvSpPr>
        <p:spPr bwMode="auto">
          <a:xfrm>
            <a:off x="8616028" y="4329010"/>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9</a:t>
            </a:r>
            <a:endParaRPr lang="ja-JP" altLang="en-US" dirty="0">
              <a:latin typeface="メイリオ" panose="020B0604030504040204" pitchFamily="50" charset="-128"/>
              <a:ea typeface="メイリオ" panose="020B0604030504040204" pitchFamily="50" charset="-128"/>
            </a:endParaRPr>
          </a:p>
        </p:txBody>
      </p:sp>
      <p:cxnSp>
        <p:nvCxnSpPr>
          <p:cNvPr id="67" name="曲線コネクタ 66"/>
          <p:cNvCxnSpPr/>
          <p:nvPr/>
        </p:nvCxnSpPr>
        <p:spPr bwMode="auto">
          <a:xfrm flipV="1">
            <a:off x="7986022" y="2168986"/>
            <a:ext cx="630007" cy="180002"/>
          </a:xfrm>
          <a:prstGeom prst="curvedConnector3">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69" name="曲線コネクタ 68"/>
          <p:cNvCxnSpPr>
            <a:stCxn id="28" idx="3"/>
            <a:endCxn id="66" idx="1"/>
          </p:cNvCxnSpPr>
          <p:nvPr/>
        </p:nvCxnSpPr>
        <p:spPr bwMode="auto">
          <a:xfrm>
            <a:off x="6996010" y="2348988"/>
            <a:ext cx="1620018" cy="2160024"/>
          </a:xfrm>
          <a:prstGeom prst="curvedConnector3">
            <a:avLst>
              <a:gd name="adj1" fmla="val 50000"/>
            </a:avLst>
          </a:prstGeom>
          <a:ln w="15875">
            <a:solidFill>
              <a:srgbClr val="FF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47" name="曲線コネクタ 46"/>
          <p:cNvCxnSpPr>
            <a:endCxn id="65" idx="2"/>
          </p:cNvCxnSpPr>
          <p:nvPr/>
        </p:nvCxnSpPr>
        <p:spPr bwMode="auto">
          <a:xfrm>
            <a:off x="6996010" y="3429000"/>
            <a:ext cx="2700030" cy="1260014"/>
          </a:xfrm>
          <a:prstGeom prst="curvedConnector4">
            <a:avLst>
              <a:gd name="adj1" fmla="val 20910"/>
              <a:gd name="adj2" fmla="val 148381"/>
            </a:avLst>
          </a:prstGeom>
          <a:ln w="15875">
            <a:solidFill>
              <a:srgbClr val="FF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464110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制御命令</a:t>
            </a:r>
            <a:endParaRPr lang="en-US" altLang="ja-JP" dirty="0"/>
          </a:p>
        </p:txBody>
      </p:sp>
      <p:sp>
        <p:nvSpPr>
          <p:cNvPr id="3" name="テキスト プレースホルダー 2"/>
          <p:cNvSpPr>
            <a:spLocks noGrp="1"/>
          </p:cNvSpPr>
          <p:nvPr>
            <p:ph type="body" sz="quarter" idx="10"/>
          </p:nvPr>
        </p:nvSpPr>
        <p:spPr/>
        <p:txBody>
          <a:bodyPr/>
          <a:lstStyle/>
          <a:p>
            <a:r>
              <a:rPr kumimoji="1" lang="ja-JP" altLang="en-US" dirty="0"/>
              <a:t>制御：</a:t>
            </a:r>
            <a:endParaRPr lang="en-US" altLang="ja-JP" dirty="0"/>
          </a:p>
          <a:p>
            <a:pPr lvl="1"/>
            <a:r>
              <a:rPr kumimoji="1" lang="en-US" altLang="ja-JP" dirty="0"/>
              <a:t>PC </a:t>
            </a:r>
            <a:r>
              <a:rPr kumimoji="1" lang="ja-JP" altLang="en-US" dirty="0"/>
              <a:t>を </a:t>
            </a:r>
            <a:r>
              <a:rPr kumimoji="1" lang="en-US" altLang="ja-JP" dirty="0"/>
              <a:t>+1 </a:t>
            </a:r>
            <a:r>
              <a:rPr kumimoji="1" lang="ja-JP" altLang="en-US" dirty="0"/>
              <a:t>するかわりに，任意の値に書き換えること</a:t>
            </a:r>
            <a:endParaRPr kumimoji="1" lang="en-US" altLang="ja-JP" dirty="0"/>
          </a:p>
          <a:p>
            <a:pPr lvl="1"/>
            <a:endParaRPr kumimoji="1" lang="en-US" altLang="ja-JP" dirty="0"/>
          </a:p>
          <a:p>
            <a:pPr marL="457200" indent="-457200">
              <a:buFont typeface="+mj-lt"/>
              <a:buAutoNum type="arabicPeriod"/>
            </a:pPr>
            <a:r>
              <a:rPr kumimoji="1" lang="ja-JP" altLang="en-US" dirty="0"/>
              <a:t>ジャンプ命令</a:t>
            </a:r>
            <a:endParaRPr kumimoji="1" lang="en-US" altLang="ja-JP" dirty="0"/>
          </a:p>
          <a:p>
            <a:pPr lvl="1"/>
            <a:r>
              <a:rPr kumimoji="1" lang="ja-JP" altLang="en-US" dirty="0"/>
              <a:t>プログラムの任意の場所に移動する</a:t>
            </a:r>
            <a:endParaRPr kumimoji="1" lang="en-US" altLang="ja-JP" dirty="0"/>
          </a:p>
          <a:p>
            <a:pPr marL="457200" indent="-457200">
              <a:buFont typeface="+mj-lt"/>
              <a:buAutoNum type="arabicPeriod"/>
            </a:pPr>
            <a:r>
              <a:rPr lang="ja-JP" altLang="en-US" dirty="0"/>
              <a:t>分岐命令</a:t>
            </a:r>
            <a:r>
              <a:rPr lang="en-US" altLang="ja-JP" dirty="0"/>
              <a:t>	</a:t>
            </a:r>
          </a:p>
          <a:p>
            <a:pPr lvl="1"/>
            <a:r>
              <a:rPr kumimoji="1" lang="ja-JP" altLang="en-US" dirty="0"/>
              <a:t>条件に応じて，プログラムの任意の場所に移動する</a:t>
            </a:r>
          </a:p>
        </p:txBody>
      </p:sp>
    </p:spTree>
    <p:extLst>
      <p:ext uri="{BB962C8B-B14F-4D97-AF65-F5344CB8AC3E}">
        <p14:creationId xmlns:p14="http://schemas.microsoft.com/office/powerpoint/2010/main" val="27962831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2"/>
            <a:r>
              <a:rPr lang="ja-JP" altLang="en-US" b="1" dirty="0">
                <a:solidFill>
                  <a:schemeClr val="bg1"/>
                </a:solidFill>
                <a:latin typeface="メイリオ" panose="020B0604030504040204" pitchFamily="50" charset="-128"/>
                <a:ea typeface="メイリオ" panose="020B0604030504040204" pitchFamily="50" charset="-128"/>
              </a:rPr>
              <a:t>ジャンプ命令 </a:t>
            </a:r>
            <a:r>
              <a:rPr lang="en-US" altLang="ja-JP" b="1" dirty="0">
                <a:solidFill>
                  <a:schemeClr val="bg1"/>
                </a:solidFill>
                <a:latin typeface="メイリオ" panose="020B0604030504040204" pitchFamily="50" charset="-128"/>
                <a:ea typeface="メイリオ" panose="020B0604030504040204" pitchFamily="50" charset="-128"/>
              </a:rPr>
              <a:t>(j: jump)</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3" name="コンテンツ プレースホルダー 2"/>
          <p:cNvSpPr>
            <a:spLocks noGrp="1"/>
          </p:cNvSpPr>
          <p:nvPr>
            <p:ph type="body" sz="quarter" idx="10"/>
          </p:nvPr>
        </p:nvSpPr>
        <p:spPr>
          <a:xfrm>
            <a:off x="1685951" y="1676400"/>
            <a:ext cx="4950054" cy="4903788"/>
          </a:xfrm>
          <a:prstGeom prst="rect">
            <a:avLst/>
          </a:prstGeom>
        </p:spPr>
        <p:txBody>
          <a:bodyPr/>
          <a:lstStyle/>
          <a:p>
            <a:r>
              <a:rPr lang="en-US" altLang="ja-JP" dirty="0">
                <a:solidFill>
                  <a:schemeClr val="accent5"/>
                </a:solidFill>
                <a:latin typeface="Consolas" panose="020B0609020204030204" pitchFamily="49" charset="0"/>
              </a:rPr>
              <a:t>j</a:t>
            </a:r>
            <a:r>
              <a:rPr lang="ja-JP" altLang="en-US" dirty="0">
                <a:solidFill>
                  <a:schemeClr val="accent5"/>
                </a:solidFill>
                <a:latin typeface="Consolas" panose="020B0609020204030204" pitchFamily="49" charset="0"/>
              </a:rPr>
              <a:t> </a:t>
            </a:r>
            <a:r>
              <a:rPr lang="en-US" altLang="ja-JP" dirty="0">
                <a:solidFill>
                  <a:schemeClr val="accent5"/>
                </a:solidFill>
                <a:latin typeface="Consolas" panose="020B0609020204030204" pitchFamily="49" charset="0"/>
              </a:rPr>
              <a:t>N </a:t>
            </a:r>
          </a:p>
          <a:p>
            <a:pPr lvl="1"/>
            <a:r>
              <a:rPr lang="en-US" altLang="ja-JP" dirty="0">
                <a:latin typeface="Consolas" panose="020B0609020204030204" pitchFamily="49" charset="0"/>
              </a:rPr>
              <a:t>(N </a:t>
            </a:r>
            <a:r>
              <a:rPr lang="ja-JP" altLang="en-US" dirty="0">
                <a:latin typeface="Consolas" panose="020B0609020204030204" pitchFamily="49" charset="0"/>
              </a:rPr>
              <a:t>は任意の数字</a:t>
            </a:r>
            <a:r>
              <a:rPr lang="en-US" altLang="ja-JP" dirty="0">
                <a:latin typeface="Consolas" panose="020B0609020204030204" pitchFamily="49" charset="0"/>
              </a:rPr>
              <a:t>)</a:t>
            </a:r>
          </a:p>
          <a:p>
            <a:pPr lvl="1"/>
            <a:r>
              <a:rPr kumimoji="1" lang="en-US" altLang="ja-JP" dirty="0">
                <a:latin typeface="Consolas" panose="020B0609020204030204" pitchFamily="49" charset="0"/>
              </a:rPr>
              <a:t>PC </a:t>
            </a:r>
            <a:r>
              <a:rPr kumimoji="1" lang="ja-JP" altLang="en-US" dirty="0">
                <a:latin typeface="Consolas" panose="020B0609020204030204" pitchFamily="49" charset="0"/>
              </a:rPr>
              <a:t>を </a:t>
            </a:r>
            <a:r>
              <a:rPr kumimoji="1" lang="en-US" altLang="ja-JP" dirty="0">
                <a:latin typeface="Consolas" panose="020B0609020204030204" pitchFamily="49" charset="0"/>
              </a:rPr>
              <a:t>N </a:t>
            </a:r>
            <a:r>
              <a:rPr kumimoji="1" lang="ja-JP" altLang="en-US" dirty="0">
                <a:latin typeface="Consolas" panose="020B0609020204030204" pitchFamily="49" charset="0"/>
              </a:rPr>
              <a:t>に書き換える</a:t>
            </a:r>
            <a:endParaRPr kumimoji="1" lang="en-US" altLang="ja-JP" dirty="0">
              <a:latin typeface="Consolas" panose="020B0609020204030204" pitchFamily="49" charset="0"/>
            </a:endParaRPr>
          </a:p>
          <a:p>
            <a:pPr lvl="1"/>
            <a:r>
              <a:rPr kumimoji="1" lang="ja-JP" altLang="en-US" dirty="0">
                <a:latin typeface="Consolas" panose="020B0609020204030204" pitchFamily="49" charset="0"/>
              </a:rPr>
              <a:t>次はアドレス </a:t>
            </a:r>
            <a:r>
              <a:rPr kumimoji="1" lang="en-US" altLang="ja-JP" dirty="0">
                <a:latin typeface="Consolas" panose="020B0609020204030204" pitchFamily="49" charset="0"/>
              </a:rPr>
              <a:t>N </a:t>
            </a:r>
            <a:r>
              <a:rPr kumimoji="1" lang="ja-JP" altLang="en-US" dirty="0">
                <a:latin typeface="Consolas" panose="020B0609020204030204" pitchFamily="49" charset="0"/>
              </a:rPr>
              <a:t>にある</a:t>
            </a:r>
            <a:br>
              <a:rPr kumimoji="1" lang="en-US" altLang="ja-JP" dirty="0">
                <a:latin typeface="Consolas" panose="020B0609020204030204" pitchFamily="49" charset="0"/>
              </a:rPr>
            </a:br>
            <a:r>
              <a:rPr kumimoji="1" lang="ja-JP" altLang="en-US" dirty="0">
                <a:latin typeface="Consolas" panose="020B0609020204030204" pitchFamily="49" charset="0"/>
              </a:rPr>
              <a:t>命令が実行される</a:t>
            </a:r>
            <a:endParaRPr kumimoji="1" lang="en-US" altLang="ja-JP" dirty="0">
              <a:latin typeface="Consolas" panose="020B0609020204030204" pitchFamily="49" charset="0"/>
            </a:endParaRPr>
          </a:p>
          <a:p>
            <a:r>
              <a:rPr kumimoji="1" lang="ja-JP" altLang="en-US" dirty="0">
                <a:latin typeface="Consolas" panose="020B0609020204030204" pitchFamily="49" charset="0"/>
              </a:rPr>
              <a:t>動作例</a:t>
            </a:r>
            <a:endParaRPr kumimoji="1" lang="en-US" altLang="ja-JP" dirty="0">
              <a:latin typeface="Consolas" panose="020B0609020204030204" pitchFamily="49" charset="0"/>
            </a:endParaRPr>
          </a:p>
          <a:p>
            <a:pPr marL="817200" lvl="1" indent="-457200">
              <a:buFont typeface="+mj-lt"/>
              <a:buAutoNum type="arabicPeriod"/>
            </a:pPr>
            <a:r>
              <a:rPr kumimoji="1" lang="en-US" altLang="ja-JP" dirty="0">
                <a:latin typeface="Consolas" panose="020B0609020204030204" pitchFamily="49" charset="0"/>
              </a:rPr>
              <a:t>j 3 </a:t>
            </a:r>
            <a:r>
              <a:rPr kumimoji="1" lang="ja-JP" altLang="en-US" dirty="0">
                <a:latin typeface="Consolas" panose="020B0609020204030204" pitchFamily="49" charset="0"/>
              </a:rPr>
              <a:t>をフェッチ</a:t>
            </a:r>
            <a:endParaRPr kumimoji="1" lang="en-US" altLang="ja-JP" dirty="0">
              <a:latin typeface="Consolas" panose="020B0609020204030204" pitchFamily="49" charset="0"/>
            </a:endParaRPr>
          </a:p>
          <a:p>
            <a:pPr marL="817200" lvl="1" indent="-457200">
              <a:buFont typeface="+mj-lt"/>
              <a:buAutoNum type="arabicPeriod"/>
            </a:pPr>
            <a:r>
              <a:rPr lang="en-US" altLang="ja-JP" dirty="0">
                <a:latin typeface="Consolas" panose="020B0609020204030204" pitchFamily="49" charset="0"/>
              </a:rPr>
              <a:t>PC </a:t>
            </a:r>
            <a:r>
              <a:rPr lang="ja-JP" altLang="en-US" dirty="0">
                <a:latin typeface="Consolas" panose="020B0609020204030204" pitchFamily="49" charset="0"/>
              </a:rPr>
              <a:t>を </a:t>
            </a:r>
            <a:r>
              <a:rPr lang="en-US" altLang="ja-JP" dirty="0">
                <a:latin typeface="Consolas" panose="020B0609020204030204" pitchFamily="49" charset="0"/>
              </a:rPr>
              <a:t>3 </a:t>
            </a:r>
            <a:r>
              <a:rPr lang="ja-JP" altLang="en-US" dirty="0">
                <a:latin typeface="Consolas" panose="020B0609020204030204" pitchFamily="49" charset="0"/>
              </a:rPr>
              <a:t>に書き換える</a:t>
            </a:r>
            <a:endParaRPr lang="en-US" altLang="ja-JP" dirty="0">
              <a:latin typeface="Consolas" panose="020B0609020204030204" pitchFamily="49" charset="0"/>
            </a:endParaRPr>
          </a:p>
          <a:p>
            <a:pPr marL="817200" lvl="1" indent="-457200">
              <a:buFont typeface="+mj-lt"/>
              <a:buAutoNum type="arabicPeriod"/>
            </a:pPr>
            <a:r>
              <a:rPr kumimoji="1" lang="ja-JP" altLang="en-US" dirty="0">
                <a:latin typeface="Consolas" panose="020B0609020204030204" pitchFamily="49" charset="0"/>
              </a:rPr>
              <a:t>アドレス </a:t>
            </a:r>
            <a:r>
              <a:rPr kumimoji="1" lang="en-US" altLang="ja-JP" dirty="0">
                <a:latin typeface="Consolas" panose="020B0609020204030204" pitchFamily="49" charset="0"/>
              </a:rPr>
              <a:t>3 </a:t>
            </a:r>
            <a:r>
              <a:rPr kumimoji="1" lang="ja-JP" altLang="en-US" dirty="0">
                <a:latin typeface="Consolas" panose="020B0609020204030204" pitchFamily="49" charset="0"/>
              </a:rPr>
              <a:t>にある </a:t>
            </a:r>
            <a:r>
              <a:rPr kumimoji="1" lang="en-US" altLang="ja-JP" dirty="0">
                <a:latin typeface="Consolas" panose="020B0609020204030204" pitchFamily="49" charset="0"/>
              </a:rPr>
              <a:t>add </a:t>
            </a:r>
            <a:r>
              <a:rPr kumimoji="1" lang="ja-JP" altLang="en-US" dirty="0">
                <a:latin typeface="Consolas" panose="020B0609020204030204" pitchFamily="49" charset="0"/>
              </a:rPr>
              <a:t>を実行</a:t>
            </a:r>
            <a:endParaRPr kumimoji="1" lang="en-US" altLang="ja-JP" dirty="0">
              <a:latin typeface="Consolas" panose="020B0609020204030204" pitchFamily="49" charset="0"/>
            </a:endParaRPr>
          </a:p>
        </p:txBody>
      </p:sp>
      <p:sp>
        <p:nvSpPr>
          <p:cNvPr id="5" name="正方形/長方形 4"/>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1" name="フローチャート: 手作業 10"/>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12" name="正方形/長方形 11"/>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5" name="正方形/長方形 14"/>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18" name="正方形/長方形 17"/>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rgbClr val="FF0000"/>
                </a:solidFill>
                <a:latin typeface="Consolas" panose="020B0609020204030204" pitchFamily="49" charset="0"/>
              </a:rPr>
              <a:t>j 3</a:t>
            </a:r>
            <a:endParaRPr lang="ja-JP" altLang="en-US" dirty="0">
              <a:solidFill>
                <a:srgbClr val="FF0000"/>
              </a:solidFill>
            </a:endParaRPr>
          </a:p>
          <a:p>
            <a:pPr algn="ctr"/>
            <a:endParaRPr lang="ja-JP" altLang="en-US" dirty="0">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1" name="正方形/長方形 20"/>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rgbClr val="FF0000"/>
                </a:solidFill>
                <a:latin typeface="メイリオ" panose="020B0604030504040204" pitchFamily="50" charset="-128"/>
                <a:ea typeface="メイリオ" panose="020B0604030504040204" pitchFamily="50" charset="-128"/>
              </a:rPr>
              <a:t>add ...</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22" name="正方形/長方形 21"/>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25" name="正方形/長方形 24"/>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26" name="正方形/長方形 25"/>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27" name="正方形/長方形 26"/>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solidFill>
                  <a:srgbClr val="FF0000"/>
                </a:solidFill>
                <a:latin typeface="メイリオ" panose="020B0604030504040204" pitchFamily="50" charset="-128"/>
                <a:ea typeface="メイリオ" panose="020B0604030504040204" pitchFamily="50" charset="-128"/>
              </a:rPr>
              <a:t>3:</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28" name="正方形/長方形 27"/>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2000" b="1" dirty="0">
                <a:solidFill>
                  <a:schemeClr val="bg1"/>
                </a:solidFill>
                <a:latin typeface="メイリオ" panose="020B0604030504040204" pitchFamily="50" charset="-128"/>
                <a:ea typeface="メイリオ" panose="020B0604030504040204" pitchFamily="50" charset="-128"/>
              </a:rPr>
              <a:t>０</a:t>
            </a:r>
          </a:p>
        </p:txBody>
      </p:sp>
      <p:sp>
        <p:nvSpPr>
          <p:cNvPr id="29" name="正方形/長方形 28"/>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0</a:t>
            </a:r>
            <a:endParaRPr lang="ja-JP" altLang="en-US" sz="2000" b="1" dirty="0">
              <a:latin typeface="メイリオ" panose="020B0604030504040204" pitchFamily="50" charset="-128"/>
              <a:ea typeface="メイリオ" panose="020B0604030504040204" pitchFamily="50" charset="-128"/>
            </a:endParaRPr>
          </a:p>
        </p:txBody>
      </p:sp>
      <p:sp>
        <p:nvSpPr>
          <p:cNvPr id="30" name="正方形/長方形 29"/>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0</a:t>
            </a:r>
            <a:endParaRPr lang="ja-JP" altLang="en-US" sz="2000" b="1" dirty="0">
              <a:latin typeface="メイリオ" panose="020B0604030504040204" pitchFamily="50" charset="-128"/>
              <a:ea typeface="メイリオ" panose="020B0604030504040204" pitchFamily="50" charset="-128"/>
            </a:endParaRPr>
          </a:p>
        </p:txBody>
      </p:sp>
      <p:sp>
        <p:nvSpPr>
          <p:cNvPr id="31" name="正方形/長方形 30"/>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bg1"/>
                </a:solidFill>
                <a:latin typeface="メイリオ" panose="020B0604030504040204" pitchFamily="50" charset="-128"/>
                <a:ea typeface="メイリオ" panose="020B0604030504040204" pitchFamily="50" charset="-128"/>
              </a:rPr>
              <a:t>3</a:t>
            </a:r>
            <a:endParaRPr lang="ja-JP" altLang="en-US" b="1" dirty="0">
              <a:solidFill>
                <a:schemeClr val="bg1"/>
              </a:solidFill>
              <a:latin typeface="メイリオ" panose="020B0604030504040204" pitchFamily="50" charset="-128"/>
              <a:ea typeface="メイリオ" panose="020B0604030504040204" pitchFamily="50" charset="-128"/>
            </a:endParaRPr>
          </a:p>
        </p:txBody>
      </p:sp>
      <p:sp>
        <p:nvSpPr>
          <p:cNvPr id="32" name="正方形/長方形 31"/>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3" name="正方形/長方形 32"/>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4" name="正方形/長方形 33"/>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cxnSp>
        <p:nvCxnSpPr>
          <p:cNvPr id="36" name="直線コネクタ 35"/>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直線コネクタ 36"/>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直線コネクタ 37"/>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直線コネクタ 40"/>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3" name="直線コネクタ 42"/>
          <p:cNvCxnSpPr/>
          <p:nvPr/>
        </p:nvCxnSpPr>
        <p:spPr bwMode="auto">
          <a:xfrm flipV="1">
            <a:off x="6816008" y="4329010"/>
            <a:ext cx="0" cy="360006"/>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6" name="直線コネクタ 45"/>
          <p:cNvCxnSpPr/>
          <p:nvPr/>
        </p:nvCxnSpPr>
        <p:spPr bwMode="auto">
          <a:xfrm flipH="1" flipV="1">
            <a:off x="6816008" y="4689015"/>
            <a:ext cx="540006" cy="1"/>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1" name="直線コネクタ 50"/>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3" name="直線コネクタ 52"/>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0" name="直線コネクタ 39"/>
          <p:cNvCxnSpPr/>
          <p:nvPr/>
        </p:nvCxnSpPr>
        <p:spPr bwMode="auto">
          <a:xfrm>
            <a:off x="7356014" y="4509012"/>
            <a:ext cx="0" cy="36000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4" name="直線コネクタ 43"/>
          <p:cNvCxnSpPr/>
          <p:nvPr/>
        </p:nvCxnSpPr>
        <p:spPr bwMode="auto">
          <a:xfrm flipH="1">
            <a:off x="7356016" y="4599013"/>
            <a:ext cx="720007"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2" name="直線コネクタ 61"/>
          <p:cNvCxnSpPr/>
          <p:nvPr/>
        </p:nvCxnSpPr>
        <p:spPr bwMode="auto">
          <a:xfrm flipH="1">
            <a:off x="7356015" y="4779016"/>
            <a:ext cx="990011" cy="1"/>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7" name="曲線コネクタ 66"/>
          <p:cNvCxnSpPr/>
          <p:nvPr/>
        </p:nvCxnSpPr>
        <p:spPr bwMode="auto">
          <a:xfrm flipV="1">
            <a:off x="7986022" y="2168986"/>
            <a:ext cx="630007" cy="180002"/>
          </a:xfrm>
          <a:prstGeom prst="curvedConnector3">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49" name="曲線コネクタ 48"/>
          <p:cNvCxnSpPr/>
          <p:nvPr/>
        </p:nvCxnSpPr>
        <p:spPr bwMode="auto">
          <a:xfrm rot="16200000" flipH="1" flipV="1">
            <a:off x="8801736" y="993268"/>
            <a:ext cx="180002" cy="2171437"/>
          </a:xfrm>
          <a:prstGeom prst="curvedConnector3">
            <a:avLst>
              <a:gd name="adj1" fmla="val -320522"/>
            </a:avLst>
          </a:prstGeom>
          <a:ln w="15875">
            <a:solidFill>
              <a:srgbClr val="FF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45" name="正方形/長方形 44"/>
          <p:cNvSpPr/>
          <p:nvPr/>
        </p:nvSpPr>
        <p:spPr bwMode="auto">
          <a:xfrm>
            <a:off x="7266014" y="998973"/>
            <a:ext cx="3510039"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rgbClr val="FF0000"/>
                </a:solidFill>
                <a:latin typeface="メイリオ" panose="020B0604030504040204" pitchFamily="50" charset="-128"/>
                <a:ea typeface="メイリオ" panose="020B0604030504040204" pitchFamily="50" charset="-128"/>
              </a:rPr>
              <a:t>PC </a:t>
            </a:r>
            <a:r>
              <a:rPr lang="ja-JP" altLang="en-US" dirty="0">
                <a:solidFill>
                  <a:srgbClr val="FF0000"/>
                </a:solidFill>
                <a:latin typeface="メイリオ" panose="020B0604030504040204" pitchFamily="50" charset="-128"/>
                <a:ea typeface="メイリオ" panose="020B0604030504040204" pitchFamily="50" charset="-128"/>
              </a:rPr>
              <a:t>を </a:t>
            </a:r>
            <a:r>
              <a:rPr lang="en-US" altLang="ja-JP" dirty="0">
                <a:solidFill>
                  <a:srgbClr val="FF0000"/>
                </a:solidFill>
                <a:latin typeface="メイリオ" panose="020B0604030504040204" pitchFamily="50" charset="-128"/>
                <a:ea typeface="メイリオ" panose="020B0604030504040204" pitchFamily="50" charset="-128"/>
              </a:rPr>
              <a:t>0 </a:t>
            </a:r>
            <a:r>
              <a:rPr lang="ja-JP" altLang="en-US" dirty="0">
                <a:solidFill>
                  <a:srgbClr val="FF0000"/>
                </a:solidFill>
                <a:latin typeface="メイリオ" panose="020B0604030504040204" pitchFamily="50" charset="-128"/>
                <a:ea typeface="メイリオ" panose="020B0604030504040204" pitchFamily="50" charset="-128"/>
              </a:rPr>
              <a:t>から </a:t>
            </a:r>
            <a:r>
              <a:rPr lang="en-US" altLang="ja-JP" dirty="0">
                <a:solidFill>
                  <a:srgbClr val="FF0000"/>
                </a:solidFill>
                <a:latin typeface="メイリオ" panose="020B0604030504040204" pitchFamily="50" charset="-128"/>
                <a:ea typeface="メイリオ" panose="020B0604030504040204" pitchFamily="50" charset="-128"/>
              </a:rPr>
              <a:t>3 </a:t>
            </a:r>
            <a:r>
              <a:rPr lang="ja-JP" altLang="en-US" dirty="0">
                <a:solidFill>
                  <a:srgbClr val="FF0000"/>
                </a:solidFill>
                <a:latin typeface="メイリオ" panose="020B0604030504040204" pitchFamily="50" charset="-128"/>
                <a:ea typeface="メイリオ" panose="020B0604030504040204" pitchFamily="50" charset="-128"/>
              </a:rPr>
              <a:t>に書き換える</a:t>
            </a:r>
          </a:p>
        </p:txBody>
      </p:sp>
    </p:spTree>
    <p:extLst>
      <p:ext uri="{BB962C8B-B14F-4D97-AF65-F5344CB8AC3E}">
        <p14:creationId xmlns:p14="http://schemas.microsoft.com/office/powerpoint/2010/main" val="3509994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2"/>
            <a:r>
              <a:rPr lang="ja-JP" altLang="en-US" b="1" dirty="0">
                <a:solidFill>
                  <a:schemeClr val="bg1"/>
                </a:solidFill>
                <a:latin typeface="メイリオ" panose="020B0604030504040204" pitchFamily="50" charset="-128"/>
                <a:ea typeface="メイリオ" panose="020B0604030504040204" pitchFamily="50" charset="-128"/>
              </a:rPr>
              <a:t>分岐命令 </a:t>
            </a:r>
            <a:r>
              <a:rPr lang="en-US" altLang="ja-JP" b="1" dirty="0">
                <a:solidFill>
                  <a:schemeClr val="bg1"/>
                </a:solidFill>
                <a:latin typeface="メイリオ" panose="020B0604030504040204" pitchFamily="50" charset="-128"/>
                <a:ea typeface="メイリオ" panose="020B0604030504040204" pitchFamily="50" charset="-128"/>
              </a:rPr>
              <a:t>(b: branch)</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3" name="コンテンツ プレースホルダー 2"/>
          <p:cNvSpPr>
            <a:spLocks noGrp="1"/>
          </p:cNvSpPr>
          <p:nvPr>
            <p:ph type="body" sz="quarter" idx="10"/>
          </p:nvPr>
        </p:nvSpPr>
        <p:spPr>
          <a:xfrm>
            <a:off x="1685951" y="1676400"/>
            <a:ext cx="4950054" cy="4903788"/>
          </a:xfrm>
          <a:prstGeom prst="rect">
            <a:avLst/>
          </a:prstGeom>
        </p:spPr>
        <p:txBody>
          <a:bodyPr/>
          <a:lstStyle/>
          <a:p>
            <a:r>
              <a:rPr lang="en-US" altLang="ja-JP" dirty="0">
                <a:solidFill>
                  <a:schemeClr val="accent5"/>
                </a:solidFill>
                <a:latin typeface="Consolas" panose="020B0609020204030204" pitchFamily="49" charset="0"/>
              </a:rPr>
              <a:t>b</a:t>
            </a:r>
            <a:r>
              <a:rPr lang="ja-JP" altLang="en-US" dirty="0">
                <a:solidFill>
                  <a:schemeClr val="accent5"/>
                </a:solidFill>
                <a:latin typeface="Consolas" panose="020B0609020204030204" pitchFamily="49" charset="0"/>
              </a:rPr>
              <a:t> </a:t>
            </a:r>
            <a:r>
              <a:rPr lang="en-US" altLang="ja-JP" dirty="0">
                <a:solidFill>
                  <a:schemeClr val="accent5"/>
                </a:solidFill>
                <a:latin typeface="Consolas" panose="020B0609020204030204" pitchFamily="49" charset="0"/>
              </a:rPr>
              <a:t>A &lt; B, N</a:t>
            </a:r>
          </a:p>
          <a:p>
            <a:pPr lvl="1"/>
            <a:r>
              <a:rPr kumimoji="1" lang="ja-JP" altLang="en-US" dirty="0">
                <a:latin typeface="Consolas" panose="020B0609020204030204" pitchFamily="49" charset="0"/>
              </a:rPr>
              <a:t>レジスタを２つ読んで，</a:t>
            </a:r>
            <a:br>
              <a:rPr kumimoji="1" lang="en-US" altLang="ja-JP" dirty="0">
                <a:latin typeface="Consolas" panose="020B0609020204030204" pitchFamily="49" charset="0"/>
              </a:rPr>
            </a:br>
            <a:r>
              <a:rPr lang="en-US" altLang="ja-JP" dirty="0">
                <a:latin typeface="Consolas" panose="020B0609020204030204" pitchFamily="49" charset="0"/>
              </a:rPr>
              <a:t>A &lt; B </a:t>
            </a:r>
            <a:r>
              <a:rPr lang="ja-JP" altLang="en-US" dirty="0">
                <a:latin typeface="Consolas" panose="020B0609020204030204" pitchFamily="49" charset="0"/>
              </a:rPr>
              <a:t>なら，</a:t>
            </a:r>
            <a:r>
              <a:rPr lang="en-US" altLang="ja-JP" dirty="0">
                <a:latin typeface="Consolas" panose="020B0609020204030204" pitchFamily="49" charset="0"/>
              </a:rPr>
              <a:t>N </a:t>
            </a:r>
            <a:r>
              <a:rPr lang="ja-JP" altLang="en-US" dirty="0">
                <a:latin typeface="Consolas" panose="020B0609020204030204" pitchFamily="49" charset="0"/>
              </a:rPr>
              <a:t>に飛ぶ</a:t>
            </a:r>
            <a:endParaRPr kumimoji="1" lang="en-US" altLang="ja-JP" dirty="0">
              <a:latin typeface="Consolas" panose="020B0609020204030204" pitchFamily="49" charset="0"/>
            </a:endParaRPr>
          </a:p>
          <a:p>
            <a:r>
              <a:rPr lang="ja-JP" altLang="en-US" dirty="0">
                <a:latin typeface="Consolas" panose="020B0609020204030204" pitchFamily="49" charset="0"/>
              </a:rPr>
              <a:t>動作例</a:t>
            </a:r>
            <a:endParaRPr lang="en-US" altLang="ja-JP" dirty="0">
              <a:latin typeface="Consolas" panose="020B0609020204030204" pitchFamily="49" charset="0"/>
            </a:endParaRPr>
          </a:p>
          <a:p>
            <a:pPr marL="817200" lvl="1" indent="-457200">
              <a:buFont typeface="+mj-lt"/>
              <a:buAutoNum type="arabicPeriod"/>
            </a:pPr>
            <a:r>
              <a:rPr lang="en-US" altLang="ja-JP" dirty="0">
                <a:latin typeface="Consolas" panose="020B0609020204030204" pitchFamily="49" charset="0"/>
              </a:rPr>
              <a:t>A </a:t>
            </a:r>
            <a:r>
              <a:rPr lang="ja-JP" altLang="en-US" dirty="0">
                <a:latin typeface="Consolas" panose="020B0609020204030204" pitchFamily="49" charset="0"/>
              </a:rPr>
              <a:t>にある </a:t>
            </a:r>
            <a:r>
              <a:rPr lang="en-US" altLang="ja-JP" dirty="0">
                <a:latin typeface="Consolas" panose="020B0609020204030204" pitchFamily="49" charset="0"/>
              </a:rPr>
              <a:t>2 </a:t>
            </a:r>
            <a:r>
              <a:rPr lang="ja-JP" altLang="en-US" dirty="0">
                <a:latin typeface="Consolas" panose="020B0609020204030204" pitchFamily="49" charset="0"/>
              </a:rPr>
              <a:t>と </a:t>
            </a:r>
            <a:r>
              <a:rPr lang="en-US" altLang="ja-JP" dirty="0">
                <a:latin typeface="Consolas" panose="020B0609020204030204" pitchFamily="49" charset="0"/>
              </a:rPr>
              <a:t>B </a:t>
            </a:r>
            <a:r>
              <a:rPr lang="ja-JP" altLang="en-US" dirty="0">
                <a:latin typeface="Consolas" panose="020B0609020204030204" pitchFamily="49" charset="0"/>
              </a:rPr>
              <a:t>にある </a:t>
            </a:r>
            <a:r>
              <a:rPr lang="en-US" altLang="ja-JP" dirty="0">
                <a:latin typeface="Consolas" panose="020B0609020204030204" pitchFamily="49" charset="0"/>
              </a:rPr>
              <a:t>4 </a:t>
            </a:r>
            <a:r>
              <a:rPr lang="ja-JP" altLang="en-US" dirty="0">
                <a:latin typeface="Consolas" panose="020B0609020204030204" pitchFamily="49" charset="0"/>
              </a:rPr>
              <a:t>を</a:t>
            </a:r>
            <a:br>
              <a:rPr lang="en-US" altLang="ja-JP" dirty="0">
                <a:latin typeface="Consolas" panose="020B0609020204030204" pitchFamily="49" charset="0"/>
              </a:rPr>
            </a:br>
            <a:r>
              <a:rPr lang="ja-JP" altLang="en-US" dirty="0">
                <a:latin typeface="Consolas" panose="020B0609020204030204" pitchFamily="49" charset="0"/>
              </a:rPr>
              <a:t>読んで比較</a:t>
            </a:r>
            <a:endParaRPr lang="en-US" altLang="ja-JP" dirty="0">
              <a:latin typeface="Consolas" panose="020B0609020204030204" pitchFamily="49" charset="0"/>
            </a:endParaRPr>
          </a:p>
          <a:p>
            <a:pPr marL="817200" lvl="1" indent="-457200">
              <a:buFont typeface="+mj-lt"/>
              <a:buAutoNum type="arabicPeriod"/>
            </a:pPr>
            <a:r>
              <a:rPr lang="en-US" altLang="ja-JP" dirty="0">
                <a:latin typeface="Consolas" panose="020B0609020204030204" pitchFamily="49" charset="0"/>
              </a:rPr>
              <a:t>A &lt; B </a:t>
            </a:r>
            <a:r>
              <a:rPr lang="ja-JP" altLang="en-US" dirty="0">
                <a:latin typeface="Consolas" panose="020B0609020204030204" pitchFamily="49" charset="0"/>
              </a:rPr>
              <a:t>なので，</a:t>
            </a:r>
            <a:r>
              <a:rPr lang="en-US" altLang="ja-JP" dirty="0">
                <a:latin typeface="Consolas" panose="020B0609020204030204" pitchFamily="49" charset="0"/>
              </a:rPr>
              <a:t>PC </a:t>
            </a:r>
            <a:r>
              <a:rPr lang="ja-JP" altLang="en-US" dirty="0">
                <a:latin typeface="Consolas" panose="020B0609020204030204" pitchFamily="49" charset="0"/>
              </a:rPr>
              <a:t>を </a:t>
            </a:r>
            <a:r>
              <a:rPr lang="en-US" altLang="ja-JP" dirty="0">
                <a:latin typeface="Consolas" panose="020B0609020204030204" pitchFamily="49" charset="0"/>
              </a:rPr>
              <a:t>0 </a:t>
            </a:r>
            <a:r>
              <a:rPr lang="ja-JP" altLang="en-US" dirty="0">
                <a:latin typeface="Consolas" panose="020B0609020204030204" pitchFamily="49" charset="0"/>
              </a:rPr>
              <a:t>に</a:t>
            </a:r>
            <a:br>
              <a:rPr lang="en-US" altLang="ja-JP" dirty="0">
                <a:latin typeface="Consolas" panose="020B0609020204030204" pitchFamily="49" charset="0"/>
              </a:rPr>
            </a:br>
            <a:r>
              <a:rPr lang="ja-JP" altLang="en-US" dirty="0">
                <a:latin typeface="Consolas" panose="020B0609020204030204" pitchFamily="49" charset="0"/>
              </a:rPr>
              <a:t>書き換える</a:t>
            </a:r>
            <a:endParaRPr lang="en-US" altLang="ja-JP" dirty="0">
              <a:latin typeface="Consolas" panose="020B0609020204030204" pitchFamily="49" charset="0"/>
            </a:endParaRPr>
          </a:p>
          <a:p>
            <a:pPr marL="817200" lvl="1" indent="-457200">
              <a:buFont typeface="+mj-lt"/>
              <a:buAutoNum type="arabicPeriod"/>
            </a:pPr>
            <a:r>
              <a:rPr lang="ja-JP" altLang="en-US" dirty="0">
                <a:latin typeface="Consolas" panose="020B0609020204030204" pitchFamily="49" charset="0"/>
              </a:rPr>
              <a:t>次は アドレス </a:t>
            </a:r>
            <a:r>
              <a:rPr lang="en-US" altLang="ja-JP" dirty="0">
                <a:latin typeface="Consolas" panose="020B0609020204030204" pitchFamily="49" charset="0"/>
              </a:rPr>
              <a:t>0 </a:t>
            </a:r>
            <a:r>
              <a:rPr lang="ja-JP" altLang="en-US" dirty="0">
                <a:latin typeface="Consolas" panose="020B0609020204030204" pitchFamily="49" charset="0"/>
              </a:rPr>
              <a:t>にある命令が</a:t>
            </a:r>
            <a:br>
              <a:rPr lang="en-US" altLang="ja-JP" dirty="0">
                <a:latin typeface="Consolas" panose="020B0609020204030204" pitchFamily="49" charset="0"/>
              </a:rPr>
            </a:br>
            <a:r>
              <a:rPr lang="ja-JP" altLang="en-US" dirty="0">
                <a:latin typeface="Consolas" panose="020B0609020204030204" pitchFamily="49" charset="0"/>
              </a:rPr>
              <a:t>実行される</a:t>
            </a:r>
            <a:endParaRPr lang="en-US" altLang="ja-JP" dirty="0">
              <a:latin typeface="Consolas" panose="020B0609020204030204" pitchFamily="49" charset="0"/>
            </a:endParaRPr>
          </a:p>
        </p:txBody>
      </p:sp>
      <p:sp>
        <p:nvSpPr>
          <p:cNvPr id="5" name="正方形/長方形 4"/>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1" name="フローチャート: 手作業 10"/>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12" name="正方形/長方形 11"/>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5" name="正方形/長方形 14"/>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18" name="正方形/長方形 17"/>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solidFill>
                <a:srgbClr val="FF0000"/>
              </a:solidFill>
            </a:endParaRPr>
          </a:p>
          <a:p>
            <a:pPr algn="ctr"/>
            <a:endParaRPr lang="ja-JP" altLang="en-US" dirty="0">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1" name="正方形/長方形 20"/>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rgbClr val="FF0000"/>
                </a:solidFill>
                <a:latin typeface="メイリオ" panose="020B0604030504040204" pitchFamily="50" charset="-128"/>
                <a:ea typeface="メイリオ" panose="020B0604030504040204" pitchFamily="50" charset="-128"/>
              </a:rPr>
              <a:t>b A&lt;B,0</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22" name="正方形/長方形 21"/>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25" name="正方形/長方形 24"/>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26" name="正方形/長方形 25"/>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27" name="正方形/長方形 26"/>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solidFill>
                  <a:srgbClr val="FF0000"/>
                </a:solidFill>
                <a:latin typeface="メイリオ" panose="020B0604030504040204" pitchFamily="50" charset="-128"/>
                <a:ea typeface="メイリオ" panose="020B0604030504040204" pitchFamily="50" charset="-128"/>
              </a:rPr>
              <a:t>3:</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28" name="正方形/長方形 27"/>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solidFill>
                  <a:srgbClr val="FF0000"/>
                </a:solidFill>
                <a:latin typeface="メイリオ" panose="020B0604030504040204" pitchFamily="50" charset="-128"/>
                <a:ea typeface="メイリオ" panose="020B0604030504040204" pitchFamily="50" charset="-128"/>
              </a:rPr>
              <a:t>2</a:t>
            </a:r>
            <a:endParaRPr lang="ja-JP" altLang="en-US" sz="2000" b="1" dirty="0">
              <a:solidFill>
                <a:srgbClr val="FF0000"/>
              </a:solidFill>
              <a:latin typeface="メイリオ" panose="020B0604030504040204" pitchFamily="50" charset="-128"/>
              <a:ea typeface="メイリオ" panose="020B0604030504040204" pitchFamily="50" charset="-128"/>
            </a:endParaRPr>
          </a:p>
        </p:txBody>
      </p:sp>
      <p:sp>
        <p:nvSpPr>
          <p:cNvPr id="29" name="正方形/長方形 28"/>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solidFill>
                  <a:srgbClr val="FF0000"/>
                </a:solidFill>
                <a:latin typeface="メイリオ" panose="020B0604030504040204" pitchFamily="50" charset="-128"/>
                <a:ea typeface="メイリオ" panose="020B0604030504040204" pitchFamily="50" charset="-128"/>
              </a:rPr>
              <a:t>4</a:t>
            </a:r>
            <a:endParaRPr lang="ja-JP" altLang="en-US" sz="2000" b="1" dirty="0">
              <a:solidFill>
                <a:srgbClr val="FF0000"/>
              </a:solidFill>
              <a:latin typeface="メイリオ" panose="020B0604030504040204" pitchFamily="50" charset="-128"/>
              <a:ea typeface="メイリオ" panose="020B0604030504040204" pitchFamily="50" charset="-128"/>
            </a:endParaRPr>
          </a:p>
        </p:txBody>
      </p:sp>
      <p:sp>
        <p:nvSpPr>
          <p:cNvPr id="30" name="正方形/長方形 29"/>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0</a:t>
            </a:r>
            <a:endParaRPr lang="ja-JP" altLang="en-US" sz="2000" b="1" dirty="0">
              <a:latin typeface="メイリオ" panose="020B0604030504040204" pitchFamily="50" charset="-128"/>
              <a:ea typeface="メイリオ" panose="020B0604030504040204" pitchFamily="50" charset="-128"/>
            </a:endParaRPr>
          </a:p>
        </p:txBody>
      </p:sp>
      <p:sp>
        <p:nvSpPr>
          <p:cNvPr id="31" name="正方形/長方形 30"/>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bg1"/>
                </a:solidFill>
                <a:latin typeface="メイリオ" panose="020B0604030504040204" pitchFamily="50" charset="-128"/>
                <a:ea typeface="メイリオ" panose="020B0604030504040204" pitchFamily="50" charset="-128"/>
              </a:rPr>
              <a:t>3</a:t>
            </a:r>
            <a:endParaRPr lang="ja-JP" altLang="en-US" b="1" dirty="0">
              <a:solidFill>
                <a:schemeClr val="bg1"/>
              </a:solidFill>
              <a:latin typeface="メイリオ" panose="020B0604030504040204" pitchFamily="50" charset="-128"/>
              <a:ea typeface="メイリオ" panose="020B0604030504040204" pitchFamily="50" charset="-128"/>
            </a:endParaRPr>
          </a:p>
        </p:txBody>
      </p:sp>
      <p:sp>
        <p:nvSpPr>
          <p:cNvPr id="32" name="正方形/長方形 31"/>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3" name="正方形/長方形 32"/>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4" name="正方形/長方形 33"/>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3</a:t>
            </a:r>
            <a:endParaRPr lang="ja-JP" altLang="en-US" b="1" dirty="0">
              <a:latin typeface="メイリオ" panose="020B0604030504040204" pitchFamily="50" charset="-128"/>
              <a:ea typeface="メイリオ" panose="020B0604030504040204" pitchFamily="50" charset="-128"/>
            </a:endParaRPr>
          </a:p>
        </p:txBody>
      </p:sp>
      <p:cxnSp>
        <p:nvCxnSpPr>
          <p:cNvPr id="36" name="直線コネクタ 35"/>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直線コネクタ 36"/>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直線コネクタ 37"/>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直線コネクタ 40"/>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3" name="直線コネクタ 42"/>
          <p:cNvCxnSpPr/>
          <p:nvPr/>
        </p:nvCxnSpPr>
        <p:spPr bwMode="auto">
          <a:xfrm flipV="1">
            <a:off x="6816008" y="4329010"/>
            <a:ext cx="0" cy="360006"/>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6" name="直線コネクタ 45"/>
          <p:cNvCxnSpPr/>
          <p:nvPr/>
        </p:nvCxnSpPr>
        <p:spPr bwMode="auto">
          <a:xfrm flipH="1" flipV="1">
            <a:off x="6816008" y="4689015"/>
            <a:ext cx="540006" cy="1"/>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1" name="直線コネクタ 50"/>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3" name="直線コネクタ 52"/>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0" name="直線コネクタ 39"/>
          <p:cNvCxnSpPr/>
          <p:nvPr/>
        </p:nvCxnSpPr>
        <p:spPr bwMode="auto">
          <a:xfrm>
            <a:off x="7356014" y="4509012"/>
            <a:ext cx="0" cy="36000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4" name="直線コネクタ 43"/>
          <p:cNvCxnSpPr/>
          <p:nvPr/>
        </p:nvCxnSpPr>
        <p:spPr bwMode="auto">
          <a:xfrm flipH="1">
            <a:off x="7356016" y="4599013"/>
            <a:ext cx="720007"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2" name="直線コネクタ 61"/>
          <p:cNvCxnSpPr/>
          <p:nvPr/>
        </p:nvCxnSpPr>
        <p:spPr bwMode="auto">
          <a:xfrm flipH="1">
            <a:off x="7356015" y="4779016"/>
            <a:ext cx="990011" cy="1"/>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7" name="曲線コネクタ 66"/>
          <p:cNvCxnSpPr>
            <a:stCxn id="34" idx="3"/>
            <a:endCxn id="27" idx="1"/>
          </p:cNvCxnSpPr>
          <p:nvPr/>
        </p:nvCxnSpPr>
        <p:spPr bwMode="auto">
          <a:xfrm>
            <a:off x="7986022" y="2348988"/>
            <a:ext cx="630007" cy="900010"/>
          </a:xfrm>
          <a:prstGeom prst="curvedConnector3">
            <a:avLst>
              <a:gd name="adj1" fmla="val 50000"/>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47" name="曲線コネクタ 46"/>
          <p:cNvCxnSpPr/>
          <p:nvPr/>
        </p:nvCxnSpPr>
        <p:spPr bwMode="auto">
          <a:xfrm rot="16200000" flipV="1">
            <a:off x="8526027" y="1448978"/>
            <a:ext cx="900010" cy="2340026"/>
          </a:xfrm>
          <a:prstGeom prst="curvedConnector3">
            <a:avLst>
              <a:gd name="adj1" fmla="val 176603"/>
            </a:avLst>
          </a:prstGeom>
          <a:ln w="15875">
            <a:solidFill>
              <a:srgbClr val="FF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45" name="正方形/長方形 44"/>
          <p:cNvSpPr/>
          <p:nvPr/>
        </p:nvSpPr>
        <p:spPr bwMode="auto">
          <a:xfrm>
            <a:off x="7266014" y="908972"/>
            <a:ext cx="3510039"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ja-JP" altLang="en-US" dirty="0">
                <a:solidFill>
                  <a:srgbClr val="FF0000"/>
                </a:solidFill>
                <a:latin typeface="メイリオ" panose="020B0604030504040204" pitchFamily="50" charset="-128"/>
                <a:ea typeface="メイリオ" panose="020B0604030504040204" pitchFamily="50" charset="-128"/>
              </a:rPr>
              <a:t>条件が成り立てば</a:t>
            </a:r>
            <a:br>
              <a:rPr lang="en-US" altLang="ja-JP" dirty="0">
                <a:solidFill>
                  <a:srgbClr val="FF0000"/>
                </a:solidFill>
                <a:latin typeface="メイリオ" panose="020B0604030504040204" pitchFamily="50" charset="-128"/>
                <a:ea typeface="メイリオ" panose="020B0604030504040204" pitchFamily="50" charset="-128"/>
              </a:rPr>
            </a:br>
            <a:r>
              <a:rPr lang="en-US" altLang="ja-JP" dirty="0">
                <a:solidFill>
                  <a:srgbClr val="FF0000"/>
                </a:solidFill>
                <a:latin typeface="メイリオ" panose="020B0604030504040204" pitchFamily="50" charset="-128"/>
                <a:ea typeface="メイリオ" panose="020B0604030504040204" pitchFamily="50" charset="-128"/>
              </a:rPr>
              <a:t>PC </a:t>
            </a:r>
            <a:r>
              <a:rPr lang="ja-JP" altLang="en-US" dirty="0">
                <a:solidFill>
                  <a:srgbClr val="FF0000"/>
                </a:solidFill>
                <a:latin typeface="メイリオ" panose="020B0604030504040204" pitchFamily="50" charset="-128"/>
                <a:ea typeface="メイリオ" panose="020B0604030504040204" pitchFamily="50" charset="-128"/>
              </a:rPr>
              <a:t>を </a:t>
            </a:r>
            <a:r>
              <a:rPr lang="en-US" altLang="ja-JP" dirty="0">
                <a:solidFill>
                  <a:srgbClr val="FF0000"/>
                </a:solidFill>
                <a:latin typeface="メイリオ" panose="020B0604030504040204" pitchFamily="50" charset="-128"/>
                <a:ea typeface="メイリオ" panose="020B0604030504040204" pitchFamily="50" charset="-128"/>
              </a:rPr>
              <a:t>3 </a:t>
            </a:r>
            <a:r>
              <a:rPr lang="ja-JP" altLang="en-US" dirty="0">
                <a:solidFill>
                  <a:srgbClr val="FF0000"/>
                </a:solidFill>
                <a:latin typeface="メイリオ" panose="020B0604030504040204" pitchFamily="50" charset="-128"/>
                <a:ea typeface="メイリオ" panose="020B0604030504040204" pitchFamily="50" charset="-128"/>
              </a:rPr>
              <a:t>から </a:t>
            </a:r>
            <a:r>
              <a:rPr lang="en-US" altLang="ja-JP" dirty="0">
                <a:solidFill>
                  <a:srgbClr val="FF0000"/>
                </a:solidFill>
                <a:latin typeface="メイリオ" panose="020B0604030504040204" pitchFamily="50" charset="-128"/>
                <a:ea typeface="メイリオ" panose="020B0604030504040204" pitchFamily="50" charset="-128"/>
              </a:rPr>
              <a:t>0 </a:t>
            </a:r>
            <a:r>
              <a:rPr lang="ja-JP" altLang="en-US" dirty="0">
                <a:solidFill>
                  <a:srgbClr val="FF0000"/>
                </a:solidFill>
                <a:latin typeface="メイリオ" panose="020B0604030504040204" pitchFamily="50" charset="-128"/>
                <a:ea typeface="メイリオ" panose="020B0604030504040204" pitchFamily="50" charset="-128"/>
              </a:rPr>
              <a:t>に書き換える</a:t>
            </a:r>
          </a:p>
        </p:txBody>
      </p:sp>
    </p:spTree>
    <p:extLst>
      <p:ext uri="{BB962C8B-B14F-4D97-AF65-F5344CB8AC3E}">
        <p14:creationId xmlns:p14="http://schemas.microsoft.com/office/powerpoint/2010/main" val="6599847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即値（レジスタの値の書き換え）</a:t>
            </a:r>
            <a:endParaRPr kumimoji="1" lang="ja-JP" altLang="en-US" dirty="0"/>
          </a:p>
        </p:txBody>
      </p:sp>
      <p:sp>
        <p:nvSpPr>
          <p:cNvPr id="3" name="テキスト プレースホルダー 2"/>
          <p:cNvSpPr>
            <a:spLocks noGrp="1"/>
          </p:cNvSpPr>
          <p:nvPr>
            <p:ph type="body" sz="quarter" idx="10"/>
          </p:nvPr>
        </p:nvSpPr>
        <p:spPr>
          <a:xfrm>
            <a:off x="2135956" y="1088974"/>
            <a:ext cx="3960044" cy="5220058"/>
          </a:xfrm>
        </p:spPr>
        <p:txBody>
          <a:bodyPr/>
          <a:lstStyle/>
          <a:p>
            <a:r>
              <a:rPr lang="en-US" altLang="ja-JP" dirty="0">
                <a:latin typeface="Consolas" panose="020B0609020204030204" pitchFamily="49" charset="0"/>
              </a:rPr>
              <a:t>li 2 </a:t>
            </a:r>
            <a:r>
              <a:rPr lang="ja-JP" altLang="en-US" dirty="0">
                <a:latin typeface="Consolas" panose="020B0609020204030204" pitchFamily="49" charset="0"/>
              </a:rPr>
              <a:t>→ </a:t>
            </a:r>
            <a:r>
              <a:rPr lang="en-US" altLang="ja-JP" dirty="0">
                <a:latin typeface="Consolas" panose="020B0609020204030204" pitchFamily="49" charset="0"/>
              </a:rPr>
              <a:t>D</a:t>
            </a:r>
          </a:p>
          <a:p>
            <a:pPr lvl="1"/>
            <a:r>
              <a:rPr lang="en-US" altLang="ja-JP" dirty="0">
                <a:latin typeface="Consolas" panose="020B0609020204030204" pitchFamily="49" charset="0"/>
              </a:rPr>
              <a:t>(load immediate)</a:t>
            </a:r>
          </a:p>
          <a:p>
            <a:r>
              <a:rPr kumimoji="1" lang="ja-JP" altLang="en-US" dirty="0"/>
              <a:t>即値命令は命令の内の数字を，</a:t>
            </a:r>
            <a:br>
              <a:rPr kumimoji="1" lang="en-US" altLang="ja-JP" dirty="0"/>
            </a:br>
            <a:r>
              <a:rPr kumimoji="1" lang="ja-JP" altLang="en-US" dirty="0"/>
              <a:t>直接レジスタに書き込む</a:t>
            </a:r>
            <a:endParaRPr kumimoji="1" lang="en-US" altLang="ja-JP" dirty="0"/>
          </a:p>
          <a:p>
            <a:r>
              <a:rPr kumimoji="1" lang="ja-JP" altLang="en-US" dirty="0"/>
              <a:t>他の命令は，命令内の数字を</a:t>
            </a:r>
            <a:br>
              <a:rPr kumimoji="1" lang="en-US" altLang="ja-JP" dirty="0"/>
            </a:br>
            <a:r>
              <a:rPr kumimoji="1" lang="ja-JP" altLang="en-US" dirty="0"/>
              <a:t>「レジスタの位置」と解釈</a:t>
            </a:r>
            <a:endParaRPr kumimoji="1" lang="en-US" altLang="ja-JP" dirty="0"/>
          </a:p>
          <a:p>
            <a:r>
              <a:rPr kumimoji="1" lang="ja-JP" altLang="en-US" dirty="0"/>
              <a:t>レジスタの初期値を設定することなどに使用</a:t>
            </a:r>
          </a:p>
        </p:txBody>
      </p:sp>
      <p:sp>
        <p:nvSpPr>
          <p:cNvPr id="4" name="正方形/長方形 3"/>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7" name="正方形/長方形 6"/>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solidFill>
                <a:latin typeface="メイリオ" panose="020B0604030504040204" pitchFamily="50" charset="-128"/>
                <a:ea typeface="メイリオ" panose="020B0604030504040204" pitchFamily="50" charset="-128"/>
              </a:rPr>
              <a:t>*</a:t>
            </a:r>
            <a:r>
              <a:rPr lang="en-US" altLang="ja-JP" dirty="0">
                <a:solidFill>
                  <a:srgbClr val="FF0000"/>
                </a:solidFill>
                <a:latin typeface="メイリオ" panose="020B0604030504040204" pitchFamily="50" charset="-128"/>
                <a:ea typeface="メイリオ" panose="020B0604030504040204" pitchFamily="50" charset="-128"/>
              </a:rPr>
              <a:t>2</a:t>
            </a:r>
            <a:r>
              <a:rPr lang="en-US" altLang="ja-JP" dirty="0">
                <a:solidFill>
                  <a:schemeClr val="tx1"/>
                </a:solidFill>
                <a:latin typeface="メイリオ" panose="020B0604030504040204" pitchFamily="50" charset="-128"/>
                <a:ea typeface="メイリオ" panose="020B0604030504040204" pitchFamily="50" charset="-128"/>
              </a:rPr>
              <a:t>**</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9" name="正方形/長方形 8"/>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10" name="正方形/長方形 9"/>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11" name="正方形/長方形 10"/>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12" name="正方形/長方形 11"/>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13" name="正方形/長方形 12"/>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15" name="正方形/長方形 14"/>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16" name="正方形/長方形 15"/>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7" name="正方形/長方形 16"/>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8" name="正方形/長方形 17"/>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21" name="フローチャート: 手作業 20"/>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22" name="正方形/長方形 21"/>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23" name="正方形/長方形 22"/>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latin typeface="メイリオ" panose="020B0604030504040204" pitchFamily="50" charset="-128"/>
              <a:ea typeface="メイリオ" panose="020B0604030504040204" pitchFamily="50" charset="-128"/>
            </a:endParaRPr>
          </a:p>
        </p:txBody>
      </p:sp>
      <p:sp>
        <p:nvSpPr>
          <p:cNvPr id="25" name="正方形/長方形 24"/>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latin typeface="メイリオ" panose="020B0604030504040204" pitchFamily="50" charset="-128"/>
              <a:ea typeface="メイリオ" panose="020B0604030504040204" pitchFamily="50" charset="-128"/>
            </a:endParaRPr>
          </a:p>
        </p:txBody>
      </p:sp>
      <p:sp>
        <p:nvSpPr>
          <p:cNvPr id="26" name="正方形/長方形 25"/>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latin typeface="メイリオ" panose="020B0604030504040204" pitchFamily="50" charset="-128"/>
              <a:ea typeface="メイリオ" panose="020B0604030504040204" pitchFamily="50" charset="-128"/>
            </a:endParaRPr>
          </a:p>
        </p:txBody>
      </p:sp>
      <p:sp>
        <p:nvSpPr>
          <p:cNvPr id="27" name="正方形/長方形 26"/>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2</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28" name="正方形/長方形 27"/>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latin typeface="メイリオ" panose="020B0604030504040204" pitchFamily="50" charset="-128"/>
              <a:ea typeface="メイリオ" panose="020B0604030504040204" pitchFamily="50" charset="-128"/>
            </a:endParaRPr>
          </a:p>
        </p:txBody>
      </p:sp>
      <p:sp>
        <p:nvSpPr>
          <p:cNvPr id="29" name="正方形/長方形 28"/>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latin typeface="メイリオ" panose="020B0604030504040204" pitchFamily="50" charset="-128"/>
              <a:ea typeface="メイリオ" panose="020B0604030504040204" pitchFamily="50" charset="-128"/>
            </a:endParaRPr>
          </a:p>
        </p:txBody>
      </p:sp>
      <p:sp>
        <p:nvSpPr>
          <p:cNvPr id="30" name="正方形/長方形 29"/>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cxnSp>
        <p:nvCxnSpPr>
          <p:cNvPr id="31" name="直線コネクタ 30"/>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2" name="直線コネクタ 31"/>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3" name="直線コネクタ 32"/>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直線コネクタ 33"/>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直線コネクタ 34"/>
          <p:cNvCxnSpPr/>
          <p:nvPr/>
        </p:nvCxnSpPr>
        <p:spPr bwMode="auto">
          <a:xfrm flipV="1">
            <a:off x="6816008" y="4419011"/>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6" name="直線コネクタ 35"/>
          <p:cNvCxnSpPr/>
          <p:nvPr/>
        </p:nvCxnSpPr>
        <p:spPr bwMode="auto">
          <a:xfrm flipH="1">
            <a:off x="6816010" y="4599013"/>
            <a:ext cx="1260013"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直線コネクタ 36"/>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直線コネクタ 37"/>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9" name="正方形/長方形 38"/>
          <p:cNvSpPr/>
          <p:nvPr/>
        </p:nvSpPr>
        <p:spPr bwMode="auto">
          <a:xfrm>
            <a:off x="6816008" y="4869016"/>
            <a:ext cx="720008" cy="360004"/>
          </a:xfrm>
          <a:prstGeom prst="rect">
            <a:avLst/>
          </a:prstGeom>
          <a:noFill/>
          <a:ln>
            <a:solidFill>
              <a:schemeClr val="tx1">
                <a:lumMod val="75000"/>
                <a:lumOff val="25000"/>
              </a:schemeClr>
            </a:solid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t>
            </a:r>
            <a:r>
              <a:rPr lang="en-US" altLang="ja-JP" dirty="0">
                <a:solidFill>
                  <a:srgbClr val="FF0000"/>
                </a:solidFill>
                <a:latin typeface="メイリオ" panose="020B0604030504040204" pitchFamily="50" charset="-128"/>
                <a:ea typeface="メイリオ" panose="020B0604030504040204" pitchFamily="50" charset="-128"/>
              </a:rPr>
              <a:t>2</a:t>
            </a:r>
            <a:r>
              <a:rPr lang="en-US" altLang="ja-JP" dirty="0">
                <a:solidFill>
                  <a:schemeClr val="tx1"/>
                </a:solidFill>
                <a:latin typeface="メイリオ" panose="020B0604030504040204" pitchFamily="50" charset="-128"/>
                <a:ea typeface="メイリオ" panose="020B0604030504040204" pitchFamily="50" charset="-128"/>
              </a:rPr>
              <a:t>*5</a:t>
            </a:r>
            <a:endParaRPr lang="ja-JP" altLang="en-US"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547623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プログラムの例：</a:t>
            </a:r>
            <a:r>
              <a:rPr kumimoji="1" lang="en-US" altLang="ja-JP" dirty="0"/>
              <a:t>10</a:t>
            </a:r>
            <a:r>
              <a:rPr kumimoji="1" lang="ja-JP" altLang="en-US" dirty="0"/>
              <a:t>回だけ回るループ</a:t>
            </a:r>
          </a:p>
        </p:txBody>
      </p:sp>
      <p:sp>
        <p:nvSpPr>
          <p:cNvPr id="3" name="テキスト プレースホルダー 2"/>
          <p:cNvSpPr>
            <a:spLocks noGrp="1"/>
          </p:cNvSpPr>
          <p:nvPr>
            <p:ph type="body" sz="quarter" idx="10"/>
          </p:nvPr>
        </p:nvSpPr>
        <p:spPr>
          <a:xfrm>
            <a:off x="1865953" y="1088975"/>
            <a:ext cx="7380082" cy="5219751"/>
          </a:xfrm>
        </p:spPr>
        <p:txBody>
          <a:bodyPr/>
          <a:lstStyle/>
          <a:p>
            <a:r>
              <a:rPr kumimoji="1" lang="ja-JP" altLang="en-US" dirty="0">
                <a:solidFill>
                  <a:schemeClr val="tx1">
                    <a:lumMod val="85000"/>
                    <a:lumOff val="15000"/>
                  </a:schemeClr>
                </a:solidFill>
                <a:latin typeface="Consolas" panose="020B0609020204030204" pitchFamily="49" charset="0"/>
              </a:rPr>
              <a:t>レジスタ初期値</a:t>
            </a:r>
            <a:endParaRPr kumimoji="1" lang="en-US" altLang="ja-JP" dirty="0">
              <a:solidFill>
                <a:schemeClr val="tx1">
                  <a:lumMod val="85000"/>
                  <a:lumOff val="15000"/>
                </a:schemeClr>
              </a:solidFill>
              <a:latin typeface="Consolas" panose="020B0609020204030204" pitchFamily="49" charset="0"/>
            </a:endParaRPr>
          </a:p>
          <a:p>
            <a:pPr lvl="1"/>
            <a:r>
              <a:rPr lang="en-US" altLang="ja-JP" dirty="0">
                <a:solidFill>
                  <a:schemeClr val="tx1">
                    <a:lumMod val="85000"/>
                    <a:lumOff val="15000"/>
                  </a:schemeClr>
                </a:solidFill>
                <a:latin typeface="Consolas" panose="020B0609020204030204" pitchFamily="49" charset="0"/>
              </a:rPr>
              <a:t>PC</a:t>
            </a:r>
            <a:r>
              <a:rPr lang="ja-JP" altLang="en-US" dirty="0">
                <a:solidFill>
                  <a:schemeClr val="tx1">
                    <a:lumMod val="85000"/>
                    <a:lumOff val="15000"/>
                  </a:schemeClr>
                </a:solidFill>
                <a:latin typeface="Consolas" panose="020B0609020204030204" pitchFamily="49" charset="0"/>
              </a:rPr>
              <a:t>：</a:t>
            </a:r>
            <a:r>
              <a:rPr lang="en-US" altLang="ja-JP" dirty="0">
                <a:solidFill>
                  <a:schemeClr val="tx1">
                    <a:lumMod val="85000"/>
                    <a:lumOff val="15000"/>
                  </a:schemeClr>
                </a:solidFill>
                <a:latin typeface="Consolas" panose="020B0609020204030204" pitchFamily="49" charset="0"/>
              </a:rPr>
              <a:t>0 </a:t>
            </a:r>
            <a:r>
              <a:rPr lang="en-US" altLang="ja-JP" dirty="0">
                <a:solidFill>
                  <a:schemeClr val="accent3">
                    <a:lumMod val="75000"/>
                  </a:schemeClr>
                </a:solidFill>
                <a:latin typeface="Consolas" panose="020B0609020204030204" pitchFamily="49" charset="0"/>
              </a:rPr>
              <a:t>// 0 </a:t>
            </a:r>
            <a:r>
              <a:rPr lang="ja-JP" altLang="en-US" dirty="0">
                <a:solidFill>
                  <a:schemeClr val="accent3">
                    <a:lumMod val="75000"/>
                  </a:schemeClr>
                </a:solidFill>
                <a:latin typeface="Consolas" panose="020B0609020204030204" pitchFamily="49" charset="0"/>
              </a:rPr>
              <a:t>番地の命令から開始</a:t>
            </a:r>
            <a:endParaRPr lang="en-US" altLang="ja-JP" dirty="0">
              <a:solidFill>
                <a:schemeClr val="accent3">
                  <a:lumMod val="75000"/>
                </a:schemeClr>
              </a:solidFill>
              <a:latin typeface="Consolas" panose="020B0609020204030204" pitchFamily="49" charset="0"/>
            </a:endParaRPr>
          </a:p>
          <a:p>
            <a:pPr lvl="1"/>
            <a:r>
              <a:rPr lang="en-US" altLang="ja-JP" dirty="0">
                <a:solidFill>
                  <a:schemeClr val="tx1">
                    <a:lumMod val="85000"/>
                    <a:lumOff val="15000"/>
                  </a:schemeClr>
                </a:solidFill>
                <a:latin typeface="Consolas" panose="020B0609020204030204" pitchFamily="49" charset="0"/>
              </a:rPr>
              <a:t>A</a:t>
            </a:r>
            <a:r>
              <a:rPr lang="ja-JP" altLang="en-US" dirty="0">
                <a:solidFill>
                  <a:schemeClr val="tx1">
                    <a:lumMod val="85000"/>
                    <a:lumOff val="15000"/>
                  </a:schemeClr>
                </a:solidFill>
                <a:latin typeface="Consolas" panose="020B0609020204030204" pitchFamily="49" charset="0"/>
              </a:rPr>
              <a:t>：</a:t>
            </a:r>
            <a:r>
              <a:rPr lang="en-US" altLang="ja-JP" dirty="0">
                <a:solidFill>
                  <a:schemeClr val="tx1">
                    <a:lumMod val="85000"/>
                    <a:lumOff val="15000"/>
                  </a:schemeClr>
                </a:solidFill>
                <a:latin typeface="Consolas" panose="020B0609020204030204" pitchFamily="49" charset="0"/>
              </a:rPr>
              <a:t>0  </a:t>
            </a: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ループ・カウンタ</a:t>
            </a:r>
            <a:endParaRPr lang="en-US" altLang="ja-JP" dirty="0">
              <a:solidFill>
                <a:schemeClr val="accent3">
                  <a:lumMod val="75000"/>
                </a:schemeClr>
              </a:solidFill>
              <a:latin typeface="Consolas" panose="020B0609020204030204" pitchFamily="49" charset="0"/>
            </a:endParaRPr>
          </a:p>
          <a:p>
            <a:pPr lvl="1"/>
            <a:r>
              <a:rPr kumimoji="1" lang="en-US" altLang="ja-JP" dirty="0">
                <a:solidFill>
                  <a:schemeClr val="tx1">
                    <a:lumMod val="85000"/>
                    <a:lumOff val="15000"/>
                  </a:schemeClr>
                </a:solidFill>
                <a:latin typeface="Consolas" panose="020B0609020204030204" pitchFamily="49" charset="0"/>
              </a:rPr>
              <a:t>B</a:t>
            </a:r>
            <a:r>
              <a:rPr kumimoji="1" lang="ja-JP" altLang="en-US" dirty="0">
                <a:solidFill>
                  <a:schemeClr val="tx1">
                    <a:lumMod val="85000"/>
                    <a:lumOff val="15000"/>
                  </a:schemeClr>
                </a:solidFill>
                <a:latin typeface="Consolas" panose="020B0609020204030204" pitchFamily="49" charset="0"/>
              </a:rPr>
              <a:t>：</a:t>
            </a:r>
            <a:r>
              <a:rPr kumimoji="1" lang="en-US" altLang="ja-JP" dirty="0">
                <a:solidFill>
                  <a:schemeClr val="tx1">
                    <a:lumMod val="85000"/>
                    <a:lumOff val="15000"/>
                  </a:schemeClr>
                </a:solidFill>
                <a:latin typeface="Consolas" panose="020B0609020204030204" pitchFamily="49" charset="0"/>
              </a:rPr>
              <a:t>1  </a:t>
            </a:r>
            <a:r>
              <a:rPr kumimoji="1" lang="en-US" altLang="ja-JP" dirty="0">
                <a:solidFill>
                  <a:schemeClr val="accent3">
                    <a:lumMod val="75000"/>
                  </a:schemeClr>
                </a:solidFill>
                <a:latin typeface="Consolas" panose="020B0609020204030204" pitchFamily="49" charset="0"/>
              </a:rPr>
              <a:t>// </a:t>
            </a:r>
            <a:r>
              <a:rPr kumimoji="1" lang="ja-JP" altLang="en-US" dirty="0">
                <a:solidFill>
                  <a:schemeClr val="accent3">
                    <a:lumMod val="75000"/>
                  </a:schemeClr>
                </a:solidFill>
                <a:latin typeface="Consolas" panose="020B0609020204030204" pitchFamily="49" charset="0"/>
              </a:rPr>
              <a:t>インクリメント量</a:t>
            </a:r>
            <a:endParaRPr kumimoji="1" lang="en-US" altLang="ja-JP" dirty="0">
              <a:solidFill>
                <a:schemeClr val="accent3">
                  <a:lumMod val="75000"/>
                </a:schemeClr>
              </a:solidFill>
              <a:latin typeface="Consolas" panose="020B0609020204030204" pitchFamily="49" charset="0"/>
            </a:endParaRPr>
          </a:p>
          <a:p>
            <a:pPr lvl="1"/>
            <a:r>
              <a:rPr lang="en-US" altLang="ja-JP" dirty="0">
                <a:solidFill>
                  <a:schemeClr val="tx1">
                    <a:lumMod val="85000"/>
                    <a:lumOff val="15000"/>
                  </a:schemeClr>
                </a:solidFill>
                <a:latin typeface="Consolas" panose="020B0609020204030204" pitchFamily="49" charset="0"/>
              </a:rPr>
              <a:t>C</a:t>
            </a:r>
            <a:r>
              <a:rPr lang="ja-JP" altLang="en-US" dirty="0">
                <a:solidFill>
                  <a:schemeClr val="tx1">
                    <a:lumMod val="85000"/>
                    <a:lumOff val="15000"/>
                  </a:schemeClr>
                </a:solidFill>
                <a:latin typeface="Consolas" panose="020B0609020204030204" pitchFamily="49" charset="0"/>
              </a:rPr>
              <a:t>：</a:t>
            </a:r>
            <a:r>
              <a:rPr lang="en-US" altLang="ja-JP" dirty="0">
                <a:solidFill>
                  <a:schemeClr val="tx1">
                    <a:lumMod val="85000"/>
                    <a:lumOff val="15000"/>
                  </a:schemeClr>
                </a:solidFill>
                <a:latin typeface="Consolas" panose="020B0609020204030204" pitchFamily="49" charset="0"/>
              </a:rPr>
              <a:t>10 </a:t>
            </a: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ループ回数</a:t>
            </a:r>
            <a:endParaRPr lang="en-US" altLang="ja-JP" dirty="0">
              <a:solidFill>
                <a:schemeClr val="accent3">
                  <a:lumMod val="75000"/>
                </a:schemeClr>
              </a:solidFill>
              <a:latin typeface="Consolas" panose="020B0609020204030204" pitchFamily="49" charset="0"/>
            </a:endParaRPr>
          </a:p>
          <a:p>
            <a:r>
              <a:rPr lang="ja-JP" altLang="en-US" dirty="0">
                <a:solidFill>
                  <a:schemeClr val="tx1">
                    <a:lumMod val="85000"/>
                    <a:lumOff val="15000"/>
                  </a:schemeClr>
                </a:solidFill>
                <a:latin typeface="Consolas" panose="020B0609020204030204" pitchFamily="49" charset="0"/>
              </a:rPr>
              <a:t>動作</a:t>
            </a:r>
            <a:endParaRPr lang="en-US" altLang="ja-JP" dirty="0">
              <a:solidFill>
                <a:schemeClr val="accent3">
                  <a:lumMod val="75000"/>
                </a:schemeClr>
              </a:solidFill>
              <a:latin typeface="Consolas" panose="020B0609020204030204" pitchFamily="49" charset="0"/>
            </a:endParaRPr>
          </a:p>
          <a:p>
            <a:pPr marL="360000" lvl="1" indent="0">
              <a:buNone/>
            </a:pPr>
            <a:r>
              <a:rPr lang="en-US" altLang="ja-JP" dirty="0">
                <a:solidFill>
                  <a:schemeClr val="tx1">
                    <a:lumMod val="85000"/>
                    <a:lumOff val="15000"/>
                  </a:schemeClr>
                </a:solidFill>
                <a:latin typeface="Consolas" panose="020B0609020204030204" pitchFamily="49" charset="0"/>
              </a:rPr>
              <a:t>0: </a:t>
            </a:r>
            <a:r>
              <a:rPr lang="en-US" altLang="ja-JP" dirty="0">
                <a:solidFill>
                  <a:schemeClr val="accent5"/>
                </a:solidFill>
                <a:latin typeface="Consolas" panose="020B0609020204030204" pitchFamily="49" charset="0"/>
              </a:rPr>
              <a:t>add A+B</a:t>
            </a:r>
            <a:r>
              <a:rPr lang="ja-JP" altLang="en-US" dirty="0">
                <a:solidFill>
                  <a:schemeClr val="accent5"/>
                </a:solidFill>
                <a:latin typeface="Consolas" panose="020B0609020204030204" pitchFamily="49" charset="0"/>
              </a:rPr>
              <a:t>→</a:t>
            </a:r>
            <a:r>
              <a:rPr lang="en-US" altLang="ja-JP" dirty="0">
                <a:solidFill>
                  <a:schemeClr val="accent5"/>
                </a:solidFill>
                <a:latin typeface="Consolas" panose="020B0609020204030204" pitchFamily="49" charset="0"/>
              </a:rPr>
              <a:t>A</a:t>
            </a:r>
            <a:r>
              <a:rPr kumimoji="1" lang="en-US" altLang="ja-JP" dirty="0">
                <a:solidFill>
                  <a:schemeClr val="tx1">
                    <a:lumMod val="85000"/>
                    <a:lumOff val="15000"/>
                  </a:schemeClr>
                </a:solidFill>
                <a:latin typeface="Consolas" panose="020B0609020204030204" pitchFamily="49" charset="0"/>
              </a:rPr>
              <a:t>: </a:t>
            </a:r>
            <a:r>
              <a:rPr kumimoji="1" lang="ja-JP" altLang="en-US" dirty="0">
                <a:solidFill>
                  <a:schemeClr val="tx1">
                    <a:lumMod val="85000"/>
                    <a:lumOff val="15000"/>
                  </a:schemeClr>
                </a:solidFill>
                <a:latin typeface="Consolas" panose="020B0609020204030204" pitchFamily="49" charset="0"/>
              </a:rPr>
              <a:t> </a:t>
            </a:r>
            <a:r>
              <a:rPr kumimoji="1" lang="en-US" altLang="ja-JP" dirty="0">
                <a:solidFill>
                  <a:schemeClr val="tx1">
                    <a:lumMod val="85000"/>
                    <a:lumOff val="15000"/>
                  </a:schemeClr>
                </a:solidFill>
                <a:latin typeface="Consolas" panose="020B0609020204030204" pitchFamily="49" charset="0"/>
              </a:rPr>
              <a:t>A </a:t>
            </a:r>
            <a:r>
              <a:rPr kumimoji="1" lang="ja-JP" altLang="en-US" dirty="0">
                <a:solidFill>
                  <a:schemeClr val="tx1">
                    <a:lumMod val="85000"/>
                    <a:lumOff val="15000"/>
                  </a:schemeClr>
                </a:solidFill>
                <a:latin typeface="Consolas" panose="020B0609020204030204" pitchFamily="49" charset="0"/>
              </a:rPr>
              <a:t>に </a:t>
            </a:r>
            <a:r>
              <a:rPr kumimoji="1" lang="en-US" altLang="ja-JP" dirty="0">
                <a:solidFill>
                  <a:schemeClr val="tx1">
                    <a:lumMod val="85000"/>
                    <a:lumOff val="15000"/>
                  </a:schemeClr>
                </a:solidFill>
                <a:latin typeface="Consolas" panose="020B0609020204030204" pitchFamily="49" charset="0"/>
              </a:rPr>
              <a:t>B </a:t>
            </a:r>
            <a:r>
              <a:rPr kumimoji="1" lang="ja-JP" altLang="en-US" dirty="0">
                <a:solidFill>
                  <a:schemeClr val="tx1">
                    <a:lumMod val="85000"/>
                    <a:lumOff val="15000"/>
                  </a:schemeClr>
                </a:solidFill>
                <a:latin typeface="Consolas" panose="020B0609020204030204" pitchFamily="49" charset="0"/>
              </a:rPr>
              <a:t>を足して，</a:t>
            </a:r>
            <a:r>
              <a:rPr lang="en-US" altLang="ja-JP" dirty="0">
                <a:solidFill>
                  <a:schemeClr val="tx1">
                    <a:lumMod val="85000"/>
                    <a:lumOff val="15000"/>
                  </a:schemeClr>
                </a:solidFill>
                <a:latin typeface="Consolas" panose="020B0609020204030204" pitchFamily="49" charset="0"/>
              </a:rPr>
              <a:t>A </a:t>
            </a:r>
            <a:r>
              <a:rPr lang="ja-JP" altLang="en-US" dirty="0">
                <a:solidFill>
                  <a:schemeClr val="tx1">
                    <a:lumMod val="85000"/>
                    <a:lumOff val="15000"/>
                  </a:schemeClr>
                </a:solidFill>
                <a:latin typeface="Consolas" panose="020B0609020204030204" pitchFamily="49" charset="0"/>
              </a:rPr>
              <a:t>に書き戻す</a:t>
            </a:r>
            <a:endParaRPr lang="en-US" altLang="ja-JP" dirty="0">
              <a:solidFill>
                <a:schemeClr val="tx1">
                  <a:lumMod val="85000"/>
                  <a:lumOff val="15000"/>
                </a:schemeClr>
              </a:solidFill>
              <a:latin typeface="Consolas" panose="020B0609020204030204" pitchFamily="49" charset="0"/>
            </a:endParaRPr>
          </a:p>
          <a:p>
            <a:pPr marL="360000" lvl="1" indent="0">
              <a:buNone/>
            </a:pPr>
            <a:r>
              <a:rPr lang="en-US" altLang="ja-JP" dirty="0">
                <a:solidFill>
                  <a:schemeClr val="tx1">
                    <a:lumMod val="85000"/>
                    <a:lumOff val="15000"/>
                  </a:schemeClr>
                </a:solidFill>
                <a:latin typeface="Consolas" panose="020B0609020204030204" pitchFamily="49" charset="0"/>
              </a:rPr>
              <a:t>1: </a:t>
            </a:r>
            <a:r>
              <a:rPr lang="en-US" altLang="ja-JP" dirty="0">
                <a:solidFill>
                  <a:schemeClr val="accent5"/>
                </a:solidFill>
                <a:latin typeface="Consolas" panose="020B0609020204030204" pitchFamily="49" charset="0"/>
              </a:rPr>
              <a:t>b A&lt;C,0</a:t>
            </a:r>
            <a:r>
              <a:rPr kumimoji="1" lang="en-US" altLang="ja-JP" dirty="0">
                <a:solidFill>
                  <a:schemeClr val="tx1">
                    <a:lumMod val="85000"/>
                    <a:lumOff val="15000"/>
                  </a:schemeClr>
                </a:solidFill>
                <a:latin typeface="Consolas" panose="020B0609020204030204" pitchFamily="49" charset="0"/>
              </a:rPr>
              <a:t> </a:t>
            </a:r>
            <a:r>
              <a:rPr kumimoji="1" lang="ja-JP" altLang="en-US" dirty="0">
                <a:solidFill>
                  <a:schemeClr val="tx1">
                    <a:lumMod val="85000"/>
                    <a:lumOff val="15000"/>
                  </a:schemeClr>
                </a:solidFill>
                <a:latin typeface="Consolas" panose="020B0609020204030204" pitchFamily="49" charset="0"/>
              </a:rPr>
              <a:t> </a:t>
            </a:r>
            <a:r>
              <a:rPr kumimoji="1" lang="en-US" altLang="ja-JP" dirty="0">
                <a:solidFill>
                  <a:schemeClr val="tx1">
                    <a:lumMod val="85000"/>
                    <a:lumOff val="15000"/>
                  </a:schemeClr>
                </a:solidFill>
                <a:latin typeface="Consolas" panose="020B0609020204030204" pitchFamily="49" charset="0"/>
              </a:rPr>
              <a:t>:</a:t>
            </a:r>
            <a:r>
              <a:rPr kumimoji="1" lang="ja-JP" altLang="en-US" dirty="0">
                <a:solidFill>
                  <a:schemeClr val="tx1">
                    <a:lumMod val="85000"/>
                    <a:lumOff val="15000"/>
                  </a:schemeClr>
                </a:solidFill>
                <a:latin typeface="Consolas" panose="020B0609020204030204" pitchFamily="49" charset="0"/>
              </a:rPr>
              <a:t>  </a:t>
            </a:r>
            <a:r>
              <a:rPr kumimoji="1" lang="en-US" altLang="ja-JP" dirty="0">
                <a:solidFill>
                  <a:schemeClr val="tx1">
                    <a:lumMod val="85000"/>
                    <a:lumOff val="15000"/>
                  </a:schemeClr>
                </a:solidFill>
                <a:latin typeface="Consolas" panose="020B0609020204030204" pitchFamily="49" charset="0"/>
              </a:rPr>
              <a:t>A &lt; C </a:t>
            </a:r>
            <a:r>
              <a:rPr kumimoji="1" lang="ja-JP" altLang="en-US" dirty="0">
                <a:solidFill>
                  <a:schemeClr val="tx1">
                    <a:lumMod val="85000"/>
                    <a:lumOff val="15000"/>
                  </a:schemeClr>
                </a:solidFill>
                <a:latin typeface="Consolas" panose="020B0609020204030204" pitchFamily="49" charset="0"/>
              </a:rPr>
              <a:t>ならアドレス </a:t>
            </a:r>
            <a:r>
              <a:rPr kumimoji="1" lang="en-US" altLang="ja-JP" dirty="0">
                <a:solidFill>
                  <a:schemeClr val="tx1">
                    <a:lumMod val="85000"/>
                    <a:lumOff val="15000"/>
                  </a:schemeClr>
                </a:solidFill>
                <a:latin typeface="Consolas" panose="020B0609020204030204" pitchFamily="49" charset="0"/>
              </a:rPr>
              <a:t>0 </a:t>
            </a:r>
            <a:r>
              <a:rPr kumimoji="1" lang="ja-JP" altLang="en-US" dirty="0">
                <a:solidFill>
                  <a:schemeClr val="tx1">
                    <a:lumMod val="85000"/>
                    <a:lumOff val="15000"/>
                  </a:schemeClr>
                </a:solidFill>
                <a:latin typeface="Consolas" panose="020B0609020204030204" pitchFamily="49" charset="0"/>
              </a:rPr>
              <a:t>に戻る</a:t>
            </a:r>
            <a:endParaRPr kumimoji="1" lang="en-US" altLang="ja-JP" dirty="0">
              <a:solidFill>
                <a:schemeClr val="tx1">
                  <a:lumMod val="85000"/>
                  <a:lumOff val="15000"/>
                </a:schemeClr>
              </a:solidFill>
              <a:latin typeface="Consolas" panose="020B0609020204030204" pitchFamily="49" charset="0"/>
            </a:endParaRPr>
          </a:p>
          <a:p>
            <a:pPr marL="360000" lvl="1" indent="0">
              <a:buNone/>
            </a:pPr>
            <a:r>
              <a:rPr lang="en-US" altLang="ja-JP" dirty="0">
                <a:solidFill>
                  <a:schemeClr val="tx1">
                    <a:lumMod val="85000"/>
                    <a:lumOff val="15000"/>
                  </a:schemeClr>
                </a:solidFill>
                <a:latin typeface="Consolas" panose="020B0609020204030204" pitchFamily="49" charset="0"/>
              </a:rPr>
              <a:t>               </a:t>
            </a:r>
            <a:r>
              <a:rPr lang="ja-JP" altLang="en-US" dirty="0">
                <a:solidFill>
                  <a:schemeClr val="tx1">
                    <a:lumMod val="85000"/>
                    <a:lumOff val="15000"/>
                  </a:schemeClr>
                </a:solidFill>
                <a:latin typeface="Consolas" panose="020B0609020204030204" pitchFamily="49" charset="0"/>
              </a:rPr>
              <a:t>もし </a:t>
            </a:r>
            <a:r>
              <a:rPr kumimoji="1" lang="en-US" altLang="ja-JP" dirty="0">
                <a:solidFill>
                  <a:schemeClr val="tx1">
                    <a:lumMod val="85000"/>
                    <a:lumOff val="15000"/>
                  </a:schemeClr>
                </a:solidFill>
                <a:latin typeface="Consolas" panose="020B0609020204030204" pitchFamily="49" charset="0"/>
              </a:rPr>
              <a:t>A &gt; C </a:t>
            </a:r>
            <a:r>
              <a:rPr kumimoji="1" lang="ja-JP" altLang="en-US" dirty="0">
                <a:solidFill>
                  <a:schemeClr val="tx1">
                    <a:lumMod val="85000"/>
                    <a:lumOff val="15000"/>
                  </a:schemeClr>
                </a:solidFill>
                <a:latin typeface="Consolas" panose="020B0609020204030204" pitchFamily="49" charset="0"/>
              </a:rPr>
              <a:t>ならアドレス </a:t>
            </a:r>
            <a:r>
              <a:rPr kumimoji="1" lang="en-US" altLang="ja-JP" dirty="0">
                <a:solidFill>
                  <a:schemeClr val="tx1">
                    <a:lumMod val="85000"/>
                    <a:lumOff val="15000"/>
                  </a:schemeClr>
                </a:solidFill>
                <a:latin typeface="Consolas" panose="020B0609020204030204" pitchFamily="49" charset="0"/>
              </a:rPr>
              <a:t>2 </a:t>
            </a:r>
            <a:r>
              <a:rPr kumimoji="1" lang="ja-JP" altLang="en-US" dirty="0">
                <a:solidFill>
                  <a:schemeClr val="tx1">
                    <a:lumMod val="85000"/>
                    <a:lumOff val="15000"/>
                  </a:schemeClr>
                </a:solidFill>
                <a:latin typeface="Consolas" panose="020B0609020204030204" pitchFamily="49" charset="0"/>
              </a:rPr>
              <a:t>に</a:t>
            </a:r>
            <a:endParaRPr kumimoji="1" lang="en-US" altLang="ja-JP" dirty="0">
              <a:solidFill>
                <a:schemeClr val="tx1">
                  <a:lumMod val="85000"/>
                  <a:lumOff val="15000"/>
                </a:schemeClr>
              </a:solidFill>
              <a:latin typeface="Consolas" panose="020B0609020204030204" pitchFamily="49" charset="0"/>
            </a:endParaRPr>
          </a:p>
        </p:txBody>
      </p:sp>
      <p:sp>
        <p:nvSpPr>
          <p:cNvPr id="4" name="正方形/長方形 3"/>
          <p:cNvSpPr/>
          <p:nvPr/>
        </p:nvSpPr>
        <p:spPr bwMode="auto">
          <a:xfrm>
            <a:off x="8436026"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8436026"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solidFill>
                  <a:schemeClr val="tx1">
                    <a:lumMod val="85000"/>
                    <a:lumOff val="15000"/>
                  </a:schemeClr>
                </a:solidFill>
                <a:latin typeface="メイリオ" panose="020B0604030504040204" pitchFamily="50" charset="-128"/>
                <a:ea typeface="メイリオ" panose="020B0604030504040204" pitchFamily="50" charset="-128"/>
              </a:rPr>
              <a:t>メモリ</a:t>
            </a:r>
          </a:p>
        </p:txBody>
      </p:sp>
      <p:sp>
        <p:nvSpPr>
          <p:cNvPr id="6" name="正方形/長方形 5"/>
          <p:cNvSpPr/>
          <p:nvPr/>
        </p:nvSpPr>
        <p:spPr bwMode="auto">
          <a:xfrm>
            <a:off x="8436026"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en-US" altLang="ja-JP" dirty="0">
                <a:solidFill>
                  <a:schemeClr val="tx1">
                    <a:lumMod val="85000"/>
                    <a:lumOff val="15000"/>
                  </a:schemeClr>
                </a:solidFill>
                <a:latin typeface="Consolas" panose="020B0609020204030204" pitchFamily="49" charset="0"/>
              </a:rPr>
              <a:t>add A+B</a:t>
            </a:r>
            <a:r>
              <a:rPr lang="ja-JP" altLang="en-US" dirty="0">
                <a:solidFill>
                  <a:schemeClr val="tx1">
                    <a:lumMod val="85000"/>
                    <a:lumOff val="15000"/>
                  </a:schemeClr>
                </a:solidFill>
                <a:latin typeface="Consolas" panose="020B0609020204030204" pitchFamily="49" charset="0"/>
              </a:rPr>
              <a:t>→</a:t>
            </a:r>
            <a:r>
              <a:rPr lang="en-US" altLang="ja-JP" dirty="0">
                <a:solidFill>
                  <a:schemeClr val="tx1">
                    <a:lumMod val="85000"/>
                    <a:lumOff val="15000"/>
                  </a:schemeClr>
                </a:solidFill>
                <a:latin typeface="Consolas" panose="020B0609020204030204" pitchFamily="49" charset="0"/>
              </a:rPr>
              <a:t>A</a:t>
            </a:r>
            <a:endParaRPr lang="ja-JP" altLang="en-US" dirty="0">
              <a:solidFill>
                <a:schemeClr val="tx1">
                  <a:lumMod val="85000"/>
                  <a:lumOff val="15000"/>
                </a:schemeClr>
              </a:solidFill>
              <a:latin typeface="Consolas" panose="020B0609020204030204" pitchFamily="49" charset="0"/>
            </a:endParaRPr>
          </a:p>
        </p:txBody>
      </p:sp>
      <p:sp>
        <p:nvSpPr>
          <p:cNvPr id="7" name="正方形/長方形 6"/>
          <p:cNvSpPr/>
          <p:nvPr/>
        </p:nvSpPr>
        <p:spPr bwMode="auto">
          <a:xfrm>
            <a:off x="8436026"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en-US" altLang="ja-JP" dirty="0">
                <a:solidFill>
                  <a:schemeClr val="tx1">
                    <a:lumMod val="85000"/>
                    <a:lumOff val="15000"/>
                  </a:schemeClr>
                </a:solidFill>
                <a:latin typeface="Consolas" panose="020B0609020204030204" pitchFamily="49" charset="0"/>
                <a:ea typeface="メイリオ" panose="020B0604030504040204" pitchFamily="50" charset="-128"/>
              </a:rPr>
              <a:t>b A&lt;C,0</a:t>
            </a:r>
            <a:endParaRPr lang="ja-JP" altLang="en-US" dirty="0">
              <a:solidFill>
                <a:schemeClr val="tx1">
                  <a:lumMod val="85000"/>
                  <a:lumOff val="15000"/>
                </a:schemeClr>
              </a:solidFill>
              <a:latin typeface="Consolas" panose="020B0609020204030204" pitchFamily="49" charset="0"/>
              <a:ea typeface="メイリオ" panose="020B0604030504040204" pitchFamily="50" charset="-128"/>
            </a:endParaRPr>
          </a:p>
          <a:p>
            <a:endParaRPr lang="ja-JP" altLang="en-US"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8" name="正方形/長方形 7"/>
          <p:cNvSpPr/>
          <p:nvPr/>
        </p:nvSpPr>
        <p:spPr bwMode="auto">
          <a:xfrm>
            <a:off x="8436026"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9" name="正方形/長方形 8"/>
          <p:cNvSpPr/>
          <p:nvPr/>
        </p:nvSpPr>
        <p:spPr bwMode="auto">
          <a:xfrm>
            <a:off x="8436026"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10" name="正方形/長方形 9"/>
          <p:cNvSpPr/>
          <p:nvPr/>
        </p:nvSpPr>
        <p:spPr bwMode="auto">
          <a:xfrm>
            <a:off x="8076022"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0:</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11" name="正方形/長方形 10"/>
          <p:cNvSpPr/>
          <p:nvPr/>
        </p:nvSpPr>
        <p:spPr bwMode="auto">
          <a:xfrm>
            <a:off x="8076022"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1:</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12" name="正方形/長方形 11"/>
          <p:cNvSpPr/>
          <p:nvPr/>
        </p:nvSpPr>
        <p:spPr bwMode="auto">
          <a:xfrm>
            <a:off x="8076022"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2:</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13" name="正方形/長方形 12"/>
          <p:cNvSpPr/>
          <p:nvPr/>
        </p:nvSpPr>
        <p:spPr bwMode="auto">
          <a:xfrm>
            <a:off x="8076022"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3:</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6996010" y="198898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5" name="正方形/長方形 14"/>
          <p:cNvSpPr/>
          <p:nvPr/>
        </p:nvSpPr>
        <p:spPr bwMode="auto">
          <a:xfrm>
            <a:off x="6996010" y="234898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6" name="正方形/長方形 15"/>
          <p:cNvSpPr/>
          <p:nvPr/>
        </p:nvSpPr>
        <p:spPr bwMode="auto">
          <a:xfrm>
            <a:off x="6996010" y="270899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7" name="正方形/長方形 16"/>
          <p:cNvSpPr/>
          <p:nvPr/>
        </p:nvSpPr>
        <p:spPr bwMode="auto">
          <a:xfrm>
            <a:off x="6996010" y="306899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8" name="正方形/長方形 17"/>
          <p:cNvSpPr/>
          <p:nvPr/>
        </p:nvSpPr>
        <p:spPr bwMode="auto">
          <a:xfrm>
            <a:off x="6996010" y="342900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6996010" y="378900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7356014" y="198898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2000" b="1" dirty="0">
                <a:solidFill>
                  <a:schemeClr val="bg1"/>
                </a:solidFill>
                <a:latin typeface="メイリオ" panose="020B0604030504040204" pitchFamily="50" charset="-128"/>
                <a:ea typeface="メイリオ" panose="020B0604030504040204" pitchFamily="50" charset="-128"/>
              </a:rPr>
              <a:t>０</a:t>
            </a:r>
          </a:p>
        </p:txBody>
      </p:sp>
      <p:sp>
        <p:nvSpPr>
          <p:cNvPr id="21" name="正方形/長方形 20"/>
          <p:cNvSpPr/>
          <p:nvPr/>
        </p:nvSpPr>
        <p:spPr bwMode="auto">
          <a:xfrm>
            <a:off x="7356014" y="234898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solidFill>
                  <a:schemeClr val="bg1"/>
                </a:solidFill>
                <a:latin typeface="メイリオ" panose="020B0604030504040204" pitchFamily="50" charset="-128"/>
                <a:ea typeface="メイリオ" panose="020B0604030504040204" pitchFamily="50" charset="-128"/>
              </a:rPr>
              <a:t>1</a:t>
            </a:r>
            <a:endParaRPr lang="ja-JP" altLang="en-US" sz="2000" b="1"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p:cNvSpPr/>
          <p:nvPr/>
        </p:nvSpPr>
        <p:spPr bwMode="auto">
          <a:xfrm>
            <a:off x="7356014" y="270899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10</a:t>
            </a:r>
            <a:endParaRPr lang="ja-JP" altLang="en-US" sz="2000" b="1" dirty="0">
              <a:latin typeface="メイリオ" panose="020B0604030504040204" pitchFamily="50" charset="-128"/>
              <a:ea typeface="メイリオ" panose="020B0604030504040204" pitchFamily="50" charset="-128"/>
            </a:endParaRPr>
          </a:p>
        </p:txBody>
      </p:sp>
      <p:sp>
        <p:nvSpPr>
          <p:cNvPr id="23" name="正方形/長方形 22"/>
          <p:cNvSpPr/>
          <p:nvPr/>
        </p:nvSpPr>
        <p:spPr bwMode="auto">
          <a:xfrm>
            <a:off x="7356014" y="306899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b="1" dirty="0">
              <a:solidFill>
                <a:schemeClr val="bg1"/>
              </a:solidFill>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7356014" y="342900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b="1" dirty="0">
              <a:latin typeface="メイリオ" panose="020B0604030504040204" pitchFamily="50" charset="-128"/>
              <a:ea typeface="メイリオ" panose="020B0604030504040204" pitchFamily="50" charset="-128"/>
            </a:endParaRPr>
          </a:p>
        </p:txBody>
      </p:sp>
      <p:sp>
        <p:nvSpPr>
          <p:cNvPr id="25" name="正方形/長方形 24"/>
          <p:cNvSpPr/>
          <p:nvPr/>
        </p:nvSpPr>
        <p:spPr bwMode="auto">
          <a:xfrm>
            <a:off x="7356014" y="378900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b="1" dirty="0">
              <a:latin typeface="メイリオ" panose="020B0604030504040204" pitchFamily="50" charset="-128"/>
              <a:ea typeface="メイリオ" panose="020B0604030504040204" pitchFamily="50" charset="-128"/>
            </a:endParaRPr>
          </a:p>
        </p:txBody>
      </p:sp>
      <p:sp>
        <p:nvSpPr>
          <p:cNvPr id="27" name="正方形/長方形 26"/>
          <p:cNvSpPr/>
          <p:nvPr/>
        </p:nvSpPr>
        <p:spPr bwMode="auto">
          <a:xfrm>
            <a:off x="6816008"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solidFill>
                  <a:schemeClr val="tx1">
                    <a:lumMod val="85000"/>
                    <a:lumOff val="15000"/>
                  </a:schemeClr>
                </a:solidFill>
                <a:latin typeface="メイリオ" panose="020B0604030504040204" pitchFamily="50" charset="-128"/>
                <a:ea typeface="メイリオ" panose="020B0604030504040204" pitchFamily="50" charset="-128"/>
              </a:rPr>
              <a:t>レジスタ</a:t>
            </a:r>
          </a:p>
        </p:txBody>
      </p:sp>
      <p:cxnSp>
        <p:nvCxnSpPr>
          <p:cNvPr id="28" name="曲線コネクタ 27"/>
          <p:cNvCxnSpPr>
            <a:stCxn id="7" idx="3"/>
            <a:endCxn id="6" idx="3"/>
          </p:cNvCxnSpPr>
          <p:nvPr/>
        </p:nvCxnSpPr>
        <p:spPr bwMode="auto">
          <a:xfrm flipV="1">
            <a:off x="9876042" y="2168986"/>
            <a:ext cx="12700" cy="360004"/>
          </a:xfrm>
          <a:prstGeom prst="curvedConnector3">
            <a:avLst>
              <a:gd name="adj1" fmla="val 1800000"/>
            </a:avLst>
          </a:prstGeom>
          <a:ln w="15875">
            <a:solidFill>
              <a:srgbClr val="FF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8394138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ここまでのまとめ</a:t>
            </a:r>
          </a:p>
        </p:txBody>
      </p:sp>
      <p:sp>
        <p:nvSpPr>
          <p:cNvPr id="3" name="テキスト プレースホルダー 2"/>
          <p:cNvSpPr>
            <a:spLocks noGrp="1"/>
          </p:cNvSpPr>
          <p:nvPr>
            <p:ph type="body" sz="quarter" idx="10"/>
          </p:nvPr>
        </p:nvSpPr>
        <p:spPr/>
        <p:txBody>
          <a:bodyPr/>
          <a:lstStyle/>
          <a:p>
            <a:r>
              <a:rPr lang="ja-JP" altLang="en-US" dirty="0"/>
              <a:t>単純な </a:t>
            </a:r>
            <a:r>
              <a:rPr lang="en-US" altLang="ja-JP" dirty="0"/>
              <a:t>CPU </a:t>
            </a:r>
            <a:r>
              <a:rPr lang="ja-JP" altLang="en-US" dirty="0"/>
              <a:t>の構造</a:t>
            </a:r>
            <a:endParaRPr lang="en-US" altLang="ja-JP" dirty="0"/>
          </a:p>
          <a:p>
            <a:pPr lvl="1"/>
            <a:r>
              <a:rPr kumimoji="1" lang="ja-JP" altLang="en-US" dirty="0"/>
              <a:t>演算器（</a:t>
            </a:r>
            <a:r>
              <a:rPr kumimoji="1" lang="en-US" altLang="ja-JP" dirty="0"/>
              <a:t>FU</a:t>
            </a:r>
            <a:r>
              <a:rPr kumimoji="1" lang="ja-JP" altLang="en-US" dirty="0"/>
              <a:t>），レジスタ</a:t>
            </a:r>
            <a:r>
              <a:rPr lang="ja-JP" altLang="en-US" dirty="0"/>
              <a:t>，</a:t>
            </a:r>
            <a:r>
              <a:rPr kumimoji="1" lang="en-US" altLang="ja-JP" dirty="0"/>
              <a:t>PC</a:t>
            </a:r>
          </a:p>
          <a:p>
            <a:r>
              <a:rPr kumimoji="1" lang="ja-JP" altLang="en-US" dirty="0"/>
              <a:t>動作：</a:t>
            </a:r>
            <a:endParaRPr kumimoji="1" lang="en-US" altLang="ja-JP" dirty="0"/>
          </a:p>
          <a:p>
            <a:pPr lvl="1"/>
            <a:r>
              <a:rPr kumimoji="1" lang="en-US" altLang="ja-JP" dirty="0"/>
              <a:t>PC </a:t>
            </a:r>
            <a:r>
              <a:rPr kumimoji="1" lang="ja-JP" altLang="en-US" dirty="0"/>
              <a:t>に従ってメモリから命令を読み出し，それを１つずつ処理</a:t>
            </a:r>
            <a:endParaRPr kumimoji="1" lang="en-US" altLang="ja-JP" dirty="0"/>
          </a:p>
          <a:p>
            <a:r>
              <a:rPr kumimoji="1" lang="ja-JP" altLang="en-US" dirty="0"/>
              <a:t>命令の例</a:t>
            </a:r>
            <a:endParaRPr kumimoji="1" lang="en-US" altLang="ja-JP" dirty="0"/>
          </a:p>
          <a:p>
            <a:pPr lvl="1"/>
            <a:r>
              <a:rPr kumimoji="1" lang="ja-JP" altLang="en-US" dirty="0"/>
              <a:t>演算，ロード</a:t>
            </a:r>
            <a:r>
              <a:rPr kumimoji="1" lang="en-US" altLang="ja-JP" dirty="0"/>
              <a:t>/</a:t>
            </a:r>
            <a:r>
              <a:rPr kumimoji="1" lang="ja-JP" altLang="en-US" dirty="0"/>
              <a:t>ストア，ジャンプ</a:t>
            </a:r>
            <a:r>
              <a:rPr kumimoji="1" lang="en-US" altLang="ja-JP" dirty="0"/>
              <a:t>/</a:t>
            </a:r>
            <a:r>
              <a:rPr kumimoji="1" lang="ja-JP" altLang="en-US" dirty="0"/>
              <a:t>分岐，即値</a:t>
            </a:r>
          </a:p>
        </p:txBody>
      </p:sp>
    </p:spTree>
    <p:extLst>
      <p:ext uri="{BB962C8B-B14F-4D97-AF65-F5344CB8AC3E}">
        <p14:creationId xmlns:p14="http://schemas.microsoft.com/office/powerpoint/2010/main" val="28339141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余談：メモリのみでもコンピュータは作れる</a:t>
            </a:r>
          </a:p>
        </p:txBody>
      </p:sp>
      <p:sp>
        <p:nvSpPr>
          <p:cNvPr id="3" name="テキスト プレースホルダー 2"/>
          <p:cNvSpPr>
            <a:spLocks noGrp="1"/>
          </p:cNvSpPr>
          <p:nvPr>
            <p:ph type="body" sz="quarter" idx="10"/>
          </p:nvPr>
        </p:nvSpPr>
        <p:spPr>
          <a:xfrm>
            <a:off x="2135956" y="1088975"/>
            <a:ext cx="4680052" cy="5219751"/>
          </a:xfrm>
        </p:spPr>
        <p:txBody>
          <a:bodyPr/>
          <a:lstStyle/>
          <a:p>
            <a:r>
              <a:rPr kumimoji="1" lang="ja-JP" altLang="en-US" dirty="0"/>
              <a:t>レジスタは，必須の存在ではない</a:t>
            </a:r>
            <a:endParaRPr kumimoji="1" lang="en-US" altLang="ja-JP" dirty="0"/>
          </a:p>
          <a:p>
            <a:r>
              <a:rPr lang="ja-JP" altLang="en-US" dirty="0"/>
              <a:t>メモリのみでも等価なものは作れる</a:t>
            </a:r>
            <a:endParaRPr lang="en-US" altLang="ja-JP" dirty="0"/>
          </a:p>
          <a:p>
            <a:pPr lvl="1"/>
            <a:r>
              <a:rPr kumimoji="1" lang="ja-JP" altLang="en-US" dirty="0"/>
              <a:t>命令中のレジスタの指定</a:t>
            </a:r>
            <a:br>
              <a:rPr kumimoji="1" lang="en-US" altLang="ja-JP" dirty="0"/>
            </a:br>
            <a:r>
              <a:rPr kumimoji="1" lang="ja-JP" altLang="en-US" dirty="0"/>
              <a:t>（</a:t>
            </a:r>
            <a:r>
              <a:rPr kumimoji="1" lang="en-US" altLang="ja-JP" dirty="0"/>
              <a:t>A, B, C ...</a:t>
            </a:r>
            <a:r>
              <a:rPr kumimoji="1" lang="ja-JP" altLang="en-US" dirty="0"/>
              <a:t>）をメモリの</a:t>
            </a:r>
            <a:br>
              <a:rPr kumimoji="1" lang="en-US" altLang="ja-JP" dirty="0"/>
            </a:br>
            <a:r>
              <a:rPr kumimoji="1" lang="ja-JP" altLang="en-US" dirty="0"/>
              <a:t>アドレスだと思えばよい</a:t>
            </a:r>
            <a:endParaRPr kumimoji="1" lang="en-US" altLang="ja-JP" dirty="0"/>
          </a:p>
          <a:p>
            <a:r>
              <a:rPr kumimoji="1" lang="ja-JP" altLang="en-US" dirty="0"/>
              <a:t>昔の命令セットでは，ほぼメモリのみで計算を行うものも実際ある</a:t>
            </a:r>
            <a:br>
              <a:rPr kumimoji="1" lang="en-US" altLang="ja-JP" dirty="0"/>
            </a:br>
            <a:endParaRPr kumimoji="1" lang="ja-JP" altLang="en-US" dirty="0"/>
          </a:p>
        </p:txBody>
      </p:sp>
      <p:sp>
        <p:nvSpPr>
          <p:cNvPr id="4" name="正方形/長方形 3"/>
          <p:cNvSpPr/>
          <p:nvPr/>
        </p:nvSpPr>
        <p:spPr bwMode="auto">
          <a:xfrm>
            <a:off x="7086011" y="1988985"/>
            <a:ext cx="1170012" cy="1890020"/>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7176012"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0" name="フローチャート: 手作業 9"/>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13" name="正方形/長方形 12"/>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15" name="正方形/長方形 14"/>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b="1" dirty="0">
                <a:latin typeface="メイリオ" panose="020B0604030504040204" pitchFamily="50" charset="-128"/>
                <a:ea typeface="メイリオ" panose="020B0604030504040204" pitchFamily="50" charset="-128"/>
              </a:rPr>
              <a:t>0235</a:t>
            </a:r>
            <a:endParaRPr lang="ja-JP" altLang="en-US" b="1" dirty="0">
              <a:latin typeface="メイリオ" panose="020B0604030504040204" pitchFamily="50" charset="-128"/>
              <a:ea typeface="メイリオ" panose="020B0604030504040204" pitchFamily="50" charset="-128"/>
            </a:endParaRPr>
          </a:p>
        </p:txBody>
      </p:sp>
      <p:sp>
        <p:nvSpPr>
          <p:cNvPr id="16" name="正方形/長方形 15"/>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b="1" dirty="0">
              <a:latin typeface="メイリオ" panose="020B0604030504040204" pitchFamily="50" charset="-128"/>
              <a:ea typeface="メイリオ" panose="020B0604030504040204" pitchFamily="50" charset="-128"/>
            </a:endParaRPr>
          </a:p>
        </p:txBody>
      </p:sp>
      <p:sp>
        <p:nvSpPr>
          <p:cNvPr id="17" name="正方形/長方形 16"/>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18" name="正方形/長方形 17"/>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7086011" y="1628980"/>
            <a:ext cx="1170013"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21" name="正方形/長方形 20"/>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22" name="正方形/長方形 21"/>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23" name="正方形/長方形 22"/>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30" name="正方形/長方形 29"/>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b="1" dirty="0">
                <a:latin typeface="メイリオ" panose="020B0604030504040204" pitchFamily="50" charset="-128"/>
                <a:ea typeface="メイリオ" panose="020B0604030504040204" pitchFamily="50" charset="-128"/>
              </a:rPr>
              <a:t>３</a:t>
            </a:r>
          </a:p>
        </p:txBody>
      </p:sp>
      <p:cxnSp>
        <p:nvCxnSpPr>
          <p:cNvPr id="33" name="直線コネクタ 32"/>
          <p:cNvCxnSpPr/>
          <p:nvPr/>
        </p:nvCxnSpPr>
        <p:spPr bwMode="auto">
          <a:xfrm>
            <a:off x="7356015" y="2978995"/>
            <a:ext cx="270003"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直線コネクタ 33"/>
          <p:cNvCxnSpPr/>
          <p:nvPr/>
        </p:nvCxnSpPr>
        <p:spPr bwMode="auto">
          <a:xfrm>
            <a:off x="7356015" y="3519001"/>
            <a:ext cx="270003"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7" name="直線コネクタ 36"/>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78420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lang="ja-JP" altLang="en-US" dirty="0"/>
              <a:t>なぜレジスタとメモリがあるのか？</a:t>
            </a:r>
            <a:endParaRPr kumimoji="1" lang="ja-JP" altLang="en-US" dirty="0"/>
          </a:p>
        </p:txBody>
      </p:sp>
      <p:sp>
        <p:nvSpPr>
          <p:cNvPr id="4" name="テキスト プレースホルダー 3"/>
          <p:cNvSpPr>
            <a:spLocks noGrp="1"/>
          </p:cNvSpPr>
          <p:nvPr>
            <p:ph type="body" sz="quarter" idx="10"/>
          </p:nvPr>
        </p:nvSpPr>
        <p:spPr>
          <a:xfrm>
            <a:off x="2135956" y="1088975"/>
            <a:ext cx="8280092" cy="1800020"/>
          </a:xfrm>
        </p:spPr>
        <p:txBody>
          <a:bodyPr/>
          <a:lstStyle/>
          <a:p>
            <a:pPr lvl="1"/>
            <a:r>
              <a:rPr lang="ja-JP" altLang="en-US" dirty="0"/>
              <a:t>問題：</a:t>
            </a:r>
            <a:r>
              <a:rPr kumimoji="1" lang="ja-JP" altLang="en-US" dirty="0"/>
              <a:t>メモリは大容量だが，その分遅い</a:t>
            </a:r>
            <a:endParaRPr kumimoji="1" lang="en-US" altLang="ja-JP" dirty="0"/>
          </a:p>
          <a:p>
            <a:pPr lvl="1"/>
            <a:r>
              <a:rPr lang="ja-JP" altLang="en-US" dirty="0"/>
              <a:t>小容量だけど，高速なレジスタを用意</a:t>
            </a:r>
            <a:endParaRPr lang="en-US" altLang="ja-JP" dirty="0"/>
          </a:p>
          <a:p>
            <a:pPr lvl="2"/>
            <a:r>
              <a:rPr lang="ja-JP" altLang="en-US" dirty="0"/>
              <a:t>一度利用した値を入れておくことで，</a:t>
            </a:r>
            <a:r>
              <a:rPr lang="en-US" altLang="ja-JP" dirty="0"/>
              <a:t>2</a:t>
            </a:r>
            <a:r>
              <a:rPr lang="ja-JP" altLang="en-US" dirty="0"/>
              <a:t>度目からは高速に</a:t>
            </a:r>
            <a:endParaRPr lang="en-US" altLang="ja-JP" dirty="0"/>
          </a:p>
          <a:p>
            <a:pPr lvl="2"/>
            <a:r>
              <a:rPr lang="ja-JP" altLang="en-US" dirty="0"/>
              <a:t>一度使用したデータは，また使う可能性が高い</a:t>
            </a:r>
            <a:endParaRPr lang="en-US" altLang="ja-JP" dirty="0"/>
          </a:p>
        </p:txBody>
      </p:sp>
      <p:sp>
        <p:nvSpPr>
          <p:cNvPr id="23" name="下矢印 22"/>
          <p:cNvSpPr/>
          <p:nvPr/>
        </p:nvSpPr>
        <p:spPr bwMode="auto">
          <a:xfrm>
            <a:off x="4115978" y="3969006"/>
            <a:ext cx="360004" cy="1440016"/>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4" name="下矢印 23"/>
          <p:cNvSpPr/>
          <p:nvPr/>
        </p:nvSpPr>
        <p:spPr bwMode="auto">
          <a:xfrm>
            <a:off x="7086011" y="3969007"/>
            <a:ext cx="360004" cy="450005"/>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5" name="下矢印 24"/>
          <p:cNvSpPr/>
          <p:nvPr/>
        </p:nvSpPr>
        <p:spPr bwMode="auto">
          <a:xfrm>
            <a:off x="7086011" y="4959018"/>
            <a:ext cx="360004" cy="450005"/>
          </a:xfrm>
          <a:prstGeom prst="downArrow">
            <a:avLst/>
          </a:prstGeom>
          <a:ln>
            <a:solidFill>
              <a:schemeClr val="tx1">
                <a:lumMod val="75000"/>
                <a:lumOff val="25000"/>
              </a:schemeClr>
            </a:solidFill>
            <a:prstDash val="sysDash"/>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p:cNvSpPr/>
          <p:nvPr/>
        </p:nvSpPr>
        <p:spPr bwMode="auto">
          <a:xfrm>
            <a:off x="3215968" y="5409023"/>
            <a:ext cx="2160024" cy="990011"/>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メモリ</a:t>
            </a:r>
          </a:p>
        </p:txBody>
      </p:sp>
      <p:sp>
        <p:nvSpPr>
          <p:cNvPr id="6" name="角丸四角形 5"/>
          <p:cNvSpPr/>
          <p:nvPr/>
        </p:nvSpPr>
        <p:spPr bwMode="auto">
          <a:xfrm>
            <a:off x="3755974" y="3429000"/>
            <a:ext cx="1080012" cy="540006"/>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演算器</a:t>
            </a:r>
          </a:p>
        </p:txBody>
      </p:sp>
      <p:sp>
        <p:nvSpPr>
          <p:cNvPr id="16" name="正方形/長方形 15"/>
          <p:cNvSpPr/>
          <p:nvPr/>
        </p:nvSpPr>
        <p:spPr bwMode="auto">
          <a:xfrm>
            <a:off x="6186001" y="5409023"/>
            <a:ext cx="2160024" cy="925725"/>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メモリ</a:t>
            </a:r>
          </a:p>
        </p:txBody>
      </p:sp>
      <p:sp>
        <p:nvSpPr>
          <p:cNvPr id="17" name="角丸四角形 16"/>
          <p:cNvSpPr/>
          <p:nvPr/>
        </p:nvSpPr>
        <p:spPr bwMode="auto">
          <a:xfrm>
            <a:off x="6726007" y="3429000"/>
            <a:ext cx="1080012" cy="540006"/>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演算器</a:t>
            </a:r>
          </a:p>
        </p:txBody>
      </p:sp>
      <p:sp>
        <p:nvSpPr>
          <p:cNvPr id="20" name="正方形/長方形 19"/>
          <p:cNvSpPr/>
          <p:nvPr/>
        </p:nvSpPr>
        <p:spPr bwMode="auto">
          <a:xfrm>
            <a:off x="6726007" y="4419011"/>
            <a:ext cx="1080012" cy="540007"/>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b="1" dirty="0">
                <a:solidFill>
                  <a:schemeClr val="accent6">
                    <a:lumMod val="75000"/>
                  </a:schemeClr>
                </a:solidFill>
                <a:latin typeface="+mn-ea"/>
              </a:rPr>
              <a:t>レジスタ</a:t>
            </a:r>
          </a:p>
        </p:txBody>
      </p:sp>
      <p:sp>
        <p:nvSpPr>
          <p:cNvPr id="26" name="正方形/長方形 25"/>
          <p:cNvSpPr/>
          <p:nvPr/>
        </p:nvSpPr>
        <p:spPr>
          <a:xfrm>
            <a:off x="4385982" y="4509012"/>
            <a:ext cx="424189" cy="400110"/>
          </a:xfrm>
          <a:prstGeom prst="rect">
            <a:avLst/>
          </a:prstGeom>
        </p:spPr>
        <p:txBody>
          <a:bodyPr wrap="none">
            <a:noAutofit/>
          </a:bodyPr>
          <a:lstStyle/>
          <a:p>
            <a:pPr marL="0" lvl="1"/>
            <a:r>
              <a:rPr lang="ja-JP" altLang="en-US" sz="2000" dirty="0">
                <a:solidFill>
                  <a:schemeClr val="accent5"/>
                </a:solidFill>
              </a:rPr>
              <a:t>長時間</a:t>
            </a:r>
          </a:p>
        </p:txBody>
      </p:sp>
      <p:sp>
        <p:nvSpPr>
          <p:cNvPr id="27" name="正方形/長方形 26"/>
          <p:cNvSpPr/>
          <p:nvPr/>
        </p:nvSpPr>
        <p:spPr>
          <a:xfrm>
            <a:off x="7896021" y="3969006"/>
            <a:ext cx="424189" cy="400110"/>
          </a:xfrm>
          <a:prstGeom prst="rect">
            <a:avLst/>
          </a:prstGeom>
        </p:spPr>
        <p:txBody>
          <a:bodyPr wrap="none">
            <a:noAutofit/>
          </a:bodyPr>
          <a:lstStyle/>
          <a:p>
            <a:pPr marL="0" lvl="1"/>
            <a:r>
              <a:rPr lang="ja-JP" altLang="en-US" sz="2000" dirty="0">
                <a:solidFill>
                  <a:schemeClr val="accent5"/>
                </a:solidFill>
              </a:rPr>
              <a:t>短時間</a:t>
            </a:r>
            <a:endParaRPr lang="en-US" altLang="ja-JP" sz="2000" dirty="0">
              <a:solidFill>
                <a:schemeClr val="accent5"/>
              </a:solidFill>
            </a:endParaRPr>
          </a:p>
          <a:p>
            <a:pPr marL="0" lvl="1"/>
            <a:r>
              <a:rPr lang="ja-JP" altLang="en-US" sz="2000" dirty="0">
                <a:solidFill>
                  <a:schemeClr val="accent5"/>
                </a:solidFill>
              </a:rPr>
              <a:t>（データがあれば）</a:t>
            </a:r>
          </a:p>
        </p:txBody>
      </p:sp>
    </p:spTree>
    <p:extLst>
      <p:ext uri="{BB962C8B-B14F-4D97-AF65-F5344CB8AC3E}">
        <p14:creationId xmlns:p14="http://schemas.microsoft.com/office/powerpoint/2010/main" val="37319412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lang="ja-JP" altLang="en-US"/>
              <a:t>データをとってくるのに，どのぐらいかかるか？</a:t>
            </a:r>
            <a:endParaRPr lang="ja-JP" altLang="en-US" dirty="0"/>
          </a:p>
        </p:txBody>
      </p:sp>
      <p:sp>
        <p:nvSpPr>
          <p:cNvPr id="23" name="下矢印 22"/>
          <p:cNvSpPr/>
          <p:nvPr/>
        </p:nvSpPr>
        <p:spPr bwMode="auto">
          <a:xfrm>
            <a:off x="3035966" y="2258987"/>
            <a:ext cx="360004" cy="360005"/>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p:cNvSpPr/>
          <p:nvPr/>
        </p:nvSpPr>
        <p:spPr bwMode="auto">
          <a:xfrm>
            <a:off x="2135956" y="2708993"/>
            <a:ext cx="2160024" cy="810009"/>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メモリ</a:t>
            </a:r>
          </a:p>
        </p:txBody>
      </p:sp>
      <p:sp>
        <p:nvSpPr>
          <p:cNvPr id="6" name="角丸四角形 5"/>
          <p:cNvSpPr/>
          <p:nvPr/>
        </p:nvSpPr>
        <p:spPr bwMode="auto">
          <a:xfrm>
            <a:off x="2675962" y="1628980"/>
            <a:ext cx="1080012" cy="540006"/>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CPU</a:t>
            </a:r>
            <a:endParaRPr lang="ja-JP" altLang="en-US" sz="1600" dirty="0">
              <a:solidFill>
                <a:schemeClr val="tx1">
                  <a:lumMod val="75000"/>
                  <a:lumOff val="25000"/>
                </a:schemeClr>
              </a:solidFill>
              <a:latin typeface="+mn-ea"/>
            </a:endParaRPr>
          </a:p>
        </p:txBody>
      </p:sp>
      <p:sp>
        <p:nvSpPr>
          <p:cNvPr id="15" name="正方形/長方形 14"/>
          <p:cNvSpPr/>
          <p:nvPr/>
        </p:nvSpPr>
        <p:spPr bwMode="auto">
          <a:xfrm>
            <a:off x="2135956" y="4059008"/>
            <a:ext cx="2160024" cy="810009"/>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ハードディスク</a:t>
            </a:r>
          </a:p>
        </p:txBody>
      </p:sp>
      <p:sp>
        <p:nvSpPr>
          <p:cNvPr id="18" name="下矢印 17"/>
          <p:cNvSpPr/>
          <p:nvPr/>
        </p:nvSpPr>
        <p:spPr bwMode="auto">
          <a:xfrm>
            <a:off x="3035966" y="3609002"/>
            <a:ext cx="360004" cy="360004"/>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9" name="正方形/長方形 18"/>
          <p:cNvSpPr/>
          <p:nvPr/>
        </p:nvSpPr>
        <p:spPr bwMode="auto">
          <a:xfrm>
            <a:off x="2135956" y="5409023"/>
            <a:ext cx="2160024" cy="810009"/>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光学ドライブ</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テープ・ドライブ</a:t>
            </a:r>
          </a:p>
        </p:txBody>
      </p:sp>
      <p:sp>
        <p:nvSpPr>
          <p:cNvPr id="21" name="下矢印 20"/>
          <p:cNvSpPr/>
          <p:nvPr/>
        </p:nvSpPr>
        <p:spPr bwMode="auto">
          <a:xfrm>
            <a:off x="3035966" y="4959017"/>
            <a:ext cx="360004" cy="360004"/>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2" name="正方形/長方形 21"/>
          <p:cNvSpPr/>
          <p:nvPr/>
        </p:nvSpPr>
        <p:spPr>
          <a:xfrm>
            <a:off x="4565984" y="1718981"/>
            <a:ext cx="424189" cy="400110"/>
          </a:xfrm>
          <a:prstGeom prst="rect">
            <a:avLst/>
          </a:prstGeom>
        </p:spPr>
        <p:txBody>
          <a:bodyPr wrap="none">
            <a:noAutofit/>
          </a:bodyPr>
          <a:lstStyle/>
          <a:p>
            <a:pPr marL="0" lvl="1"/>
            <a:r>
              <a:rPr lang="en-US" altLang="ja-JP" sz="2000" dirty="0">
                <a:solidFill>
                  <a:schemeClr val="tx1">
                    <a:lumMod val="75000"/>
                    <a:lumOff val="25000"/>
                  </a:schemeClr>
                </a:solidFill>
              </a:rPr>
              <a:t>1ns</a:t>
            </a:r>
            <a:endParaRPr lang="ja-JP" altLang="en-US" sz="2000" dirty="0">
              <a:solidFill>
                <a:schemeClr val="tx1">
                  <a:lumMod val="75000"/>
                  <a:lumOff val="25000"/>
                </a:schemeClr>
              </a:solidFill>
            </a:endParaRPr>
          </a:p>
        </p:txBody>
      </p:sp>
      <p:sp>
        <p:nvSpPr>
          <p:cNvPr id="28" name="正方形/長方形 27"/>
          <p:cNvSpPr/>
          <p:nvPr/>
        </p:nvSpPr>
        <p:spPr>
          <a:xfrm>
            <a:off x="4565984" y="2888994"/>
            <a:ext cx="424189" cy="400110"/>
          </a:xfrm>
          <a:prstGeom prst="rect">
            <a:avLst/>
          </a:prstGeom>
        </p:spPr>
        <p:txBody>
          <a:bodyPr wrap="none">
            <a:noAutofit/>
          </a:bodyPr>
          <a:lstStyle/>
          <a:p>
            <a:pPr marL="0" lvl="1"/>
            <a:r>
              <a:rPr lang="en-US" altLang="ja-JP" sz="2000" dirty="0">
                <a:solidFill>
                  <a:schemeClr val="tx1">
                    <a:lumMod val="75000"/>
                    <a:lumOff val="25000"/>
                  </a:schemeClr>
                </a:solidFill>
              </a:rPr>
              <a:t>100ns</a:t>
            </a:r>
            <a:endParaRPr lang="ja-JP" altLang="en-US" sz="2000" dirty="0">
              <a:solidFill>
                <a:schemeClr val="tx1">
                  <a:lumMod val="75000"/>
                  <a:lumOff val="25000"/>
                </a:schemeClr>
              </a:solidFill>
            </a:endParaRPr>
          </a:p>
        </p:txBody>
      </p:sp>
      <mc:AlternateContent xmlns:mc="http://schemas.openxmlformats.org/markup-compatibility/2006" xmlns:a14="http://schemas.microsoft.com/office/drawing/2010/main">
        <mc:Choice Requires="a14">
          <p:sp>
            <p:nvSpPr>
              <p:cNvPr id="29" name="正方形/長方形 28"/>
              <p:cNvSpPr/>
              <p:nvPr/>
            </p:nvSpPr>
            <p:spPr>
              <a:xfrm>
                <a:off x="4591800" y="4239009"/>
                <a:ext cx="424189" cy="400110"/>
              </a:xfrm>
              <a:prstGeom prst="rect">
                <a:avLst/>
              </a:prstGeom>
            </p:spPr>
            <p:txBody>
              <a:bodyPr wrap="none">
                <a:noAutofit/>
              </a:bodyPr>
              <a:lstStyle/>
              <a:p>
                <a:pPr marL="0" lvl="1"/>
                <a14:m>
                  <m:oMath xmlns:m="http://schemas.openxmlformats.org/officeDocument/2006/math">
                    <m:sSup>
                      <m:sSupPr>
                        <m:ctrlPr>
                          <a:rPr lang="en-US" altLang="ja-JP" sz="2000" i="1" dirty="0">
                            <a:solidFill>
                              <a:schemeClr val="tx1">
                                <a:lumMod val="75000"/>
                                <a:lumOff val="25000"/>
                              </a:schemeClr>
                            </a:solidFill>
                            <a:latin typeface="Cambria Math" panose="02040503050406030204" pitchFamily="18" charset="0"/>
                          </a:rPr>
                        </m:ctrlPr>
                      </m:sSupPr>
                      <m:e>
                        <m:r>
                          <a:rPr lang="en-US" altLang="ja-JP" sz="2000" i="1" dirty="0">
                            <a:solidFill>
                              <a:schemeClr val="tx1">
                                <a:lumMod val="75000"/>
                                <a:lumOff val="25000"/>
                              </a:schemeClr>
                            </a:solidFill>
                            <a:latin typeface="Cambria Math" panose="02040503050406030204" pitchFamily="18" charset="0"/>
                          </a:rPr>
                          <m:t>10</m:t>
                        </m:r>
                      </m:e>
                      <m:sup>
                        <m:r>
                          <a:rPr lang="en-US" altLang="ja-JP" sz="2000" i="1" dirty="0">
                            <a:solidFill>
                              <a:schemeClr val="tx1">
                                <a:lumMod val="75000"/>
                                <a:lumOff val="25000"/>
                              </a:schemeClr>
                            </a:solidFill>
                            <a:latin typeface="Cambria Math" panose="02040503050406030204" pitchFamily="18" charset="0"/>
                          </a:rPr>
                          <m:t>6</m:t>
                        </m:r>
                      </m:sup>
                    </m:sSup>
                  </m:oMath>
                </a14:m>
                <a:r>
                  <a:rPr lang="en-US" altLang="ja-JP" sz="2000" dirty="0">
                    <a:solidFill>
                      <a:schemeClr val="tx1">
                        <a:lumMod val="75000"/>
                        <a:lumOff val="25000"/>
                      </a:schemeClr>
                    </a:solidFill>
                  </a:rPr>
                  <a:t>ns</a:t>
                </a:r>
                <a:endParaRPr lang="ja-JP" altLang="en-US" sz="2000" dirty="0">
                  <a:solidFill>
                    <a:schemeClr val="tx1">
                      <a:lumMod val="75000"/>
                      <a:lumOff val="25000"/>
                    </a:schemeClr>
                  </a:solidFill>
                </a:endParaRPr>
              </a:p>
            </p:txBody>
          </p:sp>
        </mc:Choice>
        <mc:Fallback xmlns="">
          <p:sp>
            <p:nvSpPr>
              <p:cNvPr id="29" name="正方形/長方形 28"/>
              <p:cNvSpPr>
                <a:spLocks noRot="1" noChangeAspect="1" noMove="1" noResize="1" noEditPoints="1" noAdjustHandles="1" noChangeArrowheads="1" noChangeShapeType="1" noTextEdit="1"/>
              </p:cNvSpPr>
              <p:nvPr/>
            </p:nvSpPr>
            <p:spPr>
              <a:xfrm>
                <a:off x="4591800" y="4239009"/>
                <a:ext cx="424189" cy="400110"/>
              </a:xfrm>
              <a:prstGeom prst="rect">
                <a:avLst/>
              </a:prstGeom>
              <a:blipFill>
                <a:blip r:embed="rId2"/>
                <a:stretch>
                  <a:fillRect t="-6061" r="-112857" b="-2727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0" name="正方形/長方形 29"/>
              <p:cNvSpPr/>
              <p:nvPr/>
            </p:nvSpPr>
            <p:spPr>
              <a:xfrm>
                <a:off x="4565984" y="5589024"/>
                <a:ext cx="424189" cy="400110"/>
              </a:xfrm>
              <a:prstGeom prst="rect">
                <a:avLst/>
              </a:prstGeom>
            </p:spPr>
            <p:txBody>
              <a:bodyPr wrap="none">
                <a:noAutofit/>
              </a:bodyPr>
              <a:lstStyle/>
              <a:p>
                <a:pPr marL="0" lvl="1"/>
                <a14:m>
                  <m:oMath xmlns:m="http://schemas.openxmlformats.org/officeDocument/2006/math">
                    <m:sSup>
                      <m:sSupPr>
                        <m:ctrlPr>
                          <a:rPr lang="en-US" altLang="ja-JP" sz="2000" i="1" dirty="0">
                            <a:solidFill>
                              <a:schemeClr val="tx1">
                                <a:lumMod val="75000"/>
                                <a:lumOff val="25000"/>
                              </a:schemeClr>
                            </a:solidFill>
                            <a:latin typeface="Cambria Math" panose="02040503050406030204" pitchFamily="18" charset="0"/>
                          </a:rPr>
                        </m:ctrlPr>
                      </m:sSupPr>
                      <m:e>
                        <m:r>
                          <a:rPr lang="en-US" altLang="ja-JP" sz="2000" i="1" dirty="0">
                            <a:solidFill>
                              <a:schemeClr val="tx1">
                                <a:lumMod val="75000"/>
                                <a:lumOff val="25000"/>
                              </a:schemeClr>
                            </a:solidFill>
                            <a:latin typeface="Cambria Math" panose="02040503050406030204" pitchFamily="18" charset="0"/>
                          </a:rPr>
                          <m:t>10</m:t>
                        </m:r>
                      </m:e>
                      <m:sup>
                        <m:r>
                          <a:rPr lang="en-US" altLang="ja-JP" sz="2000" i="1" dirty="0">
                            <a:solidFill>
                              <a:schemeClr val="tx1">
                                <a:lumMod val="75000"/>
                                <a:lumOff val="25000"/>
                              </a:schemeClr>
                            </a:solidFill>
                            <a:latin typeface="Cambria Math" panose="02040503050406030204" pitchFamily="18" charset="0"/>
                          </a:rPr>
                          <m:t>9</m:t>
                        </m:r>
                      </m:sup>
                    </m:sSup>
                  </m:oMath>
                </a14:m>
                <a:r>
                  <a:rPr lang="en-US" altLang="ja-JP" sz="2000" dirty="0">
                    <a:solidFill>
                      <a:schemeClr val="tx1">
                        <a:lumMod val="75000"/>
                        <a:lumOff val="25000"/>
                      </a:schemeClr>
                    </a:solidFill>
                  </a:rPr>
                  <a:t>ns</a:t>
                </a:r>
                <a:endParaRPr lang="ja-JP" altLang="en-US" sz="2000" dirty="0">
                  <a:solidFill>
                    <a:schemeClr val="tx1">
                      <a:lumMod val="75000"/>
                      <a:lumOff val="25000"/>
                    </a:schemeClr>
                  </a:solidFill>
                </a:endParaRPr>
              </a:p>
            </p:txBody>
          </p:sp>
        </mc:Choice>
        <mc:Fallback xmlns="">
          <p:sp>
            <p:nvSpPr>
              <p:cNvPr id="30" name="正方形/長方形 29"/>
              <p:cNvSpPr>
                <a:spLocks noRot="1" noChangeAspect="1" noMove="1" noResize="1" noEditPoints="1" noAdjustHandles="1" noChangeArrowheads="1" noChangeShapeType="1" noTextEdit="1"/>
              </p:cNvSpPr>
              <p:nvPr/>
            </p:nvSpPr>
            <p:spPr>
              <a:xfrm>
                <a:off x="4565984" y="5589024"/>
                <a:ext cx="424189" cy="400110"/>
              </a:xfrm>
              <a:prstGeom prst="rect">
                <a:avLst/>
              </a:prstGeom>
              <a:blipFill>
                <a:blip r:embed="rId3"/>
                <a:stretch>
                  <a:fillRect t="-7692" r="-111429" b="-29231"/>
                </a:stretch>
              </a:blipFill>
            </p:spPr>
            <p:txBody>
              <a:bodyPr/>
              <a:lstStyle/>
              <a:p>
                <a:r>
                  <a:rPr lang="ja-JP" altLang="en-US">
                    <a:noFill/>
                  </a:rPr>
                  <a:t> </a:t>
                </a:r>
              </a:p>
            </p:txBody>
          </p:sp>
        </mc:Fallback>
      </mc:AlternateContent>
      <p:grpSp>
        <p:nvGrpSpPr>
          <p:cNvPr id="10" name="グループ化 9"/>
          <p:cNvGrpSpPr/>
          <p:nvPr/>
        </p:nvGrpSpPr>
        <p:grpSpPr>
          <a:xfrm>
            <a:off x="6636006" y="1448979"/>
            <a:ext cx="1774204" cy="990011"/>
            <a:chOff x="5112006" y="1448978"/>
            <a:chExt cx="1774204" cy="990011"/>
          </a:xfrm>
        </p:grpSpPr>
        <p:pic>
          <p:nvPicPr>
            <p:cNvPr id="1032" name="Picture 8" descr="「本棚 イラスト」の画像検索結果"/>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12006" y="1448978"/>
              <a:ext cx="1111166" cy="990011"/>
            </a:xfrm>
            <a:prstGeom prst="rect">
              <a:avLst/>
            </a:prstGeom>
            <a:noFill/>
            <a:extLst>
              <a:ext uri="{909E8E84-426E-40DD-AFC4-6F175D3DCCD1}">
                <a14:hiddenFill xmlns:a14="http://schemas.microsoft.com/office/drawing/2010/main">
                  <a:solidFill>
                    <a:srgbClr val="FFFFFF"/>
                  </a:solidFill>
                </a14:hiddenFill>
              </a:ext>
            </a:extLst>
          </p:spPr>
        </p:pic>
        <p:sp>
          <p:nvSpPr>
            <p:cNvPr id="32" name="正方形/長方形 31"/>
            <p:cNvSpPr/>
            <p:nvPr/>
          </p:nvSpPr>
          <p:spPr>
            <a:xfrm>
              <a:off x="6462021" y="1628980"/>
              <a:ext cx="424189" cy="400110"/>
            </a:xfrm>
            <a:prstGeom prst="rect">
              <a:avLst/>
            </a:prstGeom>
          </p:spPr>
          <p:txBody>
            <a:bodyPr wrap="none">
              <a:noAutofit/>
            </a:bodyPr>
            <a:lstStyle/>
            <a:p>
              <a:pPr marL="0" lvl="1"/>
              <a:r>
                <a:rPr lang="ja-JP" altLang="en-US" sz="2000" dirty="0">
                  <a:solidFill>
                    <a:schemeClr val="tx1">
                      <a:lumMod val="75000"/>
                      <a:lumOff val="25000"/>
                    </a:schemeClr>
                  </a:solidFill>
                </a:rPr>
                <a:t>マイ本棚：</a:t>
              </a:r>
              <a:br>
                <a:rPr lang="en-US" altLang="ja-JP" sz="2000" dirty="0">
                  <a:solidFill>
                    <a:schemeClr val="tx1">
                      <a:lumMod val="75000"/>
                      <a:lumOff val="25000"/>
                    </a:schemeClr>
                  </a:solidFill>
                </a:rPr>
              </a:br>
              <a:r>
                <a:rPr lang="en-US" altLang="ja-JP" sz="2000" dirty="0">
                  <a:solidFill>
                    <a:schemeClr val="tx1">
                      <a:lumMod val="75000"/>
                      <a:lumOff val="25000"/>
                    </a:schemeClr>
                  </a:solidFill>
                </a:rPr>
                <a:t>1</a:t>
              </a:r>
              <a:r>
                <a:rPr lang="ja-JP" altLang="en-US" sz="2000" dirty="0">
                  <a:solidFill>
                    <a:schemeClr val="tx1">
                      <a:lumMod val="75000"/>
                      <a:lumOff val="25000"/>
                    </a:schemeClr>
                  </a:solidFill>
                </a:rPr>
                <a:t>分（目的の本を探す）</a:t>
              </a:r>
            </a:p>
          </p:txBody>
        </p:sp>
      </p:grpSp>
      <p:grpSp>
        <p:nvGrpSpPr>
          <p:cNvPr id="12" name="グループ化 11"/>
          <p:cNvGrpSpPr/>
          <p:nvPr/>
        </p:nvGrpSpPr>
        <p:grpSpPr>
          <a:xfrm>
            <a:off x="6186002" y="3969006"/>
            <a:ext cx="2224209" cy="1080012"/>
            <a:chOff x="4662001" y="3969006"/>
            <a:chExt cx="2224209" cy="1080012"/>
          </a:xfrm>
        </p:grpSpPr>
        <p:pic>
          <p:nvPicPr>
            <p:cNvPr id="1048" name="Picture 24" descr="「木星」の画像検索結果"/>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62001" y="3969006"/>
              <a:ext cx="1608278" cy="1080012"/>
            </a:xfrm>
            <a:prstGeom prst="rect">
              <a:avLst/>
            </a:prstGeom>
            <a:noFill/>
            <a:extLst>
              <a:ext uri="{909E8E84-426E-40DD-AFC4-6F175D3DCCD1}">
                <a14:hiddenFill xmlns:a14="http://schemas.microsoft.com/office/drawing/2010/main">
                  <a:solidFill>
                    <a:srgbClr val="FFFFFF"/>
                  </a:solidFill>
                </a14:hiddenFill>
              </a:ext>
            </a:extLst>
          </p:spPr>
        </p:pic>
        <p:sp>
          <p:nvSpPr>
            <p:cNvPr id="38" name="正方形/長方形 37"/>
            <p:cNvSpPr/>
            <p:nvPr/>
          </p:nvSpPr>
          <p:spPr>
            <a:xfrm>
              <a:off x="6462021" y="4239009"/>
              <a:ext cx="424189" cy="400110"/>
            </a:xfrm>
            <a:prstGeom prst="rect">
              <a:avLst/>
            </a:prstGeom>
          </p:spPr>
          <p:txBody>
            <a:bodyPr wrap="none">
              <a:noAutofit/>
            </a:bodyPr>
            <a:lstStyle/>
            <a:p>
              <a:pPr marL="0" lvl="1"/>
              <a:r>
                <a:rPr lang="ja-JP" altLang="en-US" sz="2000" dirty="0">
                  <a:solidFill>
                    <a:schemeClr val="tx1">
                      <a:lumMod val="75000"/>
                      <a:lumOff val="25000"/>
                    </a:schemeClr>
                  </a:solidFill>
                </a:rPr>
                <a:t>木星：</a:t>
              </a:r>
              <a:br>
                <a:rPr lang="en-US" altLang="ja-JP" sz="2000" dirty="0">
                  <a:solidFill>
                    <a:schemeClr val="tx1">
                      <a:lumMod val="75000"/>
                      <a:lumOff val="25000"/>
                    </a:schemeClr>
                  </a:solidFill>
                </a:rPr>
              </a:br>
              <a:r>
                <a:rPr lang="en-US" altLang="ja-JP" sz="2000" dirty="0">
                  <a:solidFill>
                    <a:schemeClr val="tx1">
                      <a:lumMod val="75000"/>
                      <a:lumOff val="25000"/>
                    </a:schemeClr>
                  </a:solidFill>
                </a:rPr>
                <a:t>2</a:t>
              </a:r>
              <a:r>
                <a:rPr lang="ja-JP" altLang="en-US" sz="2000" dirty="0">
                  <a:solidFill>
                    <a:schemeClr val="tx1">
                      <a:lumMod val="75000"/>
                      <a:lumOff val="25000"/>
                    </a:schemeClr>
                  </a:solidFill>
                </a:rPr>
                <a:t>年   （ロケット）</a:t>
              </a:r>
            </a:p>
          </p:txBody>
        </p:sp>
      </p:grpSp>
      <p:grpSp>
        <p:nvGrpSpPr>
          <p:cNvPr id="13" name="グループ化 12"/>
          <p:cNvGrpSpPr/>
          <p:nvPr/>
        </p:nvGrpSpPr>
        <p:grpSpPr>
          <a:xfrm>
            <a:off x="5825998" y="5409022"/>
            <a:ext cx="2584213" cy="900010"/>
            <a:chOff x="4301997" y="5409022"/>
            <a:chExt cx="2584213" cy="900010"/>
          </a:xfrm>
        </p:grpSpPr>
        <p:pic>
          <p:nvPicPr>
            <p:cNvPr id="1050" name="Picture 26" descr="http://www.skyfactory.org/deneb/Deneb_large.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01997" y="5409022"/>
              <a:ext cx="1960022" cy="900010"/>
            </a:xfrm>
            <a:prstGeom prst="rect">
              <a:avLst/>
            </a:prstGeom>
            <a:noFill/>
            <a:extLst>
              <a:ext uri="{909E8E84-426E-40DD-AFC4-6F175D3DCCD1}">
                <a14:hiddenFill xmlns:a14="http://schemas.microsoft.com/office/drawing/2010/main">
                  <a:solidFill>
                    <a:srgbClr val="FFFFFF"/>
                  </a:solidFill>
                </a14:hiddenFill>
              </a:ext>
            </a:extLst>
          </p:spPr>
        </p:pic>
        <p:sp>
          <p:nvSpPr>
            <p:cNvPr id="41" name="正方形/長方形 40"/>
            <p:cNvSpPr/>
            <p:nvPr/>
          </p:nvSpPr>
          <p:spPr>
            <a:xfrm>
              <a:off x="6462021" y="5589024"/>
              <a:ext cx="424189" cy="400110"/>
            </a:xfrm>
            <a:prstGeom prst="rect">
              <a:avLst/>
            </a:prstGeom>
          </p:spPr>
          <p:txBody>
            <a:bodyPr wrap="none">
              <a:noAutofit/>
            </a:bodyPr>
            <a:lstStyle/>
            <a:p>
              <a:pPr marL="0" lvl="1"/>
              <a:r>
                <a:rPr lang="ja-JP" altLang="en-US" sz="2000" dirty="0">
                  <a:solidFill>
                    <a:schemeClr val="tx1">
                      <a:lumMod val="75000"/>
                      <a:lumOff val="25000"/>
                    </a:schemeClr>
                  </a:solidFill>
                </a:rPr>
                <a:t>白鳥座デネブ：</a:t>
              </a:r>
              <a:br>
                <a:rPr lang="en-US" altLang="ja-JP" sz="2000" dirty="0">
                  <a:solidFill>
                    <a:schemeClr val="tx1">
                      <a:lumMod val="75000"/>
                      <a:lumOff val="25000"/>
                    </a:schemeClr>
                  </a:solidFill>
                </a:rPr>
              </a:br>
              <a:r>
                <a:rPr lang="en-US" altLang="ja-JP" sz="2000" dirty="0">
                  <a:solidFill>
                    <a:schemeClr val="tx1">
                      <a:lumMod val="75000"/>
                      <a:lumOff val="25000"/>
                    </a:schemeClr>
                  </a:solidFill>
                </a:rPr>
                <a:t>2000</a:t>
              </a:r>
              <a:r>
                <a:rPr lang="ja-JP" altLang="en-US" sz="2000" dirty="0">
                  <a:solidFill>
                    <a:schemeClr val="tx1">
                      <a:lumMod val="75000"/>
                      <a:lumOff val="25000"/>
                    </a:schemeClr>
                  </a:solidFill>
                </a:rPr>
                <a:t>年（光速）</a:t>
              </a:r>
            </a:p>
          </p:txBody>
        </p:sp>
      </p:grpSp>
      <p:grpSp>
        <p:nvGrpSpPr>
          <p:cNvPr id="4" name="グループ化 3"/>
          <p:cNvGrpSpPr/>
          <p:nvPr/>
        </p:nvGrpSpPr>
        <p:grpSpPr>
          <a:xfrm>
            <a:off x="5825998" y="2528991"/>
            <a:ext cx="2584213" cy="1217149"/>
            <a:chOff x="4301997" y="2528990"/>
            <a:chExt cx="2584213" cy="1217149"/>
          </a:xfrm>
        </p:grpSpPr>
        <p:pic>
          <p:nvPicPr>
            <p:cNvPr id="1026" name="Picture 2" descr="https://4.bp.blogspot.com/-HXhQY5J5SKY/U7O8H5dFRcI/AAAAAAAAiaE/mHc90zyBI8w/s800/nagoya_syachihoko.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202007" y="2618991"/>
              <a:ext cx="1211986" cy="112714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ã«ãã§ã®ã¢ã¼ãã³ã°ã»ããã®ã¤ã©ã¹ãï¼å°åãã¼ã¹ãï¼"/>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301997" y="2528990"/>
              <a:ext cx="1193595" cy="1050364"/>
            </a:xfrm>
            <a:prstGeom prst="rect">
              <a:avLst/>
            </a:prstGeom>
            <a:noFill/>
            <a:extLst>
              <a:ext uri="{909E8E84-426E-40DD-AFC4-6F175D3DCCD1}">
                <a14:hiddenFill xmlns:a14="http://schemas.microsoft.com/office/drawing/2010/main">
                  <a:solidFill>
                    <a:srgbClr val="FFFFFF"/>
                  </a:solidFill>
                </a14:hiddenFill>
              </a:ext>
            </a:extLst>
          </p:spPr>
        </p:pic>
        <p:sp>
          <p:nvSpPr>
            <p:cNvPr id="31" name="正方形/長方形 30"/>
            <p:cNvSpPr/>
            <p:nvPr/>
          </p:nvSpPr>
          <p:spPr>
            <a:xfrm>
              <a:off x="6462021" y="2888994"/>
              <a:ext cx="424189" cy="400110"/>
            </a:xfrm>
            <a:prstGeom prst="rect">
              <a:avLst/>
            </a:prstGeom>
          </p:spPr>
          <p:txBody>
            <a:bodyPr wrap="none">
              <a:noAutofit/>
            </a:bodyPr>
            <a:lstStyle/>
            <a:p>
              <a:pPr marL="0" lvl="1"/>
              <a:r>
                <a:rPr lang="ja-JP" altLang="en-US" sz="2000" dirty="0">
                  <a:solidFill>
                    <a:schemeClr val="tx1">
                      <a:lumMod val="75000"/>
                      <a:lumOff val="25000"/>
                    </a:schemeClr>
                  </a:solidFill>
                </a:rPr>
                <a:t>名古屋：</a:t>
              </a:r>
              <a:br>
                <a:rPr lang="en-US" altLang="ja-JP" sz="2000" dirty="0">
                  <a:solidFill>
                    <a:schemeClr val="tx1">
                      <a:lumMod val="75000"/>
                      <a:lumOff val="25000"/>
                    </a:schemeClr>
                  </a:solidFill>
                </a:rPr>
              </a:br>
              <a:r>
                <a:rPr lang="en-US" altLang="ja-JP" sz="2000" dirty="0">
                  <a:solidFill>
                    <a:schemeClr val="tx1">
                      <a:lumMod val="75000"/>
                      <a:lumOff val="25000"/>
                    </a:schemeClr>
                  </a:solidFill>
                </a:rPr>
                <a:t>95</a:t>
              </a:r>
              <a:r>
                <a:rPr lang="ja-JP" altLang="en-US" sz="2000" dirty="0">
                  <a:solidFill>
                    <a:schemeClr val="tx1">
                      <a:lumMod val="75000"/>
                      <a:lumOff val="25000"/>
                    </a:schemeClr>
                  </a:solidFill>
                </a:rPr>
                <a:t>分（新幹線）</a:t>
              </a:r>
            </a:p>
          </p:txBody>
        </p:sp>
      </p:grpSp>
    </p:spTree>
    <p:extLst>
      <p:ext uri="{BB962C8B-B14F-4D97-AF65-F5344CB8AC3E}">
        <p14:creationId xmlns:p14="http://schemas.microsoft.com/office/powerpoint/2010/main" val="13224433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lang="en-US" altLang="ja-JP" dirty="0"/>
              <a:t>C </a:t>
            </a:r>
            <a:r>
              <a:rPr lang="ja-JP" altLang="en-US" dirty="0"/>
              <a:t>言語と機械語の対応</a:t>
            </a:r>
          </a:p>
        </p:txBody>
      </p:sp>
    </p:spTree>
    <p:extLst>
      <p:ext uri="{BB962C8B-B14F-4D97-AF65-F5344CB8AC3E}">
        <p14:creationId xmlns:p14="http://schemas.microsoft.com/office/powerpoint/2010/main" val="26728048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 </a:t>
            </a:r>
            <a:r>
              <a:rPr kumimoji="1" lang="ja-JP" altLang="en-US" dirty="0"/>
              <a:t>言語で書かれたプログラムを動作させるには</a:t>
            </a:r>
          </a:p>
        </p:txBody>
      </p:sp>
      <p:sp>
        <p:nvSpPr>
          <p:cNvPr id="3" name="テキスト プレースホルダー 2"/>
          <p:cNvSpPr>
            <a:spLocks noGrp="1"/>
          </p:cNvSpPr>
          <p:nvPr>
            <p:ph type="body" sz="quarter" idx="10"/>
          </p:nvPr>
        </p:nvSpPr>
        <p:spPr/>
        <p:txBody>
          <a:bodyPr/>
          <a:lstStyle/>
          <a:p>
            <a:r>
              <a:rPr lang="ja-JP" altLang="en-US" dirty="0"/>
              <a:t>ここまでに説明した </a:t>
            </a:r>
            <a:r>
              <a:rPr lang="en-US" altLang="ja-JP" dirty="0"/>
              <a:t>CPU </a:t>
            </a:r>
            <a:r>
              <a:rPr lang="ja-JP" altLang="en-US" dirty="0"/>
              <a:t>でも，大概のことはできそう</a:t>
            </a:r>
            <a:endParaRPr lang="en-US" altLang="ja-JP" dirty="0"/>
          </a:p>
          <a:p>
            <a:pPr lvl="1"/>
            <a:r>
              <a:rPr kumimoji="1" lang="ja-JP" altLang="en-US" dirty="0"/>
              <a:t>任意の場所のメモリの読み書き</a:t>
            </a:r>
            <a:endParaRPr kumimoji="1" lang="en-US" altLang="ja-JP" dirty="0"/>
          </a:p>
          <a:p>
            <a:pPr lvl="1"/>
            <a:r>
              <a:rPr kumimoji="1" lang="ja-JP" altLang="en-US" dirty="0"/>
              <a:t>ループ，分岐</a:t>
            </a:r>
            <a:endParaRPr kumimoji="1" lang="en-US" altLang="ja-JP" dirty="0"/>
          </a:p>
          <a:p>
            <a:r>
              <a:rPr kumimoji="1" lang="ja-JP" altLang="en-US" dirty="0"/>
              <a:t>コンパイラの</a:t>
            </a:r>
            <a:r>
              <a:rPr lang="ja-JP" altLang="en-US" dirty="0"/>
              <a:t>処理</a:t>
            </a:r>
            <a:r>
              <a:rPr kumimoji="1" lang="ja-JP" altLang="en-US" dirty="0"/>
              <a:t>：</a:t>
            </a:r>
            <a:endParaRPr kumimoji="1" lang="en-US" altLang="ja-JP" dirty="0"/>
          </a:p>
          <a:p>
            <a:pPr lvl="1"/>
            <a:r>
              <a:rPr kumimoji="1" lang="en-US" altLang="ja-JP" dirty="0"/>
              <a:t>C </a:t>
            </a:r>
            <a:r>
              <a:rPr kumimoji="1" lang="ja-JP" altLang="en-US" dirty="0"/>
              <a:t>言語で書いた各ステートメントを，対応する機械語</a:t>
            </a:r>
            <a:br>
              <a:rPr kumimoji="1" lang="en-US" altLang="ja-JP" dirty="0"/>
            </a:br>
            <a:r>
              <a:rPr kumimoji="1" lang="ja-JP" altLang="en-US" dirty="0"/>
              <a:t>に置き換える</a:t>
            </a:r>
            <a:endParaRPr kumimoji="1" lang="en-US" altLang="ja-JP" dirty="0"/>
          </a:p>
          <a:p>
            <a:pPr lvl="1"/>
            <a:r>
              <a:rPr kumimoji="1" lang="ja-JP" altLang="en-US" dirty="0"/>
              <a:t>基本的にはパターンマッチング</a:t>
            </a:r>
            <a:endParaRPr kumimoji="1" lang="en-US" altLang="ja-JP" dirty="0"/>
          </a:p>
        </p:txBody>
      </p:sp>
    </p:spTree>
    <p:extLst>
      <p:ext uri="{BB962C8B-B14F-4D97-AF65-F5344CB8AC3E}">
        <p14:creationId xmlns:p14="http://schemas.microsoft.com/office/powerpoint/2010/main" val="42502804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 </a:t>
            </a:r>
            <a:r>
              <a:rPr kumimoji="1" lang="ja-JP" altLang="en-US" dirty="0"/>
              <a:t>言語で書かれたプログラムを動作させるには</a:t>
            </a:r>
          </a:p>
        </p:txBody>
      </p:sp>
      <p:sp>
        <p:nvSpPr>
          <p:cNvPr id="3" name="テキスト プレースホルダー 2"/>
          <p:cNvSpPr>
            <a:spLocks noGrp="1"/>
          </p:cNvSpPr>
          <p:nvPr>
            <p:ph type="body" sz="quarter" idx="10"/>
          </p:nvPr>
        </p:nvSpPr>
        <p:spPr/>
        <p:txBody>
          <a:bodyPr/>
          <a:lstStyle/>
          <a:p>
            <a:r>
              <a:rPr lang="ja-JP" altLang="en-US" dirty="0"/>
              <a:t>具体的に，</a:t>
            </a:r>
            <a:r>
              <a:rPr lang="en-US" altLang="ja-JP" dirty="0"/>
              <a:t>C </a:t>
            </a:r>
            <a:r>
              <a:rPr lang="ja-JP" altLang="en-US" dirty="0"/>
              <a:t>言語の構文をみていく</a:t>
            </a:r>
            <a:endParaRPr lang="en-US" altLang="ja-JP" dirty="0"/>
          </a:p>
          <a:p>
            <a:pPr lvl="1"/>
            <a:r>
              <a:rPr lang="ja-JP" altLang="en-US" dirty="0"/>
              <a:t>まずは例としてループを手でコンパイルしてみる</a:t>
            </a:r>
            <a:endParaRPr lang="en-US" altLang="ja-JP" dirty="0"/>
          </a:p>
          <a:p>
            <a:r>
              <a:rPr lang="en-US" altLang="ja-JP" dirty="0"/>
              <a:t>C </a:t>
            </a:r>
            <a:r>
              <a:rPr lang="ja-JP" altLang="en-US" dirty="0"/>
              <a:t>言語の構文から，どのような命令が必要なのかを検討</a:t>
            </a:r>
          </a:p>
        </p:txBody>
      </p:sp>
    </p:spTree>
    <p:extLst>
      <p:ext uri="{BB962C8B-B14F-4D97-AF65-F5344CB8AC3E}">
        <p14:creationId xmlns:p14="http://schemas.microsoft.com/office/powerpoint/2010/main" val="19014104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C </a:t>
            </a:r>
            <a:r>
              <a:rPr lang="ja-JP" altLang="en-US" dirty="0"/>
              <a:t>言語のループ</a:t>
            </a:r>
          </a:p>
        </p:txBody>
      </p:sp>
      <p:sp>
        <p:nvSpPr>
          <p:cNvPr id="3" name="テキスト プレースホルダー 2"/>
          <p:cNvSpPr>
            <a:spLocks noGrp="1"/>
          </p:cNvSpPr>
          <p:nvPr>
            <p:ph type="body" sz="quarter" idx="10"/>
          </p:nvPr>
        </p:nvSpPr>
        <p:spPr>
          <a:xfrm>
            <a:off x="2135956" y="1088975"/>
            <a:ext cx="8280092" cy="900010"/>
          </a:xfrm>
        </p:spPr>
        <p:txBody>
          <a:bodyPr/>
          <a:lstStyle/>
          <a:p>
            <a:r>
              <a:rPr lang="en-US" altLang="ja-JP" dirty="0"/>
              <a:t>C </a:t>
            </a:r>
            <a:r>
              <a:rPr lang="ja-JP" altLang="en-US" dirty="0"/>
              <a:t>言語のループについて考える</a:t>
            </a:r>
          </a:p>
        </p:txBody>
      </p:sp>
      <p:sp>
        <p:nvSpPr>
          <p:cNvPr id="4" name="テキスト プレースホルダー 2"/>
          <p:cNvSpPr txBox="1">
            <a:spLocks/>
          </p:cNvSpPr>
          <p:nvPr/>
        </p:nvSpPr>
        <p:spPr bwMode="auto">
          <a:xfrm>
            <a:off x="2495961" y="4059007"/>
            <a:ext cx="6542471" cy="150210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en-US" altLang="ja-JP" kern="0" dirty="0">
                <a:latin typeface="Consolas" panose="020B0609020204030204" pitchFamily="49" charset="0"/>
              </a:rPr>
              <a:t>1:     </a:t>
            </a:r>
            <a:r>
              <a:rPr lang="en-US" altLang="ja-JP" kern="0" dirty="0" err="1">
                <a:latin typeface="Consolas" panose="020B0609020204030204" pitchFamily="49" charset="0"/>
              </a:rPr>
              <a:t>i</a:t>
            </a:r>
            <a:r>
              <a:rPr lang="en-US" altLang="ja-JP" kern="0" dirty="0">
                <a:latin typeface="Consolas" panose="020B0609020204030204" pitchFamily="49" charset="0"/>
              </a:rPr>
              <a:t> = 0;		</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初期化部分</a:t>
            </a:r>
            <a:br>
              <a:rPr lang="en-US" altLang="ja-JP" kern="0" dirty="0">
                <a:latin typeface="Consolas" panose="020B0609020204030204" pitchFamily="49" charset="0"/>
              </a:rPr>
            </a:br>
            <a:r>
              <a:rPr lang="en-US" altLang="ja-JP" kern="0" dirty="0">
                <a:latin typeface="Consolas" panose="020B0609020204030204" pitchFamily="49" charset="0"/>
              </a:rPr>
              <a:t>2: LABEL:		</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ループの先頭</a:t>
            </a:r>
            <a:br>
              <a:rPr lang="en-US" altLang="ja-JP" kern="0" dirty="0">
                <a:solidFill>
                  <a:schemeClr val="accent3">
                    <a:lumMod val="75000"/>
                  </a:schemeClr>
                </a:solidFill>
                <a:latin typeface="Consolas" panose="020B0609020204030204" pitchFamily="49" charset="0"/>
              </a:rPr>
            </a:br>
            <a:r>
              <a:rPr lang="en-US" altLang="ja-JP" kern="0" dirty="0">
                <a:latin typeface="Consolas" panose="020B0609020204030204" pitchFamily="49" charset="0"/>
              </a:rPr>
              <a:t>3:     </a:t>
            </a:r>
            <a:r>
              <a:rPr lang="en-US" altLang="ja-JP" kern="0" dirty="0" err="1">
                <a:latin typeface="Consolas" panose="020B0609020204030204" pitchFamily="49" charset="0"/>
              </a:rPr>
              <a:t>i</a:t>
            </a:r>
            <a:r>
              <a:rPr lang="en-US" altLang="ja-JP" kern="0" dirty="0">
                <a:latin typeface="Consolas" panose="020B0609020204030204" pitchFamily="49" charset="0"/>
              </a:rPr>
              <a:t> = </a:t>
            </a:r>
            <a:r>
              <a:rPr lang="en-US" altLang="ja-JP" kern="0" dirty="0" err="1">
                <a:latin typeface="Consolas" panose="020B0609020204030204" pitchFamily="49" charset="0"/>
              </a:rPr>
              <a:t>i</a:t>
            </a:r>
            <a:r>
              <a:rPr lang="en-US" altLang="ja-JP" kern="0" dirty="0">
                <a:latin typeface="Consolas" panose="020B0609020204030204" pitchFamily="49" charset="0"/>
              </a:rPr>
              <a:t> + 1;	</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カウンタの更新</a:t>
            </a:r>
            <a:br>
              <a:rPr lang="en-US" altLang="ja-JP" kern="0" dirty="0">
                <a:latin typeface="Consolas" panose="020B0609020204030204" pitchFamily="49" charset="0"/>
              </a:rPr>
            </a:br>
            <a:r>
              <a:rPr lang="en-US" altLang="ja-JP" kern="0" dirty="0">
                <a:latin typeface="Consolas" panose="020B0609020204030204" pitchFamily="49" charset="0"/>
              </a:rPr>
              <a:t>4:     </a:t>
            </a:r>
            <a:r>
              <a:rPr lang="en-US" altLang="ja-JP" kern="0" dirty="0">
                <a:solidFill>
                  <a:schemeClr val="accent1"/>
                </a:solidFill>
                <a:latin typeface="Consolas" panose="020B0609020204030204" pitchFamily="49" charset="0"/>
              </a:rPr>
              <a:t>if </a:t>
            </a:r>
            <a:r>
              <a:rPr lang="en-US" altLang="ja-JP" kern="0" dirty="0">
                <a:latin typeface="Consolas" panose="020B0609020204030204" pitchFamily="49" charset="0"/>
              </a:rPr>
              <a:t>(</a:t>
            </a:r>
            <a:r>
              <a:rPr lang="en-US" altLang="ja-JP" kern="0" dirty="0" err="1">
                <a:latin typeface="Consolas" panose="020B0609020204030204" pitchFamily="49" charset="0"/>
              </a:rPr>
              <a:t>i</a:t>
            </a:r>
            <a:r>
              <a:rPr lang="en-US" altLang="ja-JP" kern="0" dirty="0">
                <a:latin typeface="Consolas" panose="020B0609020204030204" pitchFamily="49" charset="0"/>
              </a:rPr>
              <a:t> &lt; 10) 	</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ループの継続判定</a:t>
            </a:r>
            <a:br>
              <a:rPr lang="en-US" altLang="ja-JP" kern="0" dirty="0">
                <a:solidFill>
                  <a:schemeClr val="accent3">
                    <a:lumMod val="75000"/>
                  </a:schemeClr>
                </a:solidFill>
                <a:latin typeface="Consolas" panose="020B0609020204030204" pitchFamily="49" charset="0"/>
              </a:rPr>
            </a:br>
            <a:r>
              <a:rPr lang="en-US" altLang="ja-JP" kern="0" dirty="0">
                <a:latin typeface="Consolas" panose="020B0609020204030204" pitchFamily="49" charset="0"/>
              </a:rPr>
              <a:t>5:        </a:t>
            </a:r>
            <a:r>
              <a:rPr lang="en-US" altLang="ja-JP" kern="0" dirty="0" err="1">
                <a:solidFill>
                  <a:schemeClr val="accent1"/>
                </a:solidFill>
                <a:latin typeface="Consolas" panose="020B0609020204030204" pitchFamily="49" charset="0"/>
              </a:rPr>
              <a:t>goto</a:t>
            </a:r>
            <a:r>
              <a:rPr lang="en-US" altLang="ja-JP" kern="0" dirty="0">
                <a:solidFill>
                  <a:schemeClr val="accent1"/>
                </a:solidFill>
                <a:latin typeface="Consolas" panose="020B0609020204030204" pitchFamily="49" charset="0"/>
              </a:rPr>
              <a:t> </a:t>
            </a:r>
            <a:r>
              <a:rPr lang="en-US" altLang="ja-JP" kern="0" dirty="0">
                <a:latin typeface="Consolas" panose="020B0609020204030204" pitchFamily="49" charset="0"/>
              </a:rPr>
              <a:t>LABEL; </a:t>
            </a:r>
            <a:r>
              <a:rPr lang="en-US" altLang="ja-JP" kern="0" dirty="0">
                <a:solidFill>
                  <a:schemeClr val="accent3">
                    <a:lumMod val="75000"/>
                  </a:schemeClr>
                </a:solidFill>
                <a:latin typeface="Consolas" panose="020B0609020204030204" pitchFamily="49" charset="0"/>
              </a:rPr>
              <a:t>// LABEL </a:t>
            </a:r>
            <a:r>
              <a:rPr lang="ja-JP" altLang="en-US" kern="0" dirty="0">
                <a:solidFill>
                  <a:schemeClr val="accent3">
                    <a:lumMod val="75000"/>
                  </a:schemeClr>
                </a:solidFill>
                <a:latin typeface="Consolas" panose="020B0609020204030204" pitchFamily="49" charset="0"/>
              </a:rPr>
              <a:t>に戻る</a:t>
            </a:r>
            <a:endParaRPr lang="ja-JP" altLang="en-US" kern="0" dirty="0">
              <a:latin typeface="Consolas" panose="020B0609020204030204" pitchFamily="49" charset="0"/>
            </a:endParaRPr>
          </a:p>
        </p:txBody>
      </p:sp>
      <p:sp>
        <p:nvSpPr>
          <p:cNvPr id="7" name="テキスト プレースホルダー 2"/>
          <p:cNvSpPr txBox="1">
            <a:spLocks/>
          </p:cNvSpPr>
          <p:nvPr/>
        </p:nvSpPr>
        <p:spPr bwMode="auto">
          <a:xfrm>
            <a:off x="2405960" y="1718981"/>
            <a:ext cx="6542471" cy="10800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en-US" altLang="ja-JP" kern="0" dirty="0">
                <a:solidFill>
                  <a:schemeClr val="tx1">
                    <a:lumMod val="85000"/>
                    <a:lumOff val="15000"/>
                  </a:schemeClr>
                </a:solidFill>
                <a:latin typeface="Consolas" panose="020B0609020204030204" pitchFamily="49" charset="0"/>
              </a:rPr>
              <a:t>1: </a:t>
            </a:r>
            <a:r>
              <a:rPr lang="en-US" altLang="ja-JP" kern="0" dirty="0">
                <a:solidFill>
                  <a:schemeClr val="accent1"/>
                </a:solidFill>
                <a:latin typeface="Consolas" panose="020B0609020204030204" pitchFamily="49" charset="0"/>
              </a:rPr>
              <a:t>for</a:t>
            </a:r>
            <a:r>
              <a:rPr lang="en-US" altLang="ja-JP" kern="0" dirty="0">
                <a:latin typeface="Consolas" panose="020B0609020204030204" pitchFamily="49" charset="0"/>
              </a:rPr>
              <a:t> (</a:t>
            </a:r>
            <a:r>
              <a:rPr lang="en-US" altLang="ja-JP" kern="0" dirty="0" err="1">
                <a:latin typeface="Consolas" panose="020B0609020204030204" pitchFamily="49" charset="0"/>
              </a:rPr>
              <a:t>i</a:t>
            </a:r>
            <a:r>
              <a:rPr lang="en-US" altLang="ja-JP" kern="0" dirty="0">
                <a:latin typeface="Consolas" panose="020B0609020204030204" pitchFamily="49" charset="0"/>
              </a:rPr>
              <a:t> = 0; </a:t>
            </a:r>
            <a:r>
              <a:rPr lang="en-US" altLang="ja-JP" kern="0" dirty="0" err="1">
                <a:latin typeface="Consolas" panose="020B0609020204030204" pitchFamily="49" charset="0"/>
              </a:rPr>
              <a:t>i</a:t>
            </a:r>
            <a:r>
              <a:rPr lang="en-US" altLang="ja-JP" kern="0" dirty="0">
                <a:latin typeface="Consolas" panose="020B0609020204030204" pitchFamily="49" charset="0"/>
              </a:rPr>
              <a:t> &lt; 10; </a:t>
            </a:r>
            <a:r>
              <a:rPr lang="en-US" altLang="ja-JP" kern="0" dirty="0" err="1">
                <a:latin typeface="Consolas" panose="020B0609020204030204" pitchFamily="49" charset="0"/>
              </a:rPr>
              <a:t>i</a:t>
            </a:r>
            <a:r>
              <a:rPr lang="en-US" altLang="ja-JP" kern="0" dirty="0">
                <a:latin typeface="Consolas" panose="020B0609020204030204" pitchFamily="49" charset="0"/>
              </a:rPr>
              <a:t>++) {</a:t>
            </a:r>
            <a:br>
              <a:rPr lang="en-US" altLang="ja-JP" kern="0" dirty="0">
                <a:latin typeface="Consolas" panose="020B0609020204030204" pitchFamily="49" charset="0"/>
              </a:rPr>
            </a:br>
            <a:r>
              <a:rPr lang="en-US" altLang="ja-JP" kern="0" dirty="0">
                <a:latin typeface="Consolas" panose="020B0609020204030204" pitchFamily="49" charset="0"/>
              </a:rPr>
              <a:t>2: }</a:t>
            </a:r>
            <a:endParaRPr lang="ja-JP" altLang="en-US" kern="0" dirty="0">
              <a:latin typeface="Consolas" panose="020B0609020204030204" pitchFamily="49" charset="0"/>
            </a:endParaRPr>
          </a:p>
        </p:txBody>
      </p:sp>
      <p:sp>
        <p:nvSpPr>
          <p:cNvPr id="8" name="テキスト プレースホルダー 2"/>
          <p:cNvSpPr txBox="1">
            <a:spLocks/>
          </p:cNvSpPr>
          <p:nvPr/>
        </p:nvSpPr>
        <p:spPr bwMode="auto">
          <a:xfrm>
            <a:off x="2135956" y="2978995"/>
            <a:ext cx="8280092" cy="9000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solidFill>
                  <a:schemeClr val="tx1">
                    <a:lumMod val="85000"/>
                    <a:lumOff val="15000"/>
                  </a:schemeClr>
                </a:solidFill>
                <a:latin typeface="Consolas" panose="020B0609020204030204" pitchFamily="49" charset="0"/>
              </a:rPr>
              <a:t>そのままだと考えづらいので，</a:t>
            </a:r>
            <a:br>
              <a:rPr lang="en-US" altLang="ja-JP" kern="0" dirty="0">
                <a:solidFill>
                  <a:schemeClr val="tx1">
                    <a:lumMod val="85000"/>
                    <a:lumOff val="15000"/>
                  </a:schemeClr>
                </a:solidFill>
                <a:latin typeface="Consolas" panose="020B0609020204030204" pitchFamily="49" charset="0"/>
              </a:rPr>
            </a:br>
            <a:r>
              <a:rPr lang="ja-JP" altLang="en-US" kern="0" dirty="0">
                <a:solidFill>
                  <a:schemeClr val="tx1">
                    <a:lumMod val="85000"/>
                    <a:lumOff val="15000"/>
                  </a:schemeClr>
                </a:solidFill>
                <a:latin typeface="Consolas" panose="020B0609020204030204" pitchFamily="49" charset="0"/>
              </a:rPr>
              <a:t>まず上記のループを下記の形に変換して考える</a:t>
            </a:r>
            <a:endParaRPr lang="ja-JP" altLang="en-US" kern="0" dirty="0">
              <a:solidFill>
                <a:schemeClr val="tx1">
                  <a:lumMod val="85000"/>
                  <a:lumOff val="15000"/>
                </a:schemeClr>
              </a:solidFill>
            </a:endParaRPr>
          </a:p>
        </p:txBody>
      </p:sp>
    </p:spTree>
    <p:extLst>
      <p:ext uri="{BB962C8B-B14F-4D97-AF65-F5344CB8AC3E}">
        <p14:creationId xmlns:p14="http://schemas.microsoft.com/office/powerpoint/2010/main" val="12759724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正方形/長方形 27"/>
          <p:cNvSpPr/>
          <p:nvPr/>
        </p:nvSpPr>
        <p:spPr bwMode="auto">
          <a:xfrm>
            <a:off x="8976032" y="1628980"/>
            <a:ext cx="1440016" cy="4320049"/>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2" name="タイトル 1"/>
          <p:cNvSpPr>
            <a:spLocks noGrp="1"/>
          </p:cNvSpPr>
          <p:nvPr>
            <p:ph type="title"/>
          </p:nvPr>
        </p:nvSpPr>
        <p:spPr/>
        <p:txBody>
          <a:bodyPr/>
          <a:lstStyle/>
          <a:p>
            <a:r>
              <a:rPr lang="ja-JP" altLang="en-US" dirty="0"/>
              <a:t>前準備：変数の割り当て</a:t>
            </a:r>
          </a:p>
        </p:txBody>
      </p:sp>
      <p:sp>
        <p:nvSpPr>
          <p:cNvPr id="41" name="テキスト プレースホルダー 2"/>
          <p:cNvSpPr>
            <a:spLocks noGrp="1"/>
          </p:cNvSpPr>
          <p:nvPr>
            <p:ph type="body" sz="quarter" idx="10"/>
          </p:nvPr>
        </p:nvSpPr>
        <p:spPr>
          <a:xfrm>
            <a:off x="1955954" y="4059007"/>
            <a:ext cx="6120068" cy="1709712"/>
          </a:xfrm>
        </p:spPr>
        <p:txBody>
          <a:bodyPr/>
          <a:lstStyle/>
          <a:p>
            <a:r>
              <a:rPr kumimoji="1" lang="ja-JP" altLang="en-US" dirty="0">
                <a:latin typeface="Consolas" panose="020B0609020204030204" pitchFamily="49" charset="0"/>
              </a:rPr>
              <a:t>変数 </a:t>
            </a:r>
            <a:r>
              <a:rPr lang="en-US" altLang="ja-JP" dirty="0" err="1">
                <a:latin typeface="Consolas" panose="020B0609020204030204" pitchFamily="49" charset="0"/>
              </a:rPr>
              <a:t>i</a:t>
            </a:r>
            <a:r>
              <a:rPr lang="en-US" altLang="ja-JP" dirty="0">
                <a:latin typeface="Consolas" panose="020B0609020204030204" pitchFamily="49" charset="0"/>
              </a:rPr>
              <a:t> </a:t>
            </a:r>
            <a:r>
              <a:rPr lang="ja-JP" altLang="en-US" dirty="0" err="1">
                <a:latin typeface="Consolas" panose="020B0609020204030204" pitchFamily="49" charset="0"/>
              </a:rPr>
              <a:t>を</a:t>
            </a:r>
            <a:r>
              <a:rPr kumimoji="1" lang="ja-JP" altLang="en-US" dirty="0" err="1">
                <a:latin typeface="Consolas" panose="020B0609020204030204" pitchFamily="49" charset="0"/>
              </a:rPr>
              <a:t>メ</a:t>
            </a:r>
            <a:r>
              <a:rPr kumimoji="1" lang="ja-JP" altLang="en-US" dirty="0">
                <a:latin typeface="Consolas" panose="020B0609020204030204" pitchFamily="49" charset="0"/>
              </a:rPr>
              <a:t>モリの </a:t>
            </a:r>
            <a:r>
              <a:rPr kumimoji="1" lang="en-US" altLang="ja-JP" dirty="0">
                <a:latin typeface="Consolas" panose="020B0609020204030204" pitchFamily="49" charset="0"/>
              </a:rPr>
              <a:t>0x0f4 </a:t>
            </a:r>
            <a:r>
              <a:rPr kumimoji="1" lang="ja-JP" altLang="en-US" dirty="0">
                <a:latin typeface="Consolas" panose="020B0609020204030204" pitchFamily="49" charset="0"/>
              </a:rPr>
              <a:t>番地に割り当てる</a:t>
            </a:r>
            <a:endParaRPr kumimoji="1" lang="en-US" altLang="ja-JP" dirty="0">
              <a:latin typeface="Consolas" panose="020B0609020204030204" pitchFamily="49" charset="0"/>
            </a:endParaRPr>
          </a:p>
          <a:p>
            <a:pPr lvl="1"/>
            <a:r>
              <a:rPr kumimoji="1" lang="ja-JP" altLang="en-US" dirty="0">
                <a:latin typeface="Consolas" panose="020B0609020204030204" pitchFamily="49" charset="0"/>
              </a:rPr>
              <a:t>グローバル変数だと思ってほしい</a:t>
            </a:r>
            <a:endParaRPr kumimoji="1" lang="en-US" altLang="ja-JP" dirty="0">
              <a:latin typeface="Consolas" panose="020B0609020204030204" pitchFamily="49" charset="0"/>
            </a:endParaRPr>
          </a:p>
          <a:p>
            <a:pPr lvl="1"/>
            <a:r>
              <a:rPr kumimoji="1" lang="ja-JP" altLang="en-US" dirty="0">
                <a:latin typeface="Consolas" panose="020B0609020204030204" pitchFamily="49" charset="0"/>
              </a:rPr>
              <a:t>変数は</a:t>
            </a:r>
            <a:r>
              <a:rPr kumimoji="1" lang="en-US" altLang="ja-JP" dirty="0">
                <a:latin typeface="Consolas" panose="020B0609020204030204" pitchFamily="49" charset="0"/>
              </a:rPr>
              <a:t>1</a:t>
            </a:r>
            <a:r>
              <a:rPr kumimoji="1" lang="ja-JP" altLang="en-US" dirty="0">
                <a:latin typeface="Consolas" panose="020B0609020204030204" pitchFamily="49" charset="0"/>
              </a:rPr>
              <a:t>つ</a:t>
            </a:r>
            <a:r>
              <a:rPr lang="en-US" altLang="ja-JP" dirty="0">
                <a:latin typeface="Consolas" panose="020B0609020204030204" pitchFamily="49" charset="0"/>
              </a:rPr>
              <a:t>4</a:t>
            </a:r>
            <a:r>
              <a:rPr lang="ja-JP" altLang="en-US" dirty="0">
                <a:latin typeface="Consolas" panose="020B0609020204030204" pitchFamily="49" charset="0"/>
              </a:rPr>
              <a:t>バイトとする</a:t>
            </a:r>
            <a:endParaRPr lang="en-US" altLang="ja-JP" dirty="0">
              <a:latin typeface="Consolas" panose="020B0609020204030204" pitchFamily="49" charset="0"/>
            </a:endParaRPr>
          </a:p>
          <a:p>
            <a:pPr lvl="1"/>
            <a:r>
              <a:rPr lang="ja-JP" altLang="en-US" dirty="0">
                <a:latin typeface="Consolas" panose="020B0609020204030204" pitchFamily="49" charset="0"/>
              </a:rPr>
              <a:t>適当にあいてるところを選んだだけで，</a:t>
            </a:r>
            <a:br>
              <a:rPr lang="en-US" altLang="ja-JP" dirty="0">
                <a:latin typeface="Consolas" panose="020B0609020204030204" pitchFamily="49" charset="0"/>
              </a:rPr>
            </a:br>
            <a:r>
              <a:rPr lang="ja-JP" altLang="en-US" dirty="0">
                <a:latin typeface="Consolas" panose="020B0609020204030204" pitchFamily="49" charset="0"/>
              </a:rPr>
              <a:t>番地の数字に意味はない</a:t>
            </a:r>
            <a:endParaRPr lang="en-US" altLang="ja-JP" dirty="0">
              <a:latin typeface="Consolas" panose="020B0609020204030204" pitchFamily="49" charset="0"/>
            </a:endParaRPr>
          </a:p>
          <a:p>
            <a:r>
              <a:rPr kumimoji="1" lang="ja-JP" altLang="en-US" dirty="0">
                <a:latin typeface="Consolas" panose="020B0609020204030204" pitchFamily="49" charset="0"/>
              </a:rPr>
              <a:t>命令は </a:t>
            </a:r>
            <a:r>
              <a:rPr kumimoji="1" lang="en-US" altLang="ja-JP" dirty="0">
                <a:latin typeface="Consolas" panose="020B0609020204030204" pitchFamily="49" charset="0"/>
              </a:rPr>
              <a:t>0x400 </a:t>
            </a:r>
            <a:r>
              <a:rPr kumimoji="1" lang="ja-JP" altLang="en-US" dirty="0">
                <a:latin typeface="Consolas" panose="020B0609020204030204" pitchFamily="49" charset="0"/>
              </a:rPr>
              <a:t>番地から開始するとする</a:t>
            </a:r>
            <a:endParaRPr kumimoji="1" lang="en-US" altLang="ja-JP" dirty="0">
              <a:latin typeface="Consolas" panose="020B0609020204030204" pitchFamily="49" charset="0"/>
            </a:endParaRPr>
          </a:p>
          <a:p>
            <a:pPr lvl="1"/>
            <a:r>
              <a:rPr kumimoji="1" lang="ja-JP" altLang="en-US" dirty="0">
                <a:latin typeface="Consolas" panose="020B0609020204030204" pitchFamily="49" charset="0"/>
              </a:rPr>
              <a:t>命令も</a:t>
            </a:r>
            <a:r>
              <a:rPr kumimoji="1" lang="en-US" altLang="ja-JP" dirty="0">
                <a:latin typeface="Consolas" panose="020B0609020204030204" pitchFamily="49" charset="0"/>
              </a:rPr>
              <a:t>1</a:t>
            </a:r>
            <a:r>
              <a:rPr kumimoji="1" lang="ja-JP" altLang="en-US" dirty="0">
                <a:latin typeface="Consolas" panose="020B0609020204030204" pitchFamily="49" charset="0"/>
              </a:rPr>
              <a:t>つ</a:t>
            </a:r>
            <a:r>
              <a:rPr kumimoji="1" lang="en-US" altLang="ja-JP" dirty="0">
                <a:latin typeface="Consolas" panose="020B0609020204030204" pitchFamily="49" charset="0"/>
              </a:rPr>
              <a:t>4</a:t>
            </a:r>
            <a:r>
              <a:rPr kumimoji="1" lang="ja-JP" altLang="en-US" dirty="0">
                <a:latin typeface="Consolas" panose="020B0609020204030204" pitchFamily="49" charset="0"/>
              </a:rPr>
              <a:t>バイトとする</a:t>
            </a:r>
          </a:p>
        </p:txBody>
      </p:sp>
      <p:sp>
        <p:nvSpPr>
          <p:cNvPr id="4" name="テキスト プレースホルダー 2"/>
          <p:cNvSpPr txBox="1">
            <a:spLocks/>
          </p:cNvSpPr>
          <p:nvPr/>
        </p:nvSpPr>
        <p:spPr bwMode="auto">
          <a:xfrm>
            <a:off x="2405960" y="1358977"/>
            <a:ext cx="3690041" cy="150210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en-US" altLang="ja-JP" kern="0" dirty="0">
                <a:latin typeface="Consolas" panose="020B0609020204030204" pitchFamily="49" charset="0"/>
              </a:rPr>
              <a:t>1:     </a:t>
            </a:r>
            <a:r>
              <a:rPr lang="en-US" altLang="ja-JP" kern="0" dirty="0" err="1">
                <a:latin typeface="Consolas" panose="020B0609020204030204" pitchFamily="49" charset="0"/>
              </a:rPr>
              <a:t>i</a:t>
            </a:r>
            <a:r>
              <a:rPr lang="en-US" altLang="ja-JP" kern="0" dirty="0">
                <a:latin typeface="Consolas" panose="020B0609020204030204" pitchFamily="49" charset="0"/>
              </a:rPr>
              <a:t> = 0;</a:t>
            </a:r>
            <a:br>
              <a:rPr lang="en-US" altLang="ja-JP" kern="0" dirty="0">
                <a:latin typeface="Consolas" panose="020B0609020204030204" pitchFamily="49" charset="0"/>
              </a:rPr>
            </a:br>
            <a:r>
              <a:rPr lang="en-US" altLang="ja-JP" kern="0" dirty="0">
                <a:latin typeface="Consolas" panose="020B0609020204030204" pitchFamily="49" charset="0"/>
              </a:rPr>
              <a:t>2: LABEL:</a:t>
            </a:r>
            <a:br>
              <a:rPr lang="en-US" altLang="ja-JP" kern="0" dirty="0">
                <a:latin typeface="Consolas" panose="020B0609020204030204" pitchFamily="49" charset="0"/>
              </a:rPr>
            </a:br>
            <a:r>
              <a:rPr lang="en-US" altLang="ja-JP" kern="0" dirty="0">
                <a:latin typeface="Consolas" panose="020B0609020204030204" pitchFamily="49" charset="0"/>
              </a:rPr>
              <a:t>3:     </a:t>
            </a:r>
            <a:r>
              <a:rPr lang="en-US" altLang="ja-JP" kern="0" dirty="0" err="1">
                <a:latin typeface="Consolas" panose="020B0609020204030204" pitchFamily="49" charset="0"/>
              </a:rPr>
              <a:t>i</a:t>
            </a:r>
            <a:r>
              <a:rPr lang="en-US" altLang="ja-JP" kern="0" dirty="0">
                <a:latin typeface="Consolas" panose="020B0609020204030204" pitchFamily="49" charset="0"/>
              </a:rPr>
              <a:t> = </a:t>
            </a:r>
            <a:r>
              <a:rPr lang="en-US" altLang="ja-JP" kern="0" dirty="0" err="1">
                <a:latin typeface="Consolas" panose="020B0609020204030204" pitchFamily="49" charset="0"/>
              </a:rPr>
              <a:t>i</a:t>
            </a:r>
            <a:r>
              <a:rPr lang="en-US" altLang="ja-JP" kern="0" dirty="0">
                <a:latin typeface="Consolas" panose="020B0609020204030204" pitchFamily="49" charset="0"/>
              </a:rPr>
              <a:t> + 1;</a:t>
            </a:r>
            <a:br>
              <a:rPr lang="en-US" altLang="ja-JP" kern="0" dirty="0">
                <a:latin typeface="Consolas" panose="020B0609020204030204" pitchFamily="49" charset="0"/>
              </a:rPr>
            </a:br>
            <a:r>
              <a:rPr lang="en-US" altLang="ja-JP" kern="0" dirty="0">
                <a:latin typeface="Consolas" panose="020B0609020204030204" pitchFamily="49" charset="0"/>
              </a:rPr>
              <a:t>4:     </a:t>
            </a:r>
            <a:r>
              <a:rPr lang="en-US" altLang="ja-JP" kern="0" dirty="0">
                <a:solidFill>
                  <a:schemeClr val="accent1"/>
                </a:solidFill>
                <a:latin typeface="Consolas" panose="020B0609020204030204" pitchFamily="49" charset="0"/>
              </a:rPr>
              <a:t>if </a:t>
            </a:r>
            <a:r>
              <a:rPr lang="en-US" altLang="ja-JP" kern="0" dirty="0">
                <a:latin typeface="Consolas" panose="020B0609020204030204" pitchFamily="49" charset="0"/>
              </a:rPr>
              <a:t>(</a:t>
            </a:r>
            <a:r>
              <a:rPr lang="en-US" altLang="ja-JP" kern="0" dirty="0" err="1">
                <a:latin typeface="Consolas" panose="020B0609020204030204" pitchFamily="49" charset="0"/>
              </a:rPr>
              <a:t>i</a:t>
            </a:r>
            <a:r>
              <a:rPr lang="en-US" altLang="ja-JP" kern="0" dirty="0">
                <a:latin typeface="Consolas" panose="020B0609020204030204" pitchFamily="49" charset="0"/>
              </a:rPr>
              <a:t> &lt; 10) </a:t>
            </a:r>
            <a:br>
              <a:rPr lang="en-US" altLang="ja-JP" kern="0" dirty="0">
                <a:latin typeface="Consolas" panose="020B0609020204030204" pitchFamily="49" charset="0"/>
              </a:rPr>
            </a:br>
            <a:r>
              <a:rPr lang="en-US" altLang="ja-JP" kern="0" dirty="0">
                <a:latin typeface="Consolas" panose="020B0609020204030204" pitchFamily="49" charset="0"/>
              </a:rPr>
              <a:t>5:        </a:t>
            </a:r>
            <a:r>
              <a:rPr lang="en-US" altLang="ja-JP" kern="0" dirty="0" err="1">
                <a:solidFill>
                  <a:schemeClr val="accent1"/>
                </a:solidFill>
                <a:latin typeface="Consolas" panose="020B0609020204030204" pitchFamily="49" charset="0"/>
              </a:rPr>
              <a:t>goto</a:t>
            </a:r>
            <a:r>
              <a:rPr lang="en-US" altLang="ja-JP" kern="0" dirty="0">
                <a:solidFill>
                  <a:schemeClr val="accent1"/>
                </a:solidFill>
                <a:latin typeface="Consolas" panose="020B0609020204030204" pitchFamily="49" charset="0"/>
              </a:rPr>
              <a:t> </a:t>
            </a:r>
            <a:r>
              <a:rPr lang="en-US" altLang="ja-JP" kern="0" dirty="0">
                <a:latin typeface="Consolas" panose="020B0609020204030204" pitchFamily="49" charset="0"/>
              </a:rPr>
              <a:t>LABEL;</a:t>
            </a:r>
            <a:endParaRPr lang="ja-JP" altLang="en-US" kern="0" dirty="0">
              <a:latin typeface="Consolas" panose="020B0609020204030204" pitchFamily="49" charset="0"/>
            </a:endParaRPr>
          </a:p>
        </p:txBody>
      </p:sp>
      <p:graphicFrame>
        <p:nvGraphicFramePr>
          <p:cNvPr id="19" name="表 18"/>
          <p:cNvGraphicFramePr>
            <a:graphicFrameLocks noGrp="1"/>
          </p:cNvGraphicFramePr>
          <p:nvPr>
            <p:extLst>
              <p:ext uri="{D42A27DB-BD31-4B8C-83A1-F6EECF244321}">
                <p14:modId xmlns:p14="http://schemas.microsoft.com/office/powerpoint/2010/main" val="2329246873"/>
              </p:ext>
            </p:extLst>
          </p:nvPr>
        </p:nvGraphicFramePr>
        <p:xfrm>
          <a:off x="6096000" y="1623136"/>
          <a:ext cx="1800240" cy="725852"/>
        </p:xfrm>
        <a:graphic>
          <a:graphicData uri="http://schemas.openxmlformats.org/drawingml/2006/table">
            <a:tbl>
              <a:tblPr firstRow="1" bandRow="1">
                <a:tableStyleId>{5C22544A-7EE6-4342-B048-85BDC9FD1C3A}</a:tableStyleId>
              </a:tblPr>
              <a:tblGrid>
                <a:gridCol w="720096">
                  <a:extLst>
                    <a:ext uri="{9D8B030D-6E8A-4147-A177-3AD203B41FA5}">
                      <a16:colId xmlns:a16="http://schemas.microsoft.com/office/drawing/2014/main" val="20000"/>
                    </a:ext>
                  </a:extLst>
                </a:gridCol>
                <a:gridCol w="1080144">
                  <a:extLst>
                    <a:ext uri="{9D8B030D-6E8A-4147-A177-3AD203B41FA5}">
                      <a16:colId xmlns:a16="http://schemas.microsoft.com/office/drawing/2014/main" val="20001"/>
                    </a:ext>
                  </a:extLst>
                </a:gridCol>
              </a:tblGrid>
              <a:tr h="360092">
                <a:tc>
                  <a:txBody>
                    <a:bodyPr/>
                    <a:lstStyle/>
                    <a:p>
                      <a:pPr algn="ctr"/>
                      <a:r>
                        <a:rPr kumimoji="1" lang="ja-JP" altLang="en-US" sz="1400" dirty="0"/>
                        <a:t>変数</a:t>
                      </a:r>
                    </a:p>
                  </a:txBody>
                  <a:tcPr anchor="ctr"/>
                </a:tc>
                <a:tc>
                  <a:txBody>
                    <a:bodyPr/>
                    <a:lstStyle/>
                    <a:p>
                      <a:pPr algn="ctr"/>
                      <a:r>
                        <a:rPr kumimoji="1" lang="ja-JP" altLang="en-US" sz="1400" dirty="0">
                          <a:latin typeface="Consolas" panose="020B0609020204030204" pitchFamily="49" charset="0"/>
                        </a:rPr>
                        <a:t>アドレス</a:t>
                      </a:r>
                    </a:p>
                  </a:txBody>
                  <a:tcPr anchor="ctr"/>
                </a:tc>
                <a:extLst>
                  <a:ext uri="{0D108BD9-81ED-4DB2-BD59-A6C34878D82A}">
                    <a16:rowId xmlns:a16="http://schemas.microsoft.com/office/drawing/2014/main" val="10000"/>
                  </a:ext>
                </a:extLst>
              </a:tr>
              <a:tr h="360092">
                <a:tc>
                  <a:txBody>
                    <a:bodyPr/>
                    <a:lstStyle/>
                    <a:p>
                      <a:pPr algn="ctr"/>
                      <a:r>
                        <a:rPr kumimoji="1" lang="en-US" altLang="ja-JP" sz="1800" dirty="0" err="1">
                          <a:solidFill>
                            <a:srgbClr val="FF0000"/>
                          </a:solidFill>
                          <a:latin typeface="Consolas" panose="020B0609020204030204" pitchFamily="49" charset="0"/>
                          <a:ea typeface="ＭＳ ゴシック" pitchFamily="49" charset="-128"/>
                        </a:rPr>
                        <a:t>i</a:t>
                      </a:r>
                      <a:endParaRPr kumimoji="1" lang="ja-JP" altLang="en-US" sz="1400" dirty="0">
                        <a:solidFill>
                          <a:srgbClr val="FF0000"/>
                        </a:solidFill>
                        <a:latin typeface="Consolas" panose="020B0609020204030204" pitchFamily="49" charset="0"/>
                        <a:ea typeface="ＭＳ ゴシック" pitchFamily="49" charset="-128"/>
                      </a:endParaRPr>
                    </a:p>
                  </a:txBody>
                  <a:tcPr anchor="ctr"/>
                </a:tc>
                <a:tc>
                  <a:txBody>
                    <a:bodyPr/>
                    <a:lstStyle/>
                    <a:p>
                      <a:pPr algn="r"/>
                      <a:r>
                        <a:rPr kumimoji="1" lang="en-US" altLang="ja-JP" sz="1800" dirty="0">
                          <a:latin typeface="Consolas" panose="020B0609020204030204" pitchFamily="49" charset="0"/>
                          <a:ea typeface="ＭＳ ゴシック" pitchFamily="49" charset="-128"/>
                        </a:rPr>
                        <a:t>0x0f4</a:t>
                      </a:r>
                      <a:endParaRPr kumimoji="1" lang="ja-JP" altLang="en-US" sz="1400" dirty="0">
                        <a:latin typeface="Consolas" panose="020B0609020204030204" pitchFamily="49" charset="0"/>
                        <a:ea typeface="ＭＳ ゴシック" pitchFamily="49" charset="-128"/>
                      </a:endParaRPr>
                    </a:p>
                  </a:txBody>
                  <a:tcPr anchor="ctr"/>
                </a:tc>
                <a:extLst>
                  <a:ext uri="{0D108BD9-81ED-4DB2-BD59-A6C34878D82A}">
                    <a16:rowId xmlns:a16="http://schemas.microsoft.com/office/drawing/2014/main" val="10001"/>
                  </a:ext>
                </a:extLst>
              </a:tr>
            </a:tbl>
          </a:graphicData>
        </a:graphic>
      </p:graphicFrame>
      <p:sp>
        <p:nvSpPr>
          <p:cNvPr id="20" name="Rectangle 17"/>
          <p:cNvSpPr>
            <a:spLocks noChangeArrowheads="1"/>
          </p:cNvSpPr>
          <p:nvPr/>
        </p:nvSpPr>
        <p:spPr bwMode="auto">
          <a:xfrm>
            <a:off x="8255936" y="270903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0x0f8</a:t>
            </a:r>
            <a:endParaRPr lang="ja-JP" altLang="en-US" sz="1600" dirty="0">
              <a:latin typeface="Consolas" panose="020B0609020204030204" pitchFamily="49" charset="0"/>
            </a:endParaRPr>
          </a:p>
        </p:txBody>
      </p:sp>
      <p:sp>
        <p:nvSpPr>
          <p:cNvPr id="23" name="Text Box 32"/>
          <p:cNvSpPr txBox="1">
            <a:spLocks noChangeArrowheads="1"/>
          </p:cNvSpPr>
          <p:nvPr/>
        </p:nvSpPr>
        <p:spPr bwMode="auto">
          <a:xfrm>
            <a:off x="6096000" y="1263309"/>
            <a:ext cx="1800240" cy="360049"/>
          </a:xfrm>
          <a:prstGeom prst="rect">
            <a:avLst/>
          </a:prstGeom>
          <a:noFill/>
          <a:ln w="38100">
            <a:noFill/>
            <a:miter lim="800000"/>
            <a:headEnd/>
            <a:tailEnd type="none" w="med" len="lg"/>
          </a:ln>
          <a:effectLst/>
        </p:spPr>
        <p:txBody>
          <a:bodyPr wrap="none" lIns="93600" tIns="46800" rIns="93600" bIns="46800">
            <a:noAutofit/>
          </a:bodyPr>
          <a:lstStyle/>
          <a:p>
            <a:pPr algn="ctr"/>
            <a:r>
              <a:rPr lang="ja-JP" altLang="en-US" dirty="0">
                <a:latin typeface="+mn-ea"/>
              </a:rPr>
              <a:t>変数表</a:t>
            </a:r>
            <a:endParaRPr lang="en-US" altLang="ja-JP" dirty="0">
              <a:latin typeface="+mn-ea"/>
            </a:endParaRPr>
          </a:p>
        </p:txBody>
      </p:sp>
      <p:sp>
        <p:nvSpPr>
          <p:cNvPr id="27" name="Rectangle 17"/>
          <p:cNvSpPr>
            <a:spLocks noChangeArrowheads="1"/>
          </p:cNvSpPr>
          <p:nvPr/>
        </p:nvSpPr>
        <p:spPr bwMode="auto">
          <a:xfrm>
            <a:off x="8255936" y="234898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0x0f4</a:t>
            </a:r>
            <a:endParaRPr lang="ja-JP" altLang="en-US" sz="1600" dirty="0">
              <a:latin typeface="Consolas" panose="020B0609020204030204" pitchFamily="49" charset="0"/>
            </a:endParaRPr>
          </a:p>
        </p:txBody>
      </p:sp>
      <p:sp>
        <p:nvSpPr>
          <p:cNvPr id="29" name="正方形/長方形 28"/>
          <p:cNvSpPr/>
          <p:nvPr/>
        </p:nvSpPr>
        <p:spPr bwMode="auto">
          <a:xfrm>
            <a:off x="8976032" y="1268976"/>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32" name="正方形/長方形 31"/>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b="1" dirty="0" err="1">
                <a:solidFill>
                  <a:srgbClr val="FF0000"/>
                </a:solidFill>
                <a:latin typeface="Consolas" panose="020B0609020204030204" pitchFamily="49" charset="0"/>
                <a:ea typeface="メイリオ" panose="020B0604030504040204" pitchFamily="50" charset="-128"/>
              </a:rPr>
              <a:t>i</a:t>
            </a:r>
            <a:endParaRPr lang="ja-JP" altLang="en-US" b="1" dirty="0">
              <a:solidFill>
                <a:srgbClr val="FF0000"/>
              </a:solidFill>
              <a:latin typeface="Consolas" panose="020B0609020204030204" pitchFamily="49" charset="0"/>
              <a:ea typeface="メイリオ" panose="020B0604030504040204" pitchFamily="50" charset="-128"/>
            </a:endParaRPr>
          </a:p>
        </p:txBody>
      </p:sp>
      <p:sp>
        <p:nvSpPr>
          <p:cNvPr id="33" name="正方形/長方形 32"/>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4" name="正方形/長方形 33"/>
          <p:cNvSpPr/>
          <p:nvPr/>
        </p:nvSpPr>
        <p:spPr bwMode="auto">
          <a:xfrm>
            <a:off x="8976032" y="162898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5" name="正方形/長方形 34"/>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6" name="正方形/長方形 35"/>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7" name="正方形/長方形 36"/>
          <p:cNvSpPr/>
          <p:nvPr/>
        </p:nvSpPr>
        <p:spPr bwMode="auto">
          <a:xfrm>
            <a:off x="8976032" y="342900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8" name="正方形/長方形 37"/>
          <p:cNvSpPr/>
          <p:nvPr/>
        </p:nvSpPr>
        <p:spPr bwMode="auto">
          <a:xfrm>
            <a:off x="8976032" y="378900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9" name="正方形/長方形 38"/>
          <p:cNvSpPr/>
          <p:nvPr/>
        </p:nvSpPr>
        <p:spPr bwMode="auto">
          <a:xfrm>
            <a:off x="8976032" y="414900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sz="1600" dirty="0">
                <a:solidFill>
                  <a:srgbClr val="FF0000"/>
                </a:solidFill>
                <a:latin typeface="メイリオ" panose="020B0604030504040204" pitchFamily="50" charset="-128"/>
                <a:ea typeface="メイリオ" panose="020B0604030504040204" pitchFamily="50" charset="-128"/>
              </a:rPr>
              <a:t>ここから命令</a:t>
            </a:r>
          </a:p>
        </p:txBody>
      </p:sp>
      <p:sp>
        <p:nvSpPr>
          <p:cNvPr id="40" name="Rectangle 17"/>
          <p:cNvSpPr>
            <a:spLocks noChangeArrowheads="1"/>
          </p:cNvSpPr>
          <p:nvPr/>
        </p:nvSpPr>
        <p:spPr bwMode="auto">
          <a:xfrm>
            <a:off x="8255936" y="1988985"/>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0x0f0</a:t>
            </a:r>
            <a:endParaRPr lang="ja-JP" altLang="en-US" sz="1600" dirty="0">
              <a:latin typeface="Consolas" panose="020B0609020204030204" pitchFamily="49" charset="0"/>
            </a:endParaRPr>
          </a:p>
        </p:txBody>
      </p:sp>
      <p:sp>
        <p:nvSpPr>
          <p:cNvPr id="42" name="Rectangle 17"/>
          <p:cNvSpPr>
            <a:spLocks noChangeArrowheads="1"/>
          </p:cNvSpPr>
          <p:nvPr/>
        </p:nvSpPr>
        <p:spPr bwMode="auto">
          <a:xfrm>
            <a:off x="8256024" y="414900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0x400</a:t>
            </a:r>
            <a:endParaRPr lang="ja-JP" altLang="en-US" sz="1600" dirty="0">
              <a:latin typeface="Consolas" panose="020B0609020204030204" pitchFamily="49" charset="0"/>
            </a:endParaRPr>
          </a:p>
        </p:txBody>
      </p:sp>
      <p:sp>
        <p:nvSpPr>
          <p:cNvPr id="43" name="正方形/長方形 42"/>
          <p:cNvSpPr/>
          <p:nvPr/>
        </p:nvSpPr>
        <p:spPr bwMode="auto">
          <a:xfrm>
            <a:off x="8976032" y="450901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44" name="Rectangle 17"/>
          <p:cNvSpPr>
            <a:spLocks noChangeArrowheads="1"/>
          </p:cNvSpPr>
          <p:nvPr/>
        </p:nvSpPr>
        <p:spPr bwMode="auto">
          <a:xfrm>
            <a:off x="8256024" y="450901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0x404</a:t>
            </a:r>
            <a:endParaRPr lang="ja-JP" altLang="en-US" sz="1600" dirty="0">
              <a:latin typeface="Consolas" panose="020B0609020204030204" pitchFamily="49" charset="0"/>
            </a:endParaRPr>
          </a:p>
        </p:txBody>
      </p:sp>
      <p:sp>
        <p:nvSpPr>
          <p:cNvPr id="45" name="正方形/長方形 44"/>
          <p:cNvSpPr/>
          <p:nvPr/>
        </p:nvSpPr>
        <p:spPr bwMode="auto">
          <a:xfrm>
            <a:off x="8976032" y="486901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46" name="Rectangle 17"/>
          <p:cNvSpPr>
            <a:spLocks noChangeArrowheads="1"/>
          </p:cNvSpPr>
          <p:nvPr/>
        </p:nvSpPr>
        <p:spPr bwMode="auto">
          <a:xfrm>
            <a:off x="8256024" y="486901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0x408</a:t>
            </a:r>
            <a:endParaRPr lang="ja-JP" altLang="en-US" sz="1600" dirty="0">
              <a:latin typeface="Consolas" panose="020B0609020204030204" pitchFamily="49" charset="0"/>
            </a:endParaRPr>
          </a:p>
        </p:txBody>
      </p:sp>
    </p:spTree>
    <p:extLst>
      <p:ext uri="{BB962C8B-B14F-4D97-AF65-F5344CB8AC3E}">
        <p14:creationId xmlns:p14="http://schemas.microsoft.com/office/powerpoint/2010/main" val="53985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正方形/長方形 27"/>
          <p:cNvSpPr/>
          <p:nvPr/>
        </p:nvSpPr>
        <p:spPr bwMode="auto">
          <a:xfrm>
            <a:off x="8976032" y="1628980"/>
            <a:ext cx="1440016" cy="4320049"/>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2" name="タイトル 1"/>
          <p:cNvSpPr>
            <a:spLocks noGrp="1"/>
          </p:cNvSpPr>
          <p:nvPr>
            <p:ph type="title"/>
          </p:nvPr>
        </p:nvSpPr>
        <p:spPr/>
        <p:txBody>
          <a:bodyPr/>
          <a:lstStyle/>
          <a:p>
            <a:r>
              <a:rPr lang="ja-JP" altLang="en-US" dirty="0"/>
              <a:t>１行目：変数 </a:t>
            </a:r>
            <a:r>
              <a:rPr lang="en-US" altLang="ja-JP" dirty="0" err="1">
                <a:latin typeface="Consolas" panose="020B0609020204030204" pitchFamily="49" charset="0"/>
              </a:rPr>
              <a:t>i</a:t>
            </a:r>
            <a:r>
              <a:rPr lang="en-US" altLang="ja-JP" dirty="0"/>
              <a:t> </a:t>
            </a:r>
            <a:r>
              <a:rPr lang="ja-JP" altLang="en-US" dirty="0" err="1"/>
              <a:t>への</a:t>
            </a:r>
            <a:r>
              <a:rPr lang="ja-JP" altLang="en-US" dirty="0"/>
              <a:t> </a:t>
            </a:r>
            <a:r>
              <a:rPr lang="en-US" altLang="ja-JP" dirty="0"/>
              <a:t>0 </a:t>
            </a:r>
            <a:r>
              <a:rPr lang="ja-JP" altLang="en-US" dirty="0"/>
              <a:t>の代入</a:t>
            </a:r>
          </a:p>
        </p:txBody>
      </p:sp>
      <p:sp>
        <p:nvSpPr>
          <p:cNvPr id="58" name="テキスト プレースホルダー 2"/>
          <p:cNvSpPr>
            <a:spLocks noGrp="1"/>
          </p:cNvSpPr>
          <p:nvPr>
            <p:ph type="body" sz="quarter" idx="10"/>
          </p:nvPr>
        </p:nvSpPr>
        <p:spPr>
          <a:xfrm>
            <a:off x="1775953" y="5589025"/>
            <a:ext cx="7470083" cy="1079705"/>
          </a:xfrm>
        </p:spPr>
        <p:txBody>
          <a:bodyPr/>
          <a:lstStyle/>
          <a:p>
            <a:r>
              <a:rPr kumimoji="1" lang="ja-JP" altLang="en-US" dirty="0">
                <a:latin typeface="Consolas" panose="020B0609020204030204" pitchFamily="49" charset="0"/>
              </a:rPr>
              <a:t>グローバル変数の更新は，基本的にこのパターンでできる</a:t>
            </a:r>
            <a:endParaRPr kumimoji="1" lang="en-US" altLang="ja-JP" dirty="0">
              <a:latin typeface="Consolas" panose="020B0609020204030204" pitchFamily="49" charset="0"/>
            </a:endParaRPr>
          </a:p>
          <a:p>
            <a:pPr lvl="1"/>
            <a:r>
              <a:rPr lang="ja-JP" altLang="en-US" dirty="0">
                <a:latin typeface="Consolas" panose="020B0609020204030204" pitchFamily="49" charset="0"/>
              </a:rPr>
              <a:t>変数のアドレスを </a:t>
            </a:r>
            <a:r>
              <a:rPr lang="en-US" altLang="ja-JP" dirty="0">
                <a:latin typeface="Consolas" panose="020B0609020204030204" pitchFamily="49" charset="0"/>
              </a:rPr>
              <a:t>li </a:t>
            </a:r>
            <a:r>
              <a:rPr lang="ja-JP" altLang="en-US" dirty="0">
                <a:latin typeface="Consolas" panose="020B0609020204030204" pitchFamily="49" charset="0"/>
              </a:rPr>
              <a:t>で読んで，そこにストア</a:t>
            </a:r>
            <a:endParaRPr kumimoji="1" lang="ja-JP" altLang="en-US" dirty="0">
              <a:latin typeface="Consolas" panose="020B0609020204030204" pitchFamily="49" charset="0"/>
            </a:endParaRPr>
          </a:p>
        </p:txBody>
      </p:sp>
      <p:sp>
        <p:nvSpPr>
          <p:cNvPr id="20" name="Rectangle 17"/>
          <p:cNvSpPr>
            <a:spLocks noChangeArrowheads="1"/>
          </p:cNvSpPr>
          <p:nvPr/>
        </p:nvSpPr>
        <p:spPr bwMode="auto">
          <a:xfrm>
            <a:off x="8255936" y="270903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0x0f8</a:t>
            </a:r>
            <a:endParaRPr lang="ja-JP" altLang="en-US" sz="1600" dirty="0">
              <a:latin typeface="Consolas" panose="020B0609020204030204" pitchFamily="49" charset="0"/>
            </a:endParaRPr>
          </a:p>
        </p:txBody>
      </p:sp>
      <p:sp>
        <p:nvSpPr>
          <p:cNvPr id="27" name="Rectangle 17"/>
          <p:cNvSpPr>
            <a:spLocks noChangeArrowheads="1"/>
          </p:cNvSpPr>
          <p:nvPr/>
        </p:nvSpPr>
        <p:spPr bwMode="auto">
          <a:xfrm>
            <a:off x="8255936" y="234898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0x0f4</a:t>
            </a:r>
            <a:endParaRPr lang="ja-JP" altLang="en-US" sz="1600" dirty="0">
              <a:latin typeface="Consolas" panose="020B0609020204030204" pitchFamily="49" charset="0"/>
            </a:endParaRPr>
          </a:p>
        </p:txBody>
      </p:sp>
      <p:sp>
        <p:nvSpPr>
          <p:cNvPr id="29" name="正方形/長方形 28"/>
          <p:cNvSpPr/>
          <p:nvPr/>
        </p:nvSpPr>
        <p:spPr bwMode="auto">
          <a:xfrm>
            <a:off x="8976032" y="1268976"/>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32" name="正方形/長方形 31"/>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b="1" dirty="0">
                <a:solidFill>
                  <a:srgbClr val="FF0000"/>
                </a:solidFill>
                <a:latin typeface="Consolas" panose="020B0609020204030204" pitchFamily="49" charset="0"/>
                <a:ea typeface="メイリオ" panose="020B0604030504040204" pitchFamily="50" charset="-128"/>
              </a:rPr>
              <a:t>i: 0</a:t>
            </a:r>
            <a:endParaRPr lang="ja-JP" altLang="en-US" b="1" dirty="0">
              <a:solidFill>
                <a:srgbClr val="FF0000"/>
              </a:solidFill>
              <a:latin typeface="Consolas" panose="020B0609020204030204" pitchFamily="49" charset="0"/>
              <a:ea typeface="メイリオ" panose="020B0604030504040204" pitchFamily="50" charset="-128"/>
            </a:endParaRPr>
          </a:p>
        </p:txBody>
      </p:sp>
      <p:sp>
        <p:nvSpPr>
          <p:cNvPr id="33" name="正方形/長方形 32"/>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4" name="正方形/長方形 33"/>
          <p:cNvSpPr/>
          <p:nvPr/>
        </p:nvSpPr>
        <p:spPr bwMode="auto">
          <a:xfrm>
            <a:off x="8976032" y="162898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5" name="正方形/長方形 34"/>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6" name="正方形/長方形 35"/>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7" name="正方形/長方形 36"/>
          <p:cNvSpPr/>
          <p:nvPr/>
        </p:nvSpPr>
        <p:spPr bwMode="auto">
          <a:xfrm>
            <a:off x="8976032" y="342900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8" name="正方形/長方形 37"/>
          <p:cNvSpPr/>
          <p:nvPr/>
        </p:nvSpPr>
        <p:spPr bwMode="auto">
          <a:xfrm>
            <a:off x="8976032" y="378900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9" name="正方形/長方形 38"/>
          <p:cNvSpPr/>
          <p:nvPr/>
        </p:nvSpPr>
        <p:spPr bwMode="auto">
          <a:xfrm>
            <a:off x="8976032" y="414900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endParaRPr lang="ja-JP" altLang="en-US" sz="1600" dirty="0">
              <a:latin typeface="メイリオ" panose="020B0604030504040204" pitchFamily="50" charset="-128"/>
              <a:ea typeface="メイリオ" panose="020B0604030504040204" pitchFamily="50" charset="-128"/>
            </a:endParaRPr>
          </a:p>
        </p:txBody>
      </p:sp>
      <p:sp>
        <p:nvSpPr>
          <p:cNvPr id="40" name="Rectangle 17"/>
          <p:cNvSpPr>
            <a:spLocks noChangeArrowheads="1"/>
          </p:cNvSpPr>
          <p:nvPr/>
        </p:nvSpPr>
        <p:spPr bwMode="auto">
          <a:xfrm>
            <a:off x="8255936" y="1988985"/>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0x0f0</a:t>
            </a:r>
            <a:endParaRPr lang="ja-JP" altLang="en-US" sz="1600" dirty="0">
              <a:latin typeface="Consolas" panose="020B0609020204030204" pitchFamily="49" charset="0"/>
            </a:endParaRPr>
          </a:p>
        </p:txBody>
      </p:sp>
      <p:sp>
        <p:nvSpPr>
          <p:cNvPr id="42" name="Rectangle 17"/>
          <p:cNvSpPr>
            <a:spLocks noChangeArrowheads="1"/>
          </p:cNvSpPr>
          <p:nvPr/>
        </p:nvSpPr>
        <p:spPr bwMode="auto">
          <a:xfrm>
            <a:off x="8256024" y="414900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0x400</a:t>
            </a:r>
            <a:endParaRPr lang="ja-JP" altLang="en-US" sz="1600" dirty="0">
              <a:latin typeface="Consolas" panose="020B0609020204030204" pitchFamily="49" charset="0"/>
            </a:endParaRPr>
          </a:p>
        </p:txBody>
      </p:sp>
      <p:sp>
        <p:nvSpPr>
          <p:cNvPr id="43" name="正方形/長方形 42"/>
          <p:cNvSpPr/>
          <p:nvPr/>
        </p:nvSpPr>
        <p:spPr bwMode="auto">
          <a:xfrm>
            <a:off x="8976032" y="450901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en-US" altLang="ja-JP" kern="0" dirty="0">
                <a:solidFill>
                  <a:schemeClr val="tx1">
                    <a:lumMod val="85000"/>
                    <a:lumOff val="15000"/>
                  </a:schemeClr>
                </a:solidFill>
                <a:latin typeface="Consolas" panose="020B0609020204030204" pitchFamily="49" charset="0"/>
              </a:rPr>
              <a:t>li 0x0f4</a:t>
            </a:r>
            <a:r>
              <a:rPr lang="ja-JP" altLang="en-US" kern="0" dirty="0">
                <a:solidFill>
                  <a:schemeClr val="tx1">
                    <a:lumMod val="85000"/>
                    <a:lumOff val="15000"/>
                  </a:schemeClr>
                </a:solidFill>
                <a:latin typeface="Consolas" panose="020B0609020204030204" pitchFamily="49" charset="0"/>
              </a:rPr>
              <a:t>→</a:t>
            </a:r>
            <a:r>
              <a:rPr lang="en-US" altLang="ja-JP" kern="0" dirty="0">
                <a:solidFill>
                  <a:schemeClr val="tx1">
                    <a:lumMod val="85000"/>
                    <a:lumOff val="15000"/>
                  </a:schemeClr>
                </a:solidFill>
                <a:latin typeface="Consolas" panose="020B0609020204030204" pitchFamily="49" charset="0"/>
              </a:rPr>
              <a:t>B</a:t>
            </a:r>
          </a:p>
          <a:p>
            <a:endParaRPr lang="ja-JP" altLang="en-US" dirty="0">
              <a:latin typeface="メイリオ" panose="020B0604030504040204" pitchFamily="50" charset="-128"/>
              <a:ea typeface="メイリオ" panose="020B0604030504040204" pitchFamily="50" charset="-128"/>
            </a:endParaRPr>
          </a:p>
        </p:txBody>
      </p:sp>
      <p:sp>
        <p:nvSpPr>
          <p:cNvPr id="44" name="Rectangle 17"/>
          <p:cNvSpPr>
            <a:spLocks noChangeArrowheads="1"/>
          </p:cNvSpPr>
          <p:nvPr/>
        </p:nvSpPr>
        <p:spPr bwMode="auto">
          <a:xfrm>
            <a:off x="8256024" y="450901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0x404</a:t>
            </a:r>
            <a:endParaRPr lang="ja-JP" altLang="en-US" sz="1600" dirty="0">
              <a:latin typeface="Consolas" panose="020B0609020204030204" pitchFamily="49" charset="0"/>
            </a:endParaRPr>
          </a:p>
        </p:txBody>
      </p:sp>
      <p:sp>
        <p:nvSpPr>
          <p:cNvPr id="45" name="正方形/長方形 44"/>
          <p:cNvSpPr/>
          <p:nvPr/>
        </p:nvSpPr>
        <p:spPr bwMode="auto">
          <a:xfrm>
            <a:off x="8976032" y="486901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kern="0">
                <a:solidFill>
                  <a:schemeClr val="tx1">
                    <a:lumMod val="85000"/>
                    <a:lumOff val="15000"/>
                  </a:schemeClr>
                </a:solidFill>
                <a:latin typeface="Consolas" panose="020B0609020204030204" pitchFamily="49" charset="0"/>
              </a:rPr>
              <a:t>st </a:t>
            </a:r>
            <a:r>
              <a:rPr lang="en-US" altLang="ja-JP" kern="0" dirty="0">
                <a:solidFill>
                  <a:schemeClr val="tx1">
                    <a:lumMod val="85000"/>
                    <a:lumOff val="15000"/>
                  </a:schemeClr>
                </a:solidFill>
                <a:latin typeface="Consolas" panose="020B0609020204030204" pitchFamily="49" charset="0"/>
              </a:rPr>
              <a:t>A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(B)</a:t>
            </a:r>
            <a:endParaRPr lang="ja-JP" altLang="en-US" kern="0" dirty="0">
              <a:solidFill>
                <a:schemeClr val="accent3">
                  <a:lumMod val="75000"/>
                </a:schemeClr>
              </a:solidFill>
              <a:latin typeface="Consolas" panose="020B0609020204030204" pitchFamily="49" charset="0"/>
            </a:endParaRPr>
          </a:p>
          <a:p>
            <a:pPr algn="ctr"/>
            <a:endParaRPr lang="ja-JP" altLang="en-US" dirty="0">
              <a:latin typeface="メイリオ" panose="020B0604030504040204" pitchFamily="50" charset="-128"/>
              <a:ea typeface="メイリオ" panose="020B0604030504040204" pitchFamily="50" charset="-128"/>
            </a:endParaRPr>
          </a:p>
        </p:txBody>
      </p:sp>
      <p:sp>
        <p:nvSpPr>
          <p:cNvPr id="46" name="Rectangle 17"/>
          <p:cNvSpPr>
            <a:spLocks noChangeArrowheads="1"/>
          </p:cNvSpPr>
          <p:nvPr/>
        </p:nvSpPr>
        <p:spPr bwMode="auto">
          <a:xfrm>
            <a:off x="8256024" y="486901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0x408</a:t>
            </a:r>
            <a:endParaRPr lang="ja-JP" altLang="en-US" sz="1600" dirty="0">
              <a:latin typeface="Consolas" panose="020B0609020204030204" pitchFamily="49" charset="0"/>
            </a:endParaRPr>
          </a:p>
        </p:txBody>
      </p:sp>
      <p:sp>
        <p:nvSpPr>
          <p:cNvPr id="3" name="正方形/長方形 2"/>
          <p:cNvSpPr/>
          <p:nvPr/>
        </p:nvSpPr>
        <p:spPr bwMode="auto">
          <a:xfrm>
            <a:off x="1775953" y="2078985"/>
            <a:ext cx="4590051" cy="2700030"/>
          </a:xfrm>
          <a:prstGeom prst="rect">
            <a:avLst/>
          </a:prstGeom>
          <a:no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150000"/>
              </a:lnSpc>
            </a:pPr>
            <a:r>
              <a:rPr lang="en-US" altLang="ja-JP" sz="2000" kern="0" dirty="0">
                <a:solidFill>
                  <a:schemeClr val="accent5"/>
                </a:solidFill>
                <a:latin typeface="Consolas" panose="020B0609020204030204" pitchFamily="49" charset="0"/>
              </a:rPr>
              <a:t>1: </a:t>
            </a:r>
            <a:r>
              <a:rPr lang="en-US" altLang="ja-JP" sz="2000" kern="0" dirty="0" err="1">
                <a:solidFill>
                  <a:schemeClr val="accent5"/>
                </a:solidFill>
                <a:latin typeface="Consolas" panose="020B0609020204030204" pitchFamily="49" charset="0"/>
              </a:rPr>
              <a:t>i</a:t>
            </a:r>
            <a:r>
              <a:rPr lang="en-US" altLang="ja-JP" sz="2000" kern="0" dirty="0">
                <a:solidFill>
                  <a:schemeClr val="accent5"/>
                </a:solidFill>
                <a:latin typeface="Consolas" panose="020B0609020204030204" pitchFamily="49" charset="0"/>
              </a:rPr>
              <a:t> = 0;</a:t>
            </a:r>
          </a:p>
          <a:p>
            <a:pPr>
              <a:lnSpc>
                <a:spcPct val="150000"/>
              </a:lnSpc>
            </a:pPr>
            <a:r>
              <a:rPr lang="en-US" altLang="ja-JP" sz="2000" kern="0" dirty="0">
                <a:solidFill>
                  <a:schemeClr val="accent5"/>
                </a:solidFill>
                <a:latin typeface="Consolas" panose="020B0609020204030204" pitchFamily="49" charset="0"/>
              </a:rPr>
              <a:t>   </a:t>
            </a:r>
            <a:r>
              <a:rPr lang="en-US" altLang="ja-JP" sz="2000" kern="0" dirty="0">
                <a:solidFill>
                  <a:schemeClr val="accent3">
                    <a:lumMod val="75000"/>
                  </a:schemeClr>
                </a:solidFill>
                <a:latin typeface="Consolas" panose="020B0609020204030204" pitchFamily="49" charset="0"/>
              </a:rPr>
              <a:t>// </a:t>
            </a:r>
            <a:r>
              <a:rPr lang="ja-JP" altLang="en-US" sz="2000" kern="0" dirty="0">
                <a:solidFill>
                  <a:schemeClr val="accent3">
                    <a:lumMod val="75000"/>
                  </a:schemeClr>
                </a:solidFill>
                <a:latin typeface="Consolas" panose="020B0609020204030204" pitchFamily="49" charset="0"/>
              </a:rPr>
              <a:t>レジスタ </a:t>
            </a:r>
            <a:r>
              <a:rPr lang="en-US" altLang="ja-JP" sz="2000" kern="0" dirty="0">
                <a:solidFill>
                  <a:schemeClr val="accent3">
                    <a:lumMod val="75000"/>
                  </a:schemeClr>
                </a:solidFill>
                <a:latin typeface="Consolas" panose="020B0609020204030204" pitchFamily="49" charset="0"/>
              </a:rPr>
              <a:t>A </a:t>
            </a:r>
            <a:r>
              <a:rPr lang="ja-JP" altLang="en-US" sz="2000" kern="0" dirty="0">
                <a:solidFill>
                  <a:schemeClr val="accent3">
                    <a:lumMod val="75000"/>
                  </a:schemeClr>
                </a:solidFill>
                <a:latin typeface="Consolas" panose="020B0609020204030204" pitchFamily="49" charset="0"/>
              </a:rPr>
              <a:t>に </a:t>
            </a:r>
            <a:r>
              <a:rPr lang="en-US" altLang="ja-JP" sz="2000" kern="0" dirty="0">
                <a:solidFill>
                  <a:schemeClr val="accent3">
                    <a:lumMod val="75000"/>
                  </a:schemeClr>
                </a:solidFill>
                <a:latin typeface="Consolas" panose="020B0609020204030204" pitchFamily="49" charset="0"/>
              </a:rPr>
              <a:t>0 </a:t>
            </a:r>
            <a:r>
              <a:rPr lang="ja-JP" altLang="en-US" sz="2000" kern="0" dirty="0">
                <a:solidFill>
                  <a:schemeClr val="accent3">
                    <a:lumMod val="75000"/>
                  </a:schemeClr>
                </a:solidFill>
                <a:latin typeface="Consolas" panose="020B0609020204030204" pitchFamily="49" charset="0"/>
              </a:rPr>
              <a:t>をいれる</a:t>
            </a:r>
            <a:endParaRPr lang="en-US" altLang="ja-JP" sz="2000" kern="0" dirty="0">
              <a:solidFill>
                <a:schemeClr val="accent5"/>
              </a:solidFill>
              <a:latin typeface="Consolas" panose="020B0609020204030204" pitchFamily="49" charset="0"/>
            </a:endParaRPr>
          </a:p>
          <a:p>
            <a:pPr>
              <a:lnSpc>
                <a:spcPct val="150000"/>
              </a:lnSpc>
            </a:pPr>
            <a:r>
              <a:rPr lang="en-US" altLang="ja-JP" sz="2000" kern="0" dirty="0">
                <a:solidFill>
                  <a:schemeClr val="accent3">
                    <a:lumMod val="75000"/>
                  </a:schemeClr>
                </a:solidFill>
                <a:latin typeface="Consolas" panose="020B0609020204030204" pitchFamily="49" charset="0"/>
              </a:rPr>
              <a:t>   </a:t>
            </a:r>
            <a:r>
              <a:rPr lang="en-US" altLang="ja-JP" sz="2000" kern="0" dirty="0">
                <a:solidFill>
                  <a:schemeClr val="tx1">
                    <a:lumMod val="85000"/>
                    <a:lumOff val="15000"/>
                  </a:schemeClr>
                </a:solidFill>
                <a:latin typeface="Consolas" panose="020B0609020204030204" pitchFamily="49" charset="0"/>
              </a:rPr>
              <a:t>0x400: li 0     </a:t>
            </a:r>
            <a:r>
              <a:rPr lang="ja-JP" altLang="en-US" sz="2000" kern="0" dirty="0">
                <a:solidFill>
                  <a:schemeClr val="tx1">
                    <a:lumMod val="85000"/>
                    <a:lumOff val="15000"/>
                  </a:schemeClr>
                </a:solidFill>
                <a:latin typeface="Consolas" panose="020B0609020204030204" pitchFamily="49" charset="0"/>
              </a:rPr>
              <a:t>→ </a:t>
            </a:r>
            <a:r>
              <a:rPr lang="en-US" altLang="ja-JP" sz="2000" kern="0" dirty="0">
                <a:solidFill>
                  <a:schemeClr val="tx1">
                    <a:lumMod val="85000"/>
                    <a:lumOff val="15000"/>
                  </a:schemeClr>
                </a:solidFill>
                <a:latin typeface="Consolas" panose="020B0609020204030204" pitchFamily="49" charset="0"/>
              </a:rPr>
              <a:t>A</a:t>
            </a:r>
          </a:p>
          <a:p>
            <a:pPr>
              <a:lnSpc>
                <a:spcPct val="150000"/>
              </a:lnSpc>
            </a:pPr>
            <a:r>
              <a:rPr lang="en-US" altLang="ja-JP" sz="2000" kern="0" dirty="0">
                <a:solidFill>
                  <a:schemeClr val="accent3">
                    <a:lumMod val="75000"/>
                  </a:schemeClr>
                </a:solidFill>
                <a:latin typeface="Consolas" panose="020B0609020204030204" pitchFamily="49" charset="0"/>
              </a:rPr>
              <a:t>   // B </a:t>
            </a:r>
            <a:r>
              <a:rPr lang="ja-JP" altLang="en-US" sz="2000" kern="0" dirty="0">
                <a:solidFill>
                  <a:schemeClr val="accent3">
                    <a:lumMod val="75000"/>
                  </a:schemeClr>
                </a:solidFill>
                <a:latin typeface="Consolas" panose="020B0609020204030204" pitchFamily="49" charset="0"/>
              </a:rPr>
              <a:t>に </a:t>
            </a:r>
            <a:r>
              <a:rPr lang="en-US" altLang="ja-JP" sz="2000" kern="0" dirty="0">
                <a:solidFill>
                  <a:schemeClr val="accent3">
                    <a:lumMod val="75000"/>
                  </a:schemeClr>
                </a:solidFill>
                <a:latin typeface="Consolas" panose="020B0609020204030204" pitchFamily="49" charset="0"/>
              </a:rPr>
              <a:t>0x0f4 (</a:t>
            </a:r>
            <a:r>
              <a:rPr lang="en-US" altLang="ja-JP" sz="2000" kern="0" dirty="0" err="1">
                <a:solidFill>
                  <a:schemeClr val="accent3">
                    <a:lumMod val="75000"/>
                  </a:schemeClr>
                </a:solidFill>
                <a:latin typeface="Consolas" panose="020B0609020204030204" pitchFamily="49" charset="0"/>
              </a:rPr>
              <a:t>i</a:t>
            </a:r>
            <a:r>
              <a:rPr lang="en-US" altLang="ja-JP" sz="2000" kern="0" dirty="0">
                <a:solidFill>
                  <a:schemeClr val="accent3">
                    <a:lumMod val="75000"/>
                  </a:schemeClr>
                </a:solidFill>
                <a:latin typeface="Consolas" panose="020B0609020204030204" pitchFamily="49" charset="0"/>
              </a:rPr>
              <a:t> </a:t>
            </a:r>
            <a:r>
              <a:rPr lang="ja-JP" altLang="en-US" sz="2000" kern="0" dirty="0">
                <a:solidFill>
                  <a:schemeClr val="accent3">
                    <a:lumMod val="75000"/>
                  </a:schemeClr>
                </a:solidFill>
                <a:latin typeface="Consolas" panose="020B0609020204030204" pitchFamily="49" charset="0"/>
              </a:rPr>
              <a:t>の番地</a:t>
            </a:r>
            <a:r>
              <a:rPr lang="en-US" altLang="ja-JP" sz="2000" kern="0" dirty="0">
                <a:solidFill>
                  <a:schemeClr val="accent3">
                    <a:lumMod val="75000"/>
                  </a:schemeClr>
                </a:solidFill>
                <a:latin typeface="Consolas" panose="020B0609020204030204" pitchFamily="49" charset="0"/>
              </a:rPr>
              <a:t>) </a:t>
            </a:r>
            <a:r>
              <a:rPr lang="ja-JP" altLang="en-US" sz="2000" kern="0" dirty="0">
                <a:solidFill>
                  <a:schemeClr val="accent3">
                    <a:lumMod val="75000"/>
                  </a:schemeClr>
                </a:solidFill>
                <a:latin typeface="Consolas" panose="020B0609020204030204" pitchFamily="49" charset="0"/>
              </a:rPr>
              <a:t>をいれる</a:t>
            </a:r>
            <a:endParaRPr lang="en-US" altLang="ja-JP" sz="2000" kern="0" dirty="0">
              <a:solidFill>
                <a:schemeClr val="accent3">
                  <a:lumMod val="75000"/>
                </a:schemeClr>
              </a:solidFill>
              <a:latin typeface="Consolas" panose="020B0609020204030204" pitchFamily="49" charset="0"/>
            </a:endParaRPr>
          </a:p>
          <a:p>
            <a:pPr>
              <a:lnSpc>
                <a:spcPct val="150000"/>
              </a:lnSpc>
            </a:pPr>
            <a:r>
              <a:rPr lang="en-US" altLang="ja-JP" sz="2000" kern="0" dirty="0">
                <a:solidFill>
                  <a:schemeClr val="accent3">
                    <a:lumMod val="75000"/>
                  </a:schemeClr>
                </a:solidFill>
                <a:latin typeface="Consolas" panose="020B0609020204030204" pitchFamily="49" charset="0"/>
              </a:rPr>
              <a:t>   </a:t>
            </a:r>
            <a:r>
              <a:rPr lang="en-US" altLang="ja-JP" sz="2000" kern="0" dirty="0">
                <a:solidFill>
                  <a:schemeClr val="tx1">
                    <a:lumMod val="85000"/>
                    <a:lumOff val="15000"/>
                  </a:schemeClr>
                </a:solidFill>
                <a:latin typeface="Consolas" panose="020B0609020204030204" pitchFamily="49" charset="0"/>
              </a:rPr>
              <a:t>0x404: li 0x0f4 </a:t>
            </a:r>
            <a:r>
              <a:rPr lang="ja-JP" altLang="en-US" sz="2000" kern="0" dirty="0">
                <a:solidFill>
                  <a:schemeClr val="tx1">
                    <a:lumMod val="85000"/>
                    <a:lumOff val="15000"/>
                  </a:schemeClr>
                </a:solidFill>
                <a:latin typeface="Consolas" panose="020B0609020204030204" pitchFamily="49" charset="0"/>
              </a:rPr>
              <a:t>→ </a:t>
            </a:r>
            <a:r>
              <a:rPr lang="en-US" altLang="ja-JP" sz="2000" kern="0" dirty="0">
                <a:solidFill>
                  <a:schemeClr val="tx1">
                    <a:lumMod val="85000"/>
                    <a:lumOff val="15000"/>
                  </a:schemeClr>
                </a:solidFill>
                <a:latin typeface="Consolas" panose="020B0609020204030204" pitchFamily="49" charset="0"/>
              </a:rPr>
              <a:t>B</a:t>
            </a:r>
          </a:p>
          <a:p>
            <a:pPr>
              <a:lnSpc>
                <a:spcPct val="150000"/>
              </a:lnSpc>
            </a:pPr>
            <a:r>
              <a:rPr lang="en-US" altLang="ja-JP" sz="2000" kern="0" dirty="0">
                <a:solidFill>
                  <a:schemeClr val="accent3">
                    <a:lumMod val="75000"/>
                  </a:schemeClr>
                </a:solidFill>
                <a:latin typeface="Consolas" panose="020B0609020204030204" pitchFamily="49" charset="0"/>
              </a:rPr>
              <a:t>   // A </a:t>
            </a:r>
            <a:r>
              <a:rPr lang="ja-JP" altLang="en-US" sz="2000" kern="0" dirty="0">
                <a:solidFill>
                  <a:schemeClr val="accent3">
                    <a:lumMod val="75000"/>
                  </a:schemeClr>
                </a:solidFill>
                <a:latin typeface="Consolas" panose="020B0609020204030204" pitchFamily="49" charset="0"/>
              </a:rPr>
              <a:t>を </a:t>
            </a:r>
            <a:r>
              <a:rPr lang="en-US" altLang="ja-JP" sz="2000" kern="0" dirty="0">
                <a:solidFill>
                  <a:schemeClr val="accent3">
                    <a:lumMod val="75000"/>
                  </a:schemeClr>
                </a:solidFill>
                <a:latin typeface="Consolas" panose="020B0609020204030204" pitchFamily="49" charset="0"/>
              </a:rPr>
              <a:t>(B) </a:t>
            </a:r>
            <a:r>
              <a:rPr lang="ja-JP" altLang="en-US" sz="2000" kern="0" dirty="0">
                <a:solidFill>
                  <a:schemeClr val="accent3">
                    <a:lumMod val="75000"/>
                  </a:schemeClr>
                </a:solidFill>
                <a:latin typeface="Consolas" panose="020B0609020204030204" pitchFamily="49" charset="0"/>
              </a:rPr>
              <a:t>にかきこむ</a:t>
            </a:r>
            <a:endParaRPr lang="en-US" altLang="ja-JP" sz="2000" kern="0" dirty="0">
              <a:solidFill>
                <a:schemeClr val="accent3">
                  <a:lumMod val="75000"/>
                </a:schemeClr>
              </a:solidFill>
              <a:latin typeface="Consolas" panose="020B0609020204030204" pitchFamily="49" charset="0"/>
            </a:endParaRPr>
          </a:p>
          <a:p>
            <a:pPr>
              <a:lnSpc>
                <a:spcPct val="150000"/>
              </a:lnSpc>
            </a:pPr>
            <a:r>
              <a:rPr lang="en-US" altLang="ja-JP" sz="2000" kern="0" dirty="0">
                <a:solidFill>
                  <a:schemeClr val="tx1">
                    <a:lumMod val="85000"/>
                    <a:lumOff val="15000"/>
                  </a:schemeClr>
                </a:solidFill>
                <a:latin typeface="Consolas" panose="020B0609020204030204" pitchFamily="49" charset="0"/>
              </a:rPr>
              <a:t>   0x408</a:t>
            </a:r>
            <a:r>
              <a:rPr lang="en-US" altLang="ja-JP" sz="2000" kern="0">
                <a:solidFill>
                  <a:schemeClr val="tx1">
                    <a:lumMod val="85000"/>
                    <a:lumOff val="15000"/>
                  </a:schemeClr>
                </a:solidFill>
                <a:latin typeface="Consolas" panose="020B0609020204030204" pitchFamily="49" charset="0"/>
              </a:rPr>
              <a:t>: st </a:t>
            </a:r>
            <a:r>
              <a:rPr lang="en-US" altLang="ja-JP" sz="2000" kern="0" dirty="0">
                <a:solidFill>
                  <a:schemeClr val="tx1">
                    <a:lumMod val="85000"/>
                    <a:lumOff val="15000"/>
                  </a:schemeClr>
                </a:solidFill>
                <a:latin typeface="Consolas" panose="020B0609020204030204" pitchFamily="49" charset="0"/>
              </a:rPr>
              <a:t>A </a:t>
            </a:r>
            <a:r>
              <a:rPr lang="ja-JP" altLang="en-US" sz="2000" kern="0" dirty="0">
                <a:solidFill>
                  <a:schemeClr val="tx1">
                    <a:lumMod val="85000"/>
                    <a:lumOff val="15000"/>
                  </a:schemeClr>
                </a:solidFill>
                <a:latin typeface="Consolas" panose="020B0609020204030204" pitchFamily="49" charset="0"/>
              </a:rPr>
              <a:t>→ </a:t>
            </a:r>
            <a:r>
              <a:rPr lang="en-US" altLang="ja-JP" sz="2000" kern="0" dirty="0">
                <a:solidFill>
                  <a:schemeClr val="tx1">
                    <a:lumMod val="85000"/>
                    <a:lumOff val="15000"/>
                  </a:schemeClr>
                </a:solidFill>
                <a:latin typeface="Consolas" panose="020B0609020204030204" pitchFamily="49" charset="0"/>
              </a:rPr>
              <a:t>(B)</a:t>
            </a:r>
            <a:endParaRPr lang="ja-JP" altLang="en-US" sz="2000" kern="0" dirty="0">
              <a:solidFill>
                <a:schemeClr val="accent3">
                  <a:lumMod val="75000"/>
                </a:schemeClr>
              </a:solidFill>
              <a:latin typeface="Consolas" panose="020B0609020204030204" pitchFamily="49" charset="0"/>
            </a:endParaRPr>
          </a:p>
        </p:txBody>
      </p:sp>
      <p:sp>
        <p:nvSpPr>
          <p:cNvPr id="57" name="正方形/長方形 56"/>
          <p:cNvSpPr/>
          <p:nvPr/>
        </p:nvSpPr>
        <p:spPr bwMode="auto">
          <a:xfrm>
            <a:off x="8976032" y="414900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en-US" altLang="ja-JP" kern="0" dirty="0">
                <a:solidFill>
                  <a:schemeClr val="tx1">
                    <a:lumMod val="85000"/>
                    <a:lumOff val="15000"/>
                  </a:schemeClr>
                </a:solidFill>
                <a:latin typeface="Consolas" panose="020B0609020204030204" pitchFamily="49" charset="0"/>
              </a:rPr>
              <a:t>li 0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A</a:t>
            </a:r>
          </a:p>
        </p:txBody>
      </p:sp>
      <p:sp>
        <p:nvSpPr>
          <p:cNvPr id="59" name="正方形/長方形 58"/>
          <p:cNvSpPr/>
          <p:nvPr/>
        </p:nvSpPr>
        <p:spPr bwMode="auto">
          <a:xfrm>
            <a:off x="8976032" y="522335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60" name="Rectangle 17"/>
          <p:cNvSpPr>
            <a:spLocks noChangeArrowheads="1"/>
          </p:cNvSpPr>
          <p:nvPr/>
        </p:nvSpPr>
        <p:spPr bwMode="auto">
          <a:xfrm>
            <a:off x="8256024" y="522335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0x40C</a:t>
            </a:r>
            <a:endParaRPr lang="ja-JP" altLang="en-US" sz="1600" dirty="0">
              <a:latin typeface="Consolas" panose="020B0609020204030204" pitchFamily="49" charset="0"/>
            </a:endParaRPr>
          </a:p>
        </p:txBody>
      </p:sp>
    </p:spTree>
    <p:extLst>
      <p:ext uri="{BB962C8B-B14F-4D97-AF65-F5344CB8AC3E}">
        <p14:creationId xmlns:p14="http://schemas.microsoft.com/office/powerpoint/2010/main" val="15766882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2</a:t>
            </a:r>
            <a:r>
              <a:rPr lang="ja-JP" altLang="en-US" dirty="0"/>
              <a:t>行目：ラベル</a:t>
            </a:r>
          </a:p>
        </p:txBody>
      </p:sp>
      <p:sp>
        <p:nvSpPr>
          <p:cNvPr id="41" name="テキスト プレースホルダー 2"/>
          <p:cNvSpPr>
            <a:spLocks noGrp="1"/>
          </p:cNvSpPr>
          <p:nvPr>
            <p:ph type="body" sz="quarter" idx="10"/>
          </p:nvPr>
        </p:nvSpPr>
        <p:spPr>
          <a:xfrm>
            <a:off x="1955954" y="4059007"/>
            <a:ext cx="6300070" cy="1709712"/>
          </a:xfrm>
        </p:spPr>
        <p:txBody>
          <a:bodyPr/>
          <a:lstStyle/>
          <a:p>
            <a:r>
              <a:rPr lang="ja-JP" altLang="en-US" dirty="0">
                <a:latin typeface="Consolas" panose="020B0609020204030204" pitchFamily="49" charset="0"/>
              </a:rPr>
              <a:t>次の３行目は，</a:t>
            </a:r>
            <a:r>
              <a:rPr lang="en-US" altLang="ja-JP" dirty="0">
                <a:solidFill>
                  <a:srgbClr val="FF0000"/>
                </a:solidFill>
                <a:latin typeface="Consolas" panose="020B0609020204030204" pitchFamily="49" charset="0"/>
              </a:rPr>
              <a:t>0x40C</a:t>
            </a:r>
            <a:r>
              <a:rPr lang="en-US" altLang="ja-JP" dirty="0">
                <a:latin typeface="Consolas" panose="020B0609020204030204" pitchFamily="49" charset="0"/>
              </a:rPr>
              <a:t> </a:t>
            </a:r>
            <a:r>
              <a:rPr lang="ja-JP" altLang="en-US" dirty="0">
                <a:latin typeface="Consolas" panose="020B0609020204030204" pitchFamily="49" charset="0"/>
              </a:rPr>
              <a:t>からはじまるので，</a:t>
            </a:r>
            <a:br>
              <a:rPr lang="en-US" altLang="ja-JP" dirty="0">
                <a:latin typeface="Consolas" panose="020B0609020204030204" pitchFamily="49" charset="0"/>
              </a:rPr>
            </a:br>
            <a:r>
              <a:rPr lang="en-US" altLang="ja-JP" dirty="0">
                <a:latin typeface="Consolas" panose="020B0609020204030204" pitchFamily="49" charset="0"/>
              </a:rPr>
              <a:t>LABEL=0x40C </a:t>
            </a:r>
            <a:r>
              <a:rPr lang="ja-JP" altLang="en-US" dirty="0">
                <a:latin typeface="Consolas" panose="020B0609020204030204" pitchFamily="49" charset="0"/>
              </a:rPr>
              <a:t>として憶えておく</a:t>
            </a:r>
            <a:br>
              <a:rPr lang="en-US" altLang="ja-JP" dirty="0">
                <a:latin typeface="Consolas" panose="020B0609020204030204" pitchFamily="49" charset="0"/>
              </a:rPr>
            </a:br>
            <a:endParaRPr kumimoji="1" lang="ja-JP" altLang="en-US" dirty="0">
              <a:latin typeface="Consolas" panose="020B0609020204030204" pitchFamily="49" charset="0"/>
            </a:endParaRPr>
          </a:p>
        </p:txBody>
      </p:sp>
      <p:sp>
        <p:nvSpPr>
          <p:cNvPr id="4" name="テキスト プレースホルダー 2"/>
          <p:cNvSpPr txBox="1">
            <a:spLocks/>
          </p:cNvSpPr>
          <p:nvPr/>
        </p:nvSpPr>
        <p:spPr bwMode="auto">
          <a:xfrm>
            <a:off x="2405960" y="1628980"/>
            <a:ext cx="3690041" cy="150210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en-US" altLang="ja-JP" kern="0" dirty="0">
                <a:latin typeface="Consolas" panose="020B0609020204030204" pitchFamily="49" charset="0"/>
              </a:rPr>
              <a:t>1:     </a:t>
            </a:r>
            <a:r>
              <a:rPr lang="en-US" altLang="ja-JP" kern="0" dirty="0" err="1">
                <a:latin typeface="Consolas" panose="020B0609020204030204" pitchFamily="49" charset="0"/>
              </a:rPr>
              <a:t>i</a:t>
            </a:r>
            <a:r>
              <a:rPr lang="en-US" altLang="ja-JP" kern="0" dirty="0">
                <a:latin typeface="Consolas" panose="020B0609020204030204" pitchFamily="49" charset="0"/>
              </a:rPr>
              <a:t> = 0;</a:t>
            </a:r>
            <a:br>
              <a:rPr lang="en-US" altLang="ja-JP" kern="0" dirty="0">
                <a:latin typeface="Consolas" panose="020B0609020204030204" pitchFamily="49" charset="0"/>
              </a:rPr>
            </a:br>
            <a:r>
              <a:rPr lang="en-US" altLang="ja-JP" kern="0" dirty="0">
                <a:solidFill>
                  <a:srgbClr val="FF0000"/>
                </a:solidFill>
                <a:latin typeface="Consolas" panose="020B0609020204030204" pitchFamily="49" charset="0"/>
              </a:rPr>
              <a:t>2: LABEL:</a:t>
            </a:r>
            <a:br>
              <a:rPr lang="en-US" altLang="ja-JP" kern="0" dirty="0">
                <a:solidFill>
                  <a:srgbClr val="FF0000"/>
                </a:solidFill>
                <a:latin typeface="Consolas" panose="020B0609020204030204" pitchFamily="49" charset="0"/>
              </a:rPr>
            </a:br>
            <a:r>
              <a:rPr lang="en-US" altLang="ja-JP" kern="0" dirty="0">
                <a:latin typeface="Consolas" panose="020B0609020204030204" pitchFamily="49" charset="0"/>
              </a:rPr>
              <a:t>3:     </a:t>
            </a:r>
            <a:r>
              <a:rPr lang="en-US" altLang="ja-JP" kern="0" dirty="0" err="1">
                <a:latin typeface="Consolas" panose="020B0609020204030204" pitchFamily="49" charset="0"/>
              </a:rPr>
              <a:t>i</a:t>
            </a:r>
            <a:r>
              <a:rPr lang="en-US" altLang="ja-JP" kern="0" dirty="0">
                <a:latin typeface="Consolas" panose="020B0609020204030204" pitchFamily="49" charset="0"/>
              </a:rPr>
              <a:t> = </a:t>
            </a:r>
            <a:r>
              <a:rPr lang="en-US" altLang="ja-JP" kern="0" dirty="0" err="1">
                <a:latin typeface="Consolas" panose="020B0609020204030204" pitchFamily="49" charset="0"/>
              </a:rPr>
              <a:t>i</a:t>
            </a:r>
            <a:r>
              <a:rPr lang="en-US" altLang="ja-JP" kern="0" dirty="0">
                <a:latin typeface="Consolas" panose="020B0609020204030204" pitchFamily="49" charset="0"/>
              </a:rPr>
              <a:t> + 1;</a:t>
            </a:r>
            <a:br>
              <a:rPr lang="en-US" altLang="ja-JP" kern="0" dirty="0">
                <a:latin typeface="Consolas" panose="020B0609020204030204" pitchFamily="49" charset="0"/>
              </a:rPr>
            </a:br>
            <a:r>
              <a:rPr lang="en-US" altLang="ja-JP" kern="0" dirty="0">
                <a:latin typeface="Consolas" panose="020B0609020204030204" pitchFamily="49" charset="0"/>
              </a:rPr>
              <a:t>4:     </a:t>
            </a:r>
            <a:r>
              <a:rPr lang="en-US" altLang="ja-JP" kern="0" dirty="0">
                <a:solidFill>
                  <a:schemeClr val="accent1"/>
                </a:solidFill>
                <a:latin typeface="Consolas" panose="020B0609020204030204" pitchFamily="49" charset="0"/>
              </a:rPr>
              <a:t>if </a:t>
            </a:r>
            <a:r>
              <a:rPr lang="en-US" altLang="ja-JP" kern="0" dirty="0">
                <a:latin typeface="Consolas" panose="020B0609020204030204" pitchFamily="49" charset="0"/>
              </a:rPr>
              <a:t>(</a:t>
            </a:r>
            <a:r>
              <a:rPr lang="en-US" altLang="ja-JP" kern="0" dirty="0" err="1">
                <a:latin typeface="Consolas" panose="020B0609020204030204" pitchFamily="49" charset="0"/>
              </a:rPr>
              <a:t>i</a:t>
            </a:r>
            <a:r>
              <a:rPr lang="en-US" altLang="ja-JP" kern="0" dirty="0">
                <a:latin typeface="Consolas" panose="020B0609020204030204" pitchFamily="49" charset="0"/>
              </a:rPr>
              <a:t> &lt; 10) </a:t>
            </a:r>
            <a:br>
              <a:rPr lang="en-US" altLang="ja-JP" kern="0" dirty="0">
                <a:latin typeface="Consolas" panose="020B0609020204030204" pitchFamily="49" charset="0"/>
              </a:rPr>
            </a:br>
            <a:r>
              <a:rPr lang="en-US" altLang="ja-JP" kern="0" dirty="0">
                <a:latin typeface="Consolas" panose="020B0609020204030204" pitchFamily="49" charset="0"/>
              </a:rPr>
              <a:t>5:        </a:t>
            </a:r>
            <a:r>
              <a:rPr lang="en-US" altLang="ja-JP" kern="0" dirty="0" err="1">
                <a:solidFill>
                  <a:schemeClr val="accent1"/>
                </a:solidFill>
                <a:latin typeface="Consolas" panose="020B0609020204030204" pitchFamily="49" charset="0"/>
              </a:rPr>
              <a:t>goto</a:t>
            </a:r>
            <a:r>
              <a:rPr lang="en-US" altLang="ja-JP" kern="0" dirty="0">
                <a:solidFill>
                  <a:schemeClr val="accent1"/>
                </a:solidFill>
                <a:latin typeface="Consolas" panose="020B0609020204030204" pitchFamily="49" charset="0"/>
              </a:rPr>
              <a:t> </a:t>
            </a:r>
            <a:r>
              <a:rPr lang="en-US" altLang="ja-JP" kern="0" dirty="0">
                <a:latin typeface="Consolas" panose="020B0609020204030204" pitchFamily="49" charset="0"/>
              </a:rPr>
              <a:t>LABEL;</a:t>
            </a:r>
            <a:endParaRPr lang="ja-JP" altLang="en-US" kern="0" dirty="0">
              <a:latin typeface="Consolas" panose="020B0609020204030204" pitchFamily="49" charset="0"/>
            </a:endParaRPr>
          </a:p>
        </p:txBody>
      </p:sp>
      <p:sp>
        <p:nvSpPr>
          <p:cNvPr id="25" name="正方形/長方形 24"/>
          <p:cNvSpPr/>
          <p:nvPr/>
        </p:nvSpPr>
        <p:spPr bwMode="auto">
          <a:xfrm>
            <a:off x="8976032" y="1628980"/>
            <a:ext cx="1440016" cy="4320049"/>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26" name="Rectangle 17"/>
          <p:cNvSpPr>
            <a:spLocks noChangeArrowheads="1"/>
          </p:cNvSpPr>
          <p:nvPr/>
        </p:nvSpPr>
        <p:spPr bwMode="auto">
          <a:xfrm>
            <a:off x="8255936" y="270903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0x0f8</a:t>
            </a:r>
            <a:endParaRPr lang="ja-JP" altLang="en-US" sz="1600" dirty="0">
              <a:latin typeface="Consolas" panose="020B0609020204030204" pitchFamily="49" charset="0"/>
            </a:endParaRPr>
          </a:p>
        </p:txBody>
      </p:sp>
      <p:sp>
        <p:nvSpPr>
          <p:cNvPr id="30" name="Rectangle 17"/>
          <p:cNvSpPr>
            <a:spLocks noChangeArrowheads="1"/>
          </p:cNvSpPr>
          <p:nvPr/>
        </p:nvSpPr>
        <p:spPr bwMode="auto">
          <a:xfrm>
            <a:off x="8255936" y="234898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0x0f4</a:t>
            </a:r>
            <a:endParaRPr lang="ja-JP" altLang="en-US" sz="1600" dirty="0">
              <a:latin typeface="Consolas" panose="020B0609020204030204" pitchFamily="49" charset="0"/>
            </a:endParaRPr>
          </a:p>
        </p:txBody>
      </p:sp>
      <p:sp>
        <p:nvSpPr>
          <p:cNvPr id="31" name="正方形/長方形 30"/>
          <p:cNvSpPr/>
          <p:nvPr/>
        </p:nvSpPr>
        <p:spPr bwMode="auto">
          <a:xfrm>
            <a:off x="8976032" y="1268976"/>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47" name="正方形/長方形 46"/>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b="1" dirty="0">
                <a:solidFill>
                  <a:schemeClr val="tx1">
                    <a:lumMod val="85000"/>
                    <a:lumOff val="15000"/>
                  </a:schemeClr>
                </a:solidFill>
                <a:latin typeface="Consolas" panose="020B0609020204030204" pitchFamily="49" charset="0"/>
                <a:ea typeface="メイリオ" panose="020B0604030504040204" pitchFamily="50" charset="-128"/>
              </a:rPr>
              <a:t>i: 0</a:t>
            </a:r>
            <a:endParaRPr lang="ja-JP" altLang="en-US" b="1"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48" name="正方形/長方形 47"/>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49" name="正方形/長方形 48"/>
          <p:cNvSpPr/>
          <p:nvPr/>
        </p:nvSpPr>
        <p:spPr bwMode="auto">
          <a:xfrm>
            <a:off x="8976032" y="162898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50" name="正方形/長方形 49"/>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8976032" y="342900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53" name="正方形/長方形 52"/>
          <p:cNvSpPr/>
          <p:nvPr/>
        </p:nvSpPr>
        <p:spPr bwMode="auto">
          <a:xfrm>
            <a:off x="8976032" y="378900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8976032" y="414900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endParaRPr lang="ja-JP" altLang="en-US" sz="1600" dirty="0">
              <a:latin typeface="メイリオ" panose="020B0604030504040204" pitchFamily="50" charset="-128"/>
              <a:ea typeface="メイリオ" panose="020B0604030504040204" pitchFamily="50" charset="-128"/>
            </a:endParaRPr>
          </a:p>
        </p:txBody>
      </p:sp>
      <p:sp>
        <p:nvSpPr>
          <p:cNvPr id="55" name="Rectangle 17"/>
          <p:cNvSpPr>
            <a:spLocks noChangeArrowheads="1"/>
          </p:cNvSpPr>
          <p:nvPr/>
        </p:nvSpPr>
        <p:spPr bwMode="auto">
          <a:xfrm>
            <a:off x="8255936" y="1988985"/>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0x0f0</a:t>
            </a:r>
            <a:endParaRPr lang="ja-JP" altLang="en-US" sz="1600" dirty="0">
              <a:latin typeface="Consolas" panose="020B0609020204030204" pitchFamily="49" charset="0"/>
            </a:endParaRPr>
          </a:p>
        </p:txBody>
      </p:sp>
      <p:sp>
        <p:nvSpPr>
          <p:cNvPr id="56" name="Rectangle 17"/>
          <p:cNvSpPr>
            <a:spLocks noChangeArrowheads="1"/>
          </p:cNvSpPr>
          <p:nvPr/>
        </p:nvSpPr>
        <p:spPr bwMode="auto">
          <a:xfrm>
            <a:off x="8256024" y="414900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0x400</a:t>
            </a:r>
            <a:endParaRPr lang="ja-JP" altLang="en-US" sz="1600" dirty="0">
              <a:latin typeface="Consolas" panose="020B0609020204030204" pitchFamily="49" charset="0"/>
            </a:endParaRPr>
          </a:p>
        </p:txBody>
      </p:sp>
      <p:sp>
        <p:nvSpPr>
          <p:cNvPr id="57" name="正方形/長方形 56"/>
          <p:cNvSpPr/>
          <p:nvPr/>
        </p:nvSpPr>
        <p:spPr bwMode="auto">
          <a:xfrm>
            <a:off x="8976032" y="450901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en-US" altLang="ja-JP" kern="0" dirty="0">
                <a:solidFill>
                  <a:schemeClr val="tx1">
                    <a:lumMod val="85000"/>
                    <a:lumOff val="15000"/>
                  </a:schemeClr>
                </a:solidFill>
                <a:latin typeface="Consolas" panose="020B0609020204030204" pitchFamily="49" charset="0"/>
              </a:rPr>
              <a:t>li 0x0f4</a:t>
            </a:r>
            <a:r>
              <a:rPr lang="ja-JP" altLang="en-US" kern="0" dirty="0">
                <a:solidFill>
                  <a:schemeClr val="tx1">
                    <a:lumMod val="85000"/>
                    <a:lumOff val="15000"/>
                  </a:schemeClr>
                </a:solidFill>
                <a:latin typeface="Consolas" panose="020B0609020204030204" pitchFamily="49" charset="0"/>
              </a:rPr>
              <a:t>→</a:t>
            </a:r>
            <a:r>
              <a:rPr lang="en-US" altLang="ja-JP" kern="0" dirty="0">
                <a:solidFill>
                  <a:schemeClr val="tx1">
                    <a:lumMod val="85000"/>
                    <a:lumOff val="15000"/>
                  </a:schemeClr>
                </a:solidFill>
                <a:latin typeface="Consolas" panose="020B0609020204030204" pitchFamily="49" charset="0"/>
              </a:rPr>
              <a:t>B</a:t>
            </a:r>
          </a:p>
          <a:p>
            <a:endParaRPr lang="ja-JP" altLang="en-US" dirty="0">
              <a:latin typeface="メイリオ" panose="020B0604030504040204" pitchFamily="50" charset="-128"/>
              <a:ea typeface="メイリオ" panose="020B0604030504040204" pitchFamily="50" charset="-128"/>
            </a:endParaRPr>
          </a:p>
        </p:txBody>
      </p:sp>
      <p:sp>
        <p:nvSpPr>
          <p:cNvPr id="58" name="Rectangle 17"/>
          <p:cNvSpPr>
            <a:spLocks noChangeArrowheads="1"/>
          </p:cNvSpPr>
          <p:nvPr/>
        </p:nvSpPr>
        <p:spPr bwMode="auto">
          <a:xfrm>
            <a:off x="8256024" y="450901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0x404</a:t>
            </a:r>
            <a:endParaRPr lang="ja-JP" altLang="en-US" sz="1600" dirty="0">
              <a:latin typeface="Consolas" panose="020B0609020204030204" pitchFamily="49" charset="0"/>
            </a:endParaRPr>
          </a:p>
        </p:txBody>
      </p:sp>
      <p:sp>
        <p:nvSpPr>
          <p:cNvPr id="59" name="正方形/長方形 58"/>
          <p:cNvSpPr/>
          <p:nvPr/>
        </p:nvSpPr>
        <p:spPr bwMode="auto">
          <a:xfrm>
            <a:off x="8976032" y="486901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kern="0">
                <a:solidFill>
                  <a:schemeClr val="tx1">
                    <a:lumMod val="85000"/>
                    <a:lumOff val="15000"/>
                  </a:schemeClr>
                </a:solidFill>
                <a:latin typeface="Consolas" panose="020B0609020204030204" pitchFamily="49" charset="0"/>
              </a:rPr>
              <a:t>st </a:t>
            </a:r>
            <a:r>
              <a:rPr lang="en-US" altLang="ja-JP" kern="0" dirty="0">
                <a:solidFill>
                  <a:schemeClr val="tx1">
                    <a:lumMod val="85000"/>
                    <a:lumOff val="15000"/>
                  </a:schemeClr>
                </a:solidFill>
                <a:latin typeface="Consolas" panose="020B0609020204030204" pitchFamily="49" charset="0"/>
              </a:rPr>
              <a:t>A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(B)</a:t>
            </a:r>
            <a:endParaRPr lang="ja-JP" altLang="en-US" kern="0" dirty="0">
              <a:solidFill>
                <a:schemeClr val="accent3">
                  <a:lumMod val="75000"/>
                </a:schemeClr>
              </a:solidFill>
              <a:latin typeface="Consolas" panose="020B0609020204030204" pitchFamily="49" charset="0"/>
            </a:endParaRPr>
          </a:p>
          <a:p>
            <a:pPr algn="ctr"/>
            <a:endParaRPr lang="ja-JP" altLang="en-US" dirty="0">
              <a:latin typeface="メイリオ" panose="020B0604030504040204" pitchFamily="50" charset="-128"/>
              <a:ea typeface="メイリオ" panose="020B0604030504040204" pitchFamily="50" charset="-128"/>
            </a:endParaRPr>
          </a:p>
        </p:txBody>
      </p:sp>
      <p:sp>
        <p:nvSpPr>
          <p:cNvPr id="60" name="Rectangle 17"/>
          <p:cNvSpPr>
            <a:spLocks noChangeArrowheads="1"/>
          </p:cNvSpPr>
          <p:nvPr/>
        </p:nvSpPr>
        <p:spPr bwMode="auto">
          <a:xfrm>
            <a:off x="8256024" y="486901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0x408</a:t>
            </a:r>
            <a:endParaRPr lang="ja-JP" altLang="en-US" sz="1600" dirty="0">
              <a:latin typeface="Consolas" panose="020B0609020204030204" pitchFamily="49" charset="0"/>
            </a:endParaRPr>
          </a:p>
        </p:txBody>
      </p:sp>
      <p:sp>
        <p:nvSpPr>
          <p:cNvPr id="61" name="正方形/長方形 60"/>
          <p:cNvSpPr/>
          <p:nvPr/>
        </p:nvSpPr>
        <p:spPr bwMode="auto">
          <a:xfrm>
            <a:off x="8976032" y="414900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en-US" altLang="ja-JP" kern="0" dirty="0">
                <a:solidFill>
                  <a:schemeClr val="tx1">
                    <a:lumMod val="85000"/>
                    <a:lumOff val="15000"/>
                  </a:schemeClr>
                </a:solidFill>
                <a:latin typeface="Consolas" panose="020B0609020204030204" pitchFamily="49" charset="0"/>
              </a:rPr>
              <a:t>li 0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A</a:t>
            </a:r>
          </a:p>
        </p:txBody>
      </p:sp>
      <p:sp>
        <p:nvSpPr>
          <p:cNvPr id="62" name="正方形/長方形 61"/>
          <p:cNvSpPr/>
          <p:nvPr/>
        </p:nvSpPr>
        <p:spPr bwMode="auto">
          <a:xfrm>
            <a:off x="8976032" y="522335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63" name="Rectangle 17"/>
          <p:cNvSpPr>
            <a:spLocks noChangeArrowheads="1"/>
          </p:cNvSpPr>
          <p:nvPr/>
        </p:nvSpPr>
        <p:spPr bwMode="auto">
          <a:xfrm>
            <a:off x="8256024" y="522335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rgbClr val="FF0000"/>
                </a:solidFill>
                <a:latin typeface="Consolas" panose="020B0609020204030204" pitchFamily="49" charset="0"/>
              </a:rPr>
              <a:t>0x40C</a:t>
            </a:r>
            <a:endParaRPr lang="ja-JP" altLang="en-US" sz="16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13670227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正方形/長方形 27"/>
          <p:cNvSpPr/>
          <p:nvPr/>
        </p:nvSpPr>
        <p:spPr bwMode="auto">
          <a:xfrm>
            <a:off x="8976032" y="1628980"/>
            <a:ext cx="1440016" cy="4320049"/>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2" name="タイトル 1"/>
          <p:cNvSpPr>
            <a:spLocks noGrp="1"/>
          </p:cNvSpPr>
          <p:nvPr>
            <p:ph type="title"/>
          </p:nvPr>
        </p:nvSpPr>
        <p:spPr/>
        <p:txBody>
          <a:bodyPr/>
          <a:lstStyle/>
          <a:p>
            <a:r>
              <a:rPr lang="ja-JP" altLang="en-US" dirty="0"/>
              <a:t>３行目：変数 </a:t>
            </a:r>
            <a:r>
              <a:rPr lang="en-US" altLang="ja-JP" dirty="0" err="1">
                <a:latin typeface="Consolas" panose="020B0609020204030204" pitchFamily="49" charset="0"/>
              </a:rPr>
              <a:t>i</a:t>
            </a:r>
            <a:r>
              <a:rPr lang="en-US" altLang="ja-JP" dirty="0"/>
              <a:t> </a:t>
            </a:r>
            <a:r>
              <a:rPr lang="ja-JP" altLang="en-US" dirty="0"/>
              <a:t>の インクリメント</a:t>
            </a:r>
          </a:p>
        </p:txBody>
      </p:sp>
      <p:sp>
        <p:nvSpPr>
          <p:cNvPr id="20" name="Rectangle 17"/>
          <p:cNvSpPr>
            <a:spLocks noChangeArrowheads="1"/>
          </p:cNvSpPr>
          <p:nvPr/>
        </p:nvSpPr>
        <p:spPr bwMode="auto">
          <a:xfrm>
            <a:off x="8255936" y="270903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0x0f8</a:t>
            </a:r>
            <a:endParaRPr lang="ja-JP" altLang="en-US" sz="1600" dirty="0">
              <a:latin typeface="Consolas" panose="020B0609020204030204" pitchFamily="49" charset="0"/>
            </a:endParaRPr>
          </a:p>
        </p:txBody>
      </p:sp>
      <p:sp>
        <p:nvSpPr>
          <p:cNvPr id="27" name="Rectangle 17"/>
          <p:cNvSpPr>
            <a:spLocks noChangeArrowheads="1"/>
          </p:cNvSpPr>
          <p:nvPr/>
        </p:nvSpPr>
        <p:spPr bwMode="auto">
          <a:xfrm>
            <a:off x="8255936" y="234898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0x0f4</a:t>
            </a:r>
            <a:endParaRPr lang="ja-JP" altLang="en-US" sz="1600" dirty="0">
              <a:latin typeface="Consolas" panose="020B0609020204030204" pitchFamily="49" charset="0"/>
            </a:endParaRPr>
          </a:p>
        </p:txBody>
      </p:sp>
      <p:sp>
        <p:nvSpPr>
          <p:cNvPr id="29" name="正方形/長方形 28"/>
          <p:cNvSpPr/>
          <p:nvPr/>
        </p:nvSpPr>
        <p:spPr bwMode="auto">
          <a:xfrm>
            <a:off x="8976032" y="1268976"/>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32" name="正方形/長方形 31"/>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b="1" dirty="0">
                <a:solidFill>
                  <a:srgbClr val="FF0000"/>
                </a:solidFill>
                <a:latin typeface="Consolas" panose="020B0609020204030204" pitchFamily="49" charset="0"/>
                <a:ea typeface="メイリオ" panose="020B0604030504040204" pitchFamily="50" charset="-128"/>
              </a:rPr>
              <a:t>i: 1</a:t>
            </a:r>
            <a:endParaRPr lang="ja-JP" altLang="en-US" b="1" dirty="0">
              <a:solidFill>
                <a:srgbClr val="FF0000"/>
              </a:solidFill>
              <a:latin typeface="Consolas" panose="020B0609020204030204" pitchFamily="49" charset="0"/>
              <a:ea typeface="メイリオ" panose="020B0604030504040204" pitchFamily="50" charset="-128"/>
            </a:endParaRPr>
          </a:p>
        </p:txBody>
      </p:sp>
      <p:sp>
        <p:nvSpPr>
          <p:cNvPr id="33" name="正方形/長方形 32"/>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4" name="正方形/長方形 33"/>
          <p:cNvSpPr/>
          <p:nvPr/>
        </p:nvSpPr>
        <p:spPr bwMode="auto">
          <a:xfrm>
            <a:off x="8976032" y="162898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5" name="正方形/長方形 34"/>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6" name="正方形/長方形 35"/>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7" name="正方形/長方形 36"/>
          <p:cNvSpPr/>
          <p:nvPr/>
        </p:nvSpPr>
        <p:spPr bwMode="auto">
          <a:xfrm>
            <a:off x="8976032" y="342900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8" name="正方形/長方形 37"/>
          <p:cNvSpPr/>
          <p:nvPr/>
        </p:nvSpPr>
        <p:spPr bwMode="auto">
          <a:xfrm>
            <a:off x="8976032" y="378900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9" name="正方形/長方形 38"/>
          <p:cNvSpPr/>
          <p:nvPr/>
        </p:nvSpPr>
        <p:spPr bwMode="auto">
          <a:xfrm>
            <a:off x="8976032" y="414900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endParaRPr lang="ja-JP" altLang="en-US" sz="1600" dirty="0">
              <a:latin typeface="メイリオ" panose="020B0604030504040204" pitchFamily="50" charset="-128"/>
              <a:ea typeface="メイリオ" panose="020B0604030504040204" pitchFamily="50" charset="-128"/>
            </a:endParaRPr>
          </a:p>
        </p:txBody>
      </p:sp>
      <p:sp>
        <p:nvSpPr>
          <p:cNvPr id="40" name="Rectangle 17"/>
          <p:cNvSpPr>
            <a:spLocks noChangeArrowheads="1"/>
          </p:cNvSpPr>
          <p:nvPr/>
        </p:nvSpPr>
        <p:spPr bwMode="auto">
          <a:xfrm>
            <a:off x="8255936" y="1988985"/>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0x0f0</a:t>
            </a:r>
            <a:endParaRPr lang="ja-JP" altLang="en-US" sz="1600" dirty="0">
              <a:latin typeface="Consolas" panose="020B0609020204030204" pitchFamily="49" charset="0"/>
            </a:endParaRPr>
          </a:p>
        </p:txBody>
      </p:sp>
      <p:sp>
        <p:nvSpPr>
          <p:cNvPr id="42" name="Rectangle 17"/>
          <p:cNvSpPr>
            <a:spLocks noChangeArrowheads="1"/>
          </p:cNvSpPr>
          <p:nvPr/>
        </p:nvSpPr>
        <p:spPr bwMode="auto">
          <a:xfrm>
            <a:off x="8256024" y="414900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0x400</a:t>
            </a:r>
            <a:endParaRPr lang="ja-JP" altLang="en-US" sz="1600" dirty="0">
              <a:latin typeface="Consolas" panose="020B0609020204030204" pitchFamily="49" charset="0"/>
            </a:endParaRPr>
          </a:p>
        </p:txBody>
      </p:sp>
      <p:sp>
        <p:nvSpPr>
          <p:cNvPr id="43" name="正方形/長方形 42"/>
          <p:cNvSpPr/>
          <p:nvPr/>
        </p:nvSpPr>
        <p:spPr bwMode="auto">
          <a:xfrm>
            <a:off x="8976032" y="450901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en-US" altLang="ja-JP" kern="0" dirty="0">
                <a:solidFill>
                  <a:schemeClr val="tx1">
                    <a:lumMod val="85000"/>
                    <a:lumOff val="15000"/>
                  </a:schemeClr>
                </a:solidFill>
                <a:latin typeface="Consolas" panose="020B0609020204030204" pitchFamily="49" charset="0"/>
              </a:rPr>
              <a:t>li 0x0f4</a:t>
            </a:r>
            <a:r>
              <a:rPr lang="ja-JP" altLang="en-US" kern="0" dirty="0">
                <a:solidFill>
                  <a:schemeClr val="tx1">
                    <a:lumMod val="85000"/>
                    <a:lumOff val="15000"/>
                  </a:schemeClr>
                </a:solidFill>
                <a:latin typeface="Consolas" panose="020B0609020204030204" pitchFamily="49" charset="0"/>
              </a:rPr>
              <a:t>→</a:t>
            </a:r>
            <a:r>
              <a:rPr lang="en-US" altLang="ja-JP" kern="0" dirty="0">
                <a:solidFill>
                  <a:schemeClr val="tx1">
                    <a:lumMod val="85000"/>
                    <a:lumOff val="15000"/>
                  </a:schemeClr>
                </a:solidFill>
                <a:latin typeface="Consolas" panose="020B0609020204030204" pitchFamily="49" charset="0"/>
              </a:rPr>
              <a:t>B</a:t>
            </a:r>
          </a:p>
          <a:p>
            <a:endParaRPr lang="ja-JP" altLang="en-US" dirty="0">
              <a:latin typeface="メイリオ" panose="020B0604030504040204" pitchFamily="50" charset="-128"/>
              <a:ea typeface="メイリオ" panose="020B0604030504040204" pitchFamily="50" charset="-128"/>
            </a:endParaRPr>
          </a:p>
        </p:txBody>
      </p:sp>
      <p:sp>
        <p:nvSpPr>
          <p:cNvPr id="44" name="Rectangle 17"/>
          <p:cNvSpPr>
            <a:spLocks noChangeArrowheads="1"/>
          </p:cNvSpPr>
          <p:nvPr/>
        </p:nvSpPr>
        <p:spPr bwMode="auto">
          <a:xfrm>
            <a:off x="8256024" y="450901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0x404</a:t>
            </a:r>
            <a:endParaRPr lang="ja-JP" altLang="en-US" sz="1600" dirty="0">
              <a:latin typeface="Consolas" panose="020B0609020204030204" pitchFamily="49" charset="0"/>
            </a:endParaRPr>
          </a:p>
        </p:txBody>
      </p:sp>
      <p:sp>
        <p:nvSpPr>
          <p:cNvPr id="45" name="正方形/長方形 44"/>
          <p:cNvSpPr/>
          <p:nvPr/>
        </p:nvSpPr>
        <p:spPr bwMode="auto">
          <a:xfrm>
            <a:off x="8976032" y="486901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kern="0">
                <a:solidFill>
                  <a:schemeClr val="tx1">
                    <a:lumMod val="85000"/>
                    <a:lumOff val="15000"/>
                  </a:schemeClr>
                </a:solidFill>
                <a:latin typeface="Consolas" panose="020B0609020204030204" pitchFamily="49" charset="0"/>
              </a:rPr>
              <a:t>st </a:t>
            </a:r>
            <a:r>
              <a:rPr lang="en-US" altLang="ja-JP" kern="0" dirty="0">
                <a:solidFill>
                  <a:schemeClr val="tx1">
                    <a:lumMod val="85000"/>
                    <a:lumOff val="15000"/>
                  </a:schemeClr>
                </a:solidFill>
                <a:latin typeface="Consolas" panose="020B0609020204030204" pitchFamily="49" charset="0"/>
              </a:rPr>
              <a:t>A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(B)</a:t>
            </a:r>
            <a:endParaRPr lang="ja-JP" altLang="en-US" kern="0" dirty="0">
              <a:solidFill>
                <a:schemeClr val="accent3">
                  <a:lumMod val="75000"/>
                </a:schemeClr>
              </a:solidFill>
              <a:latin typeface="Consolas" panose="020B0609020204030204" pitchFamily="49" charset="0"/>
            </a:endParaRPr>
          </a:p>
          <a:p>
            <a:pPr algn="ctr"/>
            <a:endParaRPr lang="ja-JP" altLang="en-US" dirty="0">
              <a:latin typeface="メイリオ" panose="020B0604030504040204" pitchFamily="50" charset="-128"/>
              <a:ea typeface="メイリオ" panose="020B0604030504040204" pitchFamily="50" charset="-128"/>
            </a:endParaRPr>
          </a:p>
        </p:txBody>
      </p:sp>
      <p:sp>
        <p:nvSpPr>
          <p:cNvPr id="46" name="Rectangle 17"/>
          <p:cNvSpPr>
            <a:spLocks noChangeArrowheads="1"/>
          </p:cNvSpPr>
          <p:nvPr/>
        </p:nvSpPr>
        <p:spPr bwMode="auto">
          <a:xfrm>
            <a:off x="8256024" y="486901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0x408</a:t>
            </a:r>
            <a:endParaRPr lang="ja-JP" altLang="en-US" sz="1600" dirty="0">
              <a:latin typeface="Consolas" panose="020B0609020204030204" pitchFamily="49" charset="0"/>
            </a:endParaRPr>
          </a:p>
        </p:txBody>
      </p:sp>
      <p:sp>
        <p:nvSpPr>
          <p:cNvPr id="3" name="正方形/長方形 2"/>
          <p:cNvSpPr/>
          <p:nvPr/>
        </p:nvSpPr>
        <p:spPr bwMode="auto">
          <a:xfrm>
            <a:off x="1775953" y="1808982"/>
            <a:ext cx="4590051" cy="2700030"/>
          </a:xfrm>
          <a:prstGeom prst="rect">
            <a:avLst/>
          </a:prstGeom>
          <a:no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150000"/>
              </a:lnSpc>
            </a:pPr>
            <a:r>
              <a:rPr lang="en-US" altLang="ja-JP" sz="2000" kern="0" dirty="0">
                <a:solidFill>
                  <a:schemeClr val="accent5"/>
                </a:solidFill>
                <a:latin typeface="Consolas" panose="020B0609020204030204" pitchFamily="49" charset="0"/>
              </a:rPr>
              <a:t>3: </a:t>
            </a:r>
            <a:r>
              <a:rPr lang="en-US" altLang="ja-JP" sz="2000" kern="0" dirty="0" err="1">
                <a:solidFill>
                  <a:schemeClr val="accent5"/>
                </a:solidFill>
                <a:latin typeface="Consolas" panose="020B0609020204030204" pitchFamily="49" charset="0"/>
              </a:rPr>
              <a:t>i</a:t>
            </a:r>
            <a:r>
              <a:rPr lang="en-US" altLang="ja-JP" sz="2000" kern="0" dirty="0">
                <a:solidFill>
                  <a:schemeClr val="accent5"/>
                </a:solidFill>
                <a:latin typeface="Consolas" panose="020B0609020204030204" pitchFamily="49" charset="0"/>
              </a:rPr>
              <a:t> = </a:t>
            </a:r>
            <a:r>
              <a:rPr lang="en-US" altLang="ja-JP" sz="2000" kern="0" dirty="0" err="1">
                <a:solidFill>
                  <a:schemeClr val="accent5"/>
                </a:solidFill>
                <a:latin typeface="Consolas" panose="020B0609020204030204" pitchFamily="49" charset="0"/>
              </a:rPr>
              <a:t>i</a:t>
            </a:r>
            <a:r>
              <a:rPr lang="en-US" altLang="ja-JP" sz="2000" kern="0" dirty="0">
                <a:solidFill>
                  <a:schemeClr val="accent5"/>
                </a:solidFill>
                <a:latin typeface="Consolas" panose="020B0609020204030204" pitchFamily="49" charset="0"/>
              </a:rPr>
              <a:t> + 1;</a:t>
            </a:r>
          </a:p>
          <a:p>
            <a:pPr>
              <a:lnSpc>
                <a:spcPct val="150000"/>
              </a:lnSpc>
            </a:pPr>
            <a:r>
              <a:rPr lang="en-US" altLang="ja-JP" sz="2000" kern="0" dirty="0">
                <a:solidFill>
                  <a:schemeClr val="accent3">
                    <a:lumMod val="75000"/>
                  </a:schemeClr>
                </a:solidFill>
                <a:latin typeface="Consolas" panose="020B0609020204030204" pitchFamily="49" charset="0"/>
              </a:rPr>
              <a:t>   // B </a:t>
            </a:r>
            <a:r>
              <a:rPr lang="ja-JP" altLang="en-US" sz="2000" kern="0" dirty="0">
                <a:solidFill>
                  <a:schemeClr val="accent3">
                    <a:lumMod val="75000"/>
                  </a:schemeClr>
                </a:solidFill>
                <a:latin typeface="Consolas" panose="020B0609020204030204" pitchFamily="49" charset="0"/>
              </a:rPr>
              <a:t>に </a:t>
            </a:r>
            <a:r>
              <a:rPr lang="en-US" altLang="ja-JP" sz="2000" kern="0" dirty="0">
                <a:solidFill>
                  <a:schemeClr val="accent3">
                    <a:lumMod val="75000"/>
                  </a:schemeClr>
                </a:solidFill>
                <a:latin typeface="Consolas" panose="020B0609020204030204" pitchFamily="49" charset="0"/>
              </a:rPr>
              <a:t>0x0f4 (</a:t>
            </a:r>
            <a:r>
              <a:rPr lang="en-US" altLang="ja-JP" sz="2000" kern="0" dirty="0" err="1">
                <a:solidFill>
                  <a:schemeClr val="accent3">
                    <a:lumMod val="75000"/>
                  </a:schemeClr>
                </a:solidFill>
                <a:latin typeface="Consolas" panose="020B0609020204030204" pitchFamily="49" charset="0"/>
              </a:rPr>
              <a:t>i</a:t>
            </a:r>
            <a:r>
              <a:rPr lang="en-US" altLang="ja-JP" sz="2000" kern="0" dirty="0">
                <a:solidFill>
                  <a:schemeClr val="accent3">
                    <a:lumMod val="75000"/>
                  </a:schemeClr>
                </a:solidFill>
                <a:latin typeface="Consolas" panose="020B0609020204030204" pitchFamily="49" charset="0"/>
              </a:rPr>
              <a:t> </a:t>
            </a:r>
            <a:r>
              <a:rPr lang="ja-JP" altLang="en-US" sz="2000" kern="0" dirty="0">
                <a:solidFill>
                  <a:schemeClr val="accent3">
                    <a:lumMod val="75000"/>
                  </a:schemeClr>
                </a:solidFill>
                <a:latin typeface="Consolas" panose="020B0609020204030204" pitchFamily="49" charset="0"/>
              </a:rPr>
              <a:t>の番地</a:t>
            </a:r>
            <a:r>
              <a:rPr lang="en-US" altLang="ja-JP" sz="2000" kern="0" dirty="0">
                <a:solidFill>
                  <a:schemeClr val="accent3">
                    <a:lumMod val="75000"/>
                  </a:schemeClr>
                </a:solidFill>
                <a:latin typeface="Consolas" panose="020B0609020204030204" pitchFamily="49" charset="0"/>
              </a:rPr>
              <a:t>) </a:t>
            </a:r>
            <a:r>
              <a:rPr lang="ja-JP" altLang="en-US" sz="2000" kern="0" dirty="0">
                <a:solidFill>
                  <a:schemeClr val="accent3">
                    <a:lumMod val="75000"/>
                  </a:schemeClr>
                </a:solidFill>
                <a:latin typeface="Consolas" panose="020B0609020204030204" pitchFamily="49" charset="0"/>
              </a:rPr>
              <a:t>をいれる</a:t>
            </a:r>
            <a:endParaRPr lang="en-US" altLang="ja-JP" sz="2000" kern="0" dirty="0">
              <a:solidFill>
                <a:schemeClr val="accent3">
                  <a:lumMod val="75000"/>
                </a:schemeClr>
              </a:solidFill>
              <a:latin typeface="Consolas" panose="020B0609020204030204" pitchFamily="49" charset="0"/>
            </a:endParaRPr>
          </a:p>
          <a:p>
            <a:pPr>
              <a:lnSpc>
                <a:spcPct val="150000"/>
              </a:lnSpc>
            </a:pPr>
            <a:r>
              <a:rPr lang="en-US" altLang="ja-JP" sz="2000" kern="0" dirty="0">
                <a:solidFill>
                  <a:schemeClr val="accent3">
                    <a:lumMod val="75000"/>
                  </a:schemeClr>
                </a:solidFill>
                <a:latin typeface="Consolas" panose="020B0609020204030204" pitchFamily="49" charset="0"/>
              </a:rPr>
              <a:t>   </a:t>
            </a:r>
            <a:r>
              <a:rPr lang="en-US" altLang="ja-JP" sz="2000" kern="0" dirty="0">
                <a:solidFill>
                  <a:schemeClr val="tx1">
                    <a:lumMod val="85000"/>
                    <a:lumOff val="15000"/>
                  </a:schemeClr>
                </a:solidFill>
                <a:latin typeface="Consolas" panose="020B0609020204030204" pitchFamily="49" charset="0"/>
              </a:rPr>
              <a:t>0x40C: li 0x0f4 </a:t>
            </a:r>
            <a:r>
              <a:rPr lang="ja-JP" altLang="en-US" sz="2000" kern="0" dirty="0">
                <a:solidFill>
                  <a:schemeClr val="tx1">
                    <a:lumMod val="85000"/>
                    <a:lumOff val="15000"/>
                  </a:schemeClr>
                </a:solidFill>
                <a:latin typeface="Consolas" panose="020B0609020204030204" pitchFamily="49" charset="0"/>
              </a:rPr>
              <a:t>→ </a:t>
            </a:r>
            <a:r>
              <a:rPr lang="en-US" altLang="ja-JP" sz="2000" kern="0" dirty="0">
                <a:solidFill>
                  <a:schemeClr val="tx1">
                    <a:lumMod val="85000"/>
                    <a:lumOff val="15000"/>
                  </a:schemeClr>
                </a:solidFill>
                <a:latin typeface="Consolas" panose="020B0609020204030204" pitchFamily="49" charset="0"/>
              </a:rPr>
              <a:t>B</a:t>
            </a:r>
          </a:p>
          <a:p>
            <a:pPr>
              <a:lnSpc>
                <a:spcPct val="150000"/>
              </a:lnSpc>
            </a:pPr>
            <a:r>
              <a:rPr lang="en-US" altLang="ja-JP" sz="2000" kern="0" dirty="0">
                <a:solidFill>
                  <a:schemeClr val="accent3">
                    <a:lumMod val="75000"/>
                  </a:schemeClr>
                </a:solidFill>
                <a:latin typeface="Consolas" panose="020B0609020204030204" pitchFamily="49" charset="0"/>
              </a:rPr>
              <a:t>   // (B) </a:t>
            </a:r>
            <a:r>
              <a:rPr lang="ja-JP" altLang="en-US" sz="2000" kern="0" dirty="0">
                <a:solidFill>
                  <a:schemeClr val="accent3">
                    <a:lumMod val="75000"/>
                  </a:schemeClr>
                </a:solidFill>
                <a:latin typeface="Consolas" panose="020B0609020204030204" pitchFamily="49" charset="0"/>
              </a:rPr>
              <a:t>を </a:t>
            </a:r>
            <a:r>
              <a:rPr lang="en-US" altLang="ja-JP" sz="2000" kern="0" dirty="0">
                <a:solidFill>
                  <a:schemeClr val="accent3">
                    <a:lumMod val="75000"/>
                  </a:schemeClr>
                </a:solidFill>
                <a:latin typeface="Consolas" panose="020B0609020204030204" pitchFamily="49" charset="0"/>
              </a:rPr>
              <a:t>A </a:t>
            </a:r>
            <a:r>
              <a:rPr lang="ja-JP" altLang="en-US" sz="2000" kern="0" dirty="0">
                <a:solidFill>
                  <a:schemeClr val="accent3">
                    <a:lumMod val="75000"/>
                  </a:schemeClr>
                </a:solidFill>
                <a:latin typeface="Consolas" panose="020B0609020204030204" pitchFamily="49" charset="0"/>
              </a:rPr>
              <a:t>に読み込む</a:t>
            </a:r>
            <a:endParaRPr lang="en-US" altLang="ja-JP" sz="2000" kern="0" dirty="0">
              <a:solidFill>
                <a:schemeClr val="accent3">
                  <a:lumMod val="75000"/>
                </a:schemeClr>
              </a:solidFill>
              <a:latin typeface="Consolas" panose="020B0609020204030204" pitchFamily="49" charset="0"/>
            </a:endParaRPr>
          </a:p>
          <a:p>
            <a:pPr>
              <a:lnSpc>
                <a:spcPct val="150000"/>
              </a:lnSpc>
            </a:pPr>
            <a:r>
              <a:rPr lang="en-US" altLang="ja-JP" sz="2000" kern="0" dirty="0">
                <a:solidFill>
                  <a:schemeClr val="tx1">
                    <a:lumMod val="85000"/>
                    <a:lumOff val="15000"/>
                  </a:schemeClr>
                </a:solidFill>
                <a:latin typeface="Consolas" panose="020B0609020204030204" pitchFamily="49" charset="0"/>
              </a:rPr>
              <a:t>   0x410</a:t>
            </a:r>
            <a:r>
              <a:rPr lang="en-US" altLang="ja-JP" sz="2000" kern="0">
                <a:solidFill>
                  <a:schemeClr val="tx1">
                    <a:lumMod val="85000"/>
                    <a:lumOff val="15000"/>
                  </a:schemeClr>
                </a:solidFill>
                <a:latin typeface="Consolas" panose="020B0609020204030204" pitchFamily="49" charset="0"/>
              </a:rPr>
              <a:t>: ld </a:t>
            </a:r>
            <a:r>
              <a:rPr lang="en-US" altLang="ja-JP" sz="2000" kern="0" dirty="0">
                <a:solidFill>
                  <a:schemeClr val="tx1">
                    <a:lumMod val="85000"/>
                    <a:lumOff val="15000"/>
                  </a:schemeClr>
                </a:solidFill>
                <a:latin typeface="Consolas" panose="020B0609020204030204" pitchFamily="49" charset="0"/>
              </a:rPr>
              <a:t>(B) </a:t>
            </a:r>
            <a:r>
              <a:rPr lang="ja-JP" altLang="en-US" sz="2000" kern="0" dirty="0">
                <a:solidFill>
                  <a:schemeClr val="tx1">
                    <a:lumMod val="85000"/>
                    <a:lumOff val="15000"/>
                  </a:schemeClr>
                </a:solidFill>
                <a:latin typeface="Consolas" panose="020B0609020204030204" pitchFamily="49" charset="0"/>
              </a:rPr>
              <a:t>→ </a:t>
            </a:r>
            <a:r>
              <a:rPr lang="en-US" altLang="ja-JP" sz="2000" kern="0" dirty="0">
                <a:solidFill>
                  <a:schemeClr val="tx1">
                    <a:lumMod val="85000"/>
                    <a:lumOff val="15000"/>
                  </a:schemeClr>
                </a:solidFill>
                <a:latin typeface="Consolas" panose="020B0609020204030204" pitchFamily="49" charset="0"/>
              </a:rPr>
              <a:t>A</a:t>
            </a:r>
          </a:p>
          <a:p>
            <a:pPr>
              <a:lnSpc>
                <a:spcPct val="150000"/>
              </a:lnSpc>
            </a:pPr>
            <a:r>
              <a:rPr lang="en-US" altLang="ja-JP" sz="2000" kern="0" dirty="0">
                <a:solidFill>
                  <a:schemeClr val="accent3">
                    <a:lumMod val="75000"/>
                  </a:schemeClr>
                </a:solidFill>
                <a:latin typeface="Consolas" panose="020B0609020204030204" pitchFamily="49" charset="0"/>
              </a:rPr>
              <a:t>   // 1 </a:t>
            </a:r>
            <a:r>
              <a:rPr lang="ja-JP" altLang="en-US" sz="2000" kern="0" dirty="0">
                <a:solidFill>
                  <a:schemeClr val="accent3">
                    <a:lumMod val="75000"/>
                  </a:schemeClr>
                </a:solidFill>
                <a:latin typeface="Consolas" panose="020B0609020204030204" pitchFamily="49" charset="0"/>
              </a:rPr>
              <a:t>を足す</a:t>
            </a:r>
            <a:endParaRPr lang="en-US" altLang="ja-JP" sz="2000" kern="0" dirty="0">
              <a:solidFill>
                <a:schemeClr val="accent3">
                  <a:lumMod val="75000"/>
                </a:schemeClr>
              </a:solidFill>
              <a:latin typeface="Consolas" panose="020B0609020204030204" pitchFamily="49" charset="0"/>
            </a:endParaRPr>
          </a:p>
          <a:p>
            <a:pPr>
              <a:lnSpc>
                <a:spcPct val="150000"/>
              </a:lnSpc>
            </a:pPr>
            <a:r>
              <a:rPr lang="en-US" altLang="ja-JP" sz="2000" kern="0" dirty="0">
                <a:solidFill>
                  <a:schemeClr val="tx1">
                    <a:lumMod val="85000"/>
                    <a:lumOff val="15000"/>
                  </a:schemeClr>
                </a:solidFill>
                <a:latin typeface="Consolas" panose="020B0609020204030204" pitchFamily="49" charset="0"/>
              </a:rPr>
              <a:t>   0x414: add A,1 </a:t>
            </a:r>
            <a:r>
              <a:rPr lang="ja-JP" altLang="en-US" sz="2000" kern="0" dirty="0">
                <a:solidFill>
                  <a:schemeClr val="tx1">
                    <a:lumMod val="85000"/>
                    <a:lumOff val="15000"/>
                  </a:schemeClr>
                </a:solidFill>
                <a:latin typeface="Consolas" panose="020B0609020204030204" pitchFamily="49" charset="0"/>
              </a:rPr>
              <a:t>→ </a:t>
            </a:r>
            <a:r>
              <a:rPr lang="en-US" altLang="ja-JP" sz="2000" kern="0" dirty="0">
                <a:solidFill>
                  <a:schemeClr val="tx1">
                    <a:lumMod val="85000"/>
                    <a:lumOff val="15000"/>
                  </a:schemeClr>
                </a:solidFill>
                <a:latin typeface="Consolas" panose="020B0609020204030204" pitchFamily="49" charset="0"/>
              </a:rPr>
              <a:t>A</a:t>
            </a:r>
          </a:p>
          <a:p>
            <a:pPr>
              <a:lnSpc>
                <a:spcPct val="150000"/>
              </a:lnSpc>
            </a:pPr>
            <a:r>
              <a:rPr lang="en-US" altLang="ja-JP" sz="2000" kern="0" dirty="0">
                <a:solidFill>
                  <a:schemeClr val="accent3">
                    <a:lumMod val="75000"/>
                  </a:schemeClr>
                </a:solidFill>
                <a:latin typeface="Consolas" panose="020B0609020204030204" pitchFamily="49" charset="0"/>
              </a:rPr>
              <a:t>   // A </a:t>
            </a:r>
            <a:r>
              <a:rPr lang="ja-JP" altLang="en-US" sz="2000" kern="0" dirty="0">
                <a:solidFill>
                  <a:schemeClr val="accent3">
                    <a:lumMod val="75000"/>
                  </a:schemeClr>
                </a:solidFill>
                <a:latin typeface="Consolas" panose="020B0609020204030204" pitchFamily="49" charset="0"/>
              </a:rPr>
              <a:t>を </a:t>
            </a:r>
            <a:r>
              <a:rPr lang="en-US" altLang="ja-JP" sz="2000" kern="0" dirty="0">
                <a:solidFill>
                  <a:schemeClr val="accent3">
                    <a:lumMod val="75000"/>
                  </a:schemeClr>
                </a:solidFill>
                <a:latin typeface="Consolas" panose="020B0609020204030204" pitchFamily="49" charset="0"/>
              </a:rPr>
              <a:t>(B) </a:t>
            </a:r>
            <a:r>
              <a:rPr lang="ja-JP" altLang="en-US" sz="2000" kern="0" dirty="0">
                <a:solidFill>
                  <a:schemeClr val="accent3">
                    <a:lumMod val="75000"/>
                  </a:schemeClr>
                </a:solidFill>
                <a:latin typeface="Consolas" panose="020B0609020204030204" pitchFamily="49" charset="0"/>
              </a:rPr>
              <a:t>にかきこむ</a:t>
            </a:r>
            <a:endParaRPr lang="en-US" altLang="ja-JP" sz="2000" kern="0" dirty="0">
              <a:solidFill>
                <a:schemeClr val="accent3">
                  <a:lumMod val="75000"/>
                </a:schemeClr>
              </a:solidFill>
              <a:latin typeface="Consolas" panose="020B0609020204030204" pitchFamily="49" charset="0"/>
            </a:endParaRPr>
          </a:p>
          <a:p>
            <a:pPr>
              <a:lnSpc>
                <a:spcPct val="150000"/>
              </a:lnSpc>
            </a:pPr>
            <a:r>
              <a:rPr lang="en-US" altLang="ja-JP" sz="2000" kern="0" dirty="0">
                <a:solidFill>
                  <a:schemeClr val="tx1">
                    <a:lumMod val="85000"/>
                    <a:lumOff val="15000"/>
                  </a:schemeClr>
                </a:solidFill>
                <a:latin typeface="Consolas" panose="020B0609020204030204" pitchFamily="49" charset="0"/>
              </a:rPr>
              <a:t>   0x418</a:t>
            </a:r>
            <a:r>
              <a:rPr lang="en-US" altLang="ja-JP" sz="2000" kern="0">
                <a:solidFill>
                  <a:schemeClr val="tx1">
                    <a:lumMod val="85000"/>
                    <a:lumOff val="15000"/>
                  </a:schemeClr>
                </a:solidFill>
                <a:latin typeface="Consolas" panose="020B0609020204030204" pitchFamily="49" charset="0"/>
              </a:rPr>
              <a:t>: st </a:t>
            </a:r>
            <a:r>
              <a:rPr lang="en-US" altLang="ja-JP" sz="2000" kern="0" dirty="0">
                <a:solidFill>
                  <a:schemeClr val="tx1">
                    <a:lumMod val="85000"/>
                    <a:lumOff val="15000"/>
                  </a:schemeClr>
                </a:solidFill>
                <a:latin typeface="Consolas" panose="020B0609020204030204" pitchFamily="49" charset="0"/>
              </a:rPr>
              <a:t>A </a:t>
            </a:r>
            <a:r>
              <a:rPr lang="ja-JP" altLang="en-US" sz="2000" kern="0" dirty="0">
                <a:solidFill>
                  <a:schemeClr val="tx1">
                    <a:lumMod val="85000"/>
                    <a:lumOff val="15000"/>
                  </a:schemeClr>
                </a:solidFill>
                <a:latin typeface="Consolas" panose="020B0609020204030204" pitchFamily="49" charset="0"/>
              </a:rPr>
              <a:t>→ </a:t>
            </a:r>
            <a:r>
              <a:rPr lang="en-US" altLang="ja-JP" sz="2000" kern="0" dirty="0">
                <a:solidFill>
                  <a:schemeClr val="tx1">
                    <a:lumMod val="85000"/>
                    <a:lumOff val="15000"/>
                  </a:schemeClr>
                </a:solidFill>
                <a:latin typeface="Consolas" panose="020B0609020204030204" pitchFamily="49" charset="0"/>
              </a:rPr>
              <a:t>(B)</a:t>
            </a:r>
            <a:endParaRPr lang="ja-JP" altLang="en-US" sz="2000" kern="0" dirty="0">
              <a:solidFill>
                <a:schemeClr val="accent3">
                  <a:lumMod val="75000"/>
                </a:schemeClr>
              </a:solidFill>
              <a:latin typeface="Consolas" panose="020B0609020204030204" pitchFamily="49" charset="0"/>
            </a:endParaRPr>
          </a:p>
        </p:txBody>
      </p:sp>
      <p:sp>
        <p:nvSpPr>
          <p:cNvPr id="57" name="正方形/長方形 56"/>
          <p:cNvSpPr/>
          <p:nvPr/>
        </p:nvSpPr>
        <p:spPr bwMode="auto">
          <a:xfrm>
            <a:off x="8976032" y="414900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en-US" altLang="ja-JP" kern="0" dirty="0">
                <a:solidFill>
                  <a:schemeClr val="tx1">
                    <a:lumMod val="85000"/>
                    <a:lumOff val="15000"/>
                  </a:schemeClr>
                </a:solidFill>
                <a:latin typeface="Consolas" panose="020B0609020204030204" pitchFamily="49" charset="0"/>
              </a:rPr>
              <a:t>li 0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A</a:t>
            </a:r>
          </a:p>
        </p:txBody>
      </p:sp>
      <p:sp>
        <p:nvSpPr>
          <p:cNvPr id="59" name="正方形/長方形 58"/>
          <p:cNvSpPr/>
          <p:nvPr/>
        </p:nvSpPr>
        <p:spPr bwMode="auto">
          <a:xfrm>
            <a:off x="8976032" y="522335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kern="0" dirty="0">
                <a:solidFill>
                  <a:schemeClr val="tx1">
                    <a:lumMod val="85000"/>
                    <a:lumOff val="15000"/>
                  </a:schemeClr>
                </a:solidFill>
                <a:latin typeface="Consolas" panose="020B0609020204030204" pitchFamily="49" charset="0"/>
              </a:rPr>
              <a:t>li 0x0f4</a:t>
            </a:r>
            <a:r>
              <a:rPr lang="ja-JP" altLang="en-US" kern="0" dirty="0">
                <a:solidFill>
                  <a:schemeClr val="tx1">
                    <a:lumMod val="85000"/>
                    <a:lumOff val="15000"/>
                  </a:schemeClr>
                </a:solidFill>
                <a:latin typeface="Consolas" panose="020B0609020204030204" pitchFamily="49" charset="0"/>
              </a:rPr>
              <a:t>→</a:t>
            </a:r>
            <a:r>
              <a:rPr lang="en-US" altLang="ja-JP" kern="0" dirty="0">
                <a:solidFill>
                  <a:schemeClr val="tx1">
                    <a:lumMod val="85000"/>
                    <a:lumOff val="15000"/>
                  </a:schemeClr>
                </a:solidFill>
                <a:latin typeface="Consolas" panose="020B0609020204030204" pitchFamily="49" charset="0"/>
              </a:rPr>
              <a:t>B</a:t>
            </a:r>
          </a:p>
          <a:p>
            <a:pPr algn="ctr"/>
            <a:endParaRPr lang="ja-JP" altLang="en-US" dirty="0">
              <a:latin typeface="メイリオ" panose="020B0604030504040204" pitchFamily="50" charset="-128"/>
              <a:ea typeface="メイリオ" panose="020B0604030504040204" pitchFamily="50" charset="-128"/>
            </a:endParaRPr>
          </a:p>
        </p:txBody>
      </p:sp>
      <p:sp>
        <p:nvSpPr>
          <p:cNvPr id="60" name="Rectangle 17"/>
          <p:cNvSpPr>
            <a:spLocks noChangeArrowheads="1"/>
          </p:cNvSpPr>
          <p:nvPr/>
        </p:nvSpPr>
        <p:spPr bwMode="auto">
          <a:xfrm>
            <a:off x="8256024" y="522335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0x40C</a:t>
            </a:r>
            <a:endParaRPr lang="ja-JP" altLang="en-US" sz="1600" dirty="0">
              <a:latin typeface="Consolas" panose="020B0609020204030204" pitchFamily="49" charset="0"/>
            </a:endParaRPr>
          </a:p>
        </p:txBody>
      </p:sp>
    </p:spTree>
    <p:extLst>
      <p:ext uri="{BB962C8B-B14F-4D97-AF65-F5344CB8AC3E}">
        <p14:creationId xmlns:p14="http://schemas.microsoft.com/office/powerpoint/2010/main" val="25202614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正方形/長方形 27"/>
          <p:cNvSpPr/>
          <p:nvPr/>
        </p:nvSpPr>
        <p:spPr bwMode="auto">
          <a:xfrm>
            <a:off x="8976032" y="1628980"/>
            <a:ext cx="1440016" cy="4320049"/>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2" name="タイトル 1"/>
          <p:cNvSpPr>
            <a:spLocks noGrp="1"/>
          </p:cNvSpPr>
          <p:nvPr>
            <p:ph type="title"/>
          </p:nvPr>
        </p:nvSpPr>
        <p:spPr/>
        <p:txBody>
          <a:bodyPr/>
          <a:lstStyle/>
          <a:p>
            <a:r>
              <a:rPr lang="en-US" altLang="ja-JP" dirty="0"/>
              <a:t>4-5</a:t>
            </a:r>
            <a:r>
              <a:rPr lang="ja-JP" altLang="en-US" dirty="0"/>
              <a:t>行目：ループの継続判定とジャンプ</a:t>
            </a:r>
          </a:p>
        </p:txBody>
      </p:sp>
      <p:sp>
        <p:nvSpPr>
          <p:cNvPr id="20" name="Rectangle 17"/>
          <p:cNvSpPr>
            <a:spLocks noChangeArrowheads="1"/>
          </p:cNvSpPr>
          <p:nvPr/>
        </p:nvSpPr>
        <p:spPr bwMode="auto">
          <a:xfrm>
            <a:off x="8255936" y="270903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0x0f8</a:t>
            </a:r>
            <a:endParaRPr lang="ja-JP" altLang="en-US" sz="1600" dirty="0">
              <a:latin typeface="Consolas" panose="020B0609020204030204" pitchFamily="49" charset="0"/>
            </a:endParaRPr>
          </a:p>
        </p:txBody>
      </p:sp>
      <p:sp>
        <p:nvSpPr>
          <p:cNvPr id="27" name="Rectangle 17"/>
          <p:cNvSpPr>
            <a:spLocks noChangeArrowheads="1"/>
          </p:cNvSpPr>
          <p:nvPr/>
        </p:nvSpPr>
        <p:spPr bwMode="auto">
          <a:xfrm>
            <a:off x="8255936" y="234898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0x0f4</a:t>
            </a:r>
            <a:endParaRPr lang="ja-JP" altLang="en-US" sz="1600" dirty="0">
              <a:latin typeface="Consolas" panose="020B0609020204030204" pitchFamily="49" charset="0"/>
            </a:endParaRPr>
          </a:p>
        </p:txBody>
      </p:sp>
      <p:sp>
        <p:nvSpPr>
          <p:cNvPr id="29" name="正方形/長方形 28"/>
          <p:cNvSpPr/>
          <p:nvPr/>
        </p:nvSpPr>
        <p:spPr bwMode="auto">
          <a:xfrm>
            <a:off x="8976032" y="1268976"/>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32" name="正方形/長方形 31"/>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b="1" dirty="0">
                <a:solidFill>
                  <a:schemeClr val="tx1">
                    <a:lumMod val="85000"/>
                    <a:lumOff val="15000"/>
                  </a:schemeClr>
                </a:solidFill>
                <a:latin typeface="Consolas" panose="020B0609020204030204" pitchFamily="49" charset="0"/>
                <a:ea typeface="メイリオ" panose="020B0604030504040204" pitchFamily="50" charset="-128"/>
              </a:rPr>
              <a:t>i: 1</a:t>
            </a:r>
            <a:endParaRPr lang="ja-JP" altLang="en-US" b="1"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33" name="正方形/長方形 32"/>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4" name="正方形/長方形 33"/>
          <p:cNvSpPr/>
          <p:nvPr/>
        </p:nvSpPr>
        <p:spPr bwMode="auto">
          <a:xfrm>
            <a:off x="8976032" y="162898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5" name="正方形/長方形 34"/>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6" name="正方形/長方形 35"/>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7" name="正方形/長方形 36"/>
          <p:cNvSpPr/>
          <p:nvPr/>
        </p:nvSpPr>
        <p:spPr bwMode="auto">
          <a:xfrm>
            <a:off x="8976032" y="342900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8" name="正方形/長方形 37"/>
          <p:cNvSpPr/>
          <p:nvPr/>
        </p:nvSpPr>
        <p:spPr bwMode="auto">
          <a:xfrm>
            <a:off x="8976032" y="378900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39" name="正方形/長方形 38"/>
          <p:cNvSpPr/>
          <p:nvPr/>
        </p:nvSpPr>
        <p:spPr bwMode="auto">
          <a:xfrm>
            <a:off x="8976032" y="414900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endParaRPr lang="ja-JP" altLang="en-US" sz="1600" dirty="0">
              <a:latin typeface="メイリオ" panose="020B0604030504040204" pitchFamily="50" charset="-128"/>
              <a:ea typeface="メイリオ" panose="020B0604030504040204" pitchFamily="50" charset="-128"/>
            </a:endParaRPr>
          </a:p>
        </p:txBody>
      </p:sp>
      <p:sp>
        <p:nvSpPr>
          <p:cNvPr id="40" name="Rectangle 17"/>
          <p:cNvSpPr>
            <a:spLocks noChangeArrowheads="1"/>
          </p:cNvSpPr>
          <p:nvPr/>
        </p:nvSpPr>
        <p:spPr bwMode="auto">
          <a:xfrm>
            <a:off x="8255936" y="1988985"/>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0x0f0</a:t>
            </a:r>
            <a:endParaRPr lang="ja-JP" altLang="en-US" sz="1600" dirty="0">
              <a:latin typeface="Consolas" panose="020B0609020204030204" pitchFamily="49" charset="0"/>
            </a:endParaRPr>
          </a:p>
        </p:txBody>
      </p:sp>
      <p:sp>
        <p:nvSpPr>
          <p:cNvPr id="42" name="Rectangle 17"/>
          <p:cNvSpPr>
            <a:spLocks noChangeArrowheads="1"/>
          </p:cNvSpPr>
          <p:nvPr/>
        </p:nvSpPr>
        <p:spPr bwMode="auto">
          <a:xfrm>
            <a:off x="8256024" y="414900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0x400</a:t>
            </a:r>
            <a:endParaRPr lang="ja-JP" altLang="en-US" sz="1600" dirty="0">
              <a:latin typeface="Consolas" panose="020B0609020204030204" pitchFamily="49" charset="0"/>
            </a:endParaRPr>
          </a:p>
        </p:txBody>
      </p:sp>
      <p:sp>
        <p:nvSpPr>
          <p:cNvPr id="43" name="正方形/長方形 42"/>
          <p:cNvSpPr/>
          <p:nvPr/>
        </p:nvSpPr>
        <p:spPr bwMode="auto">
          <a:xfrm>
            <a:off x="8976032" y="450901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en-US" altLang="ja-JP" kern="0" dirty="0">
                <a:solidFill>
                  <a:schemeClr val="tx1">
                    <a:lumMod val="85000"/>
                    <a:lumOff val="15000"/>
                  </a:schemeClr>
                </a:solidFill>
                <a:latin typeface="Consolas" panose="020B0609020204030204" pitchFamily="49" charset="0"/>
              </a:rPr>
              <a:t>li 0x0f4</a:t>
            </a:r>
            <a:r>
              <a:rPr lang="ja-JP" altLang="en-US" kern="0" dirty="0">
                <a:solidFill>
                  <a:schemeClr val="tx1">
                    <a:lumMod val="85000"/>
                    <a:lumOff val="15000"/>
                  </a:schemeClr>
                </a:solidFill>
                <a:latin typeface="Consolas" panose="020B0609020204030204" pitchFamily="49" charset="0"/>
              </a:rPr>
              <a:t>→</a:t>
            </a:r>
            <a:r>
              <a:rPr lang="en-US" altLang="ja-JP" kern="0" dirty="0">
                <a:solidFill>
                  <a:schemeClr val="tx1">
                    <a:lumMod val="85000"/>
                    <a:lumOff val="15000"/>
                  </a:schemeClr>
                </a:solidFill>
                <a:latin typeface="Consolas" panose="020B0609020204030204" pitchFamily="49" charset="0"/>
              </a:rPr>
              <a:t>B</a:t>
            </a:r>
          </a:p>
          <a:p>
            <a:endParaRPr lang="ja-JP" altLang="en-US" dirty="0">
              <a:latin typeface="メイリオ" panose="020B0604030504040204" pitchFamily="50" charset="-128"/>
              <a:ea typeface="メイリオ" panose="020B0604030504040204" pitchFamily="50" charset="-128"/>
            </a:endParaRPr>
          </a:p>
        </p:txBody>
      </p:sp>
      <p:sp>
        <p:nvSpPr>
          <p:cNvPr id="44" name="Rectangle 17"/>
          <p:cNvSpPr>
            <a:spLocks noChangeArrowheads="1"/>
          </p:cNvSpPr>
          <p:nvPr/>
        </p:nvSpPr>
        <p:spPr bwMode="auto">
          <a:xfrm>
            <a:off x="8256024" y="450901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0x404</a:t>
            </a:r>
            <a:endParaRPr lang="ja-JP" altLang="en-US" sz="1600" dirty="0">
              <a:latin typeface="Consolas" panose="020B0609020204030204" pitchFamily="49" charset="0"/>
            </a:endParaRPr>
          </a:p>
        </p:txBody>
      </p:sp>
      <p:sp>
        <p:nvSpPr>
          <p:cNvPr id="45" name="正方形/長方形 44"/>
          <p:cNvSpPr/>
          <p:nvPr/>
        </p:nvSpPr>
        <p:spPr bwMode="auto">
          <a:xfrm>
            <a:off x="8976032" y="486901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kern="0">
                <a:solidFill>
                  <a:schemeClr val="tx1">
                    <a:lumMod val="85000"/>
                    <a:lumOff val="15000"/>
                  </a:schemeClr>
                </a:solidFill>
                <a:latin typeface="Consolas" panose="020B0609020204030204" pitchFamily="49" charset="0"/>
              </a:rPr>
              <a:t>st </a:t>
            </a:r>
            <a:r>
              <a:rPr lang="en-US" altLang="ja-JP" kern="0" dirty="0">
                <a:solidFill>
                  <a:schemeClr val="tx1">
                    <a:lumMod val="85000"/>
                    <a:lumOff val="15000"/>
                  </a:schemeClr>
                </a:solidFill>
                <a:latin typeface="Consolas" panose="020B0609020204030204" pitchFamily="49" charset="0"/>
              </a:rPr>
              <a:t>A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(B)</a:t>
            </a:r>
            <a:endParaRPr lang="ja-JP" altLang="en-US" kern="0" dirty="0">
              <a:solidFill>
                <a:schemeClr val="accent3">
                  <a:lumMod val="75000"/>
                </a:schemeClr>
              </a:solidFill>
              <a:latin typeface="Consolas" panose="020B0609020204030204" pitchFamily="49" charset="0"/>
            </a:endParaRPr>
          </a:p>
          <a:p>
            <a:pPr algn="ctr"/>
            <a:endParaRPr lang="ja-JP" altLang="en-US" dirty="0">
              <a:latin typeface="メイリオ" panose="020B0604030504040204" pitchFamily="50" charset="-128"/>
              <a:ea typeface="メイリオ" panose="020B0604030504040204" pitchFamily="50" charset="-128"/>
            </a:endParaRPr>
          </a:p>
        </p:txBody>
      </p:sp>
      <p:sp>
        <p:nvSpPr>
          <p:cNvPr id="46" name="Rectangle 17"/>
          <p:cNvSpPr>
            <a:spLocks noChangeArrowheads="1"/>
          </p:cNvSpPr>
          <p:nvPr/>
        </p:nvSpPr>
        <p:spPr bwMode="auto">
          <a:xfrm>
            <a:off x="8256024" y="486901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0x408</a:t>
            </a:r>
            <a:endParaRPr lang="ja-JP" altLang="en-US" sz="1600" dirty="0">
              <a:latin typeface="Consolas" panose="020B0609020204030204" pitchFamily="49" charset="0"/>
            </a:endParaRPr>
          </a:p>
        </p:txBody>
      </p:sp>
      <p:sp>
        <p:nvSpPr>
          <p:cNvPr id="3" name="正方形/長方形 2"/>
          <p:cNvSpPr/>
          <p:nvPr/>
        </p:nvSpPr>
        <p:spPr bwMode="auto">
          <a:xfrm>
            <a:off x="1685952" y="1628980"/>
            <a:ext cx="4590051" cy="2700030"/>
          </a:xfrm>
          <a:prstGeom prst="rect">
            <a:avLst/>
          </a:prstGeom>
          <a:no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en-US" altLang="ja-JP" sz="2000" kern="0" dirty="0">
                <a:latin typeface="Consolas" panose="020B0609020204030204" pitchFamily="49" charset="0"/>
              </a:rPr>
              <a:t>2: LABEL:</a:t>
            </a:r>
            <a:br>
              <a:rPr lang="en-US" altLang="ja-JP" sz="2000" kern="0" dirty="0">
                <a:latin typeface="Consolas" panose="020B0609020204030204" pitchFamily="49" charset="0"/>
              </a:rPr>
            </a:br>
            <a:r>
              <a:rPr lang="en-US" altLang="ja-JP" sz="2000" kern="0" dirty="0">
                <a:latin typeface="Consolas" panose="020B0609020204030204" pitchFamily="49" charset="0"/>
              </a:rPr>
              <a:t>3:     </a:t>
            </a:r>
            <a:r>
              <a:rPr lang="en-US" altLang="ja-JP" sz="2000" kern="0" dirty="0" err="1">
                <a:latin typeface="Consolas" panose="020B0609020204030204" pitchFamily="49" charset="0"/>
              </a:rPr>
              <a:t>i</a:t>
            </a:r>
            <a:r>
              <a:rPr lang="en-US" altLang="ja-JP" sz="2000" kern="0" dirty="0">
                <a:latin typeface="Consolas" panose="020B0609020204030204" pitchFamily="49" charset="0"/>
              </a:rPr>
              <a:t> = </a:t>
            </a:r>
            <a:r>
              <a:rPr lang="en-US" altLang="ja-JP" sz="2000" kern="0" dirty="0" err="1">
                <a:latin typeface="Consolas" panose="020B0609020204030204" pitchFamily="49" charset="0"/>
              </a:rPr>
              <a:t>i</a:t>
            </a:r>
            <a:r>
              <a:rPr lang="en-US" altLang="ja-JP" sz="2000" kern="0" dirty="0">
                <a:latin typeface="Consolas" panose="020B0609020204030204" pitchFamily="49" charset="0"/>
              </a:rPr>
              <a:t> + 1;</a:t>
            </a:r>
            <a:br>
              <a:rPr lang="en-US" altLang="ja-JP" sz="2000" kern="0" dirty="0">
                <a:latin typeface="Consolas" panose="020B0609020204030204" pitchFamily="49" charset="0"/>
              </a:rPr>
            </a:br>
            <a:r>
              <a:rPr lang="en-US" altLang="ja-JP" sz="2000" kern="0" dirty="0">
                <a:latin typeface="Consolas" panose="020B0609020204030204" pitchFamily="49" charset="0"/>
              </a:rPr>
              <a:t>4:     </a:t>
            </a:r>
            <a:r>
              <a:rPr lang="en-US" altLang="ja-JP" sz="2000" kern="0" dirty="0">
                <a:solidFill>
                  <a:schemeClr val="accent1"/>
                </a:solidFill>
                <a:latin typeface="Consolas" panose="020B0609020204030204" pitchFamily="49" charset="0"/>
              </a:rPr>
              <a:t>if </a:t>
            </a:r>
            <a:r>
              <a:rPr lang="en-US" altLang="ja-JP" sz="2000" kern="0" dirty="0">
                <a:latin typeface="Consolas" panose="020B0609020204030204" pitchFamily="49" charset="0"/>
              </a:rPr>
              <a:t>(</a:t>
            </a:r>
            <a:r>
              <a:rPr lang="en-US" altLang="ja-JP" sz="2000" kern="0" dirty="0" err="1">
                <a:latin typeface="Consolas" panose="020B0609020204030204" pitchFamily="49" charset="0"/>
              </a:rPr>
              <a:t>i</a:t>
            </a:r>
            <a:r>
              <a:rPr lang="en-US" altLang="ja-JP" sz="2000" kern="0" dirty="0">
                <a:latin typeface="Consolas" panose="020B0609020204030204" pitchFamily="49" charset="0"/>
              </a:rPr>
              <a:t> &lt; 10) </a:t>
            </a:r>
          </a:p>
          <a:p>
            <a:r>
              <a:rPr lang="en-US" altLang="ja-JP" sz="2000" kern="0" dirty="0">
                <a:latin typeface="Consolas" panose="020B0609020204030204" pitchFamily="49" charset="0"/>
              </a:rPr>
              <a:t>5:        </a:t>
            </a:r>
            <a:r>
              <a:rPr lang="en-US" altLang="ja-JP" sz="2000" kern="0" dirty="0" err="1">
                <a:solidFill>
                  <a:schemeClr val="accent1"/>
                </a:solidFill>
                <a:latin typeface="Consolas" panose="020B0609020204030204" pitchFamily="49" charset="0"/>
              </a:rPr>
              <a:t>goto</a:t>
            </a:r>
            <a:r>
              <a:rPr lang="en-US" altLang="ja-JP" sz="2000" kern="0" dirty="0">
                <a:solidFill>
                  <a:schemeClr val="accent1"/>
                </a:solidFill>
                <a:latin typeface="Consolas" panose="020B0609020204030204" pitchFamily="49" charset="0"/>
              </a:rPr>
              <a:t> </a:t>
            </a:r>
            <a:r>
              <a:rPr lang="en-US" altLang="ja-JP" sz="2000" kern="0" dirty="0">
                <a:latin typeface="Consolas" panose="020B0609020204030204" pitchFamily="49" charset="0"/>
              </a:rPr>
              <a:t>LABEL;</a:t>
            </a:r>
            <a:br>
              <a:rPr lang="en-US" altLang="ja-JP" sz="2000" kern="0" dirty="0">
                <a:latin typeface="Consolas" panose="020B0609020204030204" pitchFamily="49" charset="0"/>
              </a:rPr>
            </a:br>
            <a:endParaRPr lang="en-US" altLang="ja-JP" sz="2000" kern="0" dirty="0">
              <a:latin typeface="Consolas" panose="020B0609020204030204" pitchFamily="49" charset="0"/>
            </a:endParaRPr>
          </a:p>
          <a:p>
            <a:pPr>
              <a:lnSpc>
                <a:spcPct val="150000"/>
              </a:lnSpc>
            </a:pPr>
            <a:r>
              <a:rPr lang="en-US" altLang="ja-JP" sz="2000" kern="0" dirty="0">
                <a:solidFill>
                  <a:schemeClr val="accent3">
                    <a:lumMod val="75000"/>
                  </a:schemeClr>
                </a:solidFill>
                <a:latin typeface="Consolas" panose="020B0609020204030204" pitchFamily="49" charset="0"/>
              </a:rPr>
              <a:t>   // B </a:t>
            </a:r>
            <a:r>
              <a:rPr lang="ja-JP" altLang="en-US" sz="2000" kern="0" dirty="0">
                <a:solidFill>
                  <a:schemeClr val="accent3">
                    <a:lumMod val="75000"/>
                  </a:schemeClr>
                </a:solidFill>
                <a:latin typeface="Consolas" panose="020B0609020204030204" pitchFamily="49" charset="0"/>
              </a:rPr>
              <a:t>に </a:t>
            </a:r>
            <a:r>
              <a:rPr lang="en-US" altLang="ja-JP" sz="2000" kern="0" dirty="0">
                <a:solidFill>
                  <a:schemeClr val="accent3">
                    <a:lumMod val="75000"/>
                  </a:schemeClr>
                </a:solidFill>
                <a:latin typeface="Consolas" panose="020B0609020204030204" pitchFamily="49" charset="0"/>
              </a:rPr>
              <a:t>10 </a:t>
            </a:r>
            <a:r>
              <a:rPr lang="ja-JP" altLang="en-US" sz="2000" kern="0" dirty="0">
                <a:solidFill>
                  <a:schemeClr val="accent3">
                    <a:lumMod val="75000"/>
                  </a:schemeClr>
                </a:solidFill>
                <a:latin typeface="Consolas" panose="020B0609020204030204" pitchFamily="49" charset="0"/>
              </a:rPr>
              <a:t>を読み込む</a:t>
            </a:r>
            <a:endParaRPr lang="en-US" altLang="ja-JP" sz="2000" kern="0" dirty="0">
              <a:solidFill>
                <a:schemeClr val="accent3">
                  <a:lumMod val="75000"/>
                </a:schemeClr>
              </a:solidFill>
              <a:latin typeface="Consolas" panose="020B0609020204030204" pitchFamily="49" charset="0"/>
            </a:endParaRPr>
          </a:p>
          <a:p>
            <a:pPr>
              <a:lnSpc>
                <a:spcPct val="150000"/>
              </a:lnSpc>
            </a:pPr>
            <a:r>
              <a:rPr lang="en-US" altLang="ja-JP" sz="2000" kern="0" dirty="0">
                <a:solidFill>
                  <a:schemeClr val="accent3">
                    <a:lumMod val="75000"/>
                  </a:schemeClr>
                </a:solidFill>
                <a:latin typeface="Consolas" panose="020B0609020204030204" pitchFamily="49" charset="0"/>
              </a:rPr>
              <a:t>   </a:t>
            </a:r>
            <a:r>
              <a:rPr lang="en-US" altLang="ja-JP" sz="2000" kern="0" dirty="0">
                <a:solidFill>
                  <a:schemeClr val="tx1">
                    <a:lumMod val="85000"/>
                    <a:lumOff val="15000"/>
                  </a:schemeClr>
                </a:solidFill>
                <a:latin typeface="Consolas" panose="020B0609020204030204" pitchFamily="49" charset="0"/>
              </a:rPr>
              <a:t>li 10 </a:t>
            </a:r>
            <a:r>
              <a:rPr lang="ja-JP" altLang="en-US" sz="2000" kern="0" dirty="0">
                <a:solidFill>
                  <a:schemeClr val="tx1">
                    <a:lumMod val="85000"/>
                    <a:lumOff val="15000"/>
                  </a:schemeClr>
                </a:solidFill>
                <a:latin typeface="Consolas" panose="020B0609020204030204" pitchFamily="49" charset="0"/>
              </a:rPr>
              <a:t>→ </a:t>
            </a:r>
            <a:r>
              <a:rPr lang="en-US" altLang="ja-JP" sz="2000" kern="0" dirty="0">
                <a:solidFill>
                  <a:schemeClr val="tx1">
                    <a:lumMod val="85000"/>
                    <a:lumOff val="15000"/>
                  </a:schemeClr>
                </a:solidFill>
                <a:latin typeface="Consolas" panose="020B0609020204030204" pitchFamily="49" charset="0"/>
              </a:rPr>
              <a:t>B</a:t>
            </a:r>
          </a:p>
          <a:p>
            <a:pPr>
              <a:lnSpc>
                <a:spcPct val="150000"/>
              </a:lnSpc>
            </a:pPr>
            <a:r>
              <a:rPr lang="en-US" altLang="ja-JP" sz="2000" kern="0" dirty="0">
                <a:solidFill>
                  <a:schemeClr val="accent3">
                    <a:lumMod val="75000"/>
                  </a:schemeClr>
                </a:solidFill>
                <a:latin typeface="Consolas" panose="020B0609020204030204" pitchFamily="49" charset="0"/>
              </a:rPr>
              <a:t>   // </a:t>
            </a:r>
            <a:r>
              <a:rPr lang="ja-JP" altLang="en-US" sz="2000" kern="0" dirty="0">
                <a:solidFill>
                  <a:schemeClr val="accent3">
                    <a:lumMod val="75000"/>
                  </a:schemeClr>
                </a:solidFill>
                <a:latin typeface="Consolas" panose="020B0609020204030204" pitchFamily="49" charset="0"/>
              </a:rPr>
              <a:t>さっきのインクリメントの結果が残ってる </a:t>
            </a:r>
            <a:r>
              <a:rPr lang="en-US" altLang="ja-JP" sz="2000" kern="0" dirty="0">
                <a:solidFill>
                  <a:schemeClr val="accent3">
                    <a:lumMod val="75000"/>
                  </a:schemeClr>
                </a:solidFill>
                <a:latin typeface="Consolas" panose="020B0609020204030204" pitchFamily="49" charset="0"/>
              </a:rPr>
              <a:t>A </a:t>
            </a:r>
            <a:r>
              <a:rPr lang="ja-JP" altLang="en-US" sz="2000" kern="0" dirty="0">
                <a:solidFill>
                  <a:schemeClr val="accent3">
                    <a:lumMod val="75000"/>
                  </a:schemeClr>
                </a:solidFill>
                <a:latin typeface="Consolas" panose="020B0609020204030204" pitchFamily="49" charset="0"/>
              </a:rPr>
              <a:t>と</a:t>
            </a:r>
            <a:endParaRPr lang="en-US" altLang="ja-JP" sz="2000" kern="0" dirty="0">
              <a:solidFill>
                <a:schemeClr val="accent3">
                  <a:lumMod val="75000"/>
                </a:schemeClr>
              </a:solidFill>
              <a:latin typeface="Consolas" panose="020B0609020204030204" pitchFamily="49" charset="0"/>
            </a:endParaRPr>
          </a:p>
          <a:p>
            <a:pPr>
              <a:lnSpc>
                <a:spcPct val="150000"/>
              </a:lnSpc>
            </a:pPr>
            <a:r>
              <a:rPr lang="en-US" altLang="ja-JP" sz="2000" kern="0" dirty="0">
                <a:solidFill>
                  <a:schemeClr val="accent3">
                    <a:lumMod val="75000"/>
                  </a:schemeClr>
                </a:solidFill>
                <a:latin typeface="Consolas" panose="020B0609020204030204" pitchFamily="49" charset="0"/>
              </a:rPr>
              <a:t>   // </a:t>
            </a:r>
            <a:r>
              <a:rPr lang="ja-JP" altLang="en-US" sz="2000" kern="0" dirty="0">
                <a:solidFill>
                  <a:schemeClr val="accent3">
                    <a:lumMod val="75000"/>
                  </a:schemeClr>
                </a:solidFill>
                <a:latin typeface="Consolas" panose="020B0609020204030204" pitchFamily="49" charset="0"/>
              </a:rPr>
              <a:t>比較し，条件がなりたっていたら </a:t>
            </a:r>
            <a:r>
              <a:rPr lang="en-US" altLang="ja-JP" sz="2000" kern="0" dirty="0">
                <a:solidFill>
                  <a:schemeClr val="accent3">
                    <a:lumMod val="75000"/>
                  </a:schemeClr>
                </a:solidFill>
                <a:latin typeface="Consolas" panose="020B0609020204030204" pitchFamily="49" charset="0"/>
              </a:rPr>
              <a:t>LABEL </a:t>
            </a:r>
            <a:r>
              <a:rPr lang="ja-JP" altLang="en-US" sz="2000" kern="0" dirty="0">
                <a:solidFill>
                  <a:schemeClr val="accent3">
                    <a:lumMod val="75000"/>
                  </a:schemeClr>
                </a:solidFill>
                <a:latin typeface="Consolas" panose="020B0609020204030204" pitchFamily="49" charset="0"/>
              </a:rPr>
              <a:t>に</a:t>
            </a:r>
            <a:endParaRPr lang="en-US" altLang="ja-JP" sz="2000" kern="0" dirty="0">
              <a:solidFill>
                <a:schemeClr val="accent3">
                  <a:lumMod val="75000"/>
                </a:schemeClr>
              </a:solidFill>
              <a:latin typeface="Consolas" panose="020B0609020204030204" pitchFamily="49" charset="0"/>
            </a:endParaRPr>
          </a:p>
          <a:p>
            <a:pPr>
              <a:lnSpc>
                <a:spcPct val="150000"/>
              </a:lnSpc>
            </a:pPr>
            <a:r>
              <a:rPr lang="en-US" altLang="ja-JP" sz="2000" kern="0" dirty="0">
                <a:solidFill>
                  <a:schemeClr val="tx1">
                    <a:lumMod val="85000"/>
                    <a:lumOff val="15000"/>
                  </a:schemeClr>
                </a:solidFill>
                <a:latin typeface="Consolas" panose="020B0609020204030204" pitchFamily="49" charset="0"/>
              </a:rPr>
              <a:t>   b A &lt; B, 0x40C</a:t>
            </a:r>
          </a:p>
          <a:p>
            <a:pPr>
              <a:lnSpc>
                <a:spcPct val="150000"/>
              </a:lnSpc>
            </a:pPr>
            <a:r>
              <a:rPr lang="en-US" altLang="ja-JP" sz="2000" kern="0" dirty="0">
                <a:solidFill>
                  <a:schemeClr val="accent3">
                    <a:lumMod val="75000"/>
                  </a:schemeClr>
                </a:solidFill>
                <a:latin typeface="Consolas" panose="020B0609020204030204" pitchFamily="49" charset="0"/>
              </a:rPr>
              <a:t>   // </a:t>
            </a:r>
            <a:r>
              <a:rPr lang="ja-JP" altLang="en-US" sz="2000" kern="0" dirty="0">
                <a:solidFill>
                  <a:schemeClr val="accent3">
                    <a:lumMod val="75000"/>
                  </a:schemeClr>
                </a:solidFill>
                <a:latin typeface="Consolas" panose="020B0609020204030204" pitchFamily="49" charset="0"/>
              </a:rPr>
              <a:t>条件がなりたっていなかったら，以降の命令に</a:t>
            </a:r>
            <a:endParaRPr lang="en-US" altLang="ja-JP" sz="2000" kern="0" dirty="0">
              <a:solidFill>
                <a:schemeClr val="accent3">
                  <a:lumMod val="75000"/>
                </a:schemeClr>
              </a:solidFill>
              <a:latin typeface="Consolas" panose="020B0609020204030204" pitchFamily="49" charset="0"/>
            </a:endParaRPr>
          </a:p>
          <a:p>
            <a:pPr>
              <a:lnSpc>
                <a:spcPct val="150000"/>
              </a:lnSpc>
            </a:pPr>
            <a:endParaRPr lang="ja-JP" altLang="en-US" sz="2000" kern="0" dirty="0">
              <a:latin typeface="Consolas" panose="020B0609020204030204" pitchFamily="49" charset="0"/>
            </a:endParaRPr>
          </a:p>
        </p:txBody>
      </p:sp>
      <p:sp>
        <p:nvSpPr>
          <p:cNvPr id="57" name="正方形/長方形 56"/>
          <p:cNvSpPr/>
          <p:nvPr/>
        </p:nvSpPr>
        <p:spPr bwMode="auto">
          <a:xfrm>
            <a:off x="8976032" y="414900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en-US" altLang="ja-JP" kern="0" dirty="0">
                <a:solidFill>
                  <a:schemeClr val="tx1">
                    <a:lumMod val="85000"/>
                    <a:lumOff val="15000"/>
                  </a:schemeClr>
                </a:solidFill>
                <a:latin typeface="Consolas" panose="020B0609020204030204" pitchFamily="49" charset="0"/>
              </a:rPr>
              <a:t>li 0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A</a:t>
            </a:r>
          </a:p>
        </p:txBody>
      </p:sp>
      <p:sp>
        <p:nvSpPr>
          <p:cNvPr id="59" name="正方形/長方形 58"/>
          <p:cNvSpPr/>
          <p:nvPr/>
        </p:nvSpPr>
        <p:spPr bwMode="auto">
          <a:xfrm>
            <a:off x="8976032" y="522335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kern="0" dirty="0">
                <a:solidFill>
                  <a:schemeClr val="tx1">
                    <a:lumMod val="85000"/>
                    <a:lumOff val="15000"/>
                  </a:schemeClr>
                </a:solidFill>
                <a:latin typeface="Consolas" panose="020B0609020204030204" pitchFamily="49" charset="0"/>
              </a:rPr>
              <a:t>li 0x0f4</a:t>
            </a:r>
            <a:r>
              <a:rPr lang="ja-JP" altLang="en-US" kern="0" dirty="0">
                <a:solidFill>
                  <a:schemeClr val="tx1">
                    <a:lumMod val="85000"/>
                    <a:lumOff val="15000"/>
                  </a:schemeClr>
                </a:solidFill>
                <a:latin typeface="Consolas" panose="020B0609020204030204" pitchFamily="49" charset="0"/>
              </a:rPr>
              <a:t>→</a:t>
            </a:r>
            <a:r>
              <a:rPr lang="en-US" altLang="ja-JP" kern="0">
                <a:solidFill>
                  <a:schemeClr val="tx1">
                    <a:lumMod val="85000"/>
                    <a:lumOff val="15000"/>
                  </a:schemeClr>
                </a:solidFill>
                <a:latin typeface="Consolas" panose="020B0609020204030204" pitchFamily="49" charset="0"/>
              </a:rPr>
              <a:t>B</a:t>
            </a:r>
            <a:endParaRPr lang="ja-JP" altLang="en-US" dirty="0">
              <a:latin typeface="メイリオ" panose="020B0604030504040204" pitchFamily="50" charset="-128"/>
              <a:ea typeface="メイリオ" panose="020B0604030504040204" pitchFamily="50" charset="-128"/>
            </a:endParaRPr>
          </a:p>
        </p:txBody>
      </p:sp>
      <p:sp>
        <p:nvSpPr>
          <p:cNvPr id="60" name="Rectangle 17"/>
          <p:cNvSpPr>
            <a:spLocks noChangeArrowheads="1"/>
          </p:cNvSpPr>
          <p:nvPr/>
        </p:nvSpPr>
        <p:spPr bwMode="auto">
          <a:xfrm>
            <a:off x="8256024" y="522335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latin typeface="Consolas" panose="020B0609020204030204" pitchFamily="49" charset="0"/>
              </a:rPr>
              <a:t>0x40C</a:t>
            </a:r>
            <a:endParaRPr lang="ja-JP" altLang="en-US" sz="1600" dirty="0">
              <a:latin typeface="Consolas" panose="020B0609020204030204" pitchFamily="49" charset="0"/>
            </a:endParaRPr>
          </a:p>
        </p:txBody>
      </p:sp>
    </p:spTree>
    <p:extLst>
      <p:ext uri="{BB962C8B-B14F-4D97-AF65-F5344CB8AC3E}">
        <p14:creationId xmlns:p14="http://schemas.microsoft.com/office/powerpoint/2010/main" val="8653567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全体</a:t>
            </a:r>
          </a:p>
        </p:txBody>
      </p:sp>
      <p:sp>
        <p:nvSpPr>
          <p:cNvPr id="3" name="正方形/長方形 2"/>
          <p:cNvSpPr/>
          <p:nvPr/>
        </p:nvSpPr>
        <p:spPr bwMode="auto">
          <a:xfrm>
            <a:off x="1775953" y="908972"/>
            <a:ext cx="4590051" cy="2700030"/>
          </a:xfrm>
          <a:prstGeom prst="rect">
            <a:avLst/>
          </a:prstGeom>
          <a:no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150000"/>
              </a:lnSpc>
            </a:pPr>
            <a:r>
              <a:rPr lang="en-US" altLang="ja-JP" kern="0" dirty="0">
                <a:solidFill>
                  <a:schemeClr val="accent5"/>
                </a:solidFill>
                <a:latin typeface="Consolas" panose="020B0609020204030204" pitchFamily="49" charset="0"/>
              </a:rPr>
              <a:t>1:     </a:t>
            </a:r>
            <a:r>
              <a:rPr lang="en-US" altLang="ja-JP" kern="0" dirty="0" err="1">
                <a:solidFill>
                  <a:schemeClr val="accent5"/>
                </a:solidFill>
                <a:latin typeface="Consolas" panose="020B0609020204030204" pitchFamily="49" charset="0"/>
              </a:rPr>
              <a:t>i</a:t>
            </a:r>
            <a:r>
              <a:rPr lang="en-US" altLang="ja-JP" kern="0" dirty="0">
                <a:solidFill>
                  <a:schemeClr val="accent5"/>
                </a:solidFill>
                <a:latin typeface="Consolas" panose="020B0609020204030204" pitchFamily="49" charset="0"/>
              </a:rPr>
              <a:t> = 0;</a:t>
            </a:r>
            <a:br>
              <a:rPr lang="en-US" altLang="ja-JP" kern="0" dirty="0">
                <a:latin typeface="Consolas" panose="020B0609020204030204" pitchFamily="49" charset="0"/>
              </a:rPr>
            </a:br>
            <a:r>
              <a:rPr lang="en-US" altLang="ja-JP" kern="0" dirty="0">
                <a:solidFill>
                  <a:schemeClr val="accent3">
                    <a:lumMod val="7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0x400: li 0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A</a:t>
            </a:r>
            <a:r>
              <a:rPr lang="en-US" altLang="ja-JP" kern="0" dirty="0">
                <a:solidFill>
                  <a:schemeClr val="accent5"/>
                </a:solidFill>
                <a:latin typeface="Consolas" panose="020B0609020204030204" pitchFamily="49" charset="0"/>
              </a:rPr>
              <a:t>   </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レジスタ </a:t>
            </a:r>
            <a:r>
              <a:rPr lang="en-US" altLang="ja-JP" kern="0" dirty="0">
                <a:solidFill>
                  <a:schemeClr val="accent3">
                    <a:lumMod val="75000"/>
                  </a:schemeClr>
                </a:solidFill>
                <a:latin typeface="Consolas" panose="020B0609020204030204" pitchFamily="49" charset="0"/>
              </a:rPr>
              <a:t>A </a:t>
            </a:r>
            <a:r>
              <a:rPr lang="ja-JP" altLang="en-US" kern="0" dirty="0">
                <a:solidFill>
                  <a:schemeClr val="accent3">
                    <a:lumMod val="75000"/>
                  </a:schemeClr>
                </a:solidFill>
                <a:latin typeface="Consolas" panose="020B0609020204030204" pitchFamily="49" charset="0"/>
              </a:rPr>
              <a:t>に </a:t>
            </a:r>
            <a:r>
              <a:rPr lang="en-US" altLang="ja-JP" kern="0" dirty="0">
                <a:solidFill>
                  <a:schemeClr val="accent3">
                    <a:lumMod val="75000"/>
                  </a:schemeClr>
                </a:solidFill>
                <a:latin typeface="Consolas" panose="020B0609020204030204" pitchFamily="49" charset="0"/>
              </a:rPr>
              <a:t>0 </a:t>
            </a:r>
            <a:r>
              <a:rPr lang="ja-JP" altLang="en-US" kern="0" dirty="0">
                <a:solidFill>
                  <a:schemeClr val="accent3">
                    <a:lumMod val="75000"/>
                  </a:schemeClr>
                </a:solidFill>
                <a:latin typeface="Consolas" panose="020B0609020204030204" pitchFamily="49" charset="0"/>
              </a:rPr>
              <a:t>をいれる</a:t>
            </a:r>
            <a:endParaRPr lang="en-US" altLang="ja-JP" kern="0" dirty="0">
              <a:solidFill>
                <a:schemeClr val="accent5"/>
              </a:solidFill>
              <a:latin typeface="Consolas" panose="020B0609020204030204" pitchFamily="49" charset="0"/>
            </a:endParaRPr>
          </a:p>
          <a:p>
            <a:pPr>
              <a:lnSpc>
                <a:spcPct val="150000"/>
              </a:lnSpc>
            </a:pPr>
            <a:r>
              <a:rPr lang="en-US" altLang="ja-JP" kern="0" dirty="0">
                <a:solidFill>
                  <a:schemeClr val="accent3">
                    <a:lumMod val="7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0x404: li 0x0f4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B</a:t>
            </a:r>
            <a:r>
              <a:rPr lang="en-US" altLang="ja-JP" kern="0" dirty="0">
                <a:solidFill>
                  <a:schemeClr val="accent3">
                    <a:lumMod val="75000"/>
                  </a:schemeClr>
                </a:solidFill>
                <a:latin typeface="Consolas" panose="020B0609020204030204" pitchFamily="49" charset="0"/>
              </a:rPr>
              <a:t>   // B </a:t>
            </a:r>
            <a:r>
              <a:rPr lang="ja-JP" altLang="en-US" kern="0" dirty="0">
                <a:solidFill>
                  <a:schemeClr val="accent3">
                    <a:lumMod val="75000"/>
                  </a:schemeClr>
                </a:solidFill>
                <a:latin typeface="Consolas" panose="020B0609020204030204" pitchFamily="49" charset="0"/>
              </a:rPr>
              <a:t>に </a:t>
            </a:r>
            <a:r>
              <a:rPr lang="en-US" altLang="ja-JP" kern="0" dirty="0">
                <a:solidFill>
                  <a:schemeClr val="accent3">
                    <a:lumMod val="75000"/>
                  </a:schemeClr>
                </a:solidFill>
                <a:latin typeface="Consolas" panose="020B0609020204030204" pitchFamily="49" charset="0"/>
              </a:rPr>
              <a:t>0x0f4 (</a:t>
            </a:r>
            <a:r>
              <a:rPr lang="en-US" altLang="ja-JP" kern="0" dirty="0" err="1">
                <a:solidFill>
                  <a:schemeClr val="accent3">
                    <a:lumMod val="75000"/>
                  </a:schemeClr>
                </a:solidFill>
                <a:latin typeface="Consolas" panose="020B0609020204030204" pitchFamily="49" charset="0"/>
              </a:rPr>
              <a:t>i</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の番地</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をいれる</a:t>
            </a:r>
            <a:endParaRPr lang="en-US" altLang="ja-JP" kern="0" dirty="0">
              <a:solidFill>
                <a:schemeClr val="accent3">
                  <a:lumMod val="75000"/>
                </a:schemeClr>
              </a:solidFill>
              <a:latin typeface="Consolas" panose="020B0609020204030204" pitchFamily="49" charset="0"/>
            </a:endParaRPr>
          </a:p>
          <a:p>
            <a:pPr>
              <a:lnSpc>
                <a:spcPct val="150000"/>
              </a:lnSpc>
            </a:pPr>
            <a:r>
              <a:rPr lang="en-US" altLang="ja-JP" kern="0" dirty="0">
                <a:solidFill>
                  <a:schemeClr val="tx1">
                    <a:lumMod val="85000"/>
                    <a:lumOff val="15000"/>
                  </a:schemeClr>
                </a:solidFill>
                <a:latin typeface="Consolas" panose="020B0609020204030204" pitchFamily="49" charset="0"/>
              </a:rPr>
              <a:t>       0x408</a:t>
            </a:r>
            <a:r>
              <a:rPr lang="en-US" altLang="ja-JP" kern="0">
                <a:solidFill>
                  <a:schemeClr val="tx1">
                    <a:lumMod val="85000"/>
                    <a:lumOff val="15000"/>
                  </a:schemeClr>
                </a:solidFill>
                <a:latin typeface="Consolas" panose="020B0609020204030204" pitchFamily="49" charset="0"/>
              </a:rPr>
              <a:t>: st </a:t>
            </a:r>
            <a:r>
              <a:rPr lang="en-US" altLang="ja-JP" kern="0" dirty="0">
                <a:solidFill>
                  <a:schemeClr val="tx1">
                    <a:lumMod val="85000"/>
                    <a:lumOff val="15000"/>
                  </a:schemeClr>
                </a:solidFill>
                <a:latin typeface="Consolas" panose="020B0609020204030204" pitchFamily="49" charset="0"/>
              </a:rPr>
              <a:t>A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(B)</a:t>
            </a:r>
            <a:r>
              <a:rPr lang="en-US" altLang="ja-JP" kern="0" dirty="0">
                <a:solidFill>
                  <a:schemeClr val="accent3">
                    <a:lumMod val="75000"/>
                  </a:schemeClr>
                </a:solidFill>
                <a:latin typeface="Consolas" panose="020B0609020204030204" pitchFamily="49" charset="0"/>
              </a:rPr>
              <a:t>     // A </a:t>
            </a:r>
            <a:r>
              <a:rPr lang="ja-JP" altLang="en-US" kern="0" dirty="0">
                <a:solidFill>
                  <a:schemeClr val="accent3">
                    <a:lumMod val="75000"/>
                  </a:schemeClr>
                </a:solidFill>
                <a:latin typeface="Consolas" panose="020B0609020204030204" pitchFamily="49" charset="0"/>
              </a:rPr>
              <a:t>を </a:t>
            </a:r>
            <a:r>
              <a:rPr lang="en-US" altLang="ja-JP" kern="0" dirty="0">
                <a:solidFill>
                  <a:schemeClr val="accent3">
                    <a:lumMod val="75000"/>
                  </a:schemeClr>
                </a:solidFill>
                <a:latin typeface="Consolas" panose="020B0609020204030204" pitchFamily="49" charset="0"/>
              </a:rPr>
              <a:t>(B) </a:t>
            </a:r>
            <a:r>
              <a:rPr lang="ja-JP" altLang="en-US" kern="0" dirty="0">
                <a:solidFill>
                  <a:schemeClr val="accent3">
                    <a:lumMod val="75000"/>
                  </a:schemeClr>
                </a:solidFill>
                <a:latin typeface="Consolas" panose="020B0609020204030204" pitchFamily="49" charset="0"/>
              </a:rPr>
              <a:t>にかきこむ（</a:t>
            </a:r>
            <a:r>
              <a:rPr lang="en-US" altLang="ja-JP" kern="0" dirty="0">
                <a:solidFill>
                  <a:schemeClr val="accent3">
                    <a:lumMod val="75000"/>
                  </a:schemeClr>
                </a:solidFill>
                <a:latin typeface="Consolas" panose="020B0609020204030204" pitchFamily="49" charset="0"/>
              </a:rPr>
              <a:t>= </a:t>
            </a:r>
            <a:r>
              <a:rPr lang="en-US" altLang="ja-JP" kern="0" dirty="0" err="1">
                <a:solidFill>
                  <a:schemeClr val="accent3">
                    <a:lumMod val="75000"/>
                  </a:schemeClr>
                </a:solidFill>
                <a:latin typeface="Consolas" panose="020B0609020204030204" pitchFamily="49" charset="0"/>
              </a:rPr>
              <a:t>i</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を更新）</a:t>
            </a:r>
            <a:endParaRPr lang="en-US" altLang="ja-JP" kern="0" dirty="0">
              <a:solidFill>
                <a:schemeClr val="accent3">
                  <a:lumMod val="75000"/>
                </a:schemeClr>
              </a:solidFill>
              <a:latin typeface="Consolas" panose="020B0609020204030204" pitchFamily="49" charset="0"/>
            </a:endParaRPr>
          </a:p>
          <a:p>
            <a:pPr>
              <a:lnSpc>
                <a:spcPct val="150000"/>
              </a:lnSpc>
            </a:pPr>
            <a:r>
              <a:rPr lang="en-US" altLang="ja-JP" kern="0" dirty="0">
                <a:solidFill>
                  <a:schemeClr val="accent5"/>
                </a:solidFill>
                <a:latin typeface="Consolas" panose="020B0609020204030204" pitchFamily="49" charset="0"/>
              </a:rPr>
              <a:t>2: LABEL:</a:t>
            </a:r>
            <a:br>
              <a:rPr lang="en-US" altLang="ja-JP" kern="0" dirty="0">
                <a:solidFill>
                  <a:schemeClr val="accent5"/>
                </a:solidFill>
                <a:latin typeface="Consolas" panose="020B0609020204030204" pitchFamily="49" charset="0"/>
              </a:rPr>
            </a:br>
            <a:r>
              <a:rPr lang="en-US" altLang="ja-JP" kern="0" dirty="0">
                <a:solidFill>
                  <a:schemeClr val="accent5"/>
                </a:solidFill>
                <a:latin typeface="Consolas" panose="020B0609020204030204" pitchFamily="49" charset="0"/>
              </a:rPr>
              <a:t>3:     </a:t>
            </a:r>
            <a:r>
              <a:rPr lang="en-US" altLang="ja-JP" kern="0" dirty="0" err="1">
                <a:solidFill>
                  <a:schemeClr val="accent5"/>
                </a:solidFill>
                <a:latin typeface="Consolas" panose="020B0609020204030204" pitchFamily="49" charset="0"/>
              </a:rPr>
              <a:t>i</a:t>
            </a:r>
            <a:r>
              <a:rPr lang="en-US" altLang="ja-JP" kern="0" dirty="0">
                <a:solidFill>
                  <a:schemeClr val="accent5"/>
                </a:solidFill>
                <a:latin typeface="Consolas" panose="020B0609020204030204" pitchFamily="49" charset="0"/>
              </a:rPr>
              <a:t> = </a:t>
            </a:r>
            <a:r>
              <a:rPr lang="en-US" altLang="ja-JP" kern="0" dirty="0" err="1">
                <a:solidFill>
                  <a:schemeClr val="accent5"/>
                </a:solidFill>
                <a:latin typeface="Consolas" panose="020B0609020204030204" pitchFamily="49" charset="0"/>
              </a:rPr>
              <a:t>i</a:t>
            </a:r>
            <a:r>
              <a:rPr lang="en-US" altLang="ja-JP" kern="0" dirty="0">
                <a:solidFill>
                  <a:schemeClr val="accent5"/>
                </a:solidFill>
                <a:latin typeface="Consolas" panose="020B0609020204030204" pitchFamily="49" charset="0"/>
              </a:rPr>
              <a:t> + 1;</a:t>
            </a:r>
            <a:br>
              <a:rPr lang="en-US" altLang="ja-JP" kern="0" dirty="0">
                <a:latin typeface="Consolas" panose="020B0609020204030204" pitchFamily="49" charset="0"/>
              </a:rPr>
            </a:br>
            <a:r>
              <a:rPr lang="en-US" altLang="ja-JP" kern="0" dirty="0">
                <a:solidFill>
                  <a:schemeClr val="accent3">
                    <a:lumMod val="7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0x40C: li 0x0f4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B   </a:t>
            </a:r>
            <a:r>
              <a:rPr lang="en-US" altLang="ja-JP" kern="0" dirty="0">
                <a:solidFill>
                  <a:schemeClr val="accent3">
                    <a:lumMod val="75000"/>
                  </a:schemeClr>
                </a:solidFill>
                <a:latin typeface="Consolas" panose="020B0609020204030204" pitchFamily="49" charset="0"/>
              </a:rPr>
              <a:t>// B </a:t>
            </a:r>
            <a:r>
              <a:rPr lang="ja-JP" altLang="en-US" kern="0" dirty="0">
                <a:solidFill>
                  <a:schemeClr val="accent3">
                    <a:lumMod val="75000"/>
                  </a:schemeClr>
                </a:solidFill>
                <a:latin typeface="Consolas" panose="020B0609020204030204" pitchFamily="49" charset="0"/>
              </a:rPr>
              <a:t>に </a:t>
            </a:r>
            <a:r>
              <a:rPr lang="en-US" altLang="ja-JP" kern="0" dirty="0">
                <a:solidFill>
                  <a:schemeClr val="accent3">
                    <a:lumMod val="75000"/>
                  </a:schemeClr>
                </a:solidFill>
                <a:latin typeface="Consolas" panose="020B0609020204030204" pitchFamily="49" charset="0"/>
              </a:rPr>
              <a:t>0x0f4 (</a:t>
            </a:r>
            <a:r>
              <a:rPr lang="en-US" altLang="ja-JP" kern="0" dirty="0" err="1">
                <a:solidFill>
                  <a:schemeClr val="accent3">
                    <a:lumMod val="75000"/>
                  </a:schemeClr>
                </a:solidFill>
                <a:latin typeface="Consolas" panose="020B0609020204030204" pitchFamily="49" charset="0"/>
              </a:rPr>
              <a:t>i</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の番地</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をいれる</a:t>
            </a:r>
            <a:endParaRPr lang="en-US" altLang="ja-JP" kern="0" dirty="0">
              <a:solidFill>
                <a:schemeClr val="accent3">
                  <a:lumMod val="75000"/>
                </a:schemeClr>
              </a:solidFill>
              <a:latin typeface="Consolas" panose="020B0609020204030204" pitchFamily="49" charset="0"/>
            </a:endParaRPr>
          </a:p>
          <a:p>
            <a:pPr>
              <a:lnSpc>
                <a:spcPct val="150000"/>
              </a:lnSpc>
            </a:pPr>
            <a:r>
              <a:rPr lang="en-US" altLang="ja-JP" kern="0" dirty="0">
                <a:solidFill>
                  <a:schemeClr val="accent3">
                    <a:lumMod val="7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0x410</a:t>
            </a:r>
            <a:r>
              <a:rPr lang="en-US" altLang="ja-JP" kern="0">
                <a:solidFill>
                  <a:schemeClr val="tx1">
                    <a:lumMod val="85000"/>
                    <a:lumOff val="15000"/>
                  </a:schemeClr>
                </a:solidFill>
                <a:latin typeface="Consolas" panose="020B0609020204030204" pitchFamily="49" charset="0"/>
              </a:rPr>
              <a:t>: ld </a:t>
            </a:r>
            <a:r>
              <a:rPr lang="en-US" altLang="ja-JP" kern="0" dirty="0">
                <a:solidFill>
                  <a:schemeClr val="tx1">
                    <a:lumMod val="85000"/>
                    <a:lumOff val="15000"/>
                  </a:schemeClr>
                </a:solidFill>
                <a:latin typeface="Consolas" panose="020B0609020204030204" pitchFamily="49" charset="0"/>
              </a:rPr>
              <a:t>(B)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A   </a:t>
            </a:r>
            <a:r>
              <a:rPr lang="en-US" altLang="ja-JP" kern="0" dirty="0">
                <a:solidFill>
                  <a:schemeClr val="accent3">
                    <a:lumMod val="75000"/>
                  </a:schemeClr>
                </a:solidFill>
                <a:latin typeface="Consolas" panose="020B0609020204030204" pitchFamily="49" charset="0"/>
              </a:rPr>
              <a:t>// (B) </a:t>
            </a:r>
            <a:r>
              <a:rPr lang="ja-JP" altLang="en-US" kern="0" dirty="0">
                <a:solidFill>
                  <a:schemeClr val="accent3">
                    <a:lumMod val="75000"/>
                  </a:schemeClr>
                </a:solidFill>
                <a:latin typeface="Consolas" panose="020B0609020204030204" pitchFamily="49" charset="0"/>
              </a:rPr>
              <a:t>を </a:t>
            </a:r>
            <a:r>
              <a:rPr lang="en-US" altLang="ja-JP" kern="0" dirty="0">
                <a:solidFill>
                  <a:schemeClr val="accent3">
                    <a:lumMod val="75000"/>
                  </a:schemeClr>
                </a:solidFill>
                <a:latin typeface="Consolas" panose="020B0609020204030204" pitchFamily="49" charset="0"/>
              </a:rPr>
              <a:t>A </a:t>
            </a:r>
            <a:r>
              <a:rPr lang="ja-JP" altLang="en-US" kern="0" dirty="0">
                <a:solidFill>
                  <a:schemeClr val="accent3">
                    <a:lumMod val="75000"/>
                  </a:schemeClr>
                </a:solidFill>
                <a:latin typeface="Consolas" panose="020B0609020204030204" pitchFamily="49" charset="0"/>
              </a:rPr>
              <a:t>に読み込む（</a:t>
            </a:r>
            <a:r>
              <a:rPr lang="en-US" altLang="ja-JP" kern="0" dirty="0">
                <a:solidFill>
                  <a:schemeClr val="accent3">
                    <a:lumMod val="75000"/>
                  </a:schemeClr>
                </a:solidFill>
                <a:latin typeface="Consolas" panose="020B0609020204030204" pitchFamily="49" charset="0"/>
              </a:rPr>
              <a:t>= </a:t>
            </a:r>
            <a:r>
              <a:rPr lang="en-US" altLang="ja-JP" kern="0" dirty="0" err="1">
                <a:solidFill>
                  <a:schemeClr val="accent3">
                    <a:lumMod val="75000"/>
                  </a:schemeClr>
                </a:solidFill>
                <a:latin typeface="Consolas" panose="020B0609020204030204" pitchFamily="49" charset="0"/>
              </a:rPr>
              <a:t>i</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読み込む）</a:t>
            </a:r>
            <a:endParaRPr lang="en-US" altLang="ja-JP" kern="0" dirty="0">
              <a:solidFill>
                <a:schemeClr val="accent3">
                  <a:lumMod val="75000"/>
                </a:schemeClr>
              </a:solidFill>
              <a:latin typeface="Consolas" panose="020B0609020204030204" pitchFamily="49" charset="0"/>
            </a:endParaRPr>
          </a:p>
          <a:p>
            <a:pPr>
              <a:lnSpc>
                <a:spcPct val="150000"/>
              </a:lnSpc>
            </a:pPr>
            <a:r>
              <a:rPr lang="en-US" altLang="ja-JP" kern="0" dirty="0">
                <a:solidFill>
                  <a:schemeClr val="tx1">
                    <a:lumMod val="85000"/>
                    <a:lumOff val="15000"/>
                  </a:schemeClr>
                </a:solidFill>
                <a:latin typeface="Consolas" panose="020B0609020204030204" pitchFamily="49" charset="0"/>
              </a:rPr>
              <a:t>       0x414: add A,1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A</a:t>
            </a:r>
            <a:r>
              <a:rPr lang="en-US" altLang="ja-JP" kern="0" dirty="0">
                <a:solidFill>
                  <a:schemeClr val="accent3">
                    <a:lumMod val="75000"/>
                  </a:schemeClr>
                </a:solidFill>
                <a:latin typeface="Consolas" panose="020B0609020204030204" pitchFamily="49" charset="0"/>
              </a:rPr>
              <a:t>   // A </a:t>
            </a:r>
            <a:r>
              <a:rPr lang="ja-JP" altLang="en-US" kern="0" dirty="0">
                <a:solidFill>
                  <a:schemeClr val="accent3">
                    <a:lumMod val="75000"/>
                  </a:schemeClr>
                </a:solidFill>
                <a:latin typeface="Consolas" panose="020B0609020204030204" pitchFamily="49" charset="0"/>
              </a:rPr>
              <a:t>に </a:t>
            </a:r>
            <a:r>
              <a:rPr lang="en-US" altLang="ja-JP" kern="0" dirty="0">
                <a:solidFill>
                  <a:schemeClr val="accent3">
                    <a:lumMod val="75000"/>
                  </a:schemeClr>
                </a:solidFill>
                <a:latin typeface="Consolas" panose="020B0609020204030204" pitchFamily="49" charset="0"/>
              </a:rPr>
              <a:t>1 </a:t>
            </a:r>
            <a:r>
              <a:rPr lang="ja-JP" altLang="en-US" kern="0" dirty="0">
                <a:solidFill>
                  <a:schemeClr val="accent3">
                    <a:lumMod val="75000"/>
                  </a:schemeClr>
                </a:solidFill>
                <a:latin typeface="Consolas" panose="020B0609020204030204" pitchFamily="49" charset="0"/>
              </a:rPr>
              <a:t>を足す</a:t>
            </a:r>
            <a:endParaRPr lang="en-US" altLang="ja-JP" kern="0" dirty="0">
              <a:solidFill>
                <a:schemeClr val="accent3">
                  <a:lumMod val="75000"/>
                </a:schemeClr>
              </a:solidFill>
              <a:latin typeface="Consolas" panose="020B0609020204030204" pitchFamily="49" charset="0"/>
            </a:endParaRPr>
          </a:p>
          <a:p>
            <a:pPr>
              <a:lnSpc>
                <a:spcPct val="150000"/>
              </a:lnSpc>
            </a:pPr>
            <a:r>
              <a:rPr lang="en-US" altLang="ja-JP" kern="0" dirty="0">
                <a:solidFill>
                  <a:schemeClr val="tx1">
                    <a:lumMod val="85000"/>
                    <a:lumOff val="15000"/>
                  </a:schemeClr>
                </a:solidFill>
                <a:latin typeface="Consolas" panose="020B0609020204030204" pitchFamily="49" charset="0"/>
              </a:rPr>
              <a:t>       0x418</a:t>
            </a:r>
            <a:r>
              <a:rPr lang="en-US" altLang="ja-JP" kern="0">
                <a:solidFill>
                  <a:schemeClr val="tx1">
                    <a:lumMod val="85000"/>
                    <a:lumOff val="15000"/>
                  </a:schemeClr>
                </a:solidFill>
                <a:latin typeface="Consolas" panose="020B0609020204030204" pitchFamily="49" charset="0"/>
              </a:rPr>
              <a:t>: st </a:t>
            </a:r>
            <a:r>
              <a:rPr lang="en-US" altLang="ja-JP" kern="0" dirty="0">
                <a:solidFill>
                  <a:schemeClr val="tx1">
                    <a:lumMod val="85000"/>
                    <a:lumOff val="15000"/>
                  </a:schemeClr>
                </a:solidFill>
                <a:latin typeface="Consolas" panose="020B0609020204030204" pitchFamily="49" charset="0"/>
              </a:rPr>
              <a:t>A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(B)</a:t>
            </a:r>
            <a:r>
              <a:rPr lang="en-US" altLang="ja-JP" kern="0" dirty="0">
                <a:solidFill>
                  <a:schemeClr val="accent3">
                    <a:lumMod val="75000"/>
                  </a:schemeClr>
                </a:solidFill>
                <a:latin typeface="Consolas" panose="020B0609020204030204" pitchFamily="49" charset="0"/>
              </a:rPr>
              <a:t>     // A </a:t>
            </a:r>
            <a:r>
              <a:rPr lang="ja-JP" altLang="en-US" kern="0" dirty="0">
                <a:solidFill>
                  <a:schemeClr val="accent3">
                    <a:lumMod val="75000"/>
                  </a:schemeClr>
                </a:solidFill>
                <a:latin typeface="Consolas" panose="020B0609020204030204" pitchFamily="49" charset="0"/>
              </a:rPr>
              <a:t>を </a:t>
            </a:r>
            <a:r>
              <a:rPr lang="en-US" altLang="ja-JP" kern="0" dirty="0">
                <a:solidFill>
                  <a:schemeClr val="accent3">
                    <a:lumMod val="75000"/>
                  </a:schemeClr>
                </a:solidFill>
                <a:latin typeface="Consolas" panose="020B0609020204030204" pitchFamily="49" charset="0"/>
              </a:rPr>
              <a:t>(B) </a:t>
            </a:r>
            <a:r>
              <a:rPr lang="ja-JP" altLang="en-US" kern="0" dirty="0">
                <a:solidFill>
                  <a:schemeClr val="accent3">
                    <a:lumMod val="75000"/>
                  </a:schemeClr>
                </a:solidFill>
                <a:latin typeface="Consolas" panose="020B0609020204030204" pitchFamily="49" charset="0"/>
              </a:rPr>
              <a:t>にかきこむ（</a:t>
            </a:r>
            <a:r>
              <a:rPr lang="en-US" altLang="ja-JP" kern="0" dirty="0">
                <a:solidFill>
                  <a:schemeClr val="accent3">
                    <a:lumMod val="75000"/>
                  </a:schemeClr>
                </a:solidFill>
                <a:latin typeface="Consolas" panose="020B0609020204030204" pitchFamily="49" charset="0"/>
              </a:rPr>
              <a:t>= </a:t>
            </a:r>
            <a:r>
              <a:rPr lang="en-US" altLang="ja-JP" kern="0" dirty="0" err="1">
                <a:solidFill>
                  <a:schemeClr val="accent3">
                    <a:lumMod val="75000"/>
                  </a:schemeClr>
                </a:solidFill>
                <a:latin typeface="Consolas" panose="020B0609020204030204" pitchFamily="49" charset="0"/>
              </a:rPr>
              <a:t>i</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を更新）</a:t>
            </a:r>
            <a:endParaRPr lang="en-US" altLang="ja-JP" kern="0" dirty="0">
              <a:solidFill>
                <a:schemeClr val="accent3">
                  <a:lumMod val="75000"/>
                </a:schemeClr>
              </a:solidFill>
              <a:latin typeface="Consolas" panose="020B0609020204030204" pitchFamily="49" charset="0"/>
            </a:endParaRPr>
          </a:p>
          <a:p>
            <a:pPr>
              <a:lnSpc>
                <a:spcPct val="150000"/>
              </a:lnSpc>
            </a:pPr>
            <a:r>
              <a:rPr lang="en-US" altLang="ja-JP" kern="0" dirty="0">
                <a:solidFill>
                  <a:schemeClr val="accent5"/>
                </a:solidFill>
                <a:latin typeface="Consolas" panose="020B0609020204030204" pitchFamily="49" charset="0"/>
              </a:rPr>
              <a:t>4:     if (</a:t>
            </a:r>
            <a:r>
              <a:rPr lang="en-US" altLang="ja-JP" kern="0" dirty="0" err="1">
                <a:solidFill>
                  <a:schemeClr val="accent5"/>
                </a:solidFill>
                <a:latin typeface="Consolas" panose="020B0609020204030204" pitchFamily="49" charset="0"/>
              </a:rPr>
              <a:t>i</a:t>
            </a:r>
            <a:r>
              <a:rPr lang="en-US" altLang="ja-JP" kern="0" dirty="0">
                <a:solidFill>
                  <a:schemeClr val="accent5"/>
                </a:solidFill>
                <a:latin typeface="Consolas" panose="020B0609020204030204" pitchFamily="49" charset="0"/>
              </a:rPr>
              <a:t> &lt; 10) </a:t>
            </a:r>
            <a:br>
              <a:rPr lang="en-US" altLang="ja-JP" kern="0" dirty="0">
                <a:solidFill>
                  <a:schemeClr val="accent5"/>
                </a:solidFill>
                <a:latin typeface="Consolas" panose="020B0609020204030204" pitchFamily="49" charset="0"/>
              </a:rPr>
            </a:br>
            <a:r>
              <a:rPr lang="en-US" altLang="ja-JP" kern="0" dirty="0">
                <a:solidFill>
                  <a:schemeClr val="accent5"/>
                </a:solidFill>
                <a:latin typeface="Consolas" panose="020B0609020204030204" pitchFamily="49" charset="0"/>
              </a:rPr>
              <a:t>5:        </a:t>
            </a:r>
            <a:r>
              <a:rPr lang="en-US" altLang="ja-JP" kern="0" dirty="0" err="1">
                <a:solidFill>
                  <a:schemeClr val="accent5"/>
                </a:solidFill>
                <a:latin typeface="Consolas" panose="020B0609020204030204" pitchFamily="49" charset="0"/>
              </a:rPr>
              <a:t>goto</a:t>
            </a:r>
            <a:r>
              <a:rPr lang="en-US" altLang="ja-JP" kern="0" dirty="0">
                <a:solidFill>
                  <a:schemeClr val="accent5"/>
                </a:solidFill>
                <a:latin typeface="Consolas" panose="020B0609020204030204" pitchFamily="49" charset="0"/>
              </a:rPr>
              <a:t> LABEL;</a:t>
            </a:r>
            <a:endParaRPr lang="ja-JP" altLang="en-US" kern="0" dirty="0">
              <a:solidFill>
                <a:schemeClr val="accent5"/>
              </a:solidFill>
              <a:latin typeface="Consolas" panose="020B0609020204030204" pitchFamily="49" charset="0"/>
            </a:endParaRPr>
          </a:p>
          <a:p>
            <a:pPr>
              <a:lnSpc>
                <a:spcPct val="150000"/>
              </a:lnSpc>
            </a:pPr>
            <a:r>
              <a:rPr lang="en-US" altLang="ja-JP" kern="0" dirty="0">
                <a:solidFill>
                  <a:schemeClr val="accent3">
                    <a:lumMod val="7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0x41c: li 10 </a:t>
            </a:r>
            <a:r>
              <a:rPr lang="ja-JP" altLang="en-US" kern="0" dirty="0">
                <a:solidFill>
                  <a:schemeClr val="tx1">
                    <a:lumMod val="85000"/>
                    <a:lumOff val="15000"/>
                  </a:schemeClr>
                </a:solidFill>
                <a:latin typeface="Consolas" panose="020B0609020204030204" pitchFamily="49" charset="0"/>
              </a:rPr>
              <a:t>→ </a:t>
            </a:r>
            <a:r>
              <a:rPr lang="en-US" altLang="ja-JP" kern="0" dirty="0">
                <a:solidFill>
                  <a:schemeClr val="tx1">
                    <a:lumMod val="85000"/>
                    <a:lumOff val="15000"/>
                  </a:schemeClr>
                </a:solidFill>
                <a:latin typeface="Consolas" panose="020B0609020204030204" pitchFamily="49" charset="0"/>
              </a:rPr>
              <a:t>B      </a:t>
            </a:r>
            <a:r>
              <a:rPr lang="en-US" altLang="ja-JP" kern="0" dirty="0">
                <a:solidFill>
                  <a:schemeClr val="accent3">
                    <a:lumMod val="75000"/>
                  </a:schemeClr>
                </a:solidFill>
                <a:latin typeface="Consolas" panose="020B0609020204030204" pitchFamily="49" charset="0"/>
              </a:rPr>
              <a:t>// B </a:t>
            </a:r>
            <a:r>
              <a:rPr lang="ja-JP" altLang="en-US" kern="0" dirty="0">
                <a:solidFill>
                  <a:schemeClr val="accent3">
                    <a:lumMod val="75000"/>
                  </a:schemeClr>
                </a:solidFill>
                <a:latin typeface="Consolas" panose="020B0609020204030204" pitchFamily="49" charset="0"/>
              </a:rPr>
              <a:t>に </a:t>
            </a:r>
            <a:r>
              <a:rPr lang="en-US" altLang="ja-JP" kern="0" dirty="0">
                <a:solidFill>
                  <a:schemeClr val="accent3">
                    <a:lumMod val="75000"/>
                  </a:schemeClr>
                </a:solidFill>
                <a:latin typeface="Consolas" panose="020B0609020204030204" pitchFamily="49" charset="0"/>
              </a:rPr>
              <a:t>10 </a:t>
            </a:r>
            <a:r>
              <a:rPr lang="ja-JP" altLang="en-US" kern="0" dirty="0">
                <a:solidFill>
                  <a:schemeClr val="accent3">
                    <a:lumMod val="75000"/>
                  </a:schemeClr>
                </a:solidFill>
                <a:latin typeface="Consolas" panose="020B0609020204030204" pitchFamily="49" charset="0"/>
              </a:rPr>
              <a:t>を読み込む</a:t>
            </a:r>
            <a:endParaRPr lang="en-US" altLang="ja-JP" kern="0" dirty="0">
              <a:solidFill>
                <a:schemeClr val="accent3">
                  <a:lumMod val="75000"/>
                </a:schemeClr>
              </a:solidFill>
              <a:latin typeface="Consolas" panose="020B0609020204030204" pitchFamily="49" charset="0"/>
            </a:endParaRPr>
          </a:p>
          <a:p>
            <a:pPr>
              <a:lnSpc>
                <a:spcPct val="150000"/>
              </a:lnSpc>
            </a:pPr>
            <a:r>
              <a:rPr lang="en-US" altLang="ja-JP" kern="0" dirty="0">
                <a:solidFill>
                  <a:schemeClr val="tx1">
                    <a:lumMod val="85000"/>
                    <a:lumOff val="15000"/>
                  </a:schemeClr>
                </a:solidFill>
                <a:latin typeface="Consolas" panose="020B0609020204030204" pitchFamily="49" charset="0"/>
              </a:rPr>
              <a:t>       0x420: b A &lt; B, 0x40C </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条件がなりたっていたら </a:t>
            </a:r>
            <a:r>
              <a:rPr lang="en-US" altLang="ja-JP" kern="0" dirty="0">
                <a:solidFill>
                  <a:schemeClr val="accent3">
                    <a:lumMod val="75000"/>
                  </a:schemeClr>
                </a:solidFill>
                <a:latin typeface="Consolas" panose="020B0609020204030204" pitchFamily="49" charset="0"/>
              </a:rPr>
              <a:t>LABEL </a:t>
            </a:r>
            <a:r>
              <a:rPr lang="ja-JP" altLang="en-US" kern="0" dirty="0">
                <a:solidFill>
                  <a:schemeClr val="accent3">
                    <a:lumMod val="75000"/>
                  </a:schemeClr>
                </a:solidFill>
                <a:latin typeface="Consolas" panose="020B0609020204030204" pitchFamily="49" charset="0"/>
              </a:rPr>
              <a:t>に</a:t>
            </a:r>
          </a:p>
        </p:txBody>
      </p:sp>
      <p:sp>
        <p:nvSpPr>
          <p:cNvPr id="25" name="正方形/長方形 24"/>
          <p:cNvSpPr/>
          <p:nvPr/>
        </p:nvSpPr>
        <p:spPr bwMode="auto">
          <a:xfrm>
            <a:off x="1775953" y="2078985"/>
            <a:ext cx="4590051" cy="2700030"/>
          </a:xfrm>
          <a:prstGeom prst="rect">
            <a:avLst/>
          </a:prstGeom>
          <a:no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150000"/>
              </a:lnSpc>
            </a:pPr>
            <a:endParaRPr lang="ja-JP" altLang="en-US" sz="2000" kern="0" dirty="0">
              <a:solidFill>
                <a:schemeClr val="accent3">
                  <a:lumMod val="75000"/>
                </a:schemeClr>
              </a:solidFill>
              <a:latin typeface="Consolas" panose="020B0609020204030204" pitchFamily="49" charset="0"/>
            </a:endParaRPr>
          </a:p>
        </p:txBody>
      </p:sp>
    </p:spTree>
    <p:extLst>
      <p:ext uri="{BB962C8B-B14F-4D97-AF65-F5344CB8AC3E}">
        <p14:creationId xmlns:p14="http://schemas.microsoft.com/office/powerpoint/2010/main" val="15940561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 </a:t>
            </a:r>
            <a:r>
              <a:rPr kumimoji="1" lang="ja-JP" altLang="en-US" dirty="0"/>
              <a:t>言語への変換（コンパイル）</a:t>
            </a:r>
          </a:p>
        </p:txBody>
      </p:sp>
      <p:sp>
        <p:nvSpPr>
          <p:cNvPr id="3" name="テキスト プレースホルダー 2"/>
          <p:cNvSpPr>
            <a:spLocks noGrp="1"/>
          </p:cNvSpPr>
          <p:nvPr>
            <p:ph type="body" sz="quarter" idx="10"/>
          </p:nvPr>
        </p:nvSpPr>
        <p:spPr/>
        <p:txBody>
          <a:bodyPr/>
          <a:lstStyle/>
          <a:p>
            <a:r>
              <a:rPr lang="ja-JP" altLang="en-US" dirty="0"/>
              <a:t>基本的には１つ１つの文を，機械語に置換していけばよい</a:t>
            </a:r>
            <a:endParaRPr lang="en-US" altLang="ja-JP" dirty="0"/>
          </a:p>
          <a:p>
            <a:pPr lvl="1"/>
            <a:r>
              <a:rPr lang="ja-JP" altLang="en-US" dirty="0"/>
              <a:t>さっきの結果はかなり冗長なので，実際にはもっと最適化する</a:t>
            </a:r>
            <a:endParaRPr lang="en-US" altLang="ja-JP" dirty="0"/>
          </a:p>
          <a:p>
            <a:pPr lvl="1"/>
            <a:r>
              <a:rPr lang="ja-JP" altLang="en-US" dirty="0"/>
              <a:t>変数 </a:t>
            </a:r>
            <a:r>
              <a:rPr lang="en-US" altLang="ja-JP" dirty="0" err="1"/>
              <a:t>i</a:t>
            </a:r>
            <a:r>
              <a:rPr lang="en-US" altLang="ja-JP" dirty="0"/>
              <a:t> </a:t>
            </a:r>
            <a:r>
              <a:rPr lang="ja-JP" altLang="en-US" dirty="0"/>
              <a:t>を毎回メモリから読み書きしていたのを省略するとか</a:t>
            </a:r>
            <a:endParaRPr lang="en-US" altLang="ja-JP" dirty="0"/>
          </a:p>
          <a:p>
            <a:r>
              <a:rPr lang="ja-JP" altLang="en-US" dirty="0"/>
              <a:t>ただし，デバッグ用にコンパイルしたコードはさっきの例に近い</a:t>
            </a:r>
            <a:endParaRPr lang="en-US" altLang="ja-JP" dirty="0"/>
          </a:p>
          <a:p>
            <a:pPr lvl="1"/>
            <a:r>
              <a:rPr lang="ja-JP" altLang="en-US" dirty="0"/>
              <a:t>デバッガでステップ実行するためには，元の文と１：１に</a:t>
            </a:r>
            <a:br>
              <a:rPr lang="en-US" altLang="ja-JP" dirty="0"/>
            </a:br>
            <a:r>
              <a:rPr lang="ja-JP" altLang="en-US" dirty="0"/>
              <a:t>対応していた方が都合が良い</a:t>
            </a:r>
            <a:endParaRPr lang="en-US" altLang="ja-JP" dirty="0"/>
          </a:p>
          <a:p>
            <a:r>
              <a:rPr lang="en-US" altLang="ja-JP" dirty="0"/>
              <a:t>C</a:t>
            </a:r>
            <a:r>
              <a:rPr lang="ja-JP" altLang="en-US" dirty="0"/>
              <a:t> 言語の演算子と制御構文の全体について見ていく</a:t>
            </a:r>
            <a:endParaRPr kumimoji="1" lang="ja-JP" altLang="en-US" dirty="0"/>
          </a:p>
        </p:txBody>
      </p:sp>
    </p:spTree>
    <p:extLst>
      <p:ext uri="{BB962C8B-B14F-4D97-AF65-F5344CB8AC3E}">
        <p14:creationId xmlns:p14="http://schemas.microsoft.com/office/powerpoint/2010/main" val="6574706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p:cNvSpPr>
            <a:spLocks noGrp="1"/>
          </p:cNvSpPr>
          <p:nvPr>
            <p:ph type="title"/>
          </p:nvPr>
        </p:nvSpPr>
        <p:spPr/>
        <p:txBody>
          <a:bodyPr/>
          <a:lstStyle/>
          <a:p>
            <a:r>
              <a:rPr kumimoji="1" lang="en-US" altLang="ja-JP" dirty="0"/>
              <a:t>C</a:t>
            </a:r>
            <a:r>
              <a:rPr kumimoji="1" lang="ja-JP" altLang="en-US" dirty="0"/>
              <a:t> 言語 の 演算子（優先順位順）</a:t>
            </a:r>
          </a:p>
        </p:txBody>
      </p:sp>
      <p:sp>
        <p:nvSpPr>
          <p:cNvPr id="4" name="スライド番号プレースホルダー 3"/>
          <p:cNvSpPr>
            <a:spLocks noGrp="1"/>
          </p:cNvSpPr>
          <p:nvPr>
            <p:ph type="sldNum" sz="quarter" idx="4"/>
          </p:nvPr>
        </p:nvSpPr>
        <p:spPr/>
        <p:txBody>
          <a:bodyPr/>
          <a:lstStyle/>
          <a:p>
            <a:fld id="{AB25FED9-6C1E-4BAE-9892-C02CADA97A8C}" type="slidenum">
              <a:rPr lang="ja-JP" altLang="en-US" smtClean="0"/>
              <a:pPr/>
              <a:t>53</a:t>
            </a:fld>
            <a:endParaRPr lang="ja-JP" altLang="en-US"/>
          </a:p>
        </p:txBody>
      </p:sp>
      <p:graphicFrame>
        <p:nvGraphicFramePr>
          <p:cNvPr id="7" name="コンテンツ プレースホルダー 6"/>
          <p:cNvGraphicFramePr>
            <a:graphicFrameLocks noGrp="1"/>
          </p:cNvGraphicFramePr>
          <p:nvPr>
            <p:ph sz="quarter" idx="4294967295"/>
            <p:extLst>
              <p:ext uri="{D42A27DB-BD31-4B8C-83A1-F6EECF244321}">
                <p14:modId xmlns:p14="http://schemas.microsoft.com/office/powerpoint/2010/main" val="682588394"/>
              </p:ext>
            </p:extLst>
          </p:nvPr>
        </p:nvGraphicFramePr>
        <p:xfrm>
          <a:off x="1775952" y="1268976"/>
          <a:ext cx="8623419" cy="4680000"/>
        </p:xfrm>
        <a:graphic>
          <a:graphicData uri="http://schemas.openxmlformats.org/drawingml/2006/table">
            <a:tbl>
              <a:tblPr firstRow="1">
                <a:tableStyleId>{5940675A-B579-460E-94D1-54222C63F5DA}</a:tableStyleId>
              </a:tblPr>
              <a:tblGrid>
                <a:gridCol w="346222">
                  <a:extLst>
                    <a:ext uri="{9D8B030D-6E8A-4147-A177-3AD203B41FA5}">
                      <a16:colId xmlns:a16="http://schemas.microsoft.com/office/drawing/2014/main" val="20000"/>
                    </a:ext>
                  </a:extLst>
                </a:gridCol>
                <a:gridCol w="691294">
                  <a:extLst>
                    <a:ext uri="{9D8B030D-6E8A-4147-A177-3AD203B41FA5}">
                      <a16:colId xmlns:a16="http://schemas.microsoft.com/office/drawing/2014/main" val="20001"/>
                    </a:ext>
                  </a:extLst>
                </a:gridCol>
                <a:gridCol w="691294">
                  <a:extLst>
                    <a:ext uri="{9D8B030D-6E8A-4147-A177-3AD203B41FA5}">
                      <a16:colId xmlns:a16="http://schemas.microsoft.com/office/drawing/2014/main" val="20002"/>
                    </a:ext>
                  </a:extLst>
                </a:gridCol>
                <a:gridCol w="1781658">
                  <a:extLst>
                    <a:ext uri="{9D8B030D-6E8A-4147-A177-3AD203B41FA5}">
                      <a16:colId xmlns:a16="http://schemas.microsoft.com/office/drawing/2014/main" val="20003"/>
                    </a:ext>
                  </a:extLst>
                </a:gridCol>
                <a:gridCol w="79388">
                  <a:extLst>
                    <a:ext uri="{9D8B030D-6E8A-4147-A177-3AD203B41FA5}">
                      <a16:colId xmlns:a16="http://schemas.microsoft.com/office/drawing/2014/main" val="20004"/>
                    </a:ext>
                  </a:extLst>
                </a:gridCol>
                <a:gridCol w="360000">
                  <a:extLst>
                    <a:ext uri="{9D8B030D-6E8A-4147-A177-3AD203B41FA5}">
                      <a16:colId xmlns:a16="http://schemas.microsoft.com/office/drawing/2014/main" val="20005"/>
                    </a:ext>
                  </a:extLst>
                </a:gridCol>
                <a:gridCol w="900000">
                  <a:extLst>
                    <a:ext uri="{9D8B030D-6E8A-4147-A177-3AD203B41FA5}">
                      <a16:colId xmlns:a16="http://schemas.microsoft.com/office/drawing/2014/main" val="20006"/>
                    </a:ext>
                  </a:extLst>
                </a:gridCol>
                <a:gridCol w="900000">
                  <a:extLst>
                    <a:ext uri="{9D8B030D-6E8A-4147-A177-3AD203B41FA5}">
                      <a16:colId xmlns:a16="http://schemas.microsoft.com/office/drawing/2014/main" val="20007"/>
                    </a:ext>
                  </a:extLst>
                </a:gridCol>
                <a:gridCol w="900000">
                  <a:extLst>
                    <a:ext uri="{9D8B030D-6E8A-4147-A177-3AD203B41FA5}">
                      <a16:colId xmlns:a16="http://schemas.microsoft.com/office/drawing/2014/main" val="20008"/>
                    </a:ext>
                  </a:extLst>
                </a:gridCol>
                <a:gridCol w="1973563">
                  <a:extLst>
                    <a:ext uri="{9D8B030D-6E8A-4147-A177-3AD203B41FA5}">
                      <a16:colId xmlns:a16="http://schemas.microsoft.com/office/drawing/2014/main" val="20009"/>
                    </a:ext>
                  </a:extLst>
                </a:gridCol>
              </a:tblGrid>
              <a:tr h="360000">
                <a:tc>
                  <a:txBody>
                    <a:bodyPr/>
                    <a:lstStyle/>
                    <a:p>
                      <a:pPr algn="r">
                        <a:lnSpc>
                          <a:spcPct val="150000"/>
                        </a:lnSpc>
                      </a:pPr>
                      <a:endParaRPr kumimoji="1" lang="ja-JP" altLang="en-US" sz="1400" dirty="0">
                        <a:solidFill>
                          <a:schemeClr val="bg1"/>
                        </a:solidFill>
                        <a:latin typeface="Consolas" panose="020B0609020204030204" pitchFamily="49" charset="0"/>
                      </a:endParaRPr>
                    </a:p>
                  </a:txBody>
                  <a:tcPr marL="72000" marR="72000" marT="0" marB="0" anchor="ctr">
                    <a:solidFill>
                      <a:schemeClr val="accent1"/>
                    </a:solidFill>
                  </a:tcPr>
                </a:tc>
                <a:tc gridSpan="2">
                  <a:txBody>
                    <a:bodyPr/>
                    <a:lstStyle/>
                    <a:p>
                      <a:pPr>
                        <a:lnSpc>
                          <a:spcPct val="150000"/>
                        </a:lnSpc>
                      </a:pPr>
                      <a:r>
                        <a:rPr kumimoji="1" lang="ja-JP" altLang="en-US" sz="1400" dirty="0">
                          <a:solidFill>
                            <a:schemeClr val="bg1"/>
                          </a:solidFill>
                          <a:latin typeface="Consolas" panose="020B0609020204030204" pitchFamily="49" charset="0"/>
                        </a:rPr>
                        <a:t>記述例</a:t>
                      </a:r>
                    </a:p>
                  </a:txBody>
                  <a:tcPr marL="72000" marR="72000" marT="0" marB="0" anchor="ctr">
                    <a:solidFill>
                      <a:schemeClr val="accent1"/>
                    </a:solidFill>
                  </a:tcPr>
                </a:tc>
                <a:tc hMerge="1">
                  <a:txBody>
                    <a:bodyPr/>
                    <a:lstStyle/>
                    <a:p>
                      <a:endParaRPr kumimoji="1" lang="ja-JP" altLang="en-US" sz="1400"/>
                    </a:p>
                  </a:txBody>
                  <a:tcPr marL="72000" marR="72000" marT="0" marB="0" anchor="ctr">
                    <a:lnL w="12700" cmpd="sng">
                      <a:noFill/>
                    </a:lnL>
                  </a:tcPr>
                </a:tc>
                <a:tc>
                  <a:txBody>
                    <a:bodyPr/>
                    <a:lstStyle/>
                    <a:p>
                      <a:pPr>
                        <a:lnSpc>
                          <a:spcPct val="150000"/>
                        </a:lnSpc>
                      </a:pPr>
                      <a:r>
                        <a:rPr kumimoji="1" lang="ja-JP" altLang="en-US" sz="1400" dirty="0">
                          <a:solidFill>
                            <a:schemeClr val="bg1"/>
                          </a:solidFill>
                          <a:latin typeface="Consolas" panose="020B0609020204030204" pitchFamily="49" charset="0"/>
                        </a:rPr>
                        <a:t>説明</a:t>
                      </a:r>
                    </a:p>
                  </a:txBody>
                  <a:tcPr marL="72000" marR="72000" marT="0" marB="0" anchor="ctr">
                    <a:solidFill>
                      <a:schemeClr val="accent1"/>
                    </a:solidFill>
                  </a:tcPr>
                </a:tc>
                <a:tc>
                  <a:txBody>
                    <a:bodyPr/>
                    <a:lstStyle/>
                    <a:p>
                      <a:pPr algn="r">
                        <a:lnSpc>
                          <a:spcPct val="150000"/>
                        </a:lnSpc>
                      </a:pPr>
                      <a:endParaRPr kumimoji="1" lang="ja-JP" altLang="en-US" sz="1400" dirty="0">
                        <a:solidFill>
                          <a:schemeClr val="bg1"/>
                        </a:solidFill>
                        <a:latin typeface="Consolas" panose="020B0609020204030204" pitchFamily="49" charset="0"/>
                      </a:endParaRPr>
                    </a:p>
                  </a:txBody>
                  <a:tcPr marL="0" marR="0" marT="0" marB="0" anchor="ctr">
                    <a:solidFill>
                      <a:schemeClr val="accent1"/>
                    </a:solidFill>
                  </a:tcPr>
                </a:tc>
                <a:tc>
                  <a:txBody>
                    <a:bodyPr/>
                    <a:lstStyle/>
                    <a:p>
                      <a:pPr algn="r">
                        <a:lnSpc>
                          <a:spcPct val="150000"/>
                        </a:lnSpc>
                      </a:pPr>
                      <a:endParaRPr kumimoji="1" lang="ja-JP" altLang="en-US" sz="1400" dirty="0">
                        <a:solidFill>
                          <a:schemeClr val="bg1"/>
                        </a:solidFill>
                        <a:latin typeface="Consolas" panose="020B0609020204030204" pitchFamily="49" charset="0"/>
                      </a:endParaRPr>
                    </a:p>
                  </a:txBody>
                  <a:tcPr marL="72000" marR="72000" marT="0" marB="0" anchor="ctr">
                    <a:solidFill>
                      <a:schemeClr val="accent1"/>
                    </a:solidFill>
                  </a:tcPr>
                </a:tc>
                <a:tc gridSpan="3">
                  <a:txBody>
                    <a:bodyPr/>
                    <a:lstStyle/>
                    <a:p>
                      <a:pPr>
                        <a:lnSpc>
                          <a:spcPct val="150000"/>
                        </a:lnSpc>
                      </a:pPr>
                      <a:r>
                        <a:rPr kumimoji="1" lang="ja-JP" altLang="en-US" sz="1400" dirty="0">
                          <a:solidFill>
                            <a:schemeClr val="bg1"/>
                          </a:solidFill>
                          <a:latin typeface="Consolas" panose="020B0609020204030204" pitchFamily="49" charset="0"/>
                        </a:rPr>
                        <a:t>記述例</a:t>
                      </a:r>
                    </a:p>
                  </a:txBody>
                  <a:tcPr marL="72000" marR="72000" marT="0" marB="0" anchor="ctr">
                    <a:solidFill>
                      <a:schemeClr val="accent1"/>
                    </a:solidFill>
                  </a:tcPr>
                </a:tc>
                <a:tc hMerge="1">
                  <a:txBody>
                    <a:bodyPr/>
                    <a:lstStyle/>
                    <a:p>
                      <a:endParaRPr kumimoji="1" lang="ja-JP" altLang="en-US"/>
                    </a:p>
                  </a:txBody>
                  <a:tcPr/>
                </a:tc>
                <a:tc hMerge="1">
                  <a:txBody>
                    <a:bodyPr/>
                    <a:lstStyle/>
                    <a:p>
                      <a:endParaRPr kumimoji="1" lang="ja-JP" altLang="en-US"/>
                    </a:p>
                  </a:txBody>
                  <a:tcPr/>
                </a:tc>
                <a:tc>
                  <a:txBody>
                    <a:bodyPr/>
                    <a:lstStyle/>
                    <a:p>
                      <a:pPr>
                        <a:lnSpc>
                          <a:spcPct val="150000"/>
                        </a:lnSpc>
                      </a:pPr>
                      <a:r>
                        <a:rPr kumimoji="1" lang="ja-JP" altLang="en-US" sz="1400" dirty="0">
                          <a:solidFill>
                            <a:schemeClr val="bg1"/>
                          </a:solidFill>
                          <a:latin typeface="Consolas" panose="020B0609020204030204" pitchFamily="49" charset="0"/>
                        </a:rPr>
                        <a:t>説明</a:t>
                      </a:r>
                    </a:p>
                  </a:txBody>
                  <a:tcPr marL="72000" marR="72000" marT="0" marB="0" anchor="ctr">
                    <a:solidFill>
                      <a:schemeClr val="accent1"/>
                    </a:solidFill>
                  </a:tcPr>
                </a:tc>
                <a:extLst>
                  <a:ext uri="{0D108BD9-81ED-4DB2-BD59-A6C34878D82A}">
                    <a16:rowId xmlns:a16="http://schemas.microsoft.com/office/drawing/2014/main" val="10000"/>
                  </a:ext>
                </a:extLst>
              </a:tr>
              <a:tr h="360000">
                <a:tc rowSpan="4">
                  <a:txBody>
                    <a:bodyPr/>
                    <a:lstStyle/>
                    <a:p>
                      <a:pPr algn="r">
                        <a:lnSpc>
                          <a:spcPct val="150000"/>
                        </a:lnSpc>
                      </a:pPr>
                      <a:r>
                        <a:rPr kumimoji="1" lang="en-US" altLang="ja-JP" sz="1400" dirty="0">
                          <a:solidFill>
                            <a:schemeClr val="bg1"/>
                          </a:solidFill>
                          <a:latin typeface="Consolas" panose="020B0609020204030204" pitchFamily="49" charset="0"/>
                        </a:rPr>
                        <a:t>1</a:t>
                      </a:r>
                      <a:endParaRPr kumimoji="1" lang="ja-JP" altLang="en-US" sz="1400" dirty="0">
                        <a:solidFill>
                          <a:schemeClr val="bg1"/>
                        </a:solidFill>
                        <a:latin typeface="Consolas" panose="020B0609020204030204" pitchFamily="49" charset="0"/>
                      </a:endParaRPr>
                    </a:p>
                  </a:txBody>
                  <a:tcPr marL="72000" marR="72000" marT="0" marB="0" anchor="ctr">
                    <a:solidFill>
                      <a:schemeClr val="accent1"/>
                    </a:solidFill>
                  </a:tcPr>
                </a:tc>
                <a:tc>
                  <a:txBody>
                    <a:bodyPr/>
                    <a:lstStyle/>
                    <a:p>
                      <a:pPr>
                        <a:lnSpc>
                          <a:spcPct val="150000"/>
                        </a:lnSpc>
                      </a:pPr>
                      <a:r>
                        <a:rPr lang="en-US" altLang="ja-JP" sz="1400" dirty="0">
                          <a:latin typeface="Consolas" panose="020B0609020204030204" pitchFamily="49" charset="0"/>
                          <a:ea typeface="ＭＳ ゴシック" pitchFamily="49" charset="-128"/>
                        </a:rPr>
                        <a:t>a[</a:t>
                      </a:r>
                      <a:r>
                        <a:rPr lang="en-US" altLang="ja-JP" sz="1400" dirty="0" err="1">
                          <a:latin typeface="Consolas" panose="020B0609020204030204" pitchFamily="49" charset="0"/>
                          <a:ea typeface="ＭＳ ゴシック" pitchFamily="49" charset="-128"/>
                        </a:rPr>
                        <a:t>i</a:t>
                      </a:r>
                      <a:r>
                        <a:rPr lang="en-US" altLang="ja-JP" sz="1400" dirty="0">
                          <a:latin typeface="Consolas" panose="020B0609020204030204" pitchFamily="49" charset="0"/>
                          <a:ea typeface="ＭＳ ゴシック" pitchFamily="49" charset="-128"/>
                        </a:rPr>
                        <a:t>]</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3">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3">
                        <a:lumMod val="20000"/>
                        <a:lumOff val="80000"/>
                      </a:schemeClr>
                    </a:solidFill>
                  </a:tcPr>
                </a:tc>
                <a:tc>
                  <a:txBody>
                    <a:bodyPr/>
                    <a:lstStyle/>
                    <a:p>
                      <a:pPr>
                        <a:lnSpc>
                          <a:spcPct val="150000"/>
                        </a:lnSpc>
                      </a:pPr>
                      <a:r>
                        <a:rPr kumimoji="1" lang="ja-JP" altLang="en-US" sz="1400" dirty="0">
                          <a:latin typeface="Consolas" panose="020B0609020204030204" pitchFamily="49" charset="0"/>
                        </a:rPr>
                        <a:t>配列アクセス</a:t>
                      </a:r>
                    </a:p>
                  </a:txBody>
                  <a:tcPr marL="72000" marR="72000" marT="0" marB="0" anchor="ctr">
                    <a:solidFill>
                      <a:schemeClr val="accent3">
                        <a:lumMod val="20000"/>
                        <a:lumOff val="80000"/>
                      </a:schemeClr>
                    </a:solidFill>
                  </a:tcPr>
                </a:tc>
                <a:tc>
                  <a:txBody>
                    <a:bodyPr/>
                    <a:lstStyle/>
                    <a:p>
                      <a:pPr algn="r">
                        <a:lnSpc>
                          <a:spcPct val="150000"/>
                        </a:lnSpc>
                      </a:pPr>
                      <a:endParaRPr kumimoji="1" lang="ja-JP" altLang="en-US" sz="1400" dirty="0">
                        <a:latin typeface="Consolas" panose="020B0609020204030204" pitchFamily="49" charset="0"/>
                      </a:endParaRPr>
                    </a:p>
                  </a:txBody>
                  <a:tcPr marL="0" marR="0" marT="0" marB="0" anchor="ctr"/>
                </a:tc>
                <a:tc>
                  <a:txBody>
                    <a:bodyPr/>
                    <a:lstStyle/>
                    <a:p>
                      <a:pPr algn="r">
                        <a:lnSpc>
                          <a:spcPct val="150000"/>
                        </a:lnSpc>
                      </a:pPr>
                      <a:r>
                        <a:rPr kumimoji="1" lang="en-US" altLang="ja-JP" sz="1400" dirty="0">
                          <a:solidFill>
                            <a:schemeClr val="bg1"/>
                          </a:solidFill>
                          <a:latin typeface="Consolas" panose="020B0609020204030204" pitchFamily="49" charset="0"/>
                        </a:rPr>
                        <a:t>4</a:t>
                      </a:r>
                      <a:endParaRPr kumimoji="1" lang="ja-JP" altLang="en-US" sz="1400" dirty="0">
                        <a:solidFill>
                          <a:schemeClr val="bg1"/>
                        </a:solidFill>
                        <a:latin typeface="Consolas" panose="020B0609020204030204" pitchFamily="49" charset="0"/>
                      </a:endParaRPr>
                    </a:p>
                  </a:txBody>
                  <a:tcPr marL="72000" marR="72000" marT="0" marB="0" anchor="ctr">
                    <a:solidFill>
                      <a:schemeClr val="accent1"/>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 b</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5">
                        <a:lumMod val="20000"/>
                        <a:lumOff val="80000"/>
                      </a:schemeClr>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 b</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lnR w="12700" cmpd="sng">
                      <a:noFill/>
                    </a:lnR>
                    <a:solidFill>
                      <a:schemeClr val="accent5">
                        <a:lumMod val="20000"/>
                        <a:lumOff val="80000"/>
                      </a:schemeClr>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 b</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5">
                        <a:lumMod val="20000"/>
                        <a:lumOff val="80000"/>
                      </a:schemeClr>
                    </a:solidFill>
                  </a:tcPr>
                </a:tc>
                <a:tc>
                  <a:txBody>
                    <a:bodyPr/>
                    <a:lstStyle/>
                    <a:p>
                      <a:pPr>
                        <a:lnSpc>
                          <a:spcPct val="150000"/>
                        </a:lnSpc>
                      </a:pPr>
                      <a:r>
                        <a:rPr kumimoji="1" lang="ja-JP" altLang="en-US" sz="1400" dirty="0">
                          <a:latin typeface="Consolas" panose="020B0609020204030204" pitchFamily="49" charset="0"/>
                        </a:rPr>
                        <a:t>乗除算</a:t>
                      </a:r>
                    </a:p>
                  </a:txBody>
                  <a:tcPr marL="72000" marR="72000" marT="0" marB="0" anchor="ctr">
                    <a:solidFill>
                      <a:schemeClr val="accent5">
                        <a:lumMod val="20000"/>
                        <a:lumOff val="80000"/>
                      </a:schemeClr>
                    </a:solidFill>
                  </a:tcPr>
                </a:tc>
                <a:extLst>
                  <a:ext uri="{0D108BD9-81ED-4DB2-BD59-A6C34878D82A}">
                    <a16:rowId xmlns:a16="http://schemas.microsoft.com/office/drawing/2014/main" val="10001"/>
                  </a:ext>
                </a:extLst>
              </a:tr>
              <a:tr h="360000">
                <a:tc vMerge="1">
                  <a:txBody>
                    <a:bodyPr/>
                    <a:lstStyle/>
                    <a:p>
                      <a:endParaRPr kumimoji="1" lang="ja-JP" altLang="en-US" sz="1400"/>
                    </a:p>
                  </a:txBody>
                  <a:tcPr anchor="ctr"/>
                </a:tc>
                <a:tc>
                  <a:txBody>
                    <a:bodyPr/>
                    <a:lstStyle/>
                    <a:p>
                      <a:pPr>
                        <a:lnSpc>
                          <a:spcPct val="150000"/>
                        </a:lnSpc>
                      </a:pPr>
                      <a:r>
                        <a:rPr lang="en-US" altLang="ja-JP" sz="1400" dirty="0">
                          <a:latin typeface="Consolas" panose="020B0609020204030204" pitchFamily="49" charset="0"/>
                          <a:ea typeface="ＭＳ ゴシック" pitchFamily="49" charset="-128"/>
                        </a:rPr>
                        <a:t>f(a)</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tcPr>
                </a:tc>
                <a:tc>
                  <a:txBody>
                    <a:bodyPr/>
                    <a:lstStyle/>
                    <a:p>
                      <a:pPr>
                        <a:lnSpc>
                          <a:spcPct val="150000"/>
                        </a:lnSpc>
                      </a:pPr>
                      <a:r>
                        <a:rPr kumimoji="1" lang="ja-JP" altLang="en-US" sz="1400" dirty="0">
                          <a:latin typeface="Consolas" panose="020B0609020204030204" pitchFamily="49" charset="0"/>
                        </a:rPr>
                        <a:t>関数呼び出し</a:t>
                      </a:r>
                    </a:p>
                  </a:txBody>
                  <a:tcPr marL="72000" marR="72000" marT="0" marB="0" anchor="ctr"/>
                </a:tc>
                <a:tc>
                  <a:txBody>
                    <a:bodyPr/>
                    <a:lstStyle/>
                    <a:p>
                      <a:pPr algn="r">
                        <a:lnSpc>
                          <a:spcPct val="150000"/>
                        </a:lnSpc>
                      </a:pPr>
                      <a:endParaRPr kumimoji="1" lang="ja-JP" altLang="en-US" sz="1400" dirty="0">
                        <a:latin typeface="Consolas" panose="020B0609020204030204" pitchFamily="49" charset="0"/>
                      </a:endParaRPr>
                    </a:p>
                  </a:txBody>
                  <a:tcPr marL="0" marR="0" marT="0" marB="0" anchor="ctr"/>
                </a:tc>
                <a:tc>
                  <a:txBody>
                    <a:bodyPr/>
                    <a:lstStyle/>
                    <a:p>
                      <a:pPr algn="r">
                        <a:lnSpc>
                          <a:spcPct val="150000"/>
                        </a:lnSpc>
                      </a:pPr>
                      <a:r>
                        <a:rPr kumimoji="1" lang="en-US" altLang="ja-JP" sz="1400" dirty="0">
                          <a:solidFill>
                            <a:schemeClr val="bg1"/>
                          </a:solidFill>
                          <a:latin typeface="Consolas" panose="020B0609020204030204" pitchFamily="49" charset="0"/>
                        </a:rPr>
                        <a:t>5</a:t>
                      </a:r>
                      <a:endParaRPr kumimoji="1" lang="ja-JP" altLang="en-US" sz="1400" dirty="0">
                        <a:solidFill>
                          <a:schemeClr val="bg1"/>
                        </a:solidFill>
                        <a:latin typeface="Consolas" panose="020B0609020204030204" pitchFamily="49" charset="0"/>
                      </a:endParaRPr>
                    </a:p>
                  </a:txBody>
                  <a:tcPr marL="72000" marR="72000" marT="0" marB="0" anchor="ctr">
                    <a:solidFill>
                      <a:schemeClr val="accent1"/>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 b</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5">
                        <a:lumMod val="20000"/>
                        <a:lumOff val="80000"/>
                      </a:schemeClr>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 b</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lnR w="12700" cmpd="sng">
                      <a:noFill/>
                    </a:lnR>
                    <a:solidFill>
                      <a:schemeClr val="accent5">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5">
                        <a:lumMod val="20000"/>
                        <a:lumOff val="80000"/>
                      </a:schemeClr>
                    </a:solidFill>
                  </a:tcPr>
                </a:tc>
                <a:tc>
                  <a:txBody>
                    <a:bodyPr/>
                    <a:lstStyle/>
                    <a:p>
                      <a:pPr>
                        <a:lnSpc>
                          <a:spcPct val="150000"/>
                        </a:lnSpc>
                      </a:pPr>
                      <a:r>
                        <a:rPr kumimoji="1" lang="ja-JP" altLang="en-US" sz="1400" dirty="0">
                          <a:latin typeface="Consolas" panose="020B0609020204030204" pitchFamily="49" charset="0"/>
                        </a:rPr>
                        <a:t>加減算</a:t>
                      </a:r>
                    </a:p>
                  </a:txBody>
                  <a:tcPr marL="72000" marR="72000" marT="0" marB="0" anchor="ctr">
                    <a:solidFill>
                      <a:schemeClr val="accent5">
                        <a:lumMod val="20000"/>
                        <a:lumOff val="80000"/>
                      </a:schemeClr>
                    </a:solidFill>
                  </a:tcPr>
                </a:tc>
                <a:extLst>
                  <a:ext uri="{0D108BD9-81ED-4DB2-BD59-A6C34878D82A}">
                    <a16:rowId xmlns:a16="http://schemas.microsoft.com/office/drawing/2014/main" val="10002"/>
                  </a:ext>
                </a:extLst>
              </a:tr>
              <a:tr h="360000">
                <a:tc vMerge="1">
                  <a:txBody>
                    <a:bodyPr/>
                    <a:lstStyle/>
                    <a:p>
                      <a:endParaRPr kumimoji="1" lang="ja-JP" altLang="en-US" sz="1400"/>
                    </a:p>
                  </a:txBody>
                  <a:tcPr anchor="ctr"/>
                </a:tc>
                <a:tc>
                  <a:txBody>
                    <a:bodyPr/>
                    <a:lstStyle/>
                    <a:p>
                      <a:pPr>
                        <a:lnSpc>
                          <a:spcPct val="150000"/>
                        </a:lnSpc>
                      </a:pPr>
                      <a:r>
                        <a:rPr lang="en-US" altLang="ja-JP" sz="1400" dirty="0" err="1">
                          <a:latin typeface="Consolas" panose="020B0609020204030204" pitchFamily="49" charset="0"/>
                          <a:ea typeface="ＭＳ ゴシック" pitchFamily="49" charset="-128"/>
                        </a:rPr>
                        <a:t>s.m</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3">
                        <a:lumMod val="20000"/>
                        <a:lumOff val="80000"/>
                      </a:schemeClr>
                    </a:solid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altLang="ja-JP" sz="1400" dirty="0">
                          <a:latin typeface="Consolas" panose="020B0609020204030204" pitchFamily="49" charset="0"/>
                          <a:ea typeface="ＭＳ ゴシック" pitchFamily="49" charset="-128"/>
                        </a:rPr>
                        <a:t>sp-&gt;m</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3">
                        <a:lumMod val="20000"/>
                        <a:lumOff val="80000"/>
                      </a:schemeClr>
                    </a:solidFill>
                  </a:tcPr>
                </a:tc>
                <a:tc>
                  <a:txBody>
                    <a:bodyPr/>
                    <a:lstStyle/>
                    <a:p>
                      <a:pPr>
                        <a:lnSpc>
                          <a:spcPct val="150000"/>
                        </a:lnSpc>
                      </a:pPr>
                      <a:r>
                        <a:rPr kumimoji="1" lang="ja-JP" altLang="en-US" sz="1400" dirty="0">
                          <a:latin typeface="Consolas" panose="020B0609020204030204" pitchFamily="49" charset="0"/>
                        </a:rPr>
                        <a:t>構造体アクセス</a:t>
                      </a:r>
                    </a:p>
                  </a:txBody>
                  <a:tcPr marL="72000" marR="72000" marT="0" marB="0" anchor="ctr">
                    <a:solidFill>
                      <a:schemeClr val="accent3">
                        <a:lumMod val="20000"/>
                        <a:lumOff val="80000"/>
                      </a:schemeClr>
                    </a:solidFill>
                  </a:tcPr>
                </a:tc>
                <a:tc>
                  <a:txBody>
                    <a:bodyPr/>
                    <a:lstStyle/>
                    <a:p>
                      <a:pPr algn="r">
                        <a:lnSpc>
                          <a:spcPct val="150000"/>
                        </a:lnSpc>
                      </a:pPr>
                      <a:endParaRPr kumimoji="1" lang="ja-JP" altLang="en-US" sz="1400" dirty="0">
                        <a:latin typeface="Consolas" panose="020B0609020204030204" pitchFamily="49" charset="0"/>
                      </a:endParaRPr>
                    </a:p>
                  </a:txBody>
                  <a:tcPr marL="0" marR="0" marT="0" marB="0" anchor="ctr"/>
                </a:tc>
                <a:tc>
                  <a:txBody>
                    <a:bodyPr/>
                    <a:lstStyle/>
                    <a:p>
                      <a:pPr algn="r">
                        <a:lnSpc>
                          <a:spcPct val="150000"/>
                        </a:lnSpc>
                      </a:pPr>
                      <a:r>
                        <a:rPr kumimoji="1" lang="en-US" altLang="ja-JP" sz="1400" dirty="0">
                          <a:solidFill>
                            <a:schemeClr val="bg1"/>
                          </a:solidFill>
                          <a:latin typeface="Consolas" panose="020B0609020204030204" pitchFamily="49" charset="0"/>
                        </a:rPr>
                        <a:t>6</a:t>
                      </a:r>
                      <a:endParaRPr kumimoji="1" lang="ja-JP" altLang="en-US" sz="1400" dirty="0">
                        <a:solidFill>
                          <a:schemeClr val="bg1"/>
                        </a:solidFill>
                        <a:latin typeface="Consolas" panose="020B0609020204030204" pitchFamily="49" charset="0"/>
                      </a:endParaRPr>
                    </a:p>
                  </a:txBody>
                  <a:tcPr marL="72000" marR="72000" marT="0" marB="0" anchor="ctr">
                    <a:solidFill>
                      <a:schemeClr val="accent1"/>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&lt;&lt; b</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5">
                        <a:lumMod val="20000"/>
                        <a:lumOff val="80000"/>
                      </a:schemeClr>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&gt;&gt; b</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lnR w="12700" cmpd="sng">
                      <a:noFill/>
                    </a:lnR>
                    <a:solidFill>
                      <a:schemeClr val="accent5">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5">
                        <a:lumMod val="20000"/>
                        <a:lumOff val="80000"/>
                      </a:schemeClr>
                    </a:solidFill>
                  </a:tcPr>
                </a:tc>
                <a:tc>
                  <a:txBody>
                    <a:bodyPr/>
                    <a:lstStyle/>
                    <a:p>
                      <a:pPr>
                        <a:lnSpc>
                          <a:spcPct val="150000"/>
                        </a:lnSpc>
                      </a:pPr>
                      <a:r>
                        <a:rPr kumimoji="1" lang="ja-JP" altLang="en-US" sz="1400" dirty="0">
                          <a:latin typeface="Consolas" panose="020B0609020204030204" pitchFamily="49" charset="0"/>
                        </a:rPr>
                        <a:t>シフト</a:t>
                      </a:r>
                    </a:p>
                  </a:txBody>
                  <a:tcPr marL="72000" marR="72000" marT="0" marB="0" anchor="ctr">
                    <a:solidFill>
                      <a:schemeClr val="accent5">
                        <a:lumMod val="20000"/>
                        <a:lumOff val="80000"/>
                      </a:schemeClr>
                    </a:solidFill>
                  </a:tcPr>
                </a:tc>
                <a:extLst>
                  <a:ext uri="{0D108BD9-81ED-4DB2-BD59-A6C34878D82A}">
                    <a16:rowId xmlns:a16="http://schemas.microsoft.com/office/drawing/2014/main" val="10003"/>
                  </a:ext>
                </a:extLst>
              </a:tr>
              <a:tr h="360000">
                <a:tc vMerge="1">
                  <a:txBody>
                    <a:bodyPr/>
                    <a:lstStyle/>
                    <a:p>
                      <a:endParaRPr kumimoji="1" lang="ja-JP" altLang="en-US" sz="1400"/>
                    </a:p>
                  </a:txBody>
                  <a:tcPr anchor="ctr"/>
                </a:tc>
                <a:tc>
                  <a:txBody>
                    <a:bodyPr/>
                    <a:lstStyle/>
                    <a:p>
                      <a:pPr>
                        <a:lnSpc>
                          <a:spcPct val="150000"/>
                        </a:lnSpc>
                      </a:pPr>
                      <a:r>
                        <a:rPr lang="en-US" altLang="ja-JP" sz="1400" dirty="0">
                          <a:latin typeface="Consolas" panose="020B0609020204030204" pitchFamily="49" charset="0"/>
                          <a:ea typeface="ＭＳ ゴシック" pitchFamily="49" charset="-128"/>
                        </a:rPr>
                        <a:t>a++</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5">
                        <a:lumMod val="20000"/>
                        <a:lumOff val="80000"/>
                      </a:schemeClr>
                    </a:solidFill>
                  </a:tcPr>
                </a:tc>
                <a:tc>
                  <a:txBody>
                    <a:bodyPr/>
                    <a:lstStyle/>
                    <a:p>
                      <a:pPr>
                        <a:lnSpc>
                          <a:spcPct val="150000"/>
                        </a:lnSpc>
                      </a:pPr>
                      <a:r>
                        <a:rPr lang="en-US" altLang="ja-JP" sz="1400" dirty="0">
                          <a:latin typeface="Consolas" panose="020B0609020204030204" pitchFamily="49" charset="0"/>
                          <a:ea typeface="ＭＳ ゴシック" pitchFamily="49" charset="-128"/>
                        </a:rPr>
                        <a:t>a--</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5">
                        <a:lumMod val="20000"/>
                        <a:lumOff val="80000"/>
                      </a:schemeClr>
                    </a:solidFill>
                  </a:tcPr>
                </a:tc>
                <a:tc rowSpan="2">
                  <a:txBody>
                    <a:bodyPr/>
                    <a:lstStyle/>
                    <a:p>
                      <a:pPr>
                        <a:lnSpc>
                          <a:spcPct val="150000"/>
                        </a:lnSpc>
                      </a:pPr>
                      <a:r>
                        <a:rPr kumimoji="1" lang="ja-JP" altLang="en-US" sz="1400" dirty="0">
                          <a:latin typeface="Consolas" panose="020B0609020204030204" pitchFamily="49" charset="0"/>
                        </a:rPr>
                        <a:t>インクリメント，</a:t>
                      </a:r>
                      <a:endParaRPr kumimoji="1" lang="en-US" altLang="ja-JP" sz="1400" dirty="0">
                        <a:latin typeface="Consolas" panose="020B0609020204030204" pitchFamily="49" charset="0"/>
                      </a:endParaRPr>
                    </a:p>
                    <a:p>
                      <a:pPr>
                        <a:lnSpc>
                          <a:spcPct val="150000"/>
                        </a:lnSpc>
                      </a:pPr>
                      <a:r>
                        <a:rPr kumimoji="1" lang="ja-JP" altLang="en-US" sz="1400" dirty="0">
                          <a:latin typeface="Consolas" panose="020B0609020204030204" pitchFamily="49" charset="0"/>
                        </a:rPr>
                        <a:t>デクリメント</a:t>
                      </a:r>
                    </a:p>
                  </a:txBody>
                  <a:tcPr marL="72000" marR="72000" marT="0" marB="0" anchor="ctr">
                    <a:solidFill>
                      <a:schemeClr val="accent5">
                        <a:lumMod val="20000"/>
                        <a:lumOff val="80000"/>
                      </a:schemeClr>
                    </a:solidFill>
                  </a:tcPr>
                </a:tc>
                <a:tc rowSpan="2">
                  <a:txBody>
                    <a:bodyPr/>
                    <a:lstStyle/>
                    <a:p>
                      <a:pPr algn="r">
                        <a:lnSpc>
                          <a:spcPct val="150000"/>
                        </a:lnSpc>
                      </a:pPr>
                      <a:endParaRPr kumimoji="1" lang="ja-JP" altLang="en-US" sz="1400" dirty="0">
                        <a:latin typeface="Consolas" panose="020B0609020204030204" pitchFamily="49" charset="0"/>
                      </a:endParaRPr>
                    </a:p>
                  </a:txBody>
                  <a:tcPr marL="0" marR="0" marT="0" marB="0" anchor="ctr"/>
                </a:tc>
                <a:tc rowSpan="2">
                  <a:txBody>
                    <a:bodyPr/>
                    <a:lstStyle/>
                    <a:p>
                      <a:pPr algn="r">
                        <a:lnSpc>
                          <a:spcPct val="150000"/>
                        </a:lnSpc>
                      </a:pPr>
                      <a:r>
                        <a:rPr kumimoji="1" lang="en-US" altLang="ja-JP" sz="1400" dirty="0">
                          <a:solidFill>
                            <a:schemeClr val="bg1"/>
                          </a:solidFill>
                          <a:latin typeface="Consolas" panose="020B0609020204030204" pitchFamily="49" charset="0"/>
                        </a:rPr>
                        <a:t>7</a:t>
                      </a:r>
                      <a:endParaRPr kumimoji="1" lang="ja-JP" altLang="en-US" sz="1400" dirty="0">
                        <a:solidFill>
                          <a:schemeClr val="bg1"/>
                        </a:solidFill>
                        <a:latin typeface="Consolas" panose="020B0609020204030204" pitchFamily="49" charset="0"/>
                      </a:endParaRPr>
                    </a:p>
                  </a:txBody>
                  <a:tcPr marL="72000" marR="72000" marT="0" marB="0" anchor="ctr">
                    <a:solidFill>
                      <a:schemeClr val="accent1"/>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&lt; b</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5">
                        <a:lumMod val="20000"/>
                        <a:lumOff val="80000"/>
                      </a:schemeClr>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&lt;= b</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lnR w="12700" cmpd="sng">
                      <a:noFill/>
                    </a:lnR>
                    <a:solidFill>
                      <a:schemeClr val="accent5">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5">
                        <a:lumMod val="20000"/>
                        <a:lumOff val="80000"/>
                      </a:schemeClr>
                    </a:solidFill>
                  </a:tcPr>
                </a:tc>
                <a:tc rowSpan="3">
                  <a:txBody>
                    <a:bodyPr/>
                    <a:lstStyle/>
                    <a:p>
                      <a:pPr>
                        <a:lnSpc>
                          <a:spcPct val="150000"/>
                        </a:lnSpc>
                      </a:pPr>
                      <a:r>
                        <a:rPr kumimoji="1" lang="ja-JP" altLang="en-US" sz="1400" dirty="0">
                          <a:latin typeface="Consolas" panose="020B0609020204030204" pitchFamily="49" charset="0"/>
                        </a:rPr>
                        <a:t>比較</a:t>
                      </a:r>
                    </a:p>
                  </a:txBody>
                  <a:tcPr marL="72000" marR="72000" marT="0" marB="0" anchor="ctr">
                    <a:solidFill>
                      <a:schemeClr val="accent5">
                        <a:lumMod val="20000"/>
                        <a:lumOff val="80000"/>
                      </a:schemeClr>
                    </a:solidFill>
                  </a:tcPr>
                </a:tc>
                <a:extLst>
                  <a:ext uri="{0D108BD9-81ED-4DB2-BD59-A6C34878D82A}">
                    <a16:rowId xmlns:a16="http://schemas.microsoft.com/office/drawing/2014/main" val="10004"/>
                  </a:ext>
                </a:extLst>
              </a:tr>
              <a:tr h="360000">
                <a:tc rowSpan="7">
                  <a:txBody>
                    <a:bodyPr/>
                    <a:lstStyle/>
                    <a:p>
                      <a:pPr algn="r">
                        <a:lnSpc>
                          <a:spcPct val="150000"/>
                        </a:lnSpc>
                      </a:pPr>
                      <a:r>
                        <a:rPr kumimoji="1" lang="en-US" altLang="ja-JP" sz="1400" dirty="0">
                          <a:solidFill>
                            <a:schemeClr val="bg1"/>
                          </a:solidFill>
                          <a:latin typeface="Consolas" panose="020B0609020204030204" pitchFamily="49" charset="0"/>
                        </a:rPr>
                        <a:t>2</a:t>
                      </a:r>
                      <a:endParaRPr kumimoji="1" lang="ja-JP" altLang="en-US" sz="1400" dirty="0">
                        <a:solidFill>
                          <a:schemeClr val="bg1"/>
                        </a:solidFill>
                        <a:latin typeface="Consolas" panose="020B0609020204030204" pitchFamily="49" charset="0"/>
                      </a:endParaRPr>
                    </a:p>
                  </a:txBody>
                  <a:tcPr marL="72000" marR="72000" marT="0" marB="0" anchor="ctr">
                    <a:solidFill>
                      <a:schemeClr val="accent1"/>
                    </a:solidFill>
                  </a:tcPr>
                </a:tc>
                <a:tc>
                  <a:txBody>
                    <a:bodyPr/>
                    <a:lstStyle/>
                    <a:p>
                      <a:pPr>
                        <a:lnSpc>
                          <a:spcPct val="150000"/>
                        </a:lnSpc>
                      </a:pPr>
                      <a:r>
                        <a:rPr lang="en-US" altLang="ja-JP" sz="1400" dirty="0">
                          <a:latin typeface="Consolas" panose="020B0609020204030204" pitchFamily="49" charset="0"/>
                          <a:ea typeface="ＭＳ ゴシック" pitchFamily="49" charset="-128"/>
                        </a:rPr>
                        <a:t>++a</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5">
                        <a:lumMod val="20000"/>
                        <a:lumOff val="80000"/>
                      </a:schemeClr>
                    </a:solidFill>
                  </a:tcPr>
                </a:tc>
                <a:tc>
                  <a:txBody>
                    <a:bodyPr/>
                    <a:lstStyle/>
                    <a:p>
                      <a:pPr>
                        <a:lnSpc>
                          <a:spcPct val="150000"/>
                        </a:lnSpc>
                      </a:pPr>
                      <a:r>
                        <a:rPr lang="en-US" altLang="ja-JP" sz="1400" dirty="0">
                          <a:latin typeface="Consolas" panose="020B0609020204030204" pitchFamily="49" charset="0"/>
                          <a:ea typeface="ＭＳ ゴシック" pitchFamily="49" charset="-128"/>
                        </a:rPr>
                        <a:t>--a</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5">
                        <a:lumMod val="20000"/>
                        <a:lumOff val="80000"/>
                      </a:schemeClr>
                    </a:solidFill>
                  </a:tcPr>
                </a:tc>
                <a:tc vMerge="1">
                  <a:txBody>
                    <a:bodyPr/>
                    <a:lstStyle/>
                    <a:p>
                      <a:endParaRPr kumimoji="1" lang="ja-JP" altLang="en-US" sz="1400" dirty="0"/>
                    </a:p>
                  </a:txBody>
                  <a:tcPr marL="72000" marR="72000" marT="0" marB="0" anchor="ctr">
                    <a:lnR w="28575" cap="flat" cmpd="sng" algn="ctr">
                      <a:solidFill>
                        <a:schemeClr val="tx2">
                          <a:lumMod val="60000"/>
                          <a:lumOff val="40000"/>
                        </a:schemeClr>
                      </a:solidFill>
                      <a:prstDash val="solid"/>
                      <a:round/>
                      <a:headEnd type="none" w="med" len="med"/>
                      <a:tailEnd type="none" w="med" len="med"/>
                    </a:lnR>
                  </a:tcPr>
                </a:tc>
                <a:tc vMerge="1">
                  <a:txBody>
                    <a:bodyPr/>
                    <a:lstStyle/>
                    <a:p>
                      <a:endParaRPr kumimoji="1" lang="ja-JP" altLang="en-US"/>
                    </a:p>
                  </a:txBody>
                  <a:tcPr/>
                </a:tc>
                <a:tc vMerge="1">
                  <a:txBody>
                    <a:bodyPr/>
                    <a:lstStyle/>
                    <a:p>
                      <a:endParaRPr kumimoji="1" lang="ja-JP" altLang="en-US" sz="1400" dirty="0"/>
                    </a:p>
                  </a:txBody>
                  <a:tcPr anchor="ctr">
                    <a:lnL w="28575" cap="flat" cmpd="sng" algn="ctr">
                      <a:solidFill>
                        <a:schemeClr val="bg1"/>
                      </a:solidFill>
                      <a:prstDash val="solid"/>
                      <a:round/>
                      <a:headEnd type="none" w="med" len="med"/>
                      <a:tailEnd type="none" w="med" len="med"/>
                    </a:lnL>
                  </a:tcPr>
                </a:tc>
                <a:tc>
                  <a:txBody>
                    <a:bodyPr/>
                    <a:lstStyle/>
                    <a:p>
                      <a:pPr>
                        <a:lnSpc>
                          <a:spcPct val="150000"/>
                        </a:lnSpc>
                      </a:pPr>
                      <a:r>
                        <a:rPr lang="en-US" altLang="ja-JP" sz="1400" dirty="0">
                          <a:latin typeface="Consolas" panose="020B0609020204030204" pitchFamily="49" charset="0"/>
                          <a:ea typeface="ＭＳ ゴシック" pitchFamily="49" charset="-128"/>
                        </a:rPr>
                        <a:t>a &gt; b</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5">
                        <a:lumMod val="20000"/>
                        <a:lumOff val="80000"/>
                      </a:schemeClr>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&gt;= b</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lnR w="12700" cmpd="sng">
                      <a:noFill/>
                    </a:lnR>
                    <a:solidFill>
                      <a:schemeClr val="accent5">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5">
                        <a:lumMod val="20000"/>
                        <a:lumOff val="80000"/>
                      </a:schemeClr>
                    </a:solidFill>
                  </a:tcPr>
                </a:tc>
                <a:tc vMerge="1">
                  <a:txBody>
                    <a:bodyPr/>
                    <a:lstStyle/>
                    <a:p>
                      <a:endParaRPr kumimoji="1" lang="ja-JP" altLang="en-US" sz="1400"/>
                    </a:p>
                  </a:txBody>
                  <a:tcPr marL="72000" marR="72000" marT="0" marB="0" anchor="ctr"/>
                </a:tc>
                <a:extLst>
                  <a:ext uri="{0D108BD9-81ED-4DB2-BD59-A6C34878D82A}">
                    <a16:rowId xmlns:a16="http://schemas.microsoft.com/office/drawing/2014/main" val="10005"/>
                  </a:ext>
                </a:extLst>
              </a:tr>
              <a:tr h="360000">
                <a:tc vMerge="1">
                  <a:txBody>
                    <a:bodyPr/>
                    <a:lstStyle/>
                    <a:p>
                      <a:endParaRPr kumimoji="1" lang="ja-JP" altLang="en-US" sz="1400" dirty="0"/>
                    </a:p>
                  </a:txBody>
                  <a:tcPr anchor="ctr"/>
                </a:tc>
                <a:tc>
                  <a:txBody>
                    <a:bodyPr/>
                    <a:lstStyle/>
                    <a:p>
                      <a:pPr>
                        <a:lnSpc>
                          <a:spcPct val="150000"/>
                        </a:lnSpc>
                      </a:pPr>
                      <a:r>
                        <a:rPr lang="en-US" altLang="ja-JP" sz="1400" dirty="0">
                          <a:latin typeface="Consolas" panose="020B0609020204030204" pitchFamily="49" charset="0"/>
                          <a:ea typeface="ＭＳ ゴシック" pitchFamily="49" charset="-128"/>
                        </a:rPr>
                        <a:t>&amp;a</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3">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3">
                        <a:lumMod val="20000"/>
                        <a:lumOff val="80000"/>
                      </a:schemeClr>
                    </a:solidFill>
                  </a:tcPr>
                </a:tc>
                <a:tc>
                  <a:txBody>
                    <a:bodyPr/>
                    <a:lstStyle/>
                    <a:p>
                      <a:pPr>
                        <a:lnSpc>
                          <a:spcPct val="150000"/>
                        </a:lnSpc>
                      </a:pPr>
                      <a:r>
                        <a:rPr kumimoji="1" lang="ja-JP" altLang="en-US" sz="1400" dirty="0">
                          <a:latin typeface="Consolas" panose="020B0609020204030204" pitchFamily="49" charset="0"/>
                        </a:rPr>
                        <a:t>アドレス</a:t>
                      </a:r>
                    </a:p>
                  </a:txBody>
                  <a:tcPr marL="72000" marR="72000" marT="0" marB="0" anchor="ctr">
                    <a:solidFill>
                      <a:schemeClr val="accent3">
                        <a:lumMod val="20000"/>
                        <a:lumOff val="80000"/>
                      </a:schemeClr>
                    </a:solidFill>
                  </a:tcPr>
                </a:tc>
                <a:tc>
                  <a:txBody>
                    <a:bodyPr/>
                    <a:lstStyle/>
                    <a:p>
                      <a:pPr algn="r">
                        <a:lnSpc>
                          <a:spcPct val="150000"/>
                        </a:lnSpc>
                      </a:pPr>
                      <a:endParaRPr kumimoji="1" lang="ja-JP" altLang="en-US" sz="1400" dirty="0">
                        <a:latin typeface="Consolas" panose="020B0609020204030204" pitchFamily="49" charset="0"/>
                      </a:endParaRPr>
                    </a:p>
                  </a:txBody>
                  <a:tcPr marL="0" marR="0" marT="0" marB="0" anchor="ctr"/>
                </a:tc>
                <a:tc>
                  <a:txBody>
                    <a:bodyPr/>
                    <a:lstStyle/>
                    <a:p>
                      <a:pPr algn="r">
                        <a:lnSpc>
                          <a:spcPct val="150000"/>
                        </a:lnSpc>
                      </a:pPr>
                      <a:r>
                        <a:rPr kumimoji="1" lang="en-US" altLang="ja-JP" sz="1400" dirty="0">
                          <a:solidFill>
                            <a:schemeClr val="bg1"/>
                          </a:solidFill>
                          <a:latin typeface="Consolas" panose="020B0609020204030204" pitchFamily="49" charset="0"/>
                        </a:rPr>
                        <a:t>8</a:t>
                      </a:r>
                      <a:endParaRPr kumimoji="1" lang="ja-JP" altLang="en-US" sz="1400" dirty="0">
                        <a:solidFill>
                          <a:schemeClr val="bg1"/>
                        </a:solidFill>
                        <a:latin typeface="Consolas" panose="020B0609020204030204" pitchFamily="49" charset="0"/>
                      </a:endParaRPr>
                    </a:p>
                  </a:txBody>
                  <a:tcPr marL="72000" marR="72000" marT="0" marB="0" anchor="ctr">
                    <a:solidFill>
                      <a:schemeClr val="accent1"/>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 b</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5">
                        <a:lumMod val="20000"/>
                        <a:lumOff val="80000"/>
                      </a:schemeClr>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 b</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lnR w="12700" cmpd="sng">
                      <a:noFill/>
                    </a:lnR>
                    <a:solidFill>
                      <a:schemeClr val="accent5">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5">
                        <a:lumMod val="20000"/>
                        <a:lumOff val="80000"/>
                      </a:schemeClr>
                    </a:solidFill>
                  </a:tcPr>
                </a:tc>
                <a:tc vMerge="1">
                  <a:txBody>
                    <a:bodyPr/>
                    <a:lstStyle/>
                    <a:p>
                      <a:endParaRPr kumimoji="1" lang="ja-JP" altLang="en-US" sz="1400"/>
                    </a:p>
                  </a:txBody>
                  <a:tcPr marL="72000" marR="72000" marT="0" marB="0" anchor="ctr"/>
                </a:tc>
                <a:extLst>
                  <a:ext uri="{0D108BD9-81ED-4DB2-BD59-A6C34878D82A}">
                    <a16:rowId xmlns:a16="http://schemas.microsoft.com/office/drawing/2014/main" val="10006"/>
                  </a:ext>
                </a:extLst>
              </a:tr>
              <a:tr h="360000">
                <a:tc vMerge="1">
                  <a:txBody>
                    <a:bodyPr/>
                    <a:lstStyle/>
                    <a:p>
                      <a:endParaRPr kumimoji="1" lang="ja-JP" altLang="en-US" sz="1400"/>
                    </a:p>
                  </a:txBody>
                  <a:tcPr anchor="ctr"/>
                </a:tc>
                <a:tc>
                  <a:txBody>
                    <a:bodyPr/>
                    <a:lstStyle/>
                    <a:p>
                      <a:pPr>
                        <a:lnSpc>
                          <a:spcPct val="150000"/>
                        </a:lnSpc>
                      </a:pPr>
                      <a:r>
                        <a:rPr lang="en-US" altLang="ja-JP" sz="1400" dirty="0">
                          <a:latin typeface="Consolas" panose="020B0609020204030204" pitchFamily="49" charset="0"/>
                          <a:ea typeface="ＭＳ ゴシック" pitchFamily="49" charset="-128"/>
                        </a:rPr>
                        <a:t>*p</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3">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3">
                        <a:lumMod val="20000"/>
                        <a:lumOff val="80000"/>
                      </a:schemeClr>
                    </a:solidFill>
                  </a:tcPr>
                </a:tc>
                <a:tc>
                  <a:txBody>
                    <a:bodyPr/>
                    <a:lstStyle/>
                    <a:p>
                      <a:pPr>
                        <a:lnSpc>
                          <a:spcPct val="150000"/>
                        </a:lnSpc>
                      </a:pPr>
                      <a:r>
                        <a:rPr kumimoji="1" lang="ja-JP" altLang="en-US" sz="1400" dirty="0">
                          <a:latin typeface="Consolas" panose="020B0609020204030204" pitchFamily="49" charset="0"/>
                        </a:rPr>
                        <a:t>デリファレンス</a:t>
                      </a:r>
                    </a:p>
                  </a:txBody>
                  <a:tcPr marL="72000" marR="72000" marT="0" marB="0" anchor="ctr">
                    <a:solidFill>
                      <a:schemeClr val="accent3">
                        <a:lumMod val="20000"/>
                        <a:lumOff val="80000"/>
                      </a:schemeClr>
                    </a:solidFill>
                  </a:tcPr>
                </a:tc>
                <a:tc>
                  <a:txBody>
                    <a:bodyPr/>
                    <a:lstStyle/>
                    <a:p>
                      <a:pPr algn="r">
                        <a:lnSpc>
                          <a:spcPct val="150000"/>
                        </a:lnSpc>
                      </a:pPr>
                      <a:endParaRPr kumimoji="1" lang="ja-JP" altLang="en-US" sz="1400" dirty="0">
                        <a:latin typeface="Consolas" panose="020B0609020204030204" pitchFamily="49" charset="0"/>
                      </a:endParaRPr>
                    </a:p>
                  </a:txBody>
                  <a:tcPr marL="0" marR="0" marT="0" marB="0" anchor="ctr"/>
                </a:tc>
                <a:tc>
                  <a:txBody>
                    <a:bodyPr/>
                    <a:lstStyle/>
                    <a:p>
                      <a:pPr algn="r">
                        <a:lnSpc>
                          <a:spcPct val="150000"/>
                        </a:lnSpc>
                      </a:pPr>
                      <a:r>
                        <a:rPr kumimoji="1" lang="en-US" altLang="ja-JP" sz="1400" dirty="0">
                          <a:solidFill>
                            <a:schemeClr val="bg1"/>
                          </a:solidFill>
                          <a:latin typeface="Consolas" panose="020B0609020204030204" pitchFamily="49" charset="0"/>
                        </a:rPr>
                        <a:t>9</a:t>
                      </a:r>
                      <a:endParaRPr kumimoji="1" lang="ja-JP" altLang="en-US" sz="1400" dirty="0">
                        <a:solidFill>
                          <a:schemeClr val="bg1"/>
                        </a:solidFill>
                        <a:latin typeface="Consolas" panose="020B0609020204030204" pitchFamily="49" charset="0"/>
                      </a:endParaRPr>
                    </a:p>
                  </a:txBody>
                  <a:tcPr marL="72000" marR="72000" marT="0" marB="0" anchor="ctr">
                    <a:solidFill>
                      <a:schemeClr val="accent1"/>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&amp; b</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5">
                        <a:lumMod val="20000"/>
                        <a:lumOff val="80000"/>
                      </a:schemeClr>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 b</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lnR w="12700" cmpd="sng">
                      <a:noFill/>
                    </a:lnR>
                    <a:solidFill>
                      <a:schemeClr val="accent5">
                        <a:lumMod val="20000"/>
                        <a:lumOff val="80000"/>
                      </a:schemeClr>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 b</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5">
                        <a:lumMod val="20000"/>
                        <a:lumOff val="80000"/>
                      </a:schemeClr>
                    </a:solidFill>
                  </a:tcPr>
                </a:tc>
                <a:tc>
                  <a:txBody>
                    <a:bodyPr/>
                    <a:lstStyle/>
                    <a:p>
                      <a:pPr>
                        <a:lnSpc>
                          <a:spcPct val="150000"/>
                        </a:lnSpc>
                      </a:pPr>
                      <a:r>
                        <a:rPr kumimoji="1" lang="ja-JP" altLang="en-US" sz="1400" dirty="0">
                          <a:latin typeface="Consolas" panose="020B0609020204030204" pitchFamily="49" charset="0"/>
                        </a:rPr>
                        <a:t>ビットごとの論理演算</a:t>
                      </a:r>
                    </a:p>
                  </a:txBody>
                  <a:tcPr marL="72000" marR="72000" marT="0" marB="0" anchor="ctr">
                    <a:solidFill>
                      <a:schemeClr val="accent5">
                        <a:lumMod val="20000"/>
                        <a:lumOff val="80000"/>
                      </a:schemeClr>
                    </a:solidFill>
                  </a:tcPr>
                </a:tc>
                <a:extLst>
                  <a:ext uri="{0D108BD9-81ED-4DB2-BD59-A6C34878D82A}">
                    <a16:rowId xmlns:a16="http://schemas.microsoft.com/office/drawing/2014/main" val="10007"/>
                  </a:ext>
                </a:extLst>
              </a:tr>
              <a:tr h="360000">
                <a:tc vMerge="1">
                  <a:txBody>
                    <a:bodyPr/>
                    <a:lstStyle/>
                    <a:p>
                      <a:endParaRPr kumimoji="1" lang="ja-JP" altLang="en-US" sz="1400"/>
                    </a:p>
                  </a:txBody>
                  <a:tcPr anchor="ctr"/>
                </a:tc>
                <a:tc>
                  <a:txBody>
                    <a:bodyPr/>
                    <a:lstStyle/>
                    <a:p>
                      <a:pPr>
                        <a:lnSpc>
                          <a:spcPct val="150000"/>
                        </a:lnSpc>
                      </a:pPr>
                      <a:r>
                        <a:rPr lang="en-US" altLang="ja-JP" sz="1400" dirty="0">
                          <a:latin typeface="Consolas" panose="020B0609020204030204" pitchFamily="49" charset="0"/>
                          <a:ea typeface="ＭＳ ゴシック" pitchFamily="49" charset="-128"/>
                        </a:rPr>
                        <a:t>+a</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5">
                        <a:lumMod val="20000"/>
                        <a:lumOff val="80000"/>
                      </a:schemeClr>
                    </a:solidFill>
                  </a:tcPr>
                </a:tc>
                <a:tc>
                  <a:txBody>
                    <a:bodyPr/>
                    <a:lstStyle/>
                    <a:p>
                      <a:pPr>
                        <a:lnSpc>
                          <a:spcPct val="150000"/>
                        </a:lnSpc>
                      </a:pPr>
                      <a:r>
                        <a:rPr lang="en-US" altLang="ja-JP" sz="1400" dirty="0">
                          <a:latin typeface="Consolas" panose="020B0609020204030204" pitchFamily="49" charset="0"/>
                          <a:ea typeface="ＭＳ ゴシック" pitchFamily="49" charset="-128"/>
                        </a:rPr>
                        <a:t>-a</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5">
                        <a:lumMod val="20000"/>
                        <a:lumOff val="80000"/>
                      </a:schemeClr>
                    </a:solidFill>
                  </a:tcPr>
                </a:tc>
                <a:tc>
                  <a:txBody>
                    <a:bodyPr/>
                    <a:lstStyle/>
                    <a:p>
                      <a:pPr>
                        <a:lnSpc>
                          <a:spcPct val="150000"/>
                        </a:lnSpc>
                      </a:pPr>
                      <a:r>
                        <a:rPr kumimoji="1" lang="ja-JP" altLang="en-US" sz="1400" dirty="0">
                          <a:latin typeface="Consolas" panose="020B0609020204030204" pitchFamily="49" charset="0"/>
                        </a:rPr>
                        <a:t>単項 </a:t>
                      </a:r>
                      <a:r>
                        <a:rPr kumimoji="1" lang="en-US" altLang="ja-JP" sz="1400" dirty="0">
                          <a:latin typeface="Consolas" panose="020B0609020204030204" pitchFamily="49" charset="0"/>
                        </a:rPr>
                        <a:t>+</a:t>
                      </a:r>
                      <a:r>
                        <a:rPr kumimoji="1" lang="ja-JP" altLang="en-US" sz="1400" dirty="0">
                          <a:latin typeface="Consolas" panose="020B0609020204030204" pitchFamily="49" charset="0"/>
                        </a:rPr>
                        <a:t> と −</a:t>
                      </a:r>
                    </a:p>
                  </a:txBody>
                  <a:tcPr marL="72000" marR="72000" marT="0" marB="0" anchor="ctr">
                    <a:solidFill>
                      <a:schemeClr val="accent5">
                        <a:lumMod val="20000"/>
                        <a:lumOff val="80000"/>
                      </a:schemeClr>
                    </a:solidFill>
                  </a:tcPr>
                </a:tc>
                <a:tc>
                  <a:txBody>
                    <a:bodyPr/>
                    <a:lstStyle/>
                    <a:p>
                      <a:pPr algn="r">
                        <a:lnSpc>
                          <a:spcPct val="150000"/>
                        </a:lnSpc>
                      </a:pPr>
                      <a:endParaRPr kumimoji="1" lang="ja-JP" altLang="en-US" sz="1400" dirty="0">
                        <a:latin typeface="Consolas" panose="020B0609020204030204" pitchFamily="49" charset="0"/>
                      </a:endParaRPr>
                    </a:p>
                  </a:txBody>
                  <a:tcPr marL="0" marR="0" marT="0" marB="0" anchor="ctr"/>
                </a:tc>
                <a:tc>
                  <a:txBody>
                    <a:bodyPr/>
                    <a:lstStyle/>
                    <a:p>
                      <a:pPr algn="r">
                        <a:lnSpc>
                          <a:spcPct val="150000"/>
                        </a:lnSpc>
                      </a:pPr>
                      <a:r>
                        <a:rPr kumimoji="1" lang="en-US" altLang="ja-JP" sz="1400" dirty="0">
                          <a:solidFill>
                            <a:schemeClr val="bg1"/>
                          </a:solidFill>
                          <a:latin typeface="Consolas" panose="020B0609020204030204" pitchFamily="49" charset="0"/>
                        </a:rPr>
                        <a:t>12</a:t>
                      </a:r>
                      <a:endParaRPr kumimoji="1" lang="ja-JP" altLang="en-US" sz="1400" dirty="0">
                        <a:solidFill>
                          <a:schemeClr val="bg1"/>
                        </a:solidFill>
                        <a:latin typeface="Consolas" panose="020B0609020204030204" pitchFamily="49" charset="0"/>
                      </a:endParaRPr>
                    </a:p>
                  </a:txBody>
                  <a:tcPr marL="72000" marR="72000" marT="0" marB="0" anchor="ctr">
                    <a:solidFill>
                      <a:schemeClr val="accent1"/>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&amp;&amp; b</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5">
                        <a:lumMod val="20000"/>
                        <a:lumOff val="80000"/>
                      </a:schemeClr>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 b</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lnR w="12700" cmpd="sng">
                      <a:noFill/>
                    </a:lnR>
                    <a:solidFill>
                      <a:schemeClr val="accent5">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5">
                        <a:lumMod val="20000"/>
                        <a:lumOff val="80000"/>
                      </a:schemeClr>
                    </a:solidFill>
                  </a:tcPr>
                </a:tc>
                <a:tc>
                  <a:txBody>
                    <a:bodyPr/>
                    <a:lstStyle/>
                    <a:p>
                      <a:pPr>
                        <a:lnSpc>
                          <a:spcPct val="150000"/>
                        </a:lnSpc>
                      </a:pPr>
                      <a:r>
                        <a:rPr kumimoji="1" lang="ja-JP" altLang="en-US" sz="1400" dirty="0">
                          <a:latin typeface="Consolas" panose="020B0609020204030204" pitchFamily="49" charset="0"/>
                        </a:rPr>
                        <a:t>論理演算</a:t>
                      </a:r>
                    </a:p>
                  </a:txBody>
                  <a:tcPr marL="72000" marR="72000" marT="0" marB="0" anchor="ctr">
                    <a:solidFill>
                      <a:schemeClr val="accent5">
                        <a:lumMod val="20000"/>
                        <a:lumOff val="80000"/>
                      </a:schemeClr>
                    </a:solidFill>
                  </a:tcPr>
                </a:tc>
                <a:extLst>
                  <a:ext uri="{0D108BD9-81ED-4DB2-BD59-A6C34878D82A}">
                    <a16:rowId xmlns:a16="http://schemas.microsoft.com/office/drawing/2014/main" val="10008"/>
                  </a:ext>
                </a:extLst>
              </a:tr>
              <a:tr h="360000">
                <a:tc vMerge="1">
                  <a:txBody>
                    <a:bodyPr/>
                    <a:lstStyle/>
                    <a:p>
                      <a:endParaRPr kumimoji="1" lang="ja-JP" altLang="en-US" sz="1400"/>
                    </a:p>
                  </a:txBody>
                  <a:tcPr anchor="ctr"/>
                </a:tc>
                <a:tc>
                  <a:txBody>
                    <a:bodyPr/>
                    <a:lstStyle/>
                    <a:p>
                      <a:pPr>
                        <a:lnSpc>
                          <a:spcPct val="150000"/>
                        </a:lnSpc>
                      </a:pPr>
                      <a:r>
                        <a:rPr lang="en-US" altLang="ja-JP" sz="1400" dirty="0">
                          <a:latin typeface="Consolas" panose="020B0609020204030204" pitchFamily="49" charset="0"/>
                          <a:ea typeface="ＭＳ ゴシック" pitchFamily="49" charset="-128"/>
                        </a:rPr>
                        <a:t>~a</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5">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5">
                        <a:lumMod val="20000"/>
                        <a:lumOff val="80000"/>
                      </a:schemeClr>
                    </a:solidFill>
                  </a:tcPr>
                </a:tc>
                <a:tc>
                  <a:txBody>
                    <a:bodyPr/>
                    <a:lstStyle/>
                    <a:p>
                      <a:pPr>
                        <a:lnSpc>
                          <a:spcPct val="150000"/>
                        </a:lnSpc>
                      </a:pPr>
                      <a:r>
                        <a:rPr kumimoji="1" lang="ja-JP" altLang="en-US" sz="1400" dirty="0">
                          <a:latin typeface="Consolas" panose="020B0609020204030204" pitchFamily="49" charset="0"/>
                        </a:rPr>
                        <a:t>ビット反転</a:t>
                      </a:r>
                    </a:p>
                  </a:txBody>
                  <a:tcPr marL="72000" marR="72000" marT="0" marB="0" anchor="ctr">
                    <a:solidFill>
                      <a:schemeClr val="accent5">
                        <a:lumMod val="20000"/>
                        <a:lumOff val="80000"/>
                      </a:schemeClr>
                    </a:solidFill>
                  </a:tcPr>
                </a:tc>
                <a:tc>
                  <a:txBody>
                    <a:bodyPr/>
                    <a:lstStyle/>
                    <a:p>
                      <a:pPr algn="r">
                        <a:lnSpc>
                          <a:spcPct val="150000"/>
                        </a:lnSpc>
                      </a:pPr>
                      <a:endParaRPr kumimoji="1" lang="ja-JP" altLang="en-US" sz="1400" dirty="0">
                        <a:latin typeface="Consolas" panose="020B0609020204030204" pitchFamily="49" charset="0"/>
                      </a:endParaRPr>
                    </a:p>
                  </a:txBody>
                  <a:tcPr marL="0" marR="0" marT="0" marB="0" anchor="ctr"/>
                </a:tc>
                <a:tc>
                  <a:txBody>
                    <a:bodyPr/>
                    <a:lstStyle/>
                    <a:p>
                      <a:pPr algn="r">
                        <a:lnSpc>
                          <a:spcPct val="150000"/>
                        </a:lnSpc>
                      </a:pPr>
                      <a:r>
                        <a:rPr kumimoji="1" lang="en-US" altLang="ja-JP" sz="1400" dirty="0">
                          <a:solidFill>
                            <a:schemeClr val="bg1"/>
                          </a:solidFill>
                          <a:latin typeface="Consolas" panose="020B0609020204030204" pitchFamily="49" charset="0"/>
                        </a:rPr>
                        <a:t>14</a:t>
                      </a:r>
                      <a:endParaRPr kumimoji="1" lang="ja-JP" altLang="en-US" sz="1400" dirty="0">
                        <a:solidFill>
                          <a:schemeClr val="bg1"/>
                        </a:solidFill>
                        <a:latin typeface="Consolas" panose="020B0609020204030204" pitchFamily="49" charset="0"/>
                      </a:endParaRPr>
                    </a:p>
                  </a:txBody>
                  <a:tcPr marL="72000" marR="72000" marT="0" marB="0" anchor="ctr">
                    <a:solidFill>
                      <a:schemeClr val="accent1"/>
                    </a:solidFill>
                  </a:tcPr>
                </a:tc>
                <a:tc gridSpan="3">
                  <a:txBody>
                    <a:bodyPr/>
                    <a:lstStyle/>
                    <a:p>
                      <a:pPr>
                        <a:lnSpc>
                          <a:spcPct val="150000"/>
                        </a:lnSpc>
                      </a:pPr>
                      <a:r>
                        <a:rPr lang="en-US" altLang="ja-JP" sz="1400" dirty="0">
                          <a:latin typeface="Consolas" panose="020B0609020204030204" pitchFamily="49" charset="0"/>
                          <a:ea typeface="ＭＳ ゴシック" pitchFamily="49" charset="-128"/>
                        </a:rPr>
                        <a:t>c ? l : r</a:t>
                      </a:r>
                      <a:endParaRPr kumimoji="1" lang="ja-JP" altLang="en-US" sz="1400" dirty="0">
                        <a:latin typeface="Consolas" panose="020B0609020204030204" pitchFamily="49" charset="0"/>
                        <a:ea typeface="ＭＳ ゴシック" pitchFamily="49" charset="-128"/>
                      </a:endParaRPr>
                    </a:p>
                  </a:txBody>
                  <a:tcPr marL="72000" marR="72000" marT="0" marB="0" anchor="ctr">
                    <a:solidFill>
                      <a:schemeClr val="bg1">
                        <a:lumMod val="85000"/>
                      </a:schemeClr>
                    </a:solidFill>
                  </a:tcPr>
                </a:tc>
                <a:tc hMerge="1">
                  <a:txBody>
                    <a:bodyPr/>
                    <a:lstStyle/>
                    <a:p>
                      <a:endParaRPr kumimoji="1" lang="ja-JP" altLang="en-US"/>
                    </a:p>
                  </a:txBody>
                  <a:tcPr/>
                </a:tc>
                <a:tc hMerge="1">
                  <a:txBody>
                    <a:bodyPr/>
                    <a:lstStyle/>
                    <a:p>
                      <a:endParaRPr kumimoji="1" lang="ja-JP" altLang="en-US"/>
                    </a:p>
                  </a:txBody>
                  <a:tcPr/>
                </a:tc>
                <a:tc>
                  <a:txBody>
                    <a:bodyPr/>
                    <a:lstStyle/>
                    <a:p>
                      <a:pPr>
                        <a:lnSpc>
                          <a:spcPct val="150000"/>
                        </a:lnSpc>
                      </a:pPr>
                      <a:r>
                        <a:rPr kumimoji="1" lang="ja-JP" altLang="en-US" sz="1400" dirty="0">
                          <a:latin typeface="Consolas" panose="020B0609020204030204" pitchFamily="49" charset="0"/>
                        </a:rPr>
                        <a:t>条件</a:t>
                      </a:r>
                    </a:p>
                  </a:txBody>
                  <a:tcPr marL="72000" marR="72000" marT="0" marB="0" anchor="ctr">
                    <a:solidFill>
                      <a:schemeClr val="bg1">
                        <a:lumMod val="85000"/>
                      </a:schemeClr>
                    </a:solidFill>
                  </a:tcPr>
                </a:tc>
                <a:extLst>
                  <a:ext uri="{0D108BD9-81ED-4DB2-BD59-A6C34878D82A}">
                    <a16:rowId xmlns:a16="http://schemas.microsoft.com/office/drawing/2014/main" val="10009"/>
                  </a:ext>
                </a:extLst>
              </a:tr>
              <a:tr h="360000">
                <a:tc vMerge="1">
                  <a:txBody>
                    <a:bodyPr/>
                    <a:lstStyle/>
                    <a:p>
                      <a:endParaRPr kumimoji="1" lang="ja-JP" altLang="en-US" sz="1400"/>
                    </a:p>
                  </a:txBody>
                  <a:tcPr anchor="ctr"/>
                </a:tc>
                <a:tc>
                  <a:txBody>
                    <a:bodyPr/>
                    <a:lstStyle/>
                    <a:p>
                      <a:pPr>
                        <a:lnSpc>
                          <a:spcPct val="150000"/>
                        </a:lnSpc>
                      </a:pPr>
                      <a:r>
                        <a:rPr lang="en-US" altLang="ja-JP" sz="1400" dirty="0">
                          <a:latin typeface="Consolas" panose="020B0609020204030204" pitchFamily="49" charset="0"/>
                          <a:ea typeface="ＭＳ ゴシック" pitchFamily="49" charset="-128"/>
                        </a:rPr>
                        <a:t>!a</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5">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5">
                        <a:lumMod val="20000"/>
                        <a:lumOff val="80000"/>
                      </a:schemeClr>
                    </a:solidFill>
                  </a:tcPr>
                </a:tc>
                <a:tc>
                  <a:txBody>
                    <a:bodyPr/>
                    <a:lstStyle/>
                    <a:p>
                      <a:pPr>
                        <a:lnSpc>
                          <a:spcPct val="150000"/>
                        </a:lnSpc>
                      </a:pPr>
                      <a:r>
                        <a:rPr kumimoji="1" lang="ja-JP" altLang="en-US" sz="1400" dirty="0">
                          <a:latin typeface="Consolas" panose="020B0609020204030204" pitchFamily="49" charset="0"/>
                        </a:rPr>
                        <a:t>論理否定</a:t>
                      </a:r>
                    </a:p>
                  </a:txBody>
                  <a:tcPr marL="72000" marR="72000" marT="0" marB="0" anchor="ctr">
                    <a:solidFill>
                      <a:schemeClr val="accent5">
                        <a:lumMod val="20000"/>
                        <a:lumOff val="80000"/>
                      </a:schemeClr>
                    </a:solidFill>
                  </a:tcPr>
                </a:tc>
                <a:tc rowSpan="2">
                  <a:txBody>
                    <a:bodyPr/>
                    <a:lstStyle/>
                    <a:p>
                      <a:pPr algn="r">
                        <a:lnSpc>
                          <a:spcPct val="150000"/>
                        </a:lnSpc>
                      </a:pPr>
                      <a:endParaRPr kumimoji="1" lang="ja-JP" altLang="en-US" sz="1400" dirty="0">
                        <a:latin typeface="Consolas" panose="020B0609020204030204" pitchFamily="49" charset="0"/>
                      </a:endParaRPr>
                    </a:p>
                  </a:txBody>
                  <a:tcPr marL="0" marR="0" marT="0" marB="0" anchor="ctr"/>
                </a:tc>
                <a:tc rowSpan="2">
                  <a:txBody>
                    <a:bodyPr/>
                    <a:lstStyle/>
                    <a:p>
                      <a:pPr algn="r">
                        <a:lnSpc>
                          <a:spcPct val="150000"/>
                        </a:lnSpc>
                      </a:pPr>
                      <a:r>
                        <a:rPr kumimoji="1" lang="en-US" altLang="ja-JP" sz="1400" dirty="0">
                          <a:solidFill>
                            <a:schemeClr val="bg1"/>
                          </a:solidFill>
                          <a:latin typeface="Consolas" panose="020B0609020204030204" pitchFamily="49" charset="0"/>
                        </a:rPr>
                        <a:t>15</a:t>
                      </a:r>
                      <a:endParaRPr kumimoji="1" lang="ja-JP" altLang="en-US" sz="1400" dirty="0">
                        <a:solidFill>
                          <a:schemeClr val="bg1"/>
                        </a:solidFill>
                        <a:latin typeface="Consolas" panose="020B0609020204030204" pitchFamily="49" charset="0"/>
                      </a:endParaRPr>
                    </a:p>
                  </a:txBody>
                  <a:tcPr marL="72000" marR="72000" marT="0" marB="0" anchor="ctr">
                    <a:solidFill>
                      <a:schemeClr val="accent1"/>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 b</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3">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lnR w="12700" cmpd="sng">
                      <a:noFill/>
                    </a:lnR>
                    <a:solidFill>
                      <a:schemeClr val="accent3">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3">
                        <a:lumMod val="20000"/>
                        <a:lumOff val="80000"/>
                      </a:schemeClr>
                    </a:solidFill>
                  </a:tcPr>
                </a:tc>
                <a:tc>
                  <a:txBody>
                    <a:bodyPr/>
                    <a:lstStyle/>
                    <a:p>
                      <a:pPr>
                        <a:lnSpc>
                          <a:spcPct val="150000"/>
                        </a:lnSpc>
                      </a:pPr>
                      <a:r>
                        <a:rPr kumimoji="1" lang="ja-JP" altLang="en-US" sz="1400" dirty="0">
                          <a:latin typeface="Consolas" panose="020B0609020204030204" pitchFamily="49" charset="0"/>
                        </a:rPr>
                        <a:t>代入</a:t>
                      </a:r>
                    </a:p>
                  </a:txBody>
                  <a:tcPr marL="72000" marR="72000" marT="0" marB="0" anchor="ctr">
                    <a:solidFill>
                      <a:schemeClr val="accent3">
                        <a:lumMod val="20000"/>
                        <a:lumOff val="80000"/>
                      </a:schemeClr>
                    </a:solidFill>
                  </a:tcPr>
                </a:tc>
                <a:extLst>
                  <a:ext uri="{0D108BD9-81ED-4DB2-BD59-A6C34878D82A}">
                    <a16:rowId xmlns:a16="http://schemas.microsoft.com/office/drawing/2014/main" val="10010"/>
                  </a:ext>
                </a:extLst>
              </a:tr>
              <a:tr h="360000">
                <a:tc vMerge="1">
                  <a:txBody>
                    <a:bodyPr/>
                    <a:lstStyle/>
                    <a:p>
                      <a:endParaRPr kumimoji="1" lang="ja-JP" altLang="en-US" sz="1400"/>
                    </a:p>
                  </a:txBody>
                  <a:tcPr anchor="ctr"/>
                </a:tc>
                <a:tc gridSpan="2">
                  <a:txBody>
                    <a:bodyPr/>
                    <a:lstStyle/>
                    <a:p>
                      <a:pPr>
                        <a:lnSpc>
                          <a:spcPct val="150000"/>
                        </a:lnSpc>
                      </a:pPr>
                      <a:r>
                        <a:rPr lang="en-US" altLang="ja-JP" sz="1400" dirty="0">
                          <a:latin typeface="Consolas" panose="020B0609020204030204" pitchFamily="49" charset="0"/>
                          <a:ea typeface="ＭＳ ゴシック" pitchFamily="49" charset="-128"/>
                        </a:rPr>
                        <a:t>sizeof a</a:t>
                      </a:r>
                      <a:endParaRPr kumimoji="1" lang="ja-JP" altLang="en-US" sz="1400" dirty="0">
                        <a:latin typeface="Consolas" panose="020B0609020204030204" pitchFamily="49" charset="0"/>
                        <a:ea typeface="ＭＳ ゴシック" pitchFamily="49" charset="-128"/>
                      </a:endParaRPr>
                    </a:p>
                  </a:txBody>
                  <a:tcPr marL="72000" marR="72000" marT="0" marB="0" anchor="ctr">
                    <a:solidFill>
                      <a:schemeClr val="bg1">
                        <a:lumMod val="85000"/>
                      </a:schemeClr>
                    </a:solidFill>
                  </a:tcPr>
                </a:tc>
                <a:tc hMerge="1">
                  <a:txBody>
                    <a:bodyPr/>
                    <a:lstStyle/>
                    <a:p>
                      <a:endParaRPr kumimoji="1" lang="ja-JP" altLang="en-US" dirty="0">
                        <a:latin typeface="MeiryoKe_Console" pitchFamily="49" charset="-128"/>
                        <a:ea typeface="MeiryoKe_Console" pitchFamily="49" charset="-128"/>
                      </a:endParaRPr>
                    </a:p>
                  </a:txBody>
                  <a:tcPr>
                    <a:lnL w="12700" cmpd="sng">
                      <a:noFill/>
                    </a:lnL>
                  </a:tcPr>
                </a:tc>
                <a:tc>
                  <a:txBody>
                    <a:bodyPr/>
                    <a:lstStyle/>
                    <a:p>
                      <a:pPr>
                        <a:lnSpc>
                          <a:spcPct val="150000"/>
                        </a:lnSpc>
                      </a:pPr>
                      <a:r>
                        <a:rPr kumimoji="1" lang="ja-JP" altLang="en-US" sz="1400" dirty="0">
                          <a:latin typeface="Consolas" panose="020B0609020204030204" pitchFamily="49" charset="0"/>
                        </a:rPr>
                        <a:t>サイズ</a:t>
                      </a:r>
                    </a:p>
                  </a:txBody>
                  <a:tcPr marL="72000" marR="72000" marT="0" marB="0" anchor="ctr">
                    <a:solidFill>
                      <a:schemeClr val="bg1">
                        <a:lumMod val="85000"/>
                      </a:schemeClr>
                    </a:solidFill>
                  </a:tcPr>
                </a:tc>
                <a:tc vMerge="1">
                  <a:txBody>
                    <a:bodyPr/>
                    <a:lstStyle/>
                    <a:p>
                      <a:endParaRPr kumimoji="1" lang="ja-JP" altLang="en-US"/>
                    </a:p>
                  </a:txBody>
                  <a:tcPr/>
                </a:tc>
                <a:tc vMerge="1">
                  <a:txBody>
                    <a:bodyPr/>
                    <a:lstStyle/>
                    <a:p>
                      <a:pPr algn="r"/>
                      <a:endParaRPr kumimoji="1" lang="ja-JP" altLang="en-US" sz="1400" dirty="0"/>
                    </a:p>
                  </a:txBody>
                  <a:tcPr marL="72000" marR="72000" marT="0" marB="0" anchor="ctr">
                    <a:lnL w="28575" cap="flat" cmpd="sng" algn="ctr">
                      <a:solidFill>
                        <a:schemeClr val="bg1"/>
                      </a:solidFill>
                      <a:prstDash val="solid"/>
                      <a:round/>
                      <a:headEnd type="none" w="med" len="med"/>
                      <a:tailEnd type="none" w="med" len="med"/>
                    </a:lnL>
                  </a:tcPr>
                </a:tc>
                <a:tc>
                  <a:txBody>
                    <a:bodyPr/>
                    <a:lstStyle/>
                    <a:p>
                      <a:pPr>
                        <a:lnSpc>
                          <a:spcPct val="150000"/>
                        </a:lnSpc>
                      </a:pPr>
                      <a:r>
                        <a:rPr lang="en-US" altLang="ja-JP" sz="1400" dirty="0">
                          <a:latin typeface="Consolas" panose="020B0609020204030204" pitchFamily="49" charset="0"/>
                          <a:ea typeface="ＭＳ ゴシック" pitchFamily="49" charset="-128"/>
                        </a:rPr>
                        <a:t>a += b</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accent3">
                        <a:lumMod val="20000"/>
                        <a:lumOff val="80000"/>
                      </a:schemeClr>
                    </a:solid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altLang="ja-JP" sz="1400" dirty="0">
                          <a:latin typeface="Consolas" panose="020B0609020204030204" pitchFamily="49" charset="0"/>
                          <a:ea typeface="ＭＳ ゴシック" pitchFamily="49" charset="-128"/>
                        </a:rPr>
                        <a:t>a -= b</a:t>
                      </a: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lnR w="12700" cmpd="sng">
                      <a:noFill/>
                    </a:lnR>
                    <a:solidFill>
                      <a:schemeClr val="accent3">
                        <a:lumMod val="20000"/>
                        <a:lumOff val="80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accent3">
                        <a:lumMod val="20000"/>
                        <a:lumOff val="80000"/>
                      </a:schemeClr>
                    </a:solidFill>
                  </a:tcPr>
                </a:tc>
                <a:tc>
                  <a:txBody>
                    <a:bodyPr/>
                    <a:lstStyle/>
                    <a:p>
                      <a:pPr>
                        <a:lnSpc>
                          <a:spcPct val="150000"/>
                        </a:lnSpc>
                      </a:pPr>
                      <a:r>
                        <a:rPr kumimoji="1" lang="ja-JP" altLang="en-US" sz="1400" dirty="0">
                          <a:latin typeface="Consolas" panose="020B0609020204030204" pitchFamily="49" charset="0"/>
                        </a:rPr>
                        <a:t>演算 と 代入</a:t>
                      </a:r>
                    </a:p>
                  </a:txBody>
                  <a:tcPr marL="72000" marR="72000" marT="0" marB="0" anchor="ctr">
                    <a:solidFill>
                      <a:schemeClr val="accent3">
                        <a:lumMod val="20000"/>
                        <a:lumOff val="80000"/>
                      </a:schemeClr>
                    </a:solidFill>
                  </a:tcPr>
                </a:tc>
                <a:extLst>
                  <a:ext uri="{0D108BD9-81ED-4DB2-BD59-A6C34878D82A}">
                    <a16:rowId xmlns:a16="http://schemas.microsoft.com/office/drawing/2014/main" val="10011"/>
                  </a:ext>
                </a:extLst>
              </a:tr>
              <a:tr h="360000">
                <a:tc>
                  <a:txBody>
                    <a:bodyPr/>
                    <a:lstStyle/>
                    <a:p>
                      <a:pPr algn="r">
                        <a:lnSpc>
                          <a:spcPct val="150000"/>
                        </a:lnSpc>
                      </a:pPr>
                      <a:r>
                        <a:rPr kumimoji="1" lang="en-US" altLang="ja-JP" sz="1400" dirty="0">
                          <a:solidFill>
                            <a:schemeClr val="bg1"/>
                          </a:solidFill>
                          <a:latin typeface="Consolas" panose="020B0609020204030204" pitchFamily="49" charset="0"/>
                        </a:rPr>
                        <a:t>3</a:t>
                      </a:r>
                      <a:endParaRPr kumimoji="1" lang="ja-JP" altLang="en-US" sz="1400" dirty="0">
                        <a:solidFill>
                          <a:schemeClr val="bg1"/>
                        </a:solidFill>
                        <a:latin typeface="Consolas" panose="020B0609020204030204" pitchFamily="49" charset="0"/>
                      </a:endParaRPr>
                    </a:p>
                  </a:txBody>
                  <a:tcPr marL="72000" marR="72000" marT="0" marB="0" anchor="ctr">
                    <a:solidFill>
                      <a:schemeClr val="accent1"/>
                    </a:solidFill>
                  </a:tcPr>
                </a:tc>
                <a:tc gridSpan="2">
                  <a:txBody>
                    <a:bodyPr/>
                    <a:lstStyle/>
                    <a:p>
                      <a:pPr>
                        <a:lnSpc>
                          <a:spcPct val="150000"/>
                        </a:lnSpc>
                      </a:pPr>
                      <a:r>
                        <a:rPr lang="en-US" altLang="ja-JP" sz="1400" dirty="0">
                          <a:latin typeface="Consolas" panose="020B0609020204030204" pitchFamily="49" charset="0"/>
                          <a:ea typeface="ＭＳ ゴシック" pitchFamily="49" charset="-128"/>
                        </a:rPr>
                        <a:t>(t)a</a:t>
                      </a:r>
                      <a:endParaRPr lang="ja-JP" altLang="en-US" sz="1400" dirty="0">
                        <a:latin typeface="Consolas" panose="020B0609020204030204" pitchFamily="49" charset="0"/>
                        <a:ea typeface="ＭＳ ゴシック" pitchFamily="49" charset="-128"/>
                      </a:endParaRPr>
                    </a:p>
                  </a:txBody>
                  <a:tcPr marL="72000" marR="72000" marT="0" marB="0" anchor="ctr">
                    <a:solidFill>
                      <a:schemeClr val="bg1">
                        <a:lumMod val="85000"/>
                      </a:schemeClr>
                    </a:solidFill>
                  </a:tcPr>
                </a:tc>
                <a:tc hMerge="1">
                  <a:txBody>
                    <a:bodyPr/>
                    <a:lstStyle/>
                    <a:p>
                      <a:endParaRPr kumimoji="1" lang="ja-JP" altLang="en-US" dirty="0">
                        <a:latin typeface="MeiryoKe_Console" pitchFamily="49" charset="-128"/>
                        <a:ea typeface="MeiryoKe_Console" pitchFamily="49" charset="-128"/>
                      </a:endParaRPr>
                    </a:p>
                  </a:txBody>
                  <a:tcPr/>
                </a:tc>
                <a:tc>
                  <a:txBody>
                    <a:bodyPr/>
                    <a:lstStyle/>
                    <a:p>
                      <a:pPr>
                        <a:lnSpc>
                          <a:spcPct val="150000"/>
                        </a:lnSpc>
                      </a:pPr>
                      <a:r>
                        <a:rPr lang="ja-JP" altLang="en-US" sz="1400" dirty="0">
                          <a:latin typeface="Consolas" panose="020B0609020204030204" pitchFamily="49" charset="0"/>
                        </a:rPr>
                        <a:t>キャスト</a:t>
                      </a:r>
                    </a:p>
                  </a:txBody>
                  <a:tcPr marL="72000" marR="72000" marT="0" marB="0" anchor="ctr">
                    <a:solidFill>
                      <a:schemeClr val="bg1">
                        <a:lumMod val="85000"/>
                      </a:schemeClr>
                    </a:solidFill>
                  </a:tcPr>
                </a:tc>
                <a:tc>
                  <a:txBody>
                    <a:bodyPr/>
                    <a:lstStyle/>
                    <a:p>
                      <a:pPr algn="r">
                        <a:lnSpc>
                          <a:spcPct val="150000"/>
                        </a:lnSpc>
                      </a:pPr>
                      <a:endParaRPr kumimoji="1" lang="ja-JP" altLang="en-US" sz="1400" dirty="0">
                        <a:latin typeface="Consolas" panose="020B0609020204030204" pitchFamily="49" charset="0"/>
                      </a:endParaRPr>
                    </a:p>
                  </a:txBody>
                  <a:tcPr marL="0" marR="0" marT="0" marB="0" anchor="ctr"/>
                </a:tc>
                <a:tc>
                  <a:txBody>
                    <a:bodyPr/>
                    <a:lstStyle/>
                    <a:p>
                      <a:pPr algn="r">
                        <a:lnSpc>
                          <a:spcPct val="150000"/>
                        </a:lnSpc>
                      </a:pPr>
                      <a:r>
                        <a:rPr kumimoji="1" lang="en-US" altLang="ja-JP" sz="1400" dirty="0">
                          <a:solidFill>
                            <a:schemeClr val="bg1"/>
                          </a:solidFill>
                          <a:latin typeface="Consolas" panose="020B0609020204030204" pitchFamily="49" charset="0"/>
                        </a:rPr>
                        <a:t>16</a:t>
                      </a:r>
                      <a:endParaRPr kumimoji="1" lang="ja-JP" altLang="en-US" sz="1400" dirty="0">
                        <a:solidFill>
                          <a:schemeClr val="bg1"/>
                        </a:solidFill>
                        <a:latin typeface="Consolas" panose="020B0609020204030204" pitchFamily="49" charset="0"/>
                      </a:endParaRPr>
                    </a:p>
                  </a:txBody>
                  <a:tcPr marL="72000" marR="72000" marT="0" marB="0" anchor="ctr">
                    <a:solidFill>
                      <a:schemeClr val="accent1"/>
                    </a:solidFill>
                  </a:tcPr>
                </a:tc>
                <a:tc>
                  <a:txBody>
                    <a:bodyPr/>
                    <a:lstStyle/>
                    <a:p>
                      <a:pPr>
                        <a:lnSpc>
                          <a:spcPct val="150000"/>
                        </a:lnSpc>
                      </a:pPr>
                      <a:r>
                        <a:rPr lang="en-US" altLang="ja-JP" sz="1400" dirty="0">
                          <a:latin typeface="Consolas" panose="020B0609020204030204" pitchFamily="49" charset="0"/>
                          <a:ea typeface="ＭＳ ゴシック" pitchFamily="49" charset="-128"/>
                        </a:rPr>
                        <a:t>a, b</a:t>
                      </a:r>
                      <a:endParaRPr kumimoji="1" lang="ja-JP" altLang="en-US" sz="1400" dirty="0">
                        <a:latin typeface="Consolas" panose="020B0609020204030204" pitchFamily="49" charset="0"/>
                        <a:ea typeface="ＭＳ ゴシック" pitchFamily="49" charset="-128"/>
                      </a:endParaRPr>
                    </a:p>
                  </a:txBody>
                  <a:tcPr marL="72000" marR="72000" marT="0" marB="0" anchor="ctr">
                    <a:lnR w="12700" cmpd="sng">
                      <a:noFill/>
                    </a:lnR>
                    <a:solidFill>
                      <a:schemeClr val="bg1">
                        <a:lumMod val="85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lnR w="12700" cmpd="sng">
                      <a:noFill/>
                    </a:lnR>
                    <a:solidFill>
                      <a:schemeClr val="bg1">
                        <a:lumMod val="85000"/>
                      </a:schemeClr>
                    </a:solidFill>
                  </a:tcPr>
                </a:tc>
                <a:tc>
                  <a:txBody>
                    <a:bodyPr/>
                    <a:lstStyle/>
                    <a:p>
                      <a:pPr>
                        <a:lnSpc>
                          <a:spcPct val="150000"/>
                        </a:lnSpc>
                      </a:pPr>
                      <a:endParaRPr kumimoji="1" lang="ja-JP" altLang="en-US" sz="1400" dirty="0">
                        <a:latin typeface="Consolas" panose="020B0609020204030204" pitchFamily="49" charset="0"/>
                        <a:ea typeface="ＭＳ ゴシック" pitchFamily="49" charset="-128"/>
                      </a:endParaRPr>
                    </a:p>
                  </a:txBody>
                  <a:tcPr marL="72000" marR="72000" marT="0" marB="0" anchor="ctr">
                    <a:lnL w="12700" cmpd="sng">
                      <a:noFill/>
                    </a:lnL>
                    <a:solidFill>
                      <a:schemeClr val="bg1">
                        <a:lumMod val="85000"/>
                      </a:schemeClr>
                    </a:solidFill>
                  </a:tcPr>
                </a:tc>
                <a:tc>
                  <a:txBody>
                    <a:bodyPr/>
                    <a:lstStyle/>
                    <a:p>
                      <a:pPr>
                        <a:lnSpc>
                          <a:spcPct val="150000"/>
                        </a:lnSpc>
                      </a:pPr>
                      <a:r>
                        <a:rPr kumimoji="1" lang="ja-JP" altLang="en-US" sz="1400" dirty="0">
                          <a:latin typeface="Consolas" panose="020B0609020204030204" pitchFamily="49" charset="0"/>
                        </a:rPr>
                        <a:t>コンマ</a:t>
                      </a:r>
                    </a:p>
                  </a:txBody>
                  <a:tcPr marL="72000" marR="72000" marT="0" marB="0" anchor="ctr">
                    <a:solidFill>
                      <a:schemeClr val="bg1">
                        <a:lumMod val="85000"/>
                      </a:schemeClr>
                    </a:solidFill>
                  </a:tcPr>
                </a:tc>
                <a:extLst>
                  <a:ext uri="{0D108BD9-81ED-4DB2-BD59-A6C34878D82A}">
                    <a16:rowId xmlns:a16="http://schemas.microsoft.com/office/drawing/2014/main" val="10012"/>
                  </a:ext>
                </a:extLst>
              </a:tr>
            </a:tbl>
          </a:graphicData>
        </a:graphic>
      </p:graphicFrame>
      <p:sp>
        <p:nvSpPr>
          <p:cNvPr id="8" name="Text Box 33"/>
          <p:cNvSpPr txBox="1">
            <a:spLocks noChangeArrowheads="1"/>
          </p:cNvSpPr>
          <p:nvPr/>
        </p:nvSpPr>
        <p:spPr bwMode="auto">
          <a:xfrm>
            <a:off x="2495520" y="6309385"/>
            <a:ext cx="2160288" cy="340735"/>
          </a:xfrm>
          <a:prstGeom prst="rect">
            <a:avLst/>
          </a:prstGeom>
          <a:solidFill>
            <a:schemeClr val="accent1">
              <a:lumMod val="20000"/>
              <a:lumOff val="80000"/>
            </a:schemeClr>
          </a:solidFill>
          <a:ln w="38100">
            <a:noFill/>
            <a:miter lim="800000"/>
            <a:headEnd/>
            <a:tailEnd type="none" w="med" len="lg"/>
          </a:ln>
          <a:effectLst/>
        </p:spPr>
        <p:txBody>
          <a:bodyPr wrap="square" lIns="93600" tIns="46800" rIns="93600" bIns="46800">
            <a:noAutofit/>
          </a:bodyPr>
          <a:lstStyle/>
          <a:p>
            <a:r>
              <a:rPr lang="ja-JP" altLang="en-US" sz="1600" dirty="0">
                <a:latin typeface="+mn-ea"/>
              </a:rPr>
              <a:t>算術・論理演算</a:t>
            </a:r>
            <a:endParaRPr lang="en-US" altLang="ja-JP" sz="1600" dirty="0">
              <a:latin typeface="+mn-ea"/>
            </a:endParaRPr>
          </a:p>
        </p:txBody>
      </p:sp>
      <p:sp>
        <p:nvSpPr>
          <p:cNvPr id="9" name="Text Box 33"/>
          <p:cNvSpPr txBox="1">
            <a:spLocks noChangeArrowheads="1"/>
          </p:cNvSpPr>
          <p:nvPr/>
        </p:nvSpPr>
        <p:spPr bwMode="auto">
          <a:xfrm>
            <a:off x="5015988" y="6309033"/>
            <a:ext cx="2250025" cy="340735"/>
          </a:xfrm>
          <a:prstGeom prst="rect">
            <a:avLst/>
          </a:prstGeom>
          <a:solidFill>
            <a:schemeClr val="accent3">
              <a:lumMod val="20000"/>
              <a:lumOff val="80000"/>
            </a:schemeClr>
          </a:solidFill>
          <a:ln w="38100">
            <a:noFill/>
            <a:miter lim="800000"/>
            <a:headEnd/>
            <a:tailEnd type="none" w="med" len="lg"/>
          </a:ln>
          <a:effectLst/>
        </p:spPr>
        <p:txBody>
          <a:bodyPr wrap="square" lIns="93600" tIns="46800" rIns="93600" bIns="46800">
            <a:noAutofit/>
          </a:bodyPr>
          <a:lstStyle/>
          <a:p>
            <a:r>
              <a:rPr lang="ja-JP" altLang="en-US" sz="1600" dirty="0">
                <a:latin typeface="+mn-ea"/>
              </a:rPr>
              <a:t>アドレス（ポインタ）</a:t>
            </a:r>
            <a:endParaRPr lang="en-US" altLang="ja-JP" sz="1600" dirty="0">
              <a:latin typeface="+mn-ea"/>
            </a:endParaRPr>
          </a:p>
        </p:txBody>
      </p:sp>
      <p:sp>
        <p:nvSpPr>
          <p:cNvPr id="10" name="Text Box 33"/>
          <p:cNvSpPr txBox="1">
            <a:spLocks noChangeArrowheads="1"/>
          </p:cNvSpPr>
          <p:nvPr/>
        </p:nvSpPr>
        <p:spPr bwMode="auto">
          <a:xfrm>
            <a:off x="7536192" y="6309385"/>
            <a:ext cx="2160288" cy="340735"/>
          </a:xfrm>
          <a:prstGeom prst="rect">
            <a:avLst/>
          </a:prstGeom>
          <a:solidFill>
            <a:schemeClr val="bg1">
              <a:lumMod val="85000"/>
            </a:schemeClr>
          </a:solidFill>
          <a:ln w="38100">
            <a:noFill/>
            <a:miter lim="800000"/>
            <a:headEnd/>
            <a:tailEnd type="none" w="med" len="lg"/>
          </a:ln>
          <a:effectLst/>
        </p:spPr>
        <p:txBody>
          <a:bodyPr wrap="square" lIns="93600" tIns="46800" rIns="93600" bIns="46800">
            <a:noAutofit/>
          </a:bodyPr>
          <a:lstStyle/>
          <a:p>
            <a:r>
              <a:rPr lang="ja-JP" altLang="en-US" sz="1600" dirty="0">
                <a:latin typeface="+mn-ea"/>
              </a:rPr>
              <a:t>その他言語上の作用</a:t>
            </a:r>
            <a:endParaRPr lang="en-US" altLang="ja-JP" sz="1600" dirty="0">
              <a:latin typeface="+mn-ea"/>
            </a:endParaRPr>
          </a:p>
        </p:txBody>
      </p:sp>
    </p:spTree>
    <p:extLst>
      <p:ext uri="{BB962C8B-B14F-4D97-AF65-F5344CB8AC3E}">
        <p14:creationId xmlns:p14="http://schemas.microsoft.com/office/powerpoint/2010/main" val="16045670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p:cNvSpPr>
            <a:spLocks noGrp="1"/>
          </p:cNvSpPr>
          <p:nvPr>
            <p:ph type="title"/>
          </p:nvPr>
        </p:nvSpPr>
        <p:spPr>
          <a:xfrm>
            <a:off x="1415948" y="0"/>
            <a:ext cx="10776052" cy="908972"/>
          </a:xfrm>
        </p:spPr>
        <p:txBody>
          <a:bodyPr/>
          <a:lstStyle/>
          <a:p>
            <a:r>
              <a:rPr lang="ja-JP" altLang="en-US" dirty="0"/>
              <a:t>変数，アドレス，ポインタ</a:t>
            </a:r>
          </a:p>
        </p:txBody>
      </p:sp>
      <p:sp>
        <p:nvSpPr>
          <p:cNvPr id="18" name="スライド番号プレースホルダー 17"/>
          <p:cNvSpPr>
            <a:spLocks noGrp="1"/>
          </p:cNvSpPr>
          <p:nvPr>
            <p:ph type="sldNum" sz="quarter" idx="4"/>
          </p:nvPr>
        </p:nvSpPr>
        <p:spPr>
          <a:xfrm>
            <a:off x="11136056" y="6309032"/>
            <a:ext cx="815941" cy="548969"/>
          </a:xfrm>
        </p:spPr>
        <p:txBody>
          <a:bodyPr/>
          <a:lstStyle/>
          <a:p>
            <a:fld id="{AB25FED9-6C1E-4BAE-9892-C02CADA97A8C}" type="slidenum">
              <a:rPr lang="ja-JP" altLang="en-US" smtClean="0"/>
              <a:pPr/>
              <a:t>54</a:t>
            </a:fld>
            <a:endParaRPr lang="ja-JP" altLang="en-US"/>
          </a:p>
        </p:txBody>
      </p:sp>
      <p:sp>
        <p:nvSpPr>
          <p:cNvPr id="7" name="コンテンツ プレースホルダー 6"/>
          <p:cNvSpPr>
            <a:spLocks noGrp="1"/>
          </p:cNvSpPr>
          <p:nvPr>
            <p:ph sz="quarter" idx="4294967295"/>
          </p:nvPr>
        </p:nvSpPr>
        <p:spPr>
          <a:xfrm>
            <a:off x="785941" y="1088974"/>
            <a:ext cx="5130800" cy="5491162"/>
          </a:xfrm>
        </p:spPr>
        <p:txBody>
          <a:bodyPr>
            <a:normAutofit/>
          </a:bodyPr>
          <a:lstStyle/>
          <a:p>
            <a:r>
              <a:rPr kumimoji="1" lang="ja-JP" altLang="en-US" dirty="0">
                <a:latin typeface="Consolas" panose="020B0609020204030204" pitchFamily="49" charset="0"/>
                <a:ea typeface="+mn-ea"/>
              </a:rPr>
              <a:t>変数，配列，構造体アクセス</a:t>
            </a:r>
            <a:endParaRPr kumimoji="1" lang="en-US" altLang="ja-JP" dirty="0">
              <a:latin typeface="Consolas" panose="020B0609020204030204" pitchFamily="49" charset="0"/>
              <a:ea typeface="+mn-ea"/>
            </a:endParaRPr>
          </a:p>
          <a:p>
            <a:pPr lvl="1"/>
            <a:r>
              <a:rPr lang="ja-JP" altLang="en-US" dirty="0">
                <a:latin typeface="Consolas" panose="020B0609020204030204" pitchFamily="49" charset="0"/>
                <a:ea typeface="+mn-ea"/>
              </a:rPr>
              <a:t>変数の出現 </a:t>
            </a:r>
            <a:endParaRPr lang="en-US" altLang="ja-JP" dirty="0">
              <a:latin typeface="Consolas" panose="020B0609020204030204" pitchFamily="49" charset="0"/>
              <a:ea typeface="+mn-ea"/>
            </a:endParaRPr>
          </a:p>
          <a:p>
            <a:pPr lvl="2"/>
            <a:r>
              <a:rPr lang="en-US" altLang="ja-JP" dirty="0">
                <a:latin typeface="Consolas" panose="020B0609020204030204" pitchFamily="49" charset="0"/>
                <a:ea typeface="+mn-ea"/>
              </a:rPr>
              <a:t>x</a:t>
            </a:r>
            <a:r>
              <a:rPr lang="ja-JP" altLang="en-US" dirty="0">
                <a:latin typeface="Consolas" panose="020B0609020204030204" pitchFamily="49" charset="0"/>
                <a:ea typeface="+mn-ea"/>
              </a:rPr>
              <a:t> </a:t>
            </a:r>
            <a:r>
              <a:rPr lang="en-US" altLang="ja-JP" dirty="0">
                <a:latin typeface="Consolas" panose="020B0609020204030204" pitchFamily="49" charset="0"/>
                <a:ea typeface="+mn-ea"/>
              </a:rPr>
              <a:t>	</a:t>
            </a:r>
            <a:r>
              <a:rPr lang="ja-JP" altLang="en-US" dirty="0">
                <a:latin typeface="Consolas" panose="020B0609020204030204" pitchFamily="49" charset="0"/>
                <a:ea typeface="+mn-ea"/>
              </a:rPr>
              <a:t>⇒ *</a:t>
            </a:r>
            <a:r>
              <a:rPr lang="en-US" altLang="ja-JP" dirty="0">
                <a:latin typeface="Consolas" panose="020B0609020204030204" pitchFamily="49" charset="0"/>
                <a:ea typeface="+mn-ea"/>
              </a:rPr>
              <a:t>(&amp;x)</a:t>
            </a:r>
            <a:endParaRPr kumimoji="1" lang="en-US" altLang="ja-JP" dirty="0">
              <a:latin typeface="Consolas" panose="020B0609020204030204" pitchFamily="49" charset="0"/>
              <a:ea typeface="+mn-ea"/>
            </a:endParaRPr>
          </a:p>
          <a:p>
            <a:pPr lvl="1"/>
            <a:r>
              <a:rPr lang="ja-JP" altLang="en-US" dirty="0">
                <a:latin typeface="Consolas" panose="020B0609020204030204" pitchFamily="49" charset="0"/>
                <a:ea typeface="+mn-ea"/>
              </a:rPr>
              <a:t>配列 </a:t>
            </a:r>
            <a:endParaRPr lang="en-US" altLang="ja-JP" dirty="0">
              <a:latin typeface="Consolas" panose="020B0609020204030204" pitchFamily="49" charset="0"/>
              <a:ea typeface="+mn-ea"/>
            </a:endParaRPr>
          </a:p>
          <a:p>
            <a:pPr lvl="2"/>
            <a:r>
              <a:rPr lang="en-US" altLang="ja-JP" dirty="0">
                <a:latin typeface="Consolas" panose="020B0609020204030204" pitchFamily="49" charset="0"/>
                <a:ea typeface="+mn-ea"/>
              </a:rPr>
              <a:t>a[</a:t>
            </a:r>
            <a:r>
              <a:rPr lang="en-US" altLang="ja-JP" dirty="0" err="1">
                <a:latin typeface="Consolas" panose="020B0609020204030204" pitchFamily="49" charset="0"/>
                <a:ea typeface="+mn-ea"/>
              </a:rPr>
              <a:t>i</a:t>
            </a:r>
            <a:r>
              <a:rPr lang="en-US" altLang="ja-JP" dirty="0">
                <a:latin typeface="Consolas" panose="020B0609020204030204" pitchFamily="49" charset="0"/>
                <a:ea typeface="+mn-ea"/>
              </a:rPr>
              <a:t>]</a:t>
            </a:r>
            <a:r>
              <a:rPr lang="ja-JP" altLang="en-US" dirty="0">
                <a:latin typeface="Consolas" panose="020B0609020204030204" pitchFamily="49" charset="0"/>
                <a:ea typeface="+mn-ea"/>
              </a:rPr>
              <a:t> </a:t>
            </a:r>
            <a:r>
              <a:rPr lang="en-US" altLang="ja-JP" dirty="0">
                <a:latin typeface="Consolas" panose="020B0609020204030204" pitchFamily="49" charset="0"/>
                <a:ea typeface="+mn-ea"/>
              </a:rPr>
              <a:t>	</a:t>
            </a:r>
            <a:r>
              <a:rPr lang="ja-JP" altLang="en-US" dirty="0">
                <a:latin typeface="Consolas" panose="020B0609020204030204" pitchFamily="49" charset="0"/>
                <a:ea typeface="+mn-ea"/>
              </a:rPr>
              <a:t>⇒ *</a:t>
            </a:r>
            <a:r>
              <a:rPr lang="en-US" altLang="ja-JP" dirty="0">
                <a:latin typeface="Consolas" panose="020B0609020204030204" pitchFamily="49" charset="0"/>
                <a:ea typeface="+mn-ea"/>
              </a:rPr>
              <a:t>(a + </a:t>
            </a:r>
            <a:r>
              <a:rPr lang="en-US" altLang="ja-JP" dirty="0" err="1">
                <a:latin typeface="Consolas" panose="020B0609020204030204" pitchFamily="49" charset="0"/>
                <a:ea typeface="+mn-ea"/>
              </a:rPr>
              <a:t>i</a:t>
            </a:r>
            <a:r>
              <a:rPr lang="en-US" altLang="ja-JP" dirty="0">
                <a:latin typeface="Consolas" panose="020B0609020204030204" pitchFamily="49" charset="0"/>
                <a:ea typeface="+mn-ea"/>
              </a:rPr>
              <a:t>)</a:t>
            </a:r>
          </a:p>
          <a:p>
            <a:pPr lvl="1"/>
            <a:r>
              <a:rPr kumimoji="1" lang="ja-JP" altLang="en-US" dirty="0">
                <a:latin typeface="Consolas" panose="020B0609020204030204" pitchFamily="49" charset="0"/>
                <a:ea typeface="+mn-ea"/>
              </a:rPr>
              <a:t>構造体</a:t>
            </a:r>
            <a:endParaRPr kumimoji="1" lang="en-US" altLang="ja-JP" dirty="0">
              <a:latin typeface="Consolas" panose="020B0609020204030204" pitchFamily="49" charset="0"/>
              <a:ea typeface="+mn-ea"/>
            </a:endParaRPr>
          </a:p>
          <a:p>
            <a:pPr lvl="2"/>
            <a:r>
              <a:rPr lang="en-US" altLang="ja-JP" dirty="0" err="1">
                <a:latin typeface="Consolas" panose="020B0609020204030204" pitchFamily="49" charset="0"/>
                <a:ea typeface="+mn-ea"/>
              </a:rPr>
              <a:t>s.m</a:t>
            </a:r>
            <a:r>
              <a:rPr lang="ja-JP" altLang="en-US" dirty="0">
                <a:latin typeface="Consolas" panose="020B0609020204030204" pitchFamily="49" charset="0"/>
                <a:ea typeface="+mn-ea"/>
              </a:rPr>
              <a:t> </a:t>
            </a:r>
            <a:r>
              <a:rPr lang="en-US" altLang="ja-JP" dirty="0">
                <a:latin typeface="Consolas" panose="020B0609020204030204" pitchFamily="49" charset="0"/>
                <a:ea typeface="+mn-ea"/>
              </a:rPr>
              <a:t>	</a:t>
            </a:r>
            <a:r>
              <a:rPr lang="ja-JP" altLang="en-US" dirty="0">
                <a:latin typeface="Consolas" panose="020B0609020204030204" pitchFamily="49" charset="0"/>
                <a:ea typeface="+mn-ea"/>
              </a:rPr>
              <a:t>⇒ *</a:t>
            </a:r>
            <a:r>
              <a:rPr lang="en-US" altLang="ja-JP" dirty="0">
                <a:latin typeface="Consolas" panose="020B0609020204030204" pitchFamily="49" charset="0"/>
                <a:ea typeface="+mn-ea"/>
              </a:rPr>
              <a:t>(&amp;s + </a:t>
            </a:r>
            <a:r>
              <a:rPr lang="en-US" altLang="ja-JP" i="1" dirty="0">
                <a:latin typeface="Consolas" panose="020B0609020204030204" pitchFamily="49" charset="0"/>
                <a:ea typeface="+mn-ea"/>
              </a:rPr>
              <a:t>offset</a:t>
            </a:r>
            <a:r>
              <a:rPr lang="en-US" altLang="ja-JP" dirty="0">
                <a:latin typeface="Consolas" panose="020B0609020204030204" pitchFamily="49" charset="0"/>
                <a:ea typeface="+mn-ea"/>
              </a:rPr>
              <a:t>)</a:t>
            </a:r>
          </a:p>
          <a:p>
            <a:pPr lvl="2"/>
            <a:r>
              <a:rPr lang="en-US" altLang="ja-JP" dirty="0">
                <a:latin typeface="Consolas" panose="020B0609020204030204" pitchFamily="49" charset="0"/>
                <a:ea typeface="+mn-ea"/>
              </a:rPr>
              <a:t>sp-&gt;m</a:t>
            </a:r>
            <a:r>
              <a:rPr lang="ja-JP" altLang="en-US" dirty="0">
                <a:latin typeface="Consolas" panose="020B0609020204030204" pitchFamily="49" charset="0"/>
                <a:ea typeface="+mn-ea"/>
              </a:rPr>
              <a:t> </a:t>
            </a:r>
            <a:r>
              <a:rPr lang="en-US" altLang="ja-JP" dirty="0">
                <a:latin typeface="Consolas" panose="020B0609020204030204" pitchFamily="49" charset="0"/>
                <a:ea typeface="+mn-ea"/>
              </a:rPr>
              <a:t>	</a:t>
            </a:r>
            <a:r>
              <a:rPr lang="ja-JP" altLang="en-US" dirty="0">
                <a:latin typeface="Consolas" panose="020B0609020204030204" pitchFamily="49" charset="0"/>
                <a:ea typeface="+mn-ea"/>
              </a:rPr>
              <a:t>⇒ </a:t>
            </a:r>
            <a:r>
              <a:rPr kumimoji="1" lang="ja-JP" altLang="en-US" dirty="0">
                <a:latin typeface="Consolas" panose="020B0609020204030204" pitchFamily="49" charset="0"/>
                <a:ea typeface="+mn-ea"/>
              </a:rPr>
              <a:t>*</a:t>
            </a:r>
            <a:r>
              <a:rPr kumimoji="1" lang="en-US" altLang="ja-JP" dirty="0">
                <a:latin typeface="Consolas" panose="020B0609020204030204" pitchFamily="49" charset="0"/>
                <a:ea typeface="+mn-ea"/>
              </a:rPr>
              <a:t>(sp + </a:t>
            </a:r>
            <a:r>
              <a:rPr kumimoji="1" lang="en-US" altLang="ja-JP" i="1" dirty="0">
                <a:latin typeface="Consolas" panose="020B0609020204030204" pitchFamily="49" charset="0"/>
                <a:ea typeface="+mn-ea"/>
              </a:rPr>
              <a:t>offset</a:t>
            </a:r>
            <a:r>
              <a:rPr kumimoji="1" lang="en-US" altLang="ja-JP" dirty="0">
                <a:latin typeface="Consolas" panose="020B0609020204030204" pitchFamily="49" charset="0"/>
                <a:ea typeface="+mn-ea"/>
              </a:rPr>
              <a:t>)</a:t>
            </a:r>
          </a:p>
          <a:p>
            <a:r>
              <a:rPr lang="ja-JP" altLang="en-US" dirty="0">
                <a:latin typeface="Consolas" panose="020B0609020204030204" pitchFamily="49" charset="0"/>
                <a:ea typeface="+mn-ea"/>
              </a:rPr>
              <a:t>下記があればよい：</a:t>
            </a:r>
            <a:endParaRPr lang="en-US" altLang="ja-JP" dirty="0">
              <a:latin typeface="Consolas" panose="020B0609020204030204" pitchFamily="49" charset="0"/>
              <a:ea typeface="+mn-ea"/>
            </a:endParaRPr>
          </a:p>
          <a:p>
            <a:pPr lvl="1"/>
            <a:r>
              <a:rPr lang="ja-JP" altLang="en-US" dirty="0">
                <a:latin typeface="Consolas" panose="020B0609020204030204" pitchFamily="49" charset="0"/>
                <a:ea typeface="+mn-ea"/>
              </a:rPr>
              <a:t>アドレスに対する演算</a:t>
            </a:r>
            <a:endParaRPr lang="en-US" altLang="ja-JP" dirty="0">
              <a:latin typeface="Consolas" panose="020B0609020204030204" pitchFamily="49" charset="0"/>
              <a:ea typeface="+mn-ea"/>
            </a:endParaRPr>
          </a:p>
          <a:p>
            <a:pPr lvl="1"/>
            <a:r>
              <a:rPr lang="ja-JP" altLang="en-US" dirty="0">
                <a:latin typeface="Consolas" panose="020B0609020204030204" pitchFamily="49" charset="0"/>
                <a:ea typeface="+mn-ea"/>
              </a:rPr>
              <a:t>アドレスを指定したロードとストア</a:t>
            </a:r>
            <a:endParaRPr kumimoji="1" lang="ja-JP" altLang="en-US" dirty="0">
              <a:latin typeface="Consolas" panose="020B0609020204030204" pitchFamily="49" charset="0"/>
              <a:ea typeface="+mn-ea"/>
            </a:endParaRPr>
          </a:p>
        </p:txBody>
      </p:sp>
      <p:graphicFrame>
        <p:nvGraphicFramePr>
          <p:cNvPr id="2" name="表 1"/>
          <p:cNvGraphicFramePr>
            <a:graphicFrameLocks noGrp="1"/>
          </p:cNvGraphicFramePr>
          <p:nvPr>
            <p:extLst>
              <p:ext uri="{D42A27DB-BD31-4B8C-83A1-F6EECF244321}">
                <p14:modId xmlns:p14="http://schemas.microsoft.com/office/powerpoint/2010/main" val="2169155447"/>
              </p:ext>
            </p:extLst>
          </p:nvPr>
        </p:nvGraphicFramePr>
        <p:xfrm>
          <a:off x="6186001" y="1628980"/>
          <a:ext cx="1800240" cy="2184050"/>
        </p:xfrm>
        <a:graphic>
          <a:graphicData uri="http://schemas.openxmlformats.org/drawingml/2006/table">
            <a:tbl>
              <a:tblPr firstRow="1" bandRow="1">
                <a:tableStyleId>{5C22544A-7EE6-4342-B048-85BDC9FD1C3A}</a:tableStyleId>
              </a:tblPr>
              <a:tblGrid>
                <a:gridCol w="720096">
                  <a:extLst>
                    <a:ext uri="{9D8B030D-6E8A-4147-A177-3AD203B41FA5}">
                      <a16:colId xmlns:a16="http://schemas.microsoft.com/office/drawing/2014/main" val="20000"/>
                    </a:ext>
                  </a:extLst>
                </a:gridCol>
                <a:gridCol w="1080144">
                  <a:extLst>
                    <a:ext uri="{9D8B030D-6E8A-4147-A177-3AD203B41FA5}">
                      <a16:colId xmlns:a16="http://schemas.microsoft.com/office/drawing/2014/main" val="20001"/>
                    </a:ext>
                  </a:extLst>
                </a:gridCol>
              </a:tblGrid>
              <a:tr h="436810">
                <a:tc>
                  <a:txBody>
                    <a:bodyPr/>
                    <a:lstStyle/>
                    <a:p>
                      <a:pPr algn="ctr"/>
                      <a:r>
                        <a:rPr kumimoji="1" lang="ja-JP" altLang="en-US" sz="1600" dirty="0">
                          <a:latin typeface="Consolas" panose="020B0609020204030204" pitchFamily="49" charset="0"/>
                        </a:rPr>
                        <a:t>変数</a:t>
                      </a:r>
                    </a:p>
                  </a:txBody>
                  <a:tcPr anchor="ctr"/>
                </a:tc>
                <a:tc>
                  <a:txBody>
                    <a:bodyPr/>
                    <a:lstStyle/>
                    <a:p>
                      <a:pPr algn="ctr"/>
                      <a:r>
                        <a:rPr kumimoji="1" lang="ja-JP" altLang="en-US" sz="1600" dirty="0">
                          <a:latin typeface="Consolas" panose="020B0609020204030204" pitchFamily="49" charset="0"/>
                        </a:rPr>
                        <a:t>アドレス</a:t>
                      </a:r>
                    </a:p>
                  </a:txBody>
                  <a:tcPr anchor="ctr"/>
                </a:tc>
                <a:extLst>
                  <a:ext uri="{0D108BD9-81ED-4DB2-BD59-A6C34878D82A}">
                    <a16:rowId xmlns:a16="http://schemas.microsoft.com/office/drawing/2014/main" val="10000"/>
                  </a:ext>
                </a:extLst>
              </a:tr>
              <a:tr h="436810">
                <a:tc>
                  <a:txBody>
                    <a:bodyPr/>
                    <a:lstStyle/>
                    <a:p>
                      <a:pPr algn="ctr"/>
                      <a:r>
                        <a:rPr kumimoji="1" lang="en-US" altLang="ja-JP" sz="1600" dirty="0">
                          <a:latin typeface="Consolas" panose="020B0609020204030204" pitchFamily="49" charset="0"/>
                          <a:ea typeface="ＭＳ ゴシック" pitchFamily="49" charset="-128"/>
                        </a:rPr>
                        <a:t>x</a:t>
                      </a:r>
                      <a:endParaRPr kumimoji="1" lang="ja-JP" altLang="en-US" sz="1600" dirty="0">
                        <a:latin typeface="Consolas" panose="020B0609020204030204" pitchFamily="49" charset="0"/>
                        <a:ea typeface="ＭＳ ゴシック" pitchFamily="49" charset="-128"/>
                      </a:endParaRPr>
                    </a:p>
                  </a:txBody>
                  <a:tcPr anchor="ctr"/>
                </a:tc>
                <a:tc>
                  <a:txBody>
                    <a:bodyPr/>
                    <a:lstStyle/>
                    <a:p>
                      <a:pPr algn="r"/>
                      <a:r>
                        <a:rPr kumimoji="1" lang="en-US" altLang="ja-JP" sz="1600" dirty="0">
                          <a:latin typeface="Consolas" panose="020B0609020204030204" pitchFamily="49" charset="0"/>
                          <a:ea typeface="ＭＳ ゴシック" pitchFamily="49" charset="-128"/>
                        </a:rPr>
                        <a:t>0x0fc</a:t>
                      </a:r>
                      <a:endParaRPr kumimoji="1" lang="ja-JP" altLang="en-US" sz="1600" dirty="0">
                        <a:latin typeface="Consolas" panose="020B0609020204030204" pitchFamily="49" charset="0"/>
                        <a:ea typeface="ＭＳ ゴシック" pitchFamily="49" charset="-128"/>
                      </a:endParaRPr>
                    </a:p>
                  </a:txBody>
                  <a:tcPr anchor="ctr"/>
                </a:tc>
                <a:extLst>
                  <a:ext uri="{0D108BD9-81ED-4DB2-BD59-A6C34878D82A}">
                    <a16:rowId xmlns:a16="http://schemas.microsoft.com/office/drawing/2014/main" val="10001"/>
                  </a:ext>
                </a:extLst>
              </a:tr>
              <a:tr h="436810">
                <a:tc>
                  <a:txBody>
                    <a:bodyPr/>
                    <a:lstStyle/>
                    <a:p>
                      <a:pPr algn="ctr"/>
                      <a:r>
                        <a:rPr lang="en-US" altLang="ja-JP" sz="1600" dirty="0">
                          <a:latin typeface="Consolas" panose="020B0609020204030204" pitchFamily="49" charset="0"/>
                          <a:ea typeface="ＭＳ ゴシック" pitchFamily="49" charset="-128"/>
                        </a:rPr>
                        <a:t>a</a:t>
                      </a:r>
                      <a:endParaRPr lang="ja-JP" altLang="en-US" sz="1600" dirty="0">
                        <a:latin typeface="Consolas" panose="020B0609020204030204" pitchFamily="49" charset="0"/>
                        <a:ea typeface="ＭＳ ゴシック" pitchFamily="49" charset="-128"/>
                      </a:endParaRPr>
                    </a:p>
                  </a:txBody>
                  <a:tcPr anchor="ctr"/>
                </a:tc>
                <a:tc>
                  <a:txBody>
                    <a:bodyPr/>
                    <a:lstStyle/>
                    <a:p>
                      <a:pPr algn="r"/>
                      <a:r>
                        <a:rPr lang="en-US" altLang="ja-JP" sz="1600" dirty="0">
                          <a:latin typeface="Consolas" panose="020B0609020204030204" pitchFamily="49" charset="0"/>
                          <a:ea typeface="ＭＳ ゴシック" pitchFamily="49" charset="-128"/>
                        </a:rPr>
                        <a:t>0x100</a:t>
                      </a:r>
                      <a:endParaRPr lang="ja-JP" altLang="en-US" sz="1600" dirty="0">
                        <a:latin typeface="Consolas" panose="020B0609020204030204" pitchFamily="49" charset="0"/>
                        <a:ea typeface="ＭＳ ゴシック" pitchFamily="49" charset="-128"/>
                      </a:endParaRPr>
                    </a:p>
                  </a:txBody>
                  <a:tcPr anchor="ctr"/>
                </a:tc>
                <a:extLst>
                  <a:ext uri="{0D108BD9-81ED-4DB2-BD59-A6C34878D82A}">
                    <a16:rowId xmlns:a16="http://schemas.microsoft.com/office/drawing/2014/main" val="10002"/>
                  </a:ext>
                </a:extLst>
              </a:tr>
              <a:tr h="436810">
                <a:tc>
                  <a:txBody>
                    <a:bodyPr/>
                    <a:lstStyle/>
                    <a:p>
                      <a:pPr algn="ctr"/>
                      <a:r>
                        <a:rPr kumimoji="1" lang="en-US" altLang="ja-JP" sz="1600" dirty="0">
                          <a:latin typeface="Consolas" panose="020B0609020204030204" pitchFamily="49" charset="0"/>
                          <a:ea typeface="ＭＳ ゴシック" pitchFamily="49" charset="-128"/>
                        </a:rPr>
                        <a:t>s</a:t>
                      </a:r>
                      <a:endParaRPr kumimoji="1" lang="ja-JP" altLang="en-US" sz="1600" dirty="0">
                        <a:latin typeface="Consolas" panose="020B0609020204030204" pitchFamily="49" charset="0"/>
                        <a:ea typeface="ＭＳ ゴシック" pitchFamily="49" charset="-128"/>
                      </a:endParaRPr>
                    </a:p>
                  </a:txBody>
                  <a:tcPr anchor="ctr"/>
                </a:tc>
                <a:tc>
                  <a:txBody>
                    <a:bodyPr/>
                    <a:lstStyle/>
                    <a:p>
                      <a:pPr algn="r"/>
                      <a:r>
                        <a:rPr kumimoji="1" lang="en-US" altLang="ja-JP" sz="1600" dirty="0">
                          <a:latin typeface="Consolas" panose="020B0609020204030204" pitchFamily="49" charset="0"/>
                          <a:ea typeface="ＭＳ ゴシック" pitchFamily="49" charset="-128"/>
                        </a:rPr>
                        <a:t>0x110</a:t>
                      </a:r>
                      <a:endParaRPr kumimoji="1" lang="ja-JP" altLang="en-US" sz="1600" dirty="0">
                        <a:latin typeface="Consolas" panose="020B0609020204030204" pitchFamily="49" charset="0"/>
                        <a:ea typeface="ＭＳ ゴシック" pitchFamily="49" charset="-128"/>
                      </a:endParaRPr>
                    </a:p>
                  </a:txBody>
                  <a:tcPr anchor="ctr"/>
                </a:tc>
                <a:extLst>
                  <a:ext uri="{0D108BD9-81ED-4DB2-BD59-A6C34878D82A}">
                    <a16:rowId xmlns:a16="http://schemas.microsoft.com/office/drawing/2014/main" val="10003"/>
                  </a:ext>
                </a:extLst>
              </a:tr>
              <a:tr h="436810">
                <a:tc>
                  <a:txBody>
                    <a:bodyPr/>
                    <a:lstStyle/>
                    <a:p>
                      <a:pPr algn="ctr"/>
                      <a:r>
                        <a:rPr kumimoji="1" lang="en-US" altLang="ja-JP" sz="1600" dirty="0">
                          <a:latin typeface="Consolas" panose="020B0609020204030204" pitchFamily="49" charset="0"/>
                          <a:ea typeface="ＭＳ ゴシック" pitchFamily="49" charset="-128"/>
                        </a:rPr>
                        <a:t>m</a:t>
                      </a:r>
                      <a:endParaRPr kumimoji="1" lang="ja-JP" altLang="en-US" sz="1600" dirty="0">
                        <a:latin typeface="Consolas" panose="020B0609020204030204" pitchFamily="49" charset="0"/>
                        <a:ea typeface="ＭＳ ゴシック" pitchFamily="49" charset="-128"/>
                      </a:endParaRPr>
                    </a:p>
                  </a:txBody>
                  <a:tcPr anchor="ctr"/>
                </a:tc>
                <a:tc>
                  <a:txBody>
                    <a:bodyPr/>
                    <a:lstStyle/>
                    <a:p>
                      <a:pPr algn="r"/>
                      <a:r>
                        <a:rPr kumimoji="1" lang="en-US" altLang="ja-JP" sz="1600" dirty="0">
                          <a:latin typeface="Consolas" panose="020B0609020204030204" pitchFamily="49" charset="0"/>
                          <a:ea typeface="ＭＳ ゴシック" pitchFamily="49" charset="-128"/>
                        </a:rPr>
                        <a:t>0x4</a:t>
                      </a:r>
                      <a:endParaRPr kumimoji="1" lang="ja-JP" altLang="en-US" sz="1600" dirty="0">
                        <a:latin typeface="Consolas" panose="020B0609020204030204" pitchFamily="49" charset="0"/>
                        <a:ea typeface="ＭＳ ゴシック" pitchFamily="49" charset="-128"/>
                      </a:endParaRPr>
                    </a:p>
                  </a:txBody>
                  <a:tcPr anchor="ctr"/>
                </a:tc>
                <a:extLst>
                  <a:ext uri="{0D108BD9-81ED-4DB2-BD59-A6C34878D82A}">
                    <a16:rowId xmlns:a16="http://schemas.microsoft.com/office/drawing/2014/main" val="10004"/>
                  </a:ext>
                </a:extLst>
              </a:tr>
            </a:tbl>
          </a:graphicData>
        </a:graphic>
      </p:graphicFrame>
      <p:sp>
        <p:nvSpPr>
          <p:cNvPr id="25" name="Text Box 32"/>
          <p:cNvSpPr txBox="1">
            <a:spLocks noChangeArrowheads="1"/>
          </p:cNvSpPr>
          <p:nvPr/>
        </p:nvSpPr>
        <p:spPr bwMode="auto">
          <a:xfrm>
            <a:off x="6186001" y="1268932"/>
            <a:ext cx="1800240" cy="360049"/>
          </a:xfrm>
          <a:prstGeom prst="rect">
            <a:avLst/>
          </a:prstGeom>
          <a:noFill/>
          <a:ln w="38100">
            <a:noFill/>
            <a:miter lim="800000"/>
            <a:headEnd/>
            <a:tailEnd type="none" w="med" len="lg"/>
          </a:ln>
          <a:effectLst/>
        </p:spPr>
        <p:txBody>
          <a:bodyPr wrap="none" lIns="93600" tIns="46800" rIns="93600" bIns="46800">
            <a:noAutofit/>
          </a:bodyPr>
          <a:lstStyle/>
          <a:p>
            <a:r>
              <a:rPr lang="ja-JP" altLang="en-US" dirty="0">
                <a:solidFill>
                  <a:schemeClr val="tx1">
                    <a:lumMod val="85000"/>
                    <a:lumOff val="15000"/>
                  </a:schemeClr>
                </a:solidFill>
                <a:latin typeface="+mn-ea"/>
              </a:rPr>
              <a:t>変数表</a:t>
            </a:r>
            <a:endParaRPr lang="en-US" altLang="ja-JP" dirty="0">
              <a:solidFill>
                <a:schemeClr val="tx1">
                  <a:lumMod val="85000"/>
                  <a:lumOff val="15000"/>
                </a:schemeClr>
              </a:solidFill>
              <a:latin typeface="+mn-ea"/>
            </a:endParaRPr>
          </a:p>
        </p:txBody>
      </p:sp>
      <p:sp>
        <p:nvSpPr>
          <p:cNvPr id="51" name="正方形/長方形 50"/>
          <p:cNvSpPr/>
          <p:nvPr/>
        </p:nvSpPr>
        <p:spPr bwMode="auto">
          <a:xfrm>
            <a:off x="8976032" y="1628980"/>
            <a:ext cx="1440016" cy="4320049"/>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52" name="Rectangle 17"/>
          <p:cNvSpPr>
            <a:spLocks noChangeArrowheads="1"/>
          </p:cNvSpPr>
          <p:nvPr/>
        </p:nvSpPr>
        <p:spPr bwMode="auto">
          <a:xfrm>
            <a:off x="8255936" y="270903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0x104</a:t>
            </a:r>
            <a:endParaRPr lang="ja-JP" altLang="en-US" sz="1600" dirty="0">
              <a:solidFill>
                <a:schemeClr val="tx1">
                  <a:lumMod val="85000"/>
                  <a:lumOff val="15000"/>
                </a:schemeClr>
              </a:solidFill>
              <a:latin typeface="Consolas" panose="020B0609020204030204" pitchFamily="49" charset="0"/>
            </a:endParaRPr>
          </a:p>
        </p:txBody>
      </p:sp>
      <p:sp>
        <p:nvSpPr>
          <p:cNvPr id="53" name="Rectangle 17"/>
          <p:cNvSpPr>
            <a:spLocks noChangeArrowheads="1"/>
          </p:cNvSpPr>
          <p:nvPr/>
        </p:nvSpPr>
        <p:spPr bwMode="auto">
          <a:xfrm>
            <a:off x="8255936" y="234898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0x100</a:t>
            </a:r>
            <a:endParaRPr lang="ja-JP" altLang="en-US" sz="1600" dirty="0">
              <a:solidFill>
                <a:schemeClr val="tx1">
                  <a:lumMod val="85000"/>
                  <a:lumOff val="15000"/>
                </a:schemeClr>
              </a:solidFill>
              <a:latin typeface="Consolas" panose="020B0609020204030204" pitchFamily="49" charset="0"/>
            </a:endParaRPr>
          </a:p>
        </p:txBody>
      </p:sp>
      <p:sp>
        <p:nvSpPr>
          <p:cNvPr id="54" name="正方形/長方形 53"/>
          <p:cNvSpPr/>
          <p:nvPr/>
        </p:nvSpPr>
        <p:spPr bwMode="auto">
          <a:xfrm>
            <a:off x="8976032" y="1268976"/>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solidFill>
                  <a:schemeClr val="tx1">
                    <a:lumMod val="85000"/>
                    <a:lumOff val="15000"/>
                  </a:schemeClr>
                </a:solidFill>
                <a:latin typeface="メイリオ" panose="020B0604030504040204" pitchFamily="50" charset="-128"/>
                <a:ea typeface="メイリオ" panose="020B0604030504040204" pitchFamily="50" charset="-128"/>
              </a:rPr>
              <a:t>メモリ</a:t>
            </a:r>
          </a:p>
        </p:txBody>
      </p:sp>
      <p:sp>
        <p:nvSpPr>
          <p:cNvPr id="55" name="正方形/長方形 54"/>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b="1"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56" name="正方形/長方形 55"/>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57" name="正方形/長方形 56"/>
          <p:cNvSpPr/>
          <p:nvPr/>
        </p:nvSpPr>
        <p:spPr bwMode="auto">
          <a:xfrm>
            <a:off x="8976032" y="162898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58" name="正方形/長方形 57"/>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59" name="正方形/長方形 58"/>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60" name="正方形/長方形 59"/>
          <p:cNvSpPr/>
          <p:nvPr/>
        </p:nvSpPr>
        <p:spPr bwMode="auto">
          <a:xfrm>
            <a:off x="8976032" y="342900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61" name="正方形/長方形 60"/>
          <p:cNvSpPr/>
          <p:nvPr/>
        </p:nvSpPr>
        <p:spPr bwMode="auto">
          <a:xfrm>
            <a:off x="8976032" y="378900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63" name="Rectangle 17"/>
          <p:cNvSpPr>
            <a:spLocks noChangeArrowheads="1"/>
          </p:cNvSpPr>
          <p:nvPr/>
        </p:nvSpPr>
        <p:spPr bwMode="auto">
          <a:xfrm>
            <a:off x="8255936" y="1988985"/>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0x0fc</a:t>
            </a:r>
            <a:endParaRPr lang="ja-JP" altLang="en-US" sz="1600" dirty="0">
              <a:solidFill>
                <a:schemeClr val="tx1">
                  <a:lumMod val="85000"/>
                  <a:lumOff val="15000"/>
                </a:schemeClr>
              </a:solidFill>
              <a:latin typeface="Consolas" panose="020B0609020204030204" pitchFamily="49" charset="0"/>
            </a:endParaRPr>
          </a:p>
        </p:txBody>
      </p:sp>
      <p:sp>
        <p:nvSpPr>
          <p:cNvPr id="72" name="正方形/長方形 71"/>
          <p:cNvSpPr/>
          <p:nvPr/>
        </p:nvSpPr>
        <p:spPr bwMode="auto">
          <a:xfrm>
            <a:off x="8976032" y="414900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73" name="正方形/長方形 72"/>
          <p:cNvSpPr/>
          <p:nvPr/>
        </p:nvSpPr>
        <p:spPr bwMode="auto">
          <a:xfrm>
            <a:off x="8976032" y="450901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74" name="正方形/長方形 73"/>
          <p:cNvSpPr/>
          <p:nvPr/>
        </p:nvSpPr>
        <p:spPr bwMode="auto">
          <a:xfrm>
            <a:off x="8976032" y="486901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75" name="Rectangle 17"/>
          <p:cNvSpPr>
            <a:spLocks noChangeArrowheads="1"/>
          </p:cNvSpPr>
          <p:nvPr/>
        </p:nvSpPr>
        <p:spPr bwMode="auto">
          <a:xfrm>
            <a:off x="8256024" y="3789005"/>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0x110</a:t>
            </a:r>
            <a:endParaRPr lang="ja-JP" altLang="en-US" sz="1600" dirty="0">
              <a:solidFill>
                <a:schemeClr val="tx1">
                  <a:lumMod val="85000"/>
                  <a:lumOff val="15000"/>
                </a:schemeClr>
              </a:solidFill>
              <a:latin typeface="Consolas" panose="020B0609020204030204" pitchFamily="49" charset="0"/>
            </a:endParaRPr>
          </a:p>
        </p:txBody>
      </p:sp>
      <p:sp>
        <p:nvSpPr>
          <p:cNvPr id="76" name="Rectangle 17"/>
          <p:cNvSpPr>
            <a:spLocks noChangeArrowheads="1"/>
          </p:cNvSpPr>
          <p:nvPr/>
        </p:nvSpPr>
        <p:spPr bwMode="auto">
          <a:xfrm>
            <a:off x="8256024" y="342895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0x10C</a:t>
            </a:r>
            <a:endParaRPr lang="ja-JP" altLang="en-US" sz="1600" dirty="0">
              <a:solidFill>
                <a:schemeClr val="tx1">
                  <a:lumMod val="85000"/>
                  <a:lumOff val="15000"/>
                </a:schemeClr>
              </a:solidFill>
              <a:latin typeface="Consolas" panose="020B0609020204030204" pitchFamily="49" charset="0"/>
            </a:endParaRPr>
          </a:p>
        </p:txBody>
      </p:sp>
      <p:sp>
        <p:nvSpPr>
          <p:cNvPr id="77" name="Rectangle 17"/>
          <p:cNvSpPr>
            <a:spLocks noChangeArrowheads="1"/>
          </p:cNvSpPr>
          <p:nvPr/>
        </p:nvSpPr>
        <p:spPr bwMode="auto">
          <a:xfrm>
            <a:off x="8256024" y="306895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0x108</a:t>
            </a:r>
            <a:endParaRPr lang="ja-JP" altLang="en-US" sz="1600" dirty="0">
              <a:solidFill>
                <a:schemeClr val="tx1">
                  <a:lumMod val="85000"/>
                  <a:lumOff val="15000"/>
                </a:schemeClr>
              </a:solidFill>
              <a:latin typeface="Consolas" panose="020B0609020204030204" pitchFamily="49" charset="0"/>
            </a:endParaRPr>
          </a:p>
        </p:txBody>
      </p:sp>
    </p:spTree>
    <p:extLst>
      <p:ext uri="{BB962C8B-B14F-4D97-AF65-F5344CB8AC3E}">
        <p14:creationId xmlns:p14="http://schemas.microsoft.com/office/powerpoint/2010/main" val="1063090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 </a:t>
            </a:r>
            <a:r>
              <a:rPr kumimoji="1" lang="ja-JP" altLang="en-US" dirty="0"/>
              <a:t>言語 の 実行順序の制御</a:t>
            </a:r>
          </a:p>
        </p:txBody>
      </p:sp>
      <p:sp>
        <p:nvSpPr>
          <p:cNvPr id="5" name="コンテンツ プレースホルダー 4"/>
          <p:cNvSpPr>
            <a:spLocks noGrp="1"/>
          </p:cNvSpPr>
          <p:nvPr>
            <p:ph type="body" sz="quarter" idx="10"/>
          </p:nvPr>
        </p:nvSpPr>
        <p:spPr>
          <a:xfrm>
            <a:off x="1775425" y="1268712"/>
            <a:ext cx="8641751" cy="5491162"/>
          </a:xfrm>
          <a:prstGeom prst="rect">
            <a:avLst/>
          </a:prstGeom>
        </p:spPr>
        <p:txBody>
          <a:bodyPr>
            <a:normAutofit/>
          </a:bodyPr>
          <a:lstStyle/>
          <a:p>
            <a:r>
              <a:rPr lang="en-US" altLang="ja-JP" dirty="0">
                <a:latin typeface="+mn-ea"/>
                <a:ea typeface="+mn-ea"/>
              </a:rPr>
              <a:t>C</a:t>
            </a:r>
            <a:r>
              <a:rPr lang="ja-JP" altLang="en-US" dirty="0">
                <a:latin typeface="+mn-ea"/>
                <a:ea typeface="+mn-ea"/>
              </a:rPr>
              <a:t> 言語の制御構文</a:t>
            </a:r>
            <a:endParaRPr lang="en-US" altLang="ja-JP" dirty="0">
              <a:latin typeface="+mn-ea"/>
              <a:ea typeface="+mn-ea"/>
            </a:endParaRPr>
          </a:p>
          <a:p>
            <a:pPr lvl="1"/>
            <a:r>
              <a:rPr lang="en-US" altLang="ja-JP" dirty="0">
                <a:latin typeface="+mn-ea"/>
                <a:ea typeface="+mn-ea"/>
              </a:rPr>
              <a:t>if</a:t>
            </a:r>
            <a:r>
              <a:rPr lang="ja-JP" altLang="en-US" dirty="0">
                <a:latin typeface="+mn-ea"/>
                <a:ea typeface="+mn-ea"/>
              </a:rPr>
              <a:t> ～ </a:t>
            </a:r>
            <a:r>
              <a:rPr lang="en-US" altLang="ja-JP" dirty="0">
                <a:latin typeface="+mn-ea"/>
                <a:ea typeface="+mn-ea"/>
              </a:rPr>
              <a:t>else</a:t>
            </a:r>
            <a:endParaRPr lang="ja-JP" altLang="en-US" dirty="0">
              <a:latin typeface="+mn-ea"/>
              <a:ea typeface="+mn-ea"/>
            </a:endParaRPr>
          </a:p>
          <a:p>
            <a:pPr lvl="1"/>
            <a:r>
              <a:rPr lang="en-US" altLang="ja-JP" dirty="0">
                <a:latin typeface="+mn-ea"/>
                <a:ea typeface="+mn-ea"/>
              </a:rPr>
              <a:t>for</a:t>
            </a:r>
            <a:r>
              <a:rPr lang="ja-JP" altLang="en-US" dirty="0" err="1">
                <a:latin typeface="+mn-ea"/>
                <a:ea typeface="+mn-ea"/>
              </a:rPr>
              <a:t>，</a:t>
            </a:r>
            <a:r>
              <a:rPr lang="en-US" altLang="ja-JP" dirty="0">
                <a:latin typeface="+mn-ea"/>
                <a:ea typeface="+mn-ea"/>
              </a:rPr>
              <a:t>while</a:t>
            </a:r>
            <a:r>
              <a:rPr lang="ja-JP" altLang="en-US" dirty="0" err="1">
                <a:latin typeface="+mn-ea"/>
                <a:ea typeface="+mn-ea"/>
              </a:rPr>
              <a:t>，</a:t>
            </a:r>
            <a:r>
              <a:rPr lang="en-US" altLang="ja-JP" dirty="0">
                <a:latin typeface="+mn-ea"/>
                <a:ea typeface="+mn-ea"/>
              </a:rPr>
              <a:t>do</a:t>
            </a:r>
            <a:r>
              <a:rPr lang="ja-JP" altLang="en-US" dirty="0">
                <a:latin typeface="+mn-ea"/>
                <a:ea typeface="+mn-ea"/>
              </a:rPr>
              <a:t> ～ </a:t>
            </a:r>
            <a:r>
              <a:rPr lang="en-US" altLang="ja-JP" dirty="0">
                <a:latin typeface="+mn-ea"/>
                <a:ea typeface="+mn-ea"/>
              </a:rPr>
              <a:t>while</a:t>
            </a:r>
          </a:p>
          <a:p>
            <a:pPr lvl="1"/>
            <a:r>
              <a:rPr lang="en-US" altLang="ja-JP" dirty="0">
                <a:latin typeface="+mn-ea"/>
                <a:ea typeface="+mn-ea"/>
              </a:rPr>
              <a:t>switch</a:t>
            </a:r>
            <a:r>
              <a:rPr lang="ja-JP" altLang="en-US" dirty="0">
                <a:latin typeface="+mn-ea"/>
                <a:ea typeface="+mn-ea"/>
              </a:rPr>
              <a:t> ～ </a:t>
            </a:r>
            <a:r>
              <a:rPr lang="en-US" altLang="ja-JP" dirty="0">
                <a:latin typeface="+mn-ea"/>
                <a:ea typeface="+mn-ea"/>
              </a:rPr>
              <a:t>break, continue</a:t>
            </a:r>
          </a:p>
          <a:p>
            <a:pPr lvl="1"/>
            <a:r>
              <a:rPr lang="en-US" altLang="ja-JP" dirty="0">
                <a:latin typeface="+mn-ea"/>
                <a:ea typeface="+mn-ea"/>
              </a:rPr>
              <a:t>return </a:t>
            </a:r>
          </a:p>
          <a:p>
            <a:pPr lvl="1"/>
            <a:r>
              <a:rPr lang="en-US" altLang="ja-JP" dirty="0">
                <a:latin typeface="+mn-ea"/>
                <a:ea typeface="+mn-ea"/>
              </a:rPr>
              <a:t>goto</a:t>
            </a:r>
          </a:p>
          <a:p>
            <a:r>
              <a:rPr lang="ja-JP" altLang="en-US" dirty="0">
                <a:latin typeface="+mn-ea"/>
                <a:ea typeface="+mn-ea"/>
              </a:rPr>
              <a:t>基本的に </a:t>
            </a:r>
            <a:r>
              <a:rPr lang="en-US" altLang="ja-JP" dirty="0">
                <a:latin typeface="+mn-ea"/>
                <a:ea typeface="+mn-ea"/>
              </a:rPr>
              <a:t>if </a:t>
            </a:r>
            <a:r>
              <a:rPr lang="ja-JP" altLang="en-US" dirty="0">
                <a:latin typeface="+mn-ea"/>
                <a:ea typeface="+mn-ea"/>
              </a:rPr>
              <a:t>～ </a:t>
            </a:r>
            <a:r>
              <a:rPr lang="en-US" altLang="ja-JP" dirty="0">
                <a:latin typeface="+mn-ea"/>
                <a:ea typeface="+mn-ea"/>
              </a:rPr>
              <a:t>goto</a:t>
            </a:r>
            <a:r>
              <a:rPr lang="ja-JP" altLang="en-US" dirty="0">
                <a:latin typeface="+mn-ea"/>
                <a:ea typeface="+mn-ea"/>
              </a:rPr>
              <a:t> で書き換え可能</a:t>
            </a:r>
            <a:endParaRPr lang="en-US" altLang="ja-JP" dirty="0">
              <a:latin typeface="+mn-ea"/>
              <a:ea typeface="+mn-ea"/>
            </a:endParaRPr>
          </a:p>
          <a:p>
            <a:pPr lvl="1"/>
            <a:r>
              <a:rPr lang="en-US" altLang="ja-JP" dirty="0">
                <a:latin typeface="+mn-ea"/>
              </a:rPr>
              <a:t>return</a:t>
            </a:r>
            <a:r>
              <a:rPr lang="ja-JP" altLang="en-US" dirty="0">
                <a:latin typeface="+mn-ea"/>
              </a:rPr>
              <a:t> だけ，これまでに説明した命令では作れない</a:t>
            </a:r>
            <a:endParaRPr lang="en-US" altLang="ja-JP" dirty="0">
              <a:latin typeface="+mn-ea"/>
            </a:endParaRPr>
          </a:p>
          <a:p>
            <a:pPr lvl="1"/>
            <a:r>
              <a:rPr lang="ja-JP" altLang="en-US" dirty="0">
                <a:latin typeface="+mn-ea"/>
                <a:ea typeface="+mn-ea"/>
              </a:rPr>
              <a:t>ジャンプするときに，</a:t>
            </a:r>
            <a:r>
              <a:rPr lang="en-US" altLang="ja-JP" dirty="0">
                <a:latin typeface="+mn-ea"/>
                <a:ea typeface="+mn-ea"/>
              </a:rPr>
              <a:t>PC </a:t>
            </a:r>
            <a:r>
              <a:rPr lang="ja-JP" altLang="en-US" dirty="0">
                <a:latin typeface="+mn-ea"/>
                <a:ea typeface="+mn-ea"/>
              </a:rPr>
              <a:t>が戻るアドレスを保存する命令が必要</a:t>
            </a:r>
            <a:endParaRPr lang="en-US" altLang="ja-JP" dirty="0">
              <a:latin typeface="+mn-ea"/>
              <a:ea typeface="+mn-ea"/>
            </a:endParaRPr>
          </a:p>
        </p:txBody>
      </p:sp>
    </p:spTree>
    <p:extLst>
      <p:ext uri="{BB962C8B-B14F-4D97-AF65-F5344CB8AC3E}">
        <p14:creationId xmlns:p14="http://schemas.microsoft.com/office/powerpoint/2010/main" val="706349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415948" y="0"/>
            <a:ext cx="10776052" cy="908972"/>
          </a:xfrm>
        </p:spPr>
        <p:txBody>
          <a:bodyPr/>
          <a:lstStyle/>
          <a:p>
            <a:r>
              <a:rPr lang="en-US" altLang="ja-JP" dirty="0"/>
              <a:t>C </a:t>
            </a:r>
            <a:r>
              <a:rPr lang="ja-JP" altLang="en-US" dirty="0"/>
              <a:t>言語を実行するためには</a:t>
            </a:r>
          </a:p>
        </p:txBody>
      </p:sp>
      <p:sp>
        <p:nvSpPr>
          <p:cNvPr id="3" name="コンテンツ プレースホルダー 2"/>
          <p:cNvSpPr>
            <a:spLocks noGrp="1"/>
          </p:cNvSpPr>
          <p:nvPr>
            <p:ph type="body" sz="quarter" idx="10"/>
          </p:nvPr>
        </p:nvSpPr>
        <p:spPr>
          <a:xfrm>
            <a:off x="1775952" y="1088974"/>
            <a:ext cx="10080112" cy="5219751"/>
          </a:xfrm>
        </p:spPr>
        <p:txBody>
          <a:bodyPr/>
          <a:lstStyle/>
          <a:p>
            <a:r>
              <a:rPr lang="ja-JP" altLang="en-US" dirty="0"/>
              <a:t>おおよそ </a:t>
            </a:r>
            <a:r>
              <a:rPr lang="en-US" altLang="ja-JP" dirty="0"/>
              <a:t>CPU </a:t>
            </a:r>
            <a:r>
              <a:rPr lang="ja-JP" altLang="en-US" dirty="0" err="1"/>
              <a:t>には</a:t>
            </a:r>
            <a:r>
              <a:rPr lang="ja-JP" altLang="en-US" dirty="0"/>
              <a:t>これだけの命令あればよい</a:t>
            </a:r>
            <a:endParaRPr lang="en-US" altLang="ja-JP" dirty="0"/>
          </a:p>
          <a:p>
            <a:pPr lvl="1"/>
            <a:r>
              <a:rPr lang="ja-JP" altLang="en-US" dirty="0"/>
              <a:t>各種演算，アドレス計算</a:t>
            </a:r>
            <a:endParaRPr lang="en-US" altLang="ja-JP" dirty="0"/>
          </a:p>
          <a:p>
            <a:pPr lvl="1"/>
            <a:r>
              <a:rPr lang="ja-JP" altLang="en-US" dirty="0"/>
              <a:t>アドレスを指定した読み書き</a:t>
            </a:r>
            <a:endParaRPr lang="en-US" altLang="ja-JP" dirty="0"/>
          </a:p>
          <a:p>
            <a:pPr lvl="1"/>
            <a:r>
              <a:rPr lang="en-US" altLang="ja-JP" dirty="0"/>
              <a:t>if</a:t>
            </a:r>
            <a:r>
              <a:rPr lang="ja-JP" altLang="en-US" dirty="0"/>
              <a:t> ～ </a:t>
            </a:r>
            <a:r>
              <a:rPr lang="en-US" altLang="ja-JP" dirty="0" err="1"/>
              <a:t>goto</a:t>
            </a:r>
            <a:r>
              <a:rPr lang="ja-JP" altLang="en-US" dirty="0"/>
              <a:t> 的な分岐 </a:t>
            </a:r>
            <a:r>
              <a:rPr lang="en-US" altLang="ja-JP" dirty="0"/>
              <a:t>+ return</a:t>
            </a:r>
            <a:endParaRPr lang="ja-JP" altLang="en-US" dirty="0"/>
          </a:p>
        </p:txBody>
      </p:sp>
    </p:spTree>
    <p:extLst>
      <p:ext uri="{BB962C8B-B14F-4D97-AF65-F5344CB8AC3E}">
        <p14:creationId xmlns:p14="http://schemas.microsoft.com/office/powerpoint/2010/main" val="32758165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 </a:t>
            </a:r>
            <a:r>
              <a:rPr kumimoji="1" lang="ja-JP" altLang="en-US" dirty="0"/>
              <a:t>言語と機械語は結構近い</a:t>
            </a:r>
          </a:p>
        </p:txBody>
      </p:sp>
      <p:sp>
        <p:nvSpPr>
          <p:cNvPr id="3" name="テキスト プレースホルダー 2"/>
          <p:cNvSpPr>
            <a:spLocks noGrp="1"/>
          </p:cNvSpPr>
          <p:nvPr>
            <p:ph type="body" sz="quarter" idx="10"/>
          </p:nvPr>
        </p:nvSpPr>
        <p:spPr/>
        <p:txBody>
          <a:bodyPr/>
          <a:lstStyle/>
          <a:p>
            <a:r>
              <a:rPr lang="ja-JP" altLang="en-US" dirty="0"/>
              <a:t>「</a:t>
            </a:r>
            <a:r>
              <a:rPr lang="en-US" altLang="ja-JP" dirty="0"/>
              <a:t>C</a:t>
            </a:r>
            <a:r>
              <a:rPr lang="ja-JP" altLang="en-US" dirty="0"/>
              <a:t> 言語がこうだから，コンピュータをこう作ろう」ではなく，</a:t>
            </a:r>
            <a:endParaRPr lang="en-US" altLang="ja-JP" dirty="0"/>
          </a:p>
          <a:p>
            <a:pPr lvl="1"/>
            <a:r>
              <a:rPr lang="ja-JP" altLang="en-US" dirty="0"/>
              <a:t>「コンピュータ がこうだから，</a:t>
            </a:r>
            <a:r>
              <a:rPr lang="en-US" altLang="ja-JP" dirty="0"/>
              <a:t>C</a:t>
            </a:r>
            <a:r>
              <a:rPr lang="ja-JP" altLang="en-US" dirty="0"/>
              <a:t>言語 がこうなった」</a:t>
            </a:r>
            <a:endParaRPr lang="en-US" altLang="ja-JP" dirty="0"/>
          </a:p>
          <a:p>
            <a:pPr lvl="1"/>
            <a:r>
              <a:rPr lang="ja-JP" altLang="en-US" dirty="0"/>
              <a:t>「</a:t>
            </a:r>
            <a:r>
              <a:rPr lang="en-US" altLang="ja-JP" dirty="0"/>
              <a:t>C</a:t>
            </a:r>
            <a:r>
              <a:rPr lang="ja-JP" altLang="en-US" dirty="0"/>
              <a:t> 言語は，読みやすいアセンブリ言語」とか言われる</a:t>
            </a:r>
            <a:endParaRPr kumimoji="1" lang="ja-JP" altLang="en-US" dirty="0"/>
          </a:p>
        </p:txBody>
      </p:sp>
    </p:spTree>
    <p:extLst>
      <p:ext uri="{BB962C8B-B14F-4D97-AF65-F5344CB8AC3E}">
        <p14:creationId xmlns:p14="http://schemas.microsoft.com/office/powerpoint/2010/main" val="16503105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ここまでのまとめ</a:t>
            </a:r>
          </a:p>
        </p:txBody>
      </p:sp>
      <p:sp>
        <p:nvSpPr>
          <p:cNvPr id="3" name="テキスト プレースホルダー 2"/>
          <p:cNvSpPr>
            <a:spLocks noGrp="1"/>
          </p:cNvSpPr>
          <p:nvPr>
            <p:ph type="body" sz="quarter" idx="10"/>
          </p:nvPr>
        </p:nvSpPr>
        <p:spPr/>
        <p:txBody>
          <a:bodyPr/>
          <a:lstStyle/>
          <a:p>
            <a:r>
              <a:rPr lang="en-US" altLang="ja-JP" dirty="0"/>
              <a:t>C </a:t>
            </a:r>
            <a:r>
              <a:rPr lang="ja-JP" altLang="en-US" dirty="0"/>
              <a:t>言語 コンパイラの処理：</a:t>
            </a:r>
            <a:endParaRPr lang="en-US" altLang="ja-JP" dirty="0"/>
          </a:p>
          <a:p>
            <a:pPr lvl="1"/>
            <a:r>
              <a:rPr lang="ja-JP" altLang="en-US" dirty="0"/>
              <a:t>各ステートメントを，対応する機械語に置き換える</a:t>
            </a:r>
            <a:endParaRPr lang="en-US" altLang="ja-JP" dirty="0"/>
          </a:p>
          <a:p>
            <a:pPr lvl="1"/>
            <a:r>
              <a:rPr lang="ja-JP" altLang="en-US" dirty="0"/>
              <a:t>基本的にはパターンマッチング</a:t>
            </a:r>
            <a:endParaRPr lang="en-US" altLang="ja-JP" dirty="0"/>
          </a:p>
          <a:p>
            <a:r>
              <a:rPr lang="en-US" altLang="ja-JP" dirty="0"/>
              <a:t>C </a:t>
            </a:r>
            <a:r>
              <a:rPr lang="ja-JP" altLang="en-US" dirty="0"/>
              <a:t>言語を動かすためには，たとえば下記があればよい</a:t>
            </a:r>
            <a:endParaRPr lang="en-US" altLang="ja-JP" dirty="0"/>
          </a:p>
          <a:p>
            <a:pPr lvl="1"/>
            <a:r>
              <a:rPr lang="ja-JP" altLang="en-US" dirty="0">
                <a:latin typeface="Consolas" panose="020B0609020204030204" pitchFamily="49" charset="0"/>
              </a:rPr>
              <a:t>各種演算，アドレス計算</a:t>
            </a:r>
            <a:endParaRPr lang="en-US" altLang="ja-JP" dirty="0">
              <a:latin typeface="Consolas" panose="020B0609020204030204" pitchFamily="49" charset="0"/>
            </a:endParaRPr>
          </a:p>
          <a:p>
            <a:pPr lvl="1"/>
            <a:r>
              <a:rPr lang="ja-JP" altLang="en-US" dirty="0">
                <a:latin typeface="Consolas" panose="020B0609020204030204" pitchFamily="49" charset="0"/>
              </a:rPr>
              <a:t>アドレスを指定した読み書き</a:t>
            </a:r>
            <a:endParaRPr lang="en-US" altLang="ja-JP" dirty="0">
              <a:latin typeface="Consolas" panose="020B0609020204030204" pitchFamily="49" charset="0"/>
            </a:endParaRPr>
          </a:p>
          <a:p>
            <a:pPr lvl="1"/>
            <a:r>
              <a:rPr lang="en-US" altLang="ja-JP" dirty="0">
                <a:latin typeface="Consolas" panose="020B0609020204030204" pitchFamily="49" charset="0"/>
                <a:ea typeface="ＭＳ ゴシック" pitchFamily="49" charset="-128"/>
              </a:rPr>
              <a:t>if</a:t>
            </a:r>
            <a:r>
              <a:rPr lang="ja-JP" altLang="en-US" dirty="0">
                <a:latin typeface="Consolas" panose="020B0609020204030204" pitchFamily="49" charset="0"/>
                <a:ea typeface="ＭＳ ゴシック" pitchFamily="49" charset="-128"/>
              </a:rPr>
              <a:t> ～ </a:t>
            </a:r>
            <a:r>
              <a:rPr lang="en-US" altLang="ja-JP" dirty="0" err="1">
                <a:latin typeface="Consolas" panose="020B0609020204030204" pitchFamily="49" charset="0"/>
                <a:ea typeface="ＭＳ ゴシック" pitchFamily="49" charset="-128"/>
              </a:rPr>
              <a:t>goto</a:t>
            </a:r>
            <a:r>
              <a:rPr lang="ja-JP" altLang="en-US" dirty="0">
                <a:latin typeface="Consolas" panose="020B0609020204030204" pitchFamily="49" charset="0"/>
              </a:rPr>
              <a:t> 的な分岐 </a:t>
            </a:r>
            <a:r>
              <a:rPr lang="en-US" altLang="ja-JP" dirty="0">
                <a:latin typeface="Consolas" panose="020B0609020204030204" pitchFamily="49" charset="0"/>
              </a:rPr>
              <a:t>+ return</a:t>
            </a:r>
            <a:endParaRPr lang="ja-JP" altLang="en-US" dirty="0">
              <a:latin typeface="Consolas" panose="020B0609020204030204" pitchFamily="49" charset="0"/>
            </a:endParaRPr>
          </a:p>
          <a:p>
            <a:endParaRPr kumimoji="1" lang="ja-JP" altLang="en-US" dirty="0"/>
          </a:p>
        </p:txBody>
      </p:sp>
    </p:spTree>
    <p:extLst>
      <p:ext uri="{BB962C8B-B14F-4D97-AF65-F5344CB8AC3E}">
        <p14:creationId xmlns:p14="http://schemas.microsoft.com/office/powerpoint/2010/main" val="29270763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a:t>実際の命令セットの例（やや発展）</a:t>
            </a:r>
          </a:p>
        </p:txBody>
      </p:sp>
    </p:spTree>
    <p:extLst>
      <p:ext uri="{BB962C8B-B14F-4D97-AF65-F5344CB8AC3E}">
        <p14:creationId xmlns:p14="http://schemas.microsoft.com/office/powerpoint/2010/main" val="32994638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実際の命令セットの例</a:t>
            </a:r>
            <a:endParaRPr kumimoji="1" lang="ja-JP" altLang="en-US" dirty="0"/>
          </a:p>
        </p:txBody>
      </p:sp>
      <p:sp>
        <p:nvSpPr>
          <p:cNvPr id="3" name="テキスト プレースホルダー 2"/>
          <p:cNvSpPr>
            <a:spLocks noGrp="1"/>
          </p:cNvSpPr>
          <p:nvPr>
            <p:ph type="body" sz="quarter" idx="10"/>
          </p:nvPr>
        </p:nvSpPr>
        <p:spPr>
          <a:xfrm>
            <a:off x="2045956" y="1088975"/>
            <a:ext cx="8460093" cy="5219751"/>
          </a:xfrm>
        </p:spPr>
        <p:txBody>
          <a:bodyPr/>
          <a:lstStyle/>
          <a:p>
            <a:r>
              <a:rPr lang="ja-JP" altLang="en-US" dirty="0"/>
              <a:t>「</a:t>
            </a:r>
            <a:r>
              <a:rPr lang="en-US" altLang="ja-JP" dirty="0"/>
              <a:t>RISC-V</a:t>
            </a:r>
            <a:r>
              <a:rPr lang="ja-JP" altLang="en-US" dirty="0"/>
              <a:t>」を例としてとりあげる</a:t>
            </a:r>
            <a:endParaRPr lang="en-US" altLang="ja-JP" dirty="0"/>
          </a:p>
          <a:p>
            <a:pPr lvl="1"/>
            <a:r>
              <a:rPr kumimoji="1" lang="ja-JP" altLang="en-US" dirty="0"/>
              <a:t>比較的最近登場した，</a:t>
            </a:r>
            <a:r>
              <a:rPr kumimoji="1" lang="en-US" altLang="ja-JP" dirty="0"/>
              <a:t>CPU </a:t>
            </a:r>
            <a:r>
              <a:rPr kumimoji="1" lang="ja-JP" altLang="en-US" dirty="0"/>
              <a:t>の命令セットの</a:t>
            </a:r>
            <a:r>
              <a:rPr lang="ja-JP" altLang="en-US" dirty="0"/>
              <a:t>オープンな</a:t>
            </a:r>
            <a:r>
              <a:rPr kumimoji="1" lang="ja-JP" altLang="en-US" dirty="0"/>
              <a:t>規格</a:t>
            </a:r>
            <a:endParaRPr kumimoji="1" lang="en-US" altLang="ja-JP" dirty="0"/>
          </a:p>
          <a:p>
            <a:r>
              <a:rPr kumimoji="1" lang="ja-JP" altLang="en-US" dirty="0"/>
              <a:t>前提知識がない状態だと，やや理解が追いつかないかもしれない</a:t>
            </a:r>
            <a:endParaRPr kumimoji="1" lang="en-US" altLang="ja-JP" dirty="0"/>
          </a:p>
          <a:p>
            <a:pPr lvl="1"/>
            <a:r>
              <a:rPr kumimoji="1" lang="ja-JP" altLang="en-US" dirty="0"/>
              <a:t>大ざっぱにわかっていれば </a:t>
            </a:r>
            <a:r>
              <a:rPr kumimoji="1" lang="en-US" altLang="ja-JP" dirty="0"/>
              <a:t>OK</a:t>
            </a:r>
          </a:p>
        </p:txBody>
      </p:sp>
    </p:spTree>
    <p:extLst>
      <p:ext uri="{BB962C8B-B14F-4D97-AF65-F5344CB8AC3E}">
        <p14:creationId xmlns:p14="http://schemas.microsoft.com/office/powerpoint/2010/main" val="24853568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商用の </a:t>
            </a:r>
            <a:r>
              <a:rPr lang="en-US" altLang="ja-JP" dirty="0"/>
              <a:t>CPU </a:t>
            </a:r>
            <a:r>
              <a:rPr lang="ja-JP" altLang="en-US" dirty="0"/>
              <a:t>の命令セットは「オープン」ではない</a:t>
            </a:r>
            <a:endParaRPr lang="en-US" altLang="ja-JP" dirty="0"/>
          </a:p>
        </p:txBody>
      </p:sp>
      <p:sp>
        <p:nvSpPr>
          <p:cNvPr id="3" name="テキスト プレースホルダー 2"/>
          <p:cNvSpPr>
            <a:spLocks noGrp="1"/>
          </p:cNvSpPr>
          <p:nvPr>
            <p:ph type="body" sz="quarter" idx="10"/>
          </p:nvPr>
        </p:nvSpPr>
        <p:spPr>
          <a:xfrm>
            <a:off x="2045956" y="1088975"/>
            <a:ext cx="8460093" cy="5219751"/>
          </a:xfrm>
        </p:spPr>
        <p:txBody>
          <a:bodyPr/>
          <a:lstStyle/>
          <a:p>
            <a:r>
              <a:rPr kumimoji="1" lang="ja-JP" altLang="en-US" dirty="0"/>
              <a:t>ソフトウェア・エミュレーションとして実装する分には問題ない</a:t>
            </a:r>
            <a:endParaRPr kumimoji="1" lang="en-US" altLang="ja-JP" dirty="0"/>
          </a:p>
          <a:p>
            <a:pPr lvl="1"/>
            <a:r>
              <a:rPr kumimoji="1" lang="ja-JP" altLang="en-US" dirty="0"/>
              <a:t>たとえば </a:t>
            </a:r>
            <a:r>
              <a:rPr kumimoji="1" lang="en-US" altLang="ja-JP" dirty="0"/>
              <a:t>QEMU </a:t>
            </a:r>
            <a:r>
              <a:rPr kumimoji="1" lang="ja-JP" altLang="en-US" dirty="0"/>
              <a:t>や，</a:t>
            </a:r>
            <a:r>
              <a:rPr kumimoji="1" lang="en-US" altLang="ja-JP" dirty="0"/>
              <a:t>VMware</a:t>
            </a:r>
          </a:p>
          <a:p>
            <a:r>
              <a:rPr kumimoji="1" lang="ja-JP" altLang="en-US" dirty="0"/>
              <a:t>しかし，ハードウェア設計を公開すると怒られる</a:t>
            </a:r>
            <a:endParaRPr kumimoji="1" lang="en-US" altLang="ja-JP" dirty="0"/>
          </a:p>
          <a:p>
            <a:pPr lvl="1"/>
            <a:r>
              <a:rPr kumimoji="1" lang="ja-JP" altLang="en-US" dirty="0"/>
              <a:t>それをハードとして特許にひっかかる･･･ らしい</a:t>
            </a:r>
            <a:endParaRPr kumimoji="1" lang="en-US" altLang="ja-JP" dirty="0"/>
          </a:p>
          <a:p>
            <a:pPr lvl="1"/>
            <a:r>
              <a:rPr kumimoji="1" lang="ja-JP" altLang="en-US" dirty="0"/>
              <a:t>むかし塩谷は </a:t>
            </a:r>
            <a:r>
              <a:rPr kumimoji="1" lang="en-US" altLang="ja-JP" dirty="0"/>
              <a:t>ARM </a:t>
            </a:r>
            <a:r>
              <a:rPr kumimoji="1" lang="ja-JP" altLang="en-US" dirty="0"/>
              <a:t>互換を作って公開しようとしたら怒られた</a:t>
            </a:r>
            <a:endParaRPr kumimoji="1" lang="en-US" altLang="ja-JP" dirty="0"/>
          </a:p>
        </p:txBody>
      </p:sp>
    </p:spTree>
    <p:extLst>
      <p:ext uri="{BB962C8B-B14F-4D97-AF65-F5344CB8AC3E}">
        <p14:creationId xmlns:p14="http://schemas.microsoft.com/office/powerpoint/2010/main" val="38321369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RISC-V</a:t>
            </a:r>
            <a:endParaRPr kumimoji="1" lang="ja-JP" altLang="en-US" dirty="0"/>
          </a:p>
        </p:txBody>
      </p:sp>
      <p:sp>
        <p:nvSpPr>
          <p:cNvPr id="3" name="テキスト プレースホルダー 2"/>
          <p:cNvSpPr>
            <a:spLocks noGrp="1"/>
          </p:cNvSpPr>
          <p:nvPr>
            <p:ph type="body" sz="quarter" idx="10"/>
          </p:nvPr>
        </p:nvSpPr>
        <p:spPr>
          <a:xfrm>
            <a:off x="2135957" y="2078985"/>
            <a:ext cx="8010089" cy="4229740"/>
          </a:xfrm>
        </p:spPr>
        <p:txBody>
          <a:bodyPr/>
          <a:lstStyle/>
          <a:p>
            <a:r>
              <a:rPr lang="ja-JP" altLang="en-US" dirty="0"/>
              <a:t>オープンな </a:t>
            </a:r>
            <a:r>
              <a:rPr lang="en-US" altLang="ja-JP" dirty="0"/>
              <a:t>CPU </a:t>
            </a:r>
            <a:r>
              <a:rPr lang="ja-JP" altLang="en-US" dirty="0"/>
              <a:t>の規格（命令セット・アーキテクチャ）</a:t>
            </a:r>
            <a:endParaRPr lang="en-US" altLang="ja-JP" dirty="0"/>
          </a:p>
          <a:p>
            <a:pPr lvl="1"/>
            <a:r>
              <a:rPr lang="en-US" altLang="ja-JP" dirty="0"/>
              <a:t>x86 </a:t>
            </a:r>
            <a:r>
              <a:rPr lang="ja-JP" altLang="en-US" dirty="0"/>
              <a:t>や </a:t>
            </a:r>
            <a:r>
              <a:rPr lang="en-US" altLang="ja-JP" dirty="0"/>
              <a:t>ARM </a:t>
            </a:r>
            <a:r>
              <a:rPr lang="ja-JP" altLang="en-US" dirty="0"/>
              <a:t>と違って，自由に互換品を作れる</a:t>
            </a:r>
            <a:endParaRPr lang="en-US" altLang="ja-JP" dirty="0"/>
          </a:p>
          <a:p>
            <a:r>
              <a:rPr kumimoji="1" lang="ja-JP" altLang="en-US" dirty="0"/>
              <a:t>モチベーション：</a:t>
            </a:r>
            <a:endParaRPr kumimoji="1" lang="en-US" altLang="ja-JP" dirty="0"/>
          </a:p>
          <a:p>
            <a:pPr lvl="1"/>
            <a:r>
              <a:rPr kumimoji="1" lang="ja-JP" altLang="en-US" dirty="0"/>
              <a:t>既存命令セットのライセンス料が高い </a:t>
            </a:r>
            <a:r>
              <a:rPr kumimoji="1" lang="en-US" altLang="ja-JP" dirty="0"/>
              <a:t>or </a:t>
            </a:r>
            <a:br>
              <a:rPr kumimoji="1" lang="en-US" altLang="ja-JP" dirty="0"/>
            </a:br>
            <a:r>
              <a:rPr kumimoji="1" lang="ja-JP" altLang="en-US" dirty="0"/>
              <a:t>互換品をそもそも作らせてくれない</a:t>
            </a:r>
            <a:endParaRPr kumimoji="1" lang="en-US" altLang="ja-JP" dirty="0"/>
          </a:p>
          <a:p>
            <a:pPr lvl="1"/>
            <a:endParaRPr kumimoji="1" lang="en-US" altLang="ja-JP" dirty="0"/>
          </a:p>
          <a:p>
            <a:pPr lvl="1"/>
            <a:r>
              <a:rPr kumimoji="1" lang="ja-JP" altLang="en-US" dirty="0"/>
              <a:t>研究者：自由に研究成果を入れた </a:t>
            </a:r>
            <a:r>
              <a:rPr kumimoji="1" lang="en-US" altLang="ja-JP" dirty="0"/>
              <a:t>CPU </a:t>
            </a:r>
            <a:r>
              <a:rPr kumimoji="1" lang="ja-JP" altLang="en-US" dirty="0"/>
              <a:t>を作りたい</a:t>
            </a:r>
            <a:endParaRPr kumimoji="1" lang="en-US" altLang="ja-JP" dirty="0"/>
          </a:p>
          <a:p>
            <a:pPr lvl="1"/>
            <a:r>
              <a:rPr kumimoji="1" lang="ja-JP" altLang="en-US" dirty="0"/>
              <a:t>企業：　</a:t>
            </a:r>
            <a:r>
              <a:rPr lang="ja-JP" altLang="en-US" dirty="0"/>
              <a:t>自由に特色のある </a:t>
            </a:r>
            <a:r>
              <a:rPr lang="en-US" altLang="ja-JP" dirty="0"/>
              <a:t>CPU </a:t>
            </a:r>
            <a:r>
              <a:rPr lang="ja-JP" altLang="en-US" dirty="0"/>
              <a:t>を作りたい</a:t>
            </a:r>
            <a:endParaRPr kumimoji="1" lang="en-US" altLang="ja-JP" dirty="0"/>
          </a:p>
        </p:txBody>
      </p:sp>
      <p:pic>
        <p:nvPicPr>
          <p:cNvPr id="1028" name="Picture 4" descr="RISC-V Found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25978" y="1178975"/>
            <a:ext cx="3870043" cy="13143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80493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955954" y="0"/>
            <a:ext cx="8712046" cy="908972"/>
          </a:xfrm>
        </p:spPr>
        <p:txBody>
          <a:bodyPr/>
          <a:lstStyle/>
          <a:p>
            <a:r>
              <a:rPr lang="en-US" altLang="ja-JP" dirty="0"/>
              <a:t>RISC-V </a:t>
            </a:r>
            <a:r>
              <a:rPr lang="ja-JP" altLang="en-US" dirty="0"/>
              <a:t>の普及状況</a:t>
            </a:r>
          </a:p>
        </p:txBody>
      </p:sp>
      <p:sp>
        <p:nvSpPr>
          <p:cNvPr id="3" name="テキスト プレースホルダー 2"/>
          <p:cNvSpPr>
            <a:spLocks noGrp="1"/>
          </p:cNvSpPr>
          <p:nvPr>
            <p:ph type="body" sz="quarter" idx="10"/>
          </p:nvPr>
        </p:nvSpPr>
        <p:spPr>
          <a:xfrm>
            <a:off x="1865954" y="1089025"/>
            <a:ext cx="8549635" cy="5219700"/>
          </a:xfrm>
        </p:spPr>
        <p:txBody>
          <a:bodyPr/>
          <a:lstStyle/>
          <a:p>
            <a:r>
              <a:rPr lang="ja-JP" altLang="en-US" dirty="0"/>
              <a:t>研究分野ではデファクトに近い使われ方をしている</a:t>
            </a:r>
            <a:endParaRPr lang="en-US" altLang="ja-JP" dirty="0"/>
          </a:p>
          <a:p>
            <a:r>
              <a:rPr lang="ja-JP" altLang="en-US" dirty="0"/>
              <a:t>製品での実使用例もかなり出てきた</a:t>
            </a:r>
            <a:endParaRPr lang="en-US" altLang="ja-JP" dirty="0"/>
          </a:p>
          <a:p>
            <a:pPr lvl="1"/>
            <a:r>
              <a:rPr lang="ja-JP" altLang="en-US" dirty="0"/>
              <a:t>日本でも大手メーカーでの使用例が結構ある</a:t>
            </a:r>
            <a:endParaRPr lang="en-US" altLang="ja-JP" dirty="0"/>
          </a:p>
          <a:p>
            <a:pPr lvl="1"/>
            <a:r>
              <a:rPr lang="ja-JP" altLang="en-US" dirty="0"/>
              <a:t>各社の </a:t>
            </a:r>
            <a:r>
              <a:rPr lang="en-US" altLang="ja-JP" dirty="0"/>
              <a:t>CPU </a:t>
            </a:r>
            <a:r>
              <a:rPr lang="ja-JP" altLang="en-US" dirty="0"/>
              <a:t>や </a:t>
            </a:r>
            <a:r>
              <a:rPr lang="en-US" altLang="ja-JP" dirty="0"/>
              <a:t>GPU </a:t>
            </a:r>
            <a:r>
              <a:rPr lang="ja-JP" altLang="en-US" dirty="0"/>
              <a:t>の内部でも制御のために独立した </a:t>
            </a:r>
            <a:r>
              <a:rPr lang="en-US" altLang="ja-JP" dirty="0"/>
              <a:t>CPU </a:t>
            </a:r>
            <a:r>
              <a:rPr lang="ja-JP" altLang="en-US" dirty="0"/>
              <a:t>として使われている</a:t>
            </a:r>
            <a:endParaRPr lang="en-US" altLang="ja-JP" dirty="0"/>
          </a:p>
          <a:p>
            <a:pPr lvl="2"/>
            <a:r>
              <a:rPr lang="ja-JP" altLang="en-US" dirty="0"/>
              <a:t>初期化時の制御やセキュリティチップなど</a:t>
            </a:r>
            <a:br>
              <a:rPr lang="en-US" altLang="ja-JP" dirty="0"/>
            </a:br>
            <a:endParaRPr lang="en-US" altLang="ja-JP" dirty="0"/>
          </a:p>
          <a:p>
            <a:pPr lvl="1"/>
            <a:r>
              <a:rPr lang="ja-JP" altLang="en-US" dirty="0"/>
              <a:t>基本的には，小型のコントローラから広がって行っている</a:t>
            </a:r>
            <a:endParaRPr lang="en-US" altLang="ja-JP" dirty="0"/>
          </a:p>
          <a:p>
            <a:pPr lvl="2"/>
            <a:r>
              <a:rPr lang="en-US" altLang="ja-JP" dirty="0"/>
              <a:t>AI </a:t>
            </a:r>
            <a:r>
              <a:rPr lang="ja-JP" altLang="en-US" dirty="0"/>
              <a:t>アクセラレータの制御部やデータセンター用 </a:t>
            </a:r>
            <a:r>
              <a:rPr lang="en-US" altLang="ja-JP" dirty="0"/>
              <a:t>CPU </a:t>
            </a:r>
            <a:r>
              <a:rPr lang="ja-JP" altLang="en-US" dirty="0"/>
              <a:t>も出始めている</a:t>
            </a:r>
            <a:endParaRPr lang="en-US" altLang="ja-JP" dirty="0"/>
          </a:p>
        </p:txBody>
      </p:sp>
    </p:spTree>
    <p:extLst>
      <p:ext uri="{BB962C8B-B14F-4D97-AF65-F5344CB8AC3E}">
        <p14:creationId xmlns:p14="http://schemas.microsoft.com/office/powerpoint/2010/main" val="24344046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RISC-V </a:t>
            </a:r>
            <a:r>
              <a:rPr kumimoji="1" lang="ja-JP" altLang="en-US" dirty="0"/>
              <a:t>命令セットの基本</a:t>
            </a:r>
          </a:p>
        </p:txBody>
      </p:sp>
      <p:sp>
        <p:nvSpPr>
          <p:cNvPr id="3" name="テキスト プレースホルダー 2"/>
          <p:cNvSpPr>
            <a:spLocks noGrp="1"/>
          </p:cNvSpPr>
          <p:nvPr>
            <p:ph type="body" sz="quarter" idx="10"/>
          </p:nvPr>
        </p:nvSpPr>
        <p:spPr>
          <a:xfrm>
            <a:off x="1685952" y="998974"/>
            <a:ext cx="6750075" cy="5219751"/>
          </a:xfrm>
        </p:spPr>
        <p:txBody>
          <a:bodyPr/>
          <a:lstStyle/>
          <a:p>
            <a:r>
              <a:rPr lang="ja-JP" altLang="en-US" dirty="0"/>
              <a:t>基本的な特徴：</a:t>
            </a:r>
            <a:endParaRPr lang="en-US" altLang="ja-JP" dirty="0"/>
          </a:p>
          <a:p>
            <a:pPr lvl="1"/>
            <a:r>
              <a:rPr lang="ja-JP" altLang="en-US" dirty="0"/>
              <a:t>各命令は４バイトのデータで構成</a:t>
            </a:r>
            <a:endParaRPr lang="en-US" altLang="ja-JP" dirty="0"/>
          </a:p>
          <a:p>
            <a:pPr lvl="1"/>
            <a:r>
              <a:rPr lang="ja-JP" altLang="en-US" dirty="0"/>
              <a:t>レジスタは </a:t>
            </a:r>
            <a:r>
              <a:rPr lang="en-US" altLang="ja-JP" dirty="0"/>
              <a:t>32</a:t>
            </a:r>
            <a:r>
              <a:rPr lang="ja-JP" altLang="en-US" dirty="0"/>
              <a:t>本 ある</a:t>
            </a:r>
            <a:endParaRPr lang="en-US" altLang="ja-JP" dirty="0"/>
          </a:p>
          <a:p>
            <a:pPr lvl="2"/>
            <a:r>
              <a:rPr lang="en-US" altLang="ja-JP" dirty="0"/>
              <a:t>A,B,C ... </a:t>
            </a:r>
            <a:r>
              <a:rPr lang="ja-JP" altLang="en-US" dirty="0"/>
              <a:t>ではなく，</a:t>
            </a:r>
            <a:r>
              <a:rPr lang="en-US" altLang="ja-JP" dirty="0"/>
              <a:t>x0, x1, x3... </a:t>
            </a:r>
            <a:r>
              <a:rPr lang="ja-JP" altLang="en-US" dirty="0"/>
              <a:t>と表記</a:t>
            </a:r>
            <a:endParaRPr lang="en-US" altLang="ja-JP" dirty="0"/>
          </a:p>
          <a:p>
            <a:pPr lvl="2"/>
            <a:r>
              <a:rPr lang="ja-JP" altLang="en-US" dirty="0"/>
              <a:t>うち１つはゼロレジスタ</a:t>
            </a:r>
            <a:br>
              <a:rPr lang="en-US" altLang="ja-JP" dirty="0"/>
            </a:br>
            <a:r>
              <a:rPr lang="ja-JP" altLang="en-US" dirty="0"/>
              <a:t>（常にゼロが入っている</a:t>
            </a:r>
            <a:endParaRPr lang="en-US" altLang="ja-JP" dirty="0"/>
          </a:p>
          <a:p>
            <a:pPr lvl="1"/>
            <a:r>
              <a:rPr lang="ja-JP" altLang="en-US" dirty="0"/>
              <a:t>各レジスタの幅は </a:t>
            </a:r>
            <a:r>
              <a:rPr lang="en-US" altLang="ja-JP" dirty="0"/>
              <a:t>32/64/128 bit </a:t>
            </a:r>
            <a:r>
              <a:rPr lang="ja-JP" altLang="en-US" dirty="0"/>
              <a:t>が規定されている</a:t>
            </a:r>
            <a:endParaRPr lang="en-US" altLang="ja-JP" dirty="0"/>
          </a:p>
          <a:p>
            <a:pPr lvl="2"/>
            <a:r>
              <a:rPr lang="ja-JP" altLang="en-US" dirty="0"/>
              <a:t>ここでは </a:t>
            </a:r>
            <a:r>
              <a:rPr lang="en-US" altLang="ja-JP" dirty="0"/>
              <a:t>32bit </a:t>
            </a:r>
            <a:r>
              <a:rPr lang="ja-JP" altLang="en-US" dirty="0"/>
              <a:t>のものをとりあげる</a:t>
            </a:r>
            <a:endParaRPr lang="en-US" altLang="ja-JP" dirty="0"/>
          </a:p>
          <a:p>
            <a:r>
              <a:rPr lang="ja-JP" altLang="en-US" dirty="0"/>
              <a:t>基本的には，今日前半で話した命令セットを</a:t>
            </a:r>
            <a:br>
              <a:rPr lang="en-US" altLang="ja-JP" dirty="0"/>
            </a:br>
            <a:r>
              <a:rPr lang="en-US" altLang="ja-JP" dirty="0"/>
              <a:t>2</a:t>
            </a:r>
            <a:r>
              <a:rPr lang="ja-JP" altLang="en-US" dirty="0"/>
              <a:t>進数ベースできちんとつめたもの</a:t>
            </a:r>
            <a:endParaRPr lang="en-US" altLang="ja-JP" dirty="0"/>
          </a:p>
        </p:txBody>
      </p:sp>
      <p:sp>
        <p:nvSpPr>
          <p:cNvPr id="4" name="正方形/長方形 3"/>
          <p:cNvSpPr/>
          <p:nvPr/>
        </p:nvSpPr>
        <p:spPr bwMode="auto">
          <a:xfrm>
            <a:off x="8976032" y="1808982"/>
            <a:ext cx="1440016" cy="4320049"/>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7" name="正方形/長方形 6"/>
          <p:cNvSpPr/>
          <p:nvPr/>
        </p:nvSpPr>
        <p:spPr bwMode="auto">
          <a:xfrm>
            <a:off x="8976032" y="998973"/>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solidFill>
                  <a:schemeClr val="tx1">
                    <a:lumMod val="85000"/>
                    <a:lumOff val="15000"/>
                  </a:schemeClr>
                </a:solidFill>
                <a:latin typeface="メイリオ" panose="020B0604030504040204" pitchFamily="50" charset="-128"/>
                <a:ea typeface="メイリオ" panose="020B0604030504040204" pitchFamily="50" charset="-128"/>
              </a:rPr>
              <a:t>レジスタ</a:t>
            </a:r>
            <a:b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b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(32bit)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8976032" y="2528990"/>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b="1"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9" name="正方形/長方形 8"/>
          <p:cNvSpPr/>
          <p:nvPr/>
        </p:nvSpPr>
        <p:spPr bwMode="auto">
          <a:xfrm>
            <a:off x="8976032" y="288899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10" name="正方形/長方形 9"/>
          <p:cNvSpPr/>
          <p:nvPr/>
        </p:nvSpPr>
        <p:spPr bwMode="auto">
          <a:xfrm>
            <a:off x="8976032" y="180898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0</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11" name="正方形/長方形 10"/>
          <p:cNvSpPr/>
          <p:nvPr/>
        </p:nvSpPr>
        <p:spPr bwMode="auto">
          <a:xfrm>
            <a:off x="8976032" y="216898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12" name="正方形/長方形 11"/>
          <p:cNvSpPr/>
          <p:nvPr/>
        </p:nvSpPr>
        <p:spPr bwMode="auto">
          <a:xfrm>
            <a:off x="8976032" y="324899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15" name="Rectangle 17"/>
          <p:cNvSpPr>
            <a:spLocks noChangeArrowheads="1"/>
          </p:cNvSpPr>
          <p:nvPr/>
        </p:nvSpPr>
        <p:spPr bwMode="auto">
          <a:xfrm>
            <a:off x="8256024" y="180898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x0</a:t>
            </a:r>
            <a:endParaRPr lang="ja-JP" altLang="en-US" sz="1600" dirty="0">
              <a:solidFill>
                <a:schemeClr val="tx1">
                  <a:lumMod val="85000"/>
                  <a:lumOff val="15000"/>
                </a:schemeClr>
              </a:solidFill>
              <a:latin typeface="Consolas" panose="020B0609020204030204" pitchFamily="49" charset="0"/>
            </a:endParaRPr>
          </a:p>
        </p:txBody>
      </p:sp>
      <p:sp>
        <p:nvSpPr>
          <p:cNvPr id="17" name="正方形/長方形 16"/>
          <p:cNvSpPr/>
          <p:nvPr/>
        </p:nvSpPr>
        <p:spPr bwMode="auto">
          <a:xfrm>
            <a:off x="8976032" y="468901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18" name="正方形/長方形 17"/>
          <p:cNvSpPr/>
          <p:nvPr/>
        </p:nvSpPr>
        <p:spPr bwMode="auto">
          <a:xfrm>
            <a:off x="8976032" y="504901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22" name="Rectangle 17"/>
          <p:cNvSpPr>
            <a:spLocks noChangeArrowheads="1"/>
          </p:cNvSpPr>
          <p:nvPr/>
        </p:nvSpPr>
        <p:spPr bwMode="auto">
          <a:xfrm>
            <a:off x="8256024" y="216898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x1</a:t>
            </a:r>
            <a:endParaRPr lang="ja-JP" altLang="en-US" sz="1600" dirty="0">
              <a:solidFill>
                <a:schemeClr val="tx1">
                  <a:lumMod val="85000"/>
                  <a:lumOff val="15000"/>
                </a:schemeClr>
              </a:solidFill>
              <a:latin typeface="Consolas" panose="020B0609020204030204" pitchFamily="49" charset="0"/>
            </a:endParaRPr>
          </a:p>
        </p:txBody>
      </p:sp>
      <p:sp>
        <p:nvSpPr>
          <p:cNvPr id="23" name="Rectangle 17"/>
          <p:cNvSpPr>
            <a:spLocks noChangeArrowheads="1"/>
          </p:cNvSpPr>
          <p:nvPr/>
        </p:nvSpPr>
        <p:spPr bwMode="auto">
          <a:xfrm>
            <a:off x="8256024" y="2528991"/>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x2</a:t>
            </a:r>
            <a:endParaRPr lang="ja-JP" altLang="en-US" sz="1600" dirty="0">
              <a:solidFill>
                <a:schemeClr val="tx1">
                  <a:lumMod val="85000"/>
                  <a:lumOff val="15000"/>
                </a:schemeClr>
              </a:solidFill>
              <a:latin typeface="Consolas" panose="020B0609020204030204" pitchFamily="49" charset="0"/>
            </a:endParaRPr>
          </a:p>
        </p:txBody>
      </p:sp>
      <p:sp>
        <p:nvSpPr>
          <p:cNvPr id="24" name="Rectangle 17"/>
          <p:cNvSpPr>
            <a:spLocks noChangeArrowheads="1"/>
          </p:cNvSpPr>
          <p:nvPr/>
        </p:nvSpPr>
        <p:spPr bwMode="auto">
          <a:xfrm>
            <a:off x="8256024" y="2888995"/>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x3</a:t>
            </a:r>
            <a:endParaRPr lang="ja-JP" altLang="en-US" sz="1600" dirty="0">
              <a:solidFill>
                <a:schemeClr val="tx1">
                  <a:lumMod val="85000"/>
                  <a:lumOff val="15000"/>
                </a:schemeClr>
              </a:solidFill>
              <a:latin typeface="Consolas" panose="020B0609020204030204" pitchFamily="49" charset="0"/>
            </a:endParaRPr>
          </a:p>
        </p:txBody>
      </p:sp>
      <p:sp>
        <p:nvSpPr>
          <p:cNvPr id="25" name="Rectangle 17"/>
          <p:cNvSpPr>
            <a:spLocks noChangeArrowheads="1"/>
          </p:cNvSpPr>
          <p:nvPr/>
        </p:nvSpPr>
        <p:spPr bwMode="auto">
          <a:xfrm>
            <a:off x="8256024" y="324899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a:t>
            </a:r>
            <a:endParaRPr lang="ja-JP" altLang="en-US" sz="1600" dirty="0">
              <a:solidFill>
                <a:schemeClr val="tx1">
                  <a:lumMod val="85000"/>
                  <a:lumOff val="15000"/>
                </a:schemeClr>
              </a:solidFill>
              <a:latin typeface="Consolas" panose="020B0609020204030204" pitchFamily="49" charset="0"/>
            </a:endParaRPr>
          </a:p>
        </p:txBody>
      </p:sp>
      <p:sp>
        <p:nvSpPr>
          <p:cNvPr id="26" name="Rectangle 17"/>
          <p:cNvSpPr>
            <a:spLocks noChangeArrowheads="1"/>
          </p:cNvSpPr>
          <p:nvPr/>
        </p:nvSpPr>
        <p:spPr bwMode="auto">
          <a:xfrm>
            <a:off x="8256024" y="576902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x31</a:t>
            </a:r>
            <a:endParaRPr lang="ja-JP" altLang="en-US" sz="1600" dirty="0">
              <a:solidFill>
                <a:schemeClr val="tx1">
                  <a:lumMod val="85000"/>
                  <a:lumOff val="15000"/>
                </a:schemeClr>
              </a:solidFill>
              <a:latin typeface="Consolas" panose="020B0609020204030204" pitchFamily="49" charset="0"/>
            </a:endParaRPr>
          </a:p>
        </p:txBody>
      </p:sp>
      <p:sp>
        <p:nvSpPr>
          <p:cNvPr id="27" name="正方形/長方形 26"/>
          <p:cNvSpPr/>
          <p:nvPr/>
        </p:nvSpPr>
        <p:spPr bwMode="auto">
          <a:xfrm>
            <a:off x="8976032" y="540902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28" name="正方形/長方形 27"/>
          <p:cNvSpPr/>
          <p:nvPr/>
        </p:nvSpPr>
        <p:spPr bwMode="auto">
          <a:xfrm>
            <a:off x="8976032" y="576902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85000"/>
                    <a:lumOff val="15000"/>
                  </a:schemeClr>
                </a:solidFill>
                <a:latin typeface="メイリオ" panose="020B0604030504040204" pitchFamily="50" charset="-128"/>
                <a:ea typeface="メイリオ" panose="020B0604030504040204" pitchFamily="50" charset="-128"/>
              </a:rPr>
              <a:t>…</a:t>
            </a:r>
            <a:endParaRPr lang="ja-JP" altLang="en-US"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29" name="Rectangle 17"/>
          <p:cNvSpPr>
            <a:spLocks noChangeArrowheads="1"/>
          </p:cNvSpPr>
          <p:nvPr/>
        </p:nvSpPr>
        <p:spPr bwMode="auto">
          <a:xfrm>
            <a:off x="8256024" y="540902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x30</a:t>
            </a:r>
            <a:endParaRPr lang="ja-JP" altLang="en-US" sz="1600" dirty="0">
              <a:solidFill>
                <a:schemeClr val="tx1">
                  <a:lumMod val="85000"/>
                  <a:lumOff val="15000"/>
                </a:schemeClr>
              </a:solidFill>
              <a:latin typeface="Consolas" panose="020B0609020204030204" pitchFamily="49" charset="0"/>
            </a:endParaRPr>
          </a:p>
        </p:txBody>
      </p:sp>
      <p:sp>
        <p:nvSpPr>
          <p:cNvPr id="30" name="Rectangle 17"/>
          <p:cNvSpPr>
            <a:spLocks noChangeArrowheads="1"/>
          </p:cNvSpPr>
          <p:nvPr/>
        </p:nvSpPr>
        <p:spPr bwMode="auto">
          <a:xfrm>
            <a:off x="8256024" y="504901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x29</a:t>
            </a:r>
            <a:endParaRPr lang="ja-JP" altLang="en-US" sz="1600" dirty="0">
              <a:solidFill>
                <a:schemeClr val="tx1">
                  <a:lumMod val="85000"/>
                  <a:lumOff val="15000"/>
                </a:schemeClr>
              </a:solidFill>
              <a:latin typeface="Consolas" panose="020B0609020204030204" pitchFamily="49" charset="0"/>
            </a:endParaRPr>
          </a:p>
        </p:txBody>
      </p:sp>
      <p:sp>
        <p:nvSpPr>
          <p:cNvPr id="31" name="Rectangle 17"/>
          <p:cNvSpPr>
            <a:spLocks noChangeArrowheads="1"/>
          </p:cNvSpPr>
          <p:nvPr/>
        </p:nvSpPr>
        <p:spPr bwMode="auto">
          <a:xfrm>
            <a:off x="8256024" y="4689015"/>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x28</a:t>
            </a:r>
            <a:endParaRPr lang="ja-JP" altLang="en-US" sz="1600" dirty="0">
              <a:solidFill>
                <a:schemeClr val="tx1">
                  <a:lumMod val="85000"/>
                  <a:lumOff val="15000"/>
                </a:schemeClr>
              </a:solidFill>
              <a:latin typeface="Consolas" panose="020B0609020204030204" pitchFamily="49" charset="0"/>
            </a:endParaRPr>
          </a:p>
        </p:txBody>
      </p:sp>
      <p:sp>
        <p:nvSpPr>
          <p:cNvPr id="32" name="Rectangle 17"/>
          <p:cNvSpPr>
            <a:spLocks noChangeArrowheads="1"/>
          </p:cNvSpPr>
          <p:nvPr/>
        </p:nvSpPr>
        <p:spPr bwMode="auto">
          <a:xfrm>
            <a:off x="8256024" y="4329011"/>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85000"/>
                    <a:lumOff val="15000"/>
                  </a:schemeClr>
                </a:solidFill>
                <a:latin typeface="Consolas" panose="020B0609020204030204" pitchFamily="49" charset="0"/>
              </a:rPr>
              <a:t>...</a:t>
            </a:r>
            <a:endParaRPr lang="ja-JP" altLang="en-US" sz="1600" dirty="0">
              <a:solidFill>
                <a:schemeClr val="tx1">
                  <a:lumMod val="85000"/>
                  <a:lumOff val="15000"/>
                </a:schemeClr>
              </a:solidFill>
              <a:latin typeface="Consolas" panose="020B0609020204030204" pitchFamily="49" charset="0"/>
            </a:endParaRPr>
          </a:p>
        </p:txBody>
      </p:sp>
      <p:cxnSp>
        <p:nvCxnSpPr>
          <p:cNvPr id="34" name="直線矢印コネクタ 33"/>
          <p:cNvCxnSpPr/>
          <p:nvPr/>
        </p:nvCxnSpPr>
        <p:spPr bwMode="auto">
          <a:xfrm>
            <a:off x="8976032" y="1628980"/>
            <a:ext cx="1440016" cy="0"/>
          </a:xfrm>
          <a:prstGeom prst="straightConnector1">
            <a:avLst/>
          </a:prstGeom>
          <a:noFill/>
          <a:ln w="9525" cap="flat" cmpd="sng" algn="ctr">
            <a:solidFill>
              <a:schemeClr val="tx1"/>
            </a:solidFill>
            <a:prstDash val="solid"/>
            <a:round/>
            <a:headEnd type="triangle" w="med" len="med"/>
            <a:tailEnd type="triangle"/>
          </a:ln>
          <a:effectLst/>
        </p:spPr>
      </p:cxnSp>
    </p:spTree>
    <p:extLst>
      <p:ext uri="{BB962C8B-B14F-4D97-AF65-F5344CB8AC3E}">
        <p14:creationId xmlns:p14="http://schemas.microsoft.com/office/powerpoint/2010/main" val="29403823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RISC-V </a:t>
            </a:r>
            <a:r>
              <a:rPr kumimoji="1" lang="ja-JP" altLang="en-US" dirty="0"/>
              <a:t>の 基本整数命令</a:t>
            </a:r>
          </a:p>
        </p:txBody>
      </p:sp>
      <p:sp>
        <p:nvSpPr>
          <p:cNvPr id="3" name="テキスト プレースホルダー 2"/>
          <p:cNvSpPr>
            <a:spLocks noGrp="1"/>
          </p:cNvSpPr>
          <p:nvPr>
            <p:ph type="body" sz="quarter" idx="10"/>
          </p:nvPr>
        </p:nvSpPr>
        <p:spPr>
          <a:xfrm>
            <a:off x="1775952" y="1088975"/>
            <a:ext cx="8730097" cy="1260014"/>
          </a:xfrm>
        </p:spPr>
        <p:txBody>
          <a:bodyPr anchor="t"/>
          <a:lstStyle/>
          <a:p>
            <a:r>
              <a:rPr kumimoji="1" lang="ja-JP" altLang="en-US" dirty="0"/>
              <a:t>概要</a:t>
            </a:r>
            <a:endParaRPr kumimoji="1" lang="en-US" altLang="ja-JP" dirty="0"/>
          </a:p>
          <a:p>
            <a:pPr lvl="1"/>
            <a:r>
              <a:rPr kumimoji="1" lang="ja-JP" altLang="en-US" dirty="0"/>
              <a:t>加減算，論理演算，</a:t>
            </a:r>
            <a:br>
              <a:rPr kumimoji="1" lang="en-US" altLang="ja-JP" dirty="0"/>
            </a:br>
            <a:r>
              <a:rPr kumimoji="1" lang="ja-JP" altLang="en-US" dirty="0"/>
              <a:t>ロード・ストア，</a:t>
            </a:r>
            <a:br>
              <a:rPr kumimoji="1" lang="en-US" altLang="ja-JP" dirty="0"/>
            </a:br>
            <a:r>
              <a:rPr kumimoji="1" lang="ja-JP" altLang="en-US" dirty="0"/>
              <a:t>即値，分岐とジャンプなど</a:t>
            </a:r>
            <a:endParaRPr kumimoji="1" lang="en-US" altLang="ja-JP" dirty="0"/>
          </a:p>
          <a:p>
            <a:pPr lvl="1"/>
            <a:r>
              <a:rPr kumimoji="1" lang="ja-JP" altLang="en-US" dirty="0"/>
              <a:t>各命令は </a:t>
            </a:r>
            <a:r>
              <a:rPr kumimoji="1" lang="en-US" altLang="ja-JP" dirty="0"/>
              <a:t>32bit </a:t>
            </a:r>
            <a:r>
              <a:rPr kumimoji="1" lang="ja-JP" altLang="en-US" dirty="0"/>
              <a:t>幅</a:t>
            </a:r>
            <a:endParaRPr lang="en-US" altLang="ja-JP" dirty="0"/>
          </a:p>
        </p:txBody>
      </p:sp>
      <p:sp>
        <p:nvSpPr>
          <p:cNvPr id="6" name="テキスト プレースホルダー 2"/>
          <p:cNvSpPr txBox="1">
            <a:spLocks/>
          </p:cNvSpPr>
          <p:nvPr/>
        </p:nvSpPr>
        <p:spPr bwMode="auto">
          <a:xfrm>
            <a:off x="1775952" y="6317994"/>
            <a:ext cx="8280092" cy="54000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ja-JP" altLang="en-US" sz="1000" kern="0" dirty="0"/>
              <a:t>画像は下記より</a:t>
            </a:r>
            <a:br>
              <a:rPr lang="en-US" altLang="ja-JP" sz="1000" kern="0" dirty="0"/>
            </a:br>
            <a:r>
              <a:rPr lang="en-US" altLang="ja-JP" sz="1000" dirty="0"/>
              <a:t>The RISC-V Instruction Set Manual Volume I: User-Level ISA Document Version 2.2 </a:t>
            </a:r>
            <a:endParaRPr lang="ja-JP" altLang="en-US" sz="1000" kern="0" dirty="0"/>
          </a:p>
        </p:txBody>
      </p:sp>
      <p:pic>
        <p:nvPicPr>
          <p:cNvPr id="7" name="図 6"/>
          <p:cNvPicPr>
            <a:picLocks noChangeAspect="1"/>
          </p:cNvPicPr>
          <p:nvPr/>
        </p:nvPicPr>
        <p:blipFill>
          <a:blip r:embed="rId2"/>
          <a:stretch>
            <a:fillRect/>
          </a:stretch>
        </p:blipFill>
        <p:spPr>
          <a:xfrm>
            <a:off x="5915998" y="908972"/>
            <a:ext cx="4149780" cy="5564478"/>
          </a:xfrm>
          <a:prstGeom prst="rect">
            <a:avLst/>
          </a:prstGeom>
        </p:spPr>
      </p:pic>
    </p:spTree>
    <p:extLst>
      <p:ext uri="{BB962C8B-B14F-4D97-AF65-F5344CB8AC3E}">
        <p14:creationId xmlns:p14="http://schemas.microsoft.com/office/powerpoint/2010/main" val="34554786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p:cNvPicPr>
            <a:picLocks noChangeAspect="1"/>
          </p:cNvPicPr>
          <p:nvPr/>
        </p:nvPicPr>
        <p:blipFill>
          <a:blip r:embed="rId2"/>
          <a:stretch>
            <a:fillRect/>
          </a:stretch>
        </p:blipFill>
        <p:spPr>
          <a:xfrm>
            <a:off x="2225958" y="3969006"/>
            <a:ext cx="7722035" cy="2020980"/>
          </a:xfrm>
          <a:prstGeom prst="rect">
            <a:avLst/>
          </a:prstGeom>
        </p:spPr>
      </p:pic>
      <p:sp>
        <p:nvSpPr>
          <p:cNvPr id="2" name="タイトル 1"/>
          <p:cNvSpPr>
            <a:spLocks noGrp="1"/>
          </p:cNvSpPr>
          <p:nvPr>
            <p:ph type="title"/>
          </p:nvPr>
        </p:nvSpPr>
        <p:spPr/>
        <p:txBody>
          <a:bodyPr/>
          <a:lstStyle/>
          <a:p>
            <a:r>
              <a:rPr kumimoji="1" lang="en-US" altLang="ja-JP" dirty="0"/>
              <a:t>RISC-V </a:t>
            </a:r>
            <a:r>
              <a:rPr kumimoji="1" lang="ja-JP" altLang="en-US" dirty="0"/>
              <a:t>の 基本整数命令の構造</a:t>
            </a:r>
          </a:p>
        </p:txBody>
      </p:sp>
      <p:sp>
        <p:nvSpPr>
          <p:cNvPr id="3" name="テキスト プレースホルダー 2"/>
          <p:cNvSpPr>
            <a:spLocks noGrp="1"/>
          </p:cNvSpPr>
          <p:nvPr>
            <p:ph type="body" sz="quarter" idx="10"/>
          </p:nvPr>
        </p:nvSpPr>
        <p:spPr>
          <a:xfrm>
            <a:off x="1775952" y="998973"/>
            <a:ext cx="8730097" cy="1260014"/>
          </a:xfrm>
        </p:spPr>
        <p:txBody>
          <a:bodyPr anchor="t"/>
          <a:lstStyle/>
          <a:p>
            <a:r>
              <a:rPr kumimoji="1" lang="ja-JP" altLang="en-US" dirty="0"/>
              <a:t>エンコーディング：</a:t>
            </a:r>
            <a:r>
              <a:rPr kumimoji="1" lang="en-US" altLang="ja-JP" dirty="0"/>
              <a:t>R, I, S, U </a:t>
            </a:r>
            <a:r>
              <a:rPr kumimoji="1" lang="ja-JP" altLang="en-US" dirty="0"/>
              <a:t>の</a:t>
            </a:r>
            <a:r>
              <a:rPr kumimoji="1" lang="en-US" altLang="ja-JP" dirty="0"/>
              <a:t>4</a:t>
            </a:r>
            <a:r>
              <a:rPr kumimoji="1" lang="ja-JP" altLang="en-US" dirty="0"/>
              <a:t>タイプがある</a:t>
            </a:r>
            <a:endParaRPr kumimoji="1" lang="en-US" altLang="ja-JP" dirty="0"/>
          </a:p>
          <a:p>
            <a:pPr lvl="1"/>
            <a:r>
              <a:rPr lang="en-US" altLang="ja-JP" dirty="0"/>
              <a:t>opcode </a:t>
            </a:r>
            <a:r>
              <a:rPr lang="ja-JP" altLang="en-US" dirty="0"/>
              <a:t>によって，</a:t>
            </a:r>
            <a:r>
              <a:rPr lang="en-US" altLang="ja-JP" dirty="0"/>
              <a:t>32 bit </a:t>
            </a:r>
            <a:r>
              <a:rPr lang="ja-JP" altLang="en-US" dirty="0"/>
              <a:t>中をどう区切って解釈するかが変わる</a:t>
            </a:r>
            <a:endParaRPr lang="en-US" altLang="ja-JP" dirty="0"/>
          </a:p>
          <a:p>
            <a:pPr lvl="1"/>
            <a:r>
              <a:rPr lang="en-US" altLang="ja-JP" dirty="0" err="1"/>
              <a:t>funct</a:t>
            </a:r>
            <a:r>
              <a:rPr lang="en-US" altLang="ja-JP" dirty="0"/>
              <a:t> </a:t>
            </a:r>
            <a:r>
              <a:rPr lang="ja-JP" altLang="en-US" dirty="0"/>
              <a:t>は追加の </a:t>
            </a:r>
            <a:r>
              <a:rPr lang="en-US" altLang="ja-JP" dirty="0"/>
              <a:t>opcode (opcode </a:t>
            </a:r>
            <a:r>
              <a:rPr lang="ja-JP" altLang="en-US" dirty="0"/>
              <a:t>が</a:t>
            </a:r>
            <a:r>
              <a:rPr lang="ja-JP" altLang="en-US" dirty="0">
                <a:solidFill>
                  <a:schemeClr val="accent5"/>
                </a:solidFill>
              </a:rPr>
              <a:t>大分類</a:t>
            </a:r>
            <a:r>
              <a:rPr lang="ja-JP" altLang="en-US" dirty="0"/>
              <a:t>，</a:t>
            </a:r>
            <a:r>
              <a:rPr lang="en-US" altLang="ja-JP" dirty="0" err="1"/>
              <a:t>funct</a:t>
            </a:r>
            <a:r>
              <a:rPr lang="en-US" altLang="ja-JP" dirty="0"/>
              <a:t> </a:t>
            </a:r>
            <a:r>
              <a:rPr lang="ja-JP" altLang="en-US" dirty="0"/>
              <a:t>が</a:t>
            </a:r>
            <a:r>
              <a:rPr lang="ja-JP" altLang="en-US" dirty="0">
                <a:solidFill>
                  <a:schemeClr val="accent5"/>
                </a:solidFill>
              </a:rPr>
              <a:t>小分類</a:t>
            </a:r>
            <a:endParaRPr lang="en-US" altLang="ja-JP" dirty="0">
              <a:solidFill>
                <a:schemeClr val="accent5"/>
              </a:solidFill>
            </a:endParaRPr>
          </a:p>
          <a:p>
            <a:r>
              <a:rPr lang="en-US" altLang="ja-JP" dirty="0"/>
              <a:t>rs1, rs2,</a:t>
            </a:r>
            <a:r>
              <a:rPr lang="ja-JP" altLang="en-US" dirty="0"/>
              <a:t> </a:t>
            </a:r>
            <a:r>
              <a:rPr lang="en-US" altLang="ja-JP" dirty="0" err="1"/>
              <a:t>rd</a:t>
            </a:r>
            <a:r>
              <a:rPr lang="en-US" altLang="ja-JP" dirty="0"/>
              <a:t> </a:t>
            </a:r>
            <a:r>
              <a:rPr lang="ja-JP" altLang="en-US" dirty="0"/>
              <a:t>はオペランド</a:t>
            </a:r>
            <a:endParaRPr lang="en-US" altLang="ja-JP" dirty="0"/>
          </a:p>
          <a:p>
            <a:pPr lvl="1"/>
            <a:r>
              <a:rPr lang="ja-JP" altLang="en-US" dirty="0"/>
              <a:t>それぞれ </a:t>
            </a:r>
            <a:r>
              <a:rPr lang="en-US" altLang="ja-JP" dirty="0"/>
              <a:t>5bit: 2^5=32</a:t>
            </a:r>
            <a:r>
              <a:rPr lang="ja-JP" altLang="en-US" dirty="0"/>
              <a:t>本のレジスタを指定可能</a:t>
            </a:r>
            <a:endParaRPr lang="en-US" altLang="ja-JP" dirty="0"/>
          </a:p>
          <a:p>
            <a:pPr lvl="1"/>
            <a:r>
              <a:rPr lang="en-US" altLang="ja-JP" dirty="0" err="1"/>
              <a:t>imm</a:t>
            </a:r>
            <a:r>
              <a:rPr lang="en-US" altLang="ja-JP" dirty="0"/>
              <a:t> </a:t>
            </a:r>
            <a:r>
              <a:rPr lang="ja-JP" altLang="en-US" dirty="0"/>
              <a:t>は即値</a:t>
            </a:r>
            <a:endParaRPr lang="en-US" altLang="ja-JP" dirty="0"/>
          </a:p>
        </p:txBody>
      </p:sp>
      <p:sp>
        <p:nvSpPr>
          <p:cNvPr id="6" name="テキスト プレースホルダー 2"/>
          <p:cNvSpPr txBox="1">
            <a:spLocks/>
          </p:cNvSpPr>
          <p:nvPr/>
        </p:nvSpPr>
        <p:spPr bwMode="auto">
          <a:xfrm>
            <a:off x="1775952" y="6317994"/>
            <a:ext cx="8280092" cy="54000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ja-JP" altLang="en-US" sz="1000" kern="0" dirty="0"/>
              <a:t>画像は下記より</a:t>
            </a:r>
            <a:br>
              <a:rPr lang="en-US" altLang="ja-JP" sz="1000" kern="0" dirty="0"/>
            </a:br>
            <a:r>
              <a:rPr lang="en-US" altLang="ja-JP" sz="1000" dirty="0"/>
              <a:t>The RISC-V Instruction Set Manual Volume I: User-Level ISA Document Version 2.2 </a:t>
            </a:r>
            <a:endParaRPr lang="ja-JP" altLang="en-US" sz="1000" kern="0" dirty="0"/>
          </a:p>
        </p:txBody>
      </p:sp>
      <p:sp>
        <p:nvSpPr>
          <p:cNvPr id="4" name="角丸四角形 3"/>
          <p:cNvSpPr/>
          <p:nvPr/>
        </p:nvSpPr>
        <p:spPr bwMode="auto">
          <a:xfrm>
            <a:off x="7806019" y="4149009"/>
            <a:ext cx="1440016" cy="1890021"/>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27315055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30"/>
          <p:cNvSpPr txBox="1">
            <a:spLocks noChangeArrowheads="1"/>
          </p:cNvSpPr>
          <p:nvPr/>
        </p:nvSpPr>
        <p:spPr bwMode="auto">
          <a:xfrm>
            <a:off x="6816008" y="1448978"/>
            <a:ext cx="1080116" cy="360362"/>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err="1"/>
              <a:t>rd</a:t>
            </a:r>
            <a:endParaRPr lang="en-US" altLang="ja-JP" dirty="0"/>
          </a:p>
        </p:txBody>
      </p:sp>
      <p:sp>
        <p:nvSpPr>
          <p:cNvPr id="11" name="Text Box 31"/>
          <p:cNvSpPr txBox="1">
            <a:spLocks noChangeArrowheads="1"/>
          </p:cNvSpPr>
          <p:nvPr/>
        </p:nvSpPr>
        <p:spPr bwMode="auto">
          <a:xfrm>
            <a:off x="7896020" y="1448978"/>
            <a:ext cx="1439606" cy="360362"/>
          </a:xfrm>
          <a:prstGeom prst="rect">
            <a:avLst/>
          </a:prstGeom>
          <a:ln>
            <a:headEnd/>
            <a:tailEnd/>
          </a:ln>
          <a:effectLst/>
        </p:spPr>
        <p:style>
          <a:lnRef idx="1">
            <a:schemeClr val="accent2"/>
          </a:lnRef>
          <a:fillRef idx="2">
            <a:schemeClr val="accent2"/>
          </a:fillRef>
          <a:effectRef idx="1">
            <a:schemeClr val="accent2"/>
          </a:effectRef>
          <a:fontRef idx="minor">
            <a:schemeClr val="dk1"/>
          </a:fontRef>
        </p:style>
        <p:txBody>
          <a:bodyPr wrap="none" anchor="ctr" anchorCtr="1"/>
          <a:lstStyle/>
          <a:p>
            <a:pPr eaLnBrk="1" hangingPunct="1"/>
            <a:r>
              <a:rPr lang="en-US" altLang="ja-JP" dirty="0"/>
              <a:t>opcode</a:t>
            </a:r>
          </a:p>
        </p:txBody>
      </p:sp>
      <p:sp>
        <p:nvSpPr>
          <p:cNvPr id="33" name="Text Box 30"/>
          <p:cNvSpPr txBox="1">
            <a:spLocks noChangeArrowheads="1"/>
          </p:cNvSpPr>
          <p:nvPr/>
        </p:nvSpPr>
        <p:spPr bwMode="auto">
          <a:xfrm>
            <a:off x="6816008" y="2888994"/>
            <a:ext cx="1080116" cy="360362"/>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err="1"/>
              <a:t>rd</a:t>
            </a:r>
            <a:endParaRPr lang="en-US" altLang="ja-JP" dirty="0"/>
          </a:p>
        </p:txBody>
      </p:sp>
      <p:sp>
        <p:nvSpPr>
          <p:cNvPr id="52" name="Text Box 30"/>
          <p:cNvSpPr txBox="1">
            <a:spLocks noChangeArrowheads="1"/>
          </p:cNvSpPr>
          <p:nvPr/>
        </p:nvSpPr>
        <p:spPr bwMode="auto">
          <a:xfrm>
            <a:off x="6816008" y="3969006"/>
            <a:ext cx="1080116" cy="360362"/>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err="1"/>
              <a:t>rd</a:t>
            </a:r>
            <a:endParaRPr lang="en-US" altLang="ja-JP" dirty="0"/>
          </a:p>
        </p:txBody>
      </p:sp>
      <p:sp>
        <p:nvSpPr>
          <p:cNvPr id="34" name="Text Box 31"/>
          <p:cNvSpPr txBox="1">
            <a:spLocks noChangeArrowheads="1"/>
          </p:cNvSpPr>
          <p:nvPr/>
        </p:nvSpPr>
        <p:spPr bwMode="auto">
          <a:xfrm>
            <a:off x="7896020" y="2888994"/>
            <a:ext cx="1439606" cy="360362"/>
          </a:xfrm>
          <a:prstGeom prst="rect">
            <a:avLst/>
          </a:prstGeom>
          <a:ln>
            <a:headEnd/>
            <a:tailEnd/>
          </a:ln>
          <a:effectLst/>
        </p:spPr>
        <p:style>
          <a:lnRef idx="1">
            <a:schemeClr val="accent2"/>
          </a:lnRef>
          <a:fillRef idx="2">
            <a:schemeClr val="accent2"/>
          </a:fillRef>
          <a:effectRef idx="1">
            <a:schemeClr val="accent2"/>
          </a:effectRef>
          <a:fontRef idx="minor">
            <a:schemeClr val="dk1"/>
          </a:fontRef>
        </p:style>
        <p:txBody>
          <a:bodyPr wrap="none" anchor="ctr" anchorCtr="1"/>
          <a:lstStyle/>
          <a:p>
            <a:pPr eaLnBrk="1" hangingPunct="1"/>
            <a:r>
              <a:rPr lang="en-US" altLang="ja-JP" dirty="0"/>
              <a:t>0110011</a:t>
            </a:r>
          </a:p>
        </p:txBody>
      </p:sp>
      <p:sp>
        <p:nvSpPr>
          <p:cNvPr id="53" name="Text Box 31"/>
          <p:cNvSpPr txBox="1">
            <a:spLocks noChangeArrowheads="1"/>
          </p:cNvSpPr>
          <p:nvPr/>
        </p:nvSpPr>
        <p:spPr bwMode="auto">
          <a:xfrm>
            <a:off x="7896020" y="3969006"/>
            <a:ext cx="1439606" cy="360362"/>
          </a:xfrm>
          <a:prstGeom prst="rect">
            <a:avLst/>
          </a:prstGeom>
          <a:ln>
            <a:headEnd/>
            <a:tailEnd/>
          </a:ln>
          <a:effectLst/>
        </p:spPr>
        <p:style>
          <a:lnRef idx="1">
            <a:schemeClr val="accent2"/>
          </a:lnRef>
          <a:fillRef idx="2">
            <a:schemeClr val="accent2"/>
          </a:fillRef>
          <a:effectRef idx="1">
            <a:schemeClr val="accent2"/>
          </a:effectRef>
          <a:fontRef idx="minor">
            <a:schemeClr val="dk1"/>
          </a:fontRef>
        </p:style>
        <p:txBody>
          <a:bodyPr wrap="none" anchor="ctr" anchorCtr="1"/>
          <a:lstStyle/>
          <a:p>
            <a:pPr eaLnBrk="1" hangingPunct="1"/>
            <a:r>
              <a:rPr lang="en-US" altLang="ja-JP" dirty="0"/>
              <a:t>0110011</a:t>
            </a:r>
          </a:p>
        </p:txBody>
      </p:sp>
      <p:sp>
        <p:nvSpPr>
          <p:cNvPr id="18" name="Text Box 27"/>
          <p:cNvSpPr txBox="1">
            <a:spLocks noChangeArrowheads="1"/>
          </p:cNvSpPr>
          <p:nvPr/>
        </p:nvSpPr>
        <p:spPr bwMode="auto">
          <a:xfrm>
            <a:off x="2135957" y="1448978"/>
            <a:ext cx="1710019" cy="360362"/>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dirty="0"/>
              <a:t>funct7</a:t>
            </a:r>
            <a:endParaRPr lang="ja-JP" altLang="ja-JP" dirty="0"/>
          </a:p>
        </p:txBody>
      </p:sp>
      <p:sp>
        <p:nvSpPr>
          <p:cNvPr id="37" name="Text Box 27"/>
          <p:cNvSpPr txBox="1">
            <a:spLocks noChangeArrowheads="1"/>
          </p:cNvSpPr>
          <p:nvPr/>
        </p:nvSpPr>
        <p:spPr bwMode="auto">
          <a:xfrm>
            <a:off x="2135957" y="2888994"/>
            <a:ext cx="1710019" cy="360362"/>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dirty="0"/>
              <a:t>0000000</a:t>
            </a:r>
            <a:endParaRPr lang="ja-JP" altLang="ja-JP" dirty="0"/>
          </a:p>
        </p:txBody>
      </p:sp>
      <p:sp>
        <p:nvSpPr>
          <p:cNvPr id="56" name="Text Box 27"/>
          <p:cNvSpPr txBox="1">
            <a:spLocks noChangeArrowheads="1"/>
          </p:cNvSpPr>
          <p:nvPr/>
        </p:nvSpPr>
        <p:spPr bwMode="auto">
          <a:xfrm>
            <a:off x="2135957" y="3969006"/>
            <a:ext cx="1710019" cy="360362"/>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dirty="0"/>
              <a:t>0</a:t>
            </a:r>
            <a:r>
              <a:rPr lang="en-US" altLang="ja-JP" dirty="0">
                <a:solidFill>
                  <a:srgbClr val="FF0000"/>
                </a:solidFill>
              </a:rPr>
              <a:t>1</a:t>
            </a:r>
            <a:r>
              <a:rPr lang="en-US" altLang="ja-JP" dirty="0"/>
              <a:t>00000</a:t>
            </a:r>
            <a:endParaRPr lang="ja-JP" altLang="ja-JP" dirty="0"/>
          </a:p>
        </p:txBody>
      </p:sp>
      <p:sp>
        <p:nvSpPr>
          <p:cNvPr id="2" name="タイトル 1"/>
          <p:cNvSpPr>
            <a:spLocks noGrp="1"/>
          </p:cNvSpPr>
          <p:nvPr>
            <p:ph type="title"/>
          </p:nvPr>
        </p:nvSpPr>
        <p:spPr/>
        <p:txBody>
          <a:bodyPr/>
          <a:lstStyle/>
          <a:p>
            <a:r>
              <a:rPr lang="en-US" altLang="ja-JP" dirty="0"/>
              <a:t>R-Type </a:t>
            </a:r>
            <a:r>
              <a:rPr lang="ja-JP" altLang="en-US" dirty="0"/>
              <a:t>の演算命令</a:t>
            </a:r>
            <a:endParaRPr lang="en-US" altLang="ja-JP" dirty="0"/>
          </a:p>
        </p:txBody>
      </p:sp>
      <p:sp>
        <p:nvSpPr>
          <p:cNvPr id="68" name="テキスト プレースホルダー 2"/>
          <p:cNvSpPr>
            <a:spLocks noGrp="1"/>
          </p:cNvSpPr>
          <p:nvPr>
            <p:ph type="body" sz="quarter" idx="10"/>
          </p:nvPr>
        </p:nvSpPr>
        <p:spPr>
          <a:xfrm>
            <a:off x="2135957" y="4869016"/>
            <a:ext cx="7560084" cy="1260014"/>
          </a:xfrm>
        </p:spPr>
        <p:txBody>
          <a:bodyPr anchor="t"/>
          <a:lstStyle/>
          <a:p>
            <a:r>
              <a:rPr lang="en-US" altLang="ja-JP" dirty="0"/>
              <a:t>ADD </a:t>
            </a:r>
            <a:r>
              <a:rPr lang="ja-JP" altLang="en-US" dirty="0"/>
              <a:t>や </a:t>
            </a:r>
            <a:r>
              <a:rPr lang="en-US" altLang="ja-JP" dirty="0"/>
              <a:t>SUB </a:t>
            </a:r>
            <a:r>
              <a:rPr lang="ja-JP" altLang="en-US" dirty="0"/>
              <a:t>は </a:t>
            </a:r>
            <a:r>
              <a:rPr lang="en-US" altLang="ja-JP" dirty="0"/>
              <a:t>R-Type </a:t>
            </a:r>
            <a:r>
              <a:rPr lang="ja-JP" altLang="en-US" dirty="0"/>
              <a:t>となる</a:t>
            </a:r>
            <a:endParaRPr lang="en-US" altLang="ja-JP" dirty="0"/>
          </a:p>
          <a:p>
            <a:pPr lvl="1"/>
            <a:r>
              <a:rPr lang="en-US" altLang="ja-JP" dirty="0"/>
              <a:t>opcode = 0110011 </a:t>
            </a:r>
            <a:r>
              <a:rPr lang="ja-JP" altLang="en-US" dirty="0"/>
              <a:t>は </a:t>
            </a:r>
            <a:r>
              <a:rPr lang="en-US" altLang="ja-JP" dirty="0"/>
              <a:t>R-Type</a:t>
            </a:r>
          </a:p>
          <a:p>
            <a:pPr lvl="1"/>
            <a:r>
              <a:rPr lang="en-US" altLang="ja-JP" dirty="0"/>
              <a:t>funct7 </a:t>
            </a:r>
            <a:r>
              <a:rPr lang="ja-JP" altLang="en-US" dirty="0"/>
              <a:t>の部分で，さらに </a:t>
            </a:r>
            <a:r>
              <a:rPr lang="en-US" altLang="ja-JP" dirty="0"/>
              <a:t>ADD </a:t>
            </a:r>
            <a:r>
              <a:rPr lang="ja-JP" altLang="en-US" dirty="0"/>
              <a:t>や </a:t>
            </a:r>
            <a:r>
              <a:rPr lang="en-US" altLang="ja-JP" dirty="0"/>
              <a:t>SUB </a:t>
            </a:r>
            <a:r>
              <a:rPr lang="ja-JP" altLang="en-US" dirty="0"/>
              <a:t>を判別</a:t>
            </a:r>
            <a:endParaRPr lang="en-US" altLang="ja-JP" dirty="0"/>
          </a:p>
        </p:txBody>
      </p:sp>
      <p:sp>
        <p:nvSpPr>
          <p:cNvPr id="7" name="Text Box 27"/>
          <p:cNvSpPr txBox="1">
            <a:spLocks noChangeArrowheads="1"/>
          </p:cNvSpPr>
          <p:nvPr/>
        </p:nvSpPr>
        <p:spPr bwMode="auto">
          <a:xfrm>
            <a:off x="3845975" y="1448978"/>
            <a:ext cx="1079500" cy="360362"/>
          </a:xfrm>
          <a:prstGeom prst="rect">
            <a:avLst/>
          </a:prstGeom>
          <a:ln>
            <a:headEnd/>
            <a:tailEnd/>
          </a:ln>
          <a:effectLst/>
        </p:spPr>
        <p:style>
          <a:lnRef idx="1">
            <a:schemeClr val="accent1"/>
          </a:lnRef>
          <a:fillRef idx="2">
            <a:schemeClr val="accent1"/>
          </a:fillRef>
          <a:effectRef idx="1">
            <a:schemeClr val="accent1"/>
          </a:effectRef>
          <a:fontRef idx="minor">
            <a:schemeClr val="dk1"/>
          </a:fontRef>
        </p:style>
        <p:txBody>
          <a:bodyPr wrap="none" anchor="ctr" anchorCtr="1"/>
          <a:lstStyle/>
          <a:p>
            <a:pPr eaLnBrk="1" hangingPunct="1"/>
            <a:r>
              <a:rPr lang="en-US" altLang="ja-JP" dirty="0"/>
              <a:t>rs2</a:t>
            </a:r>
            <a:endParaRPr lang="ja-JP" altLang="ja-JP" dirty="0"/>
          </a:p>
        </p:txBody>
      </p:sp>
      <p:sp>
        <p:nvSpPr>
          <p:cNvPr id="8" name="Text Box 28"/>
          <p:cNvSpPr txBox="1">
            <a:spLocks noChangeArrowheads="1"/>
          </p:cNvSpPr>
          <p:nvPr/>
        </p:nvSpPr>
        <p:spPr bwMode="auto">
          <a:xfrm>
            <a:off x="4925988" y="1448978"/>
            <a:ext cx="1080115" cy="360362"/>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dirty="0"/>
              <a:t>rs1</a:t>
            </a:r>
          </a:p>
        </p:txBody>
      </p:sp>
      <p:sp>
        <p:nvSpPr>
          <p:cNvPr id="9" name="Text Box 29"/>
          <p:cNvSpPr txBox="1">
            <a:spLocks noChangeArrowheads="1"/>
          </p:cNvSpPr>
          <p:nvPr/>
        </p:nvSpPr>
        <p:spPr bwMode="auto">
          <a:xfrm>
            <a:off x="6005999" y="1448978"/>
            <a:ext cx="810111" cy="360362"/>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nchorCtr="1"/>
          <a:lstStyle/>
          <a:p>
            <a:pPr eaLnBrk="1" hangingPunct="1"/>
            <a:r>
              <a:rPr lang="en-US" altLang="ja-JP" dirty="0"/>
              <a:t>funct3</a:t>
            </a:r>
          </a:p>
        </p:txBody>
      </p:sp>
      <p:sp>
        <p:nvSpPr>
          <p:cNvPr id="12" name="Rectangle 32"/>
          <p:cNvSpPr>
            <a:spLocks noChangeArrowheads="1"/>
          </p:cNvSpPr>
          <p:nvPr/>
        </p:nvSpPr>
        <p:spPr bwMode="auto">
          <a:xfrm>
            <a:off x="9156035"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0</a:t>
            </a:r>
          </a:p>
        </p:txBody>
      </p:sp>
      <p:sp>
        <p:nvSpPr>
          <p:cNvPr id="14" name="Rectangle 34"/>
          <p:cNvSpPr>
            <a:spLocks noChangeArrowheads="1"/>
          </p:cNvSpPr>
          <p:nvPr/>
        </p:nvSpPr>
        <p:spPr bwMode="auto">
          <a:xfrm>
            <a:off x="7895816"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6</a:t>
            </a:r>
          </a:p>
        </p:txBody>
      </p:sp>
      <p:sp>
        <p:nvSpPr>
          <p:cNvPr id="19" name="Rectangle 34"/>
          <p:cNvSpPr>
            <a:spLocks noChangeArrowheads="1"/>
          </p:cNvSpPr>
          <p:nvPr/>
        </p:nvSpPr>
        <p:spPr bwMode="auto">
          <a:xfrm>
            <a:off x="7715814" y="1179719"/>
            <a:ext cx="179387" cy="253411"/>
          </a:xfrm>
          <a:prstGeom prst="rect">
            <a:avLst/>
          </a:prstGeom>
          <a:noFill/>
          <a:ln w="38100">
            <a:noFill/>
            <a:miter lim="800000"/>
            <a:headEnd/>
            <a:tailEnd type="none" w="med" len="lg"/>
          </a:ln>
          <a:effectLst/>
        </p:spPr>
        <p:txBody>
          <a:bodyPr wrap="none" lIns="93600" tIns="46800" rIns="93600" bIns="46800" anchor="ctr"/>
          <a:lstStyle/>
          <a:p>
            <a:r>
              <a:rPr lang="en-US" altLang="ja-JP" sz="1400" dirty="0"/>
              <a:t>7</a:t>
            </a:r>
          </a:p>
        </p:txBody>
      </p:sp>
      <p:sp>
        <p:nvSpPr>
          <p:cNvPr id="20" name="Rectangle 34"/>
          <p:cNvSpPr>
            <a:spLocks noChangeArrowheads="1"/>
          </p:cNvSpPr>
          <p:nvPr/>
        </p:nvSpPr>
        <p:spPr bwMode="auto">
          <a:xfrm>
            <a:off x="6815804"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11</a:t>
            </a:r>
          </a:p>
        </p:txBody>
      </p:sp>
      <p:sp>
        <p:nvSpPr>
          <p:cNvPr id="21" name="Rectangle 34"/>
          <p:cNvSpPr>
            <a:spLocks noChangeArrowheads="1"/>
          </p:cNvSpPr>
          <p:nvPr/>
        </p:nvSpPr>
        <p:spPr bwMode="auto">
          <a:xfrm>
            <a:off x="6545801"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12</a:t>
            </a:r>
          </a:p>
        </p:txBody>
      </p:sp>
      <p:sp>
        <p:nvSpPr>
          <p:cNvPr id="22" name="Rectangle 34"/>
          <p:cNvSpPr>
            <a:spLocks noChangeArrowheads="1"/>
          </p:cNvSpPr>
          <p:nvPr/>
        </p:nvSpPr>
        <p:spPr bwMode="auto">
          <a:xfrm>
            <a:off x="6005795"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14</a:t>
            </a:r>
          </a:p>
        </p:txBody>
      </p:sp>
      <p:sp>
        <p:nvSpPr>
          <p:cNvPr id="23" name="Rectangle 34"/>
          <p:cNvSpPr>
            <a:spLocks noChangeArrowheads="1"/>
          </p:cNvSpPr>
          <p:nvPr/>
        </p:nvSpPr>
        <p:spPr bwMode="auto">
          <a:xfrm>
            <a:off x="5735792"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15</a:t>
            </a:r>
          </a:p>
        </p:txBody>
      </p:sp>
      <p:sp>
        <p:nvSpPr>
          <p:cNvPr id="24" name="Rectangle 34"/>
          <p:cNvSpPr>
            <a:spLocks noChangeArrowheads="1"/>
          </p:cNvSpPr>
          <p:nvPr/>
        </p:nvSpPr>
        <p:spPr bwMode="auto">
          <a:xfrm>
            <a:off x="4835782"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19</a:t>
            </a:r>
          </a:p>
        </p:txBody>
      </p:sp>
      <p:sp>
        <p:nvSpPr>
          <p:cNvPr id="25" name="Rectangle 34"/>
          <p:cNvSpPr>
            <a:spLocks noChangeArrowheads="1"/>
          </p:cNvSpPr>
          <p:nvPr/>
        </p:nvSpPr>
        <p:spPr bwMode="auto">
          <a:xfrm>
            <a:off x="4565779"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20</a:t>
            </a:r>
          </a:p>
        </p:txBody>
      </p:sp>
      <p:sp>
        <p:nvSpPr>
          <p:cNvPr id="26" name="Rectangle 34"/>
          <p:cNvSpPr>
            <a:spLocks noChangeArrowheads="1"/>
          </p:cNvSpPr>
          <p:nvPr/>
        </p:nvSpPr>
        <p:spPr bwMode="auto">
          <a:xfrm>
            <a:off x="3755770"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24</a:t>
            </a:r>
          </a:p>
        </p:txBody>
      </p:sp>
      <p:sp>
        <p:nvSpPr>
          <p:cNvPr id="27" name="Rectangle 34"/>
          <p:cNvSpPr>
            <a:spLocks noChangeArrowheads="1"/>
          </p:cNvSpPr>
          <p:nvPr/>
        </p:nvSpPr>
        <p:spPr bwMode="auto">
          <a:xfrm>
            <a:off x="3485767"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25</a:t>
            </a:r>
          </a:p>
        </p:txBody>
      </p:sp>
      <p:sp>
        <p:nvSpPr>
          <p:cNvPr id="28" name="Rectangle 34"/>
          <p:cNvSpPr>
            <a:spLocks noChangeArrowheads="1"/>
          </p:cNvSpPr>
          <p:nvPr/>
        </p:nvSpPr>
        <p:spPr bwMode="auto">
          <a:xfrm>
            <a:off x="2135752"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31</a:t>
            </a:r>
          </a:p>
        </p:txBody>
      </p:sp>
      <p:sp>
        <p:nvSpPr>
          <p:cNvPr id="30" name="Text Box 27"/>
          <p:cNvSpPr txBox="1">
            <a:spLocks noChangeArrowheads="1"/>
          </p:cNvSpPr>
          <p:nvPr/>
        </p:nvSpPr>
        <p:spPr bwMode="auto">
          <a:xfrm>
            <a:off x="3845975" y="2888994"/>
            <a:ext cx="1079500" cy="360362"/>
          </a:xfrm>
          <a:prstGeom prst="rect">
            <a:avLst/>
          </a:prstGeom>
          <a:ln>
            <a:headEnd/>
            <a:tailEnd/>
          </a:ln>
          <a:effectLst/>
        </p:spPr>
        <p:style>
          <a:lnRef idx="1">
            <a:schemeClr val="accent1"/>
          </a:lnRef>
          <a:fillRef idx="2">
            <a:schemeClr val="accent1"/>
          </a:fillRef>
          <a:effectRef idx="1">
            <a:schemeClr val="accent1"/>
          </a:effectRef>
          <a:fontRef idx="minor">
            <a:schemeClr val="dk1"/>
          </a:fontRef>
        </p:style>
        <p:txBody>
          <a:bodyPr wrap="none" anchor="ctr" anchorCtr="1"/>
          <a:lstStyle/>
          <a:p>
            <a:pPr eaLnBrk="1" hangingPunct="1"/>
            <a:r>
              <a:rPr lang="en-US" altLang="ja-JP" dirty="0"/>
              <a:t>rs2</a:t>
            </a:r>
            <a:endParaRPr lang="ja-JP" altLang="ja-JP" dirty="0"/>
          </a:p>
        </p:txBody>
      </p:sp>
      <p:sp>
        <p:nvSpPr>
          <p:cNvPr id="31" name="Text Box 28"/>
          <p:cNvSpPr txBox="1">
            <a:spLocks noChangeArrowheads="1"/>
          </p:cNvSpPr>
          <p:nvPr/>
        </p:nvSpPr>
        <p:spPr bwMode="auto">
          <a:xfrm>
            <a:off x="4925988" y="2888994"/>
            <a:ext cx="1080115" cy="360362"/>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dirty="0"/>
              <a:t>rs1</a:t>
            </a:r>
          </a:p>
        </p:txBody>
      </p:sp>
      <p:sp>
        <p:nvSpPr>
          <p:cNvPr id="32" name="Text Box 29"/>
          <p:cNvSpPr txBox="1">
            <a:spLocks noChangeArrowheads="1"/>
          </p:cNvSpPr>
          <p:nvPr/>
        </p:nvSpPr>
        <p:spPr bwMode="auto">
          <a:xfrm>
            <a:off x="6005999" y="2888994"/>
            <a:ext cx="810111" cy="360362"/>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nchorCtr="1"/>
          <a:lstStyle/>
          <a:p>
            <a:pPr eaLnBrk="1" hangingPunct="1"/>
            <a:r>
              <a:rPr lang="en-US" altLang="ja-JP" dirty="0"/>
              <a:t>000</a:t>
            </a:r>
          </a:p>
        </p:txBody>
      </p:sp>
      <p:sp>
        <p:nvSpPr>
          <p:cNvPr id="49" name="Text Box 27"/>
          <p:cNvSpPr txBox="1">
            <a:spLocks noChangeArrowheads="1"/>
          </p:cNvSpPr>
          <p:nvPr/>
        </p:nvSpPr>
        <p:spPr bwMode="auto">
          <a:xfrm>
            <a:off x="3845975" y="3969006"/>
            <a:ext cx="1079500" cy="360362"/>
          </a:xfrm>
          <a:prstGeom prst="rect">
            <a:avLst/>
          </a:prstGeom>
          <a:ln>
            <a:headEnd/>
            <a:tailEnd/>
          </a:ln>
          <a:effectLst/>
        </p:spPr>
        <p:style>
          <a:lnRef idx="1">
            <a:schemeClr val="accent1"/>
          </a:lnRef>
          <a:fillRef idx="2">
            <a:schemeClr val="accent1"/>
          </a:fillRef>
          <a:effectRef idx="1">
            <a:schemeClr val="accent1"/>
          </a:effectRef>
          <a:fontRef idx="minor">
            <a:schemeClr val="dk1"/>
          </a:fontRef>
        </p:style>
        <p:txBody>
          <a:bodyPr wrap="none" anchor="ctr" anchorCtr="1"/>
          <a:lstStyle/>
          <a:p>
            <a:pPr eaLnBrk="1" hangingPunct="1"/>
            <a:r>
              <a:rPr lang="en-US" altLang="ja-JP" dirty="0"/>
              <a:t>rs2</a:t>
            </a:r>
            <a:endParaRPr lang="ja-JP" altLang="ja-JP" dirty="0"/>
          </a:p>
        </p:txBody>
      </p:sp>
      <p:sp>
        <p:nvSpPr>
          <p:cNvPr id="50" name="Text Box 28"/>
          <p:cNvSpPr txBox="1">
            <a:spLocks noChangeArrowheads="1"/>
          </p:cNvSpPr>
          <p:nvPr/>
        </p:nvSpPr>
        <p:spPr bwMode="auto">
          <a:xfrm>
            <a:off x="4925988" y="3969006"/>
            <a:ext cx="1080115" cy="360362"/>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dirty="0"/>
              <a:t>rs1</a:t>
            </a:r>
          </a:p>
        </p:txBody>
      </p:sp>
      <p:sp>
        <p:nvSpPr>
          <p:cNvPr id="51" name="Text Box 29"/>
          <p:cNvSpPr txBox="1">
            <a:spLocks noChangeArrowheads="1"/>
          </p:cNvSpPr>
          <p:nvPr/>
        </p:nvSpPr>
        <p:spPr bwMode="auto">
          <a:xfrm>
            <a:off x="6005999" y="3969006"/>
            <a:ext cx="810111" cy="360362"/>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nchorCtr="1"/>
          <a:lstStyle/>
          <a:p>
            <a:pPr eaLnBrk="1" hangingPunct="1"/>
            <a:r>
              <a:rPr lang="en-US" altLang="ja-JP" dirty="0"/>
              <a:t>000</a:t>
            </a:r>
          </a:p>
        </p:txBody>
      </p:sp>
      <p:sp>
        <p:nvSpPr>
          <p:cNvPr id="70" name="正方形/長方形 69"/>
          <p:cNvSpPr/>
          <p:nvPr/>
        </p:nvSpPr>
        <p:spPr bwMode="auto">
          <a:xfrm>
            <a:off x="2045955" y="252899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ADD : x[</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x[rs1] + x[rs2]</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71" name="正方形/長方形 70"/>
          <p:cNvSpPr/>
          <p:nvPr/>
        </p:nvSpPr>
        <p:spPr bwMode="auto">
          <a:xfrm>
            <a:off x="2045955" y="3609002"/>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SUB : x[</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x[rs1] - x[rs2]</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Tree>
    <p:extLst>
      <p:ext uri="{BB962C8B-B14F-4D97-AF65-F5344CB8AC3E}">
        <p14:creationId xmlns:p14="http://schemas.microsoft.com/office/powerpoint/2010/main" val="18528938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30"/>
          <p:cNvSpPr txBox="1">
            <a:spLocks noChangeArrowheads="1"/>
          </p:cNvSpPr>
          <p:nvPr/>
        </p:nvSpPr>
        <p:spPr bwMode="auto">
          <a:xfrm>
            <a:off x="6816008" y="1448978"/>
            <a:ext cx="1080116" cy="360362"/>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err="1"/>
              <a:t>rd</a:t>
            </a:r>
            <a:endParaRPr lang="en-US" altLang="ja-JP" dirty="0"/>
          </a:p>
        </p:txBody>
      </p:sp>
      <p:sp>
        <p:nvSpPr>
          <p:cNvPr id="11" name="Text Box 31"/>
          <p:cNvSpPr txBox="1">
            <a:spLocks noChangeArrowheads="1"/>
          </p:cNvSpPr>
          <p:nvPr/>
        </p:nvSpPr>
        <p:spPr bwMode="auto">
          <a:xfrm>
            <a:off x="7896020" y="1448978"/>
            <a:ext cx="1439606" cy="360362"/>
          </a:xfrm>
          <a:prstGeom prst="rect">
            <a:avLst/>
          </a:prstGeom>
          <a:ln>
            <a:headEnd/>
            <a:tailEnd/>
          </a:ln>
          <a:effectLst/>
        </p:spPr>
        <p:style>
          <a:lnRef idx="1">
            <a:schemeClr val="accent2"/>
          </a:lnRef>
          <a:fillRef idx="2">
            <a:schemeClr val="accent2"/>
          </a:fillRef>
          <a:effectRef idx="1">
            <a:schemeClr val="accent2"/>
          </a:effectRef>
          <a:fontRef idx="minor">
            <a:schemeClr val="dk1"/>
          </a:fontRef>
        </p:style>
        <p:txBody>
          <a:bodyPr wrap="none" anchor="ctr" anchorCtr="1"/>
          <a:lstStyle/>
          <a:p>
            <a:pPr eaLnBrk="1" hangingPunct="1"/>
            <a:r>
              <a:rPr lang="en-US" altLang="ja-JP" dirty="0"/>
              <a:t>opcode</a:t>
            </a:r>
          </a:p>
        </p:txBody>
      </p:sp>
      <p:sp>
        <p:nvSpPr>
          <p:cNvPr id="33" name="Text Box 30"/>
          <p:cNvSpPr txBox="1">
            <a:spLocks noChangeArrowheads="1"/>
          </p:cNvSpPr>
          <p:nvPr/>
        </p:nvSpPr>
        <p:spPr bwMode="auto">
          <a:xfrm>
            <a:off x="6816008" y="2438989"/>
            <a:ext cx="1080116" cy="360362"/>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err="1"/>
              <a:t>rd</a:t>
            </a:r>
            <a:endParaRPr lang="en-US" altLang="ja-JP" dirty="0"/>
          </a:p>
        </p:txBody>
      </p:sp>
      <p:sp>
        <p:nvSpPr>
          <p:cNvPr id="34" name="Text Box 31"/>
          <p:cNvSpPr txBox="1">
            <a:spLocks noChangeArrowheads="1"/>
          </p:cNvSpPr>
          <p:nvPr/>
        </p:nvSpPr>
        <p:spPr bwMode="auto">
          <a:xfrm>
            <a:off x="7896020" y="2438989"/>
            <a:ext cx="1439606" cy="360362"/>
          </a:xfrm>
          <a:prstGeom prst="rect">
            <a:avLst/>
          </a:prstGeom>
          <a:ln>
            <a:headEnd/>
            <a:tailEnd/>
          </a:ln>
          <a:effectLst/>
        </p:spPr>
        <p:style>
          <a:lnRef idx="1">
            <a:schemeClr val="accent2"/>
          </a:lnRef>
          <a:fillRef idx="2">
            <a:schemeClr val="accent2"/>
          </a:fillRef>
          <a:effectRef idx="1">
            <a:schemeClr val="accent2"/>
          </a:effectRef>
          <a:fontRef idx="minor">
            <a:schemeClr val="dk1"/>
          </a:fontRef>
        </p:style>
        <p:txBody>
          <a:bodyPr wrap="none" anchor="ctr" anchorCtr="1"/>
          <a:lstStyle/>
          <a:p>
            <a:pPr eaLnBrk="1" hangingPunct="1"/>
            <a:r>
              <a:rPr lang="en-US" altLang="ja-JP" dirty="0"/>
              <a:t>0010011</a:t>
            </a:r>
          </a:p>
        </p:txBody>
      </p:sp>
      <p:sp>
        <p:nvSpPr>
          <p:cNvPr id="18" name="Text Box 27"/>
          <p:cNvSpPr txBox="1">
            <a:spLocks noChangeArrowheads="1"/>
          </p:cNvSpPr>
          <p:nvPr/>
        </p:nvSpPr>
        <p:spPr bwMode="auto">
          <a:xfrm>
            <a:off x="2135957" y="1448978"/>
            <a:ext cx="2790031" cy="360362"/>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dirty="0"/>
              <a:t>immediate[11:0]</a:t>
            </a:r>
            <a:endParaRPr lang="ja-JP" altLang="ja-JP" dirty="0"/>
          </a:p>
        </p:txBody>
      </p:sp>
      <p:sp>
        <p:nvSpPr>
          <p:cNvPr id="2" name="タイトル 1"/>
          <p:cNvSpPr>
            <a:spLocks noGrp="1"/>
          </p:cNvSpPr>
          <p:nvPr>
            <p:ph type="title"/>
          </p:nvPr>
        </p:nvSpPr>
        <p:spPr/>
        <p:txBody>
          <a:bodyPr/>
          <a:lstStyle/>
          <a:p>
            <a:r>
              <a:rPr lang="en-US" altLang="ja-JP" dirty="0"/>
              <a:t>I-Type </a:t>
            </a:r>
            <a:r>
              <a:rPr lang="ja-JP" altLang="en-US" dirty="0"/>
              <a:t>の演算命令</a:t>
            </a:r>
            <a:endParaRPr lang="en-US" altLang="ja-JP" dirty="0"/>
          </a:p>
        </p:txBody>
      </p:sp>
      <p:sp>
        <p:nvSpPr>
          <p:cNvPr id="68" name="テキスト プレースホルダー 2"/>
          <p:cNvSpPr>
            <a:spLocks noGrp="1"/>
          </p:cNvSpPr>
          <p:nvPr>
            <p:ph type="body" sz="quarter" idx="10"/>
          </p:nvPr>
        </p:nvSpPr>
        <p:spPr>
          <a:xfrm>
            <a:off x="2135957" y="4239009"/>
            <a:ext cx="7560084" cy="1260014"/>
          </a:xfrm>
        </p:spPr>
        <p:txBody>
          <a:bodyPr anchor="t"/>
          <a:lstStyle/>
          <a:p>
            <a:r>
              <a:rPr lang="ja-JP" altLang="en-US" dirty="0"/>
              <a:t>レジスタを読んだ値ではなく，</a:t>
            </a:r>
            <a:r>
              <a:rPr lang="en-US" altLang="ja-JP" dirty="0"/>
              <a:t>immediate </a:t>
            </a:r>
            <a:r>
              <a:rPr lang="ja-JP" altLang="en-US" dirty="0"/>
              <a:t>の部分をそのまま演算する</a:t>
            </a:r>
            <a:endParaRPr lang="en-US" altLang="ja-JP" dirty="0"/>
          </a:p>
        </p:txBody>
      </p:sp>
      <p:sp>
        <p:nvSpPr>
          <p:cNvPr id="8" name="Text Box 28"/>
          <p:cNvSpPr txBox="1">
            <a:spLocks noChangeArrowheads="1"/>
          </p:cNvSpPr>
          <p:nvPr/>
        </p:nvSpPr>
        <p:spPr bwMode="auto">
          <a:xfrm>
            <a:off x="4925988" y="1448978"/>
            <a:ext cx="1080115" cy="360362"/>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dirty="0"/>
              <a:t>rs1</a:t>
            </a:r>
          </a:p>
        </p:txBody>
      </p:sp>
      <p:sp>
        <p:nvSpPr>
          <p:cNvPr id="9" name="Text Box 29"/>
          <p:cNvSpPr txBox="1">
            <a:spLocks noChangeArrowheads="1"/>
          </p:cNvSpPr>
          <p:nvPr/>
        </p:nvSpPr>
        <p:spPr bwMode="auto">
          <a:xfrm>
            <a:off x="6005999" y="1448978"/>
            <a:ext cx="810111" cy="360362"/>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nchorCtr="1"/>
          <a:lstStyle/>
          <a:p>
            <a:pPr eaLnBrk="1" hangingPunct="1"/>
            <a:r>
              <a:rPr lang="en-US" altLang="ja-JP" dirty="0"/>
              <a:t>funct3</a:t>
            </a:r>
          </a:p>
        </p:txBody>
      </p:sp>
      <p:sp>
        <p:nvSpPr>
          <p:cNvPr id="12" name="Rectangle 32"/>
          <p:cNvSpPr>
            <a:spLocks noChangeArrowheads="1"/>
          </p:cNvSpPr>
          <p:nvPr/>
        </p:nvSpPr>
        <p:spPr bwMode="auto">
          <a:xfrm>
            <a:off x="9156035"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0</a:t>
            </a:r>
          </a:p>
        </p:txBody>
      </p:sp>
      <p:sp>
        <p:nvSpPr>
          <p:cNvPr id="14" name="Rectangle 34"/>
          <p:cNvSpPr>
            <a:spLocks noChangeArrowheads="1"/>
          </p:cNvSpPr>
          <p:nvPr/>
        </p:nvSpPr>
        <p:spPr bwMode="auto">
          <a:xfrm>
            <a:off x="7895816"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6</a:t>
            </a:r>
          </a:p>
        </p:txBody>
      </p:sp>
      <p:sp>
        <p:nvSpPr>
          <p:cNvPr id="19" name="Rectangle 34"/>
          <p:cNvSpPr>
            <a:spLocks noChangeArrowheads="1"/>
          </p:cNvSpPr>
          <p:nvPr/>
        </p:nvSpPr>
        <p:spPr bwMode="auto">
          <a:xfrm>
            <a:off x="7715814" y="1179719"/>
            <a:ext cx="179387" cy="253411"/>
          </a:xfrm>
          <a:prstGeom prst="rect">
            <a:avLst/>
          </a:prstGeom>
          <a:noFill/>
          <a:ln w="38100">
            <a:noFill/>
            <a:miter lim="800000"/>
            <a:headEnd/>
            <a:tailEnd type="none" w="med" len="lg"/>
          </a:ln>
          <a:effectLst/>
        </p:spPr>
        <p:txBody>
          <a:bodyPr wrap="none" lIns="93600" tIns="46800" rIns="93600" bIns="46800" anchor="ctr"/>
          <a:lstStyle/>
          <a:p>
            <a:r>
              <a:rPr lang="en-US" altLang="ja-JP" sz="1400" dirty="0"/>
              <a:t>7</a:t>
            </a:r>
          </a:p>
        </p:txBody>
      </p:sp>
      <p:sp>
        <p:nvSpPr>
          <p:cNvPr id="20" name="Rectangle 34"/>
          <p:cNvSpPr>
            <a:spLocks noChangeArrowheads="1"/>
          </p:cNvSpPr>
          <p:nvPr/>
        </p:nvSpPr>
        <p:spPr bwMode="auto">
          <a:xfrm>
            <a:off x="6815804"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11</a:t>
            </a:r>
          </a:p>
        </p:txBody>
      </p:sp>
      <p:sp>
        <p:nvSpPr>
          <p:cNvPr id="21" name="Rectangle 34"/>
          <p:cNvSpPr>
            <a:spLocks noChangeArrowheads="1"/>
          </p:cNvSpPr>
          <p:nvPr/>
        </p:nvSpPr>
        <p:spPr bwMode="auto">
          <a:xfrm>
            <a:off x="6545801"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12</a:t>
            </a:r>
          </a:p>
        </p:txBody>
      </p:sp>
      <p:sp>
        <p:nvSpPr>
          <p:cNvPr id="22" name="Rectangle 34"/>
          <p:cNvSpPr>
            <a:spLocks noChangeArrowheads="1"/>
          </p:cNvSpPr>
          <p:nvPr/>
        </p:nvSpPr>
        <p:spPr bwMode="auto">
          <a:xfrm>
            <a:off x="6005795"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14</a:t>
            </a:r>
          </a:p>
        </p:txBody>
      </p:sp>
      <p:sp>
        <p:nvSpPr>
          <p:cNvPr id="23" name="Rectangle 34"/>
          <p:cNvSpPr>
            <a:spLocks noChangeArrowheads="1"/>
          </p:cNvSpPr>
          <p:nvPr/>
        </p:nvSpPr>
        <p:spPr bwMode="auto">
          <a:xfrm>
            <a:off x="5735792"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15</a:t>
            </a:r>
          </a:p>
        </p:txBody>
      </p:sp>
      <p:sp>
        <p:nvSpPr>
          <p:cNvPr id="24" name="Rectangle 34"/>
          <p:cNvSpPr>
            <a:spLocks noChangeArrowheads="1"/>
          </p:cNvSpPr>
          <p:nvPr/>
        </p:nvSpPr>
        <p:spPr bwMode="auto">
          <a:xfrm>
            <a:off x="4835782"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19</a:t>
            </a:r>
          </a:p>
        </p:txBody>
      </p:sp>
      <p:sp>
        <p:nvSpPr>
          <p:cNvPr id="25" name="Rectangle 34"/>
          <p:cNvSpPr>
            <a:spLocks noChangeArrowheads="1"/>
          </p:cNvSpPr>
          <p:nvPr/>
        </p:nvSpPr>
        <p:spPr bwMode="auto">
          <a:xfrm>
            <a:off x="4565779"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20</a:t>
            </a:r>
          </a:p>
        </p:txBody>
      </p:sp>
      <p:sp>
        <p:nvSpPr>
          <p:cNvPr id="28" name="Rectangle 34"/>
          <p:cNvSpPr>
            <a:spLocks noChangeArrowheads="1"/>
          </p:cNvSpPr>
          <p:nvPr/>
        </p:nvSpPr>
        <p:spPr bwMode="auto">
          <a:xfrm>
            <a:off x="2045956"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31</a:t>
            </a:r>
          </a:p>
        </p:txBody>
      </p:sp>
      <p:sp>
        <p:nvSpPr>
          <p:cNvPr id="31" name="Text Box 28"/>
          <p:cNvSpPr txBox="1">
            <a:spLocks noChangeArrowheads="1"/>
          </p:cNvSpPr>
          <p:nvPr/>
        </p:nvSpPr>
        <p:spPr bwMode="auto">
          <a:xfrm>
            <a:off x="4925988" y="2438989"/>
            <a:ext cx="1080115" cy="360362"/>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dirty="0"/>
              <a:t>rs1</a:t>
            </a:r>
          </a:p>
        </p:txBody>
      </p:sp>
      <p:sp>
        <p:nvSpPr>
          <p:cNvPr id="32" name="Text Box 29"/>
          <p:cNvSpPr txBox="1">
            <a:spLocks noChangeArrowheads="1"/>
          </p:cNvSpPr>
          <p:nvPr/>
        </p:nvSpPr>
        <p:spPr bwMode="auto">
          <a:xfrm>
            <a:off x="6005999" y="2438989"/>
            <a:ext cx="810111" cy="360362"/>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nchorCtr="1"/>
          <a:lstStyle/>
          <a:p>
            <a:pPr eaLnBrk="1" hangingPunct="1"/>
            <a:r>
              <a:rPr lang="en-US" altLang="ja-JP" dirty="0"/>
              <a:t>000</a:t>
            </a:r>
          </a:p>
        </p:txBody>
      </p:sp>
      <p:sp>
        <p:nvSpPr>
          <p:cNvPr id="70" name="正方形/長方形 69"/>
          <p:cNvSpPr/>
          <p:nvPr/>
        </p:nvSpPr>
        <p:spPr bwMode="auto">
          <a:xfrm>
            <a:off x="2045955" y="2078985"/>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accent5"/>
                </a:solidFill>
                <a:latin typeface="Consolas" panose="020B0609020204030204" pitchFamily="49" charset="0"/>
                <a:ea typeface="メイリオ" panose="020B0604030504040204" pitchFamily="50" charset="-128"/>
              </a:rPr>
              <a:t>ADDI</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 x[</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 x[rs1]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immediate</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36" name="Text Box 27"/>
          <p:cNvSpPr txBox="1">
            <a:spLocks noChangeArrowheads="1"/>
          </p:cNvSpPr>
          <p:nvPr/>
        </p:nvSpPr>
        <p:spPr bwMode="auto">
          <a:xfrm>
            <a:off x="2135957" y="2438989"/>
            <a:ext cx="2790031" cy="360362"/>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r>
              <a:rPr lang="en-US" altLang="ja-JP" dirty="0"/>
              <a:t>immediate[11:0]</a:t>
            </a:r>
            <a:endParaRPr lang="ja-JP" altLang="ja-JP" dirty="0"/>
          </a:p>
        </p:txBody>
      </p:sp>
    </p:spTree>
    <p:extLst>
      <p:ext uri="{BB962C8B-B14F-4D97-AF65-F5344CB8AC3E}">
        <p14:creationId xmlns:p14="http://schemas.microsoft.com/office/powerpoint/2010/main" val="38079199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 Box 30"/>
          <p:cNvSpPr txBox="1">
            <a:spLocks noChangeArrowheads="1"/>
          </p:cNvSpPr>
          <p:nvPr/>
        </p:nvSpPr>
        <p:spPr bwMode="auto">
          <a:xfrm>
            <a:off x="6816008" y="1538979"/>
            <a:ext cx="1080116"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err="1"/>
              <a:t>rd</a:t>
            </a:r>
            <a:endParaRPr lang="en-US" altLang="ja-JP" dirty="0"/>
          </a:p>
        </p:txBody>
      </p:sp>
      <p:sp>
        <p:nvSpPr>
          <p:cNvPr id="34" name="Text Box 31"/>
          <p:cNvSpPr txBox="1">
            <a:spLocks noChangeArrowheads="1"/>
          </p:cNvSpPr>
          <p:nvPr/>
        </p:nvSpPr>
        <p:spPr bwMode="auto">
          <a:xfrm>
            <a:off x="7896020" y="1538979"/>
            <a:ext cx="1439606"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0010011</a:t>
            </a:r>
          </a:p>
        </p:txBody>
      </p:sp>
      <p:sp>
        <p:nvSpPr>
          <p:cNvPr id="2" name="タイトル 1"/>
          <p:cNvSpPr>
            <a:spLocks noGrp="1"/>
          </p:cNvSpPr>
          <p:nvPr>
            <p:ph type="title"/>
          </p:nvPr>
        </p:nvSpPr>
        <p:spPr/>
        <p:txBody>
          <a:bodyPr/>
          <a:lstStyle/>
          <a:p>
            <a:r>
              <a:rPr lang="en-US" altLang="ja-JP" dirty="0"/>
              <a:t>ADD </a:t>
            </a:r>
            <a:r>
              <a:rPr lang="ja-JP" altLang="en-US" dirty="0"/>
              <a:t>と </a:t>
            </a:r>
            <a:r>
              <a:rPr lang="en-US" altLang="ja-JP" dirty="0"/>
              <a:t>ADDI </a:t>
            </a:r>
            <a:r>
              <a:rPr lang="ja-JP" altLang="en-US" dirty="0"/>
              <a:t>の違い</a:t>
            </a:r>
            <a:endParaRPr lang="en-US" altLang="ja-JP" dirty="0"/>
          </a:p>
        </p:txBody>
      </p:sp>
      <p:sp>
        <p:nvSpPr>
          <p:cNvPr id="68" name="テキスト プレースホルダー 2"/>
          <p:cNvSpPr>
            <a:spLocks noGrp="1"/>
          </p:cNvSpPr>
          <p:nvPr>
            <p:ph type="body" sz="quarter" idx="10"/>
          </p:nvPr>
        </p:nvSpPr>
        <p:spPr>
          <a:xfrm>
            <a:off x="2045955" y="4239009"/>
            <a:ext cx="7560084" cy="1260014"/>
          </a:xfrm>
        </p:spPr>
        <p:txBody>
          <a:bodyPr anchor="t"/>
          <a:lstStyle/>
          <a:p>
            <a:r>
              <a:rPr lang="en-US" altLang="ja-JP" dirty="0"/>
              <a:t>immediate </a:t>
            </a:r>
            <a:r>
              <a:rPr lang="ja-JP" altLang="en-US" dirty="0"/>
              <a:t>の部分はなるべくビット幅を大きく取りたい</a:t>
            </a:r>
            <a:endParaRPr lang="en-US" altLang="ja-JP" dirty="0"/>
          </a:p>
          <a:p>
            <a:pPr lvl="1"/>
            <a:r>
              <a:rPr lang="ja-JP" altLang="en-US" dirty="0"/>
              <a:t>その方がより大きな数が扱える</a:t>
            </a:r>
            <a:endParaRPr lang="en-US" altLang="ja-JP" dirty="0"/>
          </a:p>
          <a:p>
            <a:pPr lvl="1"/>
            <a:r>
              <a:rPr lang="en-US" altLang="ja-JP" dirty="0"/>
              <a:t>ADDI </a:t>
            </a:r>
            <a:r>
              <a:rPr lang="ja-JP" altLang="en-US" dirty="0" err="1"/>
              <a:t>には</a:t>
            </a:r>
            <a:r>
              <a:rPr lang="ja-JP" altLang="en-US" dirty="0"/>
              <a:t>専用の </a:t>
            </a:r>
            <a:r>
              <a:rPr lang="en-US" altLang="ja-JP" dirty="0"/>
              <a:t>opcode: 0010011 </a:t>
            </a:r>
            <a:r>
              <a:rPr lang="ja-JP" altLang="en-US" dirty="0"/>
              <a:t>を割り当てる</a:t>
            </a:r>
            <a:endParaRPr lang="en-US" altLang="ja-JP" dirty="0"/>
          </a:p>
          <a:p>
            <a:r>
              <a:rPr lang="en-US" altLang="ja-JP" dirty="0"/>
              <a:t>ADD </a:t>
            </a:r>
            <a:r>
              <a:rPr lang="ja-JP" altLang="en-US" dirty="0"/>
              <a:t>や </a:t>
            </a:r>
            <a:r>
              <a:rPr lang="en-US" altLang="ja-JP" dirty="0"/>
              <a:t>SUB </a:t>
            </a:r>
            <a:r>
              <a:rPr lang="ja-JP" altLang="en-US" dirty="0"/>
              <a:t>はレジスタ番号が表せる </a:t>
            </a:r>
            <a:r>
              <a:rPr lang="en-US" altLang="ja-JP" dirty="0"/>
              <a:t>5bit </a:t>
            </a:r>
            <a:r>
              <a:rPr lang="ja-JP" altLang="en-US" dirty="0"/>
              <a:t>があれば足りる</a:t>
            </a:r>
            <a:endParaRPr lang="en-US" altLang="ja-JP" dirty="0"/>
          </a:p>
          <a:p>
            <a:pPr lvl="1"/>
            <a:r>
              <a:rPr lang="ja-JP" altLang="en-US" dirty="0"/>
              <a:t>なので，</a:t>
            </a:r>
            <a:r>
              <a:rPr lang="en-US" altLang="ja-JP" dirty="0"/>
              <a:t>opcode </a:t>
            </a:r>
            <a:r>
              <a:rPr lang="ja-JP" altLang="en-US" dirty="0"/>
              <a:t>にまとめて </a:t>
            </a:r>
            <a:r>
              <a:rPr lang="en-US" altLang="ja-JP" dirty="0"/>
              <a:t>funct7 </a:t>
            </a:r>
            <a:r>
              <a:rPr lang="ja-JP" altLang="en-US" dirty="0"/>
              <a:t>で判別していた</a:t>
            </a:r>
            <a:endParaRPr lang="en-US" altLang="ja-JP" dirty="0"/>
          </a:p>
        </p:txBody>
      </p:sp>
      <p:sp>
        <p:nvSpPr>
          <p:cNvPr id="31" name="Text Box 28"/>
          <p:cNvSpPr txBox="1">
            <a:spLocks noChangeArrowheads="1"/>
          </p:cNvSpPr>
          <p:nvPr/>
        </p:nvSpPr>
        <p:spPr bwMode="auto">
          <a:xfrm>
            <a:off x="4925988" y="1538979"/>
            <a:ext cx="1080115"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rs1</a:t>
            </a:r>
          </a:p>
        </p:txBody>
      </p:sp>
      <p:sp>
        <p:nvSpPr>
          <p:cNvPr id="32" name="Text Box 29"/>
          <p:cNvSpPr txBox="1">
            <a:spLocks noChangeArrowheads="1"/>
          </p:cNvSpPr>
          <p:nvPr/>
        </p:nvSpPr>
        <p:spPr bwMode="auto">
          <a:xfrm>
            <a:off x="6005999" y="1538979"/>
            <a:ext cx="810111"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000</a:t>
            </a:r>
          </a:p>
        </p:txBody>
      </p:sp>
      <p:sp>
        <p:nvSpPr>
          <p:cNvPr id="70" name="正方形/長方形 69"/>
          <p:cNvSpPr/>
          <p:nvPr/>
        </p:nvSpPr>
        <p:spPr bwMode="auto">
          <a:xfrm>
            <a:off x="2045955" y="1178975"/>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ADDI : x[</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x[rs1] + </a:t>
            </a:r>
            <a:r>
              <a:rPr lang="en-US" altLang="ja-JP" sz="1600" b="1" dirty="0">
                <a:solidFill>
                  <a:schemeClr val="accent5"/>
                </a:solidFill>
                <a:latin typeface="Consolas" panose="020B0609020204030204" pitchFamily="49" charset="0"/>
                <a:ea typeface="メイリオ" panose="020B0604030504040204" pitchFamily="50" charset="-128"/>
              </a:rPr>
              <a:t>immediate</a:t>
            </a:r>
            <a:endParaRPr lang="ja-JP" altLang="en-US" sz="1600" b="1" dirty="0">
              <a:solidFill>
                <a:schemeClr val="accent5"/>
              </a:solidFill>
              <a:latin typeface="Consolas" panose="020B0609020204030204" pitchFamily="49" charset="0"/>
              <a:ea typeface="メイリオ" panose="020B0604030504040204" pitchFamily="50" charset="-128"/>
            </a:endParaRPr>
          </a:p>
        </p:txBody>
      </p:sp>
      <p:sp>
        <p:nvSpPr>
          <p:cNvPr id="36" name="Text Box 27"/>
          <p:cNvSpPr txBox="1">
            <a:spLocks noChangeArrowheads="1"/>
          </p:cNvSpPr>
          <p:nvPr/>
        </p:nvSpPr>
        <p:spPr bwMode="auto">
          <a:xfrm>
            <a:off x="2135957" y="1538979"/>
            <a:ext cx="2790031" cy="360362"/>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r>
              <a:rPr lang="en-US" altLang="ja-JP" dirty="0"/>
              <a:t>immediate[11:0]</a:t>
            </a:r>
            <a:endParaRPr lang="ja-JP" altLang="ja-JP" dirty="0"/>
          </a:p>
        </p:txBody>
      </p:sp>
      <p:sp>
        <p:nvSpPr>
          <p:cNvPr id="38" name="Text Box 30"/>
          <p:cNvSpPr txBox="1">
            <a:spLocks noChangeArrowheads="1"/>
          </p:cNvSpPr>
          <p:nvPr/>
        </p:nvSpPr>
        <p:spPr bwMode="auto">
          <a:xfrm>
            <a:off x="6816008" y="2618991"/>
            <a:ext cx="1080116"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err="1"/>
              <a:t>rd</a:t>
            </a:r>
            <a:endParaRPr lang="en-US" altLang="ja-JP" dirty="0"/>
          </a:p>
        </p:txBody>
      </p:sp>
      <p:sp>
        <p:nvSpPr>
          <p:cNvPr id="39" name="Text Box 31"/>
          <p:cNvSpPr txBox="1">
            <a:spLocks noChangeArrowheads="1"/>
          </p:cNvSpPr>
          <p:nvPr/>
        </p:nvSpPr>
        <p:spPr bwMode="auto">
          <a:xfrm>
            <a:off x="7896020" y="2618991"/>
            <a:ext cx="1439606"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0110011</a:t>
            </a:r>
          </a:p>
        </p:txBody>
      </p:sp>
      <p:sp>
        <p:nvSpPr>
          <p:cNvPr id="40" name="Text Box 27"/>
          <p:cNvSpPr txBox="1">
            <a:spLocks noChangeArrowheads="1"/>
          </p:cNvSpPr>
          <p:nvPr/>
        </p:nvSpPr>
        <p:spPr bwMode="auto">
          <a:xfrm>
            <a:off x="2135957" y="2618991"/>
            <a:ext cx="1710019" cy="360362"/>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dirty="0"/>
              <a:t>0000000</a:t>
            </a:r>
            <a:endParaRPr lang="ja-JP" altLang="ja-JP" dirty="0"/>
          </a:p>
        </p:txBody>
      </p:sp>
      <p:sp>
        <p:nvSpPr>
          <p:cNvPr id="41" name="Text Box 27"/>
          <p:cNvSpPr txBox="1">
            <a:spLocks noChangeArrowheads="1"/>
          </p:cNvSpPr>
          <p:nvPr/>
        </p:nvSpPr>
        <p:spPr bwMode="auto">
          <a:xfrm>
            <a:off x="3845975" y="2618991"/>
            <a:ext cx="1079500" cy="360362"/>
          </a:xfrm>
          <a:prstGeom prst="rect">
            <a:avLst/>
          </a:prstGeom>
          <a:ln>
            <a:headEnd/>
            <a:tailEnd/>
          </a:ln>
          <a:effectLst/>
        </p:spPr>
        <p:style>
          <a:lnRef idx="1">
            <a:schemeClr val="accent1"/>
          </a:lnRef>
          <a:fillRef idx="2">
            <a:schemeClr val="accent1"/>
          </a:fillRef>
          <a:effectRef idx="1">
            <a:schemeClr val="accent1"/>
          </a:effectRef>
          <a:fontRef idx="minor">
            <a:schemeClr val="dk1"/>
          </a:fontRef>
        </p:style>
        <p:txBody>
          <a:bodyPr wrap="none" anchor="ctr" anchorCtr="1"/>
          <a:lstStyle/>
          <a:p>
            <a:pPr eaLnBrk="1" hangingPunct="1"/>
            <a:r>
              <a:rPr lang="en-US" altLang="ja-JP" dirty="0"/>
              <a:t>rs2</a:t>
            </a:r>
            <a:endParaRPr lang="ja-JP" altLang="ja-JP" dirty="0"/>
          </a:p>
        </p:txBody>
      </p:sp>
      <p:sp>
        <p:nvSpPr>
          <p:cNvPr id="42" name="Text Box 28"/>
          <p:cNvSpPr txBox="1">
            <a:spLocks noChangeArrowheads="1"/>
          </p:cNvSpPr>
          <p:nvPr/>
        </p:nvSpPr>
        <p:spPr bwMode="auto">
          <a:xfrm>
            <a:off x="4925988" y="2618991"/>
            <a:ext cx="1080115"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rs1</a:t>
            </a:r>
          </a:p>
        </p:txBody>
      </p:sp>
      <p:sp>
        <p:nvSpPr>
          <p:cNvPr id="43" name="Text Box 29"/>
          <p:cNvSpPr txBox="1">
            <a:spLocks noChangeArrowheads="1"/>
          </p:cNvSpPr>
          <p:nvPr/>
        </p:nvSpPr>
        <p:spPr bwMode="auto">
          <a:xfrm>
            <a:off x="6005999" y="2618991"/>
            <a:ext cx="810111"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000</a:t>
            </a:r>
          </a:p>
        </p:txBody>
      </p:sp>
      <p:sp>
        <p:nvSpPr>
          <p:cNvPr id="44" name="正方形/長方形 43"/>
          <p:cNvSpPr/>
          <p:nvPr/>
        </p:nvSpPr>
        <p:spPr bwMode="auto">
          <a:xfrm>
            <a:off x="2045955" y="2258987"/>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ADD : x[</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x[rs1] + x[</a:t>
            </a:r>
            <a:r>
              <a:rPr lang="en-US" altLang="ja-JP" sz="1600" b="1" dirty="0">
                <a:solidFill>
                  <a:schemeClr val="accent5"/>
                </a:solidFill>
                <a:latin typeface="Consolas" panose="020B0609020204030204" pitchFamily="49" charset="0"/>
                <a:ea typeface="メイリオ" panose="020B0604030504040204" pitchFamily="50" charset="-128"/>
              </a:rPr>
              <a:t>rs2</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35" name="Text Box 30"/>
          <p:cNvSpPr txBox="1">
            <a:spLocks noChangeArrowheads="1"/>
          </p:cNvSpPr>
          <p:nvPr/>
        </p:nvSpPr>
        <p:spPr bwMode="auto">
          <a:xfrm>
            <a:off x="6816008" y="3429000"/>
            <a:ext cx="1080116"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err="1"/>
              <a:t>rd</a:t>
            </a:r>
            <a:endParaRPr lang="en-US" altLang="ja-JP" dirty="0"/>
          </a:p>
        </p:txBody>
      </p:sp>
      <p:sp>
        <p:nvSpPr>
          <p:cNvPr id="37" name="Text Box 31"/>
          <p:cNvSpPr txBox="1">
            <a:spLocks noChangeArrowheads="1"/>
          </p:cNvSpPr>
          <p:nvPr/>
        </p:nvSpPr>
        <p:spPr bwMode="auto">
          <a:xfrm>
            <a:off x="7896020" y="3429000"/>
            <a:ext cx="1439606"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0110011</a:t>
            </a:r>
          </a:p>
        </p:txBody>
      </p:sp>
      <p:sp>
        <p:nvSpPr>
          <p:cNvPr id="45" name="Text Box 27"/>
          <p:cNvSpPr txBox="1">
            <a:spLocks noChangeArrowheads="1"/>
          </p:cNvSpPr>
          <p:nvPr/>
        </p:nvSpPr>
        <p:spPr bwMode="auto">
          <a:xfrm>
            <a:off x="2135957" y="3429000"/>
            <a:ext cx="1710019" cy="360362"/>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dirty="0"/>
              <a:t>0</a:t>
            </a:r>
            <a:r>
              <a:rPr lang="en-US" altLang="ja-JP" u="sng" dirty="0">
                <a:solidFill>
                  <a:srgbClr val="FF0000"/>
                </a:solidFill>
              </a:rPr>
              <a:t>1</a:t>
            </a:r>
            <a:r>
              <a:rPr lang="en-US" altLang="ja-JP" dirty="0"/>
              <a:t>00000</a:t>
            </a:r>
            <a:endParaRPr lang="ja-JP" altLang="ja-JP" dirty="0"/>
          </a:p>
        </p:txBody>
      </p:sp>
      <p:sp>
        <p:nvSpPr>
          <p:cNvPr id="46" name="Text Box 27"/>
          <p:cNvSpPr txBox="1">
            <a:spLocks noChangeArrowheads="1"/>
          </p:cNvSpPr>
          <p:nvPr/>
        </p:nvSpPr>
        <p:spPr bwMode="auto">
          <a:xfrm>
            <a:off x="3845975" y="3429000"/>
            <a:ext cx="1079500" cy="360362"/>
          </a:xfrm>
          <a:prstGeom prst="rect">
            <a:avLst/>
          </a:prstGeom>
          <a:ln>
            <a:headEnd/>
            <a:tailEnd/>
          </a:ln>
          <a:effectLst/>
        </p:spPr>
        <p:style>
          <a:lnRef idx="1">
            <a:schemeClr val="accent1"/>
          </a:lnRef>
          <a:fillRef idx="2">
            <a:schemeClr val="accent1"/>
          </a:fillRef>
          <a:effectRef idx="1">
            <a:schemeClr val="accent1"/>
          </a:effectRef>
          <a:fontRef idx="minor">
            <a:schemeClr val="dk1"/>
          </a:fontRef>
        </p:style>
        <p:txBody>
          <a:bodyPr wrap="none" anchor="ctr" anchorCtr="1"/>
          <a:lstStyle/>
          <a:p>
            <a:pPr eaLnBrk="1" hangingPunct="1"/>
            <a:r>
              <a:rPr lang="en-US" altLang="ja-JP" dirty="0"/>
              <a:t>rs2</a:t>
            </a:r>
            <a:endParaRPr lang="ja-JP" altLang="ja-JP" dirty="0"/>
          </a:p>
        </p:txBody>
      </p:sp>
      <p:sp>
        <p:nvSpPr>
          <p:cNvPr id="47" name="Text Box 28"/>
          <p:cNvSpPr txBox="1">
            <a:spLocks noChangeArrowheads="1"/>
          </p:cNvSpPr>
          <p:nvPr/>
        </p:nvSpPr>
        <p:spPr bwMode="auto">
          <a:xfrm>
            <a:off x="4925988" y="3429000"/>
            <a:ext cx="1080115"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rs1</a:t>
            </a:r>
          </a:p>
        </p:txBody>
      </p:sp>
      <p:sp>
        <p:nvSpPr>
          <p:cNvPr id="48" name="Text Box 29"/>
          <p:cNvSpPr txBox="1">
            <a:spLocks noChangeArrowheads="1"/>
          </p:cNvSpPr>
          <p:nvPr/>
        </p:nvSpPr>
        <p:spPr bwMode="auto">
          <a:xfrm>
            <a:off x="6005999" y="3429000"/>
            <a:ext cx="810111"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000</a:t>
            </a:r>
          </a:p>
        </p:txBody>
      </p:sp>
      <p:sp>
        <p:nvSpPr>
          <p:cNvPr id="49" name="正方形/長方形 48"/>
          <p:cNvSpPr/>
          <p:nvPr/>
        </p:nvSpPr>
        <p:spPr bwMode="auto">
          <a:xfrm>
            <a:off x="2045955" y="3068996"/>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SUB : x[</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x[rs1] - x[rs2]</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Tree>
    <p:extLst>
      <p:ext uri="{BB962C8B-B14F-4D97-AF65-F5344CB8AC3E}">
        <p14:creationId xmlns:p14="http://schemas.microsoft.com/office/powerpoint/2010/main" val="36085818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30"/>
          <p:cNvSpPr txBox="1">
            <a:spLocks noChangeArrowheads="1"/>
          </p:cNvSpPr>
          <p:nvPr/>
        </p:nvSpPr>
        <p:spPr bwMode="auto">
          <a:xfrm>
            <a:off x="6816008" y="1448978"/>
            <a:ext cx="1080116" cy="360362"/>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err="1"/>
              <a:t>rd</a:t>
            </a:r>
            <a:endParaRPr lang="en-US" altLang="ja-JP" dirty="0"/>
          </a:p>
        </p:txBody>
      </p:sp>
      <p:sp>
        <p:nvSpPr>
          <p:cNvPr id="11" name="Text Box 31"/>
          <p:cNvSpPr txBox="1">
            <a:spLocks noChangeArrowheads="1"/>
          </p:cNvSpPr>
          <p:nvPr/>
        </p:nvSpPr>
        <p:spPr bwMode="auto">
          <a:xfrm>
            <a:off x="7896020" y="1448978"/>
            <a:ext cx="1439606" cy="360362"/>
          </a:xfrm>
          <a:prstGeom prst="rect">
            <a:avLst/>
          </a:prstGeom>
          <a:ln>
            <a:headEnd/>
            <a:tailEnd/>
          </a:ln>
          <a:effectLst/>
        </p:spPr>
        <p:style>
          <a:lnRef idx="1">
            <a:schemeClr val="accent2"/>
          </a:lnRef>
          <a:fillRef idx="2">
            <a:schemeClr val="accent2"/>
          </a:fillRef>
          <a:effectRef idx="1">
            <a:schemeClr val="accent2"/>
          </a:effectRef>
          <a:fontRef idx="minor">
            <a:schemeClr val="dk1"/>
          </a:fontRef>
        </p:style>
        <p:txBody>
          <a:bodyPr wrap="none" anchor="ctr" anchorCtr="1"/>
          <a:lstStyle/>
          <a:p>
            <a:pPr eaLnBrk="1" hangingPunct="1"/>
            <a:r>
              <a:rPr lang="en-US" altLang="ja-JP" dirty="0"/>
              <a:t>opcode</a:t>
            </a:r>
          </a:p>
        </p:txBody>
      </p:sp>
      <p:sp>
        <p:nvSpPr>
          <p:cNvPr id="33" name="Text Box 30"/>
          <p:cNvSpPr txBox="1">
            <a:spLocks noChangeArrowheads="1"/>
          </p:cNvSpPr>
          <p:nvPr/>
        </p:nvSpPr>
        <p:spPr bwMode="auto">
          <a:xfrm>
            <a:off x="6816008" y="2438989"/>
            <a:ext cx="1080116" cy="360362"/>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err="1"/>
              <a:t>rd</a:t>
            </a:r>
            <a:endParaRPr lang="en-US" altLang="ja-JP" dirty="0"/>
          </a:p>
        </p:txBody>
      </p:sp>
      <p:sp>
        <p:nvSpPr>
          <p:cNvPr id="34" name="Text Box 31"/>
          <p:cNvSpPr txBox="1">
            <a:spLocks noChangeArrowheads="1"/>
          </p:cNvSpPr>
          <p:nvPr/>
        </p:nvSpPr>
        <p:spPr bwMode="auto">
          <a:xfrm>
            <a:off x="7896020" y="2438989"/>
            <a:ext cx="1439606" cy="360362"/>
          </a:xfrm>
          <a:prstGeom prst="rect">
            <a:avLst/>
          </a:prstGeom>
          <a:ln>
            <a:headEnd/>
            <a:tailEnd/>
          </a:ln>
          <a:effectLst/>
        </p:spPr>
        <p:style>
          <a:lnRef idx="1">
            <a:schemeClr val="accent2"/>
          </a:lnRef>
          <a:fillRef idx="2">
            <a:schemeClr val="accent2"/>
          </a:fillRef>
          <a:effectRef idx="1">
            <a:schemeClr val="accent2"/>
          </a:effectRef>
          <a:fontRef idx="minor">
            <a:schemeClr val="dk1"/>
          </a:fontRef>
        </p:style>
        <p:txBody>
          <a:bodyPr wrap="none" anchor="ctr" anchorCtr="1"/>
          <a:lstStyle/>
          <a:p>
            <a:pPr eaLnBrk="1" hangingPunct="1"/>
            <a:r>
              <a:rPr lang="en-US" altLang="ja-JP" dirty="0"/>
              <a:t>0000011</a:t>
            </a:r>
          </a:p>
        </p:txBody>
      </p:sp>
      <p:sp>
        <p:nvSpPr>
          <p:cNvPr id="18" name="Text Box 27"/>
          <p:cNvSpPr txBox="1">
            <a:spLocks noChangeArrowheads="1"/>
          </p:cNvSpPr>
          <p:nvPr/>
        </p:nvSpPr>
        <p:spPr bwMode="auto">
          <a:xfrm>
            <a:off x="2135957" y="1448978"/>
            <a:ext cx="2790031" cy="360362"/>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dirty="0"/>
              <a:t>immediate[11:0]</a:t>
            </a:r>
            <a:endParaRPr lang="ja-JP" altLang="ja-JP" dirty="0"/>
          </a:p>
        </p:txBody>
      </p:sp>
      <p:sp>
        <p:nvSpPr>
          <p:cNvPr id="2" name="タイトル 1"/>
          <p:cNvSpPr>
            <a:spLocks noGrp="1"/>
          </p:cNvSpPr>
          <p:nvPr>
            <p:ph type="title"/>
          </p:nvPr>
        </p:nvSpPr>
        <p:spPr/>
        <p:txBody>
          <a:bodyPr/>
          <a:lstStyle/>
          <a:p>
            <a:r>
              <a:rPr lang="en-US" altLang="ja-JP" dirty="0"/>
              <a:t>I-Type </a:t>
            </a:r>
            <a:r>
              <a:rPr lang="ja-JP" altLang="en-US" dirty="0"/>
              <a:t>のロード命令</a:t>
            </a:r>
            <a:endParaRPr lang="en-US" altLang="ja-JP" dirty="0"/>
          </a:p>
        </p:txBody>
      </p:sp>
      <p:sp>
        <p:nvSpPr>
          <p:cNvPr id="68" name="テキスト プレースホルダー 2"/>
          <p:cNvSpPr>
            <a:spLocks noGrp="1"/>
          </p:cNvSpPr>
          <p:nvPr>
            <p:ph type="body" sz="quarter" idx="10"/>
          </p:nvPr>
        </p:nvSpPr>
        <p:spPr>
          <a:xfrm>
            <a:off x="2135956" y="3429000"/>
            <a:ext cx="8010088" cy="1260014"/>
          </a:xfrm>
        </p:spPr>
        <p:txBody>
          <a:bodyPr anchor="t"/>
          <a:lstStyle/>
          <a:p>
            <a:r>
              <a:rPr lang="en-US" altLang="ja-JP" dirty="0">
                <a:solidFill>
                  <a:schemeClr val="tx1">
                    <a:lumMod val="85000"/>
                    <a:lumOff val="15000"/>
                  </a:schemeClr>
                </a:solidFill>
              </a:rPr>
              <a:t>LW</a:t>
            </a:r>
            <a:r>
              <a:rPr lang="ja-JP" altLang="en-US" dirty="0">
                <a:solidFill>
                  <a:schemeClr val="tx1">
                    <a:lumMod val="85000"/>
                    <a:lumOff val="15000"/>
                  </a:schemeClr>
                </a:solidFill>
              </a:rPr>
              <a:t>：</a:t>
            </a:r>
            <a:r>
              <a:rPr lang="en-US" altLang="ja-JP" dirty="0">
                <a:solidFill>
                  <a:schemeClr val="tx1">
                    <a:lumMod val="85000"/>
                    <a:lumOff val="15000"/>
                  </a:schemeClr>
                </a:solidFill>
              </a:rPr>
              <a:t>Load Word </a:t>
            </a:r>
            <a:r>
              <a:rPr lang="ja-JP" altLang="en-US" dirty="0">
                <a:solidFill>
                  <a:schemeClr val="tx1">
                    <a:lumMod val="85000"/>
                    <a:lumOff val="15000"/>
                  </a:schemeClr>
                </a:solidFill>
              </a:rPr>
              <a:t>命令（</a:t>
            </a:r>
            <a:r>
              <a:rPr lang="en-US" altLang="ja-JP" dirty="0">
                <a:solidFill>
                  <a:schemeClr val="tx1">
                    <a:lumMod val="85000"/>
                    <a:lumOff val="15000"/>
                  </a:schemeClr>
                </a:solidFill>
              </a:rPr>
              <a:t>4</a:t>
            </a:r>
            <a:r>
              <a:rPr lang="ja-JP" altLang="en-US" dirty="0">
                <a:solidFill>
                  <a:schemeClr val="tx1">
                    <a:lumMod val="85000"/>
                    <a:lumOff val="15000"/>
                  </a:schemeClr>
                </a:solidFill>
              </a:rPr>
              <a:t>バイトをロード）</a:t>
            </a:r>
            <a:endParaRPr lang="en-US" altLang="ja-JP" dirty="0">
              <a:solidFill>
                <a:schemeClr val="tx1">
                  <a:lumMod val="85000"/>
                  <a:lumOff val="15000"/>
                </a:schemeClr>
              </a:solidFill>
            </a:endParaRPr>
          </a:p>
          <a:p>
            <a:pPr lvl="1"/>
            <a:r>
              <a:rPr lang="en-US" altLang="ja-JP" dirty="0">
                <a:solidFill>
                  <a:schemeClr val="tx1">
                    <a:lumMod val="85000"/>
                    <a:lumOff val="15000"/>
                  </a:schemeClr>
                </a:solidFill>
              </a:rPr>
              <a:t>opcode: 0000011 </a:t>
            </a:r>
            <a:r>
              <a:rPr lang="ja-JP" altLang="en-US" dirty="0">
                <a:solidFill>
                  <a:schemeClr val="tx1">
                    <a:lumMod val="85000"/>
                    <a:lumOff val="15000"/>
                  </a:schemeClr>
                </a:solidFill>
              </a:rPr>
              <a:t>は ロード命令で </a:t>
            </a:r>
            <a:r>
              <a:rPr lang="en-US" altLang="ja-JP" dirty="0">
                <a:solidFill>
                  <a:schemeClr val="tx1">
                    <a:lumMod val="85000"/>
                    <a:lumOff val="15000"/>
                  </a:schemeClr>
                </a:solidFill>
              </a:rPr>
              <a:t>I-Type</a:t>
            </a:r>
          </a:p>
          <a:p>
            <a:pPr lvl="1"/>
            <a:r>
              <a:rPr lang="en-US" altLang="ja-JP" dirty="0">
                <a:solidFill>
                  <a:schemeClr val="tx1">
                    <a:lumMod val="85000"/>
                    <a:lumOff val="15000"/>
                  </a:schemeClr>
                </a:solidFill>
              </a:rPr>
              <a:t>funct3 </a:t>
            </a:r>
            <a:r>
              <a:rPr lang="ja-JP" altLang="en-US" dirty="0">
                <a:solidFill>
                  <a:schemeClr val="tx1">
                    <a:lumMod val="85000"/>
                    <a:lumOff val="15000"/>
                  </a:schemeClr>
                </a:solidFill>
              </a:rPr>
              <a:t>部分がかわると，バイト数が異なる他のロードに</a:t>
            </a:r>
            <a:endParaRPr lang="en-US" altLang="ja-JP" dirty="0">
              <a:solidFill>
                <a:schemeClr val="tx1">
                  <a:lumMod val="85000"/>
                  <a:lumOff val="15000"/>
                </a:schemeClr>
              </a:solidFill>
            </a:endParaRPr>
          </a:p>
          <a:p>
            <a:r>
              <a:rPr lang="en-US" altLang="ja-JP" dirty="0">
                <a:solidFill>
                  <a:schemeClr val="tx1">
                    <a:lumMod val="85000"/>
                    <a:lumOff val="15000"/>
                  </a:schemeClr>
                </a:solidFill>
                <a:latin typeface="Consolas" panose="020B0609020204030204" pitchFamily="49" charset="0"/>
              </a:rPr>
              <a:t>(x[rs1] + immediate) </a:t>
            </a:r>
            <a:r>
              <a:rPr lang="ja-JP" altLang="en-US" dirty="0">
                <a:solidFill>
                  <a:schemeClr val="tx1">
                    <a:lumMod val="85000"/>
                    <a:lumOff val="15000"/>
                  </a:schemeClr>
                </a:solidFill>
                <a:latin typeface="Consolas" panose="020B0609020204030204" pitchFamily="49" charset="0"/>
              </a:rPr>
              <a:t>と加算が入っている</a:t>
            </a:r>
            <a:endParaRPr lang="en-US" altLang="ja-JP" dirty="0">
              <a:solidFill>
                <a:schemeClr val="tx1">
                  <a:lumMod val="85000"/>
                  <a:lumOff val="15000"/>
                </a:schemeClr>
              </a:solidFill>
              <a:latin typeface="Consolas" panose="020B0609020204030204" pitchFamily="49" charset="0"/>
            </a:endParaRPr>
          </a:p>
          <a:p>
            <a:pPr lvl="1"/>
            <a:r>
              <a:rPr lang="ja-JP" altLang="en-US" dirty="0">
                <a:solidFill>
                  <a:schemeClr val="tx1">
                    <a:lumMod val="85000"/>
                    <a:lumOff val="15000"/>
                  </a:schemeClr>
                </a:solidFill>
                <a:latin typeface="Consolas" panose="020B0609020204030204" pitchFamily="49" charset="0"/>
              </a:rPr>
              <a:t>レジスタ値に即値を加算してアドレスとできると便利だから</a:t>
            </a:r>
            <a:endParaRPr lang="en-US" altLang="ja-JP" dirty="0">
              <a:solidFill>
                <a:schemeClr val="tx1">
                  <a:lumMod val="85000"/>
                  <a:lumOff val="15000"/>
                </a:schemeClr>
              </a:solidFill>
            </a:endParaRPr>
          </a:p>
          <a:p>
            <a:pPr lvl="1"/>
            <a:r>
              <a:rPr lang="en-US" altLang="ja-JP" dirty="0">
                <a:solidFill>
                  <a:schemeClr val="tx1">
                    <a:lumMod val="85000"/>
                    <a:lumOff val="15000"/>
                  </a:schemeClr>
                </a:solidFill>
                <a:latin typeface="Consolas" panose="020B0609020204030204" pitchFamily="49" charset="0"/>
              </a:rPr>
              <a:t>x[rs1] </a:t>
            </a:r>
            <a:r>
              <a:rPr lang="ja-JP" altLang="en-US" dirty="0">
                <a:solidFill>
                  <a:schemeClr val="tx1">
                    <a:lumMod val="85000"/>
                    <a:lumOff val="15000"/>
                  </a:schemeClr>
                </a:solidFill>
                <a:latin typeface="Consolas" panose="020B0609020204030204" pitchFamily="49" charset="0"/>
              </a:rPr>
              <a:t>に構造体の先頭，</a:t>
            </a:r>
            <a:r>
              <a:rPr lang="en-US" altLang="ja-JP" dirty="0">
                <a:solidFill>
                  <a:schemeClr val="tx1">
                    <a:lumMod val="85000"/>
                    <a:lumOff val="15000"/>
                  </a:schemeClr>
                </a:solidFill>
                <a:latin typeface="Consolas" panose="020B0609020204030204" pitchFamily="49" charset="0"/>
              </a:rPr>
              <a:t>immediate </a:t>
            </a:r>
            <a:r>
              <a:rPr lang="ja-JP" altLang="en-US" dirty="0">
                <a:solidFill>
                  <a:schemeClr val="tx1">
                    <a:lumMod val="85000"/>
                    <a:lumOff val="15000"/>
                  </a:schemeClr>
                </a:solidFill>
                <a:latin typeface="Consolas" panose="020B0609020204030204" pitchFamily="49" charset="0"/>
              </a:rPr>
              <a:t>がメンバへの</a:t>
            </a:r>
            <a:br>
              <a:rPr lang="en-US" altLang="ja-JP" dirty="0">
                <a:solidFill>
                  <a:schemeClr val="tx1">
                    <a:lumMod val="85000"/>
                    <a:lumOff val="15000"/>
                  </a:schemeClr>
                </a:solidFill>
                <a:latin typeface="Consolas" panose="020B0609020204030204" pitchFamily="49" charset="0"/>
              </a:rPr>
            </a:br>
            <a:r>
              <a:rPr lang="ja-JP" altLang="en-US" dirty="0">
                <a:solidFill>
                  <a:schemeClr val="tx1">
                    <a:lumMod val="85000"/>
                    <a:lumOff val="15000"/>
                  </a:schemeClr>
                </a:solidFill>
                <a:latin typeface="Consolas" panose="020B0609020204030204" pitchFamily="49" charset="0"/>
              </a:rPr>
              <a:t>オフセットとか</a:t>
            </a:r>
            <a:endParaRPr lang="en-US" altLang="ja-JP" dirty="0">
              <a:solidFill>
                <a:schemeClr val="tx1">
                  <a:lumMod val="85000"/>
                  <a:lumOff val="15000"/>
                </a:schemeClr>
              </a:solidFill>
            </a:endParaRPr>
          </a:p>
        </p:txBody>
      </p:sp>
      <p:sp>
        <p:nvSpPr>
          <p:cNvPr id="8" name="Text Box 28"/>
          <p:cNvSpPr txBox="1">
            <a:spLocks noChangeArrowheads="1"/>
          </p:cNvSpPr>
          <p:nvPr/>
        </p:nvSpPr>
        <p:spPr bwMode="auto">
          <a:xfrm>
            <a:off x="4925988" y="1448978"/>
            <a:ext cx="1080115" cy="360362"/>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dirty="0"/>
              <a:t>rs1</a:t>
            </a:r>
          </a:p>
        </p:txBody>
      </p:sp>
      <p:sp>
        <p:nvSpPr>
          <p:cNvPr id="9" name="Text Box 29"/>
          <p:cNvSpPr txBox="1">
            <a:spLocks noChangeArrowheads="1"/>
          </p:cNvSpPr>
          <p:nvPr/>
        </p:nvSpPr>
        <p:spPr bwMode="auto">
          <a:xfrm>
            <a:off x="6005999" y="1448978"/>
            <a:ext cx="810111" cy="360362"/>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nchorCtr="1"/>
          <a:lstStyle/>
          <a:p>
            <a:pPr eaLnBrk="1" hangingPunct="1"/>
            <a:r>
              <a:rPr lang="en-US" altLang="ja-JP" dirty="0"/>
              <a:t>funct3</a:t>
            </a:r>
          </a:p>
        </p:txBody>
      </p:sp>
      <p:sp>
        <p:nvSpPr>
          <p:cNvPr id="12" name="Rectangle 32"/>
          <p:cNvSpPr>
            <a:spLocks noChangeArrowheads="1"/>
          </p:cNvSpPr>
          <p:nvPr/>
        </p:nvSpPr>
        <p:spPr bwMode="auto">
          <a:xfrm>
            <a:off x="9156035"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0</a:t>
            </a:r>
          </a:p>
        </p:txBody>
      </p:sp>
      <p:sp>
        <p:nvSpPr>
          <p:cNvPr id="14" name="Rectangle 34"/>
          <p:cNvSpPr>
            <a:spLocks noChangeArrowheads="1"/>
          </p:cNvSpPr>
          <p:nvPr/>
        </p:nvSpPr>
        <p:spPr bwMode="auto">
          <a:xfrm>
            <a:off x="7895816"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6</a:t>
            </a:r>
          </a:p>
        </p:txBody>
      </p:sp>
      <p:sp>
        <p:nvSpPr>
          <p:cNvPr id="19" name="Rectangle 34"/>
          <p:cNvSpPr>
            <a:spLocks noChangeArrowheads="1"/>
          </p:cNvSpPr>
          <p:nvPr/>
        </p:nvSpPr>
        <p:spPr bwMode="auto">
          <a:xfrm>
            <a:off x="7715814" y="1179719"/>
            <a:ext cx="179387" cy="253411"/>
          </a:xfrm>
          <a:prstGeom prst="rect">
            <a:avLst/>
          </a:prstGeom>
          <a:noFill/>
          <a:ln w="38100">
            <a:noFill/>
            <a:miter lim="800000"/>
            <a:headEnd/>
            <a:tailEnd type="none" w="med" len="lg"/>
          </a:ln>
          <a:effectLst/>
        </p:spPr>
        <p:txBody>
          <a:bodyPr wrap="none" lIns="93600" tIns="46800" rIns="93600" bIns="46800" anchor="ctr"/>
          <a:lstStyle/>
          <a:p>
            <a:r>
              <a:rPr lang="en-US" altLang="ja-JP" sz="1400" dirty="0"/>
              <a:t>7</a:t>
            </a:r>
          </a:p>
        </p:txBody>
      </p:sp>
      <p:sp>
        <p:nvSpPr>
          <p:cNvPr id="20" name="Rectangle 34"/>
          <p:cNvSpPr>
            <a:spLocks noChangeArrowheads="1"/>
          </p:cNvSpPr>
          <p:nvPr/>
        </p:nvSpPr>
        <p:spPr bwMode="auto">
          <a:xfrm>
            <a:off x="6815804"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11</a:t>
            </a:r>
          </a:p>
        </p:txBody>
      </p:sp>
      <p:sp>
        <p:nvSpPr>
          <p:cNvPr id="21" name="Rectangle 34"/>
          <p:cNvSpPr>
            <a:spLocks noChangeArrowheads="1"/>
          </p:cNvSpPr>
          <p:nvPr/>
        </p:nvSpPr>
        <p:spPr bwMode="auto">
          <a:xfrm>
            <a:off x="6545801"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12</a:t>
            </a:r>
          </a:p>
        </p:txBody>
      </p:sp>
      <p:sp>
        <p:nvSpPr>
          <p:cNvPr id="22" name="Rectangle 34"/>
          <p:cNvSpPr>
            <a:spLocks noChangeArrowheads="1"/>
          </p:cNvSpPr>
          <p:nvPr/>
        </p:nvSpPr>
        <p:spPr bwMode="auto">
          <a:xfrm>
            <a:off x="6005795"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14</a:t>
            </a:r>
          </a:p>
        </p:txBody>
      </p:sp>
      <p:sp>
        <p:nvSpPr>
          <p:cNvPr id="23" name="Rectangle 34"/>
          <p:cNvSpPr>
            <a:spLocks noChangeArrowheads="1"/>
          </p:cNvSpPr>
          <p:nvPr/>
        </p:nvSpPr>
        <p:spPr bwMode="auto">
          <a:xfrm>
            <a:off x="5735792"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15</a:t>
            </a:r>
          </a:p>
        </p:txBody>
      </p:sp>
      <p:sp>
        <p:nvSpPr>
          <p:cNvPr id="24" name="Rectangle 34"/>
          <p:cNvSpPr>
            <a:spLocks noChangeArrowheads="1"/>
          </p:cNvSpPr>
          <p:nvPr/>
        </p:nvSpPr>
        <p:spPr bwMode="auto">
          <a:xfrm>
            <a:off x="4835782"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19</a:t>
            </a:r>
          </a:p>
        </p:txBody>
      </p:sp>
      <p:sp>
        <p:nvSpPr>
          <p:cNvPr id="25" name="Rectangle 34"/>
          <p:cNvSpPr>
            <a:spLocks noChangeArrowheads="1"/>
          </p:cNvSpPr>
          <p:nvPr/>
        </p:nvSpPr>
        <p:spPr bwMode="auto">
          <a:xfrm>
            <a:off x="4565779"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20</a:t>
            </a:r>
          </a:p>
        </p:txBody>
      </p:sp>
      <p:sp>
        <p:nvSpPr>
          <p:cNvPr id="28" name="Rectangle 34"/>
          <p:cNvSpPr>
            <a:spLocks noChangeArrowheads="1"/>
          </p:cNvSpPr>
          <p:nvPr/>
        </p:nvSpPr>
        <p:spPr bwMode="auto">
          <a:xfrm>
            <a:off x="2045956"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31</a:t>
            </a:r>
          </a:p>
        </p:txBody>
      </p:sp>
      <p:sp>
        <p:nvSpPr>
          <p:cNvPr id="31" name="Text Box 28"/>
          <p:cNvSpPr txBox="1">
            <a:spLocks noChangeArrowheads="1"/>
          </p:cNvSpPr>
          <p:nvPr/>
        </p:nvSpPr>
        <p:spPr bwMode="auto">
          <a:xfrm>
            <a:off x="4925988" y="2438989"/>
            <a:ext cx="1080115" cy="360362"/>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dirty="0"/>
              <a:t>rs1</a:t>
            </a:r>
          </a:p>
        </p:txBody>
      </p:sp>
      <p:sp>
        <p:nvSpPr>
          <p:cNvPr id="32" name="Text Box 29"/>
          <p:cNvSpPr txBox="1">
            <a:spLocks noChangeArrowheads="1"/>
          </p:cNvSpPr>
          <p:nvPr/>
        </p:nvSpPr>
        <p:spPr bwMode="auto">
          <a:xfrm>
            <a:off x="6005999" y="2438989"/>
            <a:ext cx="810111" cy="360362"/>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nchorCtr="1"/>
          <a:lstStyle/>
          <a:p>
            <a:pPr eaLnBrk="1" hangingPunct="1"/>
            <a:r>
              <a:rPr lang="en-US" altLang="ja-JP" dirty="0"/>
              <a:t>010</a:t>
            </a:r>
          </a:p>
        </p:txBody>
      </p:sp>
      <p:sp>
        <p:nvSpPr>
          <p:cNvPr id="70" name="正方形/長方形 69"/>
          <p:cNvSpPr/>
          <p:nvPr/>
        </p:nvSpPr>
        <p:spPr bwMode="auto">
          <a:xfrm>
            <a:off x="2045955" y="2078985"/>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LW : x[</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(x[rs1] + immediate)</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36" name="Text Box 27"/>
          <p:cNvSpPr txBox="1">
            <a:spLocks noChangeArrowheads="1"/>
          </p:cNvSpPr>
          <p:nvPr/>
        </p:nvSpPr>
        <p:spPr bwMode="auto">
          <a:xfrm>
            <a:off x="2135957" y="2438989"/>
            <a:ext cx="2790031" cy="360362"/>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r>
              <a:rPr lang="en-US" altLang="ja-JP" dirty="0"/>
              <a:t>immediate[11:0]</a:t>
            </a:r>
            <a:endParaRPr lang="ja-JP" altLang="ja-JP" dirty="0"/>
          </a:p>
        </p:txBody>
      </p:sp>
    </p:spTree>
    <p:extLst>
      <p:ext uri="{BB962C8B-B14F-4D97-AF65-F5344CB8AC3E}">
        <p14:creationId xmlns:p14="http://schemas.microsoft.com/office/powerpoint/2010/main" val="32174114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 Box 30"/>
          <p:cNvSpPr txBox="1">
            <a:spLocks noChangeArrowheads="1"/>
          </p:cNvSpPr>
          <p:nvPr/>
        </p:nvSpPr>
        <p:spPr bwMode="auto">
          <a:xfrm>
            <a:off x="6816008" y="2438989"/>
            <a:ext cx="1080116" cy="360362"/>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r>
              <a:rPr lang="en-US" altLang="ja-JP" dirty="0" err="1"/>
              <a:t>imm</a:t>
            </a:r>
            <a:r>
              <a:rPr lang="en-US" altLang="ja-JP" dirty="0"/>
              <a:t>[4:0]</a:t>
            </a:r>
          </a:p>
        </p:txBody>
      </p:sp>
      <p:sp>
        <p:nvSpPr>
          <p:cNvPr id="34" name="Text Box 31"/>
          <p:cNvSpPr txBox="1">
            <a:spLocks noChangeArrowheads="1"/>
          </p:cNvSpPr>
          <p:nvPr/>
        </p:nvSpPr>
        <p:spPr bwMode="auto">
          <a:xfrm>
            <a:off x="7896020" y="2438989"/>
            <a:ext cx="1439606" cy="360362"/>
          </a:xfrm>
          <a:prstGeom prst="rect">
            <a:avLst/>
          </a:prstGeom>
          <a:ln>
            <a:headEnd/>
            <a:tailEnd/>
          </a:ln>
          <a:effectLst/>
        </p:spPr>
        <p:style>
          <a:lnRef idx="1">
            <a:schemeClr val="accent2"/>
          </a:lnRef>
          <a:fillRef idx="2">
            <a:schemeClr val="accent2"/>
          </a:fillRef>
          <a:effectRef idx="1">
            <a:schemeClr val="accent2"/>
          </a:effectRef>
          <a:fontRef idx="minor">
            <a:schemeClr val="dk1"/>
          </a:fontRef>
        </p:style>
        <p:txBody>
          <a:bodyPr wrap="none" anchor="ctr" anchorCtr="1"/>
          <a:lstStyle/>
          <a:p>
            <a:pPr eaLnBrk="1" hangingPunct="1"/>
            <a:r>
              <a:rPr lang="en-US" altLang="ja-JP" dirty="0"/>
              <a:t>0100011</a:t>
            </a:r>
          </a:p>
        </p:txBody>
      </p:sp>
      <p:sp>
        <p:nvSpPr>
          <p:cNvPr id="2" name="タイトル 1"/>
          <p:cNvSpPr>
            <a:spLocks noGrp="1"/>
          </p:cNvSpPr>
          <p:nvPr>
            <p:ph type="title"/>
          </p:nvPr>
        </p:nvSpPr>
        <p:spPr/>
        <p:txBody>
          <a:bodyPr/>
          <a:lstStyle/>
          <a:p>
            <a:r>
              <a:rPr lang="en-US" altLang="ja-JP" dirty="0"/>
              <a:t>S-Type </a:t>
            </a:r>
            <a:r>
              <a:rPr lang="ja-JP" altLang="en-US" dirty="0"/>
              <a:t>の命令</a:t>
            </a:r>
            <a:endParaRPr lang="en-US" altLang="ja-JP" dirty="0"/>
          </a:p>
        </p:txBody>
      </p:sp>
      <p:sp>
        <p:nvSpPr>
          <p:cNvPr id="68" name="テキスト プレースホルダー 2"/>
          <p:cNvSpPr>
            <a:spLocks noGrp="1"/>
          </p:cNvSpPr>
          <p:nvPr>
            <p:ph type="body" sz="quarter" idx="10"/>
          </p:nvPr>
        </p:nvSpPr>
        <p:spPr>
          <a:xfrm>
            <a:off x="2135956" y="3429000"/>
            <a:ext cx="8010088" cy="1260014"/>
          </a:xfrm>
        </p:spPr>
        <p:txBody>
          <a:bodyPr anchor="t"/>
          <a:lstStyle/>
          <a:p>
            <a:r>
              <a:rPr lang="en-US" altLang="ja-JP" dirty="0">
                <a:solidFill>
                  <a:schemeClr val="tx1">
                    <a:lumMod val="85000"/>
                    <a:lumOff val="15000"/>
                  </a:schemeClr>
                </a:solidFill>
              </a:rPr>
              <a:t>SW</a:t>
            </a:r>
            <a:r>
              <a:rPr lang="ja-JP" altLang="en-US" dirty="0">
                <a:solidFill>
                  <a:schemeClr val="tx1">
                    <a:lumMod val="85000"/>
                    <a:lumOff val="15000"/>
                  </a:schemeClr>
                </a:solidFill>
              </a:rPr>
              <a:t>：</a:t>
            </a:r>
            <a:r>
              <a:rPr lang="en-US" altLang="ja-JP" dirty="0">
                <a:solidFill>
                  <a:schemeClr val="tx1">
                    <a:lumMod val="85000"/>
                    <a:lumOff val="15000"/>
                  </a:schemeClr>
                </a:solidFill>
              </a:rPr>
              <a:t>Store Word </a:t>
            </a:r>
            <a:r>
              <a:rPr lang="ja-JP" altLang="en-US" dirty="0">
                <a:solidFill>
                  <a:schemeClr val="tx1">
                    <a:lumMod val="85000"/>
                    <a:lumOff val="15000"/>
                  </a:schemeClr>
                </a:solidFill>
              </a:rPr>
              <a:t>命令</a:t>
            </a:r>
            <a:endParaRPr lang="en-US" altLang="ja-JP" dirty="0">
              <a:solidFill>
                <a:schemeClr val="tx1">
                  <a:lumMod val="85000"/>
                  <a:lumOff val="15000"/>
                </a:schemeClr>
              </a:solidFill>
            </a:endParaRPr>
          </a:p>
          <a:p>
            <a:pPr lvl="1"/>
            <a:r>
              <a:rPr lang="en-US" altLang="ja-JP" dirty="0">
                <a:solidFill>
                  <a:schemeClr val="tx1">
                    <a:lumMod val="85000"/>
                    <a:lumOff val="15000"/>
                  </a:schemeClr>
                </a:solidFill>
              </a:rPr>
              <a:t>opcode: 0100011 </a:t>
            </a:r>
            <a:r>
              <a:rPr lang="ja-JP" altLang="en-US" dirty="0">
                <a:solidFill>
                  <a:schemeClr val="tx1">
                    <a:lumMod val="85000"/>
                    <a:lumOff val="15000"/>
                  </a:schemeClr>
                </a:solidFill>
              </a:rPr>
              <a:t>はロード命令で </a:t>
            </a:r>
            <a:r>
              <a:rPr lang="en-US" altLang="ja-JP" dirty="0">
                <a:solidFill>
                  <a:schemeClr val="tx1">
                    <a:lumMod val="85000"/>
                    <a:lumOff val="15000"/>
                  </a:schemeClr>
                </a:solidFill>
              </a:rPr>
              <a:t>S-Type</a:t>
            </a:r>
          </a:p>
          <a:p>
            <a:pPr lvl="1"/>
            <a:r>
              <a:rPr lang="en-US" altLang="ja-JP" dirty="0">
                <a:solidFill>
                  <a:schemeClr val="tx1">
                    <a:lumMod val="85000"/>
                    <a:lumOff val="15000"/>
                  </a:schemeClr>
                </a:solidFill>
              </a:rPr>
              <a:t>funct3 </a:t>
            </a:r>
            <a:r>
              <a:rPr lang="ja-JP" altLang="en-US" dirty="0">
                <a:solidFill>
                  <a:schemeClr val="tx1">
                    <a:lumMod val="85000"/>
                    <a:lumOff val="15000"/>
                  </a:schemeClr>
                </a:solidFill>
              </a:rPr>
              <a:t>部分がかわると，バイト数が異なる他のストアに</a:t>
            </a:r>
            <a:endParaRPr lang="en-US" altLang="ja-JP" dirty="0">
              <a:solidFill>
                <a:schemeClr val="tx1">
                  <a:lumMod val="85000"/>
                  <a:lumOff val="15000"/>
                </a:schemeClr>
              </a:solidFill>
            </a:endParaRPr>
          </a:p>
          <a:p>
            <a:endParaRPr lang="en-US" altLang="ja-JP" dirty="0">
              <a:solidFill>
                <a:schemeClr val="tx1">
                  <a:lumMod val="85000"/>
                  <a:lumOff val="15000"/>
                </a:schemeClr>
              </a:solidFill>
            </a:endParaRPr>
          </a:p>
        </p:txBody>
      </p:sp>
      <p:sp>
        <p:nvSpPr>
          <p:cNvPr id="12" name="Rectangle 32"/>
          <p:cNvSpPr>
            <a:spLocks noChangeArrowheads="1"/>
          </p:cNvSpPr>
          <p:nvPr/>
        </p:nvSpPr>
        <p:spPr bwMode="auto">
          <a:xfrm>
            <a:off x="9156035"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0</a:t>
            </a:r>
          </a:p>
        </p:txBody>
      </p:sp>
      <p:sp>
        <p:nvSpPr>
          <p:cNvPr id="14" name="Rectangle 34"/>
          <p:cNvSpPr>
            <a:spLocks noChangeArrowheads="1"/>
          </p:cNvSpPr>
          <p:nvPr/>
        </p:nvSpPr>
        <p:spPr bwMode="auto">
          <a:xfrm>
            <a:off x="7895816"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6</a:t>
            </a:r>
          </a:p>
        </p:txBody>
      </p:sp>
      <p:sp>
        <p:nvSpPr>
          <p:cNvPr id="19" name="Rectangle 34"/>
          <p:cNvSpPr>
            <a:spLocks noChangeArrowheads="1"/>
          </p:cNvSpPr>
          <p:nvPr/>
        </p:nvSpPr>
        <p:spPr bwMode="auto">
          <a:xfrm>
            <a:off x="7715814" y="1179719"/>
            <a:ext cx="179387" cy="253411"/>
          </a:xfrm>
          <a:prstGeom prst="rect">
            <a:avLst/>
          </a:prstGeom>
          <a:noFill/>
          <a:ln w="38100">
            <a:noFill/>
            <a:miter lim="800000"/>
            <a:headEnd/>
            <a:tailEnd type="none" w="med" len="lg"/>
          </a:ln>
          <a:effectLst/>
        </p:spPr>
        <p:txBody>
          <a:bodyPr wrap="none" lIns="93600" tIns="46800" rIns="93600" bIns="46800" anchor="ctr"/>
          <a:lstStyle/>
          <a:p>
            <a:r>
              <a:rPr lang="en-US" altLang="ja-JP" sz="1400" dirty="0"/>
              <a:t>7</a:t>
            </a:r>
          </a:p>
        </p:txBody>
      </p:sp>
      <p:sp>
        <p:nvSpPr>
          <p:cNvPr id="20" name="Rectangle 34"/>
          <p:cNvSpPr>
            <a:spLocks noChangeArrowheads="1"/>
          </p:cNvSpPr>
          <p:nvPr/>
        </p:nvSpPr>
        <p:spPr bwMode="auto">
          <a:xfrm>
            <a:off x="6815804"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11</a:t>
            </a:r>
          </a:p>
        </p:txBody>
      </p:sp>
      <p:sp>
        <p:nvSpPr>
          <p:cNvPr id="21" name="Rectangle 34"/>
          <p:cNvSpPr>
            <a:spLocks noChangeArrowheads="1"/>
          </p:cNvSpPr>
          <p:nvPr/>
        </p:nvSpPr>
        <p:spPr bwMode="auto">
          <a:xfrm>
            <a:off x="6545801"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12</a:t>
            </a:r>
          </a:p>
        </p:txBody>
      </p:sp>
      <p:sp>
        <p:nvSpPr>
          <p:cNvPr id="22" name="Rectangle 34"/>
          <p:cNvSpPr>
            <a:spLocks noChangeArrowheads="1"/>
          </p:cNvSpPr>
          <p:nvPr/>
        </p:nvSpPr>
        <p:spPr bwMode="auto">
          <a:xfrm>
            <a:off x="6005795"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14</a:t>
            </a:r>
          </a:p>
        </p:txBody>
      </p:sp>
      <p:sp>
        <p:nvSpPr>
          <p:cNvPr id="23" name="Rectangle 34"/>
          <p:cNvSpPr>
            <a:spLocks noChangeArrowheads="1"/>
          </p:cNvSpPr>
          <p:nvPr/>
        </p:nvSpPr>
        <p:spPr bwMode="auto">
          <a:xfrm>
            <a:off x="5735792" y="1179718"/>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15</a:t>
            </a:r>
          </a:p>
        </p:txBody>
      </p:sp>
      <p:sp>
        <p:nvSpPr>
          <p:cNvPr id="24" name="Rectangle 34"/>
          <p:cNvSpPr>
            <a:spLocks noChangeArrowheads="1"/>
          </p:cNvSpPr>
          <p:nvPr/>
        </p:nvSpPr>
        <p:spPr bwMode="auto">
          <a:xfrm>
            <a:off x="4835782"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19</a:t>
            </a:r>
          </a:p>
        </p:txBody>
      </p:sp>
      <p:sp>
        <p:nvSpPr>
          <p:cNvPr id="25" name="Rectangle 34"/>
          <p:cNvSpPr>
            <a:spLocks noChangeArrowheads="1"/>
          </p:cNvSpPr>
          <p:nvPr/>
        </p:nvSpPr>
        <p:spPr bwMode="auto">
          <a:xfrm>
            <a:off x="4565779"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20</a:t>
            </a:r>
          </a:p>
        </p:txBody>
      </p:sp>
      <p:sp>
        <p:nvSpPr>
          <p:cNvPr id="28" name="Rectangle 34"/>
          <p:cNvSpPr>
            <a:spLocks noChangeArrowheads="1"/>
          </p:cNvSpPr>
          <p:nvPr/>
        </p:nvSpPr>
        <p:spPr bwMode="auto">
          <a:xfrm>
            <a:off x="2045956" y="1178975"/>
            <a:ext cx="179387" cy="241300"/>
          </a:xfrm>
          <a:prstGeom prst="rect">
            <a:avLst/>
          </a:prstGeom>
          <a:noFill/>
          <a:ln w="38100">
            <a:noFill/>
            <a:miter lim="800000"/>
            <a:headEnd/>
            <a:tailEnd type="none" w="med" len="lg"/>
          </a:ln>
          <a:effectLst/>
        </p:spPr>
        <p:txBody>
          <a:bodyPr wrap="none" lIns="93600" tIns="46800" rIns="93600" bIns="46800" anchor="ctr"/>
          <a:lstStyle/>
          <a:p>
            <a:r>
              <a:rPr lang="en-US" altLang="ja-JP" sz="1400" dirty="0"/>
              <a:t>31</a:t>
            </a:r>
          </a:p>
        </p:txBody>
      </p:sp>
      <p:sp>
        <p:nvSpPr>
          <p:cNvPr id="31" name="Text Box 28"/>
          <p:cNvSpPr txBox="1">
            <a:spLocks noChangeArrowheads="1"/>
          </p:cNvSpPr>
          <p:nvPr/>
        </p:nvSpPr>
        <p:spPr bwMode="auto">
          <a:xfrm>
            <a:off x="4925988" y="2438989"/>
            <a:ext cx="1080115" cy="360362"/>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dirty="0"/>
              <a:t>rs1</a:t>
            </a:r>
          </a:p>
        </p:txBody>
      </p:sp>
      <p:sp>
        <p:nvSpPr>
          <p:cNvPr id="32" name="Text Box 29"/>
          <p:cNvSpPr txBox="1">
            <a:spLocks noChangeArrowheads="1"/>
          </p:cNvSpPr>
          <p:nvPr/>
        </p:nvSpPr>
        <p:spPr bwMode="auto">
          <a:xfrm>
            <a:off x="6005999" y="2438989"/>
            <a:ext cx="810111" cy="360362"/>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nchorCtr="1"/>
          <a:lstStyle/>
          <a:p>
            <a:pPr eaLnBrk="1" hangingPunct="1"/>
            <a:r>
              <a:rPr lang="en-US" altLang="ja-JP" dirty="0"/>
              <a:t>010</a:t>
            </a:r>
          </a:p>
        </p:txBody>
      </p:sp>
      <p:sp>
        <p:nvSpPr>
          <p:cNvPr id="70" name="正方形/長方形 69"/>
          <p:cNvSpPr/>
          <p:nvPr/>
        </p:nvSpPr>
        <p:spPr bwMode="auto">
          <a:xfrm>
            <a:off x="2045955" y="2078985"/>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SW : (x[rs1]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immediate) = [rs2]</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26" name="Text Box 30"/>
          <p:cNvSpPr txBox="1">
            <a:spLocks noChangeArrowheads="1"/>
          </p:cNvSpPr>
          <p:nvPr/>
        </p:nvSpPr>
        <p:spPr bwMode="auto">
          <a:xfrm>
            <a:off x="6816008" y="1448978"/>
            <a:ext cx="1080116" cy="360362"/>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err="1"/>
              <a:t>imm</a:t>
            </a:r>
            <a:r>
              <a:rPr lang="en-US" altLang="ja-JP" dirty="0"/>
              <a:t>[4:0]</a:t>
            </a:r>
          </a:p>
        </p:txBody>
      </p:sp>
      <p:sp>
        <p:nvSpPr>
          <p:cNvPr id="27" name="Text Box 31"/>
          <p:cNvSpPr txBox="1">
            <a:spLocks noChangeArrowheads="1"/>
          </p:cNvSpPr>
          <p:nvPr/>
        </p:nvSpPr>
        <p:spPr bwMode="auto">
          <a:xfrm>
            <a:off x="7896020" y="1448978"/>
            <a:ext cx="1439606" cy="360362"/>
          </a:xfrm>
          <a:prstGeom prst="rect">
            <a:avLst/>
          </a:prstGeom>
          <a:ln>
            <a:headEnd/>
            <a:tailEnd/>
          </a:ln>
          <a:effectLst/>
        </p:spPr>
        <p:style>
          <a:lnRef idx="1">
            <a:schemeClr val="accent2"/>
          </a:lnRef>
          <a:fillRef idx="2">
            <a:schemeClr val="accent2"/>
          </a:fillRef>
          <a:effectRef idx="1">
            <a:schemeClr val="accent2"/>
          </a:effectRef>
          <a:fontRef idx="minor">
            <a:schemeClr val="dk1"/>
          </a:fontRef>
        </p:style>
        <p:txBody>
          <a:bodyPr wrap="none" anchor="ctr" anchorCtr="1"/>
          <a:lstStyle/>
          <a:p>
            <a:pPr eaLnBrk="1" hangingPunct="1"/>
            <a:r>
              <a:rPr lang="en-US" altLang="ja-JP" dirty="0"/>
              <a:t>opcode</a:t>
            </a:r>
          </a:p>
        </p:txBody>
      </p:sp>
      <p:sp>
        <p:nvSpPr>
          <p:cNvPr id="29" name="Text Box 27"/>
          <p:cNvSpPr txBox="1">
            <a:spLocks noChangeArrowheads="1"/>
          </p:cNvSpPr>
          <p:nvPr/>
        </p:nvSpPr>
        <p:spPr bwMode="auto">
          <a:xfrm>
            <a:off x="2135957" y="1448978"/>
            <a:ext cx="1710019" cy="360362"/>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dirty="0"/>
              <a:t>immediate[11:5]</a:t>
            </a:r>
            <a:endParaRPr lang="ja-JP" altLang="ja-JP" dirty="0"/>
          </a:p>
        </p:txBody>
      </p:sp>
      <p:sp>
        <p:nvSpPr>
          <p:cNvPr id="30" name="Text Box 27"/>
          <p:cNvSpPr txBox="1">
            <a:spLocks noChangeArrowheads="1"/>
          </p:cNvSpPr>
          <p:nvPr/>
        </p:nvSpPr>
        <p:spPr bwMode="auto">
          <a:xfrm>
            <a:off x="3845975" y="1448978"/>
            <a:ext cx="1079500" cy="360362"/>
          </a:xfrm>
          <a:prstGeom prst="rect">
            <a:avLst/>
          </a:prstGeom>
          <a:ln>
            <a:headEnd/>
            <a:tailEnd/>
          </a:ln>
          <a:effectLst/>
        </p:spPr>
        <p:style>
          <a:lnRef idx="1">
            <a:schemeClr val="accent1"/>
          </a:lnRef>
          <a:fillRef idx="2">
            <a:schemeClr val="accent1"/>
          </a:fillRef>
          <a:effectRef idx="1">
            <a:schemeClr val="accent1"/>
          </a:effectRef>
          <a:fontRef idx="minor">
            <a:schemeClr val="dk1"/>
          </a:fontRef>
        </p:style>
        <p:txBody>
          <a:bodyPr wrap="none" anchor="ctr" anchorCtr="1"/>
          <a:lstStyle/>
          <a:p>
            <a:pPr eaLnBrk="1" hangingPunct="1"/>
            <a:r>
              <a:rPr lang="en-US" altLang="ja-JP" dirty="0"/>
              <a:t>rs2</a:t>
            </a:r>
            <a:endParaRPr lang="ja-JP" altLang="ja-JP" dirty="0"/>
          </a:p>
        </p:txBody>
      </p:sp>
      <p:sp>
        <p:nvSpPr>
          <p:cNvPr id="35" name="Text Box 28"/>
          <p:cNvSpPr txBox="1">
            <a:spLocks noChangeArrowheads="1"/>
          </p:cNvSpPr>
          <p:nvPr/>
        </p:nvSpPr>
        <p:spPr bwMode="auto">
          <a:xfrm>
            <a:off x="4925988" y="1448978"/>
            <a:ext cx="1080115" cy="360362"/>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dirty="0"/>
              <a:t>rs1</a:t>
            </a:r>
          </a:p>
        </p:txBody>
      </p:sp>
      <p:sp>
        <p:nvSpPr>
          <p:cNvPr id="37" name="Text Box 29"/>
          <p:cNvSpPr txBox="1">
            <a:spLocks noChangeArrowheads="1"/>
          </p:cNvSpPr>
          <p:nvPr/>
        </p:nvSpPr>
        <p:spPr bwMode="auto">
          <a:xfrm>
            <a:off x="6005999" y="1448978"/>
            <a:ext cx="810111" cy="360362"/>
          </a:xfrm>
          <a:prstGeom prst="rect">
            <a:avLst/>
          </a:prstGeom>
          <a:ln>
            <a:headEnd/>
            <a:tailEnd/>
          </a:ln>
          <a:effectLst/>
        </p:spPr>
        <p:style>
          <a:lnRef idx="1">
            <a:schemeClr val="accent3"/>
          </a:lnRef>
          <a:fillRef idx="2">
            <a:schemeClr val="accent3"/>
          </a:fillRef>
          <a:effectRef idx="1">
            <a:schemeClr val="accent3"/>
          </a:effectRef>
          <a:fontRef idx="minor">
            <a:schemeClr val="dk1"/>
          </a:fontRef>
        </p:style>
        <p:txBody>
          <a:bodyPr wrap="none" anchor="ctr" anchorCtr="1"/>
          <a:lstStyle/>
          <a:p>
            <a:pPr eaLnBrk="1" hangingPunct="1"/>
            <a:r>
              <a:rPr lang="en-US" altLang="ja-JP" dirty="0"/>
              <a:t>funct3</a:t>
            </a:r>
          </a:p>
        </p:txBody>
      </p:sp>
      <p:sp>
        <p:nvSpPr>
          <p:cNvPr id="38" name="Text Box 27"/>
          <p:cNvSpPr txBox="1">
            <a:spLocks noChangeArrowheads="1"/>
          </p:cNvSpPr>
          <p:nvPr/>
        </p:nvSpPr>
        <p:spPr bwMode="auto">
          <a:xfrm>
            <a:off x="2135957" y="2438989"/>
            <a:ext cx="1710019" cy="360362"/>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dirty="0"/>
              <a:t>immediate[11:5]</a:t>
            </a:r>
            <a:endParaRPr lang="ja-JP" altLang="ja-JP" dirty="0"/>
          </a:p>
        </p:txBody>
      </p:sp>
      <p:sp>
        <p:nvSpPr>
          <p:cNvPr id="39" name="Text Box 27"/>
          <p:cNvSpPr txBox="1">
            <a:spLocks noChangeArrowheads="1"/>
          </p:cNvSpPr>
          <p:nvPr/>
        </p:nvSpPr>
        <p:spPr bwMode="auto">
          <a:xfrm>
            <a:off x="3845975" y="2438989"/>
            <a:ext cx="1079500" cy="360362"/>
          </a:xfrm>
          <a:prstGeom prst="rect">
            <a:avLst/>
          </a:prstGeom>
          <a:ln>
            <a:headEnd/>
            <a:tailEnd/>
          </a:ln>
          <a:effectLst/>
        </p:spPr>
        <p:style>
          <a:lnRef idx="1">
            <a:schemeClr val="accent1"/>
          </a:lnRef>
          <a:fillRef idx="2">
            <a:schemeClr val="accent1"/>
          </a:fillRef>
          <a:effectRef idx="1">
            <a:schemeClr val="accent1"/>
          </a:effectRef>
          <a:fontRef idx="minor">
            <a:schemeClr val="dk1"/>
          </a:fontRef>
        </p:style>
        <p:txBody>
          <a:bodyPr wrap="none" anchor="ctr" anchorCtr="1"/>
          <a:lstStyle/>
          <a:p>
            <a:pPr eaLnBrk="1" hangingPunct="1"/>
            <a:r>
              <a:rPr lang="en-US" altLang="ja-JP" dirty="0"/>
              <a:t>rs2</a:t>
            </a:r>
            <a:endParaRPr lang="ja-JP" altLang="ja-JP" dirty="0"/>
          </a:p>
        </p:txBody>
      </p:sp>
    </p:spTree>
    <p:extLst>
      <p:ext uri="{BB962C8B-B14F-4D97-AF65-F5344CB8AC3E}">
        <p14:creationId xmlns:p14="http://schemas.microsoft.com/office/powerpoint/2010/main" val="6771492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ロードとストアの違い</a:t>
            </a:r>
          </a:p>
        </p:txBody>
      </p:sp>
      <p:sp>
        <p:nvSpPr>
          <p:cNvPr id="3" name="テキスト プレースホルダー 2"/>
          <p:cNvSpPr>
            <a:spLocks noGrp="1"/>
          </p:cNvSpPr>
          <p:nvPr>
            <p:ph type="body" sz="quarter" idx="10"/>
          </p:nvPr>
        </p:nvSpPr>
        <p:spPr>
          <a:xfrm>
            <a:off x="2135956" y="3969007"/>
            <a:ext cx="8280092" cy="2339719"/>
          </a:xfrm>
        </p:spPr>
        <p:txBody>
          <a:bodyPr/>
          <a:lstStyle/>
          <a:p>
            <a:r>
              <a:rPr kumimoji="1" lang="ja-JP" altLang="en-US" dirty="0"/>
              <a:t>どちらもレジスタのオペランドは２つ</a:t>
            </a:r>
            <a:endParaRPr kumimoji="1" lang="en-US" altLang="ja-JP" dirty="0"/>
          </a:p>
          <a:p>
            <a:pPr lvl="1"/>
            <a:r>
              <a:rPr kumimoji="1" lang="ja-JP" altLang="en-US" dirty="0"/>
              <a:t>しかし，使用するビット位置が違う</a:t>
            </a:r>
            <a:endParaRPr kumimoji="1" lang="en-US" altLang="ja-JP" dirty="0"/>
          </a:p>
          <a:p>
            <a:pPr lvl="1"/>
            <a:r>
              <a:rPr kumimoji="1" lang="en-US" altLang="ja-JP" dirty="0"/>
              <a:t>LW: </a:t>
            </a:r>
            <a:r>
              <a:rPr kumimoji="1" lang="en-US" altLang="ja-JP" dirty="0" err="1"/>
              <a:t>rd</a:t>
            </a:r>
            <a:r>
              <a:rPr kumimoji="1" lang="en-US" altLang="ja-JP" dirty="0"/>
              <a:t>, rs1   /    SW: rs1, rs2</a:t>
            </a:r>
          </a:p>
          <a:p>
            <a:r>
              <a:rPr kumimoji="1" lang="ja-JP" altLang="en-US" dirty="0"/>
              <a:t>理由がある</a:t>
            </a:r>
          </a:p>
        </p:txBody>
      </p:sp>
      <p:sp>
        <p:nvSpPr>
          <p:cNvPr id="4" name="Text Box 30"/>
          <p:cNvSpPr txBox="1">
            <a:spLocks noChangeArrowheads="1"/>
          </p:cNvSpPr>
          <p:nvPr/>
        </p:nvSpPr>
        <p:spPr bwMode="auto">
          <a:xfrm>
            <a:off x="6816008" y="2438989"/>
            <a:ext cx="1080116" cy="360362"/>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r>
              <a:rPr lang="en-US" altLang="ja-JP" dirty="0" err="1"/>
              <a:t>imm</a:t>
            </a:r>
            <a:r>
              <a:rPr lang="en-US" altLang="ja-JP" dirty="0"/>
              <a:t>[4:0]</a:t>
            </a:r>
          </a:p>
        </p:txBody>
      </p:sp>
      <p:sp>
        <p:nvSpPr>
          <p:cNvPr id="5" name="Text Box 31"/>
          <p:cNvSpPr txBox="1">
            <a:spLocks noChangeArrowheads="1"/>
          </p:cNvSpPr>
          <p:nvPr/>
        </p:nvSpPr>
        <p:spPr bwMode="auto">
          <a:xfrm>
            <a:off x="7896020" y="2438989"/>
            <a:ext cx="1439606"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0100011</a:t>
            </a:r>
          </a:p>
        </p:txBody>
      </p:sp>
      <p:sp>
        <p:nvSpPr>
          <p:cNvPr id="6" name="Text Box 28"/>
          <p:cNvSpPr txBox="1">
            <a:spLocks noChangeArrowheads="1"/>
          </p:cNvSpPr>
          <p:nvPr/>
        </p:nvSpPr>
        <p:spPr bwMode="auto">
          <a:xfrm>
            <a:off x="4925988" y="2438989"/>
            <a:ext cx="1080115" cy="360362"/>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dirty="0">
                <a:solidFill>
                  <a:schemeClr val="accent2"/>
                </a:solidFill>
              </a:rPr>
              <a:t>rs1</a:t>
            </a:r>
          </a:p>
        </p:txBody>
      </p:sp>
      <p:sp>
        <p:nvSpPr>
          <p:cNvPr id="7" name="Text Box 29"/>
          <p:cNvSpPr txBox="1">
            <a:spLocks noChangeArrowheads="1"/>
          </p:cNvSpPr>
          <p:nvPr/>
        </p:nvSpPr>
        <p:spPr bwMode="auto">
          <a:xfrm>
            <a:off x="6005999" y="2438989"/>
            <a:ext cx="810111"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010</a:t>
            </a:r>
          </a:p>
        </p:txBody>
      </p:sp>
      <p:sp>
        <p:nvSpPr>
          <p:cNvPr id="8" name="正方形/長方形 7"/>
          <p:cNvSpPr/>
          <p:nvPr/>
        </p:nvSpPr>
        <p:spPr bwMode="auto">
          <a:xfrm>
            <a:off x="2045955" y="2078985"/>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SW : (x[</a:t>
            </a:r>
            <a:r>
              <a:rPr lang="en-US" altLang="ja-JP" sz="1600" b="1" dirty="0">
                <a:solidFill>
                  <a:schemeClr val="accent2"/>
                </a:solidFill>
                <a:latin typeface="Consolas" panose="020B0609020204030204" pitchFamily="49" charset="0"/>
                <a:ea typeface="メイリオ" panose="020B0604030504040204" pitchFamily="50" charset="-128"/>
              </a:rPr>
              <a:t>rs1</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 immediate)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en-US" altLang="ja-JP" sz="1600" b="1" dirty="0">
                <a:solidFill>
                  <a:schemeClr val="accent2"/>
                </a:solidFill>
                <a:latin typeface="Consolas" panose="020B0609020204030204" pitchFamily="49" charset="0"/>
                <a:ea typeface="メイリオ" panose="020B0604030504040204" pitchFamily="50" charset="-128"/>
              </a:rPr>
              <a:t>rs2</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9" name="Text Box 27"/>
          <p:cNvSpPr txBox="1">
            <a:spLocks noChangeArrowheads="1"/>
          </p:cNvSpPr>
          <p:nvPr/>
        </p:nvSpPr>
        <p:spPr bwMode="auto">
          <a:xfrm>
            <a:off x="2135957" y="2438989"/>
            <a:ext cx="1710019" cy="360362"/>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dirty="0"/>
              <a:t>immediate[11:5]</a:t>
            </a:r>
            <a:endParaRPr lang="ja-JP" altLang="ja-JP" dirty="0"/>
          </a:p>
        </p:txBody>
      </p:sp>
      <p:sp>
        <p:nvSpPr>
          <p:cNvPr id="10" name="Text Box 27"/>
          <p:cNvSpPr txBox="1">
            <a:spLocks noChangeArrowheads="1"/>
          </p:cNvSpPr>
          <p:nvPr/>
        </p:nvSpPr>
        <p:spPr bwMode="auto">
          <a:xfrm>
            <a:off x="3845975" y="2438989"/>
            <a:ext cx="1079500" cy="360362"/>
          </a:xfrm>
          <a:prstGeom prst="rect">
            <a:avLst/>
          </a:prstGeom>
          <a:ln>
            <a:headEnd/>
            <a:tailEnd/>
          </a:ln>
          <a:effectLst/>
        </p:spPr>
        <p:style>
          <a:lnRef idx="1">
            <a:schemeClr val="accent1"/>
          </a:lnRef>
          <a:fillRef idx="2">
            <a:schemeClr val="accent1"/>
          </a:fillRef>
          <a:effectRef idx="1">
            <a:schemeClr val="accent1"/>
          </a:effectRef>
          <a:fontRef idx="minor">
            <a:schemeClr val="dk1"/>
          </a:fontRef>
        </p:style>
        <p:txBody>
          <a:bodyPr wrap="none" anchor="ctr" anchorCtr="1"/>
          <a:lstStyle/>
          <a:p>
            <a:pPr eaLnBrk="1" hangingPunct="1"/>
            <a:r>
              <a:rPr lang="en-US" altLang="ja-JP" dirty="0">
                <a:solidFill>
                  <a:schemeClr val="accent2"/>
                </a:solidFill>
              </a:rPr>
              <a:t>rs2</a:t>
            </a:r>
            <a:endParaRPr lang="ja-JP" altLang="ja-JP" dirty="0">
              <a:solidFill>
                <a:schemeClr val="accent2"/>
              </a:solidFill>
            </a:endParaRPr>
          </a:p>
        </p:txBody>
      </p:sp>
      <p:sp>
        <p:nvSpPr>
          <p:cNvPr id="11" name="Text Box 30"/>
          <p:cNvSpPr txBox="1">
            <a:spLocks noChangeArrowheads="1"/>
          </p:cNvSpPr>
          <p:nvPr/>
        </p:nvSpPr>
        <p:spPr bwMode="auto">
          <a:xfrm>
            <a:off x="6816008" y="1538979"/>
            <a:ext cx="1080116" cy="360362"/>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err="1">
                <a:solidFill>
                  <a:schemeClr val="accent2"/>
                </a:solidFill>
              </a:rPr>
              <a:t>rd</a:t>
            </a:r>
            <a:endParaRPr lang="en-US" altLang="ja-JP" dirty="0">
              <a:solidFill>
                <a:schemeClr val="accent2"/>
              </a:solidFill>
            </a:endParaRPr>
          </a:p>
        </p:txBody>
      </p:sp>
      <p:sp>
        <p:nvSpPr>
          <p:cNvPr id="12" name="Text Box 31"/>
          <p:cNvSpPr txBox="1">
            <a:spLocks noChangeArrowheads="1"/>
          </p:cNvSpPr>
          <p:nvPr/>
        </p:nvSpPr>
        <p:spPr bwMode="auto">
          <a:xfrm>
            <a:off x="7896020" y="1538979"/>
            <a:ext cx="1439606"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0000011</a:t>
            </a:r>
          </a:p>
        </p:txBody>
      </p:sp>
      <p:sp>
        <p:nvSpPr>
          <p:cNvPr id="13" name="Text Box 28"/>
          <p:cNvSpPr txBox="1">
            <a:spLocks noChangeArrowheads="1"/>
          </p:cNvSpPr>
          <p:nvPr/>
        </p:nvSpPr>
        <p:spPr bwMode="auto">
          <a:xfrm>
            <a:off x="4925988" y="1538979"/>
            <a:ext cx="1080115" cy="360362"/>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dirty="0">
                <a:solidFill>
                  <a:schemeClr val="accent2"/>
                </a:solidFill>
              </a:rPr>
              <a:t>rs1</a:t>
            </a:r>
          </a:p>
        </p:txBody>
      </p:sp>
      <p:sp>
        <p:nvSpPr>
          <p:cNvPr id="14" name="Text Box 29"/>
          <p:cNvSpPr txBox="1">
            <a:spLocks noChangeArrowheads="1"/>
          </p:cNvSpPr>
          <p:nvPr/>
        </p:nvSpPr>
        <p:spPr bwMode="auto">
          <a:xfrm>
            <a:off x="6005999" y="1538979"/>
            <a:ext cx="810111" cy="360362"/>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010</a:t>
            </a:r>
          </a:p>
        </p:txBody>
      </p:sp>
      <p:sp>
        <p:nvSpPr>
          <p:cNvPr id="15" name="正方形/長方形 14"/>
          <p:cNvSpPr/>
          <p:nvPr/>
        </p:nvSpPr>
        <p:spPr bwMode="auto">
          <a:xfrm>
            <a:off x="2045955" y="1178975"/>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LW : x[</a:t>
            </a:r>
            <a:r>
              <a:rPr lang="en-US" altLang="ja-JP" sz="1600" b="1" dirty="0" err="1">
                <a:solidFill>
                  <a:schemeClr val="accent2"/>
                </a:solidFill>
                <a:latin typeface="Consolas" panose="020B0609020204030204" pitchFamily="49" charset="0"/>
                <a:ea typeface="メイリオ" panose="020B0604030504040204" pitchFamily="50" charset="-128"/>
              </a:rPr>
              <a:t>rd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(x[</a:t>
            </a:r>
            <a:r>
              <a:rPr lang="en-US" altLang="ja-JP" sz="1600" b="1" dirty="0">
                <a:solidFill>
                  <a:schemeClr val="accent2"/>
                </a:solidFill>
                <a:latin typeface="Consolas" panose="020B0609020204030204" pitchFamily="49" charset="0"/>
                <a:ea typeface="メイリオ" panose="020B0604030504040204" pitchFamily="50" charset="-128"/>
              </a:rPr>
              <a:t>rs1</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 immediate)</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16" name="Text Box 27"/>
          <p:cNvSpPr txBox="1">
            <a:spLocks noChangeArrowheads="1"/>
          </p:cNvSpPr>
          <p:nvPr/>
        </p:nvSpPr>
        <p:spPr bwMode="auto">
          <a:xfrm>
            <a:off x="2135957" y="1538979"/>
            <a:ext cx="2790031" cy="360362"/>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r>
              <a:rPr lang="en-US" altLang="ja-JP" dirty="0"/>
              <a:t>immediate[11:0]</a:t>
            </a:r>
            <a:endParaRPr lang="ja-JP" altLang="ja-JP" dirty="0"/>
          </a:p>
        </p:txBody>
      </p:sp>
    </p:spTree>
    <p:extLst>
      <p:ext uri="{BB962C8B-B14F-4D97-AF65-F5344CB8AC3E}">
        <p14:creationId xmlns:p14="http://schemas.microsoft.com/office/powerpoint/2010/main" val="42627394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effectLst/>
        </p:spPr>
        <p:txBody>
          <a:bodyPr/>
          <a:lstStyle/>
          <a:p>
            <a:r>
              <a:rPr kumimoji="1" lang="en-US" altLang="ja-JP" dirty="0"/>
              <a:t>RISC-V </a:t>
            </a:r>
            <a:r>
              <a:rPr kumimoji="1" lang="ja-JP" altLang="en-US" dirty="0"/>
              <a:t>と </a:t>
            </a:r>
            <a:r>
              <a:rPr kumimoji="1" lang="en-US" altLang="ja-JP" dirty="0"/>
              <a:t>MIPS </a:t>
            </a:r>
            <a:r>
              <a:rPr kumimoji="1" lang="ja-JP" altLang="en-US" dirty="0"/>
              <a:t>のロード</a:t>
            </a:r>
            <a:r>
              <a:rPr kumimoji="1" lang="en-US" altLang="ja-JP" dirty="0"/>
              <a:t>/</a:t>
            </a:r>
            <a:r>
              <a:rPr kumimoji="1" lang="ja-JP" altLang="en-US" dirty="0"/>
              <a:t>ストア命令</a:t>
            </a:r>
          </a:p>
        </p:txBody>
      </p:sp>
      <p:sp>
        <p:nvSpPr>
          <p:cNvPr id="8" name="正方形/長方形 7"/>
          <p:cNvSpPr/>
          <p:nvPr/>
        </p:nvSpPr>
        <p:spPr bwMode="auto">
          <a:xfrm>
            <a:off x="2225957" y="4599016"/>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SW : (x[</a:t>
            </a:r>
            <a:r>
              <a:rPr lang="en-US" altLang="ja-JP" sz="1400" dirty="0" err="1">
                <a:solidFill>
                  <a:schemeClr val="tx1">
                    <a:lumMod val="85000"/>
                    <a:lumOff val="15000"/>
                  </a:schemeClr>
                </a:solidFill>
                <a:latin typeface="Consolas" panose="020B0609020204030204" pitchFamily="49" charset="0"/>
                <a:ea typeface="メイリオ" panose="020B0604030504040204" pitchFamily="50" charset="-128"/>
              </a:rPr>
              <a:t>rs</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 immediate) </a:t>
            </a:r>
            <a:r>
              <a:rPr lang="ja-JP" altLang="en-US" sz="14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a:t>
            </a:r>
            <a:r>
              <a:rPr lang="en-US" altLang="ja-JP" sz="1400" dirty="0" err="1">
                <a:solidFill>
                  <a:schemeClr val="tx1">
                    <a:lumMod val="85000"/>
                    <a:lumOff val="15000"/>
                  </a:schemeClr>
                </a:solidFill>
                <a:latin typeface="Consolas" panose="020B0609020204030204" pitchFamily="49" charset="0"/>
                <a:ea typeface="メイリオ" panose="020B0604030504040204" pitchFamily="50" charset="-128"/>
              </a:rPr>
              <a:t>rt</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a:t>
            </a:r>
            <a:endParaRPr lang="ja-JP" altLang="en-US" sz="14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11" name="Text Box 30"/>
          <p:cNvSpPr txBox="1">
            <a:spLocks noChangeArrowheads="1"/>
          </p:cNvSpPr>
          <p:nvPr/>
        </p:nvSpPr>
        <p:spPr bwMode="auto">
          <a:xfrm>
            <a:off x="4835986" y="4239012"/>
            <a:ext cx="1080116" cy="270000"/>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sz="1600" dirty="0" err="1"/>
              <a:t>rt</a:t>
            </a:r>
            <a:endParaRPr lang="en-US" altLang="ja-JP" sz="1600" dirty="0"/>
          </a:p>
        </p:txBody>
      </p:sp>
      <p:sp>
        <p:nvSpPr>
          <p:cNvPr id="12" name="Text Box 31"/>
          <p:cNvSpPr txBox="1">
            <a:spLocks noChangeArrowheads="1"/>
          </p:cNvSpPr>
          <p:nvPr/>
        </p:nvSpPr>
        <p:spPr bwMode="auto">
          <a:xfrm>
            <a:off x="2315958" y="4239012"/>
            <a:ext cx="1439606"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100011</a:t>
            </a:r>
          </a:p>
        </p:txBody>
      </p:sp>
      <p:sp>
        <p:nvSpPr>
          <p:cNvPr id="13" name="Text Box 28"/>
          <p:cNvSpPr txBox="1">
            <a:spLocks noChangeArrowheads="1"/>
          </p:cNvSpPr>
          <p:nvPr/>
        </p:nvSpPr>
        <p:spPr bwMode="auto">
          <a:xfrm>
            <a:off x="3755975" y="4239012"/>
            <a:ext cx="1080115" cy="270000"/>
          </a:xfrm>
          <a:prstGeom prst="rect">
            <a:avLst/>
          </a:prstGeom>
          <a:ln>
            <a:headEnd/>
            <a:tailEnd/>
          </a:ln>
          <a:effectLst/>
        </p:spPr>
        <p:style>
          <a:lnRef idx="1">
            <a:schemeClr val="accent1"/>
          </a:lnRef>
          <a:fillRef idx="2">
            <a:schemeClr val="accent1"/>
          </a:fillRef>
          <a:effectRef idx="1">
            <a:schemeClr val="accent1"/>
          </a:effectRef>
          <a:fontRef idx="minor">
            <a:schemeClr val="dk1"/>
          </a:fontRef>
        </p:style>
        <p:txBody>
          <a:bodyPr wrap="none" anchor="ctr" anchorCtr="1"/>
          <a:lstStyle/>
          <a:p>
            <a:pPr eaLnBrk="1" hangingPunct="1"/>
            <a:r>
              <a:rPr lang="en-US" altLang="ja-JP" sz="1600" dirty="0" err="1"/>
              <a:t>rs</a:t>
            </a:r>
            <a:endParaRPr lang="en-US" altLang="ja-JP" sz="1600" dirty="0"/>
          </a:p>
        </p:txBody>
      </p:sp>
      <p:sp>
        <p:nvSpPr>
          <p:cNvPr id="15" name="正方形/長方形 14"/>
          <p:cNvSpPr/>
          <p:nvPr/>
        </p:nvSpPr>
        <p:spPr bwMode="auto">
          <a:xfrm>
            <a:off x="2225957" y="3969009"/>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LW : x[</a:t>
            </a:r>
            <a:r>
              <a:rPr lang="en-US" altLang="ja-JP" sz="1400" dirty="0" err="1">
                <a:solidFill>
                  <a:schemeClr val="tx1">
                    <a:lumMod val="85000"/>
                    <a:lumOff val="15000"/>
                  </a:schemeClr>
                </a:solidFill>
                <a:latin typeface="Consolas" panose="020B0609020204030204" pitchFamily="49" charset="0"/>
                <a:ea typeface="メイリオ" panose="020B0604030504040204" pitchFamily="50" charset="-128"/>
              </a:rPr>
              <a:t>rt</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4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(x[</a:t>
            </a:r>
            <a:r>
              <a:rPr lang="en-US" altLang="ja-JP" sz="1400" dirty="0" err="1">
                <a:solidFill>
                  <a:schemeClr val="tx1">
                    <a:lumMod val="85000"/>
                    <a:lumOff val="15000"/>
                  </a:schemeClr>
                </a:solidFill>
                <a:latin typeface="Consolas" panose="020B0609020204030204" pitchFamily="49" charset="0"/>
                <a:ea typeface="メイリオ" panose="020B0604030504040204" pitchFamily="50" charset="-128"/>
              </a:rPr>
              <a:t>rs</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 immediate)</a:t>
            </a:r>
            <a:endParaRPr lang="ja-JP" altLang="en-US" sz="14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16" name="Text Box 27"/>
          <p:cNvSpPr txBox="1">
            <a:spLocks noChangeArrowheads="1"/>
          </p:cNvSpPr>
          <p:nvPr/>
        </p:nvSpPr>
        <p:spPr bwMode="auto">
          <a:xfrm>
            <a:off x="5915998" y="4239012"/>
            <a:ext cx="3600040"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r>
              <a:rPr lang="en-US" altLang="ja-JP" sz="1600" dirty="0"/>
              <a:t>immediate[15:0]</a:t>
            </a:r>
            <a:endParaRPr lang="ja-JP" altLang="ja-JP" sz="1600" dirty="0"/>
          </a:p>
        </p:txBody>
      </p:sp>
      <p:sp>
        <p:nvSpPr>
          <p:cNvPr id="17" name="Text Box 30"/>
          <p:cNvSpPr txBox="1">
            <a:spLocks noChangeArrowheads="1"/>
          </p:cNvSpPr>
          <p:nvPr/>
        </p:nvSpPr>
        <p:spPr bwMode="auto">
          <a:xfrm>
            <a:off x="4835986" y="5499026"/>
            <a:ext cx="1080116" cy="270000"/>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sz="1600" dirty="0" err="1"/>
              <a:t>rt</a:t>
            </a:r>
            <a:endParaRPr lang="en-US" altLang="ja-JP" sz="1600" dirty="0"/>
          </a:p>
        </p:txBody>
      </p:sp>
      <p:sp>
        <p:nvSpPr>
          <p:cNvPr id="18" name="Text Box 31"/>
          <p:cNvSpPr txBox="1">
            <a:spLocks noChangeArrowheads="1"/>
          </p:cNvSpPr>
          <p:nvPr/>
        </p:nvSpPr>
        <p:spPr bwMode="auto">
          <a:xfrm>
            <a:off x="2315958" y="4869019"/>
            <a:ext cx="1439606"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101011</a:t>
            </a:r>
          </a:p>
        </p:txBody>
      </p:sp>
      <p:sp>
        <p:nvSpPr>
          <p:cNvPr id="19" name="Text Box 28"/>
          <p:cNvSpPr txBox="1">
            <a:spLocks noChangeArrowheads="1"/>
          </p:cNvSpPr>
          <p:nvPr/>
        </p:nvSpPr>
        <p:spPr bwMode="auto">
          <a:xfrm>
            <a:off x="3755975" y="5499026"/>
            <a:ext cx="1080115" cy="270000"/>
          </a:xfrm>
          <a:prstGeom prst="rect">
            <a:avLst/>
          </a:prstGeom>
          <a:ln>
            <a:headEnd/>
            <a:tailEnd/>
          </a:ln>
          <a:effectLst/>
        </p:spPr>
        <p:style>
          <a:lnRef idx="1">
            <a:schemeClr val="accent1"/>
          </a:lnRef>
          <a:fillRef idx="2">
            <a:schemeClr val="accent1"/>
          </a:fillRef>
          <a:effectRef idx="1">
            <a:schemeClr val="accent1"/>
          </a:effectRef>
          <a:fontRef idx="minor">
            <a:schemeClr val="dk1"/>
          </a:fontRef>
        </p:style>
        <p:txBody>
          <a:bodyPr wrap="none" anchor="ctr" anchorCtr="1"/>
          <a:lstStyle/>
          <a:p>
            <a:pPr eaLnBrk="1" hangingPunct="1"/>
            <a:r>
              <a:rPr lang="en-US" altLang="ja-JP" sz="1600" dirty="0" err="1"/>
              <a:t>rs</a:t>
            </a:r>
            <a:endParaRPr lang="en-US" altLang="ja-JP" sz="1600" dirty="0"/>
          </a:p>
        </p:txBody>
      </p:sp>
      <p:sp>
        <p:nvSpPr>
          <p:cNvPr id="20" name="Text Box 27"/>
          <p:cNvSpPr txBox="1">
            <a:spLocks noChangeArrowheads="1"/>
          </p:cNvSpPr>
          <p:nvPr/>
        </p:nvSpPr>
        <p:spPr bwMode="auto">
          <a:xfrm>
            <a:off x="5915998" y="4869019"/>
            <a:ext cx="3600040"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r>
              <a:rPr lang="en-US" altLang="ja-JP" sz="1600" dirty="0"/>
              <a:t>immediate[15:0]</a:t>
            </a:r>
            <a:endParaRPr lang="ja-JP" altLang="ja-JP" sz="1600" dirty="0"/>
          </a:p>
        </p:txBody>
      </p:sp>
      <p:sp>
        <p:nvSpPr>
          <p:cNvPr id="21" name="テキスト プレースホルダー 20"/>
          <p:cNvSpPr>
            <a:spLocks noGrp="1"/>
          </p:cNvSpPr>
          <p:nvPr>
            <p:ph type="body" sz="quarter" idx="10"/>
          </p:nvPr>
        </p:nvSpPr>
        <p:spPr>
          <a:xfrm>
            <a:off x="1955954" y="908972"/>
            <a:ext cx="8280092" cy="360004"/>
          </a:xfrm>
          <a:effectLst/>
        </p:spPr>
        <p:txBody>
          <a:bodyPr/>
          <a:lstStyle/>
          <a:p>
            <a:r>
              <a:rPr kumimoji="1" lang="en-US" altLang="ja-JP" dirty="0"/>
              <a:t>RISC-V</a:t>
            </a:r>
            <a:endParaRPr kumimoji="1" lang="ja-JP" altLang="en-US" dirty="0"/>
          </a:p>
        </p:txBody>
      </p:sp>
      <p:sp>
        <p:nvSpPr>
          <p:cNvPr id="22" name="Text Box 30"/>
          <p:cNvSpPr txBox="1">
            <a:spLocks noChangeArrowheads="1"/>
          </p:cNvSpPr>
          <p:nvPr/>
        </p:nvSpPr>
        <p:spPr bwMode="auto">
          <a:xfrm>
            <a:off x="6996010" y="2258987"/>
            <a:ext cx="1080116"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r>
              <a:rPr lang="en-US" altLang="ja-JP" sz="1600" dirty="0" err="1"/>
              <a:t>imm</a:t>
            </a:r>
            <a:r>
              <a:rPr lang="en-US" altLang="ja-JP" sz="1600" dirty="0"/>
              <a:t>[4:0]</a:t>
            </a:r>
          </a:p>
        </p:txBody>
      </p:sp>
      <p:sp>
        <p:nvSpPr>
          <p:cNvPr id="23" name="Text Box 31"/>
          <p:cNvSpPr txBox="1">
            <a:spLocks noChangeArrowheads="1"/>
          </p:cNvSpPr>
          <p:nvPr/>
        </p:nvSpPr>
        <p:spPr bwMode="auto">
          <a:xfrm>
            <a:off x="8076022" y="2258987"/>
            <a:ext cx="1439606"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0100011</a:t>
            </a:r>
          </a:p>
        </p:txBody>
      </p:sp>
      <p:sp>
        <p:nvSpPr>
          <p:cNvPr id="24" name="Text Box 28"/>
          <p:cNvSpPr txBox="1">
            <a:spLocks noChangeArrowheads="1"/>
          </p:cNvSpPr>
          <p:nvPr/>
        </p:nvSpPr>
        <p:spPr bwMode="auto">
          <a:xfrm>
            <a:off x="5105990" y="2258987"/>
            <a:ext cx="1080115" cy="270000"/>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sz="1600" dirty="0"/>
              <a:t>rs1</a:t>
            </a:r>
          </a:p>
        </p:txBody>
      </p:sp>
      <p:sp>
        <p:nvSpPr>
          <p:cNvPr id="25" name="Text Box 29"/>
          <p:cNvSpPr txBox="1">
            <a:spLocks noChangeArrowheads="1"/>
          </p:cNvSpPr>
          <p:nvPr/>
        </p:nvSpPr>
        <p:spPr bwMode="auto">
          <a:xfrm>
            <a:off x="6186001" y="2258987"/>
            <a:ext cx="810111"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010</a:t>
            </a:r>
          </a:p>
        </p:txBody>
      </p:sp>
      <p:sp>
        <p:nvSpPr>
          <p:cNvPr id="26" name="正方形/長方形 25"/>
          <p:cNvSpPr/>
          <p:nvPr/>
        </p:nvSpPr>
        <p:spPr bwMode="auto">
          <a:xfrm>
            <a:off x="2225957" y="1988984"/>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SW : (x[rs1] + immediate) </a:t>
            </a:r>
            <a:r>
              <a:rPr lang="ja-JP" altLang="en-US" sz="14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[rs2]</a:t>
            </a:r>
            <a:endParaRPr lang="ja-JP" altLang="en-US" sz="14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27" name="Text Box 27"/>
          <p:cNvSpPr txBox="1">
            <a:spLocks noChangeArrowheads="1"/>
          </p:cNvSpPr>
          <p:nvPr/>
        </p:nvSpPr>
        <p:spPr bwMode="auto">
          <a:xfrm>
            <a:off x="2315959" y="2258987"/>
            <a:ext cx="1710019"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sz="1600" dirty="0"/>
              <a:t>immediate[11:5]</a:t>
            </a:r>
            <a:endParaRPr lang="ja-JP" altLang="ja-JP" sz="1600" dirty="0"/>
          </a:p>
        </p:txBody>
      </p:sp>
      <p:sp>
        <p:nvSpPr>
          <p:cNvPr id="28" name="Text Box 27"/>
          <p:cNvSpPr txBox="1">
            <a:spLocks noChangeArrowheads="1"/>
          </p:cNvSpPr>
          <p:nvPr/>
        </p:nvSpPr>
        <p:spPr bwMode="auto">
          <a:xfrm>
            <a:off x="4025977" y="2258987"/>
            <a:ext cx="1079500" cy="270000"/>
          </a:xfrm>
          <a:prstGeom prst="rect">
            <a:avLst/>
          </a:prstGeom>
          <a:ln>
            <a:headEnd/>
            <a:tailEnd/>
          </a:ln>
          <a:effectLst/>
        </p:spPr>
        <p:style>
          <a:lnRef idx="1">
            <a:schemeClr val="accent1"/>
          </a:lnRef>
          <a:fillRef idx="2">
            <a:schemeClr val="accent1"/>
          </a:fillRef>
          <a:effectRef idx="1">
            <a:schemeClr val="accent1"/>
          </a:effectRef>
          <a:fontRef idx="minor">
            <a:schemeClr val="dk1"/>
          </a:fontRef>
        </p:style>
        <p:txBody>
          <a:bodyPr wrap="none" anchor="ctr" anchorCtr="1"/>
          <a:lstStyle/>
          <a:p>
            <a:pPr eaLnBrk="1" hangingPunct="1"/>
            <a:r>
              <a:rPr lang="en-US" altLang="ja-JP" sz="1600" dirty="0"/>
              <a:t>rs2</a:t>
            </a:r>
            <a:endParaRPr lang="ja-JP" altLang="ja-JP" sz="1600" dirty="0"/>
          </a:p>
        </p:txBody>
      </p:sp>
      <p:sp>
        <p:nvSpPr>
          <p:cNvPr id="29" name="Text Box 30"/>
          <p:cNvSpPr txBox="1">
            <a:spLocks noChangeArrowheads="1"/>
          </p:cNvSpPr>
          <p:nvPr/>
        </p:nvSpPr>
        <p:spPr bwMode="auto">
          <a:xfrm>
            <a:off x="6996010" y="1538979"/>
            <a:ext cx="1080116" cy="270000"/>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sz="1600" dirty="0" err="1"/>
              <a:t>rd</a:t>
            </a:r>
            <a:endParaRPr lang="en-US" altLang="ja-JP" sz="1600" dirty="0"/>
          </a:p>
        </p:txBody>
      </p:sp>
      <p:sp>
        <p:nvSpPr>
          <p:cNvPr id="30" name="Text Box 31"/>
          <p:cNvSpPr txBox="1">
            <a:spLocks noChangeArrowheads="1"/>
          </p:cNvSpPr>
          <p:nvPr/>
        </p:nvSpPr>
        <p:spPr bwMode="auto">
          <a:xfrm>
            <a:off x="8076022" y="1538979"/>
            <a:ext cx="1439606"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0000011</a:t>
            </a:r>
          </a:p>
        </p:txBody>
      </p:sp>
      <p:sp>
        <p:nvSpPr>
          <p:cNvPr id="31" name="Text Box 28"/>
          <p:cNvSpPr txBox="1">
            <a:spLocks noChangeArrowheads="1"/>
          </p:cNvSpPr>
          <p:nvPr/>
        </p:nvSpPr>
        <p:spPr bwMode="auto">
          <a:xfrm>
            <a:off x="5105990" y="1538979"/>
            <a:ext cx="1080115" cy="270000"/>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sz="1600" dirty="0"/>
              <a:t>rs1</a:t>
            </a:r>
          </a:p>
        </p:txBody>
      </p:sp>
      <p:sp>
        <p:nvSpPr>
          <p:cNvPr id="32" name="Text Box 29"/>
          <p:cNvSpPr txBox="1">
            <a:spLocks noChangeArrowheads="1"/>
          </p:cNvSpPr>
          <p:nvPr/>
        </p:nvSpPr>
        <p:spPr bwMode="auto">
          <a:xfrm>
            <a:off x="6186001" y="1538979"/>
            <a:ext cx="810111"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010</a:t>
            </a:r>
          </a:p>
        </p:txBody>
      </p:sp>
      <p:sp>
        <p:nvSpPr>
          <p:cNvPr id="33" name="正方形/長方形 32"/>
          <p:cNvSpPr/>
          <p:nvPr/>
        </p:nvSpPr>
        <p:spPr bwMode="auto">
          <a:xfrm>
            <a:off x="2225957" y="1268976"/>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LW : x[</a:t>
            </a:r>
            <a:r>
              <a:rPr lang="en-US" altLang="ja-JP" sz="14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4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(x[rs1] + immediate)</a:t>
            </a:r>
            <a:endParaRPr lang="ja-JP" altLang="en-US" sz="14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34" name="Text Box 27"/>
          <p:cNvSpPr txBox="1">
            <a:spLocks noChangeArrowheads="1"/>
          </p:cNvSpPr>
          <p:nvPr/>
        </p:nvSpPr>
        <p:spPr bwMode="auto">
          <a:xfrm>
            <a:off x="2315959" y="1538979"/>
            <a:ext cx="2790031"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r>
              <a:rPr lang="en-US" altLang="ja-JP" sz="1600" dirty="0"/>
              <a:t>immediate[11:0]</a:t>
            </a:r>
            <a:endParaRPr lang="ja-JP" altLang="ja-JP" sz="1600" dirty="0"/>
          </a:p>
        </p:txBody>
      </p:sp>
      <p:sp>
        <p:nvSpPr>
          <p:cNvPr id="35" name="テキスト プレースホルダー 20"/>
          <p:cNvSpPr txBox="1">
            <a:spLocks/>
          </p:cNvSpPr>
          <p:nvPr/>
        </p:nvSpPr>
        <p:spPr bwMode="auto">
          <a:xfrm>
            <a:off x="1955954" y="3609002"/>
            <a:ext cx="8280092" cy="36000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en-US" altLang="ja-JP" kern="0" dirty="0"/>
              <a:t>MIPS</a:t>
            </a:r>
            <a:endParaRPr lang="ja-JP" altLang="en-US" kern="0" dirty="0"/>
          </a:p>
        </p:txBody>
      </p:sp>
      <p:sp>
        <p:nvSpPr>
          <p:cNvPr id="36" name="テキスト プレースホルダー 20"/>
          <p:cNvSpPr txBox="1">
            <a:spLocks/>
          </p:cNvSpPr>
          <p:nvPr/>
        </p:nvSpPr>
        <p:spPr bwMode="auto">
          <a:xfrm>
            <a:off x="1955954" y="6129030"/>
            <a:ext cx="8280092" cy="36000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en-US" altLang="ja-JP" kern="0" dirty="0"/>
              <a:t>MIPS </a:t>
            </a:r>
            <a:r>
              <a:rPr lang="ja-JP" altLang="en-US" kern="0" dirty="0"/>
              <a:t>の方が一見きれいにも見えるが･･･</a:t>
            </a:r>
          </a:p>
        </p:txBody>
      </p:sp>
      <p:sp>
        <p:nvSpPr>
          <p:cNvPr id="37" name="Text Box 30"/>
          <p:cNvSpPr txBox="1">
            <a:spLocks noChangeArrowheads="1"/>
          </p:cNvSpPr>
          <p:nvPr/>
        </p:nvSpPr>
        <p:spPr bwMode="auto">
          <a:xfrm>
            <a:off x="6996010" y="2978995"/>
            <a:ext cx="1080116" cy="270000"/>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sz="1600" dirty="0" err="1"/>
              <a:t>rd</a:t>
            </a:r>
            <a:endParaRPr lang="en-US" altLang="ja-JP" sz="1600" dirty="0"/>
          </a:p>
        </p:txBody>
      </p:sp>
      <p:sp>
        <p:nvSpPr>
          <p:cNvPr id="38" name="Text Box 31"/>
          <p:cNvSpPr txBox="1">
            <a:spLocks noChangeArrowheads="1"/>
          </p:cNvSpPr>
          <p:nvPr/>
        </p:nvSpPr>
        <p:spPr bwMode="auto">
          <a:xfrm>
            <a:off x="8076022" y="2978995"/>
            <a:ext cx="1439606"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0110011</a:t>
            </a:r>
          </a:p>
        </p:txBody>
      </p:sp>
      <p:sp>
        <p:nvSpPr>
          <p:cNvPr id="39" name="Text Box 27"/>
          <p:cNvSpPr txBox="1">
            <a:spLocks noChangeArrowheads="1"/>
          </p:cNvSpPr>
          <p:nvPr/>
        </p:nvSpPr>
        <p:spPr bwMode="auto">
          <a:xfrm>
            <a:off x="2315959" y="2978995"/>
            <a:ext cx="1710019"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0000000</a:t>
            </a:r>
            <a:endParaRPr lang="ja-JP" altLang="ja-JP" sz="1600" dirty="0"/>
          </a:p>
        </p:txBody>
      </p:sp>
      <p:sp>
        <p:nvSpPr>
          <p:cNvPr id="40" name="Text Box 27"/>
          <p:cNvSpPr txBox="1">
            <a:spLocks noChangeArrowheads="1"/>
          </p:cNvSpPr>
          <p:nvPr/>
        </p:nvSpPr>
        <p:spPr bwMode="auto">
          <a:xfrm>
            <a:off x="4025977" y="2978995"/>
            <a:ext cx="1079500" cy="270000"/>
          </a:xfrm>
          <a:prstGeom prst="rect">
            <a:avLst/>
          </a:prstGeom>
          <a:ln>
            <a:headEnd/>
            <a:tailEnd/>
          </a:ln>
          <a:effectLst/>
        </p:spPr>
        <p:style>
          <a:lnRef idx="1">
            <a:schemeClr val="accent1"/>
          </a:lnRef>
          <a:fillRef idx="2">
            <a:schemeClr val="accent1"/>
          </a:fillRef>
          <a:effectRef idx="1">
            <a:schemeClr val="accent1"/>
          </a:effectRef>
          <a:fontRef idx="minor">
            <a:schemeClr val="dk1"/>
          </a:fontRef>
        </p:style>
        <p:txBody>
          <a:bodyPr wrap="none" anchor="ctr" anchorCtr="1"/>
          <a:lstStyle/>
          <a:p>
            <a:pPr eaLnBrk="1" hangingPunct="1"/>
            <a:r>
              <a:rPr lang="en-US" altLang="ja-JP" sz="1600" dirty="0"/>
              <a:t>rs2</a:t>
            </a:r>
            <a:endParaRPr lang="ja-JP" altLang="ja-JP" sz="1600" dirty="0"/>
          </a:p>
        </p:txBody>
      </p:sp>
      <p:sp>
        <p:nvSpPr>
          <p:cNvPr id="41" name="Text Box 28"/>
          <p:cNvSpPr txBox="1">
            <a:spLocks noChangeArrowheads="1"/>
          </p:cNvSpPr>
          <p:nvPr/>
        </p:nvSpPr>
        <p:spPr bwMode="auto">
          <a:xfrm>
            <a:off x="5105990" y="2978995"/>
            <a:ext cx="1080115" cy="270000"/>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sz="1600" dirty="0"/>
              <a:t>rs1</a:t>
            </a:r>
          </a:p>
        </p:txBody>
      </p:sp>
      <p:sp>
        <p:nvSpPr>
          <p:cNvPr id="42" name="Text Box 29"/>
          <p:cNvSpPr txBox="1">
            <a:spLocks noChangeArrowheads="1"/>
          </p:cNvSpPr>
          <p:nvPr/>
        </p:nvSpPr>
        <p:spPr bwMode="auto">
          <a:xfrm>
            <a:off x="6186001" y="2978995"/>
            <a:ext cx="810111"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000</a:t>
            </a:r>
          </a:p>
        </p:txBody>
      </p:sp>
      <p:sp>
        <p:nvSpPr>
          <p:cNvPr id="43" name="正方形/長方形 42"/>
          <p:cNvSpPr/>
          <p:nvPr/>
        </p:nvSpPr>
        <p:spPr bwMode="auto">
          <a:xfrm>
            <a:off x="2225957" y="2708992"/>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ADD : x[</a:t>
            </a:r>
            <a:r>
              <a:rPr lang="en-US" altLang="ja-JP" sz="14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4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x[rs1] + x[rs2]</a:t>
            </a:r>
            <a:endParaRPr lang="ja-JP" altLang="en-US" sz="14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44" name="Text Box 30"/>
          <p:cNvSpPr txBox="1">
            <a:spLocks noChangeArrowheads="1"/>
          </p:cNvSpPr>
          <p:nvPr/>
        </p:nvSpPr>
        <p:spPr bwMode="auto">
          <a:xfrm>
            <a:off x="5915998" y="5499026"/>
            <a:ext cx="1080116" cy="270000"/>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sz="1600" dirty="0" err="1"/>
              <a:t>rd</a:t>
            </a:r>
            <a:endParaRPr lang="en-US" altLang="ja-JP" sz="1600" dirty="0"/>
          </a:p>
        </p:txBody>
      </p:sp>
      <p:sp>
        <p:nvSpPr>
          <p:cNvPr id="45" name="Text Box 31"/>
          <p:cNvSpPr txBox="1">
            <a:spLocks noChangeArrowheads="1"/>
          </p:cNvSpPr>
          <p:nvPr/>
        </p:nvSpPr>
        <p:spPr bwMode="auto">
          <a:xfrm>
            <a:off x="8166024" y="5499026"/>
            <a:ext cx="1349605"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100001</a:t>
            </a:r>
          </a:p>
        </p:txBody>
      </p:sp>
      <p:sp>
        <p:nvSpPr>
          <p:cNvPr id="46" name="Text Box 27"/>
          <p:cNvSpPr txBox="1">
            <a:spLocks noChangeArrowheads="1"/>
          </p:cNvSpPr>
          <p:nvPr/>
        </p:nvSpPr>
        <p:spPr bwMode="auto">
          <a:xfrm>
            <a:off x="2315959" y="5499026"/>
            <a:ext cx="1440016"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000000</a:t>
            </a:r>
            <a:endParaRPr lang="ja-JP" altLang="ja-JP" sz="1600" dirty="0"/>
          </a:p>
        </p:txBody>
      </p:sp>
      <p:sp>
        <p:nvSpPr>
          <p:cNvPr id="49" name="Text Box 29"/>
          <p:cNvSpPr txBox="1">
            <a:spLocks noChangeArrowheads="1"/>
          </p:cNvSpPr>
          <p:nvPr/>
        </p:nvSpPr>
        <p:spPr bwMode="auto">
          <a:xfrm>
            <a:off x="6996010" y="5499026"/>
            <a:ext cx="1170013"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00000</a:t>
            </a:r>
          </a:p>
        </p:txBody>
      </p:sp>
      <p:sp>
        <p:nvSpPr>
          <p:cNvPr id="50" name="正方形/長方形 49"/>
          <p:cNvSpPr/>
          <p:nvPr/>
        </p:nvSpPr>
        <p:spPr bwMode="auto">
          <a:xfrm>
            <a:off x="2225957" y="5229023"/>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ADDU : x[</a:t>
            </a:r>
            <a:r>
              <a:rPr lang="en-US" altLang="ja-JP" sz="14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4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x[</a:t>
            </a:r>
            <a:r>
              <a:rPr lang="en-US" altLang="ja-JP" sz="1400" dirty="0" err="1">
                <a:solidFill>
                  <a:schemeClr val="tx1">
                    <a:lumMod val="85000"/>
                    <a:lumOff val="15000"/>
                  </a:schemeClr>
                </a:solidFill>
                <a:latin typeface="Consolas" panose="020B0609020204030204" pitchFamily="49" charset="0"/>
                <a:ea typeface="メイリオ" panose="020B0604030504040204" pitchFamily="50" charset="-128"/>
              </a:rPr>
              <a:t>rs</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 x[</a:t>
            </a:r>
            <a:r>
              <a:rPr lang="en-US" altLang="ja-JP" sz="1400" dirty="0" err="1">
                <a:solidFill>
                  <a:schemeClr val="tx1">
                    <a:lumMod val="85000"/>
                    <a:lumOff val="15000"/>
                  </a:schemeClr>
                </a:solidFill>
                <a:latin typeface="Consolas" panose="020B0609020204030204" pitchFamily="49" charset="0"/>
                <a:ea typeface="メイリオ" panose="020B0604030504040204" pitchFamily="50" charset="-128"/>
              </a:rPr>
              <a:t>rt</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a:t>
            </a:r>
            <a:endParaRPr lang="ja-JP" altLang="en-US" sz="14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51" name="Text Box 30"/>
          <p:cNvSpPr txBox="1">
            <a:spLocks noChangeArrowheads="1"/>
          </p:cNvSpPr>
          <p:nvPr/>
        </p:nvSpPr>
        <p:spPr bwMode="auto">
          <a:xfrm>
            <a:off x="4835986" y="4869019"/>
            <a:ext cx="1080116" cy="270000"/>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sz="1600" dirty="0" err="1"/>
              <a:t>rt</a:t>
            </a:r>
            <a:endParaRPr lang="en-US" altLang="ja-JP" sz="1600" dirty="0"/>
          </a:p>
        </p:txBody>
      </p:sp>
      <p:sp>
        <p:nvSpPr>
          <p:cNvPr id="52" name="Text Box 28"/>
          <p:cNvSpPr txBox="1">
            <a:spLocks noChangeArrowheads="1"/>
          </p:cNvSpPr>
          <p:nvPr/>
        </p:nvSpPr>
        <p:spPr bwMode="auto">
          <a:xfrm>
            <a:off x="3755975" y="4869019"/>
            <a:ext cx="1080115" cy="270000"/>
          </a:xfrm>
          <a:prstGeom prst="rect">
            <a:avLst/>
          </a:prstGeom>
          <a:ln>
            <a:headEnd/>
            <a:tailEnd/>
          </a:ln>
          <a:effectLst/>
        </p:spPr>
        <p:style>
          <a:lnRef idx="1">
            <a:schemeClr val="accent1"/>
          </a:lnRef>
          <a:fillRef idx="2">
            <a:schemeClr val="accent1"/>
          </a:fillRef>
          <a:effectRef idx="1">
            <a:schemeClr val="accent1"/>
          </a:effectRef>
          <a:fontRef idx="minor">
            <a:schemeClr val="dk1"/>
          </a:fontRef>
        </p:style>
        <p:txBody>
          <a:bodyPr wrap="none" anchor="ctr" anchorCtr="1"/>
          <a:lstStyle/>
          <a:p>
            <a:pPr eaLnBrk="1" hangingPunct="1"/>
            <a:r>
              <a:rPr lang="en-US" altLang="ja-JP" sz="1600" dirty="0" err="1"/>
              <a:t>rs</a:t>
            </a:r>
            <a:endParaRPr lang="en-US" altLang="ja-JP" sz="1600" dirty="0"/>
          </a:p>
        </p:txBody>
      </p:sp>
    </p:spTree>
    <p:extLst>
      <p:ext uri="{BB962C8B-B14F-4D97-AF65-F5344CB8AC3E}">
        <p14:creationId xmlns:p14="http://schemas.microsoft.com/office/powerpoint/2010/main" val="21721843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RISC-V </a:t>
            </a:r>
            <a:r>
              <a:rPr kumimoji="1" lang="ja-JP" altLang="en-US" dirty="0"/>
              <a:t>の場合</a:t>
            </a:r>
          </a:p>
        </p:txBody>
      </p:sp>
      <p:sp>
        <p:nvSpPr>
          <p:cNvPr id="3" name="テキスト プレースホルダー 2"/>
          <p:cNvSpPr>
            <a:spLocks noGrp="1"/>
          </p:cNvSpPr>
          <p:nvPr>
            <p:ph type="body" sz="quarter" idx="10"/>
          </p:nvPr>
        </p:nvSpPr>
        <p:spPr>
          <a:xfrm>
            <a:off x="2045955" y="2528991"/>
            <a:ext cx="8280092" cy="1439709"/>
          </a:xfrm>
        </p:spPr>
        <p:txBody>
          <a:bodyPr/>
          <a:lstStyle/>
          <a:p>
            <a:r>
              <a:rPr lang="ja-JP" altLang="en-US" sz="1800" dirty="0"/>
              <a:t>レジスタ番号を指定する，命令内のビット位置が一貫している</a:t>
            </a:r>
            <a:endParaRPr lang="en-US" altLang="ja-JP" sz="1800" dirty="0"/>
          </a:p>
          <a:p>
            <a:pPr lvl="1"/>
            <a:r>
              <a:rPr lang="en-US" altLang="ja-JP" sz="1800" dirty="0">
                <a:latin typeface="Consolas" panose="020B0609020204030204" pitchFamily="49" charset="0"/>
              </a:rPr>
              <a:t>LW </a:t>
            </a:r>
            <a:r>
              <a:rPr lang="ja-JP" altLang="en-US" sz="1800" dirty="0"/>
              <a:t>：書き込み </a:t>
            </a:r>
            <a:r>
              <a:rPr lang="en-US" altLang="ja-JP" sz="1800" dirty="0" err="1">
                <a:solidFill>
                  <a:schemeClr val="accent4"/>
                </a:solidFill>
              </a:rPr>
              <a:t>rd</a:t>
            </a:r>
            <a:r>
              <a:rPr lang="en-US" altLang="ja-JP" sz="1800" dirty="0">
                <a:solidFill>
                  <a:schemeClr val="accent4"/>
                </a:solidFill>
              </a:rPr>
              <a:t> [11:7]	</a:t>
            </a:r>
            <a:r>
              <a:rPr lang="ja-JP" altLang="en-US" sz="1800" dirty="0"/>
              <a:t>読み出し：</a:t>
            </a:r>
            <a:r>
              <a:rPr lang="en-US" altLang="ja-JP" sz="1800" dirty="0">
                <a:solidFill>
                  <a:schemeClr val="accent5"/>
                </a:solidFill>
              </a:rPr>
              <a:t>rs1 [19:15]</a:t>
            </a:r>
            <a:endParaRPr lang="en-US" altLang="ja-JP" sz="1800" dirty="0">
              <a:solidFill>
                <a:schemeClr val="accent4"/>
              </a:solidFill>
            </a:endParaRPr>
          </a:p>
          <a:p>
            <a:pPr lvl="1"/>
            <a:r>
              <a:rPr lang="en-US" altLang="ja-JP" sz="1800" dirty="0">
                <a:latin typeface="Consolas" panose="020B0609020204030204" pitchFamily="49" charset="0"/>
              </a:rPr>
              <a:t>SW </a:t>
            </a:r>
            <a:r>
              <a:rPr lang="ja-JP" altLang="en-US" sz="1800" dirty="0"/>
              <a:t>：</a:t>
            </a:r>
            <a:r>
              <a:rPr lang="en-US" altLang="ja-JP" sz="1800" dirty="0"/>
              <a:t>			</a:t>
            </a:r>
            <a:r>
              <a:rPr lang="ja-JP" altLang="en-US" sz="1800" dirty="0"/>
              <a:t>読み出し：</a:t>
            </a:r>
            <a:r>
              <a:rPr lang="en-US" altLang="ja-JP" sz="1800" dirty="0">
                <a:solidFill>
                  <a:schemeClr val="accent5"/>
                </a:solidFill>
              </a:rPr>
              <a:t>rs1 [19:15]</a:t>
            </a:r>
            <a:r>
              <a:rPr lang="ja-JP" altLang="en-US" sz="1800" dirty="0" err="1"/>
              <a:t>，</a:t>
            </a:r>
            <a:r>
              <a:rPr lang="en-US" altLang="ja-JP" sz="1800" dirty="0">
                <a:solidFill>
                  <a:schemeClr val="accent6"/>
                </a:solidFill>
              </a:rPr>
              <a:t>rs2 [24:20]</a:t>
            </a:r>
          </a:p>
          <a:p>
            <a:pPr lvl="1"/>
            <a:r>
              <a:rPr lang="en-US" altLang="ja-JP" sz="1800" dirty="0">
                <a:latin typeface="Consolas" panose="020B0609020204030204" pitchFamily="49" charset="0"/>
              </a:rPr>
              <a:t>ADD</a:t>
            </a:r>
            <a:r>
              <a:rPr lang="ja-JP" altLang="en-US" sz="1800" dirty="0"/>
              <a:t>：書き込み </a:t>
            </a:r>
            <a:r>
              <a:rPr lang="en-US" altLang="ja-JP" sz="1800" dirty="0" err="1">
                <a:solidFill>
                  <a:schemeClr val="accent4"/>
                </a:solidFill>
              </a:rPr>
              <a:t>rd</a:t>
            </a:r>
            <a:r>
              <a:rPr lang="en-US" altLang="ja-JP" sz="1800" dirty="0">
                <a:solidFill>
                  <a:schemeClr val="accent4"/>
                </a:solidFill>
              </a:rPr>
              <a:t> [11:7]	</a:t>
            </a:r>
            <a:r>
              <a:rPr lang="ja-JP" altLang="en-US" sz="1800" dirty="0"/>
              <a:t>読み出し：</a:t>
            </a:r>
            <a:r>
              <a:rPr lang="en-US" altLang="ja-JP" sz="1800" dirty="0">
                <a:solidFill>
                  <a:schemeClr val="accent5"/>
                </a:solidFill>
              </a:rPr>
              <a:t>rs1 [19:15]</a:t>
            </a:r>
            <a:r>
              <a:rPr lang="ja-JP" altLang="en-US" sz="1800" dirty="0" err="1"/>
              <a:t>，</a:t>
            </a:r>
            <a:r>
              <a:rPr lang="en-US" altLang="ja-JP" sz="1800" dirty="0">
                <a:solidFill>
                  <a:schemeClr val="accent6"/>
                </a:solidFill>
              </a:rPr>
              <a:t>rs2 [24:20]</a:t>
            </a:r>
            <a:endParaRPr lang="ja-JP" altLang="en-US" sz="1800" dirty="0">
              <a:solidFill>
                <a:schemeClr val="accent4"/>
              </a:solidFill>
            </a:endParaRPr>
          </a:p>
        </p:txBody>
      </p:sp>
      <p:sp>
        <p:nvSpPr>
          <p:cNvPr id="63" name="テキスト プレースホルダー 20"/>
          <p:cNvSpPr txBox="1">
            <a:spLocks/>
          </p:cNvSpPr>
          <p:nvPr/>
        </p:nvSpPr>
        <p:spPr bwMode="auto">
          <a:xfrm>
            <a:off x="2045955" y="1178975"/>
            <a:ext cx="8280092" cy="36000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en-US" altLang="ja-JP" sz="1800" kern="0" dirty="0"/>
              <a:t>RISC-V</a:t>
            </a:r>
            <a:endParaRPr lang="ja-JP" altLang="en-US" sz="1800" kern="0" dirty="0"/>
          </a:p>
        </p:txBody>
      </p:sp>
      <p:sp>
        <p:nvSpPr>
          <p:cNvPr id="68" name="正方形/長方形 67"/>
          <p:cNvSpPr/>
          <p:nvPr/>
        </p:nvSpPr>
        <p:spPr bwMode="auto">
          <a:xfrm>
            <a:off x="2225957" y="1808982"/>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SW : (</a:t>
            </a:r>
            <a:r>
              <a:rPr lang="en-US" altLang="ja-JP" sz="1600" dirty="0">
                <a:solidFill>
                  <a:schemeClr val="accent5"/>
                </a:solidFill>
                <a:latin typeface="Consolas" panose="020B0609020204030204" pitchFamily="49" charset="0"/>
                <a:ea typeface="メイリオ" panose="020B0604030504040204" pitchFamily="50" charset="-128"/>
              </a:rPr>
              <a:t>x[rs1]</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 immediate)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en-US" altLang="ja-JP" sz="1600" dirty="0">
                <a:solidFill>
                  <a:schemeClr val="accent6"/>
                </a:solidFill>
                <a:latin typeface="Consolas" panose="020B0609020204030204" pitchFamily="49" charset="0"/>
                <a:ea typeface="メイリオ" panose="020B0604030504040204" pitchFamily="50" charset="-128"/>
              </a:rPr>
              <a:t>[rs2]</a:t>
            </a:r>
            <a:endParaRPr lang="ja-JP" altLang="en-US" sz="1600" dirty="0">
              <a:solidFill>
                <a:schemeClr val="accent6"/>
              </a:solidFill>
              <a:latin typeface="Consolas" panose="020B0609020204030204" pitchFamily="49" charset="0"/>
              <a:ea typeface="メイリオ" panose="020B0604030504040204" pitchFamily="50" charset="-128"/>
            </a:endParaRPr>
          </a:p>
        </p:txBody>
      </p:sp>
      <p:sp>
        <p:nvSpPr>
          <p:cNvPr id="75" name="正方形/長方形 74"/>
          <p:cNvSpPr/>
          <p:nvPr/>
        </p:nvSpPr>
        <p:spPr bwMode="auto">
          <a:xfrm>
            <a:off x="2225957" y="1538979"/>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LW :  </a:t>
            </a:r>
            <a:r>
              <a:rPr lang="en-US" altLang="ja-JP" sz="1600" dirty="0">
                <a:solidFill>
                  <a:schemeClr val="accent4"/>
                </a:solidFill>
                <a:latin typeface="Consolas" panose="020B0609020204030204" pitchFamily="49" charset="0"/>
                <a:ea typeface="メイリオ" panose="020B0604030504040204" pitchFamily="50" charset="-128"/>
              </a:rPr>
              <a:t>x[</a:t>
            </a:r>
            <a:r>
              <a:rPr lang="en-US" altLang="ja-JP" sz="1600" dirty="0" err="1">
                <a:solidFill>
                  <a:schemeClr val="accent4"/>
                </a:solidFill>
                <a:latin typeface="Consolas" panose="020B0609020204030204" pitchFamily="49" charset="0"/>
                <a:ea typeface="メイリオ" panose="020B0604030504040204" pitchFamily="50" charset="-128"/>
              </a:rPr>
              <a:t>rd</a:t>
            </a:r>
            <a:r>
              <a:rPr lang="en-US" altLang="ja-JP" sz="1600" dirty="0">
                <a:solidFill>
                  <a:schemeClr val="accent4"/>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en-US" altLang="ja-JP" sz="1600" dirty="0">
                <a:solidFill>
                  <a:schemeClr val="accent5"/>
                </a:solidFill>
                <a:latin typeface="Consolas" panose="020B0609020204030204" pitchFamily="49" charset="0"/>
                <a:ea typeface="メイリオ" panose="020B0604030504040204" pitchFamily="50" charset="-128"/>
              </a:rPr>
              <a:t>x[rs1]</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 immediate)</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78" name="正方形/長方形 77"/>
          <p:cNvSpPr/>
          <p:nvPr/>
        </p:nvSpPr>
        <p:spPr bwMode="auto">
          <a:xfrm>
            <a:off x="2225957" y="2078985"/>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ADD:  </a:t>
            </a:r>
            <a:r>
              <a:rPr lang="en-US" altLang="ja-JP" sz="1600" dirty="0">
                <a:solidFill>
                  <a:schemeClr val="accent4"/>
                </a:solidFill>
                <a:latin typeface="Consolas" panose="020B0609020204030204" pitchFamily="49" charset="0"/>
                <a:ea typeface="メイリオ" panose="020B0604030504040204" pitchFamily="50" charset="-128"/>
              </a:rPr>
              <a:t>x[</a:t>
            </a:r>
            <a:r>
              <a:rPr lang="en-US" altLang="ja-JP" sz="1600" dirty="0" err="1">
                <a:solidFill>
                  <a:schemeClr val="accent4"/>
                </a:solidFill>
                <a:latin typeface="Consolas" panose="020B0609020204030204" pitchFamily="49" charset="0"/>
                <a:ea typeface="メイリオ" panose="020B0604030504040204" pitchFamily="50" charset="-128"/>
              </a:rPr>
              <a:t>rd</a:t>
            </a:r>
            <a:r>
              <a:rPr lang="en-US" altLang="ja-JP" sz="1600" dirty="0">
                <a:solidFill>
                  <a:schemeClr val="accent4"/>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en-US" altLang="ja-JP" sz="1600" dirty="0">
                <a:solidFill>
                  <a:schemeClr val="accent5"/>
                </a:solidFill>
                <a:latin typeface="Consolas" panose="020B0609020204030204" pitchFamily="49" charset="0"/>
                <a:ea typeface="メイリオ" panose="020B0604030504040204" pitchFamily="50" charset="-128"/>
              </a:rPr>
              <a:t>x[rs1]</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 </a:t>
            </a:r>
            <a:r>
              <a:rPr lang="en-US" altLang="ja-JP" sz="1600" dirty="0">
                <a:solidFill>
                  <a:schemeClr val="accent6"/>
                </a:solidFill>
                <a:latin typeface="Consolas" panose="020B0609020204030204" pitchFamily="49" charset="0"/>
                <a:ea typeface="メイリオ" panose="020B0604030504040204" pitchFamily="50" charset="-128"/>
              </a:rPr>
              <a:t>x[rs2]</a:t>
            </a:r>
            <a:endParaRPr lang="ja-JP" altLang="en-US" sz="1600" dirty="0">
              <a:solidFill>
                <a:schemeClr val="accent6"/>
              </a:solidFill>
              <a:latin typeface="Consolas" panose="020B0609020204030204" pitchFamily="49" charset="0"/>
              <a:ea typeface="メイリオ" panose="020B0604030504040204" pitchFamily="50" charset="-128"/>
            </a:endParaRPr>
          </a:p>
        </p:txBody>
      </p:sp>
      <p:sp>
        <p:nvSpPr>
          <p:cNvPr id="88" name="正方形/長方形 87"/>
          <p:cNvSpPr/>
          <p:nvPr/>
        </p:nvSpPr>
        <p:spPr bwMode="auto">
          <a:xfrm>
            <a:off x="3035966" y="4868767"/>
            <a:ext cx="2520028" cy="144001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89" name="正方形/長方形 88"/>
          <p:cNvSpPr/>
          <p:nvPr/>
        </p:nvSpPr>
        <p:spPr bwMode="auto">
          <a:xfrm>
            <a:off x="7536016" y="4868767"/>
            <a:ext cx="1440016" cy="144001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90" name="フリーフォーム 89"/>
          <p:cNvSpPr>
            <a:spLocks noChangeArrowheads="1"/>
          </p:cNvSpPr>
          <p:nvPr/>
        </p:nvSpPr>
        <p:spPr bwMode="auto">
          <a:xfrm rot="-5400000">
            <a:off x="6411006" y="5183769"/>
            <a:ext cx="810007" cy="540006"/>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ADD</a:t>
            </a:r>
            <a:endParaRPr lang="ja-JP" altLang="en-US" sz="1600" dirty="0">
              <a:latin typeface="Arial Narrow" pitchFamily="34" charset="0"/>
              <a:cs typeface="Times New Roman" pitchFamily="18" charset="0"/>
            </a:endParaRPr>
          </a:p>
        </p:txBody>
      </p:sp>
      <p:sp>
        <p:nvSpPr>
          <p:cNvPr id="91" name="正方形/長方形 90"/>
          <p:cNvSpPr/>
          <p:nvPr/>
        </p:nvSpPr>
        <p:spPr bwMode="auto">
          <a:xfrm>
            <a:off x="3035966" y="4868765"/>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en-US" altLang="ja-JP" sz="1200" dirty="0" err="1">
                <a:latin typeface="メイリオ" panose="020B0604030504040204" pitchFamily="50" charset="-128"/>
                <a:ea typeface="メイリオ" panose="020B0604030504040204" pitchFamily="50" charset="-128"/>
              </a:rPr>
              <a:t>rd</a:t>
            </a:r>
            <a:r>
              <a:rPr lang="en-US" altLang="ja-JP" sz="1200" dirty="0">
                <a:latin typeface="メイリオ" panose="020B0604030504040204" pitchFamily="50" charset="-128"/>
                <a:ea typeface="メイリオ" panose="020B0604030504040204" pitchFamily="50" charset="-128"/>
              </a:rPr>
              <a:t> </a:t>
            </a:r>
            <a:r>
              <a:rPr lang="ja-JP" altLang="en-US" sz="1200" dirty="0">
                <a:latin typeface="メイリオ" panose="020B0604030504040204" pitchFamily="50" charset="-128"/>
                <a:ea typeface="メイリオ" panose="020B0604030504040204" pitchFamily="50" charset="-128"/>
              </a:rPr>
              <a:t>書き込みデータ</a:t>
            </a:r>
          </a:p>
        </p:txBody>
      </p:sp>
      <p:sp>
        <p:nvSpPr>
          <p:cNvPr id="92" name="正方形/長方形 91"/>
          <p:cNvSpPr/>
          <p:nvPr/>
        </p:nvSpPr>
        <p:spPr bwMode="auto">
          <a:xfrm>
            <a:off x="3035966" y="522876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en-US" altLang="ja-JP" sz="1200" dirty="0" err="1">
                <a:latin typeface="メイリオ" panose="020B0604030504040204" pitchFamily="50" charset="-128"/>
                <a:ea typeface="メイリオ" panose="020B0604030504040204" pitchFamily="50" charset="-128"/>
              </a:rPr>
              <a:t>rd</a:t>
            </a:r>
            <a:r>
              <a:rPr lang="en-US" altLang="ja-JP" sz="1200" dirty="0">
                <a:latin typeface="メイリオ" panose="020B0604030504040204" pitchFamily="50" charset="-128"/>
                <a:ea typeface="メイリオ" panose="020B0604030504040204" pitchFamily="50" charset="-128"/>
              </a:rPr>
              <a:t> </a:t>
            </a:r>
            <a:r>
              <a:rPr lang="ja-JP" altLang="en-US" sz="1200" dirty="0">
                <a:latin typeface="メイリオ" panose="020B0604030504040204" pitchFamily="50" charset="-128"/>
                <a:ea typeface="メイリオ" panose="020B0604030504040204" pitchFamily="50" charset="-128"/>
              </a:rPr>
              <a:t>番号</a:t>
            </a:r>
          </a:p>
        </p:txBody>
      </p:sp>
      <p:sp>
        <p:nvSpPr>
          <p:cNvPr id="93" name="正方形/長方形 92"/>
          <p:cNvSpPr/>
          <p:nvPr/>
        </p:nvSpPr>
        <p:spPr bwMode="auto">
          <a:xfrm>
            <a:off x="3035966" y="5588773"/>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en-US" altLang="ja-JP" sz="1200" dirty="0">
                <a:latin typeface="メイリオ" panose="020B0604030504040204" pitchFamily="50" charset="-128"/>
                <a:ea typeface="メイリオ" panose="020B0604030504040204" pitchFamily="50" charset="-128"/>
              </a:rPr>
              <a:t>rs1 </a:t>
            </a:r>
            <a:r>
              <a:rPr lang="ja-JP" altLang="en-US" sz="1200" dirty="0">
                <a:latin typeface="メイリオ" panose="020B0604030504040204" pitchFamily="50" charset="-128"/>
                <a:ea typeface="メイリオ" panose="020B0604030504040204" pitchFamily="50" charset="-128"/>
              </a:rPr>
              <a:t>番号</a:t>
            </a:r>
          </a:p>
        </p:txBody>
      </p:sp>
      <p:sp>
        <p:nvSpPr>
          <p:cNvPr id="94" name="正方形/長方形 93"/>
          <p:cNvSpPr/>
          <p:nvPr/>
        </p:nvSpPr>
        <p:spPr bwMode="auto">
          <a:xfrm>
            <a:off x="3035966" y="5948777"/>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en-US" altLang="ja-JP" sz="1200" dirty="0">
                <a:latin typeface="メイリオ" panose="020B0604030504040204" pitchFamily="50" charset="-128"/>
                <a:ea typeface="メイリオ" panose="020B0604030504040204" pitchFamily="50" charset="-128"/>
              </a:rPr>
              <a:t>rs2 </a:t>
            </a:r>
            <a:r>
              <a:rPr lang="ja-JP" altLang="en-US" sz="1200" dirty="0">
                <a:latin typeface="メイリオ" panose="020B0604030504040204" pitchFamily="50" charset="-128"/>
                <a:ea typeface="メイリオ" panose="020B0604030504040204" pitchFamily="50" charset="-128"/>
              </a:rPr>
              <a:t>番号</a:t>
            </a:r>
          </a:p>
        </p:txBody>
      </p:sp>
      <p:sp>
        <p:nvSpPr>
          <p:cNvPr id="95" name="正方形/長方形 94"/>
          <p:cNvSpPr/>
          <p:nvPr/>
        </p:nvSpPr>
        <p:spPr bwMode="auto">
          <a:xfrm>
            <a:off x="3575972" y="4508763"/>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cxnSp>
        <p:nvCxnSpPr>
          <p:cNvPr id="96" name="直線矢印コネクタ 95"/>
          <p:cNvCxnSpPr/>
          <p:nvPr/>
        </p:nvCxnSpPr>
        <p:spPr bwMode="auto">
          <a:xfrm>
            <a:off x="2675962" y="6128781"/>
            <a:ext cx="360004" cy="0"/>
          </a:xfrm>
          <a:prstGeom prst="straightConnector1">
            <a:avLst/>
          </a:prstGeom>
          <a:noFill/>
          <a:ln w="9525" cap="flat" cmpd="sng" algn="ctr">
            <a:solidFill>
              <a:schemeClr val="tx1"/>
            </a:solidFill>
            <a:prstDash val="solid"/>
            <a:round/>
            <a:headEnd type="none" w="sm" len="sm"/>
            <a:tailEnd type="triangle"/>
          </a:ln>
          <a:effectLst/>
        </p:spPr>
      </p:cxnSp>
      <p:sp>
        <p:nvSpPr>
          <p:cNvPr id="97" name="Freeform 10"/>
          <p:cNvSpPr>
            <a:spLocks/>
          </p:cNvSpPr>
          <p:nvPr/>
        </p:nvSpPr>
        <p:spPr bwMode="auto">
          <a:xfrm>
            <a:off x="2675962" y="4418763"/>
            <a:ext cx="360004"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98" name="Freeform 10"/>
          <p:cNvSpPr>
            <a:spLocks/>
          </p:cNvSpPr>
          <p:nvPr/>
        </p:nvSpPr>
        <p:spPr bwMode="auto">
          <a:xfrm rot="10800000">
            <a:off x="2675962" y="4418762"/>
            <a:ext cx="6480072" cy="1170010"/>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99" name="直線矢印コネクタ 98"/>
          <p:cNvCxnSpPr/>
          <p:nvPr/>
        </p:nvCxnSpPr>
        <p:spPr bwMode="auto">
          <a:xfrm>
            <a:off x="8976032" y="5588775"/>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100" name="直線矢印コネクタ 99"/>
          <p:cNvCxnSpPr/>
          <p:nvPr/>
        </p:nvCxnSpPr>
        <p:spPr bwMode="auto">
          <a:xfrm>
            <a:off x="7086011" y="5408771"/>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101" name="直線矢印コネクタ 100"/>
          <p:cNvCxnSpPr/>
          <p:nvPr/>
        </p:nvCxnSpPr>
        <p:spPr bwMode="auto">
          <a:xfrm>
            <a:off x="5555995" y="5228771"/>
            <a:ext cx="990011" cy="0"/>
          </a:xfrm>
          <a:prstGeom prst="straightConnector1">
            <a:avLst/>
          </a:prstGeom>
          <a:noFill/>
          <a:ln w="9525" cap="flat" cmpd="sng" algn="ctr">
            <a:solidFill>
              <a:schemeClr val="tx1"/>
            </a:solidFill>
            <a:prstDash val="solid"/>
            <a:round/>
            <a:headEnd type="none" w="sm" len="sm"/>
            <a:tailEnd type="triangle"/>
          </a:ln>
          <a:effectLst/>
        </p:spPr>
      </p:cxnSp>
      <p:sp>
        <p:nvSpPr>
          <p:cNvPr id="103" name="正方形/長方形 102"/>
          <p:cNvSpPr/>
          <p:nvPr/>
        </p:nvSpPr>
        <p:spPr bwMode="auto">
          <a:xfrm>
            <a:off x="7536016" y="504876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104" name="正方形/長方形 103"/>
          <p:cNvSpPr/>
          <p:nvPr/>
        </p:nvSpPr>
        <p:spPr bwMode="auto">
          <a:xfrm>
            <a:off x="7536016" y="6308783"/>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メモリ</a:t>
            </a:r>
          </a:p>
        </p:txBody>
      </p:sp>
      <p:sp>
        <p:nvSpPr>
          <p:cNvPr id="105" name="Freeform 10"/>
          <p:cNvSpPr>
            <a:spLocks/>
          </p:cNvSpPr>
          <p:nvPr/>
        </p:nvSpPr>
        <p:spPr bwMode="auto">
          <a:xfrm flipV="1">
            <a:off x="7266014" y="5228771"/>
            <a:ext cx="270003" cy="180000"/>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06" name="正方形/長方形 105"/>
          <p:cNvSpPr/>
          <p:nvPr/>
        </p:nvSpPr>
        <p:spPr bwMode="auto">
          <a:xfrm>
            <a:off x="7536016" y="585877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データ</a:t>
            </a:r>
          </a:p>
        </p:txBody>
      </p:sp>
      <p:sp>
        <p:nvSpPr>
          <p:cNvPr id="107" name="正方形/長方形 106"/>
          <p:cNvSpPr/>
          <p:nvPr/>
        </p:nvSpPr>
        <p:spPr bwMode="auto">
          <a:xfrm>
            <a:off x="4655984" y="5048767"/>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en-US" altLang="ja-JP" sz="1200" dirty="0">
                <a:latin typeface="メイリオ" panose="020B0604030504040204" pitchFamily="50" charset="-128"/>
                <a:ea typeface="メイリオ" panose="020B0604030504040204" pitchFamily="50" charset="-128"/>
              </a:rPr>
              <a:t>rs1 </a:t>
            </a:r>
            <a:r>
              <a:rPr lang="ja-JP" altLang="en-US" sz="1200" dirty="0">
                <a:latin typeface="メイリオ" panose="020B0604030504040204" pitchFamily="50" charset="-128"/>
                <a:ea typeface="メイリオ" panose="020B0604030504040204" pitchFamily="50" charset="-128"/>
              </a:rPr>
              <a:t>データ</a:t>
            </a:r>
          </a:p>
        </p:txBody>
      </p:sp>
      <p:sp>
        <p:nvSpPr>
          <p:cNvPr id="108" name="正方形/長方形 107"/>
          <p:cNvSpPr/>
          <p:nvPr/>
        </p:nvSpPr>
        <p:spPr bwMode="auto">
          <a:xfrm>
            <a:off x="4655984" y="585877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en-US" altLang="ja-JP" sz="1200" dirty="0">
                <a:latin typeface="メイリオ" panose="020B0604030504040204" pitchFamily="50" charset="-128"/>
                <a:ea typeface="メイリオ" panose="020B0604030504040204" pitchFamily="50" charset="-128"/>
              </a:rPr>
              <a:t>rs2 </a:t>
            </a:r>
            <a:r>
              <a:rPr lang="ja-JP" altLang="en-US" sz="1200" dirty="0">
                <a:latin typeface="メイリオ" panose="020B0604030504040204" pitchFamily="50" charset="-128"/>
                <a:ea typeface="メイリオ" panose="020B0604030504040204" pitchFamily="50" charset="-128"/>
              </a:rPr>
              <a:t>データ</a:t>
            </a:r>
          </a:p>
        </p:txBody>
      </p:sp>
      <p:cxnSp>
        <p:nvCxnSpPr>
          <p:cNvPr id="109" name="直線矢印コネクタ 108"/>
          <p:cNvCxnSpPr/>
          <p:nvPr/>
        </p:nvCxnSpPr>
        <p:spPr bwMode="auto">
          <a:xfrm>
            <a:off x="2675962" y="5408771"/>
            <a:ext cx="360004" cy="0"/>
          </a:xfrm>
          <a:prstGeom prst="straightConnector1">
            <a:avLst/>
          </a:prstGeom>
          <a:noFill/>
          <a:ln w="9525" cap="flat" cmpd="sng" algn="ctr">
            <a:solidFill>
              <a:schemeClr val="tx1"/>
            </a:solidFill>
            <a:prstDash val="solid"/>
            <a:round/>
            <a:headEnd type="none" w="sm" len="sm"/>
            <a:tailEnd type="triangle"/>
          </a:ln>
          <a:effectLst/>
        </p:spPr>
      </p:cxnSp>
      <p:cxnSp>
        <p:nvCxnSpPr>
          <p:cNvPr id="110" name="直線矢印コネクタ 109"/>
          <p:cNvCxnSpPr/>
          <p:nvPr/>
        </p:nvCxnSpPr>
        <p:spPr bwMode="auto">
          <a:xfrm>
            <a:off x="2675962" y="5768775"/>
            <a:ext cx="360004" cy="0"/>
          </a:xfrm>
          <a:prstGeom prst="straightConnector1">
            <a:avLst/>
          </a:prstGeom>
          <a:noFill/>
          <a:ln w="9525" cap="flat" cmpd="sng" algn="ctr">
            <a:solidFill>
              <a:schemeClr val="tx1"/>
            </a:solidFill>
            <a:prstDash val="solid"/>
            <a:round/>
            <a:headEnd type="none" w="sm" len="sm"/>
            <a:tailEnd type="triangle"/>
          </a:ln>
          <a:effectLst/>
        </p:spPr>
      </p:cxnSp>
      <p:cxnSp>
        <p:nvCxnSpPr>
          <p:cNvPr id="111" name="直線矢印コネクタ 110"/>
          <p:cNvCxnSpPr/>
          <p:nvPr/>
        </p:nvCxnSpPr>
        <p:spPr bwMode="auto">
          <a:xfrm>
            <a:off x="6276003" y="5678776"/>
            <a:ext cx="270003" cy="0"/>
          </a:xfrm>
          <a:prstGeom prst="straightConnector1">
            <a:avLst/>
          </a:prstGeom>
          <a:noFill/>
          <a:ln w="9525" cap="flat" cmpd="sng" algn="ctr">
            <a:solidFill>
              <a:schemeClr val="tx1"/>
            </a:solidFill>
            <a:prstDash val="solid"/>
            <a:round/>
            <a:headEnd type="none" w="sm" len="sm"/>
            <a:tailEnd type="triangle"/>
          </a:ln>
          <a:effectLst/>
        </p:spPr>
      </p:cxnSp>
      <p:sp>
        <p:nvSpPr>
          <p:cNvPr id="112" name="正方形/長方形 111"/>
          <p:cNvSpPr/>
          <p:nvPr/>
        </p:nvSpPr>
        <p:spPr bwMode="auto">
          <a:xfrm>
            <a:off x="5105989" y="540902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dirty="0" err="1">
                <a:latin typeface="メイリオ" panose="020B0604030504040204" pitchFamily="50" charset="-128"/>
                <a:ea typeface="メイリオ" panose="020B0604030504040204" pitchFamily="50" charset="-128"/>
              </a:rPr>
              <a:t>imm</a:t>
            </a:r>
            <a:endParaRPr lang="ja-JP" altLang="en-US" sz="1600" dirty="0">
              <a:latin typeface="メイリオ" panose="020B0604030504040204" pitchFamily="50" charset="-128"/>
              <a:ea typeface="メイリオ" panose="020B0604030504040204" pitchFamily="50" charset="-128"/>
            </a:endParaRPr>
          </a:p>
        </p:txBody>
      </p:sp>
      <p:cxnSp>
        <p:nvCxnSpPr>
          <p:cNvPr id="113" name="直線矢印コネクタ 112"/>
          <p:cNvCxnSpPr/>
          <p:nvPr/>
        </p:nvCxnSpPr>
        <p:spPr bwMode="auto">
          <a:xfrm>
            <a:off x="6276002" y="5499023"/>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114" name="直線矢印コネクタ 113"/>
          <p:cNvCxnSpPr/>
          <p:nvPr/>
        </p:nvCxnSpPr>
        <p:spPr bwMode="auto">
          <a:xfrm>
            <a:off x="6096000" y="5589024"/>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116" name="Freeform 10"/>
          <p:cNvSpPr>
            <a:spLocks/>
          </p:cNvSpPr>
          <p:nvPr/>
        </p:nvSpPr>
        <p:spPr bwMode="auto">
          <a:xfrm flipV="1">
            <a:off x="6005999" y="5769026"/>
            <a:ext cx="180002"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17" name="直線矢印コネクタ 116"/>
          <p:cNvCxnSpPr/>
          <p:nvPr/>
        </p:nvCxnSpPr>
        <p:spPr bwMode="auto">
          <a:xfrm>
            <a:off x="5555994" y="6039029"/>
            <a:ext cx="1980022" cy="0"/>
          </a:xfrm>
          <a:prstGeom prst="straightConnector1">
            <a:avLst/>
          </a:prstGeom>
          <a:noFill/>
          <a:ln w="9525" cap="flat" cmpd="sng" algn="ctr">
            <a:solidFill>
              <a:schemeClr val="tx1"/>
            </a:solidFill>
            <a:prstDash val="solid"/>
            <a:round/>
            <a:headEnd type="none" w="sm" len="sm"/>
            <a:tailEnd type="triangle"/>
          </a:ln>
          <a:effectLst/>
        </p:spPr>
      </p:cxnSp>
      <p:cxnSp>
        <p:nvCxnSpPr>
          <p:cNvPr id="119" name="直線矢印コネクタ 118"/>
          <p:cNvCxnSpPr/>
          <p:nvPr/>
        </p:nvCxnSpPr>
        <p:spPr bwMode="auto">
          <a:xfrm>
            <a:off x="6096000" y="576902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122" name="正方形/長方形 121"/>
          <p:cNvSpPr/>
          <p:nvPr/>
        </p:nvSpPr>
        <p:spPr bwMode="auto">
          <a:xfrm>
            <a:off x="2045955" y="522902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en-US" altLang="ja-JP" sz="1200" dirty="0">
                <a:solidFill>
                  <a:schemeClr val="accent4"/>
                </a:solidFill>
                <a:latin typeface="メイリオ" panose="020B0604030504040204" pitchFamily="50" charset="-128"/>
                <a:ea typeface="メイリオ" panose="020B0604030504040204" pitchFamily="50" charset="-128"/>
              </a:rPr>
              <a:t>[11:7]</a:t>
            </a:r>
            <a:endParaRPr lang="ja-JP" altLang="en-US" sz="1200" dirty="0">
              <a:solidFill>
                <a:schemeClr val="accent4"/>
              </a:solidFill>
              <a:latin typeface="メイリオ" panose="020B0604030504040204" pitchFamily="50" charset="-128"/>
              <a:ea typeface="メイリオ" panose="020B0604030504040204" pitchFamily="50" charset="-128"/>
            </a:endParaRPr>
          </a:p>
        </p:txBody>
      </p:sp>
      <p:sp>
        <p:nvSpPr>
          <p:cNvPr id="123" name="正方形/長方形 122"/>
          <p:cNvSpPr/>
          <p:nvPr/>
        </p:nvSpPr>
        <p:spPr bwMode="auto">
          <a:xfrm>
            <a:off x="2045955" y="558902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en-US" altLang="ja-JP" sz="1200" dirty="0">
                <a:solidFill>
                  <a:schemeClr val="accent5"/>
                </a:solidFill>
                <a:latin typeface="メイリオ" panose="020B0604030504040204" pitchFamily="50" charset="-128"/>
                <a:ea typeface="メイリオ" panose="020B0604030504040204" pitchFamily="50" charset="-128"/>
              </a:rPr>
              <a:t>[19:15]</a:t>
            </a:r>
            <a:endParaRPr lang="ja-JP" altLang="en-US" sz="1200" dirty="0">
              <a:solidFill>
                <a:schemeClr val="accent5"/>
              </a:solidFill>
              <a:latin typeface="メイリオ" panose="020B0604030504040204" pitchFamily="50" charset="-128"/>
              <a:ea typeface="メイリオ" panose="020B0604030504040204" pitchFamily="50" charset="-128"/>
            </a:endParaRPr>
          </a:p>
        </p:txBody>
      </p:sp>
      <p:sp>
        <p:nvSpPr>
          <p:cNvPr id="124" name="正方形/長方形 123"/>
          <p:cNvSpPr/>
          <p:nvPr/>
        </p:nvSpPr>
        <p:spPr bwMode="auto">
          <a:xfrm>
            <a:off x="2045955" y="594902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en-US" altLang="ja-JP" sz="1200" dirty="0">
                <a:solidFill>
                  <a:schemeClr val="accent6"/>
                </a:solidFill>
                <a:latin typeface="メイリオ" panose="020B0604030504040204" pitchFamily="50" charset="-128"/>
                <a:ea typeface="メイリオ" panose="020B0604030504040204" pitchFamily="50" charset="-128"/>
              </a:rPr>
              <a:t>[24:20]</a:t>
            </a:r>
            <a:endParaRPr lang="ja-JP" altLang="en-US" sz="1200" dirty="0">
              <a:solidFill>
                <a:schemeClr val="accent6"/>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5159803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MIPS </a:t>
            </a:r>
            <a:r>
              <a:rPr kumimoji="1" lang="ja-JP" altLang="en-US" dirty="0"/>
              <a:t>の場合</a:t>
            </a:r>
          </a:p>
        </p:txBody>
      </p:sp>
      <p:sp>
        <p:nvSpPr>
          <p:cNvPr id="32" name="正方形/長方形 31"/>
          <p:cNvSpPr/>
          <p:nvPr/>
        </p:nvSpPr>
        <p:spPr bwMode="auto">
          <a:xfrm>
            <a:off x="2315958" y="1718981"/>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SW : (</a:t>
            </a:r>
            <a:r>
              <a:rPr lang="en-US" altLang="ja-JP" sz="1600" dirty="0">
                <a:solidFill>
                  <a:schemeClr val="accent5"/>
                </a:solidFill>
                <a:latin typeface="Consolas" panose="020B0609020204030204" pitchFamily="49" charset="0"/>
                <a:ea typeface="メイリオ" panose="020B0604030504040204" pitchFamily="50" charset="-128"/>
              </a:rPr>
              <a:t>x[</a:t>
            </a:r>
            <a:r>
              <a:rPr lang="en-US" altLang="ja-JP" sz="1600" dirty="0" err="1">
                <a:solidFill>
                  <a:schemeClr val="accent5"/>
                </a:solidFill>
                <a:latin typeface="Consolas" panose="020B0609020204030204" pitchFamily="49" charset="0"/>
                <a:ea typeface="メイリオ" panose="020B0604030504040204" pitchFamily="50" charset="-128"/>
              </a:rPr>
              <a:t>rs</a:t>
            </a:r>
            <a:r>
              <a:rPr lang="en-US" altLang="ja-JP" sz="1600" dirty="0">
                <a:solidFill>
                  <a:schemeClr val="accent5"/>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 immediate)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en-US" altLang="ja-JP" sz="1600" dirty="0">
                <a:solidFill>
                  <a:schemeClr val="accent6"/>
                </a:solidFill>
                <a:latin typeface="Consolas" panose="020B0609020204030204" pitchFamily="49" charset="0"/>
                <a:ea typeface="メイリオ" panose="020B0604030504040204" pitchFamily="50" charset="-128"/>
              </a:rPr>
              <a:t>[</a:t>
            </a:r>
            <a:r>
              <a:rPr lang="en-US" altLang="ja-JP" sz="1600" dirty="0" err="1">
                <a:solidFill>
                  <a:schemeClr val="accent6"/>
                </a:solidFill>
                <a:latin typeface="Consolas" panose="020B0609020204030204" pitchFamily="49" charset="0"/>
                <a:ea typeface="メイリオ" panose="020B0604030504040204" pitchFamily="50" charset="-128"/>
              </a:rPr>
              <a:t>rt</a:t>
            </a:r>
            <a:r>
              <a:rPr lang="en-US" altLang="ja-JP" sz="1600" dirty="0">
                <a:solidFill>
                  <a:schemeClr val="accent6"/>
                </a:solidFill>
                <a:latin typeface="Consolas" panose="020B0609020204030204" pitchFamily="49" charset="0"/>
                <a:ea typeface="メイリオ" panose="020B0604030504040204" pitchFamily="50" charset="-128"/>
              </a:rPr>
              <a:t>]</a:t>
            </a:r>
            <a:endParaRPr lang="ja-JP" altLang="en-US" sz="1600" dirty="0">
              <a:solidFill>
                <a:schemeClr val="accent6"/>
              </a:solidFill>
              <a:latin typeface="Consolas" panose="020B0609020204030204" pitchFamily="49" charset="0"/>
              <a:ea typeface="メイリオ" panose="020B0604030504040204" pitchFamily="50" charset="-128"/>
            </a:endParaRPr>
          </a:p>
        </p:txBody>
      </p:sp>
      <p:sp>
        <p:nvSpPr>
          <p:cNvPr id="34" name="正方形/長方形 33"/>
          <p:cNvSpPr/>
          <p:nvPr/>
        </p:nvSpPr>
        <p:spPr bwMode="auto">
          <a:xfrm>
            <a:off x="2315958" y="1448978"/>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LW : </a:t>
            </a:r>
            <a:r>
              <a:rPr lang="en-US" altLang="ja-JP" sz="1600" dirty="0">
                <a:solidFill>
                  <a:schemeClr val="accent6"/>
                </a:solidFill>
                <a:latin typeface="Consolas" panose="020B0609020204030204" pitchFamily="49" charset="0"/>
                <a:ea typeface="メイリオ" panose="020B0604030504040204" pitchFamily="50" charset="-128"/>
              </a:rPr>
              <a:t>x[</a:t>
            </a:r>
            <a:r>
              <a:rPr lang="en-US" altLang="ja-JP" sz="1600" dirty="0" err="1">
                <a:solidFill>
                  <a:schemeClr val="accent6"/>
                </a:solidFill>
                <a:latin typeface="Consolas" panose="020B0609020204030204" pitchFamily="49" charset="0"/>
                <a:ea typeface="メイリオ" panose="020B0604030504040204" pitchFamily="50" charset="-128"/>
              </a:rPr>
              <a:t>rt</a:t>
            </a:r>
            <a:r>
              <a:rPr lang="en-US" altLang="ja-JP" sz="1600" dirty="0">
                <a:solidFill>
                  <a:schemeClr val="accent6"/>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en-US" altLang="ja-JP" sz="1600" dirty="0">
                <a:solidFill>
                  <a:schemeClr val="accent5"/>
                </a:solidFill>
                <a:latin typeface="Consolas" panose="020B0609020204030204" pitchFamily="49" charset="0"/>
                <a:ea typeface="メイリオ" panose="020B0604030504040204" pitchFamily="50" charset="-128"/>
              </a:rPr>
              <a:t>x[</a:t>
            </a:r>
            <a:r>
              <a:rPr lang="en-US" altLang="ja-JP" sz="1600" dirty="0" err="1">
                <a:solidFill>
                  <a:schemeClr val="accent5"/>
                </a:solidFill>
                <a:latin typeface="Consolas" panose="020B0609020204030204" pitchFamily="49" charset="0"/>
                <a:ea typeface="メイリオ" panose="020B0604030504040204" pitchFamily="50" charset="-128"/>
              </a:rPr>
              <a:t>rs</a:t>
            </a:r>
            <a:r>
              <a:rPr lang="en-US" altLang="ja-JP" sz="1600" dirty="0">
                <a:solidFill>
                  <a:schemeClr val="accent5"/>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 immediate)</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35" name="テキスト プレースホルダー 20"/>
          <p:cNvSpPr txBox="1">
            <a:spLocks/>
          </p:cNvSpPr>
          <p:nvPr/>
        </p:nvSpPr>
        <p:spPr bwMode="auto">
          <a:xfrm>
            <a:off x="2045955" y="1088974"/>
            <a:ext cx="8280092" cy="36000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en-US" altLang="ja-JP" sz="1800" kern="0" dirty="0"/>
              <a:t>MIPS</a:t>
            </a:r>
            <a:endParaRPr lang="ja-JP" altLang="en-US" sz="1800" kern="0" dirty="0"/>
          </a:p>
        </p:txBody>
      </p:sp>
      <p:sp>
        <p:nvSpPr>
          <p:cNvPr id="36" name="正方形/長方形 35"/>
          <p:cNvSpPr/>
          <p:nvPr/>
        </p:nvSpPr>
        <p:spPr bwMode="auto">
          <a:xfrm>
            <a:off x="2315958" y="1988984"/>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ADDU : </a:t>
            </a:r>
            <a:r>
              <a:rPr lang="en-US" altLang="ja-JP" sz="1600" dirty="0">
                <a:solidFill>
                  <a:schemeClr val="accent4"/>
                </a:solidFill>
                <a:latin typeface="Consolas" panose="020B0609020204030204" pitchFamily="49" charset="0"/>
                <a:ea typeface="メイリオ" panose="020B0604030504040204" pitchFamily="50" charset="-128"/>
              </a:rPr>
              <a:t>x[</a:t>
            </a:r>
            <a:r>
              <a:rPr lang="en-US" altLang="ja-JP" sz="1600" dirty="0" err="1">
                <a:solidFill>
                  <a:schemeClr val="accent4"/>
                </a:solidFill>
                <a:latin typeface="Consolas" panose="020B0609020204030204" pitchFamily="49" charset="0"/>
                <a:ea typeface="メイリオ" panose="020B0604030504040204" pitchFamily="50" charset="-128"/>
              </a:rPr>
              <a:t>rd</a:t>
            </a:r>
            <a:r>
              <a:rPr lang="en-US" altLang="ja-JP" sz="1600" dirty="0">
                <a:solidFill>
                  <a:schemeClr val="accent4"/>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en-US" altLang="ja-JP" sz="1600" dirty="0">
                <a:solidFill>
                  <a:schemeClr val="accent5"/>
                </a:solidFill>
                <a:latin typeface="Consolas" panose="020B0609020204030204" pitchFamily="49" charset="0"/>
                <a:ea typeface="メイリオ" panose="020B0604030504040204" pitchFamily="50" charset="-128"/>
              </a:rPr>
              <a:t>x[</a:t>
            </a:r>
            <a:r>
              <a:rPr lang="en-US" altLang="ja-JP" sz="1600" dirty="0" err="1">
                <a:solidFill>
                  <a:schemeClr val="accent5"/>
                </a:solidFill>
                <a:latin typeface="Consolas" panose="020B0609020204030204" pitchFamily="49" charset="0"/>
                <a:ea typeface="メイリオ" panose="020B0604030504040204" pitchFamily="50" charset="-128"/>
              </a:rPr>
              <a:t>rs</a:t>
            </a:r>
            <a:r>
              <a:rPr lang="en-US" altLang="ja-JP" sz="1600" dirty="0">
                <a:solidFill>
                  <a:schemeClr val="accent5"/>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 </a:t>
            </a:r>
            <a:r>
              <a:rPr lang="en-US" altLang="ja-JP" sz="1600" dirty="0">
                <a:solidFill>
                  <a:schemeClr val="accent6"/>
                </a:solidFill>
                <a:latin typeface="Consolas" panose="020B0609020204030204" pitchFamily="49" charset="0"/>
                <a:ea typeface="メイリオ" panose="020B0604030504040204" pitchFamily="50" charset="-128"/>
              </a:rPr>
              <a:t>x[</a:t>
            </a:r>
            <a:r>
              <a:rPr lang="en-US" altLang="ja-JP" sz="1600" dirty="0" err="1">
                <a:solidFill>
                  <a:schemeClr val="accent6"/>
                </a:solidFill>
                <a:latin typeface="Consolas" panose="020B0609020204030204" pitchFamily="49" charset="0"/>
                <a:ea typeface="メイリオ" panose="020B0604030504040204" pitchFamily="50" charset="-128"/>
              </a:rPr>
              <a:t>rt</a:t>
            </a:r>
            <a:r>
              <a:rPr lang="en-US" altLang="ja-JP" sz="1600" dirty="0">
                <a:solidFill>
                  <a:schemeClr val="accent6"/>
                </a:solidFill>
                <a:latin typeface="Consolas" panose="020B0609020204030204" pitchFamily="49" charset="0"/>
                <a:ea typeface="メイリオ" panose="020B0604030504040204" pitchFamily="50" charset="-128"/>
              </a:rPr>
              <a:t>]</a:t>
            </a:r>
            <a:endParaRPr lang="ja-JP" altLang="en-US" sz="1600" dirty="0">
              <a:solidFill>
                <a:schemeClr val="accent6"/>
              </a:solidFill>
              <a:latin typeface="Consolas" panose="020B0609020204030204" pitchFamily="49" charset="0"/>
              <a:ea typeface="メイリオ" panose="020B0604030504040204" pitchFamily="50" charset="-128"/>
            </a:endParaRPr>
          </a:p>
        </p:txBody>
      </p:sp>
      <p:sp>
        <p:nvSpPr>
          <p:cNvPr id="37" name="テキスト プレースホルダー 2"/>
          <p:cNvSpPr txBox="1">
            <a:spLocks/>
          </p:cNvSpPr>
          <p:nvPr/>
        </p:nvSpPr>
        <p:spPr bwMode="auto">
          <a:xfrm>
            <a:off x="2045955" y="2528991"/>
            <a:ext cx="8280092" cy="143970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sz="1800" dirty="0"/>
              <a:t>レジスタ番号を指定する，命令内のビット位置が一貫していない</a:t>
            </a:r>
            <a:br>
              <a:rPr lang="en-US" altLang="ja-JP" sz="1800" dirty="0"/>
            </a:br>
            <a:r>
              <a:rPr lang="ja-JP" altLang="en-US" sz="1800" kern="0" dirty="0"/>
              <a:t>→ 書き込み番号の切り替え（</a:t>
            </a:r>
            <a:r>
              <a:rPr lang="en-US" altLang="ja-JP" sz="1800" kern="0" dirty="0" err="1">
                <a:solidFill>
                  <a:schemeClr val="accent6"/>
                </a:solidFill>
              </a:rPr>
              <a:t>rt</a:t>
            </a:r>
            <a:r>
              <a:rPr lang="en-US" altLang="ja-JP" sz="1800" kern="0" dirty="0"/>
              <a:t> or </a:t>
            </a:r>
            <a:r>
              <a:rPr lang="en-US" altLang="ja-JP" sz="1800" kern="0" dirty="0" err="1">
                <a:solidFill>
                  <a:schemeClr val="accent6"/>
                </a:solidFill>
              </a:rPr>
              <a:t>rs</a:t>
            </a:r>
            <a:r>
              <a:rPr lang="ja-JP" altLang="en-US" sz="1800" kern="0" dirty="0"/>
              <a:t>）が必要</a:t>
            </a:r>
            <a:endParaRPr lang="en-US" altLang="ja-JP" sz="1800" kern="0" dirty="0"/>
          </a:p>
          <a:p>
            <a:pPr lvl="1"/>
            <a:r>
              <a:rPr lang="en-US" altLang="ja-JP" sz="1800" kern="0" dirty="0">
                <a:latin typeface="Consolas" panose="020B0609020204030204" pitchFamily="49" charset="0"/>
              </a:rPr>
              <a:t>LW </a:t>
            </a:r>
            <a:r>
              <a:rPr lang="ja-JP" altLang="en-US" sz="1800" kern="0" dirty="0"/>
              <a:t>：書き込み </a:t>
            </a:r>
            <a:r>
              <a:rPr lang="en-US" altLang="ja-JP" sz="1800" kern="0" dirty="0" err="1">
                <a:solidFill>
                  <a:schemeClr val="accent6"/>
                </a:solidFill>
              </a:rPr>
              <a:t>rt</a:t>
            </a:r>
            <a:r>
              <a:rPr lang="en-US" altLang="ja-JP" sz="1800" kern="0" dirty="0">
                <a:solidFill>
                  <a:schemeClr val="accent6"/>
                </a:solidFill>
              </a:rPr>
              <a:t> [16:20]</a:t>
            </a:r>
            <a:r>
              <a:rPr lang="en-US" altLang="ja-JP" sz="1800" kern="0" dirty="0">
                <a:solidFill>
                  <a:schemeClr val="accent4"/>
                </a:solidFill>
              </a:rPr>
              <a:t>	</a:t>
            </a:r>
            <a:r>
              <a:rPr lang="ja-JP" altLang="en-US" sz="1800" kern="0" dirty="0"/>
              <a:t>読み出し：</a:t>
            </a:r>
            <a:r>
              <a:rPr lang="en-US" altLang="ja-JP" sz="1800" kern="0" dirty="0" err="1">
                <a:solidFill>
                  <a:schemeClr val="accent5"/>
                </a:solidFill>
              </a:rPr>
              <a:t>rs</a:t>
            </a:r>
            <a:r>
              <a:rPr lang="en-US" altLang="ja-JP" sz="1800" kern="0" dirty="0">
                <a:solidFill>
                  <a:schemeClr val="accent5"/>
                </a:solidFill>
              </a:rPr>
              <a:t> [25:21]</a:t>
            </a:r>
            <a:endParaRPr lang="en-US" altLang="ja-JP" sz="1800" kern="0" dirty="0">
              <a:solidFill>
                <a:schemeClr val="accent4"/>
              </a:solidFill>
            </a:endParaRPr>
          </a:p>
          <a:p>
            <a:pPr lvl="1"/>
            <a:r>
              <a:rPr lang="en-US" altLang="ja-JP" sz="1800" kern="0" dirty="0">
                <a:latin typeface="Consolas" panose="020B0609020204030204" pitchFamily="49" charset="0"/>
              </a:rPr>
              <a:t>SW </a:t>
            </a:r>
            <a:r>
              <a:rPr lang="ja-JP" altLang="en-US" sz="1800" kern="0" dirty="0"/>
              <a:t>：</a:t>
            </a:r>
            <a:r>
              <a:rPr lang="en-US" altLang="ja-JP" sz="1800" kern="0" dirty="0"/>
              <a:t>			</a:t>
            </a:r>
            <a:r>
              <a:rPr lang="ja-JP" altLang="en-US" sz="1800" kern="0" dirty="0"/>
              <a:t>読み出し：</a:t>
            </a:r>
            <a:r>
              <a:rPr lang="en-US" altLang="ja-JP" sz="1800" kern="0" dirty="0" err="1">
                <a:solidFill>
                  <a:schemeClr val="accent5"/>
                </a:solidFill>
              </a:rPr>
              <a:t>rs</a:t>
            </a:r>
            <a:r>
              <a:rPr lang="en-US" altLang="ja-JP" sz="1800" kern="0" dirty="0">
                <a:solidFill>
                  <a:schemeClr val="accent5"/>
                </a:solidFill>
              </a:rPr>
              <a:t> [25:21]</a:t>
            </a:r>
            <a:r>
              <a:rPr lang="ja-JP" altLang="en-US" sz="1800" kern="0" dirty="0" err="1"/>
              <a:t>，</a:t>
            </a:r>
            <a:r>
              <a:rPr lang="en-US" altLang="ja-JP" sz="1800" kern="0" dirty="0" err="1">
                <a:solidFill>
                  <a:schemeClr val="accent6"/>
                </a:solidFill>
              </a:rPr>
              <a:t>rt</a:t>
            </a:r>
            <a:r>
              <a:rPr lang="en-US" altLang="ja-JP" sz="1800" kern="0" dirty="0">
                <a:solidFill>
                  <a:schemeClr val="accent6"/>
                </a:solidFill>
              </a:rPr>
              <a:t> [16:20]</a:t>
            </a:r>
          </a:p>
          <a:p>
            <a:pPr lvl="1"/>
            <a:r>
              <a:rPr lang="en-US" altLang="ja-JP" sz="1800" kern="0" dirty="0">
                <a:latin typeface="Consolas" panose="020B0609020204030204" pitchFamily="49" charset="0"/>
              </a:rPr>
              <a:t>ADD</a:t>
            </a:r>
            <a:r>
              <a:rPr lang="ja-JP" altLang="en-US" sz="1800" kern="0" dirty="0"/>
              <a:t>：書き込み </a:t>
            </a:r>
            <a:r>
              <a:rPr lang="en-US" altLang="ja-JP" sz="1800" kern="0" dirty="0" err="1">
                <a:solidFill>
                  <a:schemeClr val="accent4"/>
                </a:solidFill>
              </a:rPr>
              <a:t>rd</a:t>
            </a:r>
            <a:r>
              <a:rPr lang="en-US" altLang="ja-JP" sz="1800" kern="0" dirty="0">
                <a:solidFill>
                  <a:schemeClr val="accent4"/>
                </a:solidFill>
              </a:rPr>
              <a:t> [11:15]	</a:t>
            </a:r>
            <a:r>
              <a:rPr lang="ja-JP" altLang="en-US" sz="1800" kern="0" dirty="0"/>
              <a:t>読み出し：</a:t>
            </a:r>
            <a:r>
              <a:rPr lang="en-US" altLang="ja-JP" sz="1800" kern="0" dirty="0" err="1">
                <a:solidFill>
                  <a:schemeClr val="accent5"/>
                </a:solidFill>
              </a:rPr>
              <a:t>rs</a:t>
            </a:r>
            <a:r>
              <a:rPr lang="en-US" altLang="ja-JP" sz="1800" kern="0" dirty="0">
                <a:solidFill>
                  <a:schemeClr val="accent5"/>
                </a:solidFill>
              </a:rPr>
              <a:t> [25:21]</a:t>
            </a:r>
            <a:r>
              <a:rPr lang="ja-JP" altLang="en-US" sz="1800" kern="0" dirty="0" err="1"/>
              <a:t>，</a:t>
            </a:r>
            <a:r>
              <a:rPr lang="en-US" altLang="ja-JP" sz="1800" kern="0" dirty="0" err="1">
                <a:solidFill>
                  <a:schemeClr val="accent6"/>
                </a:solidFill>
              </a:rPr>
              <a:t>rt</a:t>
            </a:r>
            <a:r>
              <a:rPr lang="en-US" altLang="ja-JP" sz="1800" kern="0" dirty="0">
                <a:solidFill>
                  <a:schemeClr val="accent6"/>
                </a:solidFill>
              </a:rPr>
              <a:t> [16:20]</a:t>
            </a:r>
            <a:endParaRPr lang="ja-JP" altLang="en-US" sz="1800" kern="0" dirty="0">
              <a:solidFill>
                <a:schemeClr val="accent4"/>
              </a:solidFill>
            </a:endParaRPr>
          </a:p>
        </p:txBody>
      </p:sp>
      <p:sp>
        <p:nvSpPr>
          <p:cNvPr id="38" name="正方形/長方形 37"/>
          <p:cNvSpPr/>
          <p:nvPr/>
        </p:nvSpPr>
        <p:spPr bwMode="auto">
          <a:xfrm>
            <a:off x="3035966" y="4868767"/>
            <a:ext cx="2520028" cy="144001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39" name="正方形/長方形 38"/>
          <p:cNvSpPr/>
          <p:nvPr/>
        </p:nvSpPr>
        <p:spPr bwMode="auto">
          <a:xfrm>
            <a:off x="7536016" y="4868767"/>
            <a:ext cx="1440016" cy="144001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41" name="正方形/長方形 40"/>
          <p:cNvSpPr/>
          <p:nvPr/>
        </p:nvSpPr>
        <p:spPr bwMode="auto">
          <a:xfrm>
            <a:off x="3035966" y="4868765"/>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en-US" altLang="ja-JP" sz="1200" dirty="0" err="1">
                <a:latin typeface="メイリオ" panose="020B0604030504040204" pitchFamily="50" charset="-128"/>
                <a:ea typeface="メイリオ" panose="020B0604030504040204" pitchFamily="50" charset="-128"/>
              </a:rPr>
              <a:t>rd</a:t>
            </a:r>
            <a:r>
              <a:rPr lang="en-US" altLang="ja-JP" sz="1200" dirty="0">
                <a:latin typeface="メイリオ" panose="020B0604030504040204" pitchFamily="50" charset="-128"/>
                <a:ea typeface="メイリオ" panose="020B0604030504040204" pitchFamily="50" charset="-128"/>
              </a:rPr>
              <a:t>/</a:t>
            </a:r>
            <a:r>
              <a:rPr lang="en-US" altLang="ja-JP" sz="1200" dirty="0" err="1">
                <a:latin typeface="メイリオ" panose="020B0604030504040204" pitchFamily="50" charset="-128"/>
                <a:ea typeface="メイリオ" panose="020B0604030504040204" pitchFamily="50" charset="-128"/>
              </a:rPr>
              <a:t>rt</a:t>
            </a:r>
            <a:r>
              <a:rPr lang="en-US" altLang="ja-JP" sz="1200" dirty="0">
                <a:latin typeface="メイリオ" panose="020B0604030504040204" pitchFamily="50" charset="-128"/>
                <a:ea typeface="メイリオ" panose="020B0604030504040204" pitchFamily="50" charset="-128"/>
              </a:rPr>
              <a:t> </a:t>
            </a:r>
            <a:r>
              <a:rPr lang="ja-JP" altLang="en-US" sz="1200" dirty="0">
                <a:latin typeface="メイリオ" panose="020B0604030504040204" pitchFamily="50" charset="-128"/>
                <a:ea typeface="メイリオ" panose="020B0604030504040204" pitchFamily="50" charset="-128"/>
              </a:rPr>
              <a:t>書き込みデータ</a:t>
            </a:r>
          </a:p>
        </p:txBody>
      </p:sp>
      <p:sp>
        <p:nvSpPr>
          <p:cNvPr id="42" name="正方形/長方形 41"/>
          <p:cNvSpPr/>
          <p:nvPr/>
        </p:nvSpPr>
        <p:spPr bwMode="auto">
          <a:xfrm>
            <a:off x="3035966" y="522876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en-US" altLang="ja-JP" sz="1200" dirty="0" err="1">
                <a:latin typeface="メイリオ" panose="020B0604030504040204" pitchFamily="50" charset="-128"/>
                <a:ea typeface="メイリオ" panose="020B0604030504040204" pitchFamily="50" charset="-128"/>
              </a:rPr>
              <a:t>rd</a:t>
            </a:r>
            <a:r>
              <a:rPr lang="en-US" altLang="ja-JP" sz="1200" dirty="0">
                <a:latin typeface="メイリオ" panose="020B0604030504040204" pitchFamily="50" charset="-128"/>
                <a:ea typeface="メイリオ" panose="020B0604030504040204" pitchFamily="50" charset="-128"/>
              </a:rPr>
              <a:t>/</a:t>
            </a:r>
            <a:r>
              <a:rPr lang="en-US" altLang="ja-JP" sz="1200" dirty="0" err="1">
                <a:latin typeface="メイリオ" panose="020B0604030504040204" pitchFamily="50" charset="-128"/>
                <a:ea typeface="メイリオ" panose="020B0604030504040204" pitchFamily="50" charset="-128"/>
              </a:rPr>
              <a:t>rt</a:t>
            </a:r>
            <a:r>
              <a:rPr lang="en-US" altLang="ja-JP" sz="1200" dirty="0">
                <a:latin typeface="メイリオ" panose="020B0604030504040204" pitchFamily="50" charset="-128"/>
                <a:ea typeface="メイリオ" panose="020B0604030504040204" pitchFamily="50" charset="-128"/>
              </a:rPr>
              <a:t> </a:t>
            </a:r>
            <a:r>
              <a:rPr lang="ja-JP" altLang="en-US" sz="1200" dirty="0">
                <a:latin typeface="メイリオ" panose="020B0604030504040204" pitchFamily="50" charset="-128"/>
                <a:ea typeface="メイリオ" panose="020B0604030504040204" pitchFamily="50" charset="-128"/>
              </a:rPr>
              <a:t>番号</a:t>
            </a:r>
          </a:p>
        </p:txBody>
      </p:sp>
      <p:sp>
        <p:nvSpPr>
          <p:cNvPr id="43" name="正方形/長方形 42"/>
          <p:cNvSpPr/>
          <p:nvPr/>
        </p:nvSpPr>
        <p:spPr bwMode="auto">
          <a:xfrm>
            <a:off x="3035966" y="5588773"/>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en-US" altLang="ja-JP" sz="1200" dirty="0" err="1">
                <a:latin typeface="メイリオ" panose="020B0604030504040204" pitchFamily="50" charset="-128"/>
                <a:ea typeface="メイリオ" panose="020B0604030504040204" pitchFamily="50" charset="-128"/>
              </a:rPr>
              <a:t>rs</a:t>
            </a:r>
            <a:r>
              <a:rPr lang="en-US" altLang="ja-JP" sz="1200" dirty="0">
                <a:latin typeface="メイリオ" panose="020B0604030504040204" pitchFamily="50" charset="-128"/>
                <a:ea typeface="メイリオ" panose="020B0604030504040204" pitchFamily="50" charset="-128"/>
              </a:rPr>
              <a:t> </a:t>
            </a:r>
            <a:r>
              <a:rPr lang="ja-JP" altLang="en-US" sz="1200" dirty="0">
                <a:latin typeface="メイリオ" panose="020B0604030504040204" pitchFamily="50" charset="-128"/>
                <a:ea typeface="メイリオ" panose="020B0604030504040204" pitchFamily="50" charset="-128"/>
              </a:rPr>
              <a:t>番号</a:t>
            </a:r>
          </a:p>
        </p:txBody>
      </p:sp>
      <p:sp>
        <p:nvSpPr>
          <p:cNvPr id="44" name="正方形/長方形 43"/>
          <p:cNvSpPr/>
          <p:nvPr/>
        </p:nvSpPr>
        <p:spPr bwMode="auto">
          <a:xfrm>
            <a:off x="3035966" y="5948777"/>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en-US" altLang="ja-JP" sz="1200" dirty="0" err="1">
                <a:latin typeface="メイリオ" panose="020B0604030504040204" pitchFamily="50" charset="-128"/>
                <a:ea typeface="メイリオ" panose="020B0604030504040204" pitchFamily="50" charset="-128"/>
              </a:rPr>
              <a:t>rt</a:t>
            </a:r>
            <a:r>
              <a:rPr lang="en-US" altLang="ja-JP" sz="1200" dirty="0">
                <a:latin typeface="メイリオ" panose="020B0604030504040204" pitchFamily="50" charset="-128"/>
                <a:ea typeface="メイリオ" panose="020B0604030504040204" pitchFamily="50" charset="-128"/>
              </a:rPr>
              <a:t> </a:t>
            </a:r>
            <a:r>
              <a:rPr lang="ja-JP" altLang="en-US" sz="1200" dirty="0">
                <a:latin typeface="メイリオ" panose="020B0604030504040204" pitchFamily="50" charset="-128"/>
                <a:ea typeface="メイリオ" panose="020B0604030504040204" pitchFamily="50" charset="-128"/>
              </a:rPr>
              <a:t>番号</a:t>
            </a:r>
          </a:p>
        </p:txBody>
      </p:sp>
      <p:sp>
        <p:nvSpPr>
          <p:cNvPr id="45" name="正方形/長方形 44"/>
          <p:cNvSpPr/>
          <p:nvPr/>
        </p:nvSpPr>
        <p:spPr bwMode="auto">
          <a:xfrm>
            <a:off x="3575972" y="4508763"/>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cxnSp>
        <p:nvCxnSpPr>
          <p:cNvPr id="46" name="直線矢印コネクタ 45"/>
          <p:cNvCxnSpPr/>
          <p:nvPr/>
        </p:nvCxnSpPr>
        <p:spPr bwMode="auto">
          <a:xfrm>
            <a:off x="2675962" y="6128781"/>
            <a:ext cx="360004" cy="0"/>
          </a:xfrm>
          <a:prstGeom prst="straightConnector1">
            <a:avLst/>
          </a:prstGeom>
          <a:noFill/>
          <a:ln w="9525" cap="flat" cmpd="sng" algn="ctr">
            <a:solidFill>
              <a:schemeClr val="tx1"/>
            </a:solidFill>
            <a:prstDash val="solid"/>
            <a:round/>
            <a:headEnd type="none" w="sm" len="sm"/>
            <a:tailEnd type="triangle"/>
          </a:ln>
          <a:effectLst/>
        </p:spPr>
      </p:cxnSp>
      <p:sp>
        <p:nvSpPr>
          <p:cNvPr id="47" name="Freeform 10"/>
          <p:cNvSpPr>
            <a:spLocks/>
          </p:cNvSpPr>
          <p:nvPr/>
        </p:nvSpPr>
        <p:spPr bwMode="auto">
          <a:xfrm>
            <a:off x="2675962" y="4418763"/>
            <a:ext cx="360004"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8" name="Freeform 10"/>
          <p:cNvSpPr>
            <a:spLocks/>
          </p:cNvSpPr>
          <p:nvPr/>
        </p:nvSpPr>
        <p:spPr bwMode="auto">
          <a:xfrm rot="10800000">
            <a:off x="2675962" y="4418762"/>
            <a:ext cx="6480072" cy="1170010"/>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49" name="直線矢印コネクタ 48"/>
          <p:cNvCxnSpPr/>
          <p:nvPr/>
        </p:nvCxnSpPr>
        <p:spPr bwMode="auto">
          <a:xfrm>
            <a:off x="8976032" y="5588775"/>
            <a:ext cx="180002" cy="0"/>
          </a:xfrm>
          <a:prstGeom prst="straightConnector1">
            <a:avLst/>
          </a:prstGeom>
          <a:noFill/>
          <a:ln w="9525" cap="flat" cmpd="sng" algn="ctr">
            <a:solidFill>
              <a:schemeClr val="tx1"/>
            </a:solidFill>
            <a:prstDash val="solid"/>
            <a:round/>
            <a:headEnd type="none" w="sm" len="sm"/>
            <a:tailEnd type="none"/>
          </a:ln>
          <a:effectLst/>
        </p:spPr>
      </p:cxnSp>
      <p:sp>
        <p:nvSpPr>
          <p:cNvPr id="53" name="正方形/長方形 52"/>
          <p:cNvSpPr/>
          <p:nvPr/>
        </p:nvSpPr>
        <p:spPr bwMode="auto">
          <a:xfrm>
            <a:off x="7536016" y="504876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54" name="正方形/長方形 53"/>
          <p:cNvSpPr/>
          <p:nvPr/>
        </p:nvSpPr>
        <p:spPr bwMode="auto">
          <a:xfrm>
            <a:off x="7536016" y="6308783"/>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メモリ</a:t>
            </a:r>
          </a:p>
        </p:txBody>
      </p:sp>
      <p:sp>
        <p:nvSpPr>
          <p:cNvPr id="56" name="正方形/長方形 55"/>
          <p:cNvSpPr/>
          <p:nvPr/>
        </p:nvSpPr>
        <p:spPr bwMode="auto">
          <a:xfrm>
            <a:off x="7536016" y="585877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データ</a:t>
            </a:r>
          </a:p>
        </p:txBody>
      </p:sp>
      <p:sp>
        <p:nvSpPr>
          <p:cNvPr id="57" name="正方形/長方形 56"/>
          <p:cNvSpPr/>
          <p:nvPr/>
        </p:nvSpPr>
        <p:spPr bwMode="auto">
          <a:xfrm>
            <a:off x="4655984" y="5048767"/>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en-US" altLang="ja-JP" sz="1200" dirty="0" err="1">
                <a:latin typeface="メイリオ" panose="020B0604030504040204" pitchFamily="50" charset="-128"/>
                <a:ea typeface="メイリオ" panose="020B0604030504040204" pitchFamily="50" charset="-128"/>
              </a:rPr>
              <a:t>rs</a:t>
            </a:r>
            <a:r>
              <a:rPr lang="en-US" altLang="ja-JP" sz="1200" dirty="0">
                <a:latin typeface="メイリオ" panose="020B0604030504040204" pitchFamily="50" charset="-128"/>
                <a:ea typeface="メイリオ" panose="020B0604030504040204" pitchFamily="50" charset="-128"/>
              </a:rPr>
              <a:t> </a:t>
            </a:r>
            <a:r>
              <a:rPr lang="ja-JP" altLang="en-US" sz="1200" dirty="0">
                <a:latin typeface="メイリオ" panose="020B0604030504040204" pitchFamily="50" charset="-128"/>
                <a:ea typeface="メイリオ" panose="020B0604030504040204" pitchFamily="50" charset="-128"/>
              </a:rPr>
              <a:t>データ</a:t>
            </a:r>
          </a:p>
        </p:txBody>
      </p:sp>
      <p:sp>
        <p:nvSpPr>
          <p:cNvPr id="58" name="正方形/長方形 57"/>
          <p:cNvSpPr/>
          <p:nvPr/>
        </p:nvSpPr>
        <p:spPr bwMode="auto">
          <a:xfrm>
            <a:off x="4655984" y="585877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en-US" altLang="ja-JP" sz="1200" dirty="0" err="1">
                <a:latin typeface="メイリオ" panose="020B0604030504040204" pitchFamily="50" charset="-128"/>
                <a:ea typeface="メイリオ" panose="020B0604030504040204" pitchFamily="50" charset="-128"/>
              </a:rPr>
              <a:t>rt</a:t>
            </a:r>
            <a:r>
              <a:rPr lang="en-US" altLang="ja-JP" sz="1200" dirty="0">
                <a:latin typeface="メイリオ" panose="020B0604030504040204" pitchFamily="50" charset="-128"/>
                <a:ea typeface="メイリオ" panose="020B0604030504040204" pitchFamily="50" charset="-128"/>
              </a:rPr>
              <a:t> </a:t>
            </a:r>
            <a:r>
              <a:rPr lang="ja-JP" altLang="en-US" sz="1200" dirty="0">
                <a:latin typeface="メイリオ" panose="020B0604030504040204" pitchFamily="50" charset="-128"/>
                <a:ea typeface="メイリオ" panose="020B0604030504040204" pitchFamily="50" charset="-128"/>
              </a:rPr>
              <a:t>データ</a:t>
            </a:r>
          </a:p>
        </p:txBody>
      </p:sp>
      <p:cxnSp>
        <p:nvCxnSpPr>
          <p:cNvPr id="59" name="直線矢印コネクタ 58"/>
          <p:cNvCxnSpPr/>
          <p:nvPr/>
        </p:nvCxnSpPr>
        <p:spPr bwMode="auto">
          <a:xfrm>
            <a:off x="2675962" y="5408771"/>
            <a:ext cx="360004" cy="0"/>
          </a:xfrm>
          <a:prstGeom prst="straightConnector1">
            <a:avLst/>
          </a:prstGeom>
          <a:noFill/>
          <a:ln w="9525" cap="flat" cmpd="sng" algn="ctr">
            <a:solidFill>
              <a:srgbClr val="FF0000"/>
            </a:solidFill>
            <a:prstDash val="solid"/>
            <a:round/>
            <a:headEnd type="none" w="sm" len="sm"/>
            <a:tailEnd type="triangle"/>
          </a:ln>
          <a:effectLst/>
        </p:spPr>
      </p:cxnSp>
      <p:cxnSp>
        <p:nvCxnSpPr>
          <p:cNvPr id="60" name="直線矢印コネクタ 59"/>
          <p:cNvCxnSpPr/>
          <p:nvPr/>
        </p:nvCxnSpPr>
        <p:spPr bwMode="auto">
          <a:xfrm>
            <a:off x="2675962" y="5768775"/>
            <a:ext cx="360004" cy="0"/>
          </a:xfrm>
          <a:prstGeom prst="straightConnector1">
            <a:avLst/>
          </a:prstGeom>
          <a:noFill/>
          <a:ln w="9525" cap="flat" cmpd="sng" algn="ctr">
            <a:solidFill>
              <a:schemeClr val="tx1"/>
            </a:solidFill>
            <a:prstDash val="solid"/>
            <a:round/>
            <a:headEnd type="none" w="sm" len="sm"/>
            <a:tailEnd type="triangle"/>
          </a:ln>
          <a:effectLst/>
        </p:spPr>
      </p:cxnSp>
      <p:sp>
        <p:nvSpPr>
          <p:cNvPr id="81" name="フリーフォーム 80"/>
          <p:cNvSpPr>
            <a:spLocks noChangeArrowheads="1"/>
          </p:cNvSpPr>
          <p:nvPr/>
        </p:nvSpPr>
        <p:spPr bwMode="auto">
          <a:xfrm rot="-5400000">
            <a:off x="6411006" y="5183769"/>
            <a:ext cx="810007" cy="540006"/>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ADD</a:t>
            </a:r>
            <a:endParaRPr lang="ja-JP" altLang="en-US" sz="1600" dirty="0">
              <a:latin typeface="Arial Narrow" pitchFamily="34" charset="0"/>
              <a:cs typeface="Times New Roman" pitchFamily="18" charset="0"/>
            </a:endParaRPr>
          </a:p>
        </p:txBody>
      </p:sp>
      <p:cxnSp>
        <p:nvCxnSpPr>
          <p:cNvPr id="82" name="直線矢印コネクタ 81"/>
          <p:cNvCxnSpPr/>
          <p:nvPr/>
        </p:nvCxnSpPr>
        <p:spPr bwMode="auto">
          <a:xfrm>
            <a:off x="7086011" y="5408771"/>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83" name="直線矢印コネクタ 82"/>
          <p:cNvCxnSpPr/>
          <p:nvPr/>
        </p:nvCxnSpPr>
        <p:spPr bwMode="auto">
          <a:xfrm>
            <a:off x="5555995" y="5228771"/>
            <a:ext cx="990011" cy="0"/>
          </a:xfrm>
          <a:prstGeom prst="straightConnector1">
            <a:avLst/>
          </a:prstGeom>
          <a:noFill/>
          <a:ln w="9525" cap="flat" cmpd="sng" algn="ctr">
            <a:solidFill>
              <a:schemeClr val="tx1"/>
            </a:solidFill>
            <a:prstDash val="solid"/>
            <a:round/>
            <a:headEnd type="none" w="sm" len="sm"/>
            <a:tailEnd type="triangle"/>
          </a:ln>
          <a:effectLst/>
        </p:spPr>
      </p:cxnSp>
      <p:sp>
        <p:nvSpPr>
          <p:cNvPr id="84" name="Freeform 10"/>
          <p:cNvSpPr>
            <a:spLocks/>
          </p:cNvSpPr>
          <p:nvPr/>
        </p:nvSpPr>
        <p:spPr bwMode="auto">
          <a:xfrm flipV="1">
            <a:off x="7266014" y="5228771"/>
            <a:ext cx="270003" cy="180000"/>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85" name="直線矢印コネクタ 84"/>
          <p:cNvCxnSpPr/>
          <p:nvPr/>
        </p:nvCxnSpPr>
        <p:spPr bwMode="auto">
          <a:xfrm>
            <a:off x="6276003" y="5678776"/>
            <a:ext cx="270003" cy="0"/>
          </a:xfrm>
          <a:prstGeom prst="straightConnector1">
            <a:avLst/>
          </a:prstGeom>
          <a:noFill/>
          <a:ln w="9525" cap="flat" cmpd="sng" algn="ctr">
            <a:solidFill>
              <a:schemeClr val="tx1"/>
            </a:solidFill>
            <a:prstDash val="solid"/>
            <a:round/>
            <a:headEnd type="none" w="sm" len="sm"/>
            <a:tailEnd type="triangle"/>
          </a:ln>
          <a:effectLst/>
        </p:spPr>
      </p:cxnSp>
      <p:cxnSp>
        <p:nvCxnSpPr>
          <p:cNvPr id="86" name="直線矢印コネクタ 85"/>
          <p:cNvCxnSpPr/>
          <p:nvPr/>
        </p:nvCxnSpPr>
        <p:spPr bwMode="auto">
          <a:xfrm>
            <a:off x="6276002" y="5499023"/>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87" name="直線矢印コネクタ 86"/>
          <p:cNvCxnSpPr/>
          <p:nvPr/>
        </p:nvCxnSpPr>
        <p:spPr bwMode="auto">
          <a:xfrm>
            <a:off x="6096000" y="5589024"/>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88" name="Freeform 10"/>
          <p:cNvSpPr>
            <a:spLocks/>
          </p:cNvSpPr>
          <p:nvPr/>
        </p:nvSpPr>
        <p:spPr bwMode="auto">
          <a:xfrm flipV="1">
            <a:off x="6005999" y="5769026"/>
            <a:ext cx="180002"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89" name="直線矢印コネクタ 88"/>
          <p:cNvCxnSpPr/>
          <p:nvPr/>
        </p:nvCxnSpPr>
        <p:spPr bwMode="auto">
          <a:xfrm>
            <a:off x="5555994" y="6039029"/>
            <a:ext cx="1980022" cy="0"/>
          </a:xfrm>
          <a:prstGeom prst="straightConnector1">
            <a:avLst/>
          </a:prstGeom>
          <a:noFill/>
          <a:ln w="9525" cap="flat" cmpd="sng" algn="ctr">
            <a:solidFill>
              <a:schemeClr val="tx1"/>
            </a:solidFill>
            <a:prstDash val="solid"/>
            <a:round/>
            <a:headEnd type="none" w="sm" len="sm"/>
            <a:tailEnd type="triangle"/>
          </a:ln>
          <a:effectLst/>
        </p:spPr>
      </p:cxnSp>
      <p:cxnSp>
        <p:nvCxnSpPr>
          <p:cNvPr id="90" name="直線矢印コネクタ 89"/>
          <p:cNvCxnSpPr/>
          <p:nvPr/>
        </p:nvCxnSpPr>
        <p:spPr bwMode="auto">
          <a:xfrm>
            <a:off x="6096000" y="576902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91" name="正方形/長方形 90"/>
          <p:cNvSpPr/>
          <p:nvPr/>
        </p:nvSpPr>
        <p:spPr bwMode="auto">
          <a:xfrm>
            <a:off x="5105989" y="540902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dirty="0" err="1">
                <a:latin typeface="メイリオ" panose="020B0604030504040204" pitchFamily="50" charset="-128"/>
                <a:ea typeface="メイリオ" panose="020B0604030504040204" pitchFamily="50" charset="-128"/>
              </a:rPr>
              <a:t>imm</a:t>
            </a:r>
            <a:endParaRPr lang="ja-JP" altLang="en-US" sz="1600" dirty="0">
              <a:latin typeface="メイリオ" panose="020B0604030504040204" pitchFamily="50" charset="-128"/>
              <a:ea typeface="メイリオ" panose="020B0604030504040204" pitchFamily="50" charset="-128"/>
            </a:endParaRPr>
          </a:p>
        </p:txBody>
      </p:sp>
      <p:cxnSp>
        <p:nvCxnSpPr>
          <p:cNvPr id="92" name="直線矢印コネクタ 91"/>
          <p:cNvCxnSpPr/>
          <p:nvPr/>
        </p:nvCxnSpPr>
        <p:spPr bwMode="auto">
          <a:xfrm>
            <a:off x="2675962" y="5139019"/>
            <a:ext cx="0" cy="540006"/>
          </a:xfrm>
          <a:prstGeom prst="straightConnector1">
            <a:avLst/>
          </a:prstGeom>
          <a:noFill/>
          <a:ln w="38100" cap="flat" cmpd="sng" algn="ctr">
            <a:solidFill>
              <a:srgbClr val="FF0000"/>
            </a:solidFill>
            <a:prstDash val="solid"/>
            <a:round/>
            <a:headEnd type="none" w="sm" len="sm"/>
            <a:tailEnd type="none"/>
          </a:ln>
          <a:effectLst/>
        </p:spPr>
      </p:cxnSp>
      <p:cxnSp>
        <p:nvCxnSpPr>
          <p:cNvPr id="93" name="直線矢印コネクタ 92"/>
          <p:cNvCxnSpPr/>
          <p:nvPr/>
        </p:nvCxnSpPr>
        <p:spPr bwMode="auto">
          <a:xfrm>
            <a:off x="2495960" y="5229020"/>
            <a:ext cx="180002" cy="0"/>
          </a:xfrm>
          <a:prstGeom prst="straightConnector1">
            <a:avLst/>
          </a:prstGeom>
          <a:noFill/>
          <a:ln w="9525" cap="flat" cmpd="sng" algn="ctr">
            <a:solidFill>
              <a:srgbClr val="FF0000"/>
            </a:solidFill>
            <a:prstDash val="solid"/>
            <a:round/>
            <a:headEnd type="none" w="sm" len="sm"/>
            <a:tailEnd type="triangle"/>
          </a:ln>
          <a:effectLst/>
        </p:spPr>
      </p:cxnSp>
      <p:cxnSp>
        <p:nvCxnSpPr>
          <p:cNvPr id="94" name="直線矢印コネクタ 93"/>
          <p:cNvCxnSpPr/>
          <p:nvPr/>
        </p:nvCxnSpPr>
        <p:spPr bwMode="auto">
          <a:xfrm>
            <a:off x="2495960" y="5589024"/>
            <a:ext cx="180002" cy="0"/>
          </a:xfrm>
          <a:prstGeom prst="straightConnector1">
            <a:avLst/>
          </a:prstGeom>
          <a:noFill/>
          <a:ln w="9525" cap="flat" cmpd="sng" algn="ctr">
            <a:solidFill>
              <a:srgbClr val="FF0000"/>
            </a:solidFill>
            <a:prstDash val="solid"/>
            <a:round/>
            <a:headEnd type="none" w="sm" len="sm"/>
            <a:tailEnd type="triangle"/>
          </a:ln>
          <a:effectLst/>
        </p:spPr>
      </p:cxnSp>
      <p:sp>
        <p:nvSpPr>
          <p:cNvPr id="95" name="正方形/長方形 94"/>
          <p:cNvSpPr/>
          <p:nvPr/>
        </p:nvSpPr>
        <p:spPr bwMode="auto">
          <a:xfrm>
            <a:off x="1595950" y="504901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en-US" altLang="ja-JP" sz="1200" dirty="0" err="1">
                <a:solidFill>
                  <a:srgbClr val="FF0000"/>
                </a:solidFill>
                <a:latin typeface="メイリオ" panose="020B0604030504040204" pitchFamily="50" charset="-128"/>
                <a:ea typeface="メイリオ" panose="020B0604030504040204" pitchFamily="50" charset="-128"/>
              </a:rPr>
              <a:t>rt</a:t>
            </a:r>
            <a:r>
              <a:rPr lang="en-US" altLang="ja-JP" sz="1200" dirty="0">
                <a:solidFill>
                  <a:srgbClr val="FF0000"/>
                </a:solidFill>
                <a:latin typeface="メイリオ" panose="020B0604030504040204" pitchFamily="50" charset="-128"/>
                <a:ea typeface="メイリオ" panose="020B0604030504040204" pitchFamily="50" charset="-128"/>
              </a:rPr>
              <a:t> [16:20]</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
        <p:nvSpPr>
          <p:cNvPr id="96" name="正方形/長方形 95"/>
          <p:cNvSpPr/>
          <p:nvPr/>
        </p:nvSpPr>
        <p:spPr bwMode="auto">
          <a:xfrm>
            <a:off x="1595950" y="540902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en-US" altLang="ja-JP" sz="1200" dirty="0" err="1">
                <a:solidFill>
                  <a:srgbClr val="FF0000"/>
                </a:solidFill>
                <a:latin typeface="メイリオ" panose="020B0604030504040204" pitchFamily="50" charset="-128"/>
                <a:ea typeface="メイリオ" panose="020B0604030504040204" pitchFamily="50" charset="-128"/>
              </a:rPr>
              <a:t>rd</a:t>
            </a:r>
            <a:r>
              <a:rPr lang="en-US" altLang="ja-JP" sz="1200" dirty="0">
                <a:solidFill>
                  <a:srgbClr val="FF0000"/>
                </a:solidFill>
                <a:latin typeface="メイリオ" panose="020B0604030504040204" pitchFamily="50" charset="-128"/>
                <a:ea typeface="メイリオ" panose="020B0604030504040204" pitchFamily="50" charset="-128"/>
              </a:rPr>
              <a:t> [11:15]</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773329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RISC-V </a:t>
            </a:r>
            <a:r>
              <a:rPr lang="ja-JP" altLang="en-US" dirty="0"/>
              <a:t>と </a:t>
            </a:r>
            <a:r>
              <a:rPr lang="en-US" altLang="ja-JP" dirty="0"/>
              <a:t>MIPS </a:t>
            </a:r>
            <a:r>
              <a:rPr lang="ja-JP" altLang="en-US" dirty="0"/>
              <a:t>のロード</a:t>
            </a:r>
            <a:r>
              <a:rPr lang="en-US" altLang="ja-JP" dirty="0"/>
              <a:t>/</a:t>
            </a:r>
            <a:r>
              <a:rPr lang="ja-JP" altLang="en-US" dirty="0"/>
              <a:t>ストア命令</a:t>
            </a:r>
            <a:endParaRPr kumimoji="1" lang="ja-JP" altLang="en-US" dirty="0"/>
          </a:p>
        </p:txBody>
      </p:sp>
      <p:sp>
        <p:nvSpPr>
          <p:cNvPr id="3" name="テキスト プレースホルダー 2"/>
          <p:cNvSpPr>
            <a:spLocks noGrp="1"/>
          </p:cNvSpPr>
          <p:nvPr>
            <p:ph type="body" sz="quarter" idx="10"/>
          </p:nvPr>
        </p:nvSpPr>
        <p:spPr>
          <a:xfrm>
            <a:off x="1865954" y="1088975"/>
            <a:ext cx="8640095" cy="5219751"/>
          </a:xfrm>
        </p:spPr>
        <p:txBody>
          <a:bodyPr/>
          <a:lstStyle/>
          <a:p>
            <a:r>
              <a:rPr kumimoji="1" lang="en-US" altLang="ja-JP" dirty="0"/>
              <a:t>RISC-V </a:t>
            </a:r>
            <a:r>
              <a:rPr kumimoji="1" lang="ja-JP" altLang="en-US" dirty="0"/>
              <a:t>のロード</a:t>
            </a:r>
            <a:r>
              <a:rPr kumimoji="1" lang="en-US" altLang="ja-JP" dirty="0"/>
              <a:t>/</a:t>
            </a:r>
            <a:r>
              <a:rPr kumimoji="1" lang="ja-JP" altLang="en-US" dirty="0"/>
              <a:t>ストアのエンコーディング</a:t>
            </a:r>
            <a:endParaRPr kumimoji="1" lang="en-US" altLang="ja-JP" dirty="0"/>
          </a:p>
          <a:p>
            <a:pPr lvl="1"/>
            <a:r>
              <a:rPr kumimoji="1" lang="ja-JP" altLang="en-US" dirty="0"/>
              <a:t>フォーマットだけみると，一貫していないように見える</a:t>
            </a:r>
            <a:endParaRPr kumimoji="1" lang="en-US" altLang="ja-JP" dirty="0"/>
          </a:p>
          <a:p>
            <a:pPr lvl="1"/>
            <a:r>
              <a:rPr kumimoji="1" lang="ja-JP" altLang="en-US" dirty="0"/>
              <a:t>回路を考えると，このエンコーディングの方がよい</a:t>
            </a:r>
            <a:endParaRPr kumimoji="1" lang="en-US" altLang="ja-JP" dirty="0"/>
          </a:p>
          <a:p>
            <a:pPr lvl="2"/>
            <a:r>
              <a:rPr lang="en-US" altLang="ja-JP" dirty="0"/>
              <a:t>MIPS </a:t>
            </a:r>
            <a:r>
              <a:rPr lang="ja-JP" altLang="en-US" dirty="0"/>
              <a:t>との比較により説明</a:t>
            </a:r>
            <a:endParaRPr lang="en-US" altLang="ja-JP" dirty="0"/>
          </a:p>
        </p:txBody>
      </p:sp>
    </p:spTree>
    <p:extLst>
      <p:ext uri="{BB962C8B-B14F-4D97-AF65-F5344CB8AC3E}">
        <p14:creationId xmlns:p14="http://schemas.microsoft.com/office/powerpoint/2010/main" val="18758954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RISC-V </a:t>
            </a:r>
            <a:r>
              <a:rPr lang="ja-JP" altLang="en-US" dirty="0"/>
              <a:t>と </a:t>
            </a:r>
            <a:r>
              <a:rPr lang="en-US" altLang="ja-JP" dirty="0"/>
              <a:t>MIPS </a:t>
            </a:r>
            <a:r>
              <a:rPr lang="ja-JP" altLang="en-US" dirty="0"/>
              <a:t>のロード</a:t>
            </a:r>
            <a:r>
              <a:rPr lang="en-US" altLang="ja-JP" dirty="0"/>
              <a:t>/</a:t>
            </a:r>
            <a:r>
              <a:rPr lang="ja-JP" altLang="en-US" dirty="0"/>
              <a:t>ストア命令</a:t>
            </a:r>
            <a:endParaRPr kumimoji="1" lang="ja-JP" altLang="en-US" dirty="0"/>
          </a:p>
        </p:txBody>
      </p:sp>
      <p:sp>
        <p:nvSpPr>
          <p:cNvPr id="3" name="テキスト プレースホルダー 2"/>
          <p:cNvSpPr>
            <a:spLocks noGrp="1"/>
          </p:cNvSpPr>
          <p:nvPr>
            <p:ph type="body" sz="quarter" idx="10"/>
          </p:nvPr>
        </p:nvSpPr>
        <p:spPr>
          <a:xfrm>
            <a:off x="1775953" y="2978996"/>
            <a:ext cx="8640095" cy="2339719"/>
          </a:xfrm>
        </p:spPr>
        <p:txBody>
          <a:bodyPr/>
          <a:lstStyle/>
          <a:p>
            <a:r>
              <a:rPr kumimoji="1" lang="ja-JP" altLang="en-US" dirty="0"/>
              <a:t>疑問：</a:t>
            </a:r>
            <a:r>
              <a:rPr kumimoji="1" lang="en-US" altLang="ja-JP" dirty="0"/>
              <a:t>RISC-V </a:t>
            </a:r>
            <a:r>
              <a:rPr kumimoji="1" lang="ja-JP" altLang="en-US" dirty="0"/>
              <a:t>は，その代わりに </a:t>
            </a:r>
            <a:r>
              <a:rPr kumimoji="1" lang="en-US" altLang="ja-JP" dirty="0"/>
              <a:t>immediate </a:t>
            </a:r>
            <a:r>
              <a:rPr kumimoji="1" lang="ja-JP" altLang="en-US" dirty="0"/>
              <a:t>部分で選択がいるのでは？</a:t>
            </a:r>
            <a:endParaRPr kumimoji="1" lang="en-US" altLang="ja-JP" dirty="0"/>
          </a:p>
          <a:p>
            <a:pPr lvl="1"/>
            <a:r>
              <a:rPr kumimoji="1" lang="ja-JP" altLang="en-US" dirty="0"/>
              <a:t>ロードとストアで </a:t>
            </a:r>
            <a:r>
              <a:rPr kumimoji="1" lang="en-US" altLang="ja-JP" dirty="0"/>
              <a:t>immediate </a:t>
            </a:r>
            <a:r>
              <a:rPr kumimoji="1" lang="ja-JP" altLang="en-US" dirty="0"/>
              <a:t>部分のフォーマットが異なる</a:t>
            </a:r>
            <a:endParaRPr kumimoji="1" lang="en-US" altLang="ja-JP" dirty="0"/>
          </a:p>
          <a:p>
            <a:pPr lvl="1"/>
            <a:r>
              <a:rPr kumimoji="1" lang="ja-JP" altLang="en-US" dirty="0"/>
              <a:t>同様の選択が必要</a:t>
            </a:r>
            <a:endParaRPr kumimoji="1" lang="en-US" altLang="ja-JP" dirty="0"/>
          </a:p>
          <a:p>
            <a:r>
              <a:rPr kumimoji="1" lang="ja-JP" altLang="en-US" dirty="0"/>
              <a:t>しかしこれは，レジスタへのアクセス中に並列してできる</a:t>
            </a:r>
            <a:endParaRPr kumimoji="1" lang="en-US" altLang="ja-JP" dirty="0"/>
          </a:p>
          <a:p>
            <a:pPr lvl="1"/>
            <a:r>
              <a:rPr lang="en-US" altLang="ja-JP" dirty="0"/>
              <a:t>MIPS </a:t>
            </a:r>
            <a:r>
              <a:rPr lang="ja-JP" altLang="en-US" dirty="0"/>
              <a:t>のレジスタ番号の選択は，処理に直列に入ってしまう</a:t>
            </a:r>
            <a:endParaRPr lang="en-US" altLang="ja-JP" dirty="0"/>
          </a:p>
          <a:p>
            <a:pPr lvl="1"/>
            <a:r>
              <a:rPr kumimoji="1" lang="ja-JP" altLang="en-US" dirty="0"/>
              <a:t>直列に入ると遅延が伸びて動作周波数が下がる</a:t>
            </a:r>
          </a:p>
        </p:txBody>
      </p:sp>
      <p:sp>
        <p:nvSpPr>
          <p:cNvPr id="4" name="Text Box 30"/>
          <p:cNvSpPr txBox="1">
            <a:spLocks noChangeArrowheads="1"/>
          </p:cNvSpPr>
          <p:nvPr/>
        </p:nvSpPr>
        <p:spPr bwMode="auto">
          <a:xfrm>
            <a:off x="6996010" y="2078988"/>
            <a:ext cx="1080116"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r>
              <a:rPr lang="en-US" altLang="ja-JP" sz="1600" dirty="0" err="1"/>
              <a:t>imm</a:t>
            </a:r>
            <a:r>
              <a:rPr lang="en-US" altLang="ja-JP" sz="1600" dirty="0"/>
              <a:t>[4:0]</a:t>
            </a:r>
          </a:p>
        </p:txBody>
      </p:sp>
      <p:sp>
        <p:nvSpPr>
          <p:cNvPr id="5" name="Text Box 31"/>
          <p:cNvSpPr txBox="1">
            <a:spLocks noChangeArrowheads="1"/>
          </p:cNvSpPr>
          <p:nvPr/>
        </p:nvSpPr>
        <p:spPr bwMode="auto">
          <a:xfrm>
            <a:off x="8076022" y="2078988"/>
            <a:ext cx="1439606"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0100011</a:t>
            </a:r>
          </a:p>
        </p:txBody>
      </p:sp>
      <p:sp>
        <p:nvSpPr>
          <p:cNvPr id="6" name="Text Box 28"/>
          <p:cNvSpPr txBox="1">
            <a:spLocks noChangeArrowheads="1"/>
          </p:cNvSpPr>
          <p:nvPr/>
        </p:nvSpPr>
        <p:spPr bwMode="auto">
          <a:xfrm>
            <a:off x="5105990" y="2078988"/>
            <a:ext cx="1080115" cy="270000"/>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sz="1600" dirty="0"/>
              <a:t>rs1</a:t>
            </a:r>
          </a:p>
        </p:txBody>
      </p:sp>
      <p:sp>
        <p:nvSpPr>
          <p:cNvPr id="7" name="Text Box 29"/>
          <p:cNvSpPr txBox="1">
            <a:spLocks noChangeArrowheads="1"/>
          </p:cNvSpPr>
          <p:nvPr/>
        </p:nvSpPr>
        <p:spPr bwMode="auto">
          <a:xfrm>
            <a:off x="6186001" y="2078988"/>
            <a:ext cx="810111"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010</a:t>
            </a:r>
          </a:p>
        </p:txBody>
      </p:sp>
      <p:sp>
        <p:nvSpPr>
          <p:cNvPr id="8" name="正方形/長方形 7"/>
          <p:cNvSpPr/>
          <p:nvPr/>
        </p:nvSpPr>
        <p:spPr bwMode="auto">
          <a:xfrm>
            <a:off x="2225957" y="1808985"/>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SW : (x[rs1] + immediate) </a:t>
            </a:r>
            <a:r>
              <a:rPr lang="ja-JP" altLang="en-US" sz="14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[rs2]</a:t>
            </a:r>
            <a:endParaRPr lang="ja-JP" altLang="en-US" sz="14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9" name="Text Box 27"/>
          <p:cNvSpPr txBox="1">
            <a:spLocks noChangeArrowheads="1"/>
          </p:cNvSpPr>
          <p:nvPr/>
        </p:nvSpPr>
        <p:spPr bwMode="auto">
          <a:xfrm>
            <a:off x="2315959" y="2078988"/>
            <a:ext cx="1710019"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sz="1600" dirty="0"/>
              <a:t>immediate[11:5]</a:t>
            </a:r>
            <a:endParaRPr lang="ja-JP" altLang="ja-JP" sz="1600" dirty="0"/>
          </a:p>
        </p:txBody>
      </p:sp>
      <p:sp>
        <p:nvSpPr>
          <p:cNvPr id="10" name="Text Box 27"/>
          <p:cNvSpPr txBox="1">
            <a:spLocks noChangeArrowheads="1"/>
          </p:cNvSpPr>
          <p:nvPr/>
        </p:nvSpPr>
        <p:spPr bwMode="auto">
          <a:xfrm>
            <a:off x="4025977" y="2078988"/>
            <a:ext cx="1079500" cy="270000"/>
          </a:xfrm>
          <a:prstGeom prst="rect">
            <a:avLst/>
          </a:prstGeom>
          <a:ln>
            <a:headEnd/>
            <a:tailEnd/>
          </a:ln>
          <a:effectLst/>
        </p:spPr>
        <p:style>
          <a:lnRef idx="1">
            <a:schemeClr val="accent1"/>
          </a:lnRef>
          <a:fillRef idx="2">
            <a:schemeClr val="accent1"/>
          </a:fillRef>
          <a:effectRef idx="1">
            <a:schemeClr val="accent1"/>
          </a:effectRef>
          <a:fontRef idx="minor">
            <a:schemeClr val="dk1"/>
          </a:fontRef>
        </p:style>
        <p:txBody>
          <a:bodyPr wrap="none" anchor="ctr" anchorCtr="1"/>
          <a:lstStyle/>
          <a:p>
            <a:pPr eaLnBrk="1" hangingPunct="1"/>
            <a:r>
              <a:rPr lang="en-US" altLang="ja-JP" sz="1600" dirty="0"/>
              <a:t>rs2</a:t>
            </a:r>
            <a:endParaRPr lang="ja-JP" altLang="ja-JP" sz="1600" dirty="0"/>
          </a:p>
        </p:txBody>
      </p:sp>
      <p:sp>
        <p:nvSpPr>
          <p:cNvPr id="11" name="Text Box 30"/>
          <p:cNvSpPr txBox="1">
            <a:spLocks noChangeArrowheads="1"/>
          </p:cNvSpPr>
          <p:nvPr/>
        </p:nvSpPr>
        <p:spPr bwMode="auto">
          <a:xfrm>
            <a:off x="6996010" y="1358980"/>
            <a:ext cx="1080116" cy="270000"/>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sz="1600" dirty="0" err="1"/>
              <a:t>rd</a:t>
            </a:r>
            <a:endParaRPr lang="en-US" altLang="ja-JP" sz="1600" dirty="0"/>
          </a:p>
        </p:txBody>
      </p:sp>
      <p:sp>
        <p:nvSpPr>
          <p:cNvPr id="12" name="Text Box 31"/>
          <p:cNvSpPr txBox="1">
            <a:spLocks noChangeArrowheads="1"/>
          </p:cNvSpPr>
          <p:nvPr/>
        </p:nvSpPr>
        <p:spPr bwMode="auto">
          <a:xfrm>
            <a:off x="8076022" y="1358980"/>
            <a:ext cx="1439606"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0000011</a:t>
            </a:r>
          </a:p>
        </p:txBody>
      </p:sp>
      <p:sp>
        <p:nvSpPr>
          <p:cNvPr id="13" name="Text Box 28"/>
          <p:cNvSpPr txBox="1">
            <a:spLocks noChangeArrowheads="1"/>
          </p:cNvSpPr>
          <p:nvPr/>
        </p:nvSpPr>
        <p:spPr bwMode="auto">
          <a:xfrm>
            <a:off x="5105990" y="1358980"/>
            <a:ext cx="1080115" cy="270000"/>
          </a:xfrm>
          <a:prstGeom prst="rect">
            <a:avLst/>
          </a:prstGeom>
          <a:ln>
            <a:headEnd/>
            <a:tailEnd/>
          </a:ln>
          <a:effectLst/>
        </p:spPr>
        <p:style>
          <a:lnRef idx="1">
            <a:schemeClr val="accent4"/>
          </a:lnRef>
          <a:fillRef idx="2">
            <a:schemeClr val="accent4"/>
          </a:fillRef>
          <a:effectRef idx="1">
            <a:schemeClr val="accent4"/>
          </a:effectRef>
          <a:fontRef idx="minor">
            <a:schemeClr val="dk1"/>
          </a:fontRef>
        </p:style>
        <p:txBody>
          <a:bodyPr wrap="none" anchor="ctr" anchorCtr="1"/>
          <a:lstStyle/>
          <a:p>
            <a:pPr eaLnBrk="1" hangingPunct="1"/>
            <a:r>
              <a:rPr lang="en-US" altLang="ja-JP" sz="1600" dirty="0"/>
              <a:t>rs1</a:t>
            </a:r>
          </a:p>
        </p:txBody>
      </p:sp>
      <p:sp>
        <p:nvSpPr>
          <p:cNvPr id="14" name="Text Box 29"/>
          <p:cNvSpPr txBox="1">
            <a:spLocks noChangeArrowheads="1"/>
          </p:cNvSpPr>
          <p:nvPr/>
        </p:nvSpPr>
        <p:spPr bwMode="auto">
          <a:xfrm>
            <a:off x="6186001" y="1358980"/>
            <a:ext cx="810111"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010</a:t>
            </a:r>
          </a:p>
        </p:txBody>
      </p:sp>
      <p:sp>
        <p:nvSpPr>
          <p:cNvPr id="15" name="正方形/長方形 14"/>
          <p:cNvSpPr/>
          <p:nvPr/>
        </p:nvSpPr>
        <p:spPr bwMode="auto">
          <a:xfrm>
            <a:off x="2225957" y="1088977"/>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LW : x[</a:t>
            </a:r>
            <a:r>
              <a:rPr lang="en-US" altLang="ja-JP" sz="14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4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(x[rs1] + immediate)</a:t>
            </a:r>
            <a:endParaRPr lang="ja-JP" altLang="en-US" sz="14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16" name="Text Box 27"/>
          <p:cNvSpPr txBox="1">
            <a:spLocks noChangeArrowheads="1"/>
          </p:cNvSpPr>
          <p:nvPr/>
        </p:nvSpPr>
        <p:spPr bwMode="auto">
          <a:xfrm>
            <a:off x="2315959" y="1358980"/>
            <a:ext cx="2790031"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r>
              <a:rPr lang="en-US" altLang="ja-JP" sz="1600" dirty="0"/>
              <a:t>immediate[11:0]</a:t>
            </a:r>
            <a:endParaRPr lang="ja-JP" altLang="ja-JP" sz="1600" dirty="0"/>
          </a:p>
        </p:txBody>
      </p:sp>
    </p:spTree>
    <p:extLst>
      <p:ext uri="{BB962C8B-B14F-4D97-AF65-F5344CB8AC3E}">
        <p14:creationId xmlns:p14="http://schemas.microsoft.com/office/powerpoint/2010/main" val="12228243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RISC-V </a:t>
            </a:r>
            <a:r>
              <a:rPr kumimoji="1" lang="ja-JP" altLang="en-US" dirty="0"/>
              <a:t>のエンコーディング</a:t>
            </a:r>
          </a:p>
        </p:txBody>
      </p:sp>
      <p:sp>
        <p:nvSpPr>
          <p:cNvPr id="3" name="テキスト プレースホルダー 2"/>
          <p:cNvSpPr>
            <a:spLocks noGrp="1"/>
          </p:cNvSpPr>
          <p:nvPr>
            <p:ph type="body" sz="quarter" idx="10"/>
          </p:nvPr>
        </p:nvSpPr>
        <p:spPr/>
        <p:txBody>
          <a:bodyPr/>
          <a:lstStyle/>
          <a:p>
            <a:r>
              <a:rPr kumimoji="1" lang="ja-JP" altLang="en-US" dirty="0"/>
              <a:t>この手の過去の反省や，</a:t>
            </a:r>
            <a:r>
              <a:rPr lang="ja-JP" altLang="en-US" dirty="0"/>
              <a:t>細かい</a:t>
            </a:r>
            <a:r>
              <a:rPr kumimoji="1" lang="ja-JP" altLang="en-US" dirty="0"/>
              <a:t>工夫がたくさん練り込まれている</a:t>
            </a:r>
            <a:endParaRPr kumimoji="1" lang="en-US" altLang="ja-JP" dirty="0"/>
          </a:p>
          <a:p>
            <a:pPr lvl="1"/>
            <a:r>
              <a:rPr kumimoji="1" lang="ja-JP" altLang="en-US" dirty="0"/>
              <a:t>他の例：分岐命令の即値のビット配置が飛び飛び</a:t>
            </a:r>
            <a:endParaRPr kumimoji="1" lang="en-US" altLang="ja-JP" dirty="0"/>
          </a:p>
          <a:p>
            <a:pPr lvl="2"/>
            <a:r>
              <a:rPr kumimoji="1" lang="ja-JP" altLang="en-US" dirty="0"/>
              <a:t>一見，頭がおかしいとしか思えない</a:t>
            </a:r>
            <a:endParaRPr kumimoji="1" lang="en-US" altLang="ja-JP" dirty="0"/>
          </a:p>
          <a:p>
            <a:pPr lvl="2"/>
            <a:r>
              <a:rPr kumimoji="1" lang="ja-JP" altLang="en-US" dirty="0"/>
              <a:t>実際，自分で実装すると，よくバグの元になる</a:t>
            </a:r>
            <a:endParaRPr kumimoji="1" lang="en-US" altLang="ja-JP" dirty="0"/>
          </a:p>
          <a:p>
            <a:pPr lvl="1"/>
            <a:r>
              <a:rPr kumimoji="1" lang="ja-JP" altLang="en-US" dirty="0"/>
              <a:t>しかしこれはちゃんと意味がある</a:t>
            </a:r>
            <a:endParaRPr kumimoji="1" lang="en-US" altLang="ja-JP" dirty="0"/>
          </a:p>
          <a:p>
            <a:pPr lvl="2"/>
            <a:r>
              <a:rPr kumimoji="1" lang="ja-JP" altLang="en-US" dirty="0"/>
              <a:t>さっきの </a:t>
            </a:r>
            <a:r>
              <a:rPr kumimoji="1" lang="en-US" altLang="ja-JP" dirty="0"/>
              <a:t>LW/SW </a:t>
            </a:r>
            <a:r>
              <a:rPr kumimoji="1" lang="ja-JP" altLang="en-US" dirty="0"/>
              <a:t>の例のように，選択のための回路が減る</a:t>
            </a:r>
            <a:endParaRPr kumimoji="1" lang="en-US" altLang="ja-JP" dirty="0"/>
          </a:p>
          <a:p>
            <a:pPr lvl="2"/>
            <a:r>
              <a:rPr kumimoji="1" lang="ja-JP" altLang="en-US" dirty="0"/>
              <a:t>マニアックなのでこの講義では割愛</a:t>
            </a:r>
            <a:endParaRPr kumimoji="1" lang="en-US" altLang="ja-JP" dirty="0"/>
          </a:p>
          <a:p>
            <a:pPr lvl="2"/>
            <a:endParaRPr lang="en-US" altLang="ja-JP" dirty="0"/>
          </a:p>
          <a:p>
            <a:pPr lvl="2"/>
            <a:endParaRPr kumimoji="1" lang="en-US" altLang="ja-JP" dirty="0"/>
          </a:p>
          <a:p>
            <a:pPr lvl="2"/>
            <a:endParaRPr kumimoji="1" lang="en-US" altLang="ja-JP" dirty="0"/>
          </a:p>
        </p:txBody>
      </p:sp>
      <p:pic>
        <p:nvPicPr>
          <p:cNvPr id="22" name="図 21"/>
          <p:cNvPicPr>
            <a:picLocks noChangeAspect="1"/>
          </p:cNvPicPr>
          <p:nvPr/>
        </p:nvPicPr>
        <p:blipFill>
          <a:blip r:embed="rId2"/>
          <a:stretch>
            <a:fillRect/>
          </a:stretch>
        </p:blipFill>
        <p:spPr>
          <a:xfrm>
            <a:off x="2495960" y="4959018"/>
            <a:ext cx="7661960" cy="1170013"/>
          </a:xfrm>
          <a:prstGeom prst="rect">
            <a:avLst/>
          </a:prstGeom>
        </p:spPr>
      </p:pic>
      <p:sp>
        <p:nvSpPr>
          <p:cNvPr id="23" name="角丸四角形 22"/>
          <p:cNvSpPr/>
          <p:nvPr/>
        </p:nvSpPr>
        <p:spPr bwMode="auto">
          <a:xfrm>
            <a:off x="2585961" y="4959018"/>
            <a:ext cx="720008" cy="270003"/>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4" name="角丸四角形 23"/>
          <p:cNvSpPr/>
          <p:nvPr/>
        </p:nvSpPr>
        <p:spPr bwMode="auto">
          <a:xfrm>
            <a:off x="3395970" y="4959018"/>
            <a:ext cx="900010" cy="270003"/>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5" name="角丸四角形 24"/>
          <p:cNvSpPr/>
          <p:nvPr/>
        </p:nvSpPr>
        <p:spPr bwMode="auto">
          <a:xfrm>
            <a:off x="8166024" y="4959018"/>
            <a:ext cx="630007" cy="270003"/>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6" name="角丸四角形 25"/>
          <p:cNvSpPr/>
          <p:nvPr/>
        </p:nvSpPr>
        <p:spPr bwMode="auto">
          <a:xfrm>
            <a:off x="7356014" y="4959018"/>
            <a:ext cx="720008" cy="270003"/>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7" name="角丸四角形 26"/>
          <p:cNvSpPr/>
          <p:nvPr/>
        </p:nvSpPr>
        <p:spPr bwMode="auto">
          <a:xfrm>
            <a:off x="3755975" y="5769027"/>
            <a:ext cx="810008" cy="270003"/>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8" name="角丸四角形 27"/>
          <p:cNvSpPr/>
          <p:nvPr/>
        </p:nvSpPr>
        <p:spPr bwMode="auto">
          <a:xfrm>
            <a:off x="2585961" y="5769027"/>
            <a:ext cx="720008" cy="270003"/>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9" name="角丸四角形 28"/>
          <p:cNvSpPr/>
          <p:nvPr/>
        </p:nvSpPr>
        <p:spPr bwMode="auto">
          <a:xfrm>
            <a:off x="4925987" y="5769027"/>
            <a:ext cx="810009" cy="270003"/>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0" name="角丸四角形 29"/>
          <p:cNvSpPr/>
          <p:nvPr/>
        </p:nvSpPr>
        <p:spPr bwMode="auto">
          <a:xfrm>
            <a:off x="6096000" y="5769027"/>
            <a:ext cx="900010" cy="270003"/>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 name="角丸四角形 29">
            <a:extLst>
              <a:ext uri="{FF2B5EF4-FFF2-40B4-BE49-F238E27FC236}">
                <a16:creationId xmlns:a16="http://schemas.microsoft.com/office/drawing/2014/main" id="{7CA8A504-CBD2-2569-817F-E0ED65AE5228}"/>
              </a:ext>
            </a:extLst>
          </p:cNvPr>
          <p:cNvSpPr/>
          <p:nvPr/>
        </p:nvSpPr>
        <p:spPr bwMode="auto">
          <a:xfrm>
            <a:off x="2495960" y="5409022"/>
            <a:ext cx="4860054" cy="270003"/>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14748415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Design of the RISC-V Instruction Set Architecture</a:t>
            </a:r>
            <a:endParaRPr kumimoji="1" lang="ja-JP" altLang="en-US" dirty="0"/>
          </a:p>
        </p:txBody>
      </p:sp>
      <p:sp>
        <p:nvSpPr>
          <p:cNvPr id="3" name="テキスト プレースホルダー 2"/>
          <p:cNvSpPr>
            <a:spLocks noGrp="1"/>
          </p:cNvSpPr>
          <p:nvPr>
            <p:ph type="body" sz="quarter" idx="10"/>
          </p:nvPr>
        </p:nvSpPr>
        <p:spPr>
          <a:xfrm>
            <a:off x="425937" y="1088974"/>
            <a:ext cx="8550095" cy="5219751"/>
          </a:xfrm>
        </p:spPr>
        <p:txBody>
          <a:bodyPr/>
          <a:lstStyle/>
          <a:p>
            <a:r>
              <a:rPr lang="en-US" altLang="ja-JP" dirty="0"/>
              <a:t>Andrew Waterman, </a:t>
            </a:r>
            <a:br>
              <a:rPr lang="en-US" altLang="ja-JP" dirty="0"/>
            </a:br>
            <a:r>
              <a:rPr lang="ja-JP" altLang="en-US" dirty="0"/>
              <a:t>「</a:t>
            </a:r>
            <a:r>
              <a:rPr lang="en-US" altLang="ja-JP" dirty="0"/>
              <a:t>Design of the RISC-V Instruction Set Architecture</a:t>
            </a:r>
            <a:r>
              <a:rPr lang="ja-JP" altLang="en-US" dirty="0"/>
              <a:t>」</a:t>
            </a:r>
            <a:br>
              <a:rPr lang="en-US" altLang="ja-JP" dirty="0"/>
            </a:br>
            <a:r>
              <a:rPr lang="en-US" altLang="ja-JP" dirty="0">
                <a:hlinkClick r:id="rId2"/>
              </a:rPr>
              <a:t>https://people.eecs.berkeley.edu/~krste/papers/EECS-2016-1.pdf</a:t>
            </a:r>
            <a:endParaRPr lang="en-US" altLang="ja-JP" dirty="0"/>
          </a:p>
          <a:p>
            <a:pPr lvl="1"/>
            <a:endParaRPr kumimoji="1" lang="en-US" altLang="ja-JP" dirty="0"/>
          </a:p>
          <a:p>
            <a:pPr lvl="1"/>
            <a:r>
              <a:rPr kumimoji="1" lang="en-US" altLang="ja-JP" dirty="0"/>
              <a:t>RISC-V </a:t>
            </a:r>
            <a:r>
              <a:rPr kumimoji="1" lang="ja-JP" altLang="en-US" dirty="0"/>
              <a:t>の仕様を主に決めた人達の中の１人の博士論文</a:t>
            </a:r>
            <a:endParaRPr kumimoji="1" lang="en-US" altLang="ja-JP" dirty="0"/>
          </a:p>
          <a:p>
            <a:pPr lvl="1"/>
            <a:r>
              <a:rPr lang="ja-JP" altLang="en-US" dirty="0"/>
              <a:t>いろいろ書かれているので，一部でも読んでみると面白いと思う</a:t>
            </a:r>
            <a:endParaRPr kumimoji="1" lang="en-US" altLang="ja-JP" dirty="0"/>
          </a:p>
          <a:p>
            <a:pPr lvl="2"/>
            <a:r>
              <a:rPr kumimoji="1" lang="ja-JP" altLang="en-US" dirty="0"/>
              <a:t>なぜ </a:t>
            </a:r>
            <a:r>
              <a:rPr kumimoji="1" lang="en-US" altLang="ja-JP" dirty="0"/>
              <a:t>RISC-V </a:t>
            </a:r>
            <a:r>
              <a:rPr kumimoji="1" lang="ja-JP" altLang="en-US" dirty="0"/>
              <a:t>は，そうなっているのか</a:t>
            </a:r>
            <a:endParaRPr kumimoji="1" lang="en-US" altLang="ja-JP" dirty="0"/>
          </a:p>
          <a:p>
            <a:pPr lvl="2"/>
            <a:r>
              <a:rPr lang="en-US" altLang="ja-JP" dirty="0"/>
              <a:t>x86 </a:t>
            </a:r>
            <a:r>
              <a:rPr lang="ja-JP" altLang="en-US" dirty="0"/>
              <a:t>や </a:t>
            </a:r>
            <a:r>
              <a:rPr lang="en-US" altLang="ja-JP" dirty="0"/>
              <a:t>ARM </a:t>
            </a:r>
            <a:r>
              <a:rPr lang="ja-JP" altLang="en-US" dirty="0"/>
              <a:t>はここがクソ</a:t>
            </a:r>
            <a:endParaRPr lang="en-US" altLang="ja-JP" dirty="0"/>
          </a:p>
          <a:p>
            <a:pPr lvl="1"/>
            <a:r>
              <a:rPr kumimoji="1" lang="ja-JP" altLang="en-US" dirty="0"/>
              <a:t>さっきの分岐のエンコーディングについても説明されてるので，</a:t>
            </a:r>
            <a:br>
              <a:rPr kumimoji="1" lang="en-US" altLang="ja-JP" dirty="0"/>
            </a:br>
            <a:r>
              <a:rPr kumimoji="1" lang="ja-JP" altLang="en-US" dirty="0"/>
              <a:t>興味がある人は読んでみると良い</a:t>
            </a:r>
          </a:p>
        </p:txBody>
      </p:sp>
      <p:pic>
        <p:nvPicPr>
          <p:cNvPr id="5" name="図 4">
            <a:extLst>
              <a:ext uri="{FF2B5EF4-FFF2-40B4-BE49-F238E27FC236}">
                <a16:creationId xmlns:a16="http://schemas.microsoft.com/office/drawing/2014/main" id="{A01D3543-CF30-CF8D-BD3D-9DFE0545B051}"/>
              </a:ext>
            </a:extLst>
          </p:cNvPr>
          <p:cNvPicPr>
            <a:picLocks noChangeAspect="1"/>
          </p:cNvPicPr>
          <p:nvPr/>
        </p:nvPicPr>
        <p:blipFill>
          <a:blip r:embed="rId3"/>
          <a:stretch>
            <a:fillRect/>
          </a:stretch>
        </p:blipFill>
        <p:spPr>
          <a:xfrm>
            <a:off x="8681337" y="1718982"/>
            <a:ext cx="3418363" cy="4509012"/>
          </a:xfrm>
          <a:prstGeom prst="rect">
            <a:avLst/>
          </a:prstGeom>
        </p:spPr>
      </p:pic>
    </p:spTree>
    <p:extLst>
      <p:ext uri="{BB962C8B-B14F-4D97-AF65-F5344CB8AC3E}">
        <p14:creationId xmlns:p14="http://schemas.microsoft.com/office/powerpoint/2010/main" val="37254369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前に東大にきてたので，サインもらった</a:t>
            </a:r>
          </a:p>
        </p:txBody>
      </p:sp>
      <p:sp>
        <p:nvSpPr>
          <p:cNvPr id="3" name="テキスト プレースホルダー 2"/>
          <p:cNvSpPr>
            <a:spLocks noGrp="1"/>
          </p:cNvSpPr>
          <p:nvPr>
            <p:ph type="body" sz="quarter" idx="10"/>
          </p:nvPr>
        </p:nvSpPr>
        <p:spPr/>
        <p:txBody>
          <a:bodyPr/>
          <a:lstStyle/>
          <a:p>
            <a:endParaRPr kumimoji="1" lang="ja-JP" altLang="en-US"/>
          </a:p>
        </p:txBody>
      </p:sp>
      <p:pic>
        <p:nvPicPr>
          <p:cNvPr id="4" name="図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a:off x="1715952" y="1868982"/>
            <a:ext cx="4800053" cy="3600040"/>
          </a:xfrm>
          <a:prstGeom prst="rect">
            <a:avLst/>
          </a:prstGeom>
        </p:spPr>
      </p:pic>
      <p:pic>
        <p:nvPicPr>
          <p:cNvPr id="5" name="図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5945999" y="1868982"/>
            <a:ext cx="4800052" cy="3600040"/>
          </a:xfrm>
          <a:prstGeom prst="rect">
            <a:avLst/>
          </a:prstGeom>
        </p:spPr>
      </p:pic>
    </p:spTree>
    <p:extLst>
      <p:ext uri="{BB962C8B-B14F-4D97-AF65-F5344CB8AC3E}">
        <p14:creationId xmlns:p14="http://schemas.microsoft.com/office/powerpoint/2010/main" val="7236637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正方形/長方形 19">
            <a:extLst>
              <a:ext uri="{FF2B5EF4-FFF2-40B4-BE49-F238E27FC236}">
                <a16:creationId xmlns:a16="http://schemas.microsoft.com/office/drawing/2014/main" id="{CB2E2619-9536-401F-1625-84A2B9722D07}"/>
              </a:ext>
            </a:extLst>
          </p:cNvPr>
          <p:cNvSpPr>
            <a:spLocks/>
          </p:cNvSpPr>
          <p:nvPr/>
        </p:nvSpPr>
        <p:spPr bwMode="auto">
          <a:xfrm>
            <a:off x="4205980" y="2708992"/>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a:t>
            </a:r>
            <a:endParaRPr lang="ja-JP" altLang="en-US" sz="1600" dirty="0">
              <a:solidFill>
                <a:schemeClr val="tx1">
                  <a:lumMod val="75000"/>
                  <a:lumOff val="25000"/>
                </a:schemeClr>
              </a:solidFill>
              <a:latin typeface="+mn-ea"/>
            </a:endParaRPr>
          </a:p>
        </p:txBody>
      </p:sp>
      <p:sp>
        <p:nvSpPr>
          <p:cNvPr id="21" name="正方形/長方形 20">
            <a:extLst>
              <a:ext uri="{FF2B5EF4-FFF2-40B4-BE49-F238E27FC236}">
                <a16:creationId xmlns:a16="http://schemas.microsoft.com/office/drawing/2014/main" id="{A0469410-16A2-B89A-8647-BFB948300719}"/>
              </a:ext>
            </a:extLst>
          </p:cNvPr>
          <p:cNvSpPr>
            <a:spLocks/>
          </p:cNvSpPr>
          <p:nvPr/>
        </p:nvSpPr>
        <p:spPr bwMode="auto">
          <a:xfrm>
            <a:off x="4205980" y="3068996"/>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a:t>
            </a:r>
            <a:endParaRPr lang="ja-JP" altLang="en-US" sz="1600" dirty="0">
              <a:solidFill>
                <a:schemeClr val="tx1">
                  <a:lumMod val="75000"/>
                  <a:lumOff val="25000"/>
                </a:schemeClr>
              </a:solidFill>
              <a:latin typeface="+mn-ea"/>
            </a:endParaRPr>
          </a:p>
        </p:txBody>
      </p:sp>
      <p:sp>
        <p:nvSpPr>
          <p:cNvPr id="22" name="正方形/長方形 21">
            <a:extLst>
              <a:ext uri="{FF2B5EF4-FFF2-40B4-BE49-F238E27FC236}">
                <a16:creationId xmlns:a16="http://schemas.microsoft.com/office/drawing/2014/main" id="{679CDB4C-8950-CA3B-C11F-E37B18E2F38D}"/>
              </a:ext>
            </a:extLst>
          </p:cNvPr>
          <p:cNvSpPr>
            <a:spLocks/>
          </p:cNvSpPr>
          <p:nvPr/>
        </p:nvSpPr>
        <p:spPr bwMode="auto">
          <a:xfrm>
            <a:off x="4205980" y="3429000"/>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a:t>
            </a:r>
            <a:endParaRPr lang="ja-JP" altLang="en-US" sz="1600" dirty="0">
              <a:solidFill>
                <a:schemeClr val="tx1">
                  <a:lumMod val="75000"/>
                  <a:lumOff val="25000"/>
                </a:schemeClr>
              </a:solidFill>
              <a:latin typeface="+mn-ea"/>
            </a:endParaRPr>
          </a:p>
        </p:txBody>
      </p:sp>
      <p:sp>
        <p:nvSpPr>
          <p:cNvPr id="24" name="正方形/長方形 23">
            <a:extLst>
              <a:ext uri="{FF2B5EF4-FFF2-40B4-BE49-F238E27FC236}">
                <a16:creationId xmlns:a16="http://schemas.microsoft.com/office/drawing/2014/main" id="{9B89E48E-BC18-CD2A-C00B-19E562944174}"/>
              </a:ext>
            </a:extLst>
          </p:cNvPr>
          <p:cNvSpPr>
            <a:spLocks/>
          </p:cNvSpPr>
          <p:nvPr/>
        </p:nvSpPr>
        <p:spPr bwMode="auto">
          <a:xfrm>
            <a:off x="4205980" y="3789004"/>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a:t>
            </a:r>
            <a:endParaRPr lang="ja-JP" altLang="en-US" sz="1600" dirty="0">
              <a:solidFill>
                <a:schemeClr val="tx1">
                  <a:lumMod val="75000"/>
                  <a:lumOff val="25000"/>
                </a:schemeClr>
              </a:solidFill>
              <a:latin typeface="+mn-ea"/>
            </a:endParaRPr>
          </a:p>
        </p:txBody>
      </p:sp>
      <p:sp>
        <p:nvSpPr>
          <p:cNvPr id="29" name="正方形/長方形 28">
            <a:extLst>
              <a:ext uri="{FF2B5EF4-FFF2-40B4-BE49-F238E27FC236}">
                <a16:creationId xmlns:a16="http://schemas.microsoft.com/office/drawing/2014/main" id="{43B1683D-F64A-8C72-F2C7-B48EBD1DF4EB}"/>
              </a:ext>
            </a:extLst>
          </p:cNvPr>
          <p:cNvSpPr>
            <a:spLocks/>
          </p:cNvSpPr>
          <p:nvPr/>
        </p:nvSpPr>
        <p:spPr bwMode="auto">
          <a:xfrm>
            <a:off x="4205980" y="4149008"/>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a:t>
            </a:r>
            <a:endParaRPr lang="ja-JP" altLang="en-US" sz="1600" dirty="0">
              <a:solidFill>
                <a:schemeClr val="tx1">
                  <a:lumMod val="75000"/>
                  <a:lumOff val="25000"/>
                </a:schemeClr>
              </a:solidFill>
              <a:latin typeface="+mn-ea"/>
            </a:endParaRPr>
          </a:p>
        </p:txBody>
      </p:sp>
      <p:sp>
        <p:nvSpPr>
          <p:cNvPr id="30" name="正方形/長方形 29">
            <a:extLst>
              <a:ext uri="{FF2B5EF4-FFF2-40B4-BE49-F238E27FC236}">
                <a16:creationId xmlns:a16="http://schemas.microsoft.com/office/drawing/2014/main" id="{B20EF2CC-8C15-A272-E91F-ED5D9DCE8231}"/>
              </a:ext>
            </a:extLst>
          </p:cNvPr>
          <p:cNvSpPr>
            <a:spLocks/>
          </p:cNvSpPr>
          <p:nvPr/>
        </p:nvSpPr>
        <p:spPr bwMode="auto">
          <a:xfrm>
            <a:off x="4205980" y="4509012"/>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a:t>
            </a:r>
            <a:endParaRPr lang="ja-JP" altLang="en-US" sz="1600" dirty="0">
              <a:solidFill>
                <a:schemeClr val="tx1">
                  <a:lumMod val="75000"/>
                  <a:lumOff val="25000"/>
                </a:schemeClr>
              </a:solidFill>
              <a:latin typeface="+mn-ea"/>
            </a:endParaRPr>
          </a:p>
        </p:txBody>
      </p:sp>
      <p:sp>
        <p:nvSpPr>
          <p:cNvPr id="37" name="正方形/長方形 36">
            <a:extLst>
              <a:ext uri="{FF2B5EF4-FFF2-40B4-BE49-F238E27FC236}">
                <a16:creationId xmlns:a16="http://schemas.microsoft.com/office/drawing/2014/main" id="{F284DF94-EA2C-CD35-95E9-5A8A19E63023}"/>
              </a:ext>
            </a:extLst>
          </p:cNvPr>
          <p:cNvSpPr>
            <a:spLocks/>
          </p:cNvSpPr>
          <p:nvPr/>
        </p:nvSpPr>
        <p:spPr bwMode="auto">
          <a:xfrm>
            <a:off x="4205980" y="4509012"/>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a:t>
            </a:r>
            <a:endParaRPr lang="ja-JP" altLang="en-US" sz="1600" dirty="0">
              <a:solidFill>
                <a:schemeClr val="tx1">
                  <a:lumMod val="75000"/>
                  <a:lumOff val="25000"/>
                </a:schemeClr>
              </a:solidFill>
              <a:latin typeface="+mn-ea"/>
            </a:endParaRPr>
          </a:p>
        </p:txBody>
      </p:sp>
      <p:sp>
        <p:nvSpPr>
          <p:cNvPr id="38" name="正方形/長方形 37">
            <a:extLst>
              <a:ext uri="{FF2B5EF4-FFF2-40B4-BE49-F238E27FC236}">
                <a16:creationId xmlns:a16="http://schemas.microsoft.com/office/drawing/2014/main" id="{239B7496-3EAB-8000-D985-991EF5BBE8FF}"/>
              </a:ext>
            </a:extLst>
          </p:cNvPr>
          <p:cNvSpPr>
            <a:spLocks/>
          </p:cNvSpPr>
          <p:nvPr/>
        </p:nvSpPr>
        <p:spPr bwMode="auto">
          <a:xfrm>
            <a:off x="4205980" y="4869016"/>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a:t>
            </a:r>
            <a:endParaRPr lang="ja-JP" altLang="en-US" sz="1600" dirty="0">
              <a:solidFill>
                <a:schemeClr val="tx1">
                  <a:lumMod val="75000"/>
                  <a:lumOff val="25000"/>
                </a:schemeClr>
              </a:solidFill>
              <a:latin typeface="+mn-ea"/>
            </a:endParaRPr>
          </a:p>
        </p:txBody>
      </p:sp>
      <p:sp>
        <p:nvSpPr>
          <p:cNvPr id="6" name="正方形/長方形 5">
            <a:extLst>
              <a:ext uri="{FF2B5EF4-FFF2-40B4-BE49-F238E27FC236}">
                <a16:creationId xmlns:a16="http://schemas.microsoft.com/office/drawing/2014/main" id="{5129F504-06C9-3980-6AC1-ECB4CE1883EB}"/>
              </a:ext>
            </a:extLst>
          </p:cNvPr>
          <p:cNvSpPr/>
          <p:nvPr/>
        </p:nvSpPr>
        <p:spPr bwMode="auto">
          <a:xfrm>
            <a:off x="6366004" y="4509012"/>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a:t>
            </a:r>
            <a:endParaRPr lang="ja-JP" altLang="en-US" sz="1600" dirty="0">
              <a:solidFill>
                <a:schemeClr val="tx1">
                  <a:lumMod val="75000"/>
                  <a:lumOff val="25000"/>
                </a:schemeClr>
              </a:solidFill>
              <a:latin typeface="+mn-ea"/>
            </a:endParaRPr>
          </a:p>
        </p:txBody>
      </p:sp>
      <p:sp>
        <p:nvSpPr>
          <p:cNvPr id="10" name="正方形/長方形 9">
            <a:extLst>
              <a:ext uri="{FF2B5EF4-FFF2-40B4-BE49-F238E27FC236}">
                <a16:creationId xmlns:a16="http://schemas.microsoft.com/office/drawing/2014/main" id="{FC6D7AF5-338A-8D96-1B3E-CE2506D34F60}"/>
              </a:ext>
            </a:extLst>
          </p:cNvPr>
          <p:cNvSpPr>
            <a:spLocks/>
          </p:cNvSpPr>
          <p:nvPr/>
        </p:nvSpPr>
        <p:spPr bwMode="auto">
          <a:xfrm>
            <a:off x="6366004" y="4869016"/>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a:t>
            </a:r>
            <a:endParaRPr lang="ja-JP" altLang="en-US" sz="1600" dirty="0">
              <a:solidFill>
                <a:schemeClr val="tx1">
                  <a:lumMod val="75000"/>
                  <a:lumOff val="25000"/>
                </a:schemeClr>
              </a:solidFill>
              <a:latin typeface="+mn-ea"/>
            </a:endParaRPr>
          </a:p>
        </p:txBody>
      </p:sp>
      <p:sp>
        <p:nvSpPr>
          <p:cNvPr id="2" name="タイトル 1"/>
          <p:cNvSpPr>
            <a:spLocks noGrp="1"/>
          </p:cNvSpPr>
          <p:nvPr>
            <p:ph type="title"/>
          </p:nvPr>
        </p:nvSpPr>
        <p:spPr/>
        <p:txBody>
          <a:bodyPr/>
          <a:lstStyle/>
          <a:p>
            <a:r>
              <a:rPr kumimoji="1" lang="en-US" altLang="ja-JP" dirty="0"/>
              <a:t>RISC-V </a:t>
            </a:r>
            <a:r>
              <a:rPr kumimoji="1" lang="ja-JP" altLang="en-US" dirty="0"/>
              <a:t>命令セットの概観</a:t>
            </a:r>
          </a:p>
        </p:txBody>
      </p:sp>
      <p:sp>
        <p:nvSpPr>
          <p:cNvPr id="3" name="テキスト プレースホルダー 2"/>
          <p:cNvSpPr>
            <a:spLocks noGrp="1"/>
          </p:cNvSpPr>
          <p:nvPr>
            <p:ph type="body" sz="quarter" idx="10"/>
          </p:nvPr>
        </p:nvSpPr>
        <p:spPr>
          <a:xfrm>
            <a:off x="2135956" y="908973"/>
            <a:ext cx="8280092" cy="1260013"/>
          </a:xfrm>
        </p:spPr>
        <p:txBody>
          <a:bodyPr/>
          <a:lstStyle/>
          <a:p>
            <a:r>
              <a:rPr lang="ja-JP" altLang="en-US" dirty="0"/>
              <a:t>必須部分：下図の太枠部分</a:t>
            </a:r>
            <a:endParaRPr kumimoji="1" lang="en-US" altLang="ja-JP" dirty="0"/>
          </a:p>
          <a:p>
            <a:pPr lvl="1"/>
            <a:r>
              <a:rPr kumimoji="1" lang="en-US" altLang="ja-JP" dirty="0"/>
              <a:t>I</a:t>
            </a:r>
            <a:r>
              <a:rPr kumimoji="1" lang="ja-JP" altLang="en-US" dirty="0"/>
              <a:t>（基本整数）</a:t>
            </a:r>
            <a:r>
              <a:rPr kumimoji="1" lang="en-US" altLang="ja-JP" dirty="0"/>
              <a:t>+ Machine Level</a:t>
            </a:r>
            <a:r>
              <a:rPr kumimoji="1" lang="ja-JP" altLang="en-US" dirty="0"/>
              <a:t>（割り込み関係の特権命令）</a:t>
            </a:r>
            <a:endParaRPr kumimoji="1" lang="en-US" altLang="ja-JP" dirty="0"/>
          </a:p>
          <a:p>
            <a:pPr lvl="1"/>
            <a:r>
              <a:rPr kumimoji="1" lang="ja-JP" altLang="en-US" dirty="0"/>
              <a:t>この図に描ききれていない拡張もたくさんたくさんある</a:t>
            </a:r>
            <a:endParaRPr kumimoji="1" lang="ja-JP" altLang="en-US" u="sng" dirty="0"/>
          </a:p>
        </p:txBody>
      </p:sp>
      <p:sp>
        <p:nvSpPr>
          <p:cNvPr id="4" name="正方形/長方形 3">
            <a:extLst>
              <a:ext uri="{FF2B5EF4-FFF2-40B4-BE49-F238E27FC236}">
                <a16:creationId xmlns:a16="http://schemas.microsoft.com/office/drawing/2014/main" id="{DE003681-BA2B-45D7-AF06-A8A0C35EABC8}"/>
              </a:ext>
            </a:extLst>
          </p:cNvPr>
          <p:cNvSpPr/>
          <p:nvPr/>
        </p:nvSpPr>
        <p:spPr bwMode="auto">
          <a:xfrm>
            <a:off x="4655985" y="2708992"/>
            <a:ext cx="1710019" cy="2520028"/>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mn-ea"/>
              </a:rPr>
              <a:t>I</a:t>
            </a:r>
          </a:p>
          <a:p>
            <a:pPr algn="ctr"/>
            <a:r>
              <a:rPr lang="en-US" altLang="ja-JP" sz="1400" dirty="0">
                <a:solidFill>
                  <a:schemeClr val="tx1">
                    <a:lumMod val="75000"/>
                    <a:lumOff val="25000"/>
                  </a:schemeClr>
                </a:solidFill>
                <a:latin typeface="+mn-ea"/>
              </a:rPr>
              <a:t>Base integer</a:t>
            </a:r>
            <a:endParaRPr lang="ja-JP" altLang="en-US" sz="1400" dirty="0">
              <a:solidFill>
                <a:schemeClr val="tx1">
                  <a:lumMod val="75000"/>
                  <a:lumOff val="25000"/>
                </a:schemeClr>
              </a:solidFill>
              <a:latin typeface="+mn-ea"/>
            </a:endParaRPr>
          </a:p>
        </p:txBody>
      </p:sp>
      <p:sp>
        <p:nvSpPr>
          <p:cNvPr id="7" name="正方形/長方形 6">
            <a:extLst>
              <a:ext uri="{FF2B5EF4-FFF2-40B4-BE49-F238E27FC236}">
                <a16:creationId xmlns:a16="http://schemas.microsoft.com/office/drawing/2014/main" id="{B493543F-6EE6-4B5A-AFAD-1D0A1E1C9D24}"/>
              </a:ext>
            </a:extLst>
          </p:cNvPr>
          <p:cNvSpPr/>
          <p:nvPr/>
        </p:nvSpPr>
        <p:spPr bwMode="auto">
          <a:xfrm>
            <a:off x="4655985" y="5229020"/>
            <a:ext cx="1710019"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mn-ea"/>
              </a:rPr>
              <a:t>Machine level</a:t>
            </a:r>
            <a:endParaRPr lang="ja-JP" altLang="en-US" sz="1400" dirty="0">
              <a:solidFill>
                <a:schemeClr val="tx1">
                  <a:lumMod val="75000"/>
                  <a:lumOff val="25000"/>
                </a:schemeClr>
              </a:solidFill>
              <a:latin typeface="+mn-ea"/>
            </a:endParaRPr>
          </a:p>
        </p:txBody>
      </p:sp>
      <p:sp>
        <p:nvSpPr>
          <p:cNvPr id="8" name="正方形/長方形 7">
            <a:extLst>
              <a:ext uri="{FF2B5EF4-FFF2-40B4-BE49-F238E27FC236}">
                <a16:creationId xmlns:a16="http://schemas.microsoft.com/office/drawing/2014/main" id="{18A9458E-FF0E-410C-AA5E-3099A172D892}"/>
              </a:ext>
            </a:extLst>
          </p:cNvPr>
          <p:cNvSpPr/>
          <p:nvPr/>
        </p:nvSpPr>
        <p:spPr bwMode="auto">
          <a:xfrm>
            <a:off x="6366004" y="4149008"/>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C</a:t>
            </a:r>
            <a:endParaRPr lang="ja-JP" altLang="en-US" sz="1600" dirty="0">
              <a:solidFill>
                <a:schemeClr val="tx1">
                  <a:lumMod val="75000"/>
                  <a:lumOff val="25000"/>
                </a:schemeClr>
              </a:solidFill>
              <a:latin typeface="+mn-ea"/>
            </a:endParaRPr>
          </a:p>
        </p:txBody>
      </p:sp>
      <p:sp>
        <p:nvSpPr>
          <p:cNvPr id="12" name="正方形/長方形 11">
            <a:extLst>
              <a:ext uri="{FF2B5EF4-FFF2-40B4-BE49-F238E27FC236}">
                <a16:creationId xmlns:a16="http://schemas.microsoft.com/office/drawing/2014/main" id="{2709F1D1-16FC-4C3A-BAF2-A855B23DE37C}"/>
              </a:ext>
            </a:extLst>
          </p:cNvPr>
          <p:cNvSpPr/>
          <p:nvPr/>
        </p:nvSpPr>
        <p:spPr bwMode="auto">
          <a:xfrm>
            <a:off x="6366004" y="3068996"/>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M</a:t>
            </a:r>
            <a:endParaRPr lang="ja-JP" altLang="en-US" sz="1600" dirty="0">
              <a:solidFill>
                <a:schemeClr val="tx1">
                  <a:lumMod val="75000"/>
                  <a:lumOff val="25000"/>
                </a:schemeClr>
              </a:solidFill>
              <a:latin typeface="+mn-ea"/>
            </a:endParaRPr>
          </a:p>
        </p:txBody>
      </p:sp>
      <p:sp>
        <p:nvSpPr>
          <p:cNvPr id="13" name="正方形/長方形 12">
            <a:extLst>
              <a:ext uri="{FF2B5EF4-FFF2-40B4-BE49-F238E27FC236}">
                <a16:creationId xmlns:a16="http://schemas.microsoft.com/office/drawing/2014/main" id="{A866CEFC-2666-4BF5-8DFA-48C74FC99878}"/>
              </a:ext>
            </a:extLst>
          </p:cNvPr>
          <p:cNvSpPr/>
          <p:nvPr/>
        </p:nvSpPr>
        <p:spPr bwMode="auto">
          <a:xfrm>
            <a:off x="6366005" y="3429000"/>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A</a:t>
            </a:r>
            <a:endParaRPr lang="ja-JP" altLang="en-US" sz="1600" dirty="0">
              <a:solidFill>
                <a:schemeClr val="tx1">
                  <a:lumMod val="75000"/>
                  <a:lumOff val="25000"/>
                </a:schemeClr>
              </a:solidFill>
              <a:latin typeface="+mn-ea"/>
            </a:endParaRPr>
          </a:p>
        </p:txBody>
      </p:sp>
      <p:sp>
        <p:nvSpPr>
          <p:cNvPr id="14" name="正方形/長方形 13">
            <a:extLst>
              <a:ext uri="{FF2B5EF4-FFF2-40B4-BE49-F238E27FC236}">
                <a16:creationId xmlns:a16="http://schemas.microsoft.com/office/drawing/2014/main" id="{1994F293-598E-424A-B2DE-F2E23D9922E9}"/>
              </a:ext>
            </a:extLst>
          </p:cNvPr>
          <p:cNvSpPr/>
          <p:nvPr/>
        </p:nvSpPr>
        <p:spPr bwMode="auto">
          <a:xfrm>
            <a:off x="6366005" y="3789004"/>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F</a:t>
            </a:r>
            <a:endParaRPr lang="ja-JP" altLang="en-US" sz="1600" dirty="0">
              <a:solidFill>
                <a:schemeClr val="tx1">
                  <a:lumMod val="75000"/>
                  <a:lumOff val="25000"/>
                </a:schemeClr>
              </a:solidFill>
              <a:latin typeface="+mn-ea"/>
            </a:endParaRPr>
          </a:p>
        </p:txBody>
      </p:sp>
      <p:sp>
        <p:nvSpPr>
          <p:cNvPr id="15" name="正方形/長方形 14">
            <a:extLst>
              <a:ext uri="{FF2B5EF4-FFF2-40B4-BE49-F238E27FC236}">
                <a16:creationId xmlns:a16="http://schemas.microsoft.com/office/drawing/2014/main" id="{CFAC36F7-860C-489E-9762-9A5FC181F09C}"/>
              </a:ext>
            </a:extLst>
          </p:cNvPr>
          <p:cNvSpPr/>
          <p:nvPr/>
        </p:nvSpPr>
        <p:spPr bwMode="auto">
          <a:xfrm>
            <a:off x="7266014" y="3789004"/>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Q</a:t>
            </a:r>
            <a:endParaRPr lang="ja-JP" altLang="en-US" sz="1600" dirty="0">
              <a:solidFill>
                <a:schemeClr val="tx1">
                  <a:lumMod val="75000"/>
                  <a:lumOff val="25000"/>
                </a:schemeClr>
              </a:solidFill>
              <a:latin typeface="+mn-ea"/>
            </a:endParaRPr>
          </a:p>
        </p:txBody>
      </p:sp>
      <p:sp>
        <p:nvSpPr>
          <p:cNvPr id="16" name="正方形/長方形 15">
            <a:extLst>
              <a:ext uri="{FF2B5EF4-FFF2-40B4-BE49-F238E27FC236}">
                <a16:creationId xmlns:a16="http://schemas.microsoft.com/office/drawing/2014/main" id="{629DBC18-647F-4208-9299-BF3D51A7E331}"/>
              </a:ext>
            </a:extLst>
          </p:cNvPr>
          <p:cNvSpPr/>
          <p:nvPr/>
        </p:nvSpPr>
        <p:spPr bwMode="auto">
          <a:xfrm>
            <a:off x="6816009" y="3789004"/>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D</a:t>
            </a:r>
            <a:endParaRPr lang="ja-JP" altLang="en-US" sz="1600" dirty="0">
              <a:solidFill>
                <a:schemeClr val="tx1">
                  <a:lumMod val="75000"/>
                  <a:lumOff val="25000"/>
                </a:schemeClr>
              </a:solidFill>
              <a:latin typeface="+mn-ea"/>
            </a:endParaRPr>
          </a:p>
        </p:txBody>
      </p:sp>
      <p:sp>
        <p:nvSpPr>
          <p:cNvPr id="17" name="正方形/長方形 16">
            <a:extLst>
              <a:ext uri="{FF2B5EF4-FFF2-40B4-BE49-F238E27FC236}">
                <a16:creationId xmlns:a16="http://schemas.microsoft.com/office/drawing/2014/main" id="{4E07C97E-DF6A-41CA-B5EB-06F802C45A64}"/>
              </a:ext>
            </a:extLst>
          </p:cNvPr>
          <p:cNvSpPr/>
          <p:nvPr/>
        </p:nvSpPr>
        <p:spPr bwMode="auto">
          <a:xfrm>
            <a:off x="4655985" y="5589024"/>
            <a:ext cx="1710019"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mn-ea"/>
              </a:rPr>
              <a:t>Supervisor level</a:t>
            </a:r>
            <a:endParaRPr lang="ja-JP" altLang="en-US" sz="1400" dirty="0">
              <a:solidFill>
                <a:schemeClr val="tx1">
                  <a:lumMod val="75000"/>
                  <a:lumOff val="25000"/>
                </a:schemeClr>
              </a:solidFill>
              <a:latin typeface="+mn-ea"/>
            </a:endParaRPr>
          </a:p>
        </p:txBody>
      </p:sp>
      <p:sp>
        <p:nvSpPr>
          <p:cNvPr id="18" name="正方形/長方形 17">
            <a:extLst>
              <a:ext uri="{FF2B5EF4-FFF2-40B4-BE49-F238E27FC236}">
                <a16:creationId xmlns:a16="http://schemas.microsoft.com/office/drawing/2014/main" id="{AA13DDCC-611C-499B-BEED-59CFC11D8AA8}"/>
              </a:ext>
            </a:extLst>
          </p:cNvPr>
          <p:cNvSpPr/>
          <p:nvPr/>
        </p:nvSpPr>
        <p:spPr bwMode="auto">
          <a:xfrm>
            <a:off x="4655985" y="5949028"/>
            <a:ext cx="1710019"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mn-ea"/>
              </a:rPr>
              <a:t>Hypervisor</a:t>
            </a:r>
            <a:endParaRPr lang="ja-JP" altLang="en-US" sz="1400" dirty="0">
              <a:solidFill>
                <a:schemeClr val="tx1">
                  <a:lumMod val="75000"/>
                  <a:lumOff val="25000"/>
                </a:schemeClr>
              </a:solidFill>
              <a:latin typeface="+mn-ea"/>
            </a:endParaRPr>
          </a:p>
        </p:txBody>
      </p:sp>
      <p:cxnSp>
        <p:nvCxnSpPr>
          <p:cNvPr id="23" name="直線コネクタ 22">
            <a:extLst>
              <a:ext uri="{FF2B5EF4-FFF2-40B4-BE49-F238E27FC236}">
                <a16:creationId xmlns:a16="http://schemas.microsoft.com/office/drawing/2014/main" id="{075D3EBB-5825-4304-9B08-FD4677AEF270}"/>
              </a:ext>
            </a:extLst>
          </p:cNvPr>
          <p:cNvCxnSpPr>
            <a:cxnSpLocks/>
          </p:cNvCxnSpPr>
          <p:nvPr/>
        </p:nvCxnSpPr>
        <p:spPr bwMode="auto">
          <a:xfrm>
            <a:off x="2495960" y="5229020"/>
            <a:ext cx="6840076" cy="0"/>
          </a:xfrm>
          <a:prstGeom prst="line">
            <a:avLst/>
          </a:prstGeom>
          <a:noFill/>
          <a:ln w="12700" cap="flat" cmpd="sng" algn="ctr">
            <a:solidFill>
              <a:schemeClr val="tx1">
                <a:lumMod val="50000"/>
                <a:lumOff val="50000"/>
              </a:schemeClr>
            </a:solidFill>
            <a:prstDash val="dash"/>
            <a:round/>
            <a:headEnd type="none" w="med" len="med"/>
            <a:tailEnd type="none" w="med" len="med"/>
          </a:ln>
          <a:effectLst/>
        </p:spPr>
      </p:cxnSp>
      <p:sp>
        <p:nvSpPr>
          <p:cNvPr id="35" name="正方形/長方形 34">
            <a:extLst>
              <a:ext uri="{FF2B5EF4-FFF2-40B4-BE49-F238E27FC236}">
                <a16:creationId xmlns:a16="http://schemas.microsoft.com/office/drawing/2014/main" id="{96F483F9-239F-4305-B6E4-75472835A703}"/>
              </a:ext>
            </a:extLst>
          </p:cNvPr>
          <p:cNvSpPr/>
          <p:nvPr/>
        </p:nvSpPr>
        <p:spPr bwMode="auto">
          <a:xfrm>
            <a:off x="6366004" y="2708992"/>
            <a:ext cx="450005" cy="180002"/>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900" dirty="0">
                <a:solidFill>
                  <a:schemeClr val="tx1">
                    <a:lumMod val="75000"/>
                    <a:lumOff val="25000"/>
                  </a:schemeClr>
                </a:solidFill>
                <a:latin typeface="+mn-ea"/>
              </a:rPr>
              <a:t>Zicsr</a:t>
            </a:r>
            <a:endParaRPr lang="ja-JP" altLang="en-US" sz="900" dirty="0">
              <a:solidFill>
                <a:schemeClr val="tx1">
                  <a:lumMod val="75000"/>
                  <a:lumOff val="25000"/>
                </a:schemeClr>
              </a:solidFill>
              <a:latin typeface="+mn-ea"/>
            </a:endParaRPr>
          </a:p>
        </p:txBody>
      </p:sp>
      <p:sp>
        <p:nvSpPr>
          <p:cNvPr id="36" name="正方形/長方形 35">
            <a:extLst>
              <a:ext uri="{FF2B5EF4-FFF2-40B4-BE49-F238E27FC236}">
                <a16:creationId xmlns:a16="http://schemas.microsoft.com/office/drawing/2014/main" id="{0BCF4FDD-D850-40B8-84AC-62D8CF1DDAEF}"/>
              </a:ext>
            </a:extLst>
          </p:cNvPr>
          <p:cNvSpPr/>
          <p:nvPr/>
        </p:nvSpPr>
        <p:spPr bwMode="auto">
          <a:xfrm>
            <a:off x="6366004" y="2888994"/>
            <a:ext cx="450005" cy="180002"/>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900" dirty="0">
                <a:solidFill>
                  <a:schemeClr val="tx1">
                    <a:lumMod val="75000"/>
                    <a:lumOff val="25000"/>
                  </a:schemeClr>
                </a:solidFill>
                <a:latin typeface="+mn-ea"/>
              </a:rPr>
              <a:t>Zifencei</a:t>
            </a:r>
            <a:endParaRPr lang="ja-JP" altLang="en-US" sz="900" dirty="0">
              <a:solidFill>
                <a:schemeClr val="tx1">
                  <a:lumMod val="75000"/>
                  <a:lumOff val="25000"/>
                </a:schemeClr>
              </a:solidFill>
              <a:latin typeface="+mn-ea"/>
            </a:endParaRPr>
          </a:p>
        </p:txBody>
      </p:sp>
      <p:sp>
        <p:nvSpPr>
          <p:cNvPr id="40" name="正方形/長方形 39">
            <a:extLst>
              <a:ext uri="{FF2B5EF4-FFF2-40B4-BE49-F238E27FC236}">
                <a16:creationId xmlns:a16="http://schemas.microsoft.com/office/drawing/2014/main" id="{190B2B2E-45D8-4A42-96EA-13C8BCFE77F0}"/>
              </a:ext>
            </a:extLst>
          </p:cNvPr>
          <p:cNvSpPr/>
          <p:nvPr/>
        </p:nvSpPr>
        <p:spPr bwMode="auto">
          <a:xfrm>
            <a:off x="2495961" y="4869017"/>
            <a:ext cx="450005" cy="270003"/>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mn-ea"/>
              </a:rPr>
              <a:t>Unprivileged ISA</a:t>
            </a:r>
            <a:endParaRPr lang="ja-JP" altLang="en-US" sz="1400" dirty="0">
              <a:solidFill>
                <a:schemeClr val="tx1">
                  <a:lumMod val="75000"/>
                  <a:lumOff val="25000"/>
                </a:schemeClr>
              </a:solidFill>
              <a:latin typeface="+mn-ea"/>
            </a:endParaRPr>
          </a:p>
        </p:txBody>
      </p:sp>
      <p:sp>
        <p:nvSpPr>
          <p:cNvPr id="41" name="正方形/長方形 40">
            <a:extLst>
              <a:ext uri="{FF2B5EF4-FFF2-40B4-BE49-F238E27FC236}">
                <a16:creationId xmlns:a16="http://schemas.microsoft.com/office/drawing/2014/main" id="{E7CC5984-014F-49E0-9BBD-196C5A8C8EEF}"/>
              </a:ext>
            </a:extLst>
          </p:cNvPr>
          <p:cNvSpPr/>
          <p:nvPr/>
        </p:nvSpPr>
        <p:spPr bwMode="auto">
          <a:xfrm>
            <a:off x="2495961" y="5409023"/>
            <a:ext cx="450005" cy="270003"/>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mn-ea"/>
              </a:rPr>
              <a:t>Privileged ISA</a:t>
            </a:r>
            <a:endParaRPr lang="ja-JP" altLang="en-US" sz="1400" dirty="0">
              <a:solidFill>
                <a:schemeClr val="tx1">
                  <a:lumMod val="75000"/>
                  <a:lumOff val="25000"/>
                </a:schemeClr>
              </a:solidFill>
              <a:latin typeface="+mn-ea"/>
            </a:endParaRPr>
          </a:p>
        </p:txBody>
      </p:sp>
      <p:sp>
        <p:nvSpPr>
          <p:cNvPr id="43" name="正方形/長方形 42">
            <a:extLst>
              <a:ext uri="{FF2B5EF4-FFF2-40B4-BE49-F238E27FC236}">
                <a16:creationId xmlns:a16="http://schemas.microsoft.com/office/drawing/2014/main" id="{8F8FFA33-1E58-454A-8707-2DF5078D3257}"/>
              </a:ext>
            </a:extLst>
          </p:cNvPr>
          <p:cNvSpPr/>
          <p:nvPr/>
        </p:nvSpPr>
        <p:spPr bwMode="auto">
          <a:xfrm>
            <a:off x="4655985" y="2708992"/>
            <a:ext cx="1710019" cy="2880032"/>
          </a:xfrm>
          <a:prstGeom prst="rect">
            <a:avLst/>
          </a:prstGeom>
          <a:noFill/>
          <a:ln w="41275">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400" dirty="0">
              <a:solidFill>
                <a:schemeClr val="tx1">
                  <a:lumMod val="75000"/>
                  <a:lumOff val="25000"/>
                </a:schemeClr>
              </a:solidFill>
              <a:latin typeface="+mn-ea"/>
            </a:endParaRPr>
          </a:p>
        </p:txBody>
      </p:sp>
      <p:sp>
        <p:nvSpPr>
          <p:cNvPr id="46" name="正方形/長方形 45">
            <a:extLst>
              <a:ext uri="{FF2B5EF4-FFF2-40B4-BE49-F238E27FC236}">
                <a16:creationId xmlns:a16="http://schemas.microsoft.com/office/drawing/2014/main" id="{896E6959-5A40-4847-AFDF-05D71C700E1B}"/>
              </a:ext>
            </a:extLst>
          </p:cNvPr>
          <p:cNvSpPr/>
          <p:nvPr/>
        </p:nvSpPr>
        <p:spPr bwMode="auto">
          <a:xfrm>
            <a:off x="6996011" y="4149009"/>
            <a:ext cx="450005"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900" dirty="0">
                <a:solidFill>
                  <a:schemeClr val="tx1">
                    <a:lumMod val="75000"/>
                    <a:lumOff val="25000"/>
                  </a:schemeClr>
                </a:solidFill>
                <a:latin typeface="+mn-ea"/>
              </a:rPr>
              <a:t>Compressed</a:t>
            </a:r>
            <a:endParaRPr lang="ja-JP" altLang="en-US" sz="900" dirty="0">
              <a:solidFill>
                <a:schemeClr val="tx1">
                  <a:lumMod val="75000"/>
                  <a:lumOff val="25000"/>
                </a:schemeClr>
              </a:solidFill>
              <a:latin typeface="+mn-ea"/>
            </a:endParaRPr>
          </a:p>
        </p:txBody>
      </p:sp>
      <p:sp>
        <p:nvSpPr>
          <p:cNvPr id="47" name="正方形/長方形 46">
            <a:extLst>
              <a:ext uri="{FF2B5EF4-FFF2-40B4-BE49-F238E27FC236}">
                <a16:creationId xmlns:a16="http://schemas.microsoft.com/office/drawing/2014/main" id="{671E2336-0921-4BE0-9EE5-45C58CE6A76B}"/>
              </a:ext>
            </a:extLst>
          </p:cNvPr>
          <p:cNvSpPr/>
          <p:nvPr/>
        </p:nvSpPr>
        <p:spPr bwMode="auto">
          <a:xfrm>
            <a:off x="7896021" y="3789004"/>
            <a:ext cx="450005"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900" dirty="0">
                <a:solidFill>
                  <a:schemeClr val="tx1">
                    <a:lumMod val="75000"/>
                    <a:lumOff val="25000"/>
                  </a:schemeClr>
                </a:solidFill>
                <a:latin typeface="+mn-ea"/>
              </a:rPr>
              <a:t>Floating point</a:t>
            </a:r>
          </a:p>
          <a:p>
            <a:r>
              <a:rPr lang="en-US" altLang="ja-JP" sz="900" dirty="0">
                <a:solidFill>
                  <a:schemeClr val="tx1">
                    <a:lumMod val="75000"/>
                    <a:lumOff val="25000"/>
                  </a:schemeClr>
                </a:solidFill>
                <a:latin typeface="+mn-ea"/>
              </a:rPr>
              <a:t>Single/Double/Quad</a:t>
            </a:r>
            <a:endParaRPr lang="ja-JP" altLang="en-US" sz="900" dirty="0">
              <a:solidFill>
                <a:schemeClr val="tx1">
                  <a:lumMod val="75000"/>
                  <a:lumOff val="25000"/>
                </a:schemeClr>
              </a:solidFill>
              <a:latin typeface="+mn-ea"/>
            </a:endParaRPr>
          </a:p>
        </p:txBody>
      </p:sp>
      <p:sp>
        <p:nvSpPr>
          <p:cNvPr id="48" name="正方形/長方形 47">
            <a:extLst>
              <a:ext uri="{FF2B5EF4-FFF2-40B4-BE49-F238E27FC236}">
                <a16:creationId xmlns:a16="http://schemas.microsoft.com/office/drawing/2014/main" id="{B414961A-2DE2-4C9A-9589-11B2942CEA0D}"/>
              </a:ext>
            </a:extLst>
          </p:cNvPr>
          <p:cNvSpPr/>
          <p:nvPr/>
        </p:nvSpPr>
        <p:spPr bwMode="auto">
          <a:xfrm>
            <a:off x="6996011" y="3429000"/>
            <a:ext cx="450005"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900" dirty="0">
                <a:solidFill>
                  <a:schemeClr val="tx1">
                    <a:lumMod val="75000"/>
                    <a:lumOff val="25000"/>
                  </a:schemeClr>
                </a:solidFill>
                <a:latin typeface="+mn-ea"/>
              </a:rPr>
              <a:t>Atomic operation</a:t>
            </a:r>
            <a:endParaRPr lang="ja-JP" altLang="en-US" sz="900" dirty="0">
              <a:solidFill>
                <a:schemeClr val="tx1">
                  <a:lumMod val="75000"/>
                  <a:lumOff val="25000"/>
                </a:schemeClr>
              </a:solidFill>
              <a:latin typeface="+mn-ea"/>
            </a:endParaRPr>
          </a:p>
        </p:txBody>
      </p:sp>
      <p:sp>
        <p:nvSpPr>
          <p:cNvPr id="49" name="正方形/長方形 48">
            <a:extLst>
              <a:ext uri="{FF2B5EF4-FFF2-40B4-BE49-F238E27FC236}">
                <a16:creationId xmlns:a16="http://schemas.microsoft.com/office/drawing/2014/main" id="{DE64A8E6-A7CD-4EFA-846F-2DFDE93A120E}"/>
              </a:ext>
            </a:extLst>
          </p:cNvPr>
          <p:cNvSpPr/>
          <p:nvPr/>
        </p:nvSpPr>
        <p:spPr bwMode="auto">
          <a:xfrm>
            <a:off x="6996011" y="3068996"/>
            <a:ext cx="450005"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900" dirty="0">
                <a:solidFill>
                  <a:schemeClr val="tx1">
                    <a:lumMod val="75000"/>
                    <a:lumOff val="25000"/>
                  </a:schemeClr>
                </a:solidFill>
                <a:latin typeface="+mn-ea"/>
              </a:rPr>
              <a:t>Multiplication/division</a:t>
            </a:r>
            <a:endParaRPr lang="ja-JP" altLang="en-US" sz="900" dirty="0">
              <a:solidFill>
                <a:schemeClr val="tx1">
                  <a:lumMod val="75000"/>
                  <a:lumOff val="25000"/>
                </a:schemeClr>
              </a:solidFill>
              <a:latin typeface="+mn-ea"/>
            </a:endParaRPr>
          </a:p>
        </p:txBody>
      </p:sp>
      <p:sp>
        <p:nvSpPr>
          <p:cNvPr id="50" name="正方形/長方形 49">
            <a:extLst>
              <a:ext uri="{FF2B5EF4-FFF2-40B4-BE49-F238E27FC236}">
                <a16:creationId xmlns:a16="http://schemas.microsoft.com/office/drawing/2014/main" id="{72ABAAFF-5B43-48AA-9728-FB45D006133C}"/>
              </a:ext>
            </a:extLst>
          </p:cNvPr>
          <p:cNvSpPr/>
          <p:nvPr/>
        </p:nvSpPr>
        <p:spPr bwMode="auto">
          <a:xfrm>
            <a:off x="6996011" y="2708992"/>
            <a:ext cx="450005"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900" dirty="0">
                <a:solidFill>
                  <a:schemeClr val="tx1">
                    <a:lumMod val="75000"/>
                    <a:lumOff val="25000"/>
                  </a:schemeClr>
                </a:solidFill>
                <a:latin typeface="+mn-ea"/>
              </a:rPr>
              <a:t>CSR, instruction fence</a:t>
            </a:r>
            <a:endParaRPr lang="ja-JP" altLang="en-US" sz="900" dirty="0">
              <a:solidFill>
                <a:schemeClr val="tx1">
                  <a:lumMod val="75000"/>
                  <a:lumOff val="25000"/>
                </a:schemeClr>
              </a:solidFill>
              <a:latin typeface="+mn-ea"/>
            </a:endParaRPr>
          </a:p>
        </p:txBody>
      </p:sp>
      <p:sp>
        <p:nvSpPr>
          <p:cNvPr id="11" name="正方形/長方形 10">
            <a:extLst>
              <a:ext uri="{FF2B5EF4-FFF2-40B4-BE49-F238E27FC236}">
                <a16:creationId xmlns:a16="http://schemas.microsoft.com/office/drawing/2014/main" id="{82413A9C-FC56-2302-3DBF-E6C5F4895B2D}"/>
              </a:ext>
            </a:extLst>
          </p:cNvPr>
          <p:cNvSpPr/>
          <p:nvPr/>
        </p:nvSpPr>
        <p:spPr bwMode="auto">
          <a:xfrm>
            <a:off x="6996011" y="4509012"/>
            <a:ext cx="450005"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900" dirty="0">
                <a:solidFill>
                  <a:schemeClr val="tx1">
                    <a:lumMod val="75000"/>
                    <a:lumOff val="25000"/>
                  </a:schemeClr>
                </a:solidFill>
                <a:latin typeface="+mn-ea"/>
              </a:rPr>
              <a:t>Other extensions</a:t>
            </a:r>
            <a:endParaRPr lang="ja-JP" altLang="en-US" sz="900" dirty="0">
              <a:solidFill>
                <a:schemeClr val="tx1">
                  <a:lumMod val="75000"/>
                  <a:lumOff val="25000"/>
                </a:schemeClr>
              </a:solidFill>
              <a:latin typeface="+mn-ea"/>
            </a:endParaRPr>
          </a:p>
        </p:txBody>
      </p:sp>
      <p:sp>
        <p:nvSpPr>
          <p:cNvPr id="39" name="正方形/長方形 38">
            <a:extLst>
              <a:ext uri="{FF2B5EF4-FFF2-40B4-BE49-F238E27FC236}">
                <a16:creationId xmlns:a16="http://schemas.microsoft.com/office/drawing/2014/main" id="{74026008-38BD-C7B0-94AD-3BB74A14662E}"/>
              </a:ext>
            </a:extLst>
          </p:cNvPr>
          <p:cNvSpPr/>
          <p:nvPr/>
        </p:nvSpPr>
        <p:spPr bwMode="auto">
          <a:xfrm>
            <a:off x="2945966" y="2708992"/>
            <a:ext cx="450005"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900" dirty="0">
                <a:solidFill>
                  <a:schemeClr val="tx1">
                    <a:lumMod val="75000"/>
                    <a:lumOff val="25000"/>
                  </a:schemeClr>
                </a:solidFill>
                <a:latin typeface="+mn-ea"/>
              </a:rPr>
              <a:t>Other extensions</a:t>
            </a:r>
            <a:endParaRPr lang="ja-JP" altLang="en-US" sz="900" dirty="0">
              <a:solidFill>
                <a:schemeClr val="tx1">
                  <a:lumMod val="75000"/>
                  <a:lumOff val="25000"/>
                </a:schemeClr>
              </a:solidFill>
              <a:latin typeface="+mn-ea"/>
            </a:endParaRPr>
          </a:p>
        </p:txBody>
      </p:sp>
    </p:spTree>
    <p:extLst>
      <p:ext uri="{BB962C8B-B14F-4D97-AF65-F5344CB8AC3E}">
        <p14:creationId xmlns:p14="http://schemas.microsoft.com/office/powerpoint/2010/main" val="16738822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0FBB7F-A9DE-45E0-8AC3-B32F2C994537}"/>
              </a:ext>
            </a:extLst>
          </p:cNvPr>
          <p:cNvSpPr>
            <a:spLocks noGrp="1"/>
          </p:cNvSpPr>
          <p:nvPr>
            <p:ph type="title"/>
          </p:nvPr>
        </p:nvSpPr>
        <p:spPr/>
        <p:txBody>
          <a:bodyPr/>
          <a:lstStyle/>
          <a:p>
            <a:r>
              <a:rPr kumimoji="1" lang="ja-JP" altLang="en-US" dirty="0"/>
              <a:t>プロセッサごとのサポート命令の例</a:t>
            </a:r>
          </a:p>
        </p:txBody>
      </p:sp>
      <p:sp>
        <p:nvSpPr>
          <p:cNvPr id="3" name="テキスト プレースホルダー 2">
            <a:extLst>
              <a:ext uri="{FF2B5EF4-FFF2-40B4-BE49-F238E27FC236}">
                <a16:creationId xmlns:a16="http://schemas.microsoft.com/office/drawing/2014/main" id="{E5F6F4E9-E454-615F-9635-03A9E101D5EE}"/>
              </a:ext>
            </a:extLst>
          </p:cNvPr>
          <p:cNvSpPr>
            <a:spLocks noGrp="1"/>
          </p:cNvSpPr>
          <p:nvPr>
            <p:ph type="body" sz="quarter" idx="10"/>
          </p:nvPr>
        </p:nvSpPr>
        <p:spPr>
          <a:xfrm>
            <a:off x="2045955" y="4419012"/>
            <a:ext cx="8460094" cy="1530017"/>
          </a:xfrm>
        </p:spPr>
        <p:txBody>
          <a:bodyPr anchor="t"/>
          <a:lstStyle/>
          <a:p>
            <a:r>
              <a:rPr lang="ja-JP" altLang="en-US" sz="1400" dirty="0"/>
              <a:t>目的に応じてさまざまな拡張を足して使用</a:t>
            </a:r>
            <a:endParaRPr lang="en-US" altLang="ja-JP" sz="1400" dirty="0"/>
          </a:p>
          <a:p>
            <a:pPr lvl="1"/>
            <a:r>
              <a:rPr lang="en-US" altLang="ja-JP" sz="1400" dirty="0"/>
              <a:t>Zicsr</a:t>
            </a:r>
            <a:r>
              <a:rPr lang="ja-JP" altLang="en-US" sz="1400" dirty="0"/>
              <a:t>：制御レジスタ</a:t>
            </a:r>
            <a:endParaRPr lang="en-US" altLang="ja-JP" sz="1400" dirty="0"/>
          </a:p>
          <a:p>
            <a:pPr lvl="1"/>
            <a:r>
              <a:rPr lang="en-US" altLang="ja-JP" sz="1400" dirty="0"/>
              <a:t>Zifencei</a:t>
            </a:r>
            <a:r>
              <a:rPr lang="ja-JP" altLang="en-US" sz="1400" dirty="0"/>
              <a:t>：命令メモリ書き込みフェンス</a:t>
            </a:r>
            <a:endParaRPr lang="en-US" altLang="ja-JP" sz="1400" dirty="0"/>
          </a:p>
          <a:p>
            <a:pPr lvl="1"/>
            <a:r>
              <a:rPr lang="en-US" altLang="ja-JP" sz="1400" dirty="0"/>
              <a:t>C</a:t>
            </a:r>
            <a:r>
              <a:rPr lang="ja-JP" altLang="en-US" sz="1400" dirty="0"/>
              <a:t>：圧縮</a:t>
            </a:r>
            <a:endParaRPr lang="en-US" altLang="ja-JP" sz="1400" dirty="0"/>
          </a:p>
          <a:p>
            <a:pPr lvl="1"/>
            <a:r>
              <a:rPr lang="en-US" altLang="ja-JP" sz="1400" dirty="0"/>
              <a:t>M</a:t>
            </a:r>
            <a:r>
              <a:rPr lang="ja-JP" altLang="en-US" sz="1400" dirty="0"/>
              <a:t>：乗除算</a:t>
            </a:r>
            <a:endParaRPr lang="en-US" altLang="ja-JP" sz="1400" dirty="0"/>
          </a:p>
          <a:p>
            <a:pPr lvl="1"/>
            <a:r>
              <a:rPr lang="en-US" altLang="ja-JP" sz="1400" dirty="0"/>
              <a:t>A</a:t>
            </a:r>
            <a:r>
              <a:rPr lang="ja-JP" altLang="en-US" sz="1400" dirty="0"/>
              <a:t>：アトミック</a:t>
            </a:r>
            <a:endParaRPr lang="en-US" altLang="ja-JP" sz="1400" dirty="0"/>
          </a:p>
          <a:p>
            <a:pPr lvl="1"/>
            <a:r>
              <a:rPr lang="en-US" altLang="ja-JP" sz="1400" dirty="0"/>
              <a:t>F, D, Q</a:t>
            </a:r>
            <a:r>
              <a:rPr lang="ja-JP" altLang="en-US" sz="1400" dirty="0"/>
              <a:t>：浮動小数点</a:t>
            </a:r>
            <a:endParaRPr lang="ja-JP" altLang="en-US" sz="1400" dirty="0">
              <a:latin typeface="+mn-ea"/>
            </a:endParaRPr>
          </a:p>
        </p:txBody>
      </p:sp>
      <p:sp>
        <p:nvSpPr>
          <p:cNvPr id="4" name="正方形/長方形 3">
            <a:extLst>
              <a:ext uri="{FF2B5EF4-FFF2-40B4-BE49-F238E27FC236}">
                <a16:creationId xmlns:a16="http://schemas.microsoft.com/office/drawing/2014/main" id="{A4A1AE6C-F698-4013-8FD6-087038AF6EF1}"/>
              </a:ext>
            </a:extLst>
          </p:cNvPr>
          <p:cNvSpPr/>
          <p:nvPr/>
        </p:nvSpPr>
        <p:spPr bwMode="auto">
          <a:xfrm>
            <a:off x="2855965" y="1628981"/>
            <a:ext cx="1170013" cy="1800020"/>
          </a:xfrm>
          <a:prstGeom prst="rect">
            <a:avLst/>
          </a:prstGeom>
          <a:solidFill>
            <a:schemeClr val="accent4">
              <a:lumMod val="20000"/>
              <a:lumOff val="80000"/>
            </a:schemeClr>
          </a:solidFill>
          <a:ln>
            <a:solidFill>
              <a:schemeClr val="accent4">
                <a:lumMod val="75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mn-ea"/>
              </a:rPr>
              <a:t>64bit I</a:t>
            </a:r>
          </a:p>
          <a:p>
            <a:pPr algn="ctr"/>
            <a:r>
              <a:rPr lang="en-US" altLang="ja-JP" sz="1400" dirty="0">
                <a:solidFill>
                  <a:schemeClr val="tx1">
                    <a:lumMod val="75000"/>
                    <a:lumOff val="25000"/>
                  </a:schemeClr>
                </a:solidFill>
                <a:latin typeface="+mn-ea"/>
              </a:rPr>
              <a:t>Base integer</a:t>
            </a:r>
            <a:endParaRPr lang="ja-JP" altLang="en-US" sz="1400"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8B2C746F-696D-449E-8B92-1C09F8464EF8}"/>
              </a:ext>
            </a:extLst>
          </p:cNvPr>
          <p:cNvSpPr/>
          <p:nvPr/>
        </p:nvSpPr>
        <p:spPr bwMode="auto">
          <a:xfrm>
            <a:off x="2855965" y="3429000"/>
            <a:ext cx="1170013"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050" dirty="0">
                <a:solidFill>
                  <a:schemeClr val="tx1">
                    <a:lumMod val="75000"/>
                    <a:lumOff val="25000"/>
                  </a:schemeClr>
                </a:solidFill>
                <a:latin typeface="+mn-ea"/>
              </a:rPr>
              <a:t>Machine ISA</a:t>
            </a:r>
            <a:endParaRPr lang="ja-JP" altLang="en-US" sz="1050" dirty="0">
              <a:solidFill>
                <a:schemeClr val="tx1">
                  <a:lumMod val="75000"/>
                  <a:lumOff val="25000"/>
                </a:schemeClr>
              </a:solidFill>
              <a:latin typeface="+mn-ea"/>
            </a:endParaRPr>
          </a:p>
        </p:txBody>
      </p:sp>
      <p:sp>
        <p:nvSpPr>
          <p:cNvPr id="6" name="正方形/長方形 5">
            <a:extLst>
              <a:ext uri="{FF2B5EF4-FFF2-40B4-BE49-F238E27FC236}">
                <a16:creationId xmlns:a16="http://schemas.microsoft.com/office/drawing/2014/main" id="{037AF8C3-4EB2-46E0-8A2B-CF476494BB9B}"/>
              </a:ext>
            </a:extLst>
          </p:cNvPr>
          <p:cNvSpPr/>
          <p:nvPr/>
        </p:nvSpPr>
        <p:spPr bwMode="auto">
          <a:xfrm>
            <a:off x="4025978" y="3068996"/>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C</a:t>
            </a:r>
            <a:endParaRPr lang="ja-JP" altLang="en-US" sz="1600" dirty="0">
              <a:solidFill>
                <a:schemeClr val="tx1">
                  <a:lumMod val="75000"/>
                  <a:lumOff val="25000"/>
                </a:schemeClr>
              </a:solidFill>
              <a:latin typeface="+mn-ea"/>
            </a:endParaRPr>
          </a:p>
        </p:txBody>
      </p:sp>
      <p:sp>
        <p:nvSpPr>
          <p:cNvPr id="8" name="正方形/長方形 7">
            <a:extLst>
              <a:ext uri="{FF2B5EF4-FFF2-40B4-BE49-F238E27FC236}">
                <a16:creationId xmlns:a16="http://schemas.microsoft.com/office/drawing/2014/main" id="{2D1F6B25-ECF0-4979-99D8-8ABF7CFD6E59}"/>
              </a:ext>
            </a:extLst>
          </p:cNvPr>
          <p:cNvSpPr/>
          <p:nvPr/>
        </p:nvSpPr>
        <p:spPr bwMode="auto">
          <a:xfrm>
            <a:off x="4025978" y="1988984"/>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M</a:t>
            </a:r>
            <a:endParaRPr lang="ja-JP" altLang="en-US" sz="1600" dirty="0">
              <a:solidFill>
                <a:schemeClr val="tx1">
                  <a:lumMod val="75000"/>
                  <a:lumOff val="25000"/>
                </a:schemeClr>
              </a:solidFill>
              <a:latin typeface="+mn-ea"/>
            </a:endParaRPr>
          </a:p>
        </p:txBody>
      </p:sp>
      <p:sp>
        <p:nvSpPr>
          <p:cNvPr id="9" name="正方形/長方形 8">
            <a:extLst>
              <a:ext uri="{FF2B5EF4-FFF2-40B4-BE49-F238E27FC236}">
                <a16:creationId xmlns:a16="http://schemas.microsoft.com/office/drawing/2014/main" id="{8E2388FC-9FF5-4097-9503-4813486E2A45}"/>
              </a:ext>
            </a:extLst>
          </p:cNvPr>
          <p:cNvSpPr/>
          <p:nvPr/>
        </p:nvSpPr>
        <p:spPr bwMode="auto">
          <a:xfrm>
            <a:off x="4025979" y="2348988"/>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A</a:t>
            </a:r>
            <a:endParaRPr lang="ja-JP" altLang="en-US" sz="1600" dirty="0">
              <a:solidFill>
                <a:schemeClr val="tx1">
                  <a:lumMod val="75000"/>
                  <a:lumOff val="25000"/>
                </a:schemeClr>
              </a:solidFill>
              <a:latin typeface="+mn-ea"/>
            </a:endParaRPr>
          </a:p>
        </p:txBody>
      </p:sp>
      <p:sp>
        <p:nvSpPr>
          <p:cNvPr id="10" name="正方形/長方形 9">
            <a:extLst>
              <a:ext uri="{FF2B5EF4-FFF2-40B4-BE49-F238E27FC236}">
                <a16:creationId xmlns:a16="http://schemas.microsoft.com/office/drawing/2014/main" id="{D38940C9-F50F-49E9-8CE4-BCD0262BC231}"/>
              </a:ext>
            </a:extLst>
          </p:cNvPr>
          <p:cNvSpPr/>
          <p:nvPr/>
        </p:nvSpPr>
        <p:spPr bwMode="auto">
          <a:xfrm>
            <a:off x="4025979" y="2708992"/>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F</a:t>
            </a:r>
            <a:endParaRPr lang="ja-JP" altLang="en-US" sz="1600" dirty="0">
              <a:solidFill>
                <a:schemeClr val="tx1">
                  <a:lumMod val="75000"/>
                  <a:lumOff val="25000"/>
                </a:schemeClr>
              </a:solidFill>
              <a:latin typeface="+mn-ea"/>
            </a:endParaRPr>
          </a:p>
        </p:txBody>
      </p:sp>
      <p:sp>
        <p:nvSpPr>
          <p:cNvPr id="12" name="正方形/長方形 11">
            <a:extLst>
              <a:ext uri="{FF2B5EF4-FFF2-40B4-BE49-F238E27FC236}">
                <a16:creationId xmlns:a16="http://schemas.microsoft.com/office/drawing/2014/main" id="{02E8D351-4F57-4ECB-ABB3-1664F047BF18}"/>
              </a:ext>
            </a:extLst>
          </p:cNvPr>
          <p:cNvSpPr/>
          <p:nvPr/>
        </p:nvSpPr>
        <p:spPr bwMode="auto">
          <a:xfrm>
            <a:off x="4475983" y="2708992"/>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D</a:t>
            </a:r>
            <a:endParaRPr lang="ja-JP" altLang="en-US" sz="1600" dirty="0">
              <a:solidFill>
                <a:schemeClr val="tx1">
                  <a:lumMod val="75000"/>
                  <a:lumOff val="25000"/>
                </a:schemeClr>
              </a:solidFill>
              <a:latin typeface="+mn-ea"/>
            </a:endParaRPr>
          </a:p>
        </p:txBody>
      </p:sp>
      <p:sp>
        <p:nvSpPr>
          <p:cNvPr id="13" name="正方形/長方形 12">
            <a:extLst>
              <a:ext uri="{FF2B5EF4-FFF2-40B4-BE49-F238E27FC236}">
                <a16:creationId xmlns:a16="http://schemas.microsoft.com/office/drawing/2014/main" id="{9AEDD21D-34EE-4749-BD1B-AE7C1C7FC0B5}"/>
              </a:ext>
            </a:extLst>
          </p:cNvPr>
          <p:cNvSpPr/>
          <p:nvPr/>
        </p:nvSpPr>
        <p:spPr bwMode="auto">
          <a:xfrm>
            <a:off x="2855965" y="3789004"/>
            <a:ext cx="1170013"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050" dirty="0">
                <a:solidFill>
                  <a:schemeClr val="tx1">
                    <a:lumMod val="75000"/>
                    <a:lumOff val="25000"/>
                  </a:schemeClr>
                </a:solidFill>
                <a:latin typeface="+mn-ea"/>
              </a:rPr>
              <a:t>Supervisor ISA</a:t>
            </a:r>
            <a:endParaRPr lang="ja-JP" altLang="en-US" sz="1050" dirty="0">
              <a:solidFill>
                <a:schemeClr val="tx1">
                  <a:lumMod val="75000"/>
                  <a:lumOff val="25000"/>
                </a:schemeClr>
              </a:solidFill>
              <a:latin typeface="+mn-ea"/>
            </a:endParaRPr>
          </a:p>
        </p:txBody>
      </p:sp>
      <p:sp>
        <p:nvSpPr>
          <p:cNvPr id="20" name="正方形/長方形 19">
            <a:extLst>
              <a:ext uri="{FF2B5EF4-FFF2-40B4-BE49-F238E27FC236}">
                <a16:creationId xmlns:a16="http://schemas.microsoft.com/office/drawing/2014/main" id="{6F2A9144-8592-4493-99BA-905FA8C3F35D}"/>
              </a:ext>
            </a:extLst>
          </p:cNvPr>
          <p:cNvSpPr/>
          <p:nvPr/>
        </p:nvSpPr>
        <p:spPr bwMode="auto">
          <a:xfrm>
            <a:off x="4025978" y="1628980"/>
            <a:ext cx="450005" cy="180002"/>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900" dirty="0">
                <a:solidFill>
                  <a:schemeClr val="tx1">
                    <a:lumMod val="75000"/>
                    <a:lumOff val="25000"/>
                  </a:schemeClr>
                </a:solidFill>
                <a:latin typeface="+mn-ea"/>
              </a:rPr>
              <a:t>Zicsr</a:t>
            </a:r>
            <a:endParaRPr lang="ja-JP" altLang="en-US" sz="900" dirty="0">
              <a:solidFill>
                <a:schemeClr val="tx1">
                  <a:lumMod val="75000"/>
                  <a:lumOff val="25000"/>
                </a:schemeClr>
              </a:solidFill>
              <a:latin typeface="+mn-ea"/>
            </a:endParaRPr>
          </a:p>
        </p:txBody>
      </p:sp>
      <p:sp>
        <p:nvSpPr>
          <p:cNvPr id="21" name="正方形/長方形 20">
            <a:extLst>
              <a:ext uri="{FF2B5EF4-FFF2-40B4-BE49-F238E27FC236}">
                <a16:creationId xmlns:a16="http://schemas.microsoft.com/office/drawing/2014/main" id="{1005BE2E-BEAC-4B2B-88A3-480A3954A08F}"/>
              </a:ext>
            </a:extLst>
          </p:cNvPr>
          <p:cNvSpPr/>
          <p:nvPr/>
        </p:nvSpPr>
        <p:spPr bwMode="auto">
          <a:xfrm>
            <a:off x="4025978" y="1808982"/>
            <a:ext cx="450005" cy="180002"/>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900" dirty="0">
                <a:solidFill>
                  <a:schemeClr val="tx1">
                    <a:lumMod val="75000"/>
                    <a:lumOff val="25000"/>
                  </a:schemeClr>
                </a:solidFill>
                <a:latin typeface="+mn-ea"/>
              </a:rPr>
              <a:t>Zifencei</a:t>
            </a:r>
            <a:endParaRPr lang="ja-JP" altLang="en-US" sz="900" dirty="0">
              <a:solidFill>
                <a:schemeClr val="tx1">
                  <a:lumMod val="75000"/>
                  <a:lumOff val="25000"/>
                </a:schemeClr>
              </a:solidFill>
              <a:latin typeface="+mn-ea"/>
            </a:endParaRPr>
          </a:p>
        </p:txBody>
      </p:sp>
      <p:sp>
        <p:nvSpPr>
          <p:cNvPr id="28" name="正方形/長方形 27">
            <a:extLst>
              <a:ext uri="{FF2B5EF4-FFF2-40B4-BE49-F238E27FC236}">
                <a16:creationId xmlns:a16="http://schemas.microsoft.com/office/drawing/2014/main" id="{7C96DF33-9894-4904-9EFB-8772302E6D48}"/>
              </a:ext>
            </a:extLst>
          </p:cNvPr>
          <p:cNvSpPr/>
          <p:nvPr/>
        </p:nvSpPr>
        <p:spPr bwMode="auto">
          <a:xfrm>
            <a:off x="5195991" y="1628980"/>
            <a:ext cx="1170013" cy="1800020"/>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mn-ea"/>
              </a:rPr>
              <a:t>32bit I</a:t>
            </a:r>
          </a:p>
          <a:p>
            <a:pPr algn="ctr"/>
            <a:r>
              <a:rPr lang="en-US" altLang="ja-JP" sz="1400" dirty="0">
                <a:solidFill>
                  <a:schemeClr val="tx1">
                    <a:lumMod val="75000"/>
                    <a:lumOff val="25000"/>
                  </a:schemeClr>
                </a:solidFill>
                <a:latin typeface="+mn-ea"/>
              </a:rPr>
              <a:t>Base integer</a:t>
            </a:r>
            <a:endParaRPr lang="ja-JP" altLang="en-US" sz="1400" dirty="0">
              <a:solidFill>
                <a:schemeClr val="tx1">
                  <a:lumMod val="75000"/>
                  <a:lumOff val="25000"/>
                </a:schemeClr>
              </a:solidFill>
              <a:latin typeface="+mn-ea"/>
            </a:endParaRPr>
          </a:p>
        </p:txBody>
      </p:sp>
      <p:sp>
        <p:nvSpPr>
          <p:cNvPr id="29" name="正方形/長方形 28">
            <a:extLst>
              <a:ext uri="{FF2B5EF4-FFF2-40B4-BE49-F238E27FC236}">
                <a16:creationId xmlns:a16="http://schemas.microsoft.com/office/drawing/2014/main" id="{4C116BA0-137A-46D3-B5FE-11F736DBF22A}"/>
              </a:ext>
            </a:extLst>
          </p:cNvPr>
          <p:cNvSpPr/>
          <p:nvPr/>
        </p:nvSpPr>
        <p:spPr bwMode="auto">
          <a:xfrm>
            <a:off x="5195991" y="3428999"/>
            <a:ext cx="1170013"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050" dirty="0">
                <a:solidFill>
                  <a:schemeClr val="tx1">
                    <a:lumMod val="75000"/>
                    <a:lumOff val="25000"/>
                  </a:schemeClr>
                </a:solidFill>
                <a:latin typeface="+mn-ea"/>
              </a:rPr>
              <a:t>Machine ISA</a:t>
            </a:r>
            <a:endParaRPr lang="ja-JP" altLang="en-US" sz="1050" dirty="0">
              <a:solidFill>
                <a:schemeClr val="tx1">
                  <a:lumMod val="75000"/>
                  <a:lumOff val="25000"/>
                </a:schemeClr>
              </a:solidFill>
              <a:latin typeface="+mn-ea"/>
            </a:endParaRPr>
          </a:p>
        </p:txBody>
      </p:sp>
      <p:sp>
        <p:nvSpPr>
          <p:cNvPr id="30" name="正方形/長方形 29">
            <a:extLst>
              <a:ext uri="{FF2B5EF4-FFF2-40B4-BE49-F238E27FC236}">
                <a16:creationId xmlns:a16="http://schemas.microsoft.com/office/drawing/2014/main" id="{F45F7918-1C90-49EF-AAE3-08AD5BB10D3F}"/>
              </a:ext>
            </a:extLst>
          </p:cNvPr>
          <p:cNvSpPr/>
          <p:nvPr/>
        </p:nvSpPr>
        <p:spPr bwMode="auto">
          <a:xfrm>
            <a:off x="6366004" y="3068995"/>
            <a:ext cx="450005"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31" name="正方形/長方形 30">
            <a:extLst>
              <a:ext uri="{FF2B5EF4-FFF2-40B4-BE49-F238E27FC236}">
                <a16:creationId xmlns:a16="http://schemas.microsoft.com/office/drawing/2014/main" id="{608CEB50-C37A-43C7-A898-8ED29148D7D9}"/>
              </a:ext>
            </a:extLst>
          </p:cNvPr>
          <p:cNvSpPr/>
          <p:nvPr/>
        </p:nvSpPr>
        <p:spPr bwMode="auto">
          <a:xfrm>
            <a:off x="6366004" y="1988983"/>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M</a:t>
            </a:r>
            <a:endParaRPr lang="ja-JP" altLang="en-US" sz="1600" dirty="0">
              <a:solidFill>
                <a:schemeClr val="tx1">
                  <a:lumMod val="75000"/>
                  <a:lumOff val="25000"/>
                </a:schemeClr>
              </a:solidFill>
              <a:latin typeface="+mn-ea"/>
            </a:endParaRPr>
          </a:p>
        </p:txBody>
      </p:sp>
      <p:sp>
        <p:nvSpPr>
          <p:cNvPr id="32" name="正方形/長方形 31">
            <a:extLst>
              <a:ext uri="{FF2B5EF4-FFF2-40B4-BE49-F238E27FC236}">
                <a16:creationId xmlns:a16="http://schemas.microsoft.com/office/drawing/2014/main" id="{0C3BDA00-40D6-4E3E-A5BA-05F3554A5972}"/>
              </a:ext>
            </a:extLst>
          </p:cNvPr>
          <p:cNvSpPr/>
          <p:nvPr/>
        </p:nvSpPr>
        <p:spPr bwMode="auto">
          <a:xfrm>
            <a:off x="6366005" y="2348987"/>
            <a:ext cx="450005"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33" name="正方形/長方形 32">
            <a:extLst>
              <a:ext uri="{FF2B5EF4-FFF2-40B4-BE49-F238E27FC236}">
                <a16:creationId xmlns:a16="http://schemas.microsoft.com/office/drawing/2014/main" id="{AC0CF849-D277-4196-83C0-2328BA3A0C1D}"/>
              </a:ext>
            </a:extLst>
          </p:cNvPr>
          <p:cNvSpPr/>
          <p:nvPr/>
        </p:nvSpPr>
        <p:spPr bwMode="auto">
          <a:xfrm>
            <a:off x="6366004" y="2708992"/>
            <a:ext cx="450005"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34" name="正方形/長方形 33">
            <a:extLst>
              <a:ext uri="{FF2B5EF4-FFF2-40B4-BE49-F238E27FC236}">
                <a16:creationId xmlns:a16="http://schemas.microsoft.com/office/drawing/2014/main" id="{B3BBFC4D-C4F7-4847-B822-FF03F62AAB41}"/>
              </a:ext>
            </a:extLst>
          </p:cNvPr>
          <p:cNvSpPr/>
          <p:nvPr/>
        </p:nvSpPr>
        <p:spPr bwMode="auto">
          <a:xfrm>
            <a:off x="6816009" y="2708991"/>
            <a:ext cx="450005"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35" name="正方形/長方形 34">
            <a:extLst>
              <a:ext uri="{FF2B5EF4-FFF2-40B4-BE49-F238E27FC236}">
                <a16:creationId xmlns:a16="http://schemas.microsoft.com/office/drawing/2014/main" id="{C1E6BE10-C03E-4454-B2CA-6A489DAFCCBD}"/>
              </a:ext>
            </a:extLst>
          </p:cNvPr>
          <p:cNvSpPr/>
          <p:nvPr/>
        </p:nvSpPr>
        <p:spPr bwMode="auto">
          <a:xfrm>
            <a:off x="5195991" y="3789003"/>
            <a:ext cx="1170013"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050" dirty="0">
              <a:solidFill>
                <a:schemeClr val="tx1">
                  <a:lumMod val="75000"/>
                  <a:lumOff val="25000"/>
                </a:schemeClr>
              </a:solidFill>
              <a:latin typeface="+mn-ea"/>
            </a:endParaRPr>
          </a:p>
        </p:txBody>
      </p:sp>
      <p:sp>
        <p:nvSpPr>
          <p:cNvPr id="36" name="正方形/長方形 35">
            <a:extLst>
              <a:ext uri="{FF2B5EF4-FFF2-40B4-BE49-F238E27FC236}">
                <a16:creationId xmlns:a16="http://schemas.microsoft.com/office/drawing/2014/main" id="{A1C016E7-5D8B-4674-BE58-0E05BDE18555}"/>
              </a:ext>
            </a:extLst>
          </p:cNvPr>
          <p:cNvSpPr/>
          <p:nvPr/>
        </p:nvSpPr>
        <p:spPr bwMode="auto">
          <a:xfrm>
            <a:off x="6366004" y="1628979"/>
            <a:ext cx="450005" cy="180002"/>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900" dirty="0">
                <a:solidFill>
                  <a:schemeClr val="tx1">
                    <a:lumMod val="75000"/>
                    <a:lumOff val="25000"/>
                  </a:schemeClr>
                </a:solidFill>
                <a:latin typeface="+mn-ea"/>
              </a:rPr>
              <a:t>Zicsr</a:t>
            </a:r>
            <a:endParaRPr lang="ja-JP" altLang="en-US" sz="900" dirty="0">
              <a:solidFill>
                <a:schemeClr val="tx1">
                  <a:lumMod val="75000"/>
                  <a:lumOff val="25000"/>
                </a:schemeClr>
              </a:solidFill>
              <a:latin typeface="+mn-ea"/>
            </a:endParaRPr>
          </a:p>
        </p:txBody>
      </p:sp>
      <p:sp>
        <p:nvSpPr>
          <p:cNvPr id="37" name="正方形/長方形 36">
            <a:extLst>
              <a:ext uri="{FF2B5EF4-FFF2-40B4-BE49-F238E27FC236}">
                <a16:creationId xmlns:a16="http://schemas.microsoft.com/office/drawing/2014/main" id="{DDA44C24-E42F-4D25-A501-B1F86B491506}"/>
              </a:ext>
            </a:extLst>
          </p:cNvPr>
          <p:cNvSpPr/>
          <p:nvPr/>
        </p:nvSpPr>
        <p:spPr bwMode="auto">
          <a:xfrm>
            <a:off x="6366004" y="1808981"/>
            <a:ext cx="450005" cy="180002"/>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900" dirty="0">
                <a:solidFill>
                  <a:schemeClr val="tx1">
                    <a:lumMod val="75000"/>
                    <a:lumOff val="25000"/>
                  </a:schemeClr>
                </a:solidFill>
                <a:latin typeface="+mn-ea"/>
              </a:rPr>
              <a:t>Zifencei</a:t>
            </a:r>
            <a:endParaRPr lang="ja-JP" altLang="en-US" sz="900" dirty="0">
              <a:solidFill>
                <a:schemeClr val="tx1">
                  <a:lumMod val="75000"/>
                  <a:lumOff val="25000"/>
                </a:schemeClr>
              </a:solidFill>
              <a:latin typeface="+mn-ea"/>
            </a:endParaRPr>
          </a:p>
        </p:txBody>
      </p:sp>
      <p:sp>
        <p:nvSpPr>
          <p:cNvPr id="38" name="正方形/長方形 37">
            <a:extLst>
              <a:ext uri="{FF2B5EF4-FFF2-40B4-BE49-F238E27FC236}">
                <a16:creationId xmlns:a16="http://schemas.microsoft.com/office/drawing/2014/main" id="{47D00766-8B64-43C7-9157-2B3D8B89CEE6}"/>
              </a:ext>
            </a:extLst>
          </p:cNvPr>
          <p:cNvSpPr/>
          <p:nvPr/>
        </p:nvSpPr>
        <p:spPr bwMode="auto">
          <a:xfrm>
            <a:off x="7536017" y="1628980"/>
            <a:ext cx="1170013" cy="1800020"/>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mn-ea"/>
              </a:rPr>
              <a:t> 32bit I</a:t>
            </a:r>
          </a:p>
          <a:p>
            <a:pPr algn="ctr"/>
            <a:r>
              <a:rPr lang="en-US" altLang="ja-JP" sz="1400" dirty="0">
                <a:solidFill>
                  <a:schemeClr val="tx1">
                    <a:lumMod val="75000"/>
                    <a:lumOff val="25000"/>
                  </a:schemeClr>
                </a:solidFill>
                <a:latin typeface="+mn-ea"/>
              </a:rPr>
              <a:t>Base integer</a:t>
            </a:r>
            <a:endParaRPr lang="ja-JP" altLang="en-US" sz="1400" dirty="0">
              <a:solidFill>
                <a:schemeClr val="tx1">
                  <a:lumMod val="75000"/>
                  <a:lumOff val="25000"/>
                </a:schemeClr>
              </a:solidFill>
              <a:latin typeface="+mn-ea"/>
            </a:endParaRPr>
          </a:p>
        </p:txBody>
      </p:sp>
      <p:sp>
        <p:nvSpPr>
          <p:cNvPr id="39" name="正方形/長方形 38">
            <a:extLst>
              <a:ext uri="{FF2B5EF4-FFF2-40B4-BE49-F238E27FC236}">
                <a16:creationId xmlns:a16="http://schemas.microsoft.com/office/drawing/2014/main" id="{15225440-2402-4F20-9D4B-7C99BCBEEAF9}"/>
              </a:ext>
            </a:extLst>
          </p:cNvPr>
          <p:cNvSpPr/>
          <p:nvPr/>
        </p:nvSpPr>
        <p:spPr bwMode="auto">
          <a:xfrm>
            <a:off x="7536017" y="3428999"/>
            <a:ext cx="1170013"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050" dirty="0">
              <a:solidFill>
                <a:schemeClr val="tx1">
                  <a:lumMod val="75000"/>
                  <a:lumOff val="25000"/>
                </a:schemeClr>
              </a:solidFill>
              <a:latin typeface="+mn-ea"/>
            </a:endParaRPr>
          </a:p>
        </p:txBody>
      </p:sp>
      <p:sp>
        <p:nvSpPr>
          <p:cNvPr id="40" name="正方形/長方形 39">
            <a:extLst>
              <a:ext uri="{FF2B5EF4-FFF2-40B4-BE49-F238E27FC236}">
                <a16:creationId xmlns:a16="http://schemas.microsoft.com/office/drawing/2014/main" id="{3CE9963F-5762-493E-9851-504A70C46839}"/>
              </a:ext>
            </a:extLst>
          </p:cNvPr>
          <p:cNvSpPr/>
          <p:nvPr/>
        </p:nvSpPr>
        <p:spPr bwMode="auto">
          <a:xfrm>
            <a:off x="8706030" y="3068995"/>
            <a:ext cx="450005"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41" name="正方形/長方形 40">
            <a:extLst>
              <a:ext uri="{FF2B5EF4-FFF2-40B4-BE49-F238E27FC236}">
                <a16:creationId xmlns:a16="http://schemas.microsoft.com/office/drawing/2014/main" id="{32D84877-D34C-4930-8A51-65E8A98E5A17}"/>
              </a:ext>
            </a:extLst>
          </p:cNvPr>
          <p:cNvSpPr/>
          <p:nvPr/>
        </p:nvSpPr>
        <p:spPr bwMode="auto">
          <a:xfrm>
            <a:off x="8706030" y="1988983"/>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M</a:t>
            </a:r>
            <a:endParaRPr lang="ja-JP" altLang="en-US" sz="1600" dirty="0">
              <a:solidFill>
                <a:schemeClr val="tx1">
                  <a:lumMod val="75000"/>
                  <a:lumOff val="25000"/>
                </a:schemeClr>
              </a:solidFill>
              <a:latin typeface="+mn-ea"/>
            </a:endParaRPr>
          </a:p>
        </p:txBody>
      </p:sp>
      <p:sp>
        <p:nvSpPr>
          <p:cNvPr id="42" name="正方形/長方形 41">
            <a:extLst>
              <a:ext uri="{FF2B5EF4-FFF2-40B4-BE49-F238E27FC236}">
                <a16:creationId xmlns:a16="http://schemas.microsoft.com/office/drawing/2014/main" id="{5055B19E-31F6-4364-9D79-420B085E2EE4}"/>
              </a:ext>
            </a:extLst>
          </p:cNvPr>
          <p:cNvSpPr/>
          <p:nvPr/>
        </p:nvSpPr>
        <p:spPr bwMode="auto">
          <a:xfrm>
            <a:off x="8706031" y="2348987"/>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A</a:t>
            </a:r>
            <a:endParaRPr lang="ja-JP" altLang="en-US" sz="1600" dirty="0">
              <a:solidFill>
                <a:schemeClr val="tx1">
                  <a:lumMod val="75000"/>
                  <a:lumOff val="25000"/>
                </a:schemeClr>
              </a:solidFill>
              <a:latin typeface="+mn-ea"/>
            </a:endParaRPr>
          </a:p>
        </p:txBody>
      </p:sp>
      <p:sp>
        <p:nvSpPr>
          <p:cNvPr id="43" name="正方形/長方形 42">
            <a:extLst>
              <a:ext uri="{FF2B5EF4-FFF2-40B4-BE49-F238E27FC236}">
                <a16:creationId xmlns:a16="http://schemas.microsoft.com/office/drawing/2014/main" id="{3DC453C4-77AB-407D-9150-588EE1E1BE5C}"/>
              </a:ext>
            </a:extLst>
          </p:cNvPr>
          <p:cNvSpPr/>
          <p:nvPr/>
        </p:nvSpPr>
        <p:spPr bwMode="auto">
          <a:xfrm>
            <a:off x="8706031" y="2708991"/>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F</a:t>
            </a:r>
            <a:endParaRPr lang="ja-JP" altLang="en-US" sz="1600" dirty="0">
              <a:solidFill>
                <a:schemeClr val="tx1">
                  <a:lumMod val="75000"/>
                  <a:lumOff val="25000"/>
                </a:schemeClr>
              </a:solidFill>
              <a:latin typeface="+mn-ea"/>
            </a:endParaRPr>
          </a:p>
        </p:txBody>
      </p:sp>
      <p:sp>
        <p:nvSpPr>
          <p:cNvPr id="44" name="正方形/長方形 43">
            <a:extLst>
              <a:ext uri="{FF2B5EF4-FFF2-40B4-BE49-F238E27FC236}">
                <a16:creationId xmlns:a16="http://schemas.microsoft.com/office/drawing/2014/main" id="{D49B53C5-ADE2-472C-A5AF-10C1FF173220}"/>
              </a:ext>
            </a:extLst>
          </p:cNvPr>
          <p:cNvSpPr/>
          <p:nvPr/>
        </p:nvSpPr>
        <p:spPr bwMode="auto">
          <a:xfrm>
            <a:off x="9156035" y="2708991"/>
            <a:ext cx="450005"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45" name="正方形/長方形 44">
            <a:extLst>
              <a:ext uri="{FF2B5EF4-FFF2-40B4-BE49-F238E27FC236}">
                <a16:creationId xmlns:a16="http://schemas.microsoft.com/office/drawing/2014/main" id="{EA98A298-B150-48EE-8FA4-348C3657AE43}"/>
              </a:ext>
            </a:extLst>
          </p:cNvPr>
          <p:cNvSpPr/>
          <p:nvPr/>
        </p:nvSpPr>
        <p:spPr bwMode="auto">
          <a:xfrm>
            <a:off x="7536017" y="3789003"/>
            <a:ext cx="1170013"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050" dirty="0">
              <a:solidFill>
                <a:schemeClr val="tx1">
                  <a:lumMod val="75000"/>
                  <a:lumOff val="25000"/>
                </a:schemeClr>
              </a:solidFill>
              <a:latin typeface="+mn-ea"/>
            </a:endParaRPr>
          </a:p>
        </p:txBody>
      </p:sp>
      <p:sp>
        <p:nvSpPr>
          <p:cNvPr id="46" name="正方形/長方形 45">
            <a:extLst>
              <a:ext uri="{FF2B5EF4-FFF2-40B4-BE49-F238E27FC236}">
                <a16:creationId xmlns:a16="http://schemas.microsoft.com/office/drawing/2014/main" id="{83E9A929-BCC9-4C6F-BF53-02E12882E8AD}"/>
              </a:ext>
            </a:extLst>
          </p:cNvPr>
          <p:cNvSpPr/>
          <p:nvPr/>
        </p:nvSpPr>
        <p:spPr bwMode="auto">
          <a:xfrm>
            <a:off x="8706030" y="1628979"/>
            <a:ext cx="450005" cy="180002"/>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900" dirty="0">
                <a:solidFill>
                  <a:schemeClr val="tx1">
                    <a:lumMod val="75000"/>
                    <a:lumOff val="25000"/>
                  </a:schemeClr>
                </a:solidFill>
                <a:latin typeface="+mn-ea"/>
              </a:rPr>
              <a:t>Zicsr</a:t>
            </a:r>
            <a:endParaRPr lang="ja-JP" altLang="en-US" sz="900" dirty="0">
              <a:solidFill>
                <a:schemeClr val="tx1">
                  <a:lumMod val="75000"/>
                  <a:lumOff val="25000"/>
                </a:schemeClr>
              </a:solidFill>
              <a:latin typeface="+mn-ea"/>
            </a:endParaRPr>
          </a:p>
        </p:txBody>
      </p:sp>
      <p:sp>
        <p:nvSpPr>
          <p:cNvPr id="47" name="正方形/長方形 46">
            <a:extLst>
              <a:ext uri="{FF2B5EF4-FFF2-40B4-BE49-F238E27FC236}">
                <a16:creationId xmlns:a16="http://schemas.microsoft.com/office/drawing/2014/main" id="{5158E853-84AF-4C54-9667-966D519909AE}"/>
              </a:ext>
            </a:extLst>
          </p:cNvPr>
          <p:cNvSpPr/>
          <p:nvPr/>
        </p:nvSpPr>
        <p:spPr bwMode="auto">
          <a:xfrm>
            <a:off x="8706030" y="1808981"/>
            <a:ext cx="450005" cy="180002"/>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900" dirty="0">
              <a:solidFill>
                <a:schemeClr val="tx1">
                  <a:lumMod val="75000"/>
                  <a:lumOff val="25000"/>
                </a:schemeClr>
              </a:solidFill>
              <a:latin typeface="+mn-ea"/>
            </a:endParaRPr>
          </a:p>
        </p:txBody>
      </p:sp>
      <p:sp>
        <p:nvSpPr>
          <p:cNvPr id="48" name="正方形/長方形 47">
            <a:extLst>
              <a:ext uri="{FF2B5EF4-FFF2-40B4-BE49-F238E27FC236}">
                <a16:creationId xmlns:a16="http://schemas.microsoft.com/office/drawing/2014/main" id="{34F8B728-82E6-4646-BCB0-99E8BE403C23}"/>
              </a:ext>
            </a:extLst>
          </p:cNvPr>
          <p:cNvSpPr/>
          <p:nvPr/>
        </p:nvSpPr>
        <p:spPr bwMode="auto">
          <a:xfrm>
            <a:off x="2855965" y="1088974"/>
            <a:ext cx="450005"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mn-ea"/>
              </a:rPr>
              <a:t>Rocket: RV64GC</a:t>
            </a:r>
          </a:p>
          <a:p>
            <a:r>
              <a:rPr lang="en-US" altLang="ja-JP" sz="1400" dirty="0">
                <a:solidFill>
                  <a:schemeClr val="tx1">
                    <a:lumMod val="75000"/>
                    <a:lumOff val="25000"/>
                  </a:schemeClr>
                </a:solidFill>
                <a:latin typeface="+mn-ea"/>
              </a:rPr>
              <a:t>(IMAD C Zifencei Zicsr)</a:t>
            </a:r>
            <a:endParaRPr lang="ja-JP" altLang="en-US" sz="1400" dirty="0">
              <a:solidFill>
                <a:schemeClr val="tx1">
                  <a:lumMod val="75000"/>
                  <a:lumOff val="25000"/>
                </a:schemeClr>
              </a:solidFill>
              <a:latin typeface="+mn-ea"/>
            </a:endParaRPr>
          </a:p>
        </p:txBody>
      </p:sp>
      <p:sp>
        <p:nvSpPr>
          <p:cNvPr id="49" name="正方形/長方形 48">
            <a:extLst>
              <a:ext uri="{FF2B5EF4-FFF2-40B4-BE49-F238E27FC236}">
                <a16:creationId xmlns:a16="http://schemas.microsoft.com/office/drawing/2014/main" id="{8DDC4F61-C11D-494D-B672-790E3BC81AF1}"/>
              </a:ext>
            </a:extLst>
          </p:cNvPr>
          <p:cNvSpPr/>
          <p:nvPr/>
        </p:nvSpPr>
        <p:spPr bwMode="auto">
          <a:xfrm>
            <a:off x="5195991" y="1088974"/>
            <a:ext cx="450005"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mn-ea"/>
              </a:rPr>
              <a:t>RSD: RV32IM</a:t>
            </a:r>
            <a:br>
              <a:rPr lang="en-US" altLang="ja-JP" sz="1400" dirty="0">
                <a:solidFill>
                  <a:schemeClr val="tx1">
                    <a:lumMod val="75000"/>
                    <a:lumOff val="25000"/>
                  </a:schemeClr>
                </a:solidFill>
                <a:latin typeface="+mn-ea"/>
              </a:rPr>
            </a:br>
            <a:r>
              <a:rPr lang="en-US" altLang="ja-JP" sz="1400" dirty="0">
                <a:solidFill>
                  <a:schemeClr val="tx1">
                    <a:lumMod val="75000"/>
                    <a:lumOff val="25000"/>
                  </a:schemeClr>
                </a:solidFill>
                <a:latin typeface="+mn-ea"/>
              </a:rPr>
              <a:t>(IM Zifencei Zicsr)</a:t>
            </a:r>
            <a:endParaRPr lang="ja-JP" altLang="en-US" sz="1400" dirty="0">
              <a:solidFill>
                <a:schemeClr val="tx1">
                  <a:lumMod val="75000"/>
                  <a:lumOff val="25000"/>
                </a:schemeClr>
              </a:solidFill>
              <a:latin typeface="+mn-ea"/>
            </a:endParaRPr>
          </a:p>
        </p:txBody>
      </p:sp>
      <p:sp>
        <p:nvSpPr>
          <p:cNvPr id="50" name="正方形/長方形 49">
            <a:extLst>
              <a:ext uri="{FF2B5EF4-FFF2-40B4-BE49-F238E27FC236}">
                <a16:creationId xmlns:a16="http://schemas.microsoft.com/office/drawing/2014/main" id="{6CC17089-4152-427E-AA0E-3B0B7B6090DA}"/>
              </a:ext>
            </a:extLst>
          </p:cNvPr>
          <p:cNvSpPr/>
          <p:nvPr/>
        </p:nvSpPr>
        <p:spPr bwMode="auto">
          <a:xfrm>
            <a:off x="7536017" y="1088974"/>
            <a:ext cx="450005"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mn-ea"/>
              </a:rPr>
              <a:t>HORNET: RV32IMFA</a:t>
            </a:r>
            <a:br>
              <a:rPr lang="en-US" altLang="ja-JP" sz="1400" dirty="0">
                <a:solidFill>
                  <a:schemeClr val="tx1">
                    <a:lumMod val="75000"/>
                    <a:lumOff val="25000"/>
                  </a:schemeClr>
                </a:solidFill>
                <a:latin typeface="+mn-ea"/>
              </a:rPr>
            </a:br>
            <a:r>
              <a:rPr lang="en-US" altLang="ja-JP" sz="1400" dirty="0">
                <a:solidFill>
                  <a:schemeClr val="tx1">
                    <a:lumMod val="75000"/>
                    <a:lumOff val="25000"/>
                  </a:schemeClr>
                </a:solidFill>
                <a:latin typeface="+mn-ea"/>
              </a:rPr>
              <a:t>(IMFA Zicsr)</a:t>
            </a:r>
            <a:endParaRPr lang="ja-JP" altLang="en-US" sz="1400" dirty="0">
              <a:solidFill>
                <a:schemeClr val="tx1">
                  <a:lumMod val="75000"/>
                  <a:lumOff val="25000"/>
                </a:schemeClr>
              </a:solidFill>
              <a:latin typeface="+mn-ea"/>
            </a:endParaRPr>
          </a:p>
        </p:txBody>
      </p:sp>
    </p:spTree>
    <p:extLst>
      <p:ext uri="{BB962C8B-B14F-4D97-AF65-F5344CB8AC3E}">
        <p14:creationId xmlns:p14="http://schemas.microsoft.com/office/powerpoint/2010/main" val="36576205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15D3EF-0F52-B44F-B029-0137D24B4352}"/>
              </a:ext>
            </a:extLst>
          </p:cNvPr>
          <p:cNvSpPr>
            <a:spLocks noGrp="1"/>
          </p:cNvSpPr>
          <p:nvPr>
            <p:ph type="title"/>
          </p:nvPr>
        </p:nvSpPr>
        <p:spPr/>
        <p:txBody>
          <a:bodyPr/>
          <a:lstStyle/>
          <a:p>
            <a:r>
              <a:rPr kumimoji="1" lang="en-US" altLang="ja-JP" dirty="0"/>
              <a:t>RISC-V </a:t>
            </a:r>
            <a:r>
              <a:rPr kumimoji="1" lang="ja-JP" altLang="en-US" dirty="0"/>
              <a:t>における拡張機能と課題</a:t>
            </a:r>
            <a:endParaRPr kumimoji="1" lang="en-US" altLang="ja-JP" dirty="0"/>
          </a:p>
        </p:txBody>
      </p:sp>
      <p:sp>
        <p:nvSpPr>
          <p:cNvPr id="3" name="テキスト プレースホルダー 2">
            <a:extLst>
              <a:ext uri="{FF2B5EF4-FFF2-40B4-BE49-F238E27FC236}">
                <a16:creationId xmlns:a16="http://schemas.microsoft.com/office/drawing/2014/main" id="{A3FA5BA4-4710-A2AC-1C5A-669EB81C281A}"/>
              </a:ext>
            </a:extLst>
          </p:cNvPr>
          <p:cNvSpPr>
            <a:spLocks noGrp="1"/>
          </p:cNvSpPr>
          <p:nvPr>
            <p:ph type="body" sz="quarter" idx="10"/>
          </p:nvPr>
        </p:nvSpPr>
        <p:spPr/>
        <p:txBody>
          <a:bodyPr/>
          <a:lstStyle/>
          <a:p>
            <a:r>
              <a:rPr kumimoji="1" lang="ja-JP" altLang="en-US" dirty="0"/>
              <a:t>特定用途向けのプロセッサを作成する場合などに非常に有用</a:t>
            </a:r>
            <a:endParaRPr kumimoji="1" lang="en-US" altLang="ja-JP" dirty="0"/>
          </a:p>
          <a:p>
            <a:r>
              <a:rPr kumimoji="1" lang="en-US" altLang="ja-JP" dirty="0"/>
              <a:t>RISC-V International </a:t>
            </a:r>
            <a:r>
              <a:rPr kumimoji="1" lang="ja-JP" altLang="en-US" dirty="0"/>
              <a:t>と呼ばれる団体が管理</a:t>
            </a:r>
            <a:endParaRPr kumimoji="1" lang="en-US" altLang="ja-JP" dirty="0"/>
          </a:p>
          <a:p>
            <a:pPr lvl="1"/>
            <a:r>
              <a:rPr kumimoji="1" lang="ja-JP" altLang="en-US" dirty="0"/>
              <a:t>そこで提案され承認を経たもののみが公式となる</a:t>
            </a:r>
            <a:endParaRPr kumimoji="1" lang="en-US" altLang="ja-JP" dirty="0"/>
          </a:p>
          <a:p>
            <a:pPr lvl="1"/>
            <a:r>
              <a:rPr kumimoji="1" lang="ja-JP" altLang="en-US" dirty="0"/>
              <a:t>基本的には拡張が無節操に増えることはない．</a:t>
            </a:r>
            <a:endParaRPr kumimoji="1" lang="en-US" altLang="ja-JP" dirty="0"/>
          </a:p>
          <a:p>
            <a:r>
              <a:rPr kumimoji="1" lang="ja-JP" altLang="en-US" dirty="0"/>
              <a:t>命令セットの分断化の懸念</a:t>
            </a:r>
            <a:endParaRPr kumimoji="1" lang="en-US" altLang="ja-JP" dirty="0"/>
          </a:p>
          <a:p>
            <a:pPr lvl="1"/>
            <a:r>
              <a:rPr kumimoji="1" lang="ja-JP" altLang="en-US" dirty="0"/>
              <a:t>組み合わせは膨大なものとなっている</a:t>
            </a:r>
            <a:endParaRPr kumimoji="1" lang="en-US" altLang="ja-JP" dirty="0"/>
          </a:p>
          <a:p>
            <a:pPr lvl="1"/>
            <a:r>
              <a:rPr kumimoji="1" lang="ja-JP" altLang="en-US" dirty="0"/>
              <a:t>ソフトウェアの相互運用を考える場合に課題となる</a:t>
            </a:r>
            <a:endParaRPr kumimoji="1" lang="en-US" altLang="ja-JP" dirty="0"/>
          </a:p>
          <a:p>
            <a:pPr lvl="2"/>
            <a:r>
              <a:rPr kumimoji="1" lang="ja-JP" altLang="en-US" dirty="0"/>
              <a:t>コンパイルしたバイナリが別のハードではそのまま動かない</a:t>
            </a:r>
            <a:endParaRPr kumimoji="1" lang="en-US" dirty="0"/>
          </a:p>
        </p:txBody>
      </p:sp>
    </p:spTree>
    <p:extLst>
      <p:ext uri="{BB962C8B-B14F-4D97-AF65-F5344CB8AC3E}">
        <p14:creationId xmlns:p14="http://schemas.microsoft.com/office/powerpoint/2010/main" val="21740627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15D3EF-0F52-B44F-B029-0137D24B4352}"/>
              </a:ext>
            </a:extLst>
          </p:cNvPr>
          <p:cNvSpPr>
            <a:spLocks noGrp="1"/>
          </p:cNvSpPr>
          <p:nvPr>
            <p:ph type="title"/>
          </p:nvPr>
        </p:nvSpPr>
        <p:spPr/>
        <p:txBody>
          <a:bodyPr/>
          <a:lstStyle/>
          <a:p>
            <a:r>
              <a:rPr kumimoji="1" lang="ja-JP" altLang="en-US" dirty="0"/>
              <a:t>プロファイル</a:t>
            </a:r>
            <a:endParaRPr kumimoji="1" lang="en-US" dirty="0"/>
          </a:p>
        </p:txBody>
      </p:sp>
      <p:sp>
        <p:nvSpPr>
          <p:cNvPr id="3" name="テキスト プレースホルダー 2">
            <a:extLst>
              <a:ext uri="{FF2B5EF4-FFF2-40B4-BE49-F238E27FC236}">
                <a16:creationId xmlns:a16="http://schemas.microsoft.com/office/drawing/2014/main" id="{A3FA5BA4-4710-A2AC-1C5A-669EB81C281A}"/>
              </a:ext>
            </a:extLst>
          </p:cNvPr>
          <p:cNvSpPr>
            <a:spLocks noGrp="1"/>
          </p:cNvSpPr>
          <p:nvPr>
            <p:ph type="body" sz="quarter" idx="10"/>
          </p:nvPr>
        </p:nvSpPr>
        <p:spPr/>
        <p:txBody>
          <a:bodyPr/>
          <a:lstStyle/>
          <a:p>
            <a:r>
              <a:rPr kumimoji="1" lang="ja-JP" altLang="en-US" dirty="0"/>
              <a:t>プロファイル </a:t>
            </a:r>
            <a:r>
              <a:rPr kumimoji="1" lang="en-US" altLang="ja-JP" dirty="0"/>
              <a:t>= </a:t>
            </a:r>
            <a:r>
              <a:rPr kumimoji="1" lang="ja-JP" altLang="en-US" dirty="0"/>
              <a:t>標準的な拡張の組み合わせ</a:t>
            </a:r>
            <a:endParaRPr kumimoji="1" lang="en-US" altLang="ja-JP" dirty="0"/>
          </a:p>
          <a:p>
            <a:pPr lvl="1"/>
            <a:r>
              <a:rPr lang="en-US" altLang="ja-JP" dirty="0">
                <a:hlinkClick r:id="rId2"/>
              </a:rPr>
              <a:t>https://github.com/riscv/riscv-profiles/tree/main/src</a:t>
            </a:r>
            <a:endParaRPr kumimoji="1" lang="en-US" altLang="ja-JP" dirty="0"/>
          </a:p>
          <a:p>
            <a:pPr lvl="1"/>
            <a:r>
              <a:rPr kumimoji="1" lang="ja-JP" altLang="en-US" dirty="0"/>
              <a:t>想定されるユース・ケースごとに「ファミリ」がある</a:t>
            </a:r>
            <a:endParaRPr kumimoji="1" lang="en-US" altLang="ja-JP" dirty="0"/>
          </a:p>
          <a:p>
            <a:pPr lvl="2"/>
            <a:r>
              <a:rPr kumimoji="1" lang="ja-JP" altLang="en-US" dirty="0"/>
              <a:t>例：組み込み向け，リッチなアプリケーション向け</a:t>
            </a:r>
            <a:endParaRPr kumimoji="1" lang="en-US" altLang="ja-JP" dirty="0"/>
          </a:p>
          <a:p>
            <a:r>
              <a:rPr kumimoji="1" lang="ja-JP" altLang="en-US" dirty="0"/>
              <a:t>策定中の最新のプロファイル</a:t>
            </a:r>
            <a:endParaRPr kumimoji="1" lang="en-US" altLang="ja-JP" dirty="0"/>
          </a:p>
          <a:p>
            <a:pPr lvl="1"/>
            <a:r>
              <a:rPr lang="en-US" altLang="ja-JP" dirty="0"/>
              <a:t>RVA23</a:t>
            </a:r>
            <a:r>
              <a:rPr lang="ja-JP" altLang="en-US" dirty="0"/>
              <a:t>：リッチなアプリ</a:t>
            </a:r>
            <a:r>
              <a:rPr lang="en-US" altLang="ja-JP" dirty="0"/>
              <a:t>+OS </a:t>
            </a:r>
            <a:r>
              <a:rPr lang="ja-JP" altLang="en-US" dirty="0"/>
              <a:t>が動く</a:t>
            </a:r>
            <a:endParaRPr lang="en-US" altLang="ja-JP" dirty="0"/>
          </a:p>
          <a:p>
            <a:pPr lvl="1"/>
            <a:r>
              <a:rPr lang="en-US" altLang="ja-JP" dirty="0"/>
              <a:t>RVB23</a:t>
            </a:r>
            <a:r>
              <a:rPr lang="ja-JP" altLang="en-US" dirty="0"/>
              <a:t>：</a:t>
            </a:r>
            <a:r>
              <a:rPr lang="en-US" altLang="ja-JP" dirty="0"/>
              <a:t>RVA </a:t>
            </a:r>
            <a:r>
              <a:rPr lang="ja-JP" altLang="en-US" dirty="0"/>
              <a:t>のもうちょっと機能（主にベクトル）を削ったもの？</a:t>
            </a:r>
            <a:endParaRPr lang="en-US" altLang="ja-JP" dirty="0"/>
          </a:p>
          <a:p>
            <a:pPr lvl="1"/>
            <a:r>
              <a:rPr lang="en-US" altLang="ja-JP" dirty="0"/>
              <a:t>RVM23</a:t>
            </a:r>
            <a:r>
              <a:rPr lang="ja-JP" altLang="en-US" dirty="0"/>
              <a:t>：組み込みコントローラ向け</a:t>
            </a:r>
            <a:endParaRPr kumimoji="1" lang="en-US" altLang="ja-JP" dirty="0"/>
          </a:p>
        </p:txBody>
      </p:sp>
    </p:spTree>
    <p:extLst>
      <p:ext uri="{BB962C8B-B14F-4D97-AF65-F5344CB8AC3E}">
        <p14:creationId xmlns:p14="http://schemas.microsoft.com/office/powerpoint/2010/main" val="13142461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15D3EF-0F52-B44F-B029-0137D24B4352}"/>
              </a:ext>
            </a:extLst>
          </p:cNvPr>
          <p:cNvSpPr>
            <a:spLocks noGrp="1"/>
          </p:cNvSpPr>
          <p:nvPr>
            <p:ph type="title"/>
          </p:nvPr>
        </p:nvSpPr>
        <p:spPr/>
        <p:txBody>
          <a:bodyPr/>
          <a:lstStyle/>
          <a:p>
            <a:r>
              <a:rPr kumimoji="1" lang="ja-JP" altLang="en-US" dirty="0"/>
              <a:t>プロファイルの課題</a:t>
            </a:r>
            <a:endParaRPr kumimoji="1" lang="en-US" dirty="0"/>
          </a:p>
        </p:txBody>
      </p:sp>
      <p:sp>
        <p:nvSpPr>
          <p:cNvPr id="3" name="テキスト プレースホルダー 2">
            <a:extLst>
              <a:ext uri="{FF2B5EF4-FFF2-40B4-BE49-F238E27FC236}">
                <a16:creationId xmlns:a16="http://schemas.microsoft.com/office/drawing/2014/main" id="{A3FA5BA4-4710-A2AC-1C5A-669EB81C281A}"/>
              </a:ext>
            </a:extLst>
          </p:cNvPr>
          <p:cNvSpPr>
            <a:spLocks noGrp="1"/>
          </p:cNvSpPr>
          <p:nvPr>
            <p:ph type="body" sz="quarter" idx="10"/>
          </p:nvPr>
        </p:nvSpPr>
        <p:spPr/>
        <p:txBody>
          <a:bodyPr/>
          <a:lstStyle/>
          <a:p>
            <a:r>
              <a:rPr kumimoji="1" lang="ja-JP" altLang="en-US" dirty="0">
                <a:solidFill>
                  <a:schemeClr val="accent5"/>
                </a:solidFill>
              </a:rPr>
              <a:t>どの拡張を必須にするかで揉める</a:t>
            </a:r>
            <a:endParaRPr kumimoji="1" lang="en-US" altLang="ja-JP" dirty="0">
              <a:solidFill>
                <a:schemeClr val="accent5"/>
              </a:solidFill>
            </a:endParaRPr>
          </a:p>
          <a:p>
            <a:pPr lvl="1"/>
            <a:r>
              <a:rPr kumimoji="1" lang="ja-JP" altLang="en-US" dirty="0"/>
              <a:t>特定の人物</a:t>
            </a:r>
            <a:r>
              <a:rPr kumimoji="1" lang="en-US" altLang="ja-JP" dirty="0"/>
              <a:t>/</a:t>
            </a:r>
            <a:r>
              <a:rPr kumimoji="1" lang="ja-JP" altLang="en-US" dirty="0"/>
              <a:t>ベンダが特定の拡張を入れたがる </a:t>
            </a:r>
            <a:r>
              <a:rPr kumimoji="1" lang="en-US" altLang="ja-JP" dirty="0"/>
              <a:t>or </a:t>
            </a:r>
            <a:r>
              <a:rPr kumimoji="1" lang="ja-JP" altLang="en-US" dirty="0"/>
              <a:t>外したがる</a:t>
            </a:r>
            <a:endParaRPr kumimoji="1" lang="en-US" altLang="ja-JP" dirty="0"/>
          </a:p>
          <a:p>
            <a:r>
              <a:rPr kumimoji="1" lang="ja-JP" altLang="en-US" dirty="0"/>
              <a:t>例：</a:t>
            </a:r>
            <a:endParaRPr kumimoji="1" lang="en-US" altLang="ja-JP" dirty="0"/>
          </a:p>
          <a:p>
            <a:pPr lvl="1"/>
            <a:r>
              <a:rPr kumimoji="1" lang="ja-JP" altLang="en-US" dirty="0"/>
              <a:t>既にその拡張の実装を終えているので入れたい</a:t>
            </a:r>
            <a:endParaRPr kumimoji="1" lang="en-US" altLang="ja-JP" dirty="0"/>
          </a:p>
          <a:p>
            <a:pPr lvl="2"/>
            <a:r>
              <a:rPr kumimoji="1" lang="ja-JP" altLang="en-US" dirty="0"/>
              <a:t>他社からはある種の参入障壁に見える</a:t>
            </a:r>
            <a:endParaRPr kumimoji="1" lang="en-US" altLang="ja-JP" dirty="0"/>
          </a:p>
          <a:p>
            <a:pPr lvl="1"/>
            <a:r>
              <a:rPr kumimoji="1" lang="ja-JP" altLang="en-US" dirty="0"/>
              <a:t>その拡張を入れてない実装をつくっちゃったので，外したい</a:t>
            </a:r>
            <a:endParaRPr kumimoji="1" lang="en-US" altLang="ja-JP" dirty="0"/>
          </a:p>
          <a:p>
            <a:pPr lvl="2"/>
            <a:r>
              <a:rPr kumimoji="1" lang="ja-JP" altLang="en-US" dirty="0"/>
              <a:t>再設計したくない</a:t>
            </a:r>
            <a:endParaRPr kumimoji="1" lang="en-US" altLang="ja-JP" dirty="0"/>
          </a:p>
        </p:txBody>
      </p:sp>
    </p:spTree>
    <p:extLst>
      <p:ext uri="{BB962C8B-B14F-4D97-AF65-F5344CB8AC3E}">
        <p14:creationId xmlns:p14="http://schemas.microsoft.com/office/powerpoint/2010/main" val="34474352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79E9E3-A8AA-8214-ABB8-604498247942}"/>
              </a:ext>
            </a:extLst>
          </p:cNvPr>
          <p:cNvSpPr>
            <a:spLocks noGrp="1"/>
          </p:cNvSpPr>
          <p:nvPr>
            <p:ph type="title"/>
          </p:nvPr>
        </p:nvSpPr>
        <p:spPr/>
        <p:txBody>
          <a:bodyPr/>
          <a:lstStyle/>
          <a:p>
            <a:r>
              <a:rPr kumimoji="1" lang="ja-JP" altLang="en-US" dirty="0"/>
              <a:t>揉めた例：</a:t>
            </a:r>
            <a:r>
              <a:rPr kumimoji="1" lang="en-US" altLang="ja-JP" dirty="0"/>
              <a:t>Qualcomm </a:t>
            </a:r>
            <a:r>
              <a:rPr kumimoji="1" lang="ja-JP" altLang="en-US" dirty="0"/>
              <a:t>による </a:t>
            </a:r>
            <a:r>
              <a:rPr kumimoji="1" lang="en-US" altLang="ja-JP" dirty="0"/>
              <a:t>C </a:t>
            </a:r>
            <a:r>
              <a:rPr kumimoji="1" lang="ja-JP" altLang="en-US" dirty="0"/>
              <a:t>拡張削除の提案（</a:t>
            </a:r>
            <a:r>
              <a:rPr kumimoji="1" lang="en-US" altLang="ja-JP" dirty="0"/>
              <a:t>2023</a:t>
            </a:r>
            <a:r>
              <a:rPr kumimoji="1" lang="ja-JP" altLang="en-US" dirty="0"/>
              <a:t>年）</a:t>
            </a:r>
          </a:p>
        </p:txBody>
      </p:sp>
      <p:pic>
        <p:nvPicPr>
          <p:cNvPr id="5" name="図 4">
            <a:extLst>
              <a:ext uri="{FF2B5EF4-FFF2-40B4-BE49-F238E27FC236}">
                <a16:creationId xmlns:a16="http://schemas.microsoft.com/office/drawing/2014/main" id="{E778785B-CBCC-A1DA-7AAC-08B1B5C319CD}"/>
              </a:ext>
            </a:extLst>
          </p:cNvPr>
          <p:cNvPicPr>
            <a:picLocks noChangeAspect="1"/>
          </p:cNvPicPr>
          <p:nvPr/>
        </p:nvPicPr>
        <p:blipFill>
          <a:blip r:embed="rId2"/>
          <a:stretch>
            <a:fillRect/>
          </a:stretch>
        </p:blipFill>
        <p:spPr>
          <a:xfrm>
            <a:off x="605940" y="1178975"/>
            <a:ext cx="3960044" cy="2221539"/>
          </a:xfrm>
          <a:prstGeom prst="rect">
            <a:avLst/>
          </a:prstGeom>
          <a:ln>
            <a:solidFill>
              <a:schemeClr val="accent5"/>
            </a:solidFill>
          </a:ln>
        </p:spPr>
      </p:pic>
      <p:pic>
        <p:nvPicPr>
          <p:cNvPr id="7" name="図 6">
            <a:extLst>
              <a:ext uri="{FF2B5EF4-FFF2-40B4-BE49-F238E27FC236}">
                <a16:creationId xmlns:a16="http://schemas.microsoft.com/office/drawing/2014/main" id="{05A5FE03-3AC1-9D16-05E4-D62EA2F52DA0}"/>
              </a:ext>
            </a:extLst>
          </p:cNvPr>
          <p:cNvPicPr>
            <a:picLocks noChangeAspect="1"/>
          </p:cNvPicPr>
          <p:nvPr/>
        </p:nvPicPr>
        <p:blipFill>
          <a:blip r:embed="rId3"/>
          <a:stretch>
            <a:fillRect/>
          </a:stretch>
        </p:blipFill>
        <p:spPr>
          <a:xfrm>
            <a:off x="7266013" y="2618991"/>
            <a:ext cx="4565983" cy="2566705"/>
          </a:xfrm>
          <a:prstGeom prst="rect">
            <a:avLst/>
          </a:prstGeom>
          <a:ln>
            <a:solidFill>
              <a:schemeClr val="accent5"/>
            </a:solidFill>
          </a:ln>
        </p:spPr>
      </p:pic>
      <p:sp>
        <p:nvSpPr>
          <p:cNvPr id="3" name="テキスト プレースホルダー 2">
            <a:extLst>
              <a:ext uri="{FF2B5EF4-FFF2-40B4-BE49-F238E27FC236}">
                <a16:creationId xmlns:a16="http://schemas.microsoft.com/office/drawing/2014/main" id="{5031AE1F-7FD5-9E86-6493-685A6BE350EC}"/>
              </a:ext>
            </a:extLst>
          </p:cNvPr>
          <p:cNvSpPr>
            <a:spLocks noGrp="1"/>
          </p:cNvSpPr>
          <p:nvPr>
            <p:ph type="body" sz="quarter" idx="10"/>
          </p:nvPr>
        </p:nvSpPr>
        <p:spPr>
          <a:xfrm>
            <a:off x="785940" y="4869016"/>
            <a:ext cx="10890121" cy="1619711"/>
          </a:xfrm>
        </p:spPr>
        <p:txBody>
          <a:bodyPr/>
          <a:lstStyle/>
          <a:p>
            <a:pPr lvl="1"/>
            <a:r>
              <a:rPr lang="en-US" altLang="ja-JP" sz="1400" dirty="0"/>
              <a:t>C </a:t>
            </a:r>
            <a:r>
              <a:rPr lang="ja-JP" altLang="en-US" sz="1400" dirty="0"/>
              <a:t>拡張 はエンコーディング空間を食いすぎると言う主張</a:t>
            </a:r>
            <a:r>
              <a:rPr lang="en-US" altLang="ja-JP" sz="1400" dirty="0"/>
              <a:t> </a:t>
            </a:r>
          </a:p>
          <a:p>
            <a:pPr lvl="2"/>
            <a:r>
              <a:rPr lang="ja-JP" altLang="en-US" sz="1400" dirty="0"/>
              <a:t>最下位２ビットが </a:t>
            </a:r>
            <a:r>
              <a:rPr lang="en-US" altLang="ja-JP" sz="1400" dirty="0"/>
              <a:t>0b11=32bit </a:t>
            </a:r>
            <a:r>
              <a:rPr lang="ja-JP" altLang="en-US" sz="1400" dirty="0"/>
              <a:t>命令 という規則なので，</a:t>
            </a:r>
            <a:r>
              <a:rPr lang="en-US" altLang="ja-JP" sz="1400" dirty="0"/>
              <a:t>32 bit </a:t>
            </a:r>
            <a:r>
              <a:rPr lang="ja-JP" altLang="en-US" sz="1400" dirty="0"/>
              <a:t>で表現できる空間の </a:t>
            </a:r>
            <a:r>
              <a:rPr lang="en-US" altLang="ja-JP" sz="1400" dirty="0"/>
              <a:t>75% </a:t>
            </a:r>
            <a:r>
              <a:rPr lang="ja-JP" altLang="en-US" sz="1400" dirty="0"/>
              <a:t>が</a:t>
            </a:r>
            <a:r>
              <a:rPr lang="en-US" altLang="ja-JP" sz="1400" dirty="0"/>
              <a:t>16 bit </a:t>
            </a:r>
            <a:r>
              <a:rPr lang="ja-JP" altLang="en-US" sz="1400" dirty="0"/>
              <a:t>に持っていかれる </a:t>
            </a:r>
            <a:endParaRPr lang="en-US" altLang="ja-JP" sz="1400" dirty="0"/>
          </a:p>
          <a:p>
            <a:pPr lvl="2"/>
            <a:r>
              <a:rPr lang="ja-JP" altLang="en-US" sz="1400" dirty="0"/>
              <a:t>その割にコードが小さくならない</a:t>
            </a:r>
            <a:endParaRPr lang="en-US" altLang="ja-JP" sz="1400" dirty="0"/>
          </a:p>
          <a:p>
            <a:pPr lvl="1"/>
            <a:r>
              <a:rPr lang="ja-JP" altLang="en-US" sz="1400" dirty="0"/>
              <a:t>議論の結果，結局 </a:t>
            </a:r>
            <a:r>
              <a:rPr lang="en-US" altLang="ja-JP" sz="1400" dirty="0"/>
              <a:t>C </a:t>
            </a:r>
            <a:r>
              <a:rPr lang="ja-JP" altLang="en-US" sz="1400" dirty="0"/>
              <a:t>拡張は標準プロファイルに残った</a:t>
            </a:r>
            <a:endParaRPr lang="en-US" altLang="ja-JP" sz="1400" dirty="0"/>
          </a:p>
          <a:p>
            <a:pPr lvl="1"/>
            <a:r>
              <a:rPr lang="ja-JP" altLang="en-US" sz="1400" dirty="0"/>
              <a:t>上記スライドは </a:t>
            </a:r>
            <a:r>
              <a:rPr lang="en-US" altLang="ja-JP" sz="1400" dirty="0">
                <a:hlinkClick r:id="rId4"/>
              </a:rPr>
              <a:t>https://lists.riscv.org/g/tech-profiles/attachment/321/0/A%20case%20to%20remove%20the%20C%20extension%20from%20app%20profiles%2C%20part%202%20-%20Profiles%20TG%2020231005.pdf</a:t>
            </a:r>
            <a:r>
              <a:rPr lang="en-US" altLang="ja-JP" sz="1400" dirty="0"/>
              <a:t> </a:t>
            </a:r>
            <a:r>
              <a:rPr lang="ja-JP" altLang="en-US" sz="1400" dirty="0"/>
              <a:t>より</a:t>
            </a:r>
            <a:endParaRPr lang="en-US" altLang="ja-JP" sz="1400" dirty="0"/>
          </a:p>
        </p:txBody>
      </p:sp>
      <p:pic>
        <p:nvPicPr>
          <p:cNvPr id="11" name="図 10">
            <a:extLst>
              <a:ext uri="{FF2B5EF4-FFF2-40B4-BE49-F238E27FC236}">
                <a16:creationId xmlns:a16="http://schemas.microsoft.com/office/drawing/2014/main" id="{812E1483-16A3-E601-5E40-488E9708AE8A}"/>
              </a:ext>
            </a:extLst>
          </p:cNvPr>
          <p:cNvPicPr>
            <a:picLocks noChangeAspect="1"/>
          </p:cNvPicPr>
          <p:nvPr/>
        </p:nvPicPr>
        <p:blipFill>
          <a:blip r:embed="rId5"/>
          <a:stretch>
            <a:fillRect/>
          </a:stretch>
        </p:blipFill>
        <p:spPr>
          <a:xfrm>
            <a:off x="3485971" y="1988984"/>
            <a:ext cx="4320048" cy="2430311"/>
          </a:xfrm>
          <a:prstGeom prst="rect">
            <a:avLst/>
          </a:prstGeom>
          <a:ln>
            <a:solidFill>
              <a:schemeClr val="accent5"/>
            </a:solidFill>
          </a:ln>
        </p:spPr>
      </p:pic>
    </p:spTree>
    <p:extLst>
      <p:ext uri="{BB962C8B-B14F-4D97-AF65-F5344CB8AC3E}">
        <p14:creationId xmlns:p14="http://schemas.microsoft.com/office/powerpoint/2010/main" val="33077454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415948" y="0"/>
            <a:ext cx="10776052" cy="908972"/>
          </a:xfrm>
        </p:spPr>
        <p:txBody>
          <a:bodyPr/>
          <a:lstStyle/>
          <a:p>
            <a:r>
              <a:rPr lang="ja-JP" altLang="en-US" dirty="0"/>
              <a:t>余談：</a:t>
            </a:r>
            <a:r>
              <a:rPr lang="en-US" altLang="ja-JP" dirty="0"/>
              <a:t>RISC-V </a:t>
            </a:r>
            <a:r>
              <a:rPr lang="ja-JP" altLang="en-US" dirty="0"/>
              <a:t>の何がうれしいのか？</a:t>
            </a:r>
          </a:p>
        </p:txBody>
      </p:sp>
      <p:sp>
        <p:nvSpPr>
          <p:cNvPr id="3" name="テキスト プレースホルダー 2"/>
          <p:cNvSpPr>
            <a:spLocks noGrp="1"/>
          </p:cNvSpPr>
          <p:nvPr>
            <p:ph type="body" sz="quarter" idx="10"/>
          </p:nvPr>
        </p:nvSpPr>
        <p:spPr>
          <a:xfrm>
            <a:off x="1055944" y="1088974"/>
            <a:ext cx="10440116" cy="5219700"/>
          </a:xfrm>
        </p:spPr>
        <p:txBody>
          <a:bodyPr/>
          <a:lstStyle/>
          <a:p>
            <a:r>
              <a:rPr lang="ja-JP" altLang="en-US" dirty="0"/>
              <a:t>企業：</a:t>
            </a:r>
            <a:endParaRPr lang="en-US" altLang="ja-JP" dirty="0"/>
          </a:p>
          <a:p>
            <a:pPr lvl="1"/>
            <a:r>
              <a:rPr lang="en-US" altLang="ja-JP" dirty="0"/>
              <a:t>ARM </a:t>
            </a:r>
            <a:r>
              <a:rPr lang="ja-JP" altLang="en-US" dirty="0"/>
              <a:t>とかにお金払いたくない</a:t>
            </a:r>
            <a:endParaRPr lang="en-US" altLang="ja-JP" dirty="0"/>
          </a:p>
          <a:p>
            <a:pPr lvl="2"/>
            <a:r>
              <a:rPr lang="ja-JP" altLang="en-US" dirty="0"/>
              <a:t>ほんの少しでも内部設計をいじる場合は，莫大なライセンス料がかかる</a:t>
            </a:r>
            <a:br>
              <a:rPr lang="en-US" altLang="ja-JP" dirty="0"/>
            </a:br>
            <a:endParaRPr lang="en-US" altLang="ja-JP" dirty="0"/>
          </a:p>
          <a:p>
            <a:pPr lvl="1"/>
            <a:r>
              <a:rPr lang="ja-JP" altLang="en-US" dirty="0"/>
              <a:t>自由にカスタムした </a:t>
            </a:r>
            <a:r>
              <a:rPr lang="en-US" altLang="ja-JP" dirty="0"/>
              <a:t>CPU </a:t>
            </a:r>
            <a:r>
              <a:rPr lang="ja-JP" altLang="en-US" dirty="0"/>
              <a:t>を作りたいが，</a:t>
            </a:r>
            <a:r>
              <a:rPr lang="en-US" altLang="ja-JP" dirty="0"/>
              <a:t>OS </a:t>
            </a:r>
            <a:r>
              <a:rPr lang="ja-JP" altLang="en-US" dirty="0"/>
              <a:t>や コンパイラとかを全部自分で作る </a:t>
            </a:r>
            <a:r>
              <a:rPr lang="en-US" altLang="ja-JP" dirty="0"/>
              <a:t>or </a:t>
            </a:r>
            <a:r>
              <a:rPr lang="ja-JP" altLang="en-US" dirty="0"/>
              <a:t>メンテナンスするのはしんどい</a:t>
            </a:r>
            <a:endParaRPr lang="en-US" altLang="ja-JP" dirty="0"/>
          </a:p>
          <a:p>
            <a:pPr lvl="2"/>
            <a:r>
              <a:rPr lang="ja-JP" altLang="en-US" dirty="0"/>
              <a:t>カスタム</a:t>
            </a:r>
            <a:r>
              <a:rPr lang="en-US" altLang="ja-JP" dirty="0"/>
              <a:t>=</a:t>
            </a:r>
            <a:r>
              <a:rPr lang="ja-JP" altLang="en-US" dirty="0"/>
              <a:t>専用の命令の追加や，ちょっとした機能の追加</a:t>
            </a:r>
            <a:endParaRPr lang="en-US" altLang="ja-JP" dirty="0"/>
          </a:p>
          <a:p>
            <a:pPr lvl="3"/>
            <a:r>
              <a:rPr lang="en-US" altLang="ja-JP" dirty="0"/>
              <a:t>RISC-V </a:t>
            </a:r>
            <a:r>
              <a:rPr lang="ja-JP" altLang="en-US" dirty="0"/>
              <a:t>ベースであれば，既存のインフラを使いつつ自由にカスタムできる</a:t>
            </a:r>
            <a:endParaRPr lang="en-US" altLang="ja-JP" dirty="0"/>
          </a:p>
          <a:p>
            <a:pPr lvl="2"/>
            <a:r>
              <a:rPr lang="en-US" altLang="ja-JP" dirty="0"/>
              <a:t>LLVM </a:t>
            </a:r>
            <a:r>
              <a:rPr lang="ja-JP" altLang="en-US" dirty="0"/>
              <a:t>が破壊的変更が多すぎて，ついていくのが大変</a:t>
            </a:r>
            <a:endParaRPr lang="en-US" altLang="ja-JP" dirty="0"/>
          </a:p>
          <a:p>
            <a:pPr lvl="3"/>
            <a:endParaRPr lang="en-US" altLang="ja-JP" dirty="0"/>
          </a:p>
        </p:txBody>
      </p:sp>
    </p:spTree>
    <p:extLst>
      <p:ext uri="{BB962C8B-B14F-4D97-AF65-F5344CB8AC3E}">
        <p14:creationId xmlns:p14="http://schemas.microsoft.com/office/powerpoint/2010/main" val="1790089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余談：</a:t>
            </a:r>
            <a:r>
              <a:rPr lang="en-US" altLang="ja-JP" dirty="0"/>
              <a:t>RISC-V </a:t>
            </a:r>
            <a:r>
              <a:rPr lang="ja-JP" altLang="en-US" dirty="0"/>
              <a:t>の何がうれしいのか？</a:t>
            </a:r>
            <a:endParaRPr kumimoji="1" lang="ja-JP" altLang="en-US" dirty="0"/>
          </a:p>
        </p:txBody>
      </p:sp>
      <p:sp>
        <p:nvSpPr>
          <p:cNvPr id="3" name="テキスト プレースホルダー 2"/>
          <p:cNvSpPr>
            <a:spLocks noGrp="1"/>
          </p:cNvSpPr>
          <p:nvPr>
            <p:ph type="body" sz="quarter" idx="10"/>
          </p:nvPr>
        </p:nvSpPr>
        <p:spPr>
          <a:xfrm>
            <a:off x="1055944" y="1179283"/>
            <a:ext cx="9810110" cy="5219751"/>
          </a:xfrm>
        </p:spPr>
        <p:txBody>
          <a:bodyPr/>
          <a:lstStyle/>
          <a:p>
            <a:r>
              <a:rPr kumimoji="1" lang="ja-JP" altLang="en-US" dirty="0"/>
              <a:t>研究者：</a:t>
            </a:r>
            <a:endParaRPr kumimoji="1" lang="en-US" altLang="ja-JP" dirty="0"/>
          </a:p>
          <a:p>
            <a:pPr lvl="1"/>
            <a:r>
              <a:rPr kumimoji="1" lang="ja-JP" altLang="en-US" dirty="0"/>
              <a:t>研究がしやすい</a:t>
            </a:r>
            <a:endParaRPr kumimoji="1" lang="en-US" altLang="ja-JP" dirty="0"/>
          </a:p>
          <a:p>
            <a:pPr lvl="2"/>
            <a:r>
              <a:rPr kumimoji="1" lang="ja-JP" altLang="en-US" dirty="0"/>
              <a:t>研究で使うときはなるべく命令セットは単純であってほしい</a:t>
            </a:r>
            <a:endParaRPr kumimoji="1" lang="en-US" altLang="ja-JP" dirty="0"/>
          </a:p>
          <a:p>
            <a:pPr lvl="3"/>
            <a:r>
              <a:rPr kumimoji="1" lang="ja-JP" altLang="en-US" dirty="0"/>
              <a:t>シミュレータなどの実装が楽</a:t>
            </a:r>
            <a:endParaRPr kumimoji="1" lang="en-US" altLang="ja-JP" dirty="0"/>
          </a:p>
          <a:p>
            <a:pPr lvl="3"/>
            <a:r>
              <a:rPr kumimoji="1" lang="ja-JP" altLang="en-US" dirty="0"/>
              <a:t>本質的ではない変なことに苦しまないで済む</a:t>
            </a:r>
            <a:endParaRPr kumimoji="1" lang="en-US" altLang="ja-JP" dirty="0"/>
          </a:p>
          <a:p>
            <a:pPr lvl="4"/>
            <a:r>
              <a:rPr lang="en-US" altLang="ja-JP" dirty="0"/>
              <a:t>x86 </a:t>
            </a:r>
            <a:r>
              <a:rPr lang="ja-JP" altLang="en-US" dirty="0"/>
              <a:t>で研究はマジで死ねる</a:t>
            </a:r>
            <a:endParaRPr lang="en-US" altLang="ja-JP" dirty="0"/>
          </a:p>
          <a:p>
            <a:pPr lvl="2"/>
            <a:r>
              <a:rPr kumimoji="1" lang="ja-JP" altLang="en-US" dirty="0"/>
              <a:t>いま広く使われている最先端の </a:t>
            </a:r>
            <a:r>
              <a:rPr kumimoji="1" lang="en-US" altLang="ja-JP" dirty="0"/>
              <a:t>CPU </a:t>
            </a:r>
            <a:r>
              <a:rPr kumimoji="1" lang="ja-JP" altLang="en-US" dirty="0"/>
              <a:t>は大概どれもかなり複雑</a:t>
            </a:r>
            <a:endParaRPr kumimoji="1" lang="en-US" altLang="ja-JP" dirty="0"/>
          </a:p>
          <a:p>
            <a:pPr lvl="3"/>
            <a:r>
              <a:rPr kumimoji="1" lang="en-US" altLang="ja-JP" dirty="0"/>
              <a:t>x86, ARM, POWER ...</a:t>
            </a:r>
          </a:p>
          <a:p>
            <a:pPr lvl="3"/>
            <a:r>
              <a:rPr kumimoji="1" lang="ja-JP" altLang="en-US" dirty="0"/>
              <a:t>最新 </a:t>
            </a:r>
            <a:r>
              <a:rPr kumimoji="1" lang="en-US" altLang="ja-JP" dirty="0"/>
              <a:t>OS </a:t>
            </a:r>
            <a:r>
              <a:rPr kumimoji="1" lang="ja-JP" altLang="en-US" dirty="0"/>
              <a:t>やコンパイラを使いつつ，実際のアプリなどの評価をしようと思うと大変</a:t>
            </a:r>
            <a:endParaRPr kumimoji="1" lang="en-US" altLang="ja-JP" dirty="0"/>
          </a:p>
          <a:p>
            <a:pPr lvl="2"/>
            <a:r>
              <a:rPr lang="en-US" altLang="ja-JP" dirty="0"/>
              <a:t>RISC-V </a:t>
            </a:r>
            <a:r>
              <a:rPr lang="ja-JP" altLang="en-US" dirty="0"/>
              <a:t>であれば単純な割に最新のインフラが使える</a:t>
            </a:r>
            <a:endParaRPr lang="en-US" altLang="ja-JP" dirty="0"/>
          </a:p>
          <a:p>
            <a:pPr lvl="1"/>
            <a:r>
              <a:rPr kumimoji="1" lang="ja-JP" altLang="en-US" dirty="0"/>
              <a:t>作ったものが自由に公開できる</a:t>
            </a:r>
            <a:endParaRPr kumimoji="1" lang="en-US" altLang="ja-JP" dirty="0"/>
          </a:p>
          <a:p>
            <a:pPr lvl="2"/>
            <a:r>
              <a:rPr kumimoji="1" lang="ja-JP" altLang="en-US" dirty="0"/>
              <a:t>人が作った設計も利用できる</a:t>
            </a:r>
            <a:endParaRPr kumimoji="1" lang="en-US" altLang="ja-JP" dirty="0"/>
          </a:p>
        </p:txBody>
      </p:sp>
    </p:spTree>
    <p:extLst>
      <p:ext uri="{BB962C8B-B14F-4D97-AF65-F5344CB8AC3E}">
        <p14:creationId xmlns:p14="http://schemas.microsoft.com/office/powerpoint/2010/main" val="15114440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余談：</a:t>
            </a:r>
            <a:r>
              <a:rPr lang="en-US" altLang="ja-JP" dirty="0"/>
              <a:t>RISC-V </a:t>
            </a:r>
            <a:r>
              <a:rPr lang="ja-JP" altLang="en-US" dirty="0"/>
              <a:t>の何がうれしいのか？</a:t>
            </a:r>
            <a:endParaRPr kumimoji="1" lang="ja-JP" altLang="en-US" dirty="0"/>
          </a:p>
        </p:txBody>
      </p:sp>
      <p:sp>
        <p:nvSpPr>
          <p:cNvPr id="3" name="テキスト プレースホルダー 2"/>
          <p:cNvSpPr>
            <a:spLocks noGrp="1"/>
          </p:cNvSpPr>
          <p:nvPr>
            <p:ph type="body" sz="quarter" idx="10"/>
          </p:nvPr>
        </p:nvSpPr>
        <p:spPr>
          <a:xfrm>
            <a:off x="2135956" y="1088975"/>
            <a:ext cx="8460094" cy="5219751"/>
          </a:xfrm>
        </p:spPr>
        <p:txBody>
          <a:bodyPr anchor="t"/>
          <a:lstStyle/>
          <a:p>
            <a:r>
              <a:rPr kumimoji="1" lang="ja-JP" altLang="en-US" dirty="0"/>
              <a:t>塩谷：研究して作った </a:t>
            </a:r>
            <a:r>
              <a:rPr lang="en-US" altLang="ja-JP" dirty="0"/>
              <a:t>CPU </a:t>
            </a:r>
            <a:r>
              <a:rPr lang="ja-JP" altLang="en-US" dirty="0"/>
              <a:t>が公開できた</a:t>
            </a:r>
            <a:endParaRPr kumimoji="1" lang="en-US" altLang="ja-JP" dirty="0"/>
          </a:p>
          <a:p>
            <a:pPr lvl="1"/>
            <a:r>
              <a:rPr lang="en-US" altLang="ja-JP" dirty="0">
                <a:hlinkClick r:id="rId2"/>
              </a:rPr>
              <a:t>https://github.com/rsd-devel/rsd</a:t>
            </a:r>
            <a:endParaRPr lang="en-US" altLang="ja-JP" dirty="0"/>
          </a:p>
          <a:p>
            <a:pPr lvl="1"/>
            <a:r>
              <a:rPr kumimoji="1" lang="ja-JP" altLang="en-US" dirty="0"/>
              <a:t>最初は </a:t>
            </a:r>
            <a:r>
              <a:rPr kumimoji="1" lang="en-US" altLang="ja-JP" dirty="0"/>
              <a:t>ARM </a:t>
            </a:r>
            <a:r>
              <a:rPr kumimoji="1" lang="ja-JP" altLang="en-US" dirty="0" err="1"/>
              <a:t>だった</a:t>
            </a:r>
            <a:r>
              <a:rPr kumimoji="1" lang="ja-JP" altLang="en-US" dirty="0"/>
              <a:t>ため公開しようとして怒られが発生したが，</a:t>
            </a:r>
            <a:r>
              <a:rPr kumimoji="1" lang="en-US" altLang="ja-JP" dirty="0"/>
              <a:t>RISC-V </a:t>
            </a:r>
            <a:r>
              <a:rPr kumimoji="1" lang="ja-JP" altLang="en-US" dirty="0"/>
              <a:t>に移植して公開</a:t>
            </a:r>
            <a:endParaRPr kumimoji="1" lang="en-US" altLang="ja-JP" dirty="0"/>
          </a:p>
          <a:p>
            <a:pPr lvl="1"/>
            <a:r>
              <a:rPr kumimoji="1" lang="ja-JP" altLang="en-US" dirty="0"/>
              <a:t>試作：</a:t>
            </a:r>
            <a:endParaRPr kumimoji="1" lang="en-US" altLang="ja-JP" dirty="0"/>
          </a:p>
          <a:p>
            <a:pPr marL="1177200" lvl="2" indent="-457200">
              <a:buFont typeface="+mj-lt"/>
              <a:buAutoNum type="arabicPeriod"/>
            </a:pPr>
            <a:r>
              <a:rPr kumimoji="1" lang="ja-JP" altLang="en-US" dirty="0"/>
              <a:t>ルネサス </a:t>
            </a:r>
            <a:r>
              <a:rPr kumimoji="1" lang="en-US" altLang="ja-JP" dirty="0"/>
              <a:t>65nm </a:t>
            </a:r>
            <a:r>
              <a:rPr lang="ja-JP" altLang="en-US" dirty="0">
                <a:latin typeface="Segoe UI" panose="020B0502040204020203" pitchFamily="34" charset="0"/>
              </a:rPr>
              <a:t>プロセス</a:t>
            </a:r>
            <a:r>
              <a:rPr kumimoji="1" lang="ja-JP" altLang="en-US" dirty="0"/>
              <a:t>で製造（</a:t>
            </a:r>
            <a:r>
              <a:rPr kumimoji="1" lang="en-US" altLang="ja-JP" dirty="0"/>
              <a:t>2020</a:t>
            </a:r>
            <a:r>
              <a:rPr kumimoji="1" lang="ja-JP" altLang="en-US" dirty="0"/>
              <a:t>）</a:t>
            </a:r>
            <a:endParaRPr kumimoji="1" lang="en-US" altLang="ja-JP" dirty="0"/>
          </a:p>
          <a:p>
            <a:pPr marL="1177200" lvl="2" indent="-457200">
              <a:buFont typeface="+mj-lt"/>
              <a:buAutoNum type="arabicPeriod"/>
            </a:pPr>
            <a:r>
              <a:rPr lang="en-US" altLang="ja-JP" dirty="0">
                <a:latin typeface="Segoe UI" panose="020B0502040204020203" pitchFamily="34" charset="0"/>
              </a:rPr>
              <a:t>UMC 28nm </a:t>
            </a:r>
            <a:r>
              <a:rPr lang="ja-JP" altLang="en-US" dirty="0">
                <a:latin typeface="Segoe UI" panose="020B0502040204020203" pitchFamily="34" charset="0"/>
              </a:rPr>
              <a:t>プロセスで</a:t>
            </a:r>
            <a:r>
              <a:rPr kumimoji="1" lang="ja-JP" altLang="en-US" dirty="0"/>
              <a:t>製造</a:t>
            </a:r>
            <a:r>
              <a:rPr lang="ja-JP" altLang="en-US" dirty="0">
                <a:latin typeface="Segoe UI" panose="020B0502040204020203" pitchFamily="34" charset="0"/>
              </a:rPr>
              <a:t>（</a:t>
            </a:r>
            <a:r>
              <a:rPr lang="en-US" altLang="ja-JP" dirty="0">
                <a:latin typeface="Segoe UI" panose="020B0502040204020203" pitchFamily="34" charset="0"/>
              </a:rPr>
              <a:t>2022</a:t>
            </a:r>
            <a:r>
              <a:rPr lang="ja-JP" altLang="en-US" dirty="0">
                <a:latin typeface="Segoe UI" panose="020B0502040204020203" pitchFamily="34" charset="0"/>
              </a:rPr>
              <a:t>）</a:t>
            </a:r>
            <a:endParaRPr lang="en-US" altLang="ja-JP" b="0" i="0" dirty="0">
              <a:effectLst/>
              <a:latin typeface="Segoe UI" panose="020B0502040204020203" pitchFamily="34" charset="0"/>
            </a:endParaRPr>
          </a:p>
          <a:p>
            <a:pPr lvl="1"/>
            <a:endParaRPr kumimoji="1" lang="en-US" altLang="ja-JP" dirty="0"/>
          </a:p>
          <a:p>
            <a:pPr lvl="2"/>
            <a:endParaRPr kumimoji="1" lang="en-US" altLang="ja-JP" dirty="0"/>
          </a:p>
        </p:txBody>
      </p:sp>
      <p:pic>
        <p:nvPicPr>
          <p:cNvPr id="4" name="図 3" descr="グラフィカル ユーザー インターフェイス が含まれている画像&#10;&#10;自動的に生成された説明">
            <a:extLst>
              <a:ext uri="{FF2B5EF4-FFF2-40B4-BE49-F238E27FC236}">
                <a16:creationId xmlns:a16="http://schemas.microsoft.com/office/drawing/2014/main" id="{DC29EE05-1537-864B-9767-83952AADB83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180" t="13330" r="9802" b="15691"/>
          <a:stretch/>
        </p:blipFill>
        <p:spPr>
          <a:xfrm>
            <a:off x="7012716" y="3969007"/>
            <a:ext cx="3620299" cy="2321469"/>
          </a:xfrm>
          <a:prstGeom prst="rect">
            <a:avLst/>
          </a:prstGeom>
        </p:spPr>
      </p:pic>
      <p:pic>
        <p:nvPicPr>
          <p:cNvPr id="5" name="図 4" descr="電子機器, 回路 が含まれている画像&#10;&#10;自動的に生成された説明">
            <a:extLst>
              <a:ext uri="{FF2B5EF4-FFF2-40B4-BE49-F238E27FC236}">
                <a16:creationId xmlns:a16="http://schemas.microsoft.com/office/drawing/2014/main" id="{298392E3-DF03-FE9C-3F97-EE79C05688F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95970" y="3969007"/>
            <a:ext cx="3461988" cy="2596491"/>
          </a:xfrm>
          <a:prstGeom prst="rect">
            <a:avLst/>
          </a:prstGeom>
        </p:spPr>
      </p:pic>
      <p:pic>
        <p:nvPicPr>
          <p:cNvPr id="7" name="图片 4">
            <a:extLst>
              <a:ext uri="{FF2B5EF4-FFF2-40B4-BE49-F238E27FC236}">
                <a16:creationId xmlns:a16="http://schemas.microsoft.com/office/drawing/2014/main" id="{1F17B855-EFB0-C0E0-911D-12986B19ADC4}"/>
              </a:ext>
            </a:extLst>
          </p:cNvPr>
          <p:cNvPicPr>
            <a:picLocks noChangeAspect="1"/>
          </p:cNvPicPr>
          <p:nvPr/>
        </p:nvPicPr>
        <p:blipFill>
          <a:blip r:embed="rId5"/>
          <a:stretch>
            <a:fillRect/>
          </a:stretch>
        </p:blipFill>
        <p:spPr>
          <a:xfrm>
            <a:off x="1865953" y="4599013"/>
            <a:ext cx="2257734" cy="2145178"/>
          </a:xfrm>
          <a:prstGeom prst="rect">
            <a:avLst/>
          </a:prstGeom>
        </p:spPr>
      </p:pic>
    </p:spTree>
    <p:extLst>
      <p:ext uri="{BB962C8B-B14F-4D97-AF65-F5344CB8AC3E}">
        <p14:creationId xmlns:p14="http://schemas.microsoft.com/office/powerpoint/2010/main" val="28864805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余談：</a:t>
            </a:r>
            <a:r>
              <a:rPr lang="en-US" altLang="ja-JP" dirty="0"/>
              <a:t>RISC-V </a:t>
            </a:r>
            <a:r>
              <a:rPr lang="ja-JP" altLang="en-US" dirty="0"/>
              <a:t>の何がうれしいのか？</a:t>
            </a:r>
            <a:endParaRPr kumimoji="1" lang="ja-JP" altLang="en-US" dirty="0"/>
          </a:p>
        </p:txBody>
      </p:sp>
      <p:sp>
        <p:nvSpPr>
          <p:cNvPr id="3" name="テキスト プレースホルダー 2"/>
          <p:cNvSpPr>
            <a:spLocks noGrp="1"/>
          </p:cNvSpPr>
          <p:nvPr>
            <p:ph type="body" sz="quarter" idx="10"/>
          </p:nvPr>
        </p:nvSpPr>
        <p:spPr>
          <a:xfrm>
            <a:off x="1235946" y="1088975"/>
            <a:ext cx="9360104" cy="5219751"/>
          </a:xfrm>
        </p:spPr>
        <p:txBody>
          <a:bodyPr/>
          <a:lstStyle/>
          <a:p>
            <a:r>
              <a:rPr kumimoji="1" lang="ja-JP" altLang="en-US" dirty="0"/>
              <a:t>塩谷：</a:t>
            </a:r>
            <a:r>
              <a:rPr kumimoji="1" lang="en-US" altLang="ja-JP" dirty="0"/>
              <a:t>CPU </a:t>
            </a:r>
            <a:r>
              <a:rPr kumimoji="1" lang="ja-JP" altLang="en-US" dirty="0"/>
              <a:t>の研究に，また注目が集まってありがたい</a:t>
            </a:r>
            <a:endParaRPr kumimoji="1" lang="en-US" altLang="ja-JP" dirty="0"/>
          </a:p>
          <a:p>
            <a:pPr lvl="2"/>
            <a:r>
              <a:rPr kumimoji="1" lang="ja-JP" altLang="en-US" dirty="0"/>
              <a:t>以前：「インテルとか </a:t>
            </a:r>
            <a:r>
              <a:rPr kumimoji="1" lang="en-US" altLang="ja-JP" dirty="0"/>
              <a:t>ARM </a:t>
            </a:r>
            <a:r>
              <a:rPr kumimoji="1" lang="ja-JP" altLang="en-US" dirty="0"/>
              <a:t>のやつでいいんでないの？」</a:t>
            </a:r>
            <a:endParaRPr kumimoji="1" lang="en-US" altLang="ja-JP" dirty="0"/>
          </a:p>
          <a:p>
            <a:pPr lvl="2"/>
            <a:r>
              <a:rPr kumimoji="1" lang="ja-JP" altLang="en-US" dirty="0"/>
              <a:t>現在：「</a:t>
            </a:r>
            <a:r>
              <a:rPr kumimoji="1" lang="en-US" altLang="ja-JP" dirty="0"/>
              <a:t>『RISC-V』</a:t>
            </a:r>
            <a:r>
              <a:rPr kumimoji="1" lang="ja-JP" altLang="en-US" dirty="0"/>
              <a:t>というものが熱いらしい</a:t>
            </a:r>
            <a:r>
              <a:rPr kumimoji="1" lang="ja-JP" altLang="en-US" dirty="0" err="1"/>
              <a:t>やん</a:t>
            </a:r>
            <a:r>
              <a:rPr kumimoji="1" lang="ja-JP" altLang="en-US" dirty="0"/>
              <a:t>？」</a:t>
            </a:r>
            <a:endParaRPr kumimoji="1" lang="en-US" altLang="ja-JP" dirty="0"/>
          </a:p>
          <a:p>
            <a:pPr lvl="2"/>
            <a:r>
              <a:rPr kumimoji="1" lang="ja-JP" altLang="en-US" dirty="0"/>
              <a:t>実際，</a:t>
            </a:r>
            <a:r>
              <a:rPr lang="ja-JP" altLang="en-US" dirty="0"/>
              <a:t>企業で新しく作るための</a:t>
            </a:r>
            <a:r>
              <a:rPr kumimoji="1" lang="ja-JP" altLang="en-US" dirty="0"/>
              <a:t>共同研究の話もいくつか来たりして，ありがたい</a:t>
            </a:r>
            <a:endParaRPr kumimoji="1" lang="en-US" altLang="ja-JP" dirty="0"/>
          </a:p>
        </p:txBody>
      </p:sp>
    </p:spTree>
    <p:extLst>
      <p:ext uri="{BB962C8B-B14F-4D97-AF65-F5344CB8AC3E}">
        <p14:creationId xmlns:p14="http://schemas.microsoft.com/office/powerpoint/2010/main" val="23013105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D8F6E2-6C4B-4987-BF20-73D8D52E6532}"/>
              </a:ext>
            </a:extLst>
          </p:cNvPr>
          <p:cNvSpPr>
            <a:spLocks noGrp="1"/>
          </p:cNvSpPr>
          <p:nvPr>
            <p:ph type="title"/>
          </p:nvPr>
        </p:nvSpPr>
        <p:spPr/>
        <p:txBody>
          <a:bodyPr/>
          <a:lstStyle/>
          <a:p>
            <a:r>
              <a:rPr kumimoji="1" lang="ja-JP" altLang="en-US" dirty="0"/>
              <a:t>国内企業での使用事例</a:t>
            </a:r>
          </a:p>
        </p:txBody>
      </p:sp>
      <p:sp>
        <p:nvSpPr>
          <p:cNvPr id="3" name="テキスト プレースホルダー 2">
            <a:extLst>
              <a:ext uri="{FF2B5EF4-FFF2-40B4-BE49-F238E27FC236}">
                <a16:creationId xmlns:a16="http://schemas.microsoft.com/office/drawing/2014/main" id="{5F92DD1C-2E53-4980-8EEF-51BEAE9F3851}"/>
              </a:ext>
            </a:extLst>
          </p:cNvPr>
          <p:cNvSpPr>
            <a:spLocks noGrp="1"/>
          </p:cNvSpPr>
          <p:nvPr>
            <p:ph type="body" sz="quarter" idx="10"/>
          </p:nvPr>
        </p:nvSpPr>
        <p:spPr/>
        <p:txBody>
          <a:bodyPr/>
          <a:lstStyle/>
          <a:p>
            <a:pPr marL="457200" indent="-457200">
              <a:buFont typeface="+mj-lt"/>
              <a:buAutoNum type="arabicPeriod"/>
            </a:pPr>
            <a:r>
              <a:rPr lang="en-US" altLang="ja-JP" dirty="0"/>
              <a:t>PEZY-SC </a:t>
            </a:r>
            <a:r>
              <a:rPr lang="ja-JP" altLang="en-US" dirty="0"/>
              <a:t>シリーズ：</a:t>
            </a:r>
            <a:r>
              <a:rPr lang="en-US" altLang="ja-JP" dirty="0"/>
              <a:t>HPC </a:t>
            </a:r>
            <a:r>
              <a:rPr lang="ja-JP" altLang="en-US" dirty="0"/>
              <a:t>向けプロセッサ</a:t>
            </a:r>
            <a:br>
              <a:rPr lang="en-US" altLang="ja-JP" dirty="0"/>
            </a:br>
            <a:r>
              <a:rPr lang="ja-JP" altLang="en-US" dirty="0"/>
              <a:t>（株式会社 </a:t>
            </a:r>
            <a:r>
              <a:rPr lang="en-US" altLang="ja-JP" dirty="0"/>
              <a:t>PEZY Computing</a:t>
            </a:r>
            <a:r>
              <a:rPr lang="ja-JP" altLang="en-US" dirty="0"/>
              <a:t>）</a:t>
            </a:r>
            <a:endParaRPr kumimoji="1" lang="ja-JP" altLang="en-US" dirty="0"/>
          </a:p>
          <a:p>
            <a:pPr marL="457200" indent="-457200">
              <a:buFont typeface="+mj-lt"/>
              <a:buAutoNum type="arabicPeriod"/>
            </a:pPr>
            <a:r>
              <a:rPr kumimoji="1" lang="en-US" altLang="ja-JP" dirty="0"/>
              <a:t>HORNET</a:t>
            </a:r>
            <a:r>
              <a:rPr kumimoji="1" lang="ja-JP" altLang="en-US" dirty="0"/>
              <a:t>：自動運転向け </a:t>
            </a:r>
            <a:r>
              <a:rPr kumimoji="1" lang="en-US" altLang="ja-JP" dirty="0"/>
              <a:t>SIMT </a:t>
            </a:r>
            <a:r>
              <a:rPr kumimoji="1" lang="ja-JP" altLang="en-US" dirty="0"/>
              <a:t>型アクセラレータ</a:t>
            </a:r>
            <a:br>
              <a:rPr kumimoji="1" lang="en-US" altLang="ja-JP" dirty="0"/>
            </a:br>
            <a:r>
              <a:rPr kumimoji="1" lang="ja-JP" altLang="en-US" dirty="0"/>
              <a:t>（株式会社 ティアフォー）</a:t>
            </a:r>
            <a:endParaRPr kumimoji="1" lang="en-US" altLang="ja-JP" dirty="0"/>
          </a:p>
          <a:p>
            <a:pPr marL="457200" indent="-457200">
              <a:buFont typeface="+mj-lt"/>
              <a:buAutoNum type="arabicPeriod"/>
            </a:pPr>
            <a:r>
              <a:rPr lang="en-US" altLang="ja-JP" dirty="0"/>
              <a:t>NS72</a:t>
            </a:r>
            <a:r>
              <a:rPr lang="ja-JP" altLang="en-US" dirty="0"/>
              <a:t>：自動車向け </a:t>
            </a:r>
            <a:r>
              <a:rPr lang="en-US" altLang="ja-JP" dirty="0"/>
              <a:t>RISC-V </a:t>
            </a:r>
            <a:r>
              <a:rPr lang="ja-JP" altLang="en-US" dirty="0"/>
              <a:t>プロセッサ</a:t>
            </a:r>
            <a:br>
              <a:rPr lang="en-US" altLang="ja-JP" dirty="0"/>
            </a:br>
            <a:r>
              <a:rPr kumimoji="1" lang="ja-JP" altLang="en-US" dirty="0"/>
              <a:t>（株式会社 デンソー，旧 </a:t>
            </a:r>
            <a:r>
              <a:rPr kumimoji="1" lang="en-US" altLang="ja-JP" dirty="0"/>
              <a:t>NSITEXE</a:t>
            </a:r>
            <a:r>
              <a:rPr kumimoji="1" lang="ja-JP" altLang="en-US" dirty="0"/>
              <a:t>）</a:t>
            </a:r>
          </a:p>
        </p:txBody>
      </p:sp>
    </p:spTree>
    <p:extLst>
      <p:ext uri="{BB962C8B-B14F-4D97-AF65-F5344CB8AC3E}">
        <p14:creationId xmlns:p14="http://schemas.microsoft.com/office/powerpoint/2010/main" val="16444223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PEZY-</a:t>
            </a:r>
            <a:r>
              <a:rPr lang="en-US" altLang="ja-JP" dirty="0" err="1"/>
              <a:t>SCx</a:t>
            </a:r>
            <a:r>
              <a:rPr lang="en-US" altLang="ja-JP" dirty="0"/>
              <a:t> </a:t>
            </a:r>
            <a:r>
              <a:rPr lang="ja-JP" altLang="en-US" dirty="0"/>
              <a:t>シリーズ</a:t>
            </a:r>
            <a:endParaRPr kumimoji="1" lang="ja-JP" altLang="en-US" dirty="0"/>
          </a:p>
        </p:txBody>
      </p:sp>
      <p:sp>
        <p:nvSpPr>
          <p:cNvPr id="3" name="コンテンツ プレースホルダー 2"/>
          <p:cNvSpPr>
            <a:spLocks noGrp="1"/>
          </p:cNvSpPr>
          <p:nvPr>
            <p:ph type="body" sz="quarter" idx="10"/>
          </p:nvPr>
        </p:nvSpPr>
        <p:spPr>
          <a:xfrm>
            <a:off x="1865953" y="1088975"/>
            <a:ext cx="8280092" cy="2970033"/>
          </a:xfrm>
        </p:spPr>
        <p:txBody>
          <a:bodyPr/>
          <a:lstStyle/>
          <a:p>
            <a:r>
              <a:rPr kumimoji="1" lang="en-US" altLang="ja-JP" dirty="0"/>
              <a:t>HPC</a:t>
            </a:r>
            <a:r>
              <a:rPr lang="ja-JP" altLang="en-US" dirty="0"/>
              <a:t> や</a:t>
            </a:r>
            <a:r>
              <a:rPr kumimoji="1" lang="ja-JP" altLang="en-US" dirty="0"/>
              <a:t>ゲノム解析などに適したプロセッサ</a:t>
            </a:r>
            <a:endParaRPr kumimoji="1" lang="en-US" altLang="ja-JP" dirty="0"/>
          </a:p>
          <a:p>
            <a:pPr lvl="1"/>
            <a:r>
              <a:rPr kumimoji="1" lang="ja-JP" altLang="en-US" dirty="0"/>
              <a:t>メニーコア・アーキテクチャ</a:t>
            </a:r>
            <a:endParaRPr kumimoji="1" lang="en-US" altLang="ja-JP" dirty="0"/>
          </a:p>
          <a:p>
            <a:pPr lvl="2"/>
            <a:r>
              <a:rPr kumimoji="1" lang="ja-JP" altLang="en-US" dirty="0"/>
              <a:t>独自 </a:t>
            </a:r>
            <a:r>
              <a:rPr kumimoji="1" lang="en-US" altLang="ja-JP" dirty="0"/>
              <a:t>ISA </a:t>
            </a:r>
            <a:r>
              <a:rPr kumimoji="1" lang="ja-JP" altLang="en-US" dirty="0"/>
              <a:t>の </a:t>
            </a:r>
            <a:r>
              <a:rPr kumimoji="1" lang="en-US" altLang="ja-JP" dirty="0"/>
              <a:t>Processing Element</a:t>
            </a:r>
            <a:r>
              <a:rPr kumimoji="1" lang="ja-JP" altLang="en-US" dirty="0"/>
              <a:t>（</a:t>
            </a:r>
            <a:r>
              <a:rPr kumimoji="1" lang="en-US" altLang="ja-JP" dirty="0"/>
              <a:t>PE</a:t>
            </a:r>
            <a:r>
              <a:rPr kumimoji="1" lang="ja-JP" altLang="en-US" dirty="0"/>
              <a:t>）を持つ</a:t>
            </a:r>
            <a:endParaRPr kumimoji="1" lang="en-US" altLang="ja-JP" dirty="0"/>
          </a:p>
          <a:p>
            <a:pPr lvl="1"/>
            <a:r>
              <a:rPr lang="en-US" altLang="ja-JP" dirty="0"/>
              <a:t>OpenCL </a:t>
            </a:r>
            <a:r>
              <a:rPr lang="ja-JP" altLang="en-US" dirty="0"/>
              <a:t>ライクな開発環境</a:t>
            </a:r>
            <a:endParaRPr lang="en-US" altLang="ja-JP" dirty="0"/>
          </a:p>
          <a:p>
            <a:r>
              <a:rPr kumimoji="1" lang="ja-JP" altLang="en-US" dirty="0"/>
              <a:t>とても高い電力効率を持つ</a:t>
            </a:r>
            <a:endParaRPr kumimoji="1" lang="en-US" altLang="ja-JP" dirty="0"/>
          </a:p>
          <a:p>
            <a:pPr lvl="1"/>
            <a:r>
              <a:rPr lang="en-US" altLang="ja-JP" dirty="0"/>
              <a:t>PEZY-SC2 </a:t>
            </a:r>
            <a:r>
              <a:rPr lang="ja-JP" altLang="en-US" dirty="0"/>
              <a:t>はスパコンの電力効率を競う </a:t>
            </a:r>
            <a:r>
              <a:rPr lang="en-US" altLang="ja-JP" dirty="0"/>
              <a:t>GREEN 500 </a:t>
            </a:r>
            <a:r>
              <a:rPr lang="ja-JP" altLang="en-US" dirty="0"/>
              <a:t>で世界１位に</a:t>
            </a:r>
            <a:endParaRPr lang="en-US" altLang="ja-JP" dirty="0"/>
          </a:p>
        </p:txBody>
      </p:sp>
      <p:sp>
        <p:nvSpPr>
          <p:cNvPr id="52" name="正方形/長方形 51">
            <a:extLst>
              <a:ext uri="{FF2B5EF4-FFF2-40B4-BE49-F238E27FC236}">
                <a16:creationId xmlns:a16="http://schemas.microsoft.com/office/drawing/2014/main" id="{9312DA3F-311A-4F0E-84A1-AD03615BB4D7}"/>
              </a:ext>
            </a:extLst>
          </p:cNvPr>
          <p:cNvSpPr/>
          <p:nvPr/>
        </p:nvSpPr>
        <p:spPr>
          <a:xfrm>
            <a:off x="3215969" y="4239010"/>
            <a:ext cx="5379605" cy="2429933"/>
          </a:xfrm>
          <a:prstGeom prst="rect">
            <a:avLst/>
          </a:prstGeom>
        </p:spPr>
        <p:style>
          <a:lnRef idx="1">
            <a:schemeClr val="accent5"/>
          </a:lnRef>
          <a:fillRef idx="2">
            <a:schemeClr val="accent5"/>
          </a:fillRef>
          <a:effectRef idx="1">
            <a:schemeClr val="accent5"/>
          </a:effectRef>
          <a:fontRef idx="minor">
            <a:schemeClr val="dk1"/>
          </a:fontRef>
        </p:style>
        <p:txBody>
          <a:bodyPr rtlCol="0" anchor="b"/>
          <a:lstStyle/>
          <a:p>
            <a:pPr algn="r"/>
            <a:r>
              <a:rPr lang="en-US" altLang="ja-JP" sz="1000" b="1" dirty="0">
                <a:solidFill>
                  <a:schemeClr val="tx1">
                    <a:lumMod val="75000"/>
                    <a:lumOff val="25000"/>
                  </a:schemeClr>
                </a:solidFill>
              </a:rPr>
              <a:t>PEZY-SC3 (4096PE)</a:t>
            </a:r>
            <a:endParaRPr lang="ja-JP" altLang="en-US" sz="1000" b="1" dirty="0">
              <a:solidFill>
                <a:schemeClr val="tx1">
                  <a:lumMod val="75000"/>
                  <a:lumOff val="25000"/>
                </a:schemeClr>
              </a:solidFill>
            </a:endParaRPr>
          </a:p>
        </p:txBody>
      </p:sp>
      <p:sp>
        <p:nvSpPr>
          <p:cNvPr id="55" name="正方形/長方形 54">
            <a:extLst>
              <a:ext uri="{FF2B5EF4-FFF2-40B4-BE49-F238E27FC236}">
                <a16:creationId xmlns:a16="http://schemas.microsoft.com/office/drawing/2014/main" id="{FC3BD8E5-4D21-454B-9106-509C77286CA4}"/>
              </a:ext>
            </a:extLst>
          </p:cNvPr>
          <p:cNvSpPr/>
          <p:nvPr/>
        </p:nvSpPr>
        <p:spPr>
          <a:xfrm>
            <a:off x="3272965" y="4912061"/>
            <a:ext cx="508321"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p>
        </p:txBody>
      </p:sp>
      <p:sp>
        <p:nvSpPr>
          <p:cNvPr id="58" name="正方形/長方形 57">
            <a:extLst>
              <a:ext uri="{FF2B5EF4-FFF2-40B4-BE49-F238E27FC236}">
                <a16:creationId xmlns:a16="http://schemas.microsoft.com/office/drawing/2014/main" id="{BF0C7074-C462-4FC0-8A48-20F96FA4973A}"/>
              </a:ext>
            </a:extLst>
          </p:cNvPr>
          <p:cNvSpPr/>
          <p:nvPr/>
        </p:nvSpPr>
        <p:spPr>
          <a:xfrm>
            <a:off x="4402568" y="4912061"/>
            <a:ext cx="508322"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59" name="正方形/長方形 58">
            <a:extLst>
              <a:ext uri="{FF2B5EF4-FFF2-40B4-BE49-F238E27FC236}">
                <a16:creationId xmlns:a16="http://schemas.microsoft.com/office/drawing/2014/main" id="{D87E7E98-4D4C-49C3-AFEA-D9AA4301ED7C}"/>
              </a:ext>
            </a:extLst>
          </p:cNvPr>
          <p:cNvSpPr/>
          <p:nvPr/>
        </p:nvSpPr>
        <p:spPr>
          <a:xfrm>
            <a:off x="3272964" y="4568455"/>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60" name="正方形/長方形 59">
            <a:extLst>
              <a:ext uri="{FF2B5EF4-FFF2-40B4-BE49-F238E27FC236}">
                <a16:creationId xmlns:a16="http://schemas.microsoft.com/office/drawing/2014/main" id="{E96A2622-8B4E-4C73-B575-C6E3C222145A}"/>
              </a:ext>
            </a:extLst>
          </p:cNvPr>
          <p:cNvSpPr/>
          <p:nvPr/>
        </p:nvSpPr>
        <p:spPr>
          <a:xfrm>
            <a:off x="3837766" y="4568455"/>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62" name="正方形/長方形 61">
            <a:extLst>
              <a:ext uri="{FF2B5EF4-FFF2-40B4-BE49-F238E27FC236}">
                <a16:creationId xmlns:a16="http://schemas.microsoft.com/office/drawing/2014/main" id="{2C263F5E-8D07-4B22-A953-DB088C0DA600}"/>
              </a:ext>
            </a:extLst>
          </p:cNvPr>
          <p:cNvSpPr/>
          <p:nvPr/>
        </p:nvSpPr>
        <p:spPr>
          <a:xfrm>
            <a:off x="4402569" y="4568455"/>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63" name="正方形/長方形 62">
            <a:extLst>
              <a:ext uri="{FF2B5EF4-FFF2-40B4-BE49-F238E27FC236}">
                <a16:creationId xmlns:a16="http://schemas.microsoft.com/office/drawing/2014/main" id="{C36DA0EA-44B5-429A-9533-795DA7D6CEEE}"/>
              </a:ext>
            </a:extLst>
          </p:cNvPr>
          <p:cNvSpPr/>
          <p:nvPr/>
        </p:nvSpPr>
        <p:spPr>
          <a:xfrm>
            <a:off x="4967372" y="4568455"/>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80" name="正方形/長方形 79">
            <a:extLst>
              <a:ext uri="{FF2B5EF4-FFF2-40B4-BE49-F238E27FC236}">
                <a16:creationId xmlns:a16="http://schemas.microsoft.com/office/drawing/2014/main" id="{71B50C2A-2496-4F8F-A583-51D16EB35CA5}"/>
              </a:ext>
            </a:extLst>
          </p:cNvPr>
          <p:cNvSpPr/>
          <p:nvPr/>
        </p:nvSpPr>
        <p:spPr>
          <a:xfrm>
            <a:off x="3272965" y="4370387"/>
            <a:ext cx="2202731" cy="1320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900" dirty="0"/>
              <a:t>HBM2 </a:t>
            </a:r>
          </a:p>
        </p:txBody>
      </p:sp>
      <p:sp>
        <p:nvSpPr>
          <p:cNvPr id="82" name="正方形/長方形 81">
            <a:extLst>
              <a:ext uri="{FF2B5EF4-FFF2-40B4-BE49-F238E27FC236}">
                <a16:creationId xmlns:a16="http://schemas.microsoft.com/office/drawing/2014/main" id="{9F669553-7550-475E-AAA5-0E9EEFE132FF}"/>
              </a:ext>
            </a:extLst>
          </p:cNvPr>
          <p:cNvSpPr/>
          <p:nvPr/>
        </p:nvSpPr>
        <p:spPr>
          <a:xfrm>
            <a:off x="3272965" y="6312278"/>
            <a:ext cx="2202731" cy="1320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900" dirty="0"/>
              <a:t>HBM2 </a:t>
            </a:r>
          </a:p>
        </p:txBody>
      </p:sp>
      <p:sp>
        <p:nvSpPr>
          <p:cNvPr id="87" name="正方形/長方形 86">
            <a:extLst>
              <a:ext uri="{FF2B5EF4-FFF2-40B4-BE49-F238E27FC236}">
                <a16:creationId xmlns:a16="http://schemas.microsoft.com/office/drawing/2014/main" id="{6D9B9A15-125B-4510-A46B-AE84B2DDB214}"/>
              </a:ext>
            </a:extLst>
          </p:cNvPr>
          <p:cNvSpPr/>
          <p:nvPr/>
        </p:nvSpPr>
        <p:spPr>
          <a:xfrm>
            <a:off x="5532174" y="4912061"/>
            <a:ext cx="508322"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88" name="正方形/長方形 87">
            <a:extLst>
              <a:ext uri="{FF2B5EF4-FFF2-40B4-BE49-F238E27FC236}">
                <a16:creationId xmlns:a16="http://schemas.microsoft.com/office/drawing/2014/main" id="{6BC954E4-A8AC-4362-88DC-417A6064EFC2}"/>
              </a:ext>
            </a:extLst>
          </p:cNvPr>
          <p:cNvSpPr/>
          <p:nvPr/>
        </p:nvSpPr>
        <p:spPr>
          <a:xfrm>
            <a:off x="6661780" y="4912061"/>
            <a:ext cx="508322"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90" name="正方形/長方形 89">
            <a:extLst>
              <a:ext uri="{FF2B5EF4-FFF2-40B4-BE49-F238E27FC236}">
                <a16:creationId xmlns:a16="http://schemas.microsoft.com/office/drawing/2014/main" id="{A47C3390-1EE7-4947-B919-BC1375311928}"/>
              </a:ext>
            </a:extLst>
          </p:cNvPr>
          <p:cNvSpPr/>
          <p:nvPr/>
        </p:nvSpPr>
        <p:spPr>
          <a:xfrm>
            <a:off x="5532174" y="4568455"/>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91" name="正方形/長方形 90">
            <a:extLst>
              <a:ext uri="{FF2B5EF4-FFF2-40B4-BE49-F238E27FC236}">
                <a16:creationId xmlns:a16="http://schemas.microsoft.com/office/drawing/2014/main" id="{68F581DF-241A-49F5-B15F-D2EF1FFBFE40}"/>
              </a:ext>
            </a:extLst>
          </p:cNvPr>
          <p:cNvSpPr/>
          <p:nvPr/>
        </p:nvSpPr>
        <p:spPr>
          <a:xfrm>
            <a:off x="6096978" y="4568455"/>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92" name="正方形/長方形 91">
            <a:extLst>
              <a:ext uri="{FF2B5EF4-FFF2-40B4-BE49-F238E27FC236}">
                <a16:creationId xmlns:a16="http://schemas.microsoft.com/office/drawing/2014/main" id="{1A2E3792-324C-479B-89AE-EBAF6438DA7D}"/>
              </a:ext>
            </a:extLst>
          </p:cNvPr>
          <p:cNvSpPr/>
          <p:nvPr/>
        </p:nvSpPr>
        <p:spPr>
          <a:xfrm>
            <a:off x="6661780" y="4568455"/>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93" name="正方形/長方形 92">
            <a:extLst>
              <a:ext uri="{FF2B5EF4-FFF2-40B4-BE49-F238E27FC236}">
                <a16:creationId xmlns:a16="http://schemas.microsoft.com/office/drawing/2014/main" id="{8F66157F-494C-4B47-85C0-2BA1902D144C}"/>
              </a:ext>
            </a:extLst>
          </p:cNvPr>
          <p:cNvSpPr/>
          <p:nvPr/>
        </p:nvSpPr>
        <p:spPr>
          <a:xfrm>
            <a:off x="7226582" y="4568455"/>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94" name="正方形/長方形 93">
            <a:extLst>
              <a:ext uri="{FF2B5EF4-FFF2-40B4-BE49-F238E27FC236}">
                <a16:creationId xmlns:a16="http://schemas.microsoft.com/office/drawing/2014/main" id="{76749CEE-2CA6-4BC7-B6EC-D59B0C2B6033}"/>
              </a:ext>
            </a:extLst>
          </p:cNvPr>
          <p:cNvSpPr/>
          <p:nvPr/>
        </p:nvSpPr>
        <p:spPr>
          <a:xfrm>
            <a:off x="5532175" y="4370387"/>
            <a:ext cx="2202731" cy="1320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900" dirty="0"/>
              <a:t>HBM2 </a:t>
            </a:r>
          </a:p>
        </p:txBody>
      </p:sp>
      <p:sp>
        <p:nvSpPr>
          <p:cNvPr id="95" name="正方形/長方形 94">
            <a:extLst>
              <a:ext uri="{FF2B5EF4-FFF2-40B4-BE49-F238E27FC236}">
                <a16:creationId xmlns:a16="http://schemas.microsoft.com/office/drawing/2014/main" id="{DDEA27EB-5B67-4F50-B520-00ACEC7F05AF}"/>
              </a:ext>
            </a:extLst>
          </p:cNvPr>
          <p:cNvSpPr/>
          <p:nvPr/>
        </p:nvSpPr>
        <p:spPr>
          <a:xfrm>
            <a:off x="5532175" y="6312278"/>
            <a:ext cx="2202731" cy="1320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900" dirty="0"/>
              <a:t>HBM2 </a:t>
            </a:r>
          </a:p>
        </p:txBody>
      </p:sp>
      <p:sp>
        <p:nvSpPr>
          <p:cNvPr id="96" name="正方形/長方形 95">
            <a:extLst>
              <a:ext uri="{FF2B5EF4-FFF2-40B4-BE49-F238E27FC236}">
                <a16:creationId xmlns:a16="http://schemas.microsoft.com/office/drawing/2014/main" id="{B541F3CB-3AB0-4714-B236-40F6403D1D56}"/>
              </a:ext>
            </a:extLst>
          </p:cNvPr>
          <p:cNvSpPr/>
          <p:nvPr/>
        </p:nvSpPr>
        <p:spPr>
          <a:xfrm>
            <a:off x="3837767" y="4912062"/>
            <a:ext cx="508321"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97" name="正方形/長方形 96">
            <a:extLst>
              <a:ext uri="{FF2B5EF4-FFF2-40B4-BE49-F238E27FC236}">
                <a16:creationId xmlns:a16="http://schemas.microsoft.com/office/drawing/2014/main" id="{3AE9300B-4513-4B23-A72D-54CDEBF5E34F}"/>
              </a:ext>
            </a:extLst>
          </p:cNvPr>
          <p:cNvSpPr/>
          <p:nvPr/>
        </p:nvSpPr>
        <p:spPr>
          <a:xfrm>
            <a:off x="4967370" y="4912062"/>
            <a:ext cx="508322"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98" name="正方形/長方形 97">
            <a:extLst>
              <a:ext uri="{FF2B5EF4-FFF2-40B4-BE49-F238E27FC236}">
                <a16:creationId xmlns:a16="http://schemas.microsoft.com/office/drawing/2014/main" id="{B9272188-A887-4894-A754-D466544304A8}"/>
              </a:ext>
            </a:extLst>
          </p:cNvPr>
          <p:cNvSpPr/>
          <p:nvPr/>
        </p:nvSpPr>
        <p:spPr>
          <a:xfrm>
            <a:off x="6096978" y="4912062"/>
            <a:ext cx="508322"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99" name="正方形/長方形 98">
            <a:extLst>
              <a:ext uri="{FF2B5EF4-FFF2-40B4-BE49-F238E27FC236}">
                <a16:creationId xmlns:a16="http://schemas.microsoft.com/office/drawing/2014/main" id="{70AA3E4F-77F2-433E-8D2E-428E78196BA0}"/>
              </a:ext>
            </a:extLst>
          </p:cNvPr>
          <p:cNvSpPr/>
          <p:nvPr/>
        </p:nvSpPr>
        <p:spPr>
          <a:xfrm>
            <a:off x="7226582" y="4912062"/>
            <a:ext cx="508322"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100" name="正方形/長方形 99">
            <a:extLst>
              <a:ext uri="{FF2B5EF4-FFF2-40B4-BE49-F238E27FC236}">
                <a16:creationId xmlns:a16="http://schemas.microsoft.com/office/drawing/2014/main" id="{B73AB360-5EE8-4DB1-9C79-BD23D1927F88}"/>
              </a:ext>
            </a:extLst>
          </p:cNvPr>
          <p:cNvSpPr/>
          <p:nvPr/>
        </p:nvSpPr>
        <p:spPr>
          <a:xfrm>
            <a:off x="7898848" y="4501681"/>
            <a:ext cx="282402" cy="26409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dirty="0"/>
              <a:t>MIPS</a:t>
            </a:r>
            <a:endParaRPr lang="ja-JP" altLang="en-US" sz="900" dirty="0"/>
          </a:p>
        </p:txBody>
      </p:sp>
      <p:sp>
        <p:nvSpPr>
          <p:cNvPr id="101" name="正方形/長方形 100">
            <a:extLst>
              <a:ext uri="{FF2B5EF4-FFF2-40B4-BE49-F238E27FC236}">
                <a16:creationId xmlns:a16="http://schemas.microsoft.com/office/drawing/2014/main" id="{17CC87C0-B44C-42B5-B381-19E550C80977}"/>
              </a:ext>
            </a:extLst>
          </p:cNvPr>
          <p:cNvSpPr/>
          <p:nvPr/>
        </p:nvSpPr>
        <p:spPr>
          <a:xfrm>
            <a:off x="8237731" y="4501681"/>
            <a:ext cx="282402" cy="26409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dirty="0"/>
              <a:t>MIPS</a:t>
            </a:r>
            <a:endParaRPr lang="ja-JP" altLang="en-US" sz="900" dirty="0"/>
          </a:p>
        </p:txBody>
      </p:sp>
      <p:sp>
        <p:nvSpPr>
          <p:cNvPr id="102" name="正方形/長方形 101">
            <a:extLst>
              <a:ext uri="{FF2B5EF4-FFF2-40B4-BE49-F238E27FC236}">
                <a16:creationId xmlns:a16="http://schemas.microsoft.com/office/drawing/2014/main" id="{2E55457D-46A9-462C-9F25-840E134A2C09}"/>
              </a:ext>
            </a:extLst>
          </p:cNvPr>
          <p:cNvSpPr/>
          <p:nvPr/>
        </p:nvSpPr>
        <p:spPr>
          <a:xfrm>
            <a:off x="7898848" y="4831800"/>
            <a:ext cx="282402" cy="26409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dirty="0"/>
              <a:t>MIPS</a:t>
            </a:r>
            <a:endParaRPr lang="ja-JP" altLang="en-US" sz="900" dirty="0"/>
          </a:p>
        </p:txBody>
      </p:sp>
      <p:sp>
        <p:nvSpPr>
          <p:cNvPr id="103" name="正方形/長方形 102">
            <a:extLst>
              <a:ext uri="{FF2B5EF4-FFF2-40B4-BE49-F238E27FC236}">
                <a16:creationId xmlns:a16="http://schemas.microsoft.com/office/drawing/2014/main" id="{8685B6EF-7900-462F-A588-3309079F8598}"/>
              </a:ext>
            </a:extLst>
          </p:cNvPr>
          <p:cNvSpPr/>
          <p:nvPr/>
        </p:nvSpPr>
        <p:spPr>
          <a:xfrm>
            <a:off x="8237731" y="4831800"/>
            <a:ext cx="282402" cy="26409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dirty="0"/>
              <a:t>MIPS</a:t>
            </a:r>
            <a:endParaRPr lang="ja-JP" altLang="en-US" sz="900" dirty="0"/>
          </a:p>
        </p:txBody>
      </p:sp>
      <p:sp>
        <p:nvSpPr>
          <p:cNvPr id="104" name="正方形/長方形 103">
            <a:extLst>
              <a:ext uri="{FF2B5EF4-FFF2-40B4-BE49-F238E27FC236}">
                <a16:creationId xmlns:a16="http://schemas.microsoft.com/office/drawing/2014/main" id="{409CBFCC-6A04-43E9-A217-4D4D2452CFA7}"/>
              </a:ext>
            </a:extLst>
          </p:cNvPr>
          <p:cNvSpPr/>
          <p:nvPr/>
        </p:nvSpPr>
        <p:spPr>
          <a:xfrm>
            <a:off x="3272965" y="5434899"/>
            <a:ext cx="508321"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p>
        </p:txBody>
      </p:sp>
      <p:sp>
        <p:nvSpPr>
          <p:cNvPr id="105" name="正方形/長方形 104">
            <a:extLst>
              <a:ext uri="{FF2B5EF4-FFF2-40B4-BE49-F238E27FC236}">
                <a16:creationId xmlns:a16="http://schemas.microsoft.com/office/drawing/2014/main" id="{CD64B77D-EA15-4B67-94CD-3BFC10CF17DD}"/>
              </a:ext>
            </a:extLst>
          </p:cNvPr>
          <p:cNvSpPr/>
          <p:nvPr/>
        </p:nvSpPr>
        <p:spPr>
          <a:xfrm>
            <a:off x="4402568" y="5434899"/>
            <a:ext cx="508322"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106" name="正方形/長方形 105">
            <a:extLst>
              <a:ext uri="{FF2B5EF4-FFF2-40B4-BE49-F238E27FC236}">
                <a16:creationId xmlns:a16="http://schemas.microsoft.com/office/drawing/2014/main" id="{2DECB9AE-6F43-49FC-99AD-99A9D87171E5}"/>
              </a:ext>
            </a:extLst>
          </p:cNvPr>
          <p:cNvSpPr/>
          <p:nvPr/>
        </p:nvSpPr>
        <p:spPr>
          <a:xfrm>
            <a:off x="5532174" y="5434899"/>
            <a:ext cx="508322"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107" name="正方形/長方形 106">
            <a:extLst>
              <a:ext uri="{FF2B5EF4-FFF2-40B4-BE49-F238E27FC236}">
                <a16:creationId xmlns:a16="http://schemas.microsoft.com/office/drawing/2014/main" id="{7C27493A-AACA-4B82-84F9-2414B9A0E2E7}"/>
              </a:ext>
            </a:extLst>
          </p:cNvPr>
          <p:cNvSpPr/>
          <p:nvPr/>
        </p:nvSpPr>
        <p:spPr>
          <a:xfrm>
            <a:off x="6661780" y="5434899"/>
            <a:ext cx="508322"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108" name="正方形/長方形 107">
            <a:extLst>
              <a:ext uri="{FF2B5EF4-FFF2-40B4-BE49-F238E27FC236}">
                <a16:creationId xmlns:a16="http://schemas.microsoft.com/office/drawing/2014/main" id="{AABA2D28-25EB-4B6A-904A-030191166DE7}"/>
              </a:ext>
            </a:extLst>
          </p:cNvPr>
          <p:cNvSpPr/>
          <p:nvPr/>
        </p:nvSpPr>
        <p:spPr>
          <a:xfrm>
            <a:off x="3837767" y="5434900"/>
            <a:ext cx="508321"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109" name="正方形/長方形 108">
            <a:extLst>
              <a:ext uri="{FF2B5EF4-FFF2-40B4-BE49-F238E27FC236}">
                <a16:creationId xmlns:a16="http://schemas.microsoft.com/office/drawing/2014/main" id="{CF590FE8-583E-469C-9A22-B954F5DB2D4A}"/>
              </a:ext>
            </a:extLst>
          </p:cNvPr>
          <p:cNvSpPr/>
          <p:nvPr/>
        </p:nvSpPr>
        <p:spPr>
          <a:xfrm>
            <a:off x="4967370" y="5434900"/>
            <a:ext cx="508322"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110" name="正方形/長方形 109">
            <a:extLst>
              <a:ext uri="{FF2B5EF4-FFF2-40B4-BE49-F238E27FC236}">
                <a16:creationId xmlns:a16="http://schemas.microsoft.com/office/drawing/2014/main" id="{33E2F847-A288-421B-9931-1100019576C7}"/>
              </a:ext>
            </a:extLst>
          </p:cNvPr>
          <p:cNvSpPr/>
          <p:nvPr/>
        </p:nvSpPr>
        <p:spPr>
          <a:xfrm>
            <a:off x="6096978" y="5434900"/>
            <a:ext cx="508322"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111" name="正方形/長方形 110">
            <a:extLst>
              <a:ext uri="{FF2B5EF4-FFF2-40B4-BE49-F238E27FC236}">
                <a16:creationId xmlns:a16="http://schemas.microsoft.com/office/drawing/2014/main" id="{B6096718-BA3D-4845-A821-C546C88F2622}"/>
              </a:ext>
            </a:extLst>
          </p:cNvPr>
          <p:cNvSpPr/>
          <p:nvPr/>
        </p:nvSpPr>
        <p:spPr>
          <a:xfrm>
            <a:off x="7226582" y="5434900"/>
            <a:ext cx="508322"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112" name="正方形/長方形 111">
            <a:extLst>
              <a:ext uri="{FF2B5EF4-FFF2-40B4-BE49-F238E27FC236}">
                <a16:creationId xmlns:a16="http://schemas.microsoft.com/office/drawing/2014/main" id="{395EC4EA-4B50-4FE1-9C15-EABCF597542A}"/>
              </a:ext>
            </a:extLst>
          </p:cNvPr>
          <p:cNvSpPr/>
          <p:nvPr/>
        </p:nvSpPr>
        <p:spPr>
          <a:xfrm>
            <a:off x="3279082" y="5977032"/>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113" name="正方形/長方形 112">
            <a:extLst>
              <a:ext uri="{FF2B5EF4-FFF2-40B4-BE49-F238E27FC236}">
                <a16:creationId xmlns:a16="http://schemas.microsoft.com/office/drawing/2014/main" id="{4B47C243-2201-4761-B6DB-F74E68CD0DBB}"/>
              </a:ext>
            </a:extLst>
          </p:cNvPr>
          <p:cNvSpPr/>
          <p:nvPr/>
        </p:nvSpPr>
        <p:spPr>
          <a:xfrm>
            <a:off x="3843884" y="5977032"/>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114" name="正方形/長方形 113">
            <a:extLst>
              <a:ext uri="{FF2B5EF4-FFF2-40B4-BE49-F238E27FC236}">
                <a16:creationId xmlns:a16="http://schemas.microsoft.com/office/drawing/2014/main" id="{D8BA2D93-4FE3-46D8-9DA6-6E7ED2077F54}"/>
              </a:ext>
            </a:extLst>
          </p:cNvPr>
          <p:cNvSpPr/>
          <p:nvPr/>
        </p:nvSpPr>
        <p:spPr>
          <a:xfrm>
            <a:off x="4408688" y="5977032"/>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115" name="正方形/長方形 114">
            <a:extLst>
              <a:ext uri="{FF2B5EF4-FFF2-40B4-BE49-F238E27FC236}">
                <a16:creationId xmlns:a16="http://schemas.microsoft.com/office/drawing/2014/main" id="{147A8B4B-E9FE-4B5A-A946-3FC2DF59CAEB}"/>
              </a:ext>
            </a:extLst>
          </p:cNvPr>
          <p:cNvSpPr/>
          <p:nvPr/>
        </p:nvSpPr>
        <p:spPr>
          <a:xfrm>
            <a:off x="4973490" y="5977032"/>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116" name="正方形/長方形 115">
            <a:extLst>
              <a:ext uri="{FF2B5EF4-FFF2-40B4-BE49-F238E27FC236}">
                <a16:creationId xmlns:a16="http://schemas.microsoft.com/office/drawing/2014/main" id="{6DBE0A16-5F7B-485F-B61C-BDAC9536C86B}"/>
              </a:ext>
            </a:extLst>
          </p:cNvPr>
          <p:cNvSpPr/>
          <p:nvPr/>
        </p:nvSpPr>
        <p:spPr>
          <a:xfrm>
            <a:off x="5538291" y="5977032"/>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117" name="正方形/長方形 116">
            <a:extLst>
              <a:ext uri="{FF2B5EF4-FFF2-40B4-BE49-F238E27FC236}">
                <a16:creationId xmlns:a16="http://schemas.microsoft.com/office/drawing/2014/main" id="{0FFA3BF8-C5F2-459E-9779-2B82120D0391}"/>
              </a:ext>
            </a:extLst>
          </p:cNvPr>
          <p:cNvSpPr/>
          <p:nvPr/>
        </p:nvSpPr>
        <p:spPr>
          <a:xfrm>
            <a:off x="6103093" y="5977032"/>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118" name="正方形/長方形 117">
            <a:extLst>
              <a:ext uri="{FF2B5EF4-FFF2-40B4-BE49-F238E27FC236}">
                <a16:creationId xmlns:a16="http://schemas.microsoft.com/office/drawing/2014/main" id="{22CC8889-DEE0-44E9-8EB9-8AA6E5D92ADD}"/>
              </a:ext>
            </a:extLst>
          </p:cNvPr>
          <p:cNvSpPr/>
          <p:nvPr/>
        </p:nvSpPr>
        <p:spPr>
          <a:xfrm>
            <a:off x="6667895" y="5977032"/>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119" name="正方形/長方形 118">
            <a:extLst>
              <a:ext uri="{FF2B5EF4-FFF2-40B4-BE49-F238E27FC236}">
                <a16:creationId xmlns:a16="http://schemas.microsoft.com/office/drawing/2014/main" id="{F863D279-20FE-4686-9B08-4A1EFD45431C}"/>
              </a:ext>
            </a:extLst>
          </p:cNvPr>
          <p:cNvSpPr/>
          <p:nvPr/>
        </p:nvSpPr>
        <p:spPr>
          <a:xfrm>
            <a:off x="7232700" y="5977032"/>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120" name="正方形/長方形 119">
            <a:extLst>
              <a:ext uri="{FF2B5EF4-FFF2-40B4-BE49-F238E27FC236}">
                <a16:creationId xmlns:a16="http://schemas.microsoft.com/office/drawing/2014/main" id="{4EC815D3-F5ED-4F5D-A8E5-0BE749727392}"/>
              </a:ext>
            </a:extLst>
          </p:cNvPr>
          <p:cNvSpPr/>
          <p:nvPr/>
        </p:nvSpPr>
        <p:spPr>
          <a:xfrm>
            <a:off x="7888350" y="5884461"/>
            <a:ext cx="631781" cy="2535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900" dirty="0" err="1"/>
              <a:t>PCIe</a:t>
            </a:r>
            <a:r>
              <a:rPr lang="en-US" altLang="ja-JP" sz="900" dirty="0"/>
              <a:t> Gen4</a:t>
            </a:r>
          </a:p>
        </p:txBody>
      </p:sp>
      <p:sp>
        <p:nvSpPr>
          <p:cNvPr id="121" name="正方形/長方形 120">
            <a:extLst>
              <a:ext uri="{FF2B5EF4-FFF2-40B4-BE49-F238E27FC236}">
                <a16:creationId xmlns:a16="http://schemas.microsoft.com/office/drawing/2014/main" id="{1886FB52-E987-437B-9B83-2D796F4AE900}"/>
              </a:ext>
            </a:extLst>
          </p:cNvPr>
          <p:cNvSpPr/>
          <p:nvPr/>
        </p:nvSpPr>
        <p:spPr>
          <a:xfrm>
            <a:off x="7888350" y="6175821"/>
            <a:ext cx="631782" cy="2535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900" dirty="0" err="1"/>
              <a:t>PCIe</a:t>
            </a:r>
            <a:r>
              <a:rPr lang="en-US" altLang="ja-JP" sz="900" dirty="0"/>
              <a:t> Gen4</a:t>
            </a:r>
          </a:p>
        </p:txBody>
      </p:sp>
      <p:sp>
        <p:nvSpPr>
          <p:cNvPr id="122" name="正方形/長方形 121">
            <a:extLst>
              <a:ext uri="{FF2B5EF4-FFF2-40B4-BE49-F238E27FC236}">
                <a16:creationId xmlns:a16="http://schemas.microsoft.com/office/drawing/2014/main" id="{E9BCA42A-49D0-4150-BFF1-1ED5AFFA93A9}"/>
              </a:ext>
            </a:extLst>
          </p:cNvPr>
          <p:cNvSpPr/>
          <p:nvPr/>
        </p:nvSpPr>
        <p:spPr>
          <a:xfrm>
            <a:off x="7888348" y="5583418"/>
            <a:ext cx="631781" cy="2535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900" dirty="0" err="1"/>
              <a:t>PCIe</a:t>
            </a:r>
            <a:r>
              <a:rPr lang="en-US" altLang="ja-JP" sz="900" dirty="0"/>
              <a:t> Gen4</a:t>
            </a:r>
          </a:p>
        </p:txBody>
      </p:sp>
      <p:sp>
        <p:nvSpPr>
          <p:cNvPr id="123" name="正方形/長方形 122">
            <a:extLst>
              <a:ext uri="{FF2B5EF4-FFF2-40B4-BE49-F238E27FC236}">
                <a16:creationId xmlns:a16="http://schemas.microsoft.com/office/drawing/2014/main" id="{9AA6A02D-523C-4041-B972-AC9CF12B9D34}"/>
              </a:ext>
            </a:extLst>
          </p:cNvPr>
          <p:cNvSpPr/>
          <p:nvPr/>
        </p:nvSpPr>
        <p:spPr>
          <a:xfrm>
            <a:off x="7898847" y="5184317"/>
            <a:ext cx="282402" cy="26409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dirty="0"/>
              <a:t>MIPS</a:t>
            </a:r>
            <a:endParaRPr lang="ja-JP" altLang="en-US" sz="900" dirty="0"/>
          </a:p>
        </p:txBody>
      </p:sp>
      <p:sp>
        <p:nvSpPr>
          <p:cNvPr id="124" name="正方形/長方形 123">
            <a:extLst>
              <a:ext uri="{FF2B5EF4-FFF2-40B4-BE49-F238E27FC236}">
                <a16:creationId xmlns:a16="http://schemas.microsoft.com/office/drawing/2014/main" id="{6A9FEECA-9B65-4B20-A27F-89E32B45144E}"/>
              </a:ext>
            </a:extLst>
          </p:cNvPr>
          <p:cNvSpPr/>
          <p:nvPr/>
        </p:nvSpPr>
        <p:spPr>
          <a:xfrm>
            <a:off x="8237731" y="5184317"/>
            <a:ext cx="282402" cy="26409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dirty="0"/>
              <a:t>MIPS</a:t>
            </a:r>
            <a:endParaRPr lang="ja-JP" altLang="en-US" sz="900" dirty="0"/>
          </a:p>
        </p:txBody>
      </p:sp>
    </p:spTree>
    <p:extLst>
      <p:ext uri="{BB962C8B-B14F-4D97-AF65-F5344CB8AC3E}">
        <p14:creationId xmlns:p14="http://schemas.microsoft.com/office/powerpoint/2010/main" val="42671530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PEZY-</a:t>
            </a:r>
            <a:r>
              <a:rPr lang="en-US" altLang="ja-JP" dirty="0" err="1"/>
              <a:t>SCx</a:t>
            </a:r>
            <a:r>
              <a:rPr lang="en-US" altLang="ja-JP" dirty="0"/>
              <a:t> </a:t>
            </a:r>
            <a:r>
              <a:rPr lang="ja-JP" altLang="en-US" dirty="0"/>
              <a:t>シリーズ</a:t>
            </a:r>
            <a:endParaRPr kumimoji="1" lang="ja-JP" altLang="en-US" dirty="0"/>
          </a:p>
        </p:txBody>
      </p:sp>
      <p:sp>
        <p:nvSpPr>
          <p:cNvPr id="3" name="コンテンツ プレースホルダー 2"/>
          <p:cNvSpPr>
            <a:spLocks noGrp="1"/>
          </p:cNvSpPr>
          <p:nvPr>
            <p:ph type="body" sz="quarter" idx="10"/>
          </p:nvPr>
        </p:nvSpPr>
        <p:spPr>
          <a:xfrm>
            <a:off x="1865953" y="1088975"/>
            <a:ext cx="8280092" cy="3240035"/>
          </a:xfrm>
        </p:spPr>
        <p:txBody>
          <a:bodyPr/>
          <a:lstStyle/>
          <a:p>
            <a:r>
              <a:rPr lang="ja-JP" altLang="en-US" dirty="0"/>
              <a:t>最新の </a:t>
            </a:r>
            <a:r>
              <a:rPr lang="en-US" altLang="ja-JP" dirty="0"/>
              <a:t>PEZY-SC3 </a:t>
            </a:r>
            <a:r>
              <a:rPr lang="ja-JP" altLang="en-US" dirty="0"/>
              <a:t>まで複数チップをリリース</a:t>
            </a:r>
            <a:endParaRPr lang="en-US" altLang="ja-JP" dirty="0"/>
          </a:p>
          <a:p>
            <a:pPr lvl="1"/>
            <a:r>
              <a:rPr kumimoji="1" lang="ja-JP" altLang="en-US" dirty="0"/>
              <a:t>これまで制御用 </a:t>
            </a:r>
            <a:r>
              <a:rPr kumimoji="1" lang="en-US" altLang="ja-JP" dirty="0"/>
              <a:t>CPU</a:t>
            </a:r>
            <a:r>
              <a:rPr kumimoji="1" lang="ja-JP" altLang="en-US" dirty="0"/>
              <a:t>として </a:t>
            </a:r>
            <a:r>
              <a:rPr kumimoji="1" lang="en-US" altLang="ja-JP" dirty="0"/>
              <a:t>ARM </a:t>
            </a:r>
            <a:r>
              <a:rPr kumimoji="1" lang="ja-JP" altLang="en-US" dirty="0"/>
              <a:t>や </a:t>
            </a:r>
            <a:r>
              <a:rPr kumimoji="1" lang="en-US" altLang="ja-JP" dirty="0"/>
              <a:t>MIPS </a:t>
            </a:r>
            <a:r>
              <a:rPr kumimoji="1" lang="ja-JP" altLang="en-US" dirty="0"/>
              <a:t>を搭載</a:t>
            </a:r>
            <a:r>
              <a:rPr lang="ja-JP" altLang="en-US" dirty="0"/>
              <a:t>してきた</a:t>
            </a:r>
            <a:endParaRPr lang="en-US" altLang="ja-JP" dirty="0"/>
          </a:p>
          <a:p>
            <a:r>
              <a:rPr lang="ja-JP" altLang="en-US" dirty="0">
                <a:solidFill>
                  <a:schemeClr val="accent5"/>
                </a:solidFill>
              </a:rPr>
              <a:t>今後は </a:t>
            </a:r>
            <a:r>
              <a:rPr lang="en-US" altLang="ja-JP" dirty="0">
                <a:solidFill>
                  <a:schemeClr val="accent5"/>
                </a:solidFill>
              </a:rPr>
              <a:t>RISC-V </a:t>
            </a:r>
            <a:r>
              <a:rPr lang="ja-JP" altLang="en-US" dirty="0">
                <a:solidFill>
                  <a:schemeClr val="accent5"/>
                </a:solidFill>
              </a:rPr>
              <a:t>を搭載</a:t>
            </a:r>
            <a:endParaRPr lang="en-US" altLang="ja-JP" dirty="0">
              <a:solidFill>
                <a:schemeClr val="accent5"/>
              </a:solidFill>
            </a:endParaRPr>
          </a:p>
        </p:txBody>
      </p:sp>
      <p:sp>
        <p:nvSpPr>
          <p:cNvPr id="61" name="正方形/長方形 60">
            <a:extLst>
              <a:ext uri="{FF2B5EF4-FFF2-40B4-BE49-F238E27FC236}">
                <a16:creationId xmlns:a16="http://schemas.microsoft.com/office/drawing/2014/main" id="{7B2526EE-84D1-417C-B934-E07B9132A6EE}"/>
              </a:ext>
            </a:extLst>
          </p:cNvPr>
          <p:cNvSpPr/>
          <p:nvPr/>
        </p:nvSpPr>
        <p:spPr>
          <a:xfrm>
            <a:off x="8526027" y="3339000"/>
            <a:ext cx="630007" cy="45000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altLang="ja-JP" sz="1200" b="1" dirty="0"/>
              <a:t>RISC-V!</a:t>
            </a:r>
            <a:endParaRPr lang="ja-JP" altLang="en-US" sz="1200" b="1" dirty="0"/>
          </a:p>
        </p:txBody>
      </p:sp>
      <p:sp>
        <p:nvSpPr>
          <p:cNvPr id="55" name="正方形/長方形 54">
            <a:extLst>
              <a:ext uri="{FF2B5EF4-FFF2-40B4-BE49-F238E27FC236}">
                <a16:creationId xmlns:a16="http://schemas.microsoft.com/office/drawing/2014/main" id="{2C8621C7-E30D-49D6-AE44-2D5A6CA28C03}"/>
              </a:ext>
            </a:extLst>
          </p:cNvPr>
          <p:cNvSpPr/>
          <p:nvPr/>
        </p:nvSpPr>
        <p:spPr>
          <a:xfrm>
            <a:off x="3215969" y="4239010"/>
            <a:ext cx="5379605" cy="2429933"/>
          </a:xfrm>
          <a:prstGeom prst="rect">
            <a:avLst/>
          </a:prstGeom>
        </p:spPr>
        <p:style>
          <a:lnRef idx="1">
            <a:schemeClr val="accent5"/>
          </a:lnRef>
          <a:fillRef idx="2">
            <a:schemeClr val="accent5"/>
          </a:fillRef>
          <a:effectRef idx="1">
            <a:schemeClr val="accent5"/>
          </a:effectRef>
          <a:fontRef idx="minor">
            <a:schemeClr val="dk1"/>
          </a:fontRef>
        </p:style>
        <p:txBody>
          <a:bodyPr rtlCol="0" anchor="b"/>
          <a:lstStyle/>
          <a:p>
            <a:pPr algn="r"/>
            <a:r>
              <a:rPr lang="en-US" altLang="ja-JP" sz="1000" b="1" dirty="0">
                <a:solidFill>
                  <a:schemeClr val="tx1">
                    <a:lumMod val="75000"/>
                    <a:lumOff val="25000"/>
                  </a:schemeClr>
                </a:solidFill>
              </a:rPr>
              <a:t>PEZY-SC3 (4096PE)</a:t>
            </a:r>
            <a:endParaRPr lang="ja-JP" altLang="en-US" sz="1000" b="1" dirty="0">
              <a:solidFill>
                <a:schemeClr val="tx1">
                  <a:lumMod val="75000"/>
                  <a:lumOff val="25000"/>
                </a:schemeClr>
              </a:solidFill>
            </a:endParaRPr>
          </a:p>
        </p:txBody>
      </p:sp>
      <p:sp>
        <p:nvSpPr>
          <p:cNvPr id="58" name="正方形/長方形 57">
            <a:extLst>
              <a:ext uri="{FF2B5EF4-FFF2-40B4-BE49-F238E27FC236}">
                <a16:creationId xmlns:a16="http://schemas.microsoft.com/office/drawing/2014/main" id="{304AB4AA-8615-48D1-BCC2-98D015C948A6}"/>
              </a:ext>
            </a:extLst>
          </p:cNvPr>
          <p:cNvSpPr/>
          <p:nvPr/>
        </p:nvSpPr>
        <p:spPr>
          <a:xfrm>
            <a:off x="3272965" y="4912061"/>
            <a:ext cx="508321"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p>
        </p:txBody>
      </p:sp>
      <p:sp>
        <p:nvSpPr>
          <p:cNvPr id="59" name="正方形/長方形 58">
            <a:extLst>
              <a:ext uri="{FF2B5EF4-FFF2-40B4-BE49-F238E27FC236}">
                <a16:creationId xmlns:a16="http://schemas.microsoft.com/office/drawing/2014/main" id="{7E6260AC-DFA6-480C-B026-779F190EE2B4}"/>
              </a:ext>
            </a:extLst>
          </p:cNvPr>
          <p:cNvSpPr/>
          <p:nvPr/>
        </p:nvSpPr>
        <p:spPr>
          <a:xfrm>
            <a:off x="4402568" y="4912061"/>
            <a:ext cx="508322"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60" name="正方形/長方形 59">
            <a:extLst>
              <a:ext uri="{FF2B5EF4-FFF2-40B4-BE49-F238E27FC236}">
                <a16:creationId xmlns:a16="http://schemas.microsoft.com/office/drawing/2014/main" id="{07C3656B-7D4D-4FAE-9313-643C65FF87E8}"/>
              </a:ext>
            </a:extLst>
          </p:cNvPr>
          <p:cNvSpPr/>
          <p:nvPr/>
        </p:nvSpPr>
        <p:spPr>
          <a:xfrm>
            <a:off x="3272964" y="4568455"/>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62" name="正方形/長方形 61">
            <a:extLst>
              <a:ext uri="{FF2B5EF4-FFF2-40B4-BE49-F238E27FC236}">
                <a16:creationId xmlns:a16="http://schemas.microsoft.com/office/drawing/2014/main" id="{9DBBB2BB-C572-45FC-A003-7D133FAB94A6}"/>
              </a:ext>
            </a:extLst>
          </p:cNvPr>
          <p:cNvSpPr/>
          <p:nvPr/>
        </p:nvSpPr>
        <p:spPr>
          <a:xfrm>
            <a:off x="3837766" y="4568455"/>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63" name="正方形/長方形 62">
            <a:extLst>
              <a:ext uri="{FF2B5EF4-FFF2-40B4-BE49-F238E27FC236}">
                <a16:creationId xmlns:a16="http://schemas.microsoft.com/office/drawing/2014/main" id="{02B0B25D-3C69-4152-9B46-B243B9E1DA8D}"/>
              </a:ext>
            </a:extLst>
          </p:cNvPr>
          <p:cNvSpPr/>
          <p:nvPr/>
        </p:nvSpPr>
        <p:spPr>
          <a:xfrm>
            <a:off x="4402569" y="4568455"/>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80" name="正方形/長方形 79">
            <a:extLst>
              <a:ext uri="{FF2B5EF4-FFF2-40B4-BE49-F238E27FC236}">
                <a16:creationId xmlns:a16="http://schemas.microsoft.com/office/drawing/2014/main" id="{92EBD132-1C06-4756-BA5A-1B19B7D38900}"/>
              </a:ext>
            </a:extLst>
          </p:cNvPr>
          <p:cNvSpPr/>
          <p:nvPr/>
        </p:nvSpPr>
        <p:spPr>
          <a:xfrm>
            <a:off x="4967372" y="4568455"/>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82" name="正方形/長方形 81">
            <a:extLst>
              <a:ext uri="{FF2B5EF4-FFF2-40B4-BE49-F238E27FC236}">
                <a16:creationId xmlns:a16="http://schemas.microsoft.com/office/drawing/2014/main" id="{79E40DA8-8DC8-419A-94AA-B77163FCCF8E}"/>
              </a:ext>
            </a:extLst>
          </p:cNvPr>
          <p:cNvSpPr/>
          <p:nvPr/>
        </p:nvSpPr>
        <p:spPr>
          <a:xfrm>
            <a:off x="3272965" y="4370387"/>
            <a:ext cx="2202731" cy="1320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900" dirty="0"/>
              <a:t>HBM2 </a:t>
            </a:r>
          </a:p>
        </p:txBody>
      </p:sp>
      <p:sp>
        <p:nvSpPr>
          <p:cNvPr id="88" name="正方形/長方形 87">
            <a:extLst>
              <a:ext uri="{FF2B5EF4-FFF2-40B4-BE49-F238E27FC236}">
                <a16:creationId xmlns:a16="http://schemas.microsoft.com/office/drawing/2014/main" id="{7E867CF3-C9E1-418D-B425-DA797CAE11A9}"/>
              </a:ext>
            </a:extLst>
          </p:cNvPr>
          <p:cNvSpPr/>
          <p:nvPr/>
        </p:nvSpPr>
        <p:spPr>
          <a:xfrm>
            <a:off x="3272965" y="6312278"/>
            <a:ext cx="2202731" cy="1320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900" dirty="0"/>
              <a:t>HBM2 </a:t>
            </a:r>
          </a:p>
        </p:txBody>
      </p:sp>
      <p:sp>
        <p:nvSpPr>
          <p:cNvPr id="90" name="正方形/長方形 89">
            <a:extLst>
              <a:ext uri="{FF2B5EF4-FFF2-40B4-BE49-F238E27FC236}">
                <a16:creationId xmlns:a16="http://schemas.microsoft.com/office/drawing/2014/main" id="{5FEAE441-6AD6-49FC-865B-213519F63CC2}"/>
              </a:ext>
            </a:extLst>
          </p:cNvPr>
          <p:cNvSpPr/>
          <p:nvPr/>
        </p:nvSpPr>
        <p:spPr>
          <a:xfrm>
            <a:off x="5532174" y="4912061"/>
            <a:ext cx="508322"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91" name="正方形/長方形 90">
            <a:extLst>
              <a:ext uri="{FF2B5EF4-FFF2-40B4-BE49-F238E27FC236}">
                <a16:creationId xmlns:a16="http://schemas.microsoft.com/office/drawing/2014/main" id="{F6D39B72-68C3-4444-8703-764CC414ED04}"/>
              </a:ext>
            </a:extLst>
          </p:cNvPr>
          <p:cNvSpPr/>
          <p:nvPr/>
        </p:nvSpPr>
        <p:spPr>
          <a:xfrm>
            <a:off x="6661780" y="4912061"/>
            <a:ext cx="508322"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92" name="正方形/長方形 91">
            <a:extLst>
              <a:ext uri="{FF2B5EF4-FFF2-40B4-BE49-F238E27FC236}">
                <a16:creationId xmlns:a16="http://schemas.microsoft.com/office/drawing/2014/main" id="{1A9E63EA-20B2-4D1C-8230-C7C25394459A}"/>
              </a:ext>
            </a:extLst>
          </p:cNvPr>
          <p:cNvSpPr/>
          <p:nvPr/>
        </p:nvSpPr>
        <p:spPr>
          <a:xfrm>
            <a:off x="5532174" y="4568455"/>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93" name="正方形/長方形 92">
            <a:extLst>
              <a:ext uri="{FF2B5EF4-FFF2-40B4-BE49-F238E27FC236}">
                <a16:creationId xmlns:a16="http://schemas.microsoft.com/office/drawing/2014/main" id="{F27B302B-278D-4419-8F9E-EF4E41FBC226}"/>
              </a:ext>
            </a:extLst>
          </p:cNvPr>
          <p:cNvSpPr/>
          <p:nvPr/>
        </p:nvSpPr>
        <p:spPr>
          <a:xfrm>
            <a:off x="6096978" y="4568455"/>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94" name="正方形/長方形 93">
            <a:extLst>
              <a:ext uri="{FF2B5EF4-FFF2-40B4-BE49-F238E27FC236}">
                <a16:creationId xmlns:a16="http://schemas.microsoft.com/office/drawing/2014/main" id="{40030419-DA98-439D-ACC1-6A72824BCE8C}"/>
              </a:ext>
            </a:extLst>
          </p:cNvPr>
          <p:cNvSpPr/>
          <p:nvPr/>
        </p:nvSpPr>
        <p:spPr>
          <a:xfrm>
            <a:off x="6661780" y="4568455"/>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95" name="正方形/長方形 94">
            <a:extLst>
              <a:ext uri="{FF2B5EF4-FFF2-40B4-BE49-F238E27FC236}">
                <a16:creationId xmlns:a16="http://schemas.microsoft.com/office/drawing/2014/main" id="{A19F8FE8-C5BF-4C12-BBE0-24E9BC209E4C}"/>
              </a:ext>
            </a:extLst>
          </p:cNvPr>
          <p:cNvSpPr/>
          <p:nvPr/>
        </p:nvSpPr>
        <p:spPr>
          <a:xfrm>
            <a:off x="7226582" y="4568455"/>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96" name="正方形/長方形 95">
            <a:extLst>
              <a:ext uri="{FF2B5EF4-FFF2-40B4-BE49-F238E27FC236}">
                <a16:creationId xmlns:a16="http://schemas.microsoft.com/office/drawing/2014/main" id="{8CF58DD7-D603-4CB3-A75F-638EA051DE84}"/>
              </a:ext>
            </a:extLst>
          </p:cNvPr>
          <p:cNvSpPr/>
          <p:nvPr/>
        </p:nvSpPr>
        <p:spPr>
          <a:xfrm>
            <a:off x="5532175" y="4370387"/>
            <a:ext cx="2202731" cy="1320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900" dirty="0"/>
              <a:t>HBM2 </a:t>
            </a:r>
          </a:p>
        </p:txBody>
      </p:sp>
      <p:sp>
        <p:nvSpPr>
          <p:cNvPr id="97" name="正方形/長方形 96">
            <a:extLst>
              <a:ext uri="{FF2B5EF4-FFF2-40B4-BE49-F238E27FC236}">
                <a16:creationId xmlns:a16="http://schemas.microsoft.com/office/drawing/2014/main" id="{ADAEFF30-29AA-43AC-B192-0D09EB67496F}"/>
              </a:ext>
            </a:extLst>
          </p:cNvPr>
          <p:cNvSpPr/>
          <p:nvPr/>
        </p:nvSpPr>
        <p:spPr>
          <a:xfrm>
            <a:off x="5532175" y="6312278"/>
            <a:ext cx="2202731" cy="1320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900" dirty="0"/>
              <a:t>HBM2 </a:t>
            </a:r>
          </a:p>
        </p:txBody>
      </p:sp>
      <p:sp>
        <p:nvSpPr>
          <p:cNvPr id="98" name="正方形/長方形 97">
            <a:extLst>
              <a:ext uri="{FF2B5EF4-FFF2-40B4-BE49-F238E27FC236}">
                <a16:creationId xmlns:a16="http://schemas.microsoft.com/office/drawing/2014/main" id="{F5548BC3-3C83-46BD-9BED-DF0BA4A98143}"/>
              </a:ext>
            </a:extLst>
          </p:cNvPr>
          <p:cNvSpPr/>
          <p:nvPr/>
        </p:nvSpPr>
        <p:spPr>
          <a:xfrm>
            <a:off x="3837767" y="4912062"/>
            <a:ext cx="508321"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99" name="正方形/長方形 98">
            <a:extLst>
              <a:ext uri="{FF2B5EF4-FFF2-40B4-BE49-F238E27FC236}">
                <a16:creationId xmlns:a16="http://schemas.microsoft.com/office/drawing/2014/main" id="{8816ED2E-E9C2-46BE-98D3-22145F61DE94}"/>
              </a:ext>
            </a:extLst>
          </p:cNvPr>
          <p:cNvSpPr/>
          <p:nvPr/>
        </p:nvSpPr>
        <p:spPr>
          <a:xfrm>
            <a:off x="4967370" y="4912062"/>
            <a:ext cx="508322"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100" name="正方形/長方形 99">
            <a:extLst>
              <a:ext uri="{FF2B5EF4-FFF2-40B4-BE49-F238E27FC236}">
                <a16:creationId xmlns:a16="http://schemas.microsoft.com/office/drawing/2014/main" id="{DE4EB3ED-5F6A-4B8F-B3D1-544CBF2AB325}"/>
              </a:ext>
            </a:extLst>
          </p:cNvPr>
          <p:cNvSpPr/>
          <p:nvPr/>
        </p:nvSpPr>
        <p:spPr>
          <a:xfrm>
            <a:off x="6096978" y="4912062"/>
            <a:ext cx="508322"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101" name="正方形/長方形 100">
            <a:extLst>
              <a:ext uri="{FF2B5EF4-FFF2-40B4-BE49-F238E27FC236}">
                <a16:creationId xmlns:a16="http://schemas.microsoft.com/office/drawing/2014/main" id="{58114E7E-769C-487B-81F7-D1CC3A5DE9C1}"/>
              </a:ext>
            </a:extLst>
          </p:cNvPr>
          <p:cNvSpPr/>
          <p:nvPr/>
        </p:nvSpPr>
        <p:spPr>
          <a:xfrm>
            <a:off x="7226582" y="4912062"/>
            <a:ext cx="508322"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102" name="正方形/長方形 101">
            <a:extLst>
              <a:ext uri="{FF2B5EF4-FFF2-40B4-BE49-F238E27FC236}">
                <a16:creationId xmlns:a16="http://schemas.microsoft.com/office/drawing/2014/main" id="{49405179-35CD-4298-BB85-1FFC1A1F234D}"/>
              </a:ext>
            </a:extLst>
          </p:cNvPr>
          <p:cNvSpPr/>
          <p:nvPr/>
        </p:nvSpPr>
        <p:spPr>
          <a:xfrm>
            <a:off x="7898848" y="4501681"/>
            <a:ext cx="282402" cy="26409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dirty="0"/>
              <a:t>MIPS</a:t>
            </a:r>
            <a:endParaRPr lang="ja-JP" altLang="en-US" sz="900" dirty="0"/>
          </a:p>
        </p:txBody>
      </p:sp>
      <p:sp>
        <p:nvSpPr>
          <p:cNvPr id="103" name="正方形/長方形 102">
            <a:extLst>
              <a:ext uri="{FF2B5EF4-FFF2-40B4-BE49-F238E27FC236}">
                <a16:creationId xmlns:a16="http://schemas.microsoft.com/office/drawing/2014/main" id="{C8F4BEA4-2A65-4C8F-AE95-CCC8D1ACFDB2}"/>
              </a:ext>
            </a:extLst>
          </p:cNvPr>
          <p:cNvSpPr/>
          <p:nvPr/>
        </p:nvSpPr>
        <p:spPr>
          <a:xfrm>
            <a:off x="8237731" y="4501681"/>
            <a:ext cx="282402" cy="26409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dirty="0"/>
              <a:t>MIPS</a:t>
            </a:r>
            <a:endParaRPr lang="ja-JP" altLang="en-US" sz="900" dirty="0"/>
          </a:p>
        </p:txBody>
      </p:sp>
      <p:sp>
        <p:nvSpPr>
          <p:cNvPr id="104" name="正方形/長方形 103">
            <a:extLst>
              <a:ext uri="{FF2B5EF4-FFF2-40B4-BE49-F238E27FC236}">
                <a16:creationId xmlns:a16="http://schemas.microsoft.com/office/drawing/2014/main" id="{8212DCF4-F4C9-4765-BA74-BF8BB70A6300}"/>
              </a:ext>
            </a:extLst>
          </p:cNvPr>
          <p:cNvSpPr/>
          <p:nvPr/>
        </p:nvSpPr>
        <p:spPr>
          <a:xfrm>
            <a:off x="7898848" y="4831800"/>
            <a:ext cx="282402" cy="26409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dirty="0"/>
              <a:t>MIPS</a:t>
            </a:r>
            <a:endParaRPr lang="ja-JP" altLang="en-US" sz="900" dirty="0"/>
          </a:p>
        </p:txBody>
      </p:sp>
      <p:sp>
        <p:nvSpPr>
          <p:cNvPr id="105" name="正方形/長方形 104">
            <a:extLst>
              <a:ext uri="{FF2B5EF4-FFF2-40B4-BE49-F238E27FC236}">
                <a16:creationId xmlns:a16="http://schemas.microsoft.com/office/drawing/2014/main" id="{34058B18-49F5-4A2D-B03E-C0DFF86FCD85}"/>
              </a:ext>
            </a:extLst>
          </p:cNvPr>
          <p:cNvSpPr/>
          <p:nvPr/>
        </p:nvSpPr>
        <p:spPr>
          <a:xfrm>
            <a:off x="8237731" y="4831800"/>
            <a:ext cx="282402" cy="26409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dirty="0"/>
              <a:t>MIPS</a:t>
            </a:r>
            <a:endParaRPr lang="ja-JP" altLang="en-US" sz="900" dirty="0"/>
          </a:p>
        </p:txBody>
      </p:sp>
      <p:sp>
        <p:nvSpPr>
          <p:cNvPr id="106" name="正方形/長方形 105">
            <a:extLst>
              <a:ext uri="{FF2B5EF4-FFF2-40B4-BE49-F238E27FC236}">
                <a16:creationId xmlns:a16="http://schemas.microsoft.com/office/drawing/2014/main" id="{081C7F00-8908-434A-8549-9EDD7B7159DC}"/>
              </a:ext>
            </a:extLst>
          </p:cNvPr>
          <p:cNvSpPr/>
          <p:nvPr/>
        </p:nvSpPr>
        <p:spPr>
          <a:xfrm>
            <a:off x="3272965" y="5434899"/>
            <a:ext cx="508321"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p>
        </p:txBody>
      </p:sp>
      <p:sp>
        <p:nvSpPr>
          <p:cNvPr id="107" name="正方形/長方形 106">
            <a:extLst>
              <a:ext uri="{FF2B5EF4-FFF2-40B4-BE49-F238E27FC236}">
                <a16:creationId xmlns:a16="http://schemas.microsoft.com/office/drawing/2014/main" id="{F5423852-D399-42A1-A91E-C2DB24602D6D}"/>
              </a:ext>
            </a:extLst>
          </p:cNvPr>
          <p:cNvSpPr/>
          <p:nvPr/>
        </p:nvSpPr>
        <p:spPr>
          <a:xfrm>
            <a:off x="4402568" y="5434899"/>
            <a:ext cx="508322"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108" name="正方形/長方形 107">
            <a:extLst>
              <a:ext uri="{FF2B5EF4-FFF2-40B4-BE49-F238E27FC236}">
                <a16:creationId xmlns:a16="http://schemas.microsoft.com/office/drawing/2014/main" id="{9A2D086A-B9F7-4230-90E1-09F85EC0ADC2}"/>
              </a:ext>
            </a:extLst>
          </p:cNvPr>
          <p:cNvSpPr/>
          <p:nvPr/>
        </p:nvSpPr>
        <p:spPr>
          <a:xfrm>
            <a:off x="5532174" y="5434899"/>
            <a:ext cx="508322"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109" name="正方形/長方形 108">
            <a:extLst>
              <a:ext uri="{FF2B5EF4-FFF2-40B4-BE49-F238E27FC236}">
                <a16:creationId xmlns:a16="http://schemas.microsoft.com/office/drawing/2014/main" id="{0CF32D42-5623-451B-BE09-B7693C65198D}"/>
              </a:ext>
            </a:extLst>
          </p:cNvPr>
          <p:cNvSpPr/>
          <p:nvPr/>
        </p:nvSpPr>
        <p:spPr>
          <a:xfrm>
            <a:off x="6661780" y="5434899"/>
            <a:ext cx="508322"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110" name="正方形/長方形 109">
            <a:extLst>
              <a:ext uri="{FF2B5EF4-FFF2-40B4-BE49-F238E27FC236}">
                <a16:creationId xmlns:a16="http://schemas.microsoft.com/office/drawing/2014/main" id="{CBAF8B10-A15F-4DB0-9B51-B55B405F2ED5}"/>
              </a:ext>
            </a:extLst>
          </p:cNvPr>
          <p:cNvSpPr/>
          <p:nvPr/>
        </p:nvSpPr>
        <p:spPr>
          <a:xfrm>
            <a:off x="3837767" y="5434900"/>
            <a:ext cx="508321"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111" name="正方形/長方形 110">
            <a:extLst>
              <a:ext uri="{FF2B5EF4-FFF2-40B4-BE49-F238E27FC236}">
                <a16:creationId xmlns:a16="http://schemas.microsoft.com/office/drawing/2014/main" id="{B5EDF897-DEEB-46A9-AC5E-A6823AD797E5}"/>
              </a:ext>
            </a:extLst>
          </p:cNvPr>
          <p:cNvSpPr/>
          <p:nvPr/>
        </p:nvSpPr>
        <p:spPr>
          <a:xfrm>
            <a:off x="4967370" y="5434900"/>
            <a:ext cx="508322"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112" name="正方形/長方形 111">
            <a:extLst>
              <a:ext uri="{FF2B5EF4-FFF2-40B4-BE49-F238E27FC236}">
                <a16:creationId xmlns:a16="http://schemas.microsoft.com/office/drawing/2014/main" id="{5F310BB5-268A-40F6-9743-2D677824BA12}"/>
              </a:ext>
            </a:extLst>
          </p:cNvPr>
          <p:cNvSpPr/>
          <p:nvPr/>
        </p:nvSpPr>
        <p:spPr>
          <a:xfrm>
            <a:off x="6096978" y="5434900"/>
            <a:ext cx="508322"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113" name="正方形/長方形 112">
            <a:extLst>
              <a:ext uri="{FF2B5EF4-FFF2-40B4-BE49-F238E27FC236}">
                <a16:creationId xmlns:a16="http://schemas.microsoft.com/office/drawing/2014/main" id="{D026C087-03EB-43C4-8530-E493E4BB9557}"/>
              </a:ext>
            </a:extLst>
          </p:cNvPr>
          <p:cNvSpPr/>
          <p:nvPr/>
        </p:nvSpPr>
        <p:spPr>
          <a:xfrm>
            <a:off x="7226582" y="5434900"/>
            <a:ext cx="508322" cy="45663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b="1" dirty="0"/>
              <a:t>256 PE</a:t>
            </a:r>
            <a:endParaRPr lang="ja-JP" altLang="en-US" sz="900" b="1" dirty="0"/>
          </a:p>
        </p:txBody>
      </p:sp>
      <p:sp>
        <p:nvSpPr>
          <p:cNvPr id="114" name="正方形/長方形 113">
            <a:extLst>
              <a:ext uri="{FF2B5EF4-FFF2-40B4-BE49-F238E27FC236}">
                <a16:creationId xmlns:a16="http://schemas.microsoft.com/office/drawing/2014/main" id="{2ADFCEB6-56A8-432B-A415-BDB437F17144}"/>
              </a:ext>
            </a:extLst>
          </p:cNvPr>
          <p:cNvSpPr/>
          <p:nvPr/>
        </p:nvSpPr>
        <p:spPr>
          <a:xfrm>
            <a:off x="3279082" y="5977032"/>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115" name="正方形/長方形 114">
            <a:extLst>
              <a:ext uri="{FF2B5EF4-FFF2-40B4-BE49-F238E27FC236}">
                <a16:creationId xmlns:a16="http://schemas.microsoft.com/office/drawing/2014/main" id="{E2E644EE-EE8D-49ED-8EDE-7DB96B9BA1E6}"/>
              </a:ext>
            </a:extLst>
          </p:cNvPr>
          <p:cNvSpPr/>
          <p:nvPr/>
        </p:nvSpPr>
        <p:spPr>
          <a:xfrm>
            <a:off x="3843884" y="5977032"/>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116" name="正方形/長方形 115">
            <a:extLst>
              <a:ext uri="{FF2B5EF4-FFF2-40B4-BE49-F238E27FC236}">
                <a16:creationId xmlns:a16="http://schemas.microsoft.com/office/drawing/2014/main" id="{BF1834C0-3262-4788-A6FB-AA50A8C63280}"/>
              </a:ext>
            </a:extLst>
          </p:cNvPr>
          <p:cNvSpPr/>
          <p:nvPr/>
        </p:nvSpPr>
        <p:spPr>
          <a:xfrm>
            <a:off x="4408688" y="5977032"/>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117" name="正方形/長方形 116">
            <a:extLst>
              <a:ext uri="{FF2B5EF4-FFF2-40B4-BE49-F238E27FC236}">
                <a16:creationId xmlns:a16="http://schemas.microsoft.com/office/drawing/2014/main" id="{6A8C9C23-D5EE-496D-ADDF-56C46CCA91BA}"/>
              </a:ext>
            </a:extLst>
          </p:cNvPr>
          <p:cNvSpPr/>
          <p:nvPr/>
        </p:nvSpPr>
        <p:spPr>
          <a:xfrm>
            <a:off x="4973490" y="5977032"/>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118" name="正方形/長方形 117">
            <a:extLst>
              <a:ext uri="{FF2B5EF4-FFF2-40B4-BE49-F238E27FC236}">
                <a16:creationId xmlns:a16="http://schemas.microsoft.com/office/drawing/2014/main" id="{E18E2494-6637-415D-A942-88CD738AF127}"/>
              </a:ext>
            </a:extLst>
          </p:cNvPr>
          <p:cNvSpPr/>
          <p:nvPr/>
        </p:nvSpPr>
        <p:spPr>
          <a:xfrm>
            <a:off x="5538291" y="5977032"/>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119" name="正方形/長方形 118">
            <a:extLst>
              <a:ext uri="{FF2B5EF4-FFF2-40B4-BE49-F238E27FC236}">
                <a16:creationId xmlns:a16="http://schemas.microsoft.com/office/drawing/2014/main" id="{A5766BD8-6310-4F2B-8BCC-636D5346F8A3}"/>
              </a:ext>
            </a:extLst>
          </p:cNvPr>
          <p:cNvSpPr/>
          <p:nvPr/>
        </p:nvSpPr>
        <p:spPr>
          <a:xfrm>
            <a:off x="6103093" y="5977032"/>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120" name="正方形/長方形 119">
            <a:extLst>
              <a:ext uri="{FF2B5EF4-FFF2-40B4-BE49-F238E27FC236}">
                <a16:creationId xmlns:a16="http://schemas.microsoft.com/office/drawing/2014/main" id="{526024CE-A48D-4B62-A18B-6E161F4361E5}"/>
              </a:ext>
            </a:extLst>
          </p:cNvPr>
          <p:cNvSpPr/>
          <p:nvPr/>
        </p:nvSpPr>
        <p:spPr>
          <a:xfrm>
            <a:off x="6667895" y="5977032"/>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121" name="正方形/長方形 120">
            <a:extLst>
              <a:ext uri="{FF2B5EF4-FFF2-40B4-BE49-F238E27FC236}">
                <a16:creationId xmlns:a16="http://schemas.microsoft.com/office/drawing/2014/main" id="{689CD070-9C18-4584-9BD4-E4F82011D788}"/>
              </a:ext>
            </a:extLst>
          </p:cNvPr>
          <p:cNvSpPr/>
          <p:nvPr/>
        </p:nvSpPr>
        <p:spPr>
          <a:xfrm>
            <a:off x="7232700" y="5977032"/>
            <a:ext cx="508322" cy="264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en-US" altLang="ja-JP" sz="900" dirty="0"/>
              <a:t>LLC</a:t>
            </a:r>
          </a:p>
        </p:txBody>
      </p:sp>
      <p:sp>
        <p:nvSpPr>
          <p:cNvPr id="122" name="正方形/長方形 121">
            <a:extLst>
              <a:ext uri="{FF2B5EF4-FFF2-40B4-BE49-F238E27FC236}">
                <a16:creationId xmlns:a16="http://schemas.microsoft.com/office/drawing/2014/main" id="{563824DE-0852-4E54-BBE6-70B94C921538}"/>
              </a:ext>
            </a:extLst>
          </p:cNvPr>
          <p:cNvSpPr/>
          <p:nvPr/>
        </p:nvSpPr>
        <p:spPr>
          <a:xfrm>
            <a:off x="7888350" y="5884461"/>
            <a:ext cx="631781" cy="2535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900" dirty="0" err="1"/>
              <a:t>PCIe</a:t>
            </a:r>
            <a:r>
              <a:rPr lang="en-US" altLang="ja-JP" sz="900" dirty="0"/>
              <a:t> Gen4</a:t>
            </a:r>
          </a:p>
        </p:txBody>
      </p:sp>
      <p:sp>
        <p:nvSpPr>
          <p:cNvPr id="123" name="正方形/長方形 122">
            <a:extLst>
              <a:ext uri="{FF2B5EF4-FFF2-40B4-BE49-F238E27FC236}">
                <a16:creationId xmlns:a16="http://schemas.microsoft.com/office/drawing/2014/main" id="{92AD5765-221D-4D9D-B0D9-862E61DABCE3}"/>
              </a:ext>
            </a:extLst>
          </p:cNvPr>
          <p:cNvSpPr/>
          <p:nvPr/>
        </p:nvSpPr>
        <p:spPr>
          <a:xfrm>
            <a:off x="7888350" y="6175821"/>
            <a:ext cx="631782" cy="2535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900" dirty="0" err="1"/>
              <a:t>PCIe</a:t>
            </a:r>
            <a:r>
              <a:rPr lang="en-US" altLang="ja-JP" sz="900" dirty="0"/>
              <a:t> Gen4</a:t>
            </a:r>
          </a:p>
        </p:txBody>
      </p:sp>
      <p:sp>
        <p:nvSpPr>
          <p:cNvPr id="124" name="正方形/長方形 123">
            <a:extLst>
              <a:ext uri="{FF2B5EF4-FFF2-40B4-BE49-F238E27FC236}">
                <a16:creationId xmlns:a16="http://schemas.microsoft.com/office/drawing/2014/main" id="{BA4F1FF4-B864-459B-A1F8-050463B82491}"/>
              </a:ext>
            </a:extLst>
          </p:cNvPr>
          <p:cNvSpPr/>
          <p:nvPr/>
        </p:nvSpPr>
        <p:spPr>
          <a:xfrm>
            <a:off x="7888348" y="5583418"/>
            <a:ext cx="631781" cy="2535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900" dirty="0" err="1"/>
              <a:t>PCIe</a:t>
            </a:r>
            <a:r>
              <a:rPr lang="en-US" altLang="ja-JP" sz="900" dirty="0"/>
              <a:t> Gen4</a:t>
            </a:r>
          </a:p>
        </p:txBody>
      </p:sp>
      <p:sp>
        <p:nvSpPr>
          <p:cNvPr id="125" name="正方形/長方形 124">
            <a:extLst>
              <a:ext uri="{FF2B5EF4-FFF2-40B4-BE49-F238E27FC236}">
                <a16:creationId xmlns:a16="http://schemas.microsoft.com/office/drawing/2014/main" id="{034AB692-0A6F-4B26-BACF-B1A3FFD0FB9F}"/>
              </a:ext>
            </a:extLst>
          </p:cNvPr>
          <p:cNvSpPr/>
          <p:nvPr/>
        </p:nvSpPr>
        <p:spPr>
          <a:xfrm>
            <a:off x="7898847" y="5184317"/>
            <a:ext cx="282402" cy="26409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dirty="0"/>
              <a:t>MIPS</a:t>
            </a:r>
            <a:endParaRPr lang="ja-JP" altLang="en-US" sz="900" dirty="0"/>
          </a:p>
        </p:txBody>
      </p:sp>
      <p:sp>
        <p:nvSpPr>
          <p:cNvPr id="126" name="正方形/長方形 125">
            <a:extLst>
              <a:ext uri="{FF2B5EF4-FFF2-40B4-BE49-F238E27FC236}">
                <a16:creationId xmlns:a16="http://schemas.microsoft.com/office/drawing/2014/main" id="{400F3A6A-EF7C-4C8B-B056-30913717B924}"/>
              </a:ext>
            </a:extLst>
          </p:cNvPr>
          <p:cNvSpPr/>
          <p:nvPr/>
        </p:nvSpPr>
        <p:spPr>
          <a:xfrm>
            <a:off x="8237731" y="5184317"/>
            <a:ext cx="282402" cy="26409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p>
            <a:pPr algn="ctr"/>
            <a:r>
              <a:rPr lang="en-US" altLang="ja-JP" sz="900" dirty="0"/>
              <a:t>MIPS</a:t>
            </a:r>
            <a:endParaRPr lang="ja-JP" altLang="en-US" sz="900" dirty="0"/>
          </a:p>
        </p:txBody>
      </p:sp>
      <p:sp>
        <p:nvSpPr>
          <p:cNvPr id="12" name="四角形: 角を丸くする 11">
            <a:extLst>
              <a:ext uri="{FF2B5EF4-FFF2-40B4-BE49-F238E27FC236}">
                <a16:creationId xmlns:a16="http://schemas.microsoft.com/office/drawing/2014/main" id="{CF08A243-2FD2-4D9B-B548-FDC290B33D35}"/>
              </a:ext>
            </a:extLst>
          </p:cNvPr>
          <p:cNvSpPr/>
          <p:nvPr/>
        </p:nvSpPr>
        <p:spPr bwMode="auto">
          <a:xfrm>
            <a:off x="7806020" y="4419011"/>
            <a:ext cx="810009" cy="1080012"/>
          </a:xfrm>
          <a:prstGeom prst="roundRect">
            <a:avLst/>
          </a:prstGeom>
          <a:noFill/>
          <a:ln w="34925">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89" name="直線矢印コネクタ 88"/>
          <p:cNvCxnSpPr>
            <a:cxnSpLocks/>
          </p:cNvCxnSpPr>
          <p:nvPr/>
        </p:nvCxnSpPr>
        <p:spPr>
          <a:xfrm flipV="1">
            <a:off x="8256025" y="3879006"/>
            <a:ext cx="450005" cy="540007"/>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229058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624241-E1BB-4997-1326-C6A907B8013A}"/>
              </a:ext>
            </a:extLst>
          </p:cNvPr>
          <p:cNvSpPr>
            <a:spLocks noGrp="1"/>
          </p:cNvSpPr>
          <p:nvPr>
            <p:ph type="title"/>
          </p:nvPr>
        </p:nvSpPr>
        <p:spPr/>
        <p:txBody>
          <a:bodyPr/>
          <a:lstStyle/>
          <a:p>
            <a:r>
              <a:rPr lang="ja-JP" altLang="en-US" dirty="0"/>
              <a:t>自動運転向け </a:t>
            </a:r>
            <a:r>
              <a:rPr lang="en-US" altLang="ja-JP" dirty="0"/>
              <a:t>SIMT </a:t>
            </a:r>
            <a:r>
              <a:rPr lang="ja-JP" altLang="en-US" dirty="0"/>
              <a:t>型アクセラレータ </a:t>
            </a:r>
            <a:r>
              <a:rPr lang="en-US" altLang="ja-JP" dirty="0"/>
              <a:t>HORNET</a:t>
            </a:r>
            <a:br>
              <a:rPr kumimoji="1" lang="en-US" dirty="0"/>
            </a:br>
            <a:r>
              <a:rPr lang="ja-JP" altLang="en-US" sz="1400" dirty="0"/>
              <a:t>写真は </a:t>
            </a:r>
            <a:r>
              <a:rPr lang="en-US" sz="1400" dirty="0">
                <a:hlinkClick r:id="rId2">
                  <a:extLst>
                    <a:ext uri="{A12FA001-AC4F-418D-AE19-62706E023703}">
                      <ahyp:hlinkClr xmlns:ahyp="http://schemas.microsoft.com/office/drawing/2018/hyperlinkcolor" val="tx"/>
                    </a:ext>
                  </a:extLst>
                </a:hlinkClick>
              </a:rPr>
              <a:t>https://tier4.jp/media/detail/?sys_id=7J02G1SrOq4QhedPXvwB4V&amp;category=NEWS</a:t>
            </a:r>
            <a:r>
              <a:rPr lang="en-US" sz="1400" dirty="0"/>
              <a:t> </a:t>
            </a:r>
            <a:r>
              <a:rPr lang="ja-JP" altLang="en-US" sz="1400" dirty="0"/>
              <a:t>より</a:t>
            </a:r>
            <a:endParaRPr kumimoji="1" lang="en-US" dirty="0"/>
          </a:p>
        </p:txBody>
      </p:sp>
      <p:sp>
        <p:nvSpPr>
          <p:cNvPr id="3" name="テキスト プレースホルダー 2">
            <a:extLst>
              <a:ext uri="{FF2B5EF4-FFF2-40B4-BE49-F238E27FC236}">
                <a16:creationId xmlns:a16="http://schemas.microsoft.com/office/drawing/2014/main" id="{40396A7E-ED7A-097F-03BF-F140D2D0CA48}"/>
              </a:ext>
            </a:extLst>
          </p:cNvPr>
          <p:cNvSpPr>
            <a:spLocks noGrp="1"/>
          </p:cNvSpPr>
          <p:nvPr>
            <p:ph type="body" sz="quarter" idx="10"/>
          </p:nvPr>
        </p:nvSpPr>
        <p:spPr>
          <a:xfrm>
            <a:off x="1775952" y="1088975"/>
            <a:ext cx="5040056" cy="5219751"/>
          </a:xfrm>
        </p:spPr>
        <p:txBody>
          <a:bodyPr/>
          <a:lstStyle/>
          <a:p>
            <a:r>
              <a:rPr lang="en-US" altLang="ja-JP" dirty="0"/>
              <a:t>Hornet</a:t>
            </a:r>
            <a:r>
              <a:rPr lang="ja-JP" altLang="en-US" dirty="0"/>
              <a:t> プロセッサ</a:t>
            </a:r>
            <a:endParaRPr kumimoji="1" lang="en-US" altLang="ja-JP" dirty="0"/>
          </a:p>
          <a:p>
            <a:pPr lvl="1"/>
            <a:r>
              <a:rPr kumimoji="1" lang="ja-JP" altLang="en-US" dirty="0"/>
              <a:t>車載向けデータ並列型プロセッサ </a:t>
            </a:r>
            <a:endParaRPr kumimoji="1" lang="en-US" altLang="ja-JP" dirty="0"/>
          </a:p>
          <a:p>
            <a:pPr lvl="1"/>
            <a:r>
              <a:rPr lang="en-US" dirty="0"/>
              <a:t>RISC-V </a:t>
            </a:r>
            <a:r>
              <a:rPr lang="ja-JP" altLang="en-US" dirty="0"/>
              <a:t>を採用した </a:t>
            </a:r>
            <a:r>
              <a:rPr lang="en-US" altLang="ja-JP" dirty="0"/>
              <a:t>GPU </a:t>
            </a:r>
            <a:r>
              <a:rPr lang="ja-JP" altLang="en-US" dirty="0"/>
              <a:t>的な構造</a:t>
            </a:r>
            <a:endParaRPr lang="en-US" altLang="ja-JP" dirty="0"/>
          </a:p>
          <a:p>
            <a:r>
              <a:rPr lang="ja-JP" altLang="en-US" dirty="0"/>
              <a:t>経緯：</a:t>
            </a:r>
            <a:endParaRPr lang="en-US" altLang="ja-JP" dirty="0"/>
          </a:p>
          <a:p>
            <a:pPr lvl="1"/>
            <a:r>
              <a:rPr lang="ja-JP" altLang="en-US" dirty="0"/>
              <a:t>多数の専用回路を積んで効率を上げる趣旨のプロジェクトだった</a:t>
            </a:r>
            <a:endParaRPr lang="en-US" altLang="ja-JP" dirty="0"/>
          </a:p>
          <a:p>
            <a:pPr lvl="1"/>
            <a:r>
              <a:rPr lang="ja-JP" altLang="en-US" dirty="0"/>
              <a:t>現在製品化に向けて開発中</a:t>
            </a:r>
            <a:endParaRPr lang="en-US" altLang="ja-JP" dirty="0"/>
          </a:p>
        </p:txBody>
      </p:sp>
      <p:pic>
        <p:nvPicPr>
          <p:cNvPr id="5" name="図 4">
            <a:extLst>
              <a:ext uri="{FF2B5EF4-FFF2-40B4-BE49-F238E27FC236}">
                <a16:creationId xmlns:a16="http://schemas.microsoft.com/office/drawing/2014/main" id="{1DED6525-7142-02A8-690D-F270719181EC}"/>
              </a:ext>
            </a:extLst>
          </p:cNvPr>
          <p:cNvPicPr>
            <a:picLocks noChangeAspect="1"/>
          </p:cNvPicPr>
          <p:nvPr/>
        </p:nvPicPr>
        <p:blipFill>
          <a:blip r:embed="rId3"/>
          <a:stretch>
            <a:fillRect/>
          </a:stretch>
        </p:blipFill>
        <p:spPr>
          <a:xfrm>
            <a:off x="6906010" y="1268977"/>
            <a:ext cx="3679947" cy="4950055"/>
          </a:xfrm>
          <a:prstGeom prst="rect">
            <a:avLst/>
          </a:prstGeom>
        </p:spPr>
      </p:pic>
      <p:sp>
        <p:nvSpPr>
          <p:cNvPr id="6" name="四角形: 角を丸くする 5">
            <a:extLst>
              <a:ext uri="{FF2B5EF4-FFF2-40B4-BE49-F238E27FC236}">
                <a16:creationId xmlns:a16="http://schemas.microsoft.com/office/drawing/2014/main" id="{8A588D38-6FF5-4726-ADC9-393E3CF0E28A}"/>
              </a:ext>
            </a:extLst>
          </p:cNvPr>
          <p:cNvSpPr/>
          <p:nvPr/>
        </p:nvSpPr>
        <p:spPr bwMode="auto">
          <a:xfrm>
            <a:off x="8920814" y="1538979"/>
            <a:ext cx="1350015" cy="900010"/>
          </a:xfrm>
          <a:prstGeom prst="roundRect">
            <a:avLst/>
          </a:prstGeom>
          <a:noFill/>
          <a:ln>
            <a:headEnd/>
            <a:tailEnd type="triangle" w="sm"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Tree>
    <p:extLst>
      <p:ext uri="{BB962C8B-B14F-4D97-AF65-F5344CB8AC3E}">
        <p14:creationId xmlns:p14="http://schemas.microsoft.com/office/powerpoint/2010/main" val="26874033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57F18D-C731-9524-6C83-599A4FE93EAF}"/>
              </a:ext>
            </a:extLst>
          </p:cNvPr>
          <p:cNvSpPr>
            <a:spLocks noGrp="1"/>
          </p:cNvSpPr>
          <p:nvPr>
            <p:ph type="title"/>
          </p:nvPr>
        </p:nvSpPr>
        <p:spPr/>
        <p:txBody>
          <a:bodyPr/>
          <a:lstStyle/>
          <a:p>
            <a:r>
              <a:rPr kumimoji="1" lang="en-US" altLang="ja-JP" dirty="0"/>
              <a:t>NS72</a:t>
            </a:r>
            <a:br>
              <a:rPr kumimoji="1" lang="en-US" altLang="ja-JP" dirty="0"/>
            </a:br>
            <a:r>
              <a:rPr lang="ja-JP" altLang="en-US" sz="1600" dirty="0"/>
              <a:t>画像は以下より：</a:t>
            </a:r>
            <a:r>
              <a:rPr lang="en-US" altLang="ja-JP" sz="1600" dirty="0">
                <a:hlinkClick r:id="rId2">
                  <a:extLst>
                    <a:ext uri="{A12FA001-AC4F-418D-AE19-62706E023703}">
                      <ahyp:hlinkClr xmlns:ahyp="http://schemas.microsoft.com/office/drawing/2018/hyperlinkcolor" val="tx"/>
                    </a:ext>
                  </a:extLst>
                </a:hlinkClick>
              </a:rPr>
              <a:t>https://www.nsitexe.com/akaria/processor/ns/ns72a/</a:t>
            </a:r>
            <a:endParaRPr lang="en-US" sz="1600" dirty="0"/>
          </a:p>
        </p:txBody>
      </p:sp>
      <p:sp>
        <p:nvSpPr>
          <p:cNvPr id="3" name="テキスト プレースホルダー 2">
            <a:extLst>
              <a:ext uri="{FF2B5EF4-FFF2-40B4-BE49-F238E27FC236}">
                <a16:creationId xmlns:a16="http://schemas.microsoft.com/office/drawing/2014/main" id="{4261247D-2112-771F-826B-EFB4C9BA19E6}"/>
              </a:ext>
            </a:extLst>
          </p:cNvPr>
          <p:cNvSpPr>
            <a:spLocks noGrp="1"/>
          </p:cNvSpPr>
          <p:nvPr>
            <p:ph type="body" sz="quarter" idx="10"/>
          </p:nvPr>
        </p:nvSpPr>
        <p:spPr>
          <a:xfrm>
            <a:off x="2045955" y="5499023"/>
            <a:ext cx="8280092" cy="449698"/>
          </a:xfrm>
        </p:spPr>
        <p:txBody>
          <a:bodyPr/>
          <a:lstStyle/>
          <a:p>
            <a:r>
              <a:rPr kumimoji="1" lang="en-US" dirty="0"/>
              <a:t>3-issue </a:t>
            </a:r>
            <a:r>
              <a:rPr kumimoji="1" lang="ja-JP" altLang="en-US" dirty="0"/>
              <a:t>の </a:t>
            </a:r>
            <a:r>
              <a:rPr kumimoji="1" lang="en-US" altLang="ja-JP" dirty="0"/>
              <a:t>RISC-V out-of-order </a:t>
            </a:r>
            <a:r>
              <a:rPr kumimoji="1" lang="ja-JP" altLang="en-US" dirty="0"/>
              <a:t>スーパスカラ・プロセッサ</a:t>
            </a:r>
            <a:endParaRPr kumimoji="1" lang="en-US" altLang="ja-JP" dirty="0"/>
          </a:p>
          <a:p>
            <a:pPr lvl="1"/>
            <a:r>
              <a:rPr kumimoji="1" lang="ja-JP" altLang="en-US" dirty="0"/>
              <a:t>ベクトル拡張もフルに実装されている</a:t>
            </a:r>
            <a:endParaRPr kumimoji="1" lang="en-US" altLang="ja-JP" dirty="0"/>
          </a:p>
        </p:txBody>
      </p:sp>
      <p:pic>
        <p:nvPicPr>
          <p:cNvPr id="7" name="図 6">
            <a:extLst>
              <a:ext uri="{FF2B5EF4-FFF2-40B4-BE49-F238E27FC236}">
                <a16:creationId xmlns:a16="http://schemas.microsoft.com/office/drawing/2014/main" id="{71690A27-76B2-33E7-EDB0-E50AC8F13D79}"/>
              </a:ext>
            </a:extLst>
          </p:cNvPr>
          <p:cNvPicPr>
            <a:picLocks noChangeAspect="1"/>
          </p:cNvPicPr>
          <p:nvPr/>
        </p:nvPicPr>
        <p:blipFill>
          <a:blip r:embed="rId3"/>
          <a:stretch>
            <a:fillRect/>
          </a:stretch>
        </p:blipFill>
        <p:spPr>
          <a:xfrm>
            <a:off x="1955955" y="1538979"/>
            <a:ext cx="8262041" cy="3631856"/>
          </a:xfrm>
          <a:prstGeom prst="rect">
            <a:avLst/>
          </a:prstGeom>
        </p:spPr>
      </p:pic>
    </p:spTree>
    <p:extLst>
      <p:ext uri="{BB962C8B-B14F-4D97-AF65-F5344CB8AC3E}">
        <p14:creationId xmlns:p14="http://schemas.microsoft.com/office/powerpoint/2010/main" val="33032719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7B555C-C814-F268-2696-FA019CB58D08}"/>
              </a:ext>
            </a:extLst>
          </p:cNvPr>
          <p:cNvSpPr>
            <a:spLocks noGrp="1"/>
          </p:cNvSpPr>
          <p:nvPr>
            <p:ph type="title"/>
          </p:nvPr>
        </p:nvSpPr>
        <p:spPr/>
        <p:txBody>
          <a:bodyPr/>
          <a:lstStyle/>
          <a:p>
            <a:r>
              <a:rPr kumimoji="1" lang="ja-JP" altLang="en-US" dirty="0"/>
              <a:t>国外企業の例：</a:t>
            </a:r>
            <a:r>
              <a:rPr kumimoji="1" lang="en-US" dirty="0" err="1"/>
              <a:t>Tenstorrent</a:t>
            </a:r>
            <a:r>
              <a:rPr kumimoji="1" lang="en-US" dirty="0"/>
              <a:t> </a:t>
            </a:r>
            <a:r>
              <a:rPr kumimoji="1" lang="ja-JP" altLang="en-US" dirty="0"/>
              <a:t>社</a:t>
            </a:r>
            <a:endParaRPr kumimoji="1" lang="en-US" dirty="0"/>
          </a:p>
        </p:txBody>
      </p:sp>
      <p:sp>
        <p:nvSpPr>
          <p:cNvPr id="3" name="テキスト プレースホルダー 2">
            <a:extLst>
              <a:ext uri="{FF2B5EF4-FFF2-40B4-BE49-F238E27FC236}">
                <a16:creationId xmlns:a16="http://schemas.microsoft.com/office/drawing/2014/main" id="{90A7812B-C25A-D771-3C41-827EA215F5DC}"/>
              </a:ext>
            </a:extLst>
          </p:cNvPr>
          <p:cNvSpPr>
            <a:spLocks noGrp="1"/>
          </p:cNvSpPr>
          <p:nvPr>
            <p:ph type="body" sz="quarter" idx="10"/>
          </p:nvPr>
        </p:nvSpPr>
        <p:spPr>
          <a:xfrm>
            <a:off x="1775953" y="1088975"/>
            <a:ext cx="4590051" cy="5219751"/>
          </a:xfrm>
        </p:spPr>
        <p:txBody>
          <a:bodyPr/>
          <a:lstStyle/>
          <a:p>
            <a:r>
              <a:rPr kumimoji="1" lang="ja-JP" altLang="en-US" dirty="0"/>
              <a:t>もともとは </a:t>
            </a:r>
            <a:r>
              <a:rPr kumimoji="1" lang="en-US" altLang="ja-JP" dirty="0"/>
              <a:t>AI </a:t>
            </a:r>
            <a:r>
              <a:rPr kumimoji="1" lang="ja-JP" altLang="en-US" dirty="0"/>
              <a:t>ハードのスタートアップ</a:t>
            </a:r>
            <a:endParaRPr kumimoji="1" lang="en-US" altLang="ja-JP" dirty="0"/>
          </a:p>
          <a:p>
            <a:r>
              <a:rPr kumimoji="1" lang="en-US" altLang="ja-JP" dirty="0"/>
              <a:t>x86 </a:t>
            </a:r>
            <a:r>
              <a:rPr kumimoji="1" lang="ja-JP" altLang="en-US" dirty="0"/>
              <a:t>と戦えるような高性能 </a:t>
            </a:r>
            <a:r>
              <a:rPr kumimoji="1" lang="en-US" altLang="ja-JP" dirty="0"/>
              <a:t>RISC-V CPU </a:t>
            </a:r>
            <a:r>
              <a:rPr kumimoji="1" lang="ja-JP" altLang="en-US" dirty="0"/>
              <a:t>をなぜか？作り始めた</a:t>
            </a:r>
            <a:endParaRPr kumimoji="1" lang="en-US" altLang="ja-JP" dirty="0"/>
          </a:p>
          <a:p>
            <a:r>
              <a:rPr kumimoji="1" lang="ja-JP" altLang="en-US" dirty="0"/>
              <a:t>インテル，</a:t>
            </a:r>
            <a:r>
              <a:rPr kumimoji="1" lang="en-US" altLang="ja-JP" dirty="0"/>
              <a:t>Apple</a:t>
            </a:r>
            <a:r>
              <a:rPr kumimoji="1" lang="ja-JP" altLang="en-US" dirty="0"/>
              <a:t>，</a:t>
            </a:r>
            <a:r>
              <a:rPr kumimoji="1" lang="en-US" altLang="ja-JP" dirty="0"/>
              <a:t>ARM </a:t>
            </a:r>
            <a:r>
              <a:rPr kumimoji="1" lang="ja-JP" altLang="en-US" dirty="0"/>
              <a:t>あたりのチーフアーキテクトクラスを引き抜いてきている</a:t>
            </a:r>
            <a:endParaRPr kumimoji="1" lang="en-US" dirty="0"/>
          </a:p>
        </p:txBody>
      </p:sp>
      <p:pic>
        <p:nvPicPr>
          <p:cNvPr id="5" name="図 4">
            <a:extLst>
              <a:ext uri="{FF2B5EF4-FFF2-40B4-BE49-F238E27FC236}">
                <a16:creationId xmlns:a16="http://schemas.microsoft.com/office/drawing/2014/main" id="{733DD363-489F-975E-565C-6356F45F2276}"/>
              </a:ext>
            </a:extLst>
          </p:cNvPr>
          <p:cNvPicPr>
            <a:picLocks noChangeAspect="1"/>
          </p:cNvPicPr>
          <p:nvPr/>
        </p:nvPicPr>
        <p:blipFill>
          <a:blip r:embed="rId2"/>
          <a:stretch>
            <a:fillRect/>
          </a:stretch>
        </p:blipFill>
        <p:spPr>
          <a:xfrm>
            <a:off x="6643809" y="-6691"/>
            <a:ext cx="4065549" cy="6858000"/>
          </a:xfrm>
          <a:prstGeom prst="rect">
            <a:avLst/>
          </a:prstGeom>
        </p:spPr>
      </p:pic>
    </p:spTree>
    <p:extLst>
      <p:ext uri="{BB962C8B-B14F-4D97-AF65-F5344CB8AC3E}">
        <p14:creationId xmlns:p14="http://schemas.microsoft.com/office/powerpoint/2010/main" val="15570679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263E60-4173-10A4-77AE-9DEA87762C5C}"/>
              </a:ext>
            </a:extLst>
          </p:cNvPr>
          <p:cNvSpPr>
            <a:spLocks noGrp="1"/>
          </p:cNvSpPr>
          <p:nvPr>
            <p:ph type="title"/>
          </p:nvPr>
        </p:nvSpPr>
        <p:spPr/>
        <p:txBody>
          <a:bodyPr/>
          <a:lstStyle/>
          <a:p>
            <a:r>
              <a:rPr lang="ja-JP" altLang="en-US" dirty="0"/>
              <a:t>国外企業の例：</a:t>
            </a:r>
            <a:r>
              <a:rPr lang="en-US" altLang="ja-JP" dirty="0" err="1"/>
              <a:t>SiFive</a:t>
            </a:r>
            <a:r>
              <a:rPr lang="en-US" altLang="ja-JP" dirty="0"/>
              <a:t> </a:t>
            </a:r>
            <a:r>
              <a:rPr lang="ja-JP" altLang="en-US" dirty="0"/>
              <a:t>社</a:t>
            </a:r>
            <a:endParaRPr kumimoji="1" lang="ja-JP" altLang="en-US" dirty="0"/>
          </a:p>
        </p:txBody>
      </p:sp>
      <p:sp>
        <p:nvSpPr>
          <p:cNvPr id="3" name="テキスト プレースホルダー 2">
            <a:extLst>
              <a:ext uri="{FF2B5EF4-FFF2-40B4-BE49-F238E27FC236}">
                <a16:creationId xmlns:a16="http://schemas.microsoft.com/office/drawing/2014/main" id="{739A4762-3875-BA84-311D-958D982815F3}"/>
              </a:ext>
            </a:extLst>
          </p:cNvPr>
          <p:cNvSpPr>
            <a:spLocks noGrp="1"/>
          </p:cNvSpPr>
          <p:nvPr>
            <p:ph type="body" sz="quarter" idx="10"/>
          </p:nvPr>
        </p:nvSpPr>
        <p:spPr>
          <a:xfrm>
            <a:off x="605939" y="1808982"/>
            <a:ext cx="4770053" cy="3690041"/>
          </a:xfrm>
        </p:spPr>
        <p:txBody>
          <a:bodyPr/>
          <a:lstStyle/>
          <a:p>
            <a:r>
              <a:rPr kumimoji="1" lang="en-US" altLang="ja-JP" dirty="0"/>
              <a:t>RISC-V </a:t>
            </a:r>
            <a:r>
              <a:rPr kumimoji="1" lang="ja-JP" altLang="en-US" dirty="0"/>
              <a:t>を作った人達が立てた会社</a:t>
            </a:r>
            <a:endParaRPr kumimoji="1" lang="en-US" altLang="ja-JP" dirty="0"/>
          </a:p>
          <a:p>
            <a:pPr lvl="1"/>
            <a:r>
              <a:rPr lang="ja-JP" altLang="en-US" dirty="0"/>
              <a:t>一貫して </a:t>
            </a:r>
            <a:r>
              <a:rPr lang="en-US" altLang="ja-JP" dirty="0"/>
              <a:t>Chisel </a:t>
            </a:r>
            <a:r>
              <a:rPr lang="ja-JP" altLang="en-US" dirty="0"/>
              <a:t>という独自言語で設計</a:t>
            </a:r>
            <a:endParaRPr lang="en-US" altLang="ja-JP" dirty="0"/>
          </a:p>
          <a:p>
            <a:pPr lvl="1"/>
            <a:r>
              <a:rPr lang="en-US" altLang="ja-JP" dirty="0">
                <a:hlinkClick r:id="rId2"/>
              </a:rPr>
              <a:t>https://www.sifive.com/</a:t>
            </a:r>
            <a:r>
              <a:rPr lang="en-US" altLang="ja-JP" dirty="0"/>
              <a:t> </a:t>
            </a:r>
            <a:r>
              <a:rPr lang="ja-JP" altLang="en-US" dirty="0"/>
              <a:t>より</a:t>
            </a:r>
            <a:endParaRPr lang="en-US" altLang="ja-JP" dirty="0"/>
          </a:p>
          <a:p>
            <a:endParaRPr kumimoji="1" lang="ja-JP" altLang="en-US" dirty="0"/>
          </a:p>
        </p:txBody>
      </p:sp>
      <p:pic>
        <p:nvPicPr>
          <p:cNvPr id="5" name="図 4">
            <a:extLst>
              <a:ext uri="{FF2B5EF4-FFF2-40B4-BE49-F238E27FC236}">
                <a16:creationId xmlns:a16="http://schemas.microsoft.com/office/drawing/2014/main" id="{D09DFA5A-CC46-9FA5-49BD-03C446487636}"/>
              </a:ext>
            </a:extLst>
          </p:cNvPr>
          <p:cNvPicPr>
            <a:picLocks noChangeAspect="1"/>
          </p:cNvPicPr>
          <p:nvPr/>
        </p:nvPicPr>
        <p:blipFill>
          <a:blip r:embed="rId3"/>
          <a:stretch>
            <a:fillRect/>
          </a:stretch>
        </p:blipFill>
        <p:spPr>
          <a:xfrm>
            <a:off x="5587722" y="1808982"/>
            <a:ext cx="5908004" cy="4329010"/>
          </a:xfrm>
          <a:prstGeom prst="rect">
            <a:avLst/>
          </a:prstGeom>
        </p:spPr>
      </p:pic>
    </p:spTree>
    <p:extLst>
      <p:ext uri="{BB962C8B-B14F-4D97-AF65-F5344CB8AC3E}">
        <p14:creationId xmlns:p14="http://schemas.microsoft.com/office/powerpoint/2010/main" val="22927317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a:t>まとめ</a:t>
            </a:r>
          </a:p>
        </p:txBody>
      </p:sp>
    </p:spTree>
    <p:extLst>
      <p:ext uri="{BB962C8B-B14F-4D97-AF65-F5344CB8AC3E}">
        <p14:creationId xmlns:p14="http://schemas.microsoft.com/office/powerpoint/2010/main" val="171783850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今日のまとめ</a:t>
            </a:r>
          </a:p>
        </p:txBody>
      </p:sp>
      <p:sp>
        <p:nvSpPr>
          <p:cNvPr id="3" name="テキスト プレースホルダー 2"/>
          <p:cNvSpPr>
            <a:spLocks noGrp="1"/>
          </p:cNvSpPr>
          <p:nvPr>
            <p:ph type="body" sz="quarter" idx="10"/>
          </p:nvPr>
        </p:nvSpPr>
        <p:spPr/>
        <p:txBody>
          <a:bodyPr/>
          <a:lstStyle/>
          <a:p>
            <a:r>
              <a:rPr kumimoji="1" lang="ja-JP" altLang="en-US" dirty="0"/>
              <a:t>今日の内容</a:t>
            </a:r>
            <a:endParaRPr kumimoji="1" lang="en-US" altLang="ja-JP" dirty="0"/>
          </a:p>
          <a:p>
            <a:pPr marL="817200" lvl="1" indent="-457200">
              <a:buFont typeface="+mj-lt"/>
              <a:buAutoNum type="arabicPeriod"/>
            </a:pPr>
            <a:r>
              <a:rPr kumimoji="1" lang="ja-JP" altLang="en-US" dirty="0"/>
              <a:t>コンピュータの基本</a:t>
            </a:r>
            <a:endParaRPr kumimoji="1" lang="en-US" altLang="ja-JP" dirty="0"/>
          </a:p>
          <a:p>
            <a:pPr marL="1177200" lvl="2" indent="-457200">
              <a:buFont typeface="+mj-lt"/>
              <a:buAutoNum type="arabicPeriod"/>
            </a:pPr>
            <a:r>
              <a:rPr lang="ja-JP" altLang="en-US" dirty="0"/>
              <a:t>命令やプログラム，機械語とはなにか</a:t>
            </a:r>
            <a:endParaRPr lang="en-US" altLang="ja-JP" dirty="0"/>
          </a:p>
          <a:p>
            <a:pPr marL="1177200" lvl="2" indent="-457200">
              <a:buFont typeface="+mj-lt"/>
              <a:buAutoNum type="arabicPeriod"/>
            </a:pPr>
            <a:r>
              <a:rPr kumimoji="1" lang="ja-JP" altLang="en-US" dirty="0"/>
              <a:t>単純な </a:t>
            </a:r>
            <a:r>
              <a:rPr kumimoji="1" lang="en-US" altLang="ja-JP" dirty="0"/>
              <a:t>CPU </a:t>
            </a:r>
            <a:r>
              <a:rPr kumimoji="1" lang="ja-JP" altLang="en-US" dirty="0"/>
              <a:t>の構造と動作</a:t>
            </a:r>
            <a:endParaRPr kumimoji="1" lang="en-US" altLang="ja-JP" dirty="0"/>
          </a:p>
          <a:p>
            <a:pPr marL="817200" lvl="1" indent="-457200">
              <a:buFont typeface="+mj-lt"/>
              <a:buAutoNum type="arabicPeriod"/>
            </a:pPr>
            <a:r>
              <a:rPr kumimoji="1" lang="en-US" altLang="ja-JP" dirty="0"/>
              <a:t>C </a:t>
            </a:r>
            <a:r>
              <a:rPr kumimoji="1" lang="ja-JP" altLang="en-US" dirty="0"/>
              <a:t>言語</a:t>
            </a:r>
            <a:r>
              <a:rPr lang="ja-JP" altLang="en-US" dirty="0"/>
              <a:t>で書かれた</a:t>
            </a:r>
            <a:r>
              <a:rPr kumimoji="1" lang="ja-JP" altLang="en-US" dirty="0"/>
              <a:t>プログラムの実行を考える</a:t>
            </a:r>
            <a:endParaRPr kumimoji="1" lang="en-US" altLang="ja-JP" dirty="0"/>
          </a:p>
          <a:p>
            <a:pPr marL="1177200" lvl="2" indent="-457200">
              <a:buFont typeface="+mj-lt"/>
              <a:buAutoNum type="arabicPeriod"/>
            </a:pPr>
            <a:r>
              <a:rPr lang="en-US" altLang="ja-JP" dirty="0"/>
              <a:t>C </a:t>
            </a:r>
            <a:r>
              <a:rPr lang="ja-JP" altLang="en-US" dirty="0"/>
              <a:t>言語と機械語の対応</a:t>
            </a:r>
            <a:endParaRPr kumimoji="1" lang="en-US" altLang="ja-JP" dirty="0"/>
          </a:p>
          <a:p>
            <a:pPr marL="817200" lvl="1" indent="-457200">
              <a:buFont typeface="+mj-lt"/>
              <a:buAutoNum type="arabicPeriod"/>
            </a:pPr>
            <a:r>
              <a:rPr kumimoji="1" lang="ja-JP" altLang="en-US" dirty="0"/>
              <a:t>命令セットの例：</a:t>
            </a:r>
            <a:r>
              <a:rPr kumimoji="1" lang="en-US" altLang="ja-JP" dirty="0"/>
              <a:t>RISC-V</a:t>
            </a:r>
          </a:p>
          <a:p>
            <a:r>
              <a:rPr kumimoji="1" lang="ja-JP" altLang="en-US" dirty="0"/>
              <a:t>次週の予定</a:t>
            </a:r>
            <a:endParaRPr kumimoji="1" lang="en-US" altLang="ja-JP" dirty="0"/>
          </a:p>
          <a:p>
            <a:pPr lvl="1"/>
            <a:r>
              <a:rPr kumimoji="1" lang="ja-JP" altLang="en-US" dirty="0"/>
              <a:t>命令パイプライン</a:t>
            </a:r>
            <a:endParaRPr kumimoji="1" lang="en-US" altLang="ja-JP" dirty="0"/>
          </a:p>
          <a:p>
            <a:pPr marL="0" indent="0">
              <a:buNone/>
            </a:pPr>
            <a:endParaRPr kumimoji="1" lang="en-US" altLang="ja-JP" dirty="0"/>
          </a:p>
        </p:txBody>
      </p:sp>
    </p:spTree>
    <p:extLst>
      <p:ext uri="{BB962C8B-B14F-4D97-AF65-F5344CB8AC3E}">
        <p14:creationId xmlns:p14="http://schemas.microsoft.com/office/powerpoint/2010/main" val="6874800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出欠と感想</a:t>
            </a:r>
            <a:endParaRPr kumimoji="1" lang="ja-JP" altLang="en-US" dirty="0"/>
          </a:p>
        </p:txBody>
      </p:sp>
      <p:sp>
        <p:nvSpPr>
          <p:cNvPr id="3" name="テキスト プレースホルダー 2"/>
          <p:cNvSpPr>
            <a:spLocks noGrp="1"/>
          </p:cNvSpPr>
          <p:nvPr>
            <p:ph type="body" sz="quarter" idx="10"/>
          </p:nvPr>
        </p:nvSpPr>
        <p:spPr>
          <a:xfrm>
            <a:off x="1865953" y="1088975"/>
            <a:ext cx="8532044" cy="5219751"/>
          </a:xfrm>
        </p:spPr>
        <p:txBody>
          <a:bodyPr/>
          <a:lstStyle/>
          <a:p>
            <a:r>
              <a:rPr lang="ja-JP" altLang="en-US" dirty="0"/>
              <a:t>本日の講義でよくわかったところ，わからなかったところ，</a:t>
            </a:r>
            <a:br>
              <a:rPr lang="en-US" altLang="ja-JP" dirty="0"/>
            </a:br>
            <a:r>
              <a:rPr lang="ja-JP" altLang="en-US" dirty="0"/>
              <a:t>質問，感想などを </a:t>
            </a:r>
            <a:r>
              <a:rPr lang="en-US" altLang="ja-JP" dirty="0"/>
              <a:t>UTOL </a:t>
            </a:r>
            <a:r>
              <a:rPr lang="ja-JP" altLang="en-US" dirty="0"/>
              <a:t>の出席欄に書いてください</a:t>
            </a:r>
            <a:endParaRPr lang="en-US" altLang="ja-JP" dirty="0"/>
          </a:p>
          <a:p>
            <a:pPr lvl="1"/>
            <a:r>
              <a:rPr lang="en-US" altLang="ja-JP" dirty="0"/>
              <a:t>LMS </a:t>
            </a:r>
            <a:r>
              <a:rPr lang="ja-JP" altLang="en-US" dirty="0"/>
              <a:t>の出席を設定するので，そこにお願いします</a:t>
            </a:r>
            <a:endParaRPr lang="en-US" altLang="ja-JP" dirty="0"/>
          </a:p>
          <a:p>
            <a:pPr lvl="1"/>
            <a:r>
              <a:rPr lang="ja-JP" altLang="en-US" dirty="0"/>
              <a:t>パスワード ：</a:t>
            </a:r>
            <a:r>
              <a:rPr lang="en-US" altLang="ja-JP" dirty="0"/>
              <a:t>arc</a:t>
            </a:r>
          </a:p>
          <a:p>
            <a:r>
              <a:rPr kumimoji="1" lang="ja-JP" altLang="en-US" dirty="0"/>
              <a:t>意見や内容へのリクエストもあったら書いてください</a:t>
            </a:r>
            <a:endParaRPr kumimoji="1" lang="en-US" altLang="ja-JP" dirty="0"/>
          </a:p>
          <a:p>
            <a:r>
              <a:rPr lang="en-US" altLang="ja-JP" dirty="0">
                <a:solidFill>
                  <a:schemeClr val="accent5"/>
                </a:solidFill>
              </a:rPr>
              <a:t>UTOL</a:t>
            </a:r>
            <a:r>
              <a:rPr kumimoji="1" lang="en-US" altLang="ja-JP" dirty="0">
                <a:solidFill>
                  <a:schemeClr val="accent5"/>
                </a:solidFill>
              </a:rPr>
              <a:t> </a:t>
            </a:r>
            <a:r>
              <a:rPr kumimoji="1" lang="ja-JP" altLang="en-US" dirty="0">
                <a:solidFill>
                  <a:schemeClr val="accent5"/>
                </a:solidFill>
              </a:rPr>
              <a:t>の出席の締め切りは来週の講義開始までに設定してあります</a:t>
            </a:r>
            <a:endParaRPr kumimoji="1" lang="en-US" altLang="ja-JP" dirty="0">
              <a:solidFill>
                <a:schemeClr val="accent5"/>
              </a:solidFill>
            </a:endParaRPr>
          </a:p>
          <a:p>
            <a:pPr lvl="1"/>
            <a:r>
              <a:rPr kumimoji="1" lang="ja-JP" altLang="en-US" dirty="0"/>
              <a:t>仕様上「遅刻」表示になりますが，特に減点等しません</a:t>
            </a:r>
            <a:endParaRPr kumimoji="1" lang="en-US" altLang="ja-JP" dirty="0"/>
          </a:p>
          <a:p>
            <a:pPr lvl="1"/>
            <a:r>
              <a:rPr kumimoji="1" lang="ja-JP" altLang="en-US" dirty="0"/>
              <a:t>来週の講義開始までは感想や質問などを受け付けます</a:t>
            </a:r>
          </a:p>
        </p:txBody>
      </p:sp>
    </p:spTree>
    <p:extLst>
      <p:ext uri="{BB962C8B-B14F-4D97-AF65-F5344CB8AC3E}">
        <p14:creationId xmlns:p14="http://schemas.microsoft.com/office/powerpoint/2010/main" val="38049454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47859A-3980-FDF2-1640-F0FA778F8435}"/>
              </a:ext>
            </a:extLst>
          </p:cNvPr>
          <p:cNvSpPr>
            <a:spLocks noGrp="1"/>
          </p:cNvSpPr>
          <p:nvPr>
            <p:ph type="title"/>
          </p:nvPr>
        </p:nvSpPr>
        <p:spPr/>
        <p:txBody>
          <a:bodyPr/>
          <a:lstStyle/>
          <a:p>
            <a:r>
              <a:rPr kumimoji="1" lang="ja-JP" altLang="en-US" dirty="0"/>
              <a:t>オンライン講義について</a:t>
            </a:r>
          </a:p>
        </p:txBody>
      </p:sp>
      <p:sp>
        <p:nvSpPr>
          <p:cNvPr id="3" name="テキスト プレースホルダー 2">
            <a:extLst>
              <a:ext uri="{FF2B5EF4-FFF2-40B4-BE49-F238E27FC236}">
                <a16:creationId xmlns:a16="http://schemas.microsoft.com/office/drawing/2014/main" id="{D12FAD08-F044-5870-F4D3-487018F0B347}"/>
              </a:ext>
            </a:extLst>
          </p:cNvPr>
          <p:cNvSpPr>
            <a:spLocks noGrp="1"/>
          </p:cNvSpPr>
          <p:nvPr>
            <p:ph type="body" sz="quarter" idx="10"/>
          </p:nvPr>
        </p:nvSpPr>
        <p:spPr/>
        <p:txBody>
          <a:bodyPr/>
          <a:lstStyle/>
          <a:p>
            <a:r>
              <a:rPr kumimoji="1" lang="ja-JP" altLang="en-US" dirty="0"/>
              <a:t>来週以降，本郷キャンパス以外に研究室がある人など，</a:t>
            </a:r>
            <a:br>
              <a:rPr kumimoji="1" lang="en-US" altLang="ja-JP" dirty="0"/>
            </a:br>
            <a:r>
              <a:rPr kumimoji="1" lang="ja-JP" altLang="en-US" dirty="0"/>
              <a:t>遠隔にいる人のみオンライン化としたいです</a:t>
            </a:r>
            <a:endParaRPr kumimoji="1" lang="en-US" altLang="ja-JP" dirty="0"/>
          </a:p>
          <a:p>
            <a:r>
              <a:rPr lang="ja-JP" altLang="en-US" dirty="0"/>
              <a:t>メールで以下の情報を送ってください</a:t>
            </a:r>
            <a:endParaRPr lang="en-US" altLang="ja-JP" dirty="0"/>
          </a:p>
          <a:p>
            <a:pPr lvl="1"/>
            <a:r>
              <a:rPr kumimoji="1" lang="ja-JP" altLang="en-US" dirty="0"/>
              <a:t>所属，学籍番号，学年，氏名，研究室がある場所などの情報</a:t>
            </a:r>
          </a:p>
        </p:txBody>
      </p:sp>
    </p:spTree>
    <p:extLst>
      <p:ext uri="{BB962C8B-B14F-4D97-AF65-F5344CB8AC3E}">
        <p14:creationId xmlns:p14="http://schemas.microsoft.com/office/powerpoint/2010/main" val="610476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A888410A-47FF-F816-AADC-843329607950}"/>
              </a:ext>
            </a:extLst>
          </p:cNvPr>
          <p:cNvSpPr>
            <a:spLocks noGrp="1"/>
          </p:cNvSpPr>
          <p:nvPr>
            <p:ph type="title"/>
          </p:nvPr>
        </p:nvSpPr>
        <p:spPr/>
        <p:txBody>
          <a:bodyPr/>
          <a:lstStyle/>
          <a:p>
            <a:r>
              <a:rPr lang="ja-JP" altLang="en-US" dirty="0"/>
              <a:t>感想や質問</a:t>
            </a:r>
          </a:p>
        </p:txBody>
      </p:sp>
    </p:spTree>
    <p:extLst>
      <p:ext uri="{BB962C8B-B14F-4D97-AF65-F5344CB8AC3E}">
        <p14:creationId xmlns:p14="http://schemas.microsoft.com/office/powerpoint/2010/main" val="253534825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0270B7-AE38-2C9A-0C31-F77DC2C0FD3A}"/>
              </a:ext>
            </a:extLst>
          </p:cNvPr>
          <p:cNvSpPr>
            <a:spLocks noGrp="1"/>
          </p:cNvSpPr>
          <p:nvPr>
            <p:ph type="title"/>
          </p:nvPr>
        </p:nvSpPr>
        <p:spPr>
          <a:xfrm>
            <a:off x="1415948" y="0"/>
            <a:ext cx="10776052" cy="908972"/>
          </a:xfrm>
        </p:spPr>
        <p:txBody>
          <a:bodyPr/>
          <a:lstStyle/>
          <a:p>
            <a:r>
              <a:rPr lang="ja-JP" altLang="en-US" dirty="0"/>
              <a:t>感想や質問</a:t>
            </a:r>
          </a:p>
        </p:txBody>
      </p:sp>
      <p:sp>
        <p:nvSpPr>
          <p:cNvPr id="3" name="テキスト プレースホルダー 2">
            <a:extLst>
              <a:ext uri="{FF2B5EF4-FFF2-40B4-BE49-F238E27FC236}">
                <a16:creationId xmlns:a16="http://schemas.microsoft.com/office/drawing/2014/main" id="{44FA8598-9574-326D-D56C-F362F4FE54A5}"/>
              </a:ext>
            </a:extLst>
          </p:cNvPr>
          <p:cNvSpPr>
            <a:spLocks noGrp="1"/>
          </p:cNvSpPr>
          <p:nvPr>
            <p:ph type="body" sz="quarter" idx="10"/>
          </p:nvPr>
        </p:nvSpPr>
        <p:spPr>
          <a:xfrm>
            <a:off x="1775952" y="1088974"/>
            <a:ext cx="8730097" cy="5219751"/>
          </a:xfrm>
        </p:spPr>
        <p:txBody>
          <a:bodyPr/>
          <a:lstStyle/>
          <a:p>
            <a:r>
              <a:rPr lang="ja-JP" altLang="en-US" dirty="0"/>
              <a:t>学部時代に</a:t>
            </a:r>
            <a:r>
              <a:rPr lang="en-US" altLang="ja-JP" dirty="0"/>
              <a:t>python</a:t>
            </a:r>
            <a:r>
              <a:rPr lang="ja-JP" altLang="en-US" dirty="0"/>
              <a:t>や</a:t>
            </a:r>
            <a:r>
              <a:rPr lang="en-US" altLang="ja-JP" dirty="0"/>
              <a:t>C</a:t>
            </a:r>
            <a:r>
              <a:rPr lang="ja-JP" altLang="en-US" dirty="0"/>
              <a:t>言語を最小限だけ学びました。</a:t>
            </a:r>
            <a:r>
              <a:rPr lang="en-US" altLang="ja-JP" dirty="0"/>
              <a:t>vibe coding</a:t>
            </a:r>
            <a:r>
              <a:rPr lang="ja-JP" altLang="en-US" dirty="0"/>
              <a:t>で卒研や研究をギリギリ耐えましたが、最近は不安になってコンピュータとは何かとか計算機理論</a:t>
            </a:r>
            <a:r>
              <a:rPr lang="en-US" altLang="ja-JP" dirty="0"/>
              <a:t>(</a:t>
            </a:r>
            <a:r>
              <a:rPr lang="ja-JP" altLang="en-US" dirty="0"/>
              <a:t>仕組みなど</a:t>
            </a:r>
            <a:r>
              <a:rPr lang="en-US" altLang="ja-JP" dirty="0"/>
              <a:t>)</a:t>
            </a:r>
            <a:r>
              <a:rPr lang="ja-JP" altLang="en-US" dirty="0"/>
              <a:t>をしっかり勉強したいと思い、この授業を取りました。これから研究でスパコンを使って自分の</a:t>
            </a:r>
            <a:r>
              <a:rPr lang="en-US" altLang="ja-JP" dirty="0"/>
              <a:t>(with</a:t>
            </a:r>
            <a:r>
              <a:rPr lang="ja-JP" altLang="en-US" dirty="0"/>
              <a:t>生成</a:t>
            </a:r>
            <a:r>
              <a:rPr lang="en-US" altLang="ja-JP" dirty="0"/>
              <a:t>AI)</a:t>
            </a:r>
            <a:r>
              <a:rPr lang="ja-JP" altLang="en-US" dirty="0"/>
              <a:t>コードを走らせることが増えてくるので、頑張ってついていこうと思っています。</a:t>
            </a:r>
          </a:p>
        </p:txBody>
      </p:sp>
    </p:spTree>
    <p:extLst>
      <p:ext uri="{BB962C8B-B14F-4D97-AF65-F5344CB8AC3E}">
        <p14:creationId xmlns:p14="http://schemas.microsoft.com/office/powerpoint/2010/main" val="40589773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34BDE-787C-1FFE-5FE2-1D72B5BFF9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9708267-6BCE-4EA4-FBBE-A25DA6B2B0EE}"/>
              </a:ext>
            </a:extLst>
          </p:cNvPr>
          <p:cNvSpPr>
            <a:spLocks noGrp="1"/>
          </p:cNvSpPr>
          <p:nvPr>
            <p:ph type="title"/>
          </p:nvPr>
        </p:nvSpPr>
        <p:spPr>
          <a:xfrm>
            <a:off x="1415948" y="0"/>
            <a:ext cx="10776052" cy="908972"/>
          </a:xfrm>
        </p:spPr>
        <p:txBody>
          <a:bodyPr/>
          <a:lstStyle/>
          <a:p>
            <a:r>
              <a:rPr lang="ja-JP" altLang="en-US" dirty="0"/>
              <a:t>感想や質問</a:t>
            </a:r>
          </a:p>
        </p:txBody>
      </p:sp>
      <p:sp>
        <p:nvSpPr>
          <p:cNvPr id="3" name="テキスト プレースホルダー 2">
            <a:extLst>
              <a:ext uri="{FF2B5EF4-FFF2-40B4-BE49-F238E27FC236}">
                <a16:creationId xmlns:a16="http://schemas.microsoft.com/office/drawing/2014/main" id="{9D1DE868-C7D3-CB25-1F7A-B1B5C70A85C3}"/>
              </a:ext>
            </a:extLst>
          </p:cNvPr>
          <p:cNvSpPr>
            <a:spLocks noGrp="1"/>
          </p:cNvSpPr>
          <p:nvPr>
            <p:ph type="body" sz="quarter" idx="10"/>
          </p:nvPr>
        </p:nvSpPr>
        <p:spPr>
          <a:xfrm>
            <a:off x="1775952" y="1088974"/>
            <a:ext cx="8730097" cy="5219751"/>
          </a:xfrm>
        </p:spPr>
        <p:txBody>
          <a:bodyPr/>
          <a:lstStyle/>
          <a:p>
            <a:r>
              <a:rPr lang="ja-JP" altLang="en-US" dirty="0"/>
              <a:t>学部時代で入江先生のコンピューターアーキテクチャの授業で聞いたことがある内容がちらほら見えました。入江先生の授業も面白かったんですが、こっちも楽しみにしています。</a:t>
            </a:r>
            <a:endParaRPr lang="en-US" altLang="ja-JP" dirty="0"/>
          </a:p>
          <a:p>
            <a:r>
              <a:rPr lang="ja-JP" altLang="en-US" dirty="0"/>
              <a:t>電子情報工学科出身で入江先生のコンピュータアーキテクチャの授業を受講していました。後期実験では</a:t>
            </a:r>
            <a:r>
              <a:rPr lang="en-US" altLang="ja-JP" dirty="0"/>
              <a:t>CPU</a:t>
            </a:r>
            <a:r>
              <a:rPr lang="ja-JP" altLang="en-US" dirty="0"/>
              <a:t>実験も履修していました。</a:t>
            </a:r>
            <a:br>
              <a:rPr lang="en-US" altLang="ja-JP" dirty="0"/>
            </a:br>
            <a:r>
              <a:rPr lang="ja-JP" altLang="en-US" dirty="0"/>
              <a:t>オンラインとの併用としていただけると嬉しいです。</a:t>
            </a:r>
            <a:endParaRPr lang="en-US" altLang="ja-JP" dirty="0"/>
          </a:p>
          <a:p>
            <a:r>
              <a:rPr lang="ja-JP" altLang="en-US" dirty="0"/>
              <a:t>学部でとっていた入江先生の授業と重複する部分が多そうで、授業を取るか迷っています。</a:t>
            </a:r>
            <a:r>
              <a:rPr lang="en-US" altLang="ja-JP" dirty="0"/>
              <a:t>GPU</a:t>
            </a:r>
            <a:r>
              <a:rPr lang="ja-JP" altLang="en-US" dirty="0"/>
              <a:t>の説明はかなり興味があります。</a:t>
            </a:r>
          </a:p>
        </p:txBody>
      </p:sp>
    </p:spTree>
    <p:extLst>
      <p:ext uri="{BB962C8B-B14F-4D97-AF65-F5344CB8AC3E}">
        <p14:creationId xmlns:p14="http://schemas.microsoft.com/office/powerpoint/2010/main" val="23523672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062D3-603A-95A6-62A3-5100B0BEA2F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2F02D3D-C624-3EF2-C9B2-CC1ED24D865B}"/>
              </a:ext>
            </a:extLst>
          </p:cNvPr>
          <p:cNvSpPr>
            <a:spLocks noGrp="1"/>
          </p:cNvSpPr>
          <p:nvPr>
            <p:ph type="title"/>
          </p:nvPr>
        </p:nvSpPr>
        <p:spPr/>
        <p:txBody>
          <a:bodyPr/>
          <a:lstStyle/>
          <a:p>
            <a:r>
              <a:rPr kumimoji="1" lang="ja-JP" altLang="en-US" dirty="0"/>
              <a:t>感想や質問</a:t>
            </a:r>
          </a:p>
        </p:txBody>
      </p:sp>
      <p:sp>
        <p:nvSpPr>
          <p:cNvPr id="3" name="テキスト プレースホルダー 2">
            <a:extLst>
              <a:ext uri="{FF2B5EF4-FFF2-40B4-BE49-F238E27FC236}">
                <a16:creationId xmlns:a16="http://schemas.microsoft.com/office/drawing/2014/main" id="{BB9C41E6-1052-4843-1B0D-1591725CB5A5}"/>
              </a:ext>
            </a:extLst>
          </p:cNvPr>
          <p:cNvSpPr>
            <a:spLocks noGrp="1"/>
          </p:cNvSpPr>
          <p:nvPr>
            <p:ph type="body" sz="quarter" idx="10"/>
          </p:nvPr>
        </p:nvSpPr>
        <p:spPr/>
        <p:txBody>
          <a:bodyPr/>
          <a:lstStyle/>
          <a:p>
            <a:r>
              <a:rPr lang="en-US" altLang="ja-JP" dirty="0"/>
              <a:t>12</a:t>
            </a:r>
            <a:r>
              <a:rPr lang="ja-JP" altLang="en-US" dirty="0"/>
              <a:t>回目のキャッシュの話と、</a:t>
            </a:r>
            <a:r>
              <a:rPr lang="en-US" altLang="ja-JP" dirty="0"/>
              <a:t>13</a:t>
            </a:r>
            <a:r>
              <a:rPr lang="ja-JP" altLang="en-US" dirty="0"/>
              <a:t>回目のセキュリティの話がとても楽しみです。</a:t>
            </a:r>
            <a:endParaRPr kumimoji="1" lang="ja-JP" altLang="en-US" dirty="0"/>
          </a:p>
        </p:txBody>
      </p:sp>
    </p:spTree>
    <p:extLst>
      <p:ext uri="{BB962C8B-B14F-4D97-AF65-F5344CB8AC3E}">
        <p14:creationId xmlns:p14="http://schemas.microsoft.com/office/powerpoint/2010/main" val="17383638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2A2EE-2A53-F242-2972-4329A0A5887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A6FC70A-5D4A-393C-C101-D5C43299184F}"/>
              </a:ext>
            </a:extLst>
          </p:cNvPr>
          <p:cNvSpPr>
            <a:spLocks noGrp="1"/>
          </p:cNvSpPr>
          <p:nvPr>
            <p:ph type="title"/>
          </p:nvPr>
        </p:nvSpPr>
        <p:spPr/>
        <p:txBody>
          <a:bodyPr/>
          <a:lstStyle/>
          <a:p>
            <a:r>
              <a:rPr kumimoji="1" lang="ja-JP" altLang="en-US" dirty="0"/>
              <a:t>感想や質問</a:t>
            </a:r>
          </a:p>
        </p:txBody>
      </p:sp>
      <p:sp>
        <p:nvSpPr>
          <p:cNvPr id="3" name="テキスト プレースホルダー 2">
            <a:extLst>
              <a:ext uri="{FF2B5EF4-FFF2-40B4-BE49-F238E27FC236}">
                <a16:creationId xmlns:a16="http://schemas.microsoft.com/office/drawing/2014/main" id="{03B678DA-5053-AF0C-E032-7D999F74130E}"/>
              </a:ext>
            </a:extLst>
          </p:cNvPr>
          <p:cNvSpPr>
            <a:spLocks noGrp="1"/>
          </p:cNvSpPr>
          <p:nvPr>
            <p:ph type="body" sz="quarter" idx="10"/>
          </p:nvPr>
        </p:nvSpPr>
        <p:spPr/>
        <p:txBody>
          <a:bodyPr/>
          <a:lstStyle/>
          <a:p>
            <a:r>
              <a:rPr lang="ja-JP" altLang="en-US" dirty="0"/>
              <a:t>プロセッサ関連のネットニュースはよく見るので、講義が楽しみです。</a:t>
            </a:r>
            <a:endParaRPr kumimoji="1" lang="ja-JP" altLang="en-US" dirty="0"/>
          </a:p>
        </p:txBody>
      </p:sp>
    </p:spTree>
    <p:extLst>
      <p:ext uri="{BB962C8B-B14F-4D97-AF65-F5344CB8AC3E}">
        <p14:creationId xmlns:p14="http://schemas.microsoft.com/office/powerpoint/2010/main" val="21453299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1473B-3694-AE5F-E392-073303EA14D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0F85583-95AD-2BBA-88DB-D80550A18A2C}"/>
              </a:ext>
            </a:extLst>
          </p:cNvPr>
          <p:cNvSpPr>
            <a:spLocks noGrp="1"/>
          </p:cNvSpPr>
          <p:nvPr>
            <p:ph type="title"/>
          </p:nvPr>
        </p:nvSpPr>
        <p:spPr/>
        <p:txBody>
          <a:bodyPr/>
          <a:lstStyle/>
          <a:p>
            <a:r>
              <a:rPr kumimoji="1" lang="ja-JP" altLang="en-US" dirty="0"/>
              <a:t>感想や質問</a:t>
            </a:r>
          </a:p>
        </p:txBody>
      </p:sp>
      <p:sp>
        <p:nvSpPr>
          <p:cNvPr id="3" name="テキスト プレースホルダー 2">
            <a:extLst>
              <a:ext uri="{FF2B5EF4-FFF2-40B4-BE49-F238E27FC236}">
                <a16:creationId xmlns:a16="http://schemas.microsoft.com/office/drawing/2014/main" id="{8EAB2165-F16F-1BBF-649E-BB76C5F613DF}"/>
              </a:ext>
            </a:extLst>
          </p:cNvPr>
          <p:cNvSpPr>
            <a:spLocks noGrp="1"/>
          </p:cNvSpPr>
          <p:nvPr>
            <p:ph type="body" sz="quarter" idx="10"/>
          </p:nvPr>
        </p:nvSpPr>
        <p:spPr/>
        <p:txBody>
          <a:bodyPr/>
          <a:lstStyle/>
          <a:p>
            <a:r>
              <a:rPr lang="ja-JP" altLang="en-US" dirty="0"/>
              <a:t>正直</a:t>
            </a:r>
            <a:r>
              <a:rPr lang="en-US" altLang="ja-JP" dirty="0"/>
              <a:t>GPU</a:t>
            </a:r>
            <a:r>
              <a:rPr lang="ja-JP" altLang="en-US" dirty="0"/>
              <a:t>や</a:t>
            </a:r>
            <a:r>
              <a:rPr lang="en-US" altLang="ja-JP" dirty="0"/>
              <a:t>CPU</a:t>
            </a:r>
            <a:r>
              <a:rPr lang="ja-JP" altLang="en-US" dirty="0"/>
              <a:t>とメモリなど他のアーキテクチャとの接続方法があまり理解していなかったのでそこが知れると嬉しいです。研究室から遠すぎるので授業はオンラインもやってくれると嬉しいです。</a:t>
            </a:r>
            <a:endParaRPr kumimoji="1" lang="ja-JP" altLang="en-US" dirty="0"/>
          </a:p>
        </p:txBody>
      </p:sp>
    </p:spTree>
    <p:extLst>
      <p:ext uri="{BB962C8B-B14F-4D97-AF65-F5344CB8AC3E}">
        <p14:creationId xmlns:p14="http://schemas.microsoft.com/office/powerpoint/2010/main" val="12494038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0F9C6-C03D-9C8D-F9EE-D1B1280DB4D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42493F8-2C12-4C4F-C582-D7B5981CFF67}"/>
              </a:ext>
            </a:extLst>
          </p:cNvPr>
          <p:cNvSpPr>
            <a:spLocks noGrp="1"/>
          </p:cNvSpPr>
          <p:nvPr>
            <p:ph type="title"/>
          </p:nvPr>
        </p:nvSpPr>
        <p:spPr/>
        <p:txBody>
          <a:bodyPr/>
          <a:lstStyle/>
          <a:p>
            <a:r>
              <a:rPr kumimoji="1" lang="ja-JP" altLang="en-US" dirty="0"/>
              <a:t>感想や質問</a:t>
            </a:r>
          </a:p>
        </p:txBody>
      </p:sp>
      <p:sp>
        <p:nvSpPr>
          <p:cNvPr id="3" name="テキスト プレースホルダー 2">
            <a:extLst>
              <a:ext uri="{FF2B5EF4-FFF2-40B4-BE49-F238E27FC236}">
                <a16:creationId xmlns:a16="http://schemas.microsoft.com/office/drawing/2014/main" id="{411CED01-3505-CF2F-9F29-873162AF41A2}"/>
              </a:ext>
            </a:extLst>
          </p:cNvPr>
          <p:cNvSpPr>
            <a:spLocks noGrp="1"/>
          </p:cNvSpPr>
          <p:nvPr>
            <p:ph type="body" sz="quarter" idx="10"/>
          </p:nvPr>
        </p:nvSpPr>
        <p:spPr/>
        <p:txBody>
          <a:bodyPr/>
          <a:lstStyle/>
          <a:p>
            <a:r>
              <a:rPr lang="ja-JP" altLang="en-US" dirty="0"/>
              <a:t>カレーの例えがイメージし易く面白かったです。</a:t>
            </a:r>
            <a:endParaRPr kumimoji="1" lang="ja-JP" altLang="en-US" dirty="0"/>
          </a:p>
        </p:txBody>
      </p:sp>
    </p:spTree>
    <p:extLst>
      <p:ext uri="{BB962C8B-B14F-4D97-AF65-F5344CB8AC3E}">
        <p14:creationId xmlns:p14="http://schemas.microsoft.com/office/powerpoint/2010/main" val="16263820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C8F5C-6DDC-E80D-489D-2AC82A0D450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2507CEF-590E-F520-0F30-7D54C7FE7F6C}"/>
              </a:ext>
            </a:extLst>
          </p:cNvPr>
          <p:cNvSpPr>
            <a:spLocks noGrp="1"/>
          </p:cNvSpPr>
          <p:nvPr>
            <p:ph type="title"/>
          </p:nvPr>
        </p:nvSpPr>
        <p:spPr/>
        <p:txBody>
          <a:bodyPr/>
          <a:lstStyle/>
          <a:p>
            <a:r>
              <a:rPr kumimoji="1" lang="ja-JP" altLang="en-US" dirty="0"/>
              <a:t>感想や質問</a:t>
            </a:r>
          </a:p>
        </p:txBody>
      </p:sp>
      <p:sp>
        <p:nvSpPr>
          <p:cNvPr id="3" name="テキスト プレースホルダー 2">
            <a:extLst>
              <a:ext uri="{FF2B5EF4-FFF2-40B4-BE49-F238E27FC236}">
                <a16:creationId xmlns:a16="http://schemas.microsoft.com/office/drawing/2014/main" id="{A043C529-00E4-99C9-051E-3743C1046806}"/>
              </a:ext>
            </a:extLst>
          </p:cNvPr>
          <p:cNvSpPr>
            <a:spLocks noGrp="1"/>
          </p:cNvSpPr>
          <p:nvPr>
            <p:ph type="body" sz="quarter" idx="10"/>
          </p:nvPr>
        </p:nvSpPr>
        <p:spPr/>
        <p:txBody>
          <a:bodyPr/>
          <a:lstStyle/>
          <a:p>
            <a:r>
              <a:rPr lang="ja-JP" altLang="en-US" dirty="0"/>
              <a:t>院試にあたりコンピュータアーキテクチャは一通り勉強したが、忘れていることも多いのでちゃんと身に付けておきたい。コンピュータグラフィックスの研究室に属しているので、</a:t>
            </a:r>
            <a:r>
              <a:rPr lang="en-US" altLang="ja-JP" dirty="0"/>
              <a:t>GPU</a:t>
            </a:r>
            <a:r>
              <a:rPr lang="ja-JP" altLang="en-US" dirty="0"/>
              <a:t>についても理解しておきたい。</a:t>
            </a:r>
            <a:endParaRPr kumimoji="1" lang="ja-JP" altLang="en-US" dirty="0"/>
          </a:p>
        </p:txBody>
      </p:sp>
    </p:spTree>
    <p:extLst>
      <p:ext uri="{BB962C8B-B14F-4D97-AF65-F5344CB8AC3E}">
        <p14:creationId xmlns:p14="http://schemas.microsoft.com/office/powerpoint/2010/main" val="10459754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19137-F0F5-B62C-7957-450A847975B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DB05C19-3B7F-DBF6-01C5-671AF75BAD32}"/>
              </a:ext>
            </a:extLst>
          </p:cNvPr>
          <p:cNvSpPr>
            <a:spLocks noGrp="1"/>
          </p:cNvSpPr>
          <p:nvPr>
            <p:ph type="title"/>
          </p:nvPr>
        </p:nvSpPr>
        <p:spPr/>
        <p:txBody>
          <a:bodyPr/>
          <a:lstStyle/>
          <a:p>
            <a:r>
              <a:rPr kumimoji="1" lang="ja-JP" altLang="en-US" dirty="0"/>
              <a:t>感想や質問</a:t>
            </a:r>
          </a:p>
        </p:txBody>
      </p:sp>
      <p:sp>
        <p:nvSpPr>
          <p:cNvPr id="3" name="テキスト プレースホルダー 2">
            <a:extLst>
              <a:ext uri="{FF2B5EF4-FFF2-40B4-BE49-F238E27FC236}">
                <a16:creationId xmlns:a16="http://schemas.microsoft.com/office/drawing/2014/main" id="{08CA9979-681B-98D9-5A4C-47F77217B8BA}"/>
              </a:ext>
            </a:extLst>
          </p:cNvPr>
          <p:cNvSpPr>
            <a:spLocks noGrp="1"/>
          </p:cNvSpPr>
          <p:nvPr>
            <p:ph type="body" sz="quarter" idx="10"/>
          </p:nvPr>
        </p:nvSpPr>
        <p:spPr/>
        <p:txBody>
          <a:bodyPr/>
          <a:lstStyle/>
          <a:p>
            <a:r>
              <a:rPr lang="ja-JP" altLang="en-US" dirty="0"/>
              <a:t>自身の研究は、天文学の中の「惑星形成」という惑星がどのようにできるかを理論的・観測的に調べる分野です。</a:t>
            </a:r>
            <a:br>
              <a:rPr lang="en-US" altLang="ja-JP" dirty="0"/>
            </a:br>
            <a:r>
              <a:rPr lang="ja-JP" altLang="en-US" dirty="0"/>
              <a:t>私は特に、その分野用の数値計算コードを開発しています。周辺分野では流体計算や重力</a:t>
            </a:r>
            <a:r>
              <a:rPr lang="en-US" altLang="ja-JP" dirty="0"/>
              <a:t>N</a:t>
            </a:r>
            <a:r>
              <a:rPr lang="ja-JP" altLang="en-US" dirty="0"/>
              <a:t>体計算などの数値計算は活発なのですが、惑星形成のうち自分が扱っている方程式用の数値計算コードのコード面・並列計算面からの研究は誰もやっておらず</a:t>
            </a:r>
            <a:r>
              <a:rPr lang="en-US" altLang="ja-JP" dirty="0"/>
              <a:t>(</a:t>
            </a:r>
            <a:r>
              <a:rPr lang="ja-JP" altLang="en-US" dirty="0"/>
              <a:t>誰もは言い過ぎかもしれませんが</a:t>
            </a:r>
            <a:r>
              <a:rPr lang="en-US" altLang="ja-JP" dirty="0"/>
              <a:t>)</a:t>
            </a:r>
            <a:r>
              <a:rPr lang="ja-JP" altLang="en-US" dirty="0"/>
              <a:t>、自分は比較的計算機に関するバックグラウンドがあったためこの辺の研究を進めています。</a:t>
            </a:r>
            <a:br>
              <a:rPr lang="en-US" altLang="ja-JP"/>
            </a:br>
            <a:r>
              <a:rPr lang="ja-JP" altLang="en-US"/>
              <a:t>計算機</a:t>
            </a:r>
            <a:r>
              <a:rPr lang="ja-JP" altLang="en-US" dirty="0"/>
              <a:t>に関するバックグラウンドは多少あるものの、学部レベルの基本を理解している程度で、最先端の内容までは踏み込めていなかったため、はるばる天文台から履修することとしました。よろしくお願いします。</a:t>
            </a:r>
            <a:endParaRPr kumimoji="1" lang="ja-JP" altLang="en-US" dirty="0"/>
          </a:p>
        </p:txBody>
      </p:sp>
    </p:spTree>
    <p:extLst>
      <p:ext uri="{BB962C8B-B14F-4D97-AF65-F5344CB8AC3E}">
        <p14:creationId xmlns:p14="http://schemas.microsoft.com/office/powerpoint/2010/main" val="40244591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cerulean">
  <a:themeElements>
    <a:clrScheme name="ユーザー定義 3">
      <a:dk1>
        <a:sysClr val="windowText" lastClr="000000"/>
      </a:dk1>
      <a:lt1>
        <a:sysClr val="window" lastClr="FFFFFF"/>
      </a:lt1>
      <a:dk2>
        <a:srgbClr val="F4EB00"/>
      </a:dk2>
      <a:lt2>
        <a:srgbClr val="C4FF4A"/>
      </a:lt2>
      <a:accent1>
        <a:srgbClr val="5782B5"/>
      </a:accent1>
      <a:accent2>
        <a:srgbClr val="B65A58"/>
      </a:accent2>
      <a:accent3>
        <a:srgbClr val="81945C"/>
      </a:accent3>
      <a:accent4>
        <a:srgbClr val="5C6994"/>
      </a:accent4>
      <a:accent5>
        <a:srgbClr val="4E8EA2"/>
      </a:accent5>
      <a:accent6>
        <a:srgbClr val="C77D63"/>
      </a:accent6>
      <a:hlink>
        <a:srgbClr val="3A3AC6"/>
      </a:hlink>
      <a:folHlink>
        <a:srgbClr val="631D63"/>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aco-shioya-00</Template>
  <TotalTime>51987</TotalTime>
  <Words>8331</Words>
  <Application>Microsoft Office PowerPoint</Application>
  <PresentationFormat>ワイド画面</PresentationFormat>
  <Paragraphs>1726</Paragraphs>
  <Slides>110</Slides>
  <Notes>5</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110</vt:i4>
      </vt:variant>
    </vt:vector>
  </HeadingPairs>
  <TitlesOfParts>
    <vt:vector size="120" baseType="lpstr">
      <vt:lpstr>HG丸ｺﾞｼｯｸM-PRO</vt:lpstr>
      <vt:lpstr>MeiryoKe_PGothic</vt:lpstr>
      <vt:lpstr>メイリオ</vt:lpstr>
      <vt:lpstr>Arial Narrow</vt:lpstr>
      <vt:lpstr>Calibri</vt:lpstr>
      <vt:lpstr>Cambria Math</vt:lpstr>
      <vt:lpstr>Consolas</vt:lpstr>
      <vt:lpstr>Segoe UI</vt:lpstr>
      <vt:lpstr>Wingdings</vt:lpstr>
      <vt:lpstr>cerulean</vt:lpstr>
      <vt:lpstr>先進計算機構成論 01</vt:lpstr>
      <vt:lpstr>前回のアンケートの結果</vt:lpstr>
      <vt:lpstr>今日の内容：コンピュータの基本の復習</vt:lpstr>
      <vt:lpstr>命令やプログラム，機械語とはなにか</vt:lpstr>
      <vt:lpstr>プログラム</vt:lpstr>
      <vt:lpstr>例：A + B - C</vt:lpstr>
      <vt:lpstr>例：A + B - C</vt:lpstr>
      <vt:lpstr>例：A + B - C</vt:lpstr>
      <vt:lpstr>プログラムの表現と用語（１）</vt:lpstr>
      <vt:lpstr>プログラムの表現と用語（２）</vt:lpstr>
      <vt:lpstr>命令セット・アーキテクチャ</vt:lpstr>
      <vt:lpstr>命令セット・アーキテクチャ</vt:lpstr>
      <vt:lpstr>ここまでのまとめ</vt:lpstr>
      <vt:lpstr>単純な CPU の構造と動作</vt:lpstr>
      <vt:lpstr>単純な CPU の構造と動作</vt:lpstr>
      <vt:lpstr>コンピュータ</vt:lpstr>
      <vt:lpstr>メモリ</vt:lpstr>
      <vt:lpstr>CPU</vt:lpstr>
      <vt:lpstr>CPU の動作</vt:lpstr>
      <vt:lpstr>CPU の動作</vt:lpstr>
      <vt:lpstr>具体的な命令の処理</vt:lpstr>
      <vt:lpstr>0. 初期状態</vt:lpstr>
      <vt:lpstr>1. 命令の読み出し（フェッチ）</vt:lpstr>
      <vt:lpstr>２. 命令の解釈（デコード） オプコードやオペランドが何かを割り出す</vt:lpstr>
      <vt:lpstr>３. レジスタ読み出し</vt:lpstr>
      <vt:lpstr>4. 演算の実行</vt:lpstr>
      <vt:lpstr>5. レジスタへの結果の書き戻し</vt:lpstr>
      <vt:lpstr>6. 次の命令へ</vt:lpstr>
      <vt:lpstr>その他の命令</vt:lpstr>
      <vt:lpstr>メモリの読み書き</vt:lpstr>
      <vt:lpstr>ロード命令（ld: load）</vt:lpstr>
      <vt:lpstr>ストア命令 (st: store)</vt:lpstr>
      <vt:lpstr>制御命令</vt:lpstr>
      <vt:lpstr>ジャンプ命令 (j: jump)</vt:lpstr>
      <vt:lpstr>分岐命令 (b: branch)</vt:lpstr>
      <vt:lpstr>即値（レジスタの値の書き換え）</vt:lpstr>
      <vt:lpstr>プログラムの例：10回だけ回るループ</vt:lpstr>
      <vt:lpstr>ここまでのまとめ</vt:lpstr>
      <vt:lpstr>余談：メモリのみでもコンピュータは作れる</vt:lpstr>
      <vt:lpstr>なぜレジスタとメモリがあるのか？</vt:lpstr>
      <vt:lpstr>データをとってくるのに，どのぐらいかかるか？</vt:lpstr>
      <vt:lpstr>C 言語と機械語の対応</vt:lpstr>
      <vt:lpstr>C 言語で書かれたプログラムを動作させるには</vt:lpstr>
      <vt:lpstr>C 言語で書かれたプログラムを動作させるには</vt:lpstr>
      <vt:lpstr>C 言語のループ</vt:lpstr>
      <vt:lpstr>前準備：変数の割り当て</vt:lpstr>
      <vt:lpstr>１行目：変数 i への 0 の代入</vt:lpstr>
      <vt:lpstr>2行目：ラベル</vt:lpstr>
      <vt:lpstr>３行目：変数 i の インクリメント</vt:lpstr>
      <vt:lpstr>4-5行目：ループの継続判定とジャンプ</vt:lpstr>
      <vt:lpstr>全体</vt:lpstr>
      <vt:lpstr>C 言語への変換（コンパイル）</vt:lpstr>
      <vt:lpstr>C 言語 の 演算子（優先順位順）</vt:lpstr>
      <vt:lpstr>変数，アドレス，ポインタ</vt:lpstr>
      <vt:lpstr>C 言語 の 実行順序の制御</vt:lpstr>
      <vt:lpstr>C 言語を実行するためには</vt:lpstr>
      <vt:lpstr>C 言語と機械語は結構近い</vt:lpstr>
      <vt:lpstr>ここまでのまとめ</vt:lpstr>
      <vt:lpstr>実際の命令セットの例（やや発展）</vt:lpstr>
      <vt:lpstr>実際の命令セットの例</vt:lpstr>
      <vt:lpstr>商用の CPU の命令セットは「オープン」ではない</vt:lpstr>
      <vt:lpstr>RISC-V</vt:lpstr>
      <vt:lpstr>RISC-V の普及状況</vt:lpstr>
      <vt:lpstr>RISC-V 命令セットの基本</vt:lpstr>
      <vt:lpstr>RISC-V の 基本整数命令</vt:lpstr>
      <vt:lpstr>RISC-V の 基本整数命令の構造</vt:lpstr>
      <vt:lpstr>R-Type の演算命令</vt:lpstr>
      <vt:lpstr>I-Type の演算命令</vt:lpstr>
      <vt:lpstr>ADD と ADDI の違い</vt:lpstr>
      <vt:lpstr>I-Type のロード命令</vt:lpstr>
      <vt:lpstr>S-Type の命令</vt:lpstr>
      <vt:lpstr>ロードとストアの違い</vt:lpstr>
      <vt:lpstr>RISC-V と MIPS のロード/ストア命令</vt:lpstr>
      <vt:lpstr>RISC-V の場合</vt:lpstr>
      <vt:lpstr>MIPS の場合</vt:lpstr>
      <vt:lpstr>RISC-V と MIPS のロード/ストア命令</vt:lpstr>
      <vt:lpstr>RISC-V と MIPS のロード/ストア命令</vt:lpstr>
      <vt:lpstr>RISC-V のエンコーディング</vt:lpstr>
      <vt:lpstr>Design of the RISC-V Instruction Set Architecture</vt:lpstr>
      <vt:lpstr>前に東大にきてたので，サインもらった</vt:lpstr>
      <vt:lpstr>RISC-V 命令セットの概観</vt:lpstr>
      <vt:lpstr>プロセッサごとのサポート命令の例</vt:lpstr>
      <vt:lpstr>RISC-V における拡張機能と課題</vt:lpstr>
      <vt:lpstr>プロファイル</vt:lpstr>
      <vt:lpstr>プロファイルの課題</vt:lpstr>
      <vt:lpstr>揉めた例：Qualcomm による C 拡張削除の提案（2023年）</vt:lpstr>
      <vt:lpstr>余談：RISC-V の何がうれしいのか？</vt:lpstr>
      <vt:lpstr>余談：RISC-V の何がうれしいのか？</vt:lpstr>
      <vt:lpstr>余談：RISC-V の何がうれしいのか？</vt:lpstr>
      <vt:lpstr>余談：RISC-V の何がうれしいのか？</vt:lpstr>
      <vt:lpstr>国内企業での使用事例</vt:lpstr>
      <vt:lpstr>PEZY-SCx シリーズ</vt:lpstr>
      <vt:lpstr>PEZY-SCx シリーズ</vt:lpstr>
      <vt:lpstr>自動運転向け SIMT 型アクセラレータ HORNET 写真は https://tier4.jp/media/detail/?sys_id=7J02G1SrOq4QhedPXvwB4V&amp;category=NEWS より</vt:lpstr>
      <vt:lpstr>NS72 画像は以下より：https://www.nsitexe.com/akaria/processor/ns/ns72a/</vt:lpstr>
      <vt:lpstr>国外企業の例：Tenstorrent 社</vt:lpstr>
      <vt:lpstr>国外企業の例：SiFive 社</vt:lpstr>
      <vt:lpstr>まとめ</vt:lpstr>
      <vt:lpstr>今日のまとめ</vt:lpstr>
      <vt:lpstr>出欠と感想</vt:lpstr>
      <vt:lpstr>オンライン講義について</vt:lpstr>
      <vt:lpstr>感想や質問</vt:lpstr>
      <vt:lpstr>感想や質問</vt:lpstr>
      <vt:lpstr>感想や質問</vt:lpstr>
      <vt:lpstr>感想や質問</vt:lpstr>
      <vt:lpstr>感想や質問</vt:lpstr>
      <vt:lpstr>感想や質問</vt:lpstr>
      <vt:lpstr>感想や質問</vt:lpstr>
      <vt:lpstr>感想や質問</vt:lpstr>
      <vt:lpstr>感想や質問</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shioya</dc:creator>
  <cp:lastModifiedBy>塩谷　亮太</cp:lastModifiedBy>
  <cp:revision>9528</cp:revision>
  <cp:lastPrinted>2014-12-10T13:40:48Z</cp:lastPrinted>
  <dcterms:created xsi:type="dcterms:W3CDTF">2014-11-17T10:53:59Z</dcterms:created>
  <dcterms:modified xsi:type="dcterms:W3CDTF">2026-04-20T07:37:52Z</dcterms:modified>
</cp:coreProperties>
</file>