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4" r:id="rId1"/>
  </p:sldMasterIdLst>
  <p:notesMasterIdLst>
    <p:notesMasterId r:id="rId109"/>
  </p:notesMasterIdLst>
  <p:sldIdLst>
    <p:sldId id="440" r:id="rId2"/>
    <p:sldId id="456" r:id="rId3"/>
    <p:sldId id="457" r:id="rId4"/>
    <p:sldId id="811" r:id="rId5"/>
    <p:sldId id="812" r:id="rId6"/>
    <p:sldId id="580" r:id="rId7"/>
    <p:sldId id="613" r:id="rId8"/>
    <p:sldId id="829" r:id="rId9"/>
    <p:sldId id="501" r:id="rId10"/>
    <p:sldId id="813" r:id="rId11"/>
    <p:sldId id="830" r:id="rId12"/>
    <p:sldId id="831" r:id="rId13"/>
    <p:sldId id="832" r:id="rId14"/>
    <p:sldId id="833" r:id="rId15"/>
    <p:sldId id="543" r:id="rId16"/>
    <p:sldId id="534" r:id="rId17"/>
    <p:sldId id="535" r:id="rId18"/>
    <p:sldId id="536" r:id="rId19"/>
    <p:sldId id="542" r:id="rId20"/>
    <p:sldId id="540" r:id="rId21"/>
    <p:sldId id="541" r:id="rId22"/>
    <p:sldId id="539" r:id="rId23"/>
    <p:sldId id="544" r:id="rId24"/>
    <p:sldId id="538" r:id="rId25"/>
    <p:sldId id="651" r:id="rId26"/>
    <p:sldId id="552" r:id="rId27"/>
    <p:sldId id="533" r:id="rId28"/>
    <p:sldId id="545" r:id="rId29"/>
    <p:sldId id="551" r:id="rId30"/>
    <p:sldId id="549" r:id="rId31"/>
    <p:sldId id="548" r:id="rId32"/>
    <p:sldId id="550" r:id="rId33"/>
    <p:sldId id="553" r:id="rId34"/>
    <p:sldId id="546" r:id="rId35"/>
    <p:sldId id="547" r:id="rId36"/>
    <p:sldId id="615" r:id="rId37"/>
    <p:sldId id="554" r:id="rId38"/>
    <p:sldId id="565" r:id="rId39"/>
    <p:sldId id="555" r:id="rId40"/>
    <p:sldId id="556" r:id="rId41"/>
    <p:sldId id="557" r:id="rId42"/>
    <p:sldId id="558" r:id="rId43"/>
    <p:sldId id="559" r:id="rId44"/>
    <p:sldId id="560" r:id="rId45"/>
    <p:sldId id="561" r:id="rId46"/>
    <p:sldId id="564" r:id="rId47"/>
    <p:sldId id="563" r:id="rId48"/>
    <p:sldId id="562" r:id="rId49"/>
    <p:sldId id="610" r:id="rId50"/>
    <p:sldId id="578" r:id="rId51"/>
    <p:sldId id="579" r:id="rId52"/>
    <p:sldId id="834" r:id="rId53"/>
    <p:sldId id="581" r:id="rId54"/>
    <p:sldId id="582" r:id="rId55"/>
    <p:sldId id="583" r:id="rId56"/>
    <p:sldId id="852" r:id="rId57"/>
    <p:sldId id="584" r:id="rId58"/>
    <p:sldId id="853" r:id="rId59"/>
    <p:sldId id="585" r:id="rId60"/>
    <p:sldId id="586" r:id="rId61"/>
    <p:sldId id="835" r:id="rId62"/>
    <p:sldId id="588" r:id="rId63"/>
    <p:sldId id="589" r:id="rId64"/>
    <p:sldId id="590" r:id="rId65"/>
    <p:sldId id="591" r:id="rId66"/>
    <p:sldId id="592" r:id="rId67"/>
    <p:sldId id="593" r:id="rId68"/>
    <p:sldId id="594" r:id="rId69"/>
    <p:sldId id="595" r:id="rId70"/>
    <p:sldId id="596" r:id="rId71"/>
    <p:sldId id="597" r:id="rId72"/>
    <p:sldId id="836" r:id="rId73"/>
    <p:sldId id="599" r:id="rId74"/>
    <p:sldId id="600" r:id="rId75"/>
    <p:sldId id="601" r:id="rId76"/>
    <p:sldId id="602" r:id="rId77"/>
    <p:sldId id="603" r:id="rId78"/>
    <p:sldId id="604" r:id="rId79"/>
    <p:sldId id="605" r:id="rId80"/>
    <p:sldId id="606" r:id="rId81"/>
    <p:sldId id="607" r:id="rId82"/>
    <p:sldId id="608" r:id="rId83"/>
    <p:sldId id="587" r:id="rId84"/>
    <p:sldId id="854" r:id="rId85"/>
    <p:sldId id="855" r:id="rId86"/>
    <p:sldId id="524" r:id="rId87"/>
    <p:sldId id="614" r:id="rId88"/>
    <p:sldId id="856" r:id="rId89"/>
    <p:sldId id="857" r:id="rId90"/>
    <p:sldId id="858" r:id="rId91"/>
    <p:sldId id="859" r:id="rId92"/>
    <p:sldId id="860" r:id="rId93"/>
    <p:sldId id="861" r:id="rId94"/>
    <p:sldId id="862" r:id="rId95"/>
    <p:sldId id="863" r:id="rId96"/>
    <p:sldId id="864" r:id="rId97"/>
    <p:sldId id="865" r:id="rId98"/>
    <p:sldId id="866" r:id="rId99"/>
    <p:sldId id="867" r:id="rId100"/>
    <p:sldId id="868" r:id="rId101"/>
    <p:sldId id="869" r:id="rId102"/>
    <p:sldId id="870" r:id="rId103"/>
    <p:sldId id="871" r:id="rId104"/>
    <p:sldId id="872" r:id="rId105"/>
    <p:sldId id="875" r:id="rId106"/>
    <p:sldId id="873" r:id="rId107"/>
    <p:sldId id="874" r:id="rId10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933FF"/>
    <a:srgbClr val="FF9900"/>
    <a:srgbClr val="009999"/>
    <a:srgbClr val="4E4EF6"/>
    <a:srgbClr val="006699"/>
    <a:srgbClr val="FFFFFF"/>
    <a:srgbClr val="31869D"/>
    <a:srgbClr val="4444E8"/>
    <a:srgbClr val="5555FF"/>
    <a:srgbClr val="414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00" autoAdjust="0"/>
    <p:restoredTop sz="96862" autoAdjust="0"/>
  </p:normalViewPr>
  <p:slideViewPr>
    <p:cSldViewPr>
      <p:cViewPr>
        <p:scale>
          <a:sx n="150" d="100"/>
          <a:sy n="150" d="100"/>
        </p:scale>
        <p:origin x="760" y="324"/>
      </p:cViewPr>
      <p:guideLst>
        <p:guide orient="horz" pos="2160"/>
        <p:guide pos="3840"/>
      </p:guideLst>
    </p:cSldViewPr>
  </p:slideViewPr>
  <p:outlineViewPr>
    <p:cViewPr>
      <p:scale>
        <a:sx n="33" d="100"/>
        <a:sy n="33" d="100"/>
      </p:scale>
      <p:origin x="0" y="-22210"/>
    </p:cViewPr>
  </p:outlineViewPr>
  <p:notesTextViewPr>
    <p:cViewPr>
      <p:scale>
        <a:sx n="100" d="100"/>
        <a:sy n="100" d="100"/>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notesMaster" Target="notesMasters/notesMaster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2026/5/25</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2</a:t>
            </a:fld>
            <a:endParaRPr kumimoji="1" lang="ja-JP" altLang="en-US"/>
          </a:p>
        </p:txBody>
      </p:sp>
    </p:spTree>
    <p:extLst>
      <p:ext uri="{BB962C8B-B14F-4D97-AF65-F5344CB8AC3E}">
        <p14:creationId xmlns:p14="http://schemas.microsoft.com/office/powerpoint/2010/main" val="26438995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a:t>
            </a:fld>
            <a:endParaRPr kumimoji="1" lang="ja-JP" altLang="en-US"/>
          </a:p>
        </p:txBody>
      </p:sp>
    </p:spTree>
    <p:extLst>
      <p:ext uri="{BB962C8B-B14F-4D97-AF65-F5344CB8AC3E}">
        <p14:creationId xmlns:p14="http://schemas.microsoft.com/office/powerpoint/2010/main" val="15630979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4</a:t>
            </a:fld>
            <a:endParaRPr kumimoji="1" lang="ja-JP" altLang="en-US"/>
          </a:p>
        </p:txBody>
      </p:sp>
    </p:spTree>
    <p:extLst>
      <p:ext uri="{BB962C8B-B14F-4D97-AF65-F5344CB8AC3E}">
        <p14:creationId xmlns:p14="http://schemas.microsoft.com/office/powerpoint/2010/main" val="18790396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a:t>
            </a:fld>
            <a:endParaRPr kumimoji="1" lang="ja-JP" altLang="en-US"/>
          </a:p>
        </p:txBody>
      </p:sp>
    </p:spTree>
    <p:extLst>
      <p:ext uri="{BB962C8B-B14F-4D97-AF65-F5344CB8AC3E}">
        <p14:creationId xmlns:p14="http://schemas.microsoft.com/office/powerpoint/2010/main" val="218163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10</a:t>
            </a:fld>
            <a:endParaRPr kumimoji="1" lang="ja-JP" altLang="en-US"/>
          </a:p>
        </p:txBody>
      </p:sp>
    </p:spTree>
    <p:extLst>
      <p:ext uri="{BB962C8B-B14F-4D97-AF65-F5344CB8AC3E}">
        <p14:creationId xmlns:p14="http://schemas.microsoft.com/office/powerpoint/2010/main" val="28277665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11</a:t>
            </a:fld>
            <a:endParaRPr kumimoji="1" lang="ja-JP" altLang="en-US"/>
          </a:p>
        </p:txBody>
      </p:sp>
    </p:spTree>
    <p:extLst>
      <p:ext uri="{BB962C8B-B14F-4D97-AF65-F5344CB8AC3E}">
        <p14:creationId xmlns:p14="http://schemas.microsoft.com/office/powerpoint/2010/main" val="21763502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12</a:t>
            </a:fld>
            <a:endParaRPr kumimoji="1" lang="ja-JP" altLang="en-US"/>
          </a:p>
        </p:txBody>
      </p:sp>
    </p:spTree>
    <p:extLst>
      <p:ext uri="{BB962C8B-B14F-4D97-AF65-F5344CB8AC3E}">
        <p14:creationId xmlns:p14="http://schemas.microsoft.com/office/powerpoint/2010/main" val="3556683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13</a:t>
            </a:fld>
            <a:endParaRPr kumimoji="1" lang="ja-JP" altLang="en-US"/>
          </a:p>
        </p:txBody>
      </p:sp>
    </p:spTree>
    <p:extLst>
      <p:ext uri="{BB962C8B-B14F-4D97-AF65-F5344CB8AC3E}">
        <p14:creationId xmlns:p14="http://schemas.microsoft.com/office/powerpoint/2010/main" val="38813467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52</a:t>
            </a:fld>
            <a:endParaRPr kumimoji="1" lang="ja-JP" altLang="en-US"/>
          </a:p>
        </p:txBody>
      </p:sp>
    </p:spTree>
    <p:extLst>
      <p:ext uri="{BB962C8B-B14F-4D97-AF65-F5344CB8AC3E}">
        <p14:creationId xmlns:p14="http://schemas.microsoft.com/office/powerpoint/2010/main" val="21816315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53</a:t>
            </a:fld>
            <a:endParaRPr kumimoji="1" lang="ja-JP" altLang="en-US"/>
          </a:p>
        </p:txBody>
      </p:sp>
    </p:spTree>
    <p:extLst>
      <p:ext uri="{BB962C8B-B14F-4D97-AF65-F5344CB8AC3E}">
        <p14:creationId xmlns:p14="http://schemas.microsoft.com/office/powerpoint/2010/main" val="39940038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56</a:t>
            </a:fld>
            <a:endParaRPr kumimoji="1" lang="ja-JP" altLang="en-US"/>
          </a:p>
        </p:txBody>
      </p:sp>
    </p:spTree>
    <p:extLst>
      <p:ext uri="{BB962C8B-B14F-4D97-AF65-F5344CB8AC3E}">
        <p14:creationId xmlns:p14="http://schemas.microsoft.com/office/powerpoint/2010/main" val="29957267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58</a:t>
            </a:fld>
            <a:endParaRPr kumimoji="1" lang="ja-JP" altLang="en-US"/>
          </a:p>
        </p:txBody>
      </p:sp>
    </p:spTree>
    <p:extLst>
      <p:ext uri="{BB962C8B-B14F-4D97-AF65-F5344CB8AC3E}">
        <p14:creationId xmlns:p14="http://schemas.microsoft.com/office/powerpoint/2010/main" val="12335094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66</a:t>
            </a:fld>
            <a:endParaRPr kumimoji="1" lang="ja-JP" altLang="en-US"/>
          </a:p>
        </p:txBody>
      </p:sp>
    </p:spTree>
    <p:extLst>
      <p:ext uri="{BB962C8B-B14F-4D97-AF65-F5344CB8AC3E}">
        <p14:creationId xmlns:p14="http://schemas.microsoft.com/office/powerpoint/2010/main" val="436349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78</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80</a:t>
            </a:fld>
            <a:endParaRPr kumimoji="1" lang="ja-JP" altLang="en-US"/>
          </a:p>
        </p:txBody>
      </p:sp>
    </p:spTree>
    <p:extLst>
      <p:ext uri="{BB962C8B-B14F-4D97-AF65-F5344CB8AC3E}">
        <p14:creationId xmlns:p14="http://schemas.microsoft.com/office/powerpoint/2010/main" val="6888501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81</a:t>
            </a:fld>
            <a:endParaRPr kumimoji="1" lang="ja-JP" altLang="en-US"/>
          </a:p>
        </p:txBody>
      </p:sp>
    </p:spTree>
    <p:extLst>
      <p:ext uri="{BB962C8B-B14F-4D97-AF65-F5344CB8AC3E}">
        <p14:creationId xmlns:p14="http://schemas.microsoft.com/office/powerpoint/2010/main" val="3676700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2" name="正方形/長方形 1">
            <a:extLst>
              <a:ext uri="{FF2B5EF4-FFF2-40B4-BE49-F238E27FC236}">
                <a16:creationId xmlns:a16="http://schemas.microsoft.com/office/drawing/2014/main" id="{813827C5-4275-31A2-853D-AD2CF14BBA98}"/>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3" name="直線コネクタ 2">
            <a:extLst>
              <a:ext uri="{FF2B5EF4-FFF2-40B4-BE49-F238E27FC236}">
                <a16:creationId xmlns:a16="http://schemas.microsoft.com/office/drawing/2014/main" id="{7B0AFE8A-4F74-BD8B-20D9-616B7AE7DADC}"/>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4" name="正方形/長方形 3">
            <a:extLst>
              <a:ext uri="{FF2B5EF4-FFF2-40B4-BE49-F238E27FC236}">
                <a16:creationId xmlns:a16="http://schemas.microsoft.com/office/drawing/2014/main" id="{11CAED90-8BCF-EEF7-7551-9410E8F2C2C7}"/>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7" name="直線コネクタ 6">
            <a:extLst>
              <a:ext uri="{FF2B5EF4-FFF2-40B4-BE49-F238E27FC236}">
                <a16:creationId xmlns:a16="http://schemas.microsoft.com/office/drawing/2014/main" id="{AA6324B9-77F8-EC31-6C3B-5D9B58641456}"/>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7F3D3427-5051-5379-015F-3E42D5A44B63}"/>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9" name="直線コネクタ 8">
            <a:extLst>
              <a:ext uri="{FF2B5EF4-FFF2-40B4-BE49-F238E27FC236}">
                <a16:creationId xmlns:a16="http://schemas.microsoft.com/office/drawing/2014/main" id="{AED9C875-ACB9-9A82-3D2E-F8FE4B2ACA89}"/>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10" name="正方形/長方形 9">
            <a:extLst>
              <a:ext uri="{FF2B5EF4-FFF2-40B4-BE49-F238E27FC236}">
                <a16:creationId xmlns:a16="http://schemas.microsoft.com/office/drawing/2014/main" id="{3BFBD119-9076-BF7C-BD08-925CA913FF2C}"/>
              </a:ext>
            </a:extLst>
          </p:cNvPr>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11" name="直線コネクタ 10">
            <a:extLst>
              <a:ext uri="{FF2B5EF4-FFF2-40B4-BE49-F238E27FC236}">
                <a16:creationId xmlns:a16="http://schemas.microsoft.com/office/drawing/2014/main" id="{DD8AB707-DF2C-A333-49BD-B518A1D16921}"/>
              </a:ext>
            </a:extLst>
          </p:cNvPr>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440870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730097" cy="5219751"/>
          </a:xfrm>
        </p:spPr>
        <p:txBody>
          <a:bodyPr/>
          <a:lstStyle>
            <a:lvl2pPr>
              <a:buClr>
                <a:schemeClr val="accent5">
                  <a:lumMod val="60000"/>
                  <a:lumOff val="40000"/>
                </a:schemeClr>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2" name="Rectangle 20">
            <a:extLst>
              <a:ext uri="{FF2B5EF4-FFF2-40B4-BE49-F238E27FC236}">
                <a16:creationId xmlns:a16="http://schemas.microsoft.com/office/drawing/2014/main" id="{7D04F621-C209-E75B-F5AE-4EC68827B138}"/>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3" name="Rectangle 20">
            <a:extLst>
              <a:ext uri="{FF2B5EF4-FFF2-40B4-BE49-F238E27FC236}">
                <a16:creationId xmlns:a16="http://schemas.microsoft.com/office/drawing/2014/main" id="{C404F010-FD53-825B-58ED-3AB5C6FF9F3B}"/>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4" name="Rectangle 20">
            <a:extLst>
              <a:ext uri="{FF2B5EF4-FFF2-40B4-BE49-F238E27FC236}">
                <a16:creationId xmlns:a16="http://schemas.microsoft.com/office/drawing/2014/main" id="{09277AEF-3306-EB14-319D-C9936A20E391}"/>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7" name="Rectangle 20">
            <a:extLst>
              <a:ext uri="{FF2B5EF4-FFF2-40B4-BE49-F238E27FC236}">
                <a16:creationId xmlns:a16="http://schemas.microsoft.com/office/drawing/2014/main" id="{5F8EB56A-100F-AF7A-C776-9434171D2CF6}"/>
              </a:ext>
            </a:extLst>
          </p:cNvPr>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33452890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325947" y="2078985"/>
            <a:ext cx="9600107"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7A61BF30-B8F3-19FE-7662-81071F95A583}"/>
              </a:ext>
            </a:extLst>
          </p:cNvPr>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96141303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2" y="1088975"/>
            <a:ext cx="10080112"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3" name="正方形/長方形 2">
            <a:extLst>
              <a:ext uri="{FF2B5EF4-FFF2-40B4-BE49-F238E27FC236}">
                <a16:creationId xmlns:a16="http://schemas.microsoft.com/office/drawing/2014/main" id="{20B7F19E-FA20-B8CB-C604-8C1C29606C6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725FB03B-A980-D697-F9FB-906D55B002FA}"/>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2D5F1A73-A3EB-E252-17CF-30B89F3C7AE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7" name="正方形/長方形 6">
            <a:extLst>
              <a:ext uri="{FF2B5EF4-FFF2-40B4-BE49-F238E27FC236}">
                <a16:creationId xmlns:a16="http://schemas.microsoft.com/office/drawing/2014/main" id="{95778E54-A5E7-1B8D-DD56-A347FE5638C8}"/>
              </a:ext>
            </a:extLst>
          </p:cNvPr>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2522962398"/>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uops.info/table.html"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docs.google.com/spreadsheets/d/1noH3Y2b1tS621wzDHcUIBpJrJEWeqVijQy_RZ25WxNs/edit?usp=sharing"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5"/>
            <a:ext cx="8460094" cy="630007"/>
          </a:xfrm>
        </p:spPr>
        <p:txBody>
          <a:bodyPr/>
          <a:lstStyle/>
          <a:p>
            <a:r>
              <a:rPr lang="ja-JP" altLang="en-US" sz="2800" dirty="0"/>
              <a:t>先進計算機構成論 </a:t>
            </a:r>
            <a:r>
              <a:rPr lang="en-US" altLang="ja-JP" sz="2800" dirty="0"/>
              <a:t>04</a:t>
            </a:r>
            <a:endParaRPr lang="ja-JP" altLang="en-US" sz="2800" dirty="0"/>
          </a:p>
        </p:txBody>
      </p:sp>
      <p:sp>
        <p:nvSpPr>
          <p:cNvPr id="6" name="サブタイトル 2"/>
          <p:cNvSpPr txBox="1">
            <a:spLocks/>
          </p:cNvSpPr>
          <p:nvPr/>
        </p:nvSpPr>
        <p:spPr bwMode="auto">
          <a:xfrm>
            <a:off x="2405960"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前回の振り返り：</a:t>
            </a:r>
            <a:r>
              <a:rPr kumimoji="1" lang="ja-JP" altLang="en-US" dirty="0"/>
              <a:t>工場のラインを考える</a:t>
            </a:r>
          </a:p>
        </p:txBody>
      </p:sp>
      <p:sp>
        <p:nvSpPr>
          <p:cNvPr id="4" name="テキスト プレースホルダー 3"/>
          <p:cNvSpPr>
            <a:spLocks noGrp="1"/>
          </p:cNvSpPr>
          <p:nvPr>
            <p:ph type="body" sz="quarter" idx="10"/>
          </p:nvPr>
        </p:nvSpPr>
        <p:spPr>
          <a:xfrm>
            <a:off x="2135956" y="4239009"/>
            <a:ext cx="8280092" cy="2069716"/>
          </a:xfrm>
        </p:spPr>
        <p:txBody>
          <a:bodyPr/>
          <a:lstStyle/>
          <a:p>
            <a:r>
              <a:rPr kumimoji="1" lang="ja-JP" altLang="en-US" dirty="0"/>
              <a:t>ベルトコンベアのラインの上を製品が流れていく</a:t>
            </a:r>
            <a:endParaRPr kumimoji="1" lang="en-US" altLang="ja-JP" dirty="0"/>
          </a:p>
          <a:p>
            <a:pPr lvl="1"/>
            <a:r>
              <a:rPr kumimoji="1" lang="ja-JP" altLang="en-US" dirty="0"/>
              <a:t>４人の人が，それぞれの工程の作業をおこなって完成</a:t>
            </a:r>
            <a:endParaRPr kumimoji="1" lang="en-US" altLang="ja-JP" dirty="0"/>
          </a:p>
          <a:p>
            <a:r>
              <a:rPr lang="ja-JP" altLang="en-US" dirty="0"/>
              <a:t>上のように</a:t>
            </a:r>
            <a:r>
              <a:rPr lang="en-US" altLang="ja-JP" dirty="0"/>
              <a:t>1</a:t>
            </a:r>
            <a:r>
              <a:rPr lang="ja-JP" altLang="en-US" dirty="0" err="1"/>
              <a:t>つしか</a:t>
            </a:r>
            <a:r>
              <a:rPr lang="ja-JP" altLang="en-US" dirty="0"/>
              <a:t>製品をながさないと，</a:t>
            </a:r>
            <a:endParaRPr lang="en-US" altLang="ja-JP" dirty="0"/>
          </a:p>
          <a:p>
            <a:pPr lvl="1"/>
            <a:r>
              <a:rPr lang="ja-JP" altLang="en-US" dirty="0"/>
              <a:t>各人は他の人が作業している間はヒマ</a:t>
            </a:r>
            <a:endParaRPr kumimoji="1" lang="ja-JP" altLang="en-US"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44" name="角丸四角形 43"/>
          <p:cNvSpPr/>
          <p:nvPr/>
        </p:nvSpPr>
        <p:spPr bwMode="auto">
          <a:xfrm>
            <a:off x="1865953"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6" name="正方形/長方形 95"/>
          <p:cNvSpPr/>
          <p:nvPr/>
        </p:nvSpPr>
        <p:spPr bwMode="auto">
          <a:xfrm>
            <a:off x="425937" y="2438989"/>
            <a:ext cx="2502143" cy="1710019"/>
          </a:xfrm>
          <a:prstGeom prst="rect">
            <a:avLst/>
          </a:prstGeom>
          <a:solidFill>
            <a:schemeClr val="bg1"/>
          </a:solidFill>
          <a:ln>
            <a:solidFill>
              <a:schemeClr val="bg1"/>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sz="2000" dirty="0">
              <a:solidFill>
                <a:schemeClr val="bg1"/>
              </a:solidFill>
              <a:latin typeface="Arial Narrow" panose="020B0606020202030204" pitchFamily="34" charset="0"/>
            </a:endParaRPr>
          </a:p>
        </p:txBody>
      </p:sp>
    </p:spTree>
    <p:extLst>
      <p:ext uri="{BB962C8B-B14F-4D97-AF65-F5344CB8AC3E}">
        <p14:creationId xmlns:p14="http://schemas.microsoft.com/office/powerpoint/2010/main" val="42070692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25000" decel="25000" fill="hold" grpId="0" nodeType="clickEffect">
                                  <p:stCondLst>
                                    <p:cond delay="0"/>
                                  </p:stCondLst>
                                  <p:childTnLst>
                                    <p:animMotion origin="layout" path="M -2.08333E-6 1.85185E-6 L 0.14024 1.85185E-6 " pathEditMode="relative" rAng="0" ptsTypes="AA">
                                      <p:cBhvr>
                                        <p:cTn id="6" dur="1000" fill="hold"/>
                                        <p:tgtEl>
                                          <p:spTgt spid="44"/>
                                        </p:tgtEl>
                                        <p:attrNameLst>
                                          <p:attrName>ppt_x</p:attrName>
                                          <p:attrName>ppt_y</p:attrName>
                                        </p:attrNameLst>
                                      </p:cBhvr>
                                      <p:rCtr x="7005"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25000" decel="25000" fill="hold" grpId="1" nodeType="clickEffect">
                                  <p:stCondLst>
                                    <p:cond delay="0"/>
                                  </p:stCondLst>
                                  <p:childTnLst>
                                    <p:animMotion origin="layout" path="M 0.14024 1.85185E-6 L 0.25834 1.85185E-6 " pathEditMode="relative" rAng="0" ptsTypes="AA">
                                      <p:cBhvr>
                                        <p:cTn id="10" dur="1000" fill="hold"/>
                                        <p:tgtEl>
                                          <p:spTgt spid="44"/>
                                        </p:tgtEl>
                                        <p:attrNameLst>
                                          <p:attrName>ppt_x</p:attrName>
                                          <p:attrName>ppt_y</p:attrName>
                                        </p:attrNameLst>
                                      </p:cBhvr>
                                      <p:rCtr x="5898"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25000" decel="25000" fill="hold" grpId="2" nodeType="clickEffect">
                                  <p:stCondLst>
                                    <p:cond delay="0"/>
                                  </p:stCondLst>
                                  <p:childTnLst>
                                    <p:animMotion origin="layout" path="M 0.25834 1.85185E-6 L 0.36914 1.85185E-6 " pathEditMode="relative" rAng="0" ptsTypes="AA">
                                      <p:cBhvr>
                                        <p:cTn id="14" dur="1000" fill="hold"/>
                                        <p:tgtEl>
                                          <p:spTgt spid="44"/>
                                        </p:tgtEl>
                                        <p:attrNameLst>
                                          <p:attrName>ppt_x</p:attrName>
                                          <p:attrName>ppt_y</p:attrName>
                                        </p:attrNameLst>
                                      </p:cBhvr>
                                      <p:rCtr x="5534"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25000" decel="25000" fill="hold" grpId="3" nodeType="clickEffect">
                                  <p:stCondLst>
                                    <p:cond delay="0"/>
                                  </p:stCondLst>
                                  <p:childTnLst>
                                    <p:animMotion origin="layout" path="M 0.36914 1.85185E-6 L 0.49466 1.85185E-6 " pathEditMode="relative" rAng="0" ptsTypes="AA">
                                      <p:cBhvr>
                                        <p:cTn id="18" dur="1000" fill="hold"/>
                                        <p:tgtEl>
                                          <p:spTgt spid="44"/>
                                        </p:tgtEl>
                                        <p:attrNameLst>
                                          <p:attrName>ppt_x</p:attrName>
                                          <p:attrName>ppt_y</p:attrName>
                                        </p:attrNameLst>
                                      </p:cBhvr>
                                      <p:rCtr x="627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4" grpId="1" animBg="1"/>
      <p:bldP spid="44" grpId="2" animBg="1"/>
      <p:bldP spid="44"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前回の振り返り：工場のラインを考える</a:t>
            </a:r>
            <a:endParaRPr kumimoji="1" lang="ja-JP" altLang="en-US" dirty="0"/>
          </a:p>
        </p:txBody>
      </p:sp>
      <p:sp>
        <p:nvSpPr>
          <p:cNvPr id="58" name="コンテンツ プレースホルダー 57"/>
          <p:cNvSpPr>
            <a:spLocks noGrp="1"/>
          </p:cNvSpPr>
          <p:nvPr>
            <p:ph idx="4294967295"/>
          </p:nvPr>
        </p:nvSpPr>
        <p:spPr>
          <a:xfrm>
            <a:off x="2045955" y="4869017"/>
            <a:ext cx="8460094" cy="1369161"/>
          </a:xfrm>
          <a:prstGeom prst="rect">
            <a:avLst/>
          </a:prstGeom>
        </p:spPr>
        <p:txBody>
          <a:bodyPr/>
          <a:lstStyle/>
          <a:p>
            <a:r>
              <a:rPr lang="ja-JP" altLang="en-US" dirty="0"/>
              <a:t>複数の製品を同時に流す</a:t>
            </a:r>
            <a:endParaRPr lang="en-US" altLang="ja-JP" dirty="0"/>
          </a:p>
          <a:p>
            <a:pPr lvl="1"/>
            <a:r>
              <a:rPr lang="ja-JP" altLang="en-US" dirty="0"/>
              <a:t>各工程を並列して処理することによりスループットを向上</a:t>
            </a:r>
            <a:endParaRPr lang="en-US" altLang="ja-JP" dirty="0"/>
          </a:p>
          <a:p>
            <a:pPr lvl="1"/>
            <a:r>
              <a:rPr lang="en-US" altLang="ja-JP" dirty="0"/>
              <a:t>4</a:t>
            </a:r>
            <a:r>
              <a:rPr lang="ja-JP" altLang="en-US" dirty="0"/>
              <a:t>倍の速度で製品ができあがっていく</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3624108" y="2978996"/>
            <a:ext cx="6480073" cy="360005"/>
            <a:chOff x="611956" y="3699003"/>
            <a:chExt cx="6480073" cy="360005"/>
          </a:xfrm>
        </p:grpSpPr>
        <p:sp>
          <p:nvSpPr>
            <p:cNvPr id="90" name="角丸四角形 89"/>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7" name="正方形/長方形 6"/>
          <p:cNvSpPr/>
          <p:nvPr/>
        </p:nvSpPr>
        <p:spPr bwMode="auto">
          <a:xfrm>
            <a:off x="0" y="2817094"/>
            <a:ext cx="3017685"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Tree>
    <p:extLst>
      <p:ext uri="{BB962C8B-B14F-4D97-AF65-F5344CB8AC3E}">
        <p14:creationId xmlns:p14="http://schemas.microsoft.com/office/powerpoint/2010/main" val="35921509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16667E-7 1.85185E-6 L 0.1181 1.85185E-6 " pathEditMode="relative" rAng="0" ptsTypes="AA">
                                      <p:cBhvr>
                                        <p:cTn id="6" dur="1000" fill="hold"/>
                                        <p:tgtEl>
                                          <p:spTgt spid="6"/>
                                        </p:tgtEl>
                                        <p:attrNameLst>
                                          <p:attrName>ppt_x</p:attrName>
                                          <p:attrName>ppt_y</p:attrName>
                                        </p:attrNameLst>
                                      </p:cBhvr>
                                      <p:rCtr x="5898"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181 1.85185E-6 L 0.2362 1.85185E-6 " pathEditMode="relative" rAng="0" ptsTypes="AA">
                                      <p:cBhvr>
                                        <p:cTn id="10" dur="1000" fill="hold"/>
                                        <p:tgtEl>
                                          <p:spTgt spid="6"/>
                                        </p:tgtEl>
                                        <p:attrNameLst>
                                          <p:attrName>ppt_x</p:attrName>
                                          <p:attrName>ppt_y</p:attrName>
                                        </p:attrNameLst>
                                      </p:cBhvr>
                                      <p:rCtr x="5898"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2362 1.85185E-6 L 0.3543 1.85185E-6 " pathEditMode="relative" rAng="0" ptsTypes="AA">
                                      <p:cBhvr>
                                        <p:cTn id="14" dur="1000" fill="hold"/>
                                        <p:tgtEl>
                                          <p:spTgt spid="6"/>
                                        </p:tgtEl>
                                        <p:attrNameLst>
                                          <p:attrName>ppt_x</p:attrName>
                                          <p:attrName>ppt_y</p:attrName>
                                        </p:attrNameLst>
                                      </p:cBhvr>
                                      <p:rCtr x="5898"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3543 1.85185E-6 L 0.4724 1.85185E-6 " pathEditMode="relative" rAng="0" ptsTypes="AA">
                                      <p:cBhvr>
                                        <p:cTn id="18" dur="1000" fill="hold"/>
                                        <p:tgtEl>
                                          <p:spTgt spid="6"/>
                                        </p:tgtEl>
                                        <p:attrNameLst>
                                          <p:attrName>ppt_x</p:attrName>
                                          <p:attrName>ppt_y</p:attrName>
                                        </p:attrNameLst>
                                      </p:cBhvr>
                                      <p:rCtr x="5898"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395970" y="1683514"/>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836130" y="1683514"/>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276290" y="1683514"/>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716450" y="1683514"/>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357810" y="818971"/>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797970" y="818971"/>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240017" y="837555"/>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680177" y="837555"/>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前回の振り返り：工場のラインを考える</a:t>
            </a:r>
            <a:endParaRPr kumimoji="1" lang="ja-JP" altLang="en-US" dirty="0"/>
          </a:p>
        </p:txBody>
      </p:sp>
      <p:grpSp>
        <p:nvGrpSpPr>
          <p:cNvPr id="4" name="グループ化 3">
            <a:extLst>
              <a:ext uri="{FF2B5EF4-FFF2-40B4-BE49-F238E27FC236}">
                <a16:creationId xmlns:a16="http://schemas.microsoft.com/office/drawing/2014/main" id="{C02B93D2-28F3-8E18-E0C9-F45BBFB8C051}"/>
              </a:ext>
            </a:extLst>
          </p:cNvPr>
          <p:cNvGrpSpPr/>
          <p:nvPr/>
        </p:nvGrpSpPr>
        <p:grpSpPr>
          <a:xfrm>
            <a:off x="3395970" y="2673525"/>
            <a:ext cx="1562400" cy="576064"/>
            <a:chOff x="971600" y="5445224"/>
            <a:chExt cx="7200800" cy="576064"/>
          </a:xfrm>
        </p:grpSpPr>
        <p:sp>
          <p:nvSpPr>
            <p:cNvPr id="5" name="平行四辺形 4">
              <a:extLst>
                <a:ext uri="{FF2B5EF4-FFF2-40B4-BE49-F238E27FC236}">
                  <a16:creationId xmlns:a16="http://schemas.microsoft.com/office/drawing/2014/main" id="{031065F8-A7E5-FD87-239A-54B0F697198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 name="平行四辺形 7">
              <a:extLst>
                <a:ext uri="{FF2B5EF4-FFF2-40B4-BE49-F238E27FC236}">
                  <a16:creationId xmlns:a16="http://schemas.microsoft.com/office/drawing/2014/main" id="{BD6DC600-F04E-0B9B-CC68-8644B4CF7B2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 name="グループ化 8">
            <a:extLst>
              <a:ext uri="{FF2B5EF4-FFF2-40B4-BE49-F238E27FC236}">
                <a16:creationId xmlns:a16="http://schemas.microsoft.com/office/drawing/2014/main" id="{ADEFB4E4-8CE3-E7E2-C283-7CD8DEEA7971}"/>
              </a:ext>
            </a:extLst>
          </p:cNvPr>
          <p:cNvGrpSpPr/>
          <p:nvPr/>
        </p:nvGrpSpPr>
        <p:grpSpPr>
          <a:xfrm>
            <a:off x="4836130" y="2673525"/>
            <a:ext cx="1562400" cy="576064"/>
            <a:chOff x="971600" y="5445224"/>
            <a:chExt cx="7200800" cy="576064"/>
          </a:xfrm>
        </p:grpSpPr>
        <p:sp>
          <p:nvSpPr>
            <p:cNvPr id="10" name="平行四辺形 9">
              <a:extLst>
                <a:ext uri="{FF2B5EF4-FFF2-40B4-BE49-F238E27FC236}">
                  <a16:creationId xmlns:a16="http://schemas.microsoft.com/office/drawing/2014/main" id="{ECABA246-D9F1-6944-D7C1-BF8160A9EBD7}"/>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 name="平行四辺形 10">
              <a:extLst>
                <a:ext uri="{FF2B5EF4-FFF2-40B4-BE49-F238E27FC236}">
                  <a16:creationId xmlns:a16="http://schemas.microsoft.com/office/drawing/2014/main" id="{15D26FDF-41BF-7F69-640F-7419279E1488}"/>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2" name="グループ化 11">
            <a:extLst>
              <a:ext uri="{FF2B5EF4-FFF2-40B4-BE49-F238E27FC236}">
                <a16:creationId xmlns:a16="http://schemas.microsoft.com/office/drawing/2014/main" id="{A0D83CA2-F574-66F3-2C47-688BD20EBCC1}"/>
              </a:ext>
            </a:extLst>
          </p:cNvPr>
          <p:cNvGrpSpPr/>
          <p:nvPr/>
        </p:nvGrpSpPr>
        <p:grpSpPr>
          <a:xfrm>
            <a:off x="6276290" y="2673525"/>
            <a:ext cx="1562400" cy="576064"/>
            <a:chOff x="971600" y="5445224"/>
            <a:chExt cx="7200800" cy="576064"/>
          </a:xfrm>
        </p:grpSpPr>
        <p:sp>
          <p:nvSpPr>
            <p:cNvPr id="13" name="平行四辺形 12">
              <a:extLst>
                <a:ext uri="{FF2B5EF4-FFF2-40B4-BE49-F238E27FC236}">
                  <a16:creationId xmlns:a16="http://schemas.microsoft.com/office/drawing/2014/main" id="{8A8C95F0-0363-E031-7483-82FB3C5B49BD}"/>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 name="平行四辺形 13">
              <a:extLst>
                <a:ext uri="{FF2B5EF4-FFF2-40B4-BE49-F238E27FC236}">
                  <a16:creationId xmlns:a16="http://schemas.microsoft.com/office/drawing/2014/main" id="{BFB3CA41-6E0F-D2D8-45A1-FE3EB15D2F61}"/>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5" name="グループ化 14">
            <a:extLst>
              <a:ext uri="{FF2B5EF4-FFF2-40B4-BE49-F238E27FC236}">
                <a16:creationId xmlns:a16="http://schemas.microsoft.com/office/drawing/2014/main" id="{C94C337C-9EEA-4AD3-47E0-D9737B3C1FF1}"/>
              </a:ext>
            </a:extLst>
          </p:cNvPr>
          <p:cNvGrpSpPr/>
          <p:nvPr/>
        </p:nvGrpSpPr>
        <p:grpSpPr>
          <a:xfrm>
            <a:off x="7716450" y="2673525"/>
            <a:ext cx="1584176" cy="576064"/>
            <a:chOff x="971600" y="5445224"/>
            <a:chExt cx="7200800" cy="576064"/>
          </a:xfrm>
        </p:grpSpPr>
        <p:sp>
          <p:nvSpPr>
            <p:cNvPr id="16" name="平行四辺形 15">
              <a:extLst>
                <a:ext uri="{FF2B5EF4-FFF2-40B4-BE49-F238E27FC236}">
                  <a16:creationId xmlns:a16="http://schemas.microsoft.com/office/drawing/2014/main" id="{9F376BA2-B58F-3000-2517-F78F631E92AA}"/>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 name="平行四辺形 16">
              <a:extLst>
                <a:ext uri="{FF2B5EF4-FFF2-40B4-BE49-F238E27FC236}">
                  <a16:creationId xmlns:a16="http://schemas.microsoft.com/office/drawing/2014/main" id="{7E1E08E9-14D3-A5D8-A5C2-15F203266026}"/>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 name="グループ化 17">
            <a:extLst>
              <a:ext uri="{FF2B5EF4-FFF2-40B4-BE49-F238E27FC236}">
                <a16:creationId xmlns:a16="http://schemas.microsoft.com/office/drawing/2014/main" id="{8D2B0349-71C0-913C-E146-2955AF4269E7}"/>
              </a:ext>
            </a:extLst>
          </p:cNvPr>
          <p:cNvGrpSpPr/>
          <p:nvPr/>
        </p:nvGrpSpPr>
        <p:grpSpPr>
          <a:xfrm>
            <a:off x="3395970" y="3663536"/>
            <a:ext cx="1562400" cy="576064"/>
            <a:chOff x="971600" y="5445224"/>
            <a:chExt cx="7200800" cy="576064"/>
          </a:xfrm>
        </p:grpSpPr>
        <p:sp>
          <p:nvSpPr>
            <p:cNvPr id="19" name="平行四辺形 18">
              <a:extLst>
                <a:ext uri="{FF2B5EF4-FFF2-40B4-BE49-F238E27FC236}">
                  <a16:creationId xmlns:a16="http://schemas.microsoft.com/office/drawing/2014/main" id="{42840D13-A1CC-595C-6581-580608D4B79B}"/>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 name="平行四辺形 19">
              <a:extLst>
                <a:ext uri="{FF2B5EF4-FFF2-40B4-BE49-F238E27FC236}">
                  <a16:creationId xmlns:a16="http://schemas.microsoft.com/office/drawing/2014/main" id="{27EC7162-BD49-6334-ED65-DDB74F84B649}"/>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1" name="グループ化 20">
            <a:extLst>
              <a:ext uri="{FF2B5EF4-FFF2-40B4-BE49-F238E27FC236}">
                <a16:creationId xmlns:a16="http://schemas.microsoft.com/office/drawing/2014/main" id="{F168137D-B118-54FF-1927-85F0751AEDE3}"/>
              </a:ext>
            </a:extLst>
          </p:cNvPr>
          <p:cNvGrpSpPr/>
          <p:nvPr/>
        </p:nvGrpSpPr>
        <p:grpSpPr>
          <a:xfrm>
            <a:off x="4836130" y="3663536"/>
            <a:ext cx="1562400" cy="576064"/>
            <a:chOff x="971600" y="5445224"/>
            <a:chExt cx="7200800" cy="576064"/>
          </a:xfrm>
        </p:grpSpPr>
        <p:sp>
          <p:nvSpPr>
            <p:cNvPr id="22" name="平行四辺形 21">
              <a:extLst>
                <a:ext uri="{FF2B5EF4-FFF2-40B4-BE49-F238E27FC236}">
                  <a16:creationId xmlns:a16="http://schemas.microsoft.com/office/drawing/2014/main" id="{586F3B25-65E0-440A-364A-EA72D2E2E8D3}"/>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3" name="平行四辺形 22">
              <a:extLst>
                <a:ext uri="{FF2B5EF4-FFF2-40B4-BE49-F238E27FC236}">
                  <a16:creationId xmlns:a16="http://schemas.microsoft.com/office/drawing/2014/main" id="{DDC74781-7B51-D45F-6534-22DF1E18343A}"/>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4" name="グループ化 23">
            <a:extLst>
              <a:ext uri="{FF2B5EF4-FFF2-40B4-BE49-F238E27FC236}">
                <a16:creationId xmlns:a16="http://schemas.microsoft.com/office/drawing/2014/main" id="{872F116F-6312-C4BF-ACDD-8F9C23AA85A9}"/>
              </a:ext>
            </a:extLst>
          </p:cNvPr>
          <p:cNvGrpSpPr/>
          <p:nvPr/>
        </p:nvGrpSpPr>
        <p:grpSpPr>
          <a:xfrm>
            <a:off x="6276290" y="3663536"/>
            <a:ext cx="1562400" cy="576064"/>
            <a:chOff x="971600" y="5445224"/>
            <a:chExt cx="7200800" cy="576064"/>
          </a:xfrm>
        </p:grpSpPr>
        <p:sp>
          <p:nvSpPr>
            <p:cNvPr id="25" name="平行四辺形 24">
              <a:extLst>
                <a:ext uri="{FF2B5EF4-FFF2-40B4-BE49-F238E27FC236}">
                  <a16:creationId xmlns:a16="http://schemas.microsoft.com/office/drawing/2014/main" id="{3D5EDC2F-A101-C3ED-6CCC-F941A8EDDDBF}"/>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6" name="平行四辺形 25">
              <a:extLst>
                <a:ext uri="{FF2B5EF4-FFF2-40B4-BE49-F238E27FC236}">
                  <a16:creationId xmlns:a16="http://schemas.microsoft.com/office/drawing/2014/main" id="{4C7FE2AF-AF6C-EFBE-3DD9-51BBD21AAC17}"/>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7" name="グループ化 26">
            <a:extLst>
              <a:ext uri="{FF2B5EF4-FFF2-40B4-BE49-F238E27FC236}">
                <a16:creationId xmlns:a16="http://schemas.microsoft.com/office/drawing/2014/main" id="{9DDC6D85-C3E8-CAA8-4B2C-509EAF649A08}"/>
              </a:ext>
            </a:extLst>
          </p:cNvPr>
          <p:cNvGrpSpPr/>
          <p:nvPr/>
        </p:nvGrpSpPr>
        <p:grpSpPr>
          <a:xfrm>
            <a:off x="7716450" y="3663536"/>
            <a:ext cx="1584176" cy="576064"/>
            <a:chOff x="971600" y="5445224"/>
            <a:chExt cx="7200800" cy="576064"/>
          </a:xfrm>
        </p:grpSpPr>
        <p:sp>
          <p:nvSpPr>
            <p:cNvPr id="28" name="平行四辺形 27">
              <a:extLst>
                <a:ext uri="{FF2B5EF4-FFF2-40B4-BE49-F238E27FC236}">
                  <a16:creationId xmlns:a16="http://schemas.microsoft.com/office/drawing/2014/main" id="{BA629B27-D0B9-C2BD-31DD-1B2C74BDC806}"/>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 name="平行四辺形 28">
              <a:extLst>
                <a:ext uri="{FF2B5EF4-FFF2-40B4-BE49-F238E27FC236}">
                  <a16:creationId xmlns:a16="http://schemas.microsoft.com/office/drawing/2014/main" id="{347C8201-CD36-8510-DF1A-1323E8285048}"/>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 name="グループ化 29">
            <a:extLst>
              <a:ext uri="{FF2B5EF4-FFF2-40B4-BE49-F238E27FC236}">
                <a16:creationId xmlns:a16="http://schemas.microsoft.com/office/drawing/2014/main" id="{0899A774-DFCE-C149-B267-3978BD4BE062}"/>
              </a:ext>
            </a:extLst>
          </p:cNvPr>
          <p:cNvGrpSpPr/>
          <p:nvPr/>
        </p:nvGrpSpPr>
        <p:grpSpPr>
          <a:xfrm>
            <a:off x="3395970" y="4743548"/>
            <a:ext cx="1562400" cy="576064"/>
            <a:chOff x="971600" y="5445224"/>
            <a:chExt cx="7200800" cy="576064"/>
          </a:xfrm>
        </p:grpSpPr>
        <p:sp>
          <p:nvSpPr>
            <p:cNvPr id="31" name="平行四辺形 30">
              <a:extLst>
                <a:ext uri="{FF2B5EF4-FFF2-40B4-BE49-F238E27FC236}">
                  <a16:creationId xmlns:a16="http://schemas.microsoft.com/office/drawing/2014/main" id="{F47B42DC-23A4-0759-9F65-FE101C8E45E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 name="平行四辺形 31">
              <a:extLst>
                <a:ext uri="{FF2B5EF4-FFF2-40B4-BE49-F238E27FC236}">
                  <a16:creationId xmlns:a16="http://schemas.microsoft.com/office/drawing/2014/main" id="{0C236555-1D7A-E5A6-222E-AAC303087D5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3" name="グループ化 32">
            <a:extLst>
              <a:ext uri="{FF2B5EF4-FFF2-40B4-BE49-F238E27FC236}">
                <a16:creationId xmlns:a16="http://schemas.microsoft.com/office/drawing/2014/main" id="{B322BA80-AC42-C91C-0CC5-DA3EC3BA6568}"/>
              </a:ext>
            </a:extLst>
          </p:cNvPr>
          <p:cNvGrpSpPr/>
          <p:nvPr/>
        </p:nvGrpSpPr>
        <p:grpSpPr>
          <a:xfrm>
            <a:off x="4836130" y="4743548"/>
            <a:ext cx="1562400" cy="576064"/>
            <a:chOff x="971600" y="5445224"/>
            <a:chExt cx="7200800" cy="576064"/>
          </a:xfrm>
        </p:grpSpPr>
        <p:sp>
          <p:nvSpPr>
            <p:cNvPr id="39" name="平行四辺形 38">
              <a:extLst>
                <a:ext uri="{FF2B5EF4-FFF2-40B4-BE49-F238E27FC236}">
                  <a16:creationId xmlns:a16="http://schemas.microsoft.com/office/drawing/2014/main" id="{1C7A119F-16D3-8182-85BC-DD4BF9C1F2B1}"/>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 name="平行四辺形 39">
              <a:extLst>
                <a:ext uri="{FF2B5EF4-FFF2-40B4-BE49-F238E27FC236}">
                  <a16:creationId xmlns:a16="http://schemas.microsoft.com/office/drawing/2014/main" id="{B9700F4D-B38F-71B5-0F8A-9008A8002029}"/>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 name="グループ化 40">
            <a:extLst>
              <a:ext uri="{FF2B5EF4-FFF2-40B4-BE49-F238E27FC236}">
                <a16:creationId xmlns:a16="http://schemas.microsoft.com/office/drawing/2014/main" id="{47BC4830-CC7E-BFF6-E677-BA748511EDF6}"/>
              </a:ext>
            </a:extLst>
          </p:cNvPr>
          <p:cNvGrpSpPr/>
          <p:nvPr/>
        </p:nvGrpSpPr>
        <p:grpSpPr>
          <a:xfrm>
            <a:off x="6276290" y="4743548"/>
            <a:ext cx="1562400" cy="576064"/>
            <a:chOff x="971600" y="5445224"/>
            <a:chExt cx="7200800" cy="576064"/>
          </a:xfrm>
        </p:grpSpPr>
        <p:sp>
          <p:nvSpPr>
            <p:cNvPr id="42" name="平行四辺形 41">
              <a:extLst>
                <a:ext uri="{FF2B5EF4-FFF2-40B4-BE49-F238E27FC236}">
                  <a16:creationId xmlns:a16="http://schemas.microsoft.com/office/drawing/2014/main" id="{A3CC261E-4C87-93EE-781B-E004E52BCE13}"/>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平行四辺形 42">
              <a:extLst>
                <a:ext uri="{FF2B5EF4-FFF2-40B4-BE49-F238E27FC236}">
                  <a16:creationId xmlns:a16="http://schemas.microsoft.com/office/drawing/2014/main" id="{C3DD0B31-6E91-83B5-CC85-3407238CB75B}"/>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 name="グループ化 43">
            <a:extLst>
              <a:ext uri="{FF2B5EF4-FFF2-40B4-BE49-F238E27FC236}">
                <a16:creationId xmlns:a16="http://schemas.microsoft.com/office/drawing/2014/main" id="{C16C9940-7958-9CC5-F1FF-88E40568293D}"/>
              </a:ext>
            </a:extLst>
          </p:cNvPr>
          <p:cNvGrpSpPr/>
          <p:nvPr/>
        </p:nvGrpSpPr>
        <p:grpSpPr>
          <a:xfrm>
            <a:off x="7716450" y="4743548"/>
            <a:ext cx="1584176" cy="576064"/>
            <a:chOff x="971600" y="5445224"/>
            <a:chExt cx="7200800" cy="576064"/>
          </a:xfrm>
        </p:grpSpPr>
        <p:sp>
          <p:nvSpPr>
            <p:cNvPr id="45" name="平行四辺形 44">
              <a:extLst>
                <a:ext uri="{FF2B5EF4-FFF2-40B4-BE49-F238E27FC236}">
                  <a16:creationId xmlns:a16="http://schemas.microsoft.com/office/drawing/2014/main" id="{9F46C150-462D-C40A-1073-80078318E0AA}"/>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 name="平行四辺形 45">
              <a:extLst>
                <a:ext uri="{FF2B5EF4-FFF2-40B4-BE49-F238E27FC236}">
                  <a16:creationId xmlns:a16="http://schemas.microsoft.com/office/drawing/2014/main" id="{7EB11B96-4A10-75A9-D4D7-0E286B08649D}"/>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59" name="角丸四角形 92">
            <a:extLst>
              <a:ext uri="{FF2B5EF4-FFF2-40B4-BE49-F238E27FC236}">
                <a16:creationId xmlns:a16="http://schemas.microsoft.com/office/drawing/2014/main" id="{B0CDA66B-AC1E-12CA-6DDD-78242057E981}"/>
              </a:ext>
            </a:extLst>
          </p:cNvPr>
          <p:cNvSpPr/>
          <p:nvPr/>
        </p:nvSpPr>
        <p:spPr bwMode="auto">
          <a:xfrm>
            <a:off x="3845975" y="159351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69" name="角丸四角形 91">
            <a:extLst>
              <a:ext uri="{FF2B5EF4-FFF2-40B4-BE49-F238E27FC236}">
                <a16:creationId xmlns:a16="http://schemas.microsoft.com/office/drawing/2014/main" id="{5C3AC9CF-91F3-96E0-B532-33365273BC3E}"/>
              </a:ext>
            </a:extLst>
          </p:cNvPr>
          <p:cNvSpPr/>
          <p:nvPr/>
        </p:nvSpPr>
        <p:spPr bwMode="auto">
          <a:xfrm>
            <a:off x="5285991" y="249352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0" name="角丸四角形 92">
            <a:extLst>
              <a:ext uri="{FF2B5EF4-FFF2-40B4-BE49-F238E27FC236}">
                <a16:creationId xmlns:a16="http://schemas.microsoft.com/office/drawing/2014/main" id="{170BB4FA-5D54-91DA-A174-29967AA236F1}"/>
              </a:ext>
            </a:extLst>
          </p:cNvPr>
          <p:cNvSpPr/>
          <p:nvPr/>
        </p:nvSpPr>
        <p:spPr bwMode="auto">
          <a:xfrm>
            <a:off x="3845975" y="249352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2" name="角丸四角形 90">
            <a:extLst>
              <a:ext uri="{FF2B5EF4-FFF2-40B4-BE49-F238E27FC236}">
                <a16:creationId xmlns:a16="http://schemas.microsoft.com/office/drawing/2014/main" id="{5B280B5D-F49D-C15C-9C9E-0402D5BB59C2}"/>
              </a:ext>
            </a:extLst>
          </p:cNvPr>
          <p:cNvSpPr/>
          <p:nvPr/>
        </p:nvSpPr>
        <p:spPr bwMode="auto">
          <a:xfrm>
            <a:off x="6726007" y="348353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3" name="角丸四角形 91">
            <a:extLst>
              <a:ext uri="{FF2B5EF4-FFF2-40B4-BE49-F238E27FC236}">
                <a16:creationId xmlns:a16="http://schemas.microsoft.com/office/drawing/2014/main" id="{648A7FAE-19D9-38A1-69BC-D37ACD58AF6F}"/>
              </a:ext>
            </a:extLst>
          </p:cNvPr>
          <p:cNvSpPr/>
          <p:nvPr/>
        </p:nvSpPr>
        <p:spPr bwMode="auto">
          <a:xfrm>
            <a:off x="5285991" y="348353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4" name="角丸四角形 92">
            <a:extLst>
              <a:ext uri="{FF2B5EF4-FFF2-40B4-BE49-F238E27FC236}">
                <a16:creationId xmlns:a16="http://schemas.microsoft.com/office/drawing/2014/main" id="{4CAAE40B-9372-D3FE-2C0D-2CCDBBB35E69}"/>
              </a:ext>
            </a:extLst>
          </p:cNvPr>
          <p:cNvSpPr/>
          <p:nvPr/>
        </p:nvSpPr>
        <p:spPr bwMode="auto">
          <a:xfrm>
            <a:off x="3845975" y="348353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5" name="角丸四角形 89">
            <a:extLst>
              <a:ext uri="{FF2B5EF4-FFF2-40B4-BE49-F238E27FC236}">
                <a16:creationId xmlns:a16="http://schemas.microsoft.com/office/drawing/2014/main" id="{5A55B066-7C6F-4503-D15D-74829B04E4AB}"/>
              </a:ext>
            </a:extLst>
          </p:cNvPr>
          <p:cNvSpPr/>
          <p:nvPr/>
        </p:nvSpPr>
        <p:spPr bwMode="auto">
          <a:xfrm>
            <a:off x="8166023" y="456354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6" name="角丸四角形 90">
            <a:extLst>
              <a:ext uri="{FF2B5EF4-FFF2-40B4-BE49-F238E27FC236}">
                <a16:creationId xmlns:a16="http://schemas.microsoft.com/office/drawing/2014/main" id="{E96BCA77-71EC-00FD-C729-54AD63069063}"/>
              </a:ext>
            </a:extLst>
          </p:cNvPr>
          <p:cNvSpPr/>
          <p:nvPr/>
        </p:nvSpPr>
        <p:spPr bwMode="auto">
          <a:xfrm>
            <a:off x="6726007" y="456354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7" name="角丸四角形 91">
            <a:extLst>
              <a:ext uri="{FF2B5EF4-FFF2-40B4-BE49-F238E27FC236}">
                <a16:creationId xmlns:a16="http://schemas.microsoft.com/office/drawing/2014/main" id="{FD866D4D-C311-1BAA-802B-12E19C75DC24}"/>
              </a:ext>
            </a:extLst>
          </p:cNvPr>
          <p:cNvSpPr/>
          <p:nvPr/>
        </p:nvSpPr>
        <p:spPr bwMode="auto">
          <a:xfrm>
            <a:off x="5285991" y="456354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8" name="角丸四角形 92">
            <a:extLst>
              <a:ext uri="{FF2B5EF4-FFF2-40B4-BE49-F238E27FC236}">
                <a16:creationId xmlns:a16="http://schemas.microsoft.com/office/drawing/2014/main" id="{2E6C180C-CCF2-BBFE-22E8-967C1D6166F7}"/>
              </a:ext>
            </a:extLst>
          </p:cNvPr>
          <p:cNvSpPr/>
          <p:nvPr/>
        </p:nvSpPr>
        <p:spPr bwMode="auto">
          <a:xfrm>
            <a:off x="3845975" y="456354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79" name="コンテンツ プレースホルダー 57">
            <a:extLst>
              <a:ext uri="{FF2B5EF4-FFF2-40B4-BE49-F238E27FC236}">
                <a16:creationId xmlns:a16="http://schemas.microsoft.com/office/drawing/2014/main" id="{42B81DAF-9CD9-C69C-721C-ED94BE0CF689}"/>
              </a:ext>
            </a:extLst>
          </p:cNvPr>
          <p:cNvSpPr txBox="1">
            <a:spLocks/>
          </p:cNvSpPr>
          <p:nvPr/>
        </p:nvSpPr>
        <p:spPr bwMode="auto">
          <a:xfrm>
            <a:off x="2225957" y="5488839"/>
            <a:ext cx="8460094" cy="136916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lvl="1"/>
            <a:r>
              <a:rPr lang="ja-JP" altLang="en-US" kern="0" dirty="0">
                <a:solidFill>
                  <a:schemeClr val="accent5"/>
                </a:solidFill>
              </a:rPr>
              <a:t>命令パイプライン も同じ考え方に基づく</a:t>
            </a:r>
            <a:endParaRPr lang="en-US" altLang="ja-JP" kern="0" dirty="0">
              <a:solidFill>
                <a:schemeClr val="tx1">
                  <a:lumMod val="85000"/>
                  <a:lumOff val="15000"/>
                </a:schemeClr>
              </a:solidFill>
            </a:endParaRPr>
          </a:p>
        </p:txBody>
      </p:sp>
      <p:cxnSp>
        <p:nvCxnSpPr>
          <p:cNvPr id="6" name="直線矢印コネクタ 5">
            <a:extLst>
              <a:ext uri="{FF2B5EF4-FFF2-40B4-BE49-F238E27FC236}">
                <a16:creationId xmlns:a16="http://schemas.microsoft.com/office/drawing/2014/main" id="{71607CC4-027B-E459-7E3B-8E434C38A806}"/>
              </a:ext>
            </a:extLst>
          </p:cNvPr>
          <p:cNvCxnSpPr>
            <a:cxnSpLocks/>
          </p:cNvCxnSpPr>
          <p:nvPr/>
        </p:nvCxnSpPr>
        <p:spPr bwMode="auto">
          <a:xfrm>
            <a:off x="2495960" y="1358977"/>
            <a:ext cx="0" cy="3780042"/>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7" name="正方形/長方形 6">
            <a:extLst>
              <a:ext uri="{FF2B5EF4-FFF2-40B4-BE49-F238E27FC236}">
                <a16:creationId xmlns:a16="http://schemas.microsoft.com/office/drawing/2014/main" id="{5F1434AD-D87E-C893-5EA3-685B944919F2}"/>
              </a:ext>
            </a:extLst>
          </p:cNvPr>
          <p:cNvSpPr/>
          <p:nvPr/>
        </p:nvSpPr>
        <p:spPr bwMode="auto">
          <a:xfrm>
            <a:off x="1055944" y="2978995"/>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75000"/>
                    <a:lumOff val="25000"/>
                  </a:schemeClr>
                </a:solidFill>
                <a:latin typeface="メイリオ" panose="020B0604030504040204" pitchFamily="50" charset="-128"/>
                <a:ea typeface="メイリオ" panose="020B0604030504040204" pitchFamily="50" charset="-128"/>
              </a:rPr>
              <a:t>時間</a:t>
            </a:r>
          </a:p>
        </p:txBody>
      </p:sp>
    </p:spTree>
    <p:extLst>
      <p:ext uri="{BB962C8B-B14F-4D97-AF65-F5344CB8AC3E}">
        <p14:creationId xmlns:p14="http://schemas.microsoft.com/office/powerpoint/2010/main" val="214905055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3" name="直線コネクタ 92"/>
          <p:cNvCxnSpPr/>
          <p:nvPr/>
        </p:nvCxnSpPr>
        <p:spPr bwMode="auto">
          <a:xfrm flipH="1">
            <a:off x="8436028" y="3338999"/>
            <a:ext cx="360003" cy="0"/>
          </a:xfrm>
          <a:prstGeom prst="line">
            <a:avLst/>
          </a:prstGeom>
          <a:noFill/>
          <a:ln w="9525" cap="flat" cmpd="sng" algn="ctr">
            <a:solidFill>
              <a:schemeClr val="tx1"/>
            </a:solidFill>
            <a:prstDash val="dash"/>
            <a:round/>
            <a:headEnd type="none" w="med" len="med"/>
            <a:tailEnd type="none" w="med" len="med"/>
          </a:ln>
          <a:effectLst/>
        </p:spPr>
      </p:cxnSp>
      <p:cxnSp>
        <p:nvCxnSpPr>
          <p:cNvPr id="89" name="直線コネクタ 88"/>
          <p:cNvCxnSpPr/>
          <p:nvPr/>
        </p:nvCxnSpPr>
        <p:spPr bwMode="auto">
          <a:xfrm>
            <a:off x="6456005" y="2618991"/>
            <a:ext cx="450005" cy="0"/>
          </a:xfrm>
          <a:prstGeom prst="line">
            <a:avLst/>
          </a:prstGeom>
          <a:noFill/>
          <a:ln w="9525" cap="flat" cmpd="sng" algn="ctr">
            <a:solidFill>
              <a:schemeClr val="tx1"/>
            </a:solidFill>
            <a:prstDash val="dash"/>
            <a:round/>
            <a:headEnd type="none" w="med" len="med"/>
            <a:tailEnd type="none" w="med" len="med"/>
          </a:ln>
          <a:effectLst/>
        </p:spPr>
      </p:cxnSp>
      <p:cxnSp>
        <p:nvCxnSpPr>
          <p:cNvPr id="86" name="直線コネクタ 85"/>
          <p:cNvCxnSpPr/>
          <p:nvPr/>
        </p:nvCxnSpPr>
        <p:spPr bwMode="auto">
          <a:xfrm>
            <a:off x="4655985" y="1988984"/>
            <a:ext cx="450005"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lang="ja-JP" altLang="en-US" dirty="0"/>
              <a:t>パイプライン化による性能向上</a:t>
            </a:r>
            <a:endParaRPr kumimoji="1" lang="ja-JP" altLang="en-US" dirty="0"/>
          </a:p>
        </p:txBody>
      </p:sp>
      <p:grpSp>
        <p:nvGrpSpPr>
          <p:cNvPr id="5" name="グループ化 4"/>
          <p:cNvGrpSpPr/>
          <p:nvPr/>
        </p:nvGrpSpPr>
        <p:grpSpPr>
          <a:xfrm>
            <a:off x="2729869" y="1845004"/>
            <a:ext cx="2073428" cy="431940"/>
            <a:chOff x="971600" y="5445224"/>
            <a:chExt cx="7256909" cy="576064"/>
          </a:xfrm>
        </p:grpSpPr>
        <p:sp>
          <p:nvSpPr>
            <p:cNvPr id="6" name="平行四辺形 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平行四辺形 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cxnSp>
        <p:nvCxnSpPr>
          <p:cNvPr id="96" name="直線矢印コネクタ 95"/>
          <p:cNvCxnSpPr/>
          <p:nvPr/>
        </p:nvCxnSpPr>
        <p:spPr bwMode="auto">
          <a:xfrm>
            <a:off x="2225957" y="1628980"/>
            <a:ext cx="6480720"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98" name="直線コネクタ 97"/>
          <p:cNvCxnSpPr/>
          <p:nvPr/>
        </p:nvCxnSpPr>
        <p:spPr bwMode="auto">
          <a:xfrm>
            <a:off x="5555994" y="5859027"/>
            <a:ext cx="360004" cy="0"/>
          </a:xfrm>
          <a:prstGeom prst="line">
            <a:avLst/>
          </a:prstGeom>
          <a:noFill/>
          <a:ln w="9525" cap="flat" cmpd="sng" algn="ctr">
            <a:solidFill>
              <a:schemeClr val="tx1"/>
            </a:solidFill>
            <a:prstDash val="dash"/>
            <a:round/>
            <a:headEnd type="none" w="med" len="med"/>
            <a:tailEnd type="none" w="med" len="med"/>
          </a:ln>
          <a:effectLst/>
        </p:spPr>
      </p:cxnSp>
      <p:cxnSp>
        <p:nvCxnSpPr>
          <p:cNvPr id="99" name="直線コネクタ 98"/>
          <p:cNvCxnSpPr/>
          <p:nvPr/>
        </p:nvCxnSpPr>
        <p:spPr bwMode="auto">
          <a:xfrm flipV="1">
            <a:off x="4835986" y="4599013"/>
            <a:ext cx="360004" cy="4708"/>
          </a:xfrm>
          <a:prstGeom prst="line">
            <a:avLst/>
          </a:prstGeom>
          <a:noFill/>
          <a:ln w="9525" cap="flat" cmpd="sng" algn="ctr">
            <a:solidFill>
              <a:schemeClr val="tx1"/>
            </a:solidFill>
            <a:prstDash val="dash"/>
            <a:round/>
            <a:headEnd type="none" w="med" len="med"/>
            <a:tailEnd type="none" w="med" len="med"/>
          </a:ln>
          <a:effectLst/>
        </p:spPr>
      </p:cxnSp>
      <p:cxnSp>
        <p:nvCxnSpPr>
          <p:cNvPr id="100" name="直線コネクタ 99"/>
          <p:cNvCxnSpPr/>
          <p:nvPr/>
        </p:nvCxnSpPr>
        <p:spPr bwMode="auto">
          <a:xfrm>
            <a:off x="5195990" y="5229020"/>
            <a:ext cx="360004" cy="0"/>
          </a:xfrm>
          <a:prstGeom prst="line">
            <a:avLst/>
          </a:prstGeom>
          <a:noFill/>
          <a:ln w="9525" cap="flat" cmpd="sng" algn="ctr">
            <a:solidFill>
              <a:schemeClr val="tx1"/>
            </a:solidFill>
            <a:prstDash val="dash"/>
            <a:round/>
            <a:headEnd type="none" w="med" len="med"/>
            <a:tailEnd type="none" w="med" len="med"/>
          </a:ln>
          <a:effectLst/>
        </p:spPr>
      </p:cxnSp>
      <p:cxnSp>
        <p:nvCxnSpPr>
          <p:cNvPr id="143" name="直線矢印コネクタ 142"/>
          <p:cNvCxnSpPr/>
          <p:nvPr/>
        </p:nvCxnSpPr>
        <p:spPr bwMode="auto">
          <a:xfrm>
            <a:off x="2153949" y="4221268"/>
            <a:ext cx="6480720"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2135957" y="1178975"/>
            <a:ext cx="2954655"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2045956" y="3789004"/>
            <a:ext cx="2723823" cy="369332"/>
          </a:xfrm>
          <a:prstGeom prst="rect">
            <a:avLst/>
          </a:prstGeom>
        </p:spPr>
        <p:txBody>
          <a:bodyPr wrap="none">
            <a:spAutoFit/>
          </a:bodyPr>
          <a:lstStyle/>
          <a:p>
            <a:r>
              <a:rPr lang="ja-JP" altLang="en-US" dirty="0">
                <a:solidFill>
                  <a:schemeClr val="tx1">
                    <a:lumMod val="65000"/>
                    <a:lumOff val="35000"/>
                  </a:schemeClr>
                </a:solidFill>
              </a:rPr>
              <a:t>パイプライン化した場合</a:t>
            </a:r>
          </a:p>
        </p:txBody>
      </p:sp>
      <p:grpSp>
        <p:nvGrpSpPr>
          <p:cNvPr id="172" name="グループ化 171"/>
          <p:cNvGrpSpPr/>
          <p:nvPr/>
        </p:nvGrpSpPr>
        <p:grpSpPr>
          <a:xfrm>
            <a:off x="2766252" y="4437148"/>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85" name="グループ化 184"/>
          <p:cNvGrpSpPr/>
          <p:nvPr/>
        </p:nvGrpSpPr>
        <p:grpSpPr>
          <a:xfrm>
            <a:off x="3126256" y="5067155"/>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98" name="グループ化 197"/>
          <p:cNvGrpSpPr/>
          <p:nvPr/>
        </p:nvGrpSpPr>
        <p:grpSpPr>
          <a:xfrm>
            <a:off x="3486260" y="5697162"/>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sp>
        <p:nvSpPr>
          <p:cNvPr id="212" name="角丸四角形 211"/>
          <p:cNvSpPr/>
          <p:nvPr/>
        </p:nvSpPr>
        <p:spPr bwMode="auto">
          <a:xfrm>
            <a:off x="5105989" y="180898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3" name="角丸四角形 212"/>
          <p:cNvSpPr/>
          <p:nvPr/>
        </p:nvSpPr>
        <p:spPr bwMode="auto">
          <a:xfrm>
            <a:off x="6906009" y="243898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4" name="角丸四角形 213"/>
          <p:cNvSpPr/>
          <p:nvPr/>
        </p:nvSpPr>
        <p:spPr bwMode="auto">
          <a:xfrm>
            <a:off x="8796030" y="3158997"/>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6" name="角丸四角形 215"/>
          <p:cNvSpPr/>
          <p:nvPr/>
        </p:nvSpPr>
        <p:spPr bwMode="auto">
          <a:xfrm>
            <a:off x="5195990" y="4419011"/>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7" name="角丸四角形 216"/>
          <p:cNvSpPr/>
          <p:nvPr/>
        </p:nvSpPr>
        <p:spPr bwMode="auto">
          <a:xfrm>
            <a:off x="5555994" y="5049018"/>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18" name="角丸四角形 217"/>
          <p:cNvSpPr/>
          <p:nvPr/>
        </p:nvSpPr>
        <p:spPr bwMode="auto">
          <a:xfrm>
            <a:off x="5915998" y="567902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nvGrpSpPr>
          <p:cNvPr id="97" name="グループ化 96"/>
          <p:cNvGrpSpPr/>
          <p:nvPr/>
        </p:nvGrpSpPr>
        <p:grpSpPr>
          <a:xfrm>
            <a:off x="4529889" y="2456946"/>
            <a:ext cx="2073428" cy="431940"/>
            <a:chOff x="971600" y="5445224"/>
            <a:chExt cx="7256909" cy="576064"/>
          </a:xfrm>
        </p:grpSpPr>
        <p:sp>
          <p:nvSpPr>
            <p:cNvPr id="101" name="平行四辺形 1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2" name="平行四辺形 101"/>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3" name="グループ化 102"/>
          <p:cNvGrpSpPr/>
          <p:nvPr/>
        </p:nvGrpSpPr>
        <p:grpSpPr>
          <a:xfrm>
            <a:off x="6419910" y="3176954"/>
            <a:ext cx="2073428" cy="431940"/>
            <a:chOff x="971600" y="5445224"/>
            <a:chExt cx="7256909" cy="576064"/>
          </a:xfrm>
        </p:grpSpPr>
        <p:sp>
          <p:nvSpPr>
            <p:cNvPr id="104" name="平行四辺形 1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5" name="平行四辺形 10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06" name="正方形/長方形 105"/>
          <p:cNvSpPr/>
          <p:nvPr/>
        </p:nvSpPr>
        <p:spPr>
          <a:xfrm>
            <a:off x="7626018" y="2438989"/>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2843414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命令パイプライン</a:t>
            </a:r>
            <a:endParaRPr kumimoji="1" lang="ja-JP" altLang="en-US" dirty="0"/>
          </a:p>
        </p:txBody>
      </p:sp>
      <p:sp>
        <p:nvSpPr>
          <p:cNvPr id="58" name="コンテンツ プレースホルダー 57"/>
          <p:cNvSpPr>
            <a:spLocks noGrp="1"/>
          </p:cNvSpPr>
          <p:nvPr>
            <p:ph idx="4294967295"/>
          </p:nvPr>
        </p:nvSpPr>
        <p:spPr>
          <a:xfrm>
            <a:off x="1775953" y="4689015"/>
            <a:ext cx="8730097" cy="1369161"/>
          </a:xfrm>
          <a:prstGeom prst="rect">
            <a:avLst/>
          </a:prstGeom>
        </p:spPr>
        <p:txBody>
          <a:bodyPr/>
          <a:lstStyle/>
          <a:p>
            <a:pPr lvl="1"/>
            <a:r>
              <a:rPr lang="en-US" altLang="ja-JP"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が命令をメモリから読み出す</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がレジスタ・ファイルから入力の値を読み出す</a:t>
            </a:r>
            <a:endParaRPr lang="en-US" altLang="ja-JP" dirty="0"/>
          </a:p>
          <a:p>
            <a:pPr lvl="1"/>
            <a:r>
              <a:rPr lang="ja-JP" altLang="en-US" dirty="0"/>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t> </a:t>
            </a:r>
            <a:r>
              <a:rPr lang="ja-JP" altLang="en-US" dirty="0"/>
              <a:t>　が演算器（</a:t>
            </a:r>
            <a:r>
              <a:rPr lang="en-US" altLang="ja-JP" dirty="0"/>
              <a:t>FU</a:t>
            </a:r>
            <a:r>
              <a:rPr lang="ja-JP" altLang="en-US" dirty="0"/>
              <a:t>）で計算する</a:t>
            </a:r>
            <a:endParaRPr lang="en-US" altLang="ja-JP" dirty="0"/>
          </a:p>
          <a:p>
            <a:pPr lvl="1"/>
            <a:r>
              <a:rPr lang="ja-JP" altLang="en-US" dirty="0"/>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がレジスタ・ファイルに結果を書き込む</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命令メモリ</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FU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8076022" y="2078985"/>
            <a:ext cx="1440016" cy="342645"/>
          </a:xfrm>
          <a:prstGeom prst="wedgeRoundRectCallout">
            <a:avLst>
              <a:gd name="adj1" fmla="val -46134"/>
              <a:gd name="adj2" fmla="val 94815"/>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結果を書きます！</a:t>
            </a:r>
          </a:p>
        </p:txBody>
      </p:sp>
      <p:sp>
        <p:nvSpPr>
          <p:cNvPr id="45" name="角丸四角形吹き出し 44"/>
          <p:cNvSpPr/>
          <p:nvPr/>
        </p:nvSpPr>
        <p:spPr bwMode="auto">
          <a:xfrm>
            <a:off x="5195990" y="2078984"/>
            <a:ext cx="1170013" cy="342645"/>
          </a:xfrm>
          <a:prstGeom prst="wedgeRoundRectCallout">
            <a:avLst>
              <a:gd name="adj1" fmla="val -41466"/>
              <a:gd name="adj2" fmla="val 843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入力読みます！</a:t>
            </a:r>
          </a:p>
        </p:txBody>
      </p:sp>
      <p:sp>
        <p:nvSpPr>
          <p:cNvPr id="4" name="角丸四角形吹き出し 44">
            <a:extLst>
              <a:ext uri="{FF2B5EF4-FFF2-40B4-BE49-F238E27FC236}">
                <a16:creationId xmlns:a16="http://schemas.microsoft.com/office/drawing/2014/main" id="{F48F0C35-8E74-4764-1A96-ED52AF5CA426}"/>
              </a:ext>
            </a:extLst>
          </p:cNvPr>
          <p:cNvSpPr/>
          <p:nvPr/>
        </p:nvSpPr>
        <p:spPr bwMode="auto">
          <a:xfrm>
            <a:off x="3575972" y="2078985"/>
            <a:ext cx="1170013" cy="342645"/>
          </a:xfrm>
          <a:prstGeom prst="wedgeRoundRectCallout">
            <a:avLst>
              <a:gd name="adj1" fmla="val -41466"/>
              <a:gd name="adj2" fmla="val 8435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命令を読むで</a:t>
            </a:r>
          </a:p>
        </p:txBody>
      </p:sp>
      <p:sp>
        <p:nvSpPr>
          <p:cNvPr id="5" name="角丸四角形 45">
            <a:extLst>
              <a:ext uri="{FF2B5EF4-FFF2-40B4-BE49-F238E27FC236}">
                <a16:creationId xmlns:a16="http://schemas.microsoft.com/office/drawing/2014/main" id="{7FF0CD6D-AD85-0058-EE34-07B6E5742E6A}"/>
              </a:ext>
            </a:extLst>
          </p:cNvPr>
          <p:cNvSpPr/>
          <p:nvPr/>
        </p:nvSpPr>
        <p:spPr bwMode="auto">
          <a:xfrm>
            <a:off x="4932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solidFill>
                  <a:schemeClr val="bg1"/>
                </a:solidFill>
                <a:latin typeface="Arial Narrow" panose="020B0606020202030204" pitchFamily="34" charset="0"/>
              </a:rPr>
              <a:t>b=a+1</a:t>
            </a:r>
            <a:endParaRPr kumimoji="1" lang="ja-JP" altLang="en-US" dirty="0">
              <a:solidFill>
                <a:schemeClr val="bg1"/>
              </a:solidFill>
              <a:latin typeface="Arial Narrow" panose="020B0606020202030204" pitchFamily="34" charset="0"/>
            </a:endParaRPr>
          </a:p>
        </p:txBody>
      </p:sp>
      <p:sp>
        <p:nvSpPr>
          <p:cNvPr id="6" name="角丸四角形 46">
            <a:extLst>
              <a:ext uri="{FF2B5EF4-FFF2-40B4-BE49-F238E27FC236}">
                <a16:creationId xmlns:a16="http://schemas.microsoft.com/office/drawing/2014/main" id="{481D9CA3-D3B1-1E81-4BF5-42CE1C8531CC}"/>
              </a:ext>
            </a:extLst>
          </p:cNvPr>
          <p:cNvSpPr/>
          <p:nvPr/>
        </p:nvSpPr>
        <p:spPr bwMode="auto">
          <a:xfrm>
            <a:off x="3491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solidFill>
                  <a:schemeClr val="bg1"/>
                </a:solidFill>
                <a:latin typeface="Arial Narrow" panose="020B0606020202030204" pitchFamily="34" charset="0"/>
              </a:rPr>
              <a:t>c=b-1</a:t>
            </a:r>
            <a:endParaRPr kumimoji="1" lang="ja-JP" altLang="en-US" dirty="0">
              <a:solidFill>
                <a:schemeClr val="bg1"/>
              </a:solidFill>
              <a:latin typeface="Arial Narrow" panose="020B0606020202030204" pitchFamily="34" charset="0"/>
            </a:endParaRPr>
          </a:p>
        </p:txBody>
      </p:sp>
      <p:sp>
        <p:nvSpPr>
          <p:cNvPr id="7" name="角丸四角形吹き出し 44">
            <a:extLst>
              <a:ext uri="{FF2B5EF4-FFF2-40B4-BE49-F238E27FC236}">
                <a16:creationId xmlns:a16="http://schemas.microsoft.com/office/drawing/2014/main" id="{63D669BC-E2D3-8C3D-3D28-5BB9D4821832}"/>
              </a:ext>
            </a:extLst>
          </p:cNvPr>
          <p:cNvSpPr/>
          <p:nvPr/>
        </p:nvSpPr>
        <p:spPr bwMode="auto">
          <a:xfrm>
            <a:off x="6636006" y="2078985"/>
            <a:ext cx="1170013" cy="342645"/>
          </a:xfrm>
          <a:prstGeom prst="wedgeRoundRectCallout">
            <a:avLst>
              <a:gd name="adj1" fmla="val -41466"/>
              <a:gd name="adj2" fmla="val 84351"/>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200" dirty="0">
                <a:solidFill>
                  <a:schemeClr val="tx1">
                    <a:lumMod val="65000"/>
                    <a:lumOff val="35000"/>
                  </a:schemeClr>
                </a:solidFill>
                <a:latin typeface="Arial Narrow" panose="020B0606020202030204" pitchFamily="34" charset="0"/>
              </a:rPr>
              <a:t>計算します！</a:t>
            </a:r>
          </a:p>
        </p:txBody>
      </p:sp>
      <p:cxnSp>
        <p:nvCxnSpPr>
          <p:cNvPr id="9" name="直線矢印コネクタ 8">
            <a:extLst>
              <a:ext uri="{FF2B5EF4-FFF2-40B4-BE49-F238E27FC236}">
                <a16:creationId xmlns:a16="http://schemas.microsoft.com/office/drawing/2014/main" id="{FF259F9E-0E64-43B6-0FA7-3065632126D9}"/>
              </a:ext>
            </a:extLst>
          </p:cNvPr>
          <p:cNvCxnSpPr>
            <a:cxnSpLocks/>
          </p:cNvCxnSpPr>
          <p:nvPr/>
        </p:nvCxnSpPr>
        <p:spPr bwMode="auto">
          <a:xfrm>
            <a:off x="2405959" y="3068996"/>
            <a:ext cx="990011"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6586131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kumimoji="1" lang="ja-JP" altLang="en-US" b="1" dirty="0"/>
              <a:t>ハザード</a:t>
            </a:r>
            <a:endParaRPr kumimoji="1" lang="en-US" altLang="ja-JP" b="1" dirty="0"/>
          </a:p>
        </p:txBody>
      </p:sp>
    </p:spTree>
    <p:extLst>
      <p:ext uri="{BB962C8B-B14F-4D97-AF65-F5344CB8AC3E}">
        <p14:creationId xmlns:p14="http://schemas.microsoft.com/office/powerpoint/2010/main" val="2272838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E17915D-ED95-990B-618D-289A3E656299}"/>
              </a:ext>
            </a:extLst>
          </p:cNvPr>
          <p:cNvSpPr>
            <a:spLocks noGrp="1"/>
          </p:cNvSpPr>
          <p:nvPr>
            <p:ph type="title"/>
          </p:nvPr>
        </p:nvSpPr>
        <p:spPr>
          <a:xfrm>
            <a:off x="1415948" y="0"/>
            <a:ext cx="10776052" cy="908972"/>
          </a:xfrm>
        </p:spPr>
        <p:txBody>
          <a:bodyPr/>
          <a:lstStyle/>
          <a:p>
            <a:r>
              <a:rPr lang="ja-JP" altLang="en-US" dirty="0"/>
              <a:t>ハザード（</a:t>
            </a:r>
            <a:r>
              <a:rPr lang="en-US" altLang="ja-JP" dirty="0"/>
              <a:t>hazard</a:t>
            </a:r>
            <a:r>
              <a:rPr lang="ja-JP" altLang="en-US" dirty="0"/>
              <a:t>）</a:t>
            </a:r>
            <a:endParaRPr lang="en-US" dirty="0"/>
          </a:p>
        </p:txBody>
      </p:sp>
      <p:sp>
        <p:nvSpPr>
          <p:cNvPr id="5" name="コンテンツ プレースホルダー 4">
            <a:extLst>
              <a:ext uri="{FF2B5EF4-FFF2-40B4-BE49-F238E27FC236}">
                <a16:creationId xmlns:a16="http://schemas.microsoft.com/office/drawing/2014/main" id="{55BC22C3-1199-82A5-5E29-0F5100CE9908}"/>
              </a:ext>
            </a:extLst>
          </p:cNvPr>
          <p:cNvSpPr>
            <a:spLocks noGrp="1"/>
          </p:cNvSpPr>
          <p:nvPr>
            <p:ph type="body" sz="quarter" idx="10"/>
          </p:nvPr>
        </p:nvSpPr>
        <p:spPr>
          <a:xfrm>
            <a:off x="1145945" y="1089025"/>
            <a:ext cx="9360130" cy="5219700"/>
          </a:xfrm>
        </p:spPr>
        <p:txBody>
          <a:bodyPr/>
          <a:lstStyle/>
          <a:p>
            <a:r>
              <a:rPr lang="ja-JP" altLang="en-US" dirty="0"/>
              <a:t>パイプラインがうまく動作しないこと</a:t>
            </a:r>
            <a:endParaRPr lang="en-US" altLang="ja-JP" dirty="0"/>
          </a:p>
          <a:p>
            <a:pPr lvl="1"/>
            <a:r>
              <a:rPr lang="ja-JP" altLang="en-US" dirty="0"/>
              <a:t>パタヘネ（教科書）の定義：</a:t>
            </a:r>
            <a:br>
              <a:rPr lang="en-US" altLang="ja-JP" dirty="0"/>
            </a:br>
            <a:r>
              <a:rPr lang="ja-JP" altLang="en-US" dirty="0"/>
              <a:t>「パイプラインにおいて次のサイクルに次の命令を実行できないこと」</a:t>
            </a:r>
            <a:endParaRPr lang="en-US" altLang="ja-JP" dirty="0"/>
          </a:p>
          <a:p>
            <a:r>
              <a:rPr lang="ja-JP" altLang="en-US" dirty="0"/>
              <a:t>ハザードの種類：</a:t>
            </a:r>
            <a:endParaRPr lang="en-US" altLang="ja-JP" dirty="0"/>
          </a:p>
          <a:p>
            <a:pPr lvl="1"/>
            <a:r>
              <a:rPr lang="ja-JP" altLang="en-US" dirty="0"/>
              <a:t>構造ハザード</a:t>
            </a:r>
            <a:endParaRPr lang="en-US" altLang="ja-JP" dirty="0"/>
          </a:p>
          <a:p>
            <a:pPr lvl="1"/>
            <a:r>
              <a:rPr lang="ja-JP" altLang="en-US" dirty="0"/>
              <a:t>非構造ハザード</a:t>
            </a:r>
            <a:endParaRPr lang="en-US" altLang="ja-JP" dirty="0"/>
          </a:p>
          <a:p>
            <a:pPr lvl="2"/>
            <a:r>
              <a:rPr lang="ja-JP" altLang="en-US" dirty="0"/>
              <a:t>データ・ハザード</a:t>
            </a:r>
            <a:endParaRPr lang="en-US" altLang="ja-JP" dirty="0"/>
          </a:p>
          <a:p>
            <a:pPr lvl="2"/>
            <a:r>
              <a:rPr lang="ja-JP" altLang="en-US" dirty="0"/>
              <a:t>制御ハザード</a:t>
            </a:r>
            <a:endParaRPr lang="en-US" altLang="ja-JP" dirty="0"/>
          </a:p>
          <a:p>
            <a:endParaRPr lang="en-US" dirty="0"/>
          </a:p>
        </p:txBody>
      </p:sp>
      <p:sp>
        <p:nvSpPr>
          <p:cNvPr id="2" name="スライド番号プレースホルダー 1">
            <a:extLst>
              <a:ext uri="{FF2B5EF4-FFF2-40B4-BE49-F238E27FC236}">
                <a16:creationId xmlns:a16="http://schemas.microsoft.com/office/drawing/2014/main" id="{F032B724-DEBD-0B28-15AE-C908F5701F49}"/>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8</a:t>
            </a:fld>
            <a:endParaRPr kumimoji="1" lang="ja-JP" altLang="en-US"/>
          </a:p>
        </p:txBody>
      </p:sp>
    </p:spTree>
    <p:extLst>
      <p:ext uri="{BB962C8B-B14F-4D97-AF65-F5344CB8AC3E}">
        <p14:creationId xmlns:p14="http://schemas.microsoft.com/office/powerpoint/2010/main" val="20357934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もくじ</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b="1" dirty="0"/>
              <a:t>構造ハザード：ハード資源の不足に起因</a:t>
            </a:r>
            <a:endParaRPr lang="en-US" altLang="ja-JP" b="1" dirty="0"/>
          </a:p>
          <a:p>
            <a:pPr marL="745200" lvl="1" indent="-457200">
              <a:buFont typeface="+mj-lt"/>
              <a:buAutoNum type="arabicPeriod"/>
            </a:pPr>
            <a:r>
              <a:rPr lang="ja-JP" altLang="en-US" dirty="0"/>
              <a:t>構造ハザードとはなにか？</a:t>
            </a:r>
            <a:endParaRPr lang="en-US" altLang="ja-JP" dirty="0"/>
          </a:p>
          <a:p>
            <a:pPr marL="745200" lvl="1" indent="-457200">
              <a:buFont typeface="+mj-lt"/>
              <a:buAutoNum type="arabicPeriod"/>
            </a:pPr>
            <a:r>
              <a:rPr lang="ja-JP" altLang="en-US" dirty="0"/>
              <a:t>その解決方法</a:t>
            </a:r>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p:txBody>
      </p:sp>
    </p:spTree>
    <p:extLst>
      <p:ext uri="{BB962C8B-B14F-4D97-AF65-F5344CB8AC3E}">
        <p14:creationId xmlns:p14="http://schemas.microsoft.com/office/powerpoint/2010/main" val="21538736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2135956" y="3068996"/>
            <a:ext cx="2083200" cy="768085"/>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38" name="グループ化 37"/>
          <p:cNvGrpSpPr/>
          <p:nvPr/>
        </p:nvGrpSpPr>
        <p:grpSpPr>
          <a:xfrm>
            <a:off x="4056169" y="3068996"/>
            <a:ext cx="2083200" cy="768085"/>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2" name="グループ化 51"/>
          <p:cNvGrpSpPr/>
          <p:nvPr/>
        </p:nvGrpSpPr>
        <p:grpSpPr>
          <a:xfrm>
            <a:off x="5976383" y="3068996"/>
            <a:ext cx="2083200" cy="768085"/>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6" name="グループ化 55"/>
          <p:cNvGrpSpPr/>
          <p:nvPr/>
        </p:nvGrpSpPr>
        <p:grpSpPr>
          <a:xfrm>
            <a:off x="7896596" y="3068996"/>
            <a:ext cx="2112235" cy="768085"/>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sp>
        <p:nvSpPr>
          <p:cNvPr id="3" name="正方形/長方形 2"/>
          <p:cNvSpPr/>
          <p:nvPr/>
        </p:nvSpPr>
        <p:spPr>
          <a:xfrm>
            <a:off x="2085078" y="1916274"/>
            <a:ext cx="1154644" cy="984885"/>
          </a:xfrm>
          <a:prstGeom prst="rect">
            <a:avLst/>
          </a:prstGeom>
        </p:spPr>
        <p:txBody>
          <a:bodyPr wrap="none">
            <a:noAutofit/>
          </a:bodyPr>
          <a:lstStyle/>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ﾊｻﾐ</a:t>
            </a:r>
          </a:p>
          <a:p>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005291" y="1916274"/>
            <a:ext cx="1250655" cy="984885"/>
          </a:xfrm>
          <a:prstGeom prst="rect">
            <a:avLst/>
          </a:prstGeom>
        </p:spPr>
        <p:txBody>
          <a:bodyPr wrap="none">
            <a:noAutofit/>
          </a:bodyPr>
          <a:lstStyle/>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ﾊﾝﾏｰ</a:t>
            </a:r>
          </a:p>
          <a:p>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28021" y="1941054"/>
            <a:ext cx="1154644" cy="1272143"/>
          </a:xfrm>
          <a:prstGeom prst="rect">
            <a:avLst/>
          </a:prstGeom>
        </p:spPr>
        <p:txBody>
          <a:bodyPr wrap="none">
            <a:noAutofit/>
          </a:bodyPr>
          <a:lstStyle/>
          <a:p>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ｽﾊﾟﾅ</a:t>
            </a:r>
            <a:endPar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848234" y="1941052"/>
            <a:ext cx="1250655" cy="984885"/>
          </a:xfrm>
          <a:prstGeom prst="rect">
            <a:avLst/>
          </a:prstGeom>
        </p:spPr>
        <p:txBody>
          <a:bodyPr wrap="none">
            <a:noAutofit/>
          </a:bodyPr>
          <a:lstStyle/>
          <a:p>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ﾊｺﾂﾞﾒ</a:t>
            </a:r>
          </a:p>
          <a:p>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工場のラインをまた考える</a:t>
            </a:r>
            <a:endParaRPr kumimoji="1" lang="ja-JP" altLang="en-US" dirty="0"/>
          </a:p>
        </p:txBody>
      </p:sp>
      <p:sp>
        <p:nvSpPr>
          <p:cNvPr id="58" name="コンテンツ プレースホルダー 57"/>
          <p:cNvSpPr>
            <a:spLocks noGrp="1"/>
          </p:cNvSpPr>
          <p:nvPr>
            <p:ph idx="4294967295"/>
          </p:nvPr>
        </p:nvSpPr>
        <p:spPr>
          <a:xfrm>
            <a:off x="1685951" y="4509012"/>
            <a:ext cx="10080112" cy="1825548"/>
          </a:xfrm>
          <a:prstGeom prst="rect">
            <a:avLst/>
          </a:prstGeom>
        </p:spPr>
        <p:txBody>
          <a:bodyPr/>
          <a:lstStyle/>
          <a:p>
            <a:r>
              <a:rPr lang="ja-JP" altLang="en-US" dirty="0">
                <a:solidFill>
                  <a:schemeClr val="tx1">
                    <a:lumMod val="85000"/>
                    <a:lumOff val="15000"/>
                  </a:schemeClr>
                </a:solidFill>
              </a:rPr>
              <a:t>各ステージの担当者は製品が流れるまでの間に一定の仕事ができる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はさみで紙を１枚切る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ハンマーで釘を１本打つ</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スパナでねじを１個しめる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箱に製品を１つ入れる</a:t>
            </a:r>
            <a:endParaRPr lang="en-US" altLang="ja-JP" dirty="0">
              <a:solidFill>
                <a:schemeClr val="tx1">
                  <a:lumMod val="85000"/>
                  <a:lumOff val="15000"/>
                </a:schemeClr>
              </a:solidFill>
            </a:endParaRPr>
          </a:p>
        </p:txBody>
      </p:sp>
      <p:cxnSp>
        <p:nvCxnSpPr>
          <p:cNvPr id="67" name="直線矢印コネクタ 66"/>
          <p:cNvCxnSpPr/>
          <p:nvPr/>
        </p:nvCxnSpPr>
        <p:spPr bwMode="auto">
          <a:xfrm>
            <a:off x="2135956" y="4149009"/>
            <a:ext cx="7872875"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 name="グループ化 3">
            <a:extLst>
              <a:ext uri="{FF2B5EF4-FFF2-40B4-BE49-F238E27FC236}">
                <a16:creationId xmlns:a16="http://schemas.microsoft.com/office/drawing/2014/main" id="{FF77882F-537F-C839-8754-7387D5D0B75D}"/>
              </a:ext>
            </a:extLst>
          </p:cNvPr>
          <p:cNvGrpSpPr/>
          <p:nvPr/>
        </p:nvGrpSpPr>
        <p:grpSpPr>
          <a:xfrm>
            <a:off x="-6864143" y="2828995"/>
            <a:ext cx="8640097" cy="480007"/>
            <a:chOff x="611956" y="3699003"/>
            <a:chExt cx="6480073" cy="360005"/>
          </a:xfrm>
        </p:grpSpPr>
        <p:sp>
          <p:nvSpPr>
            <p:cNvPr id="5" name="角丸四角形 89">
              <a:extLst>
                <a:ext uri="{FF2B5EF4-FFF2-40B4-BE49-F238E27FC236}">
                  <a16:creationId xmlns:a16="http://schemas.microsoft.com/office/drawing/2014/main" id="{E91DA3D8-2DD3-2DC0-EEC0-D466EB78F03A}"/>
                </a:ext>
              </a:extLst>
            </p:cNvPr>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8" name="角丸四角形 90">
              <a:extLst>
                <a:ext uri="{FF2B5EF4-FFF2-40B4-BE49-F238E27FC236}">
                  <a16:creationId xmlns:a16="http://schemas.microsoft.com/office/drawing/2014/main" id="{399B2BB3-EAE4-40A5-F43B-253A9357C53C}"/>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9" name="角丸四角形 91">
              <a:extLst>
                <a:ext uri="{FF2B5EF4-FFF2-40B4-BE49-F238E27FC236}">
                  <a16:creationId xmlns:a16="http://schemas.microsoft.com/office/drawing/2014/main" id="{CD942333-34EC-2DB6-7F7A-DE826A5208CA}"/>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0" name="角丸四角形 92">
              <a:extLst>
                <a:ext uri="{FF2B5EF4-FFF2-40B4-BE49-F238E27FC236}">
                  <a16:creationId xmlns:a16="http://schemas.microsoft.com/office/drawing/2014/main" id="{0B35F586-307D-82F6-81FE-B08F4D62EA36}"/>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1" name="角丸四角形 93">
              <a:extLst>
                <a:ext uri="{FF2B5EF4-FFF2-40B4-BE49-F238E27FC236}">
                  <a16:creationId xmlns:a16="http://schemas.microsoft.com/office/drawing/2014/main" id="{84ECC887-B444-6215-AFBD-6A7B1957223B}"/>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grpSp>
      <p:sp>
        <p:nvSpPr>
          <p:cNvPr id="12" name="正方形/長方形 11">
            <a:extLst>
              <a:ext uri="{FF2B5EF4-FFF2-40B4-BE49-F238E27FC236}">
                <a16:creationId xmlns:a16="http://schemas.microsoft.com/office/drawing/2014/main" id="{8D28C26A-E7E6-C201-2A31-76016504EE2C}"/>
              </a:ext>
            </a:extLst>
          </p:cNvPr>
          <p:cNvSpPr/>
          <p:nvPr/>
        </p:nvSpPr>
        <p:spPr bwMode="auto">
          <a:xfrm>
            <a:off x="-24644" y="2613127"/>
            <a:ext cx="2016224" cy="960107"/>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Tree>
    <p:extLst>
      <p:ext uri="{BB962C8B-B14F-4D97-AF65-F5344CB8AC3E}">
        <p14:creationId xmlns:p14="http://schemas.microsoft.com/office/powerpoint/2010/main" val="26193166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5.55556E-7 1.85185E-6 L 0.15764 1.85185E-6 " pathEditMode="relative" rAng="0" ptsTypes="AA">
                                      <p:cBhvr>
                                        <p:cTn id="6" dur="1000" fill="hold"/>
                                        <p:tgtEl>
                                          <p:spTgt spid="4"/>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grpId="0" nodeType="clickEffect">
                                  <p:stCondLst>
                                    <p:cond delay="0"/>
                                  </p:stCondLst>
                                  <p:childTnLst>
                                    <p:animRot by="120000">
                                      <p:cBhvr>
                                        <p:cTn id="10" dur="100" fill="hold">
                                          <p:stCondLst>
                                            <p:cond delay="0"/>
                                          </p:stCondLst>
                                        </p:cTn>
                                        <p:tgtEl>
                                          <p:spTgt spid="3"/>
                                        </p:tgtEl>
                                        <p:attrNameLst>
                                          <p:attrName>r</p:attrName>
                                        </p:attrNameLst>
                                      </p:cBhvr>
                                    </p:animRot>
                                    <p:animRot by="-240000">
                                      <p:cBhvr>
                                        <p:cTn id="11" dur="200" fill="hold">
                                          <p:stCondLst>
                                            <p:cond delay="200"/>
                                          </p:stCondLst>
                                        </p:cTn>
                                        <p:tgtEl>
                                          <p:spTgt spid="3"/>
                                        </p:tgtEl>
                                        <p:attrNameLst>
                                          <p:attrName>r</p:attrName>
                                        </p:attrNameLst>
                                      </p:cBhvr>
                                    </p:animRot>
                                    <p:animRot by="240000">
                                      <p:cBhvr>
                                        <p:cTn id="12" dur="200" fill="hold">
                                          <p:stCondLst>
                                            <p:cond delay="400"/>
                                          </p:stCondLst>
                                        </p:cTn>
                                        <p:tgtEl>
                                          <p:spTgt spid="3"/>
                                        </p:tgtEl>
                                        <p:attrNameLst>
                                          <p:attrName>r</p:attrName>
                                        </p:attrNameLst>
                                      </p:cBhvr>
                                    </p:animRot>
                                    <p:animRot by="-240000">
                                      <p:cBhvr>
                                        <p:cTn id="13" dur="200" fill="hold">
                                          <p:stCondLst>
                                            <p:cond delay="600"/>
                                          </p:stCondLst>
                                        </p:cTn>
                                        <p:tgtEl>
                                          <p:spTgt spid="3"/>
                                        </p:tgtEl>
                                        <p:attrNameLst>
                                          <p:attrName>r</p:attrName>
                                        </p:attrNameLst>
                                      </p:cBhvr>
                                    </p:animRot>
                                    <p:animRot by="120000">
                                      <p:cBhvr>
                                        <p:cTn id="14" dur="200" fill="hold">
                                          <p:stCondLst>
                                            <p:cond delay="800"/>
                                          </p:stCondLst>
                                        </p:cTn>
                                        <p:tgtEl>
                                          <p:spTgt spid="3"/>
                                        </p:tgtEl>
                                        <p:attrNameLst>
                                          <p:attrName>r</p:attrName>
                                        </p:attrNameLst>
                                      </p:cBhvr>
                                    </p:animRot>
                                  </p:childTnLst>
                                </p:cTn>
                              </p:par>
                              <p:par>
                                <p:cTn id="15" presetID="32" presetClass="emph" presetSubtype="0" fill="hold" grpId="0" nodeType="withEffect">
                                  <p:stCondLst>
                                    <p:cond delay="0"/>
                                  </p:stCondLst>
                                  <p:childTnLst>
                                    <p:animRot by="120000">
                                      <p:cBhvr>
                                        <p:cTn id="16" dur="100" fill="hold">
                                          <p:stCondLst>
                                            <p:cond delay="0"/>
                                          </p:stCondLst>
                                        </p:cTn>
                                        <p:tgtEl>
                                          <p:spTgt spid="36"/>
                                        </p:tgtEl>
                                        <p:attrNameLst>
                                          <p:attrName>r</p:attrName>
                                        </p:attrNameLst>
                                      </p:cBhvr>
                                    </p:animRot>
                                    <p:animRot by="-240000">
                                      <p:cBhvr>
                                        <p:cTn id="17" dur="200" fill="hold">
                                          <p:stCondLst>
                                            <p:cond delay="200"/>
                                          </p:stCondLst>
                                        </p:cTn>
                                        <p:tgtEl>
                                          <p:spTgt spid="36"/>
                                        </p:tgtEl>
                                        <p:attrNameLst>
                                          <p:attrName>r</p:attrName>
                                        </p:attrNameLst>
                                      </p:cBhvr>
                                    </p:animRot>
                                    <p:animRot by="240000">
                                      <p:cBhvr>
                                        <p:cTn id="18" dur="200" fill="hold">
                                          <p:stCondLst>
                                            <p:cond delay="400"/>
                                          </p:stCondLst>
                                        </p:cTn>
                                        <p:tgtEl>
                                          <p:spTgt spid="36"/>
                                        </p:tgtEl>
                                        <p:attrNameLst>
                                          <p:attrName>r</p:attrName>
                                        </p:attrNameLst>
                                      </p:cBhvr>
                                    </p:animRot>
                                    <p:animRot by="-240000">
                                      <p:cBhvr>
                                        <p:cTn id="19" dur="200" fill="hold">
                                          <p:stCondLst>
                                            <p:cond delay="600"/>
                                          </p:stCondLst>
                                        </p:cTn>
                                        <p:tgtEl>
                                          <p:spTgt spid="36"/>
                                        </p:tgtEl>
                                        <p:attrNameLst>
                                          <p:attrName>r</p:attrName>
                                        </p:attrNameLst>
                                      </p:cBhvr>
                                    </p:animRot>
                                    <p:animRot by="120000">
                                      <p:cBhvr>
                                        <p:cTn id="20" dur="200" fill="hold">
                                          <p:stCondLst>
                                            <p:cond delay="800"/>
                                          </p:stCondLst>
                                        </p:cTn>
                                        <p:tgtEl>
                                          <p:spTgt spid="36"/>
                                        </p:tgtEl>
                                        <p:attrNameLst>
                                          <p:attrName>r</p:attrName>
                                        </p:attrNameLst>
                                      </p:cBhvr>
                                    </p:animRot>
                                  </p:childTnLst>
                                </p:cTn>
                              </p:par>
                              <p:par>
                                <p:cTn id="21" presetID="32" presetClass="emph" presetSubtype="0" fill="hold" grpId="0" nodeType="withEffect">
                                  <p:stCondLst>
                                    <p:cond delay="0"/>
                                  </p:stCondLst>
                                  <p:childTnLst>
                                    <p:animRot by="120000">
                                      <p:cBhvr>
                                        <p:cTn id="22" dur="100" fill="hold">
                                          <p:stCondLst>
                                            <p:cond delay="0"/>
                                          </p:stCondLst>
                                        </p:cTn>
                                        <p:tgtEl>
                                          <p:spTgt spid="49"/>
                                        </p:tgtEl>
                                        <p:attrNameLst>
                                          <p:attrName>r</p:attrName>
                                        </p:attrNameLst>
                                      </p:cBhvr>
                                    </p:animRot>
                                    <p:animRot by="-240000">
                                      <p:cBhvr>
                                        <p:cTn id="23" dur="200" fill="hold">
                                          <p:stCondLst>
                                            <p:cond delay="200"/>
                                          </p:stCondLst>
                                        </p:cTn>
                                        <p:tgtEl>
                                          <p:spTgt spid="49"/>
                                        </p:tgtEl>
                                        <p:attrNameLst>
                                          <p:attrName>r</p:attrName>
                                        </p:attrNameLst>
                                      </p:cBhvr>
                                    </p:animRot>
                                    <p:animRot by="240000">
                                      <p:cBhvr>
                                        <p:cTn id="24" dur="200" fill="hold">
                                          <p:stCondLst>
                                            <p:cond delay="400"/>
                                          </p:stCondLst>
                                        </p:cTn>
                                        <p:tgtEl>
                                          <p:spTgt spid="49"/>
                                        </p:tgtEl>
                                        <p:attrNameLst>
                                          <p:attrName>r</p:attrName>
                                        </p:attrNameLst>
                                      </p:cBhvr>
                                    </p:animRot>
                                    <p:animRot by="-240000">
                                      <p:cBhvr>
                                        <p:cTn id="25" dur="200" fill="hold">
                                          <p:stCondLst>
                                            <p:cond delay="600"/>
                                          </p:stCondLst>
                                        </p:cTn>
                                        <p:tgtEl>
                                          <p:spTgt spid="49"/>
                                        </p:tgtEl>
                                        <p:attrNameLst>
                                          <p:attrName>r</p:attrName>
                                        </p:attrNameLst>
                                      </p:cBhvr>
                                    </p:animRot>
                                    <p:animRot by="120000">
                                      <p:cBhvr>
                                        <p:cTn id="26" dur="200" fill="hold">
                                          <p:stCondLst>
                                            <p:cond delay="800"/>
                                          </p:stCondLst>
                                        </p:cTn>
                                        <p:tgtEl>
                                          <p:spTgt spid="49"/>
                                        </p:tgtEl>
                                        <p:attrNameLst>
                                          <p:attrName>r</p:attrName>
                                        </p:attrNameLst>
                                      </p:cBhvr>
                                    </p:animRot>
                                  </p:childTnLst>
                                </p:cTn>
                              </p:par>
                              <p:par>
                                <p:cTn id="27" presetID="32" presetClass="emph" presetSubtype="0" fill="hold" grpId="0" nodeType="withEffect">
                                  <p:stCondLst>
                                    <p:cond delay="0"/>
                                  </p:stCondLst>
                                  <p:childTnLst>
                                    <p:animRot by="120000">
                                      <p:cBhvr>
                                        <p:cTn id="28" dur="100" fill="hold">
                                          <p:stCondLst>
                                            <p:cond delay="0"/>
                                          </p:stCondLst>
                                        </p:cTn>
                                        <p:tgtEl>
                                          <p:spTgt spid="55"/>
                                        </p:tgtEl>
                                        <p:attrNameLst>
                                          <p:attrName>r</p:attrName>
                                        </p:attrNameLst>
                                      </p:cBhvr>
                                    </p:animRot>
                                    <p:animRot by="-240000">
                                      <p:cBhvr>
                                        <p:cTn id="29" dur="200" fill="hold">
                                          <p:stCondLst>
                                            <p:cond delay="200"/>
                                          </p:stCondLst>
                                        </p:cTn>
                                        <p:tgtEl>
                                          <p:spTgt spid="55"/>
                                        </p:tgtEl>
                                        <p:attrNameLst>
                                          <p:attrName>r</p:attrName>
                                        </p:attrNameLst>
                                      </p:cBhvr>
                                    </p:animRot>
                                    <p:animRot by="240000">
                                      <p:cBhvr>
                                        <p:cTn id="30" dur="200" fill="hold">
                                          <p:stCondLst>
                                            <p:cond delay="400"/>
                                          </p:stCondLst>
                                        </p:cTn>
                                        <p:tgtEl>
                                          <p:spTgt spid="55"/>
                                        </p:tgtEl>
                                        <p:attrNameLst>
                                          <p:attrName>r</p:attrName>
                                        </p:attrNameLst>
                                      </p:cBhvr>
                                    </p:animRot>
                                    <p:animRot by="-240000">
                                      <p:cBhvr>
                                        <p:cTn id="31" dur="200" fill="hold">
                                          <p:stCondLst>
                                            <p:cond delay="600"/>
                                          </p:stCondLst>
                                        </p:cTn>
                                        <p:tgtEl>
                                          <p:spTgt spid="55"/>
                                        </p:tgtEl>
                                        <p:attrNameLst>
                                          <p:attrName>r</p:attrName>
                                        </p:attrNameLst>
                                      </p:cBhvr>
                                    </p:animRot>
                                    <p:animRot by="120000">
                                      <p:cBhvr>
                                        <p:cTn id="32" dur="200" fill="hold">
                                          <p:stCondLst>
                                            <p:cond delay="800"/>
                                          </p:stCondLst>
                                        </p:cTn>
                                        <p:tgtEl>
                                          <p:spTgt spid="55"/>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42" presetClass="path" presetSubtype="0" accel="50000" decel="50000" fill="hold" nodeType="clickEffect">
                                  <p:stCondLst>
                                    <p:cond delay="0"/>
                                  </p:stCondLst>
                                  <p:childTnLst>
                                    <p:animMotion origin="layout" path="M 0.15764 1.85185E-6 L 0.3151 1.85185E-6 " pathEditMode="relative" rAng="0" ptsTypes="AA">
                                      <p:cBhvr>
                                        <p:cTn id="36" dur="1000" fill="hold"/>
                                        <p:tgtEl>
                                          <p:spTgt spid="4"/>
                                        </p:tgtEl>
                                        <p:attrNameLst>
                                          <p:attrName>ppt_x</p:attrName>
                                          <p:attrName>ppt_y</p:attrName>
                                        </p:attrNameLst>
                                      </p:cBhvr>
                                      <p:rCtr x="7865" y="0"/>
                                    </p:animMotion>
                                  </p:childTnLst>
                                </p:cTn>
                              </p:par>
                            </p:childTnLst>
                          </p:cTn>
                        </p:par>
                      </p:childTnLst>
                    </p:cTn>
                  </p:par>
                  <p:par>
                    <p:cTn id="37" fill="hold">
                      <p:stCondLst>
                        <p:cond delay="indefinite"/>
                      </p:stCondLst>
                      <p:childTnLst>
                        <p:par>
                          <p:cTn id="38" fill="hold">
                            <p:stCondLst>
                              <p:cond delay="0"/>
                            </p:stCondLst>
                            <p:childTnLst>
                              <p:par>
                                <p:cTn id="39" presetID="32" presetClass="emph" presetSubtype="0" fill="hold" grpId="1" nodeType="clickEffect">
                                  <p:stCondLst>
                                    <p:cond delay="0"/>
                                  </p:stCondLst>
                                  <p:childTnLst>
                                    <p:animRot by="120000">
                                      <p:cBhvr>
                                        <p:cTn id="40" dur="100" fill="hold">
                                          <p:stCondLst>
                                            <p:cond delay="0"/>
                                          </p:stCondLst>
                                        </p:cTn>
                                        <p:tgtEl>
                                          <p:spTgt spid="3"/>
                                        </p:tgtEl>
                                        <p:attrNameLst>
                                          <p:attrName>r</p:attrName>
                                        </p:attrNameLst>
                                      </p:cBhvr>
                                    </p:animRot>
                                    <p:animRot by="-240000">
                                      <p:cBhvr>
                                        <p:cTn id="41" dur="200" fill="hold">
                                          <p:stCondLst>
                                            <p:cond delay="200"/>
                                          </p:stCondLst>
                                        </p:cTn>
                                        <p:tgtEl>
                                          <p:spTgt spid="3"/>
                                        </p:tgtEl>
                                        <p:attrNameLst>
                                          <p:attrName>r</p:attrName>
                                        </p:attrNameLst>
                                      </p:cBhvr>
                                    </p:animRot>
                                    <p:animRot by="240000">
                                      <p:cBhvr>
                                        <p:cTn id="42" dur="200" fill="hold">
                                          <p:stCondLst>
                                            <p:cond delay="400"/>
                                          </p:stCondLst>
                                        </p:cTn>
                                        <p:tgtEl>
                                          <p:spTgt spid="3"/>
                                        </p:tgtEl>
                                        <p:attrNameLst>
                                          <p:attrName>r</p:attrName>
                                        </p:attrNameLst>
                                      </p:cBhvr>
                                    </p:animRot>
                                    <p:animRot by="-240000">
                                      <p:cBhvr>
                                        <p:cTn id="43" dur="200" fill="hold">
                                          <p:stCondLst>
                                            <p:cond delay="600"/>
                                          </p:stCondLst>
                                        </p:cTn>
                                        <p:tgtEl>
                                          <p:spTgt spid="3"/>
                                        </p:tgtEl>
                                        <p:attrNameLst>
                                          <p:attrName>r</p:attrName>
                                        </p:attrNameLst>
                                      </p:cBhvr>
                                    </p:animRot>
                                    <p:animRot by="120000">
                                      <p:cBhvr>
                                        <p:cTn id="44" dur="200" fill="hold">
                                          <p:stCondLst>
                                            <p:cond delay="800"/>
                                          </p:stCondLst>
                                        </p:cTn>
                                        <p:tgtEl>
                                          <p:spTgt spid="3"/>
                                        </p:tgtEl>
                                        <p:attrNameLst>
                                          <p:attrName>r</p:attrName>
                                        </p:attrNameLst>
                                      </p:cBhvr>
                                    </p:animRot>
                                  </p:childTnLst>
                                </p:cTn>
                              </p:par>
                              <p:par>
                                <p:cTn id="45" presetID="32" presetClass="emph" presetSubtype="0" fill="hold" grpId="1" nodeType="withEffect">
                                  <p:stCondLst>
                                    <p:cond delay="0"/>
                                  </p:stCondLst>
                                  <p:childTnLst>
                                    <p:animRot by="120000">
                                      <p:cBhvr>
                                        <p:cTn id="46" dur="100" fill="hold">
                                          <p:stCondLst>
                                            <p:cond delay="0"/>
                                          </p:stCondLst>
                                        </p:cTn>
                                        <p:tgtEl>
                                          <p:spTgt spid="36"/>
                                        </p:tgtEl>
                                        <p:attrNameLst>
                                          <p:attrName>r</p:attrName>
                                        </p:attrNameLst>
                                      </p:cBhvr>
                                    </p:animRot>
                                    <p:animRot by="-240000">
                                      <p:cBhvr>
                                        <p:cTn id="47" dur="200" fill="hold">
                                          <p:stCondLst>
                                            <p:cond delay="200"/>
                                          </p:stCondLst>
                                        </p:cTn>
                                        <p:tgtEl>
                                          <p:spTgt spid="36"/>
                                        </p:tgtEl>
                                        <p:attrNameLst>
                                          <p:attrName>r</p:attrName>
                                        </p:attrNameLst>
                                      </p:cBhvr>
                                    </p:animRot>
                                    <p:animRot by="240000">
                                      <p:cBhvr>
                                        <p:cTn id="48" dur="200" fill="hold">
                                          <p:stCondLst>
                                            <p:cond delay="400"/>
                                          </p:stCondLst>
                                        </p:cTn>
                                        <p:tgtEl>
                                          <p:spTgt spid="36"/>
                                        </p:tgtEl>
                                        <p:attrNameLst>
                                          <p:attrName>r</p:attrName>
                                        </p:attrNameLst>
                                      </p:cBhvr>
                                    </p:animRot>
                                    <p:animRot by="-240000">
                                      <p:cBhvr>
                                        <p:cTn id="49" dur="200" fill="hold">
                                          <p:stCondLst>
                                            <p:cond delay="600"/>
                                          </p:stCondLst>
                                        </p:cTn>
                                        <p:tgtEl>
                                          <p:spTgt spid="36"/>
                                        </p:tgtEl>
                                        <p:attrNameLst>
                                          <p:attrName>r</p:attrName>
                                        </p:attrNameLst>
                                      </p:cBhvr>
                                    </p:animRot>
                                    <p:animRot by="120000">
                                      <p:cBhvr>
                                        <p:cTn id="50" dur="200" fill="hold">
                                          <p:stCondLst>
                                            <p:cond delay="800"/>
                                          </p:stCondLst>
                                        </p:cTn>
                                        <p:tgtEl>
                                          <p:spTgt spid="36"/>
                                        </p:tgtEl>
                                        <p:attrNameLst>
                                          <p:attrName>r</p:attrName>
                                        </p:attrNameLst>
                                      </p:cBhvr>
                                    </p:animRot>
                                  </p:childTnLst>
                                </p:cTn>
                              </p:par>
                              <p:par>
                                <p:cTn id="51" presetID="32" presetClass="emph" presetSubtype="0" fill="hold" grpId="1" nodeType="withEffect">
                                  <p:stCondLst>
                                    <p:cond delay="0"/>
                                  </p:stCondLst>
                                  <p:childTnLst>
                                    <p:animRot by="120000">
                                      <p:cBhvr>
                                        <p:cTn id="52" dur="100" fill="hold">
                                          <p:stCondLst>
                                            <p:cond delay="0"/>
                                          </p:stCondLst>
                                        </p:cTn>
                                        <p:tgtEl>
                                          <p:spTgt spid="49"/>
                                        </p:tgtEl>
                                        <p:attrNameLst>
                                          <p:attrName>r</p:attrName>
                                        </p:attrNameLst>
                                      </p:cBhvr>
                                    </p:animRot>
                                    <p:animRot by="-240000">
                                      <p:cBhvr>
                                        <p:cTn id="53" dur="200" fill="hold">
                                          <p:stCondLst>
                                            <p:cond delay="200"/>
                                          </p:stCondLst>
                                        </p:cTn>
                                        <p:tgtEl>
                                          <p:spTgt spid="49"/>
                                        </p:tgtEl>
                                        <p:attrNameLst>
                                          <p:attrName>r</p:attrName>
                                        </p:attrNameLst>
                                      </p:cBhvr>
                                    </p:animRot>
                                    <p:animRot by="240000">
                                      <p:cBhvr>
                                        <p:cTn id="54" dur="200" fill="hold">
                                          <p:stCondLst>
                                            <p:cond delay="400"/>
                                          </p:stCondLst>
                                        </p:cTn>
                                        <p:tgtEl>
                                          <p:spTgt spid="49"/>
                                        </p:tgtEl>
                                        <p:attrNameLst>
                                          <p:attrName>r</p:attrName>
                                        </p:attrNameLst>
                                      </p:cBhvr>
                                    </p:animRot>
                                    <p:animRot by="-240000">
                                      <p:cBhvr>
                                        <p:cTn id="55" dur="200" fill="hold">
                                          <p:stCondLst>
                                            <p:cond delay="600"/>
                                          </p:stCondLst>
                                        </p:cTn>
                                        <p:tgtEl>
                                          <p:spTgt spid="49"/>
                                        </p:tgtEl>
                                        <p:attrNameLst>
                                          <p:attrName>r</p:attrName>
                                        </p:attrNameLst>
                                      </p:cBhvr>
                                    </p:animRot>
                                    <p:animRot by="120000">
                                      <p:cBhvr>
                                        <p:cTn id="56" dur="200" fill="hold">
                                          <p:stCondLst>
                                            <p:cond delay="800"/>
                                          </p:stCondLst>
                                        </p:cTn>
                                        <p:tgtEl>
                                          <p:spTgt spid="49"/>
                                        </p:tgtEl>
                                        <p:attrNameLst>
                                          <p:attrName>r</p:attrName>
                                        </p:attrNameLst>
                                      </p:cBhvr>
                                    </p:animRot>
                                  </p:childTnLst>
                                </p:cTn>
                              </p:par>
                              <p:par>
                                <p:cTn id="57" presetID="32" presetClass="emph" presetSubtype="0" fill="hold" grpId="1" nodeType="withEffect">
                                  <p:stCondLst>
                                    <p:cond delay="0"/>
                                  </p:stCondLst>
                                  <p:childTnLst>
                                    <p:animRot by="120000">
                                      <p:cBhvr>
                                        <p:cTn id="58" dur="100" fill="hold">
                                          <p:stCondLst>
                                            <p:cond delay="0"/>
                                          </p:stCondLst>
                                        </p:cTn>
                                        <p:tgtEl>
                                          <p:spTgt spid="55"/>
                                        </p:tgtEl>
                                        <p:attrNameLst>
                                          <p:attrName>r</p:attrName>
                                        </p:attrNameLst>
                                      </p:cBhvr>
                                    </p:animRot>
                                    <p:animRot by="-240000">
                                      <p:cBhvr>
                                        <p:cTn id="59" dur="200" fill="hold">
                                          <p:stCondLst>
                                            <p:cond delay="200"/>
                                          </p:stCondLst>
                                        </p:cTn>
                                        <p:tgtEl>
                                          <p:spTgt spid="55"/>
                                        </p:tgtEl>
                                        <p:attrNameLst>
                                          <p:attrName>r</p:attrName>
                                        </p:attrNameLst>
                                      </p:cBhvr>
                                    </p:animRot>
                                    <p:animRot by="240000">
                                      <p:cBhvr>
                                        <p:cTn id="60" dur="200" fill="hold">
                                          <p:stCondLst>
                                            <p:cond delay="400"/>
                                          </p:stCondLst>
                                        </p:cTn>
                                        <p:tgtEl>
                                          <p:spTgt spid="55"/>
                                        </p:tgtEl>
                                        <p:attrNameLst>
                                          <p:attrName>r</p:attrName>
                                        </p:attrNameLst>
                                      </p:cBhvr>
                                    </p:animRot>
                                    <p:animRot by="-240000">
                                      <p:cBhvr>
                                        <p:cTn id="61" dur="200" fill="hold">
                                          <p:stCondLst>
                                            <p:cond delay="600"/>
                                          </p:stCondLst>
                                        </p:cTn>
                                        <p:tgtEl>
                                          <p:spTgt spid="55"/>
                                        </p:tgtEl>
                                        <p:attrNameLst>
                                          <p:attrName>r</p:attrName>
                                        </p:attrNameLst>
                                      </p:cBhvr>
                                    </p:animRot>
                                    <p:animRot by="120000">
                                      <p:cBhvr>
                                        <p:cTn id="62" dur="200" fill="hold">
                                          <p:stCondLst>
                                            <p:cond delay="800"/>
                                          </p:stCondLst>
                                        </p:cTn>
                                        <p:tgtEl>
                                          <p:spTgt spid="55"/>
                                        </p:tgtEl>
                                        <p:attrNameLst>
                                          <p:attrName>r</p:attrName>
                                        </p:attrNameLst>
                                      </p:cBhvr>
                                    </p:animRot>
                                  </p:childTnLst>
                                </p:cTn>
                              </p:par>
                            </p:childTnLst>
                          </p:cTn>
                        </p:par>
                      </p:childTnLst>
                    </p:cTn>
                  </p:par>
                  <p:par>
                    <p:cTn id="63" fill="hold">
                      <p:stCondLst>
                        <p:cond delay="indefinite"/>
                      </p:stCondLst>
                      <p:childTnLst>
                        <p:par>
                          <p:cTn id="64" fill="hold">
                            <p:stCondLst>
                              <p:cond delay="0"/>
                            </p:stCondLst>
                            <p:childTnLst>
                              <p:par>
                                <p:cTn id="65" presetID="42" presetClass="path" presetSubtype="0" accel="50000" decel="50000" fill="hold" nodeType="clickEffect">
                                  <p:stCondLst>
                                    <p:cond delay="0"/>
                                  </p:stCondLst>
                                  <p:childTnLst>
                                    <p:animMotion origin="layout" path="M 0.3151 1.85185E-6 L 0.4724 1.85185E-6 " pathEditMode="relative" rAng="0" ptsTypes="AA">
                                      <p:cBhvr>
                                        <p:cTn id="66" dur="1000" fill="hold"/>
                                        <p:tgtEl>
                                          <p:spTgt spid="4"/>
                                        </p:tgtEl>
                                        <p:attrNameLst>
                                          <p:attrName>ppt_x</p:attrName>
                                          <p:attrName>ppt_y</p:attrName>
                                        </p:attrNameLst>
                                      </p:cBhvr>
                                      <p:rCtr x="7865" y="0"/>
                                    </p:animMotion>
                                  </p:childTnLst>
                                </p:cTn>
                              </p:par>
                            </p:childTnLst>
                          </p:cTn>
                        </p:par>
                      </p:childTnLst>
                    </p:cTn>
                  </p:par>
                  <p:par>
                    <p:cTn id="67" fill="hold">
                      <p:stCondLst>
                        <p:cond delay="indefinite"/>
                      </p:stCondLst>
                      <p:childTnLst>
                        <p:par>
                          <p:cTn id="68" fill="hold">
                            <p:stCondLst>
                              <p:cond delay="0"/>
                            </p:stCondLst>
                            <p:childTnLst>
                              <p:par>
                                <p:cTn id="69" presetID="32" presetClass="emph" presetSubtype="0" fill="hold" grpId="2" nodeType="clickEffect">
                                  <p:stCondLst>
                                    <p:cond delay="0"/>
                                  </p:stCondLst>
                                  <p:childTnLst>
                                    <p:animRot by="120000">
                                      <p:cBhvr>
                                        <p:cTn id="70" dur="100" fill="hold">
                                          <p:stCondLst>
                                            <p:cond delay="0"/>
                                          </p:stCondLst>
                                        </p:cTn>
                                        <p:tgtEl>
                                          <p:spTgt spid="3"/>
                                        </p:tgtEl>
                                        <p:attrNameLst>
                                          <p:attrName>r</p:attrName>
                                        </p:attrNameLst>
                                      </p:cBhvr>
                                    </p:animRot>
                                    <p:animRot by="-240000">
                                      <p:cBhvr>
                                        <p:cTn id="71" dur="200" fill="hold">
                                          <p:stCondLst>
                                            <p:cond delay="200"/>
                                          </p:stCondLst>
                                        </p:cTn>
                                        <p:tgtEl>
                                          <p:spTgt spid="3"/>
                                        </p:tgtEl>
                                        <p:attrNameLst>
                                          <p:attrName>r</p:attrName>
                                        </p:attrNameLst>
                                      </p:cBhvr>
                                    </p:animRot>
                                    <p:animRot by="240000">
                                      <p:cBhvr>
                                        <p:cTn id="72" dur="200" fill="hold">
                                          <p:stCondLst>
                                            <p:cond delay="400"/>
                                          </p:stCondLst>
                                        </p:cTn>
                                        <p:tgtEl>
                                          <p:spTgt spid="3"/>
                                        </p:tgtEl>
                                        <p:attrNameLst>
                                          <p:attrName>r</p:attrName>
                                        </p:attrNameLst>
                                      </p:cBhvr>
                                    </p:animRot>
                                    <p:animRot by="-240000">
                                      <p:cBhvr>
                                        <p:cTn id="73" dur="200" fill="hold">
                                          <p:stCondLst>
                                            <p:cond delay="600"/>
                                          </p:stCondLst>
                                        </p:cTn>
                                        <p:tgtEl>
                                          <p:spTgt spid="3"/>
                                        </p:tgtEl>
                                        <p:attrNameLst>
                                          <p:attrName>r</p:attrName>
                                        </p:attrNameLst>
                                      </p:cBhvr>
                                    </p:animRot>
                                    <p:animRot by="120000">
                                      <p:cBhvr>
                                        <p:cTn id="74" dur="200" fill="hold">
                                          <p:stCondLst>
                                            <p:cond delay="800"/>
                                          </p:stCondLst>
                                        </p:cTn>
                                        <p:tgtEl>
                                          <p:spTgt spid="3"/>
                                        </p:tgtEl>
                                        <p:attrNameLst>
                                          <p:attrName>r</p:attrName>
                                        </p:attrNameLst>
                                      </p:cBhvr>
                                    </p:animRot>
                                  </p:childTnLst>
                                </p:cTn>
                              </p:par>
                              <p:par>
                                <p:cTn id="75" presetID="32" presetClass="emph" presetSubtype="0" fill="hold" grpId="2" nodeType="withEffect">
                                  <p:stCondLst>
                                    <p:cond delay="0"/>
                                  </p:stCondLst>
                                  <p:childTnLst>
                                    <p:animRot by="120000">
                                      <p:cBhvr>
                                        <p:cTn id="76" dur="100" fill="hold">
                                          <p:stCondLst>
                                            <p:cond delay="0"/>
                                          </p:stCondLst>
                                        </p:cTn>
                                        <p:tgtEl>
                                          <p:spTgt spid="36"/>
                                        </p:tgtEl>
                                        <p:attrNameLst>
                                          <p:attrName>r</p:attrName>
                                        </p:attrNameLst>
                                      </p:cBhvr>
                                    </p:animRot>
                                    <p:animRot by="-240000">
                                      <p:cBhvr>
                                        <p:cTn id="77" dur="200" fill="hold">
                                          <p:stCondLst>
                                            <p:cond delay="200"/>
                                          </p:stCondLst>
                                        </p:cTn>
                                        <p:tgtEl>
                                          <p:spTgt spid="36"/>
                                        </p:tgtEl>
                                        <p:attrNameLst>
                                          <p:attrName>r</p:attrName>
                                        </p:attrNameLst>
                                      </p:cBhvr>
                                    </p:animRot>
                                    <p:animRot by="240000">
                                      <p:cBhvr>
                                        <p:cTn id="78" dur="200" fill="hold">
                                          <p:stCondLst>
                                            <p:cond delay="400"/>
                                          </p:stCondLst>
                                        </p:cTn>
                                        <p:tgtEl>
                                          <p:spTgt spid="36"/>
                                        </p:tgtEl>
                                        <p:attrNameLst>
                                          <p:attrName>r</p:attrName>
                                        </p:attrNameLst>
                                      </p:cBhvr>
                                    </p:animRot>
                                    <p:animRot by="-240000">
                                      <p:cBhvr>
                                        <p:cTn id="79" dur="200" fill="hold">
                                          <p:stCondLst>
                                            <p:cond delay="600"/>
                                          </p:stCondLst>
                                        </p:cTn>
                                        <p:tgtEl>
                                          <p:spTgt spid="36"/>
                                        </p:tgtEl>
                                        <p:attrNameLst>
                                          <p:attrName>r</p:attrName>
                                        </p:attrNameLst>
                                      </p:cBhvr>
                                    </p:animRot>
                                    <p:animRot by="120000">
                                      <p:cBhvr>
                                        <p:cTn id="80" dur="200" fill="hold">
                                          <p:stCondLst>
                                            <p:cond delay="800"/>
                                          </p:stCondLst>
                                        </p:cTn>
                                        <p:tgtEl>
                                          <p:spTgt spid="36"/>
                                        </p:tgtEl>
                                        <p:attrNameLst>
                                          <p:attrName>r</p:attrName>
                                        </p:attrNameLst>
                                      </p:cBhvr>
                                    </p:animRot>
                                  </p:childTnLst>
                                </p:cTn>
                              </p:par>
                              <p:par>
                                <p:cTn id="81" presetID="32" presetClass="emph" presetSubtype="0" fill="hold" grpId="2" nodeType="withEffect">
                                  <p:stCondLst>
                                    <p:cond delay="0"/>
                                  </p:stCondLst>
                                  <p:childTnLst>
                                    <p:animRot by="120000">
                                      <p:cBhvr>
                                        <p:cTn id="82" dur="100" fill="hold">
                                          <p:stCondLst>
                                            <p:cond delay="0"/>
                                          </p:stCondLst>
                                        </p:cTn>
                                        <p:tgtEl>
                                          <p:spTgt spid="49"/>
                                        </p:tgtEl>
                                        <p:attrNameLst>
                                          <p:attrName>r</p:attrName>
                                        </p:attrNameLst>
                                      </p:cBhvr>
                                    </p:animRot>
                                    <p:animRot by="-240000">
                                      <p:cBhvr>
                                        <p:cTn id="83" dur="200" fill="hold">
                                          <p:stCondLst>
                                            <p:cond delay="200"/>
                                          </p:stCondLst>
                                        </p:cTn>
                                        <p:tgtEl>
                                          <p:spTgt spid="49"/>
                                        </p:tgtEl>
                                        <p:attrNameLst>
                                          <p:attrName>r</p:attrName>
                                        </p:attrNameLst>
                                      </p:cBhvr>
                                    </p:animRot>
                                    <p:animRot by="240000">
                                      <p:cBhvr>
                                        <p:cTn id="84" dur="200" fill="hold">
                                          <p:stCondLst>
                                            <p:cond delay="400"/>
                                          </p:stCondLst>
                                        </p:cTn>
                                        <p:tgtEl>
                                          <p:spTgt spid="49"/>
                                        </p:tgtEl>
                                        <p:attrNameLst>
                                          <p:attrName>r</p:attrName>
                                        </p:attrNameLst>
                                      </p:cBhvr>
                                    </p:animRot>
                                    <p:animRot by="-240000">
                                      <p:cBhvr>
                                        <p:cTn id="85" dur="200" fill="hold">
                                          <p:stCondLst>
                                            <p:cond delay="600"/>
                                          </p:stCondLst>
                                        </p:cTn>
                                        <p:tgtEl>
                                          <p:spTgt spid="49"/>
                                        </p:tgtEl>
                                        <p:attrNameLst>
                                          <p:attrName>r</p:attrName>
                                        </p:attrNameLst>
                                      </p:cBhvr>
                                    </p:animRot>
                                    <p:animRot by="120000">
                                      <p:cBhvr>
                                        <p:cTn id="86" dur="200" fill="hold">
                                          <p:stCondLst>
                                            <p:cond delay="800"/>
                                          </p:stCondLst>
                                        </p:cTn>
                                        <p:tgtEl>
                                          <p:spTgt spid="49"/>
                                        </p:tgtEl>
                                        <p:attrNameLst>
                                          <p:attrName>r</p:attrName>
                                        </p:attrNameLst>
                                      </p:cBhvr>
                                    </p:animRot>
                                  </p:childTnLst>
                                </p:cTn>
                              </p:par>
                              <p:par>
                                <p:cTn id="87" presetID="32" presetClass="emph" presetSubtype="0" fill="hold" grpId="2" nodeType="withEffect">
                                  <p:stCondLst>
                                    <p:cond delay="0"/>
                                  </p:stCondLst>
                                  <p:childTnLst>
                                    <p:animRot by="120000">
                                      <p:cBhvr>
                                        <p:cTn id="88" dur="100" fill="hold">
                                          <p:stCondLst>
                                            <p:cond delay="0"/>
                                          </p:stCondLst>
                                        </p:cTn>
                                        <p:tgtEl>
                                          <p:spTgt spid="55"/>
                                        </p:tgtEl>
                                        <p:attrNameLst>
                                          <p:attrName>r</p:attrName>
                                        </p:attrNameLst>
                                      </p:cBhvr>
                                    </p:animRot>
                                    <p:animRot by="-240000">
                                      <p:cBhvr>
                                        <p:cTn id="89" dur="200" fill="hold">
                                          <p:stCondLst>
                                            <p:cond delay="200"/>
                                          </p:stCondLst>
                                        </p:cTn>
                                        <p:tgtEl>
                                          <p:spTgt spid="55"/>
                                        </p:tgtEl>
                                        <p:attrNameLst>
                                          <p:attrName>r</p:attrName>
                                        </p:attrNameLst>
                                      </p:cBhvr>
                                    </p:animRot>
                                    <p:animRot by="240000">
                                      <p:cBhvr>
                                        <p:cTn id="90" dur="200" fill="hold">
                                          <p:stCondLst>
                                            <p:cond delay="400"/>
                                          </p:stCondLst>
                                        </p:cTn>
                                        <p:tgtEl>
                                          <p:spTgt spid="55"/>
                                        </p:tgtEl>
                                        <p:attrNameLst>
                                          <p:attrName>r</p:attrName>
                                        </p:attrNameLst>
                                      </p:cBhvr>
                                    </p:animRot>
                                    <p:animRot by="-240000">
                                      <p:cBhvr>
                                        <p:cTn id="91" dur="200" fill="hold">
                                          <p:stCondLst>
                                            <p:cond delay="600"/>
                                          </p:stCondLst>
                                        </p:cTn>
                                        <p:tgtEl>
                                          <p:spTgt spid="55"/>
                                        </p:tgtEl>
                                        <p:attrNameLst>
                                          <p:attrName>r</p:attrName>
                                        </p:attrNameLst>
                                      </p:cBhvr>
                                    </p:animRot>
                                    <p:animRot by="120000">
                                      <p:cBhvr>
                                        <p:cTn id="92" dur="200" fill="hold">
                                          <p:stCondLst>
                                            <p:cond delay="800"/>
                                          </p:stCondLst>
                                        </p:cTn>
                                        <p:tgtEl>
                                          <p:spTgt spid="55"/>
                                        </p:tgtEl>
                                        <p:attrNameLst>
                                          <p:attrName>r</p:attrName>
                                        </p:attrNameLst>
                                      </p:cBhvr>
                                    </p:animRot>
                                  </p:childTnLst>
                                </p:cTn>
                              </p:par>
                            </p:childTnLst>
                          </p:cTn>
                        </p:par>
                      </p:childTnLst>
                    </p:cTn>
                  </p:par>
                  <p:par>
                    <p:cTn id="93" fill="hold">
                      <p:stCondLst>
                        <p:cond delay="indefinite"/>
                      </p:stCondLst>
                      <p:childTnLst>
                        <p:par>
                          <p:cTn id="94" fill="hold">
                            <p:stCondLst>
                              <p:cond delay="0"/>
                            </p:stCondLst>
                            <p:childTnLst>
                              <p:par>
                                <p:cTn id="95" presetID="42" presetClass="path" presetSubtype="0" accel="50000" decel="50000" fill="hold" nodeType="clickEffect">
                                  <p:stCondLst>
                                    <p:cond delay="0"/>
                                  </p:stCondLst>
                                  <p:childTnLst>
                                    <p:animMotion origin="layout" path="M 0.4724 1.85185E-6 L 0.62986 1.85185E-6 " pathEditMode="relative" rAng="0" ptsTypes="AA">
                                      <p:cBhvr>
                                        <p:cTn id="96" dur="1000" fill="hold"/>
                                        <p:tgtEl>
                                          <p:spTgt spid="4"/>
                                        </p:tgtEl>
                                        <p:attrNameLst>
                                          <p:attrName>ppt_x</p:attrName>
                                          <p:attrName>ppt_y</p:attrName>
                                        </p:attrNameLst>
                                      </p:cBhvr>
                                      <p:rCtr x="7865" y="0"/>
                                    </p:animMotion>
                                  </p:childTnLst>
                                </p:cTn>
                              </p:par>
                            </p:childTnLst>
                          </p:cTn>
                        </p:par>
                      </p:childTnLst>
                    </p:cTn>
                  </p:par>
                  <p:par>
                    <p:cTn id="97" fill="hold">
                      <p:stCondLst>
                        <p:cond delay="indefinite"/>
                      </p:stCondLst>
                      <p:childTnLst>
                        <p:par>
                          <p:cTn id="98" fill="hold">
                            <p:stCondLst>
                              <p:cond delay="0"/>
                            </p:stCondLst>
                            <p:childTnLst>
                              <p:par>
                                <p:cTn id="99" presetID="32" presetClass="emph" presetSubtype="0" fill="hold" grpId="3" nodeType="clickEffect">
                                  <p:stCondLst>
                                    <p:cond delay="0"/>
                                  </p:stCondLst>
                                  <p:childTnLst>
                                    <p:animRot by="120000">
                                      <p:cBhvr>
                                        <p:cTn id="100" dur="100" fill="hold">
                                          <p:stCondLst>
                                            <p:cond delay="0"/>
                                          </p:stCondLst>
                                        </p:cTn>
                                        <p:tgtEl>
                                          <p:spTgt spid="3"/>
                                        </p:tgtEl>
                                        <p:attrNameLst>
                                          <p:attrName>r</p:attrName>
                                        </p:attrNameLst>
                                      </p:cBhvr>
                                    </p:animRot>
                                    <p:animRot by="-240000">
                                      <p:cBhvr>
                                        <p:cTn id="101" dur="200" fill="hold">
                                          <p:stCondLst>
                                            <p:cond delay="200"/>
                                          </p:stCondLst>
                                        </p:cTn>
                                        <p:tgtEl>
                                          <p:spTgt spid="3"/>
                                        </p:tgtEl>
                                        <p:attrNameLst>
                                          <p:attrName>r</p:attrName>
                                        </p:attrNameLst>
                                      </p:cBhvr>
                                    </p:animRot>
                                    <p:animRot by="240000">
                                      <p:cBhvr>
                                        <p:cTn id="102" dur="200" fill="hold">
                                          <p:stCondLst>
                                            <p:cond delay="400"/>
                                          </p:stCondLst>
                                        </p:cTn>
                                        <p:tgtEl>
                                          <p:spTgt spid="3"/>
                                        </p:tgtEl>
                                        <p:attrNameLst>
                                          <p:attrName>r</p:attrName>
                                        </p:attrNameLst>
                                      </p:cBhvr>
                                    </p:animRot>
                                    <p:animRot by="-240000">
                                      <p:cBhvr>
                                        <p:cTn id="103" dur="200" fill="hold">
                                          <p:stCondLst>
                                            <p:cond delay="600"/>
                                          </p:stCondLst>
                                        </p:cTn>
                                        <p:tgtEl>
                                          <p:spTgt spid="3"/>
                                        </p:tgtEl>
                                        <p:attrNameLst>
                                          <p:attrName>r</p:attrName>
                                        </p:attrNameLst>
                                      </p:cBhvr>
                                    </p:animRot>
                                    <p:animRot by="120000">
                                      <p:cBhvr>
                                        <p:cTn id="104" dur="200" fill="hold">
                                          <p:stCondLst>
                                            <p:cond delay="800"/>
                                          </p:stCondLst>
                                        </p:cTn>
                                        <p:tgtEl>
                                          <p:spTgt spid="3"/>
                                        </p:tgtEl>
                                        <p:attrNameLst>
                                          <p:attrName>r</p:attrName>
                                        </p:attrNameLst>
                                      </p:cBhvr>
                                    </p:animRot>
                                  </p:childTnLst>
                                </p:cTn>
                              </p:par>
                              <p:par>
                                <p:cTn id="105" presetID="32" presetClass="emph" presetSubtype="0" fill="hold" grpId="3" nodeType="withEffect">
                                  <p:stCondLst>
                                    <p:cond delay="0"/>
                                  </p:stCondLst>
                                  <p:childTnLst>
                                    <p:animRot by="120000">
                                      <p:cBhvr>
                                        <p:cTn id="106" dur="100" fill="hold">
                                          <p:stCondLst>
                                            <p:cond delay="0"/>
                                          </p:stCondLst>
                                        </p:cTn>
                                        <p:tgtEl>
                                          <p:spTgt spid="36"/>
                                        </p:tgtEl>
                                        <p:attrNameLst>
                                          <p:attrName>r</p:attrName>
                                        </p:attrNameLst>
                                      </p:cBhvr>
                                    </p:animRot>
                                    <p:animRot by="-240000">
                                      <p:cBhvr>
                                        <p:cTn id="107" dur="200" fill="hold">
                                          <p:stCondLst>
                                            <p:cond delay="200"/>
                                          </p:stCondLst>
                                        </p:cTn>
                                        <p:tgtEl>
                                          <p:spTgt spid="36"/>
                                        </p:tgtEl>
                                        <p:attrNameLst>
                                          <p:attrName>r</p:attrName>
                                        </p:attrNameLst>
                                      </p:cBhvr>
                                    </p:animRot>
                                    <p:animRot by="240000">
                                      <p:cBhvr>
                                        <p:cTn id="108" dur="200" fill="hold">
                                          <p:stCondLst>
                                            <p:cond delay="400"/>
                                          </p:stCondLst>
                                        </p:cTn>
                                        <p:tgtEl>
                                          <p:spTgt spid="36"/>
                                        </p:tgtEl>
                                        <p:attrNameLst>
                                          <p:attrName>r</p:attrName>
                                        </p:attrNameLst>
                                      </p:cBhvr>
                                    </p:animRot>
                                    <p:animRot by="-240000">
                                      <p:cBhvr>
                                        <p:cTn id="109" dur="200" fill="hold">
                                          <p:stCondLst>
                                            <p:cond delay="600"/>
                                          </p:stCondLst>
                                        </p:cTn>
                                        <p:tgtEl>
                                          <p:spTgt spid="36"/>
                                        </p:tgtEl>
                                        <p:attrNameLst>
                                          <p:attrName>r</p:attrName>
                                        </p:attrNameLst>
                                      </p:cBhvr>
                                    </p:animRot>
                                    <p:animRot by="120000">
                                      <p:cBhvr>
                                        <p:cTn id="110" dur="200" fill="hold">
                                          <p:stCondLst>
                                            <p:cond delay="800"/>
                                          </p:stCondLst>
                                        </p:cTn>
                                        <p:tgtEl>
                                          <p:spTgt spid="36"/>
                                        </p:tgtEl>
                                        <p:attrNameLst>
                                          <p:attrName>r</p:attrName>
                                        </p:attrNameLst>
                                      </p:cBhvr>
                                    </p:animRot>
                                  </p:childTnLst>
                                </p:cTn>
                              </p:par>
                              <p:par>
                                <p:cTn id="111" presetID="32" presetClass="emph" presetSubtype="0" fill="hold" grpId="3" nodeType="withEffect">
                                  <p:stCondLst>
                                    <p:cond delay="0"/>
                                  </p:stCondLst>
                                  <p:childTnLst>
                                    <p:animRot by="120000">
                                      <p:cBhvr>
                                        <p:cTn id="112" dur="100" fill="hold">
                                          <p:stCondLst>
                                            <p:cond delay="0"/>
                                          </p:stCondLst>
                                        </p:cTn>
                                        <p:tgtEl>
                                          <p:spTgt spid="49"/>
                                        </p:tgtEl>
                                        <p:attrNameLst>
                                          <p:attrName>r</p:attrName>
                                        </p:attrNameLst>
                                      </p:cBhvr>
                                    </p:animRot>
                                    <p:animRot by="-240000">
                                      <p:cBhvr>
                                        <p:cTn id="113" dur="200" fill="hold">
                                          <p:stCondLst>
                                            <p:cond delay="200"/>
                                          </p:stCondLst>
                                        </p:cTn>
                                        <p:tgtEl>
                                          <p:spTgt spid="49"/>
                                        </p:tgtEl>
                                        <p:attrNameLst>
                                          <p:attrName>r</p:attrName>
                                        </p:attrNameLst>
                                      </p:cBhvr>
                                    </p:animRot>
                                    <p:animRot by="240000">
                                      <p:cBhvr>
                                        <p:cTn id="114" dur="200" fill="hold">
                                          <p:stCondLst>
                                            <p:cond delay="400"/>
                                          </p:stCondLst>
                                        </p:cTn>
                                        <p:tgtEl>
                                          <p:spTgt spid="49"/>
                                        </p:tgtEl>
                                        <p:attrNameLst>
                                          <p:attrName>r</p:attrName>
                                        </p:attrNameLst>
                                      </p:cBhvr>
                                    </p:animRot>
                                    <p:animRot by="-240000">
                                      <p:cBhvr>
                                        <p:cTn id="115" dur="200" fill="hold">
                                          <p:stCondLst>
                                            <p:cond delay="600"/>
                                          </p:stCondLst>
                                        </p:cTn>
                                        <p:tgtEl>
                                          <p:spTgt spid="49"/>
                                        </p:tgtEl>
                                        <p:attrNameLst>
                                          <p:attrName>r</p:attrName>
                                        </p:attrNameLst>
                                      </p:cBhvr>
                                    </p:animRot>
                                    <p:animRot by="120000">
                                      <p:cBhvr>
                                        <p:cTn id="116" dur="200" fill="hold">
                                          <p:stCondLst>
                                            <p:cond delay="800"/>
                                          </p:stCondLst>
                                        </p:cTn>
                                        <p:tgtEl>
                                          <p:spTgt spid="49"/>
                                        </p:tgtEl>
                                        <p:attrNameLst>
                                          <p:attrName>r</p:attrName>
                                        </p:attrNameLst>
                                      </p:cBhvr>
                                    </p:animRot>
                                  </p:childTnLst>
                                </p:cTn>
                              </p:par>
                              <p:par>
                                <p:cTn id="117" presetID="32" presetClass="emph" presetSubtype="0" fill="hold" grpId="3" nodeType="withEffect">
                                  <p:stCondLst>
                                    <p:cond delay="0"/>
                                  </p:stCondLst>
                                  <p:childTnLst>
                                    <p:animRot by="120000">
                                      <p:cBhvr>
                                        <p:cTn id="118" dur="100" fill="hold">
                                          <p:stCondLst>
                                            <p:cond delay="0"/>
                                          </p:stCondLst>
                                        </p:cTn>
                                        <p:tgtEl>
                                          <p:spTgt spid="55"/>
                                        </p:tgtEl>
                                        <p:attrNameLst>
                                          <p:attrName>r</p:attrName>
                                        </p:attrNameLst>
                                      </p:cBhvr>
                                    </p:animRot>
                                    <p:animRot by="-240000">
                                      <p:cBhvr>
                                        <p:cTn id="119" dur="200" fill="hold">
                                          <p:stCondLst>
                                            <p:cond delay="200"/>
                                          </p:stCondLst>
                                        </p:cTn>
                                        <p:tgtEl>
                                          <p:spTgt spid="55"/>
                                        </p:tgtEl>
                                        <p:attrNameLst>
                                          <p:attrName>r</p:attrName>
                                        </p:attrNameLst>
                                      </p:cBhvr>
                                    </p:animRot>
                                    <p:animRot by="240000">
                                      <p:cBhvr>
                                        <p:cTn id="120" dur="200" fill="hold">
                                          <p:stCondLst>
                                            <p:cond delay="400"/>
                                          </p:stCondLst>
                                        </p:cTn>
                                        <p:tgtEl>
                                          <p:spTgt spid="55"/>
                                        </p:tgtEl>
                                        <p:attrNameLst>
                                          <p:attrName>r</p:attrName>
                                        </p:attrNameLst>
                                      </p:cBhvr>
                                    </p:animRot>
                                    <p:animRot by="-240000">
                                      <p:cBhvr>
                                        <p:cTn id="121" dur="200" fill="hold">
                                          <p:stCondLst>
                                            <p:cond delay="600"/>
                                          </p:stCondLst>
                                        </p:cTn>
                                        <p:tgtEl>
                                          <p:spTgt spid="55"/>
                                        </p:tgtEl>
                                        <p:attrNameLst>
                                          <p:attrName>r</p:attrName>
                                        </p:attrNameLst>
                                      </p:cBhvr>
                                    </p:animRot>
                                    <p:animRot by="120000">
                                      <p:cBhvr>
                                        <p:cTn id="122" dur="200" fill="hold">
                                          <p:stCondLst>
                                            <p:cond delay="800"/>
                                          </p:stCondLst>
                                        </p:cTn>
                                        <p:tgtEl>
                                          <p:spTgt spid="5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3" grpId="2"/>
      <p:bldP spid="3" grpId="3"/>
      <p:bldP spid="36" grpId="0"/>
      <p:bldP spid="36" grpId="1"/>
      <p:bldP spid="36" grpId="2"/>
      <p:bldP spid="36" grpId="3"/>
      <p:bldP spid="49" grpId="0"/>
      <p:bldP spid="49" grpId="1"/>
      <p:bldP spid="49" grpId="2"/>
      <p:bldP spid="49" grpId="3"/>
      <p:bldP spid="55" grpId="0"/>
      <p:bldP spid="55" grpId="1"/>
      <p:bldP spid="55" grpId="2"/>
      <p:bldP spid="55" grpId="3"/>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45967" y="3789001"/>
            <a:ext cx="2083200" cy="768085"/>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38" name="グループ化 37"/>
          <p:cNvGrpSpPr/>
          <p:nvPr/>
        </p:nvGrpSpPr>
        <p:grpSpPr>
          <a:xfrm>
            <a:off x="5166180" y="3789001"/>
            <a:ext cx="2083200" cy="768085"/>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2" name="グループ化 51"/>
          <p:cNvGrpSpPr/>
          <p:nvPr/>
        </p:nvGrpSpPr>
        <p:grpSpPr>
          <a:xfrm>
            <a:off x="7086393" y="3789001"/>
            <a:ext cx="2083200" cy="768085"/>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6" name="グループ化 55"/>
          <p:cNvGrpSpPr/>
          <p:nvPr/>
        </p:nvGrpSpPr>
        <p:grpSpPr>
          <a:xfrm>
            <a:off x="9006607" y="3789001"/>
            <a:ext cx="2112235" cy="768085"/>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sp>
        <p:nvSpPr>
          <p:cNvPr id="3" name="正方形/長方形 2"/>
          <p:cNvSpPr/>
          <p:nvPr/>
        </p:nvSpPr>
        <p:spPr>
          <a:xfrm>
            <a:off x="3195089" y="2636277"/>
            <a:ext cx="1154644" cy="984885"/>
          </a:xfrm>
          <a:prstGeom prst="rect">
            <a:avLst/>
          </a:prstGeom>
        </p:spPr>
        <p:txBody>
          <a:bodyPr wrap="none">
            <a:noAutofit/>
          </a:bodyPr>
          <a:lstStyle/>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ﾎﾎｳ</a:t>
            </a:r>
          </a:p>
          <a:p>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115302" y="2636277"/>
            <a:ext cx="1250655" cy="984885"/>
          </a:xfrm>
          <a:prstGeom prst="rect">
            <a:avLst/>
          </a:prstGeom>
        </p:spPr>
        <p:txBody>
          <a:bodyPr wrap="none">
            <a:noAutofit/>
          </a:bodyPr>
          <a:lstStyle/>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ﾂﾗｲ</a:t>
            </a:r>
          </a:p>
          <a:p>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7038031" y="2661058"/>
            <a:ext cx="1154644" cy="1272143"/>
          </a:xfrm>
          <a:prstGeom prst="rect">
            <a:avLst/>
          </a:prstGeom>
        </p:spPr>
        <p:txBody>
          <a:bodyPr wrap="none">
            <a:noAutofit/>
          </a:bodyPr>
          <a:lstStyle/>
          <a:p>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ｱﾝｼﾝ</a:t>
            </a:r>
            <a:endPar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958245" y="2661055"/>
            <a:ext cx="1250655" cy="984885"/>
          </a:xfrm>
          <a:prstGeom prst="rect">
            <a:avLst/>
          </a:prstGeom>
        </p:spPr>
        <p:txBody>
          <a:bodyPr wrap="none">
            <a:noAutofit/>
          </a:bodyPr>
          <a:lstStyle/>
          <a:p>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ﾌｰﾝ</a:t>
            </a:r>
          </a:p>
          <a:p>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釘の本数の変更</a:t>
            </a:r>
          </a:p>
        </p:txBody>
      </p:sp>
      <p:sp>
        <p:nvSpPr>
          <p:cNvPr id="58" name="コンテンツ プレースホルダー 57"/>
          <p:cNvSpPr>
            <a:spLocks noGrp="1"/>
          </p:cNvSpPr>
          <p:nvPr>
            <p:ph idx="4294967295"/>
          </p:nvPr>
        </p:nvSpPr>
        <p:spPr>
          <a:xfrm>
            <a:off x="695942" y="5349025"/>
            <a:ext cx="11280127" cy="1140009"/>
          </a:xfrm>
          <a:prstGeom prst="rect">
            <a:avLst/>
          </a:prstGeom>
        </p:spPr>
        <p:txBody>
          <a:bodyPr/>
          <a:lstStyle/>
          <a:p>
            <a:r>
              <a:rPr lang="ja-JP" altLang="en-US" dirty="0">
                <a:solidFill>
                  <a:schemeClr val="tx1">
                    <a:lumMod val="85000"/>
                    <a:lumOff val="15000"/>
                  </a:schemeClr>
                </a:solidFill>
              </a:rPr>
              <a:t>製品の安全対策のために釘の本数が１本から２本に</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しかし，ハンマーを持っている釘打ち担当は単位時間に１本しか打てない</a:t>
            </a:r>
            <a:endParaRPr lang="en-US" altLang="ja-JP" dirty="0">
              <a:solidFill>
                <a:schemeClr val="tx1">
                  <a:lumMod val="85000"/>
                  <a:lumOff val="15000"/>
                </a:schemeClr>
              </a:solidFill>
            </a:endParaRPr>
          </a:p>
        </p:txBody>
      </p:sp>
      <p:cxnSp>
        <p:nvCxnSpPr>
          <p:cNvPr id="67" name="直線矢印コネクタ 66"/>
          <p:cNvCxnSpPr/>
          <p:nvPr/>
        </p:nvCxnSpPr>
        <p:spPr bwMode="auto">
          <a:xfrm>
            <a:off x="3245967" y="4869012"/>
            <a:ext cx="7872875"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 name="グループ化 3">
            <a:extLst>
              <a:ext uri="{FF2B5EF4-FFF2-40B4-BE49-F238E27FC236}">
                <a16:creationId xmlns:a16="http://schemas.microsoft.com/office/drawing/2014/main" id="{FF77882F-537F-C839-8754-7387D5D0B75D}"/>
              </a:ext>
            </a:extLst>
          </p:cNvPr>
          <p:cNvGrpSpPr/>
          <p:nvPr/>
        </p:nvGrpSpPr>
        <p:grpSpPr>
          <a:xfrm>
            <a:off x="3845977" y="3549001"/>
            <a:ext cx="6720076" cy="480007"/>
            <a:chOff x="611956" y="3699003"/>
            <a:chExt cx="5040057" cy="360005"/>
          </a:xfrm>
        </p:grpSpPr>
        <p:sp>
          <p:nvSpPr>
            <p:cNvPr id="8" name="角丸四角形 90">
              <a:extLst>
                <a:ext uri="{FF2B5EF4-FFF2-40B4-BE49-F238E27FC236}">
                  <a16:creationId xmlns:a16="http://schemas.microsoft.com/office/drawing/2014/main" id="{399B2BB3-EAE4-40A5-F43B-253A9357C53C}"/>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9" name="角丸四角形 91">
              <a:extLst>
                <a:ext uri="{FF2B5EF4-FFF2-40B4-BE49-F238E27FC236}">
                  <a16:creationId xmlns:a16="http://schemas.microsoft.com/office/drawing/2014/main" id="{CD942333-34EC-2DB6-7F7A-DE826A5208CA}"/>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0" name="角丸四角形 92">
              <a:extLst>
                <a:ext uri="{FF2B5EF4-FFF2-40B4-BE49-F238E27FC236}">
                  <a16:creationId xmlns:a16="http://schemas.microsoft.com/office/drawing/2014/main" id="{0B35F586-307D-82F6-81FE-B08F4D62EA36}"/>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1" name="角丸四角形 93">
              <a:extLst>
                <a:ext uri="{FF2B5EF4-FFF2-40B4-BE49-F238E27FC236}">
                  <a16:creationId xmlns:a16="http://schemas.microsoft.com/office/drawing/2014/main" id="{84ECC887-B444-6215-AFBD-6A7B1957223B}"/>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grpSp>
      <p:sp>
        <p:nvSpPr>
          <p:cNvPr id="12" name="正方形/長方形 11">
            <a:extLst>
              <a:ext uri="{FF2B5EF4-FFF2-40B4-BE49-F238E27FC236}">
                <a16:creationId xmlns:a16="http://schemas.microsoft.com/office/drawing/2014/main" id="{8D28C26A-E7E6-C201-2A31-76016504EE2C}"/>
              </a:ext>
            </a:extLst>
          </p:cNvPr>
          <p:cNvSpPr/>
          <p:nvPr/>
        </p:nvSpPr>
        <p:spPr bwMode="auto">
          <a:xfrm>
            <a:off x="125356" y="3573134"/>
            <a:ext cx="2016224" cy="960107"/>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 name="正方形/長方形 5">
            <a:extLst>
              <a:ext uri="{FF2B5EF4-FFF2-40B4-BE49-F238E27FC236}">
                <a16:creationId xmlns:a16="http://schemas.microsoft.com/office/drawing/2014/main" id="{92E7E5ED-B024-16FB-FD34-CD164816D276}"/>
              </a:ext>
            </a:extLst>
          </p:cNvPr>
          <p:cNvSpPr/>
          <p:nvPr/>
        </p:nvSpPr>
        <p:spPr>
          <a:xfrm>
            <a:off x="605940" y="2180907"/>
            <a:ext cx="2160025" cy="1816266"/>
          </a:xfrm>
          <a:prstGeom prst="rect">
            <a:avLst/>
          </a:prstGeom>
        </p:spPr>
        <p:txBody>
          <a:bodyPr wrap="square">
            <a:spAutoFit/>
          </a:bodyPr>
          <a:lstStyle/>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2045957" y="1340900"/>
            <a:ext cx="2520028" cy="696863"/>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85000"/>
                    <a:lumOff val="15000"/>
                  </a:schemeClr>
                </a:solidFill>
                <a:latin typeface="Arial Narrow" panose="020B0606020202030204" pitchFamily="34" charset="0"/>
              </a:rPr>
              <a:t>今日から釘打ちは</a:t>
            </a:r>
            <a:br>
              <a:rPr lang="en-US" altLang="ja-JP" sz="1867" dirty="0">
                <a:solidFill>
                  <a:schemeClr val="tx1">
                    <a:lumMod val="85000"/>
                    <a:lumOff val="15000"/>
                  </a:schemeClr>
                </a:solidFill>
                <a:latin typeface="Arial Narrow" panose="020B0606020202030204" pitchFamily="34" charset="0"/>
              </a:rPr>
            </a:br>
            <a:r>
              <a:rPr lang="ja-JP" altLang="en-US" sz="1867" dirty="0">
                <a:solidFill>
                  <a:schemeClr val="tx1">
                    <a:lumMod val="85000"/>
                    <a:lumOff val="15000"/>
                  </a:schemeClr>
                </a:solidFill>
                <a:latin typeface="Arial Narrow" panose="020B0606020202030204" pitchFamily="34" charset="0"/>
              </a:rPr>
              <a:t>１本じゃなく２本！</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365937" y="1868980"/>
            <a:ext cx="2160025" cy="379656"/>
          </a:xfrm>
          <a:prstGeom prst="rect">
            <a:avLst/>
          </a:prstGeom>
        </p:spPr>
        <p:txBody>
          <a:bodyPr wrap="square">
            <a:spAutoFit/>
          </a:bodyPr>
          <a:lstStyle/>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ｱﾝｾﾞﾝﾀｲｻｸ！</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6005999" y="1628980"/>
            <a:ext cx="2640031" cy="576863"/>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65000"/>
                    <a:lumOff val="35000"/>
                  </a:schemeClr>
                </a:solidFill>
                <a:latin typeface="Arial Narrow" panose="020B0606020202030204" pitchFamily="34" charset="0"/>
              </a:rPr>
              <a:t>１本で限界なんですが</a:t>
            </a:r>
          </a:p>
        </p:txBody>
      </p:sp>
    </p:spTree>
    <p:extLst>
      <p:ext uri="{BB962C8B-B14F-4D97-AF65-F5344CB8AC3E}">
        <p14:creationId xmlns:p14="http://schemas.microsoft.com/office/powerpoint/2010/main" val="1582986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215968" y="3789005"/>
            <a:ext cx="2083200" cy="768085"/>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38" name="グループ化 37"/>
          <p:cNvGrpSpPr/>
          <p:nvPr/>
        </p:nvGrpSpPr>
        <p:grpSpPr>
          <a:xfrm>
            <a:off x="5136181" y="3789005"/>
            <a:ext cx="2083200" cy="768085"/>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2" name="グループ化 51"/>
          <p:cNvGrpSpPr/>
          <p:nvPr/>
        </p:nvGrpSpPr>
        <p:grpSpPr>
          <a:xfrm>
            <a:off x="7056394" y="3789005"/>
            <a:ext cx="2083200" cy="768085"/>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6" name="グループ化 55"/>
          <p:cNvGrpSpPr/>
          <p:nvPr/>
        </p:nvGrpSpPr>
        <p:grpSpPr>
          <a:xfrm>
            <a:off x="8976608" y="3789005"/>
            <a:ext cx="2112235" cy="768085"/>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sp>
        <p:nvSpPr>
          <p:cNvPr id="3" name="正方形/長方形 2"/>
          <p:cNvSpPr/>
          <p:nvPr/>
        </p:nvSpPr>
        <p:spPr>
          <a:xfrm>
            <a:off x="3165090" y="2636281"/>
            <a:ext cx="1154644" cy="984885"/>
          </a:xfrm>
          <a:prstGeom prst="rect">
            <a:avLst/>
          </a:prstGeom>
        </p:spPr>
        <p:txBody>
          <a:bodyPr wrap="none">
            <a:noAutofit/>
          </a:bodyPr>
          <a:lstStyle/>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p>
          <a:p>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085303" y="2636281"/>
            <a:ext cx="1250655" cy="984885"/>
          </a:xfrm>
          <a:prstGeom prst="rect">
            <a:avLst/>
          </a:prstGeom>
        </p:spPr>
        <p:txBody>
          <a:bodyPr wrap="none">
            <a:noAutofit/>
          </a:bodyPr>
          <a:lstStyle/>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7008032" y="2661062"/>
            <a:ext cx="1154644" cy="1272143"/>
          </a:xfrm>
          <a:prstGeom prst="rect">
            <a:avLst/>
          </a:prstGeom>
        </p:spPr>
        <p:txBody>
          <a:bodyPr wrap="none">
            <a:noAutofit/>
          </a:bodyPr>
          <a:lstStyle/>
          <a:p>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ﾋﾏﾀﾞﾜ</a:t>
            </a:r>
            <a:endPar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928246" y="2661059"/>
            <a:ext cx="1250655" cy="984885"/>
          </a:xfrm>
          <a:prstGeom prst="rect">
            <a:avLst/>
          </a:prstGeom>
        </p:spPr>
        <p:txBody>
          <a:bodyPr wrap="none">
            <a:noAutofit/>
          </a:bodyPr>
          <a:lstStyle/>
          <a:p>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ﾃﾝｼｮｸﾀﾞ</a:t>
            </a:r>
            <a:endPar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釘打ちの人のところで構造ハザード</a:t>
            </a:r>
            <a:endParaRPr kumimoji="1" lang="ja-JP" altLang="en-US" dirty="0"/>
          </a:p>
        </p:txBody>
      </p:sp>
      <p:sp>
        <p:nvSpPr>
          <p:cNvPr id="58" name="コンテンツ プレースホルダー 57"/>
          <p:cNvSpPr>
            <a:spLocks noGrp="1"/>
          </p:cNvSpPr>
          <p:nvPr>
            <p:ph idx="4294967295"/>
          </p:nvPr>
        </p:nvSpPr>
        <p:spPr>
          <a:xfrm>
            <a:off x="695940" y="4959017"/>
            <a:ext cx="11280127" cy="1825548"/>
          </a:xfrm>
          <a:prstGeom prst="rect">
            <a:avLst/>
          </a:prstGeom>
        </p:spPr>
        <p:txBody>
          <a:bodyPr/>
          <a:lstStyle/>
          <a:p>
            <a:r>
              <a:rPr lang="ja-JP" altLang="en-US" dirty="0">
                <a:solidFill>
                  <a:schemeClr val="tx1">
                    <a:lumMod val="85000"/>
                    <a:lumOff val="15000"/>
                  </a:schemeClr>
                </a:solidFill>
              </a:rPr>
              <a:t>２人目 </a:t>
            </a:r>
            <a:r>
              <a:rPr lang="en-US" altLang="ja-JP" b="1" dirty="0">
                <a:solidFill>
                  <a:schemeClr val="accent3">
                    <a:lumMod val="50000"/>
                  </a:schemeClr>
                </a:solidFill>
                <a:latin typeface="ＭＳ Ｐゴシック" pitchFamily="50" charset="-128"/>
                <a:ea typeface="ＭＳ Ｐゴシック" pitchFamily="50" charset="-128"/>
              </a:rPr>
              <a:t>( </a:t>
            </a:r>
            <a:r>
              <a:rPr lang="ja-JP" altLang="en-US" dirty="0">
                <a:solidFill>
                  <a:schemeClr val="accent3">
                    <a:lumMod val="50000"/>
                  </a:schemeClr>
                </a:solidFill>
                <a:latin typeface="ＭＳ Ｐゴシック" pitchFamily="50" charset="-128"/>
                <a:ea typeface="ＭＳ Ｐゴシック" pitchFamily="50" charset="-128"/>
              </a:rPr>
              <a:t>；</a:t>
            </a:r>
            <a:r>
              <a:rPr lang="en-US" altLang="ja-JP" dirty="0">
                <a:solidFill>
                  <a:schemeClr val="accent3">
                    <a:lumMod val="50000"/>
                  </a:schemeClr>
                </a:solidFill>
                <a:latin typeface="ＭＳ Ｐゴシック" pitchFamily="50" charset="-128"/>
                <a:ea typeface="ＭＳ Ｐゴシック" pitchFamily="50" charset="-128"/>
              </a:rPr>
              <a:t>´∀</a:t>
            </a:r>
            <a:r>
              <a:rPr lang="ja-JP" altLang="en-US" dirty="0">
                <a:solidFill>
                  <a:schemeClr val="accent3">
                    <a:lumMod val="50000"/>
                  </a:schemeClr>
                </a:solidFill>
                <a:latin typeface="ＭＳ Ｐゴシック" pitchFamily="50" charset="-128"/>
                <a:ea typeface="ＭＳ Ｐゴシック" pitchFamily="50" charset="-128"/>
              </a:rPr>
              <a:t>｀</a:t>
            </a:r>
            <a:r>
              <a:rPr lang="en-US" altLang="ja-JP" b="1" dirty="0">
                <a:solidFill>
                  <a:schemeClr val="accent3">
                    <a:lumMod val="50000"/>
                  </a:schemeClr>
                </a:solidFill>
                <a:latin typeface="ＭＳ Ｐゴシック" pitchFamily="50" charset="-128"/>
                <a:ea typeface="ＭＳ Ｐゴシック" pitchFamily="50" charset="-128"/>
              </a:rPr>
              <a:t>) </a:t>
            </a:r>
            <a:r>
              <a:rPr lang="ja-JP" altLang="en-US" dirty="0">
                <a:solidFill>
                  <a:schemeClr val="tx1">
                    <a:lumMod val="85000"/>
                    <a:lumOff val="15000"/>
                  </a:schemeClr>
                </a:solidFill>
              </a:rPr>
              <a:t>の人は単位時間に１本しか打てない</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ラインは一番遅い人に合わせて動く（前回の講義より）</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そこで２本打つまでライン全体が止まる</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全体の速度がそこで決まってしまう</a:t>
            </a:r>
            <a:endParaRPr lang="en-US" altLang="ja-JP" dirty="0">
              <a:solidFill>
                <a:schemeClr val="tx1">
                  <a:lumMod val="85000"/>
                  <a:lumOff val="15000"/>
                </a:schemeClr>
              </a:solidFill>
            </a:endParaRPr>
          </a:p>
        </p:txBody>
      </p:sp>
      <p:cxnSp>
        <p:nvCxnSpPr>
          <p:cNvPr id="67" name="直線矢印コネクタ 66"/>
          <p:cNvCxnSpPr/>
          <p:nvPr/>
        </p:nvCxnSpPr>
        <p:spPr bwMode="auto">
          <a:xfrm>
            <a:off x="3215968" y="4869016"/>
            <a:ext cx="7872875"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2" name="正方形/長方形 11">
            <a:extLst>
              <a:ext uri="{FF2B5EF4-FFF2-40B4-BE49-F238E27FC236}">
                <a16:creationId xmlns:a16="http://schemas.microsoft.com/office/drawing/2014/main" id="{8D28C26A-E7E6-C201-2A31-76016504EE2C}"/>
              </a:ext>
            </a:extLst>
          </p:cNvPr>
          <p:cNvSpPr/>
          <p:nvPr/>
        </p:nvSpPr>
        <p:spPr bwMode="auto">
          <a:xfrm>
            <a:off x="95357" y="3573138"/>
            <a:ext cx="2016224" cy="960107"/>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 name="正方形/長方形 5">
            <a:extLst>
              <a:ext uri="{FF2B5EF4-FFF2-40B4-BE49-F238E27FC236}">
                <a16:creationId xmlns:a16="http://schemas.microsoft.com/office/drawing/2014/main" id="{92E7E5ED-B024-16FB-FD34-CD164816D276}"/>
              </a:ext>
            </a:extLst>
          </p:cNvPr>
          <p:cNvSpPr/>
          <p:nvPr/>
        </p:nvSpPr>
        <p:spPr>
          <a:xfrm>
            <a:off x="575941" y="2180911"/>
            <a:ext cx="2160025" cy="1816266"/>
          </a:xfrm>
          <a:prstGeom prst="rect">
            <a:avLst/>
          </a:prstGeom>
        </p:spPr>
        <p:txBody>
          <a:bodyPr wrap="square">
            <a:spAutoFit/>
          </a:bodyPr>
          <a:lstStyle/>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2135958" y="1340904"/>
            <a:ext cx="2040023" cy="696863"/>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85000"/>
                    <a:lumOff val="15000"/>
                  </a:schemeClr>
                </a:solidFill>
                <a:latin typeface="Arial Narrow" panose="020B0606020202030204" pitchFamily="34" charset="0"/>
              </a:rPr>
              <a:t>なんか製造数が</a:t>
            </a:r>
            <a:endParaRPr lang="en-US" altLang="ja-JP" sz="1867" dirty="0">
              <a:solidFill>
                <a:schemeClr val="tx1">
                  <a:lumMod val="85000"/>
                  <a:lumOff val="15000"/>
                </a:schemeClr>
              </a:solidFill>
              <a:latin typeface="Arial Narrow" panose="020B0606020202030204" pitchFamily="34" charset="0"/>
            </a:endParaRPr>
          </a:p>
          <a:p>
            <a:r>
              <a:rPr lang="ja-JP" altLang="en-US" sz="1867" dirty="0">
                <a:solidFill>
                  <a:schemeClr val="tx1">
                    <a:lumMod val="85000"/>
                    <a:lumOff val="15000"/>
                  </a:schemeClr>
                </a:solidFill>
                <a:latin typeface="Arial Narrow" panose="020B0606020202030204" pitchFamily="34" charset="0"/>
              </a:rPr>
              <a:t>がた落ちしたな</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335938" y="2108988"/>
            <a:ext cx="2160025" cy="379656"/>
          </a:xfrm>
          <a:prstGeom prst="rect">
            <a:avLst/>
          </a:prstGeom>
        </p:spPr>
        <p:txBody>
          <a:bodyPr wrap="square">
            <a:spAutoFit/>
          </a:bodyPr>
          <a:lstStyle/>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ﾅﾝﾃﾞｶﾅ</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5976000" y="1988988"/>
            <a:ext cx="2880032" cy="576863"/>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65000"/>
                    <a:lumOff val="35000"/>
                  </a:schemeClr>
                </a:solidFill>
                <a:latin typeface="Arial Narrow" panose="020B0606020202030204" pitchFamily="34" charset="0"/>
              </a:rPr>
              <a:t>あと１本うつから待って</a:t>
            </a:r>
          </a:p>
        </p:txBody>
      </p:sp>
      <p:sp>
        <p:nvSpPr>
          <p:cNvPr id="5" name="角丸四角形吹き出し 20">
            <a:extLst>
              <a:ext uri="{FF2B5EF4-FFF2-40B4-BE49-F238E27FC236}">
                <a16:creationId xmlns:a16="http://schemas.microsoft.com/office/drawing/2014/main" id="{B39C0899-AD83-BF3B-5EAF-72ACE0A36A90}"/>
              </a:ext>
            </a:extLst>
          </p:cNvPr>
          <p:cNvSpPr/>
          <p:nvPr/>
        </p:nvSpPr>
        <p:spPr bwMode="auto">
          <a:xfrm>
            <a:off x="4175982" y="1988988"/>
            <a:ext cx="1560017" cy="576863"/>
          </a:xfrm>
          <a:prstGeom prst="wedgeRoundRectCallout">
            <a:avLst>
              <a:gd name="adj1" fmla="val -58019"/>
              <a:gd name="adj2" fmla="val 136188"/>
              <a:gd name="adj3" fmla="val 16667"/>
            </a:avLst>
          </a:prstGeom>
          <a:ln>
            <a:solidFill>
              <a:schemeClr val="accent1"/>
            </a:solid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65000"/>
                    <a:lumOff val="35000"/>
                  </a:schemeClr>
                </a:solidFill>
                <a:latin typeface="Arial Narrow" panose="020B0606020202030204" pitchFamily="34" charset="0"/>
              </a:rPr>
              <a:t>はよせんか</a:t>
            </a:r>
          </a:p>
        </p:txBody>
      </p:sp>
      <p:grpSp>
        <p:nvGrpSpPr>
          <p:cNvPr id="16" name="グループ化 15">
            <a:extLst>
              <a:ext uri="{FF2B5EF4-FFF2-40B4-BE49-F238E27FC236}">
                <a16:creationId xmlns:a16="http://schemas.microsoft.com/office/drawing/2014/main" id="{486F32D2-14FE-5F46-16F6-D16E404732A7}"/>
              </a:ext>
            </a:extLst>
          </p:cNvPr>
          <p:cNvGrpSpPr/>
          <p:nvPr/>
        </p:nvGrpSpPr>
        <p:grpSpPr>
          <a:xfrm>
            <a:off x="3815978" y="3549005"/>
            <a:ext cx="6720076" cy="480007"/>
            <a:chOff x="611956" y="3699003"/>
            <a:chExt cx="5040057" cy="360005"/>
          </a:xfrm>
        </p:grpSpPr>
        <p:sp>
          <p:nvSpPr>
            <p:cNvPr id="17" name="角丸四角形 90">
              <a:extLst>
                <a:ext uri="{FF2B5EF4-FFF2-40B4-BE49-F238E27FC236}">
                  <a16:creationId xmlns:a16="http://schemas.microsoft.com/office/drawing/2014/main" id="{8C72740C-7058-438B-A5F2-B1ADE68B5E0A}"/>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8" name="角丸四角形 91">
              <a:extLst>
                <a:ext uri="{FF2B5EF4-FFF2-40B4-BE49-F238E27FC236}">
                  <a16:creationId xmlns:a16="http://schemas.microsoft.com/office/drawing/2014/main" id="{D518E50E-092E-ACF0-FFB4-4E6FDBF05295}"/>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9" name="角丸四角形 92">
              <a:extLst>
                <a:ext uri="{FF2B5EF4-FFF2-40B4-BE49-F238E27FC236}">
                  <a16:creationId xmlns:a16="http://schemas.microsoft.com/office/drawing/2014/main" id="{254EC0C5-A684-45E3-D23F-57249CD0AF51}"/>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20" name="角丸四角形 93">
              <a:extLst>
                <a:ext uri="{FF2B5EF4-FFF2-40B4-BE49-F238E27FC236}">
                  <a16:creationId xmlns:a16="http://schemas.microsoft.com/office/drawing/2014/main" id="{45FD4F58-516E-1AF6-34C5-16A31052BFD8}"/>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grpSp>
    </p:spTree>
    <p:extLst>
      <p:ext uri="{BB962C8B-B14F-4D97-AF65-F5344CB8AC3E}">
        <p14:creationId xmlns:p14="http://schemas.microsoft.com/office/powerpoint/2010/main" val="9273707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845975" y="2708992"/>
            <a:ext cx="2083200" cy="768085"/>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38" name="グループ化 37"/>
          <p:cNvGrpSpPr/>
          <p:nvPr/>
        </p:nvGrpSpPr>
        <p:grpSpPr>
          <a:xfrm>
            <a:off x="5766188" y="2708992"/>
            <a:ext cx="2083200" cy="768085"/>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2" name="グループ化 51"/>
          <p:cNvGrpSpPr/>
          <p:nvPr/>
        </p:nvGrpSpPr>
        <p:grpSpPr>
          <a:xfrm>
            <a:off x="7686401" y="2708992"/>
            <a:ext cx="2083200" cy="768085"/>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grpSp>
        <p:nvGrpSpPr>
          <p:cNvPr id="56" name="グループ化 55"/>
          <p:cNvGrpSpPr/>
          <p:nvPr/>
        </p:nvGrpSpPr>
        <p:grpSpPr>
          <a:xfrm>
            <a:off x="9606615" y="2708992"/>
            <a:ext cx="2112235" cy="768085"/>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dirty="0"/>
            </a:p>
          </p:txBody>
        </p:sp>
      </p:grpSp>
      <p:sp>
        <p:nvSpPr>
          <p:cNvPr id="3" name="正方形/長方形 2"/>
          <p:cNvSpPr/>
          <p:nvPr/>
        </p:nvSpPr>
        <p:spPr>
          <a:xfrm>
            <a:off x="3795097" y="1556268"/>
            <a:ext cx="1154644" cy="984885"/>
          </a:xfrm>
          <a:prstGeom prst="rect">
            <a:avLst/>
          </a:prstGeom>
        </p:spPr>
        <p:txBody>
          <a:bodyPr wrap="none">
            <a:noAutofit/>
          </a:bodyPr>
          <a:lstStyle/>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ﾖｹｲﾅｺﾄｦ</a:t>
            </a:r>
          </a:p>
          <a:p>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715310" y="1556268"/>
            <a:ext cx="1250655" cy="984885"/>
          </a:xfrm>
          <a:prstGeom prst="rect">
            <a:avLst/>
          </a:prstGeom>
        </p:spPr>
        <p:txBody>
          <a:bodyPr wrap="none">
            <a:noAutofit/>
          </a:bodyPr>
          <a:lstStyle/>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ﾜｰｲ</a:t>
            </a:r>
          </a:p>
          <a:p>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7638039" y="1581049"/>
            <a:ext cx="1154644" cy="1272143"/>
          </a:xfrm>
          <a:prstGeom prst="rect">
            <a:avLst/>
          </a:prstGeom>
        </p:spPr>
        <p:txBody>
          <a:bodyPr wrap="none">
            <a:noAutofit/>
          </a:bodyPr>
          <a:lstStyle/>
          <a:p>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ｲｿｶﾞｼｲ</a:t>
            </a:r>
            <a:endPar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9558253" y="1581046"/>
            <a:ext cx="1250655" cy="984885"/>
          </a:xfrm>
          <a:prstGeom prst="rect">
            <a:avLst/>
          </a:prstGeom>
        </p:spPr>
        <p:txBody>
          <a:bodyPr wrap="none">
            <a:noAutofit/>
          </a:bodyPr>
          <a:lstStyle/>
          <a:p>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ｼﾝﾄﾞｲ</a:t>
            </a:r>
          </a:p>
          <a:p>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867"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増員による構造ハザードの解消</a:t>
            </a:r>
            <a:endParaRPr kumimoji="1" lang="ja-JP" altLang="en-US" dirty="0"/>
          </a:p>
        </p:txBody>
      </p:sp>
      <p:sp>
        <p:nvSpPr>
          <p:cNvPr id="58" name="コンテンツ プレースホルダー 57"/>
          <p:cNvSpPr>
            <a:spLocks noGrp="1"/>
          </p:cNvSpPr>
          <p:nvPr>
            <p:ph idx="4294967295"/>
          </p:nvPr>
        </p:nvSpPr>
        <p:spPr>
          <a:xfrm>
            <a:off x="695940" y="4869016"/>
            <a:ext cx="11100125" cy="1825548"/>
          </a:xfrm>
          <a:prstGeom prst="rect">
            <a:avLst/>
          </a:prstGeom>
        </p:spPr>
        <p:txBody>
          <a:bodyPr/>
          <a:lstStyle/>
          <a:p>
            <a:r>
              <a:rPr lang="ja-JP" altLang="en-US" dirty="0"/>
              <a:t>１人増やして緑のステージで単位時間に２本の釘が打てるように</a:t>
            </a:r>
            <a:endParaRPr lang="en-US" altLang="ja-JP" dirty="0"/>
          </a:p>
          <a:p>
            <a:pPr lvl="1"/>
            <a:r>
              <a:rPr lang="ja-JP" altLang="en-US" dirty="0"/>
              <a:t>これがハード資源の追加による構造ハザードの解消</a:t>
            </a:r>
            <a:endParaRPr lang="en-US" altLang="ja-JP" dirty="0"/>
          </a:p>
          <a:p>
            <a:pPr lvl="1"/>
            <a:r>
              <a:rPr lang="ja-JP" altLang="en-US" dirty="0"/>
              <a:t>ただし，追加しただけ経費がかかる</a:t>
            </a:r>
            <a:endParaRPr lang="en-US" altLang="ja-JP" dirty="0"/>
          </a:p>
          <a:p>
            <a:pPr lvl="2"/>
            <a:r>
              <a:rPr lang="ja-JP" altLang="en-US" dirty="0"/>
              <a:t>（ハードだとその分複雑になって電力を食う</a:t>
            </a:r>
            <a:endParaRPr lang="en-US" altLang="ja-JP" dirty="0"/>
          </a:p>
        </p:txBody>
      </p:sp>
      <p:sp>
        <p:nvSpPr>
          <p:cNvPr id="12" name="正方形/長方形 11">
            <a:extLst>
              <a:ext uri="{FF2B5EF4-FFF2-40B4-BE49-F238E27FC236}">
                <a16:creationId xmlns:a16="http://schemas.microsoft.com/office/drawing/2014/main" id="{8D28C26A-E7E6-C201-2A31-76016504EE2C}"/>
              </a:ext>
            </a:extLst>
          </p:cNvPr>
          <p:cNvSpPr/>
          <p:nvPr/>
        </p:nvSpPr>
        <p:spPr bwMode="auto">
          <a:xfrm>
            <a:off x="-24644" y="2613127"/>
            <a:ext cx="2016224" cy="960107"/>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ja-JP" altLang="en-US" sz="2400"/>
          </a:p>
        </p:txBody>
      </p:sp>
      <p:sp>
        <p:nvSpPr>
          <p:cNvPr id="6" name="正方形/長方形 5">
            <a:extLst>
              <a:ext uri="{FF2B5EF4-FFF2-40B4-BE49-F238E27FC236}">
                <a16:creationId xmlns:a16="http://schemas.microsoft.com/office/drawing/2014/main" id="{92E7E5ED-B024-16FB-FD34-CD164816D276}"/>
              </a:ext>
            </a:extLst>
          </p:cNvPr>
          <p:cNvSpPr/>
          <p:nvPr/>
        </p:nvSpPr>
        <p:spPr>
          <a:xfrm>
            <a:off x="1205948" y="1100898"/>
            <a:ext cx="2160025" cy="1816266"/>
          </a:xfrm>
          <a:prstGeom prst="rect">
            <a:avLst/>
          </a:prstGeom>
        </p:spPr>
        <p:txBody>
          <a:bodyPr wrap="square">
            <a:spAutoFit/>
          </a:bodyPr>
          <a:lstStyle/>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2675962" y="638969"/>
            <a:ext cx="1680017" cy="696863"/>
          </a:xfrm>
          <a:prstGeom prst="wedgeRoundRectCallout">
            <a:avLst>
              <a:gd name="adj1" fmla="val -37317"/>
              <a:gd name="adj2" fmla="val 84906"/>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85000"/>
                    <a:lumOff val="15000"/>
                  </a:schemeClr>
                </a:solidFill>
                <a:latin typeface="Arial Narrow" panose="020B0606020202030204" pitchFamily="34" charset="0"/>
              </a:rPr>
              <a:t>増員しました</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965945" y="1028975"/>
            <a:ext cx="2160025" cy="379656"/>
          </a:xfrm>
          <a:prstGeom prst="rect">
            <a:avLst/>
          </a:prstGeom>
        </p:spPr>
        <p:txBody>
          <a:bodyPr wrap="square">
            <a:spAutoFit/>
          </a:bodyPr>
          <a:lstStyle/>
          <a:p>
            <a:r>
              <a:rPr lang="ja-JP" altLang="en-US" sz="1867"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ｹｲﾋｶﾞ･･･</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6366003" y="818971"/>
            <a:ext cx="2400027" cy="576863"/>
          </a:xfrm>
          <a:prstGeom prst="wedgeRoundRectCallout">
            <a:avLst>
              <a:gd name="adj1" fmla="val -41724"/>
              <a:gd name="adj2" fmla="val 8961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65000"/>
                    <a:lumOff val="35000"/>
                  </a:schemeClr>
                </a:solidFill>
                <a:latin typeface="Arial Narrow" panose="020B0606020202030204" pitchFamily="34" charset="0"/>
              </a:rPr>
              <a:t>２人で２本打とう！</a:t>
            </a:r>
          </a:p>
        </p:txBody>
      </p:sp>
      <p:grpSp>
        <p:nvGrpSpPr>
          <p:cNvPr id="16" name="グループ化 15">
            <a:extLst>
              <a:ext uri="{FF2B5EF4-FFF2-40B4-BE49-F238E27FC236}">
                <a16:creationId xmlns:a16="http://schemas.microsoft.com/office/drawing/2014/main" id="{486F32D2-14FE-5F46-16F6-D16E404732A7}"/>
              </a:ext>
            </a:extLst>
          </p:cNvPr>
          <p:cNvGrpSpPr/>
          <p:nvPr/>
        </p:nvGrpSpPr>
        <p:grpSpPr>
          <a:xfrm>
            <a:off x="4445985" y="2588993"/>
            <a:ext cx="6720076" cy="480007"/>
            <a:chOff x="611956" y="3699003"/>
            <a:chExt cx="5040057" cy="360005"/>
          </a:xfrm>
        </p:grpSpPr>
        <p:sp>
          <p:nvSpPr>
            <p:cNvPr id="17" name="角丸四角形 90">
              <a:extLst>
                <a:ext uri="{FF2B5EF4-FFF2-40B4-BE49-F238E27FC236}">
                  <a16:creationId xmlns:a16="http://schemas.microsoft.com/office/drawing/2014/main" id="{8C72740C-7058-438B-A5F2-B1ADE68B5E0A}"/>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8" name="角丸四角形 91">
              <a:extLst>
                <a:ext uri="{FF2B5EF4-FFF2-40B4-BE49-F238E27FC236}">
                  <a16:creationId xmlns:a16="http://schemas.microsoft.com/office/drawing/2014/main" id="{D518E50E-092E-ACF0-FFB4-4E6FDBF05295}"/>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19" name="角丸四角形 92">
              <a:extLst>
                <a:ext uri="{FF2B5EF4-FFF2-40B4-BE49-F238E27FC236}">
                  <a16:creationId xmlns:a16="http://schemas.microsoft.com/office/drawing/2014/main" id="{254EC0C5-A684-45E3-D23F-57249CD0AF51}"/>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sp>
          <p:nvSpPr>
            <p:cNvPr id="20" name="角丸四角形 93">
              <a:extLst>
                <a:ext uri="{FF2B5EF4-FFF2-40B4-BE49-F238E27FC236}">
                  <a16:creationId xmlns:a16="http://schemas.microsoft.com/office/drawing/2014/main" id="{45FD4F58-516E-1AF6-34C5-16A31052BFD8}"/>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sz="2400" dirty="0">
                  <a:latin typeface="Arial Narrow" panose="020B0606020202030204" pitchFamily="34" charset="0"/>
                </a:rPr>
                <a:t>製品</a:t>
              </a:r>
            </a:p>
          </p:txBody>
        </p:sp>
      </p:grpSp>
      <p:sp>
        <p:nvSpPr>
          <p:cNvPr id="4" name="正方形/長方形 3">
            <a:extLst>
              <a:ext uri="{FF2B5EF4-FFF2-40B4-BE49-F238E27FC236}">
                <a16:creationId xmlns:a16="http://schemas.microsoft.com/office/drawing/2014/main" id="{23FEE6A1-4FDE-55DA-A3E9-EEC65229123F}"/>
              </a:ext>
            </a:extLst>
          </p:cNvPr>
          <p:cNvSpPr/>
          <p:nvPr/>
        </p:nvSpPr>
        <p:spPr>
          <a:xfrm>
            <a:off x="5765998" y="3429001"/>
            <a:ext cx="1680020" cy="1272143"/>
          </a:xfrm>
          <a:prstGeom prst="rect">
            <a:avLst/>
          </a:prstGeom>
        </p:spPr>
        <p:txBody>
          <a:bodyPr wrap="none">
            <a:noAutofit/>
          </a:bodyPr>
          <a:lstStyle/>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az-Cyrl-AZ"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ｺﾝｺﾞﾄﾓﾖﾛｼｸ</a:t>
            </a:r>
            <a:endParaRPr lang="en-US" altLang="ja-JP"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867"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a:t>
            </a:r>
          </a:p>
        </p:txBody>
      </p:sp>
      <p:grpSp>
        <p:nvGrpSpPr>
          <p:cNvPr id="88" name="グループ化 87">
            <a:extLst>
              <a:ext uri="{FF2B5EF4-FFF2-40B4-BE49-F238E27FC236}">
                <a16:creationId xmlns:a16="http://schemas.microsoft.com/office/drawing/2014/main" id="{CED68DE9-43D6-BA18-8B65-A29EBB6751A8}"/>
              </a:ext>
            </a:extLst>
          </p:cNvPr>
          <p:cNvGrpSpPr/>
          <p:nvPr/>
        </p:nvGrpSpPr>
        <p:grpSpPr>
          <a:xfrm>
            <a:off x="5045989" y="2948995"/>
            <a:ext cx="2520027" cy="2040025"/>
            <a:chOff x="3221985" y="3158996"/>
            <a:chExt cx="1890020" cy="1530018"/>
          </a:xfrm>
        </p:grpSpPr>
        <p:grpSp>
          <p:nvGrpSpPr>
            <p:cNvPr id="44" name="グループ化 43">
              <a:extLst>
                <a:ext uri="{FF2B5EF4-FFF2-40B4-BE49-F238E27FC236}">
                  <a16:creationId xmlns:a16="http://schemas.microsoft.com/office/drawing/2014/main" id="{C8F79504-3398-C09B-5526-7CA1CCAE6C7D}"/>
                </a:ext>
              </a:extLst>
            </p:cNvPr>
            <p:cNvGrpSpPr/>
            <p:nvPr/>
          </p:nvGrpSpPr>
          <p:grpSpPr>
            <a:xfrm>
              <a:off x="3221985" y="3969006"/>
              <a:ext cx="900010" cy="720008"/>
              <a:chOff x="251952" y="3429000"/>
              <a:chExt cx="720008" cy="720008"/>
            </a:xfrm>
          </p:grpSpPr>
          <p:cxnSp>
            <p:nvCxnSpPr>
              <p:cNvPr id="8" name="直線コネクタ 7">
                <a:extLst>
                  <a:ext uri="{FF2B5EF4-FFF2-40B4-BE49-F238E27FC236}">
                    <a16:creationId xmlns:a16="http://schemas.microsoft.com/office/drawing/2014/main" id="{056902C5-1179-42FF-2313-33061C7F6539}"/>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8913CA64-9364-A19E-5B55-5A493958BE8A}"/>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20CC5D28-203E-154F-BD8D-EDACAC2D929B}"/>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1374F199-39E6-7CD1-1F0C-761788482217}"/>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F5F044C1-D208-A1F1-B6C5-9C72754C00BF}"/>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67B0DBD6-6E30-B91E-92C2-B9E0876E869A}"/>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5FEAA2A2-A1A0-FBE0-20AD-CFC1E18892B4}"/>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63" name="グループ化 62">
              <a:extLst>
                <a:ext uri="{FF2B5EF4-FFF2-40B4-BE49-F238E27FC236}">
                  <a16:creationId xmlns:a16="http://schemas.microsoft.com/office/drawing/2014/main" id="{48BB9F4A-3D03-1F39-194B-10AD2A7346F8}"/>
                </a:ext>
              </a:extLst>
            </p:cNvPr>
            <p:cNvGrpSpPr/>
            <p:nvPr/>
          </p:nvGrpSpPr>
          <p:grpSpPr>
            <a:xfrm flipH="1">
              <a:off x="4121994" y="3969006"/>
              <a:ext cx="990011" cy="720008"/>
              <a:chOff x="251952" y="3429000"/>
              <a:chExt cx="720008" cy="720008"/>
            </a:xfrm>
          </p:grpSpPr>
          <p:cxnSp>
            <p:nvCxnSpPr>
              <p:cNvPr id="65" name="直線コネクタ 64">
                <a:extLst>
                  <a:ext uri="{FF2B5EF4-FFF2-40B4-BE49-F238E27FC236}">
                    <a16:creationId xmlns:a16="http://schemas.microsoft.com/office/drawing/2014/main" id="{3A2EFEFE-8B12-5897-915C-E097CEA30807}"/>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A5D661D1-8356-5922-67DC-214046D6839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937AC6DB-FA14-632B-32F3-7958E1D9EE97}"/>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4DA70B17-188C-7AA3-AEDE-B541F2686E78}"/>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D964847B-4A38-38A7-57A4-0E7910AC76C7}"/>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0" name="直線コネクタ 69">
                <a:extLst>
                  <a:ext uri="{FF2B5EF4-FFF2-40B4-BE49-F238E27FC236}">
                    <a16:creationId xmlns:a16="http://schemas.microsoft.com/office/drawing/2014/main" id="{9A1C2C7A-B947-B791-EAC6-4142AEFE7A35}"/>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1" name="直線コネクタ 70">
                <a:extLst>
                  <a:ext uri="{FF2B5EF4-FFF2-40B4-BE49-F238E27FC236}">
                    <a16:creationId xmlns:a16="http://schemas.microsoft.com/office/drawing/2014/main" id="{1F22D83E-8E35-DCC7-936F-D9962BA41EAB}"/>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72" name="グループ化 71">
              <a:extLst>
                <a:ext uri="{FF2B5EF4-FFF2-40B4-BE49-F238E27FC236}">
                  <a16:creationId xmlns:a16="http://schemas.microsoft.com/office/drawing/2014/main" id="{DA0A5E57-4CD4-2613-15E2-AA0A3CB0E7C3}"/>
                </a:ext>
              </a:extLst>
            </p:cNvPr>
            <p:cNvGrpSpPr/>
            <p:nvPr/>
          </p:nvGrpSpPr>
          <p:grpSpPr>
            <a:xfrm flipV="1">
              <a:off x="3221985" y="3158997"/>
              <a:ext cx="900010" cy="810009"/>
              <a:chOff x="251952" y="3429000"/>
              <a:chExt cx="720008" cy="720008"/>
            </a:xfrm>
          </p:grpSpPr>
          <p:cxnSp>
            <p:nvCxnSpPr>
              <p:cNvPr id="73" name="直線コネクタ 72">
                <a:extLst>
                  <a:ext uri="{FF2B5EF4-FFF2-40B4-BE49-F238E27FC236}">
                    <a16:creationId xmlns:a16="http://schemas.microsoft.com/office/drawing/2014/main" id="{5B8A254F-F4B8-8A6D-FE93-A31DA2169F76}"/>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4" name="直線コネクタ 73">
                <a:extLst>
                  <a:ext uri="{FF2B5EF4-FFF2-40B4-BE49-F238E27FC236}">
                    <a16:creationId xmlns:a16="http://schemas.microsoft.com/office/drawing/2014/main" id="{4D830FE3-CA09-3E8F-9DAB-883DF982AB0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723444B3-AEE4-2A18-DA43-1327B89A129F}"/>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81FC493C-5219-78BB-3AEC-8E0025B897A5}"/>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615ABB74-84FF-6FB5-814E-255185397FE9}"/>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403A3929-C5E2-6CD6-B4F9-8C7B9EAD675F}"/>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E4079E60-C02E-F935-B855-9E7965671846}"/>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80" name="グループ化 79">
              <a:extLst>
                <a:ext uri="{FF2B5EF4-FFF2-40B4-BE49-F238E27FC236}">
                  <a16:creationId xmlns:a16="http://schemas.microsoft.com/office/drawing/2014/main" id="{ED9C66C9-303D-1F89-7ECD-9325BB1D3BE1}"/>
                </a:ext>
              </a:extLst>
            </p:cNvPr>
            <p:cNvGrpSpPr/>
            <p:nvPr/>
          </p:nvGrpSpPr>
          <p:grpSpPr>
            <a:xfrm flipH="1" flipV="1">
              <a:off x="4121995" y="3158996"/>
              <a:ext cx="900010" cy="810009"/>
              <a:chOff x="251952" y="3429000"/>
              <a:chExt cx="720008" cy="720008"/>
            </a:xfrm>
          </p:grpSpPr>
          <p:cxnSp>
            <p:nvCxnSpPr>
              <p:cNvPr id="81" name="直線コネクタ 80">
                <a:extLst>
                  <a:ext uri="{FF2B5EF4-FFF2-40B4-BE49-F238E27FC236}">
                    <a16:creationId xmlns:a16="http://schemas.microsoft.com/office/drawing/2014/main" id="{C5ADBFAD-611F-7867-4C40-C2C2D72FC9E8}"/>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2" name="直線コネクタ 81">
                <a:extLst>
                  <a:ext uri="{FF2B5EF4-FFF2-40B4-BE49-F238E27FC236}">
                    <a16:creationId xmlns:a16="http://schemas.microsoft.com/office/drawing/2014/main" id="{59895B97-7A0D-D6D7-C5F0-D76B8DF1A467}"/>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D0F19B65-745C-76EA-E524-96F6FC7BF969}"/>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B26B1463-49BC-B1BC-B95D-9984458718AE}"/>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A4E4472F-013C-610E-59C5-BAAB953F5751}"/>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247318D5-0FB2-5E0F-0A97-D3B0641BC848}"/>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9E3A0168-3242-3A96-13BC-2E60683AA55F}"/>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sp>
        <p:nvSpPr>
          <p:cNvPr id="11" name="角丸四角形吹き出し 20">
            <a:extLst>
              <a:ext uri="{FF2B5EF4-FFF2-40B4-BE49-F238E27FC236}">
                <a16:creationId xmlns:a16="http://schemas.microsoft.com/office/drawing/2014/main" id="{BC106EA9-7941-84A8-A29E-2C293DF556EF}"/>
              </a:ext>
            </a:extLst>
          </p:cNvPr>
          <p:cNvSpPr/>
          <p:nvPr/>
        </p:nvSpPr>
        <p:spPr bwMode="auto">
          <a:xfrm>
            <a:off x="7536016" y="4329010"/>
            <a:ext cx="2280025" cy="576863"/>
          </a:xfrm>
          <a:prstGeom prst="wedgeRoundRectCallout">
            <a:avLst>
              <a:gd name="adj1" fmla="val -44169"/>
              <a:gd name="adj2" fmla="val -82502"/>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121920" tIns="60960" rIns="121920" bIns="60960" numCol="1" spcCol="0" rtlCol="0" fromWordArt="0" anchor="ctr" anchorCtr="0" forceAA="0" compatLnSpc="1">
            <a:prstTxWarp prst="textNoShape">
              <a:avLst/>
            </a:prstTxWarp>
            <a:noAutofit/>
          </a:bodyPr>
          <a:lstStyle/>
          <a:p>
            <a:r>
              <a:rPr lang="ja-JP" altLang="en-US" sz="1867" dirty="0">
                <a:solidFill>
                  <a:schemeClr val="tx1">
                    <a:lumMod val="65000"/>
                    <a:lumOff val="35000"/>
                  </a:schemeClr>
                </a:solidFill>
                <a:latin typeface="Arial Narrow" panose="020B0606020202030204" pitchFamily="34" charset="0"/>
              </a:rPr>
              <a:t>１本受け持ちます</a:t>
            </a:r>
          </a:p>
        </p:txBody>
      </p:sp>
    </p:spTree>
    <p:extLst>
      <p:ext uri="{BB962C8B-B14F-4D97-AF65-F5344CB8AC3E}">
        <p14:creationId xmlns:p14="http://schemas.microsoft.com/office/powerpoint/2010/main" val="42594199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コンピュータにおける構造ハザード</a:t>
            </a:r>
          </a:p>
        </p:txBody>
      </p:sp>
      <p:sp>
        <p:nvSpPr>
          <p:cNvPr id="3" name="テキスト プレースホルダー 2"/>
          <p:cNvSpPr>
            <a:spLocks noGrp="1"/>
          </p:cNvSpPr>
          <p:nvPr>
            <p:ph type="body" sz="quarter" idx="10"/>
          </p:nvPr>
        </p:nvSpPr>
        <p:spPr/>
        <p:txBody>
          <a:bodyPr/>
          <a:lstStyle/>
          <a:p>
            <a:r>
              <a:rPr lang="ja-JP" altLang="en-US" dirty="0"/>
              <a:t>ハード資源：</a:t>
            </a:r>
            <a:endParaRPr lang="en-US" altLang="ja-JP" dirty="0"/>
          </a:p>
          <a:p>
            <a:pPr lvl="1"/>
            <a:r>
              <a:rPr lang="ja-JP" altLang="en-US" dirty="0"/>
              <a:t>演算器（</a:t>
            </a:r>
            <a:r>
              <a:rPr lang="en-US" altLang="ja-JP" dirty="0"/>
              <a:t>FU</a:t>
            </a:r>
            <a:r>
              <a:rPr lang="ja-JP" altLang="en-US" dirty="0"/>
              <a:t>），レジスタ・ファイル，メモリ など</a:t>
            </a:r>
            <a:endParaRPr lang="en-US" altLang="ja-JP" dirty="0"/>
          </a:p>
          <a:p>
            <a:r>
              <a:rPr lang="ja-JP" altLang="en-US" dirty="0"/>
              <a:t>構造ハザード：</a:t>
            </a:r>
            <a:endParaRPr lang="en-US" altLang="ja-JP" dirty="0"/>
          </a:p>
          <a:p>
            <a:pPr lvl="1"/>
            <a:r>
              <a:rPr lang="ja-JP" altLang="en-US" dirty="0"/>
              <a:t>ハード資源の不足により，パイプラインがうまく動作しないこと</a:t>
            </a:r>
            <a:endParaRPr lang="en-US" altLang="ja-JP" dirty="0"/>
          </a:p>
          <a:p>
            <a:pPr lvl="1"/>
            <a:r>
              <a:rPr kumimoji="1" lang="ja-JP" altLang="en-US" dirty="0"/>
              <a:t>いくつかの例を使った説明，解消方法について解説</a:t>
            </a:r>
          </a:p>
        </p:txBody>
      </p:sp>
    </p:spTree>
    <p:extLst>
      <p:ext uri="{BB962C8B-B14F-4D97-AF65-F5344CB8AC3E}">
        <p14:creationId xmlns:p14="http://schemas.microsoft.com/office/powerpoint/2010/main" val="9413290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a:t>
            </a:r>
            <a:r>
              <a:rPr lang="ja-JP" altLang="en-US" dirty="0"/>
              <a:t>例１：メモリ間 </a:t>
            </a:r>
            <a:r>
              <a:rPr lang="en-US" altLang="ja-JP" dirty="0" err="1"/>
              <a:t>mov</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例１：仮に </a:t>
            </a:r>
            <a:r>
              <a:rPr kumimoji="1" lang="en-US" altLang="ja-JP" dirty="0" err="1"/>
              <a:t>mov</a:t>
            </a:r>
            <a:r>
              <a:rPr kumimoji="1" lang="en-US" altLang="ja-JP" dirty="0"/>
              <a:t> [rs1]</a:t>
            </a:r>
            <a:r>
              <a:rPr kumimoji="1" lang="ja-JP" altLang="en-US" dirty="0"/>
              <a:t>→</a:t>
            </a:r>
            <a:r>
              <a:rPr kumimoji="1" lang="en-US" altLang="ja-JP" dirty="0"/>
              <a:t>[rs2] </a:t>
            </a:r>
            <a:r>
              <a:rPr kumimoji="1" lang="ja-JP" altLang="en-US" dirty="0" err="1"/>
              <a:t>のような</a:t>
            </a:r>
            <a:r>
              <a:rPr kumimoji="1" lang="ja-JP" altLang="en-US" dirty="0"/>
              <a:t>命令があったとする</a:t>
            </a:r>
            <a:endParaRPr kumimoji="1" lang="en-US" altLang="ja-JP" dirty="0"/>
          </a:p>
          <a:p>
            <a:pPr lvl="1"/>
            <a:r>
              <a:rPr lang="en-US" altLang="ja-JP" dirty="0"/>
              <a:t>rs1 </a:t>
            </a:r>
            <a:r>
              <a:rPr lang="ja-JP" altLang="en-US" dirty="0"/>
              <a:t>で指定されるアドレスのメモリの値を読んで，</a:t>
            </a:r>
            <a:endParaRPr lang="en-US" altLang="ja-JP" dirty="0"/>
          </a:p>
          <a:p>
            <a:pPr lvl="1"/>
            <a:r>
              <a:rPr lang="en-US" altLang="ja-JP" dirty="0"/>
              <a:t>rs2 </a:t>
            </a:r>
            <a:r>
              <a:rPr lang="ja-JP" altLang="en-US" dirty="0"/>
              <a:t>で指定されるアドレスのメモリに書き込む</a:t>
            </a:r>
            <a:endParaRPr lang="en-US" altLang="ja-JP" dirty="0"/>
          </a:p>
          <a:p>
            <a:r>
              <a:rPr lang="ja-JP" altLang="en-US" dirty="0"/>
              <a:t>実際に，</a:t>
            </a:r>
            <a:r>
              <a:rPr lang="en-US" altLang="ja-JP" dirty="0"/>
              <a:t>x86 </a:t>
            </a:r>
            <a:r>
              <a:rPr lang="ja-JP" altLang="en-US" dirty="0" err="1"/>
              <a:t>には</a:t>
            </a:r>
            <a:r>
              <a:rPr lang="ja-JP" altLang="en-US" dirty="0"/>
              <a:t>このような命令がある</a:t>
            </a:r>
            <a:endParaRPr kumimoji="1" lang="ja-JP" altLang="en-US" dirty="0"/>
          </a:p>
        </p:txBody>
      </p:sp>
    </p:spTree>
    <p:extLst>
      <p:ext uri="{BB962C8B-B14F-4D97-AF65-F5344CB8AC3E}">
        <p14:creationId xmlns:p14="http://schemas.microsoft.com/office/powerpoint/2010/main" val="1685023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err="1"/>
              <a:t>mov</a:t>
            </a:r>
            <a:r>
              <a:rPr lang="en-US" altLang="ja-JP" dirty="0"/>
              <a:t> [rs1]</a:t>
            </a:r>
            <a:r>
              <a:rPr lang="ja-JP" altLang="en-US" dirty="0"/>
              <a:t>→</a:t>
            </a:r>
            <a:r>
              <a:rPr lang="en-US" altLang="ja-JP" dirty="0"/>
              <a:t>[rs2] // [rs1]</a:t>
            </a:r>
            <a:r>
              <a:rPr lang="ja-JP" altLang="en-US" dirty="0"/>
              <a:t>→</a:t>
            </a:r>
            <a:r>
              <a:rPr lang="en-US" altLang="ja-JP" dirty="0"/>
              <a:t>[rs2] </a:t>
            </a:r>
            <a:r>
              <a:rPr lang="ja-JP" altLang="en-US" dirty="0" err="1"/>
              <a:t>への</a:t>
            </a:r>
            <a:r>
              <a:rPr lang="ja-JP" altLang="en-US" dirty="0"/>
              <a:t>コピー</a:t>
            </a:r>
            <a:endParaRPr kumimoji="1" lang="ja-JP" altLang="en-US" dirty="0"/>
          </a:p>
        </p:txBody>
      </p:sp>
      <p:sp>
        <p:nvSpPr>
          <p:cNvPr id="3" name="テキスト プレースホルダー 2"/>
          <p:cNvSpPr>
            <a:spLocks noGrp="1"/>
          </p:cNvSpPr>
          <p:nvPr>
            <p:ph type="body" sz="quarter" idx="10"/>
          </p:nvPr>
        </p:nvSpPr>
        <p:spPr>
          <a:xfrm>
            <a:off x="1865954" y="5589024"/>
            <a:ext cx="8550095" cy="449698"/>
          </a:xfrm>
        </p:spPr>
        <p:txBody>
          <a:bodyPr/>
          <a:lstStyle/>
          <a:p>
            <a:r>
              <a:rPr kumimoji="1" lang="ja-JP" altLang="en-US" dirty="0"/>
              <a:t>メモリをあるサイクルに同時に読んで書く必要がある</a:t>
            </a:r>
            <a:endParaRPr kumimoji="1" lang="en-US" altLang="ja-JP" dirty="0"/>
          </a:p>
          <a:p>
            <a:pPr lvl="1"/>
            <a:r>
              <a:rPr lang="ja-JP" altLang="en-US" dirty="0"/>
              <a:t>しかし，データ・メモリのアドレス</a:t>
            </a:r>
            <a:r>
              <a:rPr kumimoji="1" lang="ja-JP" altLang="en-US" dirty="0"/>
              <a:t>の口は</a:t>
            </a:r>
            <a:r>
              <a:rPr kumimoji="1" lang="en-US" altLang="ja-JP" dirty="0"/>
              <a:t>1</a:t>
            </a:r>
            <a:r>
              <a:rPr kumimoji="1" lang="ja-JP" altLang="en-US" dirty="0"/>
              <a:t>つしかない</a:t>
            </a:r>
            <a:endParaRPr kumimoji="1" lang="en-US" altLang="ja-JP" dirty="0"/>
          </a:p>
          <a:p>
            <a:pPr lvl="1"/>
            <a:r>
              <a:rPr lang="en-US" altLang="ja-JP" dirty="0"/>
              <a:t>MEM </a:t>
            </a:r>
            <a:r>
              <a:rPr lang="ja-JP" altLang="en-US" dirty="0"/>
              <a:t>ステージでデータ・メモリの読みと書きが同時にできない</a:t>
            </a:r>
            <a:endParaRPr lang="en-US" altLang="ja-JP" dirty="0"/>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9"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27" name="直線矢印コネクタ 26"/>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8256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b="1" dirty="0">
                <a:solidFill>
                  <a:schemeClr val="accent5"/>
                </a:solidFill>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8256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8796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58" name="グループ化 57"/>
          <p:cNvGrpSpPr/>
          <p:nvPr/>
        </p:nvGrpSpPr>
        <p:grpSpPr>
          <a:xfrm>
            <a:off x="4025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63" name="正方形/長方形 62"/>
          <p:cNvSpPr/>
          <p:nvPr/>
        </p:nvSpPr>
        <p:spPr bwMode="auto">
          <a:xfrm>
            <a:off x="6186001"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7626017"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7"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7896021" y="2348988"/>
            <a:ext cx="2070023"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err="1"/>
              <a:t>mov</a:t>
            </a:r>
            <a:r>
              <a:rPr lang="en-US" altLang="ja-JP" b="1" dirty="0"/>
              <a:t> [rs1]</a:t>
            </a:r>
            <a:r>
              <a:rPr lang="ja-JP" altLang="en-US" b="1" dirty="0"/>
              <a:t>→</a:t>
            </a:r>
            <a:r>
              <a:rPr lang="en-US" altLang="ja-JP" b="1" dirty="0"/>
              <a:t>[rs2] </a:t>
            </a:r>
            <a:endParaRPr lang="ja-JP" altLang="en-US" b="1" dirty="0">
              <a:latin typeface="Arial Narrow" panose="020B0606020202030204" pitchFamily="34" charset="0"/>
            </a:endParaRPr>
          </a:p>
        </p:txBody>
      </p:sp>
    </p:spTree>
    <p:extLst>
      <p:ext uri="{BB962C8B-B14F-4D97-AF65-F5344CB8AC3E}">
        <p14:creationId xmlns:p14="http://schemas.microsoft.com/office/powerpoint/2010/main" val="20257071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構造ハザードの例２：</a:t>
            </a:r>
            <a:r>
              <a:rPr kumimoji="1" lang="en-US" altLang="ja-JP" dirty="0"/>
              <a:t>push/pop</a:t>
            </a:r>
            <a:endParaRPr kumimoji="1" lang="ja-JP" altLang="en-US" dirty="0"/>
          </a:p>
        </p:txBody>
      </p:sp>
      <p:sp>
        <p:nvSpPr>
          <p:cNvPr id="3" name="テキスト プレースホルダー 2"/>
          <p:cNvSpPr>
            <a:spLocks noGrp="1"/>
          </p:cNvSpPr>
          <p:nvPr>
            <p:ph type="body" sz="quarter" idx="10"/>
          </p:nvPr>
        </p:nvSpPr>
        <p:spPr>
          <a:xfrm>
            <a:off x="2135956" y="908972"/>
            <a:ext cx="8280092" cy="3240036"/>
          </a:xfrm>
        </p:spPr>
        <p:txBody>
          <a:bodyPr/>
          <a:lstStyle/>
          <a:p>
            <a:r>
              <a:rPr kumimoji="1" lang="en-US" altLang="ja-JP" dirty="0"/>
              <a:t>x86 </a:t>
            </a:r>
            <a:r>
              <a:rPr kumimoji="1" lang="ja-JP" altLang="en-US" dirty="0"/>
              <a:t>や </a:t>
            </a:r>
            <a:r>
              <a:rPr kumimoji="1" lang="en-US" altLang="ja-JP" dirty="0"/>
              <a:t>ARM </a:t>
            </a:r>
            <a:r>
              <a:rPr kumimoji="1" lang="ja-JP" altLang="en-US" dirty="0"/>
              <a:t>では</a:t>
            </a:r>
            <a:r>
              <a:rPr lang="ja-JP" altLang="en-US" dirty="0"/>
              <a:t>スタック操作のための </a:t>
            </a:r>
            <a:r>
              <a:rPr lang="en-US" altLang="ja-JP" dirty="0"/>
              <a:t>push/pop </a:t>
            </a:r>
            <a:r>
              <a:rPr lang="ja-JP" altLang="en-US" dirty="0"/>
              <a:t>命令がある</a:t>
            </a:r>
            <a:endParaRPr lang="en-US" altLang="ja-JP" dirty="0"/>
          </a:p>
          <a:p>
            <a:pPr lvl="1"/>
            <a:r>
              <a:rPr lang="en-US" altLang="ja-JP" dirty="0"/>
              <a:t>push</a:t>
            </a:r>
            <a:r>
              <a:rPr lang="ja-JP" altLang="en-US" dirty="0"/>
              <a:t>：</a:t>
            </a:r>
            <a:r>
              <a:rPr lang="en-US" altLang="ja-JP" dirty="0"/>
              <a:t>rs1-1</a:t>
            </a:r>
            <a:r>
              <a:rPr lang="ja-JP" altLang="en-US" dirty="0"/>
              <a:t>→</a:t>
            </a:r>
            <a:r>
              <a:rPr lang="en-US" altLang="ja-JP" dirty="0" err="1">
                <a:solidFill>
                  <a:schemeClr val="accent5"/>
                </a:solidFill>
              </a:rPr>
              <a:t>rd</a:t>
            </a:r>
            <a:r>
              <a:rPr lang="en-US" altLang="ja-JP" dirty="0"/>
              <a:t>,    r2</a:t>
            </a:r>
            <a:r>
              <a:rPr lang="ja-JP" altLang="en-US" dirty="0"/>
              <a:t>→</a:t>
            </a:r>
            <a:r>
              <a:rPr lang="en-US" altLang="ja-JP" dirty="0"/>
              <a:t>[</a:t>
            </a:r>
            <a:r>
              <a:rPr lang="en-US" altLang="ja-JP" dirty="0" err="1">
                <a:solidFill>
                  <a:schemeClr val="accent5"/>
                </a:solidFill>
              </a:rPr>
              <a:t>rd</a:t>
            </a:r>
            <a:r>
              <a:rPr lang="en-US" altLang="ja-JP" dirty="0"/>
              <a:t>]</a:t>
            </a:r>
          </a:p>
          <a:p>
            <a:pPr marL="1177200" lvl="2" indent="-457200">
              <a:buFont typeface="+mj-lt"/>
              <a:buAutoNum type="arabicPeriod"/>
            </a:pPr>
            <a:r>
              <a:rPr lang="ja-JP" altLang="en-US" dirty="0"/>
              <a:t>スタック・ポインタ（のレジスタ）をデクリメントし，</a:t>
            </a:r>
            <a:endParaRPr lang="en-US" altLang="ja-JP" dirty="0"/>
          </a:p>
          <a:p>
            <a:pPr marL="1177200" lvl="2" indent="-457200">
              <a:buFont typeface="+mj-lt"/>
              <a:buAutoNum type="arabicPeriod"/>
            </a:pPr>
            <a:r>
              <a:rPr lang="ja-JP" altLang="en-US" dirty="0"/>
              <a:t>それをアドレスにしてメモリに値を書き込む</a:t>
            </a:r>
            <a:endParaRPr lang="en-US" altLang="ja-JP" dirty="0"/>
          </a:p>
          <a:p>
            <a:pPr lvl="1"/>
            <a:r>
              <a:rPr kumimoji="1" lang="en-US" altLang="ja-JP" dirty="0"/>
              <a:t>pop</a:t>
            </a:r>
            <a:r>
              <a:rPr kumimoji="1" lang="ja-JP" altLang="en-US" dirty="0"/>
              <a:t>：</a:t>
            </a:r>
            <a:r>
              <a:rPr lang="en-US" altLang="ja-JP" dirty="0"/>
              <a:t>[rs1]</a:t>
            </a:r>
            <a:r>
              <a:rPr lang="ja-JP" altLang="en-US" dirty="0"/>
              <a:t>→</a:t>
            </a:r>
            <a:r>
              <a:rPr lang="en-US" altLang="ja-JP" dirty="0" err="1">
                <a:solidFill>
                  <a:schemeClr val="accent5"/>
                </a:solidFill>
              </a:rPr>
              <a:t>rd</a:t>
            </a:r>
            <a:r>
              <a:rPr lang="en-US" altLang="ja-JP" dirty="0"/>
              <a:t>, rs1+1</a:t>
            </a:r>
            <a:r>
              <a:rPr lang="ja-JP" altLang="en-US" dirty="0"/>
              <a:t>→</a:t>
            </a:r>
            <a:r>
              <a:rPr lang="en-US" altLang="ja-JP" dirty="0">
                <a:solidFill>
                  <a:schemeClr val="accent6"/>
                </a:solidFill>
              </a:rPr>
              <a:t>rs1</a:t>
            </a:r>
            <a:endParaRPr kumimoji="1" lang="en-US" altLang="ja-JP" dirty="0">
              <a:solidFill>
                <a:schemeClr val="accent6"/>
              </a:solidFill>
            </a:endParaRPr>
          </a:p>
          <a:p>
            <a:pPr marL="1177200" lvl="2" indent="-457200">
              <a:buFont typeface="+mj-lt"/>
              <a:buAutoNum type="arabicPeriod"/>
            </a:pPr>
            <a:r>
              <a:rPr kumimoji="1" lang="ja-JP" altLang="en-US" dirty="0"/>
              <a:t>スタック・ポインタをアドレスにして値を読む</a:t>
            </a:r>
            <a:endParaRPr kumimoji="1" lang="en-US" altLang="ja-JP" dirty="0"/>
          </a:p>
          <a:p>
            <a:pPr marL="1177200" lvl="2" indent="-457200">
              <a:buFont typeface="+mj-lt"/>
              <a:buAutoNum type="arabicPeriod"/>
            </a:pPr>
            <a:r>
              <a:rPr kumimoji="1" lang="ja-JP" altLang="en-US" dirty="0"/>
              <a:t>スタック・ポインタをインクリメント</a:t>
            </a:r>
          </a:p>
        </p:txBody>
      </p:sp>
      <p:sp>
        <p:nvSpPr>
          <p:cNvPr id="4" name="正方形/長方形 3"/>
          <p:cNvSpPr/>
          <p:nvPr/>
        </p:nvSpPr>
        <p:spPr bwMode="auto">
          <a:xfrm>
            <a:off x="4655984" y="4869016"/>
            <a:ext cx="720008" cy="180002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正方形/長方形 4"/>
          <p:cNvSpPr/>
          <p:nvPr/>
        </p:nvSpPr>
        <p:spPr bwMode="auto">
          <a:xfrm>
            <a:off x="4655984" y="486901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6" name="正方形/長方形 5"/>
          <p:cNvSpPr/>
          <p:nvPr/>
        </p:nvSpPr>
        <p:spPr bwMode="auto">
          <a:xfrm>
            <a:off x="4655984" y="5229019"/>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正方形/長方形 6"/>
          <p:cNvSpPr/>
          <p:nvPr/>
        </p:nvSpPr>
        <p:spPr bwMode="auto">
          <a:xfrm>
            <a:off x="4655984" y="5589023"/>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正方形/長方形 7"/>
          <p:cNvSpPr/>
          <p:nvPr/>
        </p:nvSpPr>
        <p:spPr bwMode="auto">
          <a:xfrm>
            <a:off x="4655984" y="5949027"/>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正方形/長方形 8"/>
          <p:cNvSpPr/>
          <p:nvPr/>
        </p:nvSpPr>
        <p:spPr bwMode="auto">
          <a:xfrm>
            <a:off x="4655984" y="6309031"/>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0" name="正方形/長方形 9"/>
          <p:cNvSpPr/>
          <p:nvPr/>
        </p:nvSpPr>
        <p:spPr bwMode="auto">
          <a:xfrm>
            <a:off x="3935976" y="522902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rs1-1 </a:t>
            </a:r>
            <a:r>
              <a:rPr lang="ja-JP" altLang="en-US" sz="1200" dirty="0">
                <a:latin typeface="メイリオ" panose="020B0604030504040204" pitchFamily="50" charset="-128"/>
                <a:ea typeface="メイリオ" panose="020B0604030504040204" pitchFamily="50" charset="-128"/>
              </a:rPr>
              <a:t>→</a:t>
            </a:r>
          </a:p>
        </p:txBody>
      </p:sp>
      <p:cxnSp>
        <p:nvCxnSpPr>
          <p:cNvPr id="12" name="直線矢印コネクタ 11"/>
          <p:cNvCxnSpPr/>
          <p:nvPr/>
        </p:nvCxnSpPr>
        <p:spPr bwMode="auto">
          <a:xfrm>
            <a:off x="5015988" y="4779015"/>
            <a:ext cx="0" cy="540006"/>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13" name="正方形/長方形 12"/>
          <p:cNvSpPr/>
          <p:nvPr/>
        </p:nvSpPr>
        <p:spPr bwMode="auto">
          <a:xfrm>
            <a:off x="6816008" y="4869016"/>
            <a:ext cx="720008" cy="180002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4" name="正方形/長方形 13"/>
          <p:cNvSpPr/>
          <p:nvPr/>
        </p:nvSpPr>
        <p:spPr bwMode="auto">
          <a:xfrm>
            <a:off x="6816008" y="4869016"/>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5" name="正方形/長方形 14"/>
          <p:cNvSpPr/>
          <p:nvPr/>
        </p:nvSpPr>
        <p:spPr bwMode="auto">
          <a:xfrm>
            <a:off x="6816008" y="5229019"/>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6" name="正方形/長方形 15"/>
          <p:cNvSpPr/>
          <p:nvPr/>
        </p:nvSpPr>
        <p:spPr bwMode="auto">
          <a:xfrm>
            <a:off x="6816008" y="5589023"/>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 name="正方形/長方形 16"/>
          <p:cNvSpPr/>
          <p:nvPr/>
        </p:nvSpPr>
        <p:spPr bwMode="auto">
          <a:xfrm>
            <a:off x="6816008" y="5949027"/>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8" name="正方形/長方形 17"/>
          <p:cNvSpPr/>
          <p:nvPr/>
        </p:nvSpPr>
        <p:spPr bwMode="auto">
          <a:xfrm>
            <a:off x="6816008" y="6309031"/>
            <a:ext cx="720008" cy="360004"/>
          </a:xfrm>
          <a:prstGeom prst="rect">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9" name="正方形/長方形 18"/>
          <p:cNvSpPr/>
          <p:nvPr/>
        </p:nvSpPr>
        <p:spPr bwMode="auto">
          <a:xfrm>
            <a:off x="6276002" y="522902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200" dirty="0">
                <a:latin typeface="メイリオ" panose="020B0604030504040204" pitchFamily="50" charset="-128"/>
                <a:ea typeface="メイリオ" panose="020B0604030504040204" pitchFamily="50" charset="-128"/>
              </a:rPr>
              <a:t>rs1 </a:t>
            </a:r>
            <a:r>
              <a:rPr lang="ja-JP" altLang="en-US" sz="1200" dirty="0">
                <a:latin typeface="メイリオ" panose="020B0604030504040204" pitchFamily="50" charset="-128"/>
                <a:ea typeface="メイリオ" panose="020B0604030504040204" pitchFamily="50" charset="-128"/>
              </a:rPr>
              <a:t>→</a:t>
            </a:r>
          </a:p>
        </p:txBody>
      </p:sp>
      <p:cxnSp>
        <p:nvCxnSpPr>
          <p:cNvPr id="20" name="直線矢印コネクタ 19"/>
          <p:cNvCxnSpPr/>
          <p:nvPr/>
        </p:nvCxnSpPr>
        <p:spPr bwMode="auto">
          <a:xfrm flipV="1">
            <a:off x="7176012" y="4779017"/>
            <a:ext cx="0" cy="540005"/>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
        <p:nvSpPr>
          <p:cNvPr id="22" name="円/楕円 21"/>
          <p:cNvSpPr/>
          <p:nvPr/>
        </p:nvSpPr>
        <p:spPr bwMode="auto">
          <a:xfrm>
            <a:off x="4745985" y="4239009"/>
            <a:ext cx="540006" cy="360004"/>
          </a:xfrm>
          <a:prstGeom prst="ellipse">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bg1"/>
                </a:solidFill>
                <a:latin typeface="+mn-ea"/>
              </a:rPr>
              <a:t>値</a:t>
            </a:r>
          </a:p>
        </p:txBody>
      </p:sp>
      <p:sp>
        <p:nvSpPr>
          <p:cNvPr id="24" name="円/楕円 23"/>
          <p:cNvSpPr/>
          <p:nvPr/>
        </p:nvSpPr>
        <p:spPr bwMode="auto">
          <a:xfrm>
            <a:off x="6906009" y="4239009"/>
            <a:ext cx="540006" cy="360004"/>
          </a:xfrm>
          <a:prstGeom prst="ellipse">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bg1"/>
                </a:solidFill>
                <a:latin typeface="+mn-ea"/>
              </a:rPr>
              <a:t>値</a:t>
            </a:r>
          </a:p>
        </p:txBody>
      </p:sp>
      <p:sp>
        <p:nvSpPr>
          <p:cNvPr id="29" name="正方形/長方形 28"/>
          <p:cNvSpPr/>
          <p:nvPr/>
        </p:nvSpPr>
        <p:spPr bwMode="auto">
          <a:xfrm>
            <a:off x="4205979"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600" dirty="0">
                <a:latin typeface="メイリオ" panose="020B0604030504040204" pitchFamily="50" charset="-128"/>
                <a:ea typeface="メイリオ" panose="020B0604030504040204" pitchFamily="50" charset="-128"/>
              </a:rPr>
              <a:t>Push</a:t>
            </a:r>
            <a:endParaRPr lang="ja-JP" altLang="en-US" sz="1600" dirty="0">
              <a:latin typeface="メイリオ" panose="020B0604030504040204" pitchFamily="50" charset="-128"/>
              <a:ea typeface="メイリオ" panose="020B0604030504040204" pitchFamily="50" charset="-128"/>
            </a:endParaRPr>
          </a:p>
        </p:txBody>
      </p:sp>
      <p:sp>
        <p:nvSpPr>
          <p:cNvPr id="30" name="正方形/長方形 29"/>
          <p:cNvSpPr/>
          <p:nvPr/>
        </p:nvSpPr>
        <p:spPr bwMode="auto">
          <a:xfrm>
            <a:off x="6366003"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en-US" altLang="ja-JP" sz="1600" dirty="0">
                <a:latin typeface="メイリオ" panose="020B0604030504040204" pitchFamily="50" charset="-128"/>
                <a:ea typeface="メイリオ" panose="020B0604030504040204" pitchFamily="50" charset="-128"/>
              </a:rPr>
              <a:t>Pop</a:t>
            </a:r>
            <a:endParaRPr lang="ja-JP" altLang="en-US" sz="1600" dirty="0">
              <a:latin typeface="メイリオ" panose="020B0604030504040204" pitchFamily="50" charset="-128"/>
              <a:ea typeface="メイリオ" panose="020B0604030504040204" pitchFamily="50" charset="-128"/>
            </a:endParaRPr>
          </a:p>
        </p:txBody>
      </p:sp>
      <p:cxnSp>
        <p:nvCxnSpPr>
          <p:cNvPr id="35" name="直線矢印コネクタ 34"/>
          <p:cNvCxnSpPr/>
          <p:nvPr/>
        </p:nvCxnSpPr>
        <p:spPr bwMode="auto">
          <a:xfrm flipV="1">
            <a:off x="4295980" y="4959018"/>
            <a:ext cx="0" cy="360005"/>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cxnSp>
        <p:nvCxnSpPr>
          <p:cNvPr id="38" name="直線矢印コネクタ 37"/>
          <p:cNvCxnSpPr/>
          <p:nvPr/>
        </p:nvCxnSpPr>
        <p:spPr bwMode="auto">
          <a:xfrm>
            <a:off x="6456004" y="5499023"/>
            <a:ext cx="0" cy="360002"/>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6180624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pop</a:t>
            </a:r>
            <a:r>
              <a:rPr lang="ja-JP" altLang="en-US" dirty="0"/>
              <a:t>：</a:t>
            </a:r>
            <a:r>
              <a:rPr lang="en-US" altLang="ja-JP" dirty="0"/>
              <a:t>[rs1]→</a:t>
            </a:r>
            <a:r>
              <a:rPr lang="en-US" altLang="ja-JP" dirty="0" err="1"/>
              <a:t>rd</a:t>
            </a:r>
            <a:r>
              <a:rPr lang="en-US" altLang="ja-JP" dirty="0"/>
              <a:t>, rs1+1→rs1</a:t>
            </a:r>
          </a:p>
        </p:txBody>
      </p:sp>
      <p:sp>
        <p:nvSpPr>
          <p:cNvPr id="3" name="テキスト プレースホルダー 2"/>
          <p:cNvSpPr>
            <a:spLocks noGrp="1"/>
          </p:cNvSpPr>
          <p:nvPr>
            <p:ph type="body" sz="quarter" idx="10"/>
          </p:nvPr>
        </p:nvSpPr>
        <p:spPr>
          <a:xfrm>
            <a:off x="1865954" y="5589024"/>
            <a:ext cx="8550095" cy="449698"/>
          </a:xfrm>
        </p:spPr>
        <p:txBody>
          <a:bodyPr/>
          <a:lstStyle/>
          <a:p>
            <a:r>
              <a:rPr kumimoji="1" lang="en-US" altLang="ja-JP" dirty="0"/>
              <a:t>WB </a:t>
            </a:r>
            <a:r>
              <a:rPr kumimoji="1" lang="ja-JP" altLang="en-US" dirty="0"/>
              <a:t>ステージでレジスタに </a:t>
            </a:r>
            <a:r>
              <a:rPr kumimoji="1" lang="en-US" altLang="ja-JP" dirty="0" err="1"/>
              <a:t>rd</a:t>
            </a:r>
            <a:r>
              <a:rPr kumimoji="1" lang="en-US" altLang="ja-JP" dirty="0"/>
              <a:t> </a:t>
            </a:r>
            <a:r>
              <a:rPr kumimoji="1" lang="ja-JP" altLang="en-US" dirty="0"/>
              <a:t>と </a:t>
            </a:r>
            <a:r>
              <a:rPr kumimoji="1" lang="en-US" altLang="ja-JP" dirty="0"/>
              <a:t>rs1 </a:t>
            </a:r>
            <a:r>
              <a:rPr kumimoji="1" lang="ja-JP" altLang="en-US" dirty="0"/>
              <a:t>の</a:t>
            </a:r>
            <a:r>
              <a:rPr kumimoji="1" lang="en-US" altLang="ja-JP" dirty="0"/>
              <a:t>2</a:t>
            </a:r>
            <a:r>
              <a:rPr kumimoji="1" lang="ja-JP" altLang="en-US" dirty="0" err="1"/>
              <a:t>つを</a:t>
            </a:r>
            <a:r>
              <a:rPr kumimoji="1" lang="ja-JP" altLang="en-US" dirty="0"/>
              <a:t>書き込む必要がある</a:t>
            </a:r>
            <a:endParaRPr kumimoji="1" lang="en-US" altLang="ja-JP" dirty="0"/>
          </a:p>
          <a:p>
            <a:pPr lvl="1"/>
            <a:r>
              <a:rPr kumimoji="1" lang="ja-JP" altLang="en-US" dirty="0"/>
              <a:t>レジスタ・ファイルへの書き込みは，同時に２つはできない</a:t>
            </a:r>
            <a:endParaRPr kumimoji="1" lang="en-US" altLang="ja-JP" dirty="0"/>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9"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27" name="直線矢印コネクタ 26"/>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40" name="直線矢印コネクタ 3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50" name="正方形/長方形 49"/>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58" name="グループ化 57"/>
          <p:cNvGrpSpPr/>
          <p:nvPr/>
        </p:nvGrpSpPr>
        <p:grpSpPr>
          <a:xfrm>
            <a:off x="4025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63" name="正方形/長方形 62"/>
          <p:cNvSpPr/>
          <p:nvPr/>
        </p:nvSpPr>
        <p:spPr bwMode="auto">
          <a:xfrm>
            <a:off x="6186001"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7626017"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7"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3755975" y="2168986"/>
            <a:ext cx="3031751"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t>pop</a:t>
            </a:r>
            <a:r>
              <a:rPr lang="ja-JP" altLang="en-US" b="1" dirty="0"/>
              <a:t>：</a:t>
            </a:r>
            <a:r>
              <a:rPr lang="en-US" altLang="ja-JP" b="1" dirty="0"/>
              <a:t>[rs1]→</a:t>
            </a:r>
            <a:r>
              <a:rPr lang="en-US" altLang="ja-JP" b="1" dirty="0" err="1">
                <a:solidFill>
                  <a:schemeClr val="tx2"/>
                </a:solidFill>
              </a:rPr>
              <a:t>rd</a:t>
            </a:r>
            <a:r>
              <a:rPr lang="en-US" altLang="ja-JP" b="1" dirty="0"/>
              <a:t>, rs1+1→</a:t>
            </a:r>
            <a:r>
              <a:rPr lang="en-US" altLang="ja-JP" b="1" dirty="0">
                <a:solidFill>
                  <a:schemeClr val="tx2"/>
                </a:solidFill>
              </a:rPr>
              <a:t>rs1</a:t>
            </a:r>
            <a:endParaRPr lang="ja-JP" altLang="en-US" b="1" dirty="0">
              <a:solidFill>
                <a:schemeClr val="tx2"/>
              </a:solidFill>
              <a:latin typeface="Arial Narrow" panose="020B0606020202030204" pitchFamily="34" charset="0"/>
            </a:endParaRPr>
          </a:p>
        </p:txBody>
      </p:sp>
      <p:sp>
        <p:nvSpPr>
          <p:cNvPr id="65" name="正方形/長方形 64"/>
          <p:cNvSpPr/>
          <p:nvPr/>
        </p:nvSpPr>
        <p:spPr bwMode="auto">
          <a:xfrm>
            <a:off x="4655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66" name="正方形/長方形 65"/>
          <p:cNvSpPr/>
          <p:nvPr/>
        </p:nvSpPr>
        <p:spPr bwMode="auto">
          <a:xfrm>
            <a:off x="4655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67" name="正方形/長方形 66"/>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68" name="正方形/長方形 67"/>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69" name="正方形/長方形 68"/>
          <p:cNvSpPr/>
          <p:nvPr/>
        </p:nvSpPr>
        <p:spPr bwMode="auto">
          <a:xfrm>
            <a:off x="4655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Tree>
    <p:extLst>
      <p:ext uri="{BB962C8B-B14F-4D97-AF65-F5344CB8AC3E}">
        <p14:creationId xmlns:p14="http://schemas.microsoft.com/office/powerpoint/2010/main" val="10320341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構造ハザードの例３</a:t>
            </a:r>
            <a:endParaRPr lang="ja-JP" altLang="en-US" dirty="0"/>
          </a:p>
        </p:txBody>
      </p:sp>
      <p:sp>
        <p:nvSpPr>
          <p:cNvPr id="3" name="テキスト プレースホルダー 2"/>
          <p:cNvSpPr>
            <a:spLocks noGrp="1"/>
          </p:cNvSpPr>
          <p:nvPr>
            <p:ph type="body" sz="quarter" idx="10"/>
          </p:nvPr>
        </p:nvSpPr>
        <p:spPr/>
        <p:txBody>
          <a:bodyPr/>
          <a:lstStyle/>
          <a:p>
            <a:r>
              <a:rPr lang="ja-JP" altLang="en-US" dirty="0"/>
              <a:t>使用資源の異なるステージ間のぶつかりでも起きる</a:t>
            </a:r>
            <a:endParaRPr lang="en-US" altLang="ja-JP" dirty="0"/>
          </a:p>
          <a:p>
            <a:pPr lvl="1"/>
            <a:r>
              <a:rPr lang="ja-JP" altLang="en-US" dirty="0"/>
              <a:t>これまでの例は，同じステージ内で資源が足りない例</a:t>
            </a:r>
            <a:endParaRPr lang="en-US" altLang="ja-JP" dirty="0"/>
          </a:p>
          <a:p>
            <a:r>
              <a:rPr lang="en-US" altLang="ja-JP" b="1" dirty="0" err="1">
                <a:latin typeface="Consolas" panose="020B0609020204030204" pitchFamily="49" charset="0"/>
              </a:rPr>
              <a:t>ld_inc</a:t>
            </a:r>
            <a:r>
              <a:rPr lang="en-US" altLang="ja-JP" b="1" dirty="0">
                <a:latin typeface="Consolas" panose="020B0609020204030204" pitchFamily="49" charset="0"/>
              </a:rPr>
              <a:t> [rs1]+1</a:t>
            </a:r>
            <a:r>
              <a:rPr lang="ja-JP" altLang="en-US" b="1" dirty="0">
                <a:latin typeface="Consolas" panose="020B0609020204030204" pitchFamily="49" charset="0"/>
              </a:rPr>
              <a:t>→</a:t>
            </a:r>
            <a:r>
              <a:rPr lang="en-US" altLang="ja-JP" b="1" dirty="0" err="1">
                <a:latin typeface="Consolas" panose="020B0609020204030204" pitchFamily="49" charset="0"/>
              </a:rPr>
              <a:t>rd</a:t>
            </a:r>
            <a:r>
              <a:rPr lang="en-US" altLang="ja-JP" dirty="0"/>
              <a:t> </a:t>
            </a:r>
            <a:r>
              <a:rPr lang="ja-JP" altLang="en-US" dirty="0" err="1"/>
              <a:t>のような</a:t>
            </a:r>
            <a:r>
              <a:rPr lang="ja-JP" altLang="en-US" dirty="0"/>
              <a:t>命令があったとする</a:t>
            </a:r>
            <a:endParaRPr lang="en-US" altLang="ja-JP" dirty="0"/>
          </a:p>
          <a:p>
            <a:pPr marL="817200" lvl="1" indent="-457200">
              <a:buFont typeface="+mj-lt"/>
              <a:buAutoNum type="arabicPeriod"/>
            </a:pPr>
            <a:r>
              <a:rPr lang="en-US" altLang="ja-JP" dirty="0"/>
              <a:t>rs1 </a:t>
            </a:r>
            <a:r>
              <a:rPr lang="ja-JP" altLang="en-US" dirty="0"/>
              <a:t>の指すアドレスからメモリを読む</a:t>
            </a:r>
            <a:endParaRPr lang="en-US" altLang="ja-JP" dirty="0"/>
          </a:p>
          <a:p>
            <a:pPr marL="817200" lvl="1" indent="-457200">
              <a:buFont typeface="+mj-lt"/>
              <a:buAutoNum type="arabicPeriod"/>
            </a:pPr>
            <a:r>
              <a:rPr lang="ja-JP" altLang="en-US" dirty="0"/>
              <a:t>読んだ値にさらに</a:t>
            </a:r>
            <a:r>
              <a:rPr lang="en-US" altLang="ja-JP" dirty="0"/>
              <a:t>+</a:t>
            </a:r>
            <a:r>
              <a:rPr lang="ja-JP" altLang="en-US" dirty="0"/>
              <a:t>１してから </a:t>
            </a:r>
            <a:r>
              <a:rPr lang="en-US" altLang="ja-JP" dirty="0" err="1"/>
              <a:t>rd</a:t>
            </a:r>
            <a:r>
              <a:rPr lang="en-US" altLang="ja-JP" dirty="0"/>
              <a:t> </a:t>
            </a:r>
            <a:r>
              <a:rPr lang="ja-JP" altLang="en-US" dirty="0"/>
              <a:t>に書く</a:t>
            </a:r>
            <a:endParaRPr lang="en-US" altLang="ja-JP" dirty="0"/>
          </a:p>
          <a:p>
            <a:r>
              <a:rPr lang="ja-JP" altLang="en-US" dirty="0"/>
              <a:t>一見，資源は足りているようだが･･･</a:t>
            </a:r>
            <a:endParaRPr lang="en-US" altLang="ja-JP" dirty="0"/>
          </a:p>
          <a:p>
            <a:pPr lvl="1"/>
            <a:r>
              <a:rPr lang="ja-JP" altLang="en-US" dirty="0"/>
              <a:t>レジスタの読み書きは１つずつしかない</a:t>
            </a:r>
            <a:endParaRPr lang="en-US" altLang="ja-JP" dirty="0"/>
          </a:p>
          <a:p>
            <a:pPr lvl="1"/>
            <a:r>
              <a:rPr lang="ja-JP" altLang="en-US" dirty="0"/>
              <a:t>メモリも１カ所を読むだけ</a:t>
            </a:r>
            <a:endParaRPr lang="en-US" altLang="ja-JP" dirty="0"/>
          </a:p>
          <a:p>
            <a:pPr lvl="1"/>
            <a:r>
              <a:rPr lang="ja-JP" altLang="en-US" dirty="0"/>
              <a:t>加算も１回行うだけ</a:t>
            </a:r>
            <a:endParaRPr lang="en-US" altLang="ja-JP" dirty="0"/>
          </a:p>
        </p:txBody>
      </p:sp>
    </p:spTree>
    <p:extLst>
      <p:ext uri="{BB962C8B-B14F-4D97-AF65-F5344CB8AC3E}">
        <p14:creationId xmlns:p14="http://schemas.microsoft.com/office/powerpoint/2010/main" val="36778896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構造ハザードの例３</a:t>
            </a:r>
            <a:endParaRPr lang="ja-JP" altLang="en-US" dirty="0"/>
          </a:p>
        </p:txBody>
      </p:sp>
      <p:sp>
        <p:nvSpPr>
          <p:cNvPr id="3" name="テキスト プレースホルダー 2"/>
          <p:cNvSpPr>
            <a:spLocks noGrp="1"/>
          </p:cNvSpPr>
          <p:nvPr>
            <p:ph type="body" sz="quarter" idx="10"/>
          </p:nvPr>
        </p:nvSpPr>
        <p:spPr>
          <a:xfrm>
            <a:off x="2135956" y="1088975"/>
            <a:ext cx="8280092" cy="2250025"/>
          </a:xfrm>
        </p:spPr>
        <p:txBody>
          <a:bodyPr/>
          <a:lstStyle/>
          <a:p>
            <a:r>
              <a:rPr lang="en-US" altLang="ja-JP" dirty="0" err="1"/>
              <a:t>ld_inc</a:t>
            </a:r>
            <a:r>
              <a:rPr lang="en-US" altLang="ja-JP" dirty="0"/>
              <a:t> [rs1]+1</a:t>
            </a:r>
            <a:r>
              <a:rPr lang="ja-JP" altLang="en-US" dirty="0"/>
              <a:t>→</a:t>
            </a:r>
            <a:r>
              <a:rPr lang="en-US" altLang="ja-JP" dirty="0" err="1"/>
              <a:t>rd</a:t>
            </a:r>
            <a:r>
              <a:rPr lang="en-US" altLang="ja-JP" dirty="0"/>
              <a:t>  </a:t>
            </a:r>
            <a:r>
              <a:rPr lang="ja-JP" altLang="en-US" dirty="0"/>
              <a:t>と </a:t>
            </a:r>
            <a:r>
              <a:rPr lang="en-US" altLang="ja-JP" dirty="0"/>
              <a:t>add </a:t>
            </a:r>
            <a:r>
              <a:rPr lang="ja-JP" altLang="en-US" dirty="0"/>
              <a:t>が連続した場合：</a:t>
            </a:r>
            <a:endParaRPr lang="en-US" altLang="ja-JP" dirty="0"/>
          </a:p>
          <a:p>
            <a:pPr lvl="1"/>
            <a:r>
              <a:rPr lang="en-US" altLang="ja-JP" dirty="0" err="1"/>
              <a:t>ld_inc</a:t>
            </a:r>
            <a:r>
              <a:rPr lang="en-US" altLang="ja-JP" dirty="0"/>
              <a:t> </a:t>
            </a:r>
            <a:r>
              <a:rPr lang="ja-JP" altLang="en-US" dirty="0"/>
              <a:t>で，</a:t>
            </a:r>
            <a:r>
              <a:rPr lang="en-US" altLang="ja-JP" dirty="0"/>
              <a:t>MEM </a:t>
            </a:r>
            <a:r>
              <a:rPr lang="ja-JP" altLang="en-US" dirty="0"/>
              <a:t>ステージから読んだ値を加算しようとしても，</a:t>
            </a:r>
            <a:endParaRPr lang="en-US" altLang="ja-JP" dirty="0"/>
          </a:p>
          <a:p>
            <a:pPr lvl="1"/>
            <a:r>
              <a:rPr lang="ja-JP" altLang="en-US" dirty="0"/>
              <a:t>そのサイクルは後続の </a:t>
            </a:r>
            <a:r>
              <a:rPr lang="en-US" altLang="ja-JP" dirty="0"/>
              <a:t>add </a:t>
            </a:r>
            <a:r>
              <a:rPr lang="ja-JP" altLang="en-US" dirty="0"/>
              <a:t>が演算器を使っているので使用できない</a:t>
            </a:r>
            <a:endParaRPr lang="en-US" altLang="ja-JP" dirty="0"/>
          </a:p>
        </p:txBody>
      </p:sp>
      <p:cxnSp>
        <p:nvCxnSpPr>
          <p:cNvPr id="4" name="直線コネクタ 3"/>
          <p:cNvCxnSpPr/>
          <p:nvPr/>
        </p:nvCxnSpPr>
        <p:spPr bwMode="auto">
          <a:xfrm>
            <a:off x="4475982" y="4329010"/>
            <a:ext cx="720080" cy="0"/>
          </a:xfrm>
          <a:prstGeom prst="line">
            <a:avLst/>
          </a:prstGeom>
          <a:noFill/>
          <a:ln w="9525" cap="flat" cmpd="sng" algn="ctr">
            <a:solidFill>
              <a:schemeClr val="tx1"/>
            </a:solidFill>
            <a:prstDash val="dash"/>
            <a:round/>
            <a:headEnd type="none" w="med" len="med"/>
            <a:tailEnd type="none" w="med" len="med"/>
          </a:ln>
          <a:effectLst/>
        </p:spPr>
      </p:cxnSp>
      <p:sp>
        <p:nvSpPr>
          <p:cNvPr id="5" name="角丸四角形 4"/>
          <p:cNvSpPr/>
          <p:nvPr/>
        </p:nvSpPr>
        <p:spPr bwMode="auto">
          <a:xfrm>
            <a:off x="3381490" y="4184850"/>
            <a:ext cx="11523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err="1">
                <a:latin typeface="Courier New" panose="02070309020205020404" pitchFamily="49" charset="0"/>
                <a:cs typeface="Courier New" panose="02070309020205020404" pitchFamily="49" charset="0"/>
              </a:rPr>
              <a:t>ld_inc</a:t>
            </a:r>
            <a:endParaRPr lang="ja-JP" altLang="en-US" b="1" dirty="0">
              <a:latin typeface="Courier New" panose="02070309020205020404" pitchFamily="49" charset="0"/>
              <a:cs typeface="Courier New" panose="02070309020205020404" pitchFamily="49" charset="0"/>
            </a:endParaRPr>
          </a:p>
        </p:txBody>
      </p:sp>
      <p:sp>
        <p:nvSpPr>
          <p:cNvPr id="6" name="角丸四角形 5"/>
          <p:cNvSpPr/>
          <p:nvPr/>
        </p:nvSpPr>
        <p:spPr bwMode="auto">
          <a:xfrm>
            <a:off x="3381490" y="4904858"/>
            <a:ext cx="11523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latin typeface="Courier New" panose="02070309020205020404" pitchFamily="49" charset="0"/>
                <a:cs typeface="Courier New" panose="02070309020205020404" pitchFamily="49" charset="0"/>
              </a:rPr>
              <a:t>add</a:t>
            </a:r>
            <a:endParaRPr lang="ja-JP" altLang="en-US" b="1" dirty="0">
              <a:latin typeface="Courier New" panose="02070309020205020404" pitchFamily="49" charset="0"/>
              <a:cs typeface="Courier New" panose="02070309020205020404" pitchFamily="49" charset="0"/>
            </a:endParaRPr>
          </a:p>
        </p:txBody>
      </p:sp>
      <p:cxnSp>
        <p:nvCxnSpPr>
          <p:cNvPr id="7" name="直線コネクタ 6"/>
          <p:cNvCxnSpPr>
            <a:endCxn id="15" idx="1"/>
          </p:cNvCxnSpPr>
          <p:nvPr/>
        </p:nvCxnSpPr>
        <p:spPr bwMode="auto">
          <a:xfrm>
            <a:off x="4551503" y="5084860"/>
            <a:ext cx="1080012" cy="2"/>
          </a:xfrm>
          <a:prstGeom prst="line">
            <a:avLst/>
          </a:prstGeom>
          <a:noFill/>
          <a:ln w="9525" cap="flat" cmpd="sng" algn="ctr">
            <a:solidFill>
              <a:schemeClr val="tx1"/>
            </a:solidFill>
            <a:prstDash val="dash"/>
            <a:round/>
            <a:headEnd type="none" w="med" len="med"/>
            <a:tailEnd type="none" w="med" len="med"/>
          </a:ln>
          <a:effectLst/>
        </p:spPr>
      </p:cxnSp>
      <p:grpSp>
        <p:nvGrpSpPr>
          <p:cNvPr id="8" name="グループ化 7"/>
          <p:cNvGrpSpPr/>
          <p:nvPr/>
        </p:nvGrpSpPr>
        <p:grpSpPr>
          <a:xfrm>
            <a:off x="5181510" y="4184850"/>
            <a:ext cx="2160020" cy="360000"/>
            <a:chOff x="4481999" y="4959017"/>
            <a:chExt cx="2160020" cy="360000"/>
          </a:xfrm>
        </p:grpSpPr>
        <p:sp>
          <p:nvSpPr>
            <p:cNvPr id="9"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1"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2"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3"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grpSp>
        <p:nvGrpSpPr>
          <p:cNvPr id="14" name="グループ化 13"/>
          <p:cNvGrpSpPr/>
          <p:nvPr/>
        </p:nvGrpSpPr>
        <p:grpSpPr>
          <a:xfrm>
            <a:off x="5631515" y="4904862"/>
            <a:ext cx="2160020" cy="360000"/>
            <a:chOff x="4481999" y="4959017"/>
            <a:chExt cx="2160020" cy="360000"/>
          </a:xfrm>
        </p:grpSpPr>
        <p:sp>
          <p:nvSpPr>
            <p:cNvPr id="15" name="Rectangle 69"/>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grpSp>
      <p:sp>
        <p:nvSpPr>
          <p:cNvPr id="20" name="角丸四角形 19"/>
          <p:cNvSpPr/>
          <p:nvPr/>
        </p:nvSpPr>
        <p:spPr bwMode="auto">
          <a:xfrm>
            <a:off x="6486129" y="4004848"/>
            <a:ext cx="450005" cy="1440016"/>
          </a:xfrm>
          <a:prstGeom prst="roundRect">
            <a:avLst/>
          </a:prstGeom>
          <a:no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7255457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err="1"/>
              <a:t>ld_inc</a:t>
            </a:r>
            <a:r>
              <a:rPr lang="en-US" altLang="ja-JP" dirty="0"/>
              <a:t> [rs1]+1</a:t>
            </a:r>
            <a:r>
              <a:rPr lang="ja-JP" altLang="en-US" dirty="0"/>
              <a:t>→</a:t>
            </a:r>
            <a:r>
              <a:rPr lang="en-US" altLang="ja-JP" dirty="0" err="1"/>
              <a:t>rd</a:t>
            </a:r>
            <a:r>
              <a:rPr lang="en-US" altLang="ja-JP" dirty="0"/>
              <a:t>  </a:t>
            </a:r>
            <a:r>
              <a:rPr lang="ja-JP" altLang="en-US" dirty="0"/>
              <a:t>と </a:t>
            </a:r>
            <a:r>
              <a:rPr lang="en-US" altLang="ja-JP" dirty="0"/>
              <a:t>add </a:t>
            </a:r>
            <a:r>
              <a:rPr lang="ja-JP" altLang="en-US" dirty="0"/>
              <a:t>が連続した場合</a:t>
            </a:r>
            <a:endParaRPr kumimoji="1" lang="ja-JP" altLang="en-US" dirty="0"/>
          </a:p>
        </p:txBody>
      </p:sp>
      <p:sp>
        <p:nvSpPr>
          <p:cNvPr id="3" name="テキスト プレースホルダー 2"/>
          <p:cNvSpPr>
            <a:spLocks noGrp="1"/>
          </p:cNvSpPr>
          <p:nvPr>
            <p:ph type="body" sz="quarter" idx="10"/>
          </p:nvPr>
        </p:nvSpPr>
        <p:spPr>
          <a:xfrm>
            <a:off x="2135956" y="5589025"/>
            <a:ext cx="8280092" cy="719701"/>
          </a:xfrm>
        </p:spPr>
        <p:txBody>
          <a:bodyPr/>
          <a:lstStyle/>
          <a:p>
            <a:r>
              <a:rPr lang="en-US" altLang="ja-JP" dirty="0"/>
              <a:t>EX </a:t>
            </a:r>
            <a:r>
              <a:rPr lang="ja-JP" altLang="en-US" dirty="0"/>
              <a:t>ステージ以外では，演算器にはアクセスできない</a:t>
            </a:r>
            <a:endParaRPr lang="en-US" altLang="ja-JP" dirty="0"/>
          </a:p>
          <a:p>
            <a:pPr lvl="1"/>
            <a:r>
              <a:rPr kumimoji="1" lang="ja-JP" altLang="en-US" dirty="0"/>
              <a:t>他の命令が使っている可能性がある</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8" name="直線矢印コネクタ 17"/>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19" name="直線矢印コネクタ 18"/>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0"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2" name="直線矢印コネクタ 21"/>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矢印コネクタ 22"/>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24" name="直線矢印コネクタ 23"/>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25" name="直線矢印コネクタ 24"/>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26" name="正方形/長方形 25"/>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27"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31" name="直線矢印コネクタ 30"/>
          <p:cNvCxnSpPr>
            <a:endCxn id="20"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3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正方形/長方形 33"/>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40" name="グループ化 39"/>
          <p:cNvGrpSpPr/>
          <p:nvPr/>
        </p:nvGrpSpPr>
        <p:grpSpPr>
          <a:xfrm>
            <a:off x="4025977" y="3068996"/>
            <a:ext cx="360004" cy="720008"/>
            <a:chOff x="2411977" y="3068996"/>
            <a:chExt cx="360004" cy="720008"/>
          </a:xfrm>
        </p:grpSpPr>
        <p:sp>
          <p:nvSpPr>
            <p:cNvPr id="41" name="正方形/長方形 40"/>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2" name="二等辺三角形 41"/>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43" name="正方形/長方形 42"/>
          <p:cNvSpPr/>
          <p:nvPr/>
        </p:nvSpPr>
        <p:spPr bwMode="auto">
          <a:xfrm>
            <a:off x="6186001"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4" name="二等辺三角形 43"/>
          <p:cNvSpPr/>
          <p:nvPr/>
        </p:nvSpPr>
        <p:spPr bwMode="auto">
          <a:xfrm>
            <a:off x="627600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p:cNvSpPr/>
          <p:nvPr/>
        </p:nvSpPr>
        <p:spPr bwMode="auto">
          <a:xfrm>
            <a:off x="7626017" y="2438989"/>
            <a:ext cx="360004"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6" name="二等辺三角形 45"/>
          <p:cNvSpPr/>
          <p:nvPr/>
        </p:nvSpPr>
        <p:spPr bwMode="auto">
          <a:xfrm>
            <a:off x="7716017"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7986021" y="2258987"/>
            <a:ext cx="204174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err="1"/>
              <a:t>ld_inc</a:t>
            </a:r>
            <a:r>
              <a:rPr lang="en-US" altLang="ja-JP" dirty="0"/>
              <a:t> [rs1]+1</a:t>
            </a:r>
            <a:r>
              <a:rPr lang="ja-JP" altLang="en-US" dirty="0"/>
              <a:t>→</a:t>
            </a:r>
            <a:r>
              <a:rPr lang="en-US" altLang="ja-JP" dirty="0" err="1"/>
              <a:t>rd</a:t>
            </a:r>
            <a:r>
              <a:rPr lang="en-US" altLang="ja-JP" dirty="0"/>
              <a:t>  </a:t>
            </a:r>
            <a:endParaRPr lang="ja-JP" altLang="en-US" dirty="0">
              <a:latin typeface="Arial Narrow" panose="020B0606020202030204" pitchFamily="34" charset="0"/>
            </a:endParaRPr>
          </a:p>
        </p:txBody>
      </p:sp>
      <p:sp>
        <p:nvSpPr>
          <p:cNvPr id="53" name="角丸四角形 52"/>
          <p:cNvSpPr/>
          <p:nvPr/>
        </p:nvSpPr>
        <p:spPr bwMode="auto">
          <a:xfrm>
            <a:off x="6636006" y="2258987"/>
            <a:ext cx="900010"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t>add</a:t>
            </a:r>
            <a:endParaRPr lang="ja-JP" altLang="en-US" dirty="0">
              <a:latin typeface="Arial Narrow" panose="020B0606020202030204" pitchFamily="34" charset="0"/>
            </a:endParaRPr>
          </a:p>
        </p:txBody>
      </p:sp>
    </p:spTree>
    <p:extLst>
      <p:ext uri="{BB962C8B-B14F-4D97-AF65-F5344CB8AC3E}">
        <p14:creationId xmlns:p14="http://schemas.microsoft.com/office/powerpoint/2010/main" val="575901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構造ハザードの解決方法</a:t>
            </a:r>
          </a:p>
        </p:txBody>
      </p:sp>
      <p:sp>
        <p:nvSpPr>
          <p:cNvPr id="3" name="テキスト プレースホルダー 2"/>
          <p:cNvSpPr>
            <a:spLocks noGrp="1"/>
          </p:cNvSpPr>
          <p:nvPr>
            <p:ph type="body" sz="quarter" idx="10"/>
          </p:nvPr>
        </p:nvSpPr>
        <p:spPr/>
        <p:txBody>
          <a:bodyPr/>
          <a:lstStyle/>
          <a:p>
            <a:r>
              <a:rPr kumimoji="1" lang="ja-JP" altLang="en-US" dirty="0"/>
              <a:t>解決方法</a:t>
            </a:r>
            <a:endParaRPr kumimoji="1" lang="en-US" altLang="ja-JP" dirty="0"/>
          </a:p>
          <a:p>
            <a:pPr marL="817200" lvl="1" indent="-457200">
              <a:buFont typeface="+mj-lt"/>
              <a:buAutoNum type="arabicPeriod"/>
            </a:pPr>
            <a:r>
              <a:rPr kumimoji="1" lang="ja-JP" altLang="en-US" dirty="0"/>
              <a:t>ハードウェアの増強</a:t>
            </a:r>
            <a:endParaRPr kumimoji="1" lang="en-US" altLang="ja-JP" dirty="0"/>
          </a:p>
          <a:p>
            <a:pPr marL="817200" lvl="1" indent="-457200">
              <a:buFont typeface="+mj-lt"/>
              <a:buAutoNum type="arabicPeriod"/>
            </a:pPr>
            <a:r>
              <a:rPr kumimoji="1" lang="ja-JP" altLang="en-US" dirty="0"/>
              <a:t>時分割処理</a:t>
            </a:r>
            <a:endParaRPr kumimoji="1" lang="en-US" altLang="ja-JP" dirty="0"/>
          </a:p>
          <a:p>
            <a:pPr marL="817200" lvl="1" indent="-457200">
              <a:buFont typeface="+mj-lt"/>
              <a:buAutoNum type="arabicPeriod"/>
            </a:pPr>
            <a:r>
              <a:rPr kumimoji="1" lang="ja-JP" altLang="en-US" dirty="0"/>
              <a:t>マイクロ命令への変換</a:t>
            </a:r>
          </a:p>
        </p:txBody>
      </p:sp>
    </p:spTree>
    <p:extLst>
      <p:ext uri="{BB962C8B-B14F-4D97-AF65-F5344CB8AC3E}">
        <p14:creationId xmlns:p14="http://schemas.microsoft.com/office/powerpoint/2010/main" val="3009723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解決方法１：ハードウェアの増強</a:t>
            </a:r>
          </a:p>
        </p:txBody>
      </p:sp>
      <p:sp>
        <p:nvSpPr>
          <p:cNvPr id="3" name="テキスト プレースホルダー 2"/>
          <p:cNvSpPr>
            <a:spLocks noGrp="1"/>
          </p:cNvSpPr>
          <p:nvPr>
            <p:ph type="body" sz="quarter" idx="10"/>
          </p:nvPr>
        </p:nvSpPr>
        <p:spPr/>
        <p:txBody>
          <a:bodyPr/>
          <a:lstStyle/>
          <a:p>
            <a:r>
              <a:rPr kumimoji="1" lang="ja-JP" altLang="en-US" dirty="0"/>
              <a:t>ハードウェアを増強する</a:t>
            </a:r>
            <a:br>
              <a:rPr kumimoji="1" lang="en-US" altLang="ja-JP" dirty="0"/>
            </a:br>
            <a:endParaRPr kumimoji="1" lang="en-US" altLang="ja-JP" dirty="0"/>
          </a:p>
          <a:p>
            <a:pPr lvl="1"/>
            <a:r>
              <a:rPr lang="en-US" altLang="ja-JP" dirty="0" err="1"/>
              <a:t>mov</a:t>
            </a:r>
            <a:r>
              <a:rPr lang="en-US" altLang="ja-JP" dirty="0"/>
              <a:t> [rs1]</a:t>
            </a:r>
            <a:r>
              <a:rPr lang="ja-JP" altLang="en-US" dirty="0"/>
              <a:t>→</a:t>
            </a:r>
            <a:r>
              <a:rPr lang="en-US" altLang="ja-JP" dirty="0"/>
              <a:t>[rs2]</a:t>
            </a:r>
          </a:p>
          <a:p>
            <a:pPr lvl="2"/>
            <a:r>
              <a:rPr lang="ja-JP" altLang="en-US" dirty="0"/>
              <a:t>複数箇所のメモリを同時に読み書きできるように</a:t>
            </a:r>
            <a:endParaRPr lang="en-US" altLang="ja-JP" dirty="0"/>
          </a:p>
          <a:p>
            <a:pPr lvl="2"/>
            <a:endParaRPr lang="en-US" altLang="ja-JP" dirty="0"/>
          </a:p>
          <a:p>
            <a:pPr lvl="1"/>
            <a:r>
              <a:rPr kumimoji="1" lang="en-US" altLang="ja-JP" dirty="0"/>
              <a:t>pop</a:t>
            </a:r>
          </a:p>
          <a:p>
            <a:pPr lvl="2"/>
            <a:r>
              <a:rPr kumimoji="1" lang="ja-JP" altLang="en-US" dirty="0"/>
              <a:t>レジスタに２つ同時に書き込めるように</a:t>
            </a:r>
            <a:endParaRPr kumimoji="1" lang="en-US" altLang="ja-JP" dirty="0"/>
          </a:p>
          <a:p>
            <a:pPr lvl="2"/>
            <a:endParaRPr kumimoji="1" lang="en-US" altLang="ja-JP" dirty="0"/>
          </a:p>
          <a:p>
            <a:pPr lvl="1"/>
            <a:r>
              <a:rPr lang="en-US" altLang="ja-JP" dirty="0" err="1"/>
              <a:t>ld_inc</a:t>
            </a:r>
            <a:r>
              <a:rPr lang="en-US" altLang="ja-JP" dirty="0"/>
              <a:t> [rs1]+1</a:t>
            </a:r>
            <a:r>
              <a:rPr lang="ja-JP" altLang="en-US" dirty="0"/>
              <a:t>→</a:t>
            </a:r>
            <a:r>
              <a:rPr lang="en-US" altLang="ja-JP" dirty="0" err="1"/>
              <a:t>rd</a:t>
            </a:r>
            <a:r>
              <a:rPr lang="en-US" altLang="ja-JP" dirty="0"/>
              <a:t>  </a:t>
            </a:r>
          </a:p>
          <a:p>
            <a:pPr lvl="2"/>
            <a:r>
              <a:rPr lang="en-US" altLang="ja-JP" dirty="0">
                <a:latin typeface="Arial Narrow" panose="020B0606020202030204" pitchFamily="34" charset="0"/>
              </a:rPr>
              <a:t>MEM </a:t>
            </a:r>
            <a:r>
              <a:rPr lang="ja-JP" altLang="en-US" dirty="0">
                <a:latin typeface="Arial Narrow" panose="020B0606020202030204" pitchFamily="34" charset="0"/>
              </a:rPr>
              <a:t>ステージに専用の加算器を追加</a:t>
            </a:r>
            <a:endParaRPr kumimoji="1" lang="ja-JP" altLang="en-US" dirty="0"/>
          </a:p>
        </p:txBody>
      </p:sp>
    </p:spTree>
    <p:extLst>
      <p:ext uri="{BB962C8B-B14F-4D97-AF65-F5344CB8AC3E}">
        <p14:creationId xmlns:p14="http://schemas.microsoft.com/office/powerpoint/2010/main" val="37137808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解決方法１：ハードウェアの増強</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kumimoji="1" lang="ja-JP" altLang="en-US" dirty="0"/>
              <a:t>利点：オーバーヘッドをいとわなければ，基本これで解決</a:t>
            </a:r>
            <a:endParaRPr kumimoji="1" lang="en-US" altLang="ja-JP" dirty="0"/>
          </a:p>
          <a:p>
            <a:r>
              <a:rPr kumimoji="1" lang="ja-JP" altLang="en-US" dirty="0"/>
              <a:t>欠点：回路規模が増える</a:t>
            </a:r>
            <a:br>
              <a:rPr kumimoji="1" lang="en-US" altLang="ja-JP" dirty="0"/>
            </a:br>
            <a:endParaRPr kumimoji="1" lang="en-US" altLang="ja-JP" dirty="0"/>
          </a:p>
          <a:p>
            <a:pPr marL="817200" lvl="1" indent="-457200">
              <a:buFont typeface="+mj-lt"/>
              <a:buAutoNum type="arabicPeriod"/>
            </a:pPr>
            <a:r>
              <a:rPr kumimoji="1" lang="ja-JP" altLang="en-US" dirty="0"/>
              <a:t>機能の増強量に比例した回路が必要</a:t>
            </a:r>
            <a:endParaRPr kumimoji="1" lang="en-US" altLang="ja-JP" dirty="0"/>
          </a:p>
          <a:p>
            <a:pPr lvl="2"/>
            <a:r>
              <a:rPr lang="ja-JP" altLang="en-US" dirty="0"/>
              <a:t>なにも考えないで対応していくと，ものすごい数の回路になる</a:t>
            </a:r>
            <a:endParaRPr kumimoji="1" lang="en-US" altLang="ja-JP" dirty="0"/>
          </a:p>
          <a:p>
            <a:pPr lvl="2"/>
            <a:r>
              <a:rPr kumimoji="1" lang="ja-JP" altLang="en-US" dirty="0"/>
              <a:t>例：</a:t>
            </a:r>
            <a:r>
              <a:rPr kumimoji="1" lang="en-US" altLang="ja-JP" dirty="0"/>
              <a:t>ARM </a:t>
            </a:r>
            <a:r>
              <a:rPr kumimoji="1" lang="ja-JP" altLang="en-US" dirty="0"/>
              <a:t>は全１６レジスタを一気にメモリに書ける命令がある</a:t>
            </a:r>
            <a:endParaRPr kumimoji="1" lang="en-US" altLang="ja-JP" dirty="0"/>
          </a:p>
          <a:p>
            <a:pPr lvl="2"/>
            <a:endParaRPr kumimoji="1" lang="en-US" altLang="ja-JP" dirty="0"/>
          </a:p>
          <a:p>
            <a:pPr marL="817200" lvl="1" indent="-457200">
              <a:buFont typeface="+mj-lt"/>
              <a:buAutoNum type="arabicPeriod"/>
            </a:pPr>
            <a:r>
              <a:rPr kumimoji="1" lang="ja-JP" altLang="en-US" dirty="0"/>
              <a:t>機能の増強量に対して，線形より大きなオーダーで回路規模が</a:t>
            </a:r>
            <a:br>
              <a:rPr kumimoji="1" lang="en-US" altLang="ja-JP" dirty="0"/>
            </a:br>
            <a:r>
              <a:rPr kumimoji="1" lang="ja-JP" altLang="en-US" dirty="0"/>
              <a:t>増える場合もある</a:t>
            </a:r>
            <a:endParaRPr kumimoji="1" lang="en-US" altLang="ja-JP" dirty="0"/>
          </a:p>
          <a:p>
            <a:pPr lvl="2"/>
            <a:r>
              <a:rPr lang="ja-JP" altLang="en-US" dirty="0"/>
              <a:t>加算器などなら，増やした数の分だけ線形に回路が増える</a:t>
            </a:r>
          </a:p>
          <a:p>
            <a:pPr lvl="2"/>
            <a:r>
              <a:rPr kumimoji="1" lang="ja-JP" altLang="en-US" dirty="0">
                <a:solidFill>
                  <a:schemeClr val="accent5"/>
                </a:solidFill>
              </a:rPr>
              <a:t>メモリやレジスタは，同時に読み書きできる数の２乗で回路が大きくなる（今後の講義で説明）</a:t>
            </a:r>
            <a:endParaRPr kumimoji="1" lang="en-US" altLang="ja-JP" dirty="0">
              <a:solidFill>
                <a:schemeClr val="accent5"/>
              </a:solidFill>
            </a:endParaRPr>
          </a:p>
        </p:txBody>
      </p:sp>
    </p:spTree>
    <p:extLst>
      <p:ext uri="{BB962C8B-B14F-4D97-AF65-F5344CB8AC3E}">
        <p14:creationId xmlns:p14="http://schemas.microsoft.com/office/powerpoint/2010/main" val="27098977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3638B5-2EAF-C4EE-B33F-2159DBAD8012}"/>
              </a:ext>
            </a:extLst>
          </p:cNvPr>
          <p:cNvSpPr>
            <a:spLocks noGrp="1"/>
          </p:cNvSpPr>
          <p:nvPr>
            <p:ph type="title"/>
          </p:nvPr>
        </p:nvSpPr>
        <p:spPr/>
        <p:txBody>
          <a:bodyPr/>
          <a:lstStyle/>
          <a:p>
            <a:r>
              <a:rPr lang="en-US" altLang="ja-JP" sz="2000" dirty="0"/>
              <a:t>ARM</a:t>
            </a:r>
            <a:r>
              <a:rPr lang="ja-JP" altLang="en-US" sz="2000" dirty="0"/>
              <a:t>（</a:t>
            </a:r>
            <a:r>
              <a:rPr lang="en-US" altLang="ja-JP" sz="2000" dirty="0"/>
              <a:t>32</a:t>
            </a:r>
            <a:r>
              <a:rPr lang="ja-JP" altLang="en-US" sz="2000" dirty="0"/>
              <a:t>ビット）の </a:t>
            </a:r>
            <a:r>
              <a:rPr lang="en-US" altLang="ja-JP" sz="2000" dirty="0"/>
              <a:t>Load/Store Multiple (LDM/STM) </a:t>
            </a:r>
            <a:r>
              <a:rPr lang="ja-JP" altLang="en-US" sz="2000" dirty="0"/>
              <a:t>命令</a:t>
            </a:r>
            <a:br>
              <a:rPr lang="en-US" altLang="ja-JP" sz="2000" dirty="0"/>
            </a:br>
            <a:r>
              <a:rPr lang="ja-JP" altLang="en-US" sz="1600" dirty="0"/>
              <a:t>ビットマスクで指定した最大</a:t>
            </a:r>
            <a:r>
              <a:rPr lang="en-US" altLang="ja-JP" sz="1600" dirty="0"/>
              <a:t>16</a:t>
            </a:r>
            <a:r>
              <a:rPr lang="ja-JP" altLang="en-US" sz="1600" dirty="0"/>
              <a:t>個のレジスタへのロードストアを行う</a:t>
            </a:r>
            <a:br>
              <a:rPr lang="en-US" altLang="ja-JP" sz="1600" dirty="0"/>
            </a:br>
            <a:r>
              <a:rPr lang="ja-JP" altLang="en-US" sz="1600" dirty="0"/>
              <a:t>関数呼び出し</a:t>
            </a:r>
            <a:r>
              <a:rPr lang="en-US" altLang="ja-JP" sz="1600" dirty="0"/>
              <a:t>/</a:t>
            </a:r>
            <a:r>
              <a:rPr lang="ja-JP" altLang="en-US" sz="1600" dirty="0"/>
              <a:t>復帰の際の，レジスタの保存や復帰でよく使われる</a:t>
            </a:r>
            <a:endParaRPr lang="ja-JP" altLang="en-US" sz="2000" dirty="0"/>
          </a:p>
        </p:txBody>
      </p:sp>
      <p:sp>
        <p:nvSpPr>
          <p:cNvPr id="3" name="テキスト プレースホルダー 2">
            <a:extLst>
              <a:ext uri="{FF2B5EF4-FFF2-40B4-BE49-F238E27FC236}">
                <a16:creationId xmlns:a16="http://schemas.microsoft.com/office/drawing/2014/main" id="{00D2305C-FC9B-70C0-86AC-B74E47954F37}"/>
              </a:ext>
            </a:extLst>
          </p:cNvPr>
          <p:cNvSpPr>
            <a:spLocks noGrp="1"/>
          </p:cNvSpPr>
          <p:nvPr>
            <p:ph type="body" sz="quarter" idx="10"/>
          </p:nvPr>
        </p:nvSpPr>
        <p:spPr>
          <a:xfrm>
            <a:off x="1775952" y="6309033"/>
            <a:ext cx="8640096" cy="359697"/>
          </a:xfrm>
        </p:spPr>
        <p:txBody>
          <a:bodyPr/>
          <a:lstStyle/>
          <a:p>
            <a:r>
              <a:rPr lang="en-US" altLang="ja-JP" dirty="0"/>
              <a:t>ARM Architecture Reference Manual </a:t>
            </a:r>
            <a:r>
              <a:rPr lang="ja-JP" altLang="en-US" dirty="0"/>
              <a:t>より</a:t>
            </a:r>
            <a:endParaRPr lang="en-US" altLang="ja-JP" dirty="0"/>
          </a:p>
        </p:txBody>
      </p:sp>
      <p:pic>
        <p:nvPicPr>
          <p:cNvPr id="4" name="図 3">
            <a:extLst>
              <a:ext uri="{FF2B5EF4-FFF2-40B4-BE49-F238E27FC236}">
                <a16:creationId xmlns:a16="http://schemas.microsoft.com/office/drawing/2014/main" id="{293E8730-3C6F-5BDF-D31F-BB2EB6805DEC}"/>
              </a:ext>
            </a:extLst>
          </p:cNvPr>
          <p:cNvPicPr>
            <a:picLocks noChangeAspect="1"/>
          </p:cNvPicPr>
          <p:nvPr/>
        </p:nvPicPr>
        <p:blipFill>
          <a:blip r:embed="rId2"/>
          <a:stretch>
            <a:fillRect/>
          </a:stretch>
        </p:blipFill>
        <p:spPr>
          <a:xfrm>
            <a:off x="3665973" y="998973"/>
            <a:ext cx="5058990" cy="5220058"/>
          </a:xfrm>
          <a:prstGeom prst="rect">
            <a:avLst/>
          </a:prstGeom>
        </p:spPr>
      </p:pic>
    </p:spTree>
    <p:extLst>
      <p:ext uri="{BB962C8B-B14F-4D97-AF65-F5344CB8AC3E}">
        <p14:creationId xmlns:p14="http://schemas.microsoft.com/office/powerpoint/2010/main" val="28722269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構造ハザードの解決方法</a:t>
            </a:r>
          </a:p>
        </p:txBody>
      </p:sp>
      <p:sp>
        <p:nvSpPr>
          <p:cNvPr id="3" name="テキスト プレースホルダー 2"/>
          <p:cNvSpPr>
            <a:spLocks noGrp="1"/>
          </p:cNvSpPr>
          <p:nvPr>
            <p:ph type="body" sz="quarter" idx="10"/>
          </p:nvPr>
        </p:nvSpPr>
        <p:spPr/>
        <p:txBody>
          <a:bodyPr/>
          <a:lstStyle/>
          <a:p>
            <a:r>
              <a:rPr kumimoji="1" lang="ja-JP" altLang="en-US" dirty="0"/>
              <a:t>解決方法</a:t>
            </a:r>
            <a:endParaRPr kumimoji="1" lang="en-US" altLang="ja-JP" dirty="0"/>
          </a:p>
          <a:p>
            <a:pPr marL="817200" lvl="1" indent="-457200">
              <a:buFont typeface="+mj-lt"/>
              <a:buAutoNum type="arabicPeriod"/>
            </a:pPr>
            <a:r>
              <a:rPr kumimoji="1" lang="ja-JP" altLang="en-US" dirty="0"/>
              <a:t>ハードウェアの増強</a:t>
            </a:r>
            <a:endParaRPr kumimoji="1" lang="en-US" altLang="ja-JP" dirty="0"/>
          </a:p>
          <a:p>
            <a:pPr marL="817200" lvl="1" indent="-457200">
              <a:buFont typeface="+mj-lt"/>
              <a:buAutoNum type="arabicPeriod"/>
            </a:pPr>
            <a:r>
              <a:rPr kumimoji="1" lang="ja-JP" altLang="en-US" b="1" dirty="0"/>
              <a:t>時分割処理</a:t>
            </a:r>
            <a:endParaRPr kumimoji="1" lang="en-US" altLang="ja-JP" b="1" dirty="0"/>
          </a:p>
          <a:p>
            <a:pPr marL="817200" lvl="1" indent="-457200">
              <a:buFont typeface="+mj-lt"/>
              <a:buAutoNum type="arabicPeriod"/>
            </a:pPr>
            <a:r>
              <a:rPr kumimoji="1" lang="ja-JP" altLang="en-US" dirty="0"/>
              <a:t>マイクロ命令への変換</a:t>
            </a:r>
          </a:p>
        </p:txBody>
      </p:sp>
    </p:spTree>
    <p:extLst>
      <p:ext uri="{BB962C8B-B14F-4D97-AF65-F5344CB8AC3E}">
        <p14:creationId xmlns:p14="http://schemas.microsoft.com/office/powerpoint/2010/main" val="37903537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解決方法２：時分割で処理</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構造ハザードの原因：</a:t>
            </a:r>
            <a:endParaRPr kumimoji="1" lang="en-US" altLang="ja-JP" dirty="0"/>
          </a:p>
          <a:p>
            <a:pPr lvl="1"/>
            <a:r>
              <a:rPr kumimoji="1" lang="ja-JP" altLang="en-US" dirty="0"/>
              <a:t>ハードウェア（の機能）が足りない</a:t>
            </a:r>
            <a:endParaRPr kumimoji="1" lang="en-US" altLang="ja-JP" dirty="0"/>
          </a:p>
          <a:p>
            <a:r>
              <a:rPr kumimoji="1" lang="ja-JP" altLang="en-US" dirty="0">
                <a:solidFill>
                  <a:schemeClr val="accent5"/>
                </a:solidFill>
              </a:rPr>
              <a:t>パイプラインを止めて</a:t>
            </a:r>
            <a:r>
              <a:rPr kumimoji="1" lang="ja-JP" altLang="en-US" dirty="0"/>
              <a:t>，複数のサイクルをかけて処理する</a:t>
            </a:r>
            <a:endParaRPr kumimoji="1" lang="en-US" altLang="ja-JP" dirty="0"/>
          </a:p>
          <a:p>
            <a:pPr lvl="1"/>
            <a:r>
              <a:rPr lang="en-US" altLang="ja-JP" dirty="0" err="1"/>
              <a:t>mov</a:t>
            </a:r>
            <a:r>
              <a:rPr lang="en-US" altLang="ja-JP" dirty="0"/>
              <a:t> [rs1]</a:t>
            </a:r>
            <a:r>
              <a:rPr lang="ja-JP" altLang="en-US" dirty="0"/>
              <a:t>→</a:t>
            </a:r>
            <a:r>
              <a:rPr lang="en-US" altLang="ja-JP" dirty="0"/>
              <a:t>[rs2]</a:t>
            </a:r>
          </a:p>
          <a:p>
            <a:pPr lvl="2"/>
            <a:r>
              <a:rPr lang="ja-JP" altLang="en-US" dirty="0"/>
              <a:t>メモリを読んだあと，次のサイクルで書きこむ</a:t>
            </a:r>
            <a:endParaRPr lang="en-US" altLang="ja-JP" dirty="0"/>
          </a:p>
          <a:p>
            <a:pPr lvl="2"/>
            <a:endParaRPr lang="en-US" altLang="ja-JP" dirty="0"/>
          </a:p>
          <a:p>
            <a:pPr lvl="1"/>
            <a:r>
              <a:rPr lang="en-US" altLang="ja-JP" dirty="0"/>
              <a:t>pop</a:t>
            </a:r>
          </a:p>
          <a:p>
            <a:pPr lvl="2"/>
            <a:r>
              <a:rPr lang="ja-JP" altLang="en-US" dirty="0"/>
              <a:t>１つレジスタに書いたあと，次のサイクルで書き込む</a:t>
            </a:r>
            <a:endParaRPr lang="en-US" altLang="ja-JP" dirty="0"/>
          </a:p>
          <a:p>
            <a:pPr lvl="2"/>
            <a:endParaRPr lang="en-US" altLang="ja-JP" dirty="0"/>
          </a:p>
          <a:p>
            <a:pPr lvl="1"/>
            <a:r>
              <a:rPr lang="en-US" altLang="ja-JP" dirty="0" err="1"/>
              <a:t>ld_inc</a:t>
            </a:r>
            <a:r>
              <a:rPr lang="en-US" altLang="ja-JP" dirty="0"/>
              <a:t> [rs1]+1</a:t>
            </a:r>
            <a:r>
              <a:rPr lang="ja-JP" altLang="en-US" dirty="0"/>
              <a:t>→</a:t>
            </a:r>
            <a:r>
              <a:rPr lang="en-US" altLang="ja-JP" dirty="0" err="1"/>
              <a:t>rd</a:t>
            </a:r>
            <a:r>
              <a:rPr lang="en-US" altLang="ja-JP" dirty="0"/>
              <a:t>  </a:t>
            </a:r>
          </a:p>
          <a:p>
            <a:pPr lvl="2"/>
            <a:r>
              <a:rPr kumimoji="1" lang="en-US" altLang="ja-JP" dirty="0" err="1"/>
              <a:t>ld_inc</a:t>
            </a:r>
            <a:r>
              <a:rPr kumimoji="1" lang="en-US" altLang="ja-JP" dirty="0"/>
              <a:t> </a:t>
            </a:r>
            <a:r>
              <a:rPr kumimoji="1" lang="ja-JP" altLang="en-US" dirty="0"/>
              <a:t>が </a:t>
            </a:r>
            <a:r>
              <a:rPr kumimoji="1" lang="en-US" altLang="ja-JP" dirty="0"/>
              <a:t>MEM </a:t>
            </a:r>
            <a:r>
              <a:rPr kumimoji="1" lang="ja-JP" altLang="en-US" dirty="0"/>
              <a:t>で値を読んだら，次のサイクルで </a:t>
            </a:r>
            <a:r>
              <a:rPr kumimoji="1" lang="en-US" altLang="ja-JP" dirty="0"/>
              <a:t>+1</a:t>
            </a:r>
            <a:endParaRPr kumimoji="1" lang="ja-JP" altLang="en-US" dirty="0"/>
          </a:p>
        </p:txBody>
      </p:sp>
    </p:spTree>
    <p:extLst>
      <p:ext uri="{BB962C8B-B14F-4D97-AF65-F5344CB8AC3E}">
        <p14:creationId xmlns:p14="http://schemas.microsoft.com/office/powerpoint/2010/main" val="3683607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なぜパイプラインを止めるのか</a:t>
            </a:r>
          </a:p>
        </p:txBody>
      </p:sp>
      <p:sp>
        <p:nvSpPr>
          <p:cNvPr id="3" name="テキスト プレースホルダー 2"/>
          <p:cNvSpPr>
            <a:spLocks noGrp="1"/>
          </p:cNvSpPr>
          <p:nvPr>
            <p:ph type="body" sz="quarter" idx="10"/>
          </p:nvPr>
        </p:nvSpPr>
        <p:spPr>
          <a:xfrm>
            <a:off x="2135956" y="4869017"/>
            <a:ext cx="8280092" cy="719701"/>
          </a:xfrm>
        </p:spPr>
        <p:txBody>
          <a:bodyPr/>
          <a:lstStyle/>
          <a:p>
            <a:r>
              <a:rPr lang="ja-JP" altLang="en-US" dirty="0"/>
              <a:t>上流を止めないと破綻する</a:t>
            </a:r>
            <a:endParaRPr lang="en-US" altLang="ja-JP" dirty="0"/>
          </a:p>
          <a:p>
            <a:pPr lvl="1"/>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が複数サイクルをかけて仕事をしている場合，</a:t>
            </a:r>
            <a:br>
              <a:rPr lang="en-US" altLang="ja-JP" dirty="0"/>
            </a:br>
            <a:r>
              <a:rPr lang="ja-JP" altLang="en-US" dirty="0"/>
              <a:t>命令はそこにとどまり続ける</a:t>
            </a:r>
            <a:endParaRPr lang="en-US" altLang="ja-JP" dirty="0"/>
          </a:p>
          <a:p>
            <a:pPr lvl="1"/>
            <a:r>
              <a:rPr lang="ja-JP" altLang="en-US" dirty="0"/>
              <a:t>その間は上流をとめないと命令をおく場所がないし，</a:t>
            </a:r>
            <a:br>
              <a:rPr lang="en-US" altLang="ja-JP" dirty="0"/>
            </a:br>
            <a:r>
              <a:rPr lang="ja-JP" altLang="en-US" dirty="0"/>
              <a:t>依存関係がまもられない</a:t>
            </a:r>
            <a:endPar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より</a:t>
            </a:r>
            <a:r>
              <a:rPr kumimoji="1" lang="ja-JP" altLang="en-US" dirty="0"/>
              <a:t>下流は流れていっても，この場合は問題ない</a:t>
            </a:r>
            <a:endParaRPr kumimoji="1" lang="en-US" altLang="ja-JP" dirty="0"/>
          </a:p>
        </p:txBody>
      </p:sp>
      <p:grpSp>
        <p:nvGrpSpPr>
          <p:cNvPr id="4" name="グループ化 3"/>
          <p:cNvGrpSpPr/>
          <p:nvPr/>
        </p:nvGrpSpPr>
        <p:grpSpPr>
          <a:xfrm>
            <a:off x="3125967" y="2618991"/>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566127" y="2618991"/>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6006287" y="2618991"/>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446447" y="2618991"/>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3087807" y="175444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527967" y="1754448"/>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970014" y="1773032"/>
            <a:ext cx="865983" cy="738664"/>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ﾀｲﾍﾝﾈ</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410174" y="1773032"/>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ｺﾜｲﾅｧ</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20" name="直線矢印コネクタ 19"/>
          <p:cNvCxnSpPr/>
          <p:nvPr/>
        </p:nvCxnSpPr>
        <p:spPr bwMode="auto">
          <a:xfrm>
            <a:off x="3125967" y="3429000"/>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1" name="角丸四角形 20"/>
          <p:cNvSpPr/>
          <p:nvPr/>
        </p:nvSpPr>
        <p:spPr bwMode="auto">
          <a:xfrm>
            <a:off x="4925987" y="252899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sp>
        <p:nvSpPr>
          <p:cNvPr id="22" name="角丸四角形 21"/>
          <p:cNvSpPr/>
          <p:nvPr/>
        </p:nvSpPr>
        <p:spPr bwMode="auto">
          <a:xfrm>
            <a:off x="3575972" y="252899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grpSp>
        <p:nvGrpSpPr>
          <p:cNvPr id="27" name="グループ化 26"/>
          <p:cNvGrpSpPr/>
          <p:nvPr/>
        </p:nvGrpSpPr>
        <p:grpSpPr>
          <a:xfrm>
            <a:off x="6456004" y="2528990"/>
            <a:ext cx="2160024" cy="360004"/>
            <a:chOff x="4932004" y="3068996"/>
            <a:chExt cx="2160024" cy="360004"/>
          </a:xfrm>
        </p:grpSpPr>
        <p:sp>
          <p:nvSpPr>
            <p:cNvPr id="23" name="角丸四角形 22"/>
            <p:cNvSpPr/>
            <p:nvPr/>
          </p:nvSpPr>
          <p:spPr bwMode="auto">
            <a:xfrm>
              <a:off x="4932004"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sp>
          <p:nvSpPr>
            <p:cNvPr id="24" name="角丸四角形 23"/>
            <p:cNvSpPr/>
            <p:nvPr/>
          </p:nvSpPr>
          <p:spPr bwMode="auto">
            <a:xfrm>
              <a:off x="6372020" y="3068996"/>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a:t>
              </a:r>
            </a:p>
          </p:txBody>
        </p:sp>
      </p:grpSp>
      <p:sp>
        <p:nvSpPr>
          <p:cNvPr id="25" name="角丸四角形吹き出し 24"/>
          <p:cNvSpPr/>
          <p:nvPr/>
        </p:nvSpPr>
        <p:spPr bwMode="auto">
          <a:xfrm>
            <a:off x="3575972" y="1088974"/>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うるせぇ</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命令ぶつけんぞ</a:t>
            </a:r>
          </a:p>
        </p:txBody>
      </p:sp>
      <p:sp>
        <p:nvSpPr>
          <p:cNvPr id="26" name="角丸四角形吹き出し 25"/>
          <p:cNvSpPr/>
          <p:nvPr/>
        </p:nvSpPr>
        <p:spPr bwMode="auto">
          <a:xfrm>
            <a:off x="5195990" y="1088974"/>
            <a:ext cx="1440016"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もうしばらく</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おまちください</a:t>
            </a:r>
          </a:p>
        </p:txBody>
      </p:sp>
      <p:sp>
        <p:nvSpPr>
          <p:cNvPr id="29" name="正方形/長方形 28">
            <a:extLst>
              <a:ext uri="{FF2B5EF4-FFF2-40B4-BE49-F238E27FC236}">
                <a16:creationId xmlns:a16="http://schemas.microsoft.com/office/drawing/2014/main" id="{07F62B24-E63D-E477-40B2-4DBC9DC34AA2}"/>
              </a:ext>
            </a:extLst>
          </p:cNvPr>
          <p:cNvSpPr/>
          <p:nvPr/>
        </p:nvSpPr>
        <p:spPr bwMode="auto">
          <a:xfrm>
            <a:off x="1955954" y="324899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rPr>
              <a:t>上流</a:t>
            </a:r>
          </a:p>
        </p:txBody>
      </p:sp>
      <p:sp>
        <p:nvSpPr>
          <p:cNvPr id="30" name="正方形/長方形 29">
            <a:extLst>
              <a:ext uri="{FF2B5EF4-FFF2-40B4-BE49-F238E27FC236}">
                <a16:creationId xmlns:a16="http://schemas.microsoft.com/office/drawing/2014/main" id="{1CF20944-CBF9-C76B-5DEA-A17F77EF5477}"/>
              </a:ext>
            </a:extLst>
          </p:cNvPr>
          <p:cNvSpPr/>
          <p:nvPr/>
        </p:nvSpPr>
        <p:spPr bwMode="auto">
          <a:xfrm>
            <a:off x="8706029" y="324899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rPr>
              <a:t>下流</a:t>
            </a:r>
          </a:p>
        </p:txBody>
      </p:sp>
    </p:spTree>
    <p:extLst>
      <p:ext uri="{BB962C8B-B14F-4D97-AF65-F5344CB8AC3E}">
        <p14:creationId xmlns:p14="http://schemas.microsoft.com/office/powerpoint/2010/main" val="20748752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4.72222E-6 2.59259E-6 L 0.15746 0.00023 " pathEditMode="relative" rAng="0" ptsTypes="AA">
                                      <p:cBhvr>
                                        <p:cTn id="6" dur="2000" fill="hold"/>
                                        <p:tgtEl>
                                          <p:spTgt spid="27"/>
                                        </p:tgtEl>
                                        <p:attrNameLst>
                                          <p:attrName>ppt_x</p:attrName>
                                          <p:attrName>ppt_y</p:attrName>
                                        </p:attrNameLst>
                                      </p:cBhvr>
                                      <p:rCtr x="786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パイプラインを止めること</a:t>
            </a:r>
          </a:p>
        </p:txBody>
      </p:sp>
      <p:sp>
        <p:nvSpPr>
          <p:cNvPr id="3" name="テキスト プレースホルダー 2"/>
          <p:cNvSpPr>
            <a:spLocks noGrp="1"/>
          </p:cNvSpPr>
          <p:nvPr>
            <p:ph type="body" sz="quarter" idx="10"/>
          </p:nvPr>
        </p:nvSpPr>
        <p:spPr>
          <a:xfrm>
            <a:off x="1775952" y="1088975"/>
            <a:ext cx="8892048" cy="5219751"/>
          </a:xfrm>
        </p:spPr>
        <p:txBody>
          <a:bodyPr/>
          <a:lstStyle/>
          <a:p>
            <a:r>
              <a:rPr kumimoji="1" lang="ja-JP" altLang="en-US" dirty="0"/>
              <a:t>パイプラインを止めるとことを「</a:t>
            </a:r>
            <a:r>
              <a:rPr kumimoji="1" lang="ja-JP" altLang="en-US" dirty="0">
                <a:solidFill>
                  <a:schemeClr val="accent5"/>
                </a:solidFill>
              </a:rPr>
              <a:t>ストール</a:t>
            </a:r>
            <a:r>
              <a:rPr kumimoji="1" lang="ja-JP" altLang="en-US" dirty="0"/>
              <a:t>」や「</a:t>
            </a:r>
            <a:r>
              <a:rPr kumimoji="1" lang="ja-JP" altLang="en-US" dirty="0">
                <a:solidFill>
                  <a:schemeClr val="accent5"/>
                </a:solidFill>
              </a:rPr>
              <a:t>インターロック</a:t>
            </a:r>
            <a:r>
              <a:rPr kumimoji="1" lang="ja-JP" altLang="en-US" dirty="0"/>
              <a:t>」</a:t>
            </a:r>
            <a:br>
              <a:rPr kumimoji="1" lang="en-US" altLang="ja-JP" dirty="0"/>
            </a:br>
            <a:r>
              <a:rPr kumimoji="1" lang="ja-JP" altLang="en-US" dirty="0"/>
              <a:t>という</a:t>
            </a:r>
            <a:endParaRPr kumimoji="1" lang="en-US" altLang="ja-JP" dirty="0"/>
          </a:p>
          <a:p>
            <a:pPr lvl="1"/>
            <a:r>
              <a:rPr kumimoji="1" lang="ja-JP" altLang="en-US" dirty="0"/>
              <a:t>本や人によって，意味や使い方が微妙に統一されていない</a:t>
            </a:r>
            <a:endParaRPr lang="en-US" altLang="ja-JP" dirty="0"/>
          </a:p>
          <a:p>
            <a:pPr lvl="1"/>
            <a:r>
              <a:rPr kumimoji="1" lang="ja-JP" altLang="en-US" dirty="0"/>
              <a:t>この講義では，以降は</a:t>
            </a:r>
            <a:r>
              <a:rPr kumimoji="1" lang="ja-JP" altLang="en-US" dirty="0">
                <a:solidFill>
                  <a:schemeClr val="accent5"/>
                </a:solidFill>
              </a:rPr>
              <a:t>ストールで統一</a:t>
            </a:r>
            <a:endParaRPr kumimoji="1" lang="en-US" altLang="ja-JP" dirty="0">
              <a:solidFill>
                <a:schemeClr val="accent5"/>
              </a:solidFill>
            </a:endParaRPr>
          </a:p>
        </p:txBody>
      </p:sp>
    </p:spTree>
    <p:extLst>
      <p:ext uri="{BB962C8B-B14F-4D97-AF65-F5344CB8AC3E}">
        <p14:creationId xmlns:p14="http://schemas.microsoft.com/office/powerpoint/2010/main" val="3121954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線コネクタ 53"/>
          <p:cNvCxnSpPr/>
          <p:nvPr/>
        </p:nvCxnSpPr>
        <p:spPr bwMode="auto">
          <a:xfrm>
            <a:off x="3215968" y="1718981"/>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28" name="直線コネクタ 27"/>
          <p:cNvCxnSpPr/>
          <p:nvPr/>
        </p:nvCxnSpPr>
        <p:spPr bwMode="auto">
          <a:xfrm>
            <a:off x="3215968" y="1268976"/>
            <a:ext cx="720080" cy="0"/>
          </a:xfrm>
          <a:prstGeom prst="line">
            <a:avLst/>
          </a:prstGeom>
          <a:noFill/>
          <a:ln w="9525" cap="flat" cmpd="sng" algn="ctr">
            <a:solidFill>
              <a:schemeClr val="tx1"/>
            </a:solidFill>
            <a:prstDash val="dash"/>
            <a:round/>
            <a:headEnd type="none" w="med" len="med"/>
            <a:tailEnd type="none" w="med" len="med"/>
          </a:ln>
          <a:effectLst/>
        </p:spPr>
      </p:cxnSp>
      <p:sp>
        <p:nvSpPr>
          <p:cNvPr id="2" name="タイトル 1"/>
          <p:cNvSpPr>
            <a:spLocks noGrp="1"/>
          </p:cNvSpPr>
          <p:nvPr>
            <p:ph type="title"/>
          </p:nvPr>
        </p:nvSpPr>
        <p:spPr/>
        <p:txBody>
          <a:bodyPr/>
          <a:lstStyle/>
          <a:p>
            <a:r>
              <a:rPr kumimoji="1" lang="ja-JP" altLang="en-US" dirty="0"/>
              <a:t>ストールの動作</a:t>
            </a:r>
          </a:p>
        </p:txBody>
      </p:sp>
      <p:sp>
        <p:nvSpPr>
          <p:cNvPr id="3" name="テキスト プレースホルダー 2"/>
          <p:cNvSpPr>
            <a:spLocks noGrp="1"/>
          </p:cNvSpPr>
          <p:nvPr>
            <p:ph type="body" sz="quarter" idx="10"/>
          </p:nvPr>
        </p:nvSpPr>
        <p:spPr>
          <a:xfrm>
            <a:off x="2135956" y="4509013"/>
            <a:ext cx="8280092" cy="1799713"/>
          </a:xfrm>
        </p:spPr>
        <p:txBody>
          <a:bodyPr/>
          <a:lstStyle/>
          <a:p>
            <a:r>
              <a:rPr lang="en-US" altLang="ja-JP" dirty="0"/>
              <a:t>pop</a:t>
            </a:r>
            <a:r>
              <a:rPr lang="ja-JP" altLang="en-US" dirty="0"/>
              <a:t>：１つレジスタに書いたあと，次のサイクルで書き込む</a:t>
            </a:r>
            <a:endParaRPr lang="en-US" altLang="ja-JP" dirty="0"/>
          </a:p>
          <a:p>
            <a:pPr lvl="1"/>
            <a:r>
              <a:rPr lang="en-US" altLang="ja-JP" dirty="0"/>
              <a:t>WB1 </a:t>
            </a:r>
            <a:r>
              <a:rPr lang="ja-JP" altLang="en-US" dirty="0"/>
              <a:t>と </a:t>
            </a:r>
            <a:r>
              <a:rPr lang="en-US" altLang="ja-JP" dirty="0"/>
              <a:t>WB2 </a:t>
            </a:r>
            <a:r>
              <a:rPr lang="ja-JP" altLang="en-US" dirty="0"/>
              <a:t>の２サイクルで書き込む</a:t>
            </a:r>
            <a:endParaRPr lang="en-US" altLang="ja-JP" dirty="0"/>
          </a:p>
          <a:p>
            <a:pPr lvl="1"/>
            <a:r>
              <a:rPr lang="en-US" altLang="ja-JP" dirty="0"/>
              <a:t>WB2 </a:t>
            </a:r>
            <a:r>
              <a:rPr lang="ja-JP" altLang="en-US" dirty="0"/>
              <a:t>の間は上流を全て止める</a:t>
            </a:r>
            <a:endParaRPr lang="en-US" altLang="ja-JP" dirty="0"/>
          </a:p>
          <a:p>
            <a:r>
              <a:rPr kumimoji="1" lang="ja-JP" altLang="en-US" dirty="0"/>
              <a:t>パイプライン・チャート上では上記のようになる</a:t>
            </a:r>
            <a:endParaRPr kumimoji="1" lang="en-US" altLang="ja-JP" dirty="0"/>
          </a:p>
          <a:p>
            <a:pPr lvl="1"/>
            <a:r>
              <a:rPr kumimoji="1" lang="ja-JP" altLang="en-US" dirty="0"/>
              <a:t>止める原因の命令の下が全部右にずれる</a:t>
            </a:r>
            <a:endParaRPr kumimoji="1" lang="en-US" altLang="ja-JP" dirty="0"/>
          </a:p>
          <a:p>
            <a:pPr lvl="1"/>
            <a:r>
              <a:rPr kumimoji="1" lang="ja-JP" altLang="en-US" dirty="0"/>
              <a:t>ずれた部分の空き（</a:t>
            </a:r>
            <a:r>
              <a:rPr kumimoji="1" lang="en-US" altLang="ja-JP" dirty="0"/>
              <a:t>bb</a:t>
            </a:r>
            <a:r>
              <a:rPr kumimoji="1" lang="ja-JP" altLang="en-US" dirty="0"/>
              <a:t>）を「</a:t>
            </a:r>
            <a:r>
              <a:rPr kumimoji="1" lang="ja-JP" altLang="en-US" dirty="0">
                <a:solidFill>
                  <a:schemeClr val="accent5"/>
                </a:solidFill>
              </a:rPr>
              <a:t>バブル</a:t>
            </a:r>
            <a:r>
              <a:rPr kumimoji="1" lang="ja-JP" altLang="en-US" dirty="0"/>
              <a:t>」とよぶ</a:t>
            </a:r>
          </a:p>
        </p:txBody>
      </p:sp>
      <p:sp>
        <p:nvSpPr>
          <p:cNvPr id="11" name="Rectangle 69"/>
          <p:cNvSpPr>
            <a:spLocks noChangeArrowheads="1"/>
          </p:cNvSpPr>
          <p:nvPr/>
        </p:nvSpPr>
        <p:spPr bwMode="auto">
          <a:xfrm>
            <a:off x="375597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420597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465598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510598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5555994" y="108897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WB1</a:t>
            </a:r>
          </a:p>
        </p:txBody>
      </p:sp>
      <p:sp>
        <p:nvSpPr>
          <p:cNvPr id="17" name="Rectangle 69"/>
          <p:cNvSpPr>
            <a:spLocks noChangeArrowheads="1"/>
          </p:cNvSpPr>
          <p:nvPr/>
        </p:nvSpPr>
        <p:spPr bwMode="auto">
          <a:xfrm>
            <a:off x="4205979"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8" name="Rectangle 70"/>
          <p:cNvSpPr>
            <a:spLocks noChangeArrowheads="1"/>
          </p:cNvSpPr>
          <p:nvPr/>
        </p:nvSpPr>
        <p:spPr bwMode="auto">
          <a:xfrm>
            <a:off x="465598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9" name="Rectangle 71"/>
          <p:cNvSpPr>
            <a:spLocks noChangeArrowheads="1"/>
          </p:cNvSpPr>
          <p:nvPr/>
        </p:nvSpPr>
        <p:spPr bwMode="auto">
          <a:xfrm>
            <a:off x="5105989"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0" name="Rectangle 72"/>
          <p:cNvSpPr>
            <a:spLocks noChangeArrowheads="1"/>
          </p:cNvSpPr>
          <p:nvPr/>
        </p:nvSpPr>
        <p:spPr bwMode="auto">
          <a:xfrm>
            <a:off x="555599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1" name="Rectangle 73"/>
          <p:cNvSpPr>
            <a:spLocks noChangeArrowheads="1"/>
          </p:cNvSpPr>
          <p:nvPr/>
        </p:nvSpPr>
        <p:spPr bwMode="auto">
          <a:xfrm>
            <a:off x="645600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3" name="Rectangle 69"/>
          <p:cNvSpPr>
            <a:spLocks noChangeArrowheads="1"/>
          </p:cNvSpPr>
          <p:nvPr/>
        </p:nvSpPr>
        <p:spPr bwMode="auto">
          <a:xfrm>
            <a:off x="465598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5105989"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555599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645600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6906009"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1" name="正方形/長方形 30"/>
          <p:cNvSpPr/>
          <p:nvPr/>
        </p:nvSpPr>
        <p:spPr bwMode="auto">
          <a:xfrm>
            <a:off x="2495960" y="108897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pop</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2" name="Rectangle 73"/>
          <p:cNvSpPr>
            <a:spLocks noChangeArrowheads="1"/>
          </p:cNvSpPr>
          <p:nvPr/>
        </p:nvSpPr>
        <p:spPr bwMode="auto">
          <a:xfrm>
            <a:off x="6005999" y="108897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WB2</a:t>
            </a:r>
          </a:p>
        </p:txBody>
      </p:sp>
      <p:sp>
        <p:nvSpPr>
          <p:cNvPr id="33" name="Rectangle 69"/>
          <p:cNvSpPr>
            <a:spLocks noChangeArrowheads="1"/>
          </p:cNvSpPr>
          <p:nvPr/>
        </p:nvSpPr>
        <p:spPr bwMode="auto">
          <a:xfrm>
            <a:off x="5105989"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4" name="Rectangle 70"/>
          <p:cNvSpPr>
            <a:spLocks noChangeArrowheads="1"/>
          </p:cNvSpPr>
          <p:nvPr/>
        </p:nvSpPr>
        <p:spPr bwMode="auto">
          <a:xfrm>
            <a:off x="555599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5" name="Rectangle 71"/>
          <p:cNvSpPr>
            <a:spLocks noChangeArrowheads="1"/>
          </p:cNvSpPr>
          <p:nvPr/>
        </p:nvSpPr>
        <p:spPr bwMode="auto">
          <a:xfrm>
            <a:off x="645600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6" name="Rectangle 72"/>
          <p:cNvSpPr>
            <a:spLocks noChangeArrowheads="1"/>
          </p:cNvSpPr>
          <p:nvPr/>
        </p:nvSpPr>
        <p:spPr bwMode="auto">
          <a:xfrm>
            <a:off x="6906009"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7" name="Rectangle 73"/>
          <p:cNvSpPr>
            <a:spLocks noChangeArrowheads="1"/>
          </p:cNvSpPr>
          <p:nvPr/>
        </p:nvSpPr>
        <p:spPr bwMode="auto">
          <a:xfrm>
            <a:off x="735601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8" name="Rectangle 69"/>
          <p:cNvSpPr>
            <a:spLocks noChangeArrowheads="1"/>
          </p:cNvSpPr>
          <p:nvPr/>
        </p:nvSpPr>
        <p:spPr bwMode="auto">
          <a:xfrm>
            <a:off x="555599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9" name="Rectangle 70"/>
          <p:cNvSpPr>
            <a:spLocks noChangeArrowheads="1"/>
          </p:cNvSpPr>
          <p:nvPr/>
        </p:nvSpPr>
        <p:spPr bwMode="auto">
          <a:xfrm>
            <a:off x="645600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0" name="Rectangle 71"/>
          <p:cNvSpPr>
            <a:spLocks noChangeArrowheads="1"/>
          </p:cNvSpPr>
          <p:nvPr/>
        </p:nvSpPr>
        <p:spPr bwMode="auto">
          <a:xfrm>
            <a:off x="6906009"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1" name="Rectangle 72"/>
          <p:cNvSpPr>
            <a:spLocks noChangeArrowheads="1"/>
          </p:cNvSpPr>
          <p:nvPr/>
        </p:nvSpPr>
        <p:spPr bwMode="auto">
          <a:xfrm>
            <a:off x="735601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2" name="Rectangle 73"/>
          <p:cNvSpPr>
            <a:spLocks noChangeArrowheads="1"/>
          </p:cNvSpPr>
          <p:nvPr/>
        </p:nvSpPr>
        <p:spPr bwMode="auto">
          <a:xfrm>
            <a:off x="7806019"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3" name="Rectangle 73"/>
          <p:cNvSpPr>
            <a:spLocks noChangeArrowheads="1"/>
          </p:cNvSpPr>
          <p:nvPr/>
        </p:nvSpPr>
        <p:spPr bwMode="auto">
          <a:xfrm>
            <a:off x="6005999" y="153897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4" name="Rectangle 73"/>
          <p:cNvSpPr>
            <a:spLocks noChangeArrowheads="1"/>
          </p:cNvSpPr>
          <p:nvPr/>
        </p:nvSpPr>
        <p:spPr bwMode="auto">
          <a:xfrm>
            <a:off x="6005999" y="198898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5" name="Rectangle 73"/>
          <p:cNvSpPr>
            <a:spLocks noChangeArrowheads="1"/>
          </p:cNvSpPr>
          <p:nvPr/>
        </p:nvSpPr>
        <p:spPr bwMode="auto">
          <a:xfrm>
            <a:off x="6005999" y="243898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6" name="Rectangle 73"/>
          <p:cNvSpPr>
            <a:spLocks noChangeArrowheads="1"/>
          </p:cNvSpPr>
          <p:nvPr/>
        </p:nvSpPr>
        <p:spPr bwMode="auto">
          <a:xfrm>
            <a:off x="6005999" y="288899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7" name="Rectangle 69"/>
          <p:cNvSpPr>
            <a:spLocks noChangeArrowheads="1"/>
          </p:cNvSpPr>
          <p:nvPr/>
        </p:nvSpPr>
        <p:spPr bwMode="auto">
          <a:xfrm>
            <a:off x="6456004"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8" name="Rectangle 70"/>
          <p:cNvSpPr>
            <a:spLocks noChangeArrowheads="1"/>
          </p:cNvSpPr>
          <p:nvPr/>
        </p:nvSpPr>
        <p:spPr bwMode="auto">
          <a:xfrm>
            <a:off x="6906009"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9" name="Rectangle 71"/>
          <p:cNvSpPr>
            <a:spLocks noChangeArrowheads="1"/>
          </p:cNvSpPr>
          <p:nvPr/>
        </p:nvSpPr>
        <p:spPr bwMode="auto">
          <a:xfrm>
            <a:off x="7356014"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0" name="Rectangle 72"/>
          <p:cNvSpPr>
            <a:spLocks noChangeArrowheads="1"/>
          </p:cNvSpPr>
          <p:nvPr/>
        </p:nvSpPr>
        <p:spPr bwMode="auto">
          <a:xfrm>
            <a:off x="7806019"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1" name="Rectangle 73"/>
          <p:cNvSpPr>
            <a:spLocks noChangeArrowheads="1"/>
          </p:cNvSpPr>
          <p:nvPr/>
        </p:nvSpPr>
        <p:spPr bwMode="auto">
          <a:xfrm>
            <a:off x="8256024" y="333899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3" name="角丸四角形 52"/>
          <p:cNvSpPr/>
          <p:nvPr/>
        </p:nvSpPr>
        <p:spPr bwMode="auto">
          <a:xfrm>
            <a:off x="5953169" y="908972"/>
            <a:ext cx="450005" cy="2970033"/>
          </a:xfrm>
          <a:prstGeom prst="roundRect">
            <a:avLst/>
          </a:prstGeom>
          <a:noFill/>
          <a:ln>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56" name="直線コネクタ 55"/>
          <p:cNvCxnSpPr/>
          <p:nvPr/>
        </p:nvCxnSpPr>
        <p:spPr bwMode="auto">
          <a:xfrm>
            <a:off x="3215968" y="2168986"/>
            <a:ext cx="1440088" cy="0"/>
          </a:xfrm>
          <a:prstGeom prst="line">
            <a:avLst/>
          </a:prstGeom>
          <a:noFill/>
          <a:ln w="9525" cap="flat" cmpd="sng" algn="ctr">
            <a:solidFill>
              <a:schemeClr val="tx1"/>
            </a:solidFill>
            <a:prstDash val="dash"/>
            <a:round/>
            <a:headEnd type="none" w="med" len="med"/>
            <a:tailEnd type="none" w="med" len="med"/>
          </a:ln>
          <a:effectLst/>
        </p:spPr>
      </p:cxnSp>
      <p:sp>
        <p:nvSpPr>
          <p:cNvPr id="58" name="正方形/長方形 57"/>
          <p:cNvSpPr/>
          <p:nvPr/>
        </p:nvSpPr>
        <p:spPr bwMode="auto">
          <a:xfrm>
            <a:off x="2495960" y="153897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add</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9" name="正方形/長方形 58"/>
          <p:cNvSpPr/>
          <p:nvPr/>
        </p:nvSpPr>
        <p:spPr bwMode="auto">
          <a:xfrm>
            <a:off x="2495960" y="198898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60" name="直線コネクタ 59"/>
          <p:cNvCxnSpPr/>
          <p:nvPr/>
        </p:nvCxnSpPr>
        <p:spPr bwMode="auto">
          <a:xfrm>
            <a:off x="3215969" y="2618991"/>
            <a:ext cx="1890093" cy="0"/>
          </a:xfrm>
          <a:prstGeom prst="line">
            <a:avLst/>
          </a:prstGeom>
          <a:noFill/>
          <a:ln w="9525" cap="flat" cmpd="sng" algn="ctr">
            <a:solidFill>
              <a:schemeClr val="tx1"/>
            </a:solidFill>
            <a:prstDash val="dash"/>
            <a:round/>
            <a:headEnd type="none" w="med" len="med"/>
            <a:tailEnd type="none" w="med" len="med"/>
          </a:ln>
          <a:effectLst/>
        </p:spPr>
      </p:cxnSp>
      <p:sp>
        <p:nvSpPr>
          <p:cNvPr id="62" name="正方形/長方形 61"/>
          <p:cNvSpPr/>
          <p:nvPr/>
        </p:nvSpPr>
        <p:spPr bwMode="auto">
          <a:xfrm>
            <a:off x="2495960" y="243898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63" name="直線コネクタ 62"/>
          <p:cNvCxnSpPr>
            <a:endCxn id="38" idx="1"/>
          </p:cNvCxnSpPr>
          <p:nvPr/>
        </p:nvCxnSpPr>
        <p:spPr bwMode="auto">
          <a:xfrm flipV="1">
            <a:off x="3215968" y="3068994"/>
            <a:ext cx="2340026" cy="2"/>
          </a:xfrm>
          <a:prstGeom prst="line">
            <a:avLst/>
          </a:prstGeom>
          <a:noFill/>
          <a:ln w="9525" cap="flat" cmpd="sng" algn="ctr">
            <a:solidFill>
              <a:schemeClr val="tx1"/>
            </a:solidFill>
            <a:prstDash val="dash"/>
            <a:round/>
            <a:headEnd type="none" w="med" len="med"/>
            <a:tailEnd type="none" w="med" len="med"/>
          </a:ln>
          <a:effectLst/>
        </p:spPr>
      </p:cxnSp>
      <p:sp>
        <p:nvSpPr>
          <p:cNvPr id="64" name="正方形/長方形 63"/>
          <p:cNvSpPr/>
          <p:nvPr/>
        </p:nvSpPr>
        <p:spPr bwMode="auto">
          <a:xfrm>
            <a:off x="2495960" y="288899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65" name="直線コネクタ 64"/>
          <p:cNvCxnSpPr>
            <a:endCxn id="47" idx="1"/>
          </p:cNvCxnSpPr>
          <p:nvPr/>
        </p:nvCxnSpPr>
        <p:spPr bwMode="auto">
          <a:xfrm flipV="1">
            <a:off x="3215968" y="3518999"/>
            <a:ext cx="3240036" cy="2"/>
          </a:xfrm>
          <a:prstGeom prst="line">
            <a:avLst/>
          </a:prstGeom>
          <a:noFill/>
          <a:ln w="9525" cap="flat" cmpd="sng" algn="ctr">
            <a:solidFill>
              <a:schemeClr val="tx1"/>
            </a:solidFill>
            <a:prstDash val="dash"/>
            <a:round/>
            <a:headEnd type="none" w="med" len="med"/>
            <a:tailEnd type="none" w="med" len="med"/>
          </a:ln>
          <a:effectLst/>
        </p:spPr>
      </p:cxnSp>
      <p:sp>
        <p:nvSpPr>
          <p:cNvPr id="66" name="正方形/長方形 65"/>
          <p:cNvSpPr/>
          <p:nvPr/>
        </p:nvSpPr>
        <p:spPr bwMode="auto">
          <a:xfrm>
            <a:off x="2495960" y="333899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52" name="直線矢印コネクタ 51"/>
          <p:cNvCxnSpPr/>
          <p:nvPr/>
        </p:nvCxnSpPr>
        <p:spPr bwMode="auto">
          <a:xfrm>
            <a:off x="6005999" y="3789004"/>
            <a:ext cx="2700030"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55" name="正方形/長方形 54"/>
          <p:cNvSpPr/>
          <p:nvPr/>
        </p:nvSpPr>
        <p:spPr bwMode="auto">
          <a:xfrm>
            <a:off x="8166023" y="2078985"/>
            <a:ext cx="1800020"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add </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以降の全処理が</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バブルで右に１つずれる</a:t>
            </a:r>
            <a:endPar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１サイクル実行が</a:t>
            </a:r>
            <a:b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b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遅くなっている</a:t>
            </a:r>
          </a:p>
        </p:txBody>
      </p:sp>
    </p:spTree>
    <p:extLst>
      <p:ext uri="{BB962C8B-B14F-4D97-AF65-F5344CB8AC3E}">
        <p14:creationId xmlns:p14="http://schemas.microsoft.com/office/powerpoint/2010/main" val="26788138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ストールの実現方法</a:t>
            </a:r>
            <a:endParaRPr kumimoji="1" lang="ja-JP" altLang="en-US" dirty="0"/>
          </a:p>
        </p:txBody>
      </p:sp>
      <p:sp>
        <p:nvSpPr>
          <p:cNvPr id="3" name="テキスト プレースホルダー 2"/>
          <p:cNvSpPr>
            <a:spLocks noGrp="1"/>
          </p:cNvSpPr>
          <p:nvPr>
            <p:ph type="body" sz="quarter" idx="10"/>
          </p:nvPr>
        </p:nvSpPr>
        <p:spPr>
          <a:xfrm>
            <a:off x="2135956" y="4509013"/>
            <a:ext cx="8280092" cy="1799713"/>
          </a:xfrm>
        </p:spPr>
        <p:txBody>
          <a:bodyPr/>
          <a:lstStyle/>
          <a:p>
            <a:r>
              <a:rPr kumimoji="1" lang="ja-JP" altLang="en-US" dirty="0"/>
              <a:t>回路的には，</a:t>
            </a:r>
            <a:r>
              <a:rPr lang="en-US" altLang="ja-JP" dirty="0"/>
              <a:t>Write Enable</a:t>
            </a:r>
            <a:r>
              <a:rPr lang="ja-JP" altLang="en-US" dirty="0"/>
              <a:t>（</a:t>
            </a:r>
            <a:r>
              <a:rPr lang="en-US" altLang="ja-JP" dirty="0"/>
              <a:t>WE</a:t>
            </a:r>
            <a:r>
              <a:rPr lang="ja-JP" altLang="en-US" dirty="0"/>
              <a:t>）つきの </a:t>
            </a:r>
            <a:r>
              <a:rPr lang="en-US" altLang="ja-JP" dirty="0"/>
              <a:t>D-FF </a:t>
            </a:r>
            <a:r>
              <a:rPr lang="ja-JP" altLang="en-US" dirty="0"/>
              <a:t>を使う</a:t>
            </a:r>
            <a:endParaRPr lang="en-US" altLang="ja-JP" dirty="0"/>
          </a:p>
          <a:p>
            <a:pPr lvl="1"/>
            <a:r>
              <a:rPr kumimoji="1" lang="en-US" altLang="ja-JP" dirty="0"/>
              <a:t>WE </a:t>
            </a:r>
            <a:r>
              <a:rPr kumimoji="1" lang="ja-JP" altLang="en-US" dirty="0"/>
              <a:t>が </a:t>
            </a:r>
            <a:r>
              <a:rPr kumimoji="1" lang="en-US" altLang="ja-JP" dirty="0"/>
              <a:t>0 </a:t>
            </a:r>
            <a:r>
              <a:rPr kumimoji="1" lang="ja-JP" altLang="en-US" dirty="0"/>
              <a:t>のサイクルは書き込みが行われない</a:t>
            </a:r>
            <a:endParaRPr kumimoji="1" lang="en-US" altLang="ja-JP" dirty="0"/>
          </a:p>
          <a:p>
            <a:pPr lvl="1"/>
            <a:r>
              <a:rPr kumimoji="1" lang="ja-JP" altLang="en-US" dirty="0"/>
              <a:t>ストールさせたい時は，そのステージの </a:t>
            </a:r>
            <a:r>
              <a:rPr kumimoji="1" lang="en-US" altLang="ja-JP" dirty="0"/>
              <a:t>WE </a:t>
            </a:r>
            <a:r>
              <a:rPr kumimoji="1" lang="ja-JP" altLang="en-US" dirty="0"/>
              <a:t>を </a:t>
            </a:r>
            <a:r>
              <a:rPr kumimoji="1" lang="en-US" altLang="ja-JP" dirty="0"/>
              <a:t>0 </a:t>
            </a:r>
            <a:r>
              <a:rPr kumimoji="1" lang="ja-JP" altLang="en-US" dirty="0"/>
              <a:t>に</a:t>
            </a:r>
          </a:p>
        </p:txBody>
      </p:sp>
      <p:sp>
        <p:nvSpPr>
          <p:cNvPr id="4" name="正方形/長方形 3"/>
          <p:cNvSpPr/>
          <p:nvPr/>
        </p:nvSpPr>
        <p:spPr bwMode="auto">
          <a:xfrm>
            <a:off x="3215968" y="1988984"/>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cxnSp>
        <p:nvCxnSpPr>
          <p:cNvPr id="6" name="直線矢印コネクタ 5"/>
          <p:cNvCxnSpPr/>
          <p:nvPr/>
        </p:nvCxnSpPr>
        <p:spPr bwMode="auto">
          <a:xfrm>
            <a:off x="4655984" y="2708992"/>
            <a:ext cx="360004" cy="0"/>
          </a:xfrm>
          <a:prstGeom prst="straightConnector1">
            <a:avLst/>
          </a:prstGeom>
          <a:noFill/>
          <a:ln w="9525" cap="flat" cmpd="sng" algn="ctr">
            <a:solidFill>
              <a:schemeClr val="tx1"/>
            </a:solidFill>
            <a:prstDash val="solid"/>
            <a:round/>
            <a:headEnd type="none" w="med" len="med"/>
            <a:tailEnd type="triangle"/>
          </a:ln>
          <a:effectLst/>
        </p:spPr>
      </p:cxnSp>
      <p:grpSp>
        <p:nvGrpSpPr>
          <p:cNvPr id="7" name="グループ化 6"/>
          <p:cNvGrpSpPr/>
          <p:nvPr/>
        </p:nvGrpSpPr>
        <p:grpSpPr>
          <a:xfrm>
            <a:off x="5015988" y="2348988"/>
            <a:ext cx="360004" cy="720008"/>
            <a:chOff x="2411977" y="3068996"/>
            <a:chExt cx="360004" cy="720008"/>
          </a:xfrm>
        </p:grpSpPr>
        <p:sp>
          <p:nvSpPr>
            <p:cNvPr id="8" name="正方形/長方形 7"/>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9" name="二等辺三角形 8"/>
            <p:cNvSpPr/>
            <p:nvPr/>
          </p:nvSpPr>
          <p:spPr bwMode="auto">
            <a:xfrm>
              <a:off x="2501977" y="3609002"/>
              <a:ext cx="180002" cy="180002"/>
            </a:xfrm>
            <a:prstGeom prst="triangle">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cxnSp>
        <p:nvCxnSpPr>
          <p:cNvPr id="10" name="直線矢印コネクタ 9"/>
          <p:cNvCxnSpPr/>
          <p:nvPr/>
        </p:nvCxnSpPr>
        <p:spPr bwMode="auto">
          <a:xfrm>
            <a:off x="2855964" y="2708992"/>
            <a:ext cx="360004" cy="0"/>
          </a:xfrm>
          <a:prstGeom prst="straightConnector1">
            <a:avLst/>
          </a:prstGeom>
          <a:noFill/>
          <a:ln w="9525" cap="flat" cmpd="sng" algn="ctr">
            <a:solidFill>
              <a:schemeClr val="tx1"/>
            </a:solidFill>
            <a:prstDash val="solid"/>
            <a:round/>
            <a:headEnd type="none" w="med" len="med"/>
            <a:tailEnd type="triangle"/>
          </a:ln>
          <a:effectLst/>
        </p:spPr>
      </p:cxnSp>
      <p:grpSp>
        <p:nvGrpSpPr>
          <p:cNvPr id="11" name="グループ化 10"/>
          <p:cNvGrpSpPr/>
          <p:nvPr/>
        </p:nvGrpSpPr>
        <p:grpSpPr>
          <a:xfrm>
            <a:off x="7536016" y="2348988"/>
            <a:ext cx="360004" cy="720008"/>
            <a:chOff x="2411977" y="3068996"/>
            <a:chExt cx="360004" cy="720008"/>
          </a:xfrm>
        </p:grpSpPr>
        <p:sp>
          <p:nvSpPr>
            <p:cNvPr id="12" name="正方形/長方形 11"/>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13" name="二等辺三角形 12"/>
            <p:cNvSpPr/>
            <p:nvPr/>
          </p:nvSpPr>
          <p:spPr bwMode="auto">
            <a:xfrm>
              <a:off x="2501977" y="3609002"/>
              <a:ext cx="180002" cy="180002"/>
            </a:xfrm>
            <a:prstGeom prst="triangle">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14" name="正方形/長方形 13"/>
          <p:cNvSpPr/>
          <p:nvPr/>
        </p:nvSpPr>
        <p:spPr bwMode="auto">
          <a:xfrm>
            <a:off x="5735996" y="1988984"/>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cxnSp>
        <p:nvCxnSpPr>
          <p:cNvPr id="15" name="直線矢印コネクタ 14"/>
          <p:cNvCxnSpPr/>
          <p:nvPr/>
        </p:nvCxnSpPr>
        <p:spPr bwMode="auto">
          <a:xfrm>
            <a:off x="7176012" y="2708992"/>
            <a:ext cx="360004" cy="0"/>
          </a:xfrm>
          <a:prstGeom prst="straightConnector1">
            <a:avLst/>
          </a:prstGeom>
          <a:noFill/>
          <a:ln w="9525" cap="flat" cmpd="sng" algn="ctr">
            <a:solidFill>
              <a:schemeClr val="tx1"/>
            </a:solidFill>
            <a:prstDash val="solid"/>
            <a:round/>
            <a:headEnd type="none" w="med" len="med"/>
            <a:tailEnd type="triangle"/>
          </a:ln>
          <a:effectLst/>
        </p:spPr>
      </p:cxnSp>
      <p:cxnSp>
        <p:nvCxnSpPr>
          <p:cNvPr id="16" name="直線矢印コネクタ 15"/>
          <p:cNvCxnSpPr/>
          <p:nvPr/>
        </p:nvCxnSpPr>
        <p:spPr bwMode="auto">
          <a:xfrm>
            <a:off x="5375992" y="2708992"/>
            <a:ext cx="360004" cy="0"/>
          </a:xfrm>
          <a:prstGeom prst="straightConnector1">
            <a:avLst/>
          </a:prstGeom>
          <a:noFill/>
          <a:ln w="9525" cap="flat" cmpd="sng" algn="ctr">
            <a:solidFill>
              <a:schemeClr val="tx1"/>
            </a:solidFill>
            <a:prstDash val="solid"/>
            <a:round/>
            <a:headEnd type="none" w="med" len="med"/>
            <a:tailEnd type="triangle"/>
          </a:ln>
          <a:effectLst/>
        </p:spPr>
      </p:cxnSp>
      <p:cxnSp>
        <p:nvCxnSpPr>
          <p:cNvPr id="17" name="直線矢印コネクタ 16"/>
          <p:cNvCxnSpPr/>
          <p:nvPr/>
        </p:nvCxnSpPr>
        <p:spPr bwMode="auto">
          <a:xfrm>
            <a:off x="7896020" y="2708992"/>
            <a:ext cx="360004" cy="0"/>
          </a:xfrm>
          <a:prstGeom prst="straightConnector1">
            <a:avLst/>
          </a:prstGeom>
          <a:noFill/>
          <a:ln w="9525" cap="flat" cmpd="sng" algn="ctr">
            <a:solidFill>
              <a:schemeClr val="tx1"/>
            </a:solidFill>
            <a:prstDash val="solid"/>
            <a:round/>
            <a:headEnd type="none" w="med" len="med"/>
            <a:tailEnd type="triangle"/>
          </a:ln>
          <a:effectLst/>
        </p:spPr>
      </p:cxnSp>
      <p:cxnSp>
        <p:nvCxnSpPr>
          <p:cNvPr id="18" name="直線矢印コネクタ 17"/>
          <p:cNvCxnSpPr>
            <a:endCxn id="8" idx="0"/>
          </p:cNvCxnSpPr>
          <p:nvPr/>
        </p:nvCxnSpPr>
        <p:spPr bwMode="auto">
          <a:xfrm>
            <a:off x="5195990" y="1988984"/>
            <a:ext cx="0" cy="360004"/>
          </a:xfrm>
          <a:prstGeom prst="straightConnector1">
            <a:avLst/>
          </a:prstGeom>
          <a:noFill/>
          <a:ln w="9525" cap="flat" cmpd="sng" algn="ctr">
            <a:solidFill>
              <a:schemeClr val="tx1"/>
            </a:solidFill>
            <a:prstDash val="solid"/>
            <a:round/>
            <a:headEnd type="none" w="med" len="med"/>
            <a:tailEnd type="triangle"/>
          </a:ln>
          <a:effectLst/>
        </p:spPr>
      </p:cxnSp>
      <p:cxnSp>
        <p:nvCxnSpPr>
          <p:cNvPr id="21" name="直線矢印コネクタ 20"/>
          <p:cNvCxnSpPr/>
          <p:nvPr/>
        </p:nvCxnSpPr>
        <p:spPr bwMode="auto">
          <a:xfrm>
            <a:off x="7716018" y="1988984"/>
            <a:ext cx="0" cy="360004"/>
          </a:xfrm>
          <a:prstGeom prst="straightConnector1">
            <a:avLst/>
          </a:prstGeom>
          <a:noFill/>
          <a:ln w="9525" cap="flat" cmpd="sng" algn="ctr">
            <a:solidFill>
              <a:schemeClr val="tx1"/>
            </a:solidFill>
            <a:prstDash val="solid"/>
            <a:round/>
            <a:headEnd type="none" w="med" len="med"/>
            <a:tailEnd type="triangle"/>
          </a:ln>
          <a:effectLst/>
        </p:spPr>
      </p:cxnSp>
      <p:sp>
        <p:nvSpPr>
          <p:cNvPr id="22" name="正方形/長方形 21"/>
          <p:cNvSpPr/>
          <p:nvPr/>
        </p:nvSpPr>
        <p:spPr bwMode="auto">
          <a:xfrm>
            <a:off x="4835986" y="1628980"/>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WE</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7356014" y="1628980"/>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WE</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534305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WE </a:t>
            </a:r>
            <a:r>
              <a:rPr lang="ja-JP" altLang="en-US" dirty="0"/>
              <a:t>つき </a:t>
            </a:r>
            <a:r>
              <a:rPr lang="en-US" altLang="ja-JP" dirty="0"/>
              <a:t>D-FF </a:t>
            </a:r>
            <a:r>
              <a:rPr lang="ja-JP" altLang="en-US" dirty="0"/>
              <a:t>の実現方法</a:t>
            </a:r>
            <a:endParaRPr kumimoji="1" lang="ja-JP" altLang="en-US" dirty="0"/>
          </a:p>
        </p:txBody>
      </p:sp>
      <p:sp>
        <p:nvSpPr>
          <p:cNvPr id="3" name="テキスト プレースホルダー 2"/>
          <p:cNvSpPr>
            <a:spLocks noGrp="1"/>
          </p:cNvSpPr>
          <p:nvPr>
            <p:ph type="body" sz="quarter" idx="10"/>
          </p:nvPr>
        </p:nvSpPr>
        <p:spPr>
          <a:xfrm>
            <a:off x="2045955" y="3789005"/>
            <a:ext cx="8280092" cy="1799713"/>
          </a:xfrm>
        </p:spPr>
        <p:txBody>
          <a:bodyPr/>
          <a:lstStyle/>
          <a:p>
            <a:r>
              <a:rPr kumimoji="1" lang="ja-JP" altLang="en-US" dirty="0"/>
              <a:t>たとえば </a:t>
            </a:r>
            <a:r>
              <a:rPr kumimoji="1" lang="en-US" altLang="ja-JP" dirty="0"/>
              <a:t>D-FF </a:t>
            </a:r>
            <a:r>
              <a:rPr kumimoji="1" lang="ja-JP" altLang="en-US" dirty="0"/>
              <a:t>とマルチプレクサで作れる</a:t>
            </a:r>
            <a:endParaRPr kumimoji="1" lang="en-US" altLang="ja-JP" dirty="0"/>
          </a:p>
          <a:p>
            <a:pPr lvl="1"/>
            <a:r>
              <a:rPr kumimoji="1" lang="en-US" altLang="ja-JP" dirty="0"/>
              <a:t>WE </a:t>
            </a:r>
            <a:r>
              <a:rPr kumimoji="1" lang="ja-JP" altLang="en-US" dirty="0"/>
              <a:t>が </a:t>
            </a:r>
            <a:r>
              <a:rPr kumimoji="1" lang="en-US" altLang="ja-JP" dirty="0"/>
              <a:t>0 </a:t>
            </a:r>
            <a:r>
              <a:rPr kumimoji="1" lang="ja-JP" altLang="en-US" dirty="0"/>
              <a:t>の時は，その時の自分自身の出力を書き込む</a:t>
            </a:r>
          </a:p>
        </p:txBody>
      </p:sp>
      <p:sp>
        <p:nvSpPr>
          <p:cNvPr id="30" name="正方形/長方形 29"/>
          <p:cNvSpPr/>
          <p:nvPr/>
        </p:nvSpPr>
        <p:spPr bwMode="auto">
          <a:xfrm>
            <a:off x="5285991"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WE</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35" name="グループ化 34"/>
          <p:cNvGrpSpPr/>
          <p:nvPr/>
        </p:nvGrpSpPr>
        <p:grpSpPr>
          <a:xfrm>
            <a:off x="5195990" y="2438990"/>
            <a:ext cx="1620018" cy="1260013"/>
            <a:chOff x="3761991" y="1718981"/>
            <a:chExt cx="1620018" cy="1260013"/>
          </a:xfrm>
        </p:grpSpPr>
        <p:cxnSp>
          <p:nvCxnSpPr>
            <p:cNvPr id="24" name="直線矢印コネクタ 23"/>
            <p:cNvCxnSpPr/>
            <p:nvPr/>
          </p:nvCxnSpPr>
          <p:spPr bwMode="auto">
            <a:xfrm>
              <a:off x="3761991" y="2258987"/>
              <a:ext cx="360004" cy="0"/>
            </a:xfrm>
            <a:prstGeom prst="straightConnector1">
              <a:avLst/>
            </a:prstGeom>
            <a:noFill/>
            <a:ln w="9525" cap="flat" cmpd="sng" algn="ctr">
              <a:solidFill>
                <a:schemeClr val="tx1"/>
              </a:solidFill>
              <a:prstDash val="solid"/>
              <a:round/>
              <a:headEnd type="none" w="med" len="med"/>
              <a:tailEnd type="triangle"/>
            </a:ln>
            <a:effectLst/>
          </p:spPr>
        </p:cxnSp>
        <p:grpSp>
          <p:nvGrpSpPr>
            <p:cNvPr id="25" name="グループ化 24"/>
            <p:cNvGrpSpPr/>
            <p:nvPr/>
          </p:nvGrpSpPr>
          <p:grpSpPr>
            <a:xfrm>
              <a:off x="4572000" y="1988984"/>
              <a:ext cx="360004" cy="720008"/>
              <a:chOff x="2411977" y="3068996"/>
              <a:chExt cx="360004" cy="720008"/>
            </a:xfrm>
          </p:grpSpPr>
          <p:sp>
            <p:nvSpPr>
              <p:cNvPr id="26" name="正方形/長方形 25"/>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27" name="二等辺三角形 26"/>
              <p:cNvSpPr/>
              <p:nvPr/>
            </p:nvSpPr>
            <p:spPr bwMode="auto">
              <a:xfrm>
                <a:off x="2501977" y="3609002"/>
                <a:ext cx="180002" cy="180002"/>
              </a:xfrm>
              <a:prstGeom prst="triangle">
                <a:avLst/>
              </a:prstGeom>
              <a:noFill/>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cxnSp>
          <p:nvCxnSpPr>
            <p:cNvPr id="28" name="直線矢印コネクタ 27"/>
            <p:cNvCxnSpPr/>
            <p:nvPr/>
          </p:nvCxnSpPr>
          <p:spPr bwMode="auto">
            <a:xfrm>
              <a:off x="4932004" y="2348988"/>
              <a:ext cx="450005" cy="0"/>
            </a:xfrm>
            <a:prstGeom prst="straightConnector1">
              <a:avLst/>
            </a:prstGeom>
            <a:noFill/>
            <a:ln w="9525" cap="flat" cmpd="sng" algn="ctr">
              <a:solidFill>
                <a:schemeClr val="tx1"/>
              </a:solidFill>
              <a:prstDash val="solid"/>
              <a:round/>
              <a:headEnd type="none" w="med" len="med"/>
              <a:tailEnd type="triangle"/>
            </a:ln>
            <a:effectLst/>
          </p:spPr>
        </p:cxnSp>
        <p:cxnSp>
          <p:nvCxnSpPr>
            <p:cNvPr id="29" name="直線矢印コネクタ 28"/>
            <p:cNvCxnSpPr/>
            <p:nvPr/>
          </p:nvCxnSpPr>
          <p:spPr bwMode="auto">
            <a:xfrm>
              <a:off x="4211996" y="1718981"/>
              <a:ext cx="0" cy="360004"/>
            </a:xfrm>
            <a:prstGeom prst="straightConnector1">
              <a:avLst/>
            </a:prstGeom>
            <a:noFill/>
            <a:ln w="9525" cap="flat" cmpd="sng" algn="ctr">
              <a:solidFill>
                <a:schemeClr val="tx1"/>
              </a:solidFill>
              <a:prstDash val="solid"/>
              <a:round/>
              <a:headEnd type="none" w="med" len="med"/>
              <a:tailEnd type="triangle"/>
            </a:ln>
            <a:effectLst/>
          </p:spPr>
        </p:cxnSp>
        <p:sp>
          <p:nvSpPr>
            <p:cNvPr id="31" name="フローチャート: 手作業 30"/>
            <p:cNvSpPr/>
            <p:nvPr/>
          </p:nvSpPr>
          <p:spPr bwMode="auto">
            <a:xfrm rot="16200000">
              <a:off x="3851992" y="2258987"/>
              <a:ext cx="720008" cy="180001"/>
            </a:xfrm>
            <a:prstGeom prst="flowChartManualOperation">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vert="vert" rtlCol="0" anchor="ctr"/>
            <a:lstStyle/>
            <a:p>
              <a:pPr algn="ctr"/>
              <a:endParaRPr lang="en-US" altLang="ja-JP" sz="1400" dirty="0">
                <a:ea typeface="メイリオ" panose="020B0604030504040204" pitchFamily="50" charset="-128"/>
              </a:endParaRPr>
            </a:p>
          </p:txBody>
        </p:sp>
        <p:sp>
          <p:nvSpPr>
            <p:cNvPr id="32" name="Freeform 10"/>
            <p:cNvSpPr>
              <a:spLocks/>
            </p:cNvSpPr>
            <p:nvPr/>
          </p:nvSpPr>
          <p:spPr bwMode="auto">
            <a:xfrm flipH="1">
              <a:off x="3851992" y="2348987"/>
              <a:ext cx="126001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sp>
          <p:nvSpPr>
            <p:cNvPr id="33" name="Freeform 10"/>
            <p:cNvSpPr>
              <a:spLocks/>
            </p:cNvSpPr>
            <p:nvPr/>
          </p:nvSpPr>
          <p:spPr bwMode="auto">
            <a:xfrm flipV="1">
              <a:off x="3851992" y="2528989"/>
              <a:ext cx="270002"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cs typeface="Times New Roman" pitchFamily="18" charset="0"/>
              </a:endParaRPr>
            </a:p>
          </p:txBody>
        </p:sp>
        <p:cxnSp>
          <p:nvCxnSpPr>
            <p:cNvPr id="34" name="直線矢印コネクタ 33"/>
            <p:cNvCxnSpPr>
              <a:stCxn id="31" idx="2"/>
            </p:cNvCxnSpPr>
            <p:nvPr/>
          </p:nvCxnSpPr>
          <p:spPr bwMode="auto">
            <a:xfrm>
              <a:off x="4301997" y="2348988"/>
              <a:ext cx="270003" cy="0"/>
            </a:xfrm>
            <a:prstGeom prst="straightConnector1">
              <a:avLst/>
            </a:prstGeom>
            <a:no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94734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構造ハザードの解決方法</a:t>
            </a:r>
          </a:p>
        </p:txBody>
      </p:sp>
      <p:sp>
        <p:nvSpPr>
          <p:cNvPr id="3" name="テキスト プレースホルダー 2"/>
          <p:cNvSpPr>
            <a:spLocks noGrp="1"/>
          </p:cNvSpPr>
          <p:nvPr>
            <p:ph type="body" sz="quarter" idx="10"/>
          </p:nvPr>
        </p:nvSpPr>
        <p:spPr/>
        <p:txBody>
          <a:bodyPr/>
          <a:lstStyle/>
          <a:p>
            <a:r>
              <a:rPr kumimoji="1" lang="ja-JP" altLang="en-US" dirty="0"/>
              <a:t>解決方法</a:t>
            </a:r>
            <a:endParaRPr kumimoji="1" lang="en-US" altLang="ja-JP" dirty="0"/>
          </a:p>
          <a:p>
            <a:pPr marL="817200" lvl="1" indent="-457200">
              <a:buFont typeface="+mj-lt"/>
              <a:buAutoNum type="arabicPeriod"/>
            </a:pPr>
            <a:r>
              <a:rPr kumimoji="1" lang="ja-JP" altLang="en-US" dirty="0"/>
              <a:t>ハードウェアの増強</a:t>
            </a:r>
            <a:endParaRPr kumimoji="1" lang="en-US" altLang="ja-JP" dirty="0"/>
          </a:p>
          <a:p>
            <a:pPr marL="817200" lvl="1" indent="-457200">
              <a:buFont typeface="+mj-lt"/>
              <a:buAutoNum type="arabicPeriod"/>
            </a:pPr>
            <a:r>
              <a:rPr kumimoji="1" lang="ja-JP" altLang="en-US" dirty="0"/>
              <a:t>時分割処理</a:t>
            </a:r>
            <a:endParaRPr kumimoji="1" lang="en-US" altLang="ja-JP" dirty="0"/>
          </a:p>
          <a:p>
            <a:pPr marL="817200" lvl="1" indent="-457200">
              <a:buFont typeface="+mj-lt"/>
              <a:buAutoNum type="arabicPeriod"/>
            </a:pPr>
            <a:r>
              <a:rPr kumimoji="1" lang="ja-JP" altLang="en-US" b="1" dirty="0"/>
              <a:t>マイクロ命令への変換</a:t>
            </a:r>
          </a:p>
        </p:txBody>
      </p:sp>
    </p:spTree>
    <p:extLst>
      <p:ext uri="{BB962C8B-B14F-4D97-AF65-F5344CB8AC3E}">
        <p14:creationId xmlns:p14="http://schemas.microsoft.com/office/powerpoint/2010/main" val="15304427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解決方法３：マイクロ命令への変換</a:t>
            </a:r>
            <a:endParaRPr kumimoji="1" lang="ja-JP" altLang="en-US" dirty="0"/>
          </a:p>
        </p:txBody>
      </p:sp>
      <p:sp>
        <p:nvSpPr>
          <p:cNvPr id="3" name="テキスト プレースホルダー 2"/>
          <p:cNvSpPr>
            <a:spLocks noGrp="1"/>
          </p:cNvSpPr>
          <p:nvPr>
            <p:ph type="body" sz="quarter" idx="10"/>
          </p:nvPr>
        </p:nvSpPr>
        <p:spPr>
          <a:xfrm>
            <a:off x="1775952" y="1088975"/>
            <a:ext cx="8820098" cy="5219751"/>
          </a:xfrm>
        </p:spPr>
        <p:txBody>
          <a:bodyPr/>
          <a:lstStyle/>
          <a:p>
            <a:r>
              <a:rPr kumimoji="1" lang="ja-JP" altLang="en-US" dirty="0"/>
              <a:t>複数の</a:t>
            </a:r>
            <a:r>
              <a:rPr kumimoji="1" lang="ja-JP" altLang="en-US" dirty="0">
                <a:solidFill>
                  <a:schemeClr val="accent5"/>
                </a:solidFill>
              </a:rPr>
              <a:t>マイクロ命令</a:t>
            </a:r>
            <a:r>
              <a:rPr kumimoji="1" lang="ja-JP" altLang="en-US" dirty="0"/>
              <a:t>に分解して実行</a:t>
            </a:r>
            <a:endParaRPr kumimoji="1" lang="en-US" altLang="ja-JP" dirty="0"/>
          </a:p>
          <a:p>
            <a:pPr lvl="1"/>
            <a:r>
              <a:rPr kumimoji="1" lang="ja-JP" altLang="en-US" dirty="0"/>
              <a:t>マイクロ命令：</a:t>
            </a:r>
            <a:r>
              <a:rPr kumimoji="1" lang="en-US" altLang="ja-JP" dirty="0"/>
              <a:t>CPU </a:t>
            </a:r>
            <a:r>
              <a:rPr kumimoji="1" lang="ja-JP" altLang="en-US" dirty="0"/>
              <a:t>の内部でのみ使われる命令</a:t>
            </a:r>
            <a:endParaRPr kumimoji="1" lang="en-US" altLang="ja-JP" dirty="0"/>
          </a:p>
          <a:p>
            <a:pPr lvl="2"/>
            <a:r>
              <a:rPr kumimoji="1" lang="ja-JP" altLang="en-US" dirty="0"/>
              <a:t>プログラマからは全く見えない</a:t>
            </a:r>
            <a:endParaRPr kumimoji="1" lang="en-US" altLang="ja-JP" dirty="0"/>
          </a:p>
          <a:p>
            <a:pPr lvl="1"/>
            <a:r>
              <a:rPr lang="ja-JP" altLang="en-US" dirty="0"/>
              <a:t>マイクロ命令は，構造ハザードを起こさないよう設計しておく</a:t>
            </a:r>
            <a:endParaRPr lang="en-US" altLang="ja-JP" dirty="0"/>
          </a:p>
          <a:p>
            <a:r>
              <a:rPr kumimoji="1" lang="ja-JP" altLang="en-US" dirty="0"/>
              <a:t>現代の </a:t>
            </a:r>
            <a:r>
              <a:rPr kumimoji="1" lang="en-US" altLang="ja-JP" dirty="0"/>
              <a:t>x86 </a:t>
            </a:r>
            <a:r>
              <a:rPr kumimoji="1" lang="ja-JP" altLang="en-US" dirty="0"/>
              <a:t>や </a:t>
            </a:r>
            <a:r>
              <a:rPr kumimoji="1" lang="en-US" altLang="ja-JP" dirty="0"/>
              <a:t>ARM </a:t>
            </a:r>
            <a:r>
              <a:rPr kumimoji="1" lang="ja-JP" altLang="en-US" dirty="0"/>
              <a:t>は，主にこの方法を採用している</a:t>
            </a:r>
            <a:endParaRPr kumimoji="1" lang="en-US" altLang="ja-JP" dirty="0"/>
          </a:p>
        </p:txBody>
      </p:sp>
    </p:spTree>
    <p:extLst>
      <p:ext uri="{BB962C8B-B14F-4D97-AF65-F5344CB8AC3E}">
        <p14:creationId xmlns:p14="http://schemas.microsoft.com/office/powerpoint/2010/main" val="27836495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マイクロ命令への変換の例</a:t>
            </a:r>
            <a:endParaRPr kumimoji="1" lang="ja-JP" altLang="en-US" dirty="0"/>
          </a:p>
        </p:txBody>
      </p:sp>
      <p:sp>
        <p:nvSpPr>
          <p:cNvPr id="3" name="テキスト プレースホルダー 2"/>
          <p:cNvSpPr>
            <a:spLocks noGrp="1"/>
          </p:cNvSpPr>
          <p:nvPr>
            <p:ph type="body" sz="quarter" idx="10"/>
          </p:nvPr>
        </p:nvSpPr>
        <p:spPr>
          <a:xfrm>
            <a:off x="2135955" y="1088975"/>
            <a:ext cx="9270103" cy="5219751"/>
          </a:xfrm>
        </p:spPr>
        <p:txBody>
          <a:bodyPr/>
          <a:lstStyle/>
          <a:p>
            <a:r>
              <a:rPr lang="en-US" altLang="ja-JP" dirty="0" err="1"/>
              <a:t>mov</a:t>
            </a:r>
            <a:r>
              <a:rPr lang="en-US" altLang="ja-JP" dirty="0"/>
              <a:t> [rs1]</a:t>
            </a:r>
            <a:r>
              <a:rPr lang="ja-JP" altLang="en-US" dirty="0"/>
              <a:t>→</a:t>
            </a:r>
            <a:r>
              <a:rPr lang="en-US" altLang="ja-JP" dirty="0"/>
              <a:t>[rs2]</a:t>
            </a:r>
          </a:p>
          <a:p>
            <a:pPr marL="817200" lvl="1" indent="-457200">
              <a:buFont typeface="+mj-lt"/>
              <a:buAutoNum type="arabicPeriod"/>
            </a:pPr>
            <a:r>
              <a:rPr lang="en-US" altLang="ja-JP" dirty="0" err="1"/>
              <a:t>ld</a:t>
            </a:r>
            <a:r>
              <a:rPr lang="en-US" altLang="ja-JP" dirty="0"/>
              <a:t> [rs1]</a:t>
            </a:r>
            <a:r>
              <a:rPr lang="ja-JP" altLang="en-US" dirty="0"/>
              <a:t>→</a:t>
            </a:r>
            <a:r>
              <a:rPr lang="en-US" altLang="ja-JP" dirty="0" err="1">
                <a:solidFill>
                  <a:schemeClr val="accent5"/>
                </a:solidFill>
              </a:rPr>
              <a:t>rt</a:t>
            </a:r>
            <a:endParaRPr lang="en-US" altLang="ja-JP" dirty="0">
              <a:solidFill>
                <a:schemeClr val="accent5"/>
              </a:solidFill>
            </a:endParaRPr>
          </a:p>
          <a:p>
            <a:pPr marL="817200" lvl="1" indent="-457200">
              <a:buFont typeface="+mj-lt"/>
              <a:buAutoNum type="arabicPeriod"/>
            </a:pPr>
            <a:r>
              <a:rPr lang="en-US" altLang="ja-JP" dirty="0" err="1"/>
              <a:t>st</a:t>
            </a:r>
            <a:r>
              <a:rPr lang="en-US" altLang="ja-JP" dirty="0"/>
              <a:t> </a:t>
            </a:r>
            <a:r>
              <a:rPr lang="en-US" altLang="ja-JP" dirty="0" err="1">
                <a:solidFill>
                  <a:schemeClr val="accent5"/>
                </a:solidFill>
              </a:rPr>
              <a:t>rt</a:t>
            </a:r>
            <a:r>
              <a:rPr lang="ja-JP" altLang="en-US" dirty="0"/>
              <a:t>→</a:t>
            </a:r>
            <a:r>
              <a:rPr lang="en-US" altLang="ja-JP" dirty="0"/>
              <a:t>[rs2]</a:t>
            </a:r>
          </a:p>
          <a:p>
            <a:r>
              <a:rPr lang="en-US" altLang="ja-JP" dirty="0"/>
              <a:t>pop</a:t>
            </a:r>
          </a:p>
          <a:p>
            <a:pPr marL="817200" lvl="1" indent="-457200">
              <a:buFont typeface="+mj-lt"/>
              <a:buAutoNum type="arabicPeriod"/>
            </a:pPr>
            <a:r>
              <a:rPr lang="en-US" altLang="ja-JP" dirty="0"/>
              <a:t>add rs1+1</a:t>
            </a:r>
            <a:r>
              <a:rPr lang="ja-JP" altLang="en-US" dirty="0"/>
              <a:t>→</a:t>
            </a:r>
            <a:r>
              <a:rPr lang="en-US" altLang="ja-JP" dirty="0" err="1">
                <a:solidFill>
                  <a:schemeClr val="accent5"/>
                </a:solidFill>
              </a:rPr>
              <a:t>rt</a:t>
            </a:r>
            <a:endParaRPr lang="en-US" altLang="ja-JP" dirty="0">
              <a:solidFill>
                <a:schemeClr val="accent5"/>
              </a:solidFill>
            </a:endParaRPr>
          </a:p>
          <a:p>
            <a:pPr marL="817200" lvl="1" indent="-457200">
              <a:buFont typeface="+mj-lt"/>
              <a:buAutoNum type="arabicPeriod"/>
            </a:pPr>
            <a:r>
              <a:rPr lang="en-US" altLang="ja-JP" dirty="0" err="1"/>
              <a:t>ld</a:t>
            </a:r>
            <a:r>
              <a:rPr lang="en-US" altLang="ja-JP" dirty="0"/>
              <a:t> [</a:t>
            </a:r>
            <a:r>
              <a:rPr lang="en-US" altLang="ja-JP" dirty="0" err="1">
                <a:solidFill>
                  <a:schemeClr val="accent5"/>
                </a:solidFill>
              </a:rPr>
              <a:t>rt</a:t>
            </a:r>
            <a:r>
              <a:rPr lang="en-US" altLang="ja-JP" dirty="0"/>
              <a:t>]</a:t>
            </a:r>
            <a:r>
              <a:rPr lang="ja-JP" altLang="en-US" dirty="0"/>
              <a:t>→</a:t>
            </a:r>
            <a:r>
              <a:rPr lang="en-US" altLang="ja-JP" dirty="0" err="1"/>
              <a:t>rd</a:t>
            </a:r>
            <a:endParaRPr lang="en-US" altLang="ja-JP" dirty="0"/>
          </a:p>
          <a:p>
            <a:r>
              <a:rPr lang="en-US" altLang="ja-JP" dirty="0" err="1"/>
              <a:t>ld_inc</a:t>
            </a:r>
            <a:r>
              <a:rPr lang="en-US" altLang="ja-JP" dirty="0"/>
              <a:t> [rs1]+1</a:t>
            </a:r>
            <a:r>
              <a:rPr lang="ja-JP" altLang="en-US" dirty="0"/>
              <a:t>→</a:t>
            </a:r>
            <a:r>
              <a:rPr lang="en-US" altLang="ja-JP" dirty="0" err="1"/>
              <a:t>rd</a:t>
            </a:r>
            <a:r>
              <a:rPr lang="en-US" altLang="ja-JP" dirty="0"/>
              <a:t>  </a:t>
            </a:r>
          </a:p>
          <a:p>
            <a:pPr marL="817200" lvl="1" indent="-457200">
              <a:buFont typeface="+mj-lt"/>
              <a:buAutoNum type="arabicPeriod"/>
            </a:pPr>
            <a:r>
              <a:rPr lang="en-US" altLang="ja-JP" dirty="0" err="1"/>
              <a:t>ld</a:t>
            </a:r>
            <a:r>
              <a:rPr lang="en-US" altLang="ja-JP" dirty="0"/>
              <a:t> [rs1]</a:t>
            </a:r>
            <a:r>
              <a:rPr lang="ja-JP" altLang="en-US" dirty="0"/>
              <a:t>→</a:t>
            </a:r>
            <a:r>
              <a:rPr lang="en-US" altLang="ja-JP" dirty="0" err="1">
                <a:solidFill>
                  <a:schemeClr val="accent5"/>
                </a:solidFill>
              </a:rPr>
              <a:t>rt</a:t>
            </a:r>
            <a:endParaRPr lang="en-US" altLang="ja-JP" dirty="0">
              <a:solidFill>
                <a:schemeClr val="accent5"/>
              </a:solidFill>
            </a:endParaRPr>
          </a:p>
          <a:p>
            <a:pPr marL="817200" lvl="1" indent="-457200">
              <a:buFont typeface="+mj-lt"/>
              <a:buAutoNum type="arabicPeriod"/>
            </a:pPr>
            <a:r>
              <a:rPr lang="en-US" altLang="ja-JP" dirty="0"/>
              <a:t>add </a:t>
            </a:r>
            <a:r>
              <a:rPr lang="en-US" altLang="ja-JP" dirty="0">
                <a:solidFill>
                  <a:schemeClr val="accent5"/>
                </a:solidFill>
              </a:rPr>
              <a:t>rt</a:t>
            </a:r>
            <a:r>
              <a:rPr lang="en-US" altLang="ja-JP" dirty="0"/>
              <a:t>+1</a:t>
            </a:r>
            <a:r>
              <a:rPr lang="ja-JP" altLang="en-US" dirty="0"/>
              <a:t>→</a:t>
            </a:r>
            <a:r>
              <a:rPr lang="en-US" altLang="ja-JP" dirty="0" err="1"/>
              <a:t>rd</a:t>
            </a:r>
            <a:endParaRPr lang="en-US" altLang="ja-JP" dirty="0"/>
          </a:p>
          <a:p>
            <a:pPr marL="0" indent="0">
              <a:buNone/>
            </a:pPr>
            <a:r>
              <a:rPr lang="en-US" altLang="ja-JP" dirty="0" err="1">
                <a:solidFill>
                  <a:schemeClr val="accent5"/>
                </a:solidFill>
              </a:rPr>
              <a:t>rt</a:t>
            </a:r>
            <a:r>
              <a:rPr lang="en-US" altLang="ja-JP" dirty="0">
                <a:solidFill>
                  <a:schemeClr val="accent5"/>
                </a:solidFill>
              </a:rPr>
              <a:t> </a:t>
            </a:r>
            <a:r>
              <a:rPr lang="ja-JP" altLang="en-US" dirty="0"/>
              <a:t>はプログラマから見えない </a:t>
            </a:r>
            <a:r>
              <a:rPr lang="en-US" altLang="ja-JP" dirty="0"/>
              <a:t>CPU </a:t>
            </a:r>
            <a:r>
              <a:rPr lang="ja-JP" altLang="en-US" dirty="0"/>
              <a:t>内部にある中間結果を保持するレジスタ</a:t>
            </a:r>
            <a:endParaRPr lang="en-US" altLang="ja-JP" dirty="0"/>
          </a:p>
        </p:txBody>
      </p:sp>
    </p:spTree>
    <p:extLst>
      <p:ext uri="{BB962C8B-B14F-4D97-AF65-F5344CB8AC3E}">
        <p14:creationId xmlns:p14="http://schemas.microsoft.com/office/powerpoint/2010/main" val="18415572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6B2EB1-71A8-AC10-1520-B9F79AB336EB}"/>
              </a:ext>
            </a:extLst>
          </p:cNvPr>
          <p:cNvSpPr>
            <a:spLocks noGrp="1"/>
          </p:cNvSpPr>
          <p:nvPr>
            <p:ph type="title"/>
          </p:nvPr>
        </p:nvSpPr>
        <p:spPr/>
        <p:txBody>
          <a:bodyPr/>
          <a:lstStyle/>
          <a:p>
            <a:r>
              <a:rPr kumimoji="1" lang="ja-JP" altLang="en-US"/>
              <a:t>マイクロ命令の分解の例</a:t>
            </a:r>
            <a:endParaRPr kumimoji="1" lang="ja-JP" altLang="en-US" dirty="0"/>
          </a:p>
        </p:txBody>
      </p:sp>
      <p:sp>
        <p:nvSpPr>
          <p:cNvPr id="3" name="テキスト プレースホルダー 2">
            <a:extLst>
              <a:ext uri="{FF2B5EF4-FFF2-40B4-BE49-F238E27FC236}">
                <a16:creationId xmlns:a16="http://schemas.microsoft.com/office/drawing/2014/main" id="{3A18D376-79BA-DA17-8745-789FB0D99683}"/>
              </a:ext>
            </a:extLst>
          </p:cNvPr>
          <p:cNvSpPr>
            <a:spLocks noGrp="1"/>
          </p:cNvSpPr>
          <p:nvPr>
            <p:ph type="body" sz="quarter" idx="10"/>
          </p:nvPr>
        </p:nvSpPr>
        <p:spPr>
          <a:xfrm>
            <a:off x="1055944" y="1088977"/>
            <a:ext cx="10800120" cy="2340024"/>
          </a:xfrm>
        </p:spPr>
        <p:txBody>
          <a:bodyPr/>
          <a:lstStyle/>
          <a:p>
            <a:r>
              <a:rPr kumimoji="1" lang="ja-JP" altLang="en-US" dirty="0"/>
              <a:t>解析結果をまとめているサイトも</a:t>
            </a:r>
            <a:br>
              <a:rPr kumimoji="1" lang="en-US" altLang="ja-JP" dirty="0"/>
            </a:br>
            <a:r>
              <a:rPr kumimoji="1" lang="en-US" altLang="ja-JP" dirty="0">
                <a:hlinkClick r:id="rId2"/>
              </a:rPr>
              <a:t>https://uops.info/table.html</a:t>
            </a:r>
            <a:br>
              <a:rPr kumimoji="1" lang="en-US" altLang="ja-JP" dirty="0"/>
            </a:br>
            <a:r>
              <a:rPr kumimoji="1" lang="ja-JP" altLang="en-US" dirty="0"/>
              <a:t>下の例は，</a:t>
            </a:r>
            <a:r>
              <a:rPr kumimoji="1" lang="en-US" altLang="ja-JP" dirty="0"/>
              <a:t>x86-64 </a:t>
            </a:r>
            <a:r>
              <a:rPr kumimoji="1" lang="ja-JP" altLang="en-US" dirty="0"/>
              <a:t>の </a:t>
            </a:r>
            <a:r>
              <a:rPr kumimoji="1" lang="en-US" altLang="ja-JP" dirty="0"/>
              <a:t>CMOVBE </a:t>
            </a:r>
            <a:r>
              <a:rPr kumimoji="1" lang="ja-JP" altLang="en-US" dirty="0"/>
              <a:t>命令の，</a:t>
            </a:r>
            <a:r>
              <a:rPr kumimoji="1" lang="en-US" altLang="ja-JP" dirty="0"/>
              <a:t>Alder Lake </a:t>
            </a:r>
            <a:r>
              <a:rPr kumimoji="1" lang="ja-JP" altLang="en-US" dirty="0"/>
              <a:t>内の高性能コアにおける分解の説明</a:t>
            </a:r>
          </a:p>
        </p:txBody>
      </p:sp>
      <p:pic>
        <p:nvPicPr>
          <p:cNvPr id="5" name="図 4">
            <a:extLst>
              <a:ext uri="{FF2B5EF4-FFF2-40B4-BE49-F238E27FC236}">
                <a16:creationId xmlns:a16="http://schemas.microsoft.com/office/drawing/2014/main" id="{3DFAE755-09E6-10D2-489A-63C11B060A22}"/>
              </a:ext>
            </a:extLst>
          </p:cNvPr>
          <p:cNvPicPr>
            <a:picLocks noChangeAspect="1"/>
          </p:cNvPicPr>
          <p:nvPr/>
        </p:nvPicPr>
        <p:blipFill>
          <a:blip r:embed="rId3"/>
          <a:stretch>
            <a:fillRect/>
          </a:stretch>
        </p:blipFill>
        <p:spPr>
          <a:xfrm>
            <a:off x="5465993" y="3519001"/>
            <a:ext cx="5112006" cy="2534214"/>
          </a:xfrm>
          <a:prstGeom prst="rect">
            <a:avLst/>
          </a:prstGeom>
        </p:spPr>
      </p:pic>
      <p:pic>
        <p:nvPicPr>
          <p:cNvPr id="7" name="図 6">
            <a:extLst>
              <a:ext uri="{FF2B5EF4-FFF2-40B4-BE49-F238E27FC236}">
                <a16:creationId xmlns:a16="http://schemas.microsoft.com/office/drawing/2014/main" id="{6912A4B5-19E4-75AF-8FE0-CD7B92ED4920}"/>
              </a:ext>
            </a:extLst>
          </p:cNvPr>
          <p:cNvPicPr>
            <a:picLocks noChangeAspect="1"/>
          </p:cNvPicPr>
          <p:nvPr/>
        </p:nvPicPr>
        <p:blipFill>
          <a:blip r:embed="rId4"/>
          <a:stretch>
            <a:fillRect/>
          </a:stretch>
        </p:blipFill>
        <p:spPr>
          <a:xfrm>
            <a:off x="1791514" y="3519002"/>
            <a:ext cx="3561998" cy="2539271"/>
          </a:xfrm>
          <a:prstGeom prst="rect">
            <a:avLst/>
          </a:prstGeom>
        </p:spPr>
      </p:pic>
    </p:spTree>
    <p:extLst>
      <p:ext uri="{BB962C8B-B14F-4D97-AF65-F5344CB8AC3E}">
        <p14:creationId xmlns:p14="http://schemas.microsoft.com/office/powerpoint/2010/main" val="35512790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時分割処理と</a:t>
            </a:r>
            <a:r>
              <a:rPr lang="ja-JP" altLang="en-US" dirty="0"/>
              <a:t>マイクロ命令への分解の比較</a:t>
            </a:r>
            <a:br>
              <a:rPr lang="en-US" altLang="ja-JP" dirty="0"/>
            </a:br>
            <a:r>
              <a:rPr lang="en-US" altLang="ja-JP" dirty="0">
                <a:latin typeface="Consolas" panose="020B0609020204030204" pitchFamily="49" charset="0"/>
              </a:rPr>
              <a:t>I4</a:t>
            </a:r>
            <a:r>
              <a:rPr lang="en-US" altLang="ja-JP" dirty="0"/>
              <a:t> </a:t>
            </a:r>
            <a:r>
              <a:rPr lang="ja-JP" altLang="en-US" dirty="0"/>
              <a:t>が終わる時間は変わらない</a:t>
            </a:r>
            <a:endParaRPr kumimoji="1" lang="ja-JP" altLang="en-US" dirty="0"/>
          </a:p>
        </p:txBody>
      </p:sp>
      <p:sp>
        <p:nvSpPr>
          <p:cNvPr id="3" name="テキスト プレースホルダー 2"/>
          <p:cNvSpPr>
            <a:spLocks noGrp="1"/>
          </p:cNvSpPr>
          <p:nvPr>
            <p:ph type="body" sz="quarter" idx="10"/>
          </p:nvPr>
        </p:nvSpPr>
        <p:spPr>
          <a:xfrm>
            <a:off x="1775952" y="6399034"/>
            <a:ext cx="8280092" cy="359697"/>
          </a:xfrm>
        </p:spPr>
        <p:txBody>
          <a:bodyPr/>
          <a:lstStyle/>
          <a:p>
            <a:r>
              <a:rPr kumimoji="1" lang="en-US" altLang="ja-JP" dirty="0"/>
              <a:t>ID </a:t>
            </a:r>
            <a:r>
              <a:rPr kumimoji="1" lang="ja-JP" altLang="en-US" dirty="0"/>
              <a:t>でマイクロ命令に分解 </a:t>
            </a:r>
            <a:r>
              <a:rPr kumimoji="1" lang="en-US" altLang="ja-JP" dirty="0"/>
              <a:t>= </a:t>
            </a:r>
            <a:r>
              <a:rPr kumimoji="1" lang="ja-JP" altLang="en-US" dirty="0"/>
              <a:t>デコードで時分割処理している</a:t>
            </a:r>
          </a:p>
        </p:txBody>
      </p:sp>
      <p:cxnSp>
        <p:nvCxnSpPr>
          <p:cNvPr id="4" name="直線コネクタ 3"/>
          <p:cNvCxnSpPr/>
          <p:nvPr/>
        </p:nvCxnSpPr>
        <p:spPr bwMode="auto">
          <a:xfrm>
            <a:off x="4115978" y="1718981"/>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4115978" y="1268976"/>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65598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510598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55599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600599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73"/>
          <p:cNvSpPr>
            <a:spLocks noChangeArrowheads="1"/>
          </p:cNvSpPr>
          <p:nvPr/>
        </p:nvSpPr>
        <p:spPr bwMode="auto">
          <a:xfrm>
            <a:off x="6456004"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WB1</a:t>
            </a:r>
          </a:p>
        </p:txBody>
      </p:sp>
      <p:sp>
        <p:nvSpPr>
          <p:cNvPr id="11" name="Rectangle 69"/>
          <p:cNvSpPr>
            <a:spLocks noChangeArrowheads="1"/>
          </p:cNvSpPr>
          <p:nvPr/>
        </p:nvSpPr>
        <p:spPr bwMode="auto">
          <a:xfrm>
            <a:off x="5105989"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555599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6005999"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645600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7356014" y="153897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555599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6005999"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645600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7356014"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7806019" y="198898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395970" y="108897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pop</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2" name="Rectangle 73"/>
          <p:cNvSpPr>
            <a:spLocks noChangeArrowheads="1"/>
          </p:cNvSpPr>
          <p:nvPr/>
        </p:nvSpPr>
        <p:spPr bwMode="auto">
          <a:xfrm>
            <a:off x="6906009" y="108897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WB2</a:t>
            </a:r>
          </a:p>
        </p:txBody>
      </p:sp>
      <p:sp>
        <p:nvSpPr>
          <p:cNvPr id="23" name="Rectangle 69"/>
          <p:cNvSpPr>
            <a:spLocks noChangeArrowheads="1"/>
          </p:cNvSpPr>
          <p:nvPr/>
        </p:nvSpPr>
        <p:spPr bwMode="auto">
          <a:xfrm>
            <a:off x="6005999"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645600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735601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7806019"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8256024" y="243898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645600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735601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806019"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8256024"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706029" y="288899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3" name="Rectangle 73"/>
          <p:cNvSpPr>
            <a:spLocks noChangeArrowheads="1"/>
          </p:cNvSpPr>
          <p:nvPr/>
        </p:nvSpPr>
        <p:spPr bwMode="auto">
          <a:xfrm>
            <a:off x="6906009" y="153897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4" name="Rectangle 73"/>
          <p:cNvSpPr>
            <a:spLocks noChangeArrowheads="1"/>
          </p:cNvSpPr>
          <p:nvPr/>
        </p:nvSpPr>
        <p:spPr bwMode="auto">
          <a:xfrm>
            <a:off x="6906009" y="198898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5" name="Rectangle 73"/>
          <p:cNvSpPr>
            <a:spLocks noChangeArrowheads="1"/>
          </p:cNvSpPr>
          <p:nvPr/>
        </p:nvSpPr>
        <p:spPr bwMode="auto">
          <a:xfrm>
            <a:off x="6906009" y="243898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6" name="Rectangle 73"/>
          <p:cNvSpPr>
            <a:spLocks noChangeArrowheads="1"/>
          </p:cNvSpPr>
          <p:nvPr/>
        </p:nvSpPr>
        <p:spPr bwMode="auto">
          <a:xfrm>
            <a:off x="6906009" y="2888994"/>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cxnSp>
        <p:nvCxnSpPr>
          <p:cNvPr id="43" name="直線コネクタ 42"/>
          <p:cNvCxnSpPr/>
          <p:nvPr/>
        </p:nvCxnSpPr>
        <p:spPr bwMode="auto">
          <a:xfrm>
            <a:off x="4115978" y="2168986"/>
            <a:ext cx="1440088" cy="0"/>
          </a:xfrm>
          <a:prstGeom prst="line">
            <a:avLst/>
          </a:prstGeom>
          <a:noFill/>
          <a:ln w="9525" cap="flat" cmpd="sng" algn="ctr">
            <a:solidFill>
              <a:schemeClr val="tx1"/>
            </a:solidFill>
            <a:prstDash val="dash"/>
            <a:round/>
            <a:headEnd type="none" w="med" len="med"/>
            <a:tailEnd type="none" w="med" len="med"/>
          </a:ln>
          <a:effectLst/>
        </p:spPr>
      </p:cxnSp>
      <p:sp>
        <p:nvSpPr>
          <p:cNvPr id="44" name="正方形/長方形 43"/>
          <p:cNvSpPr/>
          <p:nvPr/>
        </p:nvSpPr>
        <p:spPr bwMode="auto">
          <a:xfrm>
            <a:off x="3395970" y="153897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5" name="正方形/長方形 44"/>
          <p:cNvSpPr/>
          <p:nvPr/>
        </p:nvSpPr>
        <p:spPr bwMode="auto">
          <a:xfrm>
            <a:off x="3395970" y="198898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6" name="直線コネクタ 45"/>
          <p:cNvCxnSpPr/>
          <p:nvPr/>
        </p:nvCxnSpPr>
        <p:spPr bwMode="auto">
          <a:xfrm>
            <a:off x="4115979" y="2618991"/>
            <a:ext cx="1890093" cy="0"/>
          </a:xfrm>
          <a:prstGeom prst="line">
            <a:avLst/>
          </a:prstGeom>
          <a:noFill/>
          <a:ln w="9525" cap="flat" cmpd="sng" algn="ctr">
            <a:solidFill>
              <a:schemeClr val="tx1"/>
            </a:solidFill>
            <a:prstDash val="dash"/>
            <a:round/>
            <a:headEnd type="none" w="med" len="med"/>
            <a:tailEnd type="none" w="med" len="med"/>
          </a:ln>
          <a:effectLst/>
        </p:spPr>
      </p:cxnSp>
      <p:sp>
        <p:nvSpPr>
          <p:cNvPr id="47" name="正方形/長方形 46"/>
          <p:cNvSpPr/>
          <p:nvPr/>
        </p:nvSpPr>
        <p:spPr bwMode="auto">
          <a:xfrm>
            <a:off x="3395970" y="243898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8" name="直線コネクタ 47"/>
          <p:cNvCxnSpPr>
            <a:endCxn id="28" idx="1"/>
          </p:cNvCxnSpPr>
          <p:nvPr/>
        </p:nvCxnSpPr>
        <p:spPr bwMode="auto">
          <a:xfrm flipV="1">
            <a:off x="4115978" y="3068994"/>
            <a:ext cx="2340026" cy="2"/>
          </a:xfrm>
          <a:prstGeom prst="line">
            <a:avLst/>
          </a:prstGeom>
          <a:noFill/>
          <a:ln w="9525" cap="flat" cmpd="sng" algn="ctr">
            <a:solidFill>
              <a:schemeClr val="tx1"/>
            </a:solidFill>
            <a:prstDash val="dash"/>
            <a:round/>
            <a:headEnd type="none" w="med" len="med"/>
            <a:tailEnd type="none" w="med" len="med"/>
          </a:ln>
          <a:effectLst/>
        </p:spPr>
      </p:cxnSp>
      <p:sp>
        <p:nvSpPr>
          <p:cNvPr id="49" name="正方形/長方形 48"/>
          <p:cNvSpPr/>
          <p:nvPr/>
        </p:nvSpPr>
        <p:spPr bwMode="auto">
          <a:xfrm>
            <a:off x="3395970" y="288899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accent6"/>
                </a:solidFill>
                <a:latin typeface="メイリオ" panose="020B0604030504040204" pitchFamily="50" charset="-128"/>
                <a:ea typeface="メイリオ" panose="020B0604030504040204" pitchFamily="50" charset="-128"/>
              </a:rPr>
              <a:t>I4</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52" name="直線コネクタ 51"/>
          <p:cNvCxnSpPr>
            <a:endCxn id="93" idx="1"/>
          </p:cNvCxnSpPr>
          <p:nvPr/>
        </p:nvCxnSpPr>
        <p:spPr bwMode="auto">
          <a:xfrm flipV="1">
            <a:off x="4115978" y="4239007"/>
            <a:ext cx="1440016" cy="2"/>
          </a:xfrm>
          <a:prstGeom prst="line">
            <a:avLst/>
          </a:prstGeom>
          <a:noFill/>
          <a:ln w="9525" cap="flat" cmpd="sng" algn="ctr">
            <a:solidFill>
              <a:schemeClr val="tx1"/>
            </a:solidFill>
            <a:prstDash val="dash"/>
            <a:round/>
            <a:headEnd type="none" w="med" len="med"/>
            <a:tailEnd type="none" w="med" len="med"/>
          </a:ln>
          <a:effectLst/>
        </p:spPr>
      </p:cxnSp>
      <p:cxnSp>
        <p:nvCxnSpPr>
          <p:cNvPr id="53" name="直線コネクタ 52"/>
          <p:cNvCxnSpPr/>
          <p:nvPr/>
        </p:nvCxnSpPr>
        <p:spPr bwMode="auto">
          <a:xfrm>
            <a:off x="4115978" y="3789004"/>
            <a:ext cx="720080" cy="0"/>
          </a:xfrm>
          <a:prstGeom prst="line">
            <a:avLst/>
          </a:prstGeom>
          <a:noFill/>
          <a:ln w="9525" cap="flat" cmpd="sng" algn="ctr">
            <a:solidFill>
              <a:schemeClr val="tx1"/>
            </a:solidFill>
            <a:prstDash val="dash"/>
            <a:round/>
            <a:headEnd type="none" w="med" len="med"/>
            <a:tailEnd type="none" w="med" len="med"/>
          </a:ln>
          <a:effectLst/>
        </p:spPr>
      </p:cxnSp>
      <p:sp>
        <p:nvSpPr>
          <p:cNvPr id="54" name="Rectangle 69"/>
          <p:cNvSpPr>
            <a:spLocks noChangeArrowheads="1"/>
          </p:cNvSpPr>
          <p:nvPr/>
        </p:nvSpPr>
        <p:spPr bwMode="auto">
          <a:xfrm>
            <a:off x="4655984"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5" name="Rectangle 70"/>
          <p:cNvSpPr>
            <a:spLocks noChangeArrowheads="1"/>
          </p:cNvSpPr>
          <p:nvPr/>
        </p:nvSpPr>
        <p:spPr bwMode="auto">
          <a:xfrm>
            <a:off x="5105989"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6" name="Rectangle 71"/>
          <p:cNvSpPr>
            <a:spLocks noChangeArrowheads="1"/>
          </p:cNvSpPr>
          <p:nvPr/>
        </p:nvSpPr>
        <p:spPr bwMode="auto">
          <a:xfrm>
            <a:off x="5555994"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7" name="Rectangle 72"/>
          <p:cNvSpPr>
            <a:spLocks noChangeArrowheads="1"/>
          </p:cNvSpPr>
          <p:nvPr/>
        </p:nvSpPr>
        <p:spPr bwMode="auto">
          <a:xfrm>
            <a:off x="6005999"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9" name="Rectangle 69"/>
          <p:cNvSpPr>
            <a:spLocks noChangeArrowheads="1"/>
          </p:cNvSpPr>
          <p:nvPr/>
        </p:nvSpPr>
        <p:spPr bwMode="auto">
          <a:xfrm>
            <a:off x="5105989"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0" name="Rectangle 70"/>
          <p:cNvSpPr>
            <a:spLocks noChangeArrowheads="1"/>
          </p:cNvSpPr>
          <p:nvPr/>
        </p:nvSpPr>
        <p:spPr bwMode="auto">
          <a:xfrm>
            <a:off x="6005999"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1" name="Rectangle 71"/>
          <p:cNvSpPr>
            <a:spLocks noChangeArrowheads="1"/>
          </p:cNvSpPr>
          <p:nvPr/>
        </p:nvSpPr>
        <p:spPr bwMode="auto">
          <a:xfrm>
            <a:off x="6456004"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2" name="Rectangle 72"/>
          <p:cNvSpPr>
            <a:spLocks noChangeArrowheads="1"/>
          </p:cNvSpPr>
          <p:nvPr/>
        </p:nvSpPr>
        <p:spPr bwMode="auto">
          <a:xfrm>
            <a:off x="6906009"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3" name="Rectangle 73"/>
          <p:cNvSpPr>
            <a:spLocks noChangeArrowheads="1"/>
          </p:cNvSpPr>
          <p:nvPr/>
        </p:nvSpPr>
        <p:spPr bwMode="auto">
          <a:xfrm>
            <a:off x="7356014" y="450901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64" name="Rectangle 69"/>
          <p:cNvSpPr>
            <a:spLocks noChangeArrowheads="1"/>
          </p:cNvSpPr>
          <p:nvPr/>
        </p:nvSpPr>
        <p:spPr bwMode="auto">
          <a:xfrm>
            <a:off x="6005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5" name="Rectangle 70"/>
          <p:cNvSpPr>
            <a:spLocks noChangeArrowheads="1"/>
          </p:cNvSpPr>
          <p:nvPr/>
        </p:nvSpPr>
        <p:spPr bwMode="auto">
          <a:xfrm>
            <a:off x="6456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6" name="Rectangle 71"/>
          <p:cNvSpPr>
            <a:spLocks noChangeArrowheads="1"/>
          </p:cNvSpPr>
          <p:nvPr/>
        </p:nvSpPr>
        <p:spPr bwMode="auto">
          <a:xfrm>
            <a:off x="6906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7" name="Rectangle 72"/>
          <p:cNvSpPr>
            <a:spLocks noChangeArrowheads="1"/>
          </p:cNvSpPr>
          <p:nvPr/>
        </p:nvSpPr>
        <p:spPr bwMode="auto">
          <a:xfrm>
            <a:off x="7356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8" name="Rectangle 73"/>
          <p:cNvSpPr>
            <a:spLocks noChangeArrowheads="1"/>
          </p:cNvSpPr>
          <p:nvPr/>
        </p:nvSpPr>
        <p:spPr bwMode="auto">
          <a:xfrm>
            <a:off x="7806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69" name="正方形/長方形 68"/>
          <p:cNvSpPr/>
          <p:nvPr/>
        </p:nvSpPr>
        <p:spPr bwMode="auto">
          <a:xfrm>
            <a:off x="2585961"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accent5"/>
                </a:solidFill>
                <a:latin typeface="メイリオ" panose="020B0604030504040204" pitchFamily="50" charset="-128"/>
                <a:ea typeface="メイリオ" panose="020B0604030504040204" pitchFamily="50" charset="-128"/>
              </a:rPr>
              <a:t>pop </a:t>
            </a:r>
            <a:r>
              <a:rPr lang="en-US" altLang="ja-JP" sz="1600" dirty="0">
                <a:solidFill>
                  <a:schemeClr val="accent5"/>
                </a:solidFill>
              </a:rPr>
              <a:t>add rs1+1</a:t>
            </a:r>
            <a:r>
              <a:rPr lang="ja-JP" altLang="en-US" sz="1600" dirty="0">
                <a:solidFill>
                  <a:schemeClr val="accent5"/>
                </a:solidFill>
              </a:rPr>
              <a:t>→</a:t>
            </a:r>
            <a:r>
              <a:rPr lang="en-US" altLang="ja-JP" sz="1600" dirty="0" err="1">
                <a:solidFill>
                  <a:schemeClr val="accent5"/>
                </a:solidFill>
              </a:rPr>
              <a:t>rt</a:t>
            </a:r>
            <a:endParaRPr lang="ja-JP" altLang="en-US" sz="1600" b="1" dirty="0">
              <a:solidFill>
                <a:schemeClr val="accent5"/>
              </a:solidFill>
              <a:latin typeface="メイリオ" panose="020B0604030504040204" pitchFamily="50" charset="-128"/>
              <a:ea typeface="メイリオ" panose="020B0604030504040204" pitchFamily="50" charset="-128"/>
            </a:endParaRPr>
          </a:p>
        </p:txBody>
      </p:sp>
      <p:sp>
        <p:nvSpPr>
          <p:cNvPr id="71" name="Rectangle 69"/>
          <p:cNvSpPr>
            <a:spLocks noChangeArrowheads="1"/>
          </p:cNvSpPr>
          <p:nvPr/>
        </p:nvSpPr>
        <p:spPr bwMode="auto">
          <a:xfrm>
            <a:off x="6456004"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2" name="Rectangle 70"/>
          <p:cNvSpPr>
            <a:spLocks noChangeArrowheads="1"/>
          </p:cNvSpPr>
          <p:nvPr/>
        </p:nvSpPr>
        <p:spPr bwMode="auto">
          <a:xfrm>
            <a:off x="6906009"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73" name="Rectangle 71"/>
          <p:cNvSpPr>
            <a:spLocks noChangeArrowheads="1"/>
          </p:cNvSpPr>
          <p:nvPr/>
        </p:nvSpPr>
        <p:spPr bwMode="auto">
          <a:xfrm>
            <a:off x="7356014"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74" name="Rectangle 72"/>
          <p:cNvSpPr>
            <a:spLocks noChangeArrowheads="1"/>
          </p:cNvSpPr>
          <p:nvPr/>
        </p:nvSpPr>
        <p:spPr bwMode="auto">
          <a:xfrm>
            <a:off x="7806019"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75" name="Rectangle 73"/>
          <p:cNvSpPr>
            <a:spLocks noChangeArrowheads="1"/>
          </p:cNvSpPr>
          <p:nvPr/>
        </p:nvSpPr>
        <p:spPr bwMode="auto">
          <a:xfrm>
            <a:off x="8256024" y="540902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76" name="Rectangle 69"/>
          <p:cNvSpPr>
            <a:spLocks noChangeArrowheads="1"/>
          </p:cNvSpPr>
          <p:nvPr/>
        </p:nvSpPr>
        <p:spPr bwMode="auto">
          <a:xfrm>
            <a:off x="6906009"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7" name="Rectangle 70"/>
          <p:cNvSpPr>
            <a:spLocks noChangeArrowheads="1"/>
          </p:cNvSpPr>
          <p:nvPr/>
        </p:nvSpPr>
        <p:spPr bwMode="auto">
          <a:xfrm>
            <a:off x="7356014"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78" name="Rectangle 71"/>
          <p:cNvSpPr>
            <a:spLocks noChangeArrowheads="1"/>
          </p:cNvSpPr>
          <p:nvPr/>
        </p:nvSpPr>
        <p:spPr bwMode="auto">
          <a:xfrm>
            <a:off x="7806019"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79" name="Rectangle 72"/>
          <p:cNvSpPr>
            <a:spLocks noChangeArrowheads="1"/>
          </p:cNvSpPr>
          <p:nvPr/>
        </p:nvSpPr>
        <p:spPr bwMode="auto">
          <a:xfrm>
            <a:off x="8256024"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80" name="Rectangle 73"/>
          <p:cNvSpPr>
            <a:spLocks noChangeArrowheads="1"/>
          </p:cNvSpPr>
          <p:nvPr/>
        </p:nvSpPr>
        <p:spPr bwMode="auto">
          <a:xfrm>
            <a:off x="8706029" y="585902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85" name="直線コネクタ 84"/>
          <p:cNvCxnSpPr>
            <a:endCxn id="64" idx="1"/>
          </p:cNvCxnSpPr>
          <p:nvPr/>
        </p:nvCxnSpPr>
        <p:spPr bwMode="auto">
          <a:xfrm flipV="1">
            <a:off x="4115979" y="5139017"/>
            <a:ext cx="1890021" cy="2"/>
          </a:xfrm>
          <a:prstGeom prst="line">
            <a:avLst/>
          </a:prstGeom>
          <a:noFill/>
          <a:ln w="9525" cap="flat" cmpd="sng" algn="ctr">
            <a:solidFill>
              <a:schemeClr val="tx1"/>
            </a:solidFill>
            <a:prstDash val="dash"/>
            <a:round/>
            <a:headEnd type="none" w="med" len="med"/>
            <a:tailEnd type="none" w="med" len="med"/>
          </a:ln>
          <a:effectLst/>
        </p:spPr>
      </p:cxnSp>
      <p:cxnSp>
        <p:nvCxnSpPr>
          <p:cNvPr id="88" name="直線コネクタ 87"/>
          <p:cNvCxnSpPr>
            <a:endCxn id="71" idx="1"/>
          </p:cNvCxnSpPr>
          <p:nvPr/>
        </p:nvCxnSpPr>
        <p:spPr bwMode="auto">
          <a:xfrm flipV="1">
            <a:off x="4115978" y="5589022"/>
            <a:ext cx="2340026" cy="2"/>
          </a:xfrm>
          <a:prstGeom prst="line">
            <a:avLst/>
          </a:prstGeom>
          <a:noFill/>
          <a:ln w="9525" cap="flat" cmpd="sng" algn="ctr">
            <a:solidFill>
              <a:schemeClr val="tx1"/>
            </a:solidFill>
            <a:prstDash val="dash"/>
            <a:round/>
            <a:headEnd type="none" w="med" len="med"/>
            <a:tailEnd type="none" w="med" len="med"/>
          </a:ln>
          <a:effectLst/>
        </p:spPr>
      </p:cxnSp>
      <p:cxnSp>
        <p:nvCxnSpPr>
          <p:cNvPr id="90" name="直線コネクタ 89"/>
          <p:cNvCxnSpPr>
            <a:endCxn id="76" idx="1"/>
          </p:cNvCxnSpPr>
          <p:nvPr/>
        </p:nvCxnSpPr>
        <p:spPr bwMode="auto">
          <a:xfrm flipV="1">
            <a:off x="4115979" y="6039027"/>
            <a:ext cx="2790031" cy="2"/>
          </a:xfrm>
          <a:prstGeom prst="line">
            <a:avLst/>
          </a:prstGeom>
          <a:noFill/>
          <a:ln w="9525" cap="flat" cmpd="sng" algn="ctr">
            <a:solidFill>
              <a:schemeClr val="tx1"/>
            </a:solidFill>
            <a:prstDash val="dash"/>
            <a:round/>
            <a:headEnd type="none" w="med" len="med"/>
            <a:tailEnd type="none" w="med" len="med"/>
          </a:ln>
          <a:effectLst/>
        </p:spPr>
      </p:cxnSp>
      <p:sp>
        <p:nvSpPr>
          <p:cNvPr id="92" name="Rectangle 73"/>
          <p:cNvSpPr>
            <a:spLocks noChangeArrowheads="1"/>
          </p:cNvSpPr>
          <p:nvPr/>
        </p:nvSpPr>
        <p:spPr bwMode="auto">
          <a:xfrm>
            <a:off x="6456004"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93" name="Rectangle 70"/>
          <p:cNvSpPr>
            <a:spLocks noChangeArrowheads="1"/>
          </p:cNvSpPr>
          <p:nvPr/>
        </p:nvSpPr>
        <p:spPr bwMode="auto">
          <a:xfrm>
            <a:off x="5555994" y="405900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94" name="Rectangle 71"/>
          <p:cNvSpPr>
            <a:spLocks noChangeArrowheads="1"/>
          </p:cNvSpPr>
          <p:nvPr/>
        </p:nvSpPr>
        <p:spPr bwMode="auto">
          <a:xfrm>
            <a:off x="6005999" y="405900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5" name="Rectangle 72"/>
          <p:cNvSpPr>
            <a:spLocks noChangeArrowheads="1"/>
          </p:cNvSpPr>
          <p:nvPr/>
        </p:nvSpPr>
        <p:spPr bwMode="auto">
          <a:xfrm>
            <a:off x="6456004" y="405900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96" name="Rectangle 73"/>
          <p:cNvSpPr>
            <a:spLocks noChangeArrowheads="1"/>
          </p:cNvSpPr>
          <p:nvPr/>
        </p:nvSpPr>
        <p:spPr bwMode="auto">
          <a:xfrm>
            <a:off x="6906009" y="405900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97" name="Rectangle 73"/>
          <p:cNvSpPr>
            <a:spLocks noChangeArrowheads="1"/>
          </p:cNvSpPr>
          <p:nvPr/>
        </p:nvSpPr>
        <p:spPr bwMode="auto">
          <a:xfrm>
            <a:off x="5555994" y="4509012"/>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00" name="正方形/長方形 99"/>
          <p:cNvSpPr/>
          <p:nvPr/>
        </p:nvSpPr>
        <p:spPr bwMode="auto">
          <a:xfrm>
            <a:off x="3035966" y="405900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err="1">
                <a:solidFill>
                  <a:schemeClr val="accent5"/>
                </a:solidFill>
              </a:rPr>
              <a:t>ld</a:t>
            </a:r>
            <a:r>
              <a:rPr lang="en-US" altLang="ja-JP" sz="1600" dirty="0">
                <a:solidFill>
                  <a:schemeClr val="accent5"/>
                </a:solidFill>
              </a:rPr>
              <a:t> [</a:t>
            </a:r>
            <a:r>
              <a:rPr lang="en-US" altLang="ja-JP" sz="1600" dirty="0" err="1">
                <a:solidFill>
                  <a:schemeClr val="accent5"/>
                </a:solidFill>
              </a:rPr>
              <a:t>rt</a:t>
            </a:r>
            <a:r>
              <a:rPr lang="en-US" altLang="ja-JP" sz="1600" dirty="0">
                <a:solidFill>
                  <a:schemeClr val="accent5"/>
                </a:solidFill>
              </a:rPr>
              <a:t>]</a:t>
            </a:r>
            <a:r>
              <a:rPr lang="ja-JP" altLang="en-US" sz="1600" dirty="0">
                <a:solidFill>
                  <a:schemeClr val="accent5"/>
                </a:solidFill>
              </a:rPr>
              <a:t>→</a:t>
            </a:r>
            <a:r>
              <a:rPr lang="en-US" altLang="ja-JP" sz="1600" dirty="0" err="1">
                <a:solidFill>
                  <a:schemeClr val="accent5"/>
                </a:solidFill>
              </a:rPr>
              <a:t>rd</a:t>
            </a:r>
            <a:endParaRPr lang="ja-JP" altLang="en-US" sz="1600" dirty="0">
              <a:solidFill>
                <a:schemeClr val="accent5"/>
              </a:solidFill>
              <a:latin typeface="メイリオ" panose="020B0604030504040204" pitchFamily="50" charset="-128"/>
              <a:ea typeface="メイリオ" panose="020B0604030504040204" pitchFamily="50" charset="-128"/>
            </a:endParaRPr>
          </a:p>
        </p:txBody>
      </p:sp>
      <p:sp>
        <p:nvSpPr>
          <p:cNvPr id="108" name="正方形/長方形 107"/>
          <p:cNvSpPr/>
          <p:nvPr/>
        </p:nvSpPr>
        <p:spPr bwMode="auto">
          <a:xfrm>
            <a:off x="3395970" y="450901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09" name="正方形/長方形 108"/>
          <p:cNvSpPr/>
          <p:nvPr/>
        </p:nvSpPr>
        <p:spPr bwMode="auto">
          <a:xfrm>
            <a:off x="3395970" y="495901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10" name="正方形/長方形 109"/>
          <p:cNvSpPr/>
          <p:nvPr/>
        </p:nvSpPr>
        <p:spPr bwMode="auto">
          <a:xfrm>
            <a:off x="3395970" y="540902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11" name="正方形/長方形 110"/>
          <p:cNvSpPr/>
          <p:nvPr/>
        </p:nvSpPr>
        <p:spPr bwMode="auto">
          <a:xfrm>
            <a:off x="3395970" y="585902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accent6"/>
                </a:solidFill>
                <a:latin typeface="メイリオ" panose="020B0604030504040204" pitchFamily="50" charset="-128"/>
                <a:ea typeface="メイリオ" panose="020B0604030504040204" pitchFamily="50" charset="-128"/>
              </a:rPr>
              <a:t>I4</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112" name="直線コネクタ 111"/>
          <p:cNvCxnSpPr/>
          <p:nvPr/>
        </p:nvCxnSpPr>
        <p:spPr bwMode="auto">
          <a:xfrm flipV="1">
            <a:off x="4115979" y="4689014"/>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115" name="直線コネクタ 114"/>
          <p:cNvCxnSpPr/>
          <p:nvPr/>
        </p:nvCxnSpPr>
        <p:spPr bwMode="auto">
          <a:xfrm>
            <a:off x="9066033" y="1088975"/>
            <a:ext cx="0" cy="5310059"/>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23289362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マイクロ命令への分解の利点</a:t>
            </a:r>
          </a:p>
        </p:txBody>
      </p:sp>
      <p:sp>
        <p:nvSpPr>
          <p:cNvPr id="3" name="テキスト プレースホルダー 2"/>
          <p:cNvSpPr>
            <a:spLocks noGrp="1"/>
          </p:cNvSpPr>
          <p:nvPr>
            <p:ph type="body" sz="quarter" idx="10"/>
          </p:nvPr>
        </p:nvSpPr>
        <p:spPr/>
        <p:txBody>
          <a:bodyPr/>
          <a:lstStyle/>
          <a:p>
            <a:r>
              <a:rPr kumimoji="1" lang="ja-JP" altLang="en-US" dirty="0"/>
              <a:t>処理時間が変わらないのなら，なぜこんな複雑なことをするのか？</a:t>
            </a:r>
            <a:endParaRPr kumimoji="1" lang="en-US" altLang="ja-JP" dirty="0"/>
          </a:p>
          <a:p>
            <a:r>
              <a:rPr lang="ja-JP" altLang="en-US" dirty="0"/>
              <a:t>分解後は，構造ハザードのことを一切考えなくてよくなるから</a:t>
            </a:r>
            <a:endParaRPr lang="en-US" altLang="ja-JP" dirty="0"/>
          </a:p>
          <a:p>
            <a:pPr lvl="1"/>
            <a:r>
              <a:rPr lang="en-US" altLang="ja-JP" dirty="0" err="1"/>
              <a:t>mov</a:t>
            </a:r>
            <a:r>
              <a:rPr lang="ja-JP" altLang="en-US" dirty="0" err="1"/>
              <a:t>，</a:t>
            </a:r>
            <a:r>
              <a:rPr lang="en-US" altLang="ja-JP" dirty="0"/>
              <a:t>pop</a:t>
            </a:r>
            <a:r>
              <a:rPr lang="ja-JP" altLang="en-US" dirty="0" err="1"/>
              <a:t>，</a:t>
            </a:r>
            <a:r>
              <a:rPr lang="en-US" altLang="ja-JP" dirty="0" err="1"/>
              <a:t>ld_inc</a:t>
            </a:r>
            <a:r>
              <a:rPr lang="en-US" altLang="ja-JP" dirty="0"/>
              <a:t> </a:t>
            </a:r>
            <a:r>
              <a:rPr lang="ja-JP" altLang="en-US" dirty="0"/>
              <a:t>が連続で来た場合，どう止めたらよいのか？</a:t>
            </a:r>
            <a:endParaRPr lang="en-US" altLang="ja-JP" dirty="0"/>
          </a:p>
          <a:p>
            <a:pPr lvl="2"/>
            <a:r>
              <a:rPr lang="ja-JP" altLang="en-US" dirty="0"/>
              <a:t>止めるべきステージの場所はさまざま</a:t>
            </a:r>
            <a:endParaRPr lang="en-US" altLang="ja-JP" dirty="0"/>
          </a:p>
          <a:p>
            <a:pPr lvl="2"/>
            <a:r>
              <a:rPr lang="ja-JP" altLang="en-US" dirty="0"/>
              <a:t>組み合わさると意味がわからない</a:t>
            </a:r>
            <a:endParaRPr lang="en-US" altLang="ja-JP" dirty="0"/>
          </a:p>
          <a:p>
            <a:pPr lvl="1"/>
            <a:r>
              <a:rPr kumimoji="1" lang="ja-JP" altLang="en-US" dirty="0"/>
              <a:t>マイクロ命令に分解してしまえば，</a:t>
            </a:r>
            <a:r>
              <a:rPr kumimoji="1" lang="en-US" altLang="ja-JP" dirty="0"/>
              <a:t>ID </a:t>
            </a:r>
            <a:r>
              <a:rPr kumimoji="1" lang="ja-JP" altLang="en-US" dirty="0"/>
              <a:t>ステージでのストール</a:t>
            </a:r>
            <a:br>
              <a:rPr kumimoji="1" lang="en-US" altLang="ja-JP" dirty="0"/>
            </a:br>
            <a:r>
              <a:rPr kumimoji="1" lang="ja-JP" altLang="en-US" dirty="0"/>
              <a:t>のみ考えれば良い</a:t>
            </a:r>
            <a:endParaRPr kumimoji="1" lang="en-US" altLang="ja-JP" dirty="0"/>
          </a:p>
        </p:txBody>
      </p:sp>
    </p:spTree>
    <p:extLst>
      <p:ext uri="{BB962C8B-B14F-4D97-AF65-F5344CB8AC3E}">
        <p14:creationId xmlns:p14="http://schemas.microsoft.com/office/powerpoint/2010/main" val="14231660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マイクロ命令への分解の利点</a:t>
            </a:r>
          </a:p>
        </p:txBody>
      </p:sp>
      <p:sp>
        <p:nvSpPr>
          <p:cNvPr id="3" name="テキスト プレースホルダー 2"/>
          <p:cNvSpPr>
            <a:spLocks noGrp="1"/>
          </p:cNvSpPr>
          <p:nvPr>
            <p:ph type="body" sz="quarter" idx="10"/>
          </p:nvPr>
        </p:nvSpPr>
        <p:spPr/>
        <p:txBody>
          <a:bodyPr/>
          <a:lstStyle/>
          <a:p>
            <a:r>
              <a:rPr lang="ja-JP" altLang="en-US" dirty="0"/>
              <a:t>内部の設計をクリーンにできる</a:t>
            </a:r>
            <a:endParaRPr lang="en-US" altLang="ja-JP" dirty="0"/>
          </a:p>
          <a:p>
            <a:pPr lvl="1"/>
            <a:r>
              <a:rPr kumimoji="1" lang="ja-JP" altLang="en-US" dirty="0"/>
              <a:t>スーパスカラ（パイプラインを複数並列に並べる）などでは，</a:t>
            </a:r>
            <a:br>
              <a:rPr lang="en-US" altLang="ja-JP" dirty="0"/>
            </a:br>
            <a:r>
              <a:rPr lang="ja-JP" altLang="en-US" dirty="0"/>
              <a:t>こうしないと複雑すぎて無理</a:t>
            </a:r>
            <a:endParaRPr lang="en-US" altLang="ja-JP" dirty="0"/>
          </a:p>
          <a:p>
            <a:r>
              <a:rPr kumimoji="1" lang="en-US" altLang="ja-JP" dirty="0"/>
              <a:t>= </a:t>
            </a:r>
            <a:r>
              <a:rPr kumimoji="1" lang="ja-JP" altLang="en-US" dirty="0"/>
              <a:t>内部を刷新</a:t>
            </a:r>
            <a:r>
              <a:rPr kumimoji="1" lang="ja-JP" altLang="en-US"/>
              <a:t>しつつ，プログラムの互換性</a:t>
            </a:r>
            <a:r>
              <a:rPr kumimoji="1" lang="ja-JP" altLang="en-US" dirty="0"/>
              <a:t>を保てる</a:t>
            </a:r>
            <a:endParaRPr kumimoji="1" lang="en-US" altLang="ja-JP" dirty="0"/>
          </a:p>
        </p:txBody>
      </p:sp>
    </p:spTree>
    <p:extLst>
      <p:ext uri="{BB962C8B-B14F-4D97-AF65-F5344CB8AC3E}">
        <p14:creationId xmlns:p14="http://schemas.microsoft.com/office/powerpoint/2010/main" val="302265361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マイクロ命令への分解の欠点</a:t>
            </a:r>
          </a:p>
        </p:txBody>
      </p:sp>
      <p:sp>
        <p:nvSpPr>
          <p:cNvPr id="3" name="テキスト プレースホルダー 2"/>
          <p:cNvSpPr>
            <a:spLocks noGrp="1"/>
          </p:cNvSpPr>
          <p:nvPr>
            <p:ph type="body" sz="quarter" idx="10"/>
          </p:nvPr>
        </p:nvSpPr>
        <p:spPr/>
        <p:txBody>
          <a:bodyPr/>
          <a:lstStyle/>
          <a:p>
            <a:r>
              <a:rPr kumimoji="1" lang="ja-JP" altLang="en-US" dirty="0"/>
              <a:t>分解（デコード）がマジで大変</a:t>
            </a:r>
            <a:endParaRPr kumimoji="1" lang="en-US" altLang="ja-JP" dirty="0"/>
          </a:p>
          <a:p>
            <a:r>
              <a:rPr kumimoji="1" lang="ja-JP" altLang="en-US" dirty="0"/>
              <a:t>基本的には，ひたすらパターン・マッチング</a:t>
            </a:r>
            <a:endParaRPr kumimoji="1" lang="en-US" altLang="ja-JP" dirty="0"/>
          </a:p>
          <a:p>
            <a:pPr lvl="1"/>
            <a:r>
              <a:rPr kumimoji="1" lang="ja-JP" altLang="en-US" dirty="0"/>
              <a:t>でかい真理値表がいる</a:t>
            </a:r>
            <a:endParaRPr kumimoji="1" lang="en-US" altLang="ja-JP" dirty="0"/>
          </a:p>
          <a:p>
            <a:pPr lvl="1"/>
            <a:r>
              <a:rPr kumimoji="1" lang="ja-JP" altLang="en-US" dirty="0"/>
              <a:t>本当に複雑なものは，メモリで出来たテーブルも使う</a:t>
            </a:r>
          </a:p>
        </p:txBody>
      </p:sp>
    </p:spTree>
    <p:extLst>
      <p:ext uri="{BB962C8B-B14F-4D97-AF65-F5344CB8AC3E}">
        <p14:creationId xmlns:p14="http://schemas.microsoft.com/office/powerpoint/2010/main" val="6534447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AMD Bulldozer </a:t>
            </a:r>
            <a:r>
              <a:rPr kumimoji="1" lang="ja-JP" altLang="en-US" dirty="0"/>
              <a:t>のチップ写真</a:t>
            </a:r>
          </a:p>
        </p:txBody>
      </p:sp>
      <p:sp>
        <p:nvSpPr>
          <p:cNvPr id="3" name="テキスト プレースホルダー 2"/>
          <p:cNvSpPr>
            <a:spLocks noGrp="1"/>
          </p:cNvSpPr>
          <p:nvPr>
            <p:ph type="body" sz="quarter" idx="10"/>
          </p:nvPr>
        </p:nvSpPr>
        <p:spPr>
          <a:xfrm>
            <a:off x="2135956" y="5769027"/>
            <a:ext cx="8280092" cy="539699"/>
          </a:xfrm>
        </p:spPr>
        <p:txBody>
          <a:bodyPr/>
          <a:lstStyle/>
          <a:p>
            <a:r>
              <a:rPr lang="en-US" altLang="ja-JP" sz="1100" dirty="0"/>
              <a:t>Tim Fischer1 , Srikanth Arekapudi2 , Eric Busta1 , Carl Dietz3 , Michael Golden2 , Scott Hilker2 , Aaron Horiuchi1 , Kevin A. Hurd1 , Dave Johnson1 , Hugh McIntyre2 , Samuel Naffziger1 , James Vinh2 , Jonathan White4 , Kathryn Wilcox, Design Solutions for the Bulldozer 32nm SOI 2-Core Processor Module in an 8-Core CPU, ISSCC 2011 </a:t>
            </a:r>
            <a:r>
              <a:rPr lang="ja-JP" altLang="en-US" sz="1100" dirty="0"/>
              <a:t>より</a:t>
            </a:r>
          </a:p>
        </p:txBody>
      </p:sp>
      <p:pic>
        <p:nvPicPr>
          <p:cNvPr id="4" name="図 3"/>
          <p:cNvPicPr>
            <a:picLocks noChangeAspect="1"/>
          </p:cNvPicPr>
          <p:nvPr/>
        </p:nvPicPr>
        <p:blipFill>
          <a:blip r:embed="rId2"/>
          <a:stretch>
            <a:fillRect/>
          </a:stretch>
        </p:blipFill>
        <p:spPr>
          <a:xfrm>
            <a:off x="2495961" y="1268976"/>
            <a:ext cx="7492327" cy="3925378"/>
          </a:xfrm>
          <a:prstGeom prst="rect">
            <a:avLst/>
          </a:prstGeom>
        </p:spPr>
      </p:pic>
      <p:sp>
        <p:nvSpPr>
          <p:cNvPr id="6" name="正方形/長方形 5"/>
          <p:cNvSpPr/>
          <p:nvPr/>
        </p:nvSpPr>
        <p:spPr bwMode="auto">
          <a:xfrm>
            <a:off x="2765963" y="2798993"/>
            <a:ext cx="180002" cy="540006"/>
          </a:xfrm>
          <a:prstGeom prst="rect">
            <a:avLst/>
          </a:prstGeom>
          <a:solidFill>
            <a:srgbClr val="009999">
              <a:alpha val="50000"/>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ALU</a:t>
            </a:r>
            <a:endParaRPr lang="ja-JP" altLang="en-US" sz="1200" b="1" dirty="0">
              <a:solidFill>
                <a:schemeClr val="bg1"/>
              </a:solidFill>
              <a:latin typeface="+mn-ea"/>
            </a:endParaRPr>
          </a:p>
        </p:txBody>
      </p:sp>
      <p:sp>
        <p:nvSpPr>
          <p:cNvPr id="7" name="正方形/長方形 6"/>
          <p:cNvSpPr/>
          <p:nvPr/>
        </p:nvSpPr>
        <p:spPr bwMode="auto">
          <a:xfrm>
            <a:off x="6005999" y="2798993"/>
            <a:ext cx="180002" cy="540006"/>
          </a:xfrm>
          <a:prstGeom prst="rect">
            <a:avLst/>
          </a:prstGeom>
          <a:solidFill>
            <a:srgbClr val="009999">
              <a:alpha val="50000"/>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r>
              <a:rPr lang="en-US" altLang="ja-JP" sz="1200" b="1" dirty="0">
                <a:solidFill>
                  <a:schemeClr val="bg1"/>
                </a:solidFill>
                <a:latin typeface="+mn-ea"/>
              </a:rPr>
              <a:t>ALU</a:t>
            </a:r>
            <a:endParaRPr lang="ja-JP" altLang="en-US" sz="1200" b="1" dirty="0">
              <a:solidFill>
                <a:schemeClr val="bg1"/>
              </a:solidFill>
              <a:latin typeface="+mn-ea"/>
            </a:endParaRPr>
          </a:p>
        </p:txBody>
      </p:sp>
      <p:sp>
        <p:nvSpPr>
          <p:cNvPr id="8" name="正方形/長方形 7"/>
          <p:cNvSpPr/>
          <p:nvPr/>
        </p:nvSpPr>
        <p:spPr bwMode="auto">
          <a:xfrm>
            <a:off x="3755974" y="1808983"/>
            <a:ext cx="1080012" cy="900009"/>
          </a:xfrm>
          <a:prstGeom prst="rect">
            <a:avLst/>
          </a:prstGeom>
          <a:solidFill>
            <a:srgbClr val="9933FF">
              <a:alpha val="49804"/>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b="1" dirty="0">
                <a:solidFill>
                  <a:schemeClr val="bg1"/>
                </a:solidFill>
                <a:latin typeface="+mn-ea"/>
              </a:rPr>
              <a:t>Decode</a:t>
            </a:r>
            <a:endParaRPr lang="ja-JP" altLang="en-US" sz="1400" b="1" dirty="0">
              <a:solidFill>
                <a:schemeClr val="bg1"/>
              </a:solidFill>
              <a:latin typeface="+mn-ea"/>
            </a:endParaRPr>
          </a:p>
        </p:txBody>
      </p:sp>
      <p:sp>
        <p:nvSpPr>
          <p:cNvPr id="9" name="正方形/長方形 8"/>
          <p:cNvSpPr/>
          <p:nvPr/>
        </p:nvSpPr>
        <p:spPr bwMode="auto">
          <a:xfrm>
            <a:off x="3755974" y="1358978"/>
            <a:ext cx="1080012" cy="450005"/>
          </a:xfrm>
          <a:prstGeom prst="rect">
            <a:avLst/>
          </a:prstGeom>
          <a:solidFill>
            <a:srgbClr val="9933FF">
              <a:alpha val="49804"/>
            </a:srgbClr>
          </a:solidFill>
          <a:ln>
            <a:headEnd/>
            <a:tailEnd type="triangle" w="sm" len="med"/>
          </a:ln>
        </p:spPr>
        <p:style>
          <a:lnRef idx="3">
            <a:schemeClr val="lt1"/>
          </a:lnRef>
          <a:fillRef idx="1">
            <a:schemeClr val="accent1"/>
          </a:fillRef>
          <a:effectRef idx="1">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sz="1400" b="1" dirty="0">
                <a:solidFill>
                  <a:schemeClr val="bg1"/>
                </a:solidFill>
                <a:latin typeface="+mn-ea"/>
              </a:rPr>
              <a:t>Microcode</a:t>
            </a:r>
            <a:br>
              <a:rPr lang="en-US" altLang="ja-JP" sz="1400" b="1" dirty="0">
                <a:solidFill>
                  <a:schemeClr val="bg1"/>
                </a:solidFill>
                <a:latin typeface="+mn-ea"/>
              </a:rPr>
            </a:br>
            <a:r>
              <a:rPr lang="en-US" altLang="ja-JP" sz="1400" b="1" dirty="0">
                <a:solidFill>
                  <a:schemeClr val="bg1"/>
                </a:solidFill>
                <a:latin typeface="+mn-ea"/>
              </a:rPr>
              <a:t>ROM</a:t>
            </a:r>
            <a:endParaRPr lang="ja-JP" altLang="en-US" sz="1400" b="1" dirty="0">
              <a:solidFill>
                <a:schemeClr val="bg1"/>
              </a:solidFill>
              <a:latin typeface="+mn-ea"/>
            </a:endParaRPr>
          </a:p>
        </p:txBody>
      </p:sp>
    </p:spTree>
    <p:extLst>
      <p:ext uri="{BB962C8B-B14F-4D97-AF65-F5344CB8AC3E}">
        <p14:creationId xmlns:p14="http://schemas.microsoft.com/office/powerpoint/2010/main" val="42823651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ARM Cortex-A15 </a:t>
            </a:r>
            <a:r>
              <a:rPr lang="ja-JP" altLang="en-US" dirty="0"/>
              <a:t>の消費電力の割合</a:t>
            </a:r>
            <a:endParaRPr kumimoji="1" lang="ja-JP" altLang="en-US" dirty="0"/>
          </a:p>
        </p:txBody>
      </p:sp>
      <p:sp>
        <p:nvSpPr>
          <p:cNvPr id="3" name="テキスト プレースホルダー 2"/>
          <p:cNvSpPr>
            <a:spLocks noGrp="1"/>
          </p:cNvSpPr>
          <p:nvPr>
            <p:ph type="body" sz="quarter" idx="10"/>
          </p:nvPr>
        </p:nvSpPr>
        <p:spPr>
          <a:xfrm>
            <a:off x="2225957" y="5589025"/>
            <a:ext cx="8190091" cy="719701"/>
          </a:xfrm>
        </p:spPr>
        <p:txBody>
          <a:bodyPr/>
          <a:lstStyle/>
          <a:p>
            <a:r>
              <a:rPr lang="en-US" altLang="ja-JP" sz="1200" dirty="0"/>
              <a:t>NVIDIA </a:t>
            </a:r>
            <a:r>
              <a:rPr lang="en-US" altLang="ja-JP" sz="1200" dirty="0" err="1"/>
              <a:t>Tegra</a:t>
            </a:r>
            <a:r>
              <a:rPr lang="en-US" altLang="ja-JP" sz="1200" dirty="0"/>
              <a:t> 4 Family CPU Architecture </a:t>
            </a:r>
            <a:r>
              <a:rPr lang="ja-JP" altLang="en-US" sz="1200" dirty="0"/>
              <a:t>より</a:t>
            </a:r>
            <a:endParaRPr lang="en-US" altLang="ja-JP" sz="1200" dirty="0"/>
          </a:p>
        </p:txBody>
      </p:sp>
      <p:pic>
        <p:nvPicPr>
          <p:cNvPr id="5" name="図 4"/>
          <p:cNvPicPr>
            <a:picLocks noChangeAspect="1"/>
          </p:cNvPicPr>
          <p:nvPr/>
        </p:nvPicPr>
        <p:blipFill>
          <a:blip r:embed="rId2"/>
          <a:stretch>
            <a:fillRect/>
          </a:stretch>
        </p:blipFill>
        <p:spPr>
          <a:xfrm>
            <a:off x="3395971" y="1178975"/>
            <a:ext cx="5401429" cy="4267796"/>
          </a:xfrm>
          <a:prstGeom prst="rect">
            <a:avLst/>
          </a:prstGeom>
        </p:spPr>
      </p:pic>
      <p:sp>
        <p:nvSpPr>
          <p:cNvPr id="6" name="角丸四角形 5"/>
          <p:cNvSpPr/>
          <p:nvPr/>
        </p:nvSpPr>
        <p:spPr bwMode="auto">
          <a:xfrm>
            <a:off x="7806020" y="2528990"/>
            <a:ext cx="1170013" cy="540006"/>
          </a:xfrm>
          <a:prstGeom prst="roundRect">
            <a:avLst/>
          </a:prstGeom>
          <a:noFill/>
          <a:ln w="38100">
            <a:solidFill>
              <a:schemeClr val="accent5"/>
            </a:solidFill>
            <a:headEnd/>
            <a:tailEnd type="triangle" w="sm"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617345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マイクロ命令への分解の他の利点</a:t>
            </a:r>
          </a:p>
        </p:txBody>
      </p:sp>
      <p:sp>
        <p:nvSpPr>
          <p:cNvPr id="3" name="テキスト プレースホルダー 2"/>
          <p:cNvSpPr>
            <a:spLocks noGrp="1"/>
          </p:cNvSpPr>
          <p:nvPr>
            <p:ph type="body" sz="quarter" idx="10"/>
          </p:nvPr>
        </p:nvSpPr>
        <p:spPr/>
        <p:txBody>
          <a:bodyPr/>
          <a:lstStyle/>
          <a:p>
            <a:r>
              <a:rPr kumimoji="1" lang="en-US" altLang="ja-JP" dirty="0"/>
              <a:t>CPU </a:t>
            </a:r>
            <a:r>
              <a:rPr kumimoji="1" lang="ja-JP" altLang="en-US" dirty="0"/>
              <a:t>にバグがあったときに，後からパッチが当てられる</a:t>
            </a:r>
            <a:endParaRPr kumimoji="1" lang="en-US" altLang="ja-JP" dirty="0"/>
          </a:p>
          <a:p>
            <a:pPr lvl="1"/>
            <a:r>
              <a:rPr kumimoji="1" lang="ja-JP" altLang="en-US" dirty="0"/>
              <a:t>バグを「エラッタ」とも呼ぶ</a:t>
            </a:r>
            <a:endParaRPr kumimoji="1" lang="en-US" altLang="ja-JP" dirty="0"/>
          </a:p>
          <a:p>
            <a:r>
              <a:rPr kumimoji="1" lang="ja-JP" altLang="en-US" dirty="0"/>
              <a:t>動作がおかしい命令を，違う命令の列で置き換える</a:t>
            </a:r>
            <a:endParaRPr kumimoji="1" lang="en-US" altLang="ja-JP" dirty="0"/>
          </a:p>
          <a:p>
            <a:pPr lvl="1"/>
            <a:r>
              <a:rPr kumimoji="1" lang="ja-JP" altLang="en-US" dirty="0"/>
              <a:t>分解に使う表は，あとから書き換えられるようになっている</a:t>
            </a:r>
            <a:endParaRPr kumimoji="1" lang="en-US" altLang="ja-JP" dirty="0"/>
          </a:p>
          <a:p>
            <a:pPr lvl="2"/>
            <a:r>
              <a:rPr lang="en-US" altLang="ja-JP" dirty="0"/>
              <a:t>Microcode ROM </a:t>
            </a:r>
            <a:r>
              <a:rPr lang="ja-JP" altLang="en-US" dirty="0"/>
              <a:t>というのがそれ</a:t>
            </a:r>
            <a:endParaRPr lang="en-US" altLang="ja-JP" dirty="0"/>
          </a:p>
          <a:p>
            <a:pPr lvl="1"/>
            <a:r>
              <a:rPr kumimoji="1" lang="ja-JP" altLang="en-US" dirty="0"/>
              <a:t>ただし，元の命令の動作を他の複数の命令で再現したりするので，</a:t>
            </a:r>
            <a:br>
              <a:rPr kumimoji="1" lang="en-US" altLang="ja-JP" dirty="0"/>
            </a:br>
            <a:r>
              <a:rPr kumimoji="1" lang="ja-JP" altLang="en-US" dirty="0"/>
              <a:t>かなり遅くなる事もある</a:t>
            </a:r>
          </a:p>
        </p:txBody>
      </p:sp>
    </p:spTree>
    <p:extLst>
      <p:ext uri="{BB962C8B-B14F-4D97-AF65-F5344CB8AC3E}">
        <p14:creationId xmlns:p14="http://schemas.microsoft.com/office/powerpoint/2010/main" val="431519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インテルの </a:t>
            </a:r>
            <a:r>
              <a:rPr kumimoji="1" lang="en-US" altLang="ja-JP" dirty="0"/>
              <a:t>Core </a:t>
            </a:r>
            <a:r>
              <a:rPr kumimoji="1" lang="ja-JP" altLang="en-US" dirty="0"/>
              <a:t>シリーズのエラッタのリスト</a:t>
            </a:r>
            <a:br>
              <a:rPr kumimoji="1" lang="en-US" altLang="ja-JP" dirty="0"/>
            </a:br>
            <a:r>
              <a:rPr lang="ja-JP" altLang="en-US" dirty="0"/>
              <a:t>地味に結構バグって</a:t>
            </a:r>
            <a:r>
              <a:rPr lang="ja-JP" altLang="en-US" dirty="0" err="1"/>
              <a:t>る</a:t>
            </a:r>
            <a:endParaRPr kumimoji="1" lang="ja-JP" altLang="en-US" dirty="0"/>
          </a:p>
        </p:txBody>
      </p:sp>
      <p:sp>
        <p:nvSpPr>
          <p:cNvPr id="3" name="テキスト プレースホルダー 2"/>
          <p:cNvSpPr>
            <a:spLocks noGrp="1"/>
          </p:cNvSpPr>
          <p:nvPr>
            <p:ph type="body" sz="quarter" idx="10"/>
          </p:nvPr>
        </p:nvSpPr>
        <p:spPr>
          <a:xfrm>
            <a:off x="2405960" y="6489035"/>
            <a:ext cx="8010089" cy="179695"/>
          </a:xfrm>
        </p:spPr>
        <p:txBody>
          <a:bodyPr/>
          <a:lstStyle/>
          <a:p>
            <a:r>
              <a:rPr lang="en-US" altLang="ja-JP" sz="1100" dirty="0"/>
              <a:t>https://edc.intel.com/content/www/us/en/secure/design/confidential/products-and-solutions/processors-and-chipsets/tiger-lake/11th-generation-intel-core-processor-family-specification-update/summary-tables-of-changes/#_Summary_Tables_of </a:t>
            </a:r>
            <a:r>
              <a:rPr lang="ja-JP" altLang="en-US" sz="1100" dirty="0"/>
              <a:t>より</a:t>
            </a:r>
          </a:p>
        </p:txBody>
      </p:sp>
      <p:pic>
        <p:nvPicPr>
          <p:cNvPr id="7" name="図 6">
            <a:extLst>
              <a:ext uri="{FF2B5EF4-FFF2-40B4-BE49-F238E27FC236}">
                <a16:creationId xmlns:a16="http://schemas.microsoft.com/office/drawing/2014/main" id="{A9551BAE-29C6-4020-6892-0DE43FC1BDE2}"/>
              </a:ext>
            </a:extLst>
          </p:cNvPr>
          <p:cNvPicPr>
            <a:picLocks noChangeAspect="1"/>
          </p:cNvPicPr>
          <p:nvPr/>
        </p:nvPicPr>
        <p:blipFill>
          <a:blip r:embed="rId2"/>
          <a:stretch>
            <a:fillRect/>
          </a:stretch>
        </p:blipFill>
        <p:spPr>
          <a:xfrm>
            <a:off x="1775952" y="1268976"/>
            <a:ext cx="3458500" cy="3600040"/>
          </a:xfrm>
          <a:prstGeom prst="rect">
            <a:avLst/>
          </a:prstGeom>
        </p:spPr>
      </p:pic>
      <p:pic>
        <p:nvPicPr>
          <p:cNvPr id="13" name="図 12">
            <a:extLst>
              <a:ext uri="{FF2B5EF4-FFF2-40B4-BE49-F238E27FC236}">
                <a16:creationId xmlns:a16="http://schemas.microsoft.com/office/drawing/2014/main" id="{9E4BC0C6-0251-0A2C-7424-DB9CB47A1C0B}"/>
              </a:ext>
            </a:extLst>
          </p:cNvPr>
          <p:cNvPicPr>
            <a:picLocks noChangeAspect="1"/>
          </p:cNvPicPr>
          <p:nvPr/>
        </p:nvPicPr>
        <p:blipFill>
          <a:blip r:embed="rId3"/>
          <a:stretch>
            <a:fillRect/>
          </a:stretch>
        </p:blipFill>
        <p:spPr>
          <a:xfrm>
            <a:off x="5375993" y="1358978"/>
            <a:ext cx="5112467" cy="4059007"/>
          </a:xfrm>
          <a:prstGeom prst="rect">
            <a:avLst/>
          </a:prstGeom>
        </p:spPr>
      </p:pic>
    </p:spTree>
    <p:extLst>
      <p:ext uri="{BB962C8B-B14F-4D97-AF65-F5344CB8AC3E}">
        <p14:creationId xmlns:p14="http://schemas.microsoft.com/office/powerpoint/2010/main" val="10102007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685952" y="0"/>
            <a:ext cx="8982049" cy="908972"/>
          </a:xfrm>
        </p:spPr>
        <p:txBody>
          <a:bodyPr/>
          <a:lstStyle/>
          <a:p>
            <a:br>
              <a:rPr lang="ja-JP" altLang="en-US" dirty="0"/>
            </a:br>
            <a:r>
              <a:rPr lang="en-US" altLang="ja-JP" dirty="0"/>
              <a:t>Windows Update </a:t>
            </a:r>
            <a:r>
              <a:rPr lang="ja-JP" altLang="en-US" dirty="0"/>
              <a:t>でこっそり更新されていたりもする</a:t>
            </a:r>
            <a:br>
              <a:rPr lang="ja-JP" altLang="en-US" dirty="0"/>
            </a:br>
            <a:endParaRPr kumimoji="1" lang="ja-JP" altLang="en-US" dirty="0"/>
          </a:p>
        </p:txBody>
      </p:sp>
      <p:sp>
        <p:nvSpPr>
          <p:cNvPr id="3" name="テキスト プレースホルダー 2"/>
          <p:cNvSpPr>
            <a:spLocks noGrp="1"/>
          </p:cNvSpPr>
          <p:nvPr>
            <p:ph type="body" sz="quarter" idx="10"/>
          </p:nvPr>
        </p:nvSpPr>
        <p:spPr>
          <a:xfrm>
            <a:off x="2135956" y="5949028"/>
            <a:ext cx="8280092" cy="629700"/>
          </a:xfrm>
        </p:spPr>
        <p:txBody>
          <a:bodyPr/>
          <a:lstStyle/>
          <a:p>
            <a:r>
              <a:rPr lang="en-US" altLang="ja-JP" sz="1600" dirty="0"/>
              <a:t>https://support.microsoft.com/ja-jp/help/4093836/summary-of-intel-microcode-updates </a:t>
            </a:r>
            <a:r>
              <a:rPr lang="ja-JP" altLang="en-US" sz="1600" dirty="0"/>
              <a:t>より</a:t>
            </a:r>
          </a:p>
        </p:txBody>
      </p:sp>
      <p:pic>
        <p:nvPicPr>
          <p:cNvPr id="4" name="図 3"/>
          <p:cNvPicPr>
            <a:picLocks noChangeAspect="1"/>
          </p:cNvPicPr>
          <p:nvPr/>
        </p:nvPicPr>
        <p:blipFill>
          <a:blip r:embed="rId2"/>
          <a:stretch>
            <a:fillRect/>
          </a:stretch>
        </p:blipFill>
        <p:spPr>
          <a:xfrm>
            <a:off x="2855965" y="1088975"/>
            <a:ext cx="6239289" cy="4739717"/>
          </a:xfrm>
          <a:prstGeom prst="rect">
            <a:avLst/>
          </a:prstGeom>
        </p:spPr>
      </p:pic>
    </p:spTree>
    <p:extLst>
      <p:ext uri="{BB962C8B-B14F-4D97-AF65-F5344CB8AC3E}">
        <p14:creationId xmlns:p14="http://schemas.microsoft.com/office/powerpoint/2010/main" val="23462557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余談：命令の歴史</a:t>
            </a:r>
          </a:p>
        </p:txBody>
      </p:sp>
      <p:sp>
        <p:nvSpPr>
          <p:cNvPr id="3" name="テキスト プレースホルダー 2"/>
          <p:cNvSpPr>
            <a:spLocks noGrp="1"/>
          </p:cNvSpPr>
          <p:nvPr>
            <p:ph type="body" sz="quarter" idx="10"/>
          </p:nvPr>
        </p:nvSpPr>
        <p:spPr/>
        <p:txBody>
          <a:bodyPr/>
          <a:lstStyle/>
          <a:p>
            <a:r>
              <a:rPr lang="en-US" altLang="ja-JP" dirty="0"/>
              <a:t>RISC-V </a:t>
            </a:r>
            <a:r>
              <a:rPr lang="ja-JP" altLang="en-US" dirty="0"/>
              <a:t>や </a:t>
            </a:r>
            <a:r>
              <a:rPr lang="en-US" altLang="ja-JP" dirty="0"/>
              <a:t>MIPS </a:t>
            </a:r>
            <a:r>
              <a:rPr lang="ja-JP" altLang="en-US" dirty="0"/>
              <a:t>などでは，パイプライン実行を最初から想定</a:t>
            </a:r>
            <a:endParaRPr lang="en-US" altLang="ja-JP" dirty="0"/>
          </a:p>
          <a:p>
            <a:pPr lvl="1"/>
            <a:r>
              <a:rPr lang="ja-JP" altLang="en-US" dirty="0"/>
              <a:t>小さいハードで構造ハザードが起きにくいよう設計されている</a:t>
            </a:r>
            <a:endParaRPr lang="en-US" altLang="ja-JP" dirty="0"/>
          </a:p>
          <a:p>
            <a:pPr lvl="1"/>
            <a:r>
              <a:rPr lang="en-US" altLang="ja-JP" dirty="0"/>
              <a:t>RISC</a:t>
            </a:r>
            <a:r>
              <a:rPr lang="ja-JP" altLang="en-US" dirty="0"/>
              <a:t>（</a:t>
            </a:r>
            <a:r>
              <a:rPr lang="en-US" altLang="ja-JP" dirty="0"/>
              <a:t>Reduced Instruction Set Computer</a:t>
            </a:r>
            <a:r>
              <a:rPr lang="ja-JP" altLang="en-US" dirty="0"/>
              <a:t>）と呼ばれる</a:t>
            </a:r>
            <a:endParaRPr lang="en-US" altLang="ja-JP" dirty="0"/>
          </a:p>
          <a:p>
            <a:pPr lvl="1"/>
            <a:r>
              <a:rPr lang="en-US" altLang="ja-JP" dirty="0"/>
              <a:t>RISC-V </a:t>
            </a:r>
            <a:r>
              <a:rPr lang="ja-JP" altLang="en-US" dirty="0"/>
              <a:t>は，「</a:t>
            </a:r>
            <a:r>
              <a:rPr lang="en-US" altLang="ja-JP" dirty="0"/>
              <a:t>5</a:t>
            </a:r>
            <a:r>
              <a:rPr lang="ja-JP" altLang="en-US" dirty="0"/>
              <a:t>代目の </a:t>
            </a:r>
            <a:r>
              <a:rPr lang="en-US" altLang="ja-JP" dirty="0"/>
              <a:t>RISC</a:t>
            </a:r>
            <a:r>
              <a:rPr lang="ja-JP" altLang="en-US" dirty="0"/>
              <a:t>」という名前</a:t>
            </a:r>
            <a:endParaRPr lang="en-US" altLang="ja-JP" dirty="0"/>
          </a:p>
          <a:p>
            <a:r>
              <a:rPr kumimoji="1" lang="en-US" altLang="ja-JP" dirty="0"/>
              <a:t>x86 </a:t>
            </a:r>
            <a:r>
              <a:rPr kumimoji="1" lang="ja-JP" altLang="en-US" dirty="0"/>
              <a:t>は，登場時はパイプライン化を考えていなかった</a:t>
            </a:r>
            <a:endParaRPr kumimoji="1" lang="en-US" altLang="ja-JP" dirty="0"/>
          </a:p>
          <a:p>
            <a:pPr lvl="1"/>
            <a:r>
              <a:rPr kumimoji="1" lang="ja-JP" altLang="en-US" dirty="0"/>
              <a:t>当時は，小数の命令でたくさんのことができるのが正義</a:t>
            </a:r>
            <a:endParaRPr kumimoji="1" lang="en-US" altLang="ja-JP" dirty="0"/>
          </a:p>
          <a:p>
            <a:pPr lvl="1"/>
            <a:r>
              <a:rPr kumimoji="1" lang="ja-JP" altLang="en-US" dirty="0"/>
              <a:t>しかし，そのままではパイプライン化は困難</a:t>
            </a:r>
            <a:endParaRPr kumimoji="1" lang="en-US" altLang="ja-JP" dirty="0"/>
          </a:p>
          <a:p>
            <a:pPr lvl="1"/>
            <a:r>
              <a:rPr lang="en-US" altLang="ja-JP" dirty="0"/>
              <a:t>CISC</a:t>
            </a:r>
            <a:r>
              <a:rPr lang="ja-JP" altLang="en-US" dirty="0"/>
              <a:t>（</a:t>
            </a:r>
            <a:r>
              <a:rPr lang="en-US" altLang="ja-JP" dirty="0"/>
              <a:t>Complex Instruction Set Computer</a:t>
            </a:r>
            <a:r>
              <a:rPr lang="ja-JP" altLang="en-US" dirty="0"/>
              <a:t>）と呼ばれる</a:t>
            </a:r>
            <a:endParaRPr lang="en-US" altLang="ja-JP" dirty="0"/>
          </a:p>
          <a:p>
            <a:r>
              <a:rPr kumimoji="1" lang="en-US" altLang="ja-JP" dirty="0"/>
              <a:t>ARM </a:t>
            </a:r>
            <a:r>
              <a:rPr kumimoji="1" lang="ja-JP" altLang="en-US" dirty="0"/>
              <a:t>の </a:t>
            </a:r>
            <a:r>
              <a:rPr kumimoji="1" lang="en-US" altLang="ja-JP" dirty="0"/>
              <a:t>R </a:t>
            </a:r>
            <a:r>
              <a:rPr kumimoji="1" lang="ja-JP" altLang="en-US" dirty="0"/>
              <a:t>は </a:t>
            </a:r>
            <a:r>
              <a:rPr kumimoji="1" lang="en-US" altLang="ja-JP" dirty="0"/>
              <a:t>RISC </a:t>
            </a:r>
            <a:r>
              <a:rPr kumimoji="1" lang="ja-JP" altLang="en-US" dirty="0"/>
              <a:t>の </a:t>
            </a:r>
            <a:r>
              <a:rPr kumimoji="1" lang="en-US" altLang="ja-JP" dirty="0"/>
              <a:t>R </a:t>
            </a:r>
            <a:r>
              <a:rPr kumimoji="1" lang="ja-JP" altLang="en-US" dirty="0"/>
              <a:t>なのだが，</a:t>
            </a:r>
            <a:r>
              <a:rPr kumimoji="1" lang="en-US" altLang="ja-JP" dirty="0"/>
              <a:t>ARM </a:t>
            </a:r>
            <a:r>
              <a:rPr kumimoji="1" lang="ja-JP" altLang="en-US" dirty="0"/>
              <a:t>は結構 </a:t>
            </a:r>
            <a:r>
              <a:rPr kumimoji="1" lang="en-US" altLang="ja-JP" dirty="0"/>
              <a:t>CISC </a:t>
            </a:r>
            <a:r>
              <a:rPr kumimoji="1" lang="ja-JP" altLang="en-US" dirty="0"/>
              <a:t>ぽい</a:t>
            </a:r>
            <a:endParaRPr kumimoji="1" lang="en-US" altLang="ja-JP" dirty="0"/>
          </a:p>
          <a:p>
            <a:pPr lvl="1"/>
            <a:r>
              <a:rPr lang="en-US" altLang="ja-JP" dirty="0"/>
              <a:t>ARM</a:t>
            </a:r>
            <a:r>
              <a:rPr lang="ja-JP" altLang="en-US" dirty="0"/>
              <a:t>：</a:t>
            </a:r>
            <a:r>
              <a:rPr lang="en-US" altLang="ja-JP" dirty="0"/>
              <a:t>Advanced RISC Machine</a:t>
            </a:r>
          </a:p>
          <a:p>
            <a:pPr lvl="1"/>
            <a:r>
              <a:rPr lang="ja-JP" altLang="en-US" dirty="0"/>
              <a:t>構造ハザードを凄い勢いで起こす命令が多い</a:t>
            </a:r>
            <a:r>
              <a:rPr lang="en-US" altLang="ja-JP" dirty="0"/>
              <a:t> </a:t>
            </a:r>
            <a:endParaRPr kumimoji="1" lang="en-US" altLang="ja-JP" dirty="0"/>
          </a:p>
        </p:txBody>
      </p:sp>
    </p:spTree>
    <p:extLst>
      <p:ext uri="{BB962C8B-B14F-4D97-AF65-F5344CB8AC3E}">
        <p14:creationId xmlns:p14="http://schemas.microsoft.com/office/powerpoint/2010/main" val="37941945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余談：命令の歴史</a:t>
            </a:r>
          </a:p>
        </p:txBody>
      </p:sp>
      <p:sp>
        <p:nvSpPr>
          <p:cNvPr id="3" name="テキスト プレースホルダー 2"/>
          <p:cNvSpPr>
            <a:spLocks noGrp="1"/>
          </p:cNvSpPr>
          <p:nvPr>
            <p:ph type="body" sz="quarter" idx="10"/>
          </p:nvPr>
        </p:nvSpPr>
        <p:spPr>
          <a:xfrm>
            <a:off x="1775952" y="1088974"/>
            <a:ext cx="9270103" cy="5219751"/>
          </a:xfrm>
        </p:spPr>
        <p:txBody>
          <a:bodyPr/>
          <a:lstStyle/>
          <a:p>
            <a:r>
              <a:rPr kumimoji="1" lang="ja-JP" altLang="en-US" dirty="0"/>
              <a:t>マイクロ命令への分解により，</a:t>
            </a:r>
            <a:r>
              <a:rPr kumimoji="1" lang="en-US" altLang="ja-JP" dirty="0"/>
              <a:t>x86 </a:t>
            </a:r>
            <a:r>
              <a:rPr kumimoji="1" lang="ja-JP" altLang="en-US" dirty="0"/>
              <a:t>や </a:t>
            </a:r>
            <a:r>
              <a:rPr kumimoji="1" lang="en-US" altLang="ja-JP" dirty="0"/>
              <a:t>ARM </a:t>
            </a:r>
            <a:r>
              <a:rPr kumimoji="1" lang="ja-JP" altLang="en-US" dirty="0"/>
              <a:t>はこの問題を（一応）克服</a:t>
            </a:r>
            <a:endParaRPr kumimoji="1" lang="en-US" altLang="ja-JP" dirty="0"/>
          </a:p>
          <a:p>
            <a:pPr lvl="1"/>
            <a:r>
              <a:rPr kumimoji="1" lang="ja-JP" altLang="en-US" dirty="0"/>
              <a:t>回路規模やエネルギーにおける代償は大きい</a:t>
            </a:r>
            <a:endParaRPr kumimoji="1" lang="en-US" altLang="ja-JP" dirty="0"/>
          </a:p>
          <a:p>
            <a:pPr lvl="1"/>
            <a:r>
              <a:rPr kumimoji="1" lang="ja-JP" altLang="en-US" dirty="0"/>
              <a:t>互換性が維持できるので，商業上重要</a:t>
            </a:r>
            <a:endParaRPr kumimoji="1" lang="en-US" altLang="ja-JP" dirty="0"/>
          </a:p>
          <a:p>
            <a:r>
              <a:rPr kumimoji="1" lang="en-US" altLang="ja-JP" dirty="0"/>
              <a:t>x86</a:t>
            </a:r>
            <a:r>
              <a:rPr lang="ja-JP" altLang="en-US" dirty="0"/>
              <a:t> や </a:t>
            </a:r>
            <a:r>
              <a:rPr lang="en-US" altLang="ja-JP" dirty="0"/>
              <a:t>ARM </a:t>
            </a:r>
            <a:r>
              <a:rPr lang="ja-JP" altLang="en-US" dirty="0"/>
              <a:t>は，</a:t>
            </a:r>
            <a:r>
              <a:rPr lang="en-US" altLang="ja-JP" dirty="0"/>
              <a:t>64bit </a:t>
            </a:r>
            <a:r>
              <a:rPr lang="ja-JP" altLang="en-US" dirty="0"/>
              <a:t>バージョンを作る際に命令の内容をかなり整理した</a:t>
            </a:r>
            <a:endParaRPr lang="en-US" altLang="ja-JP" dirty="0"/>
          </a:p>
          <a:p>
            <a:pPr lvl="1"/>
            <a:r>
              <a:rPr kumimoji="1" lang="ja-JP" altLang="en-US" dirty="0"/>
              <a:t>パイプラインが作りやすくなっている</a:t>
            </a:r>
            <a:endParaRPr kumimoji="1" lang="en-US" altLang="ja-JP" dirty="0"/>
          </a:p>
          <a:p>
            <a:pPr lvl="1"/>
            <a:r>
              <a:rPr kumimoji="1" lang="ja-JP" altLang="en-US" dirty="0"/>
              <a:t>富岳の </a:t>
            </a:r>
            <a:r>
              <a:rPr kumimoji="1" lang="en-US" altLang="ja-JP" dirty="0"/>
              <a:t>A64FX </a:t>
            </a:r>
            <a:r>
              <a:rPr kumimoji="1" lang="ja-JP" altLang="en-US" dirty="0"/>
              <a:t>では </a:t>
            </a:r>
            <a:r>
              <a:rPr kumimoji="1" lang="en-US" altLang="ja-JP" dirty="0"/>
              <a:t>ARM</a:t>
            </a:r>
            <a:r>
              <a:rPr kumimoji="1" lang="ja-JP" altLang="en-US" dirty="0"/>
              <a:t> </a:t>
            </a:r>
            <a:r>
              <a:rPr kumimoji="1" lang="en-US" altLang="ja-JP" dirty="0"/>
              <a:t>32bit </a:t>
            </a:r>
            <a:r>
              <a:rPr kumimoji="1" lang="ja-JP" altLang="en-US" dirty="0"/>
              <a:t>を切り捨てており（多分），</a:t>
            </a:r>
            <a:br>
              <a:rPr kumimoji="1" lang="en-US" altLang="ja-JP" dirty="0"/>
            </a:br>
            <a:r>
              <a:rPr kumimoji="1" lang="ja-JP" altLang="en-US" dirty="0"/>
              <a:t>大分楽になっているはず</a:t>
            </a:r>
          </a:p>
        </p:txBody>
      </p:sp>
    </p:spTree>
    <p:extLst>
      <p:ext uri="{BB962C8B-B14F-4D97-AF65-F5344CB8AC3E}">
        <p14:creationId xmlns:p14="http://schemas.microsoft.com/office/powerpoint/2010/main" val="87543180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構造ハザードのまとめ</a:t>
            </a:r>
          </a:p>
        </p:txBody>
      </p:sp>
      <p:sp>
        <p:nvSpPr>
          <p:cNvPr id="3" name="テキスト プレースホルダー 2"/>
          <p:cNvSpPr>
            <a:spLocks noGrp="1"/>
          </p:cNvSpPr>
          <p:nvPr>
            <p:ph type="body" sz="quarter" idx="10"/>
          </p:nvPr>
        </p:nvSpPr>
        <p:spPr/>
        <p:txBody>
          <a:bodyPr/>
          <a:lstStyle/>
          <a:p>
            <a:r>
              <a:rPr lang="ja-JP" altLang="en-US" dirty="0"/>
              <a:t>構造ハザード：ハード資源の不足に起因</a:t>
            </a:r>
            <a:endParaRPr lang="en-US" altLang="ja-JP" dirty="0"/>
          </a:p>
          <a:p>
            <a:r>
              <a:rPr lang="ja-JP" altLang="en-US" dirty="0"/>
              <a:t>解決方法</a:t>
            </a:r>
            <a:endParaRPr lang="en-US" altLang="ja-JP" dirty="0"/>
          </a:p>
          <a:p>
            <a:pPr marL="817200" lvl="1" indent="-457200">
              <a:buFont typeface="+mj-lt"/>
              <a:buAutoNum type="arabicPeriod"/>
            </a:pPr>
            <a:r>
              <a:rPr lang="ja-JP" altLang="en-US" dirty="0"/>
              <a:t>ハードウェアの増強</a:t>
            </a:r>
            <a:endParaRPr lang="en-US" altLang="ja-JP" dirty="0"/>
          </a:p>
          <a:p>
            <a:pPr marL="817200" lvl="1" indent="-457200">
              <a:buFont typeface="+mj-lt"/>
              <a:buAutoNum type="arabicPeriod"/>
            </a:pPr>
            <a:r>
              <a:rPr lang="ja-JP" altLang="en-US" dirty="0"/>
              <a:t>時分割処理</a:t>
            </a:r>
            <a:endParaRPr lang="en-US" altLang="ja-JP" dirty="0"/>
          </a:p>
          <a:p>
            <a:pPr marL="817200" lvl="1" indent="-457200">
              <a:buFont typeface="+mj-lt"/>
              <a:buAutoNum type="arabicPeriod"/>
            </a:pPr>
            <a:r>
              <a:rPr lang="ja-JP" altLang="en-US" dirty="0"/>
              <a:t>マイクロ命令への変換</a:t>
            </a:r>
            <a:endParaRPr lang="en-US" altLang="ja-JP" dirty="0"/>
          </a:p>
          <a:p>
            <a:r>
              <a:rPr kumimoji="1" lang="ja-JP" altLang="en-US" dirty="0"/>
              <a:t>パイプライン・ストール</a:t>
            </a:r>
          </a:p>
        </p:txBody>
      </p:sp>
    </p:spTree>
    <p:extLst>
      <p:ext uri="{BB962C8B-B14F-4D97-AF65-F5344CB8AC3E}">
        <p14:creationId xmlns:p14="http://schemas.microsoft.com/office/powerpoint/2010/main" val="25680168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F6C3DF1-F9EC-B285-2E83-D56AE7F0639E}"/>
              </a:ext>
            </a:extLst>
          </p:cNvPr>
          <p:cNvSpPr>
            <a:spLocks noGrp="1"/>
          </p:cNvSpPr>
          <p:nvPr>
            <p:ph type="title"/>
          </p:nvPr>
        </p:nvSpPr>
        <p:spPr/>
        <p:txBody>
          <a:bodyPr/>
          <a:lstStyle/>
          <a:p>
            <a:r>
              <a:rPr lang="ja-JP" altLang="en-US" b="1" dirty="0"/>
              <a:t>非構造ハザード</a:t>
            </a:r>
            <a:endParaRPr lang="ja-JP" altLang="en-US" dirty="0"/>
          </a:p>
        </p:txBody>
      </p:sp>
    </p:spTree>
    <p:extLst>
      <p:ext uri="{BB962C8B-B14F-4D97-AF65-F5344CB8AC3E}">
        <p14:creationId xmlns:p14="http://schemas.microsoft.com/office/powerpoint/2010/main" val="32540468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b="1" dirty="0"/>
              <a:t>非構造ハザード</a:t>
            </a:r>
            <a:endParaRPr kumimoji="1" lang="ja-JP" altLang="en-US" dirty="0"/>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構造ハザード：ハード資源の不足に起因</a:t>
            </a:r>
            <a:endParaRPr lang="en-US" altLang="ja-JP" dirty="0"/>
          </a:p>
          <a:p>
            <a:pPr marL="385200" indent="-457200">
              <a:buFont typeface="+mj-lt"/>
              <a:buAutoNum type="arabicPeriod"/>
            </a:pPr>
            <a:r>
              <a:rPr lang="ja-JP" altLang="en-US" b="1" dirty="0"/>
              <a:t>非構造ハザード：バックエッジに由来</a:t>
            </a:r>
            <a:endParaRPr lang="en-US" altLang="ja-JP" b="1"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p:txBody>
      </p:sp>
    </p:spTree>
    <p:extLst>
      <p:ext uri="{BB962C8B-B14F-4D97-AF65-F5344CB8AC3E}">
        <p14:creationId xmlns:p14="http://schemas.microsoft.com/office/powerpoint/2010/main" val="33809306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バックエッジとは：逆方向（右から左）にいく信号</a:t>
            </a:r>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バックエッジがあるため，命令を</a:t>
            </a:r>
            <a:r>
              <a:rPr lang="ja-JP" altLang="en-US" dirty="0"/>
              <a:t>単純に流せない場合がある</a:t>
            </a:r>
            <a:endParaRPr lang="en-US" altLang="ja-JP" dirty="0"/>
          </a:p>
          <a:p>
            <a:pPr lvl="1"/>
            <a:r>
              <a:rPr lang="ja-JP" altLang="en-US" dirty="0"/>
              <a:t>工場のラインのように，一方向に流せない</a:t>
            </a:r>
            <a:endParaRPr kumimoji="1" lang="ja-JP" altLang="en-US" dirty="0"/>
          </a:p>
        </p:txBody>
      </p:sp>
      <p:sp>
        <p:nvSpPr>
          <p:cNvPr id="4" name="正方形/長方形 3"/>
          <p:cNvSpPr/>
          <p:nvPr/>
        </p:nvSpPr>
        <p:spPr bwMode="auto">
          <a:xfrm>
            <a:off x="2495960"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91007" y="3834004"/>
            <a:ext cx="117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789004"/>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4149008"/>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978993"/>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2528990"/>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2438989"/>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正方形/長方形 12"/>
          <p:cNvSpPr/>
          <p:nvPr/>
        </p:nvSpPr>
        <p:spPr bwMode="auto">
          <a:xfrm>
            <a:off x="2135955" y="225898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a:off x="1595950" y="1988984"/>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3080968" y="2213985"/>
            <a:ext cx="630007"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1595950" y="1988984"/>
            <a:ext cx="1800020" cy="0"/>
          </a:xfrm>
          <a:prstGeom prst="straightConnector1">
            <a:avLst/>
          </a:prstGeom>
          <a:noFill/>
          <a:ln w="9525" cap="flat" cmpd="sng" algn="ctr">
            <a:solidFill>
              <a:schemeClr val="tx1"/>
            </a:solidFill>
            <a:prstDash val="solid"/>
            <a:round/>
            <a:headEnd type="none" w="sm" len="sm"/>
            <a:tailEnd type="none"/>
          </a:ln>
          <a:effectLst/>
        </p:spPr>
      </p:cxnSp>
      <p:cxnSp>
        <p:nvCxnSpPr>
          <p:cNvPr id="17" name="直線矢印コネクタ 16"/>
          <p:cNvCxnSpPr/>
          <p:nvPr/>
        </p:nvCxnSpPr>
        <p:spPr bwMode="auto">
          <a:xfrm>
            <a:off x="3935976" y="4149008"/>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p:cNvSpPr/>
          <p:nvPr/>
        </p:nvSpPr>
        <p:spPr bwMode="auto">
          <a:xfrm>
            <a:off x="249596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9" name="正方形/長方形 18"/>
          <p:cNvSpPr/>
          <p:nvPr/>
        </p:nvSpPr>
        <p:spPr bwMode="auto">
          <a:xfrm>
            <a:off x="3575972"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20" name="Freeform 10"/>
          <p:cNvSpPr>
            <a:spLocks/>
          </p:cNvSpPr>
          <p:nvPr/>
        </p:nvSpPr>
        <p:spPr bwMode="auto">
          <a:xfrm flipV="1">
            <a:off x="4475982" y="3969003"/>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1" name="直線矢印コネクタ 20"/>
          <p:cNvCxnSpPr/>
          <p:nvPr/>
        </p:nvCxnSpPr>
        <p:spPr bwMode="auto">
          <a:xfrm>
            <a:off x="4475982" y="4329010"/>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2" name="正方形/長方形 21"/>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3" name="正方形/長方形 22"/>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414900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6" name="正方形/長方形 25"/>
          <p:cNvSpPr/>
          <p:nvPr/>
        </p:nvSpPr>
        <p:spPr bwMode="auto">
          <a:xfrm>
            <a:off x="465598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7" name="正方形/長方形 26"/>
          <p:cNvSpPr/>
          <p:nvPr/>
        </p:nvSpPr>
        <p:spPr bwMode="auto">
          <a:xfrm>
            <a:off x="2495960"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8" name="直線矢印コネクタ 27"/>
          <p:cNvCxnSpPr/>
          <p:nvPr/>
        </p:nvCxnSpPr>
        <p:spPr bwMode="auto">
          <a:xfrm>
            <a:off x="4475982" y="468901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9" name="Freeform 10"/>
          <p:cNvSpPr>
            <a:spLocks/>
          </p:cNvSpPr>
          <p:nvPr/>
        </p:nvSpPr>
        <p:spPr bwMode="auto">
          <a:xfrm>
            <a:off x="4475982" y="1898984"/>
            <a:ext cx="180002"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 name="Freeform 10"/>
          <p:cNvSpPr>
            <a:spLocks/>
          </p:cNvSpPr>
          <p:nvPr/>
        </p:nvSpPr>
        <p:spPr bwMode="auto">
          <a:xfrm rot="10800000" flipH="1">
            <a:off x="9876039" y="3429000"/>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1" name="直線矢印コネクタ 30"/>
          <p:cNvCxnSpPr/>
          <p:nvPr/>
        </p:nvCxnSpPr>
        <p:spPr bwMode="auto">
          <a:xfrm>
            <a:off x="9696040" y="4149008"/>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536016" y="4149008"/>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3" name="直線矢印コネクタ 32"/>
          <p:cNvCxnSpPr/>
          <p:nvPr/>
        </p:nvCxnSpPr>
        <p:spPr bwMode="auto">
          <a:xfrm>
            <a:off x="6096000" y="3789004"/>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4" name="直線矢印コネクタ 33"/>
          <p:cNvCxnSpPr/>
          <p:nvPr/>
        </p:nvCxnSpPr>
        <p:spPr bwMode="auto">
          <a:xfrm>
            <a:off x="6096000" y="4599013"/>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825602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7" name="Freeform 10"/>
          <p:cNvSpPr>
            <a:spLocks/>
          </p:cNvSpPr>
          <p:nvPr/>
        </p:nvSpPr>
        <p:spPr bwMode="auto">
          <a:xfrm>
            <a:off x="6636005" y="4599013"/>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459901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Freeform 10"/>
          <p:cNvSpPr>
            <a:spLocks/>
          </p:cNvSpPr>
          <p:nvPr/>
        </p:nvSpPr>
        <p:spPr bwMode="auto">
          <a:xfrm flipV="1">
            <a:off x="8076022" y="378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0" name="正方形/長方形 39"/>
          <p:cNvSpPr/>
          <p:nvPr/>
        </p:nvSpPr>
        <p:spPr bwMode="auto">
          <a:xfrm>
            <a:off x="8256024" y="4419011"/>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1" name="直線矢印コネクタ 40"/>
          <p:cNvCxnSpPr/>
          <p:nvPr/>
        </p:nvCxnSpPr>
        <p:spPr bwMode="auto">
          <a:xfrm>
            <a:off x="10056044" y="3158997"/>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2" name="直線矢印コネクタ 41"/>
          <p:cNvCxnSpPr/>
          <p:nvPr/>
        </p:nvCxnSpPr>
        <p:spPr bwMode="auto">
          <a:xfrm flipH="1">
            <a:off x="3395971" y="1898983"/>
            <a:ext cx="7110079" cy="0"/>
          </a:xfrm>
          <a:prstGeom prst="straightConnector1">
            <a:avLst/>
          </a:prstGeom>
          <a:noFill/>
          <a:ln w="31750" cap="flat" cmpd="sng" algn="ctr">
            <a:solidFill>
              <a:schemeClr val="accent6"/>
            </a:solidFill>
            <a:prstDash val="solid"/>
            <a:round/>
            <a:headEnd type="none" w="sm" len="sm"/>
            <a:tailEnd type="triangle"/>
          </a:ln>
          <a:effectLst/>
        </p:spPr>
      </p:cxnSp>
      <p:sp>
        <p:nvSpPr>
          <p:cNvPr id="43" name="Freeform 10"/>
          <p:cNvSpPr>
            <a:spLocks/>
          </p:cNvSpPr>
          <p:nvPr/>
        </p:nvSpPr>
        <p:spPr bwMode="auto">
          <a:xfrm rot="10800000" flipH="1">
            <a:off x="8076022" y="3248995"/>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rot="5400000" flipH="1" flipV="1">
            <a:off x="9561041" y="2393989"/>
            <a:ext cx="1440015"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879603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cxnSp>
        <p:nvCxnSpPr>
          <p:cNvPr id="46" name="直線矢印コネクタ 45"/>
          <p:cNvCxnSpPr/>
          <p:nvPr/>
        </p:nvCxnSpPr>
        <p:spPr bwMode="auto">
          <a:xfrm>
            <a:off x="3395970" y="1808982"/>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7" name="直線矢印コネクタ 46"/>
          <p:cNvCxnSpPr/>
          <p:nvPr/>
        </p:nvCxnSpPr>
        <p:spPr bwMode="auto">
          <a:xfrm flipH="1">
            <a:off x="3395970" y="2078985"/>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48" name="正方形/長方形 47"/>
          <p:cNvSpPr/>
          <p:nvPr/>
        </p:nvSpPr>
        <p:spPr bwMode="auto">
          <a:xfrm>
            <a:off x="3395970" y="1178975"/>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2. </a:t>
            </a:r>
            <a:r>
              <a:rPr lang="ja-JP" altLang="en-US" sz="1600" dirty="0">
                <a:solidFill>
                  <a:schemeClr val="accent6"/>
                </a:solidFill>
                <a:latin typeface="メイリオ" panose="020B0604030504040204" pitchFamily="50" charset="-128"/>
                <a:ea typeface="メイリオ" panose="020B0604030504040204" pitchFamily="50" charset="-128"/>
              </a:rPr>
              <a:t>分岐結果の </a:t>
            </a:r>
            <a:r>
              <a:rPr lang="en-US" altLang="ja-JP" sz="1600" dirty="0">
                <a:solidFill>
                  <a:schemeClr val="accent6"/>
                </a:solidFill>
                <a:latin typeface="メイリオ" panose="020B0604030504040204" pitchFamily="50" charset="-128"/>
                <a:ea typeface="メイリオ" panose="020B0604030504040204" pitchFamily="50" charset="-128"/>
              </a:rPr>
              <a:t>PC </a:t>
            </a:r>
            <a:r>
              <a:rPr lang="ja-JP" altLang="en-US" sz="1600" dirty="0" err="1">
                <a:solidFill>
                  <a:schemeClr val="accent6"/>
                </a:solidFill>
                <a:latin typeface="メイリオ" panose="020B0604030504040204" pitchFamily="50" charset="-128"/>
                <a:ea typeface="メイリオ" panose="020B0604030504040204" pitchFamily="50" charset="-128"/>
              </a:rPr>
              <a:t>への</a:t>
            </a:r>
            <a:r>
              <a:rPr lang="ja-JP" altLang="en-US" sz="1600" dirty="0">
                <a:solidFill>
                  <a:schemeClr val="accent6"/>
                </a:solidFill>
                <a:latin typeface="メイリオ" panose="020B0604030504040204" pitchFamily="50" charset="-128"/>
                <a:ea typeface="メイリオ" panose="020B0604030504040204" pitchFamily="50" charset="-128"/>
              </a:rPr>
              <a:t>反映</a:t>
            </a:r>
            <a:endParaRPr lang="en-US" altLang="ja-JP" sz="1600" dirty="0">
              <a:solidFill>
                <a:schemeClr val="accent6"/>
              </a:solidFill>
              <a:latin typeface="メイリオ" panose="020B0604030504040204" pitchFamily="50" charset="-128"/>
              <a:ea typeface="メイリオ" panose="020B0604030504040204" pitchFamily="50" charset="-128"/>
            </a:endParaRPr>
          </a:p>
          <a:p>
            <a:r>
              <a:rPr lang="ja-JP" altLang="en-US" sz="1600" dirty="0">
                <a:solidFill>
                  <a:schemeClr val="accent6"/>
                </a:solidFill>
                <a:latin typeface="メイリオ" panose="020B0604030504040204" pitchFamily="50" charset="-128"/>
                <a:ea typeface="メイリオ" panose="020B0604030504040204" pitchFamily="50" charset="-128"/>
              </a:rPr>
              <a:t>制御ハザードの原因</a:t>
            </a:r>
          </a:p>
        </p:txBody>
      </p:sp>
      <p:sp>
        <p:nvSpPr>
          <p:cNvPr id="49" name="正方形/長方形 48"/>
          <p:cNvSpPr/>
          <p:nvPr/>
        </p:nvSpPr>
        <p:spPr bwMode="auto">
          <a:xfrm>
            <a:off x="4835986" y="288899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marL="342900" indent="-342900">
              <a:buAutoNum type="arabicPeriod"/>
            </a:pPr>
            <a:r>
              <a:rPr lang="ja-JP" altLang="en-US" sz="1600" dirty="0">
                <a:solidFill>
                  <a:schemeClr val="accent6"/>
                </a:solidFill>
                <a:latin typeface="メイリオ" panose="020B0604030504040204" pitchFamily="50" charset="-128"/>
                <a:ea typeface="メイリオ" panose="020B0604030504040204" pitchFamily="50" charset="-128"/>
              </a:rPr>
              <a:t>演算やロードの結果の書き込み</a:t>
            </a:r>
            <a:br>
              <a:rPr lang="en-US" altLang="ja-JP" sz="1600" dirty="0">
                <a:solidFill>
                  <a:schemeClr val="accent6"/>
                </a:solidFill>
                <a:latin typeface="メイリオ" panose="020B0604030504040204" pitchFamily="50" charset="-128"/>
                <a:ea typeface="メイリオ" panose="020B0604030504040204" pitchFamily="50" charset="-128"/>
              </a:rPr>
            </a:br>
            <a:r>
              <a:rPr lang="ja-JP" altLang="en-US" sz="1600" dirty="0">
                <a:solidFill>
                  <a:schemeClr val="accent6"/>
                </a:solidFill>
                <a:latin typeface="メイリオ" panose="020B0604030504040204" pitchFamily="50" charset="-128"/>
                <a:ea typeface="メイリオ" panose="020B0604030504040204" pitchFamily="50" charset="-128"/>
              </a:rPr>
              <a:t>データハザードの原因</a:t>
            </a:r>
          </a:p>
        </p:txBody>
      </p:sp>
    </p:spTree>
    <p:extLst>
      <p:ext uri="{BB962C8B-B14F-4D97-AF65-F5344CB8AC3E}">
        <p14:creationId xmlns:p14="http://schemas.microsoft.com/office/powerpoint/2010/main" val="4236209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データ・ハザード</a:t>
            </a:r>
            <a:endParaRPr kumimoji="1" lang="ja-JP" altLang="en-US" dirty="0"/>
          </a:p>
        </p:txBody>
      </p:sp>
      <p:sp>
        <p:nvSpPr>
          <p:cNvPr id="58" name="コンテンツ プレースホルダー 57"/>
          <p:cNvSpPr>
            <a:spLocks noGrp="1"/>
          </p:cNvSpPr>
          <p:nvPr>
            <p:ph idx="4294967295"/>
          </p:nvPr>
        </p:nvSpPr>
        <p:spPr>
          <a:xfrm>
            <a:off x="1775953" y="4689015"/>
            <a:ext cx="8730097" cy="1369161"/>
          </a:xfrm>
          <a:prstGeom prst="rect">
            <a:avLst/>
          </a:prstGeom>
        </p:spPr>
        <p:txBody>
          <a:bodyPr/>
          <a:lstStyle/>
          <a:p>
            <a:r>
              <a:rPr lang="ja-JP" altLang="en-US" dirty="0"/>
              <a:t>レジスタ・ファイルへのアクセス</a:t>
            </a:r>
            <a:endParaRPr lang="en-US" altLang="ja-JP" dirty="0"/>
          </a:p>
          <a:p>
            <a:pPr lvl="1"/>
            <a:r>
              <a:rPr lang="ja-JP" altLang="en-US" dirty="0"/>
              <a:t>演算の入力は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の人がレジスタ・ファイルから読み出す</a:t>
            </a:r>
            <a:endParaRPr lang="en-US" altLang="ja-JP" dirty="0"/>
          </a:p>
          <a:p>
            <a:pPr lvl="1"/>
            <a:r>
              <a:rPr lang="ja-JP" altLang="en-US" dirty="0"/>
              <a:t>演算の結果は</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の人がレジスタ・ファイルに書き込む</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命令メモリ</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ALU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8076022" y="1808982"/>
            <a:ext cx="1350015" cy="432646"/>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書きます！</a:t>
            </a:r>
          </a:p>
        </p:txBody>
      </p:sp>
      <p:sp>
        <p:nvSpPr>
          <p:cNvPr id="45" name="角丸四角形吹き出し 44"/>
          <p:cNvSpPr/>
          <p:nvPr/>
        </p:nvSpPr>
        <p:spPr bwMode="auto">
          <a:xfrm>
            <a:off x="5195990" y="1808982"/>
            <a:ext cx="1350015"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読みます！</a:t>
            </a:r>
          </a:p>
        </p:txBody>
      </p:sp>
    </p:spTree>
    <p:extLst>
      <p:ext uri="{BB962C8B-B14F-4D97-AF65-F5344CB8AC3E}">
        <p14:creationId xmlns:p14="http://schemas.microsoft.com/office/powerpoint/2010/main" val="1935621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データ・ハザード</a:t>
            </a:r>
            <a:endParaRPr kumimoji="1" lang="ja-JP" altLang="en-US" dirty="0"/>
          </a:p>
        </p:txBody>
      </p:sp>
      <p:sp>
        <p:nvSpPr>
          <p:cNvPr id="58" name="コンテンツ プレースホルダー 57"/>
          <p:cNvSpPr>
            <a:spLocks noGrp="1"/>
          </p:cNvSpPr>
          <p:nvPr>
            <p:ph idx="4294967295"/>
          </p:nvPr>
        </p:nvSpPr>
        <p:spPr>
          <a:xfrm>
            <a:off x="1775953" y="4869017"/>
            <a:ext cx="8730097" cy="1369161"/>
          </a:xfrm>
          <a:prstGeom prst="rect">
            <a:avLst/>
          </a:prstGeom>
        </p:spPr>
        <p:txBody>
          <a:bodyPr/>
          <a:lstStyle/>
          <a:p>
            <a:r>
              <a:rPr lang="ja-JP" altLang="en-US" dirty="0"/>
              <a:t>直前の命令の結果を使う命令が現れた場合：</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の人が </a:t>
            </a:r>
            <a:r>
              <a:rPr lang="en-US" altLang="ja-JP" b="1" dirty="0"/>
              <a:t>b</a:t>
            </a:r>
            <a:r>
              <a:rPr lang="en-US" altLang="ja-JP" dirty="0"/>
              <a:t>=a+1 </a:t>
            </a:r>
            <a:r>
              <a:rPr lang="ja-JP" altLang="en-US" dirty="0"/>
              <a:t>の結果を読もうとしても，</a:t>
            </a:r>
            <a:endParaRPr lang="en-US" altLang="ja-JP" dirty="0"/>
          </a:p>
          <a:p>
            <a:pPr lvl="1"/>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の人がまだ計算中でレジスタ・ファイルに </a:t>
            </a:r>
            <a:r>
              <a:rPr lang="en-US" altLang="ja-JP" dirty="0"/>
              <a:t>b </a:t>
            </a:r>
            <a:r>
              <a:rPr lang="ja-JP" altLang="en-US" dirty="0"/>
              <a:t>が書けていない</a:t>
            </a:r>
            <a:endParaRPr lang="en-US" altLang="ja-JP" dirty="0"/>
          </a:p>
          <a:p>
            <a:pPr lvl="1"/>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の人が計算結果をかけるのはさらに次のサイクル</a:t>
            </a:r>
            <a:endPar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07" y="1808982"/>
            <a:ext cx="1260014" cy="432646"/>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計算中･･･</a:t>
            </a:r>
          </a:p>
        </p:txBody>
      </p:sp>
      <p:sp>
        <p:nvSpPr>
          <p:cNvPr id="45" name="角丸四角形吹き出し 44"/>
          <p:cNvSpPr/>
          <p:nvPr/>
        </p:nvSpPr>
        <p:spPr bwMode="auto">
          <a:xfrm>
            <a:off x="5195990" y="1808982"/>
            <a:ext cx="1260014" cy="432646"/>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ください</a:t>
            </a:r>
          </a:p>
        </p:txBody>
      </p:sp>
      <p:sp>
        <p:nvSpPr>
          <p:cNvPr id="46" name="角丸四角形 45"/>
          <p:cNvSpPr/>
          <p:nvPr/>
        </p:nvSpPr>
        <p:spPr bwMode="auto">
          <a:xfrm>
            <a:off x="6456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3" y="1808982"/>
            <a:ext cx="2160024"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まだ</a:t>
            </a:r>
            <a:r>
              <a:rPr lang="ja-JP" altLang="en-US" dirty="0" err="1">
                <a:solidFill>
                  <a:schemeClr val="tx1">
                    <a:lumMod val="65000"/>
                    <a:lumOff val="35000"/>
                  </a:schemeClr>
                </a:solidFill>
                <a:latin typeface="Arial Narrow" panose="020B0606020202030204" pitchFamily="34" charset="0"/>
              </a:rPr>
              <a:t>ｂ</a:t>
            </a:r>
            <a:r>
              <a:rPr lang="ja-JP" altLang="en-US" dirty="0">
                <a:solidFill>
                  <a:schemeClr val="tx1">
                    <a:lumMod val="65000"/>
                    <a:lumOff val="35000"/>
                  </a:schemeClr>
                </a:solidFill>
                <a:latin typeface="Arial Narrow" panose="020B0606020202030204" pitchFamily="34" charset="0"/>
              </a:rPr>
              <a:t>書けないよ</a:t>
            </a:r>
          </a:p>
        </p:txBody>
      </p:sp>
    </p:spTree>
    <p:extLst>
      <p:ext uri="{BB962C8B-B14F-4D97-AF65-F5344CB8AC3E}">
        <p14:creationId xmlns:p14="http://schemas.microsoft.com/office/powerpoint/2010/main" val="38848918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en-US" altLang="ja-JP" dirty="0"/>
              <a:t>I0 </a:t>
            </a:r>
            <a:r>
              <a:rPr kumimoji="1" lang="ja-JP" altLang="en-US" dirty="0"/>
              <a:t>の </a:t>
            </a:r>
            <a:r>
              <a:rPr kumimoji="1" lang="en-US" altLang="ja-JP" dirty="0"/>
              <a:t>WB </a:t>
            </a:r>
            <a:r>
              <a:rPr kumimoji="1" lang="ja-JP" altLang="en-US" dirty="0"/>
              <a:t>が終わるまで，その結果はレジスタに書き込まれない</a:t>
            </a:r>
            <a:endParaRPr kumimoji="1" lang="en-US" altLang="ja-JP" dirty="0"/>
          </a:p>
          <a:p>
            <a:pPr lvl="1"/>
            <a:r>
              <a:rPr lang="en-US" altLang="ja-JP" dirty="0"/>
              <a:t>I4 </a:t>
            </a:r>
            <a:r>
              <a:rPr lang="ja-JP" altLang="en-US" dirty="0"/>
              <a:t>までは，その値がレジスタから得られない</a:t>
            </a:r>
            <a:endParaRPr lang="en-US" altLang="ja-JP" dirty="0"/>
          </a:p>
          <a:p>
            <a:pPr lvl="1"/>
            <a:r>
              <a:rPr kumimoji="1" lang="en-US" altLang="ja-JP" dirty="0"/>
              <a:t>ID </a:t>
            </a:r>
            <a:r>
              <a:rPr kumimoji="1" lang="ja-JP" altLang="en-US" dirty="0"/>
              <a:t>ステージでレジスタを読むため</a:t>
            </a:r>
          </a:p>
        </p:txBody>
      </p:sp>
      <p:cxnSp>
        <p:nvCxnSpPr>
          <p:cNvPr id="4" name="直線コネクタ 3"/>
          <p:cNvCxnSpPr/>
          <p:nvPr/>
        </p:nvCxnSpPr>
        <p:spPr bwMode="auto">
          <a:xfrm>
            <a:off x="3935976" y="2438989"/>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7" name="直線コネクタ 36"/>
          <p:cNvCxnSpPr/>
          <p:nvPr/>
        </p:nvCxnSpPr>
        <p:spPr bwMode="auto">
          <a:xfrm>
            <a:off x="3935976" y="2888994"/>
            <a:ext cx="1440088" cy="0"/>
          </a:xfrm>
          <a:prstGeom prst="line">
            <a:avLst/>
          </a:prstGeom>
          <a:noFill/>
          <a:ln w="9525" cap="flat" cmpd="sng" algn="ctr">
            <a:solidFill>
              <a:schemeClr val="tx1"/>
            </a:solidFill>
            <a:prstDash val="dash"/>
            <a:round/>
            <a:headEnd type="none" w="med" len="med"/>
            <a:tailEnd type="none" w="med" len="med"/>
          </a:ln>
          <a:effectLst/>
        </p:spPr>
      </p:cxnSp>
      <p:sp>
        <p:nvSpPr>
          <p:cNvPr id="38" name="正方形/長方形 37"/>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0" name="直線コネクタ 39"/>
          <p:cNvCxnSpPr/>
          <p:nvPr/>
        </p:nvCxnSpPr>
        <p:spPr bwMode="auto">
          <a:xfrm>
            <a:off x="3935977" y="3338999"/>
            <a:ext cx="1890093" cy="0"/>
          </a:xfrm>
          <a:prstGeom prst="line">
            <a:avLst/>
          </a:prstGeom>
          <a:noFill/>
          <a:ln w="9525" cap="flat" cmpd="sng" algn="ctr">
            <a:solidFill>
              <a:schemeClr val="tx1"/>
            </a:solidFill>
            <a:prstDash val="dash"/>
            <a:round/>
            <a:headEnd type="none" w="med" len="med"/>
            <a:tailEnd type="none" w="med" len="med"/>
          </a:ln>
          <a:effectLst/>
        </p:spPr>
      </p:cxnSp>
      <p:sp>
        <p:nvSpPr>
          <p:cNvPr id="41" name="正方形/長方形 40"/>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2" name="直線コネクタ 41"/>
          <p:cNvCxnSpPr>
            <a:endCxn id="28"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43" name="正方形/長方形 42"/>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4"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cxnSp>
        <p:nvCxnSpPr>
          <p:cNvPr id="45" name="直線コネクタ 44"/>
          <p:cNvCxnSpPr/>
          <p:nvPr/>
        </p:nvCxnSpPr>
        <p:spPr bwMode="auto">
          <a:xfrm>
            <a:off x="6688837" y="1748717"/>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23361459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a:p>
            <a:pPr marL="817200" lvl="1" indent="-457200">
              <a:buFont typeface="+mj-lt"/>
              <a:buAutoNum type="arabicPeriod"/>
            </a:pPr>
            <a:r>
              <a:rPr kumimoji="1" lang="ja-JP" altLang="en-US" dirty="0"/>
              <a:t>マルチスレッディング</a:t>
            </a:r>
          </a:p>
        </p:txBody>
      </p:sp>
    </p:spTree>
    <p:extLst>
      <p:ext uri="{BB962C8B-B14F-4D97-AF65-F5344CB8AC3E}">
        <p14:creationId xmlns:p14="http://schemas.microsoft.com/office/powerpoint/2010/main" val="2317907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10" y="229445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70" y="2294455"/>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7" y="231304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7" y="231303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１．</a:t>
            </a:r>
            <a:r>
              <a:rPr lang="ja-JP" altLang="en-US" dirty="0"/>
              <a:t>ストール</a:t>
            </a:r>
            <a:endParaRPr kumimoji="1" lang="ja-JP" altLang="en-US" dirty="0"/>
          </a:p>
        </p:txBody>
      </p:sp>
      <p:sp>
        <p:nvSpPr>
          <p:cNvPr id="58" name="コンテンツ プレースホルダー 57"/>
          <p:cNvSpPr>
            <a:spLocks noGrp="1"/>
          </p:cNvSpPr>
          <p:nvPr>
            <p:ph idx="4294967295"/>
          </p:nvPr>
        </p:nvSpPr>
        <p:spPr>
          <a:xfrm>
            <a:off x="1775956" y="4869020"/>
            <a:ext cx="8730097" cy="1369161"/>
          </a:xfrm>
          <a:prstGeom prst="rect">
            <a:avLst/>
          </a:prstGeom>
        </p:spPr>
        <p:txBody>
          <a:bodyPr/>
          <a:lstStyle/>
          <a:p>
            <a:r>
              <a:rPr lang="ja-JP" altLang="en-US" dirty="0"/>
              <a:t>直前の命令の結果を使う命令が現れた場合：</a:t>
            </a:r>
            <a:endParaRPr lang="en-US" altLang="ja-JP" dirty="0"/>
          </a:p>
          <a:p>
            <a:pPr lvl="1"/>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の人が計算結果をレジスタに書くまで， </a:t>
            </a:r>
            <a:br>
              <a:rPr lang="en-US" altLang="ja-JP" dirty="0"/>
            </a:b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の人と上流のラインを止める</a:t>
            </a:r>
            <a:endParaRPr lang="en-US" altLang="ja-JP" dirty="0"/>
          </a:p>
          <a:p>
            <a:pPr lvl="1"/>
            <a:r>
              <a:rPr lang="ja-JP" altLang="en-US" dirty="0"/>
              <a:t>間にバブル（何もしないステージ）が入る</a:t>
            </a:r>
            <a:endParaRPr lang="en-US" altLang="ja-JP" dirty="0"/>
          </a:p>
        </p:txBody>
      </p:sp>
      <p:cxnSp>
        <p:nvCxnSpPr>
          <p:cNvPr id="67" name="直線矢印コネクタ 66"/>
          <p:cNvCxnSpPr/>
          <p:nvPr/>
        </p:nvCxnSpPr>
        <p:spPr bwMode="auto">
          <a:xfrm>
            <a:off x="3125967" y="3969007"/>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60" y="1898986"/>
            <a:ext cx="630007" cy="54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60"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2"/>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10" y="1808985"/>
            <a:ext cx="900011" cy="432647"/>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休憩中</a:t>
            </a:r>
          </a:p>
        </p:txBody>
      </p:sp>
      <p:sp>
        <p:nvSpPr>
          <p:cNvPr id="45" name="角丸四角形吹き出し 44"/>
          <p:cNvSpPr/>
          <p:nvPr/>
        </p:nvSpPr>
        <p:spPr bwMode="auto">
          <a:xfrm>
            <a:off x="5195993" y="1808985"/>
            <a:ext cx="1260015" cy="432647"/>
          </a:xfrm>
          <a:prstGeom prst="wedgeRoundRectCallout">
            <a:avLst>
              <a:gd name="adj1" fmla="val -43365"/>
              <a:gd name="adj2" fmla="val 134720"/>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まちます</a:t>
            </a:r>
          </a:p>
        </p:txBody>
      </p:sp>
      <p:sp>
        <p:nvSpPr>
          <p:cNvPr id="46" name="角丸四角形 45"/>
          <p:cNvSpPr/>
          <p:nvPr/>
        </p:nvSpPr>
        <p:spPr bwMode="auto">
          <a:xfrm>
            <a:off x="7986021"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6" y="1808985"/>
            <a:ext cx="2340027"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ｂを書くまで待って</a:t>
            </a:r>
          </a:p>
        </p:txBody>
      </p:sp>
    </p:spTree>
    <p:extLst>
      <p:ext uri="{BB962C8B-B14F-4D97-AF65-F5344CB8AC3E}">
        <p14:creationId xmlns:p14="http://schemas.microsoft.com/office/powerpoint/2010/main" val="18214424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１．ストールさせる</a:t>
            </a:r>
          </a:p>
        </p:txBody>
      </p:sp>
      <p:sp>
        <p:nvSpPr>
          <p:cNvPr id="3" name="テキスト プレースホルダー 2"/>
          <p:cNvSpPr>
            <a:spLocks noGrp="1"/>
          </p:cNvSpPr>
          <p:nvPr>
            <p:ph type="body" sz="quarter" idx="10"/>
          </p:nvPr>
        </p:nvSpPr>
        <p:spPr>
          <a:xfrm>
            <a:off x="2135956" y="4149009"/>
            <a:ext cx="8280092" cy="2159717"/>
          </a:xfrm>
        </p:spPr>
        <p:txBody>
          <a:bodyPr/>
          <a:lstStyle/>
          <a:p>
            <a:r>
              <a:rPr kumimoji="1" lang="en-US" altLang="ja-JP" dirty="0"/>
              <a:t>I0 </a:t>
            </a:r>
            <a:r>
              <a:rPr kumimoji="1" lang="ja-JP" altLang="en-US" dirty="0"/>
              <a:t>の </a:t>
            </a:r>
            <a:r>
              <a:rPr kumimoji="1" lang="en-US" altLang="ja-JP" dirty="0"/>
              <a:t>WB </a:t>
            </a:r>
            <a:r>
              <a:rPr kumimoji="1" lang="ja-JP" altLang="en-US" dirty="0"/>
              <a:t>が終わるまで，後続の命令を遅らせる</a:t>
            </a:r>
            <a:endParaRPr kumimoji="1" lang="en-US" altLang="ja-JP" dirty="0"/>
          </a:p>
          <a:p>
            <a:pPr lvl="1"/>
            <a:r>
              <a:rPr lang="en-US" altLang="ja-JP" dirty="0"/>
              <a:t>I1 </a:t>
            </a:r>
            <a:r>
              <a:rPr lang="ja-JP" altLang="en-US" dirty="0"/>
              <a:t>の </a:t>
            </a:r>
            <a:r>
              <a:rPr lang="en-US" altLang="ja-JP" dirty="0"/>
              <a:t>ID </a:t>
            </a:r>
            <a:r>
              <a:rPr lang="ja-JP" altLang="en-US" dirty="0"/>
              <a:t>が，</a:t>
            </a:r>
            <a:r>
              <a:rPr lang="en-US" altLang="ja-JP" dirty="0"/>
              <a:t>I0 </a:t>
            </a:r>
            <a:r>
              <a:rPr lang="ja-JP" altLang="en-US" dirty="0"/>
              <a:t>の </a:t>
            </a:r>
            <a:r>
              <a:rPr lang="en-US" altLang="ja-JP" dirty="0"/>
              <a:t>WB </a:t>
            </a:r>
            <a:r>
              <a:rPr lang="ja-JP" altLang="en-US" dirty="0"/>
              <a:t>の右にくるまでストール</a:t>
            </a:r>
            <a:endParaRPr lang="en-US" altLang="ja-JP" dirty="0"/>
          </a:p>
          <a:p>
            <a:pPr lvl="1"/>
            <a:r>
              <a:rPr kumimoji="1" lang="en-US" altLang="ja-JP" dirty="0"/>
              <a:t>I1 </a:t>
            </a:r>
            <a:r>
              <a:rPr kumimoji="1" lang="ja-JP" altLang="en-US" dirty="0"/>
              <a:t>は </a:t>
            </a:r>
            <a:r>
              <a:rPr kumimoji="1" lang="en-US" altLang="ja-JP" dirty="0"/>
              <a:t>I0 </a:t>
            </a:r>
            <a:r>
              <a:rPr kumimoji="1" lang="ja-JP" altLang="en-US" dirty="0"/>
              <a:t>の結果を使える</a:t>
            </a:r>
            <a:endParaRPr kumimoji="1" lang="en-US" altLang="ja-JP" dirty="0"/>
          </a:p>
          <a:p>
            <a:r>
              <a:rPr kumimoji="1" lang="ja-JP" altLang="en-US" dirty="0"/>
              <a:t>欠点：プログラムの実行がとても遅くなる</a:t>
            </a:r>
          </a:p>
        </p:txBody>
      </p:sp>
      <p:cxnSp>
        <p:nvCxnSpPr>
          <p:cNvPr id="4" name="直線コネクタ 3"/>
          <p:cNvCxnSpPr/>
          <p:nvPr/>
        </p:nvCxnSpPr>
        <p:spPr bwMode="auto">
          <a:xfrm>
            <a:off x="3935976" y="2438989"/>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6816008" y="2258987"/>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7266013"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7716018"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8166023"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681600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7266013"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771601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8166023"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8616028"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1" name="正方形/長方形 20"/>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3" name="Rectangle 69"/>
          <p:cNvSpPr>
            <a:spLocks noChangeArrowheads="1"/>
          </p:cNvSpPr>
          <p:nvPr/>
        </p:nvSpPr>
        <p:spPr bwMode="auto">
          <a:xfrm>
            <a:off x="726601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7716018"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816602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8616028"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9066033"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771601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8166023"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861602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9066033"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9516038"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7" name="直線コネクタ 36"/>
          <p:cNvCxnSpPr>
            <a:endCxn id="16" idx="1"/>
          </p:cNvCxnSpPr>
          <p:nvPr/>
        </p:nvCxnSpPr>
        <p:spPr bwMode="auto">
          <a:xfrm flipV="1">
            <a:off x="3935976" y="2888992"/>
            <a:ext cx="2880032" cy="2"/>
          </a:xfrm>
          <a:prstGeom prst="line">
            <a:avLst/>
          </a:prstGeom>
          <a:noFill/>
          <a:ln w="9525" cap="flat" cmpd="sng" algn="ctr">
            <a:solidFill>
              <a:schemeClr val="tx1"/>
            </a:solidFill>
            <a:prstDash val="dash"/>
            <a:round/>
            <a:headEnd type="none" w="med" len="med"/>
            <a:tailEnd type="none" w="med" len="med"/>
          </a:ln>
          <a:effectLst/>
        </p:spPr>
      </p:cxnSp>
      <p:sp>
        <p:nvSpPr>
          <p:cNvPr id="38" name="正方形/長方形 37"/>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0" name="直線コネクタ 39"/>
          <p:cNvCxnSpPr>
            <a:endCxn id="23" idx="1"/>
          </p:cNvCxnSpPr>
          <p:nvPr/>
        </p:nvCxnSpPr>
        <p:spPr bwMode="auto">
          <a:xfrm flipV="1">
            <a:off x="3935977" y="3338997"/>
            <a:ext cx="3330037" cy="2"/>
          </a:xfrm>
          <a:prstGeom prst="line">
            <a:avLst/>
          </a:prstGeom>
          <a:noFill/>
          <a:ln w="9525" cap="flat" cmpd="sng" algn="ctr">
            <a:solidFill>
              <a:schemeClr val="tx1"/>
            </a:solidFill>
            <a:prstDash val="dash"/>
            <a:round/>
            <a:headEnd type="none" w="med" len="med"/>
            <a:tailEnd type="none" w="med" len="med"/>
          </a:ln>
          <a:effectLst/>
        </p:spPr>
      </p:cxnSp>
      <p:sp>
        <p:nvSpPr>
          <p:cNvPr id="41" name="正方形/長方形 40"/>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42" name="直線コネクタ 41"/>
          <p:cNvCxnSpPr>
            <a:stCxn id="43" idx="3"/>
            <a:endCxn id="28" idx="1"/>
          </p:cNvCxnSpPr>
          <p:nvPr/>
        </p:nvCxnSpPr>
        <p:spPr bwMode="auto">
          <a:xfrm flipV="1">
            <a:off x="3935976" y="3789002"/>
            <a:ext cx="3780042" cy="2"/>
          </a:xfrm>
          <a:prstGeom prst="line">
            <a:avLst/>
          </a:prstGeom>
          <a:noFill/>
          <a:ln w="9525" cap="flat" cmpd="sng" algn="ctr">
            <a:solidFill>
              <a:schemeClr val="tx1"/>
            </a:solidFill>
            <a:prstDash val="dash"/>
            <a:round/>
            <a:headEnd type="none" w="med" len="med"/>
            <a:tailEnd type="none" w="med" len="med"/>
          </a:ln>
          <a:effectLst/>
        </p:spPr>
      </p:cxnSp>
      <p:sp>
        <p:nvSpPr>
          <p:cNvPr id="43" name="正方形/長方形 42"/>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4"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cxnSp>
        <p:nvCxnSpPr>
          <p:cNvPr id="45" name="直線コネクタ 44"/>
          <p:cNvCxnSpPr/>
          <p:nvPr/>
        </p:nvCxnSpPr>
        <p:spPr bwMode="auto">
          <a:xfrm>
            <a:off x="6718573" y="1748717"/>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
        <p:nvSpPr>
          <p:cNvPr id="46" name="Rectangle 73"/>
          <p:cNvSpPr>
            <a:spLocks noChangeArrowheads="1"/>
          </p:cNvSpPr>
          <p:nvPr/>
        </p:nvSpPr>
        <p:spPr bwMode="auto">
          <a:xfrm>
            <a:off x="5375992"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7" name="Rectangle 73"/>
          <p:cNvSpPr>
            <a:spLocks noChangeArrowheads="1"/>
          </p:cNvSpPr>
          <p:nvPr/>
        </p:nvSpPr>
        <p:spPr bwMode="auto">
          <a:xfrm>
            <a:off x="5825997"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8" name="Rectangle 73"/>
          <p:cNvSpPr>
            <a:spLocks noChangeArrowheads="1"/>
          </p:cNvSpPr>
          <p:nvPr/>
        </p:nvSpPr>
        <p:spPr bwMode="auto">
          <a:xfrm>
            <a:off x="6276002" y="2258987"/>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Tree>
    <p:extLst>
      <p:ext uri="{BB962C8B-B14F-4D97-AF65-F5344CB8AC3E}">
        <p14:creationId xmlns:p14="http://schemas.microsoft.com/office/powerpoint/2010/main" val="1128223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10" y="2294455"/>
            <a:ext cx="1658179"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ｲｲﾉｶｿﾚ･･･</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71" y="2294455"/>
            <a:ext cx="1478033"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ｼﾖｳﾃﾞｽ</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7" y="231304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7" y="231303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en-US" altLang="ja-JP" dirty="0"/>
              <a:t>2. </a:t>
            </a:r>
            <a:r>
              <a:rPr lang="ja-JP" altLang="en-US" dirty="0"/>
              <a:t>遅延スロット（なにもしない）</a:t>
            </a:r>
            <a:endParaRPr kumimoji="1" lang="ja-JP" altLang="en-US" dirty="0"/>
          </a:p>
        </p:txBody>
      </p:sp>
      <p:sp>
        <p:nvSpPr>
          <p:cNvPr id="58" name="コンテンツ プレースホルダー 57"/>
          <p:cNvSpPr>
            <a:spLocks noGrp="1"/>
          </p:cNvSpPr>
          <p:nvPr>
            <p:ph idx="4294967295"/>
          </p:nvPr>
        </p:nvSpPr>
        <p:spPr>
          <a:xfrm>
            <a:off x="1775956" y="4869020"/>
            <a:ext cx="8730097" cy="1369161"/>
          </a:xfrm>
          <a:prstGeom prst="rect">
            <a:avLst/>
          </a:prstGeom>
        </p:spPr>
        <p:txBody>
          <a:bodyPr/>
          <a:lstStyle/>
          <a:p>
            <a:r>
              <a:rPr lang="ja-JP" altLang="en-US" dirty="0"/>
              <a:t>直前の命令の結果を使う命令が現れた場合：</a:t>
            </a:r>
            <a:endParaRPr lang="en-US" altLang="ja-JP" dirty="0"/>
          </a:p>
          <a:p>
            <a:pPr lvl="1"/>
            <a:r>
              <a:rPr lang="ja-JP" altLang="en-US" dirty="0"/>
              <a:t> </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dirty="0"/>
              <a:t>  </a:t>
            </a:r>
            <a:r>
              <a:rPr lang="ja-JP" altLang="en-US" dirty="0"/>
              <a:t>の人は，その時レジスタ・ファイルにある </a:t>
            </a:r>
            <a:r>
              <a:rPr lang="en-US" altLang="ja-JP" dirty="0"/>
              <a:t>b</a:t>
            </a:r>
            <a:r>
              <a:rPr lang="ja-JP" altLang="en-US" dirty="0"/>
              <a:t> を気にせず読んでしまう</a:t>
            </a:r>
            <a:endParaRPr lang="en-US" altLang="ja-JP" dirty="0"/>
          </a:p>
          <a:p>
            <a:pPr lvl="1"/>
            <a:r>
              <a:rPr lang="ja-JP" altLang="en-US" dirty="0"/>
              <a:t>２つ前の命令の結果の </a:t>
            </a:r>
            <a:r>
              <a:rPr lang="en-US" altLang="ja-JP" dirty="0"/>
              <a:t>b</a:t>
            </a:r>
            <a:r>
              <a:rPr lang="ja-JP" altLang="en-US" dirty="0"/>
              <a:t> が読めてしまう</a:t>
            </a:r>
            <a:endParaRPr lang="en-US" altLang="ja-JP" dirty="0"/>
          </a:p>
          <a:p>
            <a:pPr lvl="2"/>
            <a:r>
              <a:rPr lang="ja-JP" altLang="en-US" dirty="0">
                <a:solidFill>
                  <a:schemeClr val="accent5"/>
                </a:solidFill>
              </a:rPr>
              <a:t>そう言う仕様ということにする</a:t>
            </a:r>
            <a:endParaRPr lang="en-US" altLang="ja-JP" dirty="0">
              <a:solidFill>
                <a:schemeClr val="accent5"/>
              </a:solidFill>
            </a:endParaRPr>
          </a:p>
          <a:p>
            <a:pPr lvl="1"/>
            <a:endParaRPr lang="en-US" altLang="ja-JP" dirty="0"/>
          </a:p>
        </p:txBody>
      </p:sp>
      <p:cxnSp>
        <p:nvCxnSpPr>
          <p:cNvPr id="67" name="直線矢印コネクタ 66"/>
          <p:cNvCxnSpPr/>
          <p:nvPr/>
        </p:nvCxnSpPr>
        <p:spPr bwMode="auto">
          <a:xfrm>
            <a:off x="3125967" y="3969007"/>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7" name="正方形/長方形 96"/>
          <p:cNvSpPr/>
          <p:nvPr/>
        </p:nvSpPr>
        <p:spPr bwMode="auto">
          <a:xfrm>
            <a:off x="2045960" y="1898986"/>
            <a:ext cx="630007" cy="54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lumMod val="75000"/>
                  </a:schemeClr>
                </a:solidFill>
              </a:rPr>
              <a:t>命令メモリ</a:t>
            </a:r>
            <a:endParaRPr lang="en-US" altLang="ja-JP" sz="1600" dirty="0">
              <a:solidFill>
                <a:schemeClr val="accent1">
                  <a:lumMod val="75000"/>
                </a:schemeClr>
              </a:solidFill>
            </a:endParaRPr>
          </a:p>
          <a:p>
            <a:pPr algn="ctr"/>
            <a:r>
              <a:rPr lang="ja-JP" altLang="en-US" sz="1600" dirty="0">
                <a:solidFill>
                  <a:schemeClr val="accent1">
                    <a:lumMod val="75000"/>
                  </a:schemeClr>
                </a:solidFill>
              </a:rPr>
              <a:t>（プログラム）</a:t>
            </a:r>
          </a:p>
        </p:txBody>
      </p: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1683049"/>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9053"/>
            <a:ext cx="1008112" cy="432048"/>
            <a:chOff x="3563888" y="2708920"/>
            <a:chExt cx="1296144" cy="432048"/>
          </a:xfrm>
        </p:grpSpPr>
        <p:sp>
          <p:nvSpPr>
            <p:cNvPr id="33"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719053"/>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60"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2438992"/>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t>
            </a:r>
          </a:p>
          <a:p>
            <a:pPr>
              <a:lnSpc>
                <a:spcPct val="80000"/>
              </a:lnSpc>
            </a:pPr>
            <a:r>
              <a:rPr lang="en-US" altLang="ja-JP" sz="2000" b="1" dirty="0">
                <a:solidFill>
                  <a:schemeClr val="tx2"/>
                </a:solidFill>
                <a:latin typeface="Arial Narrow" panose="020B0606020202030204" pitchFamily="34" charset="0"/>
              </a:rPr>
              <a:t>...</a:t>
            </a:r>
            <a:br>
              <a:rPr lang="en-US" altLang="ja-JP" sz="2000" b="1" dirty="0">
                <a:solidFill>
                  <a:schemeClr val="tx2"/>
                </a:solidFill>
                <a:latin typeface="Arial Narrow" panose="020B0606020202030204" pitchFamily="34" charset="0"/>
              </a:rPr>
            </a:b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=a+1</a:t>
            </a:r>
          </a:p>
          <a:p>
            <a:pPr>
              <a:lnSpc>
                <a:spcPct val="80000"/>
              </a:lnSpc>
            </a:pPr>
            <a:r>
              <a:rPr lang="en-US" altLang="ja-JP" sz="2000" dirty="0">
                <a:solidFill>
                  <a:schemeClr val="bg1"/>
                </a:solidFill>
                <a:latin typeface="Arial Narrow" panose="020B0606020202030204" pitchFamily="34" charset="0"/>
              </a:rPr>
              <a:t>c=</a:t>
            </a:r>
            <a:r>
              <a:rPr lang="en-US" altLang="ja-JP" sz="2000" b="1" dirty="0">
                <a:solidFill>
                  <a:schemeClr val="tx2"/>
                </a:solidFill>
                <a:latin typeface="Arial Narrow" panose="020B0606020202030204" pitchFamily="34" charset="0"/>
              </a:rPr>
              <a:t>b</a:t>
            </a:r>
            <a:r>
              <a:rPr lang="en-US" altLang="ja-JP" sz="2000" dirty="0">
                <a:solidFill>
                  <a:schemeClr val="bg1"/>
                </a:solidFill>
                <a:latin typeface="Arial Narrow" panose="020B0606020202030204" pitchFamily="34" charset="0"/>
              </a:rPr>
              <a:t>-1</a:t>
            </a:r>
          </a:p>
          <a:p>
            <a:pPr>
              <a:lnSpc>
                <a:spcPct val="80000"/>
              </a:lnSpc>
            </a:pPr>
            <a:r>
              <a:rPr lang="en-US" altLang="ja-JP" sz="2000" dirty="0">
                <a:solidFill>
                  <a:schemeClr val="bg1"/>
                </a:solidFill>
                <a:latin typeface="Arial Narrow" panose="020B0606020202030204" pitchFamily="34" charset="0"/>
              </a:rPr>
              <a:t>…</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3" name="角丸四角形吹き出し 42"/>
          <p:cNvSpPr/>
          <p:nvPr/>
        </p:nvSpPr>
        <p:spPr bwMode="auto">
          <a:xfrm>
            <a:off x="6726010" y="1808985"/>
            <a:ext cx="1260015" cy="432647"/>
          </a:xfrm>
          <a:prstGeom prst="wedgeRoundRectCallout">
            <a:avLst>
              <a:gd name="adj1" fmla="val -51493"/>
              <a:gd name="adj2" fmla="val 139793"/>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計算中･･･</a:t>
            </a:r>
          </a:p>
        </p:txBody>
      </p:sp>
      <p:sp>
        <p:nvSpPr>
          <p:cNvPr id="45" name="角丸四角形吹き出し 44"/>
          <p:cNvSpPr/>
          <p:nvPr/>
        </p:nvSpPr>
        <p:spPr bwMode="auto">
          <a:xfrm>
            <a:off x="5195995" y="1088978"/>
            <a:ext cx="1530017" cy="882651"/>
          </a:xfrm>
          <a:prstGeom prst="wedgeRoundRectCallout">
            <a:avLst>
              <a:gd name="adj1" fmla="val -42120"/>
              <a:gd name="adj2" fmla="val 121051"/>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古い </a:t>
            </a:r>
            <a:r>
              <a:rPr lang="en-US" altLang="ja-JP" dirty="0">
                <a:solidFill>
                  <a:schemeClr val="tx1">
                    <a:lumMod val="65000"/>
                    <a:lumOff val="35000"/>
                  </a:schemeClr>
                </a:solidFill>
                <a:latin typeface="Arial Narrow" panose="020B0606020202030204" pitchFamily="34" charset="0"/>
              </a:rPr>
              <a:t>b </a:t>
            </a:r>
            <a:r>
              <a:rPr lang="ja-JP" altLang="en-US" dirty="0">
                <a:solidFill>
                  <a:schemeClr val="tx1">
                    <a:lumMod val="65000"/>
                    <a:lumOff val="35000"/>
                  </a:schemeClr>
                </a:solidFill>
                <a:latin typeface="Arial Narrow" panose="020B0606020202030204" pitchFamily="34" charset="0"/>
              </a:rPr>
              <a:t>が</a:t>
            </a:r>
            <a:br>
              <a:rPr lang="en-US" altLang="ja-JP" dirty="0">
                <a:solidFill>
                  <a:schemeClr val="tx1">
                    <a:lumMod val="65000"/>
                    <a:lumOff val="35000"/>
                  </a:schemeClr>
                </a:solidFill>
                <a:latin typeface="Arial Narrow" panose="020B0606020202030204" pitchFamily="34" charset="0"/>
              </a:rPr>
            </a:br>
            <a:r>
              <a:rPr lang="ja-JP" altLang="en-US" dirty="0">
                <a:solidFill>
                  <a:schemeClr val="tx1">
                    <a:lumMod val="65000"/>
                    <a:lumOff val="35000"/>
                  </a:schemeClr>
                </a:solidFill>
                <a:latin typeface="Arial Narrow" panose="020B0606020202030204" pitchFamily="34" charset="0"/>
              </a:rPr>
              <a:t>見えてるけど</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気にしない</a:t>
            </a:r>
          </a:p>
        </p:txBody>
      </p:sp>
      <p:sp>
        <p:nvSpPr>
          <p:cNvPr id="46" name="角丸四角形 45"/>
          <p:cNvSpPr/>
          <p:nvPr/>
        </p:nvSpPr>
        <p:spPr bwMode="auto">
          <a:xfrm>
            <a:off x="6456004"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=a+1</a:t>
            </a:r>
            <a:endParaRPr lang="ja-JP" altLang="en-US" dirty="0">
              <a:latin typeface="Arial Narrow" panose="020B0606020202030204" pitchFamily="34" charset="0"/>
            </a:endParaRPr>
          </a:p>
        </p:txBody>
      </p:sp>
      <p:sp>
        <p:nvSpPr>
          <p:cNvPr id="47" name="角丸四角形 46"/>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t>
            </a:r>
            <a:r>
              <a:rPr lang="en-US" altLang="ja-JP" b="1" dirty="0">
                <a:solidFill>
                  <a:schemeClr val="tx2"/>
                </a:solidFill>
                <a:latin typeface="Arial Narrow" panose="020B0606020202030204" pitchFamily="34" charset="0"/>
              </a:rPr>
              <a:t>b</a:t>
            </a:r>
            <a:r>
              <a:rPr lang="en-US" altLang="ja-JP" dirty="0">
                <a:latin typeface="Arial Narrow" panose="020B0606020202030204" pitchFamily="34" charset="0"/>
              </a:rPr>
              <a:t>-1</a:t>
            </a:r>
            <a:endParaRPr lang="ja-JP" altLang="en-US" dirty="0">
              <a:latin typeface="Arial Narrow" panose="020B0606020202030204" pitchFamily="34" charset="0"/>
            </a:endParaRPr>
          </a:p>
        </p:txBody>
      </p:sp>
      <p:sp>
        <p:nvSpPr>
          <p:cNvPr id="48" name="角丸四角形 47"/>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9" name="角丸四角形吹き出し 58"/>
          <p:cNvSpPr/>
          <p:nvPr/>
        </p:nvSpPr>
        <p:spPr bwMode="auto">
          <a:xfrm>
            <a:off x="8166023" y="1808985"/>
            <a:ext cx="2160024" cy="450005"/>
          </a:xfrm>
          <a:prstGeom prst="wedgeRoundRectCallout">
            <a:avLst>
              <a:gd name="adj1" fmla="val -49124"/>
              <a:gd name="adj2" fmla="val 10124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まだ</a:t>
            </a:r>
            <a:r>
              <a:rPr lang="ja-JP" altLang="en-US" dirty="0" err="1">
                <a:solidFill>
                  <a:schemeClr val="tx1">
                    <a:lumMod val="65000"/>
                    <a:lumOff val="35000"/>
                  </a:schemeClr>
                </a:solidFill>
                <a:latin typeface="Arial Narrow" panose="020B0606020202030204" pitchFamily="34" charset="0"/>
              </a:rPr>
              <a:t>ｂ</a:t>
            </a:r>
            <a:r>
              <a:rPr lang="ja-JP" altLang="en-US" dirty="0">
                <a:solidFill>
                  <a:schemeClr val="tx1">
                    <a:lumMod val="65000"/>
                    <a:lumOff val="35000"/>
                  </a:schemeClr>
                </a:solidFill>
                <a:latin typeface="Arial Narrow" panose="020B0606020202030204" pitchFamily="34" charset="0"/>
              </a:rPr>
              <a:t>書けないよ</a:t>
            </a:r>
          </a:p>
        </p:txBody>
      </p:sp>
      <p:sp>
        <p:nvSpPr>
          <p:cNvPr id="4" name="角丸四角形 47">
            <a:extLst>
              <a:ext uri="{FF2B5EF4-FFF2-40B4-BE49-F238E27FC236}">
                <a16:creationId xmlns:a16="http://schemas.microsoft.com/office/drawing/2014/main" id="{D78167A7-B863-2ECE-C25C-05A8F599CA73}"/>
              </a:ext>
            </a:extLst>
          </p:cNvPr>
          <p:cNvSpPr/>
          <p:nvPr/>
        </p:nvSpPr>
        <p:spPr bwMode="auto">
          <a:xfrm>
            <a:off x="7896020"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5" name="角丸四角形 47">
            <a:extLst>
              <a:ext uri="{FF2B5EF4-FFF2-40B4-BE49-F238E27FC236}">
                <a16:creationId xmlns:a16="http://schemas.microsoft.com/office/drawing/2014/main" id="{A4594095-CA49-3A20-4664-83138D30998D}"/>
              </a:ext>
            </a:extLst>
          </p:cNvPr>
          <p:cNvSpPr/>
          <p:nvPr/>
        </p:nvSpPr>
        <p:spPr bwMode="auto">
          <a:xfrm>
            <a:off x="9426037"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b="1" dirty="0">
                <a:solidFill>
                  <a:srgbClr val="FFFF00"/>
                </a:solidFill>
                <a:latin typeface="Arial Narrow" panose="020B0606020202030204" pitchFamily="34" charset="0"/>
              </a:rPr>
              <a:t>b</a:t>
            </a:r>
            <a:r>
              <a:rPr lang="en-US" altLang="ja-JP" dirty="0">
                <a:latin typeface="Arial Narrow" panose="020B0606020202030204" pitchFamily="34" charset="0"/>
              </a:rPr>
              <a:t>=</a:t>
            </a:r>
            <a:endParaRPr lang="ja-JP" altLang="en-US" dirty="0">
              <a:latin typeface="Arial Narrow" panose="020B0606020202030204" pitchFamily="34" charset="0"/>
            </a:endParaRPr>
          </a:p>
        </p:txBody>
      </p:sp>
      <p:cxnSp>
        <p:nvCxnSpPr>
          <p:cNvPr id="7" name="直線矢印コネクタ 6">
            <a:extLst>
              <a:ext uri="{FF2B5EF4-FFF2-40B4-BE49-F238E27FC236}">
                <a16:creationId xmlns:a16="http://schemas.microsoft.com/office/drawing/2014/main" id="{A185FAD6-861C-B4C6-BA9D-B772943E94B5}"/>
              </a:ext>
            </a:extLst>
          </p:cNvPr>
          <p:cNvCxnSpPr>
            <a:cxnSpLocks/>
          </p:cNvCxnSpPr>
          <p:nvPr/>
        </p:nvCxnSpPr>
        <p:spPr bwMode="auto">
          <a:xfrm>
            <a:off x="1955956" y="2798997"/>
            <a:ext cx="180003" cy="450005"/>
          </a:xfrm>
          <a:prstGeom prst="straightConnector1">
            <a:avLst/>
          </a:prstGeom>
          <a:noFill/>
          <a:ln w="38100" cap="flat" cmpd="sng" algn="ctr">
            <a:solidFill>
              <a:schemeClr val="tx2"/>
            </a:solidFill>
            <a:prstDash val="solid"/>
            <a:round/>
            <a:headEnd type="none" w="med" len="med"/>
            <a:tailEnd type="triangle"/>
          </a:ln>
          <a:effectLst/>
        </p:spPr>
      </p:cxnSp>
      <p:sp>
        <p:nvSpPr>
          <p:cNvPr id="10" name="円弧 9">
            <a:extLst>
              <a:ext uri="{FF2B5EF4-FFF2-40B4-BE49-F238E27FC236}">
                <a16:creationId xmlns:a16="http://schemas.microsoft.com/office/drawing/2014/main" id="{46D5A372-89C5-E4C7-8D6B-0BBF884B554E}"/>
              </a:ext>
            </a:extLst>
          </p:cNvPr>
          <p:cNvSpPr/>
          <p:nvPr/>
        </p:nvSpPr>
        <p:spPr bwMode="auto">
          <a:xfrm flipV="1">
            <a:off x="5465997" y="3068997"/>
            <a:ext cx="4230047" cy="360004"/>
          </a:xfrm>
          <a:prstGeom prst="arc">
            <a:avLst>
              <a:gd name="adj1" fmla="val 10801253"/>
              <a:gd name="adj2" fmla="val 0"/>
            </a:avLst>
          </a:prstGeom>
          <a:ln>
            <a:solidFill>
              <a:schemeClr val="tx2"/>
            </a:solidFill>
            <a:headEnd type="triangle" w="med" len="med"/>
            <a:tailEnd type="none" w="med" len="med"/>
          </a:ln>
        </p:spPr>
        <p:style>
          <a:lnRef idx="2">
            <a:schemeClr val="accent5"/>
          </a:lnRef>
          <a:fillRef idx="0">
            <a:schemeClr val="accent5"/>
          </a:fillRef>
          <a:effectRef idx="1">
            <a:schemeClr val="accent5"/>
          </a:effectRef>
          <a:fontRef idx="minor">
            <a:schemeClr val="tx1"/>
          </a:fontRef>
        </p:style>
        <p:txBody>
          <a:bodyPr vert="horz" wrap="none" lIns="90000" tIns="46800" rIns="90000" bIns="46800" numCol="1" rtlCol="0" anchor="ctr" anchorCtr="0" compatLnSpc="1">
            <a:prstTxWarp prst="textNoShape">
              <a:avLst/>
            </a:prstTxWarp>
          </a:bodyPr>
          <a:lstStyle/>
          <a:p>
            <a:pPr defTabSz="914377" fontAlgn="base">
              <a:spcBef>
                <a:spcPct val="0"/>
              </a:spcBef>
              <a:spcAft>
                <a:spcPct val="0"/>
              </a:spcAft>
            </a:pPr>
            <a:endParaRPr lang="en-US">
              <a:latin typeface="Verdana" pitchFamily="34" charset="0"/>
              <a:ea typeface="HG丸ｺﾞｼｯｸM-PRO" pitchFamily="50" charset="-128"/>
            </a:endParaRPr>
          </a:p>
        </p:txBody>
      </p:sp>
    </p:spTree>
    <p:extLst>
      <p:ext uri="{BB962C8B-B14F-4D97-AF65-F5344CB8AC3E}">
        <p14:creationId xmlns:p14="http://schemas.microsoft.com/office/powerpoint/2010/main" val="3773683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遅延スロット（</a:t>
            </a:r>
            <a:r>
              <a:rPr lang="en-US" altLang="ja-JP" dirty="0"/>
              <a:t>=</a:t>
            </a:r>
            <a:r>
              <a:rPr lang="ja-JP" altLang="en-US" dirty="0"/>
              <a:t>ハードではなにもしない）</a:t>
            </a:r>
          </a:p>
        </p:txBody>
      </p:sp>
      <p:sp>
        <p:nvSpPr>
          <p:cNvPr id="3" name="テキスト プレースホルダー 2"/>
          <p:cNvSpPr>
            <a:spLocks noGrp="1"/>
          </p:cNvSpPr>
          <p:nvPr>
            <p:ph type="body" sz="quarter" idx="10"/>
          </p:nvPr>
        </p:nvSpPr>
        <p:spPr>
          <a:xfrm>
            <a:off x="2135956" y="4239010"/>
            <a:ext cx="8280092" cy="1799713"/>
          </a:xfrm>
        </p:spPr>
        <p:txBody>
          <a:bodyPr/>
          <a:lstStyle/>
          <a:p>
            <a:r>
              <a:rPr kumimoji="1" lang="ja-JP" altLang="en-US" dirty="0"/>
              <a:t>特になにも対策せず，</a:t>
            </a:r>
            <a:br>
              <a:rPr kumimoji="1" lang="en-US" altLang="ja-JP" dirty="0"/>
            </a:br>
            <a:r>
              <a:rPr kumimoji="1" lang="ja-JP" altLang="en-US" dirty="0">
                <a:solidFill>
                  <a:schemeClr val="accent5"/>
                </a:solidFill>
              </a:rPr>
              <a:t>「ある命令の結果は，数命令先まで見えない」と言う仕様にする</a:t>
            </a:r>
            <a:endParaRPr kumimoji="1" lang="en-US" altLang="ja-JP" dirty="0">
              <a:solidFill>
                <a:schemeClr val="accent5"/>
              </a:solidFill>
            </a:endParaRPr>
          </a:p>
          <a:p>
            <a:pPr lvl="1"/>
            <a:r>
              <a:rPr lang="ja-JP" altLang="en-US" dirty="0"/>
              <a:t>上の例だと </a:t>
            </a:r>
            <a:r>
              <a:rPr lang="en-US" altLang="ja-JP" dirty="0"/>
              <a:t>I1</a:t>
            </a:r>
            <a:r>
              <a:rPr lang="ja-JP" altLang="en-US" dirty="0" err="1"/>
              <a:t>，</a:t>
            </a:r>
            <a:r>
              <a:rPr lang="en-US" altLang="ja-JP" dirty="0"/>
              <a:t>I2</a:t>
            </a:r>
            <a:r>
              <a:rPr lang="ja-JP" altLang="en-US" dirty="0" err="1"/>
              <a:t>，</a:t>
            </a:r>
            <a:r>
              <a:rPr lang="en-US" altLang="ja-JP" dirty="0"/>
              <a:t>I3 </a:t>
            </a:r>
            <a:r>
              <a:rPr lang="ja-JP" altLang="en-US" dirty="0"/>
              <a:t>は，</a:t>
            </a:r>
            <a:r>
              <a:rPr lang="en-US" altLang="ja-JP" dirty="0"/>
              <a:t>I0 </a:t>
            </a:r>
            <a:r>
              <a:rPr lang="ja-JP" altLang="en-US" dirty="0"/>
              <a:t>の結果は見えない</a:t>
            </a:r>
            <a:endParaRPr lang="en-US" altLang="ja-JP" dirty="0"/>
          </a:p>
          <a:p>
            <a:pPr lvl="1"/>
            <a:r>
              <a:rPr lang="en-US" altLang="ja-JP" dirty="0"/>
              <a:t>I1</a:t>
            </a:r>
            <a:r>
              <a:rPr lang="ja-JP" altLang="en-US" dirty="0" err="1"/>
              <a:t>，</a:t>
            </a:r>
            <a:r>
              <a:rPr lang="en-US" altLang="ja-JP" dirty="0"/>
              <a:t>I2</a:t>
            </a:r>
            <a:r>
              <a:rPr lang="ja-JP" altLang="en-US" dirty="0" err="1"/>
              <a:t>，</a:t>
            </a:r>
            <a:r>
              <a:rPr lang="en-US" altLang="ja-JP" dirty="0"/>
              <a:t>I3 </a:t>
            </a:r>
            <a:r>
              <a:rPr lang="ja-JP" altLang="en-US" dirty="0"/>
              <a:t>には，</a:t>
            </a:r>
            <a:r>
              <a:rPr lang="en-US" altLang="ja-JP" dirty="0"/>
              <a:t>I0 </a:t>
            </a:r>
            <a:r>
              <a:rPr lang="ja-JP" altLang="en-US" dirty="0"/>
              <a:t>で </a:t>
            </a:r>
            <a:r>
              <a:rPr lang="en-US" altLang="ja-JP" dirty="0"/>
              <a:t>add </a:t>
            </a:r>
            <a:r>
              <a:rPr lang="ja-JP" altLang="en-US" dirty="0"/>
              <a:t>する前の値が見え続ける</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b="1" dirty="0">
                <a:solidFill>
                  <a:schemeClr val="accent6"/>
                </a:solidFill>
                <a:latin typeface="メイリオ" panose="020B0604030504040204" pitchFamily="50" charset="-128"/>
                <a:ea typeface="メイリオ" panose="020B0604030504040204" pitchFamily="50" charset="-128"/>
              </a:rPr>
              <a:t>x1</a:t>
            </a:r>
            <a:endParaRPr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add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sub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and </a:t>
            </a:r>
            <a:r>
              <a:rPr lang="en-US" altLang="ja-JP" sz="1600" b="1"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&amp;1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5685104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遅延スロット（</a:t>
            </a:r>
            <a:r>
              <a:rPr lang="en-US" altLang="ja-JP" dirty="0"/>
              <a:t>=</a:t>
            </a:r>
            <a:r>
              <a:rPr lang="ja-JP" altLang="en-US" dirty="0"/>
              <a:t>ハードではなにもしない）</a:t>
            </a:r>
            <a:endParaRPr kumimoji="1" lang="ja-JP" altLang="en-US" dirty="0"/>
          </a:p>
        </p:txBody>
      </p:sp>
      <p:sp>
        <p:nvSpPr>
          <p:cNvPr id="3" name="テキスト プレースホルダー 2"/>
          <p:cNvSpPr>
            <a:spLocks noGrp="1"/>
          </p:cNvSpPr>
          <p:nvPr>
            <p:ph type="body" sz="quarter" idx="10"/>
          </p:nvPr>
        </p:nvSpPr>
        <p:spPr>
          <a:xfrm>
            <a:off x="2135956" y="4239010"/>
            <a:ext cx="8280092" cy="1799713"/>
          </a:xfrm>
        </p:spPr>
        <p:txBody>
          <a:bodyPr/>
          <a:lstStyle/>
          <a:p>
            <a:r>
              <a:rPr lang="ja-JP" altLang="en-US" dirty="0"/>
              <a:t>ここに </a:t>
            </a:r>
            <a:r>
              <a:rPr lang="en-US" altLang="ja-JP" dirty="0"/>
              <a:t>I0 </a:t>
            </a:r>
            <a:r>
              <a:rPr lang="ja-JP" altLang="en-US" dirty="0"/>
              <a:t>の結果を使わない命令を入れれば，性能低下はない</a:t>
            </a:r>
            <a:endParaRPr lang="en-US" altLang="ja-JP" dirty="0"/>
          </a:p>
          <a:p>
            <a:pPr lvl="1"/>
            <a:r>
              <a:rPr lang="ja-JP" altLang="en-US" dirty="0"/>
              <a:t>この部分を「遅延スロット」と呼ぶ</a:t>
            </a:r>
            <a:endParaRPr lang="en-US" altLang="ja-JP" dirty="0"/>
          </a:p>
          <a:p>
            <a:pPr lvl="2"/>
            <a:r>
              <a:rPr lang="ja-JP" altLang="en-US" dirty="0"/>
              <a:t>この場合，遅延スロットが３命令分ある</a:t>
            </a:r>
            <a:endParaRPr lang="en-US" altLang="ja-JP" dirty="0"/>
          </a:p>
          <a:p>
            <a:pPr lvl="1"/>
            <a:r>
              <a:rPr lang="ja-JP" altLang="en-US" dirty="0"/>
              <a:t>遅延スロットへの命令挿入はコンパイラががんばる</a:t>
            </a:r>
            <a:endParaRPr lang="en-US" altLang="ja-JP" dirty="0"/>
          </a:p>
          <a:p>
            <a:pPr lvl="1"/>
            <a:r>
              <a:rPr lang="ja-JP" altLang="en-US" dirty="0"/>
              <a:t>人力でアセンブリ言語でがんばることもある</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b="1" dirty="0">
                <a:solidFill>
                  <a:schemeClr val="accent6"/>
                </a:solidFill>
                <a:latin typeface="メイリオ" panose="020B0604030504040204" pitchFamily="50" charset="-128"/>
                <a:ea typeface="メイリオ" panose="020B0604030504040204" pitchFamily="50" charset="-128"/>
              </a:rPr>
              <a:t>x1</a:t>
            </a:r>
            <a:endParaRPr lang="ja-JP" altLang="en-US" sz="1600" b="1"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add </a:t>
            </a:r>
            <a:r>
              <a:rPr lang="en-US" altLang="ja-JP" sz="1600" b="1" dirty="0">
                <a:solidFill>
                  <a:schemeClr val="accent5"/>
                </a:solidFill>
                <a:latin typeface="メイリオ" panose="020B0604030504040204" pitchFamily="50" charset="-128"/>
                <a:ea typeface="メイリオ" panose="020B0604030504040204" pitchFamily="50" charset="-128"/>
              </a:rPr>
              <a:t>x4</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sub </a:t>
            </a:r>
            <a:r>
              <a:rPr lang="en-US" altLang="ja-JP" sz="1600" b="1" dirty="0">
                <a:solidFill>
                  <a:schemeClr val="accent5"/>
                </a:solidFill>
                <a:latin typeface="メイリオ" panose="020B0604030504040204" pitchFamily="50" charset="-128"/>
                <a:ea typeface="メイリオ" panose="020B0604030504040204" pitchFamily="50" charset="-128"/>
              </a:rPr>
              <a:t>x7</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and </a:t>
            </a:r>
            <a:r>
              <a:rPr lang="en-US" altLang="ja-JP" sz="1600" dirty="0">
                <a:solidFill>
                  <a:schemeClr val="accent5"/>
                </a:solidFill>
                <a:latin typeface="メイリオ" panose="020B0604030504040204" pitchFamily="50" charset="-128"/>
                <a:ea typeface="メイリオ" panose="020B0604030504040204" pitchFamily="50" charset="-128"/>
              </a:rPr>
              <a:t>x8</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&amp;1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542034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NOP </a:t>
            </a:r>
            <a:r>
              <a:rPr kumimoji="1" lang="ja-JP" altLang="en-US" dirty="0"/>
              <a:t>の挿入</a:t>
            </a:r>
          </a:p>
        </p:txBody>
      </p:sp>
      <p:sp>
        <p:nvSpPr>
          <p:cNvPr id="3" name="テキスト プレースホルダー 2"/>
          <p:cNvSpPr>
            <a:spLocks noGrp="1"/>
          </p:cNvSpPr>
          <p:nvPr>
            <p:ph type="body" sz="quarter" idx="10"/>
          </p:nvPr>
        </p:nvSpPr>
        <p:spPr>
          <a:xfrm>
            <a:off x="2135956" y="4239010"/>
            <a:ext cx="8280092" cy="1799713"/>
          </a:xfrm>
        </p:spPr>
        <p:txBody>
          <a:bodyPr/>
          <a:lstStyle/>
          <a:p>
            <a:r>
              <a:rPr lang="ja-JP" altLang="en-US" dirty="0"/>
              <a:t>もしそのような命令がない場合，</a:t>
            </a:r>
            <a:endParaRPr lang="en-US" altLang="ja-JP" dirty="0"/>
          </a:p>
          <a:p>
            <a:pPr lvl="1"/>
            <a:r>
              <a:rPr lang="en-US" altLang="ja-JP" dirty="0"/>
              <a:t>NOP</a:t>
            </a:r>
            <a:r>
              <a:rPr lang="ja-JP" altLang="en-US" dirty="0"/>
              <a:t>（</a:t>
            </a:r>
            <a:r>
              <a:rPr lang="en-US" altLang="ja-JP" dirty="0"/>
              <a:t>No Operation</a:t>
            </a:r>
            <a:r>
              <a:rPr lang="ja-JP" altLang="en-US" dirty="0"/>
              <a:t>）と呼ぶ何もしない命令をいれる</a:t>
            </a:r>
            <a:endParaRPr lang="en-US" altLang="ja-JP" dirty="0"/>
          </a:p>
          <a:p>
            <a:pPr lvl="1"/>
            <a:r>
              <a:rPr lang="ja-JP" altLang="en-US" dirty="0"/>
              <a:t>これもコンパイル時にいれておくる必要がある</a:t>
            </a:r>
            <a:endParaRPr lang="en-US" altLang="ja-JP" dirty="0"/>
          </a:p>
          <a:p>
            <a:r>
              <a:rPr lang="ja-JP" altLang="en-US" dirty="0"/>
              <a:t>上の例は，</a:t>
            </a:r>
            <a:r>
              <a:rPr lang="en-US" altLang="ja-JP" dirty="0"/>
              <a:t>x1 </a:t>
            </a:r>
            <a:r>
              <a:rPr lang="ja-JP" altLang="en-US" dirty="0"/>
              <a:t>に１を足した結果を使う以外の処理がなかった場合</a:t>
            </a:r>
            <a:endParaRPr lang="en-US" altLang="ja-JP" dirty="0"/>
          </a:p>
        </p:txBody>
      </p:sp>
      <p:cxnSp>
        <p:nvCxnSpPr>
          <p:cNvPr id="4" name="直線コネクタ 3"/>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34" name="直線コネクタ 33"/>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36" name="直線コネクタ 35"/>
          <p:cNvCxnSpPr>
            <a:endCxn id="26"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5128978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遅延スロットの利点</a:t>
            </a:r>
          </a:p>
        </p:txBody>
      </p:sp>
      <p:sp>
        <p:nvSpPr>
          <p:cNvPr id="3" name="テキスト プレースホルダー 2"/>
          <p:cNvSpPr>
            <a:spLocks noGrp="1"/>
          </p:cNvSpPr>
          <p:nvPr>
            <p:ph type="body" sz="quarter" idx="10"/>
          </p:nvPr>
        </p:nvSpPr>
        <p:spPr/>
        <p:txBody>
          <a:bodyPr/>
          <a:lstStyle/>
          <a:p>
            <a:r>
              <a:rPr lang="ja-JP" altLang="en-US" dirty="0"/>
              <a:t>利点：</a:t>
            </a:r>
            <a:endParaRPr lang="en-US" altLang="ja-JP" dirty="0"/>
          </a:p>
          <a:p>
            <a:pPr lvl="1"/>
            <a:r>
              <a:rPr lang="ja-JP" altLang="en-US" dirty="0"/>
              <a:t>なにもしないので，ハードは最も単純</a:t>
            </a:r>
            <a:endParaRPr lang="en-US" altLang="ja-JP" dirty="0"/>
          </a:p>
          <a:p>
            <a:pPr lvl="1"/>
            <a:r>
              <a:rPr lang="ja-JP" altLang="en-US" dirty="0"/>
              <a:t>並列にできる命令があれば，性能も下がらない</a:t>
            </a:r>
            <a:endParaRPr lang="en-US" altLang="ja-JP" dirty="0"/>
          </a:p>
        </p:txBody>
      </p:sp>
    </p:spTree>
    <p:extLst>
      <p:ext uri="{BB962C8B-B14F-4D97-AF65-F5344CB8AC3E}">
        <p14:creationId xmlns:p14="http://schemas.microsoft.com/office/powerpoint/2010/main" val="29107134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遅延スロットの欠点</a:t>
            </a:r>
          </a:p>
        </p:txBody>
      </p:sp>
      <p:sp>
        <p:nvSpPr>
          <p:cNvPr id="3" name="テキスト プレースホルダー 2"/>
          <p:cNvSpPr>
            <a:spLocks noGrp="1"/>
          </p:cNvSpPr>
          <p:nvPr>
            <p:ph type="body" sz="quarter" idx="10"/>
          </p:nvPr>
        </p:nvSpPr>
        <p:spPr>
          <a:xfrm>
            <a:off x="2135956" y="908972"/>
            <a:ext cx="8280092" cy="2610028"/>
          </a:xfrm>
        </p:spPr>
        <p:txBody>
          <a:bodyPr/>
          <a:lstStyle/>
          <a:p>
            <a:r>
              <a:rPr lang="ja-JP" altLang="en-US" dirty="0"/>
              <a:t>欠点：「仕様」なので，一度決めると変えられない</a:t>
            </a:r>
            <a:endParaRPr lang="en-US" altLang="ja-JP" dirty="0"/>
          </a:p>
          <a:p>
            <a:pPr lvl="1"/>
            <a:r>
              <a:rPr lang="ja-JP" altLang="en-US" dirty="0"/>
              <a:t>後からパイプラインの段数や構造を変えると互換性がなくなる</a:t>
            </a:r>
            <a:endParaRPr lang="en-US" altLang="ja-JP" dirty="0"/>
          </a:p>
          <a:p>
            <a:pPr lvl="2"/>
            <a:r>
              <a:rPr lang="ja-JP" altLang="en-US" dirty="0"/>
              <a:t>クロックをあげるために，段数を増やせない</a:t>
            </a:r>
            <a:endParaRPr lang="en-US" altLang="ja-JP" dirty="0"/>
          </a:p>
          <a:p>
            <a:pPr lvl="1"/>
            <a:r>
              <a:rPr lang="ja-JP" altLang="en-US" dirty="0"/>
              <a:t>複数の命令を同時処理しようとしたときにも互換性がなくなる</a:t>
            </a:r>
            <a:endParaRPr lang="en-US" altLang="ja-JP" dirty="0"/>
          </a:p>
          <a:p>
            <a:pPr lvl="1"/>
            <a:r>
              <a:rPr lang="en-US" altLang="ja-JP" dirty="0"/>
              <a:t>MIPS </a:t>
            </a:r>
            <a:r>
              <a:rPr lang="ja-JP" altLang="en-US" dirty="0"/>
              <a:t>では遅延スロットが１命令分，仕様として存在</a:t>
            </a:r>
            <a:endParaRPr lang="en-US" altLang="ja-JP" dirty="0"/>
          </a:p>
          <a:p>
            <a:pPr lvl="2"/>
            <a:r>
              <a:rPr lang="ja-JP" altLang="en-US" dirty="0"/>
              <a:t>互換性のためにこれを忠実に再現するため後年は逆に複雑化</a:t>
            </a:r>
            <a:endParaRPr lang="en-US" altLang="ja-JP" dirty="0"/>
          </a:p>
        </p:txBody>
      </p:sp>
      <p:sp>
        <p:nvSpPr>
          <p:cNvPr id="4" name="Rectangle 69"/>
          <p:cNvSpPr>
            <a:spLocks noChangeArrowheads="1"/>
          </p:cNvSpPr>
          <p:nvPr/>
        </p:nvSpPr>
        <p:spPr bwMode="auto">
          <a:xfrm>
            <a:off x="177595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 name="Rectangle 70"/>
          <p:cNvSpPr>
            <a:spLocks noChangeArrowheads="1"/>
          </p:cNvSpPr>
          <p:nvPr/>
        </p:nvSpPr>
        <p:spPr bwMode="auto">
          <a:xfrm>
            <a:off x="2225957"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 name="Rectangle 71"/>
          <p:cNvSpPr>
            <a:spLocks noChangeArrowheads="1"/>
          </p:cNvSpPr>
          <p:nvPr/>
        </p:nvSpPr>
        <p:spPr bwMode="auto">
          <a:xfrm>
            <a:off x="267596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7" name="Rectangle 72"/>
          <p:cNvSpPr>
            <a:spLocks noChangeArrowheads="1"/>
          </p:cNvSpPr>
          <p:nvPr/>
        </p:nvSpPr>
        <p:spPr bwMode="auto">
          <a:xfrm>
            <a:off x="3125967"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8" name="Rectangle 69"/>
          <p:cNvSpPr>
            <a:spLocks noChangeArrowheads="1"/>
          </p:cNvSpPr>
          <p:nvPr/>
        </p:nvSpPr>
        <p:spPr bwMode="auto">
          <a:xfrm>
            <a:off x="222595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9" name="Rectangle 70"/>
          <p:cNvSpPr>
            <a:spLocks noChangeArrowheads="1"/>
          </p:cNvSpPr>
          <p:nvPr/>
        </p:nvSpPr>
        <p:spPr bwMode="auto">
          <a:xfrm>
            <a:off x="2675962"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10" name="Rectangle 71"/>
          <p:cNvSpPr>
            <a:spLocks noChangeArrowheads="1"/>
          </p:cNvSpPr>
          <p:nvPr/>
        </p:nvSpPr>
        <p:spPr bwMode="auto">
          <a:xfrm>
            <a:off x="312596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11" name="Rectangle 72"/>
          <p:cNvSpPr>
            <a:spLocks noChangeArrowheads="1"/>
          </p:cNvSpPr>
          <p:nvPr/>
        </p:nvSpPr>
        <p:spPr bwMode="auto">
          <a:xfrm>
            <a:off x="3575972"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12" name="Rectangle 73"/>
          <p:cNvSpPr>
            <a:spLocks noChangeArrowheads="1"/>
          </p:cNvSpPr>
          <p:nvPr/>
        </p:nvSpPr>
        <p:spPr bwMode="auto">
          <a:xfrm>
            <a:off x="4025977"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13" name="Rectangle 69"/>
          <p:cNvSpPr>
            <a:spLocks noChangeArrowheads="1"/>
          </p:cNvSpPr>
          <p:nvPr/>
        </p:nvSpPr>
        <p:spPr bwMode="auto">
          <a:xfrm>
            <a:off x="267596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14" name="Rectangle 70"/>
          <p:cNvSpPr>
            <a:spLocks noChangeArrowheads="1"/>
          </p:cNvSpPr>
          <p:nvPr/>
        </p:nvSpPr>
        <p:spPr bwMode="auto">
          <a:xfrm>
            <a:off x="3125967"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15" name="Rectangle 71"/>
          <p:cNvSpPr>
            <a:spLocks noChangeArrowheads="1"/>
          </p:cNvSpPr>
          <p:nvPr/>
        </p:nvSpPr>
        <p:spPr bwMode="auto">
          <a:xfrm>
            <a:off x="357597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16" name="Rectangle 72"/>
          <p:cNvSpPr>
            <a:spLocks noChangeArrowheads="1"/>
          </p:cNvSpPr>
          <p:nvPr/>
        </p:nvSpPr>
        <p:spPr bwMode="auto">
          <a:xfrm>
            <a:off x="4025977"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17" name="Rectangle 73"/>
          <p:cNvSpPr>
            <a:spLocks noChangeArrowheads="1"/>
          </p:cNvSpPr>
          <p:nvPr/>
        </p:nvSpPr>
        <p:spPr bwMode="auto">
          <a:xfrm>
            <a:off x="4475982"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18" name="Rectangle 69"/>
          <p:cNvSpPr>
            <a:spLocks noChangeArrowheads="1"/>
          </p:cNvSpPr>
          <p:nvPr/>
        </p:nvSpPr>
        <p:spPr bwMode="auto">
          <a:xfrm>
            <a:off x="312596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19" name="Rectangle 70"/>
          <p:cNvSpPr>
            <a:spLocks noChangeArrowheads="1"/>
          </p:cNvSpPr>
          <p:nvPr/>
        </p:nvSpPr>
        <p:spPr bwMode="auto">
          <a:xfrm>
            <a:off x="3575972"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20" name="Rectangle 71"/>
          <p:cNvSpPr>
            <a:spLocks noChangeArrowheads="1"/>
          </p:cNvSpPr>
          <p:nvPr/>
        </p:nvSpPr>
        <p:spPr bwMode="auto">
          <a:xfrm>
            <a:off x="402597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21" name="Rectangle 72"/>
          <p:cNvSpPr>
            <a:spLocks noChangeArrowheads="1"/>
          </p:cNvSpPr>
          <p:nvPr/>
        </p:nvSpPr>
        <p:spPr bwMode="auto">
          <a:xfrm>
            <a:off x="4475982"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22" name="Rectangle 73"/>
          <p:cNvSpPr>
            <a:spLocks noChangeArrowheads="1"/>
          </p:cNvSpPr>
          <p:nvPr/>
        </p:nvSpPr>
        <p:spPr bwMode="auto">
          <a:xfrm>
            <a:off x="4925987"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23" name="Rectangle 73"/>
          <p:cNvSpPr>
            <a:spLocks noChangeArrowheads="1"/>
          </p:cNvSpPr>
          <p:nvPr/>
        </p:nvSpPr>
        <p:spPr bwMode="auto">
          <a:xfrm>
            <a:off x="357597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4" name="Rectangle 69"/>
          <p:cNvSpPr>
            <a:spLocks noChangeArrowheads="1"/>
          </p:cNvSpPr>
          <p:nvPr/>
        </p:nvSpPr>
        <p:spPr bwMode="auto">
          <a:xfrm>
            <a:off x="663600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5" name="Rectangle 70"/>
          <p:cNvSpPr>
            <a:spLocks noChangeArrowheads="1"/>
          </p:cNvSpPr>
          <p:nvPr/>
        </p:nvSpPr>
        <p:spPr bwMode="auto">
          <a:xfrm>
            <a:off x="7086011"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6" name="Rectangle 71"/>
          <p:cNvSpPr>
            <a:spLocks noChangeArrowheads="1"/>
          </p:cNvSpPr>
          <p:nvPr/>
        </p:nvSpPr>
        <p:spPr bwMode="auto">
          <a:xfrm>
            <a:off x="753601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7" name="Rectangle 72"/>
          <p:cNvSpPr>
            <a:spLocks noChangeArrowheads="1"/>
          </p:cNvSpPr>
          <p:nvPr/>
        </p:nvSpPr>
        <p:spPr bwMode="auto">
          <a:xfrm>
            <a:off x="7986021"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8" name="Rectangle 69"/>
          <p:cNvSpPr>
            <a:spLocks noChangeArrowheads="1"/>
          </p:cNvSpPr>
          <p:nvPr/>
        </p:nvSpPr>
        <p:spPr bwMode="auto">
          <a:xfrm>
            <a:off x="663600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7086011"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30" name="Rectangle 71"/>
          <p:cNvSpPr>
            <a:spLocks noChangeArrowheads="1"/>
          </p:cNvSpPr>
          <p:nvPr/>
        </p:nvSpPr>
        <p:spPr bwMode="auto">
          <a:xfrm>
            <a:off x="753601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7986021"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8436026" y="459901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33" name="Rectangle 69"/>
          <p:cNvSpPr>
            <a:spLocks noChangeArrowheads="1"/>
          </p:cNvSpPr>
          <p:nvPr/>
        </p:nvSpPr>
        <p:spPr bwMode="auto">
          <a:xfrm>
            <a:off x="708601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34" name="Rectangle 70"/>
          <p:cNvSpPr>
            <a:spLocks noChangeArrowheads="1"/>
          </p:cNvSpPr>
          <p:nvPr/>
        </p:nvSpPr>
        <p:spPr bwMode="auto">
          <a:xfrm>
            <a:off x="7536016"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35" name="Rectangle 71"/>
          <p:cNvSpPr>
            <a:spLocks noChangeArrowheads="1"/>
          </p:cNvSpPr>
          <p:nvPr/>
        </p:nvSpPr>
        <p:spPr bwMode="auto">
          <a:xfrm>
            <a:off x="798602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36" name="Rectangle 72"/>
          <p:cNvSpPr>
            <a:spLocks noChangeArrowheads="1"/>
          </p:cNvSpPr>
          <p:nvPr/>
        </p:nvSpPr>
        <p:spPr bwMode="auto">
          <a:xfrm>
            <a:off x="8436026"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37" name="Rectangle 73"/>
          <p:cNvSpPr>
            <a:spLocks noChangeArrowheads="1"/>
          </p:cNvSpPr>
          <p:nvPr/>
        </p:nvSpPr>
        <p:spPr bwMode="auto">
          <a:xfrm>
            <a:off x="8886031" y="504901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38" name="Rectangle 69"/>
          <p:cNvSpPr>
            <a:spLocks noChangeArrowheads="1"/>
          </p:cNvSpPr>
          <p:nvPr/>
        </p:nvSpPr>
        <p:spPr bwMode="auto">
          <a:xfrm>
            <a:off x="708601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39" name="Rectangle 70"/>
          <p:cNvSpPr>
            <a:spLocks noChangeArrowheads="1"/>
          </p:cNvSpPr>
          <p:nvPr/>
        </p:nvSpPr>
        <p:spPr bwMode="auto">
          <a:xfrm>
            <a:off x="7536016"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40" name="Rectangle 71"/>
          <p:cNvSpPr>
            <a:spLocks noChangeArrowheads="1"/>
          </p:cNvSpPr>
          <p:nvPr/>
        </p:nvSpPr>
        <p:spPr bwMode="auto">
          <a:xfrm>
            <a:off x="798602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41" name="Rectangle 72"/>
          <p:cNvSpPr>
            <a:spLocks noChangeArrowheads="1"/>
          </p:cNvSpPr>
          <p:nvPr/>
        </p:nvSpPr>
        <p:spPr bwMode="auto">
          <a:xfrm>
            <a:off x="8436026"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42" name="Rectangle 73"/>
          <p:cNvSpPr>
            <a:spLocks noChangeArrowheads="1"/>
          </p:cNvSpPr>
          <p:nvPr/>
        </p:nvSpPr>
        <p:spPr bwMode="auto">
          <a:xfrm>
            <a:off x="8886031" y="549902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43" name="Rectangle 73"/>
          <p:cNvSpPr>
            <a:spLocks noChangeArrowheads="1"/>
          </p:cNvSpPr>
          <p:nvPr/>
        </p:nvSpPr>
        <p:spPr bwMode="auto">
          <a:xfrm>
            <a:off x="843602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4" name="Rectangle 69"/>
          <p:cNvSpPr>
            <a:spLocks noChangeArrowheads="1"/>
          </p:cNvSpPr>
          <p:nvPr/>
        </p:nvSpPr>
        <p:spPr bwMode="auto">
          <a:xfrm>
            <a:off x="357597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025977"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447598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7" name="Rectangle 72"/>
          <p:cNvSpPr>
            <a:spLocks noChangeArrowheads="1"/>
          </p:cNvSpPr>
          <p:nvPr/>
        </p:nvSpPr>
        <p:spPr bwMode="auto">
          <a:xfrm>
            <a:off x="4925987"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8" name="Rectangle 73"/>
          <p:cNvSpPr>
            <a:spLocks noChangeArrowheads="1"/>
          </p:cNvSpPr>
          <p:nvPr/>
        </p:nvSpPr>
        <p:spPr bwMode="auto">
          <a:xfrm>
            <a:off x="5375992" y="594902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49" name="Rectangle 69"/>
          <p:cNvSpPr>
            <a:spLocks noChangeArrowheads="1"/>
          </p:cNvSpPr>
          <p:nvPr/>
        </p:nvSpPr>
        <p:spPr bwMode="auto">
          <a:xfrm>
            <a:off x="753601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50" name="Rectangle 70"/>
          <p:cNvSpPr>
            <a:spLocks noChangeArrowheads="1"/>
          </p:cNvSpPr>
          <p:nvPr/>
        </p:nvSpPr>
        <p:spPr bwMode="auto">
          <a:xfrm>
            <a:off x="7986021"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51" name="Rectangle 71"/>
          <p:cNvSpPr>
            <a:spLocks noChangeArrowheads="1"/>
          </p:cNvSpPr>
          <p:nvPr/>
        </p:nvSpPr>
        <p:spPr bwMode="auto">
          <a:xfrm>
            <a:off x="843602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52" name="Rectangle 72"/>
          <p:cNvSpPr>
            <a:spLocks noChangeArrowheads="1"/>
          </p:cNvSpPr>
          <p:nvPr/>
        </p:nvSpPr>
        <p:spPr bwMode="auto">
          <a:xfrm>
            <a:off x="8886031"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53" name="Rectangle 73"/>
          <p:cNvSpPr>
            <a:spLocks noChangeArrowheads="1"/>
          </p:cNvSpPr>
          <p:nvPr/>
        </p:nvSpPr>
        <p:spPr bwMode="auto">
          <a:xfrm>
            <a:off x="9336036" y="594902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54" name="Rectangle 69"/>
          <p:cNvSpPr>
            <a:spLocks noChangeArrowheads="1"/>
          </p:cNvSpPr>
          <p:nvPr/>
        </p:nvSpPr>
        <p:spPr bwMode="auto">
          <a:xfrm>
            <a:off x="753601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IF</a:t>
            </a:r>
          </a:p>
        </p:txBody>
      </p:sp>
      <p:sp>
        <p:nvSpPr>
          <p:cNvPr id="55" name="Rectangle 70"/>
          <p:cNvSpPr>
            <a:spLocks noChangeArrowheads="1"/>
          </p:cNvSpPr>
          <p:nvPr/>
        </p:nvSpPr>
        <p:spPr bwMode="auto">
          <a:xfrm>
            <a:off x="7986021"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ID</a:t>
            </a:r>
          </a:p>
        </p:txBody>
      </p:sp>
      <p:sp>
        <p:nvSpPr>
          <p:cNvPr id="56" name="Rectangle 71"/>
          <p:cNvSpPr>
            <a:spLocks noChangeArrowheads="1"/>
          </p:cNvSpPr>
          <p:nvPr/>
        </p:nvSpPr>
        <p:spPr bwMode="auto">
          <a:xfrm>
            <a:off x="843602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a:t>EX</a:t>
            </a:r>
          </a:p>
        </p:txBody>
      </p:sp>
      <p:sp>
        <p:nvSpPr>
          <p:cNvPr id="57" name="Rectangle 72"/>
          <p:cNvSpPr>
            <a:spLocks noChangeArrowheads="1"/>
          </p:cNvSpPr>
          <p:nvPr/>
        </p:nvSpPr>
        <p:spPr bwMode="auto">
          <a:xfrm>
            <a:off x="8886031"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200"/>
              <a:t>MEM</a:t>
            </a:r>
          </a:p>
        </p:txBody>
      </p:sp>
      <p:sp>
        <p:nvSpPr>
          <p:cNvPr id="58" name="Rectangle 73"/>
          <p:cNvSpPr>
            <a:spLocks noChangeArrowheads="1"/>
          </p:cNvSpPr>
          <p:nvPr/>
        </p:nvSpPr>
        <p:spPr bwMode="auto">
          <a:xfrm>
            <a:off x="9336036" y="639903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WB</a:t>
            </a:r>
          </a:p>
        </p:txBody>
      </p:sp>
      <p:sp>
        <p:nvSpPr>
          <p:cNvPr id="59" name="正方形/長方形 58"/>
          <p:cNvSpPr/>
          <p:nvPr/>
        </p:nvSpPr>
        <p:spPr bwMode="auto">
          <a:xfrm>
            <a:off x="6005999"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２命令同時処理すると，遅延スロットが増える</a:t>
            </a:r>
          </a:p>
        </p:txBody>
      </p:sp>
    </p:spTree>
    <p:extLst>
      <p:ext uri="{BB962C8B-B14F-4D97-AF65-F5344CB8AC3E}">
        <p14:creationId xmlns:p14="http://schemas.microsoft.com/office/powerpoint/2010/main" val="29313710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遅延スロットの欠点２</a:t>
            </a:r>
          </a:p>
        </p:txBody>
      </p:sp>
      <p:sp>
        <p:nvSpPr>
          <p:cNvPr id="3" name="テキスト プレースホルダー 2"/>
          <p:cNvSpPr>
            <a:spLocks noGrp="1"/>
          </p:cNvSpPr>
          <p:nvPr>
            <p:ph type="body" sz="quarter" idx="10"/>
          </p:nvPr>
        </p:nvSpPr>
        <p:spPr>
          <a:xfrm>
            <a:off x="2135956" y="4959017"/>
            <a:ext cx="8280092" cy="1349708"/>
          </a:xfrm>
        </p:spPr>
        <p:txBody>
          <a:bodyPr/>
          <a:lstStyle/>
          <a:p>
            <a:r>
              <a:rPr lang="ja-JP" altLang="en-US" dirty="0"/>
              <a:t>欠点２：並列してできる命令が常にあるとは限らない</a:t>
            </a:r>
            <a:endParaRPr lang="en-US" altLang="ja-JP" dirty="0"/>
          </a:p>
          <a:p>
            <a:pPr lvl="1"/>
            <a:r>
              <a:rPr lang="en-US" altLang="ja-JP" dirty="0"/>
              <a:t>NOP </a:t>
            </a:r>
            <a:r>
              <a:rPr lang="ja-JP" altLang="en-US" dirty="0"/>
              <a:t>を入れるしかなくなる</a:t>
            </a:r>
            <a:endParaRPr lang="en-US" altLang="ja-JP" dirty="0"/>
          </a:p>
          <a:p>
            <a:pPr lvl="1"/>
            <a:r>
              <a:rPr lang="ja-JP" altLang="en-US" dirty="0"/>
              <a:t>実質ストールしてバブルを入れるのと同じになってしまう</a:t>
            </a:r>
            <a:endParaRPr lang="en-US" altLang="ja-JP" dirty="0"/>
          </a:p>
        </p:txBody>
      </p:sp>
      <p:cxnSp>
        <p:nvCxnSpPr>
          <p:cNvPr id="42" name="直線コネクタ 41"/>
          <p:cNvCxnSpPr/>
          <p:nvPr/>
        </p:nvCxnSpPr>
        <p:spPr bwMode="auto">
          <a:xfrm>
            <a:off x="3935976" y="1898983"/>
            <a:ext cx="1080084" cy="0"/>
          </a:xfrm>
          <a:prstGeom prst="line">
            <a:avLst/>
          </a:prstGeom>
          <a:noFill/>
          <a:ln w="9525" cap="flat" cmpd="sng" algn="ctr">
            <a:solidFill>
              <a:schemeClr val="tx1"/>
            </a:solidFill>
            <a:prstDash val="dash"/>
            <a:round/>
            <a:headEnd type="none" w="med" len="med"/>
            <a:tailEnd type="none" w="med" len="med"/>
          </a:ln>
          <a:effectLst/>
        </p:spPr>
      </p:cxnSp>
      <p:cxnSp>
        <p:nvCxnSpPr>
          <p:cNvPr id="43" name="直線コネクタ 42"/>
          <p:cNvCxnSpPr/>
          <p:nvPr/>
        </p:nvCxnSpPr>
        <p:spPr bwMode="auto">
          <a:xfrm>
            <a:off x="3935976"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44" name="Rectangle 69"/>
          <p:cNvSpPr>
            <a:spLocks noChangeArrowheads="1"/>
          </p:cNvSpPr>
          <p:nvPr/>
        </p:nvSpPr>
        <p:spPr bwMode="auto">
          <a:xfrm>
            <a:off x="447598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92598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537599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47" name="Rectangle 72"/>
          <p:cNvSpPr>
            <a:spLocks noChangeArrowheads="1"/>
          </p:cNvSpPr>
          <p:nvPr/>
        </p:nvSpPr>
        <p:spPr bwMode="auto">
          <a:xfrm>
            <a:off x="5825997"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8" name="Rectangle 69"/>
          <p:cNvSpPr>
            <a:spLocks noChangeArrowheads="1"/>
          </p:cNvSpPr>
          <p:nvPr/>
        </p:nvSpPr>
        <p:spPr bwMode="auto">
          <a:xfrm>
            <a:off x="492598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9" name="Rectangle 70"/>
          <p:cNvSpPr>
            <a:spLocks noChangeArrowheads="1"/>
          </p:cNvSpPr>
          <p:nvPr/>
        </p:nvSpPr>
        <p:spPr bwMode="auto">
          <a:xfrm>
            <a:off x="537599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0" name="Rectangle 71"/>
          <p:cNvSpPr>
            <a:spLocks noChangeArrowheads="1"/>
          </p:cNvSpPr>
          <p:nvPr/>
        </p:nvSpPr>
        <p:spPr bwMode="auto">
          <a:xfrm>
            <a:off x="582599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1" name="Rectangle 72"/>
          <p:cNvSpPr>
            <a:spLocks noChangeArrowheads="1"/>
          </p:cNvSpPr>
          <p:nvPr/>
        </p:nvSpPr>
        <p:spPr bwMode="auto">
          <a:xfrm>
            <a:off x="6276002"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2" name="Rectangle 73"/>
          <p:cNvSpPr>
            <a:spLocks noChangeArrowheads="1"/>
          </p:cNvSpPr>
          <p:nvPr/>
        </p:nvSpPr>
        <p:spPr bwMode="auto">
          <a:xfrm>
            <a:off x="6726007"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3" name="Rectangle 69"/>
          <p:cNvSpPr>
            <a:spLocks noChangeArrowheads="1"/>
          </p:cNvSpPr>
          <p:nvPr/>
        </p:nvSpPr>
        <p:spPr bwMode="auto">
          <a:xfrm>
            <a:off x="537599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4" name="Rectangle 70"/>
          <p:cNvSpPr>
            <a:spLocks noChangeArrowheads="1"/>
          </p:cNvSpPr>
          <p:nvPr/>
        </p:nvSpPr>
        <p:spPr bwMode="auto">
          <a:xfrm>
            <a:off x="582599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5" name="Rectangle 71"/>
          <p:cNvSpPr>
            <a:spLocks noChangeArrowheads="1"/>
          </p:cNvSpPr>
          <p:nvPr/>
        </p:nvSpPr>
        <p:spPr bwMode="auto">
          <a:xfrm>
            <a:off x="627600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56" name="Rectangle 72"/>
          <p:cNvSpPr>
            <a:spLocks noChangeArrowheads="1"/>
          </p:cNvSpPr>
          <p:nvPr/>
        </p:nvSpPr>
        <p:spPr bwMode="auto">
          <a:xfrm>
            <a:off x="6726007"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7" name="Rectangle 73"/>
          <p:cNvSpPr>
            <a:spLocks noChangeArrowheads="1"/>
          </p:cNvSpPr>
          <p:nvPr/>
        </p:nvSpPr>
        <p:spPr bwMode="auto">
          <a:xfrm>
            <a:off x="7176012"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8" name="正方形/長方形 57"/>
          <p:cNvSpPr/>
          <p:nvPr/>
        </p:nvSpPr>
        <p:spPr bwMode="auto">
          <a:xfrm>
            <a:off x="2045955"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59" name="Rectangle 69"/>
          <p:cNvSpPr>
            <a:spLocks noChangeArrowheads="1"/>
          </p:cNvSpPr>
          <p:nvPr/>
        </p:nvSpPr>
        <p:spPr bwMode="auto">
          <a:xfrm>
            <a:off x="582599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0" name="Rectangle 70"/>
          <p:cNvSpPr>
            <a:spLocks noChangeArrowheads="1"/>
          </p:cNvSpPr>
          <p:nvPr/>
        </p:nvSpPr>
        <p:spPr bwMode="auto">
          <a:xfrm>
            <a:off x="627600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1" name="Rectangle 71"/>
          <p:cNvSpPr>
            <a:spLocks noChangeArrowheads="1"/>
          </p:cNvSpPr>
          <p:nvPr/>
        </p:nvSpPr>
        <p:spPr bwMode="auto">
          <a:xfrm>
            <a:off x="672600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2" name="Rectangle 72"/>
          <p:cNvSpPr>
            <a:spLocks noChangeArrowheads="1"/>
          </p:cNvSpPr>
          <p:nvPr/>
        </p:nvSpPr>
        <p:spPr bwMode="auto">
          <a:xfrm>
            <a:off x="7176012"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3" name="Rectangle 73"/>
          <p:cNvSpPr>
            <a:spLocks noChangeArrowheads="1"/>
          </p:cNvSpPr>
          <p:nvPr/>
        </p:nvSpPr>
        <p:spPr bwMode="auto">
          <a:xfrm>
            <a:off x="7626017"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64" name="Rectangle 69"/>
          <p:cNvSpPr>
            <a:spLocks noChangeArrowheads="1"/>
          </p:cNvSpPr>
          <p:nvPr/>
        </p:nvSpPr>
        <p:spPr bwMode="auto">
          <a:xfrm>
            <a:off x="627600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65" name="Rectangle 70"/>
          <p:cNvSpPr>
            <a:spLocks noChangeArrowheads="1"/>
          </p:cNvSpPr>
          <p:nvPr/>
        </p:nvSpPr>
        <p:spPr bwMode="auto">
          <a:xfrm>
            <a:off x="672600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6" name="Rectangle 71"/>
          <p:cNvSpPr>
            <a:spLocks noChangeArrowheads="1"/>
          </p:cNvSpPr>
          <p:nvPr/>
        </p:nvSpPr>
        <p:spPr bwMode="auto">
          <a:xfrm>
            <a:off x="717601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67" name="Rectangle 72"/>
          <p:cNvSpPr>
            <a:spLocks noChangeArrowheads="1"/>
          </p:cNvSpPr>
          <p:nvPr/>
        </p:nvSpPr>
        <p:spPr bwMode="auto">
          <a:xfrm>
            <a:off x="7626017"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8" name="Rectangle 73"/>
          <p:cNvSpPr>
            <a:spLocks noChangeArrowheads="1"/>
          </p:cNvSpPr>
          <p:nvPr/>
        </p:nvSpPr>
        <p:spPr bwMode="auto">
          <a:xfrm>
            <a:off x="8076022"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69" name="直線コネクタ 68"/>
          <p:cNvCxnSpPr/>
          <p:nvPr/>
        </p:nvCxnSpPr>
        <p:spPr bwMode="auto">
          <a:xfrm>
            <a:off x="3935976" y="2348988"/>
            <a:ext cx="1440088" cy="0"/>
          </a:xfrm>
          <a:prstGeom prst="line">
            <a:avLst/>
          </a:prstGeom>
          <a:noFill/>
          <a:ln w="9525" cap="flat" cmpd="sng" algn="ctr">
            <a:solidFill>
              <a:schemeClr val="tx1"/>
            </a:solidFill>
            <a:prstDash val="dash"/>
            <a:round/>
            <a:headEnd type="none" w="med" len="med"/>
            <a:tailEnd type="none" w="med" len="med"/>
          </a:ln>
          <a:effectLst/>
        </p:spPr>
      </p:cxnSp>
      <p:sp>
        <p:nvSpPr>
          <p:cNvPr id="70" name="正方形/長方形 69"/>
          <p:cNvSpPr/>
          <p:nvPr/>
        </p:nvSpPr>
        <p:spPr bwMode="auto">
          <a:xfrm>
            <a:off x="2045955"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71" name="正方形/長方形 70"/>
          <p:cNvSpPr/>
          <p:nvPr/>
        </p:nvSpPr>
        <p:spPr bwMode="auto">
          <a:xfrm>
            <a:off x="2045955"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72" name="直線コネクタ 71"/>
          <p:cNvCxnSpPr/>
          <p:nvPr/>
        </p:nvCxnSpPr>
        <p:spPr bwMode="auto">
          <a:xfrm>
            <a:off x="3935977" y="2798993"/>
            <a:ext cx="1890093" cy="0"/>
          </a:xfrm>
          <a:prstGeom prst="line">
            <a:avLst/>
          </a:prstGeom>
          <a:noFill/>
          <a:ln w="9525" cap="flat" cmpd="sng" algn="ctr">
            <a:solidFill>
              <a:schemeClr val="tx1"/>
            </a:solidFill>
            <a:prstDash val="dash"/>
            <a:round/>
            <a:headEnd type="none" w="med" len="med"/>
            <a:tailEnd type="none" w="med" len="med"/>
          </a:ln>
          <a:effectLst/>
        </p:spPr>
      </p:cxnSp>
      <p:sp>
        <p:nvSpPr>
          <p:cNvPr id="73" name="正方形/長方形 72"/>
          <p:cNvSpPr/>
          <p:nvPr/>
        </p:nvSpPr>
        <p:spPr bwMode="auto">
          <a:xfrm>
            <a:off x="2045955"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 </a:t>
            </a:r>
            <a:r>
              <a:rPr lang="en-US" altLang="ja-JP" sz="1600" dirty="0">
                <a:solidFill>
                  <a:schemeClr val="accent6"/>
                </a:solidFill>
                <a:latin typeface="メイリオ" panose="020B0604030504040204" pitchFamily="50" charset="-128"/>
                <a:ea typeface="メイリオ" panose="020B0604030504040204" pitchFamily="50" charset="-128"/>
              </a:rPr>
              <a:t>NOP</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cxnSp>
        <p:nvCxnSpPr>
          <p:cNvPr id="74" name="直線コネクタ 73"/>
          <p:cNvCxnSpPr>
            <a:endCxn id="64" idx="1"/>
          </p:cNvCxnSpPr>
          <p:nvPr/>
        </p:nvCxnSpPr>
        <p:spPr bwMode="auto">
          <a:xfrm flipV="1">
            <a:off x="3935976" y="3248996"/>
            <a:ext cx="2340026" cy="2"/>
          </a:xfrm>
          <a:prstGeom prst="line">
            <a:avLst/>
          </a:prstGeom>
          <a:noFill/>
          <a:ln w="9525" cap="flat" cmpd="sng" algn="ctr">
            <a:solidFill>
              <a:schemeClr val="tx1"/>
            </a:solidFill>
            <a:prstDash val="dash"/>
            <a:round/>
            <a:headEnd type="none" w="med" len="med"/>
            <a:tailEnd type="none" w="med" len="med"/>
          </a:ln>
          <a:effectLst/>
        </p:spPr>
      </p:cxnSp>
      <p:sp>
        <p:nvSpPr>
          <p:cNvPr id="75" name="正方形/長方形 74"/>
          <p:cNvSpPr/>
          <p:nvPr/>
        </p:nvSpPr>
        <p:spPr bwMode="auto">
          <a:xfrm>
            <a:off x="2045955"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6" name="Rectangle 73"/>
          <p:cNvSpPr>
            <a:spLocks noChangeArrowheads="1"/>
          </p:cNvSpPr>
          <p:nvPr/>
        </p:nvSpPr>
        <p:spPr bwMode="auto">
          <a:xfrm>
            <a:off x="6276002"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77" name="直線コネクタ 76"/>
          <p:cNvCxnSpPr/>
          <p:nvPr/>
        </p:nvCxnSpPr>
        <p:spPr bwMode="auto">
          <a:xfrm>
            <a:off x="6688837" y="120871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cxnSp>
        <p:nvCxnSpPr>
          <p:cNvPr id="79" name="直線コネクタ 78"/>
          <p:cNvCxnSpPr/>
          <p:nvPr/>
        </p:nvCxnSpPr>
        <p:spPr bwMode="auto">
          <a:xfrm>
            <a:off x="3935976" y="3969006"/>
            <a:ext cx="720080" cy="0"/>
          </a:xfrm>
          <a:prstGeom prst="line">
            <a:avLst/>
          </a:prstGeom>
          <a:noFill/>
          <a:ln w="9525" cap="flat" cmpd="sng" algn="ctr">
            <a:solidFill>
              <a:schemeClr val="tx1"/>
            </a:solidFill>
            <a:prstDash val="dash"/>
            <a:round/>
            <a:headEnd type="none" w="med" len="med"/>
            <a:tailEnd type="none" w="med" len="med"/>
          </a:ln>
          <a:effectLst/>
        </p:spPr>
      </p:cxnSp>
      <p:sp>
        <p:nvSpPr>
          <p:cNvPr id="80" name="Rectangle 69"/>
          <p:cNvSpPr>
            <a:spLocks noChangeArrowheads="1"/>
          </p:cNvSpPr>
          <p:nvPr/>
        </p:nvSpPr>
        <p:spPr bwMode="auto">
          <a:xfrm>
            <a:off x="447598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81" name="Rectangle 70"/>
          <p:cNvSpPr>
            <a:spLocks noChangeArrowheads="1"/>
          </p:cNvSpPr>
          <p:nvPr/>
        </p:nvSpPr>
        <p:spPr bwMode="auto">
          <a:xfrm>
            <a:off x="4925987"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2" name="Rectangle 71"/>
          <p:cNvSpPr>
            <a:spLocks noChangeArrowheads="1"/>
          </p:cNvSpPr>
          <p:nvPr/>
        </p:nvSpPr>
        <p:spPr bwMode="auto">
          <a:xfrm>
            <a:off x="537599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83" name="Rectangle 72"/>
          <p:cNvSpPr>
            <a:spLocks noChangeArrowheads="1"/>
          </p:cNvSpPr>
          <p:nvPr/>
        </p:nvSpPr>
        <p:spPr bwMode="auto">
          <a:xfrm>
            <a:off x="5825997"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94" name="正方形/長方形 93"/>
          <p:cNvSpPr/>
          <p:nvPr/>
        </p:nvSpPr>
        <p:spPr bwMode="auto">
          <a:xfrm>
            <a:off x="2045955"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 add x1+1</a:t>
            </a: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600" dirty="0">
                <a:solidFill>
                  <a:schemeClr val="accent6"/>
                </a:solidFill>
                <a:latin typeface="メイリオ" panose="020B0604030504040204" pitchFamily="50" charset="-128"/>
                <a:ea typeface="メイリオ" panose="020B0604030504040204" pitchFamily="50" charset="-128"/>
              </a:rPr>
              <a:t>x1</a:t>
            </a:r>
            <a:endParaRPr lang="ja-JP" altLang="en-US" sz="1600" dirty="0">
              <a:solidFill>
                <a:schemeClr val="accent6"/>
              </a:solidFill>
              <a:latin typeface="メイリオ" panose="020B0604030504040204" pitchFamily="50" charset="-128"/>
              <a:ea typeface="メイリオ" panose="020B0604030504040204" pitchFamily="50" charset="-128"/>
            </a:endParaRPr>
          </a:p>
        </p:txBody>
      </p:sp>
      <p:sp>
        <p:nvSpPr>
          <p:cNvPr id="100" name="Rectangle 69"/>
          <p:cNvSpPr>
            <a:spLocks noChangeArrowheads="1"/>
          </p:cNvSpPr>
          <p:nvPr/>
        </p:nvSpPr>
        <p:spPr bwMode="auto">
          <a:xfrm>
            <a:off x="492598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1" name="Rectangle 70"/>
          <p:cNvSpPr>
            <a:spLocks noChangeArrowheads="1"/>
          </p:cNvSpPr>
          <p:nvPr/>
        </p:nvSpPr>
        <p:spPr bwMode="auto">
          <a:xfrm>
            <a:off x="672600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02" name="Rectangle 71"/>
          <p:cNvSpPr>
            <a:spLocks noChangeArrowheads="1"/>
          </p:cNvSpPr>
          <p:nvPr/>
        </p:nvSpPr>
        <p:spPr bwMode="auto">
          <a:xfrm>
            <a:off x="7176012"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03" name="Rectangle 72"/>
          <p:cNvSpPr>
            <a:spLocks noChangeArrowheads="1"/>
          </p:cNvSpPr>
          <p:nvPr/>
        </p:nvSpPr>
        <p:spPr bwMode="auto">
          <a:xfrm>
            <a:off x="7626017"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4" name="Rectangle 73"/>
          <p:cNvSpPr>
            <a:spLocks noChangeArrowheads="1"/>
          </p:cNvSpPr>
          <p:nvPr/>
        </p:nvSpPr>
        <p:spPr bwMode="auto">
          <a:xfrm>
            <a:off x="8076022"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110" name="直線コネクタ 109"/>
          <p:cNvCxnSpPr>
            <a:endCxn id="100" idx="1"/>
          </p:cNvCxnSpPr>
          <p:nvPr/>
        </p:nvCxnSpPr>
        <p:spPr bwMode="auto">
          <a:xfrm flipV="1">
            <a:off x="3935977" y="4419009"/>
            <a:ext cx="990011" cy="4"/>
          </a:xfrm>
          <a:prstGeom prst="line">
            <a:avLst/>
          </a:prstGeom>
          <a:noFill/>
          <a:ln w="9525" cap="flat" cmpd="sng" algn="ctr">
            <a:solidFill>
              <a:schemeClr val="tx1"/>
            </a:solidFill>
            <a:prstDash val="dash"/>
            <a:round/>
            <a:headEnd type="none" w="med" len="med"/>
            <a:tailEnd type="none" w="med" len="med"/>
          </a:ln>
          <a:effectLst/>
        </p:spPr>
      </p:cxnSp>
      <p:sp>
        <p:nvSpPr>
          <p:cNvPr id="111" name="正方形/長方形 110"/>
          <p:cNvSpPr/>
          <p:nvPr/>
        </p:nvSpPr>
        <p:spPr bwMode="auto">
          <a:xfrm>
            <a:off x="2045955" y="423900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 sub </a:t>
            </a:r>
            <a:r>
              <a:rPr lang="en-US" altLang="ja-JP" sz="1600" dirty="0">
                <a:solidFill>
                  <a:schemeClr val="accent6"/>
                </a:solidFill>
                <a:latin typeface="メイリオ" panose="020B0604030504040204" pitchFamily="50" charset="-128"/>
                <a:ea typeface="メイリオ" panose="020B0604030504040204" pitchFamily="50" charset="-128"/>
              </a:rPr>
              <a:t>x1</a:t>
            </a: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12" name="Rectangle 73"/>
          <p:cNvSpPr>
            <a:spLocks noChangeArrowheads="1"/>
          </p:cNvSpPr>
          <p:nvPr/>
        </p:nvSpPr>
        <p:spPr bwMode="auto">
          <a:xfrm>
            <a:off x="6276002"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113" name="直線コネクタ 112"/>
          <p:cNvCxnSpPr/>
          <p:nvPr/>
        </p:nvCxnSpPr>
        <p:spPr bwMode="auto">
          <a:xfrm>
            <a:off x="6680611" y="3781570"/>
            <a:ext cx="1" cy="900010"/>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
        <p:nvSpPr>
          <p:cNvPr id="116" name="Rectangle 73"/>
          <p:cNvSpPr>
            <a:spLocks noChangeArrowheads="1"/>
          </p:cNvSpPr>
          <p:nvPr/>
        </p:nvSpPr>
        <p:spPr bwMode="auto">
          <a:xfrm>
            <a:off x="5375992"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17" name="Rectangle 73"/>
          <p:cNvSpPr>
            <a:spLocks noChangeArrowheads="1"/>
          </p:cNvSpPr>
          <p:nvPr/>
        </p:nvSpPr>
        <p:spPr bwMode="auto">
          <a:xfrm>
            <a:off x="5825997"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118" name="Rectangle 73"/>
          <p:cNvSpPr>
            <a:spLocks noChangeArrowheads="1"/>
          </p:cNvSpPr>
          <p:nvPr/>
        </p:nvSpPr>
        <p:spPr bwMode="auto">
          <a:xfrm>
            <a:off x="6276002" y="4239009"/>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cxnSp>
        <p:nvCxnSpPr>
          <p:cNvPr id="78" name="直線コネクタ 77">
            <a:extLst>
              <a:ext uri="{FF2B5EF4-FFF2-40B4-BE49-F238E27FC236}">
                <a16:creationId xmlns:a16="http://schemas.microsoft.com/office/drawing/2014/main" id="{330A5556-B0E2-DE34-FB0E-A68C1366273E}"/>
              </a:ext>
            </a:extLst>
          </p:cNvPr>
          <p:cNvCxnSpPr>
            <a:cxnSpLocks/>
          </p:cNvCxnSpPr>
          <p:nvPr/>
        </p:nvCxnSpPr>
        <p:spPr bwMode="auto">
          <a:xfrm>
            <a:off x="8496716" y="1178976"/>
            <a:ext cx="0" cy="3510039"/>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32734807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b="1" dirty="0"/>
              <a:t>フォワーディング</a:t>
            </a:r>
            <a:endParaRPr kumimoji="1" lang="en-US" altLang="ja-JP" b="1" dirty="0"/>
          </a:p>
          <a:p>
            <a:pPr marL="817200" lvl="1" indent="-457200">
              <a:buFont typeface="+mj-lt"/>
              <a:buAutoNum type="arabicPeriod"/>
            </a:pPr>
            <a:r>
              <a:rPr kumimoji="1" lang="ja-JP" altLang="en-US" dirty="0"/>
              <a:t>マルチスレッディング</a:t>
            </a:r>
          </a:p>
        </p:txBody>
      </p:sp>
    </p:spTree>
    <p:extLst>
      <p:ext uri="{BB962C8B-B14F-4D97-AF65-F5344CB8AC3E}">
        <p14:creationId xmlns:p14="http://schemas.microsoft.com/office/powerpoint/2010/main" val="35109665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87900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87900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87900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87900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301446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3014462"/>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3033046"/>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3033046"/>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a:xfrm>
            <a:off x="1865953" y="11181"/>
            <a:ext cx="8712046" cy="908972"/>
          </a:xfrm>
        </p:spPr>
        <p:txBody>
          <a:bodyPr/>
          <a:lstStyle/>
          <a:p>
            <a:r>
              <a:rPr lang="ja-JP" altLang="en-US" dirty="0"/>
              <a:t>フォワーディング</a:t>
            </a:r>
            <a:endParaRPr kumimoji="1" lang="ja-JP" altLang="en-US" dirty="0"/>
          </a:p>
        </p:txBody>
      </p:sp>
      <p:sp>
        <p:nvSpPr>
          <p:cNvPr id="58" name="コンテンツ プレースホルダー 57"/>
          <p:cNvSpPr>
            <a:spLocks noGrp="1"/>
          </p:cNvSpPr>
          <p:nvPr>
            <p:ph idx="4294967295"/>
          </p:nvPr>
        </p:nvSpPr>
        <p:spPr>
          <a:xfrm>
            <a:off x="1775953" y="5389877"/>
            <a:ext cx="8730097" cy="1009157"/>
          </a:xfrm>
          <a:prstGeom prst="rect">
            <a:avLst/>
          </a:prstGeom>
        </p:spPr>
        <p:txBody>
          <a:bodyPr/>
          <a:lstStyle/>
          <a:p>
            <a:r>
              <a:rPr lang="ja-JP" altLang="en-US" dirty="0"/>
              <a:t>フォワーディング（バイパスとも呼ぶ）</a:t>
            </a:r>
            <a:endParaRPr lang="en-US" altLang="ja-JP" dirty="0"/>
          </a:p>
          <a:p>
            <a:pPr lvl="1"/>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の人が，次のサイクルにも結果を使えるようレジスタに書くと同時に手元に結果をおいておく</a:t>
            </a:r>
            <a:endParaRPr lang="en-US" altLang="ja-JP" dirty="0"/>
          </a:p>
        </p:txBody>
      </p:sp>
      <p:cxnSp>
        <p:nvCxnSpPr>
          <p:cNvPr id="67" name="直線矢印コネクタ 66"/>
          <p:cNvCxnSpPr/>
          <p:nvPr/>
        </p:nvCxnSpPr>
        <p:spPr bwMode="auto">
          <a:xfrm>
            <a:off x="3125967" y="4689014"/>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30" name="Freeform 25"/>
          <p:cNvSpPr>
            <a:spLocks/>
          </p:cNvSpPr>
          <p:nvPr/>
        </p:nvSpPr>
        <p:spPr bwMode="auto">
          <a:xfrm>
            <a:off x="4745985" y="998973"/>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31" name="AutoShape 5"/>
          <p:cNvSpPr>
            <a:spLocks noChangeArrowheads="1"/>
          </p:cNvSpPr>
          <p:nvPr/>
        </p:nvSpPr>
        <p:spPr bwMode="auto">
          <a:xfrm rot="-5400000">
            <a:off x="6366165" y="2403057"/>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演算器</a:t>
            </a:r>
          </a:p>
        </p:txBody>
      </p:sp>
      <p:grpSp>
        <p:nvGrpSpPr>
          <p:cNvPr id="32" name="グループ化 31"/>
          <p:cNvGrpSpPr/>
          <p:nvPr/>
        </p:nvGrpSpPr>
        <p:grpSpPr>
          <a:xfrm>
            <a:off x="5034017" y="1718981"/>
            <a:ext cx="1008112" cy="1152128"/>
            <a:chOff x="3563888" y="2708920"/>
            <a:chExt cx="1296144" cy="432048"/>
          </a:xfrm>
        </p:grpSpPr>
        <p:sp>
          <p:nvSpPr>
            <p:cNvPr id="33" name="Freeform 9"/>
            <p:cNvSpPr>
              <a:spLocks/>
            </p:cNvSpPr>
            <p:nvPr/>
          </p:nvSpPr>
          <p:spPr bwMode="auto">
            <a:xfrm>
              <a:off x="4211960" y="2708920"/>
              <a:ext cx="648072" cy="270003"/>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25400">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9"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w="25400">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40" name="Freeform 8"/>
          <p:cNvSpPr>
            <a:spLocks/>
          </p:cNvSpPr>
          <p:nvPr/>
        </p:nvSpPr>
        <p:spPr bwMode="auto">
          <a:xfrm>
            <a:off x="7482289" y="1808983"/>
            <a:ext cx="720080" cy="918111"/>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254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nvGrpSpPr>
          <p:cNvPr id="41" name="グループ化 40"/>
          <p:cNvGrpSpPr/>
          <p:nvPr/>
        </p:nvGrpSpPr>
        <p:grpSpPr>
          <a:xfrm>
            <a:off x="2135957" y="3699003"/>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t>
              </a:r>
              <a:endParaRPr lang="ja-JP" altLang="en-US" dirty="0">
                <a:latin typeface="Arial Narrow" panose="020B0606020202030204" pitchFamily="34" charset="0"/>
              </a:endParaRPr>
            </a:p>
          </p:txBody>
        </p:sp>
      </p:grpSp>
      <p:sp>
        <p:nvSpPr>
          <p:cNvPr id="96" name="正方形/長方形 95"/>
          <p:cNvSpPr/>
          <p:nvPr/>
        </p:nvSpPr>
        <p:spPr bwMode="auto">
          <a:xfrm>
            <a:off x="1775952" y="3158998"/>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a=a+1</a:t>
            </a:r>
          </a:p>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c=a+2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sp>
        <p:nvSpPr>
          <p:cNvPr id="46" name="角丸四角形 45"/>
          <p:cNvSpPr/>
          <p:nvPr/>
        </p:nvSpPr>
        <p:spPr bwMode="auto">
          <a:xfrm>
            <a:off x="6456004"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7" name="角丸四角形 46"/>
          <p:cNvSpPr/>
          <p:nvPr/>
        </p:nvSpPr>
        <p:spPr bwMode="auto">
          <a:xfrm>
            <a:off x="5015988"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b=a-1</a:t>
            </a:r>
            <a:endParaRPr lang="ja-JP" altLang="en-US" dirty="0">
              <a:latin typeface="Arial Narrow" panose="020B0606020202030204" pitchFamily="34" charset="0"/>
            </a:endParaRPr>
          </a:p>
        </p:txBody>
      </p:sp>
      <p:sp>
        <p:nvSpPr>
          <p:cNvPr id="48" name="角丸四角形 47"/>
          <p:cNvSpPr/>
          <p:nvPr/>
        </p:nvSpPr>
        <p:spPr bwMode="auto">
          <a:xfrm>
            <a:off x="3575972"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c=a+2</a:t>
            </a:r>
            <a:endParaRPr lang="ja-JP" altLang="en-US" dirty="0">
              <a:latin typeface="Arial Narrow" panose="020B0606020202030204" pitchFamily="34" charset="0"/>
            </a:endParaRPr>
          </a:p>
        </p:txBody>
      </p:sp>
      <p:sp>
        <p:nvSpPr>
          <p:cNvPr id="57" name="Freeform 8"/>
          <p:cNvSpPr>
            <a:spLocks/>
          </p:cNvSpPr>
          <p:nvPr/>
        </p:nvSpPr>
        <p:spPr bwMode="auto">
          <a:xfrm rot="16200000">
            <a:off x="6285017" y="1709966"/>
            <a:ext cx="810009" cy="118804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non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0" name="Freeform 8"/>
          <p:cNvSpPr>
            <a:spLocks/>
          </p:cNvSpPr>
          <p:nvPr/>
        </p:nvSpPr>
        <p:spPr bwMode="auto">
          <a:xfrm rot="5400000">
            <a:off x="5969977" y="2025006"/>
            <a:ext cx="540078"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triangl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3" name="Freeform 8"/>
          <p:cNvSpPr>
            <a:spLocks/>
          </p:cNvSpPr>
          <p:nvPr/>
        </p:nvSpPr>
        <p:spPr bwMode="auto">
          <a:xfrm rot="5400000">
            <a:off x="5969977" y="2475011"/>
            <a:ext cx="540078"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cap="rnd">
            <a:miter lim="800000"/>
            <a:headEnd/>
            <a:tailEnd type="triangle" w="med" len="med"/>
          </a:ln>
        </p:spPr>
        <p:style>
          <a:lnRef idx="3">
            <a:schemeClr val="accent2"/>
          </a:lnRef>
          <a:fillRef idx="0">
            <a:schemeClr val="accent2"/>
          </a:fillRef>
          <a:effectRef idx="2">
            <a:schemeClr val="accent2"/>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65" name="角丸四角形吹き出し 64"/>
          <p:cNvSpPr/>
          <p:nvPr/>
        </p:nvSpPr>
        <p:spPr bwMode="auto">
          <a:xfrm>
            <a:off x="6546005" y="2528990"/>
            <a:ext cx="2880032" cy="612649"/>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次の </a:t>
            </a:r>
            <a:r>
              <a:rPr lang="en-US" altLang="ja-JP" dirty="0">
                <a:solidFill>
                  <a:schemeClr val="tx1">
                    <a:lumMod val="65000"/>
                    <a:lumOff val="35000"/>
                  </a:schemeClr>
                </a:solidFill>
                <a:latin typeface="Arial Narrow" panose="020B0606020202030204" pitchFamily="34" charset="0"/>
              </a:rPr>
              <a:t>b=a-1 </a:t>
            </a:r>
            <a:r>
              <a:rPr lang="ja-JP" altLang="en-US" dirty="0">
                <a:solidFill>
                  <a:schemeClr val="tx1">
                    <a:lumMod val="65000"/>
                    <a:lumOff val="35000"/>
                  </a:schemeClr>
                </a:solidFill>
                <a:latin typeface="Arial Narrow" panose="020B0606020202030204" pitchFamily="34" charset="0"/>
              </a:rPr>
              <a:t>では今の結果を</a:t>
            </a:r>
            <a:br>
              <a:rPr lang="en-US" altLang="ja-JP" dirty="0">
                <a:solidFill>
                  <a:schemeClr val="tx1">
                    <a:lumMod val="65000"/>
                    <a:lumOff val="35000"/>
                  </a:schemeClr>
                </a:solidFill>
                <a:latin typeface="Arial Narrow" panose="020B0606020202030204" pitchFamily="34" charset="0"/>
              </a:rPr>
            </a:br>
            <a:r>
              <a:rPr lang="ja-JP" altLang="en-US" dirty="0">
                <a:solidFill>
                  <a:schemeClr val="tx1">
                    <a:lumMod val="65000"/>
                    <a:lumOff val="35000"/>
                  </a:schemeClr>
                </a:solidFill>
                <a:latin typeface="Arial Narrow" panose="020B0606020202030204" pitchFamily="34" charset="0"/>
              </a:rPr>
              <a:t>直接使いましょう</a:t>
            </a:r>
          </a:p>
        </p:txBody>
      </p:sp>
    </p:spTree>
    <p:extLst>
      <p:ext uri="{BB962C8B-B14F-4D97-AF65-F5344CB8AC3E}">
        <p14:creationId xmlns:p14="http://schemas.microsoft.com/office/powerpoint/2010/main" val="37621518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フォワーディングの回路</a:t>
            </a:r>
            <a:endParaRPr kumimoji="1" lang="ja-JP" altLang="en-US" dirty="0"/>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演算器の結果を，フィードバック</a:t>
            </a:r>
            <a:endParaRPr kumimoji="1" lang="en-US" altLang="ja-JP" dirty="0"/>
          </a:p>
          <a:p>
            <a:pPr lvl="1"/>
            <a:r>
              <a:rPr kumimoji="1" lang="ja-JP" altLang="en-US" dirty="0"/>
              <a:t>レジスタ・ファイルからの読み出し結果と選択して入力に</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5" y="2708992"/>
            <a:ext cx="990011"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01006" y="3203998"/>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dk1"/>
          </a:lnRef>
          <a:fillRef idx="2">
            <a:schemeClr val="dk1"/>
          </a:fillRef>
          <a:effectRef idx="1">
            <a:schemeClr val="dk1"/>
          </a:effectRef>
          <a:fontRef idx="minor">
            <a:schemeClr val="dk1"/>
          </a:fontRef>
        </p:style>
        <p:txBody>
          <a:bodyPr vert="eaVert" wrap="square" anchor="ctr">
            <a:noAutofit/>
          </a:bodyPr>
          <a:lstStyle/>
          <a:p>
            <a:pPr algn="ctr"/>
            <a:endParaRPr lang="ja-JP" altLang="en-US" sz="1600" dirty="0">
              <a:latin typeface="メイリオ" panose="020B0604030504040204" pitchFamily="50" charset="-128"/>
              <a:ea typeface="メイリオ" panose="020B0604030504040204" pitchFamily="50" charset="-128"/>
              <a:cs typeface="Times New Roman" pitchFamily="18" charset="0"/>
            </a:endParaRP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8" name="直線矢印コネクタ 17"/>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cxnSp>
        <p:nvCxnSpPr>
          <p:cNvPr id="19" name="直線矢印コネクタ 18"/>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0" name="Freeform 10"/>
          <p:cNvSpPr>
            <a:spLocks/>
          </p:cNvSpPr>
          <p:nvPr/>
        </p:nvSpPr>
        <p:spPr bwMode="auto">
          <a:xfrm>
            <a:off x="4475982" y="1808983"/>
            <a:ext cx="180002" cy="108001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1"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2" name="直線矢印コネクタ 21"/>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矢印コネクタ 22"/>
          <p:cNvCxnSpPr/>
          <p:nvPr/>
        </p:nvCxnSpPr>
        <p:spPr bwMode="auto">
          <a:xfrm>
            <a:off x="7356014" y="3429000"/>
            <a:ext cx="720008" cy="0"/>
          </a:xfrm>
          <a:prstGeom prst="straightConnector1">
            <a:avLst/>
          </a:prstGeom>
          <a:noFill/>
          <a:ln w="9525" cap="flat" cmpd="sng" algn="ctr">
            <a:solidFill>
              <a:schemeClr val="tx1"/>
            </a:solidFill>
            <a:prstDash val="solid"/>
            <a:round/>
            <a:headEnd type="none" w="sm" len="sm"/>
            <a:tailEnd type="none"/>
          </a:ln>
          <a:effectLst/>
        </p:spPr>
      </p:cxnSp>
      <p:cxnSp>
        <p:nvCxnSpPr>
          <p:cNvPr id="24" name="直線矢印コネクタ 23"/>
          <p:cNvCxnSpPr/>
          <p:nvPr/>
        </p:nvCxnSpPr>
        <p:spPr bwMode="auto">
          <a:xfrm>
            <a:off x="6096001" y="3068996"/>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25" name="直線矢印コネクタ 24"/>
          <p:cNvCxnSpPr/>
          <p:nvPr/>
        </p:nvCxnSpPr>
        <p:spPr bwMode="auto">
          <a:xfrm>
            <a:off x="6096001" y="3879005"/>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26" name="正方形/長方形 25"/>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27"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8"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31" name="直線矢印コネクタ 30"/>
          <p:cNvCxnSpPr/>
          <p:nvPr/>
        </p:nvCxnSpPr>
        <p:spPr bwMode="auto">
          <a:xfrm flipH="1">
            <a:off x="4475983" y="1808982"/>
            <a:ext cx="6030067" cy="0"/>
          </a:xfrm>
          <a:prstGeom prst="straightConnector1">
            <a:avLst/>
          </a:prstGeom>
          <a:noFill/>
          <a:ln w="9525" cap="flat" cmpd="sng" algn="ctr">
            <a:solidFill>
              <a:schemeClr val="tx1"/>
            </a:solidFill>
            <a:prstDash val="solid"/>
            <a:round/>
            <a:headEnd type="none" w="sm" len="sm"/>
            <a:tailEnd type="none"/>
          </a:ln>
          <a:effectLst/>
        </p:spPr>
      </p:cxnSp>
      <p:sp>
        <p:nvSpPr>
          <p:cNvPr id="3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3" name="Freeform 10"/>
          <p:cNvSpPr>
            <a:spLocks/>
          </p:cNvSpPr>
          <p:nvPr/>
        </p:nvSpPr>
        <p:spPr bwMode="auto">
          <a:xfrm rot="5400000" flipH="1" flipV="1">
            <a:off x="9876044" y="1988985"/>
            <a:ext cx="810009"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4" name="正方形/長方形 33"/>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35" name="正方形/長方形 34"/>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7" name="正方形/長方形 36"/>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正方形/長方形 37"/>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9" name="正方形/長方形 38"/>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40" name="グループ化 39"/>
          <p:cNvGrpSpPr/>
          <p:nvPr/>
        </p:nvGrpSpPr>
        <p:grpSpPr>
          <a:xfrm>
            <a:off x="4025977" y="3068996"/>
            <a:ext cx="360004" cy="720008"/>
            <a:chOff x="2411977" y="3068996"/>
            <a:chExt cx="360004" cy="720008"/>
          </a:xfrm>
        </p:grpSpPr>
        <p:sp>
          <p:nvSpPr>
            <p:cNvPr id="41" name="正方形/長方形 40"/>
            <p:cNvSpPr/>
            <p:nvPr/>
          </p:nvSpPr>
          <p:spPr bwMode="auto">
            <a:xfrm>
              <a:off x="2411977" y="3068996"/>
              <a:ext cx="360004" cy="720008"/>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2" name="二等辺三角形 41"/>
            <p:cNvSpPr/>
            <p:nvPr/>
          </p:nvSpPr>
          <p:spPr bwMode="auto">
            <a:xfrm>
              <a:off x="2501977" y="3609002"/>
              <a:ext cx="180002" cy="180002"/>
            </a:xfrm>
            <a:prstGeom prst="triangle">
              <a:avLst/>
            </a:prstGeom>
            <a:ln>
              <a:headEnd/>
              <a:tailEnd type="triangle" w="sm" len="med"/>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43" name="正方形/長方形 42"/>
          <p:cNvSpPr/>
          <p:nvPr/>
        </p:nvSpPr>
        <p:spPr bwMode="auto">
          <a:xfrm>
            <a:off x="6276002" y="2438989"/>
            <a:ext cx="270003"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4" name="二等辺三角形 43"/>
          <p:cNvSpPr/>
          <p:nvPr/>
        </p:nvSpPr>
        <p:spPr bwMode="auto">
          <a:xfrm>
            <a:off x="631317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5" name="正方形/長方形 44"/>
          <p:cNvSpPr/>
          <p:nvPr/>
        </p:nvSpPr>
        <p:spPr bwMode="auto">
          <a:xfrm>
            <a:off x="7716018" y="2438989"/>
            <a:ext cx="270003" cy="2160024"/>
          </a:xfrm>
          <a:prstGeom prst="rect">
            <a:avLst/>
          </a:prstGeom>
          <a:ln>
            <a:headEnd/>
            <a:tailEnd type="triangle" w="sm" len="med"/>
          </a:ln>
        </p:spPr>
        <p:style>
          <a:lnRef idx="1">
            <a:schemeClr val="dk1"/>
          </a:lnRef>
          <a:fillRef idx="2">
            <a:schemeClr val="dk1"/>
          </a:fillRef>
          <a:effectRef idx="1">
            <a:schemeClr val="dk1"/>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6" name="二等辺三角形 45"/>
          <p:cNvSpPr/>
          <p:nvPr/>
        </p:nvSpPr>
        <p:spPr bwMode="auto">
          <a:xfrm>
            <a:off x="7760621" y="4419011"/>
            <a:ext cx="180002" cy="180002"/>
          </a:xfrm>
          <a:prstGeom prst="triangle">
            <a:avLst/>
          </a:prstGeom>
          <a:noFill/>
          <a:ln>
            <a:solidFill>
              <a:schemeClr val="accent4"/>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3" name="Freeform 10"/>
          <p:cNvSpPr>
            <a:spLocks/>
          </p:cNvSpPr>
          <p:nvPr/>
        </p:nvSpPr>
        <p:spPr bwMode="auto">
          <a:xfrm flipH="1" flipV="1">
            <a:off x="5825997" y="2258986"/>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6096000" y="2888994"/>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55" name="直線矢印コネクタ 54"/>
          <p:cNvCxnSpPr/>
          <p:nvPr/>
        </p:nvCxnSpPr>
        <p:spPr bwMode="auto">
          <a:xfrm>
            <a:off x="6096000" y="3699003"/>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56" name="Freeform 10"/>
          <p:cNvSpPr>
            <a:spLocks/>
          </p:cNvSpPr>
          <p:nvPr/>
        </p:nvSpPr>
        <p:spPr bwMode="auto">
          <a:xfrm rot="10800000" flipH="1" flipV="1">
            <a:off x="5825998" y="2258988"/>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57" name="Freeform 10"/>
          <p:cNvSpPr>
            <a:spLocks/>
          </p:cNvSpPr>
          <p:nvPr/>
        </p:nvSpPr>
        <p:spPr bwMode="auto">
          <a:xfrm rot="10800000" flipH="1" flipV="1">
            <a:off x="5825998" y="2978995"/>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8" name="直線矢印コネクタ 57"/>
          <p:cNvCxnSpPr/>
          <p:nvPr/>
        </p:nvCxnSpPr>
        <p:spPr bwMode="auto">
          <a:xfrm>
            <a:off x="5645996" y="315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60" name="直線矢印コネクタ 59"/>
          <p:cNvCxnSpPr/>
          <p:nvPr/>
        </p:nvCxnSpPr>
        <p:spPr bwMode="auto">
          <a:xfrm>
            <a:off x="5645996" y="3969006"/>
            <a:ext cx="450005" cy="0"/>
          </a:xfrm>
          <a:prstGeom prst="straightConnector1">
            <a:avLst/>
          </a:prstGeom>
          <a:noFill/>
          <a:ln w="9525" cap="flat" cmpd="sng" algn="ctr">
            <a:solidFill>
              <a:schemeClr val="tx1"/>
            </a:solidFill>
            <a:prstDash val="solid"/>
            <a:round/>
            <a:headEnd type="none" w="sm" len="sm"/>
            <a:tailEnd type="triangle"/>
          </a:ln>
          <a:effectLst/>
        </p:spPr>
      </p:cxnSp>
    </p:spTree>
    <p:extLst>
      <p:ext uri="{BB962C8B-B14F-4D97-AF65-F5344CB8AC3E}">
        <p14:creationId xmlns:p14="http://schemas.microsoft.com/office/powerpoint/2010/main" val="11892200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フォワーディングの利点</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lvl="1"/>
            <a:r>
              <a:rPr kumimoji="1" lang="ja-JP" altLang="en-US" dirty="0"/>
              <a:t>依存関係がある命令が連続できてもパイプラインを動かし続けられる</a:t>
            </a:r>
            <a:endParaRPr kumimoji="1" lang="en-US" altLang="ja-JP" dirty="0"/>
          </a:p>
          <a:p>
            <a:pPr lvl="1"/>
            <a:r>
              <a:rPr lang="ja-JP" altLang="en-US" dirty="0"/>
              <a:t>バブルを発生させることがない</a:t>
            </a:r>
            <a:endParaRPr kumimoji="1" lang="ja-JP" altLang="en-US" dirty="0"/>
          </a:p>
        </p:txBody>
      </p:sp>
    </p:spTree>
    <p:extLst>
      <p:ext uri="{BB962C8B-B14F-4D97-AF65-F5344CB8AC3E}">
        <p14:creationId xmlns:p14="http://schemas.microsoft.com/office/powerpoint/2010/main" val="21686912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フォワーディングの問題</a:t>
            </a:r>
          </a:p>
        </p:txBody>
      </p:sp>
      <p:sp>
        <p:nvSpPr>
          <p:cNvPr id="3" name="テキスト プレースホルダー 2"/>
          <p:cNvSpPr>
            <a:spLocks noGrp="1"/>
          </p:cNvSpPr>
          <p:nvPr>
            <p:ph type="body" sz="quarter" idx="10"/>
          </p:nvPr>
        </p:nvSpPr>
        <p:spPr>
          <a:xfrm>
            <a:off x="1775952" y="2708993"/>
            <a:ext cx="8640096" cy="3690041"/>
          </a:xfrm>
        </p:spPr>
        <p:txBody>
          <a:bodyPr/>
          <a:lstStyle/>
          <a:p>
            <a:r>
              <a:rPr kumimoji="1" lang="ja-JP" altLang="en-US" dirty="0"/>
              <a:t>演算器とフォワーディングを含むステージは１サイクルで処理する必要がある</a:t>
            </a:r>
            <a:endParaRPr kumimoji="1" lang="en-US" altLang="ja-JP" dirty="0"/>
          </a:p>
          <a:p>
            <a:pPr lvl="1"/>
            <a:r>
              <a:rPr kumimoji="1" lang="ja-JP" altLang="en-US" dirty="0"/>
              <a:t>実行ステージを演算とフォワーディングに分割すると，</a:t>
            </a:r>
            <a:br>
              <a:rPr kumimoji="1" lang="en-US" altLang="ja-JP" dirty="0"/>
            </a:br>
            <a:r>
              <a:rPr kumimoji="1" lang="ja-JP" altLang="en-US" dirty="0"/>
              <a:t>バブルを入れてるのと同じになってしまう</a:t>
            </a:r>
            <a:endParaRPr kumimoji="1" lang="en-US" altLang="ja-JP" dirty="0"/>
          </a:p>
          <a:p>
            <a:pPr lvl="1"/>
            <a:r>
              <a:rPr kumimoji="1" lang="ja-JP" altLang="en-US" dirty="0"/>
              <a:t>なので，ここはパイプライン化したくない</a:t>
            </a:r>
            <a:endParaRPr kumimoji="1" lang="en-US" altLang="ja-JP" dirty="0"/>
          </a:p>
          <a:p>
            <a:r>
              <a:rPr kumimoji="1" lang="en-US" altLang="ja-JP" dirty="0"/>
              <a:t>CPU </a:t>
            </a:r>
            <a:r>
              <a:rPr kumimoji="1" lang="ja-JP" altLang="en-US" dirty="0"/>
              <a:t>全体のクリティカル・パスになりやすい</a:t>
            </a:r>
            <a:endParaRPr kumimoji="1" lang="en-US" altLang="ja-JP" dirty="0"/>
          </a:p>
          <a:p>
            <a:pPr lvl="1"/>
            <a:r>
              <a:rPr kumimoji="1" lang="ja-JP" altLang="en-US" dirty="0"/>
              <a:t>１サイクルに多くの回路を詰め込む必要があるため</a:t>
            </a:r>
            <a:endParaRPr lang="en-US" altLang="ja-JP" dirty="0"/>
          </a:p>
          <a:p>
            <a:pPr lvl="1"/>
            <a:r>
              <a:rPr kumimoji="1" lang="ja-JP" altLang="en-US" dirty="0"/>
              <a:t>クロック周波数がここで決まることが多い</a:t>
            </a:r>
            <a:endParaRPr kumimoji="1" lang="en-US" altLang="ja-JP" dirty="0"/>
          </a:p>
        </p:txBody>
      </p:sp>
      <p:sp>
        <p:nvSpPr>
          <p:cNvPr id="17" name="Rectangle 69"/>
          <p:cNvSpPr>
            <a:spLocks noChangeArrowheads="1"/>
          </p:cNvSpPr>
          <p:nvPr/>
        </p:nvSpPr>
        <p:spPr bwMode="auto">
          <a:xfrm>
            <a:off x="249596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8" name="Rectangle 70"/>
          <p:cNvSpPr>
            <a:spLocks noChangeArrowheads="1"/>
          </p:cNvSpPr>
          <p:nvPr/>
        </p:nvSpPr>
        <p:spPr bwMode="auto">
          <a:xfrm>
            <a:off x="294596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9" name="Rectangle 71"/>
          <p:cNvSpPr>
            <a:spLocks noChangeArrowheads="1"/>
          </p:cNvSpPr>
          <p:nvPr/>
        </p:nvSpPr>
        <p:spPr bwMode="auto">
          <a:xfrm>
            <a:off x="3395970"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20" name="Rectangle 72"/>
          <p:cNvSpPr>
            <a:spLocks noChangeArrowheads="1"/>
          </p:cNvSpPr>
          <p:nvPr/>
        </p:nvSpPr>
        <p:spPr bwMode="auto">
          <a:xfrm>
            <a:off x="384597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dirty="0"/>
              <a:t>MEM</a:t>
            </a:r>
          </a:p>
        </p:txBody>
      </p:sp>
      <p:sp>
        <p:nvSpPr>
          <p:cNvPr id="21" name="Rectangle 69"/>
          <p:cNvSpPr>
            <a:spLocks noChangeArrowheads="1"/>
          </p:cNvSpPr>
          <p:nvPr/>
        </p:nvSpPr>
        <p:spPr bwMode="auto">
          <a:xfrm>
            <a:off x="294596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339597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3845975"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429598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474598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73"/>
          <p:cNvSpPr>
            <a:spLocks noChangeArrowheads="1"/>
          </p:cNvSpPr>
          <p:nvPr/>
        </p:nvSpPr>
        <p:spPr bwMode="auto">
          <a:xfrm>
            <a:off x="429598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7" name="Rectangle 69"/>
          <p:cNvSpPr>
            <a:spLocks noChangeArrowheads="1"/>
          </p:cNvSpPr>
          <p:nvPr/>
        </p:nvSpPr>
        <p:spPr bwMode="auto">
          <a:xfrm>
            <a:off x="609600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8" name="Rectangle 70"/>
          <p:cNvSpPr>
            <a:spLocks noChangeArrowheads="1"/>
          </p:cNvSpPr>
          <p:nvPr/>
        </p:nvSpPr>
        <p:spPr bwMode="auto">
          <a:xfrm>
            <a:off x="654600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9" name="Rectangle 71"/>
          <p:cNvSpPr>
            <a:spLocks noChangeArrowheads="1"/>
          </p:cNvSpPr>
          <p:nvPr/>
        </p:nvSpPr>
        <p:spPr bwMode="auto">
          <a:xfrm>
            <a:off x="6996010"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30" name="Rectangle 72"/>
          <p:cNvSpPr>
            <a:spLocks noChangeArrowheads="1"/>
          </p:cNvSpPr>
          <p:nvPr/>
        </p:nvSpPr>
        <p:spPr bwMode="auto">
          <a:xfrm>
            <a:off x="7896020"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dirty="0"/>
              <a:t>MEM</a:t>
            </a:r>
          </a:p>
        </p:txBody>
      </p:sp>
      <p:sp>
        <p:nvSpPr>
          <p:cNvPr id="31" name="Rectangle 69"/>
          <p:cNvSpPr>
            <a:spLocks noChangeArrowheads="1"/>
          </p:cNvSpPr>
          <p:nvPr/>
        </p:nvSpPr>
        <p:spPr bwMode="auto">
          <a:xfrm>
            <a:off x="699601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2" name="Rectangle 70"/>
          <p:cNvSpPr>
            <a:spLocks noChangeArrowheads="1"/>
          </p:cNvSpPr>
          <p:nvPr/>
        </p:nvSpPr>
        <p:spPr bwMode="auto">
          <a:xfrm>
            <a:off x="744601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3" name="Rectangle 71"/>
          <p:cNvSpPr>
            <a:spLocks noChangeArrowheads="1"/>
          </p:cNvSpPr>
          <p:nvPr/>
        </p:nvSpPr>
        <p:spPr bwMode="auto">
          <a:xfrm>
            <a:off x="7446015" y="126897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200" dirty="0"/>
              <a:t>FWD</a:t>
            </a:r>
          </a:p>
        </p:txBody>
      </p:sp>
      <p:sp>
        <p:nvSpPr>
          <p:cNvPr id="34" name="Rectangle 72"/>
          <p:cNvSpPr>
            <a:spLocks noChangeArrowheads="1"/>
          </p:cNvSpPr>
          <p:nvPr/>
        </p:nvSpPr>
        <p:spPr bwMode="auto">
          <a:xfrm>
            <a:off x="8796030"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5" name="Rectangle 73"/>
          <p:cNvSpPr>
            <a:spLocks noChangeArrowheads="1"/>
          </p:cNvSpPr>
          <p:nvPr/>
        </p:nvSpPr>
        <p:spPr bwMode="auto">
          <a:xfrm>
            <a:off x="9246035"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6" name="Rectangle 73"/>
          <p:cNvSpPr>
            <a:spLocks noChangeArrowheads="1"/>
          </p:cNvSpPr>
          <p:nvPr/>
        </p:nvSpPr>
        <p:spPr bwMode="auto">
          <a:xfrm>
            <a:off x="8346025"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7" name="Rectangle 71"/>
          <p:cNvSpPr>
            <a:spLocks noChangeArrowheads="1"/>
          </p:cNvSpPr>
          <p:nvPr/>
        </p:nvSpPr>
        <p:spPr bwMode="auto">
          <a:xfrm>
            <a:off x="7896020"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EX</a:t>
            </a:r>
          </a:p>
        </p:txBody>
      </p:sp>
      <p:sp>
        <p:nvSpPr>
          <p:cNvPr id="38" name="Rectangle 71"/>
          <p:cNvSpPr>
            <a:spLocks noChangeArrowheads="1"/>
          </p:cNvSpPr>
          <p:nvPr/>
        </p:nvSpPr>
        <p:spPr bwMode="auto">
          <a:xfrm>
            <a:off x="8346025" y="171898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200" dirty="0"/>
              <a:t>FWD</a:t>
            </a:r>
          </a:p>
        </p:txBody>
      </p:sp>
    </p:spTree>
    <p:extLst>
      <p:ext uri="{BB962C8B-B14F-4D97-AF65-F5344CB8AC3E}">
        <p14:creationId xmlns:p14="http://schemas.microsoft.com/office/powerpoint/2010/main" val="966998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フォワーディングの問題</a:t>
            </a:r>
          </a:p>
        </p:txBody>
      </p:sp>
      <p:sp>
        <p:nvSpPr>
          <p:cNvPr id="3" name="テキスト プレースホルダー 2"/>
          <p:cNvSpPr>
            <a:spLocks noGrp="1"/>
          </p:cNvSpPr>
          <p:nvPr>
            <p:ph type="body" sz="quarter" idx="10"/>
          </p:nvPr>
        </p:nvSpPr>
        <p:spPr>
          <a:xfrm>
            <a:off x="2045955" y="3789005"/>
            <a:ext cx="8280092" cy="1619711"/>
          </a:xfrm>
        </p:spPr>
        <p:txBody>
          <a:bodyPr/>
          <a:lstStyle/>
          <a:p>
            <a:r>
              <a:rPr kumimoji="1" lang="ja-JP" altLang="en-US" dirty="0"/>
              <a:t>フォワーディングは，この演算器の部分の遅延を増やしてしまう</a:t>
            </a:r>
            <a:endParaRPr kumimoji="1" lang="en-US" altLang="ja-JP" dirty="0"/>
          </a:p>
          <a:p>
            <a:pPr lvl="1"/>
            <a:r>
              <a:rPr kumimoji="1" lang="ja-JP" altLang="en-US" dirty="0"/>
              <a:t>太線で描かれた，演算器の入力から始まるループが該当</a:t>
            </a:r>
            <a:endParaRPr kumimoji="1" lang="en-US" altLang="ja-JP" dirty="0"/>
          </a:p>
          <a:p>
            <a:pPr lvl="1"/>
            <a:r>
              <a:rPr kumimoji="1" lang="ja-JP" altLang="en-US" dirty="0"/>
              <a:t>クロック周波数の低下につながる</a:t>
            </a:r>
            <a:endParaRPr kumimoji="1" lang="en-US" altLang="ja-JP" dirty="0"/>
          </a:p>
        </p:txBody>
      </p:sp>
      <p:sp>
        <p:nvSpPr>
          <p:cNvPr id="4" name="フリーフォーム 3"/>
          <p:cNvSpPr>
            <a:spLocks noChangeArrowheads="1"/>
          </p:cNvSpPr>
          <p:nvPr/>
        </p:nvSpPr>
        <p:spPr bwMode="auto">
          <a:xfrm rot="-5400000">
            <a:off x="8121024"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5" name="直線矢印コネクタ 4"/>
          <p:cNvCxnSpPr/>
          <p:nvPr/>
        </p:nvCxnSpPr>
        <p:spPr bwMode="auto">
          <a:xfrm>
            <a:off x="7716019" y="2078987"/>
            <a:ext cx="810009" cy="0"/>
          </a:xfrm>
          <a:prstGeom prst="straightConnector1">
            <a:avLst/>
          </a:prstGeom>
          <a:noFill/>
          <a:ln w="31750" cap="flat" cmpd="sng" algn="ctr">
            <a:solidFill>
              <a:schemeClr val="accent5"/>
            </a:solidFill>
            <a:prstDash val="solid"/>
            <a:round/>
            <a:headEnd type="none" w="sm" len="sm"/>
            <a:tailEnd type="triangle"/>
          </a:ln>
          <a:effectLst/>
        </p:spPr>
      </p:cxnSp>
      <p:cxnSp>
        <p:nvCxnSpPr>
          <p:cNvPr id="6" name="直線矢印コネクタ 5"/>
          <p:cNvCxnSpPr/>
          <p:nvPr/>
        </p:nvCxnSpPr>
        <p:spPr bwMode="auto">
          <a:xfrm>
            <a:off x="7716019" y="2888996"/>
            <a:ext cx="810009" cy="0"/>
          </a:xfrm>
          <a:prstGeom prst="straightConnector1">
            <a:avLst/>
          </a:prstGeom>
          <a:noFill/>
          <a:ln w="31750" cap="flat" cmpd="sng" algn="ctr">
            <a:solidFill>
              <a:schemeClr val="accent5"/>
            </a:solidFill>
            <a:prstDash val="solid"/>
            <a:round/>
            <a:headEnd type="none" w="sm" len="sm"/>
            <a:tailEnd type="triangle"/>
          </a:ln>
          <a:effectLst/>
        </p:spPr>
      </p:cxnSp>
      <p:sp>
        <p:nvSpPr>
          <p:cNvPr id="7" name="正方形/長方形 6"/>
          <p:cNvSpPr/>
          <p:nvPr/>
        </p:nvSpPr>
        <p:spPr bwMode="auto">
          <a:xfrm>
            <a:off x="7896020"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8" name="二等辺三角形 7"/>
          <p:cNvSpPr/>
          <p:nvPr/>
        </p:nvSpPr>
        <p:spPr bwMode="auto">
          <a:xfrm>
            <a:off x="7940624"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9" name="Freeform 10"/>
          <p:cNvSpPr>
            <a:spLocks/>
          </p:cNvSpPr>
          <p:nvPr/>
        </p:nvSpPr>
        <p:spPr bwMode="auto">
          <a:xfrm flipH="1" flipV="1">
            <a:off x="7446015" y="1268977"/>
            <a:ext cx="1620018"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0" name="直線矢印コネクタ 9"/>
          <p:cNvCxnSpPr/>
          <p:nvPr/>
        </p:nvCxnSpPr>
        <p:spPr bwMode="auto">
          <a:xfrm>
            <a:off x="7716018" y="1898985"/>
            <a:ext cx="0" cy="360004"/>
          </a:xfrm>
          <a:prstGeom prst="straightConnector1">
            <a:avLst/>
          </a:prstGeom>
          <a:noFill/>
          <a:ln w="38100" cap="flat" cmpd="sng" algn="ctr">
            <a:solidFill>
              <a:schemeClr val="accent5"/>
            </a:solidFill>
            <a:prstDash val="solid"/>
            <a:round/>
            <a:headEnd type="none" w="sm" len="sm"/>
            <a:tailEnd type="none"/>
          </a:ln>
          <a:effectLst/>
        </p:spPr>
      </p:cxnSp>
      <p:cxnSp>
        <p:nvCxnSpPr>
          <p:cNvPr id="11" name="直線矢印コネクタ 10"/>
          <p:cNvCxnSpPr/>
          <p:nvPr/>
        </p:nvCxnSpPr>
        <p:spPr bwMode="auto">
          <a:xfrm>
            <a:off x="7716018" y="2708994"/>
            <a:ext cx="0" cy="360004"/>
          </a:xfrm>
          <a:prstGeom prst="straightConnector1">
            <a:avLst/>
          </a:prstGeom>
          <a:noFill/>
          <a:ln w="38100" cap="flat" cmpd="sng" algn="ctr">
            <a:solidFill>
              <a:schemeClr val="accent5"/>
            </a:solidFill>
            <a:prstDash val="solid"/>
            <a:round/>
            <a:headEnd type="none" w="sm" len="sm"/>
            <a:tailEnd type="none"/>
          </a:ln>
          <a:effectLst/>
        </p:spPr>
      </p:cxnSp>
      <p:sp>
        <p:nvSpPr>
          <p:cNvPr id="12" name="Freeform 10"/>
          <p:cNvSpPr>
            <a:spLocks/>
          </p:cNvSpPr>
          <p:nvPr/>
        </p:nvSpPr>
        <p:spPr bwMode="auto">
          <a:xfrm rot="10800000" flipH="1" flipV="1">
            <a:off x="7446016" y="1268979"/>
            <a:ext cx="270003"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3" name="Freeform 10"/>
          <p:cNvSpPr>
            <a:spLocks/>
          </p:cNvSpPr>
          <p:nvPr/>
        </p:nvSpPr>
        <p:spPr bwMode="auto">
          <a:xfrm rot="10800000" flipH="1" flipV="1">
            <a:off x="7446016" y="1988986"/>
            <a:ext cx="270003" cy="81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4925" cap="flat" cmpd="sng">
            <a:solidFill>
              <a:schemeClr val="accent5"/>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4" name="直線矢印コネクタ 13"/>
          <p:cNvCxnSpPr/>
          <p:nvPr/>
        </p:nvCxnSpPr>
        <p:spPr bwMode="auto">
          <a:xfrm>
            <a:off x="7266014" y="2168988"/>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5" name="直線矢印コネクタ 14"/>
          <p:cNvCxnSpPr/>
          <p:nvPr/>
        </p:nvCxnSpPr>
        <p:spPr bwMode="auto">
          <a:xfrm>
            <a:off x="7266014" y="2978997"/>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16" name="直線矢印コネクタ 15"/>
          <p:cNvCxnSpPr/>
          <p:nvPr/>
        </p:nvCxnSpPr>
        <p:spPr bwMode="auto">
          <a:xfrm>
            <a:off x="8976033" y="243899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39" name="フリーフォーム 38"/>
          <p:cNvSpPr>
            <a:spLocks noChangeArrowheads="1"/>
          </p:cNvSpPr>
          <p:nvPr/>
        </p:nvSpPr>
        <p:spPr bwMode="auto">
          <a:xfrm rot="-5400000">
            <a:off x="3890977" y="2213989"/>
            <a:ext cx="1260013" cy="450005"/>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endParaRPr lang="ja-JP" altLang="en-US" sz="1600" dirty="0">
              <a:latin typeface="Arial Narrow" pitchFamily="34" charset="0"/>
              <a:cs typeface="Times New Roman" pitchFamily="18" charset="0"/>
            </a:endParaRPr>
          </a:p>
        </p:txBody>
      </p:sp>
      <p:cxnSp>
        <p:nvCxnSpPr>
          <p:cNvPr id="40" name="直線矢印コネクタ 39"/>
          <p:cNvCxnSpPr/>
          <p:nvPr/>
        </p:nvCxnSpPr>
        <p:spPr bwMode="auto">
          <a:xfrm>
            <a:off x="3935976" y="2078985"/>
            <a:ext cx="360004" cy="2"/>
          </a:xfrm>
          <a:prstGeom prst="straightConnector1">
            <a:avLst/>
          </a:prstGeom>
          <a:noFill/>
          <a:ln w="31750" cap="flat" cmpd="sng" algn="ctr">
            <a:solidFill>
              <a:schemeClr val="accent5"/>
            </a:solidFill>
            <a:prstDash val="solid"/>
            <a:round/>
            <a:headEnd type="none" w="sm" len="sm"/>
            <a:tailEnd type="triangle"/>
          </a:ln>
          <a:effectLst/>
        </p:spPr>
      </p:cxnSp>
      <p:cxnSp>
        <p:nvCxnSpPr>
          <p:cNvPr id="41" name="直線矢印コネクタ 40"/>
          <p:cNvCxnSpPr/>
          <p:nvPr/>
        </p:nvCxnSpPr>
        <p:spPr bwMode="auto">
          <a:xfrm>
            <a:off x="3935976" y="2888994"/>
            <a:ext cx="360004" cy="2"/>
          </a:xfrm>
          <a:prstGeom prst="straightConnector1">
            <a:avLst/>
          </a:prstGeom>
          <a:noFill/>
          <a:ln w="31750" cap="flat" cmpd="sng" algn="ctr">
            <a:solidFill>
              <a:schemeClr val="accent5"/>
            </a:solidFill>
            <a:prstDash val="solid"/>
            <a:round/>
            <a:headEnd type="none" w="sm" len="sm"/>
            <a:tailEnd type="triangle"/>
          </a:ln>
          <a:effectLst/>
        </p:spPr>
      </p:cxnSp>
      <p:sp>
        <p:nvSpPr>
          <p:cNvPr id="42" name="正方形/長方形 41"/>
          <p:cNvSpPr/>
          <p:nvPr/>
        </p:nvSpPr>
        <p:spPr bwMode="auto">
          <a:xfrm>
            <a:off x="3665973" y="1808984"/>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43" name="二等辺三角形 42"/>
          <p:cNvSpPr/>
          <p:nvPr/>
        </p:nvSpPr>
        <p:spPr bwMode="auto">
          <a:xfrm>
            <a:off x="3710577" y="3068998"/>
            <a:ext cx="180002" cy="180002"/>
          </a:xfrm>
          <a:prstGeom prst="triangle">
            <a:avLst/>
          </a:prstGeom>
          <a:noFill/>
          <a:ln>
            <a:solidFill>
              <a:schemeClr val="accent6"/>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9" name="直線矢印コネクタ 48"/>
          <p:cNvCxnSpPr/>
          <p:nvPr/>
        </p:nvCxnSpPr>
        <p:spPr bwMode="auto">
          <a:xfrm>
            <a:off x="3215969" y="2078985"/>
            <a:ext cx="450005" cy="0"/>
          </a:xfrm>
          <a:prstGeom prst="straightConnector1">
            <a:avLst/>
          </a:prstGeom>
          <a:noFill/>
          <a:ln w="9525" cap="flat" cmpd="sng" algn="ctr">
            <a:solidFill>
              <a:schemeClr val="tx1"/>
            </a:solidFill>
            <a:prstDash val="solid"/>
            <a:round/>
            <a:headEnd type="none" w="sm" len="sm"/>
            <a:tailEnd type="triangle"/>
          </a:ln>
          <a:effectLst/>
        </p:spPr>
      </p:cxnSp>
      <p:cxnSp>
        <p:nvCxnSpPr>
          <p:cNvPr id="50" name="直線矢印コネクタ 49"/>
          <p:cNvCxnSpPr/>
          <p:nvPr/>
        </p:nvCxnSpPr>
        <p:spPr bwMode="auto">
          <a:xfrm>
            <a:off x="3215969" y="2888994"/>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54" name="正方形/長方形 53"/>
          <p:cNvSpPr/>
          <p:nvPr/>
        </p:nvSpPr>
        <p:spPr bwMode="auto">
          <a:xfrm>
            <a:off x="9426038"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5" name="正方形/長方形 54"/>
          <p:cNvSpPr/>
          <p:nvPr/>
        </p:nvSpPr>
        <p:spPr bwMode="auto">
          <a:xfrm>
            <a:off x="5105990" y="1808982"/>
            <a:ext cx="270003" cy="1440016"/>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cxnSp>
        <p:nvCxnSpPr>
          <p:cNvPr id="56" name="直線矢印コネクタ 55"/>
          <p:cNvCxnSpPr/>
          <p:nvPr/>
        </p:nvCxnSpPr>
        <p:spPr bwMode="auto">
          <a:xfrm>
            <a:off x="4745985" y="2438989"/>
            <a:ext cx="360004" cy="2"/>
          </a:xfrm>
          <a:prstGeom prst="straightConnector1">
            <a:avLst/>
          </a:prstGeom>
          <a:noFill/>
          <a:ln w="31750" cap="flat" cmpd="sng" algn="ctr">
            <a:solidFill>
              <a:schemeClr val="accent5"/>
            </a:solidFill>
            <a:prstDash val="solid"/>
            <a:round/>
            <a:headEnd type="none" w="sm" len="sm"/>
            <a:tailEnd type="triangle"/>
          </a:ln>
          <a:effectLst/>
        </p:spPr>
      </p:cxnSp>
      <p:sp>
        <p:nvSpPr>
          <p:cNvPr id="27" name="正方形/長方形 26"/>
          <p:cNvSpPr/>
          <p:nvPr/>
        </p:nvSpPr>
        <p:spPr bwMode="auto">
          <a:xfrm>
            <a:off x="2225958" y="1808982"/>
            <a:ext cx="990011"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28" name="正方形/長方形 27"/>
          <p:cNvSpPr/>
          <p:nvPr/>
        </p:nvSpPr>
        <p:spPr bwMode="auto">
          <a:xfrm>
            <a:off x="6276003" y="1808982"/>
            <a:ext cx="990011"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82039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ロードについては，完全に解決はできない</a:t>
            </a:r>
          </a:p>
        </p:txBody>
      </p:sp>
      <p:sp>
        <p:nvSpPr>
          <p:cNvPr id="3" name="テキスト プレースホルダー 2"/>
          <p:cNvSpPr>
            <a:spLocks noGrp="1"/>
          </p:cNvSpPr>
          <p:nvPr>
            <p:ph type="body" sz="quarter" idx="10"/>
          </p:nvPr>
        </p:nvSpPr>
        <p:spPr>
          <a:xfrm>
            <a:off x="2135956" y="5139019"/>
            <a:ext cx="8280092" cy="629700"/>
          </a:xfrm>
        </p:spPr>
        <p:txBody>
          <a:bodyPr/>
          <a:lstStyle/>
          <a:p>
            <a:r>
              <a:rPr kumimoji="1" lang="ja-JP" altLang="en-US" dirty="0"/>
              <a:t>ロードではデータ・メモリを読むまでその値は取れない</a:t>
            </a:r>
            <a:endParaRPr kumimoji="1" lang="en-US" altLang="ja-JP" dirty="0"/>
          </a:p>
          <a:p>
            <a:pPr lvl="1"/>
            <a:r>
              <a:rPr kumimoji="1" lang="ja-JP" altLang="en-US" dirty="0"/>
              <a:t>次の命令は，</a:t>
            </a:r>
            <a:r>
              <a:rPr kumimoji="1" lang="en-US" altLang="ja-JP" dirty="0"/>
              <a:t>MEM </a:t>
            </a:r>
            <a:r>
              <a:rPr kumimoji="1" lang="ja-JP" altLang="en-US" dirty="0"/>
              <a:t>より後に </a:t>
            </a:r>
            <a:r>
              <a:rPr kumimoji="1" lang="en-US" altLang="ja-JP" dirty="0"/>
              <a:t>EX </a:t>
            </a:r>
            <a:r>
              <a:rPr kumimoji="1" lang="ja-JP" altLang="en-US" dirty="0"/>
              <a:t>がこないといけない</a:t>
            </a:r>
            <a:endParaRPr kumimoji="1" lang="en-US" altLang="ja-JP" dirty="0"/>
          </a:p>
          <a:p>
            <a:pPr lvl="2"/>
            <a:r>
              <a:rPr kumimoji="1" lang="en-US" altLang="ja-JP" dirty="0">
                <a:latin typeface="Consolas" panose="020B0609020204030204" pitchFamily="49" charset="0"/>
              </a:rPr>
              <a:t>I1</a:t>
            </a:r>
            <a:r>
              <a:rPr kumimoji="1" lang="en-US" altLang="ja-JP" dirty="0"/>
              <a:t> </a:t>
            </a:r>
            <a:r>
              <a:rPr kumimoji="1" lang="ja-JP" altLang="en-US" dirty="0"/>
              <a:t>は，</a:t>
            </a:r>
            <a:r>
              <a:rPr kumimoji="1" lang="en-US" altLang="ja-JP" dirty="0">
                <a:latin typeface="Consolas" panose="020B0609020204030204" pitchFamily="49" charset="0"/>
              </a:rPr>
              <a:t>I0</a:t>
            </a:r>
            <a:r>
              <a:rPr kumimoji="1" lang="en-US" altLang="ja-JP" dirty="0"/>
              <a:t> </a:t>
            </a:r>
            <a:r>
              <a:rPr kumimoji="1" lang="ja-JP" altLang="en-US" dirty="0"/>
              <a:t>のロード結果が見えない</a:t>
            </a:r>
            <a:endParaRPr kumimoji="1" lang="en-US" altLang="ja-JP" dirty="0"/>
          </a:p>
          <a:p>
            <a:pPr lvl="1"/>
            <a:r>
              <a:rPr kumimoji="1" lang="ja-JP" altLang="en-US" dirty="0"/>
              <a:t>この部分はストールや遅延スロットでなんとかすることがおおい</a:t>
            </a:r>
          </a:p>
        </p:txBody>
      </p:sp>
      <p:cxnSp>
        <p:nvCxnSpPr>
          <p:cNvPr id="4" name="直線コネクタ 3"/>
          <p:cNvCxnSpPr>
            <a:stCxn id="32" idx="3"/>
            <a:endCxn id="10" idx="1"/>
          </p:cNvCxnSpPr>
          <p:nvPr/>
        </p:nvCxnSpPr>
        <p:spPr bwMode="auto">
          <a:xfrm flipV="1">
            <a:off x="3935977" y="2438987"/>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a:stCxn id="33" idx="3"/>
            <a:endCxn id="15" idx="1"/>
          </p:cNvCxnSpPr>
          <p:nvPr/>
        </p:nvCxnSpPr>
        <p:spPr bwMode="auto">
          <a:xfrm flipV="1">
            <a:off x="3935976" y="2888992"/>
            <a:ext cx="1440016" cy="2"/>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a:stCxn id="35" idx="3"/>
            <a:endCxn id="21" idx="1"/>
          </p:cNvCxnSpPr>
          <p:nvPr/>
        </p:nvCxnSpPr>
        <p:spPr bwMode="auto">
          <a:xfrm flipV="1">
            <a:off x="3935977" y="3338997"/>
            <a:ext cx="1890021" cy="2"/>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stCxn id="37" idx="3"/>
            <a:endCxn id="26"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I4</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231398" y="171898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1742263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データ・ハザードの解消方法</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a:p>
            <a:pPr marL="817200" lvl="1" indent="-457200">
              <a:buFont typeface="+mj-lt"/>
              <a:buAutoNum type="arabicPeriod"/>
            </a:pPr>
            <a:r>
              <a:rPr kumimoji="1" lang="ja-JP" altLang="en-US" b="1" dirty="0"/>
              <a:t>マルチスレッディング</a:t>
            </a:r>
          </a:p>
        </p:txBody>
      </p:sp>
    </p:spTree>
    <p:extLst>
      <p:ext uri="{BB962C8B-B14F-4D97-AF65-F5344CB8AC3E}">
        <p14:creationId xmlns:p14="http://schemas.microsoft.com/office/powerpoint/2010/main" val="13155358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マルチスレッディング（</a:t>
            </a:r>
            <a:r>
              <a:rPr kumimoji="1" lang="en-US" altLang="ja-JP" dirty="0"/>
              <a:t>MT: Multi threading</a:t>
            </a:r>
            <a:r>
              <a:rPr kumimoji="1" lang="ja-JP" altLang="en-US" dirty="0"/>
              <a:t>）</a:t>
            </a:r>
          </a:p>
        </p:txBody>
      </p:sp>
      <p:sp>
        <p:nvSpPr>
          <p:cNvPr id="3" name="テキスト プレースホルダー 2"/>
          <p:cNvSpPr>
            <a:spLocks noGrp="1"/>
          </p:cNvSpPr>
          <p:nvPr>
            <p:ph type="body" sz="quarter" idx="10"/>
          </p:nvPr>
        </p:nvSpPr>
        <p:spPr/>
        <p:txBody>
          <a:bodyPr/>
          <a:lstStyle/>
          <a:p>
            <a:r>
              <a:rPr kumimoji="1" lang="ja-JP" altLang="en-US" dirty="0"/>
              <a:t>広義のマルチスレッド：</a:t>
            </a:r>
            <a:endParaRPr kumimoji="1" lang="en-US" altLang="ja-JP" dirty="0"/>
          </a:p>
          <a:p>
            <a:pPr lvl="1"/>
            <a:r>
              <a:rPr kumimoji="1" lang="ja-JP" altLang="en-US" dirty="0"/>
              <a:t>コンテキスト（</a:t>
            </a:r>
            <a:r>
              <a:rPr kumimoji="1" lang="en-US" altLang="ja-JP" dirty="0"/>
              <a:t>PC </a:t>
            </a:r>
            <a:r>
              <a:rPr kumimoji="1" lang="ja-JP" altLang="en-US" dirty="0"/>
              <a:t>やレジスタ）を複数持つこと</a:t>
            </a:r>
            <a:endParaRPr kumimoji="1" lang="en-US" altLang="ja-JP" dirty="0"/>
          </a:p>
          <a:p>
            <a:r>
              <a:rPr lang="ja-JP" altLang="en-US" dirty="0"/>
              <a:t>ソフトウェアにおけるマルチスレッド</a:t>
            </a:r>
            <a:endParaRPr lang="en-US" altLang="ja-JP" dirty="0"/>
          </a:p>
          <a:p>
            <a:pPr lvl="1"/>
            <a:r>
              <a:rPr lang="en-US" altLang="ja-JP" dirty="0" err="1"/>
              <a:t>pthread</a:t>
            </a:r>
            <a:r>
              <a:rPr lang="en-US" altLang="ja-JP" dirty="0"/>
              <a:t> </a:t>
            </a:r>
            <a:r>
              <a:rPr lang="ja-JP" altLang="en-US" dirty="0"/>
              <a:t>とか</a:t>
            </a:r>
            <a:endParaRPr lang="en-US" altLang="ja-JP" dirty="0"/>
          </a:p>
          <a:p>
            <a:pPr lvl="1"/>
            <a:r>
              <a:rPr kumimoji="1" lang="ja-JP" altLang="en-US" dirty="0"/>
              <a:t>複数のコンテキストが並列して動作</a:t>
            </a:r>
            <a:endParaRPr kumimoji="1" lang="en-US" altLang="ja-JP" dirty="0"/>
          </a:p>
          <a:p>
            <a:r>
              <a:rPr kumimoji="1" lang="ja-JP" altLang="en-US" dirty="0"/>
              <a:t>ハードウェア</a:t>
            </a:r>
            <a:r>
              <a:rPr lang="ja-JP" altLang="en-US" dirty="0"/>
              <a:t>における</a:t>
            </a:r>
            <a:r>
              <a:rPr kumimoji="1" lang="ja-JP" altLang="en-US" dirty="0"/>
              <a:t>マルチスレッド</a:t>
            </a:r>
            <a:endParaRPr kumimoji="1" lang="en-US" altLang="ja-JP" dirty="0"/>
          </a:p>
          <a:p>
            <a:pPr lvl="1"/>
            <a:r>
              <a:rPr kumimoji="1" lang="ja-JP" altLang="en-US" dirty="0"/>
              <a:t>ひとつの </a:t>
            </a:r>
            <a:r>
              <a:rPr kumimoji="1" lang="en-US" altLang="ja-JP" dirty="0"/>
              <a:t>CPU </a:t>
            </a:r>
            <a:r>
              <a:rPr kumimoji="1" lang="ja-JP" altLang="en-US" dirty="0"/>
              <a:t>内に複数のコンテキストを複数持つ</a:t>
            </a:r>
            <a:endParaRPr kumimoji="1" lang="en-US" altLang="ja-JP" dirty="0"/>
          </a:p>
          <a:p>
            <a:pPr lvl="1"/>
            <a:r>
              <a:rPr kumimoji="1" lang="ja-JP" altLang="en-US" dirty="0"/>
              <a:t>次ページの方法は「細粒度マルチスレッディング」と呼ぶ</a:t>
            </a:r>
            <a:endParaRPr kumimoji="1" lang="en-US" altLang="ja-JP" dirty="0"/>
          </a:p>
          <a:p>
            <a:pPr lvl="2"/>
            <a:r>
              <a:rPr lang="ja-JP" altLang="en-US" dirty="0"/>
              <a:t>ハードウェアのマルチスレッドは，</a:t>
            </a:r>
            <a:r>
              <a:rPr kumimoji="1" lang="ja-JP" altLang="en-US" dirty="0"/>
              <a:t>他にもいろいろある</a:t>
            </a:r>
            <a:endParaRPr kumimoji="1" lang="en-US" altLang="ja-JP" dirty="0"/>
          </a:p>
          <a:p>
            <a:pPr lvl="2"/>
            <a:r>
              <a:rPr kumimoji="1" lang="ja-JP" altLang="en-US" dirty="0"/>
              <a:t>「粗粒度 </a:t>
            </a:r>
            <a:r>
              <a:rPr kumimoji="1" lang="en-US" altLang="ja-JP" dirty="0"/>
              <a:t>MT</a:t>
            </a:r>
            <a:r>
              <a:rPr kumimoji="1" lang="ja-JP" altLang="en-US" dirty="0"/>
              <a:t>」「同時 </a:t>
            </a:r>
            <a:r>
              <a:rPr kumimoji="1" lang="en-US" altLang="ja-JP" dirty="0"/>
              <a:t>MT</a:t>
            </a:r>
            <a:r>
              <a:rPr kumimoji="1" lang="ja-JP" altLang="en-US" dirty="0"/>
              <a:t>」など</a:t>
            </a:r>
          </a:p>
        </p:txBody>
      </p:sp>
    </p:spTree>
    <p:extLst>
      <p:ext uri="{BB962C8B-B14F-4D97-AF65-F5344CB8AC3E}">
        <p14:creationId xmlns:p14="http://schemas.microsoft.com/office/powerpoint/2010/main" val="29379661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マルチスレッディング</a:t>
            </a:r>
            <a:endParaRPr kumimoji="1" lang="ja-JP" altLang="en-US" dirty="0"/>
          </a:p>
        </p:txBody>
      </p:sp>
      <p:sp>
        <p:nvSpPr>
          <p:cNvPr id="3" name="テキスト プレースホルダー 2"/>
          <p:cNvSpPr>
            <a:spLocks noGrp="1"/>
          </p:cNvSpPr>
          <p:nvPr>
            <p:ph type="body" sz="quarter" idx="10"/>
          </p:nvPr>
        </p:nvSpPr>
        <p:spPr>
          <a:xfrm>
            <a:off x="2135956" y="4779015"/>
            <a:ext cx="8280092" cy="1529710"/>
          </a:xfrm>
        </p:spPr>
        <p:txBody>
          <a:bodyPr/>
          <a:lstStyle/>
          <a:p>
            <a:r>
              <a:rPr kumimoji="1" lang="en-US" altLang="ja-JP" dirty="0"/>
              <a:t>Th0 </a:t>
            </a:r>
            <a:r>
              <a:rPr kumimoji="1" lang="ja-JP" altLang="en-US" dirty="0"/>
              <a:t>から </a:t>
            </a:r>
            <a:r>
              <a:rPr kumimoji="1" lang="en-US" altLang="ja-JP" dirty="0"/>
              <a:t>Th3 </a:t>
            </a:r>
            <a:r>
              <a:rPr kumimoji="1" lang="ja-JP" altLang="en-US" dirty="0" err="1"/>
              <a:t>までの</a:t>
            </a:r>
            <a:r>
              <a:rPr kumimoji="1" lang="en-US" altLang="ja-JP" dirty="0"/>
              <a:t>4</a:t>
            </a:r>
            <a:r>
              <a:rPr kumimoji="1" lang="ja-JP" altLang="en-US" dirty="0" err="1"/>
              <a:t>つの</a:t>
            </a:r>
            <a:r>
              <a:rPr kumimoji="1" lang="ja-JP" altLang="en-US" dirty="0"/>
              <a:t>スレッドの命令を順に実行</a:t>
            </a:r>
            <a:endParaRPr kumimoji="1" lang="en-US" altLang="ja-JP" dirty="0"/>
          </a:p>
          <a:p>
            <a:pPr lvl="1"/>
            <a:r>
              <a:rPr kumimoji="1" lang="ja-JP" altLang="en-US" dirty="0"/>
              <a:t>各スレッドは独立しているので，お互いの結果を読むことはない</a:t>
            </a:r>
            <a:endParaRPr kumimoji="1" lang="en-US" altLang="ja-JP" dirty="0"/>
          </a:p>
          <a:p>
            <a:r>
              <a:rPr lang="en-US" altLang="ja-JP" dirty="0"/>
              <a:t>Th0 </a:t>
            </a:r>
            <a:r>
              <a:rPr lang="ja-JP" altLang="en-US" dirty="0"/>
              <a:t>に戻ってくる頃には，前回の </a:t>
            </a:r>
            <a:r>
              <a:rPr lang="en-US" altLang="ja-JP" dirty="0"/>
              <a:t>Th0 </a:t>
            </a:r>
            <a:r>
              <a:rPr lang="ja-JP" altLang="en-US" dirty="0"/>
              <a:t>の結果が書き込まれている</a:t>
            </a:r>
            <a:endParaRPr kumimoji="1" lang="ja-JP" altLang="en-US" dirty="0"/>
          </a:p>
        </p:txBody>
      </p:sp>
      <p:cxnSp>
        <p:nvCxnSpPr>
          <p:cNvPr id="4" name="直線コネクタ 3"/>
          <p:cNvCxnSpPr>
            <a:stCxn id="32" idx="3"/>
            <a:endCxn id="10" idx="1"/>
          </p:cNvCxnSpPr>
          <p:nvPr/>
        </p:nvCxnSpPr>
        <p:spPr bwMode="auto">
          <a:xfrm flipV="1">
            <a:off x="3935977" y="2438987"/>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1988984"/>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825997"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0" name="Rectangle 69"/>
          <p:cNvSpPr>
            <a:spLocks noChangeArrowheads="1"/>
          </p:cNvSpPr>
          <p:nvPr/>
        </p:nvSpPr>
        <p:spPr bwMode="auto">
          <a:xfrm>
            <a:off x="492598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5375992"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82599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6276002"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726007" y="2258987"/>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537599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825997"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627600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726007"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7176012" y="2708992"/>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WB</a:t>
            </a:r>
          </a:p>
        </p:txBody>
      </p:sp>
      <p:sp>
        <p:nvSpPr>
          <p:cNvPr id="20" name="正方形/長方形 19"/>
          <p:cNvSpPr/>
          <p:nvPr/>
        </p:nvSpPr>
        <p:spPr bwMode="auto">
          <a:xfrm>
            <a:off x="3215968" y="180898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21" name="Rectangle 69"/>
          <p:cNvSpPr>
            <a:spLocks noChangeArrowheads="1"/>
          </p:cNvSpPr>
          <p:nvPr/>
        </p:nvSpPr>
        <p:spPr bwMode="auto">
          <a:xfrm>
            <a:off x="5825997"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IF</a:t>
            </a:r>
          </a:p>
        </p:txBody>
      </p:sp>
      <p:sp>
        <p:nvSpPr>
          <p:cNvPr id="22" name="Rectangle 70"/>
          <p:cNvSpPr>
            <a:spLocks noChangeArrowheads="1"/>
          </p:cNvSpPr>
          <p:nvPr/>
        </p:nvSpPr>
        <p:spPr bwMode="auto">
          <a:xfrm>
            <a:off x="6276002"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a:t>ID</a:t>
            </a:r>
          </a:p>
        </p:txBody>
      </p:sp>
      <p:sp>
        <p:nvSpPr>
          <p:cNvPr id="23" name="Rectangle 71"/>
          <p:cNvSpPr>
            <a:spLocks noChangeArrowheads="1"/>
          </p:cNvSpPr>
          <p:nvPr/>
        </p:nvSpPr>
        <p:spPr bwMode="auto">
          <a:xfrm>
            <a:off x="6726007"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a:t>EX</a:t>
            </a:r>
          </a:p>
        </p:txBody>
      </p:sp>
      <p:sp>
        <p:nvSpPr>
          <p:cNvPr id="24" name="Rectangle 72"/>
          <p:cNvSpPr>
            <a:spLocks noChangeArrowheads="1"/>
          </p:cNvSpPr>
          <p:nvPr/>
        </p:nvSpPr>
        <p:spPr bwMode="auto">
          <a:xfrm>
            <a:off x="7176012"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200"/>
              <a:t>MEM</a:t>
            </a:r>
          </a:p>
        </p:txBody>
      </p:sp>
      <p:sp>
        <p:nvSpPr>
          <p:cNvPr id="25" name="Rectangle 73"/>
          <p:cNvSpPr>
            <a:spLocks noChangeArrowheads="1"/>
          </p:cNvSpPr>
          <p:nvPr/>
        </p:nvSpPr>
        <p:spPr bwMode="auto">
          <a:xfrm>
            <a:off x="7626017" y="3158997"/>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26" name="Rectangle 69"/>
          <p:cNvSpPr>
            <a:spLocks noChangeArrowheads="1"/>
          </p:cNvSpPr>
          <p:nvPr/>
        </p:nvSpPr>
        <p:spPr bwMode="auto">
          <a:xfrm>
            <a:off x="627600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7" name="Rectangle 70"/>
          <p:cNvSpPr>
            <a:spLocks noChangeArrowheads="1"/>
          </p:cNvSpPr>
          <p:nvPr/>
        </p:nvSpPr>
        <p:spPr bwMode="auto">
          <a:xfrm>
            <a:off x="672600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8" name="Rectangle 71"/>
          <p:cNvSpPr>
            <a:spLocks noChangeArrowheads="1"/>
          </p:cNvSpPr>
          <p:nvPr/>
        </p:nvSpPr>
        <p:spPr bwMode="auto">
          <a:xfrm>
            <a:off x="717601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9" name="Rectangle 72"/>
          <p:cNvSpPr>
            <a:spLocks noChangeArrowheads="1"/>
          </p:cNvSpPr>
          <p:nvPr/>
        </p:nvSpPr>
        <p:spPr bwMode="auto">
          <a:xfrm>
            <a:off x="7626017"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0" name="Rectangle 73"/>
          <p:cNvSpPr>
            <a:spLocks noChangeArrowheads="1"/>
          </p:cNvSpPr>
          <p:nvPr/>
        </p:nvSpPr>
        <p:spPr bwMode="auto">
          <a:xfrm>
            <a:off x="8076022" y="360900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1" name="直線コネクタ 30"/>
          <p:cNvCxnSpPr>
            <a:stCxn id="33" idx="3"/>
            <a:endCxn id="15" idx="1"/>
          </p:cNvCxnSpPr>
          <p:nvPr/>
        </p:nvCxnSpPr>
        <p:spPr bwMode="auto">
          <a:xfrm flipV="1">
            <a:off x="3935976" y="2888992"/>
            <a:ext cx="1440016" cy="2"/>
          </a:xfrm>
          <a:prstGeom prst="line">
            <a:avLst/>
          </a:prstGeom>
          <a:noFill/>
          <a:ln w="9525" cap="flat" cmpd="sng" algn="ctr">
            <a:solidFill>
              <a:schemeClr val="tx1"/>
            </a:solidFill>
            <a:prstDash val="dash"/>
            <a:round/>
            <a:headEnd type="none" w="med" len="med"/>
            <a:tailEnd type="none" w="med" len="med"/>
          </a:ln>
          <a:effectLst/>
        </p:spPr>
      </p:cxnSp>
      <p:sp>
        <p:nvSpPr>
          <p:cNvPr id="32" name="正方形/長方形 31"/>
          <p:cNvSpPr/>
          <p:nvPr/>
        </p:nvSpPr>
        <p:spPr bwMode="auto">
          <a:xfrm>
            <a:off x="3215968" y="225898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Th1</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3215968" y="270899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Th2</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4" name="直線コネクタ 33"/>
          <p:cNvCxnSpPr>
            <a:stCxn id="35" idx="3"/>
            <a:endCxn id="21" idx="1"/>
          </p:cNvCxnSpPr>
          <p:nvPr/>
        </p:nvCxnSpPr>
        <p:spPr bwMode="auto">
          <a:xfrm flipV="1">
            <a:off x="3935977" y="3338997"/>
            <a:ext cx="1890021" cy="2"/>
          </a:xfrm>
          <a:prstGeom prst="line">
            <a:avLst/>
          </a:prstGeom>
          <a:noFill/>
          <a:ln w="9525" cap="flat" cmpd="sng" algn="ctr">
            <a:solidFill>
              <a:schemeClr val="tx1"/>
            </a:solidFill>
            <a:prstDash val="dash"/>
            <a:round/>
            <a:headEnd type="none" w="med" len="med"/>
            <a:tailEnd type="none" w="med" len="med"/>
          </a:ln>
          <a:effectLst/>
        </p:spPr>
      </p:cxnSp>
      <p:sp>
        <p:nvSpPr>
          <p:cNvPr id="35" name="正方形/長方形 34"/>
          <p:cNvSpPr/>
          <p:nvPr/>
        </p:nvSpPr>
        <p:spPr bwMode="auto">
          <a:xfrm>
            <a:off x="3215968" y="3158997"/>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Th3</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36" name="直線コネクタ 35"/>
          <p:cNvCxnSpPr>
            <a:stCxn id="37" idx="3"/>
            <a:endCxn id="26" idx="1"/>
          </p:cNvCxnSpPr>
          <p:nvPr/>
        </p:nvCxnSpPr>
        <p:spPr bwMode="auto">
          <a:xfrm flipV="1">
            <a:off x="3935976" y="3789002"/>
            <a:ext cx="2340026" cy="2"/>
          </a:xfrm>
          <a:prstGeom prst="line">
            <a:avLst/>
          </a:prstGeom>
          <a:noFill/>
          <a:ln w="9525" cap="flat" cmpd="sng" algn="ctr">
            <a:solidFill>
              <a:schemeClr val="tx1"/>
            </a:solidFill>
            <a:prstDash val="dash"/>
            <a:round/>
            <a:headEnd type="none" w="med" len="med"/>
            <a:tailEnd type="none" w="med" len="med"/>
          </a:ln>
          <a:effectLst/>
        </p:spPr>
      </p:cxnSp>
      <p:sp>
        <p:nvSpPr>
          <p:cNvPr id="37" name="正方形/長方形 36"/>
          <p:cNvSpPr/>
          <p:nvPr/>
        </p:nvSpPr>
        <p:spPr bwMode="auto">
          <a:xfrm>
            <a:off x="3215968" y="3609002"/>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rPr>
              <a:t>Th0</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8" name="Rectangle 73"/>
          <p:cNvSpPr>
            <a:spLocks noChangeArrowheads="1"/>
          </p:cNvSpPr>
          <p:nvPr/>
        </p:nvSpPr>
        <p:spPr bwMode="auto">
          <a:xfrm>
            <a:off x="6276002" y="1808982"/>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9" name="直線コネクタ 38"/>
          <p:cNvCxnSpPr/>
          <p:nvPr/>
        </p:nvCxnSpPr>
        <p:spPr bwMode="auto">
          <a:xfrm>
            <a:off x="6231398" y="1718981"/>
            <a:ext cx="0" cy="2340026"/>
          </a:xfrm>
          <a:prstGeom prst="line">
            <a:avLst/>
          </a:prstGeom>
          <a:ln>
            <a:headEnd type="none" w="med" len="med"/>
            <a:tailEnd type="none" w="med" len="med"/>
          </a:ln>
        </p:spPr>
        <p:style>
          <a:lnRef idx="2">
            <a:schemeClr val="accent6"/>
          </a:lnRef>
          <a:fillRef idx="0">
            <a:schemeClr val="accent6"/>
          </a:fillRef>
          <a:effectRef idx="1">
            <a:schemeClr val="accent6"/>
          </a:effectRef>
          <a:fontRef idx="minor">
            <a:schemeClr val="tx1"/>
          </a:fontRef>
        </p:style>
      </p:cxnSp>
    </p:spTree>
    <p:extLst>
      <p:ext uri="{BB962C8B-B14F-4D97-AF65-F5344CB8AC3E}">
        <p14:creationId xmlns:p14="http://schemas.microsoft.com/office/powerpoint/2010/main" val="33739560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マルチスレッディングの利点と欠点</a:t>
            </a:r>
          </a:p>
        </p:txBody>
      </p:sp>
      <p:sp>
        <p:nvSpPr>
          <p:cNvPr id="3" name="テキスト プレースホルダー 2"/>
          <p:cNvSpPr>
            <a:spLocks noGrp="1"/>
          </p:cNvSpPr>
          <p:nvPr>
            <p:ph type="body" sz="quarter" idx="10"/>
          </p:nvPr>
        </p:nvSpPr>
        <p:spPr/>
        <p:txBody>
          <a:bodyPr/>
          <a:lstStyle/>
          <a:p>
            <a:endParaRPr kumimoji="1" lang="en-US" altLang="ja-JP" dirty="0"/>
          </a:p>
          <a:p>
            <a:r>
              <a:rPr kumimoji="1" lang="ja-JP" altLang="en-US" dirty="0"/>
              <a:t>利点：</a:t>
            </a:r>
            <a:endParaRPr kumimoji="1" lang="en-US" altLang="ja-JP" dirty="0"/>
          </a:p>
          <a:p>
            <a:pPr lvl="1"/>
            <a:r>
              <a:rPr kumimoji="1" lang="ja-JP" altLang="en-US" dirty="0"/>
              <a:t>他の方法のような問題がおきない</a:t>
            </a:r>
            <a:endParaRPr kumimoji="1" lang="en-US" altLang="ja-JP" dirty="0"/>
          </a:p>
          <a:p>
            <a:pPr lvl="2"/>
            <a:r>
              <a:rPr kumimoji="1" lang="ja-JP" altLang="en-US" dirty="0"/>
              <a:t>理想的にはバブルも発生せず，クロックも落ちない</a:t>
            </a:r>
            <a:endParaRPr kumimoji="1" lang="en-US" altLang="ja-JP" dirty="0"/>
          </a:p>
          <a:p>
            <a:pPr lvl="1"/>
            <a:r>
              <a:rPr kumimoji="1" lang="ja-JP" altLang="en-US" dirty="0"/>
              <a:t>演算器をパイプライン化しても性能に影響がない</a:t>
            </a:r>
            <a:endParaRPr kumimoji="1" lang="en-US" altLang="ja-JP" dirty="0"/>
          </a:p>
          <a:p>
            <a:pPr lvl="2"/>
            <a:r>
              <a:rPr kumimoji="1" lang="ja-JP" altLang="en-US" dirty="0"/>
              <a:t>他のスレッドを実行して時間をつぶしていればよい</a:t>
            </a:r>
            <a:endParaRPr kumimoji="1" lang="en-US" altLang="ja-JP" dirty="0"/>
          </a:p>
          <a:p>
            <a:r>
              <a:rPr kumimoji="1" lang="ja-JP" altLang="en-US" dirty="0"/>
              <a:t>欠点：</a:t>
            </a:r>
            <a:endParaRPr kumimoji="1" lang="en-US" altLang="ja-JP" dirty="0"/>
          </a:p>
          <a:p>
            <a:pPr marL="817200" lvl="1" indent="-457200">
              <a:buFont typeface="+mj-lt"/>
              <a:buAutoNum type="arabicPeriod"/>
            </a:pPr>
            <a:r>
              <a:rPr kumimoji="1" lang="ja-JP" altLang="en-US" dirty="0"/>
              <a:t>動かすスレッドがない場合は，止めておくしかない</a:t>
            </a:r>
            <a:endParaRPr kumimoji="1" lang="en-US" altLang="ja-JP" dirty="0"/>
          </a:p>
          <a:p>
            <a:pPr lvl="2"/>
            <a:r>
              <a:rPr lang="en-US" altLang="ja-JP" dirty="0"/>
              <a:t>GPU </a:t>
            </a:r>
            <a:r>
              <a:rPr lang="ja-JP" altLang="en-US" dirty="0"/>
              <a:t>等ではスレッドが大量にあるので，問題とならない</a:t>
            </a:r>
            <a:endParaRPr lang="en-US" altLang="ja-JP" dirty="0"/>
          </a:p>
          <a:p>
            <a:pPr lvl="2"/>
            <a:r>
              <a:rPr kumimoji="1" lang="en-US" altLang="ja-JP" dirty="0"/>
              <a:t>GPU </a:t>
            </a:r>
            <a:r>
              <a:rPr kumimoji="1" lang="ja-JP" altLang="en-US" dirty="0"/>
              <a:t>ではループの各周がスレッドになっているイメージ</a:t>
            </a:r>
            <a:endParaRPr kumimoji="1" lang="en-US" altLang="ja-JP" dirty="0"/>
          </a:p>
          <a:p>
            <a:pPr marL="817200" lvl="1" indent="-457200">
              <a:buFont typeface="+mj-lt"/>
              <a:buAutoNum type="arabicPeriod"/>
            </a:pPr>
            <a:r>
              <a:rPr lang="ja-JP" altLang="en-US" dirty="0"/>
              <a:t>スレッド数分のレジスタを持つ必要があるのでハードが大きい</a:t>
            </a:r>
            <a:endParaRPr lang="en-US" altLang="ja-JP" dirty="0"/>
          </a:p>
          <a:p>
            <a:pPr lvl="2"/>
            <a:endParaRPr kumimoji="1" lang="ja-JP" altLang="en-US" dirty="0"/>
          </a:p>
        </p:txBody>
      </p:sp>
    </p:spTree>
    <p:extLst>
      <p:ext uri="{BB962C8B-B14F-4D97-AF65-F5344CB8AC3E}">
        <p14:creationId xmlns:p14="http://schemas.microsoft.com/office/powerpoint/2010/main" val="45356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データ・ハザードのまとめ</a:t>
            </a:r>
          </a:p>
        </p:txBody>
      </p:sp>
      <p:sp>
        <p:nvSpPr>
          <p:cNvPr id="3" name="テキスト プレースホルダー 2"/>
          <p:cNvSpPr>
            <a:spLocks noGrp="1"/>
          </p:cNvSpPr>
          <p:nvPr>
            <p:ph type="body" sz="quarter" idx="10"/>
          </p:nvPr>
        </p:nvSpPr>
        <p:spPr/>
        <p:txBody>
          <a:bodyPr/>
          <a:lstStyle/>
          <a:p>
            <a:r>
              <a:rPr kumimoji="1" lang="ja-JP" altLang="en-US" dirty="0"/>
              <a:t>解消方法</a:t>
            </a:r>
            <a:endParaRPr kumimoji="1" lang="en-US" altLang="ja-JP" dirty="0"/>
          </a:p>
          <a:p>
            <a:pPr marL="817200" lvl="1" indent="-457200">
              <a:buFont typeface="+mj-lt"/>
              <a:buAutoNum type="arabicPeriod"/>
            </a:pPr>
            <a:r>
              <a:rPr kumimoji="1" lang="ja-JP" altLang="en-US" dirty="0"/>
              <a:t>ストールさせる</a:t>
            </a:r>
            <a:endParaRPr kumimoji="1" lang="en-US" altLang="ja-JP" dirty="0"/>
          </a:p>
          <a:p>
            <a:pPr marL="817200" lvl="1" indent="-457200">
              <a:buFont typeface="+mj-lt"/>
              <a:buAutoNum type="arabicPeriod"/>
            </a:pPr>
            <a:r>
              <a:rPr kumimoji="1" lang="ja-JP" altLang="en-US" dirty="0"/>
              <a:t>遅延スロット（なにもしない）</a:t>
            </a:r>
            <a:endParaRPr kumimoji="1" lang="en-US" altLang="ja-JP" dirty="0"/>
          </a:p>
          <a:p>
            <a:pPr marL="817200" lvl="1" indent="-457200">
              <a:buFont typeface="+mj-lt"/>
              <a:buAutoNum type="arabicPeriod"/>
            </a:pPr>
            <a:r>
              <a:rPr kumimoji="1" lang="ja-JP" altLang="en-US" dirty="0"/>
              <a:t>フォワーディング</a:t>
            </a:r>
            <a:endParaRPr kumimoji="1" lang="en-US" altLang="ja-JP" dirty="0"/>
          </a:p>
          <a:p>
            <a:pPr marL="817200" lvl="1" indent="-457200">
              <a:buFont typeface="+mj-lt"/>
              <a:buAutoNum type="arabicPeriod"/>
            </a:pPr>
            <a:r>
              <a:rPr kumimoji="1" lang="ja-JP" altLang="en-US" b="1" dirty="0"/>
              <a:t>マルチスレッディング</a:t>
            </a:r>
          </a:p>
        </p:txBody>
      </p:sp>
    </p:spTree>
    <p:extLst>
      <p:ext uri="{BB962C8B-B14F-4D97-AF65-F5344CB8AC3E}">
        <p14:creationId xmlns:p14="http://schemas.microsoft.com/office/powerpoint/2010/main" val="1050804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制御ハザード</a:t>
            </a:r>
          </a:p>
        </p:txBody>
      </p:sp>
      <p:sp>
        <p:nvSpPr>
          <p:cNvPr id="3" name="テキスト プレースホルダー 2"/>
          <p:cNvSpPr>
            <a:spLocks noGrp="1"/>
          </p:cNvSpPr>
          <p:nvPr>
            <p:ph type="body" sz="quarter" idx="10"/>
          </p:nvPr>
        </p:nvSpPr>
        <p:spPr/>
        <p:txBody>
          <a:bodyPr/>
          <a:lstStyle/>
          <a:p>
            <a:pPr marL="385200" indent="-457200">
              <a:buFont typeface="+mj-lt"/>
              <a:buAutoNum type="arabicPeriod"/>
            </a:pPr>
            <a:r>
              <a:rPr lang="ja-JP" altLang="en-US" dirty="0"/>
              <a:t>構造ハザード</a:t>
            </a:r>
            <a:endParaRPr lang="en-US" altLang="ja-JP" dirty="0"/>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b="1" dirty="0"/>
              <a:t>制御ハザード</a:t>
            </a:r>
            <a:endParaRPr lang="en-US" altLang="ja-JP" b="1" dirty="0"/>
          </a:p>
        </p:txBody>
      </p:sp>
    </p:spTree>
    <p:extLst>
      <p:ext uri="{BB962C8B-B14F-4D97-AF65-F5344CB8AC3E}">
        <p14:creationId xmlns:p14="http://schemas.microsoft.com/office/powerpoint/2010/main" val="40922513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651205" y="4329011"/>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6955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制御ハザードの解消方法</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sz="1800" dirty="0"/>
              <a:t>解消方法</a:t>
            </a:r>
            <a:endParaRPr lang="en-US" altLang="ja-JP" sz="1800" dirty="0"/>
          </a:p>
          <a:p>
            <a:pPr marL="817200" lvl="1" indent="-457200">
              <a:buFont typeface="+mj-lt"/>
              <a:buAutoNum type="arabicPeriod"/>
            </a:pPr>
            <a:r>
              <a:rPr lang="ja-JP" altLang="en-US" sz="1800" dirty="0"/>
              <a:t>ストールさせる</a:t>
            </a:r>
            <a:endParaRPr lang="en-US" altLang="ja-JP" sz="1800" dirty="0"/>
          </a:p>
          <a:p>
            <a:pPr marL="817200" lvl="1" indent="-457200">
              <a:buFont typeface="+mj-lt"/>
              <a:buAutoNum type="arabicPeriod"/>
            </a:pPr>
            <a:r>
              <a:rPr lang="ja-JP" altLang="en-US" sz="1800" dirty="0"/>
              <a:t>遅延スロット（なにもしない）</a:t>
            </a:r>
            <a:endParaRPr lang="en-US" altLang="ja-JP" sz="1800" dirty="0"/>
          </a:p>
          <a:p>
            <a:pPr marL="817200" lvl="1" indent="-457200">
              <a:buFont typeface="+mj-lt"/>
              <a:buAutoNum type="arabicPeriod"/>
            </a:pPr>
            <a:r>
              <a:rPr lang="ja-JP" altLang="en-US" sz="1800" dirty="0"/>
              <a:t>マルチスレッディング</a:t>
            </a:r>
            <a:br>
              <a:rPr lang="en-US" altLang="ja-JP" sz="1800" dirty="0"/>
            </a:br>
            <a:endParaRPr lang="en-US" altLang="ja-JP" sz="1800" dirty="0"/>
          </a:p>
          <a:p>
            <a:pPr lvl="1"/>
            <a:r>
              <a:rPr lang="ja-JP" altLang="en-US" sz="1800" dirty="0"/>
              <a:t>上記３までは，基本的にデータ・ハザードと同様にして適用できる</a:t>
            </a:r>
            <a:endParaRPr lang="en-US" altLang="ja-JP" sz="1800" dirty="0"/>
          </a:p>
          <a:p>
            <a:pPr lvl="2"/>
            <a:r>
              <a:rPr lang="ja-JP" altLang="en-US" sz="1800" dirty="0"/>
              <a:t>ただしフォワーディングは制御ハザードでは意味的に無理</a:t>
            </a:r>
            <a:br>
              <a:rPr lang="en-US" altLang="ja-JP" sz="1800" dirty="0"/>
            </a:br>
            <a:endParaRPr lang="en-US" altLang="ja-JP" sz="1800" dirty="0"/>
          </a:p>
          <a:p>
            <a:pPr marL="817200" lvl="1" indent="-457200">
              <a:buFont typeface="+mj-lt"/>
              <a:buAutoNum type="arabicPeriod" startAt="4"/>
            </a:pPr>
            <a:r>
              <a:rPr lang="ja-JP" altLang="en-US" sz="1800" b="1" dirty="0"/>
              <a:t>分岐予測による投機実行</a:t>
            </a:r>
            <a:endParaRPr lang="ja-JP" altLang="en-US" sz="1800" dirty="0"/>
          </a:p>
        </p:txBody>
      </p:sp>
    </p:spTree>
    <p:extLst>
      <p:ext uri="{BB962C8B-B14F-4D97-AF65-F5344CB8AC3E}">
        <p14:creationId xmlns:p14="http://schemas.microsoft.com/office/powerpoint/2010/main" val="29972403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a:t>
            </a:r>
            <a:endParaRPr kumimoji="1" lang="ja-JP" altLang="en-US" dirty="0"/>
          </a:p>
        </p:txBody>
      </p:sp>
      <p:sp>
        <p:nvSpPr>
          <p:cNvPr id="58" name="コンテンツ プレースホルダー 57"/>
          <p:cNvSpPr>
            <a:spLocks noGrp="1"/>
          </p:cNvSpPr>
          <p:nvPr>
            <p:ph idx="4294967295"/>
          </p:nvPr>
        </p:nvSpPr>
        <p:spPr>
          <a:xfrm>
            <a:off x="1775953" y="4689015"/>
            <a:ext cx="8550095" cy="1369161"/>
          </a:xfrm>
          <a:prstGeom prst="rect">
            <a:avLst/>
          </a:prstGeom>
        </p:spPr>
        <p:txBody>
          <a:bodyPr/>
          <a:lstStyle/>
          <a:p>
            <a:r>
              <a:rPr lang="ja-JP" altLang="en-US" dirty="0"/>
              <a:t>動作</a:t>
            </a:r>
            <a:endParaRPr lang="en-US" altLang="ja-JP" dirty="0"/>
          </a:p>
          <a:p>
            <a:pPr lvl="1"/>
            <a:r>
              <a:rPr lang="ja-JP" altLang="en-US" dirty="0"/>
              <a:t>「</a:t>
            </a:r>
            <a:r>
              <a:rPr lang="en-US" altLang="ja-JP" dirty="0">
                <a:solidFill>
                  <a:schemeClr val="accent5"/>
                </a:solidFill>
              </a:rPr>
              <a:t>if a &gt; 0</a:t>
            </a:r>
            <a:r>
              <a:rPr lang="ja-JP" altLang="en-US" dirty="0"/>
              <a:t>」の結果を予測して，命令を取り込む</a:t>
            </a:r>
            <a:endParaRPr lang="en-US" altLang="ja-JP" dirty="0"/>
          </a:p>
          <a:p>
            <a:pPr lvl="2"/>
            <a:r>
              <a:rPr lang="ja-JP" altLang="en-US" dirty="0"/>
              <a:t>前回はこっちに行ったので，次もこっちに違いないとかで予測</a:t>
            </a:r>
            <a:endParaRPr lang="en-US" altLang="ja-JP" dirty="0"/>
          </a:p>
          <a:p>
            <a:pPr lvl="1"/>
            <a:r>
              <a:rPr lang="ja-JP" altLang="en-US" dirty="0"/>
              <a:t>あとから予測が正しいか確認する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575972" y="1358977"/>
            <a:ext cx="2520028" cy="612648"/>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err="1">
                <a:solidFill>
                  <a:schemeClr val="tx1">
                    <a:lumMod val="65000"/>
                    <a:lumOff val="35000"/>
                  </a:schemeClr>
                </a:solidFill>
                <a:latin typeface="Arial Narrow" panose="020B0606020202030204" pitchFamily="34" charset="0"/>
              </a:rPr>
              <a:t>わいの</a:t>
            </a:r>
            <a:r>
              <a:rPr lang="ja-JP" altLang="en-US" dirty="0">
                <a:solidFill>
                  <a:schemeClr val="tx1">
                    <a:lumMod val="65000"/>
                    <a:lumOff val="35000"/>
                  </a:schemeClr>
                </a:solidFill>
                <a:latin typeface="Arial Narrow" panose="020B0606020202030204" pitchFamily="34" charset="0"/>
              </a:rPr>
              <a:t>予想では </a:t>
            </a:r>
            <a:r>
              <a:rPr lang="en-US" altLang="ja-JP" dirty="0">
                <a:solidFill>
                  <a:schemeClr val="tx1">
                    <a:lumMod val="65000"/>
                    <a:lumOff val="35000"/>
                  </a:schemeClr>
                </a:solidFill>
                <a:latin typeface="Arial Narrow" panose="020B0606020202030204" pitchFamily="34" charset="0"/>
              </a:rPr>
              <a:t>else </a:t>
            </a:r>
            <a:r>
              <a:rPr lang="ja-JP" altLang="en-US" dirty="0">
                <a:solidFill>
                  <a:schemeClr val="tx1">
                    <a:lumMod val="65000"/>
                    <a:lumOff val="35000"/>
                  </a:schemeClr>
                </a:solidFill>
                <a:latin typeface="Arial Narrow" panose="020B0606020202030204" pitchFamily="34" charset="0"/>
              </a:rPr>
              <a:t>や</a:t>
            </a:r>
            <a:endParaRPr lang="en-US" altLang="ja-JP" dirty="0">
              <a:solidFill>
                <a:schemeClr val="tx1">
                  <a:lumMod val="65000"/>
                  <a:lumOff val="35000"/>
                </a:schemeClr>
              </a:solidFill>
              <a:latin typeface="Arial Narrow" panose="020B0606020202030204" pitchFamily="34" charset="0"/>
            </a:endParaRP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ほんまかいな</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後でたしかめるで</a:t>
            </a:r>
          </a:p>
        </p:txBody>
      </p:sp>
      <p:sp>
        <p:nvSpPr>
          <p:cNvPr id="28" name="正方形/長方形 27"/>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ｳｿｸｻｰ</a:t>
            </a:r>
          </a:p>
        </p:txBody>
      </p:sp>
      <p:sp>
        <p:nvSpPr>
          <p:cNvPr id="29" name="正方形/長方形 28"/>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ﾎﾝﾄｶﾅｰ</a:t>
            </a:r>
          </a:p>
        </p:txBody>
      </p:sp>
    </p:spTree>
    <p:extLst>
      <p:ext uri="{BB962C8B-B14F-4D97-AF65-F5344CB8AC3E}">
        <p14:creationId xmlns:p14="http://schemas.microsoft.com/office/powerpoint/2010/main" val="25273853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予測ペナルティ</a:t>
            </a:r>
            <a:endParaRPr kumimoji="1" lang="ja-JP" altLang="en-US" dirty="0"/>
          </a:p>
        </p:txBody>
      </p:sp>
      <p:sp>
        <p:nvSpPr>
          <p:cNvPr id="58" name="コンテンツ プレースホルダー 57"/>
          <p:cNvSpPr>
            <a:spLocks noGrp="1"/>
          </p:cNvSpPr>
          <p:nvPr>
            <p:ph idx="4294967295"/>
          </p:nvPr>
        </p:nvSpPr>
        <p:spPr>
          <a:xfrm>
            <a:off x="2225958" y="4869017"/>
            <a:ext cx="8190091" cy="1369161"/>
          </a:xfrm>
          <a:prstGeom prst="rect">
            <a:avLst/>
          </a:prstGeom>
        </p:spPr>
        <p:txBody>
          <a:bodyPr/>
          <a:lstStyle/>
          <a:p>
            <a:r>
              <a:rPr lang="ja-JP" altLang="en-US" dirty="0"/>
              <a:t>予測が間違っていた場合，以降の処理を</a:t>
            </a:r>
            <a:br>
              <a:rPr lang="en-US" altLang="ja-JP" dirty="0"/>
            </a:br>
            <a:r>
              <a:rPr lang="ja-JP" altLang="en-US" dirty="0"/>
              <a:t>取り消してやり直す</a:t>
            </a:r>
            <a:endParaRPr lang="en-US" altLang="ja-JP" dirty="0"/>
          </a:p>
          <a:p>
            <a:r>
              <a:rPr lang="ja-JP" altLang="en-US" dirty="0"/>
              <a:t>この図では，無駄になるのは</a:t>
            </a:r>
            <a:r>
              <a:rPr lang="en-US" altLang="ja-JP" dirty="0"/>
              <a:t>3</a:t>
            </a:r>
            <a:r>
              <a:rPr lang="ja-JP" altLang="en-US" dirty="0"/>
              <a:t>命令分</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7896020"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6456004"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395970" y="1358977"/>
            <a:ext cx="2880032" cy="612648"/>
          </a:xfrm>
          <a:prstGeom prst="wedgeRoundRectCallout">
            <a:avLst>
              <a:gd name="adj1" fmla="val -38140"/>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tx1">
                    <a:lumMod val="75000"/>
                    <a:lumOff val="25000"/>
                  </a:schemeClr>
                </a:solidFill>
                <a:latin typeface="Arial Narrow" panose="020B0606020202030204" pitchFamily="34" charset="0"/>
              </a:rPr>
              <a:t>a=a+1 </a:t>
            </a:r>
            <a:r>
              <a:rPr lang="ja-JP" altLang="en-US" dirty="0">
                <a:solidFill>
                  <a:schemeClr val="tx1">
                    <a:lumMod val="65000"/>
                    <a:lumOff val="35000"/>
                  </a:schemeClr>
                </a:solidFill>
                <a:latin typeface="Arial Narrow" panose="020B0606020202030204" pitchFamily="34" charset="0"/>
              </a:rPr>
              <a:t>からやりなおしや！</a:t>
            </a:r>
          </a:p>
        </p:txBody>
      </p:sp>
      <p:sp>
        <p:nvSpPr>
          <p:cNvPr id="27" name="角丸四角形吹き出し 26"/>
          <p:cNvSpPr/>
          <p:nvPr/>
        </p:nvSpPr>
        <p:spPr bwMode="auto">
          <a:xfrm>
            <a:off x="8076022" y="1358977"/>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間違っとるが</a:t>
            </a:r>
            <a:r>
              <a:rPr lang="ja-JP" altLang="en-US" dirty="0" err="1">
                <a:solidFill>
                  <a:schemeClr val="tx1">
                    <a:lumMod val="65000"/>
                    <a:lumOff val="35000"/>
                  </a:schemeClr>
                </a:solidFill>
                <a:latin typeface="Arial Narrow" panose="020B0606020202030204" pitchFamily="34" charset="0"/>
              </a:rPr>
              <a:t>な</a:t>
            </a:r>
            <a:endParaRPr lang="ja-JP" altLang="en-US" dirty="0">
              <a:solidFill>
                <a:schemeClr val="tx1">
                  <a:lumMod val="65000"/>
                  <a:lumOff val="35000"/>
                </a:schemeClr>
              </a:solidFill>
              <a:latin typeface="Arial Narrow" panose="020B0606020202030204" pitchFamily="34" charset="0"/>
            </a:endParaRPr>
          </a:p>
        </p:txBody>
      </p:sp>
      <p:sp>
        <p:nvSpPr>
          <p:cNvPr id="28" name="角丸四角形 27"/>
          <p:cNvSpPr/>
          <p:nvPr/>
        </p:nvSpPr>
        <p:spPr bwMode="auto">
          <a:xfrm>
            <a:off x="5015988"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29" name="角丸四角形 28"/>
          <p:cNvSpPr/>
          <p:nvPr/>
        </p:nvSpPr>
        <p:spPr bwMode="auto">
          <a:xfrm>
            <a:off x="3575972" y="2978995"/>
            <a:ext cx="720008" cy="360004"/>
          </a:xfrm>
          <a:prstGeom prst="roundRect">
            <a:avLst/>
          </a:prstGeom>
          <a:solidFill>
            <a:schemeClr val="bg1">
              <a:lumMod val="50000"/>
            </a:schemeClr>
          </a:solidFill>
          <a:ln>
            <a:headEnd/>
            <a:tailEnd type="triangle" w="sm" len="med"/>
          </a:ln>
        </p:spPr>
        <p:style>
          <a:lnRef idx="3">
            <a:schemeClr val="lt1"/>
          </a:lnRef>
          <a:fillRef idx="1">
            <a:schemeClr val="dk1"/>
          </a:fillRef>
          <a:effectRef idx="1">
            <a:schemeClr val="dk1"/>
          </a:effectRef>
          <a:fontRef idx="minor">
            <a:schemeClr val="lt1"/>
          </a:fontRef>
        </p:style>
        <p:txBody>
          <a:bodyPr wrap="none" rtlCol="0" anchor="ctr"/>
          <a:lstStyle/>
          <a:p>
            <a:pPr algn="ctr"/>
            <a:r>
              <a:rPr lang="en-US" altLang="ja-JP" dirty="0">
                <a:latin typeface="Arial Narrow" panose="020B0606020202030204" pitchFamily="34" charset="0"/>
              </a:rPr>
              <a:t>…</a:t>
            </a:r>
            <a:endParaRPr lang="ja-JP" altLang="en-US" dirty="0">
              <a:latin typeface="Arial Narrow" panose="020B0606020202030204" pitchFamily="34" charset="0"/>
            </a:endParaRPr>
          </a:p>
        </p:txBody>
      </p:sp>
      <p:sp>
        <p:nvSpPr>
          <p:cNvPr id="30" name="正方形/長方形 29"/>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ﾓｳﾔﾀﾞ</a:t>
            </a:r>
          </a:p>
        </p:txBody>
      </p:sp>
      <p:sp>
        <p:nvSpPr>
          <p:cNvPr id="31" name="正方形/長方形 30"/>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ﾏｼﾞﾃﾞ</a:t>
            </a:r>
          </a:p>
        </p:txBody>
      </p:sp>
    </p:spTree>
    <p:extLst>
      <p:ext uri="{BB962C8B-B14F-4D97-AF65-F5344CB8AC3E}">
        <p14:creationId xmlns:p14="http://schemas.microsoft.com/office/powerpoint/2010/main" val="81201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grpId="0" nodeType="clickEffect">
                                  <p:stCondLst>
                                    <p:cond delay="0"/>
                                  </p:stCondLst>
                                  <p:childTnLst>
                                    <p:animEffect transition="out" filter="fade">
                                      <p:cBhvr>
                                        <p:cTn id="6" dur="1000"/>
                                        <p:tgtEl>
                                          <p:spTgt spid="24"/>
                                        </p:tgtEl>
                                      </p:cBhvr>
                                    </p:animEffect>
                                    <p:anim calcmode="lin" valueType="num">
                                      <p:cBhvr>
                                        <p:cTn id="7" dur="1000"/>
                                        <p:tgtEl>
                                          <p:spTgt spid="24"/>
                                        </p:tgtEl>
                                        <p:attrNameLst>
                                          <p:attrName>ppt_x</p:attrName>
                                        </p:attrNameLst>
                                      </p:cBhvr>
                                      <p:tavLst>
                                        <p:tav tm="0">
                                          <p:val>
                                            <p:strVal val="ppt_x"/>
                                          </p:val>
                                        </p:tav>
                                        <p:tav tm="100000">
                                          <p:val>
                                            <p:strVal val="ppt_x"/>
                                          </p:val>
                                        </p:tav>
                                      </p:tavLst>
                                    </p:anim>
                                    <p:anim calcmode="lin" valueType="num">
                                      <p:cBhvr>
                                        <p:cTn id="8" dur="1000"/>
                                        <p:tgtEl>
                                          <p:spTgt spid="24"/>
                                        </p:tgtEl>
                                        <p:attrNameLst>
                                          <p:attrName>ppt_y</p:attrName>
                                        </p:attrNameLst>
                                      </p:cBhvr>
                                      <p:tavLst>
                                        <p:tav tm="0">
                                          <p:val>
                                            <p:strVal val="ppt_y"/>
                                          </p:val>
                                        </p:tav>
                                        <p:tav tm="100000">
                                          <p:val>
                                            <p:strVal val="ppt_y+.1"/>
                                          </p:val>
                                        </p:tav>
                                      </p:tavLst>
                                    </p:anim>
                                    <p:set>
                                      <p:cBhvr>
                                        <p:cTn id="9" dur="1" fill="hold">
                                          <p:stCondLst>
                                            <p:cond delay="999"/>
                                          </p:stCondLst>
                                        </p:cTn>
                                        <p:tgtEl>
                                          <p:spTgt spid="24"/>
                                        </p:tgtEl>
                                        <p:attrNameLst>
                                          <p:attrName>style.visibility</p:attrName>
                                        </p:attrNameLst>
                                      </p:cBhvr>
                                      <p:to>
                                        <p:strVal val="hidden"/>
                                      </p:to>
                                    </p:set>
                                  </p:childTnLst>
                                </p:cTn>
                              </p:par>
                              <p:par>
                                <p:cTn id="10" presetID="42" presetClass="exit" presetSubtype="0" fill="hold" grpId="0" nodeType="withEffect">
                                  <p:stCondLst>
                                    <p:cond delay="0"/>
                                  </p:stCondLst>
                                  <p:childTnLst>
                                    <p:animEffect transition="out" filter="fade">
                                      <p:cBhvr>
                                        <p:cTn id="11" dur="1000"/>
                                        <p:tgtEl>
                                          <p:spTgt spid="28"/>
                                        </p:tgtEl>
                                      </p:cBhvr>
                                    </p:animEffect>
                                    <p:anim calcmode="lin" valueType="num">
                                      <p:cBhvr>
                                        <p:cTn id="12" dur="1000"/>
                                        <p:tgtEl>
                                          <p:spTgt spid="28"/>
                                        </p:tgtEl>
                                        <p:attrNameLst>
                                          <p:attrName>ppt_x</p:attrName>
                                        </p:attrNameLst>
                                      </p:cBhvr>
                                      <p:tavLst>
                                        <p:tav tm="0">
                                          <p:val>
                                            <p:strVal val="ppt_x"/>
                                          </p:val>
                                        </p:tav>
                                        <p:tav tm="100000">
                                          <p:val>
                                            <p:strVal val="ppt_x"/>
                                          </p:val>
                                        </p:tav>
                                      </p:tavLst>
                                    </p:anim>
                                    <p:anim calcmode="lin" valueType="num">
                                      <p:cBhvr>
                                        <p:cTn id="13" dur="1000"/>
                                        <p:tgtEl>
                                          <p:spTgt spid="28"/>
                                        </p:tgtEl>
                                        <p:attrNameLst>
                                          <p:attrName>ppt_y</p:attrName>
                                        </p:attrNameLst>
                                      </p:cBhvr>
                                      <p:tavLst>
                                        <p:tav tm="0">
                                          <p:val>
                                            <p:strVal val="ppt_y"/>
                                          </p:val>
                                        </p:tav>
                                        <p:tav tm="100000">
                                          <p:val>
                                            <p:strVal val="ppt_y+.1"/>
                                          </p:val>
                                        </p:tav>
                                      </p:tavLst>
                                    </p:anim>
                                    <p:set>
                                      <p:cBhvr>
                                        <p:cTn id="14" dur="1" fill="hold">
                                          <p:stCondLst>
                                            <p:cond delay="999"/>
                                          </p:stCondLst>
                                        </p:cTn>
                                        <p:tgtEl>
                                          <p:spTgt spid="28"/>
                                        </p:tgtEl>
                                        <p:attrNameLst>
                                          <p:attrName>style.visibility</p:attrName>
                                        </p:attrNameLst>
                                      </p:cBhvr>
                                      <p:to>
                                        <p:strVal val="hidden"/>
                                      </p:to>
                                    </p:set>
                                  </p:childTnLst>
                                </p:cTn>
                              </p:par>
                              <p:par>
                                <p:cTn id="15" presetID="42" presetClass="exit" presetSubtype="0" fill="hold" grpId="0" nodeType="withEffect">
                                  <p:stCondLst>
                                    <p:cond delay="0"/>
                                  </p:stCondLst>
                                  <p:childTnLst>
                                    <p:animEffect transition="out" filter="fade">
                                      <p:cBhvr>
                                        <p:cTn id="16" dur="1000"/>
                                        <p:tgtEl>
                                          <p:spTgt spid="29"/>
                                        </p:tgtEl>
                                      </p:cBhvr>
                                    </p:animEffect>
                                    <p:anim calcmode="lin" valueType="num">
                                      <p:cBhvr>
                                        <p:cTn id="17" dur="1000"/>
                                        <p:tgtEl>
                                          <p:spTgt spid="29"/>
                                        </p:tgtEl>
                                        <p:attrNameLst>
                                          <p:attrName>ppt_x</p:attrName>
                                        </p:attrNameLst>
                                      </p:cBhvr>
                                      <p:tavLst>
                                        <p:tav tm="0">
                                          <p:val>
                                            <p:strVal val="ppt_x"/>
                                          </p:val>
                                        </p:tav>
                                        <p:tav tm="100000">
                                          <p:val>
                                            <p:strVal val="ppt_x"/>
                                          </p:val>
                                        </p:tav>
                                      </p:tavLst>
                                    </p:anim>
                                    <p:anim calcmode="lin" valueType="num">
                                      <p:cBhvr>
                                        <p:cTn id="18" dur="1000"/>
                                        <p:tgtEl>
                                          <p:spTgt spid="29"/>
                                        </p:tgtEl>
                                        <p:attrNameLst>
                                          <p:attrName>ppt_y</p:attrName>
                                        </p:attrNameLst>
                                      </p:cBhvr>
                                      <p:tavLst>
                                        <p:tav tm="0">
                                          <p:val>
                                            <p:strVal val="ppt_y"/>
                                          </p:val>
                                        </p:tav>
                                        <p:tav tm="100000">
                                          <p:val>
                                            <p:strVal val="ppt_y+.1"/>
                                          </p:val>
                                        </p:tav>
                                      </p:tavLst>
                                    </p:anim>
                                    <p:set>
                                      <p:cBhvr>
                                        <p:cTn id="19" dur="1" fill="hold">
                                          <p:stCondLst>
                                            <p:cond delay="9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大規模な高性能プロセッサの場合</a:t>
            </a:r>
          </a:p>
        </p:txBody>
      </p:sp>
      <p:sp>
        <p:nvSpPr>
          <p:cNvPr id="3" name="テキスト プレースホルダー 2"/>
          <p:cNvSpPr>
            <a:spLocks noGrp="1"/>
          </p:cNvSpPr>
          <p:nvPr>
            <p:ph type="body" sz="quarter" idx="10"/>
          </p:nvPr>
        </p:nvSpPr>
        <p:spPr>
          <a:xfrm>
            <a:off x="2315959" y="5949336"/>
            <a:ext cx="8010089" cy="719701"/>
          </a:xfrm>
        </p:spPr>
        <p:txBody>
          <a:bodyPr/>
          <a:lstStyle/>
          <a:p>
            <a:r>
              <a:rPr kumimoji="1" lang="ja-JP" altLang="en-US" dirty="0"/>
              <a:t>取り消しは最悪</a:t>
            </a:r>
            <a:r>
              <a:rPr lang="ja-JP" altLang="en-US" dirty="0"/>
              <a:t>数十命令以上に</a:t>
            </a:r>
            <a:endParaRPr lang="en-US" altLang="ja-JP" dirty="0"/>
          </a:p>
          <a:p>
            <a:pPr lvl="1"/>
            <a:r>
              <a:rPr kumimoji="1" lang="en-US" altLang="ja-JP" dirty="0"/>
              <a:t>IBM POWER8 </a:t>
            </a:r>
            <a:r>
              <a:rPr kumimoji="1" lang="ja-JP" altLang="en-US" dirty="0"/>
              <a:t>だと，</a:t>
            </a:r>
            <a:r>
              <a:rPr kumimoji="1" lang="en-US" altLang="ja-JP" dirty="0"/>
              <a:t>8</a:t>
            </a:r>
            <a:r>
              <a:rPr kumimoji="1" lang="ja-JP" altLang="en-US" dirty="0"/>
              <a:t>命令同時 </a:t>
            </a:r>
            <a:r>
              <a:rPr kumimoji="1" lang="en-US" altLang="ja-JP" dirty="0"/>
              <a:t>× 10</a:t>
            </a:r>
            <a:r>
              <a:rPr kumimoji="1" lang="ja-JP" altLang="en-US" dirty="0"/>
              <a:t>数段 </a:t>
            </a:r>
            <a:endParaRPr lang="ja-JP" altLang="en-US" dirty="0"/>
          </a:p>
        </p:txBody>
      </p:sp>
      <p:grpSp>
        <p:nvGrpSpPr>
          <p:cNvPr id="4" name="グループ化 3"/>
          <p:cNvGrpSpPr/>
          <p:nvPr/>
        </p:nvGrpSpPr>
        <p:grpSpPr>
          <a:xfrm>
            <a:off x="3125968" y="1574446"/>
            <a:ext cx="630007" cy="360000"/>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2" name="グループ化 291"/>
          <p:cNvGrpSpPr/>
          <p:nvPr/>
        </p:nvGrpSpPr>
        <p:grpSpPr>
          <a:xfrm>
            <a:off x="3665974" y="1574446"/>
            <a:ext cx="630007" cy="360000"/>
            <a:chOff x="971600" y="5445224"/>
            <a:chExt cx="7200800" cy="576064"/>
          </a:xfrm>
        </p:grpSpPr>
        <p:sp>
          <p:nvSpPr>
            <p:cNvPr id="293" name="平行四辺形 29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4" name="平行四辺形 29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5" name="グループ化 294"/>
          <p:cNvGrpSpPr/>
          <p:nvPr/>
        </p:nvGrpSpPr>
        <p:grpSpPr>
          <a:xfrm>
            <a:off x="4205980" y="1574446"/>
            <a:ext cx="630007" cy="360000"/>
            <a:chOff x="971600" y="5445224"/>
            <a:chExt cx="7200800" cy="576064"/>
          </a:xfrm>
        </p:grpSpPr>
        <p:sp>
          <p:nvSpPr>
            <p:cNvPr id="296" name="平行四辺形 2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7" name="平行四辺形 29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8" name="グループ化 297"/>
          <p:cNvGrpSpPr/>
          <p:nvPr/>
        </p:nvGrpSpPr>
        <p:grpSpPr>
          <a:xfrm>
            <a:off x="4745986" y="1574446"/>
            <a:ext cx="630007" cy="360000"/>
            <a:chOff x="971600" y="5445224"/>
            <a:chExt cx="7200800" cy="576064"/>
          </a:xfrm>
        </p:grpSpPr>
        <p:sp>
          <p:nvSpPr>
            <p:cNvPr id="299" name="平行四辺形 29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0" name="平行四辺形 29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1" name="グループ化 300"/>
          <p:cNvGrpSpPr/>
          <p:nvPr/>
        </p:nvGrpSpPr>
        <p:grpSpPr>
          <a:xfrm>
            <a:off x="5285992" y="1574446"/>
            <a:ext cx="630007" cy="360000"/>
            <a:chOff x="971600" y="5445224"/>
            <a:chExt cx="7200800" cy="576064"/>
          </a:xfrm>
        </p:grpSpPr>
        <p:sp>
          <p:nvSpPr>
            <p:cNvPr id="302" name="平行四辺形 30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3" name="平行四辺形 30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4" name="グループ化 303"/>
          <p:cNvGrpSpPr/>
          <p:nvPr/>
        </p:nvGrpSpPr>
        <p:grpSpPr>
          <a:xfrm>
            <a:off x="5825998" y="1574446"/>
            <a:ext cx="630007" cy="360000"/>
            <a:chOff x="971600" y="5445224"/>
            <a:chExt cx="7200800" cy="576064"/>
          </a:xfrm>
        </p:grpSpPr>
        <p:sp>
          <p:nvSpPr>
            <p:cNvPr id="305" name="平行四辺形 30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6" name="平行四辺形 30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7" name="グループ化 306"/>
          <p:cNvGrpSpPr/>
          <p:nvPr/>
        </p:nvGrpSpPr>
        <p:grpSpPr>
          <a:xfrm>
            <a:off x="6366004" y="1574446"/>
            <a:ext cx="630007" cy="360000"/>
            <a:chOff x="971600" y="5445224"/>
            <a:chExt cx="7200800" cy="576064"/>
          </a:xfrm>
        </p:grpSpPr>
        <p:sp>
          <p:nvSpPr>
            <p:cNvPr id="308" name="平行四辺形 30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9" name="平行四辺形 30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0" name="グループ化 309"/>
          <p:cNvGrpSpPr/>
          <p:nvPr/>
        </p:nvGrpSpPr>
        <p:grpSpPr>
          <a:xfrm>
            <a:off x="6906010" y="1574446"/>
            <a:ext cx="630007" cy="360000"/>
            <a:chOff x="971600" y="5445224"/>
            <a:chExt cx="7200800" cy="576064"/>
          </a:xfrm>
        </p:grpSpPr>
        <p:sp>
          <p:nvSpPr>
            <p:cNvPr id="311" name="平行四辺形 31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2" name="平行四辺形 31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3" name="グループ化 312"/>
          <p:cNvGrpSpPr/>
          <p:nvPr/>
        </p:nvGrpSpPr>
        <p:grpSpPr>
          <a:xfrm>
            <a:off x="7446016" y="1574446"/>
            <a:ext cx="630007" cy="360000"/>
            <a:chOff x="971600" y="5445224"/>
            <a:chExt cx="7200800" cy="576064"/>
          </a:xfrm>
        </p:grpSpPr>
        <p:sp>
          <p:nvSpPr>
            <p:cNvPr id="314" name="平行四辺形 31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5" name="平行四辺形 31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6" name="グループ化 315"/>
          <p:cNvGrpSpPr/>
          <p:nvPr/>
        </p:nvGrpSpPr>
        <p:grpSpPr>
          <a:xfrm>
            <a:off x="7986022" y="1574446"/>
            <a:ext cx="630007" cy="360000"/>
            <a:chOff x="971600" y="5445224"/>
            <a:chExt cx="7200800" cy="576064"/>
          </a:xfrm>
        </p:grpSpPr>
        <p:sp>
          <p:nvSpPr>
            <p:cNvPr id="317" name="平行四辺形 31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8" name="平行四辺形 31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19" name="グループ化 318"/>
          <p:cNvGrpSpPr/>
          <p:nvPr/>
        </p:nvGrpSpPr>
        <p:grpSpPr>
          <a:xfrm>
            <a:off x="8526028" y="1574446"/>
            <a:ext cx="630007" cy="360000"/>
            <a:chOff x="971600" y="5445224"/>
            <a:chExt cx="7200800" cy="576064"/>
          </a:xfrm>
        </p:grpSpPr>
        <p:sp>
          <p:nvSpPr>
            <p:cNvPr id="320" name="平行四辺形 31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1" name="平行四辺形 32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22" name="グループ化 321"/>
          <p:cNvGrpSpPr/>
          <p:nvPr/>
        </p:nvGrpSpPr>
        <p:grpSpPr>
          <a:xfrm>
            <a:off x="9066034" y="1574446"/>
            <a:ext cx="630007" cy="360000"/>
            <a:chOff x="971600" y="5445224"/>
            <a:chExt cx="7200800" cy="576064"/>
          </a:xfrm>
        </p:grpSpPr>
        <p:sp>
          <p:nvSpPr>
            <p:cNvPr id="323" name="平行四辺形 32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4" name="平行四辺形 32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1" name="グループ化 360"/>
          <p:cNvGrpSpPr/>
          <p:nvPr/>
        </p:nvGrpSpPr>
        <p:grpSpPr>
          <a:xfrm>
            <a:off x="3125968" y="2114452"/>
            <a:ext cx="630007" cy="360000"/>
            <a:chOff x="971600" y="5445224"/>
            <a:chExt cx="7200800" cy="576064"/>
          </a:xfrm>
        </p:grpSpPr>
        <p:sp>
          <p:nvSpPr>
            <p:cNvPr id="362" name="平行四辺形 36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3" name="平行四辺形 36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4" name="グループ化 363"/>
          <p:cNvGrpSpPr/>
          <p:nvPr/>
        </p:nvGrpSpPr>
        <p:grpSpPr>
          <a:xfrm>
            <a:off x="3665974" y="2114452"/>
            <a:ext cx="630007" cy="360000"/>
            <a:chOff x="971600" y="5445224"/>
            <a:chExt cx="7200800" cy="576064"/>
          </a:xfrm>
        </p:grpSpPr>
        <p:sp>
          <p:nvSpPr>
            <p:cNvPr id="365" name="平行四辺形 36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6" name="平行四辺形 36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7" name="グループ化 366"/>
          <p:cNvGrpSpPr/>
          <p:nvPr/>
        </p:nvGrpSpPr>
        <p:grpSpPr>
          <a:xfrm>
            <a:off x="4205980" y="2114452"/>
            <a:ext cx="630007" cy="360000"/>
            <a:chOff x="971600" y="5445224"/>
            <a:chExt cx="7200800" cy="576064"/>
          </a:xfrm>
        </p:grpSpPr>
        <p:sp>
          <p:nvSpPr>
            <p:cNvPr id="368" name="平行四辺形 36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69" name="平行四辺形 36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0" name="グループ化 369"/>
          <p:cNvGrpSpPr/>
          <p:nvPr/>
        </p:nvGrpSpPr>
        <p:grpSpPr>
          <a:xfrm>
            <a:off x="4745986" y="2114452"/>
            <a:ext cx="630007" cy="360000"/>
            <a:chOff x="971600" y="5445224"/>
            <a:chExt cx="7200800" cy="576064"/>
          </a:xfrm>
        </p:grpSpPr>
        <p:sp>
          <p:nvSpPr>
            <p:cNvPr id="371" name="平行四辺形 37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2" name="平行四辺形 37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3" name="グループ化 372"/>
          <p:cNvGrpSpPr/>
          <p:nvPr/>
        </p:nvGrpSpPr>
        <p:grpSpPr>
          <a:xfrm>
            <a:off x="5285992" y="2114452"/>
            <a:ext cx="630007" cy="360000"/>
            <a:chOff x="971600" y="5445224"/>
            <a:chExt cx="7200800" cy="576064"/>
          </a:xfrm>
        </p:grpSpPr>
        <p:sp>
          <p:nvSpPr>
            <p:cNvPr id="374" name="平行四辺形 37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5" name="平行四辺形 37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6" name="グループ化 375"/>
          <p:cNvGrpSpPr/>
          <p:nvPr/>
        </p:nvGrpSpPr>
        <p:grpSpPr>
          <a:xfrm>
            <a:off x="5825998" y="2114452"/>
            <a:ext cx="630007" cy="360000"/>
            <a:chOff x="971600" y="5445224"/>
            <a:chExt cx="7200800" cy="576064"/>
          </a:xfrm>
        </p:grpSpPr>
        <p:sp>
          <p:nvSpPr>
            <p:cNvPr id="377" name="平行四辺形 37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8" name="平行四辺形 37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9" name="グループ化 378"/>
          <p:cNvGrpSpPr/>
          <p:nvPr/>
        </p:nvGrpSpPr>
        <p:grpSpPr>
          <a:xfrm>
            <a:off x="6366004" y="2114452"/>
            <a:ext cx="630007" cy="360000"/>
            <a:chOff x="971600" y="5445224"/>
            <a:chExt cx="7200800" cy="576064"/>
          </a:xfrm>
        </p:grpSpPr>
        <p:sp>
          <p:nvSpPr>
            <p:cNvPr id="380" name="平行四辺形 37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1" name="平行四辺形 38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2" name="グループ化 381"/>
          <p:cNvGrpSpPr/>
          <p:nvPr/>
        </p:nvGrpSpPr>
        <p:grpSpPr>
          <a:xfrm>
            <a:off x="6906010" y="2114452"/>
            <a:ext cx="630007" cy="360000"/>
            <a:chOff x="971600" y="5445224"/>
            <a:chExt cx="7200800" cy="576064"/>
          </a:xfrm>
        </p:grpSpPr>
        <p:sp>
          <p:nvSpPr>
            <p:cNvPr id="383" name="平行四辺形 3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4" name="平行四辺形 38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5" name="グループ化 384"/>
          <p:cNvGrpSpPr/>
          <p:nvPr/>
        </p:nvGrpSpPr>
        <p:grpSpPr>
          <a:xfrm>
            <a:off x="7446016" y="2114452"/>
            <a:ext cx="630007" cy="360000"/>
            <a:chOff x="971600" y="5445224"/>
            <a:chExt cx="7200800" cy="576064"/>
          </a:xfrm>
        </p:grpSpPr>
        <p:sp>
          <p:nvSpPr>
            <p:cNvPr id="386" name="平行四辺形 38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87" name="平行四辺形 38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8" name="グループ化 387"/>
          <p:cNvGrpSpPr/>
          <p:nvPr/>
        </p:nvGrpSpPr>
        <p:grpSpPr>
          <a:xfrm>
            <a:off x="7986022" y="2114452"/>
            <a:ext cx="630007" cy="360000"/>
            <a:chOff x="971600" y="5445224"/>
            <a:chExt cx="7200800" cy="576064"/>
          </a:xfrm>
        </p:grpSpPr>
        <p:sp>
          <p:nvSpPr>
            <p:cNvPr id="389" name="平行四辺形 38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0" name="平行四辺形 38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1" name="グループ化 390"/>
          <p:cNvGrpSpPr/>
          <p:nvPr/>
        </p:nvGrpSpPr>
        <p:grpSpPr>
          <a:xfrm>
            <a:off x="8526028" y="2114452"/>
            <a:ext cx="630007" cy="360000"/>
            <a:chOff x="971600" y="5445224"/>
            <a:chExt cx="7200800" cy="576064"/>
          </a:xfrm>
        </p:grpSpPr>
        <p:sp>
          <p:nvSpPr>
            <p:cNvPr id="392" name="平行四辺形 39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3" name="平行四辺形 39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4" name="グループ化 393"/>
          <p:cNvGrpSpPr/>
          <p:nvPr/>
        </p:nvGrpSpPr>
        <p:grpSpPr>
          <a:xfrm>
            <a:off x="9066034" y="2114452"/>
            <a:ext cx="630007" cy="360000"/>
            <a:chOff x="971600" y="5445224"/>
            <a:chExt cx="7200800" cy="576064"/>
          </a:xfrm>
        </p:grpSpPr>
        <p:sp>
          <p:nvSpPr>
            <p:cNvPr id="395" name="平行四辺形 39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6" name="平行四辺形 39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97" name="グループ化 396"/>
          <p:cNvGrpSpPr/>
          <p:nvPr/>
        </p:nvGrpSpPr>
        <p:grpSpPr>
          <a:xfrm>
            <a:off x="3125968" y="2654458"/>
            <a:ext cx="630007" cy="360000"/>
            <a:chOff x="971600" y="5445224"/>
            <a:chExt cx="7200800" cy="576064"/>
          </a:xfrm>
        </p:grpSpPr>
        <p:sp>
          <p:nvSpPr>
            <p:cNvPr id="398" name="平行四辺形 39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9" name="平行四辺形 39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0" name="グループ化 399"/>
          <p:cNvGrpSpPr/>
          <p:nvPr/>
        </p:nvGrpSpPr>
        <p:grpSpPr>
          <a:xfrm>
            <a:off x="3665974" y="2654458"/>
            <a:ext cx="630007" cy="360000"/>
            <a:chOff x="971600" y="5445224"/>
            <a:chExt cx="7200800" cy="576064"/>
          </a:xfrm>
        </p:grpSpPr>
        <p:sp>
          <p:nvSpPr>
            <p:cNvPr id="401" name="平行四辺形 4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2" name="平行四辺形 40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3" name="グループ化 402"/>
          <p:cNvGrpSpPr/>
          <p:nvPr/>
        </p:nvGrpSpPr>
        <p:grpSpPr>
          <a:xfrm>
            <a:off x="4205980" y="2654458"/>
            <a:ext cx="630007" cy="360000"/>
            <a:chOff x="971600" y="5445224"/>
            <a:chExt cx="7200800" cy="576064"/>
          </a:xfrm>
        </p:grpSpPr>
        <p:sp>
          <p:nvSpPr>
            <p:cNvPr id="404" name="平行四辺形 4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5" name="平行四辺形 40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6" name="グループ化 405"/>
          <p:cNvGrpSpPr/>
          <p:nvPr/>
        </p:nvGrpSpPr>
        <p:grpSpPr>
          <a:xfrm>
            <a:off x="4745986" y="2654458"/>
            <a:ext cx="630007" cy="360000"/>
            <a:chOff x="971600" y="5445224"/>
            <a:chExt cx="7200800" cy="576064"/>
          </a:xfrm>
        </p:grpSpPr>
        <p:sp>
          <p:nvSpPr>
            <p:cNvPr id="407" name="平行四辺形 40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08" name="平行四辺形 40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09" name="グループ化 408"/>
          <p:cNvGrpSpPr/>
          <p:nvPr/>
        </p:nvGrpSpPr>
        <p:grpSpPr>
          <a:xfrm>
            <a:off x="5285992" y="2654458"/>
            <a:ext cx="630007" cy="360000"/>
            <a:chOff x="971600" y="5445224"/>
            <a:chExt cx="7200800" cy="576064"/>
          </a:xfrm>
        </p:grpSpPr>
        <p:sp>
          <p:nvSpPr>
            <p:cNvPr id="410" name="平行四辺形 40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1" name="平行四辺形 41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2" name="グループ化 411"/>
          <p:cNvGrpSpPr/>
          <p:nvPr/>
        </p:nvGrpSpPr>
        <p:grpSpPr>
          <a:xfrm>
            <a:off x="5825998" y="2654458"/>
            <a:ext cx="630007" cy="360000"/>
            <a:chOff x="971600" y="5445224"/>
            <a:chExt cx="7200800" cy="576064"/>
          </a:xfrm>
        </p:grpSpPr>
        <p:sp>
          <p:nvSpPr>
            <p:cNvPr id="413" name="平行四辺形 41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4" name="平行四辺形 41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5" name="グループ化 414"/>
          <p:cNvGrpSpPr/>
          <p:nvPr/>
        </p:nvGrpSpPr>
        <p:grpSpPr>
          <a:xfrm>
            <a:off x="6366004" y="2654458"/>
            <a:ext cx="630007" cy="360000"/>
            <a:chOff x="971600" y="5445224"/>
            <a:chExt cx="7200800" cy="576064"/>
          </a:xfrm>
        </p:grpSpPr>
        <p:sp>
          <p:nvSpPr>
            <p:cNvPr id="416" name="平行四辺形 41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7" name="平行四辺形 41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18" name="グループ化 417"/>
          <p:cNvGrpSpPr/>
          <p:nvPr/>
        </p:nvGrpSpPr>
        <p:grpSpPr>
          <a:xfrm>
            <a:off x="6906010" y="2654458"/>
            <a:ext cx="630007" cy="360000"/>
            <a:chOff x="971600" y="5445224"/>
            <a:chExt cx="7200800" cy="576064"/>
          </a:xfrm>
        </p:grpSpPr>
        <p:sp>
          <p:nvSpPr>
            <p:cNvPr id="419" name="平行四辺形 41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0" name="平行四辺形 41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1" name="グループ化 420"/>
          <p:cNvGrpSpPr/>
          <p:nvPr/>
        </p:nvGrpSpPr>
        <p:grpSpPr>
          <a:xfrm>
            <a:off x="7446016" y="2654458"/>
            <a:ext cx="630007" cy="360000"/>
            <a:chOff x="971600" y="5445224"/>
            <a:chExt cx="7200800" cy="576064"/>
          </a:xfrm>
        </p:grpSpPr>
        <p:sp>
          <p:nvSpPr>
            <p:cNvPr id="422" name="平行四辺形 42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3" name="平行四辺形 42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4" name="グループ化 423"/>
          <p:cNvGrpSpPr/>
          <p:nvPr/>
        </p:nvGrpSpPr>
        <p:grpSpPr>
          <a:xfrm>
            <a:off x="7986022" y="2654458"/>
            <a:ext cx="630007" cy="360000"/>
            <a:chOff x="971600" y="5445224"/>
            <a:chExt cx="7200800" cy="576064"/>
          </a:xfrm>
        </p:grpSpPr>
        <p:sp>
          <p:nvSpPr>
            <p:cNvPr id="425" name="平行四辺形 42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6" name="平行四辺形 42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27" name="グループ化 426"/>
          <p:cNvGrpSpPr/>
          <p:nvPr/>
        </p:nvGrpSpPr>
        <p:grpSpPr>
          <a:xfrm>
            <a:off x="8526028" y="2654458"/>
            <a:ext cx="630007" cy="360000"/>
            <a:chOff x="971600" y="5445224"/>
            <a:chExt cx="7200800" cy="576064"/>
          </a:xfrm>
        </p:grpSpPr>
        <p:sp>
          <p:nvSpPr>
            <p:cNvPr id="428" name="平行四辺形 42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29" name="平行四辺形 42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0" name="グループ化 429"/>
          <p:cNvGrpSpPr/>
          <p:nvPr/>
        </p:nvGrpSpPr>
        <p:grpSpPr>
          <a:xfrm>
            <a:off x="9066034" y="2654458"/>
            <a:ext cx="630007" cy="360000"/>
            <a:chOff x="971600" y="5445224"/>
            <a:chExt cx="7200800" cy="576064"/>
          </a:xfrm>
        </p:grpSpPr>
        <p:sp>
          <p:nvSpPr>
            <p:cNvPr id="431" name="平行四辺形 43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2" name="平行四辺形 43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3" name="グループ化 432"/>
          <p:cNvGrpSpPr/>
          <p:nvPr/>
        </p:nvGrpSpPr>
        <p:grpSpPr>
          <a:xfrm>
            <a:off x="3125968" y="3194464"/>
            <a:ext cx="630007" cy="360000"/>
            <a:chOff x="971600" y="5445224"/>
            <a:chExt cx="7200800" cy="576064"/>
          </a:xfrm>
        </p:grpSpPr>
        <p:sp>
          <p:nvSpPr>
            <p:cNvPr id="434" name="平行四辺形 43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5" name="平行四辺形 43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6" name="グループ化 435"/>
          <p:cNvGrpSpPr/>
          <p:nvPr/>
        </p:nvGrpSpPr>
        <p:grpSpPr>
          <a:xfrm>
            <a:off x="3665974" y="3194464"/>
            <a:ext cx="630007" cy="360000"/>
            <a:chOff x="971600" y="5445224"/>
            <a:chExt cx="7200800" cy="576064"/>
          </a:xfrm>
        </p:grpSpPr>
        <p:sp>
          <p:nvSpPr>
            <p:cNvPr id="437" name="平行四辺形 43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8" name="平行四辺形 43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39" name="グループ化 438"/>
          <p:cNvGrpSpPr/>
          <p:nvPr/>
        </p:nvGrpSpPr>
        <p:grpSpPr>
          <a:xfrm>
            <a:off x="4205980" y="3194464"/>
            <a:ext cx="630007" cy="360000"/>
            <a:chOff x="971600" y="5445224"/>
            <a:chExt cx="7200800" cy="576064"/>
          </a:xfrm>
        </p:grpSpPr>
        <p:sp>
          <p:nvSpPr>
            <p:cNvPr id="440" name="平行四辺形 43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1" name="平行四辺形 44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2" name="グループ化 441"/>
          <p:cNvGrpSpPr/>
          <p:nvPr/>
        </p:nvGrpSpPr>
        <p:grpSpPr>
          <a:xfrm>
            <a:off x="4745986" y="3194464"/>
            <a:ext cx="630007" cy="360000"/>
            <a:chOff x="971600" y="5445224"/>
            <a:chExt cx="7200800" cy="576064"/>
          </a:xfrm>
        </p:grpSpPr>
        <p:sp>
          <p:nvSpPr>
            <p:cNvPr id="443" name="平行四辺形 44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4" name="平行四辺形 44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5" name="グループ化 444"/>
          <p:cNvGrpSpPr/>
          <p:nvPr/>
        </p:nvGrpSpPr>
        <p:grpSpPr>
          <a:xfrm>
            <a:off x="5285992" y="3194464"/>
            <a:ext cx="630007" cy="360000"/>
            <a:chOff x="971600" y="5445224"/>
            <a:chExt cx="7200800" cy="576064"/>
          </a:xfrm>
        </p:grpSpPr>
        <p:sp>
          <p:nvSpPr>
            <p:cNvPr id="446" name="平行四辺形 44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47" name="平行四辺形 44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48" name="グループ化 447"/>
          <p:cNvGrpSpPr/>
          <p:nvPr/>
        </p:nvGrpSpPr>
        <p:grpSpPr>
          <a:xfrm>
            <a:off x="5825998" y="3194464"/>
            <a:ext cx="630007" cy="360000"/>
            <a:chOff x="971600" y="5445224"/>
            <a:chExt cx="7200800" cy="576064"/>
          </a:xfrm>
        </p:grpSpPr>
        <p:sp>
          <p:nvSpPr>
            <p:cNvPr id="449" name="平行四辺形 44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0" name="平行四辺形 44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1" name="グループ化 450"/>
          <p:cNvGrpSpPr/>
          <p:nvPr/>
        </p:nvGrpSpPr>
        <p:grpSpPr>
          <a:xfrm>
            <a:off x="6366004" y="3194464"/>
            <a:ext cx="630007" cy="360000"/>
            <a:chOff x="971600" y="5445224"/>
            <a:chExt cx="7200800" cy="576064"/>
          </a:xfrm>
        </p:grpSpPr>
        <p:sp>
          <p:nvSpPr>
            <p:cNvPr id="452" name="平行四辺形 45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3" name="平行四辺形 45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4" name="グループ化 453"/>
          <p:cNvGrpSpPr/>
          <p:nvPr/>
        </p:nvGrpSpPr>
        <p:grpSpPr>
          <a:xfrm>
            <a:off x="6906010" y="3194464"/>
            <a:ext cx="630007" cy="360000"/>
            <a:chOff x="971600" y="5445224"/>
            <a:chExt cx="7200800" cy="576064"/>
          </a:xfrm>
        </p:grpSpPr>
        <p:sp>
          <p:nvSpPr>
            <p:cNvPr id="455" name="平行四辺形 45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6" name="平行四辺形 45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57" name="グループ化 456"/>
          <p:cNvGrpSpPr/>
          <p:nvPr/>
        </p:nvGrpSpPr>
        <p:grpSpPr>
          <a:xfrm>
            <a:off x="7446016" y="3194464"/>
            <a:ext cx="630007" cy="360000"/>
            <a:chOff x="971600" y="5445224"/>
            <a:chExt cx="7200800" cy="576064"/>
          </a:xfrm>
        </p:grpSpPr>
        <p:sp>
          <p:nvSpPr>
            <p:cNvPr id="458" name="平行四辺形 45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9" name="平行四辺形 45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0" name="グループ化 459"/>
          <p:cNvGrpSpPr/>
          <p:nvPr/>
        </p:nvGrpSpPr>
        <p:grpSpPr>
          <a:xfrm>
            <a:off x="7986022" y="3194464"/>
            <a:ext cx="630007" cy="360000"/>
            <a:chOff x="971600" y="5445224"/>
            <a:chExt cx="7200800" cy="576064"/>
          </a:xfrm>
        </p:grpSpPr>
        <p:sp>
          <p:nvSpPr>
            <p:cNvPr id="461" name="平行四辺形 46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2" name="平行四辺形 46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3" name="グループ化 462"/>
          <p:cNvGrpSpPr/>
          <p:nvPr/>
        </p:nvGrpSpPr>
        <p:grpSpPr>
          <a:xfrm>
            <a:off x="8526028" y="3194464"/>
            <a:ext cx="630007" cy="360000"/>
            <a:chOff x="971600" y="5445224"/>
            <a:chExt cx="7200800" cy="576064"/>
          </a:xfrm>
        </p:grpSpPr>
        <p:sp>
          <p:nvSpPr>
            <p:cNvPr id="464" name="平行四辺形 46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5" name="平行四辺形 46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6" name="グループ化 465"/>
          <p:cNvGrpSpPr/>
          <p:nvPr/>
        </p:nvGrpSpPr>
        <p:grpSpPr>
          <a:xfrm>
            <a:off x="9066034" y="3194464"/>
            <a:ext cx="630007" cy="360000"/>
            <a:chOff x="971600" y="5445224"/>
            <a:chExt cx="7200800" cy="576064"/>
          </a:xfrm>
        </p:grpSpPr>
        <p:sp>
          <p:nvSpPr>
            <p:cNvPr id="467" name="平行四辺形 46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68" name="平行四辺形 46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69" name="グループ化 468"/>
          <p:cNvGrpSpPr/>
          <p:nvPr/>
        </p:nvGrpSpPr>
        <p:grpSpPr>
          <a:xfrm>
            <a:off x="3125968" y="3699007"/>
            <a:ext cx="630007" cy="360000"/>
            <a:chOff x="971600" y="5445224"/>
            <a:chExt cx="7200800" cy="576064"/>
          </a:xfrm>
        </p:grpSpPr>
        <p:sp>
          <p:nvSpPr>
            <p:cNvPr id="470" name="平行四辺形 46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1" name="平行四辺形 47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2" name="グループ化 471"/>
          <p:cNvGrpSpPr/>
          <p:nvPr/>
        </p:nvGrpSpPr>
        <p:grpSpPr>
          <a:xfrm>
            <a:off x="3665974" y="3699007"/>
            <a:ext cx="630007" cy="360000"/>
            <a:chOff x="971600" y="5445224"/>
            <a:chExt cx="7200800" cy="576064"/>
          </a:xfrm>
        </p:grpSpPr>
        <p:sp>
          <p:nvSpPr>
            <p:cNvPr id="473" name="平行四辺形 47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4" name="平行四辺形 47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5" name="グループ化 474"/>
          <p:cNvGrpSpPr/>
          <p:nvPr/>
        </p:nvGrpSpPr>
        <p:grpSpPr>
          <a:xfrm>
            <a:off x="4205980" y="3699007"/>
            <a:ext cx="630007" cy="360000"/>
            <a:chOff x="971600" y="5445224"/>
            <a:chExt cx="7200800" cy="576064"/>
          </a:xfrm>
        </p:grpSpPr>
        <p:sp>
          <p:nvSpPr>
            <p:cNvPr id="476" name="平行四辺形 47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77" name="平行四辺形 47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78" name="グループ化 477"/>
          <p:cNvGrpSpPr/>
          <p:nvPr/>
        </p:nvGrpSpPr>
        <p:grpSpPr>
          <a:xfrm>
            <a:off x="4745986" y="3699007"/>
            <a:ext cx="630007" cy="360000"/>
            <a:chOff x="971600" y="5445224"/>
            <a:chExt cx="7200800" cy="576064"/>
          </a:xfrm>
        </p:grpSpPr>
        <p:sp>
          <p:nvSpPr>
            <p:cNvPr id="479" name="平行四辺形 47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0" name="平行四辺形 47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1" name="グループ化 480"/>
          <p:cNvGrpSpPr/>
          <p:nvPr/>
        </p:nvGrpSpPr>
        <p:grpSpPr>
          <a:xfrm>
            <a:off x="5285992" y="3699007"/>
            <a:ext cx="630007" cy="360000"/>
            <a:chOff x="971600" y="5445224"/>
            <a:chExt cx="7200800" cy="576064"/>
          </a:xfrm>
        </p:grpSpPr>
        <p:sp>
          <p:nvSpPr>
            <p:cNvPr id="482" name="平行四辺形 48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3" name="平行四辺形 48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4" name="グループ化 483"/>
          <p:cNvGrpSpPr/>
          <p:nvPr/>
        </p:nvGrpSpPr>
        <p:grpSpPr>
          <a:xfrm>
            <a:off x="5825998" y="3699007"/>
            <a:ext cx="630007" cy="360000"/>
            <a:chOff x="971600" y="5445224"/>
            <a:chExt cx="7200800" cy="576064"/>
          </a:xfrm>
        </p:grpSpPr>
        <p:sp>
          <p:nvSpPr>
            <p:cNvPr id="485" name="平行四辺形 48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6" name="平行四辺形 48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7" name="グループ化 486"/>
          <p:cNvGrpSpPr/>
          <p:nvPr/>
        </p:nvGrpSpPr>
        <p:grpSpPr>
          <a:xfrm>
            <a:off x="6366004" y="3699007"/>
            <a:ext cx="630007" cy="360000"/>
            <a:chOff x="971600" y="5445224"/>
            <a:chExt cx="7200800" cy="576064"/>
          </a:xfrm>
        </p:grpSpPr>
        <p:sp>
          <p:nvSpPr>
            <p:cNvPr id="488" name="平行四辺形 48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89" name="平行四辺形 48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0" name="グループ化 489"/>
          <p:cNvGrpSpPr/>
          <p:nvPr/>
        </p:nvGrpSpPr>
        <p:grpSpPr>
          <a:xfrm>
            <a:off x="6906010" y="3699007"/>
            <a:ext cx="630007" cy="360000"/>
            <a:chOff x="971600" y="5445224"/>
            <a:chExt cx="7200800" cy="576064"/>
          </a:xfrm>
        </p:grpSpPr>
        <p:sp>
          <p:nvSpPr>
            <p:cNvPr id="491" name="平行四辺形 49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2" name="平行四辺形 49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3" name="グループ化 492"/>
          <p:cNvGrpSpPr/>
          <p:nvPr/>
        </p:nvGrpSpPr>
        <p:grpSpPr>
          <a:xfrm>
            <a:off x="7446016" y="3699007"/>
            <a:ext cx="630007" cy="360000"/>
            <a:chOff x="971600" y="5445224"/>
            <a:chExt cx="7200800" cy="576064"/>
          </a:xfrm>
        </p:grpSpPr>
        <p:sp>
          <p:nvSpPr>
            <p:cNvPr id="494" name="平行四辺形 49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5" name="平行四辺形 49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6" name="グループ化 495"/>
          <p:cNvGrpSpPr/>
          <p:nvPr/>
        </p:nvGrpSpPr>
        <p:grpSpPr>
          <a:xfrm>
            <a:off x="7986022" y="3699007"/>
            <a:ext cx="630007" cy="360000"/>
            <a:chOff x="971600" y="5445224"/>
            <a:chExt cx="7200800" cy="576064"/>
          </a:xfrm>
        </p:grpSpPr>
        <p:sp>
          <p:nvSpPr>
            <p:cNvPr id="497" name="平行四辺形 49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98" name="平行四辺形 49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9" name="グループ化 498"/>
          <p:cNvGrpSpPr/>
          <p:nvPr/>
        </p:nvGrpSpPr>
        <p:grpSpPr>
          <a:xfrm>
            <a:off x="8526028" y="3699007"/>
            <a:ext cx="630007" cy="360000"/>
            <a:chOff x="971600" y="5445224"/>
            <a:chExt cx="7200800" cy="576064"/>
          </a:xfrm>
        </p:grpSpPr>
        <p:sp>
          <p:nvSpPr>
            <p:cNvPr id="500" name="平行四辺形 49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1" name="平行四辺形 50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2" name="グループ化 501"/>
          <p:cNvGrpSpPr/>
          <p:nvPr/>
        </p:nvGrpSpPr>
        <p:grpSpPr>
          <a:xfrm>
            <a:off x="9066034" y="3699007"/>
            <a:ext cx="630007" cy="360000"/>
            <a:chOff x="971600" y="5445224"/>
            <a:chExt cx="7200800" cy="576064"/>
          </a:xfrm>
        </p:grpSpPr>
        <p:sp>
          <p:nvSpPr>
            <p:cNvPr id="503" name="平行四辺形 50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4" name="平行四辺形 50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5" name="グループ化 504"/>
          <p:cNvGrpSpPr/>
          <p:nvPr/>
        </p:nvGrpSpPr>
        <p:grpSpPr>
          <a:xfrm>
            <a:off x="3125968" y="4239013"/>
            <a:ext cx="630007" cy="360000"/>
            <a:chOff x="971600" y="5445224"/>
            <a:chExt cx="7200800" cy="576064"/>
          </a:xfrm>
        </p:grpSpPr>
        <p:sp>
          <p:nvSpPr>
            <p:cNvPr id="506" name="平行四辺形 50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07" name="平行四辺形 50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8" name="グループ化 507"/>
          <p:cNvGrpSpPr/>
          <p:nvPr/>
        </p:nvGrpSpPr>
        <p:grpSpPr>
          <a:xfrm>
            <a:off x="3665974" y="4239013"/>
            <a:ext cx="630007" cy="360000"/>
            <a:chOff x="971600" y="5445224"/>
            <a:chExt cx="7200800" cy="576064"/>
          </a:xfrm>
        </p:grpSpPr>
        <p:sp>
          <p:nvSpPr>
            <p:cNvPr id="509" name="平行四辺形 5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0" name="平行四辺形 50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1" name="グループ化 510"/>
          <p:cNvGrpSpPr/>
          <p:nvPr/>
        </p:nvGrpSpPr>
        <p:grpSpPr>
          <a:xfrm>
            <a:off x="4205980" y="4239013"/>
            <a:ext cx="630007" cy="360000"/>
            <a:chOff x="971600" y="5445224"/>
            <a:chExt cx="7200800" cy="576064"/>
          </a:xfrm>
        </p:grpSpPr>
        <p:sp>
          <p:nvSpPr>
            <p:cNvPr id="512" name="平行四辺形 51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3" name="平行四辺形 51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4" name="グループ化 513"/>
          <p:cNvGrpSpPr/>
          <p:nvPr/>
        </p:nvGrpSpPr>
        <p:grpSpPr>
          <a:xfrm>
            <a:off x="4745986" y="4239013"/>
            <a:ext cx="630007" cy="360000"/>
            <a:chOff x="971600" y="5445224"/>
            <a:chExt cx="7200800" cy="576064"/>
          </a:xfrm>
        </p:grpSpPr>
        <p:sp>
          <p:nvSpPr>
            <p:cNvPr id="515" name="平行四辺形 51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6" name="平行四辺形 51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17" name="グループ化 516"/>
          <p:cNvGrpSpPr/>
          <p:nvPr/>
        </p:nvGrpSpPr>
        <p:grpSpPr>
          <a:xfrm>
            <a:off x="5285992" y="4239013"/>
            <a:ext cx="630007" cy="360000"/>
            <a:chOff x="971600" y="5445224"/>
            <a:chExt cx="7200800" cy="576064"/>
          </a:xfrm>
        </p:grpSpPr>
        <p:sp>
          <p:nvSpPr>
            <p:cNvPr id="518" name="平行四辺形 51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9" name="平行四辺形 51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0" name="グループ化 519"/>
          <p:cNvGrpSpPr/>
          <p:nvPr/>
        </p:nvGrpSpPr>
        <p:grpSpPr>
          <a:xfrm>
            <a:off x="5825998" y="4239013"/>
            <a:ext cx="630007" cy="360000"/>
            <a:chOff x="971600" y="5445224"/>
            <a:chExt cx="7200800" cy="576064"/>
          </a:xfrm>
        </p:grpSpPr>
        <p:sp>
          <p:nvSpPr>
            <p:cNvPr id="521" name="平行四辺形 5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2" name="平行四辺形 5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3" name="グループ化 522"/>
          <p:cNvGrpSpPr/>
          <p:nvPr/>
        </p:nvGrpSpPr>
        <p:grpSpPr>
          <a:xfrm>
            <a:off x="6366004" y="4239013"/>
            <a:ext cx="630007" cy="360000"/>
            <a:chOff x="971600" y="5445224"/>
            <a:chExt cx="7200800" cy="576064"/>
          </a:xfrm>
        </p:grpSpPr>
        <p:sp>
          <p:nvSpPr>
            <p:cNvPr id="524" name="平行四辺形 52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5" name="平行四辺形 52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6" name="グループ化 525"/>
          <p:cNvGrpSpPr/>
          <p:nvPr/>
        </p:nvGrpSpPr>
        <p:grpSpPr>
          <a:xfrm>
            <a:off x="6906010" y="4239013"/>
            <a:ext cx="630007" cy="360000"/>
            <a:chOff x="971600" y="5445224"/>
            <a:chExt cx="7200800" cy="576064"/>
          </a:xfrm>
        </p:grpSpPr>
        <p:sp>
          <p:nvSpPr>
            <p:cNvPr id="527" name="平行四辺形 52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8" name="平行四辺形 52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9" name="グループ化 528"/>
          <p:cNvGrpSpPr/>
          <p:nvPr/>
        </p:nvGrpSpPr>
        <p:grpSpPr>
          <a:xfrm>
            <a:off x="7446016" y="4239013"/>
            <a:ext cx="630007" cy="360000"/>
            <a:chOff x="971600" y="5445224"/>
            <a:chExt cx="7200800" cy="576064"/>
          </a:xfrm>
        </p:grpSpPr>
        <p:sp>
          <p:nvSpPr>
            <p:cNvPr id="530" name="平行四辺形 52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1" name="平行四辺形 53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2" name="グループ化 531"/>
          <p:cNvGrpSpPr/>
          <p:nvPr/>
        </p:nvGrpSpPr>
        <p:grpSpPr>
          <a:xfrm>
            <a:off x="7986022" y="4239013"/>
            <a:ext cx="630007" cy="360000"/>
            <a:chOff x="971600" y="5445224"/>
            <a:chExt cx="7200800" cy="576064"/>
          </a:xfrm>
        </p:grpSpPr>
        <p:sp>
          <p:nvSpPr>
            <p:cNvPr id="533" name="平行四辺形 53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4" name="平行四辺形 53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5" name="グループ化 534"/>
          <p:cNvGrpSpPr/>
          <p:nvPr/>
        </p:nvGrpSpPr>
        <p:grpSpPr>
          <a:xfrm>
            <a:off x="8526028" y="4239013"/>
            <a:ext cx="630007" cy="360000"/>
            <a:chOff x="971600" y="5445224"/>
            <a:chExt cx="7200800" cy="576064"/>
          </a:xfrm>
        </p:grpSpPr>
        <p:sp>
          <p:nvSpPr>
            <p:cNvPr id="536" name="平行四辺形 53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37" name="平行四辺形 5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38" name="グループ化 537"/>
          <p:cNvGrpSpPr/>
          <p:nvPr/>
        </p:nvGrpSpPr>
        <p:grpSpPr>
          <a:xfrm>
            <a:off x="9066034" y="4239013"/>
            <a:ext cx="630007" cy="360000"/>
            <a:chOff x="971600" y="5445224"/>
            <a:chExt cx="7200800" cy="576064"/>
          </a:xfrm>
        </p:grpSpPr>
        <p:sp>
          <p:nvSpPr>
            <p:cNvPr id="539" name="平行四辺形 53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0" name="平行四辺形 53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1" name="グループ化 540"/>
          <p:cNvGrpSpPr/>
          <p:nvPr/>
        </p:nvGrpSpPr>
        <p:grpSpPr>
          <a:xfrm>
            <a:off x="3125968" y="4779019"/>
            <a:ext cx="630007" cy="360000"/>
            <a:chOff x="971600" y="5445224"/>
            <a:chExt cx="7200800" cy="576064"/>
          </a:xfrm>
        </p:grpSpPr>
        <p:sp>
          <p:nvSpPr>
            <p:cNvPr id="542" name="平行四辺形 54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3" name="平行四辺形 54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4" name="グループ化 543"/>
          <p:cNvGrpSpPr/>
          <p:nvPr/>
        </p:nvGrpSpPr>
        <p:grpSpPr>
          <a:xfrm>
            <a:off x="3665974" y="4779019"/>
            <a:ext cx="630007" cy="360000"/>
            <a:chOff x="971600" y="5445224"/>
            <a:chExt cx="7200800" cy="576064"/>
          </a:xfrm>
        </p:grpSpPr>
        <p:sp>
          <p:nvSpPr>
            <p:cNvPr id="545" name="平行四辺形 54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6" name="平行四辺形 54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47" name="グループ化 546"/>
          <p:cNvGrpSpPr/>
          <p:nvPr/>
        </p:nvGrpSpPr>
        <p:grpSpPr>
          <a:xfrm>
            <a:off x="4205980" y="4779019"/>
            <a:ext cx="630007" cy="360000"/>
            <a:chOff x="971600" y="5445224"/>
            <a:chExt cx="7200800" cy="576064"/>
          </a:xfrm>
        </p:grpSpPr>
        <p:sp>
          <p:nvSpPr>
            <p:cNvPr id="548" name="平行四辺形 54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9" name="平行四辺形 54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0" name="グループ化 549"/>
          <p:cNvGrpSpPr/>
          <p:nvPr/>
        </p:nvGrpSpPr>
        <p:grpSpPr>
          <a:xfrm>
            <a:off x="4745986" y="4779019"/>
            <a:ext cx="630007" cy="360000"/>
            <a:chOff x="971600" y="5445224"/>
            <a:chExt cx="7200800" cy="576064"/>
          </a:xfrm>
        </p:grpSpPr>
        <p:sp>
          <p:nvSpPr>
            <p:cNvPr id="551" name="平行四辺形 55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2" name="平行四辺形 55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3" name="グループ化 552"/>
          <p:cNvGrpSpPr/>
          <p:nvPr/>
        </p:nvGrpSpPr>
        <p:grpSpPr>
          <a:xfrm>
            <a:off x="5285992" y="4779019"/>
            <a:ext cx="630007" cy="360000"/>
            <a:chOff x="971600" y="5445224"/>
            <a:chExt cx="7200800" cy="576064"/>
          </a:xfrm>
        </p:grpSpPr>
        <p:sp>
          <p:nvSpPr>
            <p:cNvPr id="554" name="平行四辺形 55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5" name="平行四辺形 55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6" name="グループ化 555"/>
          <p:cNvGrpSpPr/>
          <p:nvPr/>
        </p:nvGrpSpPr>
        <p:grpSpPr>
          <a:xfrm>
            <a:off x="5825998" y="4779019"/>
            <a:ext cx="630007" cy="360000"/>
            <a:chOff x="971600" y="5445224"/>
            <a:chExt cx="7200800" cy="576064"/>
          </a:xfrm>
        </p:grpSpPr>
        <p:sp>
          <p:nvSpPr>
            <p:cNvPr id="557" name="平行四辺形 55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58" name="平行四辺形 55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59" name="グループ化 558"/>
          <p:cNvGrpSpPr/>
          <p:nvPr/>
        </p:nvGrpSpPr>
        <p:grpSpPr>
          <a:xfrm>
            <a:off x="6366004" y="4779019"/>
            <a:ext cx="630007" cy="360000"/>
            <a:chOff x="971600" y="5445224"/>
            <a:chExt cx="7200800" cy="576064"/>
          </a:xfrm>
        </p:grpSpPr>
        <p:sp>
          <p:nvSpPr>
            <p:cNvPr id="560" name="平行四辺形 55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1" name="平行四辺形 56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2" name="グループ化 561"/>
          <p:cNvGrpSpPr/>
          <p:nvPr/>
        </p:nvGrpSpPr>
        <p:grpSpPr>
          <a:xfrm>
            <a:off x="6906010" y="4779019"/>
            <a:ext cx="630007" cy="360000"/>
            <a:chOff x="971600" y="5445224"/>
            <a:chExt cx="7200800" cy="576064"/>
          </a:xfrm>
        </p:grpSpPr>
        <p:sp>
          <p:nvSpPr>
            <p:cNvPr id="563" name="平行四辺形 56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4" name="平行四辺形 56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5" name="グループ化 564"/>
          <p:cNvGrpSpPr/>
          <p:nvPr/>
        </p:nvGrpSpPr>
        <p:grpSpPr>
          <a:xfrm>
            <a:off x="7446016" y="4779019"/>
            <a:ext cx="630007" cy="360000"/>
            <a:chOff x="971600" y="5445224"/>
            <a:chExt cx="7200800" cy="576064"/>
          </a:xfrm>
        </p:grpSpPr>
        <p:sp>
          <p:nvSpPr>
            <p:cNvPr id="566" name="平行四辺形 56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7" name="平行四辺形 56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8" name="グループ化 567"/>
          <p:cNvGrpSpPr/>
          <p:nvPr/>
        </p:nvGrpSpPr>
        <p:grpSpPr>
          <a:xfrm>
            <a:off x="7986022" y="4779019"/>
            <a:ext cx="630007" cy="360000"/>
            <a:chOff x="971600" y="5445224"/>
            <a:chExt cx="7200800" cy="576064"/>
          </a:xfrm>
        </p:grpSpPr>
        <p:sp>
          <p:nvSpPr>
            <p:cNvPr id="569" name="平行四辺形 56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0" name="平行四辺形 56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1" name="グループ化 570"/>
          <p:cNvGrpSpPr/>
          <p:nvPr/>
        </p:nvGrpSpPr>
        <p:grpSpPr>
          <a:xfrm>
            <a:off x="8526028" y="4779019"/>
            <a:ext cx="630007" cy="360000"/>
            <a:chOff x="971600" y="5445224"/>
            <a:chExt cx="7200800" cy="576064"/>
          </a:xfrm>
        </p:grpSpPr>
        <p:sp>
          <p:nvSpPr>
            <p:cNvPr id="572" name="平行四辺形 57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3" name="平行四辺形 57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4" name="グループ化 573"/>
          <p:cNvGrpSpPr/>
          <p:nvPr/>
        </p:nvGrpSpPr>
        <p:grpSpPr>
          <a:xfrm>
            <a:off x="9066034" y="4779019"/>
            <a:ext cx="630007" cy="360000"/>
            <a:chOff x="971600" y="5445224"/>
            <a:chExt cx="7200800" cy="576064"/>
          </a:xfrm>
        </p:grpSpPr>
        <p:sp>
          <p:nvSpPr>
            <p:cNvPr id="575" name="平行四辺形 57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6" name="平行四辺形 57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77" name="グループ化 576"/>
          <p:cNvGrpSpPr/>
          <p:nvPr/>
        </p:nvGrpSpPr>
        <p:grpSpPr>
          <a:xfrm>
            <a:off x="3125968" y="5319025"/>
            <a:ext cx="630007" cy="360000"/>
            <a:chOff x="971600" y="5445224"/>
            <a:chExt cx="7200800" cy="576064"/>
          </a:xfrm>
        </p:grpSpPr>
        <p:sp>
          <p:nvSpPr>
            <p:cNvPr id="578" name="平行四辺形 57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79" name="平行四辺形 57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0" name="グループ化 579"/>
          <p:cNvGrpSpPr/>
          <p:nvPr/>
        </p:nvGrpSpPr>
        <p:grpSpPr>
          <a:xfrm>
            <a:off x="3665974" y="5319025"/>
            <a:ext cx="630007" cy="360000"/>
            <a:chOff x="971600" y="5445224"/>
            <a:chExt cx="7200800" cy="576064"/>
          </a:xfrm>
        </p:grpSpPr>
        <p:sp>
          <p:nvSpPr>
            <p:cNvPr id="581" name="平行四辺形 58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2" name="平行四辺形 58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3" name="グループ化 582"/>
          <p:cNvGrpSpPr/>
          <p:nvPr/>
        </p:nvGrpSpPr>
        <p:grpSpPr>
          <a:xfrm>
            <a:off x="4205980" y="5319025"/>
            <a:ext cx="630007" cy="360000"/>
            <a:chOff x="971600" y="5445224"/>
            <a:chExt cx="7200800" cy="576064"/>
          </a:xfrm>
        </p:grpSpPr>
        <p:sp>
          <p:nvSpPr>
            <p:cNvPr id="584" name="平行四辺形 5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5" name="平行四辺形 584"/>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6" name="グループ化 585"/>
          <p:cNvGrpSpPr/>
          <p:nvPr/>
        </p:nvGrpSpPr>
        <p:grpSpPr>
          <a:xfrm>
            <a:off x="4745986" y="5319025"/>
            <a:ext cx="630007" cy="360000"/>
            <a:chOff x="971600" y="5445224"/>
            <a:chExt cx="7200800" cy="576064"/>
          </a:xfrm>
        </p:grpSpPr>
        <p:sp>
          <p:nvSpPr>
            <p:cNvPr id="587" name="平行四辺形 586"/>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8" name="平行四辺形 587"/>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89" name="グループ化 588"/>
          <p:cNvGrpSpPr/>
          <p:nvPr/>
        </p:nvGrpSpPr>
        <p:grpSpPr>
          <a:xfrm>
            <a:off x="5285992" y="5319025"/>
            <a:ext cx="630007" cy="360000"/>
            <a:chOff x="971600" y="5445224"/>
            <a:chExt cx="7200800" cy="576064"/>
          </a:xfrm>
        </p:grpSpPr>
        <p:sp>
          <p:nvSpPr>
            <p:cNvPr id="590" name="平行四辺形 589"/>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1" name="平行四辺形 590"/>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2" name="グループ化 591"/>
          <p:cNvGrpSpPr/>
          <p:nvPr/>
        </p:nvGrpSpPr>
        <p:grpSpPr>
          <a:xfrm>
            <a:off x="5825998" y="5319025"/>
            <a:ext cx="630007" cy="360000"/>
            <a:chOff x="971600" y="5445224"/>
            <a:chExt cx="7200800" cy="576064"/>
          </a:xfrm>
        </p:grpSpPr>
        <p:sp>
          <p:nvSpPr>
            <p:cNvPr id="593" name="平行四辺形 59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4" name="平行四辺形 593"/>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5" name="グループ化 594"/>
          <p:cNvGrpSpPr/>
          <p:nvPr/>
        </p:nvGrpSpPr>
        <p:grpSpPr>
          <a:xfrm>
            <a:off x="6366004" y="5319025"/>
            <a:ext cx="630007" cy="360000"/>
            <a:chOff x="971600" y="5445224"/>
            <a:chExt cx="7200800" cy="576064"/>
          </a:xfrm>
        </p:grpSpPr>
        <p:sp>
          <p:nvSpPr>
            <p:cNvPr id="596" name="平行四辺形 5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97" name="平行四辺形 59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98" name="グループ化 597"/>
          <p:cNvGrpSpPr/>
          <p:nvPr/>
        </p:nvGrpSpPr>
        <p:grpSpPr>
          <a:xfrm>
            <a:off x="6906010" y="5319025"/>
            <a:ext cx="630007" cy="360000"/>
            <a:chOff x="971600" y="5445224"/>
            <a:chExt cx="7200800" cy="576064"/>
          </a:xfrm>
        </p:grpSpPr>
        <p:sp>
          <p:nvSpPr>
            <p:cNvPr id="599" name="平行四辺形 59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0" name="平行四辺形 599"/>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1" name="グループ化 600"/>
          <p:cNvGrpSpPr/>
          <p:nvPr/>
        </p:nvGrpSpPr>
        <p:grpSpPr>
          <a:xfrm>
            <a:off x="7446016" y="5319025"/>
            <a:ext cx="630007" cy="360000"/>
            <a:chOff x="971600" y="5445224"/>
            <a:chExt cx="7200800" cy="576064"/>
          </a:xfrm>
        </p:grpSpPr>
        <p:sp>
          <p:nvSpPr>
            <p:cNvPr id="602" name="平行四辺形 601"/>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3" name="平行四辺形 602"/>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4" name="グループ化 603"/>
          <p:cNvGrpSpPr/>
          <p:nvPr/>
        </p:nvGrpSpPr>
        <p:grpSpPr>
          <a:xfrm>
            <a:off x="7986022" y="5319025"/>
            <a:ext cx="630007" cy="360000"/>
            <a:chOff x="971600" y="5445224"/>
            <a:chExt cx="7200800" cy="576064"/>
          </a:xfrm>
        </p:grpSpPr>
        <p:sp>
          <p:nvSpPr>
            <p:cNvPr id="605" name="平行四辺形 60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6" name="平行四辺形 60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07" name="グループ化 606"/>
          <p:cNvGrpSpPr/>
          <p:nvPr/>
        </p:nvGrpSpPr>
        <p:grpSpPr>
          <a:xfrm>
            <a:off x="8526028" y="5319025"/>
            <a:ext cx="630007" cy="360000"/>
            <a:chOff x="971600" y="5445224"/>
            <a:chExt cx="7200800" cy="576064"/>
          </a:xfrm>
        </p:grpSpPr>
        <p:sp>
          <p:nvSpPr>
            <p:cNvPr id="608" name="平行四辺形 607"/>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09" name="平行四辺形 608"/>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10" name="グループ化 609"/>
          <p:cNvGrpSpPr/>
          <p:nvPr/>
        </p:nvGrpSpPr>
        <p:grpSpPr>
          <a:xfrm>
            <a:off x="9066034" y="5319025"/>
            <a:ext cx="630007" cy="360000"/>
            <a:chOff x="971600" y="5445224"/>
            <a:chExt cx="7200800" cy="576064"/>
          </a:xfrm>
        </p:grpSpPr>
        <p:sp>
          <p:nvSpPr>
            <p:cNvPr id="611" name="平行四辺形 61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12" name="平行四辺形 61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613" name="正方形/長方形 612"/>
          <p:cNvSpPr/>
          <p:nvPr/>
        </p:nvSpPr>
        <p:spPr>
          <a:xfrm>
            <a:off x="2855965" y="908972"/>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14" name="角丸四角形吹き出し 613"/>
          <p:cNvSpPr/>
          <p:nvPr/>
        </p:nvSpPr>
        <p:spPr bwMode="auto">
          <a:xfrm>
            <a:off x="3845975" y="638969"/>
            <a:ext cx="2160024" cy="612648"/>
          </a:xfrm>
          <a:prstGeom prst="wedgeRoundRectCallout">
            <a:avLst>
              <a:gd name="adj1" fmla="val -67072"/>
              <a:gd name="adj2" fmla="val 49646"/>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chemeClr val="tx1">
                    <a:lumMod val="65000"/>
                    <a:lumOff val="35000"/>
                  </a:schemeClr>
                </a:solidFill>
                <a:latin typeface="Arial Narrow" panose="020B0606020202030204" pitchFamily="34" charset="0"/>
              </a:rPr>
              <a:t>どうしてこうなった</a:t>
            </a:r>
          </a:p>
        </p:txBody>
      </p:sp>
      <p:sp>
        <p:nvSpPr>
          <p:cNvPr id="615" name="正方形/長方形 614"/>
          <p:cNvSpPr/>
          <p:nvPr/>
        </p:nvSpPr>
        <p:spPr>
          <a:xfrm>
            <a:off x="9730010" y="495901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dirty="0"/>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17" name="角丸四角形 616"/>
          <p:cNvSpPr/>
          <p:nvPr/>
        </p:nvSpPr>
        <p:spPr bwMode="auto">
          <a:xfrm>
            <a:off x="9156035" y="5229020"/>
            <a:ext cx="450005"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t>
            </a:r>
            <a:endParaRPr lang="ja-JP" altLang="en-US" dirty="0">
              <a:latin typeface="Arial Narrow" panose="020B0606020202030204" pitchFamily="34" charset="0"/>
            </a:endParaRPr>
          </a:p>
        </p:txBody>
      </p:sp>
      <p:sp>
        <p:nvSpPr>
          <p:cNvPr id="618" name="角丸四角形 617"/>
          <p:cNvSpPr/>
          <p:nvPr/>
        </p:nvSpPr>
        <p:spPr bwMode="auto">
          <a:xfrm>
            <a:off x="9156035"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nvGrpSpPr>
          <p:cNvPr id="713" name="グループ化 712"/>
          <p:cNvGrpSpPr/>
          <p:nvPr/>
        </p:nvGrpSpPr>
        <p:grpSpPr>
          <a:xfrm>
            <a:off x="3215969" y="1429904"/>
            <a:ext cx="6390071" cy="4159121"/>
            <a:chOff x="1691968" y="1429903"/>
            <a:chExt cx="6390071" cy="4159121"/>
          </a:xfrm>
        </p:grpSpPr>
        <p:sp>
          <p:nvSpPr>
            <p:cNvPr id="619" name="角丸四角形 618"/>
            <p:cNvSpPr/>
            <p:nvPr/>
          </p:nvSpPr>
          <p:spPr bwMode="auto">
            <a:xfrm>
              <a:off x="7632034"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0" name="角丸四角形 619"/>
            <p:cNvSpPr/>
            <p:nvPr/>
          </p:nvSpPr>
          <p:spPr bwMode="auto">
            <a:xfrm>
              <a:off x="7632034"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1" name="角丸四角形 620"/>
            <p:cNvSpPr/>
            <p:nvPr/>
          </p:nvSpPr>
          <p:spPr bwMode="auto">
            <a:xfrm>
              <a:off x="7632034"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2" name="角丸四角形 621"/>
            <p:cNvSpPr/>
            <p:nvPr/>
          </p:nvSpPr>
          <p:spPr bwMode="auto">
            <a:xfrm>
              <a:off x="7632034"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3" name="角丸四角形 622"/>
            <p:cNvSpPr/>
            <p:nvPr/>
          </p:nvSpPr>
          <p:spPr bwMode="auto">
            <a:xfrm>
              <a:off x="7632034"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4" name="角丸四角形 623"/>
            <p:cNvSpPr/>
            <p:nvPr/>
          </p:nvSpPr>
          <p:spPr bwMode="auto">
            <a:xfrm>
              <a:off x="7632034"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5" name="角丸四角形 624"/>
            <p:cNvSpPr/>
            <p:nvPr/>
          </p:nvSpPr>
          <p:spPr bwMode="auto">
            <a:xfrm>
              <a:off x="7092028"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6" name="角丸四角形 625"/>
            <p:cNvSpPr/>
            <p:nvPr/>
          </p:nvSpPr>
          <p:spPr bwMode="auto">
            <a:xfrm>
              <a:off x="7092028"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7" name="角丸四角形 626"/>
            <p:cNvSpPr/>
            <p:nvPr/>
          </p:nvSpPr>
          <p:spPr bwMode="auto">
            <a:xfrm>
              <a:off x="7092028"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8" name="角丸四角形 627"/>
            <p:cNvSpPr/>
            <p:nvPr/>
          </p:nvSpPr>
          <p:spPr bwMode="auto">
            <a:xfrm>
              <a:off x="7092028"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29" name="角丸四角形 628"/>
            <p:cNvSpPr/>
            <p:nvPr/>
          </p:nvSpPr>
          <p:spPr bwMode="auto">
            <a:xfrm>
              <a:off x="7092028"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0" name="角丸四角形 629"/>
            <p:cNvSpPr/>
            <p:nvPr/>
          </p:nvSpPr>
          <p:spPr bwMode="auto">
            <a:xfrm>
              <a:off x="7092028"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1" name="角丸四角形 630"/>
            <p:cNvSpPr/>
            <p:nvPr/>
          </p:nvSpPr>
          <p:spPr bwMode="auto">
            <a:xfrm>
              <a:off x="7092028"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2" name="角丸四角形 631"/>
            <p:cNvSpPr/>
            <p:nvPr/>
          </p:nvSpPr>
          <p:spPr bwMode="auto">
            <a:xfrm>
              <a:off x="7092028"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3" name="角丸四角形 632"/>
            <p:cNvSpPr/>
            <p:nvPr/>
          </p:nvSpPr>
          <p:spPr bwMode="auto">
            <a:xfrm>
              <a:off x="6552022"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4" name="角丸四角形 633"/>
            <p:cNvSpPr/>
            <p:nvPr/>
          </p:nvSpPr>
          <p:spPr bwMode="auto">
            <a:xfrm>
              <a:off x="6552022"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5" name="角丸四角形 634"/>
            <p:cNvSpPr/>
            <p:nvPr/>
          </p:nvSpPr>
          <p:spPr bwMode="auto">
            <a:xfrm>
              <a:off x="6552022"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6" name="角丸四角形 635"/>
            <p:cNvSpPr/>
            <p:nvPr/>
          </p:nvSpPr>
          <p:spPr bwMode="auto">
            <a:xfrm>
              <a:off x="6552022"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7" name="角丸四角形 636"/>
            <p:cNvSpPr/>
            <p:nvPr/>
          </p:nvSpPr>
          <p:spPr bwMode="auto">
            <a:xfrm>
              <a:off x="6552022"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8" name="角丸四角形 637"/>
            <p:cNvSpPr/>
            <p:nvPr/>
          </p:nvSpPr>
          <p:spPr bwMode="auto">
            <a:xfrm>
              <a:off x="6552022"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39" name="角丸四角形 638"/>
            <p:cNvSpPr/>
            <p:nvPr/>
          </p:nvSpPr>
          <p:spPr bwMode="auto">
            <a:xfrm>
              <a:off x="6552022"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0" name="角丸四角形 639"/>
            <p:cNvSpPr/>
            <p:nvPr/>
          </p:nvSpPr>
          <p:spPr bwMode="auto">
            <a:xfrm>
              <a:off x="6552022"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1" name="角丸四角形 640"/>
            <p:cNvSpPr/>
            <p:nvPr/>
          </p:nvSpPr>
          <p:spPr bwMode="auto">
            <a:xfrm>
              <a:off x="6012016"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2" name="角丸四角形 641"/>
            <p:cNvSpPr/>
            <p:nvPr/>
          </p:nvSpPr>
          <p:spPr bwMode="auto">
            <a:xfrm>
              <a:off x="6012016"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3" name="角丸四角形 642"/>
            <p:cNvSpPr/>
            <p:nvPr/>
          </p:nvSpPr>
          <p:spPr bwMode="auto">
            <a:xfrm>
              <a:off x="6012016"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4" name="角丸四角形 643"/>
            <p:cNvSpPr/>
            <p:nvPr/>
          </p:nvSpPr>
          <p:spPr bwMode="auto">
            <a:xfrm>
              <a:off x="6012016"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5" name="角丸四角形 644"/>
            <p:cNvSpPr/>
            <p:nvPr/>
          </p:nvSpPr>
          <p:spPr bwMode="auto">
            <a:xfrm>
              <a:off x="6012016"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6" name="角丸四角形 645"/>
            <p:cNvSpPr/>
            <p:nvPr/>
          </p:nvSpPr>
          <p:spPr bwMode="auto">
            <a:xfrm>
              <a:off x="6012016"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7" name="角丸四角形 646"/>
            <p:cNvSpPr/>
            <p:nvPr/>
          </p:nvSpPr>
          <p:spPr bwMode="auto">
            <a:xfrm>
              <a:off x="6012016"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8" name="角丸四角形 647"/>
            <p:cNvSpPr/>
            <p:nvPr/>
          </p:nvSpPr>
          <p:spPr bwMode="auto">
            <a:xfrm>
              <a:off x="6012016"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49" name="角丸四角形 648"/>
            <p:cNvSpPr/>
            <p:nvPr/>
          </p:nvSpPr>
          <p:spPr bwMode="auto">
            <a:xfrm>
              <a:off x="5472010" y="461808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0" name="角丸四角形 649"/>
            <p:cNvSpPr/>
            <p:nvPr/>
          </p:nvSpPr>
          <p:spPr bwMode="auto">
            <a:xfrm>
              <a:off x="5472010" y="407808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1" name="角丸四角形 650"/>
            <p:cNvSpPr/>
            <p:nvPr/>
          </p:nvSpPr>
          <p:spPr bwMode="auto">
            <a:xfrm>
              <a:off x="5472010" y="353807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2" name="角丸四角形 651"/>
            <p:cNvSpPr/>
            <p:nvPr/>
          </p:nvSpPr>
          <p:spPr bwMode="auto">
            <a:xfrm>
              <a:off x="5472010" y="303353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3" name="角丸四角形 652"/>
            <p:cNvSpPr/>
            <p:nvPr/>
          </p:nvSpPr>
          <p:spPr bwMode="auto">
            <a:xfrm>
              <a:off x="5472010" y="249352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4" name="角丸四角形 653"/>
            <p:cNvSpPr/>
            <p:nvPr/>
          </p:nvSpPr>
          <p:spPr bwMode="auto">
            <a:xfrm>
              <a:off x="5472010" y="195352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5" name="角丸四角形 654"/>
            <p:cNvSpPr/>
            <p:nvPr/>
          </p:nvSpPr>
          <p:spPr bwMode="auto">
            <a:xfrm>
              <a:off x="5472010" y="144897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6" name="角丸四角形 655"/>
            <p:cNvSpPr/>
            <p:nvPr/>
          </p:nvSpPr>
          <p:spPr bwMode="auto">
            <a:xfrm>
              <a:off x="5472010" y="5229020"/>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7" name="角丸四角形 656"/>
            <p:cNvSpPr/>
            <p:nvPr/>
          </p:nvSpPr>
          <p:spPr bwMode="auto">
            <a:xfrm>
              <a:off x="4932004"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8" name="角丸四角形 657"/>
            <p:cNvSpPr/>
            <p:nvPr/>
          </p:nvSpPr>
          <p:spPr bwMode="auto">
            <a:xfrm>
              <a:off x="4932004"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59" name="角丸四角形 658"/>
            <p:cNvSpPr/>
            <p:nvPr/>
          </p:nvSpPr>
          <p:spPr bwMode="auto">
            <a:xfrm>
              <a:off x="4932004"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0" name="角丸四角形 659"/>
            <p:cNvSpPr/>
            <p:nvPr/>
          </p:nvSpPr>
          <p:spPr bwMode="auto">
            <a:xfrm>
              <a:off x="4932004"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1" name="角丸四角形 660"/>
            <p:cNvSpPr/>
            <p:nvPr/>
          </p:nvSpPr>
          <p:spPr bwMode="auto">
            <a:xfrm>
              <a:off x="4932004"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2" name="角丸四角形 661"/>
            <p:cNvSpPr/>
            <p:nvPr/>
          </p:nvSpPr>
          <p:spPr bwMode="auto">
            <a:xfrm>
              <a:off x="4932004"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3" name="角丸四角形 662"/>
            <p:cNvSpPr/>
            <p:nvPr/>
          </p:nvSpPr>
          <p:spPr bwMode="auto">
            <a:xfrm>
              <a:off x="4932004"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4" name="角丸四角形 663"/>
            <p:cNvSpPr/>
            <p:nvPr/>
          </p:nvSpPr>
          <p:spPr bwMode="auto">
            <a:xfrm>
              <a:off x="4932004"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5" name="角丸四角形 664"/>
            <p:cNvSpPr/>
            <p:nvPr/>
          </p:nvSpPr>
          <p:spPr bwMode="auto">
            <a:xfrm>
              <a:off x="4391998"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6" name="角丸四角形 665"/>
            <p:cNvSpPr/>
            <p:nvPr/>
          </p:nvSpPr>
          <p:spPr bwMode="auto">
            <a:xfrm>
              <a:off x="4391998"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7" name="角丸四角形 666"/>
            <p:cNvSpPr/>
            <p:nvPr/>
          </p:nvSpPr>
          <p:spPr bwMode="auto">
            <a:xfrm>
              <a:off x="4391998"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8" name="角丸四角形 667"/>
            <p:cNvSpPr/>
            <p:nvPr/>
          </p:nvSpPr>
          <p:spPr bwMode="auto">
            <a:xfrm>
              <a:off x="4391998"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69" name="角丸四角形 668"/>
            <p:cNvSpPr/>
            <p:nvPr/>
          </p:nvSpPr>
          <p:spPr bwMode="auto">
            <a:xfrm>
              <a:off x="4391998"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0" name="角丸四角形 669"/>
            <p:cNvSpPr/>
            <p:nvPr/>
          </p:nvSpPr>
          <p:spPr bwMode="auto">
            <a:xfrm>
              <a:off x="4391998"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1" name="角丸四角形 670"/>
            <p:cNvSpPr/>
            <p:nvPr/>
          </p:nvSpPr>
          <p:spPr bwMode="auto">
            <a:xfrm>
              <a:off x="4391998"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2" name="角丸四角形 671"/>
            <p:cNvSpPr/>
            <p:nvPr/>
          </p:nvSpPr>
          <p:spPr bwMode="auto">
            <a:xfrm>
              <a:off x="4391998"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3" name="角丸四角形 672"/>
            <p:cNvSpPr/>
            <p:nvPr/>
          </p:nvSpPr>
          <p:spPr bwMode="auto">
            <a:xfrm>
              <a:off x="3851992"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4" name="角丸四角形 673"/>
            <p:cNvSpPr/>
            <p:nvPr/>
          </p:nvSpPr>
          <p:spPr bwMode="auto">
            <a:xfrm>
              <a:off x="3851992"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5" name="角丸四角形 674"/>
            <p:cNvSpPr/>
            <p:nvPr/>
          </p:nvSpPr>
          <p:spPr bwMode="auto">
            <a:xfrm>
              <a:off x="3851992"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6" name="角丸四角形 675"/>
            <p:cNvSpPr/>
            <p:nvPr/>
          </p:nvSpPr>
          <p:spPr bwMode="auto">
            <a:xfrm>
              <a:off x="3851992"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7" name="角丸四角形 676"/>
            <p:cNvSpPr/>
            <p:nvPr/>
          </p:nvSpPr>
          <p:spPr bwMode="auto">
            <a:xfrm>
              <a:off x="3851992"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8" name="角丸四角形 677"/>
            <p:cNvSpPr/>
            <p:nvPr/>
          </p:nvSpPr>
          <p:spPr bwMode="auto">
            <a:xfrm>
              <a:off x="3851992"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79" name="角丸四角形 678"/>
            <p:cNvSpPr/>
            <p:nvPr/>
          </p:nvSpPr>
          <p:spPr bwMode="auto">
            <a:xfrm>
              <a:off x="3851992"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0" name="角丸四角形 679"/>
            <p:cNvSpPr/>
            <p:nvPr/>
          </p:nvSpPr>
          <p:spPr bwMode="auto">
            <a:xfrm>
              <a:off x="3851992"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1" name="角丸四角形 680"/>
            <p:cNvSpPr/>
            <p:nvPr/>
          </p:nvSpPr>
          <p:spPr bwMode="auto">
            <a:xfrm>
              <a:off x="3311986"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2" name="角丸四角形 681"/>
            <p:cNvSpPr/>
            <p:nvPr/>
          </p:nvSpPr>
          <p:spPr bwMode="auto">
            <a:xfrm>
              <a:off x="3311986"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3" name="角丸四角形 682"/>
            <p:cNvSpPr/>
            <p:nvPr/>
          </p:nvSpPr>
          <p:spPr bwMode="auto">
            <a:xfrm>
              <a:off x="3311986"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4" name="角丸四角形 683"/>
            <p:cNvSpPr/>
            <p:nvPr/>
          </p:nvSpPr>
          <p:spPr bwMode="auto">
            <a:xfrm>
              <a:off x="3311986"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5" name="角丸四角形 684"/>
            <p:cNvSpPr/>
            <p:nvPr/>
          </p:nvSpPr>
          <p:spPr bwMode="auto">
            <a:xfrm>
              <a:off x="3311986"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6" name="角丸四角形 685"/>
            <p:cNvSpPr/>
            <p:nvPr/>
          </p:nvSpPr>
          <p:spPr bwMode="auto">
            <a:xfrm>
              <a:off x="3311986"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7" name="角丸四角形 686"/>
            <p:cNvSpPr/>
            <p:nvPr/>
          </p:nvSpPr>
          <p:spPr bwMode="auto">
            <a:xfrm>
              <a:off x="3311986"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8" name="角丸四角形 687"/>
            <p:cNvSpPr/>
            <p:nvPr/>
          </p:nvSpPr>
          <p:spPr bwMode="auto">
            <a:xfrm>
              <a:off x="3311986"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89" name="角丸四角形 688"/>
            <p:cNvSpPr/>
            <p:nvPr/>
          </p:nvSpPr>
          <p:spPr bwMode="auto">
            <a:xfrm>
              <a:off x="2771980"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0" name="角丸四角形 689"/>
            <p:cNvSpPr/>
            <p:nvPr/>
          </p:nvSpPr>
          <p:spPr bwMode="auto">
            <a:xfrm>
              <a:off x="2771980"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1" name="角丸四角形 690"/>
            <p:cNvSpPr/>
            <p:nvPr/>
          </p:nvSpPr>
          <p:spPr bwMode="auto">
            <a:xfrm>
              <a:off x="2771980"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2" name="角丸四角形 691"/>
            <p:cNvSpPr/>
            <p:nvPr/>
          </p:nvSpPr>
          <p:spPr bwMode="auto">
            <a:xfrm>
              <a:off x="2771980"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3" name="角丸四角形 692"/>
            <p:cNvSpPr/>
            <p:nvPr/>
          </p:nvSpPr>
          <p:spPr bwMode="auto">
            <a:xfrm>
              <a:off x="2771980"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4" name="角丸四角形 693"/>
            <p:cNvSpPr/>
            <p:nvPr/>
          </p:nvSpPr>
          <p:spPr bwMode="auto">
            <a:xfrm>
              <a:off x="2771980"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5" name="角丸四角形 694"/>
            <p:cNvSpPr/>
            <p:nvPr/>
          </p:nvSpPr>
          <p:spPr bwMode="auto">
            <a:xfrm>
              <a:off x="2771980"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6" name="角丸四角形 695"/>
            <p:cNvSpPr/>
            <p:nvPr/>
          </p:nvSpPr>
          <p:spPr bwMode="auto">
            <a:xfrm>
              <a:off x="2771980"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7" name="角丸四角形 696"/>
            <p:cNvSpPr/>
            <p:nvPr/>
          </p:nvSpPr>
          <p:spPr bwMode="auto">
            <a:xfrm>
              <a:off x="2231974"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8" name="角丸四角形 697"/>
            <p:cNvSpPr/>
            <p:nvPr/>
          </p:nvSpPr>
          <p:spPr bwMode="auto">
            <a:xfrm>
              <a:off x="2231974"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699" name="角丸四角形 698"/>
            <p:cNvSpPr/>
            <p:nvPr/>
          </p:nvSpPr>
          <p:spPr bwMode="auto">
            <a:xfrm>
              <a:off x="2231974"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0" name="角丸四角形 699"/>
            <p:cNvSpPr/>
            <p:nvPr/>
          </p:nvSpPr>
          <p:spPr bwMode="auto">
            <a:xfrm>
              <a:off x="2231974"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1" name="角丸四角形 700"/>
            <p:cNvSpPr/>
            <p:nvPr/>
          </p:nvSpPr>
          <p:spPr bwMode="auto">
            <a:xfrm>
              <a:off x="2231974"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2" name="角丸四角形 701"/>
            <p:cNvSpPr/>
            <p:nvPr/>
          </p:nvSpPr>
          <p:spPr bwMode="auto">
            <a:xfrm>
              <a:off x="2231974"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3" name="角丸四角形 702"/>
            <p:cNvSpPr/>
            <p:nvPr/>
          </p:nvSpPr>
          <p:spPr bwMode="auto">
            <a:xfrm>
              <a:off x="2231974"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4" name="角丸四角形 703"/>
            <p:cNvSpPr/>
            <p:nvPr/>
          </p:nvSpPr>
          <p:spPr bwMode="auto">
            <a:xfrm>
              <a:off x="2231974"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5" name="角丸四角形 704"/>
            <p:cNvSpPr/>
            <p:nvPr/>
          </p:nvSpPr>
          <p:spPr bwMode="auto">
            <a:xfrm>
              <a:off x="1691968" y="459901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6" name="角丸四角形 705"/>
            <p:cNvSpPr/>
            <p:nvPr/>
          </p:nvSpPr>
          <p:spPr bwMode="auto">
            <a:xfrm>
              <a:off x="1691968" y="4059007"/>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7" name="角丸四角形 706"/>
            <p:cNvSpPr/>
            <p:nvPr/>
          </p:nvSpPr>
          <p:spPr bwMode="auto">
            <a:xfrm>
              <a:off x="1691968" y="3519001"/>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8" name="角丸四角形 707"/>
            <p:cNvSpPr/>
            <p:nvPr/>
          </p:nvSpPr>
          <p:spPr bwMode="auto">
            <a:xfrm>
              <a:off x="1691968" y="3014458"/>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09" name="角丸四角形 708"/>
            <p:cNvSpPr/>
            <p:nvPr/>
          </p:nvSpPr>
          <p:spPr bwMode="auto">
            <a:xfrm>
              <a:off x="1691968" y="2474452"/>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0" name="角丸四角形 709"/>
            <p:cNvSpPr/>
            <p:nvPr/>
          </p:nvSpPr>
          <p:spPr bwMode="auto">
            <a:xfrm>
              <a:off x="1691968" y="1934446"/>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1" name="角丸四角形 710"/>
            <p:cNvSpPr/>
            <p:nvPr/>
          </p:nvSpPr>
          <p:spPr bwMode="auto">
            <a:xfrm>
              <a:off x="1691968" y="1429903"/>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712" name="角丸四角形 711"/>
            <p:cNvSpPr/>
            <p:nvPr/>
          </p:nvSpPr>
          <p:spPr bwMode="auto">
            <a:xfrm>
              <a:off x="1691968" y="5209945"/>
              <a:ext cx="450005" cy="360004"/>
            </a:xfrm>
            <a:prstGeom prst="roundRect">
              <a:avLst/>
            </a:prstGeom>
            <a:solidFill>
              <a:schemeClr val="tx1">
                <a:lumMod val="50000"/>
                <a:lumOff val="50000"/>
              </a:schemeClr>
            </a:solidFill>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grpSp>
      <p:sp>
        <p:nvSpPr>
          <p:cNvPr id="616" name="角丸四角形吹き出し 615"/>
          <p:cNvSpPr/>
          <p:nvPr/>
        </p:nvSpPr>
        <p:spPr bwMode="auto">
          <a:xfrm>
            <a:off x="7626018" y="4329010"/>
            <a:ext cx="2430027" cy="612648"/>
          </a:xfrm>
          <a:prstGeom prst="wedgeRoundRectCallout">
            <a:avLst>
              <a:gd name="adj1" fmla="val 39915"/>
              <a:gd name="adj2" fmla="val 100391"/>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sz="1600" dirty="0">
                <a:solidFill>
                  <a:schemeClr val="tx1">
                    <a:lumMod val="65000"/>
                    <a:lumOff val="35000"/>
                  </a:schemeClr>
                </a:solidFill>
                <a:latin typeface="Arial Narrow" panose="020B0606020202030204" pitchFamily="34" charset="0"/>
              </a:rPr>
              <a:t>やってしまいましたなぁ</a:t>
            </a:r>
          </a:p>
        </p:txBody>
      </p:sp>
    </p:spTree>
    <p:extLst>
      <p:ext uri="{BB962C8B-B14F-4D97-AF65-F5344CB8AC3E}">
        <p14:creationId xmlns:p14="http://schemas.microsoft.com/office/powerpoint/2010/main" val="36131817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xit" presetSubtype="0" fill="hold" nodeType="clickEffect">
                                  <p:stCondLst>
                                    <p:cond delay="0"/>
                                  </p:stCondLst>
                                  <p:childTnLst>
                                    <p:animEffect transition="out" filter="fade">
                                      <p:cBhvr>
                                        <p:cTn id="6" dur="1000"/>
                                        <p:tgtEl>
                                          <p:spTgt spid="713"/>
                                        </p:tgtEl>
                                      </p:cBhvr>
                                    </p:animEffect>
                                    <p:anim calcmode="lin" valueType="num">
                                      <p:cBhvr>
                                        <p:cTn id="7" dur="1000"/>
                                        <p:tgtEl>
                                          <p:spTgt spid="713"/>
                                        </p:tgtEl>
                                        <p:attrNameLst>
                                          <p:attrName>ppt_x</p:attrName>
                                        </p:attrNameLst>
                                      </p:cBhvr>
                                      <p:tavLst>
                                        <p:tav tm="0">
                                          <p:val>
                                            <p:strVal val="ppt_x"/>
                                          </p:val>
                                        </p:tav>
                                        <p:tav tm="100000">
                                          <p:val>
                                            <p:strVal val="ppt_x"/>
                                          </p:val>
                                        </p:tav>
                                      </p:tavLst>
                                    </p:anim>
                                    <p:anim calcmode="lin" valueType="num">
                                      <p:cBhvr>
                                        <p:cTn id="8" dur="1000"/>
                                        <p:tgtEl>
                                          <p:spTgt spid="713"/>
                                        </p:tgtEl>
                                        <p:attrNameLst>
                                          <p:attrName>ppt_y</p:attrName>
                                        </p:attrNameLst>
                                      </p:cBhvr>
                                      <p:tavLst>
                                        <p:tav tm="0">
                                          <p:val>
                                            <p:strVal val="ppt_y"/>
                                          </p:val>
                                        </p:tav>
                                        <p:tav tm="100000">
                                          <p:val>
                                            <p:strVal val="ppt_y+.1"/>
                                          </p:val>
                                        </p:tav>
                                      </p:tavLst>
                                    </p:anim>
                                    <p:set>
                                      <p:cBhvr>
                                        <p:cTn id="9" dur="1" fill="hold">
                                          <p:stCondLst>
                                            <p:cond delay="999"/>
                                          </p:stCondLst>
                                        </p:cTn>
                                        <p:tgtEl>
                                          <p:spTgt spid="7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今日のまとめ</a:t>
            </a:r>
          </a:p>
        </p:txBody>
      </p:sp>
      <p:sp>
        <p:nvSpPr>
          <p:cNvPr id="3" name="テキスト プレースホルダー 2"/>
          <p:cNvSpPr>
            <a:spLocks noGrp="1"/>
          </p:cNvSpPr>
          <p:nvPr>
            <p:ph type="body" sz="quarter" idx="10"/>
          </p:nvPr>
        </p:nvSpPr>
        <p:spPr/>
        <p:txBody>
          <a:bodyPr/>
          <a:lstStyle/>
          <a:p>
            <a:r>
              <a:rPr kumimoji="1" lang="ja-JP" altLang="en-US" dirty="0"/>
              <a:t>パイプライン</a:t>
            </a:r>
            <a:endParaRPr kumimoji="1" lang="en-US" altLang="ja-JP" dirty="0"/>
          </a:p>
          <a:p>
            <a:r>
              <a:rPr kumimoji="1" lang="ja-JP" altLang="en-US" dirty="0"/>
              <a:t>各種のハザードと解消方法</a:t>
            </a:r>
            <a:endParaRPr kumimoji="1" lang="en-US" altLang="ja-JP" dirty="0"/>
          </a:p>
          <a:p>
            <a:pPr lvl="1"/>
            <a:r>
              <a:rPr kumimoji="1" lang="ja-JP" altLang="en-US" dirty="0"/>
              <a:t>構造ハザード</a:t>
            </a:r>
            <a:endParaRPr kumimoji="1" lang="en-US" altLang="ja-JP" dirty="0"/>
          </a:p>
          <a:p>
            <a:pPr lvl="1"/>
            <a:r>
              <a:rPr kumimoji="1" lang="ja-JP" altLang="en-US" dirty="0"/>
              <a:t>非構造ハザード</a:t>
            </a:r>
            <a:endParaRPr kumimoji="1" lang="en-US" altLang="ja-JP" dirty="0"/>
          </a:p>
          <a:p>
            <a:pPr lvl="2"/>
            <a:r>
              <a:rPr kumimoji="1" lang="ja-JP" altLang="en-US" dirty="0"/>
              <a:t>データ・ハザード</a:t>
            </a:r>
            <a:endParaRPr kumimoji="1" lang="en-US" altLang="ja-JP" dirty="0"/>
          </a:p>
          <a:p>
            <a:pPr lvl="2"/>
            <a:r>
              <a:rPr kumimoji="1" lang="ja-JP" altLang="en-US" dirty="0"/>
              <a:t>制御ハザード</a:t>
            </a:r>
            <a:endParaRPr kumimoji="1" lang="en-US" altLang="ja-JP" dirty="0"/>
          </a:p>
          <a:p>
            <a:r>
              <a:rPr kumimoji="1" lang="ja-JP" altLang="en-US" dirty="0"/>
              <a:t>来週は分岐予測の具体的な方法など</a:t>
            </a:r>
          </a:p>
        </p:txBody>
      </p:sp>
    </p:spTree>
    <p:extLst>
      <p:ext uri="{BB962C8B-B14F-4D97-AF65-F5344CB8AC3E}">
        <p14:creationId xmlns:p14="http://schemas.microsoft.com/office/powerpoint/2010/main" val="2116981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7"/>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 </a:t>
            </a:r>
            <a:r>
              <a:rPr lang="en-US" altLang="ja-JP" dirty="0"/>
              <a:t>UTOL </a:t>
            </a:r>
            <a:r>
              <a:rPr lang="ja-JP" altLang="en-US" dirty="0"/>
              <a:t>の出席欄に書いてください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 ：</a:t>
            </a:r>
            <a:r>
              <a:rPr lang="en-US" altLang="ja-JP" dirty="0"/>
              <a:t>arc</a:t>
            </a:r>
          </a:p>
          <a:p>
            <a:r>
              <a:rPr lang="ja-JP" altLang="en-US" dirty="0"/>
              <a:t>意見や内容へのリクエストもあったら書いてください</a:t>
            </a:r>
            <a:endParaRPr lang="en-US" altLang="ja-JP" dirty="0"/>
          </a:p>
          <a:p>
            <a:r>
              <a:rPr lang="en-US" altLang="ja-JP" dirty="0">
                <a:solidFill>
                  <a:schemeClr val="accent5"/>
                </a:solidFill>
              </a:rPr>
              <a:t>UTOL </a:t>
            </a:r>
            <a:r>
              <a:rPr lang="ja-JP" altLang="en-US" dirty="0">
                <a:solidFill>
                  <a:schemeClr val="accent5"/>
                </a:solidFill>
              </a:rPr>
              <a:t>の出席の締め切りは来週の講義開始までに設定してあります</a:t>
            </a:r>
            <a:endParaRPr lang="en-US" altLang="ja-JP" dirty="0">
              <a:solidFill>
                <a:schemeClr val="accent5"/>
              </a:solidFill>
            </a:endParaRPr>
          </a:p>
          <a:p>
            <a:pPr lvl="1"/>
            <a:r>
              <a:rPr lang="ja-JP" altLang="en-US" dirty="0"/>
              <a:t>仕様上「遅刻」表示になりますが，特に減点等しません</a:t>
            </a:r>
            <a:endParaRPr lang="en-US" altLang="ja-JP" dirty="0"/>
          </a:p>
          <a:p>
            <a:pPr lvl="1"/>
            <a:r>
              <a:rPr lang="ja-JP" altLang="en-US" dirty="0"/>
              <a:t>来週の講義開始までは感想や質問などを受け付けます</a:t>
            </a:r>
          </a:p>
        </p:txBody>
      </p:sp>
    </p:spTree>
    <p:extLst>
      <p:ext uri="{BB962C8B-B14F-4D97-AF65-F5344CB8AC3E}">
        <p14:creationId xmlns:p14="http://schemas.microsoft.com/office/powerpoint/2010/main" val="32254742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D92FC6-C481-4334-E992-204B439ABF09}"/>
              </a:ext>
            </a:extLst>
          </p:cNvPr>
          <p:cNvSpPr>
            <a:spLocks noGrp="1"/>
          </p:cNvSpPr>
          <p:nvPr>
            <p:ph type="title"/>
          </p:nvPr>
        </p:nvSpPr>
        <p:spPr/>
        <p:txBody>
          <a:bodyPr/>
          <a:lstStyle/>
          <a:p>
            <a:r>
              <a:rPr lang="ja-JP" altLang="en-US" dirty="0"/>
              <a:t>出席</a:t>
            </a:r>
            <a:endParaRPr kumimoji="1" lang="ja-JP" altLang="en-US" dirty="0"/>
          </a:p>
        </p:txBody>
      </p:sp>
      <p:sp>
        <p:nvSpPr>
          <p:cNvPr id="3" name="テキスト プレースホルダー 2">
            <a:extLst>
              <a:ext uri="{FF2B5EF4-FFF2-40B4-BE49-F238E27FC236}">
                <a16:creationId xmlns:a16="http://schemas.microsoft.com/office/drawing/2014/main" id="{BA87AF6B-357A-C55C-6782-832EA49BA99E}"/>
              </a:ext>
            </a:extLst>
          </p:cNvPr>
          <p:cNvSpPr>
            <a:spLocks noGrp="1"/>
          </p:cNvSpPr>
          <p:nvPr>
            <p:ph type="body" sz="quarter" idx="10"/>
          </p:nvPr>
        </p:nvSpPr>
        <p:spPr/>
        <p:txBody>
          <a:bodyPr/>
          <a:lstStyle/>
          <a:p>
            <a:r>
              <a:rPr lang="ja-JP" altLang="en-US" dirty="0">
                <a:solidFill>
                  <a:schemeClr val="accent6"/>
                </a:solidFill>
              </a:rPr>
              <a:t>以下のスプレッドシートの自分の席のところに学籍番号を書いてください</a:t>
            </a:r>
            <a:endParaRPr kumimoji="1" lang="en-US" altLang="ja-JP" dirty="0">
              <a:hlinkClick r:id=""/>
            </a:endParaRPr>
          </a:p>
          <a:p>
            <a:pPr lvl="1"/>
            <a:r>
              <a:rPr lang="en-US" altLang="ja-JP" dirty="0">
                <a:hlinkClick r:id="rId2"/>
              </a:rPr>
              <a:t>https://docs.google.com/spreadsheets/d/1noH3Y2b1tS621wzDHcUIBpJrJEWeqVijQy_RZ25WxNs/edit?usp=sharing</a:t>
            </a:r>
            <a:endParaRPr lang="en-US" altLang="ja-JP" dirty="0"/>
          </a:p>
          <a:p>
            <a:pPr lvl="1"/>
            <a:r>
              <a:rPr lang="ja-JP" altLang="en-US" dirty="0"/>
              <a:t>学生側から見た場合の配置で（画面上が教団側），席の対応する行と列のところに書いてください</a:t>
            </a:r>
            <a:endParaRPr lang="en-US" altLang="ja-JP" dirty="0"/>
          </a:p>
          <a:p>
            <a:endParaRPr kumimoji="1" lang="ja-JP" altLang="en-US" dirty="0"/>
          </a:p>
        </p:txBody>
      </p:sp>
    </p:spTree>
    <p:extLst>
      <p:ext uri="{BB962C8B-B14F-4D97-AF65-F5344CB8AC3E}">
        <p14:creationId xmlns:p14="http://schemas.microsoft.com/office/powerpoint/2010/main" val="36423834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45BA461-EB4B-6344-0363-EBCE1294355D}"/>
              </a:ext>
            </a:extLst>
          </p:cNvPr>
          <p:cNvSpPr>
            <a:spLocks noGrp="1"/>
          </p:cNvSpPr>
          <p:nvPr>
            <p:ph type="ctrTitle"/>
          </p:nvPr>
        </p:nvSpPr>
        <p:spPr>
          <a:xfrm>
            <a:off x="2225957" y="2078985"/>
            <a:ext cx="7920088" cy="540006"/>
          </a:xfrm>
        </p:spPr>
        <p:txBody>
          <a:bodyPr/>
          <a:lstStyle/>
          <a:p>
            <a:r>
              <a:rPr lang="ja-JP" altLang="en-US" dirty="0"/>
              <a:t>質問や感想</a:t>
            </a:r>
            <a:endParaRPr lang="en-US" dirty="0"/>
          </a:p>
        </p:txBody>
      </p:sp>
      <p:sp>
        <p:nvSpPr>
          <p:cNvPr id="5" name="字幕 4">
            <a:extLst>
              <a:ext uri="{FF2B5EF4-FFF2-40B4-BE49-F238E27FC236}">
                <a16:creationId xmlns:a16="http://schemas.microsoft.com/office/drawing/2014/main" id="{ED090A9F-2FB3-DADA-E31B-D2E1712125A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17258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質問とか回答など</a:t>
            </a:r>
          </a:p>
        </p:txBody>
      </p:sp>
      <p:sp>
        <p:nvSpPr>
          <p:cNvPr id="3" name="テキスト プレースホルダー 2"/>
          <p:cNvSpPr>
            <a:spLocks noGrp="1"/>
          </p:cNvSpPr>
          <p:nvPr>
            <p:ph type="body" sz="quarter" idx="10"/>
          </p:nvPr>
        </p:nvSpPr>
        <p:spPr/>
        <p:txBody>
          <a:bodyPr/>
          <a:lstStyle/>
          <a:p>
            <a:r>
              <a:rPr lang="ja-JP" altLang="en-US" dirty="0"/>
              <a:t>僕は自作</a:t>
            </a:r>
            <a:r>
              <a:rPr lang="en-US" altLang="ja-JP" dirty="0"/>
              <a:t>PC</a:t>
            </a:r>
            <a:r>
              <a:rPr lang="ja-JP" altLang="en-US" dirty="0"/>
              <a:t>が趣味ですが、今回の前半でわりと共感できる話があって嬉しいかったです。特に今までは</a:t>
            </a:r>
            <a:r>
              <a:rPr lang="en-US" altLang="ja-JP" dirty="0"/>
              <a:t>Intel</a:t>
            </a:r>
            <a:r>
              <a:rPr lang="ja-JP" altLang="en-US" dirty="0"/>
              <a:t>信者でして、自前の</a:t>
            </a:r>
            <a:r>
              <a:rPr lang="en-US" altLang="ja-JP" dirty="0"/>
              <a:t>PC</a:t>
            </a:r>
            <a:r>
              <a:rPr lang="ja-JP" altLang="en-US" dirty="0"/>
              <a:t>は</a:t>
            </a:r>
            <a:r>
              <a:rPr lang="en-US" altLang="ja-JP" dirty="0"/>
              <a:t>12</a:t>
            </a:r>
            <a:r>
              <a:rPr lang="ja-JP" altLang="en-US" dirty="0"/>
              <a:t>世代のモノをのせています。</a:t>
            </a:r>
            <a:r>
              <a:rPr lang="en-US" altLang="ja-JP" dirty="0"/>
              <a:t>Intel</a:t>
            </a:r>
            <a:r>
              <a:rPr lang="ja-JP" altLang="en-US" dirty="0"/>
              <a:t>は第</a:t>
            </a:r>
            <a:r>
              <a:rPr lang="en-US" altLang="ja-JP" dirty="0"/>
              <a:t>12</a:t>
            </a:r>
            <a:r>
              <a:rPr lang="ja-JP" altLang="en-US" dirty="0"/>
              <a:t>世代以降、スマートフォンで一般的な「</a:t>
            </a:r>
            <a:r>
              <a:rPr lang="en-US" altLang="ja-JP" dirty="0"/>
              <a:t>P</a:t>
            </a:r>
            <a:r>
              <a:rPr lang="ja-JP" altLang="en-US" dirty="0"/>
              <a:t>コア」と「</a:t>
            </a:r>
            <a:r>
              <a:rPr lang="en-US" altLang="ja-JP" dirty="0"/>
              <a:t>E</a:t>
            </a:r>
            <a:r>
              <a:rPr lang="ja-JP" altLang="en-US" dirty="0"/>
              <a:t>コア」を組み合わせたヘテロジニアス構成を採用しているらしく、今回の話がまさに刺さりそうな感じでした。実際授業のあと調べてみましたが、</a:t>
            </a:r>
            <a:r>
              <a:rPr lang="en-US" altLang="ja-JP" dirty="0"/>
              <a:t>AMD</a:t>
            </a:r>
            <a:r>
              <a:rPr lang="ja-JP" altLang="en-US" dirty="0"/>
              <a:t>との競合を勝つために限界ギリギリまで電圧を上げているらしく、その原因で</a:t>
            </a:r>
            <a:r>
              <a:rPr lang="en-US" altLang="ja-JP" dirty="0"/>
              <a:t>13</a:t>
            </a:r>
            <a:r>
              <a:rPr lang="ja-JP" altLang="en-US" dirty="0"/>
              <a:t>世代で大規模な初期不良や、高電力消費に繋がっているらしいです。</a:t>
            </a:r>
          </a:p>
        </p:txBody>
      </p:sp>
    </p:spTree>
    <p:extLst>
      <p:ext uri="{BB962C8B-B14F-4D97-AF65-F5344CB8AC3E}">
        <p14:creationId xmlns:p14="http://schemas.microsoft.com/office/powerpoint/2010/main" val="36624954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F9792-A96D-817F-ECE7-2E75705C9C1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1CBBAE9-13E9-B804-5578-1808A69DB467}"/>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CA4EE2CE-5B4D-7515-80CD-113AEA28D739}"/>
              </a:ext>
            </a:extLst>
          </p:cNvPr>
          <p:cNvSpPr>
            <a:spLocks noGrp="1"/>
          </p:cNvSpPr>
          <p:nvPr>
            <p:ph type="body" sz="quarter" idx="10"/>
          </p:nvPr>
        </p:nvSpPr>
        <p:spPr/>
        <p:txBody>
          <a:bodyPr/>
          <a:lstStyle/>
          <a:p>
            <a:r>
              <a:rPr lang="ja-JP" altLang="en-US" dirty="0"/>
              <a:t>非同期回路やウェーブパイプラインのところで設計＆動作が極めて難しいと書いていますが、こっちはどんなユースケースがあってどんな利点があるのかが気になります</a:t>
            </a:r>
          </a:p>
          <a:p>
            <a:endParaRPr kumimoji="1" lang="ja-JP" altLang="en-US" dirty="0"/>
          </a:p>
        </p:txBody>
      </p:sp>
    </p:spTree>
    <p:extLst>
      <p:ext uri="{BB962C8B-B14F-4D97-AF65-F5344CB8AC3E}">
        <p14:creationId xmlns:p14="http://schemas.microsoft.com/office/powerpoint/2010/main" val="1522226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BAF12-A649-C88E-4800-EED2130D263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BC6DAA8-6F7E-0CD7-6941-2FD5B334F307}"/>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0CBF54CA-AE7C-E6FE-C4A8-42401E5AA67A}"/>
              </a:ext>
            </a:extLst>
          </p:cNvPr>
          <p:cNvSpPr>
            <a:spLocks noGrp="1"/>
          </p:cNvSpPr>
          <p:nvPr>
            <p:ph type="body" sz="quarter" idx="10"/>
          </p:nvPr>
        </p:nvSpPr>
        <p:spPr/>
        <p:txBody>
          <a:bodyPr/>
          <a:lstStyle/>
          <a:p>
            <a:r>
              <a:rPr lang="ja-JP" altLang="en-US" dirty="0"/>
              <a:t>学祭などのイベントにおいて、「パイプライン化してスループットを上げる」という発想に至らない人が多くて、「パイプライン化」や「律速」が常識になって欲しいと時折思います。</a:t>
            </a:r>
            <a:endParaRPr kumimoji="1" lang="ja-JP" altLang="en-US" dirty="0"/>
          </a:p>
        </p:txBody>
      </p:sp>
    </p:spTree>
    <p:extLst>
      <p:ext uri="{BB962C8B-B14F-4D97-AF65-F5344CB8AC3E}">
        <p14:creationId xmlns:p14="http://schemas.microsoft.com/office/powerpoint/2010/main" val="3938032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15167-8415-550A-4189-B532CA0D77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E73D8D4-228A-3F2C-449B-09E5CFB37CDB}"/>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6B394DC0-6442-6B51-7DD9-9488FFCAB73C}"/>
              </a:ext>
            </a:extLst>
          </p:cNvPr>
          <p:cNvSpPr>
            <a:spLocks noGrp="1"/>
          </p:cNvSpPr>
          <p:nvPr>
            <p:ph type="body" sz="quarter" idx="10"/>
          </p:nvPr>
        </p:nvSpPr>
        <p:spPr/>
        <p:txBody>
          <a:bodyPr/>
          <a:lstStyle/>
          <a:p>
            <a:r>
              <a:rPr lang="ja-JP" altLang="en-US" dirty="0"/>
              <a:t>主流ではないとはいえ、パイプラインを</a:t>
            </a:r>
            <a:r>
              <a:rPr lang="en-US" altLang="ja-JP" dirty="0"/>
              <a:t>FF</a:t>
            </a:r>
            <a:r>
              <a:rPr lang="ja-JP" altLang="en-US" dirty="0"/>
              <a:t>で区切らずに実現することができるのか、と少し衝撃でした</a:t>
            </a:r>
          </a:p>
          <a:p>
            <a:r>
              <a:rPr lang="ja-JP" altLang="en-US" dirty="0"/>
              <a:t>確かに理論上はできそうですが、実際に製品レベルで制御できた例があるのか気になりました</a:t>
            </a:r>
            <a:endParaRPr kumimoji="1" lang="ja-JP" altLang="en-US" dirty="0"/>
          </a:p>
        </p:txBody>
      </p:sp>
    </p:spTree>
    <p:extLst>
      <p:ext uri="{BB962C8B-B14F-4D97-AF65-F5344CB8AC3E}">
        <p14:creationId xmlns:p14="http://schemas.microsoft.com/office/powerpoint/2010/main" val="22761172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20ECE-5502-BCA7-EEBC-F6377C3D4ED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7C5B7C-C192-7197-9CBD-B2A5A5149E44}"/>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0AC0C24D-A8D5-B88A-CEFD-93DF60633132}"/>
              </a:ext>
            </a:extLst>
          </p:cNvPr>
          <p:cNvSpPr>
            <a:spLocks noGrp="1"/>
          </p:cNvSpPr>
          <p:nvPr>
            <p:ph type="body" sz="quarter" idx="10"/>
          </p:nvPr>
        </p:nvSpPr>
        <p:spPr/>
        <p:txBody>
          <a:bodyPr/>
          <a:lstStyle/>
          <a:p>
            <a:r>
              <a:rPr lang="en-US" altLang="ja-JP" dirty="0"/>
              <a:t>FPGA</a:t>
            </a:r>
            <a:r>
              <a:rPr lang="ja-JP" altLang="en-US" dirty="0"/>
              <a:t>が演算自体においては効率が悪いというのは意外だった。その反面、</a:t>
            </a:r>
            <a:r>
              <a:rPr lang="en-US" altLang="ja-JP" dirty="0"/>
              <a:t>CPU</a:t>
            </a:r>
            <a:r>
              <a:rPr lang="ja-JP" altLang="en-US" dirty="0"/>
              <a:t>においては特に命令制御部分が大部分を占めるというのも意外だった。</a:t>
            </a:r>
            <a:endParaRPr kumimoji="1" lang="ja-JP" altLang="en-US" dirty="0"/>
          </a:p>
        </p:txBody>
      </p:sp>
    </p:spTree>
    <p:extLst>
      <p:ext uri="{BB962C8B-B14F-4D97-AF65-F5344CB8AC3E}">
        <p14:creationId xmlns:p14="http://schemas.microsoft.com/office/powerpoint/2010/main" val="42302003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CE20-91C3-7C47-D7C0-E83A3F4D364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067792-E8A0-A76E-D0DA-B6AE44020EEA}"/>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C0E47355-8200-1978-E6FB-ACC7F07DF9C9}"/>
              </a:ext>
            </a:extLst>
          </p:cNvPr>
          <p:cNvSpPr>
            <a:spLocks noGrp="1"/>
          </p:cNvSpPr>
          <p:nvPr>
            <p:ph type="body" sz="quarter" idx="10"/>
          </p:nvPr>
        </p:nvSpPr>
        <p:spPr/>
        <p:txBody>
          <a:bodyPr/>
          <a:lstStyle/>
          <a:p>
            <a:r>
              <a:rPr lang="ja-JP" altLang="en-US" dirty="0"/>
              <a:t>出席確認専用ハードウェア開発したい（特にアイデアはないです）</a:t>
            </a:r>
          </a:p>
          <a:p>
            <a:r>
              <a:rPr lang="ja-JP" altLang="en-US" dirty="0"/>
              <a:t>（正当な理由がなくても）オンラインで受けられるようになりたい、理由ない場合出席点半減とかでもよいので、、、</a:t>
            </a:r>
            <a:endParaRPr kumimoji="1" lang="ja-JP" altLang="en-US" dirty="0"/>
          </a:p>
        </p:txBody>
      </p:sp>
    </p:spTree>
    <p:extLst>
      <p:ext uri="{BB962C8B-B14F-4D97-AF65-F5344CB8AC3E}">
        <p14:creationId xmlns:p14="http://schemas.microsoft.com/office/powerpoint/2010/main" val="18329676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63748-B5D1-6E0B-F73F-31F9E93ACD6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58C9B9-0CFD-598F-ED57-A48E1A438A21}"/>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37A54BC4-E42E-1394-CE83-39BD05DFB28D}"/>
              </a:ext>
            </a:extLst>
          </p:cNvPr>
          <p:cNvSpPr>
            <a:spLocks noGrp="1"/>
          </p:cNvSpPr>
          <p:nvPr>
            <p:ph type="body" sz="quarter" idx="10"/>
          </p:nvPr>
        </p:nvSpPr>
        <p:spPr/>
        <p:txBody>
          <a:bodyPr/>
          <a:lstStyle/>
          <a:p>
            <a:r>
              <a:rPr lang="ja-JP" altLang="en-US" dirty="0"/>
              <a:t>ムーアの法則のオーダーをコンデンサのエネルギー，単位面積あたりの個数，周波数から計算して，電圧の閾値の問題から周波数をこれ以上上げにくい理由を解釈するパートが面白かった．</a:t>
            </a:r>
          </a:p>
          <a:p>
            <a:r>
              <a:rPr lang="ja-JP" altLang="en-US" dirty="0"/>
              <a:t>あとしょぼんとかしぃとかが可愛い．</a:t>
            </a:r>
            <a:endParaRPr kumimoji="1" lang="ja-JP" altLang="en-US" dirty="0"/>
          </a:p>
        </p:txBody>
      </p:sp>
    </p:spTree>
    <p:extLst>
      <p:ext uri="{BB962C8B-B14F-4D97-AF65-F5344CB8AC3E}">
        <p14:creationId xmlns:p14="http://schemas.microsoft.com/office/powerpoint/2010/main" val="17813055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E5A46-2C3A-AD81-42FC-73CBB766D5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A98F060-4A26-BAA2-BA15-57B106CB5A99}"/>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E93A0856-68CE-5661-0489-22A02D4355CC}"/>
              </a:ext>
            </a:extLst>
          </p:cNvPr>
          <p:cNvSpPr>
            <a:spLocks noGrp="1"/>
          </p:cNvSpPr>
          <p:nvPr>
            <p:ph type="body" sz="quarter" idx="10"/>
          </p:nvPr>
        </p:nvSpPr>
        <p:spPr/>
        <p:txBody>
          <a:bodyPr/>
          <a:lstStyle/>
          <a:p>
            <a:r>
              <a:rPr lang="ja-JP" altLang="en-US" dirty="0"/>
              <a:t>クロックによる同期化を使わずにパイプラインを作る場合気合いで遅延を合わせると聞いた時、あまりにも力技すぎて、それをやっている研究がすごく気になりました。</a:t>
            </a:r>
          </a:p>
          <a:p>
            <a:endParaRPr kumimoji="1" lang="ja-JP" altLang="en-US" dirty="0"/>
          </a:p>
        </p:txBody>
      </p:sp>
    </p:spTree>
    <p:extLst>
      <p:ext uri="{BB962C8B-B14F-4D97-AF65-F5344CB8AC3E}">
        <p14:creationId xmlns:p14="http://schemas.microsoft.com/office/powerpoint/2010/main" val="39503190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27E14-87E5-3542-BBDA-2AAC1120288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71C10F9-F40E-8E7E-B04A-424C2A452C1C}"/>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6EDE92C4-F0A9-75DF-6530-F0A5DFBF11B9}"/>
              </a:ext>
            </a:extLst>
          </p:cNvPr>
          <p:cNvSpPr>
            <a:spLocks noGrp="1"/>
          </p:cNvSpPr>
          <p:nvPr>
            <p:ph type="body" sz="quarter" idx="10"/>
          </p:nvPr>
        </p:nvSpPr>
        <p:spPr/>
        <p:txBody>
          <a:bodyPr/>
          <a:lstStyle/>
          <a:p>
            <a:r>
              <a:rPr lang="ja-JP" altLang="en-US" dirty="0"/>
              <a:t>今回の講義を通して、この授業全体が消費電力という観点を軸に構成されていることに改めて気づきました。消費電力は自分の研究関心とも近いため、特に興味深く感じました。</a:t>
            </a:r>
            <a:endParaRPr kumimoji="1" lang="ja-JP" altLang="en-US" dirty="0"/>
          </a:p>
        </p:txBody>
      </p:sp>
    </p:spTree>
    <p:extLst>
      <p:ext uri="{BB962C8B-B14F-4D97-AF65-F5344CB8AC3E}">
        <p14:creationId xmlns:p14="http://schemas.microsoft.com/office/powerpoint/2010/main" val="22126878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CE54-0926-BD2F-8870-6DF53232E3A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7EADE7-E34B-CD1F-0837-C2DCDF89FD83}"/>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46D3F51E-C6AF-7F47-A855-DEB708B9B398}"/>
              </a:ext>
            </a:extLst>
          </p:cNvPr>
          <p:cNvSpPr>
            <a:spLocks noGrp="1"/>
          </p:cNvSpPr>
          <p:nvPr>
            <p:ph type="body" sz="quarter" idx="10"/>
          </p:nvPr>
        </p:nvSpPr>
        <p:spPr/>
        <p:txBody>
          <a:bodyPr/>
          <a:lstStyle/>
          <a:p>
            <a:r>
              <a:rPr lang="en-US" altLang="ja-JP" dirty="0"/>
              <a:t>FPU</a:t>
            </a:r>
            <a:r>
              <a:rPr lang="ja-JP" altLang="en-US" dirty="0"/>
              <a:t>やキャッシュがデカスギて驚きました。</a:t>
            </a:r>
            <a:r>
              <a:rPr lang="en-US" altLang="ja-JP" dirty="0" err="1"/>
              <a:t>Cerebras</a:t>
            </a:r>
            <a:r>
              <a:rPr lang="ja-JP" altLang="en-US" dirty="0"/>
              <a:t>も</a:t>
            </a:r>
            <a:r>
              <a:rPr lang="en-US" altLang="ja-JP" dirty="0"/>
              <a:t>chip</a:t>
            </a:r>
            <a:r>
              <a:rPr lang="ja-JP" altLang="en-US" dirty="0"/>
              <a:t>がデカスギになる理由がわかりました。</a:t>
            </a:r>
            <a:endParaRPr kumimoji="1" lang="ja-JP" altLang="en-US" dirty="0"/>
          </a:p>
        </p:txBody>
      </p:sp>
    </p:spTree>
    <p:extLst>
      <p:ext uri="{BB962C8B-B14F-4D97-AF65-F5344CB8AC3E}">
        <p14:creationId xmlns:p14="http://schemas.microsoft.com/office/powerpoint/2010/main" val="13042831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7CF3D-FB55-1C2F-CDEB-413050647CF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9C4537B-9D3B-4A23-26DA-DE2ADB0806F1}"/>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4515CBEA-9B33-D59D-0D61-F6ABA489615D}"/>
              </a:ext>
            </a:extLst>
          </p:cNvPr>
          <p:cNvSpPr>
            <a:spLocks noGrp="1"/>
          </p:cNvSpPr>
          <p:nvPr>
            <p:ph type="body" sz="quarter" idx="10"/>
          </p:nvPr>
        </p:nvSpPr>
        <p:spPr/>
        <p:txBody>
          <a:bodyPr/>
          <a:lstStyle/>
          <a:p>
            <a:r>
              <a:rPr lang="ja-JP" altLang="en-US" dirty="0"/>
              <a:t>以前オーバークロックを試したときに感じていた「電圧を上げると消費電力や発熱が一気に増える」という現象を、より理論的に理解できました。特に数式から、電圧が二乗で効くという点が印象に残りました。また、周波数を上げるとスイッチング回数も増えるので、オーバークロック時に電力が大きく増える理由がかなり明確になりました。</a:t>
            </a:r>
          </a:p>
          <a:p>
            <a:endParaRPr kumimoji="1" lang="ja-JP" altLang="en-US" dirty="0"/>
          </a:p>
        </p:txBody>
      </p:sp>
    </p:spTree>
    <p:extLst>
      <p:ext uri="{BB962C8B-B14F-4D97-AF65-F5344CB8AC3E}">
        <p14:creationId xmlns:p14="http://schemas.microsoft.com/office/powerpoint/2010/main" val="23164322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FF257-ED1D-289F-33AD-1FB14FAECD6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81A95B-2F60-D8E5-7A5E-14E880C9DE44}"/>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0D63C362-B397-3022-D8EE-446F98C94FC0}"/>
              </a:ext>
            </a:extLst>
          </p:cNvPr>
          <p:cNvSpPr>
            <a:spLocks noGrp="1"/>
          </p:cNvSpPr>
          <p:nvPr>
            <p:ph type="body" sz="quarter" idx="10"/>
          </p:nvPr>
        </p:nvSpPr>
        <p:spPr/>
        <p:txBody>
          <a:bodyPr/>
          <a:lstStyle/>
          <a:p>
            <a:r>
              <a:rPr lang="en-US" altLang="ja-JP" dirty="0"/>
              <a:t>FPGA</a:t>
            </a:r>
            <a:r>
              <a:rPr lang="ja-JP" altLang="en-US" dirty="0"/>
              <a:t>と</a:t>
            </a:r>
            <a:r>
              <a:rPr lang="en-US" altLang="ja-JP" dirty="0"/>
              <a:t>CPU</a:t>
            </a:r>
            <a:r>
              <a:rPr lang="ja-JP" altLang="en-US" dirty="0"/>
              <a:t>の比較が行われていたが、</a:t>
            </a:r>
            <a:r>
              <a:rPr lang="en-US" altLang="ja-JP" dirty="0"/>
              <a:t>(</a:t>
            </a:r>
            <a:r>
              <a:rPr lang="ja-JP" altLang="en-US" dirty="0"/>
              <a:t>研究でも開発でもどちらにも言えると思うが</a:t>
            </a:r>
            <a:r>
              <a:rPr lang="en-US" altLang="ja-JP" dirty="0"/>
              <a:t>)</a:t>
            </a:r>
            <a:r>
              <a:rPr lang="ja-JP" altLang="en-US" dirty="0"/>
              <a:t>じゃあどういった時は</a:t>
            </a:r>
            <a:r>
              <a:rPr lang="en-US" altLang="ja-JP" dirty="0"/>
              <a:t>FPGA</a:t>
            </a:r>
            <a:r>
              <a:rPr lang="ja-JP" altLang="en-US" dirty="0"/>
              <a:t>を使って、どういった時は</a:t>
            </a:r>
            <a:r>
              <a:rPr lang="en-US" altLang="ja-JP" dirty="0"/>
              <a:t>CPU</a:t>
            </a:r>
            <a:r>
              <a:rPr lang="ja-JP" altLang="en-US" dirty="0"/>
              <a:t>を使うべきなのかのデファクトスタンダードみたいなものはあるのだろうか？多くの人たちの共通認識としてあるのかが気になった</a:t>
            </a:r>
          </a:p>
          <a:p>
            <a:endParaRPr kumimoji="1" lang="ja-JP" altLang="en-US" dirty="0"/>
          </a:p>
        </p:txBody>
      </p:sp>
    </p:spTree>
    <p:extLst>
      <p:ext uri="{BB962C8B-B14F-4D97-AF65-F5344CB8AC3E}">
        <p14:creationId xmlns:p14="http://schemas.microsoft.com/office/powerpoint/2010/main" val="16968100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F6247-10D1-A1D9-4468-893B33022E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B727523-D8F9-3EF1-D918-C0073C9D48F2}"/>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60741638-AD95-0FE3-1EB0-C68458835243}"/>
              </a:ext>
            </a:extLst>
          </p:cNvPr>
          <p:cNvSpPr>
            <a:spLocks noGrp="1"/>
          </p:cNvSpPr>
          <p:nvPr>
            <p:ph type="body" sz="quarter" idx="10"/>
          </p:nvPr>
        </p:nvSpPr>
        <p:spPr/>
        <p:txBody>
          <a:bodyPr/>
          <a:lstStyle/>
          <a:p>
            <a:r>
              <a:rPr lang="ja-JP" altLang="en-US" dirty="0"/>
              <a:t>ムーアの法則関連で、回路のサイズ以外に回路自体の設計による改善などはないでしょうか。既にチップの設計は収束されているのでしょうか。</a:t>
            </a:r>
          </a:p>
          <a:p>
            <a:endParaRPr kumimoji="1" lang="ja-JP" altLang="en-US" dirty="0"/>
          </a:p>
        </p:txBody>
      </p:sp>
    </p:spTree>
    <p:extLst>
      <p:ext uri="{BB962C8B-B14F-4D97-AF65-F5344CB8AC3E}">
        <p14:creationId xmlns:p14="http://schemas.microsoft.com/office/powerpoint/2010/main" val="1724619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95DC-7E02-3FE4-F0E9-866A461B51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0FC445B-34C3-D2D5-CA08-545413057C42}"/>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221DD8DB-80F1-5FF2-2E62-29A098A6E15F}"/>
              </a:ext>
            </a:extLst>
          </p:cNvPr>
          <p:cNvSpPr>
            <a:spLocks noGrp="1"/>
          </p:cNvSpPr>
          <p:nvPr>
            <p:ph type="body" sz="quarter" idx="10"/>
          </p:nvPr>
        </p:nvSpPr>
        <p:spPr/>
        <p:txBody>
          <a:bodyPr/>
          <a:lstStyle/>
          <a:p>
            <a:r>
              <a:rPr lang="ja-JP" altLang="en-US" dirty="0"/>
              <a:t>パイプラインの説明は</a:t>
            </a:r>
            <a:r>
              <a:rPr lang="en-US" altLang="ja-JP" dirty="0"/>
              <a:t>5</a:t>
            </a:r>
            <a:r>
              <a:rPr lang="ja-JP" altLang="en-US" dirty="0"/>
              <a:t>ステージでされることが多いと思うのですが、実際に使われている</a:t>
            </a:r>
            <a:r>
              <a:rPr lang="en-US" altLang="ja-JP" dirty="0"/>
              <a:t>CPU</a:t>
            </a:r>
            <a:r>
              <a:rPr lang="ja-JP" altLang="en-US" dirty="0"/>
              <a:t>などではどのくらいのステージ数に分割されているのか気になりました。</a:t>
            </a:r>
          </a:p>
          <a:p>
            <a:endParaRPr kumimoji="1" lang="ja-JP" altLang="en-US" dirty="0"/>
          </a:p>
        </p:txBody>
      </p:sp>
    </p:spTree>
    <p:extLst>
      <p:ext uri="{BB962C8B-B14F-4D97-AF65-F5344CB8AC3E}">
        <p14:creationId xmlns:p14="http://schemas.microsoft.com/office/powerpoint/2010/main" val="21922342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FCCA6-838B-606F-59A5-261411075CA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C32455E-7A37-310B-1C82-B454F8B452DC}"/>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8B6EAF62-7D61-EFF6-5CC8-1BD39CCD97D1}"/>
              </a:ext>
            </a:extLst>
          </p:cNvPr>
          <p:cNvSpPr>
            <a:spLocks noGrp="1"/>
          </p:cNvSpPr>
          <p:nvPr>
            <p:ph type="body" sz="quarter" idx="10"/>
          </p:nvPr>
        </p:nvSpPr>
        <p:spPr/>
        <p:txBody>
          <a:bodyPr/>
          <a:lstStyle/>
          <a:p>
            <a:r>
              <a:rPr lang="en-US" altLang="ja-JP" dirty="0"/>
              <a:t>FPGA</a:t>
            </a:r>
            <a:r>
              <a:rPr lang="ja-JP" altLang="en-US" dirty="0"/>
              <a:t>では専用回路では優秀だが、やることが増えるほど周波数の問題で結局</a:t>
            </a:r>
            <a:r>
              <a:rPr lang="en-US" altLang="ja-JP" dirty="0"/>
              <a:t>CPU</a:t>
            </a:r>
            <a:r>
              <a:rPr lang="ja-JP" altLang="en-US" dirty="0"/>
              <a:t>で回したほうがよい</a:t>
            </a:r>
            <a:r>
              <a:rPr lang="en-US" altLang="ja-JP" dirty="0"/>
              <a:t>(</a:t>
            </a:r>
            <a:r>
              <a:rPr lang="ja-JP" altLang="en-US" dirty="0"/>
              <a:t>要約</a:t>
            </a:r>
            <a:r>
              <a:rPr lang="en-US" altLang="ja-JP" dirty="0"/>
              <a:t>)</a:t>
            </a:r>
            <a:r>
              <a:rPr lang="ja-JP" altLang="en-US" dirty="0"/>
              <a:t>というお話をお聞きして、</a:t>
            </a:r>
            <a:r>
              <a:rPr lang="en-US" altLang="ja-JP" dirty="0"/>
              <a:t>ASIC</a:t>
            </a:r>
            <a:r>
              <a:rPr lang="ja-JP" altLang="en-US" dirty="0"/>
              <a:t>とかで載せる分にはあまりデメリットがないのかな</a:t>
            </a:r>
            <a:r>
              <a:rPr lang="en-US" altLang="ja-JP" dirty="0"/>
              <a:t>? </a:t>
            </a:r>
            <a:r>
              <a:rPr lang="ja-JP" altLang="en-US" dirty="0"/>
              <a:t>という気持ちになりました。 もっともただただ</a:t>
            </a:r>
            <a:r>
              <a:rPr lang="en-US" altLang="ja-JP" dirty="0"/>
              <a:t>CPU</a:t>
            </a:r>
            <a:r>
              <a:rPr lang="ja-JP" altLang="en-US" dirty="0"/>
              <a:t>と同じレイヤに落ちているだけでデメリットとかで議論する話なのか、という感じですが</a:t>
            </a:r>
            <a:r>
              <a:rPr lang="en-US" altLang="ja-JP" dirty="0"/>
              <a:t>……</a:t>
            </a:r>
          </a:p>
          <a:p>
            <a:endParaRPr kumimoji="1" lang="ja-JP" altLang="en-US" dirty="0"/>
          </a:p>
        </p:txBody>
      </p:sp>
    </p:spTree>
    <p:extLst>
      <p:ext uri="{BB962C8B-B14F-4D97-AF65-F5344CB8AC3E}">
        <p14:creationId xmlns:p14="http://schemas.microsoft.com/office/powerpoint/2010/main" val="23120729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0BA84-B0CD-777C-50E8-17697B8C39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BCF173-4721-04B7-7045-F107B0927B48}"/>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6689FD9B-7674-8D24-6BBE-BC3C00C30766}"/>
              </a:ext>
            </a:extLst>
          </p:cNvPr>
          <p:cNvSpPr>
            <a:spLocks noGrp="1"/>
          </p:cNvSpPr>
          <p:nvPr>
            <p:ph type="body" sz="quarter" idx="10"/>
          </p:nvPr>
        </p:nvSpPr>
        <p:spPr/>
        <p:txBody>
          <a:bodyPr/>
          <a:lstStyle/>
          <a:p>
            <a:r>
              <a:rPr lang="ja-JP" altLang="en-US" dirty="0"/>
              <a:t>以前まで、「</a:t>
            </a:r>
            <a:r>
              <a:rPr lang="en-US" altLang="ja-JP" dirty="0"/>
              <a:t>FPGA</a:t>
            </a:r>
            <a:r>
              <a:rPr lang="ja-JP" altLang="en-US" dirty="0"/>
              <a:t>は電力効率が悪い」という記述の意味を理解できていなかったが、</a:t>
            </a:r>
            <a:r>
              <a:rPr lang="en-US" altLang="ja-JP" dirty="0"/>
              <a:t>LUT</a:t>
            </a:r>
            <a:r>
              <a:rPr lang="ja-JP" altLang="en-US" dirty="0"/>
              <a:t>としての論理回路実現がトランジスタを贅沢に使用するのが原因だという点が、個人的には明快だった。</a:t>
            </a:r>
            <a:endParaRPr kumimoji="1" lang="ja-JP" altLang="en-US" dirty="0"/>
          </a:p>
        </p:txBody>
      </p:sp>
    </p:spTree>
    <p:extLst>
      <p:ext uri="{BB962C8B-B14F-4D97-AF65-F5344CB8AC3E}">
        <p14:creationId xmlns:p14="http://schemas.microsoft.com/office/powerpoint/2010/main" val="9224346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7FFBF-991D-DA2A-9E23-8C2F1FC315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3AFA39-F268-A306-B639-9620D829F1BA}"/>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78F8DC30-7009-65B6-93AA-D3887A2AEDF8}"/>
              </a:ext>
            </a:extLst>
          </p:cNvPr>
          <p:cNvSpPr>
            <a:spLocks noGrp="1"/>
          </p:cNvSpPr>
          <p:nvPr>
            <p:ph type="body" sz="quarter" idx="10"/>
          </p:nvPr>
        </p:nvSpPr>
        <p:spPr/>
        <p:txBody>
          <a:bodyPr/>
          <a:lstStyle/>
          <a:p>
            <a:r>
              <a:rPr lang="en-US" altLang="ja-JP" dirty="0"/>
              <a:t>2000</a:t>
            </a:r>
            <a:r>
              <a:rPr lang="ja-JP" altLang="en-US" dirty="0"/>
              <a:t>年以前は電圧低下できていたのは何に起因するものなのか気になった。</a:t>
            </a:r>
            <a:endParaRPr kumimoji="1" lang="ja-JP" altLang="en-US" dirty="0"/>
          </a:p>
        </p:txBody>
      </p:sp>
    </p:spTree>
    <p:extLst>
      <p:ext uri="{BB962C8B-B14F-4D97-AF65-F5344CB8AC3E}">
        <p14:creationId xmlns:p14="http://schemas.microsoft.com/office/powerpoint/2010/main" val="30416519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4BCA-7FB0-6C2C-2EEE-F496EECA3A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C39E37-DF6A-9C66-A418-ABDA595EF80C}"/>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21EEF924-7E50-DBF2-E20F-FB6A9397214A}"/>
              </a:ext>
            </a:extLst>
          </p:cNvPr>
          <p:cNvSpPr>
            <a:spLocks noGrp="1"/>
          </p:cNvSpPr>
          <p:nvPr>
            <p:ph type="body" sz="quarter" idx="10"/>
          </p:nvPr>
        </p:nvSpPr>
        <p:spPr/>
        <p:txBody>
          <a:bodyPr/>
          <a:lstStyle/>
          <a:p>
            <a:r>
              <a:rPr lang="en-US" altLang="ja-JP" dirty="0"/>
              <a:t>aco-shioya-02.pdf</a:t>
            </a:r>
            <a:r>
              <a:rPr lang="ja-JP" altLang="en-US" dirty="0"/>
              <a:t>の講義資料の</a:t>
            </a:r>
            <a:r>
              <a:rPr lang="en-US" altLang="ja-JP" dirty="0"/>
              <a:t>52p</a:t>
            </a:r>
            <a:r>
              <a:rPr lang="ja-JP" altLang="en-US" dirty="0"/>
              <a:t>あたりで、水流と位置エネルギーに例えて解決してくださってとても直感的に若やすかったのですが、入力よりも高い位置にある</a:t>
            </a:r>
            <a:r>
              <a:rPr lang="en-US" altLang="ja-JP" dirty="0"/>
              <a:t>P</a:t>
            </a:r>
            <a:r>
              <a:rPr lang="ja-JP" altLang="en-US" dirty="0"/>
              <a:t>タンクに、入力されたら水が流れているように見えるのですが、位置エネルギー的にあり得るんでしょうか</a:t>
            </a:r>
            <a:r>
              <a:rPr lang="en-US" altLang="ja-JP" dirty="0"/>
              <a:t>...</a:t>
            </a:r>
            <a:r>
              <a:rPr lang="ja-JP" altLang="en-US" dirty="0"/>
              <a:t>勢いよく流れるから上まで流れるのですか</a:t>
            </a:r>
            <a:r>
              <a:rPr lang="en-US" altLang="ja-JP" dirty="0"/>
              <a:t>...</a:t>
            </a:r>
            <a:r>
              <a:rPr lang="ja-JP" altLang="en-US" dirty="0"/>
              <a:t>解釈が間違っていたらごめんなさい。</a:t>
            </a:r>
            <a:endParaRPr kumimoji="1" lang="ja-JP" altLang="en-US" dirty="0"/>
          </a:p>
        </p:txBody>
      </p:sp>
    </p:spTree>
    <p:extLst>
      <p:ext uri="{BB962C8B-B14F-4D97-AF65-F5344CB8AC3E}">
        <p14:creationId xmlns:p14="http://schemas.microsoft.com/office/powerpoint/2010/main" val="30475206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AFF1A3-E834-5FA1-4923-D97E5C5F766D}"/>
              </a:ext>
            </a:extLst>
          </p:cNvPr>
          <p:cNvSpPr>
            <a:spLocks noGrp="1"/>
          </p:cNvSpPr>
          <p:nvPr>
            <p:ph type="title"/>
          </p:nvPr>
        </p:nvSpPr>
        <p:spPr/>
        <p:txBody>
          <a:bodyPr/>
          <a:lstStyle/>
          <a:p>
            <a:r>
              <a:rPr lang="ja-JP" altLang="en-US" dirty="0"/>
              <a:t>質問とか回答など</a:t>
            </a:r>
            <a:endParaRPr kumimoji="1" lang="ja-JP" altLang="en-US" dirty="0"/>
          </a:p>
        </p:txBody>
      </p:sp>
      <p:sp>
        <p:nvSpPr>
          <p:cNvPr id="3" name="テキスト プレースホルダー 2">
            <a:extLst>
              <a:ext uri="{FF2B5EF4-FFF2-40B4-BE49-F238E27FC236}">
                <a16:creationId xmlns:a16="http://schemas.microsoft.com/office/drawing/2014/main" id="{19B6E93A-6D90-9CD6-808C-204B53B43F62}"/>
              </a:ext>
            </a:extLst>
          </p:cNvPr>
          <p:cNvSpPr>
            <a:spLocks noGrp="1"/>
          </p:cNvSpPr>
          <p:nvPr>
            <p:ph type="body" sz="quarter" idx="10"/>
          </p:nvPr>
        </p:nvSpPr>
        <p:spPr/>
        <p:txBody>
          <a:bodyPr/>
          <a:lstStyle/>
          <a:p>
            <a:r>
              <a:rPr lang="en-US" altLang="ja-JP" dirty="0"/>
              <a:t>power throttling </a:t>
            </a:r>
            <a:r>
              <a:rPr lang="ja-JP" altLang="en-US" dirty="0"/>
              <a:t>が今かなり問題になっているというのは、自分の経験上も非常にクリティカルな問題だという理解です。 周波数を</a:t>
            </a:r>
            <a:r>
              <a:rPr lang="en-US" altLang="ja-JP" dirty="0"/>
              <a:t>GHz </a:t>
            </a:r>
            <a:r>
              <a:rPr lang="ja-JP" altLang="en-US" dirty="0"/>
              <a:t>に載せられないレベルとなると、もはやパフォーマンスエンジニアリングが、理論上の性能を引き上げること以上に電力密度を落とす </a:t>
            </a:r>
            <a:r>
              <a:rPr lang="en-US" altLang="ja-JP" dirty="0"/>
              <a:t>program mapping </a:t>
            </a:r>
            <a:r>
              <a:rPr lang="ja-JP" altLang="en-US" dirty="0"/>
              <a:t>にすることも必要になりそうだなと、</a:t>
            </a:r>
            <a:r>
              <a:rPr lang="en-US" altLang="ja-JP" dirty="0"/>
              <a:t>wafer-scale programming </a:t>
            </a:r>
            <a:r>
              <a:rPr lang="ja-JP" altLang="en-US" dirty="0"/>
              <a:t>をしている身からは感じました。</a:t>
            </a:r>
            <a:endParaRPr lang="en-US" altLang="ja-JP" dirty="0"/>
          </a:p>
          <a:p>
            <a:r>
              <a:rPr lang="ja-JP" altLang="en-US" dirty="0"/>
              <a:t>（とはいえ、</a:t>
            </a:r>
            <a:r>
              <a:rPr lang="en-US" altLang="ja-JP" dirty="0"/>
              <a:t>power-throttling </a:t>
            </a:r>
            <a:r>
              <a:rPr lang="ja-JP" altLang="en-US" dirty="0"/>
              <a:t>は </a:t>
            </a:r>
            <a:r>
              <a:rPr lang="en-US" altLang="ja-JP" dirty="0"/>
              <a:t>fine-grained </a:t>
            </a:r>
            <a:r>
              <a:rPr lang="ja-JP" altLang="en-US" dirty="0"/>
              <a:t>で発生するとすると、事実上対策は難しいですが）</a:t>
            </a:r>
            <a:endParaRPr lang="en-US" altLang="ja-JP" dirty="0"/>
          </a:p>
          <a:p>
            <a:r>
              <a:rPr lang="ja-JP" altLang="en-US" dirty="0"/>
              <a:t> パイプライン処理に関連する話として、</a:t>
            </a:r>
            <a:r>
              <a:rPr lang="en-US" altLang="ja-JP" dirty="0"/>
              <a:t>GPU</a:t>
            </a:r>
            <a:r>
              <a:rPr lang="ja-JP" altLang="en-US" dirty="0"/>
              <a:t>の</a:t>
            </a:r>
            <a:r>
              <a:rPr lang="en-US" altLang="ja-JP" dirty="0"/>
              <a:t>TMA</a:t>
            </a:r>
            <a:r>
              <a:rPr lang="ja-JP" altLang="en-US" dirty="0"/>
              <a:t>とか </a:t>
            </a:r>
            <a:r>
              <a:rPr lang="en-US" altLang="ja-JP" dirty="0" err="1"/>
              <a:t>Cerebras</a:t>
            </a:r>
            <a:r>
              <a:rPr lang="en-US" altLang="ja-JP" dirty="0"/>
              <a:t> </a:t>
            </a:r>
            <a:r>
              <a:rPr lang="ja-JP" altLang="en-US" dirty="0"/>
              <a:t>の </a:t>
            </a:r>
            <a:r>
              <a:rPr lang="en-US" altLang="ja-JP" dirty="0"/>
              <a:t>PE </a:t>
            </a:r>
            <a:r>
              <a:rPr lang="ja-JP" altLang="en-US" dirty="0"/>
              <a:t>みたいに、</a:t>
            </a:r>
            <a:r>
              <a:rPr lang="en-US" altLang="ja-JP" dirty="0"/>
              <a:t>address generation &amp; data load </a:t>
            </a:r>
            <a:r>
              <a:rPr lang="ja-JP" altLang="en-US" dirty="0"/>
              <a:t>と </a:t>
            </a:r>
            <a:r>
              <a:rPr lang="en-US" altLang="ja-JP" dirty="0"/>
              <a:t>compute </a:t>
            </a:r>
            <a:r>
              <a:rPr lang="ja-JP" altLang="en-US" dirty="0"/>
              <a:t>を </a:t>
            </a:r>
            <a:r>
              <a:rPr lang="en-US" altLang="ja-JP" dirty="0"/>
              <a:t>overlap </a:t>
            </a:r>
            <a:r>
              <a:rPr lang="ja-JP" altLang="en-US" dirty="0"/>
              <a:t>させて実行するハードウェア機構（およびその専用命令）というのは最新のトレンドとして面白いなと思っています。</a:t>
            </a:r>
            <a:endParaRPr kumimoji="1" lang="ja-JP" altLang="en-US" dirty="0"/>
          </a:p>
        </p:txBody>
      </p:sp>
    </p:spTree>
    <p:extLst>
      <p:ext uri="{BB962C8B-B14F-4D97-AF65-F5344CB8AC3E}">
        <p14:creationId xmlns:p14="http://schemas.microsoft.com/office/powerpoint/2010/main" val="16532364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75316-17E1-33D9-6EE8-C3CD26F3EF7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2A3094D-C1D2-0A3D-FCA1-20E3760200CD}"/>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7579EC45-6507-B194-4906-A1A050249629}"/>
              </a:ext>
            </a:extLst>
          </p:cNvPr>
          <p:cNvSpPr>
            <a:spLocks noGrp="1"/>
          </p:cNvSpPr>
          <p:nvPr>
            <p:ph type="body" sz="quarter" idx="10"/>
          </p:nvPr>
        </p:nvSpPr>
        <p:spPr/>
        <p:txBody>
          <a:bodyPr/>
          <a:lstStyle/>
          <a:p>
            <a:r>
              <a:rPr lang="en-US" altLang="ja-JP" dirty="0"/>
              <a:t>FPGA</a:t>
            </a:r>
            <a:r>
              <a:rPr lang="ja-JP" altLang="en-US" dirty="0"/>
              <a:t>で専用回路を組むのは効率が悪いとのことでしたが、チップ評価の前に</a:t>
            </a:r>
            <a:r>
              <a:rPr lang="en-US" altLang="ja-JP" dirty="0"/>
              <a:t>FPGA</a:t>
            </a:r>
            <a:r>
              <a:rPr lang="ja-JP" altLang="en-US" dirty="0"/>
              <a:t>評価を取るのが有効な場合とそうでない場合があるのでしょうか？</a:t>
            </a:r>
          </a:p>
          <a:p>
            <a:endParaRPr kumimoji="1" lang="ja-JP" altLang="en-US" dirty="0"/>
          </a:p>
        </p:txBody>
      </p:sp>
    </p:spTree>
    <p:extLst>
      <p:ext uri="{BB962C8B-B14F-4D97-AF65-F5344CB8AC3E}">
        <p14:creationId xmlns:p14="http://schemas.microsoft.com/office/powerpoint/2010/main" val="31583967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310FB-F467-5EA4-0099-5F1E8D458FB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AA40FC5-E80D-FD46-5CE7-9FE12EDFB9B4}"/>
              </a:ext>
            </a:extLst>
          </p:cNvPr>
          <p:cNvSpPr>
            <a:spLocks noGrp="1"/>
          </p:cNvSpPr>
          <p:nvPr>
            <p:ph type="title"/>
          </p:nvPr>
        </p:nvSpPr>
        <p:spPr/>
        <p:txBody>
          <a:bodyPr/>
          <a:lstStyle/>
          <a:p>
            <a:r>
              <a:rPr kumimoji="1" lang="ja-JP" altLang="en-US" dirty="0"/>
              <a:t>質問とか回答など</a:t>
            </a:r>
          </a:p>
        </p:txBody>
      </p:sp>
      <p:sp>
        <p:nvSpPr>
          <p:cNvPr id="3" name="テキスト プレースホルダー 2">
            <a:extLst>
              <a:ext uri="{FF2B5EF4-FFF2-40B4-BE49-F238E27FC236}">
                <a16:creationId xmlns:a16="http://schemas.microsoft.com/office/drawing/2014/main" id="{84C6D19B-FD42-1EBA-34C9-B4139A5AB3FB}"/>
              </a:ext>
            </a:extLst>
          </p:cNvPr>
          <p:cNvSpPr>
            <a:spLocks noGrp="1"/>
          </p:cNvSpPr>
          <p:nvPr>
            <p:ph type="body" sz="quarter" idx="10"/>
          </p:nvPr>
        </p:nvSpPr>
        <p:spPr/>
        <p:txBody>
          <a:bodyPr/>
          <a:lstStyle/>
          <a:p>
            <a:r>
              <a:rPr lang="ja-JP" altLang="en-US" dirty="0"/>
              <a:t>天文シミュレーションの</a:t>
            </a:r>
            <a:r>
              <a:rPr lang="en-US" altLang="ja-JP" dirty="0"/>
              <a:t>N</a:t>
            </a:r>
            <a:r>
              <a:rPr lang="ja-JP" altLang="en-US" dirty="0"/>
              <a:t>体計算専用のプロセッサ</a:t>
            </a:r>
            <a:r>
              <a:rPr lang="en-US" altLang="ja-JP" dirty="0"/>
              <a:t>(GRAPE)</a:t>
            </a:r>
            <a:r>
              <a:rPr lang="ja-JP" altLang="en-US" dirty="0"/>
              <a:t>が昔はあったのに、最近はやられていないことが個人的に気になっていました。特に</a:t>
            </a:r>
            <a:r>
              <a:rPr lang="en-US" altLang="ja-JP" dirty="0"/>
              <a:t>FPGA</a:t>
            </a:r>
            <a:r>
              <a:rPr lang="ja-JP" altLang="en-US" dirty="0"/>
              <a:t>とかで昔よりは簡単にできないのかな</a:t>
            </a:r>
            <a:r>
              <a:rPr lang="en-US" altLang="ja-JP" dirty="0"/>
              <a:t>?</a:t>
            </a:r>
            <a:r>
              <a:rPr lang="ja-JP" altLang="en-US" dirty="0"/>
              <a:t>とか考えていたのですが、今回の講義で</a:t>
            </a:r>
            <a:r>
              <a:rPr lang="en-US" altLang="ja-JP" dirty="0"/>
              <a:t>FP</a:t>
            </a:r>
            <a:r>
              <a:rPr lang="ja-JP" altLang="en-US" dirty="0"/>
              <a:t>が結構面倒であること、それを</a:t>
            </a:r>
            <a:r>
              <a:rPr lang="en-US" altLang="ja-JP" dirty="0"/>
              <a:t>FPGA</a:t>
            </a:r>
            <a:r>
              <a:rPr lang="ja-JP" altLang="en-US" dirty="0"/>
              <a:t>に載せるとハードワイヤしたものより遥かに効率が下がってしまうことを理解して納得しました。</a:t>
            </a:r>
          </a:p>
          <a:p>
            <a:endParaRPr kumimoji="1" lang="ja-JP" altLang="en-US" dirty="0"/>
          </a:p>
        </p:txBody>
      </p:sp>
    </p:spTree>
    <p:extLst>
      <p:ext uri="{BB962C8B-B14F-4D97-AF65-F5344CB8AC3E}">
        <p14:creationId xmlns:p14="http://schemas.microsoft.com/office/powerpoint/2010/main" val="18109636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3">
      <a:dk1>
        <a:sysClr val="windowText" lastClr="000000"/>
      </a:dk1>
      <a:lt1>
        <a:sysClr val="window" lastClr="FFFFFF"/>
      </a:lt1>
      <a:dk2>
        <a:srgbClr val="F4EB00"/>
      </a:dk2>
      <a:lt2>
        <a:srgbClr val="C4FF4A"/>
      </a:lt2>
      <a:accent1>
        <a:srgbClr val="5782B5"/>
      </a:accent1>
      <a:accent2>
        <a:srgbClr val="B65A58"/>
      </a:accent2>
      <a:accent3>
        <a:srgbClr val="81945C"/>
      </a:accent3>
      <a:accent4>
        <a:srgbClr val="5C6994"/>
      </a:accent4>
      <a:accent5>
        <a:srgbClr val="4E8EA2"/>
      </a:accent5>
      <a:accent6>
        <a:srgbClr val="C77D63"/>
      </a:accent6>
      <a:hlink>
        <a:srgbClr val="3A3AC6"/>
      </a:hlink>
      <a:folHlink>
        <a:srgbClr val="631D63"/>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aco-shioya-03</Template>
  <TotalTime>59667</TotalTime>
  <Words>7639</Words>
  <Application>Microsoft Office PowerPoint</Application>
  <PresentationFormat>ワイド画面</PresentationFormat>
  <Paragraphs>1438</Paragraphs>
  <Slides>107</Slides>
  <Notes>17</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107</vt:i4>
      </vt:variant>
    </vt:vector>
  </HeadingPairs>
  <TitlesOfParts>
    <vt:vector size="120" baseType="lpstr">
      <vt:lpstr>HG丸ｺﾞｼｯｸM-PRO</vt:lpstr>
      <vt:lpstr>MeiryoKe_PGothic</vt:lpstr>
      <vt:lpstr>ＭＳ Ｐゴシック</vt:lpstr>
      <vt:lpstr>メイリオ</vt:lpstr>
      <vt:lpstr>Arial Narrow</vt:lpstr>
      <vt:lpstr>Calibri</vt:lpstr>
      <vt:lpstr>Consolas</vt:lpstr>
      <vt:lpstr>Courier New</vt:lpstr>
      <vt:lpstr>Segoe UI</vt:lpstr>
      <vt:lpstr>Times New Roman</vt:lpstr>
      <vt:lpstr>Verdana</vt:lpstr>
      <vt:lpstr>Wingdings</vt:lpstr>
      <vt:lpstr>cerulean</vt:lpstr>
      <vt:lpstr>先進計算機構成論 04</vt:lpstr>
      <vt:lpstr>前回の振り返り：工場のラインを考える</vt:lpstr>
      <vt:lpstr>前回の振り返り：工場のラインを考える</vt:lpstr>
      <vt:lpstr>前回の振り返り：工場のラインを考える</vt:lpstr>
      <vt:lpstr>パイプライン化による性能向上</vt:lpstr>
      <vt:lpstr>命令パイプライン</vt:lpstr>
      <vt:lpstr>ハザード</vt:lpstr>
      <vt:lpstr>ハザード（hazard）</vt:lpstr>
      <vt:lpstr>もくじ</vt:lpstr>
      <vt:lpstr>工場のラインをまた考える</vt:lpstr>
      <vt:lpstr>釘の本数の変更</vt:lpstr>
      <vt:lpstr>釘打ちの人のところで構造ハザード</vt:lpstr>
      <vt:lpstr>増員による構造ハザードの解消</vt:lpstr>
      <vt:lpstr>コンピュータにおける構造ハザード</vt:lpstr>
      <vt:lpstr>構造ハザードの例１：メモリ間 mov</vt:lpstr>
      <vt:lpstr>mov [rs1]→[rs2] // [rs1]→[rs2] へのコピー</vt:lpstr>
      <vt:lpstr>構造ハザードの例２：push/pop</vt:lpstr>
      <vt:lpstr>pop：[rs1]→rd, rs1+1→rs1</vt:lpstr>
      <vt:lpstr>構造ハザードの例３</vt:lpstr>
      <vt:lpstr>構造ハザードの例３</vt:lpstr>
      <vt:lpstr>ld_inc [rs1]+1→rd  と add が連続した場合</vt:lpstr>
      <vt:lpstr>構造ハザードの解決方法</vt:lpstr>
      <vt:lpstr>解決方法１：ハードウェアの増強</vt:lpstr>
      <vt:lpstr>解決方法１：ハードウェアの増強</vt:lpstr>
      <vt:lpstr>ARM（32ビット）の Load/Store Multiple (LDM/STM) 命令 ビットマスクで指定した最大16個のレジスタへのロードストアを行う 関数呼び出し/復帰の際の，レジスタの保存や復帰でよく使われる</vt:lpstr>
      <vt:lpstr>構造ハザードの解決方法</vt:lpstr>
      <vt:lpstr>解決方法２：時分割で処理</vt:lpstr>
      <vt:lpstr>なぜパイプラインを止めるのか</vt:lpstr>
      <vt:lpstr>パイプラインを止めること</vt:lpstr>
      <vt:lpstr>ストールの動作</vt:lpstr>
      <vt:lpstr>ストールの実現方法</vt:lpstr>
      <vt:lpstr>WE つき D-FF の実現方法</vt:lpstr>
      <vt:lpstr>構造ハザードの解決方法</vt:lpstr>
      <vt:lpstr>解決方法３：マイクロ命令への変換</vt:lpstr>
      <vt:lpstr>マイクロ命令への変換の例</vt:lpstr>
      <vt:lpstr>マイクロ命令の分解の例</vt:lpstr>
      <vt:lpstr>時分割処理とマイクロ命令への分解の比較 I4 が終わる時間は変わらない</vt:lpstr>
      <vt:lpstr>マイクロ命令への分解の利点</vt:lpstr>
      <vt:lpstr>マイクロ命令への分解の利点</vt:lpstr>
      <vt:lpstr>マイクロ命令への分解の欠点</vt:lpstr>
      <vt:lpstr>AMD Bulldozer のチップ写真</vt:lpstr>
      <vt:lpstr>ARM Cortex-A15 の消費電力の割合</vt:lpstr>
      <vt:lpstr>マイクロ命令への分解の他の利点</vt:lpstr>
      <vt:lpstr>インテルの Core シリーズのエラッタのリスト 地味に結構バグってる</vt:lpstr>
      <vt:lpstr> Windows Update でこっそり更新されていたりもする </vt:lpstr>
      <vt:lpstr>余談：命令の歴史</vt:lpstr>
      <vt:lpstr>余談：命令の歴史</vt:lpstr>
      <vt:lpstr>構造ハザードのまとめ</vt:lpstr>
      <vt:lpstr>非構造ハザード</vt:lpstr>
      <vt:lpstr>非構造ハザード</vt:lpstr>
      <vt:lpstr>バックエッジとは：逆方向（右から左）にいく信号</vt:lpstr>
      <vt:lpstr>データ・ハザード</vt:lpstr>
      <vt:lpstr>データ・ハザード</vt:lpstr>
      <vt:lpstr>データ・ハザード</vt:lpstr>
      <vt:lpstr>データ・ハザードの解消方法</vt:lpstr>
      <vt:lpstr>１．ストール</vt:lpstr>
      <vt:lpstr>１．ストールさせる</vt:lpstr>
      <vt:lpstr>2. 遅延スロット（なにもしない）</vt:lpstr>
      <vt:lpstr>2. 遅延スロット（=ハードではなにもしない）</vt:lpstr>
      <vt:lpstr>2. 遅延スロット（=ハードではなにもしない）</vt:lpstr>
      <vt:lpstr>NOP の挿入</vt:lpstr>
      <vt:lpstr>遅延スロットの利点</vt:lpstr>
      <vt:lpstr>遅延スロットの欠点</vt:lpstr>
      <vt:lpstr>遅延スロットの欠点２</vt:lpstr>
      <vt:lpstr>データ・ハザードの解消方法</vt:lpstr>
      <vt:lpstr>フォワーディング</vt:lpstr>
      <vt:lpstr>フォワーディングの回路</vt:lpstr>
      <vt:lpstr>フォワーディングの利点</vt:lpstr>
      <vt:lpstr>フォワーディングの問題</vt:lpstr>
      <vt:lpstr>フォワーディングの問題</vt:lpstr>
      <vt:lpstr>ロードについては，完全に解決はできない</vt:lpstr>
      <vt:lpstr>データ・ハザードの解消方法</vt:lpstr>
      <vt:lpstr>マルチスレッディング（MT: Multi threading）</vt:lpstr>
      <vt:lpstr>マルチスレッディング</vt:lpstr>
      <vt:lpstr>マルチスレッディングの利点と欠点</vt:lpstr>
      <vt:lpstr>データ・ハザードのまとめ</vt:lpstr>
      <vt:lpstr>制御ハザード</vt:lpstr>
      <vt:lpstr>分岐命令の処理と制御ハザード</vt:lpstr>
      <vt:lpstr>制御ハザードの解消方法</vt:lpstr>
      <vt:lpstr>分岐予測</vt:lpstr>
      <vt:lpstr>分岐予測ペナルティ</vt:lpstr>
      <vt:lpstr>大規模な高性能プロセッサの場合</vt:lpstr>
      <vt:lpstr>今日のまとめ</vt:lpstr>
      <vt:lpstr>出欠と感想</vt:lpstr>
      <vt:lpstr>出席</vt:lpstr>
      <vt:lpstr>質問や感想</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lpstr>質問とか回答など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11939</cp:revision>
  <cp:lastPrinted>2014-12-10T13:40:48Z</cp:lastPrinted>
  <dcterms:created xsi:type="dcterms:W3CDTF">2014-11-17T10:53:59Z</dcterms:created>
  <dcterms:modified xsi:type="dcterms:W3CDTF">2026-05-25T05:52:49Z</dcterms:modified>
</cp:coreProperties>
</file>