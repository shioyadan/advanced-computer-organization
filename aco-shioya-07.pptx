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4" r:id="rId1"/>
  </p:sldMasterIdLst>
  <p:notesMasterIdLst>
    <p:notesMasterId r:id="rId89"/>
  </p:notesMasterIdLst>
  <p:sldIdLst>
    <p:sldId id="440" r:id="rId2"/>
    <p:sldId id="588" r:id="rId3"/>
    <p:sldId id="638" r:id="rId4"/>
    <p:sldId id="596" r:id="rId5"/>
    <p:sldId id="603" r:id="rId6"/>
    <p:sldId id="598" r:id="rId7"/>
    <p:sldId id="599" r:id="rId8"/>
    <p:sldId id="600" r:id="rId9"/>
    <p:sldId id="601" r:id="rId10"/>
    <p:sldId id="602" r:id="rId11"/>
    <p:sldId id="605" r:id="rId12"/>
    <p:sldId id="607" r:id="rId13"/>
    <p:sldId id="637" r:id="rId14"/>
    <p:sldId id="604" r:id="rId15"/>
    <p:sldId id="630" r:id="rId16"/>
    <p:sldId id="631" r:id="rId17"/>
    <p:sldId id="632" r:id="rId18"/>
    <p:sldId id="636" r:id="rId19"/>
    <p:sldId id="609" r:id="rId20"/>
    <p:sldId id="589" r:id="rId21"/>
    <p:sldId id="590" r:id="rId22"/>
    <p:sldId id="610" r:id="rId23"/>
    <p:sldId id="611" r:id="rId24"/>
    <p:sldId id="612" r:id="rId25"/>
    <p:sldId id="730" r:id="rId26"/>
    <p:sldId id="613" r:id="rId27"/>
    <p:sldId id="591" r:id="rId28"/>
    <p:sldId id="617" r:id="rId29"/>
    <p:sldId id="614" r:id="rId30"/>
    <p:sldId id="615" r:id="rId31"/>
    <p:sldId id="616" r:id="rId32"/>
    <p:sldId id="708" r:id="rId33"/>
    <p:sldId id="635" r:id="rId34"/>
    <p:sldId id="619" r:id="rId35"/>
    <p:sldId id="475" r:id="rId36"/>
    <p:sldId id="476" r:id="rId37"/>
    <p:sldId id="477" r:id="rId38"/>
    <p:sldId id="478" r:id="rId39"/>
    <p:sldId id="562" r:id="rId40"/>
    <p:sldId id="563" r:id="rId41"/>
    <p:sldId id="622" r:id="rId42"/>
    <p:sldId id="620" r:id="rId43"/>
    <p:sldId id="626" r:id="rId44"/>
    <p:sldId id="623" r:id="rId45"/>
    <p:sldId id="625" r:id="rId46"/>
    <p:sldId id="624" r:id="rId47"/>
    <p:sldId id="628" r:id="rId48"/>
    <p:sldId id="627" r:id="rId49"/>
    <p:sldId id="639" r:id="rId50"/>
    <p:sldId id="641" r:id="rId51"/>
    <p:sldId id="640" r:id="rId52"/>
    <p:sldId id="731" r:id="rId53"/>
    <p:sldId id="642" r:id="rId54"/>
    <p:sldId id="643" r:id="rId55"/>
    <p:sldId id="661" r:id="rId56"/>
    <p:sldId id="644" r:id="rId57"/>
    <p:sldId id="854" r:id="rId58"/>
    <p:sldId id="855" r:id="rId59"/>
    <p:sldId id="712" r:id="rId60"/>
    <p:sldId id="670" r:id="rId61"/>
    <p:sldId id="856" r:id="rId62"/>
    <p:sldId id="857" r:id="rId63"/>
    <p:sldId id="858" r:id="rId64"/>
    <p:sldId id="859" r:id="rId65"/>
    <p:sldId id="860" r:id="rId66"/>
    <p:sldId id="861" r:id="rId67"/>
    <p:sldId id="862" r:id="rId68"/>
    <p:sldId id="863" r:id="rId69"/>
    <p:sldId id="864" r:id="rId70"/>
    <p:sldId id="865" r:id="rId71"/>
    <p:sldId id="866" r:id="rId72"/>
    <p:sldId id="867" r:id="rId73"/>
    <p:sldId id="868" r:id="rId74"/>
    <p:sldId id="869" r:id="rId75"/>
    <p:sldId id="870" r:id="rId76"/>
    <p:sldId id="871" r:id="rId77"/>
    <p:sldId id="872" r:id="rId78"/>
    <p:sldId id="873" r:id="rId79"/>
    <p:sldId id="874" r:id="rId80"/>
    <p:sldId id="875" r:id="rId81"/>
    <p:sldId id="876" r:id="rId82"/>
    <p:sldId id="877" r:id="rId83"/>
    <p:sldId id="878" r:id="rId84"/>
    <p:sldId id="879" r:id="rId85"/>
    <p:sldId id="880" r:id="rId86"/>
    <p:sldId id="881" r:id="rId87"/>
    <p:sldId id="882" r:id="rId8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00" autoAdjust="0"/>
    <p:restoredTop sz="96862" autoAdjust="0"/>
  </p:normalViewPr>
  <p:slideViewPr>
    <p:cSldViewPr>
      <p:cViewPr varScale="1">
        <p:scale>
          <a:sx n="161" d="100"/>
          <a:sy n="161" d="100"/>
        </p:scale>
        <p:origin x="360" y="88"/>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2026/6/22</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r>
              <a:rPr kumimoji="1" lang="en-US" altLang="ja-JP" dirty="0"/>
              <a:t>These</a:t>
            </a:r>
            <a:r>
              <a:rPr kumimoji="1" lang="en-US" altLang="ja-JP" baseline="0" dirty="0"/>
              <a:t> are </a:t>
            </a:r>
            <a:r>
              <a:rPr kumimoji="1" lang="en-US" altLang="ja-JP" dirty="0"/>
              <a:t>examples of a chip</a:t>
            </a:r>
            <a:r>
              <a:rPr kumimoji="1" lang="en-US" altLang="ja-JP" baseline="0" dirty="0"/>
              <a:t> </a:t>
            </a:r>
            <a:r>
              <a:rPr kumimoji="1" lang="en-US" altLang="ja-JP" dirty="0"/>
              <a:t>layout of 1-bit SRAM cell.</a:t>
            </a:r>
          </a:p>
          <a:p>
            <a:r>
              <a:rPr kumimoji="1" lang="en-US" altLang="ja-JP" baseline="0" dirty="0"/>
              <a:t>The left one has 12ports and the right one has 2ports.</a:t>
            </a:r>
          </a:p>
          <a:p>
            <a:r>
              <a:rPr kumimoji="1" lang="en-US" altLang="ja-JP" dirty="0"/>
              <a:t>These figure shows that the area of 12 ports RAM</a:t>
            </a:r>
            <a:r>
              <a:rPr kumimoji="1" lang="en-US" altLang="ja-JP" baseline="0" dirty="0"/>
              <a:t> is much larger than 2 ports RAM.</a:t>
            </a:r>
            <a:endParaRPr kumimoji="1" lang="en-US" altLang="ja-JP" dirty="0"/>
          </a:p>
          <a:p>
            <a:endParaRPr kumimoji="1" lang="en-US" altLang="ja-JP" dirty="0"/>
          </a:p>
          <a:p>
            <a:endParaRPr kumimoji="1" lang="en-US" altLang="ja-JP" dirty="0"/>
          </a:p>
          <a:p>
            <a:r>
              <a:rPr kumimoji="1" lang="ja-JP" altLang="en-US" dirty="0"/>
              <a:t>これは</a:t>
            </a:r>
            <a:r>
              <a:rPr kumimoji="1" lang="en-US" altLang="ja-JP" dirty="0"/>
              <a:t>1bit SRAM</a:t>
            </a:r>
            <a:r>
              <a:rPr kumimoji="1" lang="ja-JP" altLang="en-US" dirty="0"/>
              <a:t>の回路レイアウトの例です</a:t>
            </a:r>
            <a:endParaRPr kumimoji="1" lang="en-US" altLang="ja-JP" dirty="0"/>
          </a:p>
          <a:p>
            <a:r>
              <a:rPr kumimoji="1" lang="ja-JP" altLang="en-US" dirty="0"/>
              <a:t>左は</a:t>
            </a:r>
            <a:r>
              <a:rPr kumimoji="1" lang="en-US" altLang="ja-JP" dirty="0"/>
              <a:t>12</a:t>
            </a:r>
            <a:r>
              <a:rPr kumimoji="1" lang="ja-JP" altLang="en-US" dirty="0"/>
              <a:t>ポート，右は</a:t>
            </a:r>
            <a:r>
              <a:rPr kumimoji="1" lang="en-US" altLang="ja-JP" dirty="0"/>
              <a:t>2</a:t>
            </a:r>
            <a:r>
              <a:rPr kumimoji="1" lang="ja-JP" altLang="en-US" dirty="0"/>
              <a:t>ポートのものです</a:t>
            </a:r>
            <a:endParaRPr kumimoji="1" lang="en-US" altLang="ja-JP" dirty="0"/>
          </a:p>
          <a:p>
            <a:r>
              <a:rPr kumimoji="1" lang="en-US" altLang="ja-JP" dirty="0"/>
              <a:t>12</a:t>
            </a:r>
            <a:r>
              <a:rPr kumimoji="1" lang="ja-JP" altLang="en-US" dirty="0"/>
              <a:t>ポートの</a:t>
            </a:r>
            <a:r>
              <a:rPr kumimoji="1" lang="en-US" altLang="ja-JP" dirty="0"/>
              <a:t>RAM</a:t>
            </a:r>
            <a:r>
              <a:rPr kumimoji="1" lang="ja-JP" altLang="en-US" dirty="0"/>
              <a:t>の面積は，</a:t>
            </a:r>
            <a:r>
              <a:rPr kumimoji="1" lang="en-US" altLang="ja-JP" dirty="0"/>
              <a:t>2</a:t>
            </a:r>
            <a:r>
              <a:rPr kumimoji="1" lang="ja-JP" altLang="en-US" dirty="0"/>
              <a:t>ポートのものに比べて非常に大きいことがわかります</a:t>
            </a:r>
          </a:p>
        </p:txBody>
      </p:sp>
      <p:sp>
        <p:nvSpPr>
          <p:cNvPr id="4" name="スライド番号プレースホルダ 3"/>
          <p:cNvSpPr>
            <a:spLocks noGrp="1"/>
          </p:cNvSpPr>
          <p:nvPr>
            <p:ph type="sldNum" sz="quarter" idx="10"/>
          </p:nvPr>
        </p:nvSpPr>
        <p:spPr/>
        <p:txBody>
          <a:bodyPr/>
          <a:lstStyle/>
          <a:p>
            <a:fld id="{AC4027BC-CF55-416E-A686-348C62171B11}" type="slidenum">
              <a:rPr kumimoji="1" lang="ja-JP" altLang="en-US" smtClean="0"/>
              <a:pPr/>
              <a:t>45</a:t>
            </a:fld>
            <a:endParaRPr kumimoji="1" lang="ja-JP" altLang="en-US"/>
          </a:p>
        </p:txBody>
      </p:sp>
    </p:spTree>
    <p:extLst>
      <p:ext uri="{BB962C8B-B14F-4D97-AF65-F5344CB8AC3E}">
        <p14:creationId xmlns:p14="http://schemas.microsoft.com/office/powerpoint/2010/main" val="13211155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4" name="正方形/長方形 3">
            <a:extLst>
              <a:ext uri="{FF2B5EF4-FFF2-40B4-BE49-F238E27FC236}">
                <a16:creationId xmlns:a16="http://schemas.microsoft.com/office/drawing/2014/main" id="{11CAED90-8BCF-EEF7-7551-9410E8F2C2C7}"/>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7" name="直線コネクタ 6">
            <a:extLst>
              <a:ext uri="{FF2B5EF4-FFF2-40B4-BE49-F238E27FC236}">
                <a16:creationId xmlns:a16="http://schemas.microsoft.com/office/drawing/2014/main" id="{AA6324B9-77F8-EC31-6C3B-5D9B58641456}"/>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7F3D3427-5051-5379-015F-3E42D5A44B63}"/>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9" name="直線コネクタ 8">
            <a:extLst>
              <a:ext uri="{FF2B5EF4-FFF2-40B4-BE49-F238E27FC236}">
                <a16:creationId xmlns:a16="http://schemas.microsoft.com/office/drawing/2014/main" id="{AED9C875-ACB9-9A82-3D2E-F8FE4B2ACA89}"/>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0" name="正方形/長方形 9">
            <a:extLst>
              <a:ext uri="{FF2B5EF4-FFF2-40B4-BE49-F238E27FC236}">
                <a16:creationId xmlns:a16="http://schemas.microsoft.com/office/drawing/2014/main" id="{3BFBD119-9076-BF7C-BD08-925CA913FF2C}"/>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1" name="直線コネクタ 10">
            <a:extLst>
              <a:ext uri="{FF2B5EF4-FFF2-40B4-BE49-F238E27FC236}">
                <a16:creationId xmlns:a16="http://schemas.microsoft.com/office/drawing/2014/main" id="{DD8AB707-DF2C-A333-49BD-B518A1D16921}"/>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2" name="正方形/長方形 11">
            <a:extLst>
              <a:ext uri="{FF2B5EF4-FFF2-40B4-BE49-F238E27FC236}">
                <a16:creationId xmlns:a16="http://schemas.microsoft.com/office/drawing/2014/main" id="{F35DEA87-3111-62FA-4EC7-0AD84F069EAF}"/>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3" name="直線コネクタ 12">
            <a:extLst>
              <a:ext uri="{FF2B5EF4-FFF2-40B4-BE49-F238E27FC236}">
                <a16:creationId xmlns:a16="http://schemas.microsoft.com/office/drawing/2014/main" id="{85E03A68-7ED4-41E0-532F-2B44665BCBCA}"/>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4" name="正方形/長方形 13">
            <a:extLst>
              <a:ext uri="{FF2B5EF4-FFF2-40B4-BE49-F238E27FC236}">
                <a16:creationId xmlns:a16="http://schemas.microsoft.com/office/drawing/2014/main" id="{4A24F767-FA26-C866-507F-01791519F36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5" name="直線コネクタ 14">
            <a:extLst>
              <a:ext uri="{FF2B5EF4-FFF2-40B4-BE49-F238E27FC236}">
                <a16:creationId xmlns:a16="http://schemas.microsoft.com/office/drawing/2014/main" id="{38E68845-EB2D-EE38-5889-988B24D97BDB}"/>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6" name="正方形/長方形 15">
            <a:extLst>
              <a:ext uri="{FF2B5EF4-FFF2-40B4-BE49-F238E27FC236}">
                <a16:creationId xmlns:a16="http://schemas.microsoft.com/office/drawing/2014/main" id="{47F277F3-AE92-5D11-0D1E-467B017A25A7}"/>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7" name="直線コネクタ 16">
            <a:extLst>
              <a:ext uri="{FF2B5EF4-FFF2-40B4-BE49-F238E27FC236}">
                <a16:creationId xmlns:a16="http://schemas.microsoft.com/office/drawing/2014/main" id="{2805FD21-9F7D-18C8-080F-5B5500934327}"/>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0824298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3" name="Rectangle 20">
            <a:extLst>
              <a:ext uri="{FF2B5EF4-FFF2-40B4-BE49-F238E27FC236}">
                <a16:creationId xmlns:a16="http://schemas.microsoft.com/office/drawing/2014/main" id="{C404F010-FD53-825B-58ED-3AB5C6FF9F3B}"/>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4" name="Rectangle 20">
            <a:extLst>
              <a:ext uri="{FF2B5EF4-FFF2-40B4-BE49-F238E27FC236}">
                <a16:creationId xmlns:a16="http://schemas.microsoft.com/office/drawing/2014/main" id="{09277AEF-3306-EB14-319D-C9936A20E39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7" name="Rectangle 20">
            <a:extLst>
              <a:ext uri="{FF2B5EF4-FFF2-40B4-BE49-F238E27FC236}">
                <a16:creationId xmlns:a16="http://schemas.microsoft.com/office/drawing/2014/main" id="{5F8EB56A-100F-AF7A-C776-9434171D2CF6}"/>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9" name="Rectangle 20">
            <a:extLst>
              <a:ext uri="{FF2B5EF4-FFF2-40B4-BE49-F238E27FC236}">
                <a16:creationId xmlns:a16="http://schemas.microsoft.com/office/drawing/2014/main" id="{21464E23-801D-B360-03E1-8AB3FB91335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0" name="Rectangle 20">
            <a:extLst>
              <a:ext uri="{FF2B5EF4-FFF2-40B4-BE49-F238E27FC236}">
                <a16:creationId xmlns:a16="http://schemas.microsoft.com/office/drawing/2014/main" id="{81270656-CD82-6EA3-336A-BF27E9713A0A}"/>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1" name="Rectangle 20">
            <a:extLst>
              <a:ext uri="{FF2B5EF4-FFF2-40B4-BE49-F238E27FC236}">
                <a16:creationId xmlns:a16="http://schemas.microsoft.com/office/drawing/2014/main" id="{8B74BD12-FE4A-7592-F482-564B7CB45DC4}"/>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8679058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945415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4035059113"/>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cSld name="1_セクションタイトル">
    <p:bg>
      <p:bgPr>
        <a:solidFill>
          <a:schemeClr val="bg1"/>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1727256284"/>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725FB03B-A980-D697-F9FB-906D55B002FA}"/>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2D5F1A73-A3EB-E252-17CF-30B89F3C7AE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95778E54-A5E7-1B8D-DD56-A347FE5638C8}"/>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0CA006FA-2EAF-700F-1F1E-1AD9A8AD1F46}"/>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47ED5B20-1F5A-CCD9-B341-F10DC8DB9BD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513A4EA7-B0C7-F2FA-C2FF-AF0641317DDD}"/>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3633673588"/>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42.png"/><Relationship Id="rId7" Type="http://schemas.openxmlformats.org/officeDocument/2006/relationships/image" Target="../media/image5.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hyperlink" Target="https://ja.wikipedia.org/wiki/%E7%A3%81%E6%B0%97%E3%82%B3%E3%82%A2%E3%83%A1%E3%83%A2%E3%83%AA"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4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www.youtube.com/watch?v=gWfcZnAydQ4" TargetMode="External"/><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docs.google.com/spreadsheets/d/1ctRdav7Mp5iSBTSMsTZePPcYLtP0ZtTodefkk6O2N1E/edit?usp=drive_link"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dirty="0"/>
              <a:t>先進</a:t>
            </a:r>
            <a:r>
              <a:rPr lang="ja-JP" altLang="en-US" sz="2800"/>
              <a:t>計算機構成論 </a:t>
            </a:r>
            <a:r>
              <a:rPr lang="en-US" altLang="ja-JP" sz="2800" dirty="0"/>
              <a:t>07</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75E16E-4E07-4DD3-B7AE-30384DEDA7DA}"/>
              </a:ext>
            </a:extLst>
          </p:cNvPr>
          <p:cNvSpPr>
            <a:spLocks noGrp="1"/>
          </p:cNvSpPr>
          <p:nvPr>
            <p:ph type="title"/>
          </p:nvPr>
        </p:nvSpPr>
        <p:spPr>
          <a:xfrm>
            <a:off x="1415948" y="0"/>
            <a:ext cx="10776052" cy="908972"/>
          </a:xfrm>
        </p:spPr>
        <p:txBody>
          <a:bodyPr/>
          <a:lstStyle/>
          <a:p>
            <a:r>
              <a:rPr lang="ja-JP" altLang="en-US" dirty="0"/>
              <a:t>メモリ</a:t>
            </a:r>
          </a:p>
        </p:txBody>
      </p:sp>
      <p:sp>
        <p:nvSpPr>
          <p:cNvPr id="3" name="テキスト プレースホルダー 2">
            <a:extLst>
              <a:ext uri="{FF2B5EF4-FFF2-40B4-BE49-F238E27FC236}">
                <a16:creationId xmlns:a16="http://schemas.microsoft.com/office/drawing/2014/main" id="{85BC6282-73C9-4184-B25A-1BBCEB8615BE}"/>
              </a:ext>
            </a:extLst>
          </p:cNvPr>
          <p:cNvSpPr>
            <a:spLocks noGrp="1"/>
          </p:cNvSpPr>
          <p:nvPr>
            <p:ph type="body" sz="quarter" idx="10"/>
          </p:nvPr>
        </p:nvSpPr>
        <p:spPr>
          <a:xfrm>
            <a:off x="1775952" y="1088974"/>
            <a:ext cx="8730097" cy="5219751"/>
          </a:xfrm>
        </p:spPr>
        <p:txBody>
          <a:bodyPr/>
          <a:lstStyle/>
          <a:p>
            <a:r>
              <a:rPr lang="ja-JP" altLang="en-US" dirty="0"/>
              <a:t>メモリ：</a:t>
            </a:r>
            <a:r>
              <a:rPr lang="en-US" altLang="ja-JP" dirty="0"/>
              <a:t>RAM</a:t>
            </a:r>
            <a:r>
              <a:rPr lang="ja-JP" altLang="en-US" dirty="0"/>
              <a:t>（</a:t>
            </a:r>
            <a:r>
              <a:rPr lang="en-US" altLang="ja-JP" dirty="0"/>
              <a:t>Random Access Memory</a:t>
            </a:r>
            <a:r>
              <a:rPr lang="ja-JP" altLang="en-US" dirty="0"/>
              <a:t>）</a:t>
            </a:r>
            <a:endParaRPr lang="en-US" altLang="ja-JP" dirty="0"/>
          </a:p>
          <a:p>
            <a:pPr lvl="1"/>
            <a:r>
              <a:rPr lang="ja-JP" altLang="en-US" dirty="0"/>
              <a:t>複数のデータを記憶する回路</a:t>
            </a:r>
            <a:endParaRPr lang="en-US" altLang="ja-JP" dirty="0"/>
          </a:p>
          <a:p>
            <a:pPr lvl="1"/>
            <a:r>
              <a:rPr lang="ja-JP" altLang="en-US" dirty="0"/>
              <a:t>配列のように，位置を指定して読み書きする</a:t>
            </a:r>
            <a:endParaRPr lang="en-US" altLang="ja-JP" dirty="0"/>
          </a:p>
          <a:p>
            <a:r>
              <a:rPr lang="ja-JP" altLang="en-US" dirty="0"/>
              <a:t>なぜデータを記憶するための専用の構造が使われているのか？</a:t>
            </a:r>
            <a:endParaRPr lang="en-US" altLang="ja-JP" dirty="0"/>
          </a:p>
          <a:p>
            <a:pPr lvl="1"/>
            <a:r>
              <a:rPr lang="en-US" altLang="ja-JP" dirty="0"/>
              <a:t>D-FF </a:t>
            </a:r>
            <a:r>
              <a:rPr lang="ja-JP" altLang="en-US" dirty="0"/>
              <a:t>とマルチプレクサでも同じ機能のものは作れる</a:t>
            </a:r>
            <a:endParaRPr lang="en-US" altLang="ja-JP" dirty="0"/>
          </a:p>
          <a:p>
            <a:pPr lvl="1"/>
            <a:r>
              <a:rPr lang="ja-JP" altLang="en-US" dirty="0"/>
              <a:t>メモリの方が圧倒的に速度や面積効率が高い</a:t>
            </a:r>
            <a:endParaRPr lang="en-US" altLang="ja-JP" dirty="0"/>
          </a:p>
          <a:p>
            <a:pPr lvl="2"/>
            <a:r>
              <a:rPr lang="ja-JP" altLang="en-US" dirty="0"/>
              <a:t>後半で説明</a:t>
            </a:r>
            <a:endParaRPr lang="en-US" altLang="ja-JP" dirty="0"/>
          </a:p>
          <a:p>
            <a:r>
              <a:rPr lang="ja-JP" altLang="en-US" dirty="0"/>
              <a:t>なぜメモリの構造を勉強するのか？：その性質の理解が重要だから</a:t>
            </a:r>
          </a:p>
          <a:p>
            <a:pPr lvl="1"/>
            <a:r>
              <a:rPr lang="ja-JP" altLang="en-US" dirty="0"/>
              <a:t>高度な </a:t>
            </a:r>
            <a:r>
              <a:rPr lang="en-US" altLang="ja-JP" dirty="0"/>
              <a:t>CPU </a:t>
            </a:r>
            <a:r>
              <a:rPr lang="ja-JP" altLang="en-US" dirty="0"/>
              <a:t>はメモリで作られた「表」を多用する</a:t>
            </a:r>
            <a:endParaRPr lang="en-US" altLang="ja-JP" dirty="0"/>
          </a:p>
          <a:p>
            <a:pPr lvl="1"/>
            <a:r>
              <a:rPr lang="ja-JP" altLang="en-US" dirty="0"/>
              <a:t>主記憶やキャッシュなどは直接メモリで作られる</a:t>
            </a:r>
            <a:endParaRPr lang="en-US" altLang="ja-JP" dirty="0"/>
          </a:p>
        </p:txBody>
      </p:sp>
    </p:spTree>
    <p:extLst>
      <p:ext uri="{BB962C8B-B14F-4D97-AF65-F5344CB8AC3E}">
        <p14:creationId xmlns:p14="http://schemas.microsoft.com/office/powerpoint/2010/main" val="1230310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kumimoji="1" lang="ja-JP" altLang="en-US" b="1" dirty="0"/>
              <a:t>メモリの基本</a:t>
            </a:r>
            <a:endParaRPr kumimoji="1" lang="en-US" altLang="ja-JP" b="1" dirty="0"/>
          </a:p>
          <a:p>
            <a:pPr marL="817200" lvl="1" indent="-457200">
              <a:buFont typeface="+mj-lt"/>
              <a:buAutoNum type="arabicPeriod"/>
            </a:pPr>
            <a:r>
              <a:rPr kumimoji="1" lang="ja-JP" altLang="en-US" dirty="0"/>
              <a:t>構造</a:t>
            </a:r>
            <a:endParaRPr kumimoji="1" lang="en-US" altLang="ja-JP" dirty="0"/>
          </a:p>
          <a:p>
            <a:pPr marL="817200" lvl="1" indent="-457200">
              <a:buFont typeface="+mj-lt"/>
              <a:buAutoNum type="arabicPeriod"/>
            </a:pPr>
            <a:r>
              <a:rPr kumimoji="1" lang="ja-JP" altLang="en-US" dirty="0"/>
              <a:t>動作</a:t>
            </a:r>
            <a:endParaRPr kumimoji="1" lang="en-US" altLang="ja-JP" dirty="0"/>
          </a:p>
          <a:p>
            <a:pPr marL="817200" lvl="1" indent="-457200">
              <a:buFont typeface="+mj-lt"/>
              <a:buAutoNum type="arabicPeriod"/>
            </a:pPr>
            <a:r>
              <a:rPr kumimoji="1" lang="ja-JP" altLang="en-US" dirty="0"/>
              <a:t>アクセス時間</a:t>
            </a:r>
            <a:endParaRPr kumimoji="1" lang="en-US" altLang="ja-JP" dirty="0"/>
          </a:p>
          <a:p>
            <a:pPr marL="457200" indent="-457200">
              <a:buFont typeface="+mj-lt"/>
              <a:buAutoNum type="arabicPeriod"/>
            </a:pPr>
            <a:r>
              <a:rPr kumimoji="1" lang="ja-JP" altLang="en-US" dirty="0"/>
              <a:t>メモリの詳細</a:t>
            </a:r>
            <a:endParaRPr kumimoji="1" lang="en-US" altLang="ja-JP" dirty="0"/>
          </a:p>
          <a:p>
            <a:pPr marL="817200" lvl="1" indent="-457200">
              <a:buFont typeface="+mj-lt"/>
              <a:buAutoNum type="arabicPeriod"/>
            </a:pPr>
            <a:r>
              <a:rPr lang="en-US" altLang="ja-JP" dirty="0"/>
              <a:t>SRAM </a:t>
            </a:r>
            <a:r>
              <a:rPr lang="ja-JP" altLang="en-US" dirty="0"/>
              <a:t>と </a:t>
            </a:r>
            <a:r>
              <a:rPr kumimoji="1"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メモリの脆弱性を対象にしたアタック</a:t>
            </a:r>
            <a:endParaRPr lang="en-US" altLang="ja-JP" dirty="0"/>
          </a:p>
          <a:p>
            <a:pPr lvl="2"/>
            <a:r>
              <a:rPr kumimoji="1" lang="en-US" altLang="ja-JP" dirty="0"/>
              <a:t>Raw Hammer</a:t>
            </a:r>
            <a:r>
              <a:rPr lang="en-US" altLang="ja-JP" dirty="0"/>
              <a:t>, Cold Boot Attack</a:t>
            </a:r>
            <a:endParaRPr kumimoji="1" lang="ja-JP" altLang="en-US" dirty="0"/>
          </a:p>
        </p:txBody>
      </p:sp>
    </p:spTree>
    <p:extLst>
      <p:ext uri="{BB962C8B-B14F-4D97-AF65-F5344CB8AC3E}">
        <p14:creationId xmlns:p14="http://schemas.microsoft.com/office/powerpoint/2010/main" val="22082351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メモリの基本構造：セルを行列状に配置</a:t>
            </a:r>
          </a:p>
        </p:txBody>
      </p:sp>
      <p:sp>
        <p:nvSpPr>
          <p:cNvPr id="3" name="テキスト プレースホルダー 2"/>
          <p:cNvSpPr>
            <a:spLocks noGrp="1"/>
          </p:cNvSpPr>
          <p:nvPr>
            <p:ph type="body" sz="quarter" idx="10"/>
          </p:nvPr>
        </p:nvSpPr>
        <p:spPr>
          <a:xfrm>
            <a:off x="6456004" y="1088974"/>
            <a:ext cx="3870042" cy="5309752"/>
          </a:xfrm>
        </p:spPr>
        <p:txBody>
          <a:bodyPr anchor="t"/>
          <a:lstStyle/>
          <a:p>
            <a:pPr lvl="1"/>
            <a:r>
              <a:rPr kumimoji="1" lang="ja-JP" altLang="en-US" dirty="0"/>
              <a:t>セル：</a:t>
            </a:r>
            <a:endParaRPr kumimoji="1" lang="en-US" altLang="ja-JP" dirty="0"/>
          </a:p>
          <a:p>
            <a:pPr lvl="2"/>
            <a:r>
              <a:rPr kumimoji="1" lang="en-US" altLang="ja-JP" dirty="0"/>
              <a:t>1</a:t>
            </a:r>
            <a:r>
              <a:rPr kumimoji="1" lang="ja-JP" altLang="en-US" dirty="0"/>
              <a:t>ビットの情報を記憶</a:t>
            </a:r>
            <a:endParaRPr kumimoji="1" lang="en-US" altLang="ja-JP" dirty="0"/>
          </a:p>
          <a:p>
            <a:pPr lvl="1"/>
            <a:r>
              <a:rPr kumimoji="1" lang="ja-JP" altLang="en-US" dirty="0"/>
              <a:t>ビットライン：</a:t>
            </a:r>
            <a:endParaRPr kumimoji="1" lang="en-US" altLang="ja-JP" dirty="0"/>
          </a:p>
          <a:p>
            <a:pPr lvl="2"/>
            <a:r>
              <a:rPr kumimoji="1" lang="ja-JP" altLang="en-US" dirty="0"/>
              <a:t>列方向の配線</a:t>
            </a:r>
            <a:endParaRPr kumimoji="1" lang="en-US" altLang="ja-JP" dirty="0"/>
          </a:p>
          <a:p>
            <a:pPr lvl="1"/>
            <a:r>
              <a:rPr kumimoji="1" lang="ja-JP" altLang="en-US" dirty="0"/>
              <a:t>ワードライン</a:t>
            </a:r>
            <a:r>
              <a:rPr lang="ja-JP" altLang="en-US" dirty="0"/>
              <a:t>：</a:t>
            </a:r>
            <a:endParaRPr kumimoji="1" lang="en-US" altLang="ja-JP" dirty="0"/>
          </a:p>
          <a:p>
            <a:pPr lvl="2"/>
            <a:r>
              <a:rPr kumimoji="1" lang="ja-JP" altLang="en-US" dirty="0"/>
              <a:t>行方向の配線</a:t>
            </a:r>
            <a:endParaRPr kumimoji="1" lang="en-US" altLang="ja-JP" dirty="0"/>
          </a:p>
          <a:p>
            <a:pPr lvl="1"/>
            <a:r>
              <a:rPr kumimoji="1" lang="ja-JP" altLang="en-US" dirty="0"/>
              <a:t>デコーダ</a:t>
            </a:r>
            <a:r>
              <a:rPr lang="ja-JP" altLang="en-US" dirty="0"/>
              <a:t>：</a:t>
            </a:r>
            <a:endParaRPr kumimoji="1" lang="en-US" altLang="ja-JP" dirty="0"/>
          </a:p>
          <a:p>
            <a:pPr lvl="2"/>
            <a:r>
              <a:rPr kumimoji="1" lang="ja-JP" altLang="en-US" dirty="0"/>
              <a:t>アドレスをデコードしてワードラインをアサート</a:t>
            </a:r>
            <a:endParaRPr kumimoji="1" lang="en-US" altLang="ja-JP" dirty="0"/>
          </a:p>
          <a:p>
            <a:pPr lvl="1"/>
            <a:r>
              <a:rPr kumimoji="1" lang="ja-JP" altLang="en-US" dirty="0"/>
              <a:t>カラム・セレクタ</a:t>
            </a:r>
            <a:r>
              <a:rPr lang="ja-JP" altLang="en-US" dirty="0"/>
              <a:t>：</a:t>
            </a:r>
            <a:endParaRPr kumimoji="1" lang="en-US" altLang="ja-JP" dirty="0"/>
          </a:p>
          <a:p>
            <a:pPr lvl="2"/>
            <a:r>
              <a:rPr kumimoji="1" lang="ja-JP" altLang="en-US" dirty="0"/>
              <a:t>ビットライン出力から１つを選んで出力</a:t>
            </a:r>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lang="ja-JP" altLang="en-US" sz="1600" dirty="0">
              <a:latin typeface="Arial Narrow" pitchFamily="34" charset="0"/>
            </a:endParaRP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Tree>
    <p:extLst>
      <p:ext uri="{BB962C8B-B14F-4D97-AF65-F5344CB8AC3E}">
        <p14:creationId xmlns:p14="http://schemas.microsoft.com/office/powerpoint/2010/main" val="40560205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メモリの読み出し操作</a:t>
            </a:r>
          </a:p>
        </p:txBody>
      </p:sp>
      <p:sp>
        <p:nvSpPr>
          <p:cNvPr id="3" name="テキスト プレースホルダー 2"/>
          <p:cNvSpPr>
            <a:spLocks noGrp="1"/>
          </p:cNvSpPr>
          <p:nvPr>
            <p:ph type="body" sz="quarter" idx="10"/>
          </p:nvPr>
        </p:nvSpPr>
        <p:spPr>
          <a:xfrm>
            <a:off x="6456004" y="1088974"/>
            <a:ext cx="3870042" cy="5309752"/>
          </a:xfrm>
        </p:spPr>
        <p:txBody>
          <a:bodyPr anchor="t"/>
          <a:lstStyle/>
          <a:p>
            <a:pPr marL="817200" lvl="1" indent="-457200">
              <a:buFont typeface="+mj-lt"/>
              <a:buAutoNum type="arabicPeriod"/>
            </a:pPr>
            <a:r>
              <a:rPr kumimoji="1" lang="ja-JP" altLang="en-US" dirty="0"/>
              <a:t>アドレスのデコード</a:t>
            </a:r>
            <a:endParaRPr kumimoji="1" lang="en-US" altLang="ja-JP" dirty="0"/>
          </a:p>
          <a:p>
            <a:pPr marL="817200" lvl="1" indent="-457200">
              <a:buFont typeface="+mj-lt"/>
              <a:buAutoNum type="arabicPeriod"/>
            </a:pPr>
            <a:r>
              <a:rPr kumimoji="1" lang="ja-JP" altLang="en-US" dirty="0"/>
              <a:t>ワードラインのアサート</a:t>
            </a:r>
            <a:br>
              <a:rPr kumimoji="1" lang="en-US" altLang="ja-JP" dirty="0"/>
            </a:br>
            <a:r>
              <a:rPr kumimoji="1" lang="ja-JP" altLang="en-US" dirty="0"/>
              <a:t>（行の指定）</a:t>
            </a:r>
            <a:endParaRPr kumimoji="1" lang="en-US" altLang="ja-JP" dirty="0"/>
          </a:p>
          <a:p>
            <a:pPr marL="817200" lvl="1" indent="-457200">
              <a:buFont typeface="+mj-lt"/>
              <a:buAutoNum type="arabicPeriod"/>
            </a:pPr>
            <a:r>
              <a:rPr kumimoji="1" lang="ja-JP" altLang="en-US" dirty="0"/>
              <a:t>ビットラインへの１行分のデータの読み出し</a:t>
            </a:r>
            <a:endParaRPr kumimoji="1" lang="en-US" altLang="ja-JP" dirty="0"/>
          </a:p>
          <a:p>
            <a:pPr marL="817200" lvl="1" indent="-457200">
              <a:buFont typeface="+mj-lt"/>
              <a:buAutoNum type="arabicPeriod"/>
            </a:pPr>
            <a:r>
              <a:rPr kumimoji="1" lang="ja-JP" altLang="en-US" dirty="0"/>
              <a:t>カラムセレクタによる</a:t>
            </a:r>
            <a:br>
              <a:rPr kumimoji="1" lang="en-US" altLang="ja-JP" dirty="0"/>
            </a:br>
            <a:r>
              <a:rPr kumimoji="1" lang="ja-JP" altLang="en-US" dirty="0"/>
              <a:t>目的のビットの選択</a:t>
            </a:r>
            <a:endParaRPr kumimoji="1" lang="en-US" altLang="ja-JP" dirty="0"/>
          </a:p>
          <a:p>
            <a:pPr marL="817200" lvl="1" indent="-457200">
              <a:buFont typeface="+mj-lt"/>
              <a:buAutoNum type="arabicPeriod"/>
            </a:pPr>
            <a:endParaRPr lang="en-US" altLang="ja-JP" dirty="0"/>
          </a:p>
          <a:p>
            <a:pPr lvl="1"/>
            <a:r>
              <a:rPr kumimoji="1" lang="ja-JP" altLang="en-US" dirty="0"/>
              <a:t>（書き込みはこれの逆を</a:t>
            </a:r>
            <a:br>
              <a:rPr kumimoji="1" lang="en-US" altLang="ja-JP" dirty="0"/>
            </a:br>
            <a:r>
              <a:rPr kumimoji="1" lang="ja-JP" altLang="en-US" dirty="0"/>
              <a:t>　行う</a:t>
            </a:r>
            <a:endParaRPr kumimoji="1" lang="en-US" altLang="ja-JP" dirty="0"/>
          </a:p>
          <a:p>
            <a:pPr lvl="1"/>
            <a:endParaRPr kumimoji="1" lang="ja-JP" altLang="en-US" dirty="0"/>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lang="ja-JP" altLang="en-US" sz="1600" dirty="0">
              <a:latin typeface="Arial Narrow" pitchFamily="34" charset="0"/>
            </a:endParaRP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Tree>
    <p:extLst>
      <p:ext uri="{BB962C8B-B14F-4D97-AF65-F5344CB8AC3E}">
        <p14:creationId xmlns:p14="http://schemas.microsoft.com/office/powerpoint/2010/main" val="40513129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メモリの読み出し動作の例</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6546005" y="1088974"/>
                <a:ext cx="3870042" cy="5309752"/>
              </a:xfrm>
            </p:spPr>
            <p:txBody>
              <a:bodyPr anchor="t"/>
              <a:lstStyle/>
              <a:p>
                <a:r>
                  <a:rPr kumimoji="1" lang="ja-JP" altLang="en-US" dirty="0"/>
                  <a:t>要素数 </a:t>
                </a:r>
                <a14:m>
                  <m:oMath xmlns:m="http://schemas.openxmlformats.org/officeDocument/2006/math">
                    <m:sSup>
                      <m:sSupPr>
                        <m:ctrlPr>
                          <a:rPr kumimoji="1" lang="en-US" altLang="ja-JP" i="1" dirty="0" smtClean="0">
                            <a:latin typeface="Cambria Math" panose="02040503050406030204" pitchFamily="18" charset="0"/>
                          </a:rPr>
                        </m:ctrlPr>
                      </m:sSupPr>
                      <m:e>
                        <m:r>
                          <a:rPr kumimoji="1" lang="en-US" altLang="ja-JP" b="0" i="1" dirty="0" smtClean="0">
                            <a:latin typeface="Cambria Math" panose="02040503050406030204" pitchFamily="18" charset="0"/>
                          </a:rPr>
                          <m:t>16=</m:t>
                        </m:r>
                        <m:r>
                          <a:rPr kumimoji="1" lang="en-US" altLang="ja-JP" i="1" dirty="0" smtClean="0">
                            <a:latin typeface="Cambria Math" panose="02040503050406030204" pitchFamily="18" charset="0"/>
                          </a:rPr>
                          <m:t>2</m:t>
                        </m:r>
                      </m:e>
                      <m:sup>
                        <m:r>
                          <a:rPr kumimoji="1" lang="en-US" altLang="ja-JP" i="1" dirty="0" smtClean="0">
                            <a:latin typeface="Cambria Math" panose="02040503050406030204" pitchFamily="18" charset="0"/>
                          </a:rPr>
                          <m:t>4</m:t>
                        </m:r>
                      </m:sup>
                    </m:sSup>
                  </m:oMath>
                </a14:m>
                <a:endParaRPr kumimoji="1" lang="en-US" altLang="ja-JP" dirty="0"/>
              </a:p>
              <a:p>
                <a:pPr lvl="1"/>
                <a:r>
                  <a:rPr kumimoji="1" lang="ja-JP" altLang="en-US" dirty="0"/>
                  <a:t>アドレスは</a:t>
                </a:r>
                <a:r>
                  <a:rPr kumimoji="1" lang="en-US" altLang="ja-JP" dirty="0"/>
                  <a:t>4</a:t>
                </a:r>
                <a:r>
                  <a:rPr kumimoji="1" lang="ja-JP" altLang="en-US" dirty="0"/>
                  <a:t>ビット</a:t>
                </a:r>
                <a:endParaRPr kumimoji="1" lang="en-US" altLang="ja-JP" dirty="0"/>
              </a:p>
              <a:p>
                <a:pPr lvl="1"/>
                <a:r>
                  <a:rPr kumimoji="1" lang="ja-JP" altLang="en-US" dirty="0"/>
                  <a:t>各セルの右上の数字が</a:t>
                </a:r>
                <a:br>
                  <a:rPr kumimoji="1" lang="en-US" altLang="ja-JP" dirty="0"/>
                </a:br>
                <a:r>
                  <a:rPr kumimoji="1" lang="ja-JP" altLang="en-US" dirty="0"/>
                  <a:t>アドレス</a:t>
                </a:r>
                <a:endParaRPr kumimoji="1" lang="en-US" altLang="ja-JP" dirty="0"/>
              </a:p>
              <a:p>
                <a:r>
                  <a:rPr kumimoji="1" lang="ja-JP" altLang="en-US" dirty="0"/>
                  <a:t>このメモリの読み出し操作を例として説明</a:t>
                </a:r>
                <a:endParaRPr kumimoji="1" lang="en-US" altLang="ja-JP" dirty="0"/>
              </a:p>
              <a:p>
                <a:pPr lvl="1"/>
                <a:r>
                  <a:rPr kumimoji="1" lang="ja-JP" altLang="en-US" dirty="0"/>
                  <a:t>アドレス６のセルを</a:t>
                </a:r>
                <a:br>
                  <a:rPr kumimoji="1" lang="en-US" altLang="ja-JP" dirty="0"/>
                </a:br>
                <a:r>
                  <a:rPr kumimoji="1" lang="ja-JP" altLang="en-US" dirty="0"/>
                  <a:t>読み出す</a:t>
                </a:r>
                <a:endParaRPr kumimoji="1" lang="en-US" altLang="ja-JP" dirty="0"/>
              </a:p>
              <a:p>
                <a:endParaRPr kumimoji="1" lang="en-US" altLang="ja-JP"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6546005" y="1088974"/>
                <a:ext cx="3870042" cy="5309752"/>
              </a:xfrm>
              <a:blipFill>
                <a:blip r:embed="rId2"/>
                <a:stretch>
                  <a:fillRect l="-1417" t="-344" r="-1417"/>
                </a:stretch>
              </a:blipFill>
            </p:spPr>
            <p:txBody>
              <a:bodyPr/>
              <a:lstStyle/>
              <a:p>
                <a:r>
                  <a:rPr lang="ja-JP" altLang="en-US">
                    <a:noFill/>
                  </a:rPr>
                  <a:t> </a:t>
                </a:r>
              </a:p>
            </p:txBody>
          </p:sp>
        </mc:Fallback>
      </mc:AlternateContent>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address</a:t>
            </a:r>
            <a:endParaRPr lang="ja-JP" altLang="en-US" sz="1600" dirty="0">
              <a:latin typeface="Arial Narrow" pitchFamily="34" charset="0"/>
            </a:endParaRP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
        <p:nvSpPr>
          <p:cNvPr id="39" name="正方形/長方形 38"/>
          <p:cNvSpPr/>
          <p:nvPr/>
        </p:nvSpPr>
        <p:spPr>
          <a:xfrm>
            <a:off x="3395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０</a:t>
            </a:r>
          </a:p>
        </p:txBody>
      </p:sp>
      <p:sp>
        <p:nvSpPr>
          <p:cNvPr id="40" name="正方形/長方形 39"/>
          <p:cNvSpPr/>
          <p:nvPr/>
        </p:nvSpPr>
        <p:spPr>
          <a:xfrm>
            <a:off x="4205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１</a:t>
            </a:r>
            <a:endParaRPr lang="ja-JP" altLang="en-US" b="1" dirty="0">
              <a:solidFill>
                <a:schemeClr val="accent5"/>
              </a:solidFill>
              <a:latin typeface="Arial Narrow" pitchFamily="34" charset="0"/>
            </a:endParaRPr>
          </a:p>
        </p:txBody>
      </p:sp>
      <p:sp>
        <p:nvSpPr>
          <p:cNvPr id="41" name="正方形/長方形 40"/>
          <p:cNvSpPr/>
          <p:nvPr/>
        </p:nvSpPr>
        <p:spPr>
          <a:xfrm>
            <a:off x="5015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２</a:t>
            </a:r>
            <a:endParaRPr lang="ja-JP" altLang="en-US" b="1" dirty="0">
              <a:solidFill>
                <a:schemeClr val="accent5"/>
              </a:solidFill>
              <a:latin typeface="Arial Narrow" pitchFamily="34" charset="0"/>
            </a:endParaRPr>
          </a:p>
        </p:txBody>
      </p:sp>
      <p:sp>
        <p:nvSpPr>
          <p:cNvPr id="42" name="正方形/長方形 41"/>
          <p:cNvSpPr/>
          <p:nvPr/>
        </p:nvSpPr>
        <p:spPr>
          <a:xfrm>
            <a:off x="5825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３</a:t>
            </a:r>
            <a:endParaRPr lang="ja-JP" altLang="en-US" b="1" dirty="0">
              <a:solidFill>
                <a:schemeClr val="accent5"/>
              </a:solidFill>
              <a:latin typeface="Arial Narrow" pitchFamily="34" charset="0"/>
            </a:endParaRPr>
          </a:p>
        </p:txBody>
      </p:sp>
      <p:sp>
        <p:nvSpPr>
          <p:cNvPr id="43" name="正方形/長方形 42"/>
          <p:cNvSpPr/>
          <p:nvPr/>
        </p:nvSpPr>
        <p:spPr>
          <a:xfrm>
            <a:off x="3395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４</a:t>
            </a:r>
            <a:endParaRPr lang="ja-JP" altLang="en-US" b="1" dirty="0">
              <a:solidFill>
                <a:schemeClr val="accent5"/>
              </a:solidFill>
              <a:latin typeface="Arial Narrow" pitchFamily="34" charset="0"/>
            </a:endParaRPr>
          </a:p>
        </p:txBody>
      </p:sp>
      <p:sp>
        <p:nvSpPr>
          <p:cNvPr id="44" name="正方形/長方形 43"/>
          <p:cNvSpPr/>
          <p:nvPr/>
        </p:nvSpPr>
        <p:spPr>
          <a:xfrm>
            <a:off x="4205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５</a:t>
            </a:r>
          </a:p>
        </p:txBody>
      </p:sp>
      <p:sp>
        <p:nvSpPr>
          <p:cNvPr id="45" name="正方形/長方形 44"/>
          <p:cNvSpPr/>
          <p:nvPr/>
        </p:nvSpPr>
        <p:spPr>
          <a:xfrm>
            <a:off x="5015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a:solidFill>
                  <a:schemeClr val="accent5"/>
                </a:solidFill>
                <a:latin typeface="Arial Narrow" pitchFamily="34" charset="0"/>
              </a:rPr>
              <a:t>６</a:t>
            </a:r>
            <a:endParaRPr lang="ja-JP" altLang="en-US" b="1" dirty="0">
              <a:solidFill>
                <a:schemeClr val="accent5"/>
              </a:solidFill>
              <a:latin typeface="Arial Narrow" pitchFamily="34" charset="0"/>
            </a:endParaRPr>
          </a:p>
        </p:txBody>
      </p:sp>
      <p:sp>
        <p:nvSpPr>
          <p:cNvPr id="46" name="正方形/長方形 45"/>
          <p:cNvSpPr/>
          <p:nvPr/>
        </p:nvSpPr>
        <p:spPr>
          <a:xfrm>
            <a:off x="5825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７</a:t>
            </a:r>
          </a:p>
        </p:txBody>
      </p:sp>
      <p:sp>
        <p:nvSpPr>
          <p:cNvPr id="47" name="正方形/長方形 46"/>
          <p:cNvSpPr/>
          <p:nvPr/>
        </p:nvSpPr>
        <p:spPr>
          <a:xfrm>
            <a:off x="3395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８</a:t>
            </a:r>
          </a:p>
        </p:txBody>
      </p:sp>
      <p:sp>
        <p:nvSpPr>
          <p:cNvPr id="48" name="正方形/長方形 47"/>
          <p:cNvSpPr/>
          <p:nvPr/>
        </p:nvSpPr>
        <p:spPr>
          <a:xfrm>
            <a:off x="4205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９</a:t>
            </a:r>
          </a:p>
        </p:txBody>
      </p:sp>
      <p:sp>
        <p:nvSpPr>
          <p:cNvPr id="49" name="正方形/長方形 48"/>
          <p:cNvSpPr/>
          <p:nvPr/>
        </p:nvSpPr>
        <p:spPr>
          <a:xfrm>
            <a:off x="5015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１０</a:t>
            </a:r>
          </a:p>
        </p:txBody>
      </p:sp>
      <p:sp>
        <p:nvSpPr>
          <p:cNvPr id="50" name="正方形/長方形 49"/>
          <p:cNvSpPr/>
          <p:nvPr/>
        </p:nvSpPr>
        <p:spPr>
          <a:xfrm>
            <a:off x="5825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１１</a:t>
            </a:r>
          </a:p>
        </p:txBody>
      </p:sp>
      <p:sp>
        <p:nvSpPr>
          <p:cNvPr id="51" name="正方形/長方形 50"/>
          <p:cNvSpPr/>
          <p:nvPr/>
        </p:nvSpPr>
        <p:spPr>
          <a:xfrm>
            <a:off x="3395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１２</a:t>
            </a:r>
          </a:p>
        </p:txBody>
      </p:sp>
      <p:sp>
        <p:nvSpPr>
          <p:cNvPr id="52" name="正方形/長方形 51"/>
          <p:cNvSpPr/>
          <p:nvPr/>
        </p:nvSpPr>
        <p:spPr>
          <a:xfrm>
            <a:off x="4205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１３</a:t>
            </a:r>
          </a:p>
        </p:txBody>
      </p:sp>
      <p:sp>
        <p:nvSpPr>
          <p:cNvPr id="53" name="正方形/長方形 52"/>
          <p:cNvSpPr/>
          <p:nvPr/>
        </p:nvSpPr>
        <p:spPr>
          <a:xfrm>
            <a:off x="5015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１４</a:t>
            </a:r>
          </a:p>
        </p:txBody>
      </p:sp>
      <p:sp>
        <p:nvSpPr>
          <p:cNvPr id="54" name="正方形/長方形 53"/>
          <p:cNvSpPr/>
          <p:nvPr/>
        </p:nvSpPr>
        <p:spPr>
          <a:xfrm>
            <a:off x="5825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b="1" dirty="0">
                <a:solidFill>
                  <a:schemeClr val="accent5"/>
                </a:solidFill>
                <a:latin typeface="Arial Narrow" pitchFamily="34" charset="0"/>
              </a:rPr>
              <a:t>１５</a:t>
            </a:r>
          </a:p>
        </p:txBody>
      </p:sp>
    </p:spTree>
    <p:extLst>
      <p:ext uri="{BB962C8B-B14F-4D97-AF65-F5344CB8AC3E}">
        <p14:creationId xmlns:p14="http://schemas.microsoft.com/office/powerpoint/2010/main" val="1059392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メモリの読み出し動作（１）</a:t>
            </a:r>
            <a:br>
              <a:rPr lang="en-US" altLang="ja-JP" dirty="0"/>
            </a:br>
            <a:r>
              <a:rPr lang="ja-JP" altLang="en-US" dirty="0"/>
              <a:t>アドレスのデコード</a:t>
            </a:r>
            <a:endParaRPr kumimoji="1" lang="ja-JP" altLang="en-US" dirty="0"/>
          </a:p>
        </p:txBody>
      </p:sp>
      <p:sp>
        <p:nvSpPr>
          <p:cNvPr id="3" name="テキスト プレースホルダー 2"/>
          <p:cNvSpPr>
            <a:spLocks noGrp="1"/>
          </p:cNvSpPr>
          <p:nvPr>
            <p:ph type="body" sz="quarter" idx="10"/>
          </p:nvPr>
        </p:nvSpPr>
        <p:spPr>
          <a:xfrm>
            <a:off x="6546005" y="1088974"/>
            <a:ext cx="4121995" cy="5309752"/>
          </a:xfrm>
        </p:spPr>
        <p:txBody>
          <a:bodyPr anchor="t"/>
          <a:lstStyle/>
          <a:p>
            <a:r>
              <a:rPr kumimoji="1" lang="ja-JP" altLang="en-US" dirty="0"/>
              <a:t>どの行を読むか決める</a:t>
            </a:r>
            <a:endParaRPr kumimoji="1" lang="en-US" altLang="ja-JP" dirty="0"/>
          </a:p>
          <a:p>
            <a:pPr lvl="1"/>
            <a:r>
              <a:rPr kumimoji="1" lang="ja-JP" altLang="en-US" dirty="0"/>
              <a:t>各行は４つセルがある</a:t>
            </a:r>
            <a:endParaRPr kumimoji="1" lang="en-US" altLang="ja-JP" dirty="0"/>
          </a:p>
          <a:p>
            <a:pPr lvl="1"/>
            <a:r>
              <a:rPr kumimoji="1" lang="ja-JP" altLang="en-US" dirty="0"/>
              <a:t>アドレスを４で割って</a:t>
            </a:r>
            <a:br>
              <a:rPr kumimoji="1" lang="en-US" altLang="ja-JP" dirty="0"/>
            </a:br>
            <a:r>
              <a:rPr kumimoji="1" lang="ja-JP" altLang="en-US" dirty="0"/>
              <a:t>切り捨てた行目が</a:t>
            </a:r>
            <a:br>
              <a:rPr kumimoji="1" lang="en-US" altLang="ja-JP" dirty="0"/>
            </a:br>
            <a:r>
              <a:rPr kumimoji="1" lang="ja-JP" altLang="en-US" dirty="0"/>
              <a:t>読むべき場所</a:t>
            </a:r>
            <a:endParaRPr kumimoji="1" lang="en-US" altLang="ja-JP" dirty="0"/>
          </a:p>
          <a:p>
            <a:pPr lvl="1"/>
            <a:r>
              <a:rPr kumimoji="1" lang="ja-JP" altLang="en-US" dirty="0"/>
              <a:t>６</a:t>
            </a:r>
            <a:r>
              <a:rPr kumimoji="1" lang="en-US" altLang="ja-JP" dirty="0"/>
              <a:t>=</a:t>
            </a:r>
            <a:r>
              <a:rPr kumimoji="1" lang="en-US" altLang="ja-JP" dirty="0">
                <a:solidFill>
                  <a:schemeClr val="accent5"/>
                </a:solidFill>
              </a:rPr>
              <a:t>01</a:t>
            </a:r>
            <a:r>
              <a:rPr kumimoji="1" lang="en-US" altLang="ja-JP" dirty="0"/>
              <a:t>10</a:t>
            </a:r>
            <a:r>
              <a:rPr kumimoji="1" lang="ja-JP" altLang="en-US" dirty="0"/>
              <a:t>（２進数）</a:t>
            </a:r>
            <a:endParaRPr kumimoji="1" lang="en-US" altLang="ja-JP" dirty="0"/>
          </a:p>
          <a:p>
            <a:r>
              <a:rPr kumimoji="1" lang="ja-JP" altLang="en-US" dirty="0"/>
              <a:t>デコーダ</a:t>
            </a:r>
            <a:endParaRPr kumimoji="1" lang="en-US" altLang="ja-JP" dirty="0"/>
          </a:p>
          <a:p>
            <a:pPr lvl="1"/>
            <a:r>
              <a:rPr kumimoji="1" lang="ja-JP" altLang="en-US" dirty="0"/>
              <a:t>数字を対応するワンホット信号に変換する回路</a:t>
            </a:r>
            <a:endParaRPr kumimoji="1" lang="en-US" altLang="ja-JP" dirty="0"/>
          </a:p>
          <a:p>
            <a:pPr lvl="1"/>
            <a:r>
              <a:rPr kumimoji="1" lang="ja-JP" altLang="en-US" dirty="0"/>
              <a:t>ワンホット信号：</a:t>
            </a:r>
            <a:endParaRPr lang="en-US" altLang="ja-JP" dirty="0"/>
          </a:p>
          <a:p>
            <a:pPr lvl="2"/>
            <a:r>
              <a:rPr kumimoji="1" lang="en-US" altLang="ja-JP" dirty="0"/>
              <a:t>n </a:t>
            </a:r>
            <a:r>
              <a:rPr kumimoji="1" lang="ja-JP" altLang="en-US" dirty="0"/>
              <a:t>本のうち，１つだけが１で他が０の信号</a:t>
            </a:r>
            <a:endParaRPr kumimoji="1" lang="en-US" altLang="ja-JP" dirty="0"/>
          </a:p>
          <a:p>
            <a:pPr lvl="1"/>
            <a:r>
              <a:rPr kumimoji="1" lang="ja-JP" altLang="en-US" dirty="0"/>
              <a:t>アドレス上位の２ビットを</a:t>
            </a:r>
            <a:br>
              <a:rPr kumimoji="1" lang="en-US" altLang="ja-JP" dirty="0"/>
            </a:br>
            <a:r>
              <a:rPr kumimoji="1" lang="ja-JP" altLang="en-US" dirty="0"/>
              <a:t>デコード</a:t>
            </a:r>
            <a:endParaRPr kumimoji="1" lang="en-US" altLang="ja-JP" dirty="0"/>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400" dirty="0">
                <a:latin typeface="Arial Narrow" pitchFamily="34" charset="0"/>
              </a:rPr>
              <a:t>cell</a:t>
            </a:r>
            <a:endParaRPr lang="ja-JP" altLang="en-US" sz="14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
        <p:nvSpPr>
          <p:cNvPr id="39" name="正方形/長方形 38"/>
          <p:cNvSpPr/>
          <p:nvPr/>
        </p:nvSpPr>
        <p:spPr>
          <a:xfrm>
            <a:off x="3395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p>
        </p:txBody>
      </p:sp>
      <p:sp>
        <p:nvSpPr>
          <p:cNvPr id="40" name="正方形/長方形 39"/>
          <p:cNvSpPr/>
          <p:nvPr/>
        </p:nvSpPr>
        <p:spPr>
          <a:xfrm>
            <a:off x="4205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lang="ja-JP" altLang="en-US" sz="1600" dirty="0">
              <a:solidFill>
                <a:schemeClr val="accent5"/>
              </a:solidFill>
              <a:latin typeface="Arial Narrow" pitchFamily="34" charset="0"/>
            </a:endParaRPr>
          </a:p>
        </p:txBody>
      </p:sp>
      <p:sp>
        <p:nvSpPr>
          <p:cNvPr id="41" name="正方形/長方形 40"/>
          <p:cNvSpPr/>
          <p:nvPr/>
        </p:nvSpPr>
        <p:spPr>
          <a:xfrm>
            <a:off x="5015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lang="ja-JP" altLang="en-US" sz="1600" dirty="0">
              <a:solidFill>
                <a:schemeClr val="accent5"/>
              </a:solidFill>
              <a:latin typeface="Arial Narrow" pitchFamily="34" charset="0"/>
            </a:endParaRPr>
          </a:p>
        </p:txBody>
      </p:sp>
      <p:sp>
        <p:nvSpPr>
          <p:cNvPr id="42" name="正方形/長方形 41"/>
          <p:cNvSpPr/>
          <p:nvPr/>
        </p:nvSpPr>
        <p:spPr>
          <a:xfrm>
            <a:off x="5825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p>
        </p:txBody>
      </p:sp>
      <p:sp>
        <p:nvSpPr>
          <p:cNvPr id="43" name="正方形/長方形 42"/>
          <p:cNvSpPr/>
          <p:nvPr/>
        </p:nvSpPr>
        <p:spPr>
          <a:xfrm>
            <a:off x="3395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lang="ja-JP" altLang="en-US" sz="1600" dirty="0">
              <a:solidFill>
                <a:schemeClr val="accent5"/>
              </a:solidFill>
              <a:latin typeface="Arial Narrow" pitchFamily="34" charset="0"/>
            </a:endParaRPr>
          </a:p>
        </p:txBody>
      </p:sp>
      <p:sp>
        <p:nvSpPr>
          <p:cNvPr id="44" name="正方形/長方形 43"/>
          <p:cNvSpPr/>
          <p:nvPr/>
        </p:nvSpPr>
        <p:spPr>
          <a:xfrm>
            <a:off x="4205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p>
        </p:txBody>
      </p:sp>
      <p:sp>
        <p:nvSpPr>
          <p:cNvPr id="45" name="正方形/長方形 44"/>
          <p:cNvSpPr/>
          <p:nvPr/>
        </p:nvSpPr>
        <p:spPr>
          <a:xfrm>
            <a:off x="5015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lang="ja-JP" altLang="en-US" sz="1600" dirty="0">
              <a:solidFill>
                <a:schemeClr val="accent5"/>
              </a:solidFill>
              <a:latin typeface="Arial Narrow" pitchFamily="34" charset="0"/>
            </a:endParaRPr>
          </a:p>
        </p:txBody>
      </p:sp>
      <p:sp>
        <p:nvSpPr>
          <p:cNvPr id="46" name="正方形/長方形 45"/>
          <p:cNvSpPr/>
          <p:nvPr/>
        </p:nvSpPr>
        <p:spPr>
          <a:xfrm>
            <a:off x="5825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p>
        </p:txBody>
      </p:sp>
      <p:sp>
        <p:nvSpPr>
          <p:cNvPr id="47" name="正方形/長方形 46"/>
          <p:cNvSpPr/>
          <p:nvPr/>
        </p:nvSpPr>
        <p:spPr>
          <a:xfrm>
            <a:off x="3395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p>
        </p:txBody>
      </p:sp>
      <p:sp>
        <p:nvSpPr>
          <p:cNvPr id="48" name="正方形/長方形 47"/>
          <p:cNvSpPr/>
          <p:nvPr/>
        </p:nvSpPr>
        <p:spPr>
          <a:xfrm>
            <a:off x="4205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９</a:t>
            </a:r>
          </a:p>
        </p:txBody>
      </p:sp>
      <p:sp>
        <p:nvSpPr>
          <p:cNvPr id="49" name="正方形/長方形 48"/>
          <p:cNvSpPr/>
          <p:nvPr/>
        </p:nvSpPr>
        <p:spPr>
          <a:xfrm>
            <a:off x="5015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p>
        </p:txBody>
      </p:sp>
      <p:sp>
        <p:nvSpPr>
          <p:cNvPr id="50" name="正方形/長方形 49"/>
          <p:cNvSpPr/>
          <p:nvPr/>
        </p:nvSpPr>
        <p:spPr>
          <a:xfrm>
            <a:off x="5825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p>
        </p:txBody>
      </p:sp>
      <p:sp>
        <p:nvSpPr>
          <p:cNvPr id="51" name="正方形/長方形 50"/>
          <p:cNvSpPr/>
          <p:nvPr/>
        </p:nvSpPr>
        <p:spPr>
          <a:xfrm>
            <a:off x="3395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p>
        </p:txBody>
      </p:sp>
      <p:sp>
        <p:nvSpPr>
          <p:cNvPr id="52" name="正方形/長方形 51"/>
          <p:cNvSpPr/>
          <p:nvPr/>
        </p:nvSpPr>
        <p:spPr>
          <a:xfrm>
            <a:off x="4205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p>
        </p:txBody>
      </p:sp>
      <p:sp>
        <p:nvSpPr>
          <p:cNvPr id="53" name="正方形/長方形 52"/>
          <p:cNvSpPr/>
          <p:nvPr/>
        </p:nvSpPr>
        <p:spPr>
          <a:xfrm>
            <a:off x="5015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p>
        </p:txBody>
      </p:sp>
      <p:sp>
        <p:nvSpPr>
          <p:cNvPr id="54" name="正方形/長方形 53"/>
          <p:cNvSpPr/>
          <p:nvPr/>
        </p:nvSpPr>
        <p:spPr>
          <a:xfrm>
            <a:off x="5825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p>
        </p:txBody>
      </p:sp>
    </p:spTree>
    <p:extLst>
      <p:ext uri="{BB962C8B-B14F-4D97-AF65-F5344CB8AC3E}">
        <p14:creationId xmlns:p14="http://schemas.microsoft.com/office/powerpoint/2010/main" val="3092349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メモリの読み出し動作（２）</a:t>
            </a:r>
            <a:br>
              <a:rPr lang="en-US" altLang="ja-JP" dirty="0"/>
            </a:br>
            <a:r>
              <a:rPr lang="ja-JP" altLang="en-US" dirty="0"/>
              <a:t>ワードラインのアサート</a:t>
            </a:r>
            <a:endParaRPr kumimoji="1" lang="ja-JP" altLang="en-US" dirty="0"/>
          </a:p>
        </p:txBody>
      </p:sp>
      <p:sp>
        <p:nvSpPr>
          <p:cNvPr id="3" name="テキスト プレースホルダー 2"/>
          <p:cNvSpPr>
            <a:spLocks noGrp="1"/>
          </p:cNvSpPr>
          <p:nvPr>
            <p:ph type="body" sz="quarter" idx="10"/>
          </p:nvPr>
        </p:nvSpPr>
        <p:spPr>
          <a:xfrm>
            <a:off x="6546005" y="1088974"/>
            <a:ext cx="3870042" cy="5309752"/>
          </a:xfrm>
        </p:spPr>
        <p:txBody>
          <a:bodyPr anchor="t"/>
          <a:lstStyle/>
          <a:p>
            <a:r>
              <a:rPr kumimoji="1" lang="ja-JP" altLang="en-US" dirty="0"/>
              <a:t>読み出す行に対応した</a:t>
            </a:r>
            <a:br>
              <a:rPr kumimoji="1" lang="en-US" altLang="ja-JP" dirty="0"/>
            </a:br>
            <a:r>
              <a:rPr kumimoji="1" lang="ja-JP" altLang="en-US" dirty="0"/>
              <a:t>ワードラインをアサート</a:t>
            </a:r>
            <a:endParaRPr kumimoji="1" lang="en-US" altLang="ja-JP" dirty="0"/>
          </a:p>
          <a:p>
            <a:pPr lvl="1"/>
            <a:r>
              <a:rPr lang="ja-JP" altLang="en-US" dirty="0"/>
              <a:t>先ほどのデコード結果を使う</a:t>
            </a:r>
            <a:br>
              <a:rPr lang="en-US" altLang="ja-JP" dirty="0"/>
            </a:br>
            <a:endParaRPr kumimoji="1" lang="en-US" altLang="ja-JP" dirty="0"/>
          </a:p>
          <a:p>
            <a:endParaRPr kumimoji="1" lang="en-US" altLang="ja-JP" dirty="0"/>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a:tailEnd type="triangle"/>
          </a:ln>
        </p:spPr>
        <p:style>
          <a:lnRef idx="3">
            <a:schemeClr val="accent6"/>
          </a:lnRef>
          <a:fillRef idx="0">
            <a:schemeClr val="accent6"/>
          </a:fillRef>
          <a:effectRef idx="2">
            <a:schemeClr val="accent6"/>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400" dirty="0">
                <a:latin typeface="Arial Narrow" pitchFamily="34" charset="0"/>
              </a:rPr>
              <a:t>cell</a:t>
            </a:r>
            <a:endParaRPr lang="ja-JP" altLang="en-US" sz="14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
        <p:nvSpPr>
          <p:cNvPr id="39" name="正方形/長方形 38"/>
          <p:cNvSpPr/>
          <p:nvPr/>
        </p:nvSpPr>
        <p:spPr>
          <a:xfrm>
            <a:off x="3395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p>
        </p:txBody>
      </p:sp>
      <p:sp>
        <p:nvSpPr>
          <p:cNvPr id="40" name="正方形/長方形 39"/>
          <p:cNvSpPr/>
          <p:nvPr/>
        </p:nvSpPr>
        <p:spPr>
          <a:xfrm>
            <a:off x="4205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lang="ja-JP" altLang="en-US" sz="1600" dirty="0">
              <a:solidFill>
                <a:schemeClr val="accent5"/>
              </a:solidFill>
              <a:latin typeface="Arial Narrow" pitchFamily="34" charset="0"/>
            </a:endParaRPr>
          </a:p>
        </p:txBody>
      </p:sp>
      <p:sp>
        <p:nvSpPr>
          <p:cNvPr id="41" name="正方形/長方形 40"/>
          <p:cNvSpPr/>
          <p:nvPr/>
        </p:nvSpPr>
        <p:spPr>
          <a:xfrm>
            <a:off x="5015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lang="ja-JP" altLang="en-US" sz="1600" dirty="0">
              <a:solidFill>
                <a:schemeClr val="accent5"/>
              </a:solidFill>
              <a:latin typeface="Arial Narrow" pitchFamily="34" charset="0"/>
            </a:endParaRPr>
          </a:p>
        </p:txBody>
      </p:sp>
      <p:sp>
        <p:nvSpPr>
          <p:cNvPr id="42" name="正方形/長方形 41"/>
          <p:cNvSpPr/>
          <p:nvPr/>
        </p:nvSpPr>
        <p:spPr>
          <a:xfrm>
            <a:off x="5825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p>
        </p:txBody>
      </p:sp>
      <p:sp>
        <p:nvSpPr>
          <p:cNvPr id="43" name="正方形/長方形 42"/>
          <p:cNvSpPr/>
          <p:nvPr/>
        </p:nvSpPr>
        <p:spPr>
          <a:xfrm>
            <a:off x="3395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lang="ja-JP" altLang="en-US" sz="1600" dirty="0">
              <a:solidFill>
                <a:schemeClr val="accent5"/>
              </a:solidFill>
              <a:latin typeface="Arial Narrow" pitchFamily="34" charset="0"/>
            </a:endParaRPr>
          </a:p>
        </p:txBody>
      </p:sp>
      <p:sp>
        <p:nvSpPr>
          <p:cNvPr id="44" name="正方形/長方形 43"/>
          <p:cNvSpPr/>
          <p:nvPr/>
        </p:nvSpPr>
        <p:spPr>
          <a:xfrm>
            <a:off x="4205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p>
        </p:txBody>
      </p:sp>
      <p:sp>
        <p:nvSpPr>
          <p:cNvPr id="45" name="正方形/長方形 44"/>
          <p:cNvSpPr/>
          <p:nvPr/>
        </p:nvSpPr>
        <p:spPr>
          <a:xfrm>
            <a:off x="5015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lang="ja-JP" altLang="en-US" sz="1600" dirty="0">
              <a:solidFill>
                <a:schemeClr val="accent5"/>
              </a:solidFill>
              <a:latin typeface="Arial Narrow" pitchFamily="34" charset="0"/>
            </a:endParaRPr>
          </a:p>
        </p:txBody>
      </p:sp>
      <p:sp>
        <p:nvSpPr>
          <p:cNvPr id="46" name="正方形/長方形 45"/>
          <p:cNvSpPr/>
          <p:nvPr/>
        </p:nvSpPr>
        <p:spPr>
          <a:xfrm>
            <a:off x="5825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p>
        </p:txBody>
      </p:sp>
      <p:sp>
        <p:nvSpPr>
          <p:cNvPr id="47" name="正方形/長方形 46"/>
          <p:cNvSpPr/>
          <p:nvPr/>
        </p:nvSpPr>
        <p:spPr>
          <a:xfrm>
            <a:off x="3395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p>
        </p:txBody>
      </p:sp>
      <p:sp>
        <p:nvSpPr>
          <p:cNvPr id="48" name="正方形/長方形 47"/>
          <p:cNvSpPr/>
          <p:nvPr/>
        </p:nvSpPr>
        <p:spPr>
          <a:xfrm>
            <a:off x="4205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９</a:t>
            </a:r>
          </a:p>
        </p:txBody>
      </p:sp>
      <p:sp>
        <p:nvSpPr>
          <p:cNvPr id="49" name="正方形/長方形 48"/>
          <p:cNvSpPr/>
          <p:nvPr/>
        </p:nvSpPr>
        <p:spPr>
          <a:xfrm>
            <a:off x="5015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p>
        </p:txBody>
      </p:sp>
      <p:sp>
        <p:nvSpPr>
          <p:cNvPr id="50" name="正方形/長方形 49"/>
          <p:cNvSpPr/>
          <p:nvPr/>
        </p:nvSpPr>
        <p:spPr>
          <a:xfrm>
            <a:off x="5825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p>
        </p:txBody>
      </p:sp>
      <p:sp>
        <p:nvSpPr>
          <p:cNvPr id="51" name="正方形/長方形 50"/>
          <p:cNvSpPr/>
          <p:nvPr/>
        </p:nvSpPr>
        <p:spPr>
          <a:xfrm>
            <a:off x="3395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p>
        </p:txBody>
      </p:sp>
      <p:sp>
        <p:nvSpPr>
          <p:cNvPr id="52" name="正方形/長方形 51"/>
          <p:cNvSpPr/>
          <p:nvPr/>
        </p:nvSpPr>
        <p:spPr>
          <a:xfrm>
            <a:off x="4205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p>
        </p:txBody>
      </p:sp>
      <p:sp>
        <p:nvSpPr>
          <p:cNvPr id="53" name="正方形/長方形 52"/>
          <p:cNvSpPr/>
          <p:nvPr/>
        </p:nvSpPr>
        <p:spPr>
          <a:xfrm>
            <a:off x="5015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p>
        </p:txBody>
      </p:sp>
      <p:sp>
        <p:nvSpPr>
          <p:cNvPr id="54" name="正方形/長方形 53"/>
          <p:cNvSpPr/>
          <p:nvPr/>
        </p:nvSpPr>
        <p:spPr>
          <a:xfrm>
            <a:off x="5825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p>
        </p:txBody>
      </p:sp>
      <p:sp>
        <p:nvSpPr>
          <p:cNvPr id="55" name="正方形/長方形 54"/>
          <p:cNvSpPr/>
          <p:nvPr/>
        </p:nvSpPr>
        <p:spPr>
          <a:xfrm>
            <a:off x="5285991" y="225898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accent6"/>
                </a:solidFill>
                <a:latin typeface="Arial Narrow" pitchFamily="34" charset="0"/>
              </a:rPr>
              <a:t>assert</a:t>
            </a:r>
            <a:endParaRPr lang="ja-JP" altLang="en-US" sz="1600" dirty="0">
              <a:solidFill>
                <a:schemeClr val="accent6"/>
              </a:solidFill>
              <a:latin typeface="Arial Narrow" pitchFamily="34" charset="0"/>
            </a:endParaRPr>
          </a:p>
        </p:txBody>
      </p:sp>
    </p:spTree>
    <p:extLst>
      <p:ext uri="{BB962C8B-B14F-4D97-AF65-F5344CB8AC3E}">
        <p14:creationId xmlns:p14="http://schemas.microsoft.com/office/powerpoint/2010/main" val="11628740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メモリの読み出し動作（３）</a:t>
            </a:r>
            <a:br>
              <a:rPr lang="en-US" altLang="ja-JP" dirty="0"/>
            </a:br>
            <a:r>
              <a:rPr lang="ja-JP" altLang="en-US" dirty="0"/>
              <a:t>ワード（１行分のデータ）の読み出し</a:t>
            </a:r>
            <a:endParaRPr kumimoji="1" lang="ja-JP" altLang="en-US" dirty="0"/>
          </a:p>
        </p:txBody>
      </p:sp>
      <p:sp>
        <p:nvSpPr>
          <p:cNvPr id="3" name="テキスト プレースホルダー 2"/>
          <p:cNvSpPr>
            <a:spLocks noGrp="1"/>
          </p:cNvSpPr>
          <p:nvPr>
            <p:ph type="body" sz="quarter" idx="10"/>
          </p:nvPr>
        </p:nvSpPr>
        <p:spPr>
          <a:xfrm>
            <a:off x="6546005" y="1088974"/>
            <a:ext cx="3870042" cy="5309752"/>
          </a:xfrm>
        </p:spPr>
        <p:txBody>
          <a:bodyPr anchor="t"/>
          <a:lstStyle/>
          <a:p>
            <a:r>
              <a:rPr kumimoji="1" lang="ja-JP" altLang="en-US" dirty="0"/>
              <a:t>ワードラインがアサートされると，</a:t>
            </a:r>
            <a:br>
              <a:rPr kumimoji="1" lang="en-US" altLang="ja-JP" dirty="0"/>
            </a:br>
            <a:r>
              <a:rPr kumimoji="1" lang="ja-JP" altLang="en-US" dirty="0"/>
              <a:t>そこに接続されたセルがビットラインに自身の中身を流す</a:t>
            </a:r>
            <a:endParaRPr kumimoji="1" lang="en-US" altLang="ja-JP" dirty="0"/>
          </a:p>
          <a:p>
            <a:r>
              <a:rPr lang="ja-JP" altLang="en-US" dirty="0"/>
              <a:t>これにより，１行分のデータが読み出される</a:t>
            </a:r>
            <a:endParaRPr kumimoji="1" lang="en-US" altLang="ja-JP" dirty="0"/>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2400" b="1" dirty="0">
                <a:solidFill>
                  <a:schemeClr val="accent6"/>
                </a:solidFill>
                <a:latin typeface="Arial Narrow" pitchFamily="34" charset="0"/>
              </a:rPr>
              <a:t>1</a:t>
            </a:r>
            <a:endParaRPr lang="ja-JP" altLang="en-US" sz="2400" b="1" dirty="0">
              <a:solidFill>
                <a:schemeClr val="accent6"/>
              </a:solidFill>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2400" b="1" dirty="0">
                <a:solidFill>
                  <a:schemeClr val="accent6"/>
                </a:solidFill>
                <a:latin typeface="Arial Narrow" pitchFamily="34" charset="0"/>
              </a:rPr>
              <a:t>1</a:t>
            </a:r>
            <a:endParaRPr lang="ja-JP" altLang="en-US" sz="2400" b="1" dirty="0">
              <a:solidFill>
                <a:schemeClr val="accent6"/>
              </a:solidFill>
              <a:latin typeface="Arial Narrow" pitchFamily="34" charset="0"/>
            </a:endParaRPr>
          </a:p>
        </p:txBody>
      </p: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400" dirty="0">
                <a:latin typeface="Arial Narrow" pitchFamily="34" charset="0"/>
              </a:rPr>
              <a:t>cell</a:t>
            </a:r>
            <a:endParaRPr lang="ja-JP" altLang="en-US" sz="14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
        <p:nvSpPr>
          <p:cNvPr id="39" name="正方形/長方形 38"/>
          <p:cNvSpPr/>
          <p:nvPr/>
        </p:nvSpPr>
        <p:spPr>
          <a:xfrm>
            <a:off x="3395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p>
        </p:txBody>
      </p:sp>
      <p:sp>
        <p:nvSpPr>
          <p:cNvPr id="40" name="正方形/長方形 39"/>
          <p:cNvSpPr/>
          <p:nvPr/>
        </p:nvSpPr>
        <p:spPr>
          <a:xfrm>
            <a:off x="4205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lang="ja-JP" altLang="en-US" sz="1600" dirty="0">
              <a:solidFill>
                <a:schemeClr val="accent5"/>
              </a:solidFill>
              <a:latin typeface="Arial Narrow" pitchFamily="34" charset="0"/>
            </a:endParaRPr>
          </a:p>
        </p:txBody>
      </p:sp>
      <p:sp>
        <p:nvSpPr>
          <p:cNvPr id="41" name="正方形/長方形 40"/>
          <p:cNvSpPr/>
          <p:nvPr/>
        </p:nvSpPr>
        <p:spPr>
          <a:xfrm>
            <a:off x="5015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lang="ja-JP" altLang="en-US" sz="1600" dirty="0">
              <a:solidFill>
                <a:schemeClr val="accent5"/>
              </a:solidFill>
              <a:latin typeface="Arial Narrow" pitchFamily="34" charset="0"/>
            </a:endParaRPr>
          </a:p>
        </p:txBody>
      </p:sp>
      <p:sp>
        <p:nvSpPr>
          <p:cNvPr id="42" name="正方形/長方形 41"/>
          <p:cNvSpPr/>
          <p:nvPr/>
        </p:nvSpPr>
        <p:spPr>
          <a:xfrm>
            <a:off x="5825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p>
        </p:txBody>
      </p:sp>
      <p:sp>
        <p:nvSpPr>
          <p:cNvPr id="43" name="正方形/長方形 42"/>
          <p:cNvSpPr/>
          <p:nvPr/>
        </p:nvSpPr>
        <p:spPr>
          <a:xfrm>
            <a:off x="3395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lang="ja-JP" altLang="en-US" sz="1600" dirty="0">
              <a:solidFill>
                <a:schemeClr val="accent5"/>
              </a:solidFill>
              <a:latin typeface="Arial Narrow" pitchFamily="34" charset="0"/>
            </a:endParaRPr>
          </a:p>
        </p:txBody>
      </p:sp>
      <p:sp>
        <p:nvSpPr>
          <p:cNvPr id="44" name="正方形/長方形 43"/>
          <p:cNvSpPr/>
          <p:nvPr/>
        </p:nvSpPr>
        <p:spPr>
          <a:xfrm>
            <a:off x="4205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p>
        </p:txBody>
      </p:sp>
      <p:sp>
        <p:nvSpPr>
          <p:cNvPr id="45" name="正方形/長方形 44"/>
          <p:cNvSpPr/>
          <p:nvPr/>
        </p:nvSpPr>
        <p:spPr>
          <a:xfrm>
            <a:off x="5015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lang="ja-JP" altLang="en-US" sz="1600" dirty="0">
              <a:solidFill>
                <a:schemeClr val="accent5"/>
              </a:solidFill>
              <a:latin typeface="Arial Narrow" pitchFamily="34" charset="0"/>
            </a:endParaRPr>
          </a:p>
        </p:txBody>
      </p:sp>
      <p:sp>
        <p:nvSpPr>
          <p:cNvPr id="46" name="正方形/長方形 45"/>
          <p:cNvSpPr/>
          <p:nvPr/>
        </p:nvSpPr>
        <p:spPr>
          <a:xfrm>
            <a:off x="5825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p>
        </p:txBody>
      </p:sp>
      <p:sp>
        <p:nvSpPr>
          <p:cNvPr id="47" name="正方形/長方形 46"/>
          <p:cNvSpPr/>
          <p:nvPr/>
        </p:nvSpPr>
        <p:spPr>
          <a:xfrm>
            <a:off x="3395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p>
        </p:txBody>
      </p:sp>
      <p:sp>
        <p:nvSpPr>
          <p:cNvPr id="48" name="正方形/長方形 47"/>
          <p:cNvSpPr/>
          <p:nvPr/>
        </p:nvSpPr>
        <p:spPr>
          <a:xfrm>
            <a:off x="4205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９</a:t>
            </a:r>
          </a:p>
        </p:txBody>
      </p:sp>
      <p:sp>
        <p:nvSpPr>
          <p:cNvPr id="49" name="正方形/長方形 48"/>
          <p:cNvSpPr/>
          <p:nvPr/>
        </p:nvSpPr>
        <p:spPr>
          <a:xfrm>
            <a:off x="5015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p>
        </p:txBody>
      </p:sp>
      <p:sp>
        <p:nvSpPr>
          <p:cNvPr id="50" name="正方形/長方形 49"/>
          <p:cNvSpPr/>
          <p:nvPr/>
        </p:nvSpPr>
        <p:spPr>
          <a:xfrm>
            <a:off x="5825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p>
        </p:txBody>
      </p:sp>
      <p:sp>
        <p:nvSpPr>
          <p:cNvPr id="51" name="正方形/長方形 50"/>
          <p:cNvSpPr/>
          <p:nvPr/>
        </p:nvSpPr>
        <p:spPr>
          <a:xfrm>
            <a:off x="3395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p>
        </p:txBody>
      </p:sp>
      <p:sp>
        <p:nvSpPr>
          <p:cNvPr id="52" name="正方形/長方形 51"/>
          <p:cNvSpPr/>
          <p:nvPr/>
        </p:nvSpPr>
        <p:spPr>
          <a:xfrm>
            <a:off x="4205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p>
        </p:txBody>
      </p:sp>
      <p:sp>
        <p:nvSpPr>
          <p:cNvPr id="53" name="正方形/長方形 52"/>
          <p:cNvSpPr/>
          <p:nvPr/>
        </p:nvSpPr>
        <p:spPr>
          <a:xfrm>
            <a:off x="5015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p>
        </p:txBody>
      </p:sp>
      <p:sp>
        <p:nvSpPr>
          <p:cNvPr id="54" name="正方形/長方形 53"/>
          <p:cNvSpPr/>
          <p:nvPr/>
        </p:nvSpPr>
        <p:spPr>
          <a:xfrm>
            <a:off x="5825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p>
        </p:txBody>
      </p:sp>
      <p:cxnSp>
        <p:nvCxnSpPr>
          <p:cNvPr id="56" name="直線コネクタ 55"/>
          <p:cNvCxnSpPr/>
          <p:nvPr/>
        </p:nvCxnSpPr>
        <p:spPr>
          <a:xfrm flipV="1">
            <a:off x="2675962" y="2708993"/>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57" name="正方形/長方形 56"/>
          <p:cNvSpPr/>
          <p:nvPr/>
        </p:nvSpPr>
        <p:spPr>
          <a:xfrm>
            <a:off x="3215997" y="4779018"/>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1</a:t>
            </a:r>
            <a:endParaRPr lang="ja-JP" altLang="en-US" sz="2400" b="1" dirty="0">
              <a:solidFill>
                <a:schemeClr val="accent6"/>
              </a:solidFill>
              <a:latin typeface="Arial Narrow" pitchFamily="34" charset="0"/>
            </a:endParaRPr>
          </a:p>
        </p:txBody>
      </p:sp>
      <p:sp>
        <p:nvSpPr>
          <p:cNvPr id="58" name="正方形/長方形 57"/>
          <p:cNvSpPr/>
          <p:nvPr/>
        </p:nvSpPr>
        <p:spPr>
          <a:xfrm>
            <a:off x="4025994"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59" name="正方形/長方形 58"/>
          <p:cNvSpPr/>
          <p:nvPr/>
        </p:nvSpPr>
        <p:spPr>
          <a:xfrm>
            <a:off x="4835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60" name="正方形/長方形 59"/>
          <p:cNvSpPr/>
          <p:nvPr/>
        </p:nvSpPr>
        <p:spPr>
          <a:xfrm>
            <a:off x="5645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1</a:t>
            </a:r>
            <a:endParaRPr lang="ja-JP" altLang="en-US" sz="2400" b="1" dirty="0">
              <a:solidFill>
                <a:schemeClr val="accent6"/>
              </a:solidFill>
              <a:latin typeface="Arial Narrow" pitchFamily="34" charset="0"/>
            </a:endParaRPr>
          </a:p>
        </p:txBody>
      </p:sp>
      <p:cxnSp>
        <p:nvCxnSpPr>
          <p:cNvPr id="33" name="直線矢印コネクタ 32"/>
          <p:cNvCxnSpPr/>
          <p:nvPr/>
        </p:nvCxnSpPr>
        <p:spPr bwMode="auto">
          <a:xfrm flipH="1">
            <a:off x="3395971" y="2888995"/>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3" name="直線矢印コネクタ 62"/>
          <p:cNvCxnSpPr/>
          <p:nvPr/>
        </p:nvCxnSpPr>
        <p:spPr bwMode="auto">
          <a:xfrm flipH="1">
            <a:off x="4205980" y="2888995"/>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4" name="直線矢印コネクタ 63"/>
          <p:cNvCxnSpPr/>
          <p:nvPr/>
        </p:nvCxnSpPr>
        <p:spPr bwMode="auto">
          <a:xfrm flipH="1">
            <a:off x="5015989" y="2888995"/>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65" name="直線矢印コネクタ 64"/>
          <p:cNvCxnSpPr/>
          <p:nvPr/>
        </p:nvCxnSpPr>
        <p:spPr bwMode="auto">
          <a:xfrm flipH="1">
            <a:off x="5825998" y="2888995"/>
            <a:ext cx="23" cy="1980037"/>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5216579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メモリの読み出し動作（４）</a:t>
            </a:r>
            <a:br>
              <a:rPr lang="en-US" altLang="ja-JP" dirty="0"/>
            </a:br>
            <a:r>
              <a:rPr lang="ja-JP" altLang="en-US" dirty="0"/>
              <a:t>列の選択</a:t>
            </a:r>
            <a:endParaRPr kumimoji="1" lang="ja-JP" altLang="en-US" dirty="0"/>
          </a:p>
        </p:txBody>
      </p:sp>
      <p:sp>
        <p:nvSpPr>
          <p:cNvPr id="3" name="テキスト プレースホルダー 2"/>
          <p:cNvSpPr>
            <a:spLocks noGrp="1"/>
          </p:cNvSpPr>
          <p:nvPr>
            <p:ph type="body" sz="quarter" idx="10"/>
          </p:nvPr>
        </p:nvSpPr>
        <p:spPr>
          <a:xfrm>
            <a:off x="6546005" y="1088974"/>
            <a:ext cx="4050045" cy="5309752"/>
          </a:xfrm>
        </p:spPr>
        <p:txBody>
          <a:bodyPr anchor="t"/>
          <a:lstStyle/>
          <a:p>
            <a:r>
              <a:rPr kumimoji="1" lang="ja-JP" altLang="en-US" dirty="0"/>
              <a:t>読み出された１行分のデータから，最終的に必要な１ビットを選択</a:t>
            </a:r>
            <a:endParaRPr kumimoji="1" lang="en-US" altLang="ja-JP" dirty="0"/>
          </a:p>
          <a:p>
            <a:r>
              <a:rPr lang="ja-JP" altLang="en-US" dirty="0"/>
              <a:t>どの列を読むか決める</a:t>
            </a:r>
            <a:endParaRPr lang="en-US" altLang="ja-JP" dirty="0"/>
          </a:p>
          <a:p>
            <a:pPr lvl="1"/>
            <a:r>
              <a:rPr lang="ja-JP" altLang="en-US" dirty="0"/>
              <a:t>各列は４つセルがある</a:t>
            </a:r>
            <a:endParaRPr lang="en-US" altLang="ja-JP" dirty="0"/>
          </a:p>
          <a:p>
            <a:pPr lvl="1"/>
            <a:r>
              <a:rPr lang="ja-JP" altLang="en-US" dirty="0"/>
              <a:t>アドレスを４で割った余りの列が読むべき場所</a:t>
            </a:r>
            <a:endParaRPr lang="en-US" altLang="ja-JP" dirty="0"/>
          </a:p>
          <a:p>
            <a:pPr lvl="1"/>
            <a:r>
              <a:rPr lang="ja-JP" altLang="en-US" dirty="0"/>
              <a:t>６</a:t>
            </a:r>
            <a:r>
              <a:rPr lang="en-US" altLang="ja-JP" dirty="0"/>
              <a:t>=</a:t>
            </a:r>
            <a:r>
              <a:rPr lang="en-US" altLang="ja-JP" dirty="0">
                <a:solidFill>
                  <a:schemeClr val="tx1"/>
                </a:solidFill>
              </a:rPr>
              <a:t>01</a:t>
            </a:r>
            <a:r>
              <a:rPr lang="en-US" altLang="ja-JP" dirty="0">
                <a:solidFill>
                  <a:schemeClr val="accent5"/>
                </a:solidFill>
              </a:rPr>
              <a:t>10</a:t>
            </a:r>
            <a:r>
              <a:rPr lang="ja-JP" altLang="en-US" dirty="0"/>
              <a:t>（２進数）</a:t>
            </a:r>
            <a:endParaRPr lang="en-US" altLang="ja-JP" dirty="0"/>
          </a:p>
          <a:p>
            <a:r>
              <a:rPr lang="ja-JP" altLang="en-US" dirty="0"/>
              <a:t>カラム・セレクタにより</a:t>
            </a:r>
            <a:br>
              <a:rPr lang="en-US" altLang="ja-JP" dirty="0"/>
            </a:br>
            <a:r>
              <a:rPr lang="ja-JP" altLang="en-US" dirty="0"/>
              <a:t>ビットを選択する</a:t>
            </a:r>
            <a:endParaRPr lang="en-US" altLang="ja-JP" dirty="0"/>
          </a:p>
          <a:p>
            <a:pPr lvl="1"/>
            <a:r>
              <a:rPr lang="ja-JP" altLang="en-US" dirty="0"/>
              <a:t>読み出し幅によっては</a:t>
            </a:r>
            <a:br>
              <a:rPr lang="en-US" altLang="ja-JP" dirty="0"/>
            </a:br>
            <a:r>
              <a:rPr lang="ja-JP" altLang="en-US" dirty="0"/>
              <a:t>この部分がないこともある</a:t>
            </a:r>
            <a:endParaRPr lang="en-US" altLang="ja-JP" dirty="0"/>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solidFill>
                  <a:schemeClr val="tx1"/>
                </a:solidFill>
                <a:latin typeface="Arial Narrow" pitchFamily="34" charset="0"/>
              </a:rPr>
              <a:t>1</a:t>
            </a:r>
            <a:endParaRPr lang="ja-JP" altLang="en-US" sz="1600" dirty="0">
              <a:solidFill>
                <a:schemeClr val="tx1"/>
              </a:solidFill>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solidFill>
                  <a:schemeClr val="tx1"/>
                </a:solidFill>
                <a:latin typeface="Arial Narrow" pitchFamily="34" charset="0"/>
              </a:rPr>
              <a:t>0</a:t>
            </a:r>
            <a:endParaRPr lang="ja-JP" altLang="en-US" sz="1600" dirty="0">
              <a:solidFill>
                <a:schemeClr val="tx1"/>
              </a:solidFill>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solidFill>
                  <a:schemeClr val="tx1"/>
                </a:solidFill>
                <a:latin typeface="Arial Narrow" pitchFamily="34" charset="0"/>
              </a:rPr>
              <a:t>1</a:t>
            </a:r>
            <a:endParaRPr lang="ja-JP" altLang="en-US" sz="1600" dirty="0">
              <a:solidFill>
                <a:schemeClr val="tx1"/>
              </a:solidFill>
              <a:latin typeface="Arial Narrow" pitchFamily="34" charset="0"/>
            </a:endParaRPr>
          </a:p>
        </p:txBody>
      </p: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400" dirty="0">
                <a:latin typeface="Arial Narrow" pitchFamily="34" charset="0"/>
              </a:rPr>
              <a:t>cell</a:t>
            </a:r>
            <a:endParaRPr lang="ja-JP" altLang="en-US" sz="1400" dirty="0">
              <a:latin typeface="Arial Narrow" pitchFamily="34" charset="0"/>
            </a:endParaRPr>
          </a:p>
        </p:txBody>
      </p:sp>
      <p:sp>
        <p:nvSpPr>
          <p:cNvPr id="127" name="正方形/長方形 126"/>
          <p:cNvSpPr/>
          <p:nvPr/>
        </p:nvSpPr>
        <p:spPr>
          <a:xfrm>
            <a:off x="3395970" y="908973"/>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lines</a:t>
            </a:r>
            <a:endParaRPr lang="ja-JP" altLang="en-US" sz="1600" dirty="0">
              <a:latin typeface="Arial Narrow" pitchFamily="34" charset="0"/>
            </a:endParaRPr>
          </a:p>
        </p:txBody>
      </p:sp>
      <p:sp>
        <p:nvSpPr>
          <p:cNvPr id="129" name="台形 128"/>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134" name="正方形/長方形 133"/>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135" name="正方形/長方形 134"/>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136" name="直線コネクタ 135"/>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138" name="正方形/長方形 137"/>
          <p:cNvSpPr/>
          <p:nvPr/>
        </p:nvSpPr>
        <p:spPr>
          <a:xfrm>
            <a:off x="1415948" y="2618992"/>
            <a:ext cx="114010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latin typeface="Arial Narrow" pitchFamily="34" charset="0"/>
              </a:rPr>
              <a:t>６</a:t>
            </a:r>
          </a:p>
        </p:txBody>
      </p:sp>
      <p:sp>
        <p:nvSpPr>
          <p:cNvPr id="139" name="正方形/長方形 138"/>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sp>
        <p:nvSpPr>
          <p:cNvPr id="39" name="正方形/長方形 38"/>
          <p:cNvSpPr/>
          <p:nvPr/>
        </p:nvSpPr>
        <p:spPr>
          <a:xfrm>
            <a:off x="3395970"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０</a:t>
            </a:r>
          </a:p>
        </p:txBody>
      </p:sp>
      <p:sp>
        <p:nvSpPr>
          <p:cNvPr id="40" name="正方形/長方形 39"/>
          <p:cNvSpPr/>
          <p:nvPr/>
        </p:nvSpPr>
        <p:spPr>
          <a:xfrm>
            <a:off x="4205979"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１</a:t>
            </a:r>
            <a:endParaRPr lang="ja-JP" altLang="en-US" sz="1600" dirty="0">
              <a:solidFill>
                <a:schemeClr val="accent5"/>
              </a:solidFill>
              <a:latin typeface="Arial Narrow" pitchFamily="34" charset="0"/>
            </a:endParaRPr>
          </a:p>
        </p:txBody>
      </p:sp>
      <p:sp>
        <p:nvSpPr>
          <p:cNvPr id="41" name="正方形/長方形 40"/>
          <p:cNvSpPr/>
          <p:nvPr/>
        </p:nvSpPr>
        <p:spPr>
          <a:xfrm>
            <a:off x="5015988"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２</a:t>
            </a:r>
            <a:endParaRPr lang="ja-JP" altLang="en-US" sz="1600" dirty="0">
              <a:solidFill>
                <a:schemeClr val="accent5"/>
              </a:solidFill>
              <a:latin typeface="Arial Narrow" pitchFamily="34" charset="0"/>
            </a:endParaRPr>
          </a:p>
        </p:txBody>
      </p:sp>
      <p:sp>
        <p:nvSpPr>
          <p:cNvPr id="42" name="正方形/長方形 41"/>
          <p:cNvSpPr/>
          <p:nvPr/>
        </p:nvSpPr>
        <p:spPr>
          <a:xfrm>
            <a:off x="5825997" y="1448978"/>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３</a:t>
            </a:r>
          </a:p>
        </p:txBody>
      </p:sp>
      <p:sp>
        <p:nvSpPr>
          <p:cNvPr id="43" name="正方形/長方形 42"/>
          <p:cNvSpPr/>
          <p:nvPr/>
        </p:nvSpPr>
        <p:spPr>
          <a:xfrm>
            <a:off x="3395970"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４</a:t>
            </a:r>
            <a:endParaRPr lang="ja-JP" altLang="en-US" sz="1600" dirty="0">
              <a:solidFill>
                <a:schemeClr val="accent5"/>
              </a:solidFill>
              <a:latin typeface="Arial Narrow" pitchFamily="34" charset="0"/>
            </a:endParaRPr>
          </a:p>
        </p:txBody>
      </p:sp>
      <p:sp>
        <p:nvSpPr>
          <p:cNvPr id="44" name="正方形/長方形 43"/>
          <p:cNvSpPr/>
          <p:nvPr/>
        </p:nvSpPr>
        <p:spPr>
          <a:xfrm>
            <a:off x="4205979"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５</a:t>
            </a:r>
          </a:p>
        </p:txBody>
      </p:sp>
      <p:sp>
        <p:nvSpPr>
          <p:cNvPr id="45" name="正方形/長方形 44"/>
          <p:cNvSpPr/>
          <p:nvPr/>
        </p:nvSpPr>
        <p:spPr>
          <a:xfrm>
            <a:off x="5015988"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a:solidFill>
                  <a:schemeClr val="accent5"/>
                </a:solidFill>
                <a:latin typeface="Arial Narrow" pitchFamily="34" charset="0"/>
              </a:rPr>
              <a:t>６</a:t>
            </a:r>
            <a:endParaRPr lang="ja-JP" altLang="en-US" sz="1600" dirty="0">
              <a:solidFill>
                <a:schemeClr val="accent5"/>
              </a:solidFill>
              <a:latin typeface="Arial Narrow" pitchFamily="34" charset="0"/>
            </a:endParaRPr>
          </a:p>
        </p:txBody>
      </p:sp>
      <p:sp>
        <p:nvSpPr>
          <p:cNvPr id="46" name="正方形/長方形 45"/>
          <p:cNvSpPr/>
          <p:nvPr/>
        </p:nvSpPr>
        <p:spPr>
          <a:xfrm>
            <a:off x="5825997" y="2258987"/>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７</a:t>
            </a:r>
          </a:p>
        </p:txBody>
      </p:sp>
      <p:sp>
        <p:nvSpPr>
          <p:cNvPr id="47" name="正方形/長方形 46"/>
          <p:cNvSpPr/>
          <p:nvPr/>
        </p:nvSpPr>
        <p:spPr>
          <a:xfrm>
            <a:off x="3395970"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８</a:t>
            </a:r>
          </a:p>
        </p:txBody>
      </p:sp>
      <p:sp>
        <p:nvSpPr>
          <p:cNvPr id="48" name="正方形/長方形 47"/>
          <p:cNvSpPr/>
          <p:nvPr/>
        </p:nvSpPr>
        <p:spPr>
          <a:xfrm>
            <a:off x="4205979"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９</a:t>
            </a:r>
          </a:p>
        </p:txBody>
      </p:sp>
      <p:sp>
        <p:nvSpPr>
          <p:cNvPr id="49" name="正方形/長方形 48"/>
          <p:cNvSpPr/>
          <p:nvPr/>
        </p:nvSpPr>
        <p:spPr>
          <a:xfrm>
            <a:off x="5015988"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１０</a:t>
            </a:r>
          </a:p>
        </p:txBody>
      </p:sp>
      <p:sp>
        <p:nvSpPr>
          <p:cNvPr id="50" name="正方形/長方形 49"/>
          <p:cNvSpPr/>
          <p:nvPr/>
        </p:nvSpPr>
        <p:spPr>
          <a:xfrm>
            <a:off x="5825997" y="3068996"/>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１１</a:t>
            </a:r>
          </a:p>
        </p:txBody>
      </p:sp>
      <p:sp>
        <p:nvSpPr>
          <p:cNvPr id="51" name="正方形/長方形 50"/>
          <p:cNvSpPr/>
          <p:nvPr/>
        </p:nvSpPr>
        <p:spPr>
          <a:xfrm>
            <a:off x="3395970"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１２</a:t>
            </a:r>
          </a:p>
        </p:txBody>
      </p:sp>
      <p:sp>
        <p:nvSpPr>
          <p:cNvPr id="52" name="正方形/長方形 51"/>
          <p:cNvSpPr/>
          <p:nvPr/>
        </p:nvSpPr>
        <p:spPr>
          <a:xfrm>
            <a:off x="4205979"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１３</a:t>
            </a:r>
          </a:p>
        </p:txBody>
      </p:sp>
      <p:sp>
        <p:nvSpPr>
          <p:cNvPr id="53" name="正方形/長方形 52"/>
          <p:cNvSpPr/>
          <p:nvPr/>
        </p:nvSpPr>
        <p:spPr>
          <a:xfrm>
            <a:off x="5015988"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１４</a:t>
            </a:r>
          </a:p>
        </p:txBody>
      </p:sp>
      <p:sp>
        <p:nvSpPr>
          <p:cNvPr id="54" name="正方形/長方形 53"/>
          <p:cNvSpPr/>
          <p:nvPr/>
        </p:nvSpPr>
        <p:spPr>
          <a:xfrm>
            <a:off x="5825997" y="3879005"/>
            <a:ext cx="449980" cy="450002"/>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ja-JP" altLang="en-US" sz="1600" dirty="0">
                <a:solidFill>
                  <a:schemeClr val="accent5"/>
                </a:solidFill>
                <a:latin typeface="Arial Narrow" pitchFamily="34" charset="0"/>
              </a:rPr>
              <a:t>１５</a:t>
            </a:r>
          </a:p>
        </p:txBody>
      </p:sp>
      <p:cxnSp>
        <p:nvCxnSpPr>
          <p:cNvPr id="56" name="直線コネクタ 55"/>
          <p:cNvCxnSpPr/>
          <p:nvPr/>
        </p:nvCxnSpPr>
        <p:spPr>
          <a:xfrm flipV="1">
            <a:off x="2675962" y="2708993"/>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57" name="正方形/長方形 56"/>
          <p:cNvSpPr/>
          <p:nvPr/>
        </p:nvSpPr>
        <p:spPr>
          <a:xfrm>
            <a:off x="3215997" y="4779018"/>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tx1"/>
                </a:solidFill>
                <a:latin typeface="Arial Narrow" pitchFamily="34" charset="0"/>
              </a:rPr>
              <a:t>1</a:t>
            </a:r>
            <a:endParaRPr lang="ja-JP" altLang="en-US" sz="2400" b="1" dirty="0">
              <a:solidFill>
                <a:schemeClr val="tx1"/>
              </a:solidFill>
              <a:latin typeface="Arial Narrow" pitchFamily="34" charset="0"/>
            </a:endParaRPr>
          </a:p>
        </p:txBody>
      </p:sp>
      <p:sp>
        <p:nvSpPr>
          <p:cNvPr id="58" name="正方形/長方形 57"/>
          <p:cNvSpPr/>
          <p:nvPr/>
        </p:nvSpPr>
        <p:spPr>
          <a:xfrm>
            <a:off x="4025994"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tx1"/>
                </a:solidFill>
                <a:latin typeface="Arial Narrow" pitchFamily="34" charset="0"/>
              </a:rPr>
              <a:t>0</a:t>
            </a:r>
            <a:endParaRPr lang="ja-JP" altLang="en-US" sz="2400" b="1" dirty="0">
              <a:solidFill>
                <a:schemeClr val="tx1"/>
              </a:solidFill>
              <a:latin typeface="Arial Narrow" pitchFamily="34" charset="0"/>
            </a:endParaRPr>
          </a:p>
        </p:txBody>
      </p:sp>
      <p:sp>
        <p:nvSpPr>
          <p:cNvPr id="59" name="正方形/長方形 58"/>
          <p:cNvSpPr/>
          <p:nvPr/>
        </p:nvSpPr>
        <p:spPr>
          <a:xfrm>
            <a:off x="4835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
        <p:nvSpPr>
          <p:cNvPr id="60" name="正方形/長方形 59"/>
          <p:cNvSpPr/>
          <p:nvPr/>
        </p:nvSpPr>
        <p:spPr>
          <a:xfrm>
            <a:off x="5645995" y="4779015"/>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tx1"/>
                </a:solidFill>
                <a:latin typeface="Arial Narrow" pitchFamily="34" charset="0"/>
              </a:rPr>
              <a:t>1</a:t>
            </a:r>
            <a:endParaRPr lang="ja-JP" altLang="en-US" sz="2400" b="1" dirty="0">
              <a:solidFill>
                <a:schemeClr val="tx1"/>
              </a:solidFill>
              <a:latin typeface="Arial Narrow" pitchFamily="34" charset="0"/>
            </a:endParaRPr>
          </a:p>
        </p:txBody>
      </p:sp>
      <p:sp>
        <p:nvSpPr>
          <p:cNvPr id="66" name="正方形/長方形 65"/>
          <p:cNvSpPr/>
          <p:nvPr/>
        </p:nvSpPr>
        <p:spPr>
          <a:xfrm>
            <a:off x="4475982" y="5499023"/>
            <a:ext cx="540000" cy="540000"/>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2400" b="1" dirty="0">
                <a:solidFill>
                  <a:schemeClr val="accent6"/>
                </a:solidFill>
                <a:latin typeface="Arial Narrow" pitchFamily="34" charset="0"/>
              </a:rPr>
              <a:t>0</a:t>
            </a:r>
            <a:endParaRPr lang="ja-JP" altLang="en-US" sz="2400" b="1" dirty="0">
              <a:solidFill>
                <a:schemeClr val="accent6"/>
              </a:solidFill>
              <a:latin typeface="Arial Narrow" pitchFamily="34" charset="0"/>
            </a:endParaRPr>
          </a:p>
        </p:txBody>
      </p:sp>
    </p:spTree>
    <p:extLst>
      <p:ext uri="{BB962C8B-B14F-4D97-AF65-F5344CB8AC3E}">
        <p14:creationId xmlns:p14="http://schemas.microsoft.com/office/powerpoint/2010/main" val="36736606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AMD Zen </a:t>
            </a:r>
            <a:r>
              <a:rPr lang="ja-JP" altLang="en-US" sz="2400" dirty="0"/>
              <a:t>コアの場合</a:t>
            </a:r>
            <a:br>
              <a:rPr lang="en-US" altLang="ja-JP" sz="2400" dirty="0"/>
            </a:br>
            <a:r>
              <a:rPr lang="en-US" altLang="ja-JP" sz="1600" dirty="0" err="1"/>
              <a:t>Teja</a:t>
            </a:r>
            <a:r>
              <a:rPr lang="en-US" altLang="ja-JP" sz="1600" dirty="0"/>
              <a:t> Singh et al., Zen: An Energy-Efficient High-Performance ×86 Core </a:t>
            </a:r>
            <a:r>
              <a:rPr lang="ja-JP" altLang="en-US" sz="1600" dirty="0"/>
              <a:t>より</a:t>
            </a:r>
          </a:p>
        </p:txBody>
      </p:sp>
      <p:sp>
        <p:nvSpPr>
          <p:cNvPr id="3" name="テキスト プレースホルダー 2"/>
          <p:cNvSpPr>
            <a:spLocks noGrp="1"/>
          </p:cNvSpPr>
          <p:nvPr>
            <p:ph type="body" sz="quarter" idx="10"/>
          </p:nvPr>
        </p:nvSpPr>
        <p:spPr>
          <a:xfrm>
            <a:off x="2045955" y="6129030"/>
            <a:ext cx="8280092" cy="449698"/>
          </a:xfrm>
        </p:spPr>
        <p:txBody>
          <a:bodyPr/>
          <a:lstStyle/>
          <a:p>
            <a:pPr lvl="1"/>
            <a:r>
              <a:rPr kumimoji="1" lang="ja-JP" altLang="en-US" dirty="0"/>
              <a:t>赤や紫の「田」の字の構造の部分が全部メモリ（</a:t>
            </a:r>
            <a:r>
              <a:rPr kumimoji="1" lang="en-US" altLang="ja-JP" dirty="0"/>
              <a:t>SRAM</a:t>
            </a:r>
            <a:r>
              <a:rPr kumimoji="1" lang="ja-JP" altLang="en-US" dirty="0"/>
              <a:t>）</a:t>
            </a:r>
            <a:endParaRPr kumimoji="1" lang="en-US" altLang="ja-JP" dirty="0"/>
          </a:p>
          <a:p>
            <a:pPr lvl="2"/>
            <a:r>
              <a:rPr kumimoji="1" lang="ja-JP" altLang="en-US" dirty="0"/>
              <a:t>レジスタやキャッシュ，各種テーブルなど</a:t>
            </a:r>
          </a:p>
        </p:txBody>
      </p:sp>
      <p:pic>
        <p:nvPicPr>
          <p:cNvPr id="5" name="図 4"/>
          <p:cNvPicPr>
            <a:picLocks noChangeAspect="1"/>
          </p:cNvPicPr>
          <p:nvPr/>
        </p:nvPicPr>
        <p:blipFill>
          <a:blip r:embed="rId2"/>
          <a:stretch>
            <a:fillRect/>
          </a:stretch>
        </p:blipFill>
        <p:spPr>
          <a:xfrm>
            <a:off x="3125967" y="1088974"/>
            <a:ext cx="6034158" cy="4785028"/>
          </a:xfrm>
          <a:prstGeom prst="rect">
            <a:avLst/>
          </a:prstGeom>
        </p:spPr>
      </p:pic>
    </p:spTree>
    <p:extLst>
      <p:ext uri="{BB962C8B-B14F-4D97-AF65-F5344CB8AC3E}">
        <p14:creationId xmlns:p14="http://schemas.microsoft.com/office/powerpoint/2010/main" val="35350233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「田」の字の構造</a:t>
            </a:r>
          </a:p>
        </p:txBody>
      </p:sp>
      <p:sp>
        <p:nvSpPr>
          <p:cNvPr id="3" name="テキスト プレースホルダー 2"/>
          <p:cNvSpPr>
            <a:spLocks noGrp="1"/>
          </p:cNvSpPr>
          <p:nvPr>
            <p:ph type="body" sz="quarter" idx="10"/>
          </p:nvPr>
        </p:nvSpPr>
        <p:spPr>
          <a:xfrm>
            <a:off x="2135956" y="5859027"/>
            <a:ext cx="8280092" cy="449698"/>
          </a:xfrm>
        </p:spPr>
        <p:txBody>
          <a:bodyPr/>
          <a:lstStyle/>
          <a:p>
            <a:r>
              <a:rPr lang="ja-JP" altLang="en-US" dirty="0"/>
              <a:t>「田」の字の構造になっているのは，</a:t>
            </a:r>
            <a:endParaRPr lang="en-US" altLang="ja-JP" dirty="0"/>
          </a:p>
          <a:p>
            <a:pPr lvl="1"/>
            <a:r>
              <a:rPr lang="ja-JP" altLang="en-US" dirty="0"/>
              <a:t>縦線がデコーダで左右に対してワードラインをアサート</a:t>
            </a:r>
            <a:endParaRPr lang="en-US" altLang="ja-JP" dirty="0"/>
          </a:p>
          <a:p>
            <a:pPr lvl="1"/>
            <a:r>
              <a:rPr lang="ja-JP" altLang="en-US" dirty="0"/>
              <a:t>横線でビットラインのデータを拾う</a:t>
            </a:r>
          </a:p>
        </p:txBody>
      </p:sp>
      <p:grpSp>
        <p:nvGrpSpPr>
          <p:cNvPr id="46" name="グループ化 45"/>
          <p:cNvGrpSpPr/>
          <p:nvPr/>
        </p:nvGrpSpPr>
        <p:grpSpPr>
          <a:xfrm>
            <a:off x="6096000" y="998973"/>
            <a:ext cx="1980000" cy="2070000"/>
            <a:chOff x="881959" y="1358983"/>
            <a:chExt cx="3960035" cy="4140037"/>
          </a:xfrm>
        </p:grpSpPr>
        <p:sp>
          <p:nvSpPr>
            <p:cNvPr id="34" name="正方形/長方形 33"/>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5" name="正方形/長方形 34"/>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6" name="正方形/長方形 35"/>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7" name="正方形/長方形 36"/>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8" name="正方形/長方形 37"/>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9" name="正方形/長方形 38"/>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0" name="正方形/長方形 39"/>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1" name="正方形/長方形 40"/>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2" name="正方形/長方形 41"/>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3" name="正方形/長方形 42"/>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4" name="正方形/長方形 43"/>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5" name="正方形/長方形 44"/>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2" name="正方形/長方形 31"/>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3" name="正方形/長方形 32"/>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31" name="正方形/長方形 30"/>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 name="正方形/長方形 3"/>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cxnSp>
          <p:nvCxnSpPr>
            <p:cNvPr id="8" name="直線コネクタ 7"/>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13" name="直線コネクタ 1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18" name="直線コネクタ 17"/>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23" name="直線コネクタ 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29" name="台形 28"/>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30" name="正方形/長方形 29"/>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lang="ja-JP" altLang="en-US" sz="1600" dirty="0">
                <a:latin typeface="Arial Narrow" pitchFamily="34" charset="0"/>
              </a:endParaRPr>
            </a:p>
          </p:txBody>
        </p:sp>
      </p:grpSp>
      <p:grpSp>
        <p:nvGrpSpPr>
          <p:cNvPr id="47" name="グループ化 46"/>
          <p:cNvGrpSpPr/>
          <p:nvPr/>
        </p:nvGrpSpPr>
        <p:grpSpPr>
          <a:xfrm flipV="1">
            <a:off x="6096000" y="3068997"/>
            <a:ext cx="1980000" cy="2070023"/>
            <a:chOff x="881959" y="1358983"/>
            <a:chExt cx="3960035" cy="4140037"/>
          </a:xfrm>
        </p:grpSpPr>
        <p:sp>
          <p:nvSpPr>
            <p:cNvPr id="48" name="正方形/長方形 47"/>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49" name="正方形/長方形 48"/>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0" name="正方形/長方形 49"/>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1" name="正方形/長方形 50"/>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2" name="正方形/長方形 51"/>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3" name="正方形/長方形 52"/>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4" name="正方形/長方形 53"/>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5" name="正方形/長方形 54"/>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6" name="正方形/長方形 55"/>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7" name="正方形/長方形 56"/>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8" name="正方形/長方形 57"/>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59" name="正方形/長方形 58"/>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60" name="正方形/長方形 59"/>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61" name="正方形/長方形 60"/>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62" name="正方形/長方形 61"/>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63" name="正方形/長方形 62"/>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cxnSp>
          <p:nvCxnSpPr>
            <p:cNvPr id="64" name="直線コネクタ 63"/>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65" name="直線コネクタ 64"/>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66" name="直線コネクタ 65"/>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67" name="直線コネクタ 66"/>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68" name="直線コネクタ 67"/>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69" name="直線コネクタ 68"/>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70" name="直線コネクタ 69"/>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71" name="直線コネクタ 70"/>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72" name="台形 71"/>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73" name="台形 72"/>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74" name="正方形/長方形 73"/>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lang="ja-JP" altLang="en-US" sz="1600" dirty="0">
                <a:latin typeface="Arial Narrow" pitchFamily="34" charset="0"/>
              </a:endParaRPr>
            </a:p>
          </p:txBody>
        </p:sp>
      </p:grpSp>
      <p:grpSp>
        <p:nvGrpSpPr>
          <p:cNvPr id="75" name="グループ化 74"/>
          <p:cNvGrpSpPr/>
          <p:nvPr/>
        </p:nvGrpSpPr>
        <p:grpSpPr>
          <a:xfrm flipH="1">
            <a:off x="3935977" y="998973"/>
            <a:ext cx="2070023" cy="2070000"/>
            <a:chOff x="881959" y="1358983"/>
            <a:chExt cx="3960035" cy="4140037"/>
          </a:xfrm>
        </p:grpSpPr>
        <p:sp>
          <p:nvSpPr>
            <p:cNvPr id="76" name="正方形/長方形 75"/>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77" name="正方形/長方形 76"/>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78" name="正方形/長方形 77"/>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79" name="正方形/長方形 78"/>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0" name="正方形/長方形 79"/>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1" name="正方形/長方形 80"/>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2" name="正方形/長方形 81"/>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3" name="正方形/長方形 82"/>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4" name="正方形/長方形 83"/>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5" name="正方形/長方形 84"/>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6" name="正方形/長方形 85"/>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7" name="正方形/長方形 86"/>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8" name="正方形/長方形 87"/>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89" name="正方形/長方形 88"/>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90" name="正方形/長方形 89"/>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91" name="正方形/長方形 90"/>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cxnSp>
          <p:nvCxnSpPr>
            <p:cNvPr id="92" name="直線コネクタ 91"/>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93" name="直線コネクタ 92"/>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94" name="直線コネクタ 93"/>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95" name="直線コネクタ 94"/>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96" name="直線コネクタ 95"/>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7" name="直線コネクタ 96"/>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8" name="直線コネクタ 97"/>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99" name="直線コネクタ 98"/>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100" name="台形 99"/>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101" name="台形 100"/>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102" name="正方形/長方形 101"/>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lang="ja-JP" altLang="en-US" sz="1600" dirty="0">
                <a:latin typeface="Arial Narrow" pitchFamily="34" charset="0"/>
              </a:endParaRPr>
            </a:p>
          </p:txBody>
        </p:sp>
      </p:grpSp>
      <p:grpSp>
        <p:nvGrpSpPr>
          <p:cNvPr id="103" name="グループ化 102"/>
          <p:cNvGrpSpPr/>
          <p:nvPr/>
        </p:nvGrpSpPr>
        <p:grpSpPr>
          <a:xfrm flipH="1" flipV="1">
            <a:off x="3935977" y="3068996"/>
            <a:ext cx="2070023" cy="2070023"/>
            <a:chOff x="881959" y="1358983"/>
            <a:chExt cx="3960035" cy="4140037"/>
          </a:xfrm>
        </p:grpSpPr>
        <p:sp>
          <p:nvSpPr>
            <p:cNvPr id="104" name="正方形/長方形 103"/>
            <p:cNvSpPr/>
            <p:nvPr/>
          </p:nvSpPr>
          <p:spPr>
            <a:xfrm>
              <a:off x="4031965"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05" name="正方形/長方形 104"/>
            <p:cNvSpPr/>
            <p:nvPr/>
          </p:nvSpPr>
          <p:spPr>
            <a:xfrm>
              <a:off x="3221985"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06" name="正方形/長方形 105"/>
            <p:cNvSpPr/>
            <p:nvPr/>
          </p:nvSpPr>
          <p:spPr>
            <a:xfrm>
              <a:off x="2411947" y="243898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07" name="正方形/長方形 106"/>
            <p:cNvSpPr/>
            <p:nvPr/>
          </p:nvSpPr>
          <p:spPr>
            <a:xfrm>
              <a:off x="1601967" y="243898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08" name="正方形/長方形 107"/>
            <p:cNvSpPr/>
            <p:nvPr/>
          </p:nvSpPr>
          <p:spPr>
            <a:xfrm>
              <a:off x="4031994"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09" name="正方形/長方形 108"/>
            <p:cNvSpPr/>
            <p:nvPr/>
          </p:nvSpPr>
          <p:spPr>
            <a:xfrm>
              <a:off x="3222014"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0" name="正方形/長方形 109"/>
            <p:cNvSpPr/>
            <p:nvPr/>
          </p:nvSpPr>
          <p:spPr>
            <a:xfrm>
              <a:off x="2411976" y="324899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1" name="正方形/長方形 110"/>
            <p:cNvSpPr/>
            <p:nvPr/>
          </p:nvSpPr>
          <p:spPr>
            <a:xfrm>
              <a:off x="1601996" y="3249001"/>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2" name="正方形/長方形 111"/>
            <p:cNvSpPr/>
            <p:nvPr/>
          </p:nvSpPr>
          <p:spPr>
            <a:xfrm>
              <a:off x="4031965"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3" name="正方形/長方形 112"/>
            <p:cNvSpPr/>
            <p:nvPr/>
          </p:nvSpPr>
          <p:spPr>
            <a:xfrm>
              <a:off x="3221985"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4" name="正方形/長方形 113"/>
            <p:cNvSpPr/>
            <p:nvPr/>
          </p:nvSpPr>
          <p:spPr>
            <a:xfrm>
              <a:off x="2411947" y="4059004"/>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5" name="正方形/長方形 114"/>
            <p:cNvSpPr/>
            <p:nvPr/>
          </p:nvSpPr>
          <p:spPr>
            <a:xfrm>
              <a:off x="1601967" y="405900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6" name="正方形/長方形 115"/>
            <p:cNvSpPr/>
            <p:nvPr/>
          </p:nvSpPr>
          <p:spPr>
            <a:xfrm>
              <a:off x="4031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7" name="正方形/長方形 116"/>
            <p:cNvSpPr/>
            <p:nvPr/>
          </p:nvSpPr>
          <p:spPr>
            <a:xfrm>
              <a:off x="3222014"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8" name="正方形/長方形 117"/>
            <p:cNvSpPr/>
            <p:nvPr/>
          </p:nvSpPr>
          <p:spPr>
            <a:xfrm>
              <a:off x="2411976"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sp>
          <p:nvSpPr>
            <p:cNvPr id="119" name="正方形/長方形 118"/>
            <p:cNvSpPr/>
            <p:nvPr/>
          </p:nvSpPr>
          <p:spPr>
            <a:xfrm>
              <a:off x="1601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sz="1600" dirty="0">
                <a:latin typeface="Arial Narrow" pitchFamily="34" charset="0"/>
              </a:endParaRPr>
            </a:p>
          </p:txBody>
        </p:sp>
        <p:cxnSp>
          <p:nvCxnSpPr>
            <p:cNvPr id="120" name="直線コネクタ 119"/>
            <p:cNvCxnSpPr/>
            <p:nvPr/>
          </p:nvCxnSpPr>
          <p:spPr>
            <a:xfrm flipV="1">
              <a:off x="1151962" y="1898980"/>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121" name="直線コネクタ 120"/>
            <p:cNvCxnSpPr/>
            <p:nvPr/>
          </p:nvCxnSpPr>
          <p:spPr>
            <a:xfrm flipV="1">
              <a:off x="1151962" y="2708977"/>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122" name="直線コネクタ 121"/>
            <p:cNvCxnSpPr/>
            <p:nvPr/>
          </p:nvCxnSpPr>
          <p:spPr>
            <a:xfrm flipV="1">
              <a:off x="1151962" y="3518977"/>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123" name="直線コネクタ 122"/>
            <p:cNvCxnSpPr/>
            <p:nvPr/>
          </p:nvCxnSpPr>
          <p:spPr>
            <a:xfrm flipV="1">
              <a:off x="1151962" y="4328977"/>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124" name="直線コネクタ 123"/>
            <p:cNvCxnSpPr/>
            <p:nvPr/>
          </p:nvCxnSpPr>
          <p:spPr>
            <a:xfrm flipV="1">
              <a:off x="187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5" name="直線コネクタ 124"/>
            <p:cNvCxnSpPr/>
            <p:nvPr/>
          </p:nvCxnSpPr>
          <p:spPr>
            <a:xfrm flipV="1">
              <a:off x="2681993"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6" name="直線コネクタ 125"/>
            <p:cNvCxnSpPr/>
            <p:nvPr/>
          </p:nvCxnSpPr>
          <p:spPr>
            <a:xfrm flipV="1">
              <a:off x="349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127" name="直線コネクタ 126"/>
            <p:cNvCxnSpPr/>
            <p:nvPr/>
          </p:nvCxnSpPr>
          <p:spPr>
            <a:xfrm flipV="1">
              <a:off x="4301994" y="1358983"/>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128" name="台形 127"/>
            <p:cNvSpPr/>
            <p:nvPr/>
          </p:nvSpPr>
          <p:spPr>
            <a:xfrm flipV="1">
              <a:off x="1601993" y="5138977"/>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129" name="台形 128"/>
            <p:cNvSpPr/>
            <p:nvPr/>
          </p:nvSpPr>
          <p:spPr>
            <a:xfrm rot="5400000" flipV="1">
              <a:off x="-468043" y="2978983"/>
              <a:ext cx="2970002" cy="269997"/>
            </a:xfrm>
            <a:prstGeom prst="trapezoid">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Arial Narrow" pitchFamily="34" charset="0"/>
              </a:endParaRPr>
            </a:p>
          </p:txBody>
        </p:sp>
        <p:sp>
          <p:nvSpPr>
            <p:cNvPr id="130" name="正方形/長方形 129"/>
            <p:cNvSpPr/>
            <p:nvPr/>
          </p:nvSpPr>
          <p:spPr>
            <a:xfrm>
              <a:off x="1871970" y="495901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endParaRPr lang="ja-JP" altLang="en-US" sz="1600" dirty="0">
                <a:latin typeface="Arial Narrow" pitchFamily="34" charset="0"/>
              </a:endParaRPr>
            </a:p>
          </p:txBody>
        </p:sp>
      </p:grpSp>
    </p:spTree>
    <p:extLst>
      <p:ext uri="{BB962C8B-B14F-4D97-AF65-F5344CB8AC3E}">
        <p14:creationId xmlns:p14="http://schemas.microsoft.com/office/powerpoint/2010/main" val="35238089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b="1" dirty="0"/>
              <a:t>アクセス時間</a:t>
            </a:r>
            <a:endParaRPr lang="en-US" altLang="ja-JP" b="1"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メモリを対象にしたアタック</a:t>
            </a:r>
          </a:p>
        </p:txBody>
      </p:sp>
    </p:spTree>
    <p:extLst>
      <p:ext uri="{BB962C8B-B14F-4D97-AF65-F5344CB8AC3E}">
        <p14:creationId xmlns:p14="http://schemas.microsoft.com/office/powerpoint/2010/main" val="18413483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メモリの読み出し時間</a:t>
            </a:r>
          </a:p>
        </p:txBody>
      </p:sp>
      <p:sp>
        <p:nvSpPr>
          <p:cNvPr id="3" name="テキスト プレースホルダー 2"/>
          <p:cNvSpPr>
            <a:spLocks noGrp="1"/>
          </p:cNvSpPr>
          <p:nvPr>
            <p:ph type="body" sz="quarter" idx="10"/>
          </p:nvPr>
        </p:nvSpPr>
        <p:spPr>
          <a:xfrm>
            <a:off x="6816008" y="1088975"/>
            <a:ext cx="3600040" cy="5219751"/>
          </a:xfrm>
        </p:spPr>
        <p:txBody>
          <a:bodyPr anchor="t"/>
          <a:lstStyle/>
          <a:p>
            <a:r>
              <a:rPr kumimoji="1" lang="ja-JP" altLang="en-US" dirty="0"/>
              <a:t>メモリの読み出し時間：</a:t>
            </a:r>
            <a:endParaRPr kumimoji="1" lang="en-US" altLang="ja-JP" dirty="0"/>
          </a:p>
          <a:p>
            <a:pPr lvl="1"/>
            <a:r>
              <a:rPr kumimoji="1" lang="ja-JP" altLang="en-US" dirty="0"/>
              <a:t>一番遠い経路を信号が通るときの時間</a:t>
            </a:r>
            <a:endParaRPr kumimoji="1" lang="en-US" altLang="ja-JP" dirty="0"/>
          </a:p>
          <a:p>
            <a:r>
              <a:rPr kumimoji="1" lang="ja-JP" altLang="en-US" dirty="0"/>
              <a:t>容量（セルの数）が一定の場合，正方形に近くするのが最も経路が短くなる</a:t>
            </a:r>
          </a:p>
        </p:txBody>
      </p:sp>
      <p:sp>
        <p:nvSpPr>
          <p:cNvPr id="4" name="正方形/長方形 3"/>
          <p:cNvSpPr/>
          <p:nvPr/>
        </p:nvSpPr>
        <p:spPr>
          <a:xfrm>
            <a:off x="3125996" y="162898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35993"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4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55994" y="162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75962" y="1898981"/>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25993" y="243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35990"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4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55991" y="243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75963" y="2708978"/>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125993" y="324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35990"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4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55991" y="324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75963" y="3518977"/>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25993" y="4058980"/>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35990"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4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55991" y="4058977"/>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75963" y="4328978"/>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39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05994"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1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25995" y="1358984"/>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125993" y="513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585975" y="5408980"/>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66004" y="3248988"/>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35997" y="1358978"/>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32" name="台形 31"/>
          <p:cNvSpPr/>
          <p:nvPr/>
        </p:nvSpPr>
        <p:spPr>
          <a:xfrm rot="5400000" flipV="1">
            <a:off x="1055957" y="297898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33" name="正方形/長方形 32"/>
          <p:cNvSpPr/>
          <p:nvPr/>
        </p:nvSpPr>
        <p:spPr>
          <a:xfrm>
            <a:off x="3395970" y="4959018"/>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34" name="正方形/長方形 33"/>
          <p:cNvSpPr/>
          <p:nvPr/>
        </p:nvSpPr>
        <p:spPr>
          <a:xfrm rot="16200000">
            <a:off x="1280957" y="2663981"/>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35" name="直線コネクタ 34"/>
          <p:cNvCxnSpPr/>
          <p:nvPr/>
        </p:nvCxnSpPr>
        <p:spPr>
          <a:xfrm flipV="1">
            <a:off x="1595951" y="3068996"/>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36" name="正方形/長方形 35"/>
          <p:cNvSpPr/>
          <p:nvPr/>
        </p:nvSpPr>
        <p:spPr>
          <a:xfrm>
            <a:off x="3305969" y="5769027"/>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cxnSp>
        <p:nvCxnSpPr>
          <p:cNvPr id="38" name="直線コネクタ 37"/>
          <p:cNvCxnSpPr/>
          <p:nvPr/>
        </p:nvCxnSpPr>
        <p:spPr bwMode="auto">
          <a:xfrm>
            <a:off x="1595950" y="2978995"/>
            <a:ext cx="900010" cy="0"/>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39" name="直線コネクタ 38"/>
          <p:cNvCxnSpPr/>
          <p:nvPr/>
        </p:nvCxnSpPr>
        <p:spPr bwMode="auto">
          <a:xfrm flipV="1">
            <a:off x="2495960" y="1898983"/>
            <a:ext cx="0" cy="1080012"/>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1" name="直線コネクタ 40"/>
          <p:cNvCxnSpPr/>
          <p:nvPr/>
        </p:nvCxnSpPr>
        <p:spPr bwMode="auto">
          <a:xfrm flipH="1">
            <a:off x="2495961" y="1898984"/>
            <a:ext cx="3330037" cy="1"/>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5" name="直線コネクタ 44"/>
          <p:cNvCxnSpPr/>
          <p:nvPr/>
        </p:nvCxnSpPr>
        <p:spPr bwMode="auto">
          <a:xfrm flipV="1">
            <a:off x="5825998" y="1898986"/>
            <a:ext cx="1" cy="3330035"/>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cxnSp>
        <p:nvCxnSpPr>
          <p:cNvPr id="47" name="直線コネクタ 46"/>
          <p:cNvCxnSpPr/>
          <p:nvPr/>
        </p:nvCxnSpPr>
        <p:spPr bwMode="auto">
          <a:xfrm>
            <a:off x="4565983" y="5229020"/>
            <a:ext cx="0" cy="720008"/>
          </a:xfrm>
          <a:prstGeom prst="line">
            <a:avLst/>
          </a:prstGeom>
          <a:ln>
            <a:headEnd type="none" w="med" len="med"/>
            <a:tailEnd type="triangle" w="med" len="med"/>
          </a:ln>
        </p:spPr>
        <p:style>
          <a:lnRef idx="3">
            <a:schemeClr val="accent6"/>
          </a:lnRef>
          <a:fillRef idx="0">
            <a:schemeClr val="accent6"/>
          </a:fillRef>
          <a:effectRef idx="2">
            <a:schemeClr val="accent6"/>
          </a:effectRef>
          <a:fontRef idx="minor">
            <a:schemeClr val="tx1"/>
          </a:fontRef>
        </p:style>
      </p:cxnSp>
      <p:cxnSp>
        <p:nvCxnSpPr>
          <p:cNvPr id="48" name="直線コネクタ 47"/>
          <p:cNvCxnSpPr/>
          <p:nvPr/>
        </p:nvCxnSpPr>
        <p:spPr bwMode="auto">
          <a:xfrm>
            <a:off x="4565983" y="5229021"/>
            <a:ext cx="1260014" cy="1"/>
          </a:xfrm>
          <a:prstGeom prst="line">
            <a:avLst/>
          </a:prstGeom>
          <a:ln>
            <a:headEnd type="none" w="med" len="med"/>
            <a:tailEnd type="none" w="med" len="med"/>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8110749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a:t>データをとってくるのに，どのぐらいかかるか？</a:t>
            </a:r>
            <a:endParaRPr lang="ja-JP" altLang="en-US" dirty="0"/>
          </a:p>
        </p:txBody>
      </p:sp>
      <p:sp>
        <p:nvSpPr>
          <p:cNvPr id="23" name="下矢印 22"/>
          <p:cNvSpPr/>
          <p:nvPr/>
        </p:nvSpPr>
        <p:spPr bwMode="auto">
          <a:xfrm>
            <a:off x="3035966" y="2258987"/>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2135956" y="2708993"/>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6" name="角丸四角形 5"/>
          <p:cNvSpPr/>
          <p:nvPr/>
        </p:nvSpPr>
        <p:spPr bwMode="auto">
          <a:xfrm>
            <a:off x="2675962" y="162898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CPU</a:t>
            </a:r>
            <a:endParaRPr lang="ja-JP" altLang="en-US" sz="1600" dirty="0">
              <a:solidFill>
                <a:schemeClr val="tx1">
                  <a:lumMod val="75000"/>
                  <a:lumOff val="25000"/>
                </a:schemeClr>
              </a:solidFill>
              <a:latin typeface="+mn-ea"/>
            </a:endParaRPr>
          </a:p>
        </p:txBody>
      </p:sp>
      <p:sp>
        <p:nvSpPr>
          <p:cNvPr id="15" name="正方形/長方形 14"/>
          <p:cNvSpPr/>
          <p:nvPr/>
        </p:nvSpPr>
        <p:spPr bwMode="auto">
          <a:xfrm>
            <a:off x="2135956" y="4059008"/>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ハードディスク</a:t>
            </a:r>
          </a:p>
        </p:txBody>
      </p:sp>
      <p:sp>
        <p:nvSpPr>
          <p:cNvPr id="18" name="下矢印 17"/>
          <p:cNvSpPr/>
          <p:nvPr/>
        </p:nvSpPr>
        <p:spPr bwMode="auto">
          <a:xfrm>
            <a:off x="3035966" y="3609002"/>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2135956" y="5409023"/>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光学ドライブ</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テープ・ドライブ</a:t>
            </a:r>
          </a:p>
        </p:txBody>
      </p:sp>
      <p:sp>
        <p:nvSpPr>
          <p:cNvPr id="21" name="下矢印 20"/>
          <p:cNvSpPr/>
          <p:nvPr/>
        </p:nvSpPr>
        <p:spPr bwMode="auto">
          <a:xfrm>
            <a:off x="3035966" y="4959017"/>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p:cNvSpPr/>
          <p:nvPr/>
        </p:nvSpPr>
        <p:spPr>
          <a:xfrm>
            <a:off x="4565984" y="1718981"/>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28" name="正方形/長方形 27"/>
          <p:cNvSpPr/>
          <p:nvPr/>
        </p:nvSpPr>
        <p:spPr>
          <a:xfrm>
            <a:off x="4565984" y="2888994"/>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100ns</a:t>
            </a:r>
            <a:endParaRPr lang="ja-JP" altLang="en-US" sz="2000" dirty="0">
              <a:solidFill>
                <a:schemeClr val="tx1">
                  <a:lumMod val="75000"/>
                  <a:lumOff val="25000"/>
                </a:schemeClr>
              </a:solidFill>
            </a:endParaRPr>
          </a:p>
        </p:txBody>
      </p:sp>
      <mc:AlternateContent xmlns:mc="http://schemas.openxmlformats.org/markup-compatibility/2006" xmlns:a14="http://schemas.microsoft.com/office/drawing/2010/main">
        <mc:Choice Requires="a14">
          <p:sp>
            <p:nvSpPr>
              <p:cNvPr id="29" name="正方形/長方形 28"/>
              <p:cNvSpPr/>
              <p:nvPr/>
            </p:nvSpPr>
            <p:spPr>
              <a:xfrm>
                <a:off x="4591800" y="4239009"/>
                <a:ext cx="424189" cy="400110"/>
              </a:xfrm>
              <a:prstGeom prst="rect">
                <a:avLst/>
              </a:prstGeom>
            </p:spPr>
            <p:txBody>
              <a:bodyPr wrap="none">
                <a:noAutofit/>
              </a:bodyPr>
              <a:lstStyle/>
              <a:p>
                <a:pPr marL="0" lvl="1"/>
                <a14:m>
                  <m:oMath xmlns:m="http://schemas.openxmlformats.org/officeDocument/2006/math">
                    <m:sSup>
                      <m:sSupPr>
                        <m:ctrlPr>
                          <a:rPr lang="en-US" altLang="ja-JP" sz="2000" i="1" dirty="0">
                            <a:solidFill>
                              <a:schemeClr val="tx1">
                                <a:lumMod val="75000"/>
                                <a:lumOff val="25000"/>
                              </a:schemeClr>
                            </a:solidFill>
                            <a:latin typeface="Cambria Math" panose="02040503050406030204" pitchFamily="18" charset="0"/>
                          </a:rPr>
                        </m:ctrlPr>
                      </m:sSupPr>
                      <m:e>
                        <m:r>
                          <a:rPr lang="en-US" altLang="ja-JP" sz="2000" i="1" dirty="0">
                            <a:solidFill>
                              <a:schemeClr val="tx1">
                                <a:lumMod val="75000"/>
                                <a:lumOff val="25000"/>
                              </a:schemeClr>
                            </a:solidFill>
                            <a:latin typeface="Cambria Math" panose="02040503050406030204" pitchFamily="18" charset="0"/>
                          </a:rPr>
                          <m:t>10</m:t>
                        </m:r>
                      </m:e>
                      <m:sup>
                        <m:r>
                          <a:rPr lang="en-US" altLang="ja-JP" sz="2000" i="1" dirty="0">
                            <a:solidFill>
                              <a:schemeClr val="tx1">
                                <a:lumMod val="75000"/>
                                <a:lumOff val="25000"/>
                              </a:schemeClr>
                            </a:solidFill>
                            <a:latin typeface="Cambria Math" panose="02040503050406030204" pitchFamily="18" charset="0"/>
                          </a:rPr>
                          <m:t>6</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29" name="正方形/長方形 28"/>
              <p:cNvSpPr>
                <a:spLocks noRot="1" noChangeAspect="1" noMove="1" noResize="1" noEditPoints="1" noAdjustHandles="1" noChangeArrowheads="1" noChangeShapeType="1" noTextEdit="1"/>
              </p:cNvSpPr>
              <p:nvPr/>
            </p:nvSpPr>
            <p:spPr>
              <a:xfrm>
                <a:off x="4591800" y="4239009"/>
                <a:ext cx="424189" cy="400110"/>
              </a:xfrm>
              <a:prstGeom prst="rect">
                <a:avLst/>
              </a:prstGeom>
              <a:blipFill>
                <a:blip r:embed="rId2"/>
                <a:stretch>
                  <a:fillRect t="-6061" r="-112857"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正方形/長方形 29"/>
              <p:cNvSpPr/>
              <p:nvPr/>
            </p:nvSpPr>
            <p:spPr>
              <a:xfrm>
                <a:off x="4565984" y="5589024"/>
                <a:ext cx="424189" cy="400110"/>
              </a:xfrm>
              <a:prstGeom prst="rect">
                <a:avLst/>
              </a:prstGeom>
            </p:spPr>
            <p:txBody>
              <a:bodyPr wrap="none">
                <a:noAutofit/>
              </a:bodyPr>
              <a:lstStyle/>
              <a:p>
                <a:pPr marL="0" lvl="1"/>
                <a14:m>
                  <m:oMath xmlns:m="http://schemas.openxmlformats.org/officeDocument/2006/math">
                    <m:sSup>
                      <m:sSupPr>
                        <m:ctrlPr>
                          <a:rPr lang="en-US" altLang="ja-JP" sz="2000" i="1" dirty="0">
                            <a:solidFill>
                              <a:schemeClr val="tx1">
                                <a:lumMod val="75000"/>
                                <a:lumOff val="25000"/>
                              </a:schemeClr>
                            </a:solidFill>
                            <a:latin typeface="Cambria Math" panose="02040503050406030204" pitchFamily="18" charset="0"/>
                          </a:rPr>
                        </m:ctrlPr>
                      </m:sSupPr>
                      <m:e>
                        <m:r>
                          <a:rPr lang="en-US" altLang="ja-JP" sz="2000" i="1" dirty="0">
                            <a:solidFill>
                              <a:schemeClr val="tx1">
                                <a:lumMod val="75000"/>
                                <a:lumOff val="25000"/>
                              </a:schemeClr>
                            </a:solidFill>
                            <a:latin typeface="Cambria Math" panose="02040503050406030204" pitchFamily="18" charset="0"/>
                          </a:rPr>
                          <m:t>10</m:t>
                        </m:r>
                      </m:e>
                      <m:sup>
                        <m:r>
                          <a:rPr lang="en-US" altLang="ja-JP" sz="2000" i="1" dirty="0">
                            <a:solidFill>
                              <a:schemeClr val="tx1">
                                <a:lumMod val="75000"/>
                                <a:lumOff val="25000"/>
                              </a:schemeClr>
                            </a:solidFill>
                            <a:latin typeface="Cambria Math" panose="02040503050406030204" pitchFamily="18" charset="0"/>
                          </a:rPr>
                          <m:t>9</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30" name="正方形/長方形 29"/>
              <p:cNvSpPr>
                <a:spLocks noRot="1" noChangeAspect="1" noMove="1" noResize="1" noEditPoints="1" noAdjustHandles="1" noChangeArrowheads="1" noChangeShapeType="1" noTextEdit="1"/>
              </p:cNvSpPr>
              <p:nvPr/>
            </p:nvSpPr>
            <p:spPr>
              <a:xfrm>
                <a:off x="4565984" y="5589024"/>
                <a:ext cx="424189" cy="400110"/>
              </a:xfrm>
              <a:prstGeom prst="rect">
                <a:avLst/>
              </a:prstGeom>
              <a:blipFill>
                <a:blip r:embed="rId3"/>
                <a:stretch>
                  <a:fillRect t="-7692" r="-111429" b="-29231"/>
                </a:stretch>
              </a:blipFill>
            </p:spPr>
            <p:txBody>
              <a:bodyPr/>
              <a:lstStyle/>
              <a:p>
                <a:r>
                  <a:rPr lang="ja-JP" altLang="en-US">
                    <a:noFill/>
                  </a:rPr>
                  <a:t> </a:t>
                </a:r>
              </a:p>
            </p:txBody>
          </p:sp>
        </mc:Fallback>
      </mc:AlternateContent>
      <p:grpSp>
        <p:nvGrpSpPr>
          <p:cNvPr id="10" name="グループ化 9"/>
          <p:cNvGrpSpPr/>
          <p:nvPr/>
        </p:nvGrpSpPr>
        <p:grpSpPr>
          <a:xfrm>
            <a:off x="6636006" y="1448979"/>
            <a:ext cx="1774204" cy="990011"/>
            <a:chOff x="5112006" y="1448978"/>
            <a:chExt cx="1774204" cy="990011"/>
          </a:xfrm>
        </p:grpSpPr>
        <p:pic>
          <p:nvPicPr>
            <p:cNvPr id="1032" name="Picture 8" descr="「本棚 イラスト」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12006" y="1448978"/>
              <a:ext cx="1111166" cy="990011"/>
            </a:xfrm>
            <a:prstGeom prst="rect">
              <a:avLst/>
            </a:prstGeom>
            <a:noFill/>
            <a:extLst>
              <a:ext uri="{909E8E84-426E-40DD-AFC4-6F175D3DCCD1}">
                <a14:hiddenFill xmlns:a14="http://schemas.microsoft.com/office/drawing/2010/main">
                  <a:solidFill>
                    <a:srgbClr val="FFFFFF"/>
                  </a:solidFill>
                </a14:hiddenFill>
              </a:ext>
            </a:extLst>
          </p:spPr>
        </p:pic>
        <p:sp>
          <p:nvSpPr>
            <p:cNvPr id="32" name="正方形/長方形 31"/>
            <p:cNvSpPr/>
            <p:nvPr/>
          </p:nvSpPr>
          <p:spPr>
            <a:xfrm>
              <a:off x="6462021" y="1628980"/>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マイ本棚：</a:t>
              </a:r>
              <a:br>
                <a:rPr lang="en-US" altLang="ja-JP" sz="2000" dirty="0">
                  <a:solidFill>
                    <a:schemeClr val="tx1">
                      <a:lumMod val="75000"/>
                      <a:lumOff val="25000"/>
                    </a:schemeClr>
                  </a:solidFill>
                </a:rPr>
              </a:br>
              <a:r>
                <a:rPr lang="en-US" altLang="ja-JP" sz="2000" dirty="0">
                  <a:solidFill>
                    <a:schemeClr val="tx1">
                      <a:lumMod val="75000"/>
                      <a:lumOff val="25000"/>
                    </a:schemeClr>
                  </a:solidFill>
                </a:rPr>
                <a:t>1</a:t>
              </a:r>
              <a:r>
                <a:rPr lang="ja-JP" altLang="en-US" sz="2000" dirty="0">
                  <a:solidFill>
                    <a:schemeClr val="tx1">
                      <a:lumMod val="75000"/>
                      <a:lumOff val="25000"/>
                    </a:schemeClr>
                  </a:solidFill>
                </a:rPr>
                <a:t>分（目的の本を探す）</a:t>
              </a:r>
            </a:p>
          </p:txBody>
        </p:sp>
      </p:grpSp>
      <p:grpSp>
        <p:nvGrpSpPr>
          <p:cNvPr id="12" name="グループ化 11"/>
          <p:cNvGrpSpPr/>
          <p:nvPr/>
        </p:nvGrpSpPr>
        <p:grpSpPr>
          <a:xfrm>
            <a:off x="6186002" y="3969006"/>
            <a:ext cx="2224209" cy="1080012"/>
            <a:chOff x="4662001" y="3969006"/>
            <a:chExt cx="2224209" cy="1080012"/>
          </a:xfrm>
        </p:grpSpPr>
        <p:pic>
          <p:nvPicPr>
            <p:cNvPr id="1048" name="Picture 24" descr="「木星」の画像検索結果"/>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2001" y="3969006"/>
              <a:ext cx="1608278" cy="1080012"/>
            </a:xfrm>
            <a:prstGeom prst="rect">
              <a:avLst/>
            </a:prstGeom>
            <a:noFill/>
            <a:extLst>
              <a:ext uri="{909E8E84-426E-40DD-AFC4-6F175D3DCCD1}">
                <a14:hiddenFill xmlns:a14="http://schemas.microsoft.com/office/drawing/2010/main">
                  <a:solidFill>
                    <a:srgbClr val="FFFFFF"/>
                  </a:solidFill>
                </a14:hiddenFill>
              </a:ext>
            </a:extLst>
          </p:spPr>
        </p:pic>
        <p:sp>
          <p:nvSpPr>
            <p:cNvPr id="38" name="正方形/長方形 37"/>
            <p:cNvSpPr/>
            <p:nvPr/>
          </p:nvSpPr>
          <p:spPr>
            <a:xfrm>
              <a:off x="6462021" y="4239009"/>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木星：</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a:t>
              </a:r>
              <a:r>
                <a:rPr lang="ja-JP" altLang="en-US" sz="2000" dirty="0">
                  <a:solidFill>
                    <a:schemeClr val="tx1">
                      <a:lumMod val="75000"/>
                      <a:lumOff val="25000"/>
                    </a:schemeClr>
                  </a:solidFill>
                </a:rPr>
                <a:t>年   （ロケット）</a:t>
              </a:r>
            </a:p>
          </p:txBody>
        </p:sp>
      </p:grpSp>
      <p:grpSp>
        <p:nvGrpSpPr>
          <p:cNvPr id="13" name="グループ化 12"/>
          <p:cNvGrpSpPr/>
          <p:nvPr/>
        </p:nvGrpSpPr>
        <p:grpSpPr>
          <a:xfrm>
            <a:off x="5825998" y="5409022"/>
            <a:ext cx="2584213" cy="900010"/>
            <a:chOff x="4301997" y="5409022"/>
            <a:chExt cx="2584213" cy="900010"/>
          </a:xfrm>
        </p:grpSpPr>
        <p:pic>
          <p:nvPicPr>
            <p:cNvPr id="1050" name="Picture 26" descr="http://www.skyfactory.org/deneb/Deneb_large.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301997" y="5409022"/>
              <a:ext cx="1960022" cy="900010"/>
            </a:xfrm>
            <a:prstGeom prst="rect">
              <a:avLst/>
            </a:prstGeom>
            <a:noFill/>
            <a:extLst>
              <a:ext uri="{909E8E84-426E-40DD-AFC4-6F175D3DCCD1}">
                <a14:hiddenFill xmlns:a14="http://schemas.microsoft.com/office/drawing/2010/main">
                  <a:solidFill>
                    <a:srgbClr val="FFFFFF"/>
                  </a:solidFill>
                </a14:hiddenFill>
              </a:ext>
            </a:extLst>
          </p:spPr>
        </p:pic>
        <p:sp>
          <p:nvSpPr>
            <p:cNvPr id="41" name="正方形/長方形 40"/>
            <p:cNvSpPr/>
            <p:nvPr/>
          </p:nvSpPr>
          <p:spPr>
            <a:xfrm>
              <a:off x="6462021" y="558902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白鳥座デネブ：</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2000</a:t>
              </a:r>
              <a:r>
                <a:rPr lang="ja-JP" altLang="en-US" sz="2000" dirty="0">
                  <a:solidFill>
                    <a:schemeClr val="tx1">
                      <a:lumMod val="75000"/>
                      <a:lumOff val="25000"/>
                    </a:schemeClr>
                  </a:solidFill>
                </a:rPr>
                <a:t>年（光速）</a:t>
              </a:r>
            </a:p>
          </p:txBody>
        </p:sp>
      </p:grpSp>
      <p:grpSp>
        <p:nvGrpSpPr>
          <p:cNvPr id="4" name="グループ化 3"/>
          <p:cNvGrpSpPr/>
          <p:nvPr/>
        </p:nvGrpSpPr>
        <p:grpSpPr>
          <a:xfrm>
            <a:off x="5825998" y="2528991"/>
            <a:ext cx="2584213" cy="1217149"/>
            <a:chOff x="4301997" y="2528990"/>
            <a:chExt cx="2584213" cy="1217149"/>
          </a:xfrm>
        </p:grpSpPr>
        <p:pic>
          <p:nvPicPr>
            <p:cNvPr id="1026" name="Picture 2" descr="https://4.bp.blogspot.com/-HXhQY5J5SKY/U7O8H5dFRcI/AAAAAAAAiaE/mHc90zyBI8w/s800/nagoya_syachihoko.png"/>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02007" y="2618991"/>
              <a:ext cx="1211986" cy="112714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ã«ãã§ã®ã¢ã¼ãã³ã°ã»ããã®ã¤ã©ã¹ãï¼å°åãã¼ã¹ãï¼"/>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301997" y="2528990"/>
              <a:ext cx="1193595" cy="1050364"/>
            </a:xfrm>
            <a:prstGeom prst="rect">
              <a:avLst/>
            </a:prstGeom>
            <a:noFill/>
            <a:extLst>
              <a:ext uri="{909E8E84-426E-40DD-AFC4-6F175D3DCCD1}">
                <a14:hiddenFill xmlns:a14="http://schemas.microsoft.com/office/drawing/2010/main">
                  <a:solidFill>
                    <a:srgbClr val="FFFFFF"/>
                  </a:solidFill>
                </a14:hiddenFill>
              </a:ext>
            </a:extLst>
          </p:spPr>
        </p:pic>
        <p:sp>
          <p:nvSpPr>
            <p:cNvPr id="31" name="正方形/長方形 30"/>
            <p:cNvSpPr/>
            <p:nvPr/>
          </p:nvSpPr>
          <p:spPr>
            <a:xfrm>
              <a:off x="6462021" y="288899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名古屋：</a:t>
              </a:r>
              <a:br>
                <a:rPr lang="en-US" altLang="ja-JP" sz="2000" dirty="0">
                  <a:solidFill>
                    <a:schemeClr val="tx1">
                      <a:lumMod val="75000"/>
                      <a:lumOff val="25000"/>
                    </a:schemeClr>
                  </a:solidFill>
                </a:rPr>
              </a:br>
              <a:r>
                <a:rPr lang="en-US" altLang="ja-JP" sz="2000" dirty="0">
                  <a:solidFill>
                    <a:schemeClr val="tx1">
                      <a:lumMod val="75000"/>
                      <a:lumOff val="25000"/>
                    </a:schemeClr>
                  </a:solidFill>
                </a:rPr>
                <a:t>95</a:t>
              </a:r>
              <a:r>
                <a:rPr lang="ja-JP" altLang="en-US" sz="2000" dirty="0">
                  <a:solidFill>
                    <a:schemeClr val="tx1">
                      <a:lumMod val="75000"/>
                      <a:lumOff val="25000"/>
                    </a:schemeClr>
                  </a:solidFill>
                </a:rPr>
                <a:t>分（新幹線）</a:t>
              </a:r>
            </a:p>
          </p:txBody>
        </p:sp>
      </p:grpSp>
    </p:spTree>
    <p:extLst>
      <p:ext uri="{BB962C8B-B14F-4D97-AF65-F5344CB8AC3E}">
        <p14:creationId xmlns:p14="http://schemas.microsoft.com/office/powerpoint/2010/main" val="22854982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left)">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アクセス時間は容量に直接は比例しない</a:t>
            </a:r>
            <a:br>
              <a:rPr kumimoji="1" lang="en-US" altLang="ja-JP" dirty="0"/>
            </a:br>
            <a:r>
              <a:rPr lang="ja-JP" altLang="en-US" sz="2000" dirty="0"/>
              <a:t>（容量の平方根ぐらいに比例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2135956" y="4959017"/>
                <a:ext cx="8280092" cy="1349708"/>
              </a:xfrm>
            </p:spPr>
            <p:txBody>
              <a:bodyPr/>
              <a:lstStyle/>
              <a:p>
                <a:r>
                  <a:rPr kumimoji="1" lang="ja-JP" altLang="en-US" dirty="0"/>
                  <a:t>格子状に並んだセルの外周部の長さがアクセス時間を決めるから</a:t>
                </a:r>
                <a:endParaRPr kumimoji="1" lang="en-US" altLang="ja-JP" dirty="0"/>
              </a:p>
              <a:p>
                <a:pPr lvl="1"/>
                <a:r>
                  <a:rPr kumimoji="1" lang="ja-JP" altLang="en-US" dirty="0"/>
                  <a:t>メモリ容量 </a:t>
                </a:r>
                <a:r>
                  <a:rPr kumimoji="1" lang="en-US" altLang="ja-JP" dirty="0"/>
                  <a:t>=</a:t>
                </a:r>
                <a14:m>
                  <m:oMath xmlns:m="http://schemas.openxmlformats.org/officeDocument/2006/math">
                    <m:sSup>
                      <m:sSupPr>
                        <m:ctrlPr>
                          <a:rPr kumimoji="1" lang="en-US" altLang="ja-JP" b="0" i="1" dirty="0" smtClean="0">
                            <a:latin typeface="Cambria Math" panose="02040503050406030204" pitchFamily="18" charset="0"/>
                          </a:rPr>
                        </m:ctrlPr>
                      </m:sSupPr>
                      <m:e>
                        <m:r>
                          <m:rPr>
                            <m:nor/>
                          </m:rPr>
                          <a:rPr lang="en-US" altLang="ja-JP" dirty="0"/>
                          <m:t> (</m:t>
                        </m:r>
                        <m:r>
                          <m:rPr>
                            <m:nor/>
                          </m:rPr>
                          <a:rPr lang="ja-JP" altLang="en-US" dirty="0"/>
                          <m:t>外周部の長さ</m:t>
                        </m:r>
                        <m:r>
                          <a:rPr lang="en-US" altLang="ja-JP" i="1" dirty="0">
                            <a:latin typeface="Cambria Math" panose="02040503050406030204" pitchFamily="18" charset="0"/>
                          </a:rPr>
                          <m:t>)</m:t>
                        </m:r>
                      </m:e>
                      <m:sup>
                        <m:r>
                          <a:rPr kumimoji="1" lang="en-US" altLang="ja-JP" i="1" dirty="0" smtClean="0">
                            <a:latin typeface="Cambria Math" panose="02040503050406030204" pitchFamily="18" charset="0"/>
                          </a:rPr>
                          <m:t>2</m:t>
                        </m:r>
                      </m:sup>
                    </m:sSup>
                  </m:oMath>
                </a14:m>
                <a:endParaRPr kumimoji="1" lang="en-US" altLang="ja-JP" dirty="0"/>
              </a:p>
              <a:p>
                <a:pPr lvl="1"/>
                <a:r>
                  <a:rPr kumimoji="1" lang="ja-JP" altLang="en-US" dirty="0"/>
                  <a:t>アクセス時間は，容量の </a:t>
                </a:r>
                <a:r>
                  <a:rPr kumimoji="1" lang="en-US" altLang="ja-JP" dirty="0"/>
                  <a:t>0.5 </a:t>
                </a:r>
                <a:r>
                  <a:rPr kumimoji="1" lang="ja-JP" altLang="en-US" dirty="0"/>
                  <a:t>乗でしか伸びない</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4959017"/>
                <a:ext cx="8280092" cy="1349708"/>
              </a:xfrm>
              <a:blipFill>
                <a:blip r:embed="rId2"/>
                <a:stretch>
                  <a:fillRect l="-662" b="-9009"/>
                </a:stretch>
              </a:blipFill>
            </p:spPr>
            <p:txBody>
              <a:bodyPr/>
              <a:lstStyle/>
              <a:p>
                <a:r>
                  <a:rPr lang="ja-JP" altLang="en-US">
                    <a:noFill/>
                  </a:rPr>
                  <a:t> </a:t>
                </a:r>
              </a:p>
            </p:txBody>
          </p:sp>
        </mc:Fallback>
      </mc:AlternateContent>
      <p:sp>
        <p:nvSpPr>
          <p:cNvPr id="4" name="下矢印 3"/>
          <p:cNvSpPr/>
          <p:nvPr/>
        </p:nvSpPr>
        <p:spPr bwMode="auto">
          <a:xfrm>
            <a:off x="5285991" y="2348988"/>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4385981" y="2798994"/>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tx1">
                    <a:lumMod val="75000"/>
                    <a:lumOff val="25000"/>
                  </a:schemeClr>
                </a:solidFill>
                <a:latin typeface="+mn-ea"/>
              </a:rPr>
              <a:t>メモリ：</a:t>
            </a:r>
            <a:r>
              <a:rPr lang="en-US" altLang="ja-JP" sz="1600" b="1" dirty="0">
                <a:solidFill>
                  <a:schemeClr val="tx1">
                    <a:lumMod val="75000"/>
                    <a:lumOff val="25000"/>
                  </a:schemeClr>
                </a:solidFill>
                <a:latin typeface="+mn-ea"/>
              </a:rPr>
              <a:t>32GB</a:t>
            </a:r>
            <a:endParaRPr lang="ja-JP" altLang="en-US" sz="1600" b="1" dirty="0">
              <a:solidFill>
                <a:schemeClr val="tx1">
                  <a:lumMod val="75000"/>
                  <a:lumOff val="25000"/>
                </a:schemeClr>
              </a:solidFill>
              <a:latin typeface="+mn-ea"/>
            </a:endParaRPr>
          </a:p>
        </p:txBody>
      </p:sp>
      <p:sp>
        <p:nvSpPr>
          <p:cNvPr id="6" name="角丸四角形 5"/>
          <p:cNvSpPr/>
          <p:nvPr/>
        </p:nvSpPr>
        <p:spPr bwMode="auto">
          <a:xfrm>
            <a:off x="4745985" y="1718981"/>
            <a:ext cx="1440016"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b="1" dirty="0">
                <a:solidFill>
                  <a:schemeClr val="tx1">
                    <a:lumMod val="75000"/>
                    <a:lumOff val="25000"/>
                  </a:schemeClr>
                </a:solidFill>
                <a:latin typeface="+mn-ea"/>
              </a:rPr>
              <a:t>CPU</a:t>
            </a:r>
            <a:r>
              <a:rPr lang="ja-JP" altLang="en-US" sz="1600" b="1" dirty="0">
                <a:solidFill>
                  <a:schemeClr val="tx1">
                    <a:lumMod val="75000"/>
                    <a:lumOff val="25000"/>
                  </a:schemeClr>
                </a:solidFill>
                <a:latin typeface="+mn-ea"/>
              </a:rPr>
              <a:t>：</a:t>
            </a:r>
            <a:r>
              <a:rPr lang="en-US" altLang="ja-JP" sz="1600" b="1" dirty="0">
                <a:solidFill>
                  <a:schemeClr val="tx1">
                    <a:lumMod val="75000"/>
                    <a:lumOff val="25000"/>
                  </a:schemeClr>
                </a:solidFill>
                <a:latin typeface="+mn-ea"/>
              </a:rPr>
              <a:t>32KB</a:t>
            </a:r>
            <a:endParaRPr lang="ja-JP" altLang="en-US" sz="1600" b="1" dirty="0">
              <a:solidFill>
                <a:schemeClr val="tx1">
                  <a:lumMod val="75000"/>
                  <a:lumOff val="25000"/>
                </a:schemeClr>
              </a:solidFill>
              <a:latin typeface="+mn-ea"/>
            </a:endParaRPr>
          </a:p>
        </p:txBody>
      </p:sp>
      <p:sp>
        <p:nvSpPr>
          <p:cNvPr id="7" name="正方形/長方形 6"/>
          <p:cNvSpPr/>
          <p:nvPr/>
        </p:nvSpPr>
        <p:spPr>
          <a:xfrm>
            <a:off x="6816009" y="1808982"/>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8" name="正方形/長方形 7"/>
          <p:cNvSpPr/>
          <p:nvPr/>
        </p:nvSpPr>
        <p:spPr>
          <a:xfrm>
            <a:off x="6816009" y="2978995"/>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100ns</a:t>
            </a:r>
            <a:endParaRPr lang="ja-JP" altLang="en-US" sz="2000" dirty="0">
              <a:solidFill>
                <a:schemeClr val="tx1">
                  <a:lumMod val="75000"/>
                  <a:lumOff val="25000"/>
                </a:schemeClr>
              </a:solidFill>
            </a:endParaRPr>
          </a:p>
        </p:txBody>
      </p:sp>
    </p:spTree>
    <p:extLst>
      <p:ext uri="{BB962C8B-B14F-4D97-AF65-F5344CB8AC3E}">
        <p14:creationId xmlns:p14="http://schemas.microsoft.com/office/powerpoint/2010/main" val="18886035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dirty="0"/>
              <a:t>なぜレジスタやキャッシュがあるのか？</a:t>
            </a:r>
            <a:endParaRPr kumimoji="1" lang="ja-JP" altLang="en-US" dirty="0"/>
          </a:p>
        </p:txBody>
      </p:sp>
      <p:sp>
        <p:nvSpPr>
          <p:cNvPr id="4" name="テキスト プレースホルダー 3"/>
          <p:cNvSpPr>
            <a:spLocks noGrp="1"/>
          </p:cNvSpPr>
          <p:nvPr>
            <p:ph type="body" sz="quarter" idx="10"/>
          </p:nvPr>
        </p:nvSpPr>
        <p:spPr>
          <a:xfrm>
            <a:off x="2135956" y="1268976"/>
            <a:ext cx="8280092" cy="1800020"/>
          </a:xfrm>
        </p:spPr>
        <p:txBody>
          <a:bodyPr/>
          <a:lstStyle/>
          <a:p>
            <a:r>
              <a:rPr lang="ja-JP" altLang="en-US" dirty="0"/>
              <a:t>小容量だけど，高速なレジスタやキャッシュを用意</a:t>
            </a:r>
            <a:endParaRPr lang="en-US" altLang="ja-JP" dirty="0"/>
          </a:p>
          <a:p>
            <a:pPr lvl="1"/>
            <a:r>
              <a:rPr lang="ja-JP" altLang="en-US" dirty="0"/>
              <a:t>一度利用した値を入れておくことで，</a:t>
            </a:r>
            <a:r>
              <a:rPr lang="en-US" altLang="ja-JP" dirty="0"/>
              <a:t>2</a:t>
            </a:r>
            <a:r>
              <a:rPr lang="ja-JP" altLang="en-US" dirty="0"/>
              <a:t>度目からは高速に</a:t>
            </a:r>
            <a:endParaRPr lang="en-US" altLang="ja-JP" dirty="0"/>
          </a:p>
          <a:p>
            <a:r>
              <a:rPr lang="ja-JP" altLang="en-US" b="1" dirty="0">
                <a:solidFill>
                  <a:schemeClr val="accent5"/>
                </a:solidFill>
              </a:rPr>
              <a:t>大容量かつ高速なレジスタややキャッシュは作れない</a:t>
            </a:r>
            <a:endParaRPr lang="en-US" altLang="ja-JP" b="1" dirty="0">
              <a:solidFill>
                <a:schemeClr val="accent5"/>
              </a:solidFill>
            </a:endParaRPr>
          </a:p>
          <a:p>
            <a:pPr lvl="1"/>
            <a:r>
              <a:rPr lang="ja-JP" altLang="en-US" dirty="0"/>
              <a:t>記憶容量に応じたアクセス時間が必要だから</a:t>
            </a:r>
            <a:endParaRPr lang="en-US" altLang="ja-JP" dirty="0"/>
          </a:p>
          <a:p>
            <a:pPr lvl="1"/>
            <a:r>
              <a:rPr lang="ja-JP" altLang="en-US" dirty="0"/>
              <a:t>最終的には信号が伝わる長さに帰着する</a:t>
            </a:r>
            <a:endParaRPr lang="en-US" altLang="ja-JP" dirty="0"/>
          </a:p>
        </p:txBody>
      </p:sp>
      <p:sp>
        <p:nvSpPr>
          <p:cNvPr id="23" name="下矢印 22"/>
          <p:cNvSpPr/>
          <p:nvPr/>
        </p:nvSpPr>
        <p:spPr bwMode="auto">
          <a:xfrm>
            <a:off x="4115978" y="4149008"/>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下矢印 23"/>
          <p:cNvSpPr/>
          <p:nvPr/>
        </p:nvSpPr>
        <p:spPr bwMode="auto">
          <a:xfrm>
            <a:off x="7086011" y="4149009"/>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5" name="下矢印 24"/>
          <p:cNvSpPr/>
          <p:nvPr/>
        </p:nvSpPr>
        <p:spPr bwMode="auto">
          <a:xfrm>
            <a:off x="7086011" y="5139020"/>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3215968" y="5589025"/>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6" name="角丸四角形 5"/>
          <p:cNvSpPr/>
          <p:nvPr/>
        </p:nvSpPr>
        <p:spPr bwMode="auto">
          <a:xfrm>
            <a:off x="3755974" y="3609002"/>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演算器</a:t>
            </a:r>
          </a:p>
        </p:txBody>
      </p:sp>
      <p:sp>
        <p:nvSpPr>
          <p:cNvPr id="16" name="正方形/長方形 15"/>
          <p:cNvSpPr/>
          <p:nvPr/>
        </p:nvSpPr>
        <p:spPr bwMode="auto">
          <a:xfrm>
            <a:off x="6186001" y="5589025"/>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17" name="角丸四角形 16"/>
          <p:cNvSpPr/>
          <p:nvPr/>
        </p:nvSpPr>
        <p:spPr bwMode="auto">
          <a:xfrm>
            <a:off x="6726007" y="3609002"/>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演算器</a:t>
            </a:r>
          </a:p>
        </p:txBody>
      </p:sp>
      <p:sp>
        <p:nvSpPr>
          <p:cNvPr id="20" name="正方形/長方形 19"/>
          <p:cNvSpPr/>
          <p:nvPr/>
        </p:nvSpPr>
        <p:spPr bwMode="auto">
          <a:xfrm>
            <a:off x="6726007" y="4599013"/>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lumMod val="75000"/>
                  </a:schemeClr>
                </a:solidFill>
                <a:latin typeface="+mn-ea"/>
              </a:rPr>
              <a:t>レジスタ</a:t>
            </a:r>
          </a:p>
        </p:txBody>
      </p:sp>
      <p:sp>
        <p:nvSpPr>
          <p:cNvPr id="26" name="正方形/長方形 25"/>
          <p:cNvSpPr/>
          <p:nvPr/>
        </p:nvSpPr>
        <p:spPr>
          <a:xfrm>
            <a:off x="4385982" y="4689014"/>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27" name="正方形/長方形 26"/>
          <p:cNvSpPr/>
          <p:nvPr/>
        </p:nvSpPr>
        <p:spPr>
          <a:xfrm>
            <a:off x="7896021" y="4149008"/>
            <a:ext cx="424189" cy="400110"/>
          </a:xfrm>
          <a:prstGeom prst="rect">
            <a:avLst/>
          </a:prstGeom>
        </p:spPr>
        <p:txBody>
          <a:bodyPr wrap="none">
            <a:noAutofit/>
          </a:bodyPr>
          <a:lstStyle/>
          <a:p>
            <a:pPr marL="0" lvl="1"/>
            <a:r>
              <a:rPr lang="ja-JP" altLang="en-US" sz="2000" dirty="0">
                <a:solidFill>
                  <a:schemeClr val="accent5"/>
                </a:solidFill>
              </a:rPr>
              <a:t>短時間</a:t>
            </a:r>
            <a:endParaRPr lang="en-US" altLang="ja-JP" sz="2000" dirty="0">
              <a:solidFill>
                <a:schemeClr val="accent5"/>
              </a:solidFill>
            </a:endParaRPr>
          </a:p>
          <a:p>
            <a:pPr marL="0" lvl="1"/>
            <a:r>
              <a:rPr lang="ja-JP" altLang="en-US" sz="2000" dirty="0">
                <a:solidFill>
                  <a:schemeClr val="accent5"/>
                </a:solidFill>
              </a:rPr>
              <a:t>（データがあれば）</a:t>
            </a:r>
          </a:p>
        </p:txBody>
      </p:sp>
    </p:spTree>
    <p:extLst>
      <p:ext uri="{BB962C8B-B14F-4D97-AF65-F5344CB8AC3E}">
        <p14:creationId xmlns:p14="http://schemas.microsoft.com/office/powerpoint/2010/main" val="21213066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b="1" dirty="0"/>
              <a:t>メモリの詳細</a:t>
            </a:r>
            <a:endParaRPr lang="en-US" altLang="ja-JP" b="1"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メモリを対象にしたアタック</a:t>
            </a:r>
          </a:p>
        </p:txBody>
      </p:sp>
    </p:spTree>
    <p:extLst>
      <p:ext uri="{BB962C8B-B14F-4D97-AF65-F5344CB8AC3E}">
        <p14:creationId xmlns:p14="http://schemas.microsoft.com/office/powerpoint/2010/main" val="33286418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メモリのバリエーション</a:t>
            </a:r>
          </a:p>
        </p:txBody>
      </p:sp>
      <p:sp>
        <p:nvSpPr>
          <p:cNvPr id="3" name="テキスト プレースホルダー 2"/>
          <p:cNvSpPr>
            <a:spLocks noGrp="1"/>
          </p:cNvSpPr>
          <p:nvPr>
            <p:ph type="body" sz="quarter" idx="10"/>
          </p:nvPr>
        </p:nvSpPr>
        <p:spPr/>
        <p:txBody>
          <a:bodyPr/>
          <a:lstStyle/>
          <a:p>
            <a:r>
              <a:rPr kumimoji="1" lang="ja-JP" altLang="en-US" dirty="0"/>
              <a:t>メモリは基本的にはみな同じ構造を取る</a:t>
            </a:r>
            <a:endParaRPr kumimoji="1" lang="en-US" altLang="ja-JP" dirty="0"/>
          </a:p>
          <a:p>
            <a:pPr lvl="1"/>
            <a:r>
              <a:rPr kumimoji="1" lang="ja-JP" altLang="en-US" dirty="0"/>
              <a:t>セルの中身が方式ごとに異なる</a:t>
            </a:r>
            <a:endParaRPr kumimoji="1" lang="en-US" altLang="ja-JP" dirty="0"/>
          </a:p>
          <a:p>
            <a:r>
              <a:rPr lang="en-US" altLang="ja-JP" dirty="0"/>
              <a:t>SRAM </a:t>
            </a:r>
            <a:r>
              <a:rPr lang="ja-JP" altLang="en-US" dirty="0"/>
              <a:t>と </a:t>
            </a:r>
            <a:r>
              <a:rPr lang="en-US" altLang="ja-JP" dirty="0"/>
              <a:t>DRAM </a:t>
            </a:r>
            <a:r>
              <a:rPr lang="ja-JP" altLang="en-US" dirty="0"/>
              <a:t>を紹介</a:t>
            </a:r>
            <a:endParaRPr kumimoji="1" lang="ja-JP" altLang="en-US" dirty="0"/>
          </a:p>
        </p:txBody>
      </p:sp>
    </p:spTree>
    <p:extLst>
      <p:ext uri="{BB962C8B-B14F-4D97-AF65-F5344CB8AC3E}">
        <p14:creationId xmlns:p14="http://schemas.microsoft.com/office/powerpoint/2010/main" val="38805324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Static Random Access Memory (SRAM)</a:t>
            </a:r>
            <a:endParaRPr kumimoji="1" lang="ja-JP" altLang="en-US" dirty="0"/>
          </a:p>
        </p:txBody>
      </p:sp>
      <p:sp>
        <p:nvSpPr>
          <p:cNvPr id="3" name="テキスト プレースホルダー 2"/>
          <p:cNvSpPr>
            <a:spLocks noGrp="1"/>
          </p:cNvSpPr>
          <p:nvPr>
            <p:ph type="body" sz="quarter" idx="10"/>
          </p:nvPr>
        </p:nvSpPr>
        <p:spPr/>
        <p:txBody>
          <a:bodyPr/>
          <a:lstStyle/>
          <a:p>
            <a:r>
              <a:rPr kumimoji="1" lang="en-US" altLang="ja-JP" dirty="0"/>
              <a:t>Static</a:t>
            </a:r>
            <a:r>
              <a:rPr lang="ja-JP" altLang="en-US" dirty="0"/>
              <a:t> とは：</a:t>
            </a:r>
            <a:endParaRPr kumimoji="1" lang="en-US" altLang="ja-JP" dirty="0"/>
          </a:p>
          <a:p>
            <a:pPr lvl="1"/>
            <a:r>
              <a:rPr lang="ja-JP" altLang="en-US" dirty="0"/>
              <a:t>動作が静的（何もしなければ電流をほとんど消費しない）</a:t>
            </a:r>
            <a:endParaRPr lang="en-US" altLang="ja-JP" dirty="0"/>
          </a:p>
          <a:p>
            <a:pPr lvl="1"/>
            <a:r>
              <a:rPr kumimoji="1" lang="ja-JP" altLang="en-US" dirty="0"/>
              <a:t>電源を入れている限りは内容が消えない</a:t>
            </a:r>
            <a:endParaRPr kumimoji="1" lang="en-US" altLang="ja-JP" dirty="0"/>
          </a:p>
          <a:p>
            <a:r>
              <a:rPr kumimoji="1" lang="ja-JP" altLang="en-US" dirty="0"/>
              <a:t>一般的にはメモリの中で最も高速</a:t>
            </a:r>
            <a:endParaRPr kumimoji="1" lang="en-US" altLang="ja-JP" dirty="0"/>
          </a:p>
          <a:p>
            <a:pPr lvl="1"/>
            <a:r>
              <a:rPr kumimoji="1" lang="en-US" altLang="ja-JP" dirty="0"/>
              <a:t>CPU </a:t>
            </a:r>
            <a:r>
              <a:rPr kumimoji="1" lang="ja-JP" altLang="en-US" dirty="0"/>
              <a:t>内の論理回路と同じトランジスタを使って作るから</a:t>
            </a:r>
            <a:endParaRPr kumimoji="1" lang="en-US" altLang="ja-JP" dirty="0"/>
          </a:p>
          <a:p>
            <a:pPr lvl="1"/>
            <a:r>
              <a:rPr kumimoji="1" lang="ja-JP" altLang="en-US" dirty="0"/>
              <a:t>レジスタやキャッシュ，各種テーブルは </a:t>
            </a:r>
            <a:r>
              <a:rPr kumimoji="1" lang="en-US" altLang="ja-JP" dirty="0"/>
              <a:t>SRAM </a:t>
            </a:r>
            <a:r>
              <a:rPr kumimoji="1" lang="ja-JP" altLang="en-US" dirty="0"/>
              <a:t>で作られている</a:t>
            </a:r>
          </a:p>
        </p:txBody>
      </p:sp>
    </p:spTree>
    <p:extLst>
      <p:ext uri="{BB962C8B-B14F-4D97-AF65-F5344CB8AC3E}">
        <p14:creationId xmlns:p14="http://schemas.microsoft.com/office/powerpoint/2010/main" val="20772364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5015988" y="2708992"/>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のセル（</a:t>
            </a:r>
            <a:r>
              <a:rPr kumimoji="1" lang="en-US" altLang="ja-JP" dirty="0"/>
              <a:t>1bit</a:t>
            </a:r>
            <a:r>
              <a:rPr kumimoji="1" lang="ja-JP" altLang="en-US" dirty="0"/>
              <a:t>）</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2135956" y="4059007"/>
            <a:ext cx="8280092" cy="2249718"/>
          </a:xfrm>
        </p:spPr>
        <p:txBody>
          <a:bodyPr/>
          <a:lstStyle/>
          <a:p>
            <a:r>
              <a:rPr kumimoji="1" lang="ja-JP" altLang="en-US" dirty="0"/>
              <a:t>インバータのループに</a:t>
            </a:r>
            <a:r>
              <a:rPr lang="ja-JP" altLang="en-US" dirty="0"/>
              <a:t>より， </a:t>
            </a:r>
            <a:r>
              <a:rPr lang="en-US" altLang="ja-JP" dirty="0"/>
              <a:t>1</a:t>
            </a:r>
            <a:r>
              <a:rPr lang="ja-JP" altLang="en-US" dirty="0"/>
              <a:t> </a:t>
            </a:r>
            <a:r>
              <a:rPr lang="en-US" altLang="ja-JP" dirty="0"/>
              <a:t>bit </a:t>
            </a:r>
            <a:r>
              <a:rPr lang="ja-JP" altLang="en-US" dirty="0"/>
              <a:t>を記録</a:t>
            </a:r>
            <a:endParaRPr lang="en-US" altLang="ja-JP" dirty="0"/>
          </a:p>
          <a:p>
            <a:pPr lvl="1"/>
            <a:r>
              <a:rPr kumimoji="1" lang="ja-JP" altLang="en-US" dirty="0"/>
              <a:t>ループの左右が </a:t>
            </a:r>
            <a:r>
              <a:rPr kumimoji="1" lang="en-US" altLang="ja-JP" dirty="0"/>
              <a:t>[1:0] </a:t>
            </a:r>
            <a:r>
              <a:rPr kumimoji="1" lang="ja-JP" altLang="en-US" dirty="0"/>
              <a:t>あるいは </a:t>
            </a:r>
            <a:r>
              <a:rPr kumimoji="1" lang="en-US" altLang="ja-JP" dirty="0"/>
              <a:t>[0:1] </a:t>
            </a:r>
            <a:r>
              <a:rPr kumimoji="1" lang="ja-JP" altLang="en-US" dirty="0"/>
              <a:t>の２つの定常状態を持つ</a:t>
            </a:r>
            <a:endParaRPr kumimoji="1" lang="en-US" altLang="ja-JP" dirty="0"/>
          </a:p>
          <a:p>
            <a:endParaRPr kumimoji="1" lang="ja-JP" altLang="en-US"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5465993" y="2347555"/>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5465993" y="3068280"/>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6816008" y="2708992"/>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645600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4295980" y="2708992"/>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465598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7176012" y="3068997"/>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3935976"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3935976" y="1988984"/>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7536016" y="1988985"/>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6996010"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4475982"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3575972" y="2348988"/>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4745985" y="1898984"/>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54" name="正方形/長方形 53"/>
          <p:cNvSpPr/>
          <p:nvPr/>
        </p:nvSpPr>
        <p:spPr>
          <a:xfrm>
            <a:off x="3575973" y="1538980"/>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64" name="正方形/長方形 63"/>
          <p:cNvSpPr/>
          <p:nvPr/>
        </p:nvSpPr>
        <p:spPr>
          <a:xfrm>
            <a:off x="7266014" y="1538980"/>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Tree>
    <p:extLst>
      <p:ext uri="{BB962C8B-B14F-4D97-AF65-F5344CB8AC3E}">
        <p14:creationId xmlns:p14="http://schemas.microsoft.com/office/powerpoint/2010/main" val="2017378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5015988" y="2258987"/>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の読み出し</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2135956" y="4059007"/>
            <a:ext cx="8280092" cy="2249718"/>
          </a:xfrm>
        </p:spPr>
        <p:txBody>
          <a:bodyPr/>
          <a:lstStyle/>
          <a:p>
            <a:pPr marL="817200" lvl="1" indent="-457200">
              <a:buFont typeface="+mj-lt"/>
              <a:buAutoNum type="arabicPeriod"/>
            </a:pPr>
            <a:r>
              <a:rPr kumimoji="1" lang="ja-JP" altLang="en-US" dirty="0"/>
              <a:t>ビットラインのプリチャージ</a:t>
            </a:r>
            <a:endParaRPr kumimoji="1" lang="en-US" altLang="ja-JP" dirty="0"/>
          </a:p>
          <a:p>
            <a:pPr lvl="2"/>
            <a:r>
              <a:rPr kumimoji="1" lang="ja-JP" altLang="en-US" dirty="0"/>
              <a:t>ビットラインをあらかじめ高電位（１）にチャージする</a:t>
            </a:r>
            <a:endParaRPr kumimoji="1" lang="en-US" altLang="ja-JP" dirty="0"/>
          </a:p>
          <a:p>
            <a:pPr marL="817200" lvl="1" indent="-457200">
              <a:buFont typeface="+mj-lt"/>
              <a:buAutoNum type="arabicPeriod"/>
            </a:pPr>
            <a:r>
              <a:rPr kumimoji="1" lang="ja-JP" altLang="en-US" dirty="0"/>
              <a:t>ワードラインをアサート</a:t>
            </a:r>
            <a:endParaRPr kumimoji="1" lang="en-US" altLang="ja-JP" dirty="0"/>
          </a:p>
          <a:p>
            <a:pPr lvl="2"/>
            <a:r>
              <a:rPr lang="ja-JP" altLang="en-US" dirty="0"/>
              <a:t>ループの右にある </a:t>
            </a:r>
            <a:r>
              <a:rPr lang="en-US" altLang="ja-JP" dirty="0"/>
              <a:t>NMOS </a:t>
            </a:r>
            <a:r>
              <a:rPr lang="ja-JP" altLang="en-US" dirty="0"/>
              <a:t>が </a:t>
            </a:r>
            <a:r>
              <a:rPr lang="en-US" altLang="ja-JP" dirty="0"/>
              <a:t>ON </a:t>
            </a:r>
            <a:r>
              <a:rPr lang="ja-JP" altLang="en-US" dirty="0"/>
              <a:t>に</a:t>
            </a:r>
            <a:endParaRPr lang="en-US" altLang="ja-JP" dirty="0"/>
          </a:p>
          <a:p>
            <a:pPr lvl="2"/>
            <a:r>
              <a:rPr kumimoji="1" lang="ja-JP" altLang="en-US" dirty="0"/>
              <a:t>ループとビットラインが接続される</a:t>
            </a:r>
            <a:endParaRPr kumimoji="1" lang="en-US" altLang="ja-JP" dirty="0"/>
          </a:p>
          <a:p>
            <a:pPr marL="817200" lvl="1" indent="-457200">
              <a:buFont typeface="+mj-lt"/>
              <a:buAutoNum type="arabicPeriod"/>
            </a:pPr>
            <a:r>
              <a:rPr kumimoji="1" lang="ja-JP" altLang="en-US" dirty="0"/>
              <a:t>ビットラインのディスチャージ</a:t>
            </a:r>
            <a:endParaRPr kumimoji="1" lang="en-US" altLang="ja-JP" dirty="0"/>
          </a:p>
          <a:p>
            <a:pPr lvl="2"/>
            <a:r>
              <a:rPr kumimoji="1" lang="ja-JP" altLang="en-US" dirty="0"/>
              <a:t>ループの右が </a:t>
            </a:r>
            <a:r>
              <a:rPr lang="en-US" altLang="ja-JP" dirty="0"/>
              <a:t>0 </a:t>
            </a:r>
            <a:r>
              <a:rPr lang="ja-JP" altLang="en-US" dirty="0"/>
              <a:t>なら，ビットラインが０に</a:t>
            </a:r>
            <a:endParaRPr lang="en-US" altLang="ja-JP" dirty="0"/>
          </a:p>
          <a:p>
            <a:pPr lvl="2"/>
            <a:r>
              <a:rPr lang="ja-JP" altLang="en-US" dirty="0"/>
              <a:t>ループの右が１ならそのまま</a:t>
            </a:r>
            <a:endParaRPr lang="en-US" altLang="ja-JP"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5465993" y="1897550"/>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5465993" y="2618275"/>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6816008" y="2258987"/>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645600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4295980" y="2258987"/>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465598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7176012" y="2618992"/>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3935976"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3935976" y="1538979"/>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7536016" y="1538980"/>
            <a:ext cx="0" cy="1800021"/>
          </a:xfrm>
          <a:prstGeom prst="line">
            <a:avLst/>
          </a:prstGeom>
          <a:ln>
            <a:headEnd type="none" w="sm" len="sm"/>
          </a:ln>
        </p:spPr>
        <p:style>
          <a:lnRef idx="3">
            <a:schemeClr val="accent6"/>
          </a:lnRef>
          <a:fillRef idx="0">
            <a:schemeClr val="accent6"/>
          </a:fillRef>
          <a:effectRef idx="2">
            <a:schemeClr val="accent6"/>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6996010"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4475982"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3575972" y="1898983"/>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4745985" y="1448979"/>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54" name="正方形/長方形 53"/>
          <p:cNvSpPr/>
          <p:nvPr/>
        </p:nvSpPr>
        <p:spPr>
          <a:xfrm>
            <a:off x="3575973" y="108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64" name="正方形/長方形 63"/>
          <p:cNvSpPr/>
          <p:nvPr/>
        </p:nvSpPr>
        <p:spPr>
          <a:xfrm>
            <a:off x="7266014" y="108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31" name="正方形/長方形 30"/>
          <p:cNvSpPr/>
          <p:nvPr/>
        </p:nvSpPr>
        <p:spPr>
          <a:xfrm>
            <a:off x="5915998" y="216898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400" dirty="0">
                <a:solidFill>
                  <a:schemeClr val="accent6"/>
                </a:solidFill>
                <a:latin typeface="Arial Narrow" pitchFamily="34" charset="0"/>
              </a:rPr>
              <a:t>0</a:t>
            </a:r>
            <a:endParaRPr lang="ja-JP" altLang="en-US" sz="2400" dirty="0">
              <a:solidFill>
                <a:schemeClr val="accent6"/>
              </a:solidFill>
              <a:latin typeface="Arial Narrow" pitchFamily="34" charset="0"/>
            </a:endParaRPr>
          </a:p>
        </p:txBody>
      </p:sp>
      <p:sp>
        <p:nvSpPr>
          <p:cNvPr id="32" name="正方形/長方形 31"/>
          <p:cNvSpPr/>
          <p:nvPr/>
        </p:nvSpPr>
        <p:spPr>
          <a:xfrm>
            <a:off x="6636006" y="1808983"/>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accent6"/>
                </a:solidFill>
                <a:latin typeface="Arial Narrow" pitchFamily="34" charset="0"/>
              </a:rPr>
              <a:t>2. NMOS</a:t>
            </a:r>
            <a:endParaRPr lang="ja-JP" altLang="en-US" sz="1600" dirty="0">
              <a:solidFill>
                <a:schemeClr val="accent6"/>
              </a:solidFill>
              <a:latin typeface="Arial Narrow" pitchFamily="34" charset="0"/>
            </a:endParaRPr>
          </a:p>
        </p:txBody>
      </p:sp>
      <p:sp>
        <p:nvSpPr>
          <p:cNvPr id="33" name="正方形/長方形 32"/>
          <p:cNvSpPr/>
          <p:nvPr/>
        </p:nvSpPr>
        <p:spPr>
          <a:xfrm>
            <a:off x="7626017" y="1358978"/>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dirty="0">
                <a:solidFill>
                  <a:schemeClr val="accent6"/>
                </a:solidFill>
                <a:latin typeface="Arial Narrow" pitchFamily="34" charset="0"/>
              </a:rPr>
              <a:t>1. pre charge</a:t>
            </a:r>
            <a:endParaRPr lang="ja-JP" altLang="en-US" dirty="0">
              <a:solidFill>
                <a:schemeClr val="accent6"/>
              </a:solidFill>
              <a:latin typeface="Arial Narrow" pitchFamily="34" charset="0"/>
            </a:endParaRPr>
          </a:p>
        </p:txBody>
      </p:sp>
      <p:sp>
        <p:nvSpPr>
          <p:cNvPr id="34" name="Freeform 10">
            <a:extLst>
              <a:ext uri="{FF2B5EF4-FFF2-40B4-BE49-F238E27FC236}">
                <a16:creationId xmlns:a16="http://schemas.microsoft.com/office/drawing/2014/main" id="{594994CD-2E8A-4F58-A850-5DAC43A07B36}"/>
              </a:ext>
            </a:extLst>
          </p:cNvPr>
          <p:cNvSpPr>
            <a:spLocks/>
          </p:cNvSpPr>
          <p:nvPr/>
        </p:nvSpPr>
        <p:spPr bwMode="auto">
          <a:xfrm flipV="1">
            <a:off x="6546006" y="2708992"/>
            <a:ext cx="99001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3">
            <a:schemeClr val="accent6"/>
          </a:lnRef>
          <a:fillRef idx="0">
            <a:schemeClr val="accent6"/>
          </a:fillRef>
          <a:effectRef idx="2">
            <a:schemeClr val="accent6"/>
          </a:effectRef>
          <a:fontRef idx="minor">
            <a:schemeClr val="tx1"/>
          </a:fontRef>
        </p:style>
        <p:txBody>
          <a:bodyPr/>
          <a:lstStyle/>
          <a:p>
            <a:endParaRPr lang="ja-JP" altLang="en-US">
              <a:latin typeface="+mn-ea"/>
              <a:cs typeface="Times New Roman" pitchFamily="18" charset="0"/>
            </a:endParaRPr>
          </a:p>
        </p:txBody>
      </p:sp>
      <p:sp>
        <p:nvSpPr>
          <p:cNvPr id="35" name="正方形/長方形 34"/>
          <p:cNvSpPr/>
          <p:nvPr/>
        </p:nvSpPr>
        <p:spPr>
          <a:xfrm>
            <a:off x="4835986" y="216898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400" dirty="0">
                <a:solidFill>
                  <a:schemeClr val="accent6"/>
                </a:solidFill>
                <a:latin typeface="Arial Narrow" pitchFamily="34" charset="0"/>
              </a:rPr>
              <a:t>1</a:t>
            </a:r>
            <a:endParaRPr lang="ja-JP" altLang="en-US" sz="2400" dirty="0">
              <a:solidFill>
                <a:schemeClr val="accent6"/>
              </a:solidFill>
              <a:latin typeface="Arial Narrow" pitchFamily="34" charset="0"/>
            </a:endParaRPr>
          </a:p>
        </p:txBody>
      </p:sp>
    </p:spTree>
    <p:extLst>
      <p:ext uri="{BB962C8B-B14F-4D97-AF65-F5344CB8AC3E}">
        <p14:creationId xmlns:p14="http://schemas.microsoft.com/office/powerpoint/2010/main" val="18301485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5015988" y="2258987"/>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ja-JP" altLang="en-US" dirty="0"/>
              <a:t>なぜプリチャージが必要なのか？</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1865953" y="4059007"/>
            <a:ext cx="8280092" cy="2249718"/>
          </a:xfrm>
        </p:spPr>
        <p:txBody>
          <a:bodyPr/>
          <a:lstStyle/>
          <a:p>
            <a:r>
              <a:rPr lang="ja-JP" altLang="en-US" dirty="0"/>
              <a:t>単にループとビットラインが接続されるだけではダメ</a:t>
            </a:r>
            <a:endParaRPr lang="en-US" altLang="ja-JP" dirty="0"/>
          </a:p>
          <a:p>
            <a:pPr lvl="1"/>
            <a:r>
              <a:rPr lang="en-US" altLang="ja-JP" dirty="0"/>
              <a:t>NMOS </a:t>
            </a:r>
            <a:r>
              <a:rPr lang="ja-JP" altLang="en-US" dirty="0"/>
              <a:t>が高電位をうまく伝えられないから</a:t>
            </a:r>
            <a:endParaRPr lang="en-US" altLang="ja-JP" dirty="0"/>
          </a:p>
          <a:p>
            <a:pPr lvl="2"/>
            <a:r>
              <a:rPr lang="ja-JP" altLang="en-US" dirty="0"/>
              <a:t>もしループの右側が１で </a:t>
            </a:r>
            <a:r>
              <a:rPr lang="en-US" altLang="ja-JP" dirty="0"/>
              <a:t>NMOS </a:t>
            </a:r>
            <a:r>
              <a:rPr lang="ja-JP" altLang="en-US" dirty="0"/>
              <a:t>が </a:t>
            </a:r>
            <a:r>
              <a:rPr lang="en-US" altLang="ja-JP" dirty="0"/>
              <a:t>ON </a:t>
            </a:r>
            <a:r>
              <a:rPr lang="ja-JP" altLang="en-US" dirty="0"/>
              <a:t>になっても，</a:t>
            </a:r>
            <a:br>
              <a:rPr lang="en-US" altLang="ja-JP" dirty="0"/>
            </a:br>
            <a:r>
              <a:rPr lang="ja-JP" altLang="en-US" dirty="0"/>
              <a:t>ビットラインを１に引き上げることはできない</a:t>
            </a:r>
            <a:endParaRPr lang="en-US" altLang="ja-JP" dirty="0"/>
          </a:p>
          <a:p>
            <a:pPr lvl="1"/>
            <a:r>
              <a:rPr lang="en-US" altLang="ja-JP" dirty="0"/>
              <a:t>PMOS </a:t>
            </a:r>
            <a:r>
              <a:rPr lang="ja-JP" altLang="en-US" dirty="0"/>
              <a:t>を追加すればできるが，なるべく小さく作りたいから嫌だ</a:t>
            </a:r>
            <a:endParaRPr lang="en-US" altLang="ja-JP" dirty="0"/>
          </a:p>
          <a:p>
            <a:r>
              <a:rPr lang="en-US" altLang="ja-JP" dirty="0"/>
              <a:t>NMOS </a:t>
            </a:r>
            <a:r>
              <a:rPr lang="ja-JP" altLang="en-US" dirty="0"/>
              <a:t>を介してビットラインの電位を下げることだけができる</a:t>
            </a:r>
            <a:endParaRPr lang="en-US" altLang="ja-JP" dirty="0"/>
          </a:p>
          <a:p>
            <a:pPr lvl="1"/>
            <a:r>
              <a:rPr lang="en-US" altLang="ja-JP" dirty="0"/>
              <a:t>= </a:t>
            </a:r>
            <a:r>
              <a:rPr lang="ja-JP" altLang="en-US" dirty="0"/>
              <a:t>あらかじめ電位を上げておいて，下がったかどうかで判定</a:t>
            </a:r>
            <a:endParaRPr lang="en-US" altLang="ja-JP" dirty="0"/>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5465993" y="1897550"/>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5465993" y="2618275"/>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6816008" y="2258987"/>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645600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4295980" y="2258987"/>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4655984"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7176012" y="2618992"/>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3935976" y="2618991"/>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3935976" y="1538979"/>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7536016" y="1538980"/>
            <a:ext cx="0" cy="1800021"/>
          </a:xfrm>
          <a:prstGeom prst="line">
            <a:avLst/>
          </a:prstGeom>
          <a:ln>
            <a:headEnd type="none" w="sm" len="sm"/>
          </a:ln>
        </p:spPr>
        <p:style>
          <a:lnRef idx="3">
            <a:schemeClr val="accent6"/>
          </a:lnRef>
          <a:fillRef idx="0">
            <a:schemeClr val="accent6"/>
          </a:fillRef>
          <a:effectRef idx="2">
            <a:schemeClr val="accent6"/>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6996010"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4475982" y="1898983"/>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3575972" y="1898983"/>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53" name="正方形/長方形 52"/>
          <p:cNvSpPr/>
          <p:nvPr/>
        </p:nvSpPr>
        <p:spPr>
          <a:xfrm>
            <a:off x="4745985" y="1448979"/>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54" name="正方形/長方形 53"/>
          <p:cNvSpPr/>
          <p:nvPr/>
        </p:nvSpPr>
        <p:spPr>
          <a:xfrm>
            <a:off x="3575973" y="108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64" name="正方形/長方形 63"/>
          <p:cNvSpPr/>
          <p:nvPr/>
        </p:nvSpPr>
        <p:spPr>
          <a:xfrm>
            <a:off x="7266014" y="1088975"/>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31" name="正方形/長方形 30"/>
          <p:cNvSpPr/>
          <p:nvPr/>
        </p:nvSpPr>
        <p:spPr>
          <a:xfrm>
            <a:off x="5915998" y="216898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400" dirty="0">
                <a:solidFill>
                  <a:schemeClr val="accent6"/>
                </a:solidFill>
                <a:latin typeface="Arial Narrow" pitchFamily="34" charset="0"/>
              </a:rPr>
              <a:t>0</a:t>
            </a:r>
            <a:endParaRPr lang="ja-JP" altLang="en-US" sz="2400" dirty="0">
              <a:solidFill>
                <a:schemeClr val="accent6"/>
              </a:solidFill>
              <a:latin typeface="Arial Narrow" pitchFamily="34" charset="0"/>
            </a:endParaRPr>
          </a:p>
        </p:txBody>
      </p:sp>
      <p:sp>
        <p:nvSpPr>
          <p:cNvPr id="32" name="正方形/長方形 31"/>
          <p:cNvSpPr/>
          <p:nvPr/>
        </p:nvSpPr>
        <p:spPr>
          <a:xfrm>
            <a:off x="6636006" y="1808983"/>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accent6"/>
                </a:solidFill>
                <a:latin typeface="Arial Narrow" pitchFamily="34" charset="0"/>
              </a:rPr>
              <a:t>2. NMOS</a:t>
            </a:r>
            <a:endParaRPr lang="ja-JP" altLang="en-US" sz="1600" dirty="0">
              <a:solidFill>
                <a:schemeClr val="accent6"/>
              </a:solidFill>
              <a:latin typeface="Arial Narrow" pitchFamily="34" charset="0"/>
            </a:endParaRPr>
          </a:p>
        </p:txBody>
      </p:sp>
      <p:sp>
        <p:nvSpPr>
          <p:cNvPr id="33" name="正方形/長方形 32"/>
          <p:cNvSpPr/>
          <p:nvPr/>
        </p:nvSpPr>
        <p:spPr>
          <a:xfrm>
            <a:off x="7626017" y="1358978"/>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dirty="0">
                <a:solidFill>
                  <a:schemeClr val="accent6"/>
                </a:solidFill>
                <a:latin typeface="Arial Narrow" pitchFamily="34" charset="0"/>
              </a:rPr>
              <a:t>1. pre charge</a:t>
            </a:r>
            <a:endParaRPr lang="ja-JP" altLang="en-US" dirty="0">
              <a:solidFill>
                <a:schemeClr val="accent6"/>
              </a:solidFill>
              <a:latin typeface="Arial Narrow" pitchFamily="34" charset="0"/>
            </a:endParaRPr>
          </a:p>
        </p:txBody>
      </p:sp>
      <p:sp>
        <p:nvSpPr>
          <p:cNvPr id="34" name="Freeform 10">
            <a:extLst>
              <a:ext uri="{FF2B5EF4-FFF2-40B4-BE49-F238E27FC236}">
                <a16:creationId xmlns:a16="http://schemas.microsoft.com/office/drawing/2014/main" id="{594994CD-2E8A-4F58-A850-5DAC43A07B36}"/>
              </a:ext>
            </a:extLst>
          </p:cNvPr>
          <p:cNvSpPr>
            <a:spLocks/>
          </p:cNvSpPr>
          <p:nvPr/>
        </p:nvSpPr>
        <p:spPr bwMode="auto">
          <a:xfrm flipV="1">
            <a:off x="6546006" y="2708992"/>
            <a:ext cx="990011"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type="triangle" w="lg" len="lg"/>
            <a:tailEnd type="none" w="med" len="med"/>
          </a:ln>
        </p:spPr>
        <p:style>
          <a:lnRef idx="3">
            <a:schemeClr val="accent6"/>
          </a:lnRef>
          <a:fillRef idx="0">
            <a:schemeClr val="accent6"/>
          </a:fillRef>
          <a:effectRef idx="2">
            <a:schemeClr val="accent6"/>
          </a:effectRef>
          <a:fontRef idx="minor">
            <a:schemeClr val="tx1"/>
          </a:fontRef>
        </p:style>
        <p:txBody>
          <a:bodyPr/>
          <a:lstStyle/>
          <a:p>
            <a:endParaRPr lang="ja-JP" altLang="en-US">
              <a:latin typeface="+mn-ea"/>
              <a:cs typeface="Times New Roman" pitchFamily="18" charset="0"/>
            </a:endParaRPr>
          </a:p>
        </p:txBody>
      </p:sp>
      <p:sp>
        <p:nvSpPr>
          <p:cNvPr id="35" name="正方形/長方形 34"/>
          <p:cNvSpPr/>
          <p:nvPr/>
        </p:nvSpPr>
        <p:spPr>
          <a:xfrm>
            <a:off x="4835986" y="2168987"/>
            <a:ext cx="719984"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400" dirty="0">
                <a:solidFill>
                  <a:schemeClr val="accent6"/>
                </a:solidFill>
                <a:latin typeface="Arial Narrow" pitchFamily="34" charset="0"/>
              </a:rPr>
              <a:t>1</a:t>
            </a:r>
            <a:endParaRPr lang="ja-JP" altLang="en-US" sz="2400" dirty="0">
              <a:solidFill>
                <a:schemeClr val="accent6"/>
              </a:solidFill>
              <a:latin typeface="Arial Narrow" pitchFamily="34" charset="0"/>
            </a:endParaRPr>
          </a:p>
        </p:txBody>
      </p:sp>
    </p:spTree>
    <p:extLst>
      <p:ext uri="{BB962C8B-B14F-4D97-AF65-F5344CB8AC3E}">
        <p14:creationId xmlns:p14="http://schemas.microsoft.com/office/powerpoint/2010/main" val="37732964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SRAM </a:t>
            </a:r>
            <a:r>
              <a:rPr kumimoji="1" lang="ja-JP" altLang="en-US" dirty="0"/>
              <a:t>の書き込み</a:t>
            </a:r>
          </a:p>
        </p:txBody>
      </p:sp>
      <p:sp>
        <p:nvSpPr>
          <p:cNvPr id="3" name="テキスト プレースホルダー 2"/>
          <p:cNvSpPr>
            <a:spLocks noGrp="1"/>
          </p:cNvSpPr>
          <p:nvPr>
            <p:ph type="body" sz="quarter" idx="10"/>
          </p:nvPr>
        </p:nvSpPr>
        <p:spPr>
          <a:xfrm>
            <a:off x="1775952" y="4419011"/>
            <a:ext cx="8640096" cy="1529710"/>
          </a:xfrm>
        </p:spPr>
        <p:txBody>
          <a:bodyPr/>
          <a:lstStyle/>
          <a:p>
            <a:r>
              <a:rPr kumimoji="1" lang="ja-JP" altLang="en-US" dirty="0"/>
              <a:t>書き込み手順</a:t>
            </a:r>
            <a:endParaRPr kumimoji="1" lang="en-US" altLang="ja-JP" dirty="0"/>
          </a:p>
          <a:p>
            <a:pPr marL="817200" lvl="1" indent="-457200">
              <a:buFont typeface="+mj-lt"/>
              <a:buAutoNum type="arabicPeriod"/>
            </a:pPr>
            <a:r>
              <a:rPr kumimoji="1" lang="ja-JP" altLang="en-US" dirty="0"/>
              <a:t>ループ左右のどちらか０にしたい方のビットラインの電位を下げる</a:t>
            </a:r>
            <a:endParaRPr kumimoji="1" lang="en-US" altLang="ja-JP" dirty="0"/>
          </a:p>
          <a:p>
            <a:pPr marL="817200" lvl="1" indent="-457200">
              <a:buFont typeface="+mj-lt"/>
              <a:buAutoNum type="arabicPeriod"/>
            </a:pPr>
            <a:r>
              <a:rPr kumimoji="1" lang="ja-JP" altLang="en-US" dirty="0"/>
              <a:t>ワードラインをアサートして </a:t>
            </a:r>
            <a:r>
              <a:rPr kumimoji="1" lang="en-US" altLang="ja-JP" dirty="0"/>
              <a:t>NMOS </a:t>
            </a:r>
            <a:r>
              <a:rPr kumimoji="1" lang="ja-JP" altLang="en-US" dirty="0"/>
              <a:t>を </a:t>
            </a:r>
            <a:r>
              <a:rPr kumimoji="1" lang="en-US" altLang="ja-JP" dirty="0"/>
              <a:t>ON </a:t>
            </a:r>
            <a:r>
              <a:rPr kumimoji="1" lang="ja-JP" altLang="en-US" dirty="0"/>
              <a:t>に</a:t>
            </a:r>
            <a:endParaRPr kumimoji="1" lang="en-US" altLang="ja-JP" dirty="0"/>
          </a:p>
          <a:p>
            <a:pPr marL="817200" lvl="1" indent="-457200">
              <a:buFont typeface="+mj-lt"/>
              <a:buAutoNum type="arabicPeriod"/>
            </a:pPr>
            <a:r>
              <a:rPr kumimoji="1" lang="ja-JP" altLang="en-US" dirty="0"/>
              <a:t>インバータの状態を強制的にビットライン側から低電位にする</a:t>
            </a:r>
            <a:endParaRPr kumimoji="1" lang="en-US" altLang="ja-JP" dirty="0"/>
          </a:p>
          <a:p>
            <a:r>
              <a:rPr kumimoji="1" lang="en-US" altLang="ja-JP" dirty="0"/>
              <a:t>NMOS </a:t>
            </a:r>
            <a:r>
              <a:rPr kumimoji="1" lang="ja-JP" altLang="en-US" dirty="0"/>
              <a:t>が低電位しか通せないので，書き込みには２本いる</a:t>
            </a:r>
          </a:p>
        </p:txBody>
      </p:sp>
      <p:sp>
        <p:nvSpPr>
          <p:cNvPr id="4" name="正方形/長方形 3">
            <a:extLst>
              <a:ext uri="{FF2B5EF4-FFF2-40B4-BE49-F238E27FC236}">
                <a16:creationId xmlns:a16="http://schemas.microsoft.com/office/drawing/2014/main" id="{3DD7262D-3274-473E-B2E1-F40123548E2F}"/>
              </a:ext>
            </a:extLst>
          </p:cNvPr>
          <p:cNvSpPr/>
          <p:nvPr/>
        </p:nvSpPr>
        <p:spPr bwMode="auto">
          <a:xfrm>
            <a:off x="5015988" y="2708992"/>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5465993" y="2347555"/>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5465993" y="3068280"/>
            <a:ext cx="717550" cy="720725"/>
          </a:xfrm>
          <a:prstGeom prst="rect">
            <a:avLst/>
          </a:prstGeom>
          <a:noFill/>
        </p:spPr>
      </p:pic>
      <p:grpSp>
        <p:nvGrpSpPr>
          <p:cNvPr id="7" name="グループ化 6">
            <a:extLst>
              <a:ext uri="{FF2B5EF4-FFF2-40B4-BE49-F238E27FC236}">
                <a16:creationId xmlns:a16="http://schemas.microsoft.com/office/drawing/2014/main" id="{2E2C44F0-1023-431F-9CAE-76D98F4DEBBA}"/>
              </a:ext>
            </a:extLst>
          </p:cNvPr>
          <p:cNvGrpSpPr/>
          <p:nvPr/>
        </p:nvGrpSpPr>
        <p:grpSpPr>
          <a:xfrm>
            <a:off x="6816008" y="2708992"/>
            <a:ext cx="360004" cy="360004"/>
            <a:chOff x="4932004" y="2708992"/>
            <a:chExt cx="360004" cy="360004"/>
          </a:xfrm>
        </p:grpSpPr>
        <p:cxnSp>
          <p:nvCxnSpPr>
            <p:cNvPr id="8" name="直線コネクタ 7">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 name="直線コネクタ 11">
            <a:extLst>
              <a:ext uri="{FF2B5EF4-FFF2-40B4-BE49-F238E27FC236}">
                <a16:creationId xmlns:a16="http://schemas.microsoft.com/office/drawing/2014/main" id="{DE0A7002-3073-49D6-8ABC-00E0FF26DECF}"/>
              </a:ext>
            </a:extLst>
          </p:cNvPr>
          <p:cNvCxnSpPr>
            <a:cxnSpLocks/>
          </p:cNvCxnSpPr>
          <p:nvPr/>
        </p:nvCxnSpPr>
        <p:spPr>
          <a:xfrm>
            <a:off x="645600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3" name="グループ化 12">
            <a:extLst>
              <a:ext uri="{FF2B5EF4-FFF2-40B4-BE49-F238E27FC236}">
                <a16:creationId xmlns:a16="http://schemas.microsoft.com/office/drawing/2014/main" id="{D778BFE3-A03E-473D-B803-AF62F6EBF32C}"/>
              </a:ext>
            </a:extLst>
          </p:cNvPr>
          <p:cNvGrpSpPr/>
          <p:nvPr/>
        </p:nvGrpSpPr>
        <p:grpSpPr>
          <a:xfrm>
            <a:off x="4295980" y="2708992"/>
            <a:ext cx="360004" cy="360004"/>
            <a:chOff x="4932004" y="2708992"/>
            <a:chExt cx="360004" cy="360004"/>
          </a:xfrm>
        </p:grpSpPr>
        <p:cxnSp>
          <p:nvCxnSpPr>
            <p:cNvPr id="14" name="直線コネクタ 13">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6DA9E334-E262-4D78-AE9F-D066AE5E5934}"/>
              </a:ext>
            </a:extLst>
          </p:cNvPr>
          <p:cNvCxnSpPr>
            <a:cxnSpLocks/>
            <a:stCxn id="4" idx="1"/>
          </p:cNvCxnSpPr>
          <p:nvPr/>
        </p:nvCxnSpPr>
        <p:spPr>
          <a:xfrm flipH="1">
            <a:off x="4655984"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6001733-09AD-4DAC-8BA5-9A735951D417}"/>
              </a:ext>
            </a:extLst>
          </p:cNvPr>
          <p:cNvCxnSpPr>
            <a:cxnSpLocks/>
          </p:cNvCxnSpPr>
          <p:nvPr/>
        </p:nvCxnSpPr>
        <p:spPr>
          <a:xfrm>
            <a:off x="7176012" y="3068997"/>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5135806F-DC95-4CE1-B9BE-E5FB3FE0437F}"/>
              </a:ext>
            </a:extLst>
          </p:cNvPr>
          <p:cNvCxnSpPr>
            <a:cxnSpLocks/>
          </p:cNvCxnSpPr>
          <p:nvPr/>
        </p:nvCxnSpPr>
        <p:spPr>
          <a:xfrm>
            <a:off x="3935976" y="3068996"/>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A1E25F94-64AD-4B0B-BA8A-8E0E99ACC480}"/>
              </a:ext>
            </a:extLst>
          </p:cNvPr>
          <p:cNvCxnSpPr>
            <a:cxnSpLocks/>
          </p:cNvCxnSpPr>
          <p:nvPr/>
        </p:nvCxnSpPr>
        <p:spPr>
          <a:xfrm flipV="1">
            <a:off x="3935976" y="1988984"/>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428BCDB-12D7-414C-92E6-903ABDFB1719}"/>
              </a:ext>
            </a:extLst>
          </p:cNvPr>
          <p:cNvCxnSpPr>
            <a:cxnSpLocks/>
          </p:cNvCxnSpPr>
          <p:nvPr/>
        </p:nvCxnSpPr>
        <p:spPr>
          <a:xfrm flipV="1">
            <a:off x="7536016" y="1988985"/>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36809C4F-E919-4760-95DB-403B2392206B}"/>
              </a:ext>
            </a:extLst>
          </p:cNvPr>
          <p:cNvCxnSpPr>
            <a:cxnSpLocks/>
          </p:cNvCxnSpPr>
          <p:nvPr/>
        </p:nvCxnSpPr>
        <p:spPr>
          <a:xfrm flipV="1">
            <a:off x="6996010"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991E2654-AFE3-433F-9E80-1A3D175E7AF8}"/>
              </a:ext>
            </a:extLst>
          </p:cNvPr>
          <p:cNvCxnSpPr>
            <a:cxnSpLocks/>
          </p:cNvCxnSpPr>
          <p:nvPr/>
        </p:nvCxnSpPr>
        <p:spPr>
          <a:xfrm flipV="1">
            <a:off x="4475982" y="2348988"/>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5DF913E5-9D7D-4CB2-BF16-5C60949ABA57}"/>
              </a:ext>
            </a:extLst>
          </p:cNvPr>
          <p:cNvCxnSpPr>
            <a:cxnSpLocks/>
          </p:cNvCxnSpPr>
          <p:nvPr/>
        </p:nvCxnSpPr>
        <p:spPr>
          <a:xfrm>
            <a:off x="3575972" y="2348988"/>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6" name="正方形/長方形 25"/>
          <p:cNvSpPr/>
          <p:nvPr/>
        </p:nvSpPr>
        <p:spPr>
          <a:xfrm>
            <a:off x="4745985" y="1898984"/>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27" name="正方形/長方形 26"/>
          <p:cNvSpPr/>
          <p:nvPr/>
        </p:nvSpPr>
        <p:spPr>
          <a:xfrm>
            <a:off x="3575973" y="1538980"/>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28" name="正方形/長方形 27"/>
          <p:cNvSpPr/>
          <p:nvPr/>
        </p:nvSpPr>
        <p:spPr>
          <a:xfrm>
            <a:off x="7266014" y="1538980"/>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Tree>
    <p:extLst>
      <p:ext uri="{BB962C8B-B14F-4D97-AF65-F5344CB8AC3E}">
        <p14:creationId xmlns:p14="http://schemas.microsoft.com/office/powerpoint/2010/main" val="32645927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F9BDE-B306-28BC-FE47-32AF84EC3AA1}"/>
              </a:ext>
            </a:extLst>
          </p:cNvPr>
          <p:cNvSpPr>
            <a:spLocks noGrp="1"/>
          </p:cNvSpPr>
          <p:nvPr>
            <p:ph type="title"/>
          </p:nvPr>
        </p:nvSpPr>
        <p:spPr/>
        <p:txBody>
          <a:bodyPr/>
          <a:lstStyle/>
          <a:p>
            <a:r>
              <a:rPr kumimoji="1" lang="ja-JP" altLang="en-US" dirty="0"/>
              <a:t>チップ上の </a:t>
            </a:r>
            <a:r>
              <a:rPr kumimoji="1" lang="en-US" altLang="ja-JP" dirty="0"/>
              <a:t>SRAM </a:t>
            </a:r>
            <a:r>
              <a:rPr kumimoji="1" lang="ja-JP" altLang="en-US" dirty="0"/>
              <a:t>セル</a:t>
            </a:r>
          </a:p>
        </p:txBody>
      </p:sp>
      <p:sp>
        <p:nvSpPr>
          <p:cNvPr id="3" name="テキスト プレースホルダー 2">
            <a:extLst>
              <a:ext uri="{FF2B5EF4-FFF2-40B4-BE49-F238E27FC236}">
                <a16:creationId xmlns:a16="http://schemas.microsoft.com/office/drawing/2014/main" id="{9D977913-92AD-94A4-4055-705696C9E6DD}"/>
              </a:ext>
            </a:extLst>
          </p:cNvPr>
          <p:cNvSpPr>
            <a:spLocks noGrp="1"/>
          </p:cNvSpPr>
          <p:nvPr>
            <p:ph type="body" sz="quarter" idx="10"/>
          </p:nvPr>
        </p:nvSpPr>
        <p:spPr>
          <a:xfrm>
            <a:off x="4115978" y="4059007"/>
            <a:ext cx="7470082" cy="2339719"/>
          </a:xfrm>
        </p:spPr>
        <p:txBody>
          <a:bodyPr/>
          <a:lstStyle/>
          <a:p>
            <a:r>
              <a:rPr kumimoji="1" lang="en-US" altLang="ja-JP" sz="1800" dirty="0"/>
              <a:t>2000</a:t>
            </a:r>
            <a:r>
              <a:rPr kumimoji="1" lang="ja-JP" altLang="en-US" sz="1800" dirty="0"/>
              <a:t>年代にこのトランジスタ配置が発明されて以来，</a:t>
            </a:r>
            <a:br>
              <a:rPr kumimoji="1" lang="en-US" altLang="ja-JP" sz="1800" dirty="0"/>
            </a:br>
            <a:r>
              <a:rPr kumimoji="1" lang="ja-JP" altLang="en-US" sz="1800" dirty="0"/>
              <a:t>ずっと使われている</a:t>
            </a:r>
            <a:endParaRPr kumimoji="1" lang="en-US" altLang="ja-JP" sz="1800" dirty="0"/>
          </a:p>
          <a:p>
            <a:pPr lvl="1"/>
            <a:r>
              <a:rPr lang="ja-JP" altLang="en-US" sz="1800" dirty="0"/>
              <a:t>高密度に配置できることに加え，</a:t>
            </a:r>
            <a:endParaRPr lang="en-US" altLang="ja-JP" sz="1800" dirty="0"/>
          </a:p>
          <a:p>
            <a:pPr lvl="1"/>
            <a:r>
              <a:rPr lang="ja-JP" altLang="en-US" sz="1800" dirty="0"/>
              <a:t>すべてのトランジスタが同じ向きになっているために</a:t>
            </a:r>
            <a:br>
              <a:rPr lang="en-US" altLang="ja-JP" sz="1800" dirty="0"/>
            </a:br>
            <a:r>
              <a:rPr lang="ja-JP" altLang="en-US" sz="1800" dirty="0"/>
              <a:t>微細化時のリソグラフィに優しいらしい</a:t>
            </a:r>
            <a:endParaRPr lang="en-US" altLang="ja-JP" sz="1800" dirty="0"/>
          </a:p>
          <a:p>
            <a:r>
              <a:rPr kumimoji="1" lang="en-US" altLang="ja-JP" sz="1800" dirty="0"/>
              <a:t>SRAM </a:t>
            </a:r>
            <a:r>
              <a:rPr kumimoji="1" lang="ja-JP" altLang="en-US" sz="1800" dirty="0"/>
              <a:t>の電子顕微鏡写真でもよくわかる</a:t>
            </a:r>
            <a:endParaRPr kumimoji="1" lang="en-US" altLang="ja-JP" sz="1800" dirty="0"/>
          </a:p>
          <a:p>
            <a:pPr lvl="1"/>
            <a:r>
              <a:rPr lang="ja-JP" altLang="en-US" sz="1800" dirty="0"/>
              <a:t>上下左右にミラーされていることに注意</a:t>
            </a:r>
            <a:endParaRPr kumimoji="1" lang="ja-JP" altLang="en-US" sz="1800" dirty="0"/>
          </a:p>
        </p:txBody>
      </p:sp>
      <p:pic>
        <p:nvPicPr>
          <p:cNvPr id="5" name="図 4">
            <a:extLst>
              <a:ext uri="{FF2B5EF4-FFF2-40B4-BE49-F238E27FC236}">
                <a16:creationId xmlns:a16="http://schemas.microsoft.com/office/drawing/2014/main" id="{57EBA191-5E26-0B2C-1756-9DD61A870D08}"/>
              </a:ext>
            </a:extLst>
          </p:cNvPr>
          <p:cNvPicPr>
            <a:picLocks noChangeAspect="1"/>
          </p:cNvPicPr>
          <p:nvPr/>
        </p:nvPicPr>
        <p:blipFill>
          <a:blip r:embed="rId2"/>
          <a:stretch>
            <a:fillRect/>
          </a:stretch>
        </p:blipFill>
        <p:spPr>
          <a:xfrm>
            <a:off x="965944" y="1358977"/>
            <a:ext cx="2396766" cy="1890021"/>
          </a:xfrm>
          <a:prstGeom prst="rect">
            <a:avLst/>
          </a:prstGeom>
        </p:spPr>
      </p:pic>
      <p:pic>
        <p:nvPicPr>
          <p:cNvPr id="7" name="図 6">
            <a:extLst>
              <a:ext uri="{FF2B5EF4-FFF2-40B4-BE49-F238E27FC236}">
                <a16:creationId xmlns:a16="http://schemas.microsoft.com/office/drawing/2014/main" id="{8BD28E4B-DA88-603C-468C-1CD0AAA9CDE4}"/>
              </a:ext>
            </a:extLst>
          </p:cNvPr>
          <p:cNvPicPr>
            <a:picLocks noChangeAspect="1"/>
          </p:cNvPicPr>
          <p:nvPr/>
        </p:nvPicPr>
        <p:blipFill>
          <a:blip r:embed="rId3"/>
          <a:stretch>
            <a:fillRect/>
          </a:stretch>
        </p:blipFill>
        <p:spPr>
          <a:xfrm>
            <a:off x="3395970" y="1268976"/>
            <a:ext cx="2070023" cy="2061288"/>
          </a:xfrm>
          <a:prstGeom prst="rect">
            <a:avLst/>
          </a:prstGeom>
        </p:spPr>
      </p:pic>
      <p:sp>
        <p:nvSpPr>
          <p:cNvPr id="8" name="正方形/長方形 7">
            <a:extLst>
              <a:ext uri="{FF2B5EF4-FFF2-40B4-BE49-F238E27FC236}">
                <a16:creationId xmlns:a16="http://schemas.microsoft.com/office/drawing/2014/main" id="{E013029A-4EDD-2594-A61F-DF439501502B}"/>
              </a:ext>
            </a:extLst>
          </p:cNvPr>
          <p:cNvSpPr/>
          <p:nvPr/>
        </p:nvSpPr>
        <p:spPr>
          <a:xfrm>
            <a:off x="2945965" y="333899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900" dirty="0"/>
              <a:t>WANG et al.: 0.021-µm2 HIGH-DENSITY SRAM IN INTEL 18A </a:t>
            </a:r>
            <a:r>
              <a:rPr lang="en-US" altLang="ja-JP" sz="900" dirty="0" err="1"/>
              <a:t>RibbonFET</a:t>
            </a:r>
            <a:r>
              <a:rPr lang="en-US" altLang="ja-JP" sz="900" dirty="0"/>
              <a:t> TECHNOLOGY, 2026 </a:t>
            </a:r>
            <a:r>
              <a:rPr lang="ja-JP" altLang="en-US" sz="900" dirty="0"/>
              <a:t>より</a:t>
            </a:r>
            <a:endParaRPr lang="ja-JP" altLang="en-US" sz="900" dirty="0">
              <a:latin typeface="Arial Narrow" pitchFamily="34" charset="0"/>
            </a:endParaRPr>
          </a:p>
        </p:txBody>
      </p:sp>
      <p:pic>
        <p:nvPicPr>
          <p:cNvPr id="10" name="図 9">
            <a:extLst>
              <a:ext uri="{FF2B5EF4-FFF2-40B4-BE49-F238E27FC236}">
                <a16:creationId xmlns:a16="http://schemas.microsoft.com/office/drawing/2014/main" id="{96FAC513-E48C-ECB6-0B78-6D5F8C44C6A0}"/>
              </a:ext>
            </a:extLst>
          </p:cNvPr>
          <p:cNvPicPr>
            <a:picLocks noChangeAspect="1"/>
          </p:cNvPicPr>
          <p:nvPr/>
        </p:nvPicPr>
        <p:blipFill>
          <a:blip r:embed="rId4"/>
          <a:stretch>
            <a:fillRect/>
          </a:stretch>
        </p:blipFill>
        <p:spPr>
          <a:xfrm>
            <a:off x="6816008" y="998973"/>
            <a:ext cx="3160840" cy="2480276"/>
          </a:xfrm>
          <a:prstGeom prst="rect">
            <a:avLst/>
          </a:prstGeom>
        </p:spPr>
      </p:pic>
      <p:sp>
        <p:nvSpPr>
          <p:cNvPr id="11" name="正方形/長方形 10">
            <a:extLst>
              <a:ext uri="{FF2B5EF4-FFF2-40B4-BE49-F238E27FC236}">
                <a16:creationId xmlns:a16="http://schemas.microsoft.com/office/drawing/2014/main" id="{44CF29C8-E8AE-EDA1-F045-F278D46F1CD9}"/>
              </a:ext>
            </a:extLst>
          </p:cNvPr>
          <p:cNvSpPr/>
          <p:nvPr/>
        </p:nvSpPr>
        <p:spPr>
          <a:xfrm>
            <a:off x="8526027" y="3338999"/>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900" dirty="0"/>
              <a:t>Aoyagi et al.: A 3-nm </a:t>
            </a:r>
            <a:r>
              <a:rPr lang="en-US" altLang="ja-JP" sz="900" dirty="0" err="1"/>
              <a:t>FinFET</a:t>
            </a:r>
            <a:r>
              <a:rPr lang="en-US" altLang="ja-JP" sz="900" dirty="0"/>
              <a:t> 27.6-Mbit/mm2 Single-Port 6T SRAM Enabling </a:t>
            </a:r>
          </a:p>
          <a:p>
            <a:pPr algn="ctr"/>
            <a:r>
              <a:rPr lang="en-US" altLang="ja-JP" sz="900" dirty="0"/>
              <a:t>0.48–1.2 V Wide Operating Range With Far-End Pre-Charge and Weak-Bit Tracking, 2024 </a:t>
            </a:r>
            <a:r>
              <a:rPr lang="ja-JP" altLang="en-US" sz="900" dirty="0"/>
              <a:t>より</a:t>
            </a:r>
            <a:endParaRPr lang="ja-JP" altLang="en-US" sz="900" dirty="0">
              <a:latin typeface="Arial Narrow" pitchFamily="34" charset="0"/>
            </a:endParaRPr>
          </a:p>
        </p:txBody>
      </p:sp>
      <p:pic>
        <p:nvPicPr>
          <p:cNvPr id="13" name="図 12">
            <a:extLst>
              <a:ext uri="{FF2B5EF4-FFF2-40B4-BE49-F238E27FC236}">
                <a16:creationId xmlns:a16="http://schemas.microsoft.com/office/drawing/2014/main" id="{508D9C15-175E-8A5E-E12E-334528EF4265}"/>
              </a:ext>
            </a:extLst>
          </p:cNvPr>
          <p:cNvPicPr>
            <a:picLocks noChangeAspect="1"/>
          </p:cNvPicPr>
          <p:nvPr/>
        </p:nvPicPr>
        <p:blipFill>
          <a:blip r:embed="rId5"/>
          <a:stretch>
            <a:fillRect/>
          </a:stretch>
        </p:blipFill>
        <p:spPr>
          <a:xfrm rot="16200000">
            <a:off x="861810" y="3983139"/>
            <a:ext cx="2478168" cy="2269899"/>
          </a:xfrm>
          <a:prstGeom prst="rect">
            <a:avLst/>
          </a:prstGeom>
        </p:spPr>
      </p:pic>
      <p:sp>
        <p:nvSpPr>
          <p:cNvPr id="14" name="正方形/長方形 13">
            <a:extLst>
              <a:ext uri="{FF2B5EF4-FFF2-40B4-BE49-F238E27FC236}">
                <a16:creationId xmlns:a16="http://schemas.microsoft.com/office/drawing/2014/main" id="{29635AD9-2ADE-366B-9475-DC152331308A}"/>
              </a:ext>
            </a:extLst>
          </p:cNvPr>
          <p:cNvSpPr/>
          <p:nvPr/>
        </p:nvSpPr>
        <p:spPr>
          <a:xfrm>
            <a:off x="1775952" y="6219031"/>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900" dirty="0"/>
              <a:t>Cheng et al.: A Highly Scaled, High Performance 45nm Bulk </a:t>
            </a:r>
          </a:p>
          <a:p>
            <a:pPr algn="ctr"/>
            <a:r>
              <a:rPr lang="en-US" altLang="ja-JP" sz="900" dirty="0"/>
              <a:t>Logic CMOS Technology with 0.242 um^2 SRAM Cell, 2007 </a:t>
            </a:r>
            <a:r>
              <a:rPr lang="ja-JP" altLang="en-US" sz="900" dirty="0"/>
              <a:t>より</a:t>
            </a:r>
            <a:endParaRPr lang="ja-JP" altLang="en-US" sz="900" dirty="0">
              <a:latin typeface="Arial Narrow" pitchFamily="34" charset="0"/>
            </a:endParaRPr>
          </a:p>
        </p:txBody>
      </p:sp>
    </p:spTree>
    <p:extLst>
      <p:ext uri="{BB962C8B-B14F-4D97-AF65-F5344CB8AC3E}">
        <p14:creationId xmlns:p14="http://schemas.microsoft.com/office/powerpoint/2010/main" val="11538474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Dynamic Random Access Memory (DRAM)</a:t>
            </a:r>
            <a:endParaRPr kumimoji="1" lang="ja-JP" altLang="en-US" dirty="0"/>
          </a:p>
        </p:txBody>
      </p:sp>
      <p:sp>
        <p:nvSpPr>
          <p:cNvPr id="3" name="テキスト プレースホルダー 2"/>
          <p:cNvSpPr>
            <a:spLocks noGrp="1"/>
          </p:cNvSpPr>
          <p:nvPr>
            <p:ph type="body" sz="quarter" idx="10"/>
          </p:nvPr>
        </p:nvSpPr>
        <p:spPr>
          <a:xfrm>
            <a:off x="2225957" y="1088975"/>
            <a:ext cx="8190091" cy="5219751"/>
          </a:xfrm>
        </p:spPr>
        <p:txBody>
          <a:bodyPr/>
          <a:lstStyle/>
          <a:p>
            <a:r>
              <a:rPr kumimoji="1" lang="ja-JP" altLang="en-US" dirty="0"/>
              <a:t>速度は遅いが，セルを小さく作れるので容量が稼げる</a:t>
            </a:r>
            <a:endParaRPr kumimoji="1" lang="en-US" altLang="ja-JP" dirty="0"/>
          </a:p>
          <a:p>
            <a:pPr lvl="1"/>
            <a:r>
              <a:rPr kumimoji="1" lang="ja-JP" altLang="en-US" dirty="0"/>
              <a:t>メイン・メモリは </a:t>
            </a:r>
            <a:r>
              <a:rPr kumimoji="1" lang="en-US" altLang="ja-JP" dirty="0"/>
              <a:t>DRAM </a:t>
            </a:r>
            <a:r>
              <a:rPr kumimoji="1" lang="ja-JP" altLang="en-US" dirty="0" err="1"/>
              <a:t>で</a:t>
            </a:r>
            <a:r>
              <a:rPr kumimoji="1" lang="ja-JP" altLang="en-US" dirty="0"/>
              <a:t>出来ているのが普通</a:t>
            </a:r>
            <a:endParaRPr kumimoji="1" lang="en-US" altLang="ja-JP" dirty="0"/>
          </a:p>
        </p:txBody>
      </p:sp>
    </p:spTree>
    <p:extLst>
      <p:ext uri="{BB962C8B-B14F-4D97-AF65-F5344CB8AC3E}">
        <p14:creationId xmlns:p14="http://schemas.microsoft.com/office/powerpoint/2010/main" val="10541410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のセル</a:t>
            </a:r>
          </a:p>
        </p:txBody>
      </p:sp>
      <p:sp>
        <p:nvSpPr>
          <p:cNvPr id="3" name="テキスト プレースホルダー 2"/>
          <p:cNvSpPr>
            <a:spLocks noGrp="1"/>
          </p:cNvSpPr>
          <p:nvPr>
            <p:ph type="body" sz="quarter" idx="10"/>
          </p:nvPr>
        </p:nvSpPr>
        <p:spPr>
          <a:xfrm>
            <a:off x="2135956" y="4329011"/>
            <a:ext cx="8280092" cy="1979715"/>
          </a:xfrm>
        </p:spPr>
        <p:txBody>
          <a:bodyPr/>
          <a:lstStyle/>
          <a:p>
            <a:r>
              <a:rPr lang="ja-JP" altLang="en-US" dirty="0"/>
              <a:t>セルをコンデンサによって構成</a:t>
            </a:r>
            <a:endParaRPr lang="en-US" altLang="ja-JP" dirty="0"/>
          </a:p>
          <a:p>
            <a:pPr lvl="1"/>
            <a:r>
              <a:rPr lang="ja-JP" altLang="en-US" dirty="0"/>
              <a:t>電荷がたまっていれば１，そうでなければ０</a:t>
            </a:r>
            <a:endParaRPr lang="en-US" altLang="ja-JP" dirty="0"/>
          </a:p>
          <a:p>
            <a:pPr lvl="1"/>
            <a:r>
              <a:rPr lang="ja-JP" altLang="en-US" dirty="0"/>
              <a:t>時間が経つと自然に電荷が抜けてデータが消える</a:t>
            </a:r>
            <a:endParaRPr lang="en-US" altLang="ja-JP" dirty="0"/>
          </a:p>
          <a:p>
            <a:r>
              <a:rPr lang="ja-JP" altLang="en-US" dirty="0"/>
              <a:t>電荷を維持するため，定期的にリフレッシュと呼ばれる操作を行う</a:t>
            </a:r>
            <a:endParaRPr lang="en-US" altLang="ja-JP" dirty="0"/>
          </a:p>
          <a:p>
            <a:pPr lvl="1"/>
            <a:r>
              <a:rPr lang="ja-JP" altLang="en-US" dirty="0"/>
              <a:t>具体的には，一回読んで同じデータを書き戻す</a:t>
            </a:r>
            <a:endParaRPr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5735996"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5375992"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6096000" y="2708993"/>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5375992"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6276002" y="2888995"/>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6456004"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6456004" y="2978996"/>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6276003"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5915998"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5015988"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6186001" y="1718982"/>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24" name="正方形/長方形 23"/>
          <p:cNvSpPr/>
          <p:nvPr/>
        </p:nvSpPr>
        <p:spPr>
          <a:xfrm>
            <a:off x="5105990" y="1178976"/>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Tree>
    <p:extLst>
      <p:ext uri="{BB962C8B-B14F-4D97-AF65-F5344CB8AC3E}">
        <p14:creationId xmlns:p14="http://schemas.microsoft.com/office/powerpoint/2010/main" val="2799414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の読み出し</a:t>
            </a:r>
          </a:p>
        </p:txBody>
      </p:sp>
      <p:sp>
        <p:nvSpPr>
          <p:cNvPr id="3" name="テキスト プレースホルダー 2"/>
          <p:cNvSpPr>
            <a:spLocks noGrp="1"/>
          </p:cNvSpPr>
          <p:nvPr>
            <p:ph type="body" sz="quarter" idx="10"/>
          </p:nvPr>
        </p:nvSpPr>
        <p:spPr>
          <a:xfrm>
            <a:off x="2135956" y="4329011"/>
            <a:ext cx="8280092" cy="1439709"/>
          </a:xfrm>
        </p:spPr>
        <p:txBody>
          <a:bodyPr/>
          <a:lstStyle/>
          <a:p>
            <a:r>
              <a:rPr kumimoji="1" lang="ja-JP" altLang="en-US" dirty="0"/>
              <a:t>読み出しは，基本的には </a:t>
            </a:r>
            <a:r>
              <a:rPr kumimoji="1" lang="en-US" altLang="ja-JP" dirty="0"/>
              <a:t>SRAM </a:t>
            </a:r>
            <a:r>
              <a:rPr kumimoji="1" lang="ja-JP" altLang="en-US" dirty="0"/>
              <a:t>と同じ</a:t>
            </a:r>
            <a:endParaRPr kumimoji="1" lang="en-US" altLang="ja-JP" dirty="0"/>
          </a:p>
          <a:p>
            <a:pPr lvl="1"/>
            <a:r>
              <a:rPr kumimoji="1" lang="ja-JP" altLang="en-US" dirty="0"/>
              <a:t>ビットラインをプリチャージ</a:t>
            </a:r>
            <a:endParaRPr kumimoji="1" lang="en-US" altLang="ja-JP" dirty="0"/>
          </a:p>
          <a:p>
            <a:pPr lvl="1"/>
            <a:r>
              <a:rPr kumimoji="1" lang="ja-JP" altLang="en-US" dirty="0"/>
              <a:t>ワードラインをアサート</a:t>
            </a:r>
            <a:endParaRPr kumimoji="1" lang="en-US" altLang="ja-JP" dirty="0"/>
          </a:p>
          <a:p>
            <a:pPr lvl="1"/>
            <a:r>
              <a:rPr kumimoji="1" lang="ja-JP" altLang="en-US" dirty="0"/>
              <a:t>セルの状態に応じてディスチャージが起きる</a:t>
            </a:r>
            <a:endParaRPr kumimoji="1"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5645995"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5285991"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6005999" y="2708993"/>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5285991"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6186001" y="2888995"/>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6366003"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6366003" y="2978996"/>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6186002"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5825997"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4925987"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6096000" y="1718982"/>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24" name="正方形/長方形 23"/>
          <p:cNvSpPr/>
          <p:nvPr/>
        </p:nvSpPr>
        <p:spPr>
          <a:xfrm>
            <a:off x="5015989" y="1178976"/>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Tree>
    <p:extLst>
      <p:ext uri="{BB962C8B-B14F-4D97-AF65-F5344CB8AC3E}">
        <p14:creationId xmlns:p14="http://schemas.microsoft.com/office/powerpoint/2010/main" val="2135508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DRAM </a:t>
            </a:r>
            <a:r>
              <a:rPr kumimoji="1" lang="ja-JP" altLang="en-US" dirty="0"/>
              <a:t>の書き込み</a:t>
            </a:r>
          </a:p>
        </p:txBody>
      </p:sp>
      <p:sp>
        <p:nvSpPr>
          <p:cNvPr id="3" name="テキスト プレースホルダー 2"/>
          <p:cNvSpPr>
            <a:spLocks noGrp="1"/>
          </p:cNvSpPr>
          <p:nvPr>
            <p:ph type="body" sz="quarter" idx="10"/>
          </p:nvPr>
        </p:nvSpPr>
        <p:spPr>
          <a:xfrm>
            <a:off x="1685952" y="4329011"/>
            <a:ext cx="8730097" cy="1439709"/>
          </a:xfrm>
        </p:spPr>
        <p:txBody>
          <a:bodyPr/>
          <a:lstStyle/>
          <a:p>
            <a:r>
              <a:rPr kumimoji="1" lang="ja-JP" altLang="en-US" dirty="0"/>
              <a:t>書き込みは，</a:t>
            </a:r>
            <a:r>
              <a:rPr kumimoji="1" lang="en-US" altLang="ja-JP" dirty="0"/>
              <a:t>NMOS </a:t>
            </a:r>
            <a:r>
              <a:rPr kumimoji="1" lang="ja-JP" altLang="en-US" dirty="0"/>
              <a:t>でも </a:t>
            </a:r>
            <a:r>
              <a:rPr kumimoji="1" lang="en-US" altLang="ja-JP" dirty="0"/>
              <a:t>0.5 </a:t>
            </a:r>
            <a:r>
              <a:rPr kumimoji="1" lang="ja-JP" altLang="en-US" dirty="0"/>
              <a:t>までは上げられるのでそれで行う（多分）</a:t>
            </a:r>
            <a:endParaRPr kumimoji="1" lang="en-US" altLang="ja-JP" dirty="0"/>
          </a:p>
          <a:p>
            <a:pPr lvl="1"/>
            <a:r>
              <a:rPr kumimoji="1" lang="en-US" altLang="ja-JP" dirty="0"/>
              <a:t>SRAM </a:t>
            </a:r>
            <a:r>
              <a:rPr kumimoji="1" lang="ja-JP" altLang="en-US" dirty="0"/>
              <a:t>ではインバータをひっくり返す必要があるので，</a:t>
            </a:r>
            <a:br>
              <a:rPr kumimoji="1" lang="en-US" altLang="ja-JP" dirty="0"/>
            </a:br>
            <a:r>
              <a:rPr kumimoji="1" lang="en-US" altLang="ja-JP" dirty="0"/>
              <a:t>0.5 </a:t>
            </a:r>
            <a:r>
              <a:rPr kumimoji="1" lang="ja-JP" altLang="en-US" dirty="0"/>
              <a:t>ではダメだった</a:t>
            </a:r>
            <a:endParaRPr kumimoji="1" lang="en-US" altLang="ja-JP" dirty="0"/>
          </a:p>
          <a:p>
            <a:r>
              <a:rPr kumimoji="1" lang="en-US" altLang="ja-JP" dirty="0"/>
              <a:t>DRAM </a:t>
            </a:r>
            <a:r>
              <a:rPr kumimoji="1" lang="ja-JP" altLang="en-US" dirty="0"/>
              <a:t>では 低電位（</a:t>
            </a:r>
            <a:r>
              <a:rPr kumimoji="1" lang="en-US" altLang="ja-JP" dirty="0"/>
              <a:t>0</a:t>
            </a:r>
            <a:r>
              <a:rPr kumimoji="1" lang="ja-JP" altLang="en-US" dirty="0"/>
              <a:t>）</a:t>
            </a:r>
            <a:r>
              <a:rPr kumimoji="1" lang="en-US" altLang="ja-JP" dirty="0"/>
              <a:t>or </a:t>
            </a:r>
            <a:r>
              <a:rPr kumimoji="1" lang="ja-JP" altLang="en-US" dirty="0"/>
              <a:t>中間電位（</a:t>
            </a:r>
            <a:r>
              <a:rPr kumimoji="1" lang="en-US" altLang="ja-JP" dirty="0"/>
              <a:t>0.5</a:t>
            </a:r>
            <a:r>
              <a:rPr kumimoji="1" lang="ja-JP" altLang="en-US" dirty="0"/>
              <a:t>）を記録する</a:t>
            </a:r>
            <a:endParaRPr kumimoji="1" lang="en-US" altLang="ja-JP" dirty="0"/>
          </a:p>
          <a:p>
            <a:pPr lvl="1"/>
            <a:r>
              <a:rPr kumimoji="1" lang="ja-JP" altLang="en-US" dirty="0"/>
              <a:t>読み出し時のプリチャージの電圧を </a:t>
            </a:r>
            <a:r>
              <a:rPr kumimoji="1" lang="en-US" altLang="ja-JP" dirty="0"/>
              <a:t>0.5 </a:t>
            </a:r>
            <a:r>
              <a:rPr kumimoji="1" lang="ja-JP" altLang="en-US" dirty="0"/>
              <a:t>にして，下がったか</a:t>
            </a:r>
            <a:br>
              <a:rPr kumimoji="1" lang="en-US" altLang="ja-JP" dirty="0"/>
            </a:br>
            <a:r>
              <a:rPr kumimoji="1" lang="ja-JP" altLang="en-US" dirty="0"/>
              <a:t>どうかで判定</a:t>
            </a:r>
            <a:endParaRPr kumimoji="1" lang="en-US" altLang="ja-JP" dirty="0"/>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5645995" y="2078985"/>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5285991" y="2438989"/>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6005999" y="2438990"/>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5285991" y="1358977"/>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6186001" y="2618992"/>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6366003" y="2438989"/>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6366003" y="2708993"/>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6186002" y="2978995"/>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5825997" y="1718981"/>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4925987" y="1718981"/>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6096000" y="1448979"/>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24" name="正方形/長方形 23"/>
          <p:cNvSpPr/>
          <p:nvPr/>
        </p:nvSpPr>
        <p:spPr>
          <a:xfrm>
            <a:off x="5015989" y="908973"/>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Tree>
    <p:extLst>
      <p:ext uri="{BB962C8B-B14F-4D97-AF65-F5344CB8AC3E}">
        <p14:creationId xmlns:p14="http://schemas.microsoft.com/office/powerpoint/2010/main" val="36935719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SRAM </a:t>
            </a:r>
            <a:r>
              <a:rPr kumimoji="1" lang="ja-JP" altLang="en-US" dirty="0"/>
              <a:t>の場合との違い</a:t>
            </a:r>
          </a:p>
        </p:txBody>
      </p:sp>
      <p:sp>
        <p:nvSpPr>
          <p:cNvPr id="3" name="テキスト プレースホルダー 2"/>
          <p:cNvSpPr>
            <a:spLocks noGrp="1"/>
          </p:cNvSpPr>
          <p:nvPr>
            <p:ph type="body" sz="quarter" idx="10"/>
          </p:nvPr>
        </p:nvSpPr>
        <p:spPr>
          <a:xfrm>
            <a:off x="1865953" y="4599014"/>
            <a:ext cx="8280092" cy="1439709"/>
          </a:xfrm>
        </p:spPr>
        <p:txBody>
          <a:bodyPr/>
          <a:lstStyle/>
          <a:p>
            <a:r>
              <a:rPr lang="ja-JP" altLang="en-US" dirty="0"/>
              <a:t>読み出し時に内容が破壊される</a:t>
            </a:r>
            <a:endParaRPr lang="en-US" altLang="ja-JP" dirty="0"/>
          </a:p>
          <a:p>
            <a:pPr lvl="1"/>
            <a:r>
              <a:rPr lang="ja-JP" altLang="en-US" dirty="0"/>
              <a:t>ビットラインとコンデンサが接続されると，電荷が流れ出す</a:t>
            </a:r>
            <a:endParaRPr lang="en-US" altLang="ja-JP" dirty="0"/>
          </a:p>
          <a:p>
            <a:r>
              <a:rPr lang="ja-JP" altLang="en-US" dirty="0"/>
              <a:t>コンデンサがビットラインをディスチャージする速度は遅い</a:t>
            </a:r>
            <a:endParaRPr lang="en-US" altLang="ja-JP" dirty="0"/>
          </a:p>
          <a:p>
            <a:pPr lvl="1"/>
            <a:r>
              <a:rPr lang="ja-JP" altLang="en-US" dirty="0"/>
              <a:t>センスアンプと呼ばれる微小な電圧の変化を増幅する回路を使う</a:t>
            </a:r>
          </a:p>
        </p:txBody>
      </p:sp>
      <p:grpSp>
        <p:nvGrpSpPr>
          <p:cNvPr id="4" name="グループ化 3">
            <a:extLst>
              <a:ext uri="{FF2B5EF4-FFF2-40B4-BE49-F238E27FC236}">
                <a16:creationId xmlns:a16="http://schemas.microsoft.com/office/drawing/2014/main" id="{B2772659-A00E-4413-9EB6-D696321711C2}"/>
              </a:ext>
            </a:extLst>
          </p:cNvPr>
          <p:cNvGrpSpPr/>
          <p:nvPr/>
        </p:nvGrpSpPr>
        <p:grpSpPr>
          <a:xfrm>
            <a:off x="5735996" y="2348988"/>
            <a:ext cx="360004" cy="360004"/>
            <a:chOff x="4932004" y="2708992"/>
            <a:chExt cx="360004" cy="360004"/>
          </a:xfrm>
        </p:grpSpPr>
        <p:cxnSp>
          <p:nvCxnSpPr>
            <p:cNvPr id="5" name="直線コネクタ 4">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 name="直線コネクタ 8">
            <a:extLst>
              <a:ext uri="{FF2B5EF4-FFF2-40B4-BE49-F238E27FC236}">
                <a16:creationId xmlns:a16="http://schemas.microsoft.com/office/drawing/2014/main" id="{04ACCC42-4E49-4867-BFDC-671C90B11355}"/>
              </a:ext>
            </a:extLst>
          </p:cNvPr>
          <p:cNvCxnSpPr>
            <a:cxnSpLocks/>
          </p:cNvCxnSpPr>
          <p:nvPr/>
        </p:nvCxnSpPr>
        <p:spPr>
          <a:xfrm>
            <a:off x="5375992" y="270899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FA852A0-5D43-4C5B-8D71-AF1C94363457}"/>
              </a:ext>
            </a:extLst>
          </p:cNvPr>
          <p:cNvCxnSpPr>
            <a:cxnSpLocks/>
          </p:cNvCxnSpPr>
          <p:nvPr/>
        </p:nvCxnSpPr>
        <p:spPr>
          <a:xfrm>
            <a:off x="6096000" y="2708993"/>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0DDEA31C-DEA3-4027-A96D-5EC4FD0DCD35}"/>
              </a:ext>
            </a:extLst>
          </p:cNvPr>
          <p:cNvCxnSpPr>
            <a:cxnSpLocks/>
          </p:cNvCxnSpPr>
          <p:nvPr/>
        </p:nvCxnSpPr>
        <p:spPr>
          <a:xfrm flipV="1">
            <a:off x="5375992" y="162898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2" name="グループ化 11">
            <a:extLst>
              <a:ext uri="{FF2B5EF4-FFF2-40B4-BE49-F238E27FC236}">
                <a16:creationId xmlns:a16="http://schemas.microsoft.com/office/drawing/2014/main" id="{DE115225-CFB0-4004-A206-CB9F39CB2EA1}"/>
              </a:ext>
            </a:extLst>
          </p:cNvPr>
          <p:cNvGrpSpPr/>
          <p:nvPr/>
        </p:nvGrpSpPr>
        <p:grpSpPr>
          <a:xfrm>
            <a:off x="6276002" y="2888995"/>
            <a:ext cx="360004" cy="90003"/>
            <a:chOff x="7272030" y="3789004"/>
            <a:chExt cx="360004" cy="90003"/>
          </a:xfrm>
        </p:grpSpPr>
        <p:cxnSp>
          <p:nvCxnSpPr>
            <p:cNvPr id="13" name="直線コネクタ 12">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 name="直線コネクタ 14">
            <a:extLst>
              <a:ext uri="{FF2B5EF4-FFF2-40B4-BE49-F238E27FC236}">
                <a16:creationId xmlns:a16="http://schemas.microsoft.com/office/drawing/2014/main" id="{980D156E-BEF6-49E5-BEDB-E654CED1DF10}"/>
              </a:ext>
            </a:extLst>
          </p:cNvPr>
          <p:cNvCxnSpPr>
            <a:cxnSpLocks/>
          </p:cNvCxnSpPr>
          <p:nvPr/>
        </p:nvCxnSpPr>
        <p:spPr>
          <a:xfrm flipV="1">
            <a:off x="6456004" y="270899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DDF1097C-113D-483C-86EC-803338665142}"/>
              </a:ext>
            </a:extLst>
          </p:cNvPr>
          <p:cNvCxnSpPr>
            <a:cxnSpLocks/>
          </p:cNvCxnSpPr>
          <p:nvPr/>
        </p:nvCxnSpPr>
        <p:spPr>
          <a:xfrm flipV="1">
            <a:off x="6456004" y="2978996"/>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7" name="グループ化 16">
            <a:extLst>
              <a:ext uri="{FF2B5EF4-FFF2-40B4-BE49-F238E27FC236}">
                <a16:creationId xmlns:a16="http://schemas.microsoft.com/office/drawing/2014/main" id="{38D32D1F-3EE8-498D-B8DB-C60684B30C49}"/>
              </a:ext>
            </a:extLst>
          </p:cNvPr>
          <p:cNvGrpSpPr/>
          <p:nvPr/>
        </p:nvGrpSpPr>
        <p:grpSpPr>
          <a:xfrm>
            <a:off x="6276003" y="3248998"/>
            <a:ext cx="326325" cy="117556"/>
            <a:chOff x="2531592" y="5357236"/>
            <a:chExt cx="326325" cy="117556"/>
          </a:xfrm>
        </p:grpSpPr>
        <p:cxnSp>
          <p:nvCxnSpPr>
            <p:cNvPr id="18" name="直線コネクタ 17">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 name="直線コネクタ 20">
            <a:extLst>
              <a:ext uri="{FF2B5EF4-FFF2-40B4-BE49-F238E27FC236}">
                <a16:creationId xmlns:a16="http://schemas.microsoft.com/office/drawing/2014/main" id="{5C16D03F-62AA-402B-A9AC-ADCF020FC7D6}"/>
              </a:ext>
            </a:extLst>
          </p:cNvPr>
          <p:cNvCxnSpPr>
            <a:cxnSpLocks/>
          </p:cNvCxnSpPr>
          <p:nvPr/>
        </p:nvCxnSpPr>
        <p:spPr>
          <a:xfrm flipV="1">
            <a:off x="5915998" y="198898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87BB93E-CC11-4F3A-AF7A-8FAF390455E8}"/>
              </a:ext>
            </a:extLst>
          </p:cNvPr>
          <p:cNvCxnSpPr>
            <a:cxnSpLocks/>
          </p:cNvCxnSpPr>
          <p:nvPr/>
        </p:nvCxnSpPr>
        <p:spPr>
          <a:xfrm>
            <a:off x="5015988" y="198898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
        <p:nvSpPr>
          <p:cNvPr id="23" name="正方形/長方形 22"/>
          <p:cNvSpPr/>
          <p:nvPr/>
        </p:nvSpPr>
        <p:spPr>
          <a:xfrm>
            <a:off x="6186001" y="1718982"/>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a:t>
            </a:r>
            <a:endParaRPr lang="ja-JP" altLang="en-US" sz="1600" dirty="0">
              <a:latin typeface="Arial Narrow" pitchFamily="34" charset="0"/>
            </a:endParaRPr>
          </a:p>
        </p:txBody>
      </p:sp>
      <p:sp>
        <p:nvSpPr>
          <p:cNvPr id="24" name="正方形/長方形 23"/>
          <p:cNvSpPr/>
          <p:nvPr/>
        </p:nvSpPr>
        <p:spPr>
          <a:xfrm>
            <a:off x="5105990" y="1178976"/>
            <a:ext cx="630007"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bit line</a:t>
            </a:r>
            <a:endParaRPr lang="ja-JP" altLang="en-US" sz="1600" dirty="0">
              <a:latin typeface="Arial Narrow" pitchFamily="34" charset="0"/>
            </a:endParaRPr>
          </a:p>
        </p:txBody>
      </p:sp>
      <p:sp>
        <p:nvSpPr>
          <p:cNvPr id="25" name="二等辺三角形 24"/>
          <p:cNvSpPr/>
          <p:nvPr/>
        </p:nvSpPr>
        <p:spPr bwMode="auto">
          <a:xfrm rot="10800000">
            <a:off x="5105989" y="3429001"/>
            <a:ext cx="540006" cy="450005"/>
          </a:xfrm>
          <a:prstGeom prst="triangl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正方形/長方形 25"/>
          <p:cNvSpPr/>
          <p:nvPr/>
        </p:nvSpPr>
        <p:spPr>
          <a:xfrm>
            <a:off x="4925987" y="3429001"/>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sense amp</a:t>
            </a:r>
            <a:endParaRPr lang="ja-JP" altLang="en-US" sz="1600" dirty="0">
              <a:latin typeface="Arial Narrow" pitchFamily="34" charset="0"/>
            </a:endParaRPr>
          </a:p>
        </p:txBody>
      </p:sp>
    </p:spTree>
    <p:extLst>
      <p:ext uri="{BB962C8B-B14F-4D97-AF65-F5344CB8AC3E}">
        <p14:creationId xmlns:p14="http://schemas.microsoft.com/office/powerpoint/2010/main" val="8433885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DRAM </a:t>
            </a:r>
            <a:r>
              <a:rPr lang="ja-JP" altLang="en-US" dirty="0"/>
              <a:t>のコンデンサの作り方</a:t>
            </a:r>
            <a:br>
              <a:rPr lang="en-US" altLang="ja-JP" dirty="0"/>
            </a:br>
            <a:r>
              <a:rPr lang="en-US" altLang="ja-JP" sz="1600" dirty="0"/>
              <a:t>H. </a:t>
            </a:r>
            <a:r>
              <a:rPr lang="en-US" altLang="ja-JP" sz="1600" dirty="0" err="1"/>
              <a:t>Seidl</a:t>
            </a:r>
            <a:r>
              <a:rPr lang="ja-JP" altLang="en-US" sz="1600" dirty="0"/>
              <a:t> </a:t>
            </a:r>
            <a:r>
              <a:rPr lang="en-US" altLang="ja-JP" sz="1600" dirty="0"/>
              <a:t>et al, A Fully Integrated Al2O3 Trench Capacitor DRAM for Sub-100nm Technology </a:t>
            </a:r>
            <a:r>
              <a:rPr lang="ja-JP" altLang="en-US" sz="1600" dirty="0"/>
              <a:t>より</a:t>
            </a:r>
          </a:p>
        </p:txBody>
      </p:sp>
      <p:sp>
        <p:nvSpPr>
          <p:cNvPr id="3" name="テキスト プレースホルダー 2"/>
          <p:cNvSpPr>
            <a:spLocks noGrp="1"/>
          </p:cNvSpPr>
          <p:nvPr>
            <p:ph type="body" sz="quarter" idx="10"/>
          </p:nvPr>
        </p:nvSpPr>
        <p:spPr>
          <a:xfrm>
            <a:off x="1955954" y="5589024"/>
            <a:ext cx="8280092" cy="449698"/>
          </a:xfrm>
        </p:spPr>
        <p:txBody>
          <a:bodyPr/>
          <a:lstStyle/>
          <a:p>
            <a:r>
              <a:rPr kumimoji="1" lang="ja-JP" altLang="en-US" dirty="0"/>
              <a:t>チップの表から裏</a:t>
            </a:r>
            <a:r>
              <a:rPr lang="ja-JP" altLang="en-US" dirty="0"/>
              <a:t>に向けて深い穴を掘って表面積を稼ぐ</a:t>
            </a:r>
            <a:endParaRPr lang="en-US" altLang="ja-JP" dirty="0"/>
          </a:p>
          <a:p>
            <a:pPr lvl="1"/>
            <a:r>
              <a:rPr kumimoji="1" lang="ja-JP" altLang="en-US" dirty="0"/>
              <a:t>コンデンサの容量は表面積に比例</a:t>
            </a:r>
            <a:endParaRPr kumimoji="1" lang="en-US" altLang="ja-JP" dirty="0"/>
          </a:p>
          <a:p>
            <a:pPr lvl="1"/>
            <a:r>
              <a:rPr kumimoji="1" lang="ja-JP" altLang="en-US" dirty="0"/>
              <a:t>トレンチ（塹壕の意味）と呼ばれる</a:t>
            </a:r>
            <a:endParaRPr kumimoji="1" lang="en-US" altLang="ja-JP" dirty="0"/>
          </a:p>
          <a:p>
            <a:pPr lvl="1"/>
            <a:r>
              <a:rPr kumimoji="1" lang="ja-JP" altLang="en-US" dirty="0">
                <a:solidFill>
                  <a:schemeClr val="accent5"/>
                </a:solidFill>
              </a:rPr>
              <a:t>特殊な工程が必要なので通常のトランジスタと混ぜて作るの</a:t>
            </a:r>
            <a:br>
              <a:rPr kumimoji="1" lang="en-US" altLang="ja-JP" dirty="0">
                <a:solidFill>
                  <a:schemeClr val="accent5"/>
                </a:solidFill>
              </a:rPr>
            </a:br>
            <a:r>
              <a:rPr kumimoji="1" lang="ja-JP" altLang="en-US" dirty="0">
                <a:solidFill>
                  <a:schemeClr val="accent5"/>
                </a:solidFill>
              </a:rPr>
              <a:t>が難しい</a:t>
            </a:r>
          </a:p>
        </p:txBody>
      </p:sp>
      <p:pic>
        <p:nvPicPr>
          <p:cNvPr id="4" name="図 3"/>
          <p:cNvPicPr>
            <a:picLocks noChangeAspect="1"/>
          </p:cNvPicPr>
          <p:nvPr/>
        </p:nvPicPr>
        <p:blipFill>
          <a:blip r:embed="rId2"/>
          <a:stretch>
            <a:fillRect/>
          </a:stretch>
        </p:blipFill>
        <p:spPr>
          <a:xfrm>
            <a:off x="1865953" y="998973"/>
            <a:ext cx="8172040" cy="3547500"/>
          </a:xfrm>
          <a:prstGeom prst="rect">
            <a:avLst/>
          </a:prstGeom>
        </p:spPr>
      </p:pic>
    </p:spTree>
    <p:extLst>
      <p:ext uri="{BB962C8B-B14F-4D97-AF65-F5344CB8AC3E}">
        <p14:creationId xmlns:p14="http://schemas.microsoft.com/office/powerpoint/2010/main" val="17721865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B7178-1DEB-8CDB-5164-7C5CD13228C3}"/>
              </a:ext>
            </a:extLst>
          </p:cNvPr>
          <p:cNvSpPr>
            <a:spLocks noGrp="1"/>
          </p:cNvSpPr>
          <p:nvPr>
            <p:ph type="title"/>
          </p:nvPr>
        </p:nvSpPr>
        <p:spPr/>
        <p:txBody>
          <a:bodyPr/>
          <a:lstStyle/>
          <a:p>
            <a:r>
              <a:rPr kumimoji="1" lang="ja-JP" altLang="en-US" dirty="0"/>
              <a:t>余談：磁気コアメモリ</a:t>
            </a:r>
            <a:br>
              <a:rPr kumimoji="1" lang="en-US" altLang="ja-JP" dirty="0"/>
            </a:br>
            <a:r>
              <a:rPr lang="en-US" altLang="ja-JP" sz="1000" dirty="0">
                <a:hlinkClick r:id="rId2">
                  <a:extLst>
                    <a:ext uri="{A12FA001-AC4F-418D-AE19-62706E023703}">
                      <ahyp:hlinkClr xmlns:ahyp="http://schemas.microsoft.com/office/drawing/2018/hyperlinkcolor" val="tx"/>
                    </a:ext>
                  </a:extLst>
                </a:hlinkClick>
              </a:rPr>
              <a:t>https://ja.wikipedia.org/wiki/%E7%A3%81%E6%B0%97%E3%82%B3%E3%82%A2%E3%83%A1%E3%83%A2%E3%83%AA</a:t>
            </a:r>
            <a:r>
              <a:rPr lang="en-US" altLang="ja-JP" sz="1000" dirty="0"/>
              <a:t> </a:t>
            </a:r>
            <a:r>
              <a:rPr lang="ja-JP" altLang="en-US" sz="1000" dirty="0"/>
              <a:t>より</a:t>
            </a:r>
          </a:p>
        </p:txBody>
      </p:sp>
      <p:pic>
        <p:nvPicPr>
          <p:cNvPr id="1026" name="Picture 2" descr="undefined">
            <a:extLst>
              <a:ext uri="{FF2B5EF4-FFF2-40B4-BE49-F238E27FC236}">
                <a16:creationId xmlns:a16="http://schemas.microsoft.com/office/drawing/2014/main" id="{7B5892DC-A093-1B52-A878-ABCE98561F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75973" y="1268976"/>
            <a:ext cx="4507251" cy="4313158"/>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プレースホルダー 2">
            <a:extLst>
              <a:ext uri="{FF2B5EF4-FFF2-40B4-BE49-F238E27FC236}">
                <a16:creationId xmlns:a16="http://schemas.microsoft.com/office/drawing/2014/main" id="{8B06F170-596A-20A3-8E00-CE5DE09C12D7}"/>
              </a:ext>
            </a:extLst>
          </p:cNvPr>
          <p:cNvSpPr>
            <a:spLocks noGrp="1"/>
          </p:cNvSpPr>
          <p:nvPr>
            <p:ph type="body" sz="quarter" idx="10"/>
          </p:nvPr>
        </p:nvSpPr>
        <p:spPr>
          <a:xfrm>
            <a:off x="2045955" y="5859027"/>
            <a:ext cx="8280092" cy="629700"/>
          </a:xfrm>
        </p:spPr>
        <p:txBody>
          <a:bodyPr/>
          <a:lstStyle/>
          <a:p>
            <a:pPr lvl="1"/>
            <a:r>
              <a:rPr kumimoji="1" lang="en-US" altLang="ja-JP" dirty="0"/>
              <a:t>1950</a:t>
            </a:r>
            <a:r>
              <a:rPr kumimoji="1" lang="ja-JP" altLang="en-US" dirty="0"/>
              <a:t>年代から使用されていた</a:t>
            </a:r>
            <a:endParaRPr kumimoji="1" lang="en-US" altLang="ja-JP" dirty="0"/>
          </a:p>
          <a:p>
            <a:pPr lvl="1"/>
            <a:r>
              <a:rPr kumimoji="1" lang="ja-JP" altLang="en-US" dirty="0"/>
              <a:t>いわゆる「コアダンプ」のコアとは元々この磁気コアのこと</a:t>
            </a:r>
            <a:endParaRPr kumimoji="1" lang="en-US" altLang="ja-JP" dirty="0"/>
          </a:p>
        </p:txBody>
      </p:sp>
    </p:spTree>
    <p:extLst>
      <p:ext uri="{BB962C8B-B14F-4D97-AF65-F5344CB8AC3E}">
        <p14:creationId xmlns:p14="http://schemas.microsoft.com/office/powerpoint/2010/main" val="989004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b="1" dirty="0"/>
              <a:t>なぜメモリが存在するのか？</a:t>
            </a:r>
            <a:endParaRPr lang="en-US" altLang="ja-JP" b="1"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メモリを対象にしたアタック</a:t>
            </a:r>
          </a:p>
        </p:txBody>
      </p:sp>
    </p:spTree>
    <p:extLst>
      <p:ext uri="{BB962C8B-B14F-4D97-AF65-F5344CB8AC3E}">
        <p14:creationId xmlns:p14="http://schemas.microsoft.com/office/powerpoint/2010/main" val="2231671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75E16E-4E07-4DD3-B7AE-30384DEDA7DA}"/>
              </a:ext>
            </a:extLst>
          </p:cNvPr>
          <p:cNvSpPr>
            <a:spLocks noGrp="1"/>
          </p:cNvSpPr>
          <p:nvPr>
            <p:ph type="title"/>
          </p:nvPr>
        </p:nvSpPr>
        <p:spPr/>
        <p:txBody>
          <a:bodyPr/>
          <a:lstStyle/>
          <a:p>
            <a:r>
              <a:rPr kumimoji="1" lang="ja-JP" altLang="en-US" dirty="0"/>
              <a:t>メモリの存在する理由</a:t>
            </a:r>
          </a:p>
        </p:txBody>
      </p:sp>
      <p:sp>
        <p:nvSpPr>
          <p:cNvPr id="3" name="テキスト プレースホルダー 2">
            <a:extLst>
              <a:ext uri="{FF2B5EF4-FFF2-40B4-BE49-F238E27FC236}">
                <a16:creationId xmlns:a16="http://schemas.microsoft.com/office/drawing/2014/main" id="{85BC6282-73C9-4184-B25A-1BBCEB8615BE}"/>
              </a:ext>
            </a:extLst>
          </p:cNvPr>
          <p:cNvSpPr>
            <a:spLocks noGrp="1"/>
          </p:cNvSpPr>
          <p:nvPr>
            <p:ph type="body" sz="quarter" idx="10"/>
          </p:nvPr>
        </p:nvSpPr>
        <p:spPr/>
        <p:txBody>
          <a:bodyPr/>
          <a:lstStyle/>
          <a:p>
            <a:r>
              <a:rPr lang="en-US" altLang="ja-JP" dirty="0"/>
              <a:t>D-FF </a:t>
            </a:r>
            <a:r>
              <a:rPr lang="ja-JP" altLang="en-US" dirty="0"/>
              <a:t>とマルチプレクサがあれば，等価な機能は実現できる</a:t>
            </a:r>
            <a:endParaRPr lang="en-US" altLang="ja-JP" dirty="0"/>
          </a:p>
          <a:p>
            <a:pPr lvl="1"/>
            <a:r>
              <a:rPr lang="ja-JP" altLang="en-US" dirty="0"/>
              <a:t>実際には，メモリ専用の回路が用意される</a:t>
            </a:r>
            <a:endParaRPr lang="en-US" altLang="ja-JP" dirty="0"/>
          </a:p>
          <a:p>
            <a:r>
              <a:rPr lang="ja-JP" altLang="en-US" dirty="0"/>
              <a:t>メモリ専用の回路が用意される理由：</a:t>
            </a:r>
            <a:endParaRPr lang="en-US" altLang="ja-JP" dirty="0"/>
          </a:p>
          <a:p>
            <a:pPr lvl="1"/>
            <a:r>
              <a:rPr kumimoji="1" lang="en-US" altLang="ja-JP" dirty="0"/>
              <a:t>D-FF </a:t>
            </a:r>
            <a:r>
              <a:rPr kumimoji="1" lang="ja-JP" altLang="en-US" dirty="0"/>
              <a:t>とマルチプレクサよりも，高密度に実装したいから</a:t>
            </a:r>
            <a:endParaRPr kumimoji="1" lang="en-US" altLang="ja-JP" dirty="0"/>
          </a:p>
          <a:p>
            <a:pPr lvl="1"/>
            <a:r>
              <a:rPr lang="ja-JP" altLang="en-US" dirty="0"/>
              <a:t>同じチップ面積で，より多くの情報を記憶したい</a:t>
            </a:r>
            <a:endParaRPr lang="en-US" altLang="ja-JP" dirty="0"/>
          </a:p>
        </p:txBody>
      </p:sp>
    </p:spTree>
    <p:extLst>
      <p:ext uri="{BB962C8B-B14F-4D97-AF65-F5344CB8AC3E}">
        <p14:creationId xmlns:p14="http://schemas.microsoft.com/office/powerpoint/2010/main" val="7217086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とマルチプレクサによる </a:t>
            </a:r>
            <a:r>
              <a:rPr kumimoji="1" lang="en-US" altLang="ja-JP" dirty="0"/>
              <a:t>4bit </a:t>
            </a:r>
            <a:r>
              <a:rPr kumimoji="1" lang="ja-JP" altLang="en-US" dirty="0"/>
              <a:t>の </a:t>
            </a:r>
            <a:r>
              <a:rPr kumimoji="1" lang="en-US" altLang="ja-JP" dirty="0"/>
              <a:t>RAM</a:t>
            </a:r>
            <a:endParaRPr kumimoji="1" lang="ja-JP" altLang="en-US" dirty="0"/>
          </a:p>
        </p:txBody>
      </p:sp>
      <p:sp>
        <p:nvSpPr>
          <p:cNvPr id="3" name="テキスト プレースホルダー 2"/>
          <p:cNvSpPr>
            <a:spLocks noGrp="1"/>
          </p:cNvSpPr>
          <p:nvPr>
            <p:ph type="body" sz="quarter" idx="10"/>
          </p:nvPr>
        </p:nvSpPr>
        <p:spPr>
          <a:xfrm>
            <a:off x="2135956" y="5319021"/>
            <a:ext cx="8280092" cy="1169706"/>
          </a:xfrm>
        </p:spPr>
        <p:txBody>
          <a:bodyPr/>
          <a:lstStyle/>
          <a:p>
            <a:r>
              <a:rPr kumimoji="1" lang="ja-JP" altLang="en-US" dirty="0"/>
              <a:t>４エントリの </a:t>
            </a:r>
            <a:r>
              <a:rPr kumimoji="1" lang="en-US" altLang="ja-JP" dirty="0"/>
              <a:t>LUT </a:t>
            </a:r>
            <a:r>
              <a:rPr kumimoji="1" lang="ja-JP" altLang="en-US" dirty="0"/>
              <a:t>を </a:t>
            </a:r>
            <a:r>
              <a:rPr kumimoji="1" lang="en-US" altLang="ja-JP" dirty="0"/>
              <a:t>D-FF </a:t>
            </a:r>
            <a:r>
              <a:rPr kumimoji="1" lang="ja-JP" altLang="en-US" dirty="0"/>
              <a:t>で構成してみる</a:t>
            </a:r>
            <a:endParaRPr kumimoji="1" lang="en-US" altLang="ja-JP" dirty="0"/>
          </a:p>
          <a:p>
            <a:pPr lvl="1"/>
            <a:r>
              <a:rPr kumimoji="1" lang="ja-JP" altLang="en-US" dirty="0"/>
              <a:t>中身を憶える </a:t>
            </a:r>
            <a:r>
              <a:rPr kumimoji="1" lang="en-US" altLang="ja-JP" dirty="0"/>
              <a:t>4</a:t>
            </a:r>
            <a:r>
              <a:rPr kumimoji="1" lang="ja-JP" altLang="en-US" dirty="0"/>
              <a:t>つの </a:t>
            </a:r>
            <a:r>
              <a:rPr kumimoji="1" lang="en-US" altLang="ja-JP" dirty="0"/>
              <a:t>D-FF </a:t>
            </a:r>
          </a:p>
          <a:p>
            <a:pPr lvl="1"/>
            <a:r>
              <a:rPr kumimoji="1" lang="ja-JP" altLang="en-US" dirty="0"/>
              <a:t>場所を指定して選択する</a:t>
            </a:r>
            <a:r>
              <a:rPr kumimoji="1" lang="en-US" altLang="ja-JP" dirty="0"/>
              <a:t>2</a:t>
            </a:r>
            <a:r>
              <a:rPr kumimoji="1" lang="ja-JP" altLang="en-US" dirty="0"/>
              <a:t>段のマルチプレクサ</a:t>
            </a:r>
          </a:p>
        </p:txBody>
      </p:sp>
      <p:grpSp>
        <p:nvGrpSpPr>
          <p:cNvPr id="4" name="グループ化 3"/>
          <p:cNvGrpSpPr/>
          <p:nvPr/>
        </p:nvGrpSpPr>
        <p:grpSpPr>
          <a:xfrm>
            <a:off x="4385982" y="1448978"/>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7"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ja-JP" altLang="en-US" sz="2400" dirty="0">
                  <a:solidFill>
                    <a:schemeClr val="accent5"/>
                  </a:solidFill>
                </a:rPr>
                <a:t>０</a:t>
              </a:r>
              <a:endParaRPr lang="en-US" altLang="ja-JP" sz="2400" dirty="0">
                <a:solidFill>
                  <a:schemeClr val="accent5"/>
                </a:solidFill>
              </a:endParaRPr>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sp>
        <p:nvSpPr>
          <p:cNvPr id="38" name="Line 9"/>
          <p:cNvSpPr>
            <a:spLocks noChangeShapeType="1"/>
          </p:cNvSpPr>
          <p:nvPr/>
        </p:nvSpPr>
        <p:spPr bwMode="auto">
          <a:xfrm>
            <a:off x="6186002" y="2618991"/>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9" name="Line 9"/>
          <p:cNvSpPr>
            <a:spLocks noChangeShapeType="1"/>
          </p:cNvSpPr>
          <p:nvPr/>
        </p:nvSpPr>
        <p:spPr bwMode="auto">
          <a:xfrm>
            <a:off x="6186002" y="3519001"/>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0" name="フローチャート: 手作業 39"/>
          <p:cNvSpPr/>
          <p:nvPr/>
        </p:nvSpPr>
        <p:spPr bwMode="auto">
          <a:xfrm rot="16200000">
            <a:off x="6051000" y="2933995"/>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sp>
        <p:nvSpPr>
          <p:cNvPr id="41" name="Freeform 10"/>
          <p:cNvSpPr>
            <a:spLocks/>
          </p:cNvSpPr>
          <p:nvPr/>
        </p:nvSpPr>
        <p:spPr bwMode="auto">
          <a:xfrm flipH="1" flipV="1">
            <a:off x="5915997" y="2078985"/>
            <a:ext cx="270003" cy="54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42" name="Freeform 10"/>
          <p:cNvSpPr>
            <a:spLocks/>
          </p:cNvSpPr>
          <p:nvPr/>
        </p:nvSpPr>
        <p:spPr bwMode="auto">
          <a:xfrm flipH="1">
            <a:off x="5915997" y="3519002"/>
            <a:ext cx="270003"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43" name="Line 9"/>
          <p:cNvSpPr>
            <a:spLocks noChangeShapeType="1"/>
          </p:cNvSpPr>
          <p:nvPr/>
        </p:nvSpPr>
        <p:spPr bwMode="auto">
          <a:xfrm>
            <a:off x="6816009" y="3068996"/>
            <a:ext cx="450005" cy="0"/>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sp>
        <p:nvSpPr>
          <p:cNvPr id="44" name="Line 9"/>
          <p:cNvSpPr>
            <a:spLocks noChangeShapeType="1"/>
          </p:cNvSpPr>
          <p:nvPr/>
        </p:nvSpPr>
        <p:spPr bwMode="auto">
          <a:xfrm>
            <a:off x="5375992" y="162898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6" name="Line 9"/>
          <p:cNvSpPr>
            <a:spLocks noChangeShapeType="1"/>
          </p:cNvSpPr>
          <p:nvPr/>
        </p:nvSpPr>
        <p:spPr bwMode="auto">
          <a:xfrm>
            <a:off x="5375992" y="342900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7" name="Line 9"/>
          <p:cNvSpPr>
            <a:spLocks noChangeShapeType="1"/>
          </p:cNvSpPr>
          <p:nvPr/>
        </p:nvSpPr>
        <p:spPr bwMode="auto">
          <a:xfrm>
            <a:off x="5375992" y="432901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8" name="Line 9"/>
          <p:cNvSpPr>
            <a:spLocks noChangeShapeType="1"/>
          </p:cNvSpPr>
          <p:nvPr/>
        </p:nvSpPr>
        <p:spPr bwMode="auto">
          <a:xfrm>
            <a:off x="5375992" y="2528990"/>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cxnSp>
        <p:nvCxnSpPr>
          <p:cNvPr id="66" name="直線コネクタ 65"/>
          <p:cNvCxnSpPr/>
          <p:nvPr/>
        </p:nvCxnSpPr>
        <p:spPr bwMode="auto">
          <a:xfrm>
            <a:off x="5825997" y="1448978"/>
            <a:ext cx="0" cy="198002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flipH="1">
            <a:off x="6726008" y="1448978"/>
            <a:ext cx="1" cy="108001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8" name="Rectangle 18"/>
          <p:cNvSpPr>
            <a:spLocks noChangeArrowheads="1"/>
          </p:cNvSpPr>
          <p:nvPr/>
        </p:nvSpPr>
        <p:spPr bwMode="auto">
          <a:xfrm>
            <a:off x="6546007" y="998974"/>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a1</a:t>
            </a:r>
          </a:p>
        </p:txBody>
      </p:sp>
      <p:sp>
        <p:nvSpPr>
          <p:cNvPr id="69" name="Rectangle 20"/>
          <p:cNvSpPr>
            <a:spLocks noChangeArrowheads="1"/>
          </p:cNvSpPr>
          <p:nvPr/>
        </p:nvSpPr>
        <p:spPr bwMode="auto">
          <a:xfrm>
            <a:off x="5645996" y="998974"/>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a0</a:t>
            </a:r>
          </a:p>
        </p:txBody>
      </p:sp>
      <p:sp>
        <p:nvSpPr>
          <p:cNvPr id="37" name="フローチャート: 手作業 36"/>
          <p:cNvSpPr/>
          <p:nvPr/>
        </p:nvSpPr>
        <p:spPr bwMode="auto">
          <a:xfrm rot="16200000">
            <a:off x="5150990" y="3744004"/>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sp>
        <p:nvSpPr>
          <p:cNvPr id="36" name="フローチャート: 手作業 35"/>
          <p:cNvSpPr/>
          <p:nvPr/>
        </p:nvSpPr>
        <p:spPr bwMode="auto">
          <a:xfrm rot="16200000">
            <a:off x="5150990" y="1943984"/>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cxnSp>
        <p:nvCxnSpPr>
          <p:cNvPr id="73" name="直線コネクタ 72"/>
          <p:cNvCxnSpPr/>
          <p:nvPr/>
        </p:nvCxnSpPr>
        <p:spPr bwMode="auto">
          <a:xfrm>
            <a:off x="5825997" y="1358978"/>
            <a:ext cx="0" cy="27000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76" name="Rectangle 20"/>
          <p:cNvSpPr>
            <a:spLocks noChangeArrowheads="1"/>
          </p:cNvSpPr>
          <p:nvPr/>
        </p:nvSpPr>
        <p:spPr bwMode="auto">
          <a:xfrm>
            <a:off x="7266015" y="2888995"/>
            <a:ext cx="360363" cy="360363"/>
          </a:xfrm>
          <a:prstGeom prst="rect">
            <a:avLst/>
          </a:prstGeom>
          <a:noFill/>
          <a:ln w="28575">
            <a:noFill/>
            <a:miter lim="800000"/>
            <a:headEnd/>
            <a:tailEnd/>
          </a:ln>
          <a:effectLst/>
        </p:spPr>
        <p:txBody>
          <a:bodyPr wrap="none" anchor="ctr"/>
          <a:lstStyle/>
          <a:p>
            <a:pPr algn="ctr"/>
            <a:r>
              <a:rPr lang="ja-JP" altLang="en-US" sz="2000" i="1" dirty="0">
                <a:ea typeface="MeiryoKe_PGothic" pitchFamily="50" charset="-128"/>
              </a:rPr>
              <a:t> </a:t>
            </a:r>
            <a:r>
              <a:rPr lang="en-US" altLang="ja-JP" sz="2000" i="1" dirty="0">
                <a:ea typeface="MeiryoKe_PGothic" pitchFamily="50" charset="-128"/>
              </a:rPr>
              <a:t>out</a:t>
            </a:r>
          </a:p>
        </p:txBody>
      </p:sp>
      <p:grpSp>
        <p:nvGrpSpPr>
          <p:cNvPr id="85" name="グループ化 84"/>
          <p:cNvGrpSpPr/>
          <p:nvPr/>
        </p:nvGrpSpPr>
        <p:grpSpPr>
          <a:xfrm>
            <a:off x="4385982" y="2348988"/>
            <a:ext cx="990011" cy="720008"/>
            <a:chOff x="6369707" y="1718772"/>
            <a:chExt cx="1441450" cy="1085855"/>
          </a:xfrm>
        </p:grpSpPr>
        <p:sp>
          <p:nvSpPr>
            <p:cNvPr id="86"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87"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88"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1</a:t>
              </a:r>
            </a:p>
          </p:txBody>
        </p:sp>
        <p:sp>
          <p:nvSpPr>
            <p:cNvPr id="8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9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grpSp>
        <p:nvGrpSpPr>
          <p:cNvPr id="91" name="グループ化 90"/>
          <p:cNvGrpSpPr/>
          <p:nvPr/>
        </p:nvGrpSpPr>
        <p:grpSpPr>
          <a:xfrm>
            <a:off x="4385982" y="3248998"/>
            <a:ext cx="990011" cy="720008"/>
            <a:chOff x="6369707" y="1718772"/>
            <a:chExt cx="1441450" cy="1085855"/>
          </a:xfrm>
        </p:grpSpPr>
        <p:sp>
          <p:nvSpPr>
            <p:cNvPr id="92"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93"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94"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2</a:t>
              </a:r>
            </a:p>
          </p:txBody>
        </p:sp>
        <p:sp>
          <p:nvSpPr>
            <p:cNvPr id="9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9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grpSp>
        <p:nvGrpSpPr>
          <p:cNvPr id="97" name="グループ化 96"/>
          <p:cNvGrpSpPr/>
          <p:nvPr/>
        </p:nvGrpSpPr>
        <p:grpSpPr>
          <a:xfrm>
            <a:off x="4385982" y="4149008"/>
            <a:ext cx="990011" cy="720008"/>
            <a:chOff x="6369707" y="1718772"/>
            <a:chExt cx="1441450" cy="1085855"/>
          </a:xfrm>
        </p:grpSpPr>
        <p:sp>
          <p:nvSpPr>
            <p:cNvPr id="98"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99"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100" name="Rectangle 7"/>
            <p:cNvSpPr>
              <a:spLocks noChangeArrowheads="1"/>
            </p:cNvSpPr>
            <p:nvPr/>
          </p:nvSpPr>
          <p:spPr bwMode="auto">
            <a:xfrm>
              <a:off x="6893871" y="1990236"/>
              <a:ext cx="360361" cy="360363"/>
            </a:xfrm>
            <a:prstGeom prst="rect">
              <a:avLst/>
            </a:prstGeom>
            <a:noFill/>
            <a:ln w="12700" algn="ctr">
              <a:noFill/>
              <a:miter lim="800000"/>
              <a:headEnd/>
              <a:tailEnd/>
            </a:ln>
            <a:effectLst/>
          </p:spPr>
          <p:txBody>
            <a:bodyPr wrap="none" lIns="90000" tIns="46800" rIns="90000" bIns="46800" anchor="ctr"/>
            <a:lstStyle/>
            <a:p>
              <a:pPr algn="ctr"/>
              <a:r>
                <a:rPr lang="en-US" altLang="ja-JP" sz="2400" dirty="0">
                  <a:solidFill>
                    <a:schemeClr val="accent5"/>
                  </a:solidFill>
                </a:rPr>
                <a:t>3</a:t>
              </a:r>
            </a:p>
          </p:txBody>
        </p:sp>
        <p:sp>
          <p:nvSpPr>
            <p:cNvPr id="101"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2"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spTree>
    <p:extLst>
      <p:ext uri="{BB962C8B-B14F-4D97-AF65-F5344CB8AC3E}">
        <p14:creationId xmlns:p14="http://schemas.microsoft.com/office/powerpoint/2010/main" val="968437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a:t>
            </a:r>
            <a:r>
              <a:rPr kumimoji="1" lang="ja-JP" altLang="en-US" dirty="0"/>
              <a:t>：トランジスタ </a:t>
            </a:r>
            <a:r>
              <a:rPr kumimoji="1" lang="en-US" altLang="ja-JP" dirty="0"/>
              <a:t>16</a:t>
            </a:r>
            <a:r>
              <a:rPr kumimoji="1" lang="ja-JP" altLang="en-US" dirty="0"/>
              <a:t>個</a:t>
            </a:r>
          </a:p>
        </p:txBody>
      </p:sp>
      <p:sp>
        <p:nvSpPr>
          <p:cNvPr id="4" name="Freeform 44"/>
          <p:cNvSpPr>
            <a:spLocks/>
          </p:cNvSpPr>
          <p:nvPr/>
        </p:nvSpPr>
        <p:spPr bwMode="auto">
          <a:xfrm>
            <a:off x="4224897" y="2707917"/>
            <a:ext cx="1600588"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5" name="Freeform 43"/>
          <p:cNvSpPr>
            <a:spLocks/>
          </p:cNvSpPr>
          <p:nvPr/>
        </p:nvSpPr>
        <p:spPr bwMode="auto">
          <a:xfrm>
            <a:off x="6384921" y="2707916"/>
            <a:ext cx="1601153" cy="721442"/>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6" name="Picture 30" descr="NOT"/>
          <p:cNvPicPr>
            <a:picLocks noChangeAspect="1" noChangeArrowheads="1"/>
          </p:cNvPicPr>
          <p:nvPr/>
        </p:nvPicPr>
        <p:blipFill>
          <a:blip r:embed="rId2" cstate="print"/>
          <a:srcRect/>
          <a:stretch>
            <a:fillRect/>
          </a:stretch>
        </p:blipFill>
        <p:spPr bwMode="auto">
          <a:xfrm flipH="1">
            <a:off x="4745985" y="2347555"/>
            <a:ext cx="717550" cy="720725"/>
          </a:xfrm>
          <a:prstGeom prst="rect">
            <a:avLst/>
          </a:prstGeom>
          <a:noFill/>
        </p:spPr>
      </p:pic>
      <p:pic>
        <p:nvPicPr>
          <p:cNvPr id="7" name="Picture 31" descr="NOT"/>
          <p:cNvPicPr>
            <a:picLocks noChangeAspect="1" noChangeArrowheads="1"/>
          </p:cNvPicPr>
          <p:nvPr/>
        </p:nvPicPr>
        <p:blipFill>
          <a:blip r:embed="rId2" cstate="print"/>
          <a:srcRect/>
          <a:stretch>
            <a:fillRect/>
          </a:stretch>
        </p:blipFill>
        <p:spPr bwMode="auto">
          <a:xfrm>
            <a:off x="4745985" y="3068280"/>
            <a:ext cx="717550" cy="720725"/>
          </a:xfrm>
          <a:prstGeom prst="rect">
            <a:avLst/>
          </a:prstGeom>
          <a:noFill/>
        </p:spPr>
      </p:pic>
      <p:pic>
        <p:nvPicPr>
          <p:cNvPr id="8" name="Picture 32" descr="NOT"/>
          <p:cNvPicPr>
            <a:picLocks noChangeAspect="1" noChangeArrowheads="1"/>
          </p:cNvPicPr>
          <p:nvPr/>
        </p:nvPicPr>
        <p:blipFill>
          <a:blip r:embed="rId2" cstate="print"/>
          <a:srcRect/>
          <a:stretch>
            <a:fillRect/>
          </a:stretch>
        </p:blipFill>
        <p:spPr bwMode="auto">
          <a:xfrm flipH="1">
            <a:off x="6906573" y="2347555"/>
            <a:ext cx="717550" cy="720725"/>
          </a:xfrm>
          <a:prstGeom prst="rect">
            <a:avLst/>
          </a:prstGeom>
          <a:noFill/>
        </p:spPr>
      </p:pic>
      <p:pic>
        <p:nvPicPr>
          <p:cNvPr id="9" name="Picture 33" descr="NOT"/>
          <p:cNvPicPr>
            <a:picLocks noChangeAspect="1" noChangeArrowheads="1"/>
          </p:cNvPicPr>
          <p:nvPr/>
        </p:nvPicPr>
        <p:blipFill>
          <a:blip r:embed="rId2" cstate="print"/>
          <a:srcRect/>
          <a:stretch>
            <a:fillRect/>
          </a:stretch>
        </p:blipFill>
        <p:spPr bwMode="auto">
          <a:xfrm>
            <a:off x="6906573" y="3068280"/>
            <a:ext cx="717550" cy="720725"/>
          </a:xfrm>
          <a:prstGeom prst="rect">
            <a:avLst/>
          </a:prstGeom>
          <a:noFill/>
        </p:spPr>
      </p:pic>
      <p:sp>
        <p:nvSpPr>
          <p:cNvPr id="10" name="Line 45"/>
          <p:cNvSpPr>
            <a:spLocks noChangeShapeType="1"/>
          </p:cNvSpPr>
          <p:nvPr/>
        </p:nvSpPr>
        <p:spPr bwMode="auto">
          <a:xfrm>
            <a:off x="5825486" y="3428640"/>
            <a:ext cx="739437" cy="718"/>
          </a:xfrm>
          <a:prstGeom prst="line">
            <a:avLst/>
          </a:prstGeom>
          <a:noFill/>
          <a:ln w="9525">
            <a:solidFill>
              <a:schemeClr val="tx1"/>
            </a:solidFill>
            <a:round/>
            <a:headEnd type="oval" w="sm" len="sm"/>
            <a:tailEnd type="triangle" w="med" len="med"/>
          </a:ln>
          <a:effectLst/>
        </p:spPr>
        <p:txBody>
          <a:bodyPr wrap="none" lIns="90000" tIns="46800" rIns="90000" bIns="46800" anchor="ctr"/>
          <a:lstStyle/>
          <a:p>
            <a:endParaRPr lang="ja-JP" altLang="en-US"/>
          </a:p>
        </p:txBody>
      </p:sp>
      <p:sp>
        <p:nvSpPr>
          <p:cNvPr id="11" name="Line 46"/>
          <p:cNvSpPr>
            <a:spLocks noChangeShapeType="1"/>
          </p:cNvSpPr>
          <p:nvPr/>
        </p:nvSpPr>
        <p:spPr bwMode="auto">
          <a:xfrm>
            <a:off x="3666486" y="3428640"/>
            <a:ext cx="738413" cy="718"/>
          </a:xfrm>
          <a:prstGeom prst="line">
            <a:avLst/>
          </a:prstGeom>
          <a:noFill/>
          <a:ln w="9525">
            <a:solidFill>
              <a:schemeClr val="tx1"/>
            </a:solidFill>
            <a:round/>
            <a:headEnd type="none" w="sm" len="sm"/>
            <a:tailEnd type="triangle" w="med" len="med"/>
          </a:ln>
          <a:effectLst/>
        </p:spPr>
        <p:txBody>
          <a:bodyPr wrap="none" lIns="90000" tIns="46800" rIns="90000" bIns="46800" anchor="ctr"/>
          <a:lstStyle/>
          <a:p>
            <a:endParaRPr lang="ja-JP" altLang="en-US"/>
          </a:p>
        </p:txBody>
      </p:sp>
      <p:sp>
        <p:nvSpPr>
          <p:cNvPr id="12" name="Line 56"/>
          <p:cNvSpPr>
            <a:spLocks noChangeShapeType="1"/>
          </p:cNvSpPr>
          <p:nvPr/>
        </p:nvSpPr>
        <p:spPr bwMode="auto">
          <a:xfrm>
            <a:off x="7986073" y="3428641"/>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13" name="Rectangle 58"/>
          <p:cNvSpPr>
            <a:spLocks noChangeArrowheads="1"/>
          </p:cNvSpPr>
          <p:nvPr/>
        </p:nvSpPr>
        <p:spPr bwMode="auto">
          <a:xfrm>
            <a:off x="3306123" y="3249254"/>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14" name="Rectangle 59"/>
          <p:cNvSpPr>
            <a:spLocks noChangeArrowheads="1"/>
          </p:cNvSpPr>
          <p:nvPr/>
        </p:nvSpPr>
        <p:spPr bwMode="auto">
          <a:xfrm>
            <a:off x="8346436" y="3249254"/>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15" name="フローチャート: 手作業 14"/>
          <p:cNvSpPr/>
          <p:nvPr/>
        </p:nvSpPr>
        <p:spPr bwMode="auto">
          <a:xfrm rot="16200000">
            <a:off x="4269898" y="3294356"/>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16" name="Freeform 10"/>
          <p:cNvSpPr>
            <a:spLocks/>
          </p:cNvSpPr>
          <p:nvPr/>
        </p:nvSpPr>
        <p:spPr bwMode="auto">
          <a:xfrm>
            <a:off x="4224896" y="3069354"/>
            <a:ext cx="180002" cy="180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7" name="フローチャート: 手作業 16"/>
          <p:cNvSpPr/>
          <p:nvPr/>
        </p:nvSpPr>
        <p:spPr bwMode="auto">
          <a:xfrm rot="16200000">
            <a:off x="6429922" y="3294356"/>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18" name="Freeform 10"/>
          <p:cNvSpPr>
            <a:spLocks/>
          </p:cNvSpPr>
          <p:nvPr/>
        </p:nvSpPr>
        <p:spPr bwMode="auto">
          <a:xfrm>
            <a:off x="6384920" y="2979353"/>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grpSp>
        <p:nvGrpSpPr>
          <p:cNvPr id="48" name="グループ化 47"/>
          <p:cNvGrpSpPr/>
          <p:nvPr/>
        </p:nvGrpSpPr>
        <p:grpSpPr>
          <a:xfrm>
            <a:off x="4674902" y="5424879"/>
            <a:ext cx="1080010" cy="1170013"/>
            <a:chOff x="1871970" y="2562739"/>
            <a:chExt cx="1890019" cy="2559383"/>
          </a:xfrm>
        </p:grpSpPr>
        <p:grpSp>
          <p:nvGrpSpPr>
            <p:cNvPr id="21" name="グループ化 20"/>
            <p:cNvGrpSpPr/>
            <p:nvPr/>
          </p:nvGrpSpPr>
          <p:grpSpPr>
            <a:xfrm>
              <a:off x="2996967" y="4942097"/>
              <a:ext cx="360048" cy="180025"/>
              <a:chOff x="1736601" y="2511982"/>
              <a:chExt cx="360048" cy="180025"/>
            </a:xfrm>
          </p:grpSpPr>
          <p:cxnSp>
            <p:nvCxnSpPr>
              <p:cNvPr id="22" name="直線コネクタ 21"/>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5" name="グループ化 24"/>
            <p:cNvGrpSpPr/>
            <p:nvPr/>
          </p:nvGrpSpPr>
          <p:grpSpPr>
            <a:xfrm>
              <a:off x="2861981" y="4059007"/>
              <a:ext cx="270036" cy="360048"/>
              <a:chOff x="6282228" y="1988808"/>
              <a:chExt cx="270036" cy="360048"/>
            </a:xfrm>
          </p:grpSpPr>
          <p:cxnSp>
            <p:nvCxnSpPr>
              <p:cNvPr id="26" name="直線コネクタ 2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 name="直線コネクタ 2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5" name="グループ化 34"/>
            <p:cNvGrpSpPr/>
            <p:nvPr/>
          </p:nvGrpSpPr>
          <p:grpSpPr>
            <a:xfrm>
              <a:off x="2771980" y="2978995"/>
              <a:ext cx="360048" cy="360048"/>
              <a:chOff x="3131808" y="1628760"/>
              <a:chExt cx="360048" cy="360048"/>
            </a:xfrm>
          </p:grpSpPr>
          <p:cxnSp>
            <p:nvCxnSpPr>
              <p:cNvPr id="36" name="直線コネクタ 3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8" name="直線コネクタ 3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0" name="円/楕円 3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2" name="直線コネクタ 4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44" name="直線コネクタ 4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6" name="グループ化 75"/>
          <p:cNvGrpSpPr/>
          <p:nvPr/>
        </p:nvGrpSpPr>
        <p:grpSpPr>
          <a:xfrm rot="10800000">
            <a:off x="4674902" y="4059366"/>
            <a:ext cx="1080010" cy="1170013"/>
            <a:chOff x="1871970" y="2562739"/>
            <a:chExt cx="1890019" cy="2559383"/>
          </a:xfrm>
        </p:grpSpPr>
        <p:grpSp>
          <p:nvGrpSpPr>
            <p:cNvPr id="77" name="グループ化 76"/>
            <p:cNvGrpSpPr/>
            <p:nvPr/>
          </p:nvGrpSpPr>
          <p:grpSpPr>
            <a:xfrm>
              <a:off x="2996967" y="4942097"/>
              <a:ext cx="360048" cy="180025"/>
              <a:chOff x="1736601" y="2511982"/>
              <a:chExt cx="360048" cy="180025"/>
            </a:xfrm>
          </p:grpSpPr>
          <p:cxnSp>
            <p:nvCxnSpPr>
              <p:cNvPr id="97" name="直線コネクタ 96"/>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8" name="直線コネクタ 97"/>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8" name="グループ化 77"/>
            <p:cNvGrpSpPr/>
            <p:nvPr/>
          </p:nvGrpSpPr>
          <p:grpSpPr>
            <a:xfrm>
              <a:off x="2861981" y="4059007"/>
              <a:ext cx="270036" cy="360048"/>
              <a:chOff x="6282228" y="1988808"/>
              <a:chExt cx="270036" cy="360048"/>
            </a:xfrm>
          </p:grpSpPr>
          <p:cxnSp>
            <p:nvCxnSpPr>
              <p:cNvPr id="93" name="直線コネクタ 9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4" name="直線コネクタ 9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6" name="直線コネクタ 9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9" name="直線コネクタ 78"/>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0" name="直線コネクタ 79"/>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1" name="直線コネクタ 80"/>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82"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3"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84" name="グループ化 83"/>
            <p:cNvGrpSpPr/>
            <p:nvPr/>
          </p:nvGrpSpPr>
          <p:grpSpPr>
            <a:xfrm>
              <a:off x="2771980" y="2978995"/>
              <a:ext cx="360048" cy="360048"/>
              <a:chOff x="3131808" y="1628760"/>
              <a:chExt cx="360048" cy="360048"/>
            </a:xfrm>
          </p:grpSpPr>
          <p:cxnSp>
            <p:nvCxnSpPr>
              <p:cNvPr id="88" name="直線コネクタ 8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2" name="円/楕円 9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85" name="直線コネクタ 84"/>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00" name="Line 46"/>
          <p:cNvSpPr>
            <a:spLocks noChangeShapeType="1"/>
          </p:cNvSpPr>
          <p:nvPr/>
        </p:nvSpPr>
        <p:spPr bwMode="auto">
          <a:xfrm flipV="1">
            <a:off x="5754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13" name="グループ化 112"/>
          <p:cNvGrpSpPr/>
          <p:nvPr/>
        </p:nvGrpSpPr>
        <p:grpSpPr>
          <a:xfrm rot="5400000">
            <a:off x="4089880" y="5829900"/>
            <a:ext cx="270041" cy="180007"/>
            <a:chOff x="1601967" y="3609002"/>
            <a:chExt cx="540039" cy="360048"/>
          </a:xfrm>
        </p:grpSpPr>
        <p:grpSp>
          <p:nvGrpSpPr>
            <p:cNvPr id="114" name="グループ化 113"/>
            <p:cNvGrpSpPr/>
            <p:nvPr/>
          </p:nvGrpSpPr>
          <p:grpSpPr>
            <a:xfrm rot="10800000">
              <a:off x="1871970" y="3609002"/>
              <a:ext cx="270036" cy="360048"/>
              <a:chOff x="6282228" y="1988808"/>
              <a:chExt cx="270036" cy="360048"/>
            </a:xfrm>
          </p:grpSpPr>
          <p:cxnSp>
            <p:nvCxnSpPr>
              <p:cNvPr id="121" name="直線コネクタ 12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 name="直線コネクタ 12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15" name="グループ化 114"/>
            <p:cNvGrpSpPr/>
            <p:nvPr/>
          </p:nvGrpSpPr>
          <p:grpSpPr>
            <a:xfrm>
              <a:off x="1601967" y="3609002"/>
              <a:ext cx="360048" cy="360048"/>
              <a:chOff x="3131808" y="1628760"/>
              <a:chExt cx="360048" cy="360048"/>
            </a:xfrm>
          </p:grpSpPr>
          <p:cxnSp>
            <p:nvCxnSpPr>
              <p:cNvPr id="116" name="直線コネクタ 11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9" name="直線コネクタ 11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0" name="円/楕円 11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25" name="グループ化 124"/>
          <p:cNvGrpSpPr/>
          <p:nvPr/>
        </p:nvGrpSpPr>
        <p:grpSpPr>
          <a:xfrm>
            <a:off x="4404900" y="5229379"/>
            <a:ext cx="270041" cy="180007"/>
            <a:chOff x="1601967" y="3609002"/>
            <a:chExt cx="540039" cy="360048"/>
          </a:xfrm>
        </p:grpSpPr>
        <p:grpSp>
          <p:nvGrpSpPr>
            <p:cNvPr id="126" name="グループ化 125"/>
            <p:cNvGrpSpPr/>
            <p:nvPr/>
          </p:nvGrpSpPr>
          <p:grpSpPr>
            <a:xfrm rot="10800000">
              <a:off x="1871970" y="3609002"/>
              <a:ext cx="270036" cy="360048"/>
              <a:chOff x="6282228" y="1988808"/>
              <a:chExt cx="270036" cy="360048"/>
            </a:xfrm>
          </p:grpSpPr>
          <p:cxnSp>
            <p:nvCxnSpPr>
              <p:cNvPr id="133" name="直線コネクタ 13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 name="直線コネクタ 13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7" name="グループ化 126"/>
            <p:cNvGrpSpPr/>
            <p:nvPr/>
          </p:nvGrpSpPr>
          <p:grpSpPr>
            <a:xfrm>
              <a:off x="1601967" y="3609002"/>
              <a:ext cx="360048" cy="360048"/>
              <a:chOff x="3131808" y="1628760"/>
              <a:chExt cx="360048" cy="360048"/>
            </a:xfrm>
          </p:grpSpPr>
          <p:cxnSp>
            <p:nvCxnSpPr>
              <p:cNvPr id="128" name="直線コネクタ 12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 name="直線コネクタ 12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2" name="円/楕円 13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37" name="Line 46"/>
          <p:cNvSpPr>
            <a:spLocks noChangeShapeType="1"/>
          </p:cNvSpPr>
          <p:nvPr/>
        </p:nvSpPr>
        <p:spPr bwMode="auto">
          <a:xfrm>
            <a:off x="4314899"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8" name="Line 46"/>
          <p:cNvSpPr>
            <a:spLocks noChangeShapeType="1"/>
          </p:cNvSpPr>
          <p:nvPr/>
        </p:nvSpPr>
        <p:spPr bwMode="auto">
          <a:xfrm flipH="1" flipV="1">
            <a:off x="4569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9" name="Line 46"/>
          <p:cNvSpPr>
            <a:spLocks noChangeShapeType="1"/>
          </p:cNvSpPr>
          <p:nvPr/>
        </p:nvSpPr>
        <p:spPr bwMode="auto">
          <a:xfrm flipH="1" flipV="1">
            <a:off x="4553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0" name="Line 46"/>
          <p:cNvSpPr>
            <a:spLocks noChangeShapeType="1"/>
          </p:cNvSpPr>
          <p:nvPr/>
        </p:nvSpPr>
        <p:spPr bwMode="auto">
          <a:xfrm flipV="1">
            <a:off x="4541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2" name="Line 46"/>
          <p:cNvSpPr>
            <a:spLocks noChangeShapeType="1"/>
          </p:cNvSpPr>
          <p:nvPr/>
        </p:nvSpPr>
        <p:spPr bwMode="auto">
          <a:xfrm>
            <a:off x="3774894"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44" name="Line 46"/>
          <p:cNvSpPr>
            <a:spLocks noChangeShapeType="1"/>
          </p:cNvSpPr>
          <p:nvPr/>
        </p:nvSpPr>
        <p:spPr bwMode="auto">
          <a:xfrm flipV="1">
            <a:off x="5754915"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45" name="グループ化 144"/>
          <p:cNvGrpSpPr/>
          <p:nvPr/>
        </p:nvGrpSpPr>
        <p:grpSpPr>
          <a:xfrm>
            <a:off x="6744924" y="5424879"/>
            <a:ext cx="1080010" cy="1170013"/>
            <a:chOff x="1871970" y="2562739"/>
            <a:chExt cx="1890019" cy="2559383"/>
          </a:xfrm>
        </p:grpSpPr>
        <p:grpSp>
          <p:nvGrpSpPr>
            <p:cNvPr id="146" name="グループ化 145"/>
            <p:cNvGrpSpPr/>
            <p:nvPr/>
          </p:nvGrpSpPr>
          <p:grpSpPr>
            <a:xfrm>
              <a:off x="2996967" y="4942097"/>
              <a:ext cx="360048" cy="180025"/>
              <a:chOff x="1736601" y="2511982"/>
              <a:chExt cx="360048" cy="180025"/>
            </a:xfrm>
          </p:grpSpPr>
          <p:cxnSp>
            <p:nvCxnSpPr>
              <p:cNvPr id="166" name="直線コネクタ 16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7" name="直線コネクタ 16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8" name="直線コネクタ 16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7" name="グループ化 146"/>
            <p:cNvGrpSpPr/>
            <p:nvPr/>
          </p:nvGrpSpPr>
          <p:grpSpPr>
            <a:xfrm>
              <a:off x="2861981" y="4059007"/>
              <a:ext cx="270036" cy="360048"/>
              <a:chOff x="6282228" y="1988808"/>
              <a:chExt cx="270036" cy="360048"/>
            </a:xfrm>
          </p:grpSpPr>
          <p:cxnSp>
            <p:nvCxnSpPr>
              <p:cNvPr id="162" name="直線コネクタ 16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3" name="直線コネクタ 16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4" name="直線コネクタ 16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5" name="直線コネクタ 16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8" name="直線コネクタ 14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5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53" name="グループ化 152"/>
            <p:cNvGrpSpPr/>
            <p:nvPr/>
          </p:nvGrpSpPr>
          <p:grpSpPr>
            <a:xfrm>
              <a:off x="2771980" y="2978995"/>
              <a:ext cx="360048" cy="360048"/>
              <a:chOff x="3131808" y="1628760"/>
              <a:chExt cx="360048" cy="360048"/>
            </a:xfrm>
          </p:grpSpPr>
          <p:cxnSp>
            <p:nvCxnSpPr>
              <p:cNvPr id="157" name="直線コネクタ 15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9" name="直線コネクタ 15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0" name="直線コネクタ 15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61" name="円/楕円 16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54" name="直線コネクタ 15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69" name="グループ化 168"/>
          <p:cNvGrpSpPr/>
          <p:nvPr/>
        </p:nvGrpSpPr>
        <p:grpSpPr>
          <a:xfrm rot="10800000">
            <a:off x="6744924" y="4059366"/>
            <a:ext cx="1080010" cy="1170013"/>
            <a:chOff x="1871970" y="2562739"/>
            <a:chExt cx="1890019" cy="2559383"/>
          </a:xfrm>
        </p:grpSpPr>
        <p:grpSp>
          <p:nvGrpSpPr>
            <p:cNvPr id="170" name="グループ化 169"/>
            <p:cNvGrpSpPr/>
            <p:nvPr/>
          </p:nvGrpSpPr>
          <p:grpSpPr>
            <a:xfrm>
              <a:off x="2996967" y="4942097"/>
              <a:ext cx="360048" cy="180025"/>
              <a:chOff x="1736601" y="2511982"/>
              <a:chExt cx="360048" cy="180025"/>
            </a:xfrm>
          </p:grpSpPr>
          <p:cxnSp>
            <p:nvCxnSpPr>
              <p:cNvPr id="190" name="直線コネクタ 189"/>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1" name="直線コネクタ 190"/>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71" name="グループ化 170"/>
            <p:cNvGrpSpPr/>
            <p:nvPr/>
          </p:nvGrpSpPr>
          <p:grpSpPr>
            <a:xfrm>
              <a:off x="2861981" y="4059007"/>
              <a:ext cx="270036" cy="360048"/>
              <a:chOff x="6282228" y="1988808"/>
              <a:chExt cx="270036" cy="360048"/>
            </a:xfrm>
          </p:grpSpPr>
          <p:cxnSp>
            <p:nvCxnSpPr>
              <p:cNvPr id="186" name="直線コネクタ 18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9" name="直線コネクタ 18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72" name="直線コネクタ 171"/>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73" name="直線コネクタ 172"/>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74" name="直線コネクタ 173"/>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75"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76"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77" name="グループ化 176"/>
            <p:cNvGrpSpPr/>
            <p:nvPr/>
          </p:nvGrpSpPr>
          <p:grpSpPr>
            <a:xfrm>
              <a:off x="2771980" y="2978995"/>
              <a:ext cx="360048" cy="360048"/>
              <a:chOff x="3131808" y="1628760"/>
              <a:chExt cx="360048" cy="360048"/>
            </a:xfrm>
          </p:grpSpPr>
          <p:cxnSp>
            <p:nvCxnSpPr>
              <p:cNvPr id="181" name="直線コネクタ 18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2" name="直線コネクタ 18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3" name="直線コネクタ 18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4" name="直線コネクタ 18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85" name="円/楕円 18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78" name="直線コネクタ 177"/>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79" name="直線コネクタ 178"/>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93" name="Line 46"/>
          <p:cNvSpPr>
            <a:spLocks noChangeShapeType="1"/>
          </p:cNvSpPr>
          <p:nvPr/>
        </p:nvSpPr>
        <p:spPr bwMode="auto">
          <a:xfrm flipV="1">
            <a:off x="7824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94" name="グループ化 193"/>
          <p:cNvGrpSpPr/>
          <p:nvPr/>
        </p:nvGrpSpPr>
        <p:grpSpPr>
          <a:xfrm rot="5400000">
            <a:off x="6159902" y="5829900"/>
            <a:ext cx="270041" cy="180007"/>
            <a:chOff x="1601967" y="3609002"/>
            <a:chExt cx="540039" cy="360048"/>
          </a:xfrm>
        </p:grpSpPr>
        <p:grpSp>
          <p:nvGrpSpPr>
            <p:cNvPr id="195" name="グループ化 194"/>
            <p:cNvGrpSpPr/>
            <p:nvPr/>
          </p:nvGrpSpPr>
          <p:grpSpPr>
            <a:xfrm rot="10800000">
              <a:off x="1871970" y="3609002"/>
              <a:ext cx="270036" cy="360048"/>
              <a:chOff x="6282228" y="1988808"/>
              <a:chExt cx="270036" cy="360048"/>
            </a:xfrm>
          </p:grpSpPr>
          <p:cxnSp>
            <p:nvCxnSpPr>
              <p:cNvPr id="202" name="直線コネクタ 20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96" name="グループ化 195"/>
            <p:cNvGrpSpPr/>
            <p:nvPr/>
          </p:nvGrpSpPr>
          <p:grpSpPr>
            <a:xfrm>
              <a:off x="1601967" y="3609002"/>
              <a:ext cx="360048" cy="360048"/>
              <a:chOff x="3131808" y="1628760"/>
              <a:chExt cx="360048" cy="360048"/>
            </a:xfrm>
          </p:grpSpPr>
          <p:cxnSp>
            <p:nvCxnSpPr>
              <p:cNvPr id="197" name="直線コネクタ 19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8" name="直線コネクタ 19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1" name="円/楕円 20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206" name="グループ化 205"/>
          <p:cNvGrpSpPr/>
          <p:nvPr/>
        </p:nvGrpSpPr>
        <p:grpSpPr>
          <a:xfrm>
            <a:off x="6474922" y="5229379"/>
            <a:ext cx="270041" cy="180007"/>
            <a:chOff x="1601967" y="3609002"/>
            <a:chExt cx="540039" cy="360048"/>
          </a:xfrm>
        </p:grpSpPr>
        <p:grpSp>
          <p:nvGrpSpPr>
            <p:cNvPr id="207" name="グループ化 206"/>
            <p:cNvGrpSpPr/>
            <p:nvPr/>
          </p:nvGrpSpPr>
          <p:grpSpPr>
            <a:xfrm rot="10800000">
              <a:off x="1871970" y="3609002"/>
              <a:ext cx="270036" cy="360048"/>
              <a:chOff x="6282228" y="1988808"/>
              <a:chExt cx="270036" cy="360048"/>
            </a:xfrm>
          </p:grpSpPr>
          <p:cxnSp>
            <p:nvCxnSpPr>
              <p:cNvPr id="214" name="直線コネクタ 21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5" name="直線コネクタ 21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6" name="直線コネクタ 21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7" name="直線コネクタ 21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08" name="グループ化 207"/>
            <p:cNvGrpSpPr/>
            <p:nvPr/>
          </p:nvGrpSpPr>
          <p:grpSpPr>
            <a:xfrm>
              <a:off x="1601967" y="3609002"/>
              <a:ext cx="360048" cy="360048"/>
              <a:chOff x="3131808" y="1628760"/>
              <a:chExt cx="360048" cy="360048"/>
            </a:xfrm>
          </p:grpSpPr>
          <p:cxnSp>
            <p:nvCxnSpPr>
              <p:cNvPr id="209" name="直線コネクタ 20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0" name="直線コネクタ 20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1" name="直線コネクタ 21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2" name="直線コネクタ 21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3" name="円/楕円 21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218" name="Line 46"/>
          <p:cNvSpPr>
            <a:spLocks noChangeShapeType="1"/>
          </p:cNvSpPr>
          <p:nvPr/>
        </p:nvSpPr>
        <p:spPr bwMode="auto">
          <a:xfrm>
            <a:off x="6384921"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19" name="Line 46"/>
          <p:cNvSpPr>
            <a:spLocks noChangeShapeType="1"/>
          </p:cNvSpPr>
          <p:nvPr/>
        </p:nvSpPr>
        <p:spPr bwMode="auto">
          <a:xfrm flipH="1" flipV="1">
            <a:off x="6639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220" name="Line 46"/>
          <p:cNvSpPr>
            <a:spLocks noChangeShapeType="1"/>
          </p:cNvSpPr>
          <p:nvPr/>
        </p:nvSpPr>
        <p:spPr bwMode="auto">
          <a:xfrm flipH="1" flipV="1">
            <a:off x="6623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21" name="Line 46"/>
          <p:cNvSpPr>
            <a:spLocks noChangeShapeType="1"/>
          </p:cNvSpPr>
          <p:nvPr/>
        </p:nvSpPr>
        <p:spPr bwMode="auto">
          <a:xfrm flipV="1">
            <a:off x="6611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223" name="Line 46"/>
          <p:cNvSpPr>
            <a:spLocks noChangeShapeType="1"/>
          </p:cNvSpPr>
          <p:nvPr/>
        </p:nvSpPr>
        <p:spPr bwMode="auto">
          <a:xfrm flipV="1">
            <a:off x="7824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224" name="グループ化 223"/>
          <p:cNvGrpSpPr/>
          <p:nvPr/>
        </p:nvGrpSpPr>
        <p:grpSpPr>
          <a:xfrm>
            <a:off x="5555995" y="998973"/>
            <a:ext cx="990011" cy="720008"/>
            <a:chOff x="6369707" y="1718772"/>
            <a:chExt cx="1441450" cy="1085855"/>
          </a:xfrm>
        </p:grpSpPr>
        <p:sp>
          <p:nvSpPr>
            <p:cNvPr id="22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22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22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22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22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23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23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Tree>
    <p:extLst>
      <p:ext uri="{BB962C8B-B14F-4D97-AF65-F5344CB8AC3E}">
        <p14:creationId xmlns:p14="http://schemas.microsoft.com/office/powerpoint/2010/main" val="3759277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マルチプレクサ：トランジスタ </a:t>
            </a:r>
            <a:r>
              <a:rPr kumimoji="1" lang="en-US" altLang="ja-JP" dirty="0"/>
              <a:t>6</a:t>
            </a:r>
            <a:r>
              <a:rPr kumimoji="1" lang="ja-JP" altLang="en-US" dirty="0"/>
              <a:t>個</a:t>
            </a:r>
          </a:p>
        </p:txBody>
      </p:sp>
      <p:sp>
        <p:nvSpPr>
          <p:cNvPr id="232" name="Line 9"/>
          <p:cNvSpPr>
            <a:spLocks noChangeShapeType="1"/>
          </p:cNvSpPr>
          <p:nvPr/>
        </p:nvSpPr>
        <p:spPr bwMode="auto">
          <a:xfrm>
            <a:off x="5195991" y="198898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33" name="Line 9"/>
          <p:cNvSpPr>
            <a:spLocks noChangeShapeType="1"/>
          </p:cNvSpPr>
          <p:nvPr/>
        </p:nvSpPr>
        <p:spPr bwMode="auto">
          <a:xfrm>
            <a:off x="5195991" y="270899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34" name="Line 9"/>
          <p:cNvSpPr>
            <a:spLocks noChangeShapeType="1"/>
          </p:cNvSpPr>
          <p:nvPr/>
        </p:nvSpPr>
        <p:spPr bwMode="auto">
          <a:xfrm>
            <a:off x="5825998" y="2348988"/>
            <a:ext cx="450005" cy="0"/>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sp>
        <p:nvSpPr>
          <p:cNvPr id="222" name="フローチャート: 手作業 221"/>
          <p:cNvSpPr/>
          <p:nvPr/>
        </p:nvSpPr>
        <p:spPr bwMode="auto">
          <a:xfrm rot="16200000">
            <a:off x="5150990" y="2213987"/>
            <a:ext cx="1260014" cy="270003"/>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sp>
        <p:nvSpPr>
          <p:cNvPr id="310" name="Line 9"/>
          <p:cNvSpPr>
            <a:spLocks noChangeShapeType="1"/>
          </p:cNvSpPr>
          <p:nvPr/>
        </p:nvSpPr>
        <p:spPr bwMode="auto">
          <a:xfrm>
            <a:off x="5825998" y="1538979"/>
            <a:ext cx="0" cy="360004"/>
          </a:xfrm>
          <a:prstGeom prst="line">
            <a:avLst/>
          </a:prstGeom>
          <a:noFill/>
          <a:ln w="9525">
            <a:solidFill>
              <a:schemeClr val="tx1"/>
            </a:solidFill>
            <a:round/>
            <a:headEnd/>
            <a:tailEnd type="triangle" w="med" len="lg"/>
          </a:ln>
          <a:effectLst/>
        </p:spPr>
        <p:txBody>
          <a:bodyPr wrap="none" lIns="90000" tIns="46800" rIns="90000" bIns="46800" anchor="ctr"/>
          <a:lstStyle/>
          <a:p>
            <a:endParaRPr lang="ja-JP" altLang="en-US" sz="1200"/>
          </a:p>
        </p:txBody>
      </p:sp>
      <p:grpSp>
        <p:nvGrpSpPr>
          <p:cNvPr id="19" name="グループ化 18"/>
          <p:cNvGrpSpPr/>
          <p:nvPr/>
        </p:nvGrpSpPr>
        <p:grpSpPr>
          <a:xfrm>
            <a:off x="4745986" y="3789005"/>
            <a:ext cx="2521029" cy="1530055"/>
            <a:chOff x="2361128" y="5229020"/>
            <a:chExt cx="1489701" cy="810047"/>
          </a:xfrm>
        </p:grpSpPr>
        <p:grpSp>
          <p:nvGrpSpPr>
            <p:cNvPr id="286" name="グループ化 285"/>
            <p:cNvGrpSpPr/>
            <p:nvPr/>
          </p:nvGrpSpPr>
          <p:grpSpPr>
            <a:xfrm rot="16200000">
              <a:off x="2906965" y="5814043"/>
              <a:ext cx="270041" cy="180007"/>
              <a:chOff x="1601967" y="3609002"/>
              <a:chExt cx="540039" cy="360048"/>
            </a:xfrm>
          </p:grpSpPr>
          <p:grpSp>
            <p:nvGrpSpPr>
              <p:cNvPr id="287" name="グループ化 286"/>
              <p:cNvGrpSpPr/>
              <p:nvPr/>
            </p:nvGrpSpPr>
            <p:grpSpPr>
              <a:xfrm rot="10800000">
                <a:off x="1871970" y="3609002"/>
                <a:ext cx="270036" cy="360048"/>
                <a:chOff x="6282228" y="1988808"/>
                <a:chExt cx="270036" cy="360048"/>
              </a:xfrm>
            </p:grpSpPr>
            <p:cxnSp>
              <p:nvCxnSpPr>
                <p:cNvPr id="294" name="直線コネクタ 29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5" name="直線コネクタ 29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6" name="直線コネクタ 29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7" name="直線コネクタ 29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88" name="グループ化 287"/>
              <p:cNvGrpSpPr/>
              <p:nvPr/>
            </p:nvGrpSpPr>
            <p:grpSpPr>
              <a:xfrm>
                <a:off x="1601967" y="3609002"/>
                <a:ext cx="360048" cy="360048"/>
                <a:chOff x="3131808" y="1628760"/>
                <a:chExt cx="360048" cy="360048"/>
              </a:xfrm>
            </p:grpSpPr>
            <p:cxnSp>
              <p:nvCxnSpPr>
                <p:cNvPr id="289" name="直線コネクタ 28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0" name="直線コネクタ 28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1" name="直線コネクタ 29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2" name="直線コネクタ 29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93" name="円/楕円 29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298" name="グループ化 297"/>
            <p:cNvGrpSpPr/>
            <p:nvPr/>
          </p:nvGrpSpPr>
          <p:grpSpPr>
            <a:xfrm rot="5400000">
              <a:off x="2906965" y="5274037"/>
              <a:ext cx="270041" cy="180007"/>
              <a:chOff x="1601967" y="3609002"/>
              <a:chExt cx="540039" cy="360048"/>
            </a:xfrm>
          </p:grpSpPr>
          <p:grpSp>
            <p:nvGrpSpPr>
              <p:cNvPr id="299" name="グループ化 298"/>
              <p:cNvGrpSpPr/>
              <p:nvPr/>
            </p:nvGrpSpPr>
            <p:grpSpPr>
              <a:xfrm rot="10800000">
                <a:off x="1871970" y="3609002"/>
                <a:ext cx="270036" cy="360048"/>
                <a:chOff x="6282228" y="1988808"/>
                <a:chExt cx="270036" cy="360048"/>
              </a:xfrm>
            </p:grpSpPr>
            <p:cxnSp>
              <p:nvCxnSpPr>
                <p:cNvPr id="306" name="直線コネクタ 30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7" name="直線コネクタ 30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8" name="直線コネクタ 30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9" name="直線コネクタ 30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00" name="グループ化 299"/>
              <p:cNvGrpSpPr/>
              <p:nvPr/>
            </p:nvGrpSpPr>
            <p:grpSpPr>
              <a:xfrm>
                <a:off x="1601967" y="3609002"/>
                <a:ext cx="360048" cy="360048"/>
                <a:chOff x="3131808" y="1628760"/>
                <a:chExt cx="360048" cy="360048"/>
              </a:xfrm>
            </p:grpSpPr>
            <p:cxnSp>
              <p:nvCxnSpPr>
                <p:cNvPr id="301" name="直線コネクタ 30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2" name="直線コネクタ 30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3" name="直線コネクタ 30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4" name="直線コネクタ 30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05" name="円/楕円 30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311"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2"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3"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4"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315"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17" name="Line 9"/>
            <p:cNvSpPr>
              <a:spLocks noChangeShapeType="1"/>
            </p:cNvSpPr>
            <p:nvPr/>
          </p:nvSpPr>
          <p:spPr bwMode="auto">
            <a:xfrm>
              <a:off x="3400824" y="5625038"/>
              <a:ext cx="450005" cy="0"/>
            </a:xfrm>
            <a:prstGeom prst="line">
              <a:avLst/>
            </a:prstGeom>
            <a:noFill/>
            <a:ln w="9525">
              <a:solidFill>
                <a:schemeClr val="tx1"/>
              </a:solidFill>
              <a:round/>
              <a:headEnd type="oval"/>
              <a:tailEnd type="triangle" w="med" len="lg"/>
            </a:ln>
            <a:effectLst/>
          </p:spPr>
          <p:txBody>
            <a:bodyPr wrap="none" lIns="90000" tIns="46800" rIns="90000" bIns="46800" anchor="ctr"/>
            <a:lstStyle/>
            <a:p>
              <a:endParaRPr lang="ja-JP" altLang="en-US" sz="1200"/>
            </a:p>
          </p:txBody>
        </p:sp>
        <p:sp>
          <p:nvSpPr>
            <p:cNvPr id="320"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med" len="med"/>
            </a:ln>
            <a:effectLst/>
          </p:spPr>
          <p:txBody>
            <a:bodyPr wrap="none" lIns="90000" tIns="46800" rIns="90000" bIns="46800" anchor="ctr"/>
            <a:lstStyle/>
            <a:p>
              <a:endParaRPr lang="ja-JP" altLang="en-US"/>
            </a:p>
          </p:txBody>
        </p:sp>
      </p:grpSp>
      <p:grpSp>
        <p:nvGrpSpPr>
          <p:cNvPr id="322" name="グループ化 321"/>
          <p:cNvGrpSpPr/>
          <p:nvPr/>
        </p:nvGrpSpPr>
        <p:grpSpPr>
          <a:xfrm>
            <a:off x="3035966" y="3803518"/>
            <a:ext cx="1712994" cy="1671274"/>
            <a:chOff x="1871970" y="2562739"/>
            <a:chExt cx="1890019" cy="2559383"/>
          </a:xfrm>
        </p:grpSpPr>
        <p:grpSp>
          <p:nvGrpSpPr>
            <p:cNvPr id="323" name="グループ化 322"/>
            <p:cNvGrpSpPr/>
            <p:nvPr/>
          </p:nvGrpSpPr>
          <p:grpSpPr>
            <a:xfrm>
              <a:off x="2996967" y="4942097"/>
              <a:ext cx="360048" cy="180025"/>
              <a:chOff x="1736601" y="2511982"/>
              <a:chExt cx="360048" cy="180025"/>
            </a:xfrm>
          </p:grpSpPr>
          <p:cxnSp>
            <p:nvCxnSpPr>
              <p:cNvPr id="343" name="直線コネクタ 34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4" name="直線コネクタ 34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5" name="直線コネクタ 34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24" name="グループ化 323"/>
            <p:cNvGrpSpPr/>
            <p:nvPr/>
          </p:nvGrpSpPr>
          <p:grpSpPr>
            <a:xfrm>
              <a:off x="2861981" y="4059007"/>
              <a:ext cx="270036" cy="360048"/>
              <a:chOff x="6282228" y="1988808"/>
              <a:chExt cx="270036" cy="360048"/>
            </a:xfrm>
          </p:grpSpPr>
          <p:cxnSp>
            <p:nvCxnSpPr>
              <p:cNvPr id="339" name="直線コネクタ 33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0" name="直線コネクタ 33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1" name="直線コネクタ 34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42" name="直線コネクタ 34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25" name="直線コネクタ 32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26" name="直線コネクタ 32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27" name="直線コネクタ 32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2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2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30" name="グループ化 329"/>
            <p:cNvGrpSpPr/>
            <p:nvPr/>
          </p:nvGrpSpPr>
          <p:grpSpPr>
            <a:xfrm>
              <a:off x="2771980" y="2978995"/>
              <a:ext cx="360048" cy="360048"/>
              <a:chOff x="3131808" y="1628760"/>
              <a:chExt cx="360048" cy="360048"/>
            </a:xfrm>
          </p:grpSpPr>
          <p:cxnSp>
            <p:nvCxnSpPr>
              <p:cNvPr id="334" name="直線コネクタ 33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5" name="直線コネクタ 33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6" name="直線コネクタ 33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37" name="直線コネクタ 33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38" name="円/楕円 33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331" name="直線コネクタ 33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32" name="直線コネクタ 33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33" name="直線コネクタ 33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46" name="Rectangle 59"/>
          <p:cNvSpPr>
            <a:spLocks noChangeArrowheads="1"/>
          </p:cNvSpPr>
          <p:nvPr/>
        </p:nvSpPr>
        <p:spPr bwMode="auto">
          <a:xfrm>
            <a:off x="6276003" y="2168986"/>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o</a:t>
            </a:r>
          </a:p>
        </p:txBody>
      </p:sp>
      <p:sp>
        <p:nvSpPr>
          <p:cNvPr id="347" name="Rectangle 59"/>
          <p:cNvSpPr>
            <a:spLocks noChangeArrowheads="1"/>
          </p:cNvSpPr>
          <p:nvPr/>
        </p:nvSpPr>
        <p:spPr bwMode="auto">
          <a:xfrm>
            <a:off x="5735997" y="1178975"/>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48" name="Rectangle 59"/>
          <p:cNvSpPr>
            <a:spLocks noChangeArrowheads="1"/>
          </p:cNvSpPr>
          <p:nvPr/>
        </p:nvSpPr>
        <p:spPr bwMode="auto">
          <a:xfrm>
            <a:off x="4925988" y="1718981"/>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i0</a:t>
            </a:r>
          </a:p>
        </p:txBody>
      </p:sp>
      <p:sp>
        <p:nvSpPr>
          <p:cNvPr id="349" name="Rectangle 59"/>
          <p:cNvSpPr>
            <a:spLocks noChangeArrowheads="1"/>
          </p:cNvSpPr>
          <p:nvPr/>
        </p:nvSpPr>
        <p:spPr bwMode="auto">
          <a:xfrm>
            <a:off x="4925988" y="2438989"/>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i1</a:t>
            </a:r>
          </a:p>
        </p:txBody>
      </p:sp>
      <p:sp>
        <p:nvSpPr>
          <p:cNvPr id="350" name="Rectangle 59"/>
          <p:cNvSpPr>
            <a:spLocks noChangeArrowheads="1"/>
          </p:cNvSpPr>
          <p:nvPr/>
        </p:nvSpPr>
        <p:spPr bwMode="auto">
          <a:xfrm>
            <a:off x="2765964" y="432901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51" name="Rectangle 59"/>
          <p:cNvSpPr>
            <a:spLocks noChangeArrowheads="1"/>
          </p:cNvSpPr>
          <p:nvPr/>
        </p:nvSpPr>
        <p:spPr bwMode="auto">
          <a:xfrm>
            <a:off x="5738974" y="342900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
        <p:nvSpPr>
          <p:cNvPr id="352" name="Rectangle 59"/>
          <p:cNvSpPr>
            <a:spLocks noChangeArrowheads="1"/>
          </p:cNvSpPr>
          <p:nvPr/>
        </p:nvSpPr>
        <p:spPr bwMode="auto">
          <a:xfrm>
            <a:off x="4928965" y="3879005"/>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i0</a:t>
            </a:r>
          </a:p>
        </p:txBody>
      </p:sp>
      <p:sp>
        <p:nvSpPr>
          <p:cNvPr id="353" name="Rectangle 59"/>
          <p:cNvSpPr>
            <a:spLocks noChangeArrowheads="1"/>
          </p:cNvSpPr>
          <p:nvPr/>
        </p:nvSpPr>
        <p:spPr bwMode="auto">
          <a:xfrm>
            <a:off x="4925988" y="4869016"/>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i1</a:t>
            </a:r>
          </a:p>
        </p:txBody>
      </p:sp>
      <p:sp>
        <p:nvSpPr>
          <p:cNvPr id="354" name="Rectangle 59"/>
          <p:cNvSpPr>
            <a:spLocks noChangeArrowheads="1"/>
          </p:cNvSpPr>
          <p:nvPr/>
        </p:nvSpPr>
        <p:spPr bwMode="auto">
          <a:xfrm>
            <a:off x="7358992" y="432901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o</a:t>
            </a:r>
          </a:p>
        </p:txBody>
      </p:sp>
      <p:sp>
        <p:nvSpPr>
          <p:cNvPr id="355" name="Rectangle 59"/>
          <p:cNvSpPr>
            <a:spLocks noChangeArrowheads="1"/>
          </p:cNvSpPr>
          <p:nvPr/>
        </p:nvSpPr>
        <p:spPr bwMode="auto">
          <a:xfrm>
            <a:off x="5738974" y="5229020"/>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s</a:t>
            </a:r>
          </a:p>
        </p:txBody>
      </p:sp>
    </p:spTree>
    <p:extLst>
      <p:ext uri="{BB962C8B-B14F-4D97-AF65-F5344CB8AC3E}">
        <p14:creationId xmlns:p14="http://schemas.microsoft.com/office/powerpoint/2010/main" val="20067703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4bit </a:t>
            </a:r>
            <a:r>
              <a:rPr kumimoji="1" lang="ja-JP" altLang="en-US" dirty="0"/>
              <a:t>メモリに必要なトランジスタ数：</a:t>
            </a:r>
            <a:r>
              <a:rPr kumimoji="1" lang="en-US" altLang="ja-JP" dirty="0"/>
              <a:t>80</a:t>
            </a:r>
            <a:endParaRPr kumimoji="1" lang="ja-JP" altLang="en-US" dirty="0"/>
          </a:p>
        </p:txBody>
      </p:sp>
      <p:grpSp>
        <p:nvGrpSpPr>
          <p:cNvPr id="161" name="グループ化 160"/>
          <p:cNvGrpSpPr/>
          <p:nvPr/>
        </p:nvGrpSpPr>
        <p:grpSpPr>
          <a:xfrm>
            <a:off x="3935977" y="1538979"/>
            <a:ext cx="2070023" cy="1080012"/>
            <a:chOff x="2250893" y="4059365"/>
            <a:chExt cx="4590049" cy="2535526"/>
          </a:xfrm>
        </p:grpSpPr>
        <p:grpSp>
          <p:nvGrpSpPr>
            <p:cNvPr id="4" name="グループ化 3"/>
            <p:cNvGrpSpPr/>
            <p:nvPr/>
          </p:nvGrpSpPr>
          <p:grpSpPr>
            <a:xfrm>
              <a:off x="3150902" y="5424878"/>
              <a:ext cx="1080010" cy="1170013"/>
              <a:chOff x="1871970" y="2562739"/>
              <a:chExt cx="1890019" cy="2559383"/>
            </a:xfrm>
          </p:grpSpPr>
          <p:grpSp>
            <p:nvGrpSpPr>
              <p:cNvPr id="5" name="グループ化 4"/>
              <p:cNvGrpSpPr/>
              <p:nvPr/>
            </p:nvGrpSpPr>
            <p:grpSpPr>
              <a:xfrm>
                <a:off x="2996967" y="4942097"/>
                <a:ext cx="360048" cy="180025"/>
                <a:chOff x="1736601" y="2511982"/>
                <a:chExt cx="360048" cy="180025"/>
              </a:xfrm>
            </p:grpSpPr>
            <p:cxnSp>
              <p:nvCxnSpPr>
                <p:cNvPr id="25" name="直線コネクタ 24"/>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 name="グループ化 5"/>
              <p:cNvGrpSpPr/>
              <p:nvPr/>
            </p:nvGrpSpPr>
            <p:grpSpPr>
              <a:xfrm>
                <a:off x="2861981" y="4059007"/>
                <a:ext cx="270036" cy="360048"/>
                <a:chOff x="6282228" y="1988808"/>
                <a:chExt cx="270036" cy="360048"/>
              </a:xfrm>
            </p:grpSpPr>
            <p:cxnSp>
              <p:nvCxnSpPr>
                <p:cNvPr id="21" name="直線コネクタ 2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 name="直線コネクタ 6"/>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0"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 name="グループ化 11"/>
              <p:cNvGrpSpPr/>
              <p:nvPr/>
            </p:nvGrpSpPr>
            <p:grpSpPr>
              <a:xfrm>
                <a:off x="2771980" y="2978995"/>
                <a:ext cx="360048" cy="360048"/>
                <a:chOff x="3131808" y="1628760"/>
                <a:chExt cx="360048" cy="360048"/>
              </a:xfrm>
            </p:grpSpPr>
            <p:cxnSp>
              <p:nvCxnSpPr>
                <p:cNvPr id="16" name="直線コネクタ 1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 name="円/楕円 1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3" name="直線コネクタ 12"/>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 name="直線コネクタ 1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8" name="グループ化 27"/>
            <p:cNvGrpSpPr/>
            <p:nvPr/>
          </p:nvGrpSpPr>
          <p:grpSpPr>
            <a:xfrm rot="10800000">
              <a:off x="3150902" y="4059365"/>
              <a:ext cx="1080010" cy="1170013"/>
              <a:chOff x="1871970" y="2562739"/>
              <a:chExt cx="1890019" cy="2559383"/>
            </a:xfrm>
          </p:grpSpPr>
          <p:grpSp>
            <p:nvGrpSpPr>
              <p:cNvPr id="29" name="グループ化 28"/>
              <p:cNvGrpSpPr/>
              <p:nvPr/>
            </p:nvGrpSpPr>
            <p:grpSpPr>
              <a:xfrm>
                <a:off x="2996967" y="4942097"/>
                <a:ext cx="360048" cy="180025"/>
                <a:chOff x="1736601" y="2511982"/>
                <a:chExt cx="360048" cy="180025"/>
              </a:xfrm>
            </p:grpSpPr>
            <p:cxnSp>
              <p:nvCxnSpPr>
                <p:cNvPr id="49" name="直線コネクタ 4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0" name="直線コネクタ 4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0" name="グループ化 29"/>
              <p:cNvGrpSpPr/>
              <p:nvPr/>
            </p:nvGrpSpPr>
            <p:grpSpPr>
              <a:xfrm>
                <a:off x="2861981" y="4059007"/>
                <a:ext cx="270036" cy="360048"/>
                <a:chOff x="6282228" y="1988808"/>
                <a:chExt cx="270036" cy="360048"/>
              </a:xfrm>
            </p:grpSpPr>
            <p:cxnSp>
              <p:nvCxnSpPr>
                <p:cNvPr id="45" name="直線コネクタ 4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6" name="直線コネクタ 4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1" name="直線コネクタ 3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2" name="直線コネクタ 3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6" name="グループ化 35"/>
              <p:cNvGrpSpPr/>
              <p:nvPr/>
            </p:nvGrpSpPr>
            <p:grpSpPr>
              <a:xfrm>
                <a:off x="2771980" y="2978995"/>
                <a:ext cx="360048" cy="360048"/>
                <a:chOff x="3131808" y="1628760"/>
                <a:chExt cx="360048" cy="360048"/>
              </a:xfrm>
            </p:grpSpPr>
            <p:cxnSp>
              <p:nvCxnSpPr>
                <p:cNvPr id="40" name="直線コネクタ 3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1" name="直線コネクタ 4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2" name="直線コネクタ 4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3" name="直線コネクタ 4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4" name="円/楕円 4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37" name="直線コネクタ 3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8" name="直線コネクタ 3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2"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53" name="グループ化 52"/>
            <p:cNvGrpSpPr/>
            <p:nvPr/>
          </p:nvGrpSpPr>
          <p:grpSpPr>
            <a:xfrm rot="5400000">
              <a:off x="2565879" y="5829899"/>
              <a:ext cx="270041" cy="180007"/>
              <a:chOff x="1601967" y="3609002"/>
              <a:chExt cx="540039" cy="360048"/>
            </a:xfrm>
          </p:grpSpPr>
          <p:grpSp>
            <p:nvGrpSpPr>
              <p:cNvPr id="54" name="グループ化 53"/>
              <p:cNvGrpSpPr/>
              <p:nvPr/>
            </p:nvGrpSpPr>
            <p:grpSpPr>
              <a:xfrm rot="10800000">
                <a:off x="1871970" y="3609002"/>
                <a:ext cx="270036" cy="360048"/>
                <a:chOff x="6282228" y="1988808"/>
                <a:chExt cx="270036" cy="360048"/>
              </a:xfrm>
            </p:grpSpPr>
            <p:cxnSp>
              <p:nvCxnSpPr>
                <p:cNvPr id="61" name="直線コネクタ 6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2" name="直線コネクタ 6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3" name="直線コネクタ 6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4" name="直線コネクタ 6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55" name="グループ化 54"/>
              <p:cNvGrpSpPr/>
              <p:nvPr/>
            </p:nvGrpSpPr>
            <p:grpSpPr>
              <a:xfrm>
                <a:off x="1601967" y="3609002"/>
                <a:ext cx="360048" cy="360048"/>
                <a:chOff x="3131808" y="1628760"/>
                <a:chExt cx="360048" cy="360048"/>
              </a:xfrm>
            </p:grpSpPr>
            <p:cxnSp>
              <p:nvCxnSpPr>
                <p:cNvPr id="56" name="直線コネクタ 5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7" name="直線コネクタ 5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65" name="グループ化 64"/>
            <p:cNvGrpSpPr/>
            <p:nvPr/>
          </p:nvGrpSpPr>
          <p:grpSpPr>
            <a:xfrm>
              <a:off x="2880899" y="5229378"/>
              <a:ext cx="270041" cy="180007"/>
              <a:chOff x="1601967" y="3609002"/>
              <a:chExt cx="540039" cy="360048"/>
            </a:xfrm>
          </p:grpSpPr>
          <p:grpSp>
            <p:nvGrpSpPr>
              <p:cNvPr id="66" name="グループ化 65"/>
              <p:cNvGrpSpPr/>
              <p:nvPr/>
            </p:nvGrpSpPr>
            <p:grpSpPr>
              <a:xfrm rot="10800000">
                <a:off x="1871970" y="3609002"/>
                <a:ext cx="270036" cy="360048"/>
                <a:chOff x="6282228" y="1988808"/>
                <a:chExt cx="270036" cy="360048"/>
              </a:xfrm>
            </p:grpSpPr>
            <p:cxnSp>
              <p:nvCxnSpPr>
                <p:cNvPr id="73" name="直線コネクタ 7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4" name="直線コネクタ 7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5" name="直線コネクタ 7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6" name="直線コネクタ 7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7" name="グループ化 66"/>
              <p:cNvGrpSpPr/>
              <p:nvPr/>
            </p:nvGrpSpPr>
            <p:grpSpPr>
              <a:xfrm>
                <a:off x="1601967" y="3609002"/>
                <a:ext cx="360048" cy="360048"/>
                <a:chOff x="3131808" y="1628760"/>
                <a:chExt cx="360048" cy="360048"/>
              </a:xfrm>
            </p:grpSpPr>
            <p:cxnSp>
              <p:nvCxnSpPr>
                <p:cNvPr id="68" name="直線コネクタ 6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 name="直線コネクタ 6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0" name="直線コネクタ 6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2" name="円/楕円 7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77"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79"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0"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1"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82"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83" name="グループ化 82"/>
            <p:cNvGrpSpPr/>
            <p:nvPr/>
          </p:nvGrpSpPr>
          <p:grpSpPr>
            <a:xfrm>
              <a:off x="5220924" y="5424878"/>
              <a:ext cx="1080010" cy="1170013"/>
              <a:chOff x="1871970" y="2562739"/>
              <a:chExt cx="1890019" cy="2559383"/>
            </a:xfrm>
          </p:grpSpPr>
          <p:grpSp>
            <p:nvGrpSpPr>
              <p:cNvPr id="84" name="グループ化 83"/>
              <p:cNvGrpSpPr/>
              <p:nvPr/>
            </p:nvGrpSpPr>
            <p:grpSpPr>
              <a:xfrm>
                <a:off x="2996967" y="4942097"/>
                <a:ext cx="360048" cy="180025"/>
                <a:chOff x="1736601" y="2511982"/>
                <a:chExt cx="360048" cy="180025"/>
              </a:xfrm>
            </p:grpSpPr>
            <p:cxnSp>
              <p:nvCxnSpPr>
                <p:cNvPr id="104" name="直線コネクタ 10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85" name="グループ化 84"/>
              <p:cNvGrpSpPr/>
              <p:nvPr/>
            </p:nvGrpSpPr>
            <p:grpSpPr>
              <a:xfrm>
                <a:off x="2861981" y="4059007"/>
                <a:ext cx="270036" cy="360048"/>
                <a:chOff x="6282228" y="1988808"/>
                <a:chExt cx="270036" cy="360048"/>
              </a:xfrm>
            </p:grpSpPr>
            <p:cxnSp>
              <p:nvCxnSpPr>
                <p:cNvPr id="100" name="直線コネクタ 9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1" name="直線コネクタ 10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6" name="直線コネクタ 8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8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9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91" name="グループ化 90"/>
              <p:cNvGrpSpPr/>
              <p:nvPr/>
            </p:nvGrpSpPr>
            <p:grpSpPr>
              <a:xfrm>
                <a:off x="2771980" y="2978995"/>
                <a:ext cx="360048" cy="360048"/>
                <a:chOff x="3131808" y="1628760"/>
                <a:chExt cx="360048" cy="360048"/>
              </a:xfrm>
            </p:grpSpPr>
            <p:cxnSp>
              <p:nvCxnSpPr>
                <p:cNvPr id="95" name="直線コネクタ 9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6" name="直線コネクタ 9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7" name="直線コネクタ 9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98" name="直線コネクタ 9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9" name="円/楕円 9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92" name="直線コネクタ 9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94" name="直線コネクタ 9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07" name="グループ化 106"/>
            <p:cNvGrpSpPr/>
            <p:nvPr/>
          </p:nvGrpSpPr>
          <p:grpSpPr>
            <a:xfrm rot="10800000">
              <a:off x="5220924" y="4059365"/>
              <a:ext cx="1080010" cy="1170013"/>
              <a:chOff x="1871970" y="2562739"/>
              <a:chExt cx="1890019" cy="2559383"/>
            </a:xfrm>
          </p:grpSpPr>
          <p:grpSp>
            <p:nvGrpSpPr>
              <p:cNvPr id="108" name="グループ化 107"/>
              <p:cNvGrpSpPr/>
              <p:nvPr/>
            </p:nvGrpSpPr>
            <p:grpSpPr>
              <a:xfrm>
                <a:off x="2996967" y="4942097"/>
                <a:ext cx="360048" cy="180025"/>
                <a:chOff x="1736601" y="2511982"/>
                <a:chExt cx="360048" cy="180025"/>
              </a:xfrm>
            </p:grpSpPr>
            <p:cxnSp>
              <p:nvCxnSpPr>
                <p:cNvPr id="128" name="直線コネクタ 127"/>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 name="直線コネクタ 128"/>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p:cNvGrpSpPr/>
              <p:nvPr/>
            </p:nvGrpSpPr>
            <p:grpSpPr>
              <a:xfrm>
                <a:off x="2861981" y="4059007"/>
                <a:ext cx="270036" cy="360048"/>
                <a:chOff x="6282228" y="1988808"/>
                <a:chExt cx="270036" cy="360048"/>
              </a:xfrm>
            </p:grpSpPr>
            <p:cxnSp>
              <p:nvCxnSpPr>
                <p:cNvPr id="124" name="直線コネクタ 12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6" name="直線コネクタ 12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 name="直線コネクタ 12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10" name="直線コネクタ 10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2" name="直線コネクタ 11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1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15" name="グループ化 114"/>
              <p:cNvGrpSpPr/>
              <p:nvPr/>
            </p:nvGrpSpPr>
            <p:grpSpPr>
              <a:xfrm>
                <a:off x="2771980" y="2978995"/>
                <a:ext cx="360048" cy="360048"/>
                <a:chOff x="3131808" y="1628760"/>
                <a:chExt cx="360048" cy="360048"/>
              </a:xfrm>
            </p:grpSpPr>
            <p:cxnSp>
              <p:nvCxnSpPr>
                <p:cNvPr id="119" name="直線コネクタ 11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0" name="直線コネクタ 11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3" name="円/楕円 12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16" name="直線コネクタ 115"/>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1"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2" name="グループ化 131"/>
            <p:cNvGrpSpPr/>
            <p:nvPr/>
          </p:nvGrpSpPr>
          <p:grpSpPr>
            <a:xfrm rot="5400000">
              <a:off x="4635901" y="5829899"/>
              <a:ext cx="270041" cy="180007"/>
              <a:chOff x="1601967" y="3609002"/>
              <a:chExt cx="540039" cy="360048"/>
            </a:xfrm>
          </p:grpSpPr>
          <p:grpSp>
            <p:nvGrpSpPr>
              <p:cNvPr id="133" name="グループ化 132"/>
              <p:cNvGrpSpPr/>
              <p:nvPr/>
            </p:nvGrpSpPr>
            <p:grpSpPr>
              <a:xfrm rot="10800000">
                <a:off x="1871970" y="3609002"/>
                <a:ext cx="270036" cy="360048"/>
                <a:chOff x="6282228" y="1988808"/>
                <a:chExt cx="270036" cy="360048"/>
              </a:xfrm>
            </p:grpSpPr>
            <p:cxnSp>
              <p:nvCxnSpPr>
                <p:cNvPr id="140" name="直線コネクタ 13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 name="直線コネクタ 14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 name="直線コネクタ 14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4" name="グループ化 133"/>
              <p:cNvGrpSpPr/>
              <p:nvPr/>
            </p:nvGrpSpPr>
            <p:grpSpPr>
              <a:xfrm>
                <a:off x="1601967" y="3609002"/>
                <a:ext cx="360048" cy="360048"/>
                <a:chOff x="3131808" y="1628760"/>
                <a:chExt cx="360048" cy="360048"/>
              </a:xfrm>
            </p:grpSpPr>
            <p:cxnSp>
              <p:nvCxnSpPr>
                <p:cNvPr id="135" name="直線コネクタ 13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 name="直線コネクタ 13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 name="直線コネクタ 13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9" name="円/楕円 13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44" name="グループ化 143"/>
            <p:cNvGrpSpPr/>
            <p:nvPr/>
          </p:nvGrpSpPr>
          <p:grpSpPr>
            <a:xfrm>
              <a:off x="4950921" y="5229378"/>
              <a:ext cx="270041" cy="180007"/>
              <a:chOff x="1601967" y="3609002"/>
              <a:chExt cx="540039" cy="360048"/>
            </a:xfrm>
          </p:grpSpPr>
          <p:grpSp>
            <p:nvGrpSpPr>
              <p:cNvPr id="145" name="グループ化 144"/>
              <p:cNvGrpSpPr/>
              <p:nvPr/>
            </p:nvGrpSpPr>
            <p:grpSpPr>
              <a:xfrm rot="10800000">
                <a:off x="1871970" y="3609002"/>
                <a:ext cx="270036" cy="360048"/>
                <a:chOff x="6282228" y="1988808"/>
                <a:chExt cx="270036" cy="360048"/>
              </a:xfrm>
            </p:grpSpPr>
            <p:cxnSp>
              <p:nvCxnSpPr>
                <p:cNvPr id="152" name="直線コネクタ 15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3" name="直線コネクタ 15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 name="直線コネクタ 15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6" name="グループ化 145"/>
              <p:cNvGrpSpPr/>
              <p:nvPr/>
            </p:nvGrpSpPr>
            <p:grpSpPr>
              <a:xfrm>
                <a:off x="1601967" y="3609002"/>
                <a:ext cx="360048" cy="360048"/>
                <a:chOff x="3131808" y="1628760"/>
                <a:chExt cx="360048" cy="360048"/>
              </a:xfrm>
            </p:grpSpPr>
            <p:cxnSp>
              <p:nvCxnSpPr>
                <p:cNvPr id="147" name="直線コネクタ 14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 name="直線コネクタ 14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1" name="円/楕円 15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56"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7"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58"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9"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60"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62" name="グループ化 161"/>
          <p:cNvGrpSpPr/>
          <p:nvPr/>
        </p:nvGrpSpPr>
        <p:grpSpPr>
          <a:xfrm>
            <a:off x="3935977" y="2888994"/>
            <a:ext cx="2070023" cy="1080012"/>
            <a:chOff x="2250893" y="4059365"/>
            <a:chExt cx="4590049" cy="2535526"/>
          </a:xfrm>
        </p:grpSpPr>
        <p:grpSp>
          <p:nvGrpSpPr>
            <p:cNvPr id="163" name="グループ化 162"/>
            <p:cNvGrpSpPr/>
            <p:nvPr/>
          </p:nvGrpSpPr>
          <p:grpSpPr>
            <a:xfrm>
              <a:off x="3150902" y="5424878"/>
              <a:ext cx="1080010" cy="1170013"/>
              <a:chOff x="1871970" y="2562739"/>
              <a:chExt cx="1890019" cy="2559383"/>
            </a:xfrm>
          </p:grpSpPr>
          <p:grpSp>
            <p:nvGrpSpPr>
              <p:cNvPr id="297" name="グループ化 296"/>
              <p:cNvGrpSpPr/>
              <p:nvPr/>
            </p:nvGrpSpPr>
            <p:grpSpPr>
              <a:xfrm>
                <a:off x="2996967" y="4942097"/>
                <a:ext cx="360048" cy="180025"/>
                <a:chOff x="1736601" y="2511982"/>
                <a:chExt cx="360048" cy="180025"/>
              </a:xfrm>
            </p:grpSpPr>
            <p:cxnSp>
              <p:nvCxnSpPr>
                <p:cNvPr id="317" name="直線コネクタ 316"/>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8" name="直線コネクタ 317"/>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9" name="直線コネクタ 318"/>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98" name="グループ化 297"/>
              <p:cNvGrpSpPr/>
              <p:nvPr/>
            </p:nvGrpSpPr>
            <p:grpSpPr>
              <a:xfrm>
                <a:off x="2861981" y="4059007"/>
                <a:ext cx="270036" cy="360048"/>
                <a:chOff x="6282228" y="1988808"/>
                <a:chExt cx="270036" cy="360048"/>
              </a:xfrm>
            </p:grpSpPr>
            <p:cxnSp>
              <p:nvCxnSpPr>
                <p:cNvPr id="313" name="直線コネクタ 31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4" name="直線コネクタ 31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5" name="直線コネクタ 31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6" name="直線コネクタ 31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9" name="直線コネクタ 298"/>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00" name="直線コネクタ 299"/>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01" name="直線コネクタ 300"/>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302"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3"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304" name="グループ化 303"/>
              <p:cNvGrpSpPr/>
              <p:nvPr/>
            </p:nvGrpSpPr>
            <p:grpSpPr>
              <a:xfrm>
                <a:off x="2771980" y="2978995"/>
                <a:ext cx="360048" cy="360048"/>
                <a:chOff x="3131808" y="1628760"/>
                <a:chExt cx="360048" cy="360048"/>
              </a:xfrm>
            </p:grpSpPr>
            <p:cxnSp>
              <p:nvCxnSpPr>
                <p:cNvPr id="308" name="直線コネクタ 30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09" name="直線コネクタ 30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0" name="直線コネクタ 30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311" name="直線コネクタ 31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12" name="円/楕円 31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305" name="直線コネクタ 304"/>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306" name="直線コネクタ 305"/>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07" name="直線コネクタ 306"/>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64" name="グループ化 163"/>
            <p:cNvGrpSpPr/>
            <p:nvPr/>
          </p:nvGrpSpPr>
          <p:grpSpPr>
            <a:xfrm rot="10800000">
              <a:off x="3150902" y="4059365"/>
              <a:ext cx="1080010" cy="1170013"/>
              <a:chOff x="1871970" y="2562739"/>
              <a:chExt cx="1890019" cy="2559383"/>
            </a:xfrm>
          </p:grpSpPr>
          <p:grpSp>
            <p:nvGrpSpPr>
              <p:cNvPr id="274" name="グループ化 273"/>
              <p:cNvGrpSpPr/>
              <p:nvPr/>
            </p:nvGrpSpPr>
            <p:grpSpPr>
              <a:xfrm>
                <a:off x="2996967" y="4942097"/>
                <a:ext cx="360048" cy="180025"/>
                <a:chOff x="1736601" y="2511982"/>
                <a:chExt cx="360048" cy="180025"/>
              </a:xfrm>
            </p:grpSpPr>
            <p:cxnSp>
              <p:nvCxnSpPr>
                <p:cNvPr id="294" name="直線コネクタ 29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5" name="直線コネクタ 29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6" name="直線コネクタ 29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75" name="グループ化 274"/>
              <p:cNvGrpSpPr/>
              <p:nvPr/>
            </p:nvGrpSpPr>
            <p:grpSpPr>
              <a:xfrm>
                <a:off x="2861981" y="4059007"/>
                <a:ext cx="270036" cy="360048"/>
                <a:chOff x="6282228" y="1988808"/>
                <a:chExt cx="270036" cy="360048"/>
              </a:xfrm>
            </p:grpSpPr>
            <p:cxnSp>
              <p:nvCxnSpPr>
                <p:cNvPr id="290" name="直線コネクタ 28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1" name="直線コネクタ 29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2" name="直線コネクタ 29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3" name="直線コネクタ 29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76" name="直線コネクタ 27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77" name="直線コネクタ 27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78" name="直線コネクタ 27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7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81" name="グループ化 280"/>
              <p:cNvGrpSpPr/>
              <p:nvPr/>
            </p:nvGrpSpPr>
            <p:grpSpPr>
              <a:xfrm>
                <a:off x="2771980" y="2978995"/>
                <a:ext cx="360048" cy="360048"/>
                <a:chOff x="3131808" y="1628760"/>
                <a:chExt cx="360048" cy="360048"/>
              </a:xfrm>
            </p:grpSpPr>
            <p:cxnSp>
              <p:nvCxnSpPr>
                <p:cNvPr id="285" name="直線コネクタ 28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6" name="直線コネクタ 28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7" name="直線コネクタ 28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8" name="直線コネクタ 28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9" name="円/楕円 28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82" name="直線コネクタ 28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83" name="直線コネクタ 28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84" name="直線コネクタ 28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65"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66" name="グループ化 165"/>
            <p:cNvGrpSpPr/>
            <p:nvPr/>
          </p:nvGrpSpPr>
          <p:grpSpPr>
            <a:xfrm rot="5400000">
              <a:off x="2565879" y="5829899"/>
              <a:ext cx="270041" cy="180007"/>
              <a:chOff x="1601967" y="3609002"/>
              <a:chExt cx="540039" cy="360048"/>
            </a:xfrm>
          </p:grpSpPr>
          <p:grpSp>
            <p:nvGrpSpPr>
              <p:cNvPr id="263" name="グループ化 262"/>
              <p:cNvGrpSpPr/>
              <p:nvPr/>
            </p:nvGrpSpPr>
            <p:grpSpPr>
              <a:xfrm rot="10800000">
                <a:off x="1871970" y="3609002"/>
                <a:ext cx="270036" cy="360048"/>
                <a:chOff x="6282228" y="1988808"/>
                <a:chExt cx="270036" cy="360048"/>
              </a:xfrm>
            </p:grpSpPr>
            <p:cxnSp>
              <p:nvCxnSpPr>
                <p:cNvPr id="270" name="直線コネクタ 26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1" name="直線コネクタ 27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2" name="直線コネクタ 27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3" name="直線コネクタ 27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64" name="グループ化 263"/>
              <p:cNvGrpSpPr/>
              <p:nvPr/>
            </p:nvGrpSpPr>
            <p:grpSpPr>
              <a:xfrm>
                <a:off x="1601967" y="3609002"/>
                <a:ext cx="360048" cy="360048"/>
                <a:chOff x="3131808" y="1628760"/>
                <a:chExt cx="360048" cy="360048"/>
              </a:xfrm>
            </p:grpSpPr>
            <p:cxnSp>
              <p:nvCxnSpPr>
                <p:cNvPr id="265" name="直線コネクタ 26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6" name="直線コネクタ 26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7" name="直線コネクタ 26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8" name="直線コネクタ 26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69" name="円/楕円 26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67" name="グループ化 166"/>
            <p:cNvGrpSpPr/>
            <p:nvPr/>
          </p:nvGrpSpPr>
          <p:grpSpPr>
            <a:xfrm>
              <a:off x="2880899" y="5229378"/>
              <a:ext cx="270041" cy="180007"/>
              <a:chOff x="1601967" y="3609002"/>
              <a:chExt cx="540039" cy="360048"/>
            </a:xfrm>
          </p:grpSpPr>
          <p:grpSp>
            <p:nvGrpSpPr>
              <p:cNvPr id="252" name="グループ化 251"/>
              <p:cNvGrpSpPr/>
              <p:nvPr/>
            </p:nvGrpSpPr>
            <p:grpSpPr>
              <a:xfrm rot="10800000">
                <a:off x="1871970" y="3609002"/>
                <a:ext cx="270036" cy="360048"/>
                <a:chOff x="6282228" y="1988808"/>
                <a:chExt cx="270036" cy="360048"/>
              </a:xfrm>
            </p:grpSpPr>
            <p:cxnSp>
              <p:nvCxnSpPr>
                <p:cNvPr id="259" name="直線コネクタ 25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0" name="直線コネクタ 25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1" name="直線コネクタ 26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2" name="直線コネクタ 26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53" name="グループ化 252"/>
              <p:cNvGrpSpPr/>
              <p:nvPr/>
            </p:nvGrpSpPr>
            <p:grpSpPr>
              <a:xfrm>
                <a:off x="1601967" y="3609002"/>
                <a:ext cx="360048" cy="360048"/>
                <a:chOff x="3131808" y="1628760"/>
                <a:chExt cx="360048" cy="360048"/>
              </a:xfrm>
            </p:grpSpPr>
            <p:cxnSp>
              <p:nvCxnSpPr>
                <p:cNvPr id="254" name="直線コネクタ 25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5" name="直線コネクタ 25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6" name="直線コネクタ 25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7" name="直線コネクタ 25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8" name="円/楕円 25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68"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69"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70"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1"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2"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73"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74" name="グループ化 173"/>
            <p:cNvGrpSpPr/>
            <p:nvPr/>
          </p:nvGrpSpPr>
          <p:grpSpPr>
            <a:xfrm>
              <a:off x="5220924" y="5424878"/>
              <a:ext cx="1080010" cy="1170013"/>
              <a:chOff x="1871970" y="2562739"/>
              <a:chExt cx="1890019" cy="2559383"/>
            </a:xfrm>
          </p:grpSpPr>
          <p:grpSp>
            <p:nvGrpSpPr>
              <p:cNvPr id="229" name="グループ化 228"/>
              <p:cNvGrpSpPr/>
              <p:nvPr/>
            </p:nvGrpSpPr>
            <p:grpSpPr>
              <a:xfrm>
                <a:off x="2996967" y="4942097"/>
                <a:ext cx="360048" cy="180025"/>
                <a:chOff x="1736601" y="2511982"/>
                <a:chExt cx="360048" cy="180025"/>
              </a:xfrm>
            </p:grpSpPr>
            <p:cxnSp>
              <p:nvCxnSpPr>
                <p:cNvPr id="249" name="直線コネクタ 24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0" name="直線コネクタ 24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1" name="直線コネクタ 25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30" name="グループ化 229"/>
              <p:cNvGrpSpPr/>
              <p:nvPr/>
            </p:nvGrpSpPr>
            <p:grpSpPr>
              <a:xfrm>
                <a:off x="2861981" y="4059007"/>
                <a:ext cx="270036" cy="360048"/>
                <a:chOff x="6282228" y="1988808"/>
                <a:chExt cx="270036" cy="360048"/>
              </a:xfrm>
            </p:grpSpPr>
            <p:cxnSp>
              <p:nvCxnSpPr>
                <p:cNvPr id="245" name="直線コネクタ 24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6" name="直線コネクタ 24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7" name="直線コネクタ 24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8" name="直線コネクタ 24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1" name="直線コネクタ 23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2" name="直線コネクタ 23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3" name="直線コネクタ 23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3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3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6" name="グループ化 235"/>
              <p:cNvGrpSpPr/>
              <p:nvPr/>
            </p:nvGrpSpPr>
            <p:grpSpPr>
              <a:xfrm>
                <a:off x="2771980" y="2978995"/>
                <a:ext cx="360048" cy="360048"/>
                <a:chOff x="3131808" y="1628760"/>
                <a:chExt cx="360048" cy="360048"/>
              </a:xfrm>
            </p:grpSpPr>
            <p:cxnSp>
              <p:nvCxnSpPr>
                <p:cNvPr id="240" name="直線コネクタ 23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1" name="直線コネクタ 24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2" name="直線コネクタ 24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3" name="直線コネクタ 24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44" name="円/楕円 24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37" name="直線コネクタ 23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8" name="直線コネクタ 23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9" name="直線コネクタ 23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75" name="グループ化 174"/>
            <p:cNvGrpSpPr/>
            <p:nvPr/>
          </p:nvGrpSpPr>
          <p:grpSpPr>
            <a:xfrm rot="10800000">
              <a:off x="5220924" y="4059365"/>
              <a:ext cx="1080010" cy="1170013"/>
              <a:chOff x="1871970" y="2562739"/>
              <a:chExt cx="1890019" cy="2559383"/>
            </a:xfrm>
          </p:grpSpPr>
          <p:grpSp>
            <p:nvGrpSpPr>
              <p:cNvPr id="206" name="グループ化 205"/>
              <p:cNvGrpSpPr/>
              <p:nvPr/>
            </p:nvGrpSpPr>
            <p:grpSpPr>
              <a:xfrm>
                <a:off x="2996967" y="4942097"/>
                <a:ext cx="360048" cy="180025"/>
                <a:chOff x="1736601" y="2511982"/>
                <a:chExt cx="360048" cy="180025"/>
              </a:xfrm>
            </p:grpSpPr>
            <p:cxnSp>
              <p:nvCxnSpPr>
                <p:cNvPr id="226" name="直線コネクタ 22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7" name="直線コネクタ 22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8" name="直線コネクタ 22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207" name="グループ化 206"/>
              <p:cNvGrpSpPr/>
              <p:nvPr/>
            </p:nvGrpSpPr>
            <p:grpSpPr>
              <a:xfrm>
                <a:off x="2861981" y="4059007"/>
                <a:ext cx="270036" cy="360048"/>
                <a:chOff x="6282228" y="1988808"/>
                <a:chExt cx="270036" cy="360048"/>
              </a:xfrm>
            </p:grpSpPr>
            <p:cxnSp>
              <p:nvCxnSpPr>
                <p:cNvPr id="222" name="直線コネクタ 22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3" name="直線コネクタ 22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4" name="直線コネクタ 22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5" name="直線コネクタ 22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08" name="直線コネクタ 20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09" name="直線コネクタ 20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0" name="直線コネクタ 20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21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13" name="グループ化 212"/>
              <p:cNvGrpSpPr/>
              <p:nvPr/>
            </p:nvGrpSpPr>
            <p:grpSpPr>
              <a:xfrm>
                <a:off x="2771980" y="2978995"/>
                <a:ext cx="360048" cy="360048"/>
                <a:chOff x="3131808" y="1628760"/>
                <a:chExt cx="360048" cy="360048"/>
              </a:xfrm>
            </p:grpSpPr>
            <p:cxnSp>
              <p:nvCxnSpPr>
                <p:cNvPr id="217" name="直線コネクタ 21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8" name="直線コネクタ 21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9" name="直線コネクタ 21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0" name="直線コネクタ 21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1" name="円/楕円 22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14" name="直線コネクタ 21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5" name="直線コネクタ 21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6" name="直線コネクタ 21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76"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77" name="グループ化 176"/>
            <p:cNvGrpSpPr/>
            <p:nvPr/>
          </p:nvGrpSpPr>
          <p:grpSpPr>
            <a:xfrm rot="5400000">
              <a:off x="4635901" y="5829899"/>
              <a:ext cx="270041" cy="180007"/>
              <a:chOff x="1601967" y="3609002"/>
              <a:chExt cx="540039" cy="360048"/>
            </a:xfrm>
          </p:grpSpPr>
          <p:grpSp>
            <p:nvGrpSpPr>
              <p:cNvPr id="195" name="グループ化 194"/>
              <p:cNvGrpSpPr/>
              <p:nvPr/>
            </p:nvGrpSpPr>
            <p:grpSpPr>
              <a:xfrm rot="10800000">
                <a:off x="1871970" y="3609002"/>
                <a:ext cx="270036" cy="360048"/>
                <a:chOff x="6282228" y="1988808"/>
                <a:chExt cx="270036" cy="360048"/>
              </a:xfrm>
            </p:grpSpPr>
            <p:cxnSp>
              <p:nvCxnSpPr>
                <p:cNvPr id="202" name="直線コネクタ 20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96" name="グループ化 195"/>
              <p:cNvGrpSpPr/>
              <p:nvPr/>
            </p:nvGrpSpPr>
            <p:grpSpPr>
              <a:xfrm>
                <a:off x="1601967" y="3609002"/>
                <a:ext cx="360048" cy="360048"/>
                <a:chOff x="3131808" y="1628760"/>
                <a:chExt cx="360048" cy="360048"/>
              </a:xfrm>
            </p:grpSpPr>
            <p:cxnSp>
              <p:nvCxnSpPr>
                <p:cNvPr id="197" name="直線コネクタ 19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8" name="直線コネクタ 19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01" name="円/楕円 20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78" name="グループ化 177"/>
            <p:cNvGrpSpPr/>
            <p:nvPr/>
          </p:nvGrpSpPr>
          <p:grpSpPr>
            <a:xfrm>
              <a:off x="4950921" y="5229378"/>
              <a:ext cx="270041" cy="180007"/>
              <a:chOff x="1601967" y="3609002"/>
              <a:chExt cx="540039" cy="360048"/>
            </a:xfrm>
          </p:grpSpPr>
          <p:grpSp>
            <p:nvGrpSpPr>
              <p:cNvPr id="184" name="グループ化 183"/>
              <p:cNvGrpSpPr/>
              <p:nvPr/>
            </p:nvGrpSpPr>
            <p:grpSpPr>
              <a:xfrm rot="10800000">
                <a:off x="1871970" y="3609002"/>
                <a:ext cx="270036" cy="360048"/>
                <a:chOff x="6282228" y="1988808"/>
                <a:chExt cx="270036" cy="360048"/>
              </a:xfrm>
            </p:grpSpPr>
            <p:cxnSp>
              <p:nvCxnSpPr>
                <p:cNvPr id="191" name="直線コネクタ 19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3" name="直線コネクタ 19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4" name="直線コネクタ 19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5" name="グループ化 184"/>
              <p:cNvGrpSpPr/>
              <p:nvPr/>
            </p:nvGrpSpPr>
            <p:grpSpPr>
              <a:xfrm>
                <a:off x="1601967" y="3609002"/>
                <a:ext cx="360048" cy="360048"/>
                <a:chOff x="3131808" y="1628760"/>
                <a:chExt cx="360048" cy="360048"/>
              </a:xfrm>
            </p:grpSpPr>
            <p:cxnSp>
              <p:nvCxnSpPr>
                <p:cNvPr id="186" name="直線コネクタ 18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9" name="直線コネクタ 18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90" name="円/楕円 18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79"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0"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81"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2"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83"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698" name="グループ化 697"/>
          <p:cNvGrpSpPr/>
          <p:nvPr/>
        </p:nvGrpSpPr>
        <p:grpSpPr>
          <a:xfrm>
            <a:off x="5735997" y="2618993"/>
            <a:ext cx="1276461" cy="680039"/>
            <a:chOff x="4034971" y="2618993"/>
            <a:chExt cx="2838485" cy="1445042"/>
          </a:xfrm>
        </p:grpSpPr>
        <p:grpSp>
          <p:nvGrpSpPr>
            <p:cNvPr id="636" name="グループ化 635"/>
            <p:cNvGrpSpPr/>
            <p:nvPr/>
          </p:nvGrpSpPr>
          <p:grpSpPr>
            <a:xfrm>
              <a:off x="5112005" y="2618993"/>
              <a:ext cx="1761451" cy="1445042"/>
              <a:chOff x="2361128" y="5229020"/>
              <a:chExt cx="1040859" cy="765039"/>
            </a:xfrm>
          </p:grpSpPr>
          <p:grpSp>
            <p:nvGrpSpPr>
              <p:cNvPr id="637" name="グループ化 636"/>
              <p:cNvGrpSpPr/>
              <p:nvPr/>
            </p:nvGrpSpPr>
            <p:grpSpPr>
              <a:xfrm rot="16200000">
                <a:off x="2929470" y="5791540"/>
                <a:ext cx="225031" cy="180007"/>
                <a:chOff x="1691979" y="3609002"/>
                <a:chExt cx="450027" cy="360048"/>
              </a:xfrm>
            </p:grpSpPr>
            <p:grpSp>
              <p:nvGrpSpPr>
                <p:cNvPr id="657" name="グループ化 656"/>
                <p:cNvGrpSpPr/>
                <p:nvPr/>
              </p:nvGrpSpPr>
              <p:grpSpPr>
                <a:xfrm rot="10800000">
                  <a:off x="1871970" y="3609002"/>
                  <a:ext cx="270036" cy="360048"/>
                  <a:chOff x="6282228" y="1988808"/>
                  <a:chExt cx="270036" cy="360048"/>
                </a:xfrm>
              </p:grpSpPr>
              <p:cxnSp>
                <p:nvCxnSpPr>
                  <p:cNvPr id="664" name="直線コネクタ 66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5" name="直線コネクタ 66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6" name="直線コネクタ 66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7" name="直線コネクタ 66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58" name="グループ化 657"/>
                <p:cNvGrpSpPr/>
                <p:nvPr/>
              </p:nvGrpSpPr>
              <p:grpSpPr>
                <a:xfrm>
                  <a:off x="1691979" y="3609002"/>
                  <a:ext cx="270036" cy="360048"/>
                  <a:chOff x="3221820" y="1628760"/>
                  <a:chExt cx="270036" cy="360048"/>
                </a:xfrm>
              </p:grpSpPr>
              <p:cxnSp>
                <p:nvCxnSpPr>
                  <p:cNvPr id="659" name="直線コネクタ 65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0" name="直線コネクタ 65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1" name="直線コネクタ 66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62" name="直線コネクタ 66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grpSp>
            <p:nvGrpSpPr>
              <p:cNvPr id="638" name="グループ化 637"/>
              <p:cNvGrpSpPr/>
              <p:nvPr/>
            </p:nvGrpSpPr>
            <p:grpSpPr>
              <a:xfrm rot="5400000">
                <a:off x="2906965" y="5274037"/>
                <a:ext cx="270041" cy="180007"/>
                <a:chOff x="1601967" y="3609002"/>
                <a:chExt cx="540039" cy="360048"/>
              </a:xfrm>
            </p:grpSpPr>
            <p:grpSp>
              <p:nvGrpSpPr>
                <p:cNvPr id="646" name="グループ化 645"/>
                <p:cNvGrpSpPr/>
                <p:nvPr/>
              </p:nvGrpSpPr>
              <p:grpSpPr>
                <a:xfrm rot="10800000">
                  <a:off x="1871970" y="3609002"/>
                  <a:ext cx="270036" cy="360048"/>
                  <a:chOff x="6282228" y="1988808"/>
                  <a:chExt cx="270036" cy="360048"/>
                </a:xfrm>
              </p:grpSpPr>
              <p:cxnSp>
                <p:nvCxnSpPr>
                  <p:cNvPr id="653" name="直線コネクタ 652"/>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4" name="直線コネクタ 653"/>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5" name="直線コネクタ 654"/>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6" name="直線コネクタ 655"/>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47" name="グループ化 646"/>
                <p:cNvGrpSpPr/>
                <p:nvPr/>
              </p:nvGrpSpPr>
              <p:grpSpPr>
                <a:xfrm>
                  <a:off x="1601967" y="3609002"/>
                  <a:ext cx="360048" cy="360048"/>
                  <a:chOff x="3131808" y="1628760"/>
                  <a:chExt cx="360048" cy="360048"/>
                </a:xfrm>
              </p:grpSpPr>
              <p:cxnSp>
                <p:nvCxnSpPr>
                  <p:cNvPr id="648" name="直線コネクタ 647"/>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49" name="直線コネクタ 648"/>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0" name="直線コネクタ 649"/>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51" name="直線コネクタ 650"/>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52" name="円/楕円 651"/>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639"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0"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1"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2"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643"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45"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sm" len="sm"/>
              </a:ln>
              <a:effectLst/>
            </p:spPr>
            <p:txBody>
              <a:bodyPr wrap="none" lIns="90000" tIns="46800" rIns="90000" bIns="46800" anchor="ctr"/>
              <a:lstStyle/>
              <a:p>
                <a:endParaRPr lang="ja-JP" altLang="en-US"/>
              </a:p>
            </p:txBody>
          </p:sp>
        </p:grpSp>
        <p:grpSp>
          <p:nvGrpSpPr>
            <p:cNvPr id="668" name="グループ化 667"/>
            <p:cNvGrpSpPr/>
            <p:nvPr/>
          </p:nvGrpSpPr>
          <p:grpSpPr>
            <a:xfrm>
              <a:off x="4034971" y="2850249"/>
              <a:ext cx="1080010" cy="1170013"/>
              <a:chOff x="1871970" y="2562739"/>
              <a:chExt cx="1890019" cy="2559383"/>
            </a:xfrm>
          </p:grpSpPr>
          <p:grpSp>
            <p:nvGrpSpPr>
              <p:cNvPr id="669" name="グループ化 668"/>
              <p:cNvGrpSpPr/>
              <p:nvPr/>
            </p:nvGrpSpPr>
            <p:grpSpPr>
              <a:xfrm>
                <a:off x="2996967" y="4942097"/>
                <a:ext cx="360048" cy="180025"/>
                <a:chOff x="1736601" y="2511982"/>
                <a:chExt cx="360048" cy="180025"/>
              </a:xfrm>
            </p:grpSpPr>
            <p:cxnSp>
              <p:nvCxnSpPr>
                <p:cNvPr id="689" name="直線コネクタ 68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0" name="直線コネクタ 68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91" name="直線コネクタ 69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670" name="グループ化 669"/>
              <p:cNvGrpSpPr/>
              <p:nvPr/>
            </p:nvGrpSpPr>
            <p:grpSpPr>
              <a:xfrm>
                <a:off x="2861981" y="4059007"/>
                <a:ext cx="270036" cy="360048"/>
                <a:chOff x="6282228" y="1988808"/>
                <a:chExt cx="270036" cy="360048"/>
              </a:xfrm>
            </p:grpSpPr>
            <p:cxnSp>
              <p:nvCxnSpPr>
                <p:cNvPr id="685" name="直線コネクタ 68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6" name="直線コネクタ 68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7" name="直線コネクタ 68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8" name="直線コネクタ 68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71" name="直線コネクタ 67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72" name="直線コネクタ 67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73" name="直線コネクタ 67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67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67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676" name="グループ化 675"/>
              <p:cNvGrpSpPr/>
              <p:nvPr/>
            </p:nvGrpSpPr>
            <p:grpSpPr>
              <a:xfrm>
                <a:off x="2771980" y="2978995"/>
                <a:ext cx="360048" cy="360048"/>
                <a:chOff x="3131808" y="1628760"/>
                <a:chExt cx="360048" cy="360048"/>
              </a:xfrm>
            </p:grpSpPr>
            <p:cxnSp>
              <p:nvCxnSpPr>
                <p:cNvPr id="680" name="直線コネクタ 67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1" name="直線コネクタ 68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2" name="直線コネクタ 68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83" name="直線コネクタ 68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84" name="円/楕円 68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677" name="直線コネクタ 67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78" name="直線コネクタ 67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79" name="直線コネクタ 67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grpSp>
        <p:nvGrpSpPr>
          <p:cNvPr id="756" name="グループ化 755"/>
          <p:cNvGrpSpPr/>
          <p:nvPr/>
        </p:nvGrpSpPr>
        <p:grpSpPr>
          <a:xfrm>
            <a:off x="6636006" y="3879006"/>
            <a:ext cx="1618042" cy="680039"/>
            <a:chOff x="4034971" y="2618993"/>
            <a:chExt cx="3598064" cy="1445042"/>
          </a:xfrm>
        </p:grpSpPr>
        <p:grpSp>
          <p:nvGrpSpPr>
            <p:cNvPr id="757" name="グループ化 756"/>
            <p:cNvGrpSpPr/>
            <p:nvPr/>
          </p:nvGrpSpPr>
          <p:grpSpPr>
            <a:xfrm>
              <a:off x="5112006" y="2618993"/>
              <a:ext cx="2521029" cy="1445042"/>
              <a:chOff x="2361128" y="5229020"/>
              <a:chExt cx="1489701" cy="765039"/>
            </a:xfrm>
          </p:grpSpPr>
          <p:grpSp>
            <p:nvGrpSpPr>
              <p:cNvPr id="782" name="グループ化 781"/>
              <p:cNvGrpSpPr/>
              <p:nvPr/>
            </p:nvGrpSpPr>
            <p:grpSpPr>
              <a:xfrm rot="16200000">
                <a:off x="2912596" y="5774663"/>
                <a:ext cx="258785" cy="180007"/>
                <a:chOff x="1691979" y="3609002"/>
                <a:chExt cx="517530" cy="360048"/>
              </a:xfrm>
            </p:grpSpPr>
            <p:grpSp>
              <p:nvGrpSpPr>
                <p:cNvPr id="802" name="グループ化 801"/>
                <p:cNvGrpSpPr/>
                <p:nvPr/>
              </p:nvGrpSpPr>
              <p:grpSpPr>
                <a:xfrm rot="10800000">
                  <a:off x="1871970" y="3609002"/>
                  <a:ext cx="270036" cy="360048"/>
                  <a:chOff x="6282228" y="1988808"/>
                  <a:chExt cx="270036" cy="360048"/>
                </a:xfrm>
              </p:grpSpPr>
              <p:cxnSp>
                <p:nvCxnSpPr>
                  <p:cNvPr id="809" name="直線コネクタ 80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0" name="直線コネクタ 80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1" name="直線コネクタ 81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12" name="直線コネクタ 81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803" name="グループ化 802"/>
                <p:cNvGrpSpPr/>
                <p:nvPr/>
              </p:nvGrpSpPr>
              <p:grpSpPr>
                <a:xfrm>
                  <a:off x="1691979" y="3609002"/>
                  <a:ext cx="517530" cy="360048"/>
                  <a:chOff x="3221820" y="1628760"/>
                  <a:chExt cx="517530" cy="360048"/>
                </a:xfrm>
              </p:grpSpPr>
              <p:cxnSp>
                <p:nvCxnSpPr>
                  <p:cNvPr id="804" name="直線コネクタ 80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5" name="直線コネクタ 80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6" name="直線コネクタ 80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7" name="直線コネクタ 80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808" name="円/楕円 807"/>
                  <p:cNvSpPr/>
                  <p:nvPr/>
                </p:nvSpPr>
                <p:spPr>
                  <a:xfrm>
                    <a:off x="3649338" y="1763771"/>
                    <a:ext cx="90012" cy="90013"/>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783" name="グループ化 782"/>
              <p:cNvGrpSpPr/>
              <p:nvPr/>
            </p:nvGrpSpPr>
            <p:grpSpPr>
              <a:xfrm rot="5400000">
                <a:off x="2906965" y="5274037"/>
                <a:ext cx="270041" cy="180007"/>
                <a:chOff x="1601967" y="3609002"/>
                <a:chExt cx="540039" cy="360048"/>
              </a:xfrm>
            </p:grpSpPr>
            <p:grpSp>
              <p:nvGrpSpPr>
                <p:cNvPr id="791" name="グループ化 790"/>
                <p:cNvGrpSpPr/>
                <p:nvPr/>
              </p:nvGrpSpPr>
              <p:grpSpPr>
                <a:xfrm rot="10800000">
                  <a:off x="1871970" y="3609002"/>
                  <a:ext cx="270036" cy="360048"/>
                  <a:chOff x="6282228" y="1988808"/>
                  <a:chExt cx="270036" cy="360048"/>
                </a:xfrm>
              </p:grpSpPr>
              <p:cxnSp>
                <p:nvCxnSpPr>
                  <p:cNvPr id="798" name="直線コネクタ 79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9" name="直線コネクタ 79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0" name="直線コネクタ 79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01" name="直線コネクタ 80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92" name="グループ化 791"/>
                <p:cNvGrpSpPr/>
                <p:nvPr/>
              </p:nvGrpSpPr>
              <p:grpSpPr>
                <a:xfrm>
                  <a:off x="1601967" y="3609002"/>
                  <a:ext cx="360048" cy="360048"/>
                  <a:chOff x="3131808" y="1628760"/>
                  <a:chExt cx="360048" cy="360048"/>
                </a:xfrm>
              </p:grpSpPr>
              <p:cxnSp>
                <p:nvCxnSpPr>
                  <p:cNvPr id="793" name="直線コネクタ 79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4" name="直線コネクタ 79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5" name="直線コネクタ 79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6" name="直線コネクタ 79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97" name="円/楕円 79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784"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5"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6"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7"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788"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9" name="Line 9"/>
              <p:cNvSpPr>
                <a:spLocks noChangeShapeType="1"/>
              </p:cNvSpPr>
              <p:nvPr/>
            </p:nvSpPr>
            <p:spPr bwMode="auto">
              <a:xfrm>
                <a:off x="3400824" y="5625038"/>
                <a:ext cx="450005" cy="0"/>
              </a:xfrm>
              <a:prstGeom prst="line">
                <a:avLst/>
              </a:prstGeom>
              <a:noFill/>
              <a:ln w="9525">
                <a:solidFill>
                  <a:schemeClr val="tx1"/>
                </a:solidFill>
                <a:round/>
                <a:headEnd type="oval"/>
                <a:tailEnd type="triangle" w="med" len="lg"/>
              </a:ln>
              <a:effectLst/>
            </p:spPr>
            <p:txBody>
              <a:bodyPr wrap="none" lIns="90000" tIns="46800" rIns="90000" bIns="46800" anchor="ctr"/>
              <a:lstStyle/>
              <a:p>
                <a:endParaRPr lang="ja-JP" altLang="en-US" sz="1200"/>
              </a:p>
            </p:txBody>
          </p:sp>
          <p:sp>
            <p:nvSpPr>
              <p:cNvPr id="790"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med" len="med"/>
              </a:ln>
              <a:effectLst/>
            </p:spPr>
            <p:txBody>
              <a:bodyPr wrap="none" lIns="90000" tIns="46800" rIns="90000" bIns="46800" anchor="ctr"/>
              <a:lstStyle/>
              <a:p>
                <a:endParaRPr lang="ja-JP" altLang="en-US"/>
              </a:p>
            </p:txBody>
          </p:sp>
        </p:grpSp>
        <p:grpSp>
          <p:nvGrpSpPr>
            <p:cNvPr id="758" name="グループ化 757"/>
            <p:cNvGrpSpPr/>
            <p:nvPr/>
          </p:nvGrpSpPr>
          <p:grpSpPr>
            <a:xfrm>
              <a:off x="4034971" y="2850249"/>
              <a:ext cx="1080010" cy="1170013"/>
              <a:chOff x="1871970" y="2562739"/>
              <a:chExt cx="1890019" cy="2559383"/>
            </a:xfrm>
          </p:grpSpPr>
          <p:grpSp>
            <p:nvGrpSpPr>
              <p:cNvPr id="759" name="グループ化 758"/>
              <p:cNvGrpSpPr/>
              <p:nvPr/>
            </p:nvGrpSpPr>
            <p:grpSpPr>
              <a:xfrm>
                <a:off x="2996967" y="4942097"/>
                <a:ext cx="360048" cy="180025"/>
                <a:chOff x="1736601" y="2511982"/>
                <a:chExt cx="360048" cy="180025"/>
              </a:xfrm>
            </p:grpSpPr>
            <p:cxnSp>
              <p:nvCxnSpPr>
                <p:cNvPr id="779" name="直線コネクタ 778"/>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0" name="直線コネクタ 779"/>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1" name="直線コネクタ 780"/>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760" name="グループ化 759"/>
              <p:cNvGrpSpPr/>
              <p:nvPr/>
            </p:nvGrpSpPr>
            <p:grpSpPr>
              <a:xfrm>
                <a:off x="2861981" y="4059007"/>
                <a:ext cx="270036" cy="360048"/>
                <a:chOff x="6282228" y="1988808"/>
                <a:chExt cx="270036" cy="360048"/>
              </a:xfrm>
            </p:grpSpPr>
            <p:cxnSp>
              <p:nvCxnSpPr>
                <p:cNvPr id="775" name="直線コネクタ 774"/>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6" name="直線コネクタ 775"/>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7" name="直線コネクタ 776"/>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8" name="直線コネクタ 777"/>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61" name="直線コネクタ 760"/>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762" name="直線コネクタ 761"/>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63" name="直線コネクタ 762"/>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764"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65"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766" name="グループ化 765"/>
              <p:cNvGrpSpPr/>
              <p:nvPr/>
            </p:nvGrpSpPr>
            <p:grpSpPr>
              <a:xfrm>
                <a:off x="2771980" y="2978995"/>
                <a:ext cx="360048" cy="360048"/>
                <a:chOff x="3131808" y="1628760"/>
                <a:chExt cx="360048" cy="360048"/>
              </a:xfrm>
            </p:grpSpPr>
            <p:cxnSp>
              <p:nvCxnSpPr>
                <p:cNvPr id="770" name="直線コネクタ 769"/>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1" name="直線コネクタ 770"/>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2" name="直線コネクタ 771"/>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73" name="直線コネクタ 772"/>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774" name="円/楕円 773"/>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767" name="直線コネクタ 766"/>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768" name="直線コネクタ 767"/>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69" name="直線コネクタ 768"/>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sp>
        <p:nvSpPr>
          <p:cNvPr id="814" name="Freeform 10"/>
          <p:cNvSpPr>
            <a:spLocks/>
          </p:cNvSpPr>
          <p:nvPr/>
        </p:nvSpPr>
        <p:spPr bwMode="auto">
          <a:xfrm rot="5400000" flipV="1">
            <a:off x="6015004" y="2339987"/>
            <a:ext cx="432000"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15" name="Freeform 10"/>
          <p:cNvSpPr>
            <a:spLocks/>
          </p:cNvSpPr>
          <p:nvPr/>
        </p:nvSpPr>
        <p:spPr bwMode="auto">
          <a:xfrm rot="5400000" flipH="1" flipV="1">
            <a:off x="5979004" y="3214002"/>
            <a:ext cx="504000" cy="45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grpSp>
        <p:nvGrpSpPr>
          <p:cNvPr id="1191" name="グループ化 1190"/>
          <p:cNvGrpSpPr/>
          <p:nvPr/>
        </p:nvGrpSpPr>
        <p:grpSpPr>
          <a:xfrm>
            <a:off x="3935977" y="4149008"/>
            <a:ext cx="2070023" cy="1080012"/>
            <a:chOff x="2250893" y="4059365"/>
            <a:chExt cx="4590049" cy="2535526"/>
          </a:xfrm>
        </p:grpSpPr>
        <p:grpSp>
          <p:nvGrpSpPr>
            <p:cNvPr id="1192" name="グループ化 1191"/>
            <p:cNvGrpSpPr/>
            <p:nvPr/>
          </p:nvGrpSpPr>
          <p:grpSpPr>
            <a:xfrm>
              <a:off x="3150902" y="5424878"/>
              <a:ext cx="1080010" cy="1170013"/>
              <a:chOff x="1871970" y="2562739"/>
              <a:chExt cx="1890019" cy="2559383"/>
            </a:xfrm>
          </p:grpSpPr>
          <p:grpSp>
            <p:nvGrpSpPr>
              <p:cNvPr id="1326" name="グループ化 1325"/>
              <p:cNvGrpSpPr/>
              <p:nvPr/>
            </p:nvGrpSpPr>
            <p:grpSpPr>
              <a:xfrm>
                <a:off x="2996967" y="4942097"/>
                <a:ext cx="360048" cy="180025"/>
                <a:chOff x="1736601" y="2511982"/>
                <a:chExt cx="360048" cy="180025"/>
              </a:xfrm>
            </p:grpSpPr>
            <p:cxnSp>
              <p:nvCxnSpPr>
                <p:cNvPr id="1346" name="直線コネクタ 134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7" name="直線コネクタ 134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8" name="直線コネクタ 134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27" name="グループ化 1326"/>
              <p:cNvGrpSpPr/>
              <p:nvPr/>
            </p:nvGrpSpPr>
            <p:grpSpPr>
              <a:xfrm>
                <a:off x="2861981" y="4059007"/>
                <a:ext cx="270036" cy="360048"/>
                <a:chOff x="6282228" y="1988808"/>
                <a:chExt cx="270036" cy="360048"/>
              </a:xfrm>
            </p:grpSpPr>
            <p:cxnSp>
              <p:nvCxnSpPr>
                <p:cNvPr id="1342" name="直線コネクタ 134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3" name="直線コネクタ 134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4" name="直線コネクタ 134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5" name="直線コネクタ 134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28" name="直線コネクタ 132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29" name="直線コネクタ 132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30" name="直線コネクタ 132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3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3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333" name="グループ化 1332"/>
              <p:cNvGrpSpPr/>
              <p:nvPr/>
            </p:nvGrpSpPr>
            <p:grpSpPr>
              <a:xfrm>
                <a:off x="2771980" y="2978995"/>
                <a:ext cx="360048" cy="360048"/>
                <a:chOff x="3131808" y="1628760"/>
                <a:chExt cx="360048" cy="360048"/>
              </a:xfrm>
            </p:grpSpPr>
            <p:cxnSp>
              <p:nvCxnSpPr>
                <p:cNvPr id="1337" name="直線コネクタ 133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38" name="直線コネクタ 133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39" name="直線コネクタ 133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40" name="直線コネクタ 133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41" name="円/楕円 134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334" name="直線コネクタ 133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35" name="直線コネクタ 133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36" name="直線コネクタ 133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193" name="グループ化 1192"/>
            <p:cNvGrpSpPr/>
            <p:nvPr/>
          </p:nvGrpSpPr>
          <p:grpSpPr>
            <a:xfrm rot="10800000">
              <a:off x="3150902" y="4059365"/>
              <a:ext cx="1080010" cy="1170013"/>
              <a:chOff x="1871970" y="2562739"/>
              <a:chExt cx="1890019" cy="2559383"/>
            </a:xfrm>
          </p:grpSpPr>
          <p:grpSp>
            <p:nvGrpSpPr>
              <p:cNvPr id="1303" name="グループ化 1302"/>
              <p:cNvGrpSpPr/>
              <p:nvPr/>
            </p:nvGrpSpPr>
            <p:grpSpPr>
              <a:xfrm>
                <a:off x="2996967" y="4942097"/>
                <a:ext cx="360048" cy="180025"/>
                <a:chOff x="1736601" y="2511982"/>
                <a:chExt cx="360048" cy="180025"/>
              </a:xfrm>
            </p:grpSpPr>
            <p:cxnSp>
              <p:nvCxnSpPr>
                <p:cNvPr id="1323" name="直線コネクタ 132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4" name="直線コネクタ 132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5" name="直線コネクタ 132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04" name="グループ化 1303"/>
              <p:cNvGrpSpPr/>
              <p:nvPr/>
            </p:nvGrpSpPr>
            <p:grpSpPr>
              <a:xfrm>
                <a:off x="2861981" y="4059007"/>
                <a:ext cx="270036" cy="360048"/>
                <a:chOff x="6282228" y="1988808"/>
                <a:chExt cx="270036" cy="360048"/>
              </a:xfrm>
            </p:grpSpPr>
            <p:cxnSp>
              <p:nvCxnSpPr>
                <p:cNvPr id="1319" name="直線コネクタ 13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0" name="直線コネクタ 13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1" name="直線コネクタ 13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22" name="直線コネクタ 13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05" name="直線コネクタ 130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06" name="直線コネクタ 130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07" name="直線コネクタ 130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0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0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310" name="グループ化 1309"/>
              <p:cNvGrpSpPr/>
              <p:nvPr/>
            </p:nvGrpSpPr>
            <p:grpSpPr>
              <a:xfrm>
                <a:off x="2771980" y="2978995"/>
                <a:ext cx="360048" cy="360048"/>
                <a:chOff x="3131808" y="1628760"/>
                <a:chExt cx="360048" cy="360048"/>
              </a:xfrm>
            </p:grpSpPr>
            <p:cxnSp>
              <p:nvCxnSpPr>
                <p:cNvPr id="1314" name="直線コネクタ 131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5" name="直線コネクタ 131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6" name="直線コネクタ 131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17" name="直線コネクタ 131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18" name="円/楕円 131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311" name="直線コネクタ 131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12" name="直線コネクタ 131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13" name="直線コネクタ 131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194"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195" name="グループ化 1194"/>
            <p:cNvGrpSpPr/>
            <p:nvPr/>
          </p:nvGrpSpPr>
          <p:grpSpPr>
            <a:xfrm rot="5400000">
              <a:off x="2565879" y="5829899"/>
              <a:ext cx="270041" cy="180007"/>
              <a:chOff x="1601967" y="3609002"/>
              <a:chExt cx="540039" cy="360048"/>
            </a:xfrm>
          </p:grpSpPr>
          <p:grpSp>
            <p:nvGrpSpPr>
              <p:cNvPr id="1292" name="グループ化 1291"/>
              <p:cNvGrpSpPr/>
              <p:nvPr/>
            </p:nvGrpSpPr>
            <p:grpSpPr>
              <a:xfrm rot="10800000">
                <a:off x="1871970" y="3609002"/>
                <a:ext cx="270036" cy="360048"/>
                <a:chOff x="6282228" y="1988808"/>
                <a:chExt cx="270036" cy="360048"/>
              </a:xfrm>
            </p:grpSpPr>
            <p:cxnSp>
              <p:nvCxnSpPr>
                <p:cNvPr id="1299" name="直線コネクタ 129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0" name="直線コネクタ 129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1" name="直線コネクタ 130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02" name="直線コネクタ 130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93" name="グループ化 1292"/>
              <p:cNvGrpSpPr/>
              <p:nvPr/>
            </p:nvGrpSpPr>
            <p:grpSpPr>
              <a:xfrm>
                <a:off x="1601967" y="3609002"/>
                <a:ext cx="360048" cy="360048"/>
                <a:chOff x="3131808" y="1628760"/>
                <a:chExt cx="360048" cy="360048"/>
              </a:xfrm>
            </p:grpSpPr>
            <p:cxnSp>
              <p:nvCxnSpPr>
                <p:cNvPr id="1294" name="直線コネクタ 129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5" name="直線コネクタ 129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6" name="直線コネクタ 129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7" name="直線コネクタ 129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98" name="円/楕円 129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196" name="グループ化 1195"/>
            <p:cNvGrpSpPr/>
            <p:nvPr/>
          </p:nvGrpSpPr>
          <p:grpSpPr>
            <a:xfrm>
              <a:off x="2880899" y="5229378"/>
              <a:ext cx="270041" cy="180007"/>
              <a:chOff x="1601967" y="3609002"/>
              <a:chExt cx="540039" cy="360048"/>
            </a:xfrm>
          </p:grpSpPr>
          <p:grpSp>
            <p:nvGrpSpPr>
              <p:cNvPr id="1281" name="グループ化 1280"/>
              <p:cNvGrpSpPr/>
              <p:nvPr/>
            </p:nvGrpSpPr>
            <p:grpSpPr>
              <a:xfrm rot="10800000">
                <a:off x="1871970" y="3609002"/>
                <a:ext cx="270036" cy="360048"/>
                <a:chOff x="6282228" y="1988808"/>
                <a:chExt cx="270036" cy="360048"/>
              </a:xfrm>
            </p:grpSpPr>
            <p:cxnSp>
              <p:nvCxnSpPr>
                <p:cNvPr id="1288" name="直線コネクタ 128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9" name="直線コネクタ 128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0" name="直線コネクタ 128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91" name="直線コネクタ 129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82" name="グループ化 1281"/>
              <p:cNvGrpSpPr/>
              <p:nvPr/>
            </p:nvGrpSpPr>
            <p:grpSpPr>
              <a:xfrm>
                <a:off x="1601967" y="3609002"/>
                <a:ext cx="360048" cy="360048"/>
                <a:chOff x="3131808" y="1628760"/>
                <a:chExt cx="360048" cy="360048"/>
              </a:xfrm>
            </p:grpSpPr>
            <p:cxnSp>
              <p:nvCxnSpPr>
                <p:cNvPr id="1283" name="直線コネクタ 128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4" name="直線コネクタ 128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5" name="直線コネクタ 128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6" name="直線コネクタ 128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87" name="円/楕円 128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197"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198"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199"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0"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1"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2"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203" name="グループ化 1202"/>
            <p:cNvGrpSpPr/>
            <p:nvPr/>
          </p:nvGrpSpPr>
          <p:grpSpPr>
            <a:xfrm>
              <a:off x="5220924" y="5424878"/>
              <a:ext cx="1080010" cy="1170013"/>
              <a:chOff x="1871970" y="2562739"/>
              <a:chExt cx="1890019" cy="2559383"/>
            </a:xfrm>
          </p:grpSpPr>
          <p:grpSp>
            <p:nvGrpSpPr>
              <p:cNvPr id="1258" name="グループ化 1257"/>
              <p:cNvGrpSpPr/>
              <p:nvPr/>
            </p:nvGrpSpPr>
            <p:grpSpPr>
              <a:xfrm>
                <a:off x="2996967" y="4942097"/>
                <a:ext cx="360048" cy="180025"/>
                <a:chOff x="1736601" y="2511982"/>
                <a:chExt cx="360048" cy="180025"/>
              </a:xfrm>
            </p:grpSpPr>
            <p:cxnSp>
              <p:nvCxnSpPr>
                <p:cNvPr id="1278" name="直線コネクタ 1277"/>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9" name="直線コネクタ 1278"/>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80" name="直線コネクタ 1279"/>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59" name="グループ化 1258"/>
              <p:cNvGrpSpPr/>
              <p:nvPr/>
            </p:nvGrpSpPr>
            <p:grpSpPr>
              <a:xfrm>
                <a:off x="2861981" y="4059007"/>
                <a:ext cx="270036" cy="360048"/>
                <a:chOff x="6282228" y="1988808"/>
                <a:chExt cx="270036" cy="360048"/>
              </a:xfrm>
            </p:grpSpPr>
            <p:cxnSp>
              <p:nvCxnSpPr>
                <p:cNvPr id="1274" name="直線コネクタ 1273"/>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5" name="直線コネクタ 1274"/>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6" name="直線コネクタ 1275"/>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7" name="直線コネクタ 1276"/>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60" name="直線コネクタ 1259"/>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61" name="直線コネクタ 1260"/>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62" name="直線コネクタ 1261"/>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263"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264"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65" name="グループ化 1264"/>
              <p:cNvGrpSpPr/>
              <p:nvPr/>
            </p:nvGrpSpPr>
            <p:grpSpPr>
              <a:xfrm>
                <a:off x="2771980" y="2978995"/>
                <a:ext cx="360048" cy="360048"/>
                <a:chOff x="3131808" y="1628760"/>
                <a:chExt cx="360048" cy="360048"/>
              </a:xfrm>
            </p:grpSpPr>
            <p:cxnSp>
              <p:nvCxnSpPr>
                <p:cNvPr id="1269" name="直線コネクタ 126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0" name="直線コネクタ 126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1" name="直線コネクタ 127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72" name="直線コネクタ 127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73" name="円/楕円 127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266" name="直線コネクタ 1265"/>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67" name="直線コネクタ 1266"/>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68" name="直線コネクタ 1267"/>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04" name="グループ化 1203"/>
            <p:cNvGrpSpPr/>
            <p:nvPr/>
          </p:nvGrpSpPr>
          <p:grpSpPr>
            <a:xfrm rot="10800000">
              <a:off x="5220924" y="4059365"/>
              <a:ext cx="1080010" cy="1170013"/>
              <a:chOff x="1871970" y="2562739"/>
              <a:chExt cx="1890019" cy="2559383"/>
            </a:xfrm>
          </p:grpSpPr>
          <p:grpSp>
            <p:nvGrpSpPr>
              <p:cNvPr id="1235" name="グループ化 1234"/>
              <p:cNvGrpSpPr/>
              <p:nvPr/>
            </p:nvGrpSpPr>
            <p:grpSpPr>
              <a:xfrm>
                <a:off x="2996967" y="4942097"/>
                <a:ext cx="360048" cy="180025"/>
                <a:chOff x="1736601" y="2511982"/>
                <a:chExt cx="360048" cy="180025"/>
              </a:xfrm>
            </p:grpSpPr>
            <p:cxnSp>
              <p:nvCxnSpPr>
                <p:cNvPr id="1255" name="直線コネクタ 1254"/>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6" name="直線コネクタ 1255"/>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7" name="直線コネクタ 1256"/>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36" name="グループ化 1235"/>
              <p:cNvGrpSpPr/>
              <p:nvPr/>
            </p:nvGrpSpPr>
            <p:grpSpPr>
              <a:xfrm>
                <a:off x="2861981" y="4059007"/>
                <a:ext cx="270036" cy="360048"/>
                <a:chOff x="6282228" y="1988808"/>
                <a:chExt cx="270036" cy="360048"/>
              </a:xfrm>
            </p:grpSpPr>
            <p:cxnSp>
              <p:nvCxnSpPr>
                <p:cNvPr id="1251" name="直線コネクタ 125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2" name="直線コネクタ 125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3" name="直線コネクタ 125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54" name="直線コネクタ 125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37" name="直線コネクタ 1236"/>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38" name="直線コネクタ 1237"/>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39" name="直線コネクタ 1238"/>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240"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241"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242" name="グループ化 1241"/>
              <p:cNvGrpSpPr/>
              <p:nvPr/>
            </p:nvGrpSpPr>
            <p:grpSpPr>
              <a:xfrm>
                <a:off x="2771980" y="2978995"/>
                <a:ext cx="360048" cy="360048"/>
                <a:chOff x="3131808" y="1628760"/>
                <a:chExt cx="360048" cy="360048"/>
              </a:xfrm>
            </p:grpSpPr>
            <p:cxnSp>
              <p:nvCxnSpPr>
                <p:cNvPr id="1246" name="直線コネクタ 124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7" name="直線コネクタ 124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8" name="直線コネクタ 124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9" name="直線コネクタ 124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50" name="円/楕円 124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243" name="直線コネクタ 1242"/>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244" name="直線コネクタ 1243"/>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245" name="直線コネクタ 1244"/>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205"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206" name="グループ化 1205"/>
            <p:cNvGrpSpPr/>
            <p:nvPr/>
          </p:nvGrpSpPr>
          <p:grpSpPr>
            <a:xfrm rot="5400000">
              <a:off x="4635901" y="5829899"/>
              <a:ext cx="270041" cy="180007"/>
              <a:chOff x="1601967" y="3609002"/>
              <a:chExt cx="540039" cy="360048"/>
            </a:xfrm>
          </p:grpSpPr>
          <p:grpSp>
            <p:nvGrpSpPr>
              <p:cNvPr id="1224" name="グループ化 1223"/>
              <p:cNvGrpSpPr/>
              <p:nvPr/>
            </p:nvGrpSpPr>
            <p:grpSpPr>
              <a:xfrm rot="10800000">
                <a:off x="1871970" y="3609002"/>
                <a:ext cx="270036" cy="360048"/>
                <a:chOff x="6282228" y="1988808"/>
                <a:chExt cx="270036" cy="360048"/>
              </a:xfrm>
            </p:grpSpPr>
            <p:cxnSp>
              <p:nvCxnSpPr>
                <p:cNvPr id="1231" name="直線コネクタ 1230"/>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2" name="直線コネクタ 1231"/>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3" name="直線コネクタ 1232"/>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4" name="直線コネクタ 1233"/>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25" name="グループ化 1224"/>
              <p:cNvGrpSpPr/>
              <p:nvPr/>
            </p:nvGrpSpPr>
            <p:grpSpPr>
              <a:xfrm>
                <a:off x="1601967" y="3609002"/>
                <a:ext cx="360048" cy="360048"/>
                <a:chOff x="3131808" y="1628760"/>
                <a:chExt cx="360048" cy="360048"/>
              </a:xfrm>
            </p:grpSpPr>
            <p:cxnSp>
              <p:nvCxnSpPr>
                <p:cNvPr id="1226" name="直線コネクタ 1225"/>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7" name="直線コネクタ 1226"/>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8" name="直線コネクタ 1227"/>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9" name="直線コネクタ 1228"/>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30" name="円/楕円 1229"/>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207" name="グループ化 1206"/>
            <p:cNvGrpSpPr/>
            <p:nvPr/>
          </p:nvGrpSpPr>
          <p:grpSpPr>
            <a:xfrm>
              <a:off x="4950921" y="5229378"/>
              <a:ext cx="270041" cy="180007"/>
              <a:chOff x="1601967" y="3609002"/>
              <a:chExt cx="540039" cy="360048"/>
            </a:xfrm>
          </p:grpSpPr>
          <p:grpSp>
            <p:nvGrpSpPr>
              <p:cNvPr id="1213" name="グループ化 1212"/>
              <p:cNvGrpSpPr/>
              <p:nvPr/>
            </p:nvGrpSpPr>
            <p:grpSpPr>
              <a:xfrm rot="10800000">
                <a:off x="1871970" y="3609002"/>
                <a:ext cx="270036" cy="360048"/>
                <a:chOff x="6282228" y="1988808"/>
                <a:chExt cx="270036" cy="360048"/>
              </a:xfrm>
            </p:grpSpPr>
            <p:cxnSp>
              <p:nvCxnSpPr>
                <p:cNvPr id="1220" name="直線コネクタ 121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1" name="直線コネクタ 122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2" name="直線コネクタ 122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3" name="直線コネクタ 122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214" name="グループ化 1213"/>
              <p:cNvGrpSpPr/>
              <p:nvPr/>
            </p:nvGrpSpPr>
            <p:grpSpPr>
              <a:xfrm>
                <a:off x="1601967" y="3609002"/>
                <a:ext cx="360048" cy="360048"/>
                <a:chOff x="3131808" y="1628760"/>
                <a:chExt cx="360048" cy="360048"/>
              </a:xfrm>
            </p:grpSpPr>
            <p:cxnSp>
              <p:nvCxnSpPr>
                <p:cNvPr id="1215" name="直線コネクタ 121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6" name="直線コネクタ 121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7" name="直線コネクタ 121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18" name="直線コネクタ 121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19" name="円/楕円 121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208"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09"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210"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11"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212"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349" name="グループ化 1348"/>
          <p:cNvGrpSpPr/>
          <p:nvPr/>
        </p:nvGrpSpPr>
        <p:grpSpPr>
          <a:xfrm>
            <a:off x="3935977" y="5499023"/>
            <a:ext cx="2070023" cy="1080012"/>
            <a:chOff x="2250893" y="4059365"/>
            <a:chExt cx="4590049" cy="2535526"/>
          </a:xfrm>
        </p:grpSpPr>
        <p:grpSp>
          <p:nvGrpSpPr>
            <p:cNvPr id="1350" name="グループ化 1349"/>
            <p:cNvGrpSpPr/>
            <p:nvPr/>
          </p:nvGrpSpPr>
          <p:grpSpPr>
            <a:xfrm>
              <a:off x="3150902" y="5424878"/>
              <a:ext cx="1080010" cy="1170013"/>
              <a:chOff x="1871970" y="2562739"/>
              <a:chExt cx="1890019" cy="2559383"/>
            </a:xfrm>
          </p:grpSpPr>
          <p:grpSp>
            <p:nvGrpSpPr>
              <p:cNvPr id="1484" name="グループ化 1483"/>
              <p:cNvGrpSpPr/>
              <p:nvPr/>
            </p:nvGrpSpPr>
            <p:grpSpPr>
              <a:xfrm>
                <a:off x="2996967" y="4942097"/>
                <a:ext cx="360048" cy="180025"/>
                <a:chOff x="1736601" y="2511982"/>
                <a:chExt cx="360048" cy="180025"/>
              </a:xfrm>
            </p:grpSpPr>
            <p:cxnSp>
              <p:nvCxnSpPr>
                <p:cNvPr id="1504" name="直線コネクタ 1503"/>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5" name="直線コネクタ 1504"/>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6" name="直線コネクタ 1505"/>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85" name="グループ化 1484"/>
              <p:cNvGrpSpPr/>
              <p:nvPr/>
            </p:nvGrpSpPr>
            <p:grpSpPr>
              <a:xfrm>
                <a:off x="2861981" y="4059007"/>
                <a:ext cx="270036" cy="360048"/>
                <a:chOff x="6282228" y="1988808"/>
                <a:chExt cx="270036" cy="360048"/>
              </a:xfrm>
            </p:grpSpPr>
            <p:cxnSp>
              <p:nvCxnSpPr>
                <p:cNvPr id="1500" name="直線コネクタ 149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1" name="直線コネクタ 150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2" name="直線コネクタ 150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03" name="直線コネクタ 150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86" name="直線コネクタ 1485"/>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87" name="直線コネクタ 1486"/>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88" name="直線コネクタ 1487"/>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89"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90"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91" name="グループ化 1490"/>
              <p:cNvGrpSpPr/>
              <p:nvPr/>
            </p:nvGrpSpPr>
            <p:grpSpPr>
              <a:xfrm>
                <a:off x="2771980" y="2978995"/>
                <a:ext cx="360048" cy="360048"/>
                <a:chOff x="3131808" y="1628760"/>
                <a:chExt cx="360048" cy="360048"/>
              </a:xfrm>
            </p:grpSpPr>
            <p:cxnSp>
              <p:nvCxnSpPr>
                <p:cNvPr id="1495" name="直線コネクタ 149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6" name="直線コネクタ 149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7" name="直線コネクタ 149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98" name="直線コネクタ 149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99" name="円/楕円 1498"/>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492" name="直線コネクタ 1491"/>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93" name="直線コネクタ 1492"/>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94" name="直線コネクタ 1493"/>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51" name="グループ化 1350"/>
            <p:cNvGrpSpPr/>
            <p:nvPr/>
          </p:nvGrpSpPr>
          <p:grpSpPr>
            <a:xfrm rot="10800000">
              <a:off x="3150902" y="4059365"/>
              <a:ext cx="1080010" cy="1170013"/>
              <a:chOff x="1871970" y="2562739"/>
              <a:chExt cx="1890019" cy="2559383"/>
            </a:xfrm>
          </p:grpSpPr>
          <p:grpSp>
            <p:nvGrpSpPr>
              <p:cNvPr id="1461" name="グループ化 1460"/>
              <p:cNvGrpSpPr/>
              <p:nvPr/>
            </p:nvGrpSpPr>
            <p:grpSpPr>
              <a:xfrm>
                <a:off x="2996967" y="4942097"/>
                <a:ext cx="360048" cy="180025"/>
                <a:chOff x="1736601" y="2511982"/>
                <a:chExt cx="360048" cy="180025"/>
              </a:xfrm>
            </p:grpSpPr>
            <p:cxnSp>
              <p:nvCxnSpPr>
                <p:cNvPr id="1481" name="直線コネクタ 1480"/>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2" name="直線コネクタ 1481"/>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3" name="直線コネクタ 1482"/>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62" name="グループ化 1461"/>
              <p:cNvGrpSpPr/>
              <p:nvPr/>
            </p:nvGrpSpPr>
            <p:grpSpPr>
              <a:xfrm>
                <a:off x="2861981" y="4059007"/>
                <a:ext cx="270036" cy="360048"/>
                <a:chOff x="6282228" y="1988808"/>
                <a:chExt cx="270036" cy="360048"/>
              </a:xfrm>
            </p:grpSpPr>
            <p:cxnSp>
              <p:nvCxnSpPr>
                <p:cNvPr id="1477" name="直線コネクタ 1476"/>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8" name="直線コネクタ 1477"/>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9" name="直線コネクタ 1478"/>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80" name="直線コネクタ 1479"/>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63" name="直線コネクタ 1462"/>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64" name="直線コネクタ 1463"/>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65" name="直線コネクタ 1464"/>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66"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67"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68" name="グループ化 1467"/>
              <p:cNvGrpSpPr/>
              <p:nvPr/>
            </p:nvGrpSpPr>
            <p:grpSpPr>
              <a:xfrm>
                <a:off x="2771980" y="2978995"/>
                <a:ext cx="360048" cy="360048"/>
                <a:chOff x="3131808" y="1628760"/>
                <a:chExt cx="360048" cy="360048"/>
              </a:xfrm>
            </p:grpSpPr>
            <p:cxnSp>
              <p:nvCxnSpPr>
                <p:cNvPr id="1472" name="直線コネクタ 1471"/>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3" name="直線コネクタ 1472"/>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4" name="直線コネクタ 1473"/>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5" name="直線コネクタ 1474"/>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76" name="円/楕円 1475"/>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469" name="直線コネクタ 1468"/>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70" name="直線コネクタ 1469"/>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71" name="直線コネクタ 1470"/>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52" name="Line 46"/>
            <p:cNvSpPr>
              <a:spLocks noChangeShapeType="1"/>
            </p:cNvSpPr>
            <p:nvPr/>
          </p:nvSpPr>
          <p:spPr bwMode="auto">
            <a:xfrm flipV="1">
              <a:off x="4230914"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53" name="グループ化 1352"/>
            <p:cNvGrpSpPr/>
            <p:nvPr/>
          </p:nvGrpSpPr>
          <p:grpSpPr>
            <a:xfrm rot="5400000">
              <a:off x="2565879" y="5829899"/>
              <a:ext cx="270041" cy="180007"/>
              <a:chOff x="1601967" y="3609002"/>
              <a:chExt cx="540039" cy="360048"/>
            </a:xfrm>
          </p:grpSpPr>
          <p:grpSp>
            <p:nvGrpSpPr>
              <p:cNvPr id="1450" name="グループ化 1449"/>
              <p:cNvGrpSpPr/>
              <p:nvPr/>
            </p:nvGrpSpPr>
            <p:grpSpPr>
              <a:xfrm rot="10800000">
                <a:off x="1871970" y="3609002"/>
                <a:ext cx="270036" cy="360048"/>
                <a:chOff x="6282228" y="1988808"/>
                <a:chExt cx="270036" cy="360048"/>
              </a:xfrm>
            </p:grpSpPr>
            <p:cxnSp>
              <p:nvCxnSpPr>
                <p:cNvPr id="1457" name="直線コネクタ 1456"/>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8" name="直線コネクタ 1457"/>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9" name="直線コネクタ 1458"/>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60" name="直線コネクタ 1459"/>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51" name="グループ化 1450"/>
              <p:cNvGrpSpPr/>
              <p:nvPr/>
            </p:nvGrpSpPr>
            <p:grpSpPr>
              <a:xfrm>
                <a:off x="1601967" y="3609002"/>
                <a:ext cx="360048" cy="360048"/>
                <a:chOff x="3131808" y="1628760"/>
                <a:chExt cx="360048" cy="360048"/>
              </a:xfrm>
            </p:grpSpPr>
            <p:cxnSp>
              <p:nvCxnSpPr>
                <p:cNvPr id="1452" name="直線コネクタ 1451"/>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3" name="直線コネクタ 1452"/>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4" name="直線コネクタ 1453"/>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5" name="直線コネクタ 1454"/>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56" name="円/楕円 1455"/>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354" name="グループ化 1353"/>
            <p:cNvGrpSpPr/>
            <p:nvPr/>
          </p:nvGrpSpPr>
          <p:grpSpPr>
            <a:xfrm>
              <a:off x="2880899" y="5229378"/>
              <a:ext cx="270041" cy="180007"/>
              <a:chOff x="1601967" y="3609002"/>
              <a:chExt cx="540039" cy="360048"/>
            </a:xfrm>
          </p:grpSpPr>
          <p:grpSp>
            <p:nvGrpSpPr>
              <p:cNvPr id="1439" name="グループ化 1438"/>
              <p:cNvGrpSpPr/>
              <p:nvPr/>
            </p:nvGrpSpPr>
            <p:grpSpPr>
              <a:xfrm rot="10800000">
                <a:off x="1871970" y="3609002"/>
                <a:ext cx="270036" cy="360048"/>
                <a:chOff x="6282228" y="1988808"/>
                <a:chExt cx="270036" cy="360048"/>
              </a:xfrm>
            </p:grpSpPr>
            <p:cxnSp>
              <p:nvCxnSpPr>
                <p:cNvPr id="1446" name="直線コネクタ 1445"/>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7" name="直線コネクタ 1446"/>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8" name="直線コネクタ 1447"/>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9" name="直線コネクタ 1448"/>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40" name="グループ化 1439"/>
              <p:cNvGrpSpPr/>
              <p:nvPr/>
            </p:nvGrpSpPr>
            <p:grpSpPr>
              <a:xfrm>
                <a:off x="1601967" y="3609002"/>
                <a:ext cx="360048" cy="360048"/>
                <a:chOff x="3131808" y="1628760"/>
                <a:chExt cx="360048" cy="360048"/>
              </a:xfrm>
            </p:grpSpPr>
            <p:cxnSp>
              <p:nvCxnSpPr>
                <p:cNvPr id="1441" name="直線コネクタ 1440"/>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2" name="直線コネクタ 1441"/>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3" name="直線コネクタ 1442"/>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44" name="直線コネクタ 1443"/>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45" name="円/楕円 1444"/>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355" name="Line 46"/>
            <p:cNvSpPr>
              <a:spLocks noChangeShapeType="1"/>
            </p:cNvSpPr>
            <p:nvPr/>
          </p:nvSpPr>
          <p:spPr bwMode="auto">
            <a:xfrm>
              <a:off x="2790898"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6" name="Line 46"/>
            <p:cNvSpPr>
              <a:spLocks noChangeShapeType="1"/>
            </p:cNvSpPr>
            <p:nvPr/>
          </p:nvSpPr>
          <p:spPr bwMode="auto">
            <a:xfrm flipH="1" flipV="1">
              <a:off x="3045403"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57" name="Line 46"/>
            <p:cNvSpPr>
              <a:spLocks noChangeShapeType="1"/>
            </p:cNvSpPr>
            <p:nvPr/>
          </p:nvSpPr>
          <p:spPr bwMode="auto">
            <a:xfrm flipH="1" flipV="1">
              <a:off x="3029905"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8" name="Line 46"/>
            <p:cNvSpPr>
              <a:spLocks noChangeShapeType="1"/>
            </p:cNvSpPr>
            <p:nvPr/>
          </p:nvSpPr>
          <p:spPr bwMode="auto">
            <a:xfrm flipV="1">
              <a:off x="3017394"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59" name="Line 46"/>
            <p:cNvSpPr>
              <a:spLocks noChangeShapeType="1"/>
            </p:cNvSpPr>
            <p:nvPr/>
          </p:nvSpPr>
          <p:spPr bwMode="auto">
            <a:xfrm>
              <a:off x="2250893"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0" name="Line 46"/>
            <p:cNvSpPr>
              <a:spLocks noChangeShapeType="1"/>
            </p:cNvSpPr>
            <p:nvPr/>
          </p:nvSpPr>
          <p:spPr bwMode="auto">
            <a:xfrm flipV="1">
              <a:off x="4230914" y="5949386"/>
              <a:ext cx="450005"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nvGrpSpPr>
            <p:cNvPr id="1361" name="グループ化 1360"/>
            <p:cNvGrpSpPr/>
            <p:nvPr/>
          </p:nvGrpSpPr>
          <p:grpSpPr>
            <a:xfrm>
              <a:off x="5220924" y="5424878"/>
              <a:ext cx="1080010" cy="1170013"/>
              <a:chOff x="1871970" y="2562739"/>
              <a:chExt cx="1890019" cy="2559383"/>
            </a:xfrm>
          </p:grpSpPr>
          <p:grpSp>
            <p:nvGrpSpPr>
              <p:cNvPr id="1416" name="グループ化 1415"/>
              <p:cNvGrpSpPr/>
              <p:nvPr/>
            </p:nvGrpSpPr>
            <p:grpSpPr>
              <a:xfrm>
                <a:off x="2996967" y="4942097"/>
                <a:ext cx="360048" cy="180025"/>
                <a:chOff x="1736601" y="2511982"/>
                <a:chExt cx="360048" cy="180025"/>
              </a:xfrm>
            </p:grpSpPr>
            <p:cxnSp>
              <p:nvCxnSpPr>
                <p:cNvPr id="1436" name="直線コネクタ 1435"/>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7" name="直線コネクタ 1436"/>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8" name="直線コネクタ 1437"/>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417" name="グループ化 1416"/>
              <p:cNvGrpSpPr/>
              <p:nvPr/>
            </p:nvGrpSpPr>
            <p:grpSpPr>
              <a:xfrm>
                <a:off x="2861981" y="4059007"/>
                <a:ext cx="270036" cy="360048"/>
                <a:chOff x="6282228" y="1988808"/>
                <a:chExt cx="270036" cy="360048"/>
              </a:xfrm>
            </p:grpSpPr>
            <p:cxnSp>
              <p:nvCxnSpPr>
                <p:cNvPr id="1432" name="直線コネクタ 1431"/>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3" name="直線コネクタ 1432"/>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4" name="直線コネクタ 1433"/>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5" name="直線コネクタ 1434"/>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418" name="直線コネクタ 1417"/>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19" name="直線コネクタ 1418"/>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20" name="直線コネクタ 1419"/>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421"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22"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23" name="グループ化 1422"/>
              <p:cNvGrpSpPr/>
              <p:nvPr/>
            </p:nvGrpSpPr>
            <p:grpSpPr>
              <a:xfrm>
                <a:off x="2771980" y="2978995"/>
                <a:ext cx="360048" cy="360048"/>
                <a:chOff x="3131808" y="1628760"/>
                <a:chExt cx="360048" cy="360048"/>
              </a:xfrm>
            </p:grpSpPr>
            <p:cxnSp>
              <p:nvCxnSpPr>
                <p:cNvPr id="1427" name="直線コネクタ 1426"/>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8" name="直線コネクタ 1427"/>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9" name="直線コネクタ 1428"/>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0" name="直線コネクタ 1429"/>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31" name="円/楕円 1430"/>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424" name="直線コネクタ 1423"/>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25" name="直線コネクタ 1424"/>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26" name="直線コネクタ 1425"/>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62" name="グループ化 1361"/>
            <p:cNvGrpSpPr/>
            <p:nvPr/>
          </p:nvGrpSpPr>
          <p:grpSpPr>
            <a:xfrm rot="10800000">
              <a:off x="5220924" y="4059365"/>
              <a:ext cx="1080010" cy="1170013"/>
              <a:chOff x="1871970" y="2562739"/>
              <a:chExt cx="1890019" cy="2559383"/>
            </a:xfrm>
          </p:grpSpPr>
          <p:grpSp>
            <p:nvGrpSpPr>
              <p:cNvPr id="1393" name="グループ化 1392"/>
              <p:cNvGrpSpPr/>
              <p:nvPr/>
            </p:nvGrpSpPr>
            <p:grpSpPr>
              <a:xfrm>
                <a:off x="2996967" y="4942097"/>
                <a:ext cx="360048" cy="180025"/>
                <a:chOff x="1736601" y="2511982"/>
                <a:chExt cx="360048" cy="180025"/>
              </a:xfrm>
            </p:grpSpPr>
            <p:cxnSp>
              <p:nvCxnSpPr>
                <p:cNvPr id="1413" name="直線コネクタ 1412"/>
                <p:cNvCxnSpPr/>
                <p:nvPr/>
              </p:nvCxnSpPr>
              <p:spPr>
                <a:xfrm flipV="1">
                  <a:off x="1736601" y="2511982"/>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4" name="直線コネクタ 1413"/>
                <p:cNvCxnSpPr/>
                <p:nvPr/>
              </p:nvCxnSpPr>
              <p:spPr>
                <a:xfrm flipV="1">
                  <a:off x="1804111" y="2601994"/>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5" name="直線コネクタ 1414"/>
                <p:cNvCxnSpPr/>
                <p:nvPr/>
              </p:nvCxnSpPr>
              <p:spPr>
                <a:xfrm flipV="1">
                  <a:off x="1871620" y="2692007"/>
                  <a:ext cx="90013"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94" name="グループ化 1393"/>
              <p:cNvGrpSpPr/>
              <p:nvPr/>
            </p:nvGrpSpPr>
            <p:grpSpPr>
              <a:xfrm>
                <a:off x="2861981" y="4059007"/>
                <a:ext cx="270036" cy="360048"/>
                <a:chOff x="6282228" y="1988808"/>
                <a:chExt cx="270036" cy="360048"/>
              </a:xfrm>
            </p:grpSpPr>
            <p:cxnSp>
              <p:nvCxnSpPr>
                <p:cNvPr id="1409" name="直線コネクタ 140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0" name="直線コネクタ 140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1" name="直線コネクタ 141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2" name="直線コネクタ 141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95" name="直線コネクタ 1394"/>
              <p:cNvCxnSpPr/>
              <p:nvPr/>
            </p:nvCxnSpPr>
            <p:spPr>
              <a:xfrm flipH="1">
                <a:off x="1871970" y="3699003"/>
                <a:ext cx="540007"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96" name="直線コネクタ 1395"/>
              <p:cNvCxnSpPr/>
              <p:nvPr/>
            </p:nvCxnSpPr>
            <p:spPr>
              <a:xfrm flipV="1">
                <a:off x="3131984" y="3338999"/>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397" name="直線コネクタ 1396"/>
              <p:cNvCxnSpPr/>
              <p:nvPr/>
            </p:nvCxnSpPr>
            <p:spPr>
              <a:xfrm flipH="1" flipV="1">
                <a:off x="3131983" y="4419014"/>
                <a:ext cx="2" cy="50623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sp>
            <p:nvSpPr>
              <p:cNvPr id="1398" name="Freeform 10"/>
              <p:cNvSpPr>
                <a:spLocks/>
              </p:cNvSpPr>
              <p:nvPr/>
            </p:nvSpPr>
            <p:spPr bwMode="auto">
              <a:xfrm flipV="1">
                <a:off x="2411822" y="3158995"/>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99" name="Line 9"/>
              <p:cNvSpPr>
                <a:spLocks noChangeShapeType="1"/>
              </p:cNvSpPr>
              <p:nvPr/>
            </p:nvSpPr>
            <p:spPr bwMode="auto">
              <a:xfrm>
                <a:off x="2411976" y="423900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00" name="グループ化 1399"/>
              <p:cNvGrpSpPr/>
              <p:nvPr/>
            </p:nvGrpSpPr>
            <p:grpSpPr>
              <a:xfrm>
                <a:off x="2771980" y="2978995"/>
                <a:ext cx="360048" cy="360048"/>
                <a:chOff x="3131808" y="1628760"/>
                <a:chExt cx="360048" cy="360048"/>
              </a:xfrm>
            </p:grpSpPr>
            <p:cxnSp>
              <p:nvCxnSpPr>
                <p:cNvPr id="1404" name="直線コネクタ 140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5" name="直線コネクタ 140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6" name="直線コネクタ 140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07" name="直線コネクタ 140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408" name="円/楕円 140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401" name="直線コネクタ 1400"/>
              <p:cNvCxnSpPr/>
              <p:nvPr/>
            </p:nvCxnSpPr>
            <p:spPr>
              <a:xfrm>
                <a:off x="3131984" y="3699003"/>
                <a:ext cx="630005" cy="0"/>
              </a:xfrm>
              <a:prstGeom prst="line">
                <a:avLst/>
              </a:prstGeom>
              <a:ln w="317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402" name="直線コネクタ 1401"/>
              <p:cNvCxnSpPr/>
              <p:nvPr/>
            </p:nvCxnSpPr>
            <p:spPr>
              <a:xfrm flipV="1">
                <a:off x="3131983" y="2562739"/>
                <a:ext cx="2" cy="41632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403" name="直線コネクタ 1402"/>
              <p:cNvCxnSpPr/>
              <p:nvPr/>
            </p:nvCxnSpPr>
            <p:spPr>
              <a:xfrm>
                <a:off x="2974483" y="2562739"/>
                <a:ext cx="360049"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363" name="Line 46"/>
            <p:cNvSpPr>
              <a:spLocks noChangeShapeType="1"/>
            </p:cNvSpPr>
            <p:nvPr/>
          </p:nvSpPr>
          <p:spPr bwMode="auto">
            <a:xfrm flipV="1">
              <a:off x="6300936" y="4689371"/>
              <a:ext cx="0" cy="1260014"/>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grpSp>
          <p:nvGrpSpPr>
            <p:cNvPr id="1364" name="グループ化 1363"/>
            <p:cNvGrpSpPr/>
            <p:nvPr/>
          </p:nvGrpSpPr>
          <p:grpSpPr>
            <a:xfrm rot="5400000">
              <a:off x="4635901" y="5829899"/>
              <a:ext cx="270041" cy="180007"/>
              <a:chOff x="1601967" y="3609002"/>
              <a:chExt cx="540039" cy="360048"/>
            </a:xfrm>
          </p:grpSpPr>
          <p:grpSp>
            <p:nvGrpSpPr>
              <p:cNvPr id="1382" name="グループ化 1381"/>
              <p:cNvGrpSpPr/>
              <p:nvPr/>
            </p:nvGrpSpPr>
            <p:grpSpPr>
              <a:xfrm rot="10800000">
                <a:off x="1871970" y="3609002"/>
                <a:ext cx="270036" cy="360048"/>
                <a:chOff x="6282228" y="1988808"/>
                <a:chExt cx="270036" cy="360048"/>
              </a:xfrm>
            </p:grpSpPr>
            <p:cxnSp>
              <p:nvCxnSpPr>
                <p:cNvPr id="1389" name="直線コネクタ 138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0" name="直線コネクタ 138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1" name="直線コネクタ 139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92" name="直線コネクタ 139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83" name="グループ化 1382"/>
              <p:cNvGrpSpPr/>
              <p:nvPr/>
            </p:nvGrpSpPr>
            <p:grpSpPr>
              <a:xfrm>
                <a:off x="1601967" y="3609002"/>
                <a:ext cx="360048" cy="360048"/>
                <a:chOff x="3131808" y="1628760"/>
                <a:chExt cx="360048" cy="360048"/>
              </a:xfrm>
            </p:grpSpPr>
            <p:cxnSp>
              <p:nvCxnSpPr>
                <p:cNvPr id="1384" name="直線コネクタ 138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5" name="直線コネクタ 138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6" name="直線コネクタ 138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7" name="直線コネクタ 138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88" name="円/楕円 138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365" name="グループ化 1364"/>
            <p:cNvGrpSpPr/>
            <p:nvPr/>
          </p:nvGrpSpPr>
          <p:grpSpPr>
            <a:xfrm>
              <a:off x="4950921" y="5229378"/>
              <a:ext cx="270041" cy="180007"/>
              <a:chOff x="1601967" y="3609002"/>
              <a:chExt cx="540039" cy="360048"/>
            </a:xfrm>
          </p:grpSpPr>
          <p:grpSp>
            <p:nvGrpSpPr>
              <p:cNvPr id="1371" name="グループ化 1370"/>
              <p:cNvGrpSpPr/>
              <p:nvPr/>
            </p:nvGrpSpPr>
            <p:grpSpPr>
              <a:xfrm rot="10800000">
                <a:off x="1871970" y="3609002"/>
                <a:ext cx="270036" cy="360048"/>
                <a:chOff x="6282228" y="1988808"/>
                <a:chExt cx="270036" cy="360048"/>
              </a:xfrm>
            </p:grpSpPr>
            <p:cxnSp>
              <p:nvCxnSpPr>
                <p:cNvPr id="1378" name="直線コネクタ 137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9" name="直線コネクタ 137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0" name="直線コネクタ 137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81" name="直線コネクタ 138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372" name="グループ化 1371"/>
              <p:cNvGrpSpPr/>
              <p:nvPr/>
            </p:nvGrpSpPr>
            <p:grpSpPr>
              <a:xfrm>
                <a:off x="1601967" y="3609002"/>
                <a:ext cx="360048" cy="360048"/>
                <a:chOff x="3131808" y="1628760"/>
                <a:chExt cx="360048" cy="360048"/>
              </a:xfrm>
            </p:grpSpPr>
            <p:cxnSp>
              <p:nvCxnSpPr>
                <p:cNvPr id="1373" name="直線コネクタ 1372"/>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4" name="直線コネクタ 1373"/>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5" name="直線コネクタ 1374"/>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376" name="直線コネクタ 1375"/>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377" name="円/楕円 1376"/>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366" name="Line 46"/>
            <p:cNvSpPr>
              <a:spLocks noChangeShapeType="1"/>
            </p:cNvSpPr>
            <p:nvPr/>
          </p:nvSpPr>
          <p:spPr bwMode="auto">
            <a:xfrm>
              <a:off x="4860920" y="5949386"/>
              <a:ext cx="360003"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7" name="Line 46"/>
            <p:cNvSpPr>
              <a:spLocks noChangeShapeType="1"/>
            </p:cNvSpPr>
            <p:nvPr/>
          </p:nvSpPr>
          <p:spPr bwMode="auto">
            <a:xfrm flipH="1" flipV="1">
              <a:off x="5115425" y="5409380"/>
              <a:ext cx="0" cy="540006"/>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sp>
          <p:nvSpPr>
            <p:cNvPr id="1368" name="Line 46"/>
            <p:cNvSpPr>
              <a:spLocks noChangeShapeType="1"/>
            </p:cNvSpPr>
            <p:nvPr/>
          </p:nvSpPr>
          <p:spPr bwMode="auto">
            <a:xfrm flipH="1" flipV="1">
              <a:off x="5099927" y="4697121"/>
              <a:ext cx="0" cy="50400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69" name="Line 46"/>
            <p:cNvSpPr>
              <a:spLocks noChangeShapeType="1"/>
            </p:cNvSpPr>
            <p:nvPr/>
          </p:nvSpPr>
          <p:spPr bwMode="auto">
            <a:xfrm flipV="1">
              <a:off x="5087416" y="4712619"/>
              <a:ext cx="180002" cy="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370" name="Line 46"/>
            <p:cNvSpPr>
              <a:spLocks noChangeShapeType="1"/>
            </p:cNvSpPr>
            <p:nvPr/>
          </p:nvSpPr>
          <p:spPr bwMode="auto">
            <a:xfrm flipV="1">
              <a:off x="6300936" y="5949386"/>
              <a:ext cx="540006" cy="0"/>
            </a:xfrm>
            <a:prstGeom prst="line">
              <a:avLst/>
            </a:prstGeom>
            <a:noFill/>
            <a:ln w="9525">
              <a:solidFill>
                <a:schemeClr val="tx1"/>
              </a:solidFill>
              <a:round/>
              <a:headEnd type="oval" w="sm" len="sm"/>
              <a:tailEnd type="none" w="med" len="med"/>
            </a:ln>
            <a:effectLst/>
          </p:spPr>
          <p:txBody>
            <a:bodyPr wrap="none" lIns="90000" tIns="46800" rIns="90000" bIns="46800" anchor="ctr"/>
            <a:lstStyle/>
            <a:p>
              <a:endParaRPr lang="ja-JP" altLang="en-US"/>
            </a:p>
          </p:txBody>
        </p:sp>
      </p:grpSp>
      <p:grpSp>
        <p:nvGrpSpPr>
          <p:cNvPr id="1508" name="グループ化 1507"/>
          <p:cNvGrpSpPr/>
          <p:nvPr/>
        </p:nvGrpSpPr>
        <p:grpSpPr>
          <a:xfrm>
            <a:off x="6220337" y="5229019"/>
            <a:ext cx="792121" cy="680036"/>
            <a:chOff x="2361128" y="5229020"/>
            <a:chExt cx="1040859" cy="765036"/>
          </a:xfrm>
        </p:grpSpPr>
        <p:grpSp>
          <p:nvGrpSpPr>
            <p:cNvPr id="1533" name="グループ化 1532"/>
            <p:cNvGrpSpPr/>
            <p:nvPr/>
          </p:nvGrpSpPr>
          <p:grpSpPr>
            <a:xfrm rot="16200000">
              <a:off x="2910215" y="5772280"/>
              <a:ext cx="263544" cy="180007"/>
              <a:chOff x="1691979" y="3609002"/>
              <a:chExt cx="527045" cy="360048"/>
            </a:xfrm>
          </p:grpSpPr>
          <p:grpSp>
            <p:nvGrpSpPr>
              <p:cNvPr id="1553" name="グループ化 1552"/>
              <p:cNvGrpSpPr/>
              <p:nvPr/>
            </p:nvGrpSpPr>
            <p:grpSpPr>
              <a:xfrm rot="10800000">
                <a:off x="1871970" y="3609002"/>
                <a:ext cx="270036" cy="360048"/>
                <a:chOff x="6282228" y="1988808"/>
                <a:chExt cx="270036" cy="360048"/>
              </a:xfrm>
            </p:grpSpPr>
            <p:cxnSp>
              <p:nvCxnSpPr>
                <p:cNvPr id="1560" name="直線コネクタ 1559"/>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1" name="直線コネクタ 1560"/>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2" name="直線コネクタ 1561"/>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63" name="直線コネクタ 1562"/>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54" name="グループ化 1553"/>
              <p:cNvGrpSpPr/>
              <p:nvPr/>
            </p:nvGrpSpPr>
            <p:grpSpPr>
              <a:xfrm>
                <a:off x="1691979" y="3609002"/>
                <a:ext cx="527045" cy="360048"/>
                <a:chOff x="3221820" y="1628760"/>
                <a:chExt cx="527045" cy="360048"/>
              </a:xfrm>
            </p:grpSpPr>
            <p:cxnSp>
              <p:nvCxnSpPr>
                <p:cNvPr id="1555" name="直線コネクタ 1554"/>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6" name="直線コネクタ 1555"/>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7" name="直線コネクタ 1556"/>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8" name="直線コネクタ 1557"/>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59" name="円/楕円 1558"/>
                <p:cNvSpPr/>
                <p:nvPr/>
              </p:nvSpPr>
              <p:spPr>
                <a:xfrm>
                  <a:off x="3658852" y="1763769"/>
                  <a:ext cx="90013" cy="90013"/>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grpSp>
          <p:nvGrpSpPr>
            <p:cNvPr id="1534" name="グループ化 1533"/>
            <p:cNvGrpSpPr/>
            <p:nvPr/>
          </p:nvGrpSpPr>
          <p:grpSpPr>
            <a:xfrm rot="5400000">
              <a:off x="2906965" y="5274037"/>
              <a:ext cx="270041" cy="180007"/>
              <a:chOff x="1601967" y="3609002"/>
              <a:chExt cx="540039" cy="360048"/>
            </a:xfrm>
          </p:grpSpPr>
          <p:grpSp>
            <p:nvGrpSpPr>
              <p:cNvPr id="1542" name="グループ化 1541"/>
              <p:cNvGrpSpPr/>
              <p:nvPr/>
            </p:nvGrpSpPr>
            <p:grpSpPr>
              <a:xfrm rot="10800000">
                <a:off x="1871970" y="3609002"/>
                <a:ext cx="270036" cy="360048"/>
                <a:chOff x="6282228" y="1988808"/>
                <a:chExt cx="270036" cy="360048"/>
              </a:xfrm>
            </p:grpSpPr>
            <p:cxnSp>
              <p:nvCxnSpPr>
                <p:cNvPr id="1549" name="直線コネクタ 154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0" name="直線コネクタ 154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1" name="直線コネクタ 155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52" name="直線コネクタ 155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43" name="グループ化 1542"/>
              <p:cNvGrpSpPr/>
              <p:nvPr/>
            </p:nvGrpSpPr>
            <p:grpSpPr>
              <a:xfrm>
                <a:off x="1601967" y="3609002"/>
                <a:ext cx="360048" cy="360048"/>
                <a:chOff x="3131808" y="1628760"/>
                <a:chExt cx="360048" cy="360048"/>
              </a:xfrm>
            </p:grpSpPr>
            <p:cxnSp>
              <p:nvCxnSpPr>
                <p:cNvPr id="1544" name="直線コネクタ 154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5" name="直線コネクタ 154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6" name="直線コネクタ 154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47" name="直線コネクタ 154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548" name="円/楕円 154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sp>
          <p:nvSpPr>
            <p:cNvPr id="1535" name="Line 46"/>
            <p:cNvSpPr>
              <a:spLocks noChangeShapeType="1"/>
            </p:cNvSpPr>
            <p:nvPr/>
          </p:nvSpPr>
          <p:spPr bwMode="auto">
            <a:xfrm flipH="1" flipV="1">
              <a:off x="3041983" y="5499022"/>
              <a:ext cx="0" cy="247770"/>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6" name="Line 46"/>
            <p:cNvSpPr>
              <a:spLocks noChangeShapeType="1"/>
            </p:cNvSpPr>
            <p:nvPr/>
          </p:nvSpPr>
          <p:spPr bwMode="auto">
            <a:xfrm flipV="1">
              <a:off x="2681979" y="538577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7" name="Line 46"/>
            <p:cNvSpPr>
              <a:spLocks noChangeShapeType="1"/>
            </p:cNvSpPr>
            <p:nvPr/>
          </p:nvSpPr>
          <p:spPr bwMode="auto">
            <a:xfrm flipV="1">
              <a:off x="2681979"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8" name="Line 46"/>
            <p:cNvSpPr>
              <a:spLocks noChangeShapeType="1"/>
            </p:cNvSpPr>
            <p:nvPr/>
          </p:nvSpPr>
          <p:spPr bwMode="auto">
            <a:xfrm flipV="1">
              <a:off x="3131984" y="5874525"/>
              <a:ext cx="270002" cy="1"/>
            </a:xfrm>
            <a:prstGeom prst="line">
              <a:avLst/>
            </a:prstGeom>
            <a:noFill/>
            <a:ln w="9525">
              <a:solidFill>
                <a:schemeClr val="tx1"/>
              </a:solidFill>
              <a:round/>
              <a:headEnd type="none" w="sm" len="sm"/>
              <a:tailEnd type="none" w="med" len="med"/>
            </a:ln>
            <a:effectLst/>
          </p:spPr>
          <p:txBody>
            <a:bodyPr wrap="none" lIns="90000" tIns="46800" rIns="90000" bIns="46800" anchor="ctr"/>
            <a:lstStyle/>
            <a:p>
              <a:endParaRPr lang="ja-JP" altLang="en-US"/>
            </a:p>
          </p:txBody>
        </p:sp>
        <p:sp>
          <p:nvSpPr>
            <p:cNvPr id="1539" name="Freeform 10"/>
            <p:cNvSpPr>
              <a:spLocks/>
            </p:cNvSpPr>
            <p:nvPr/>
          </p:nvSpPr>
          <p:spPr bwMode="auto">
            <a:xfrm rot="5400000" flipV="1">
              <a:off x="3019216" y="5498542"/>
              <a:ext cx="495540"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41" name="Line 46"/>
            <p:cNvSpPr>
              <a:spLocks noChangeShapeType="1"/>
            </p:cNvSpPr>
            <p:nvPr/>
          </p:nvSpPr>
          <p:spPr bwMode="auto">
            <a:xfrm flipV="1">
              <a:off x="2361128" y="5626621"/>
              <a:ext cx="680728" cy="0"/>
            </a:xfrm>
            <a:prstGeom prst="line">
              <a:avLst/>
            </a:prstGeom>
            <a:noFill/>
            <a:ln w="9525">
              <a:solidFill>
                <a:schemeClr val="tx1"/>
              </a:solidFill>
              <a:round/>
              <a:headEnd type="none" w="sm" len="sm"/>
              <a:tailEnd type="oval" w="sm" len="sm"/>
            </a:ln>
            <a:effectLst/>
          </p:spPr>
          <p:txBody>
            <a:bodyPr wrap="none" lIns="90000" tIns="46800" rIns="90000" bIns="46800" anchor="ctr"/>
            <a:lstStyle/>
            <a:p>
              <a:endParaRPr lang="ja-JP" altLang="en-US"/>
            </a:p>
          </p:txBody>
        </p:sp>
      </p:grpSp>
      <p:sp>
        <p:nvSpPr>
          <p:cNvPr id="1564" name="Freeform 10"/>
          <p:cNvSpPr>
            <a:spLocks/>
          </p:cNvSpPr>
          <p:nvPr/>
        </p:nvSpPr>
        <p:spPr bwMode="auto">
          <a:xfrm rot="5400000" flipV="1">
            <a:off x="6015004" y="4950016"/>
            <a:ext cx="432000"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5" name="Freeform 10"/>
          <p:cNvSpPr>
            <a:spLocks/>
          </p:cNvSpPr>
          <p:nvPr/>
        </p:nvSpPr>
        <p:spPr bwMode="auto">
          <a:xfrm rot="5400000" flipH="1" flipV="1">
            <a:off x="5979004" y="5824031"/>
            <a:ext cx="504000" cy="45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6" name="Freeform 10"/>
          <p:cNvSpPr>
            <a:spLocks/>
          </p:cNvSpPr>
          <p:nvPr/>
        </p:nvSpPr>
        <p:spPr bwMode="auto">
          <a:xfrm rot="5400000" flipV="1">
            <a:off x="6660776" y="3321981"/>
            <a:ext cx="1044000" cy="35803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67" name="Freeform 10"/>
          <p:cNvSpPr>
            <a:spLocks/>
          </p:cNvSpPr>
          <p:nvPr/>
        </p:nvSpPr>
        <p:spPr bwMode="auto">
          <a:xfrm rot="5400000" flipH="1" flipV="1">
            <a:off x="6602901" y="4843120"/>
            <a:ext cx="1152000" cy="36577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620" name="正方形/長方形 1619"/>
          <p:cNvSpPr/>
          <p:nvPr/>
        </p:nvSpPr>
        <p:spPr bwMode="auto">
          <a:xfrm>
            <a:off x="3935976" y="908972"/>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ea typeface="メイリオ" panose="020B0604030504040204" pitchFamily="50" charset="-128"/>
              </a:rPr>
              <a:t>16*4+6*3=82</a:t>
            </a:r>
            <a:endParaRPr lang="ja-JP" altLang="en-US" dirty="0">
              <a:ea typeface="メイリオ" panose="020B0604030504040204" pitchFamily="50" charset="-128"/>
            </a:endParaRPr>
          </a:p>
        </p:txBody>
      </p:sp>
      <p:sp>
        <p:nvSpPr>
          <p:cNvPr id="3" name="Line 46">
            <a:extLst>
              <a:ext uri="{FF2B5EF4-FFF2-40B4-BE49-F238E27FC236}">
                <a16:creationId xmlns:a16="http://schemas.microsoft.com/office/drawing/2014/main" id="{628DF30E-E4A2-F2FF-C3B9-458592F1096C}"/>
              </a:ext>
            </a:extLst>
          </p:cNvPr>
          <p:cNvSpPr>
            <a:spLocks noChangeShapeType="1"/>
          </p:cNvSpPr>
          <p:nvPr/>
        </p:nvSpPr>
        <p:spPr bwMode="auto">
          <a:xfrm flipV="1">
            <a:off x="6226461" y="2978996"/>
            <a:ext cx="0" cy="2610029"/>
          </a:xfrm>
          <a:prstGeom prst="line">
            <a:avLst/>
          </a:prstGeom>
          <a:noFill/>
          <a:ln w="9525">
            <a:solidFill>
              <a:schemeClr val="tx1"/>
            </a:solidFill>
            <a:round/>
            <a:headEnd type="none" w="sm" len="sm"/>
            <a:tailEnd type="oval" w="sm" len="sm"/>
          </a:ln>
          <a:effectLst/>
        </p:spPr>
        <p:txBody>
          <a:bodyPr wrap="none" lIns="90000" tIns="46800" rIns="90000" bIns="46800" anchor="ctr"/>
          <a:lstStyle/>
          <a:p>
            <a:endParaRPr lang="ja-JP" altLang="en-US"/>
          </a:p>
        </p:txBody>
      </p:sp>
      <p:sp>
        <p:nvSpPr>
          <p:cNvPr id="576" name="円/楕円 662">
            <a:extLst>
              <a:ext uri="{FF2B5EF4-FFF2-40B4-BE49-F238E27FC236}">
                <a16:creationId xmlns:a16="http://schemas.microsoft.com/office/drawing/2014/main" id="{191010A9-EC55-2A20-9835-4D35912775BE}"/>
              </a:ext>
            </a:extLst>
          </p:cNvPr>
          <p:cNvSpPr/>
          <p:nvPr/>
        </p:nvSpPr>
        <p:spPr>
          <a:xfrm rot="16200000">
            <a:off x="6718482" y="3067643"/>
            <a:ext cx="40009" cy="34248"/>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Tree>
    <p:extLst>
      <p:ext uri="{BB962C8B-B14F-4D97-AF65-F5344CB8AC3E}">
        <p14:creationId xmlns:p14="http://schemas.microsoft.com/office/powerpoint/2010/main" val="16889333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3575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と </a:t>
            </a:r>
            <a:r>
              <a:rPr kumimoji="1" lang="en-US" altLang="ja-JP" dirty="0"/>
              <a:t>DRAM </a:t>
            </a:r>
            <a:r>
              <a:rPr kumimoji="1" lang="ja-JP" altLang="en-US" dirty="0"/>
              <a:t>のセル（</a:t>
            </a:r>
            <a:r>
              <a:rPr kumimoji="1" lang="en-US" altLang="ja-JP" dirty="0"/>
              <a:t>1bit</a:t>
            </a:r>
            <a:r>
              <a:rPr kumimoji="1" lang="ja-JP" altLang="en-US" dirty="0"/>
              <a:t>）</a:t>
            </a:r>
          </a:p>
        </p:txBody>
      </p:sp>
      <p:sp>
        <p:nvSpPr>
          <p:cNvPr id="3" name="テキスト プレースホルダー 2">
            <a:extLst>
              <a:ext uri="{FF2B5EF4-FFF2-40B4-BE49-F238E27FC236}">
                <a16:creationId xmlns:a16="http://schemas.microsoft.com/office/drawing/2014/main" id="{E6AEB639-6947-4C06-A6E1-A480E0492DB5}"/>
              </a:ext>
            </a:extLst>
          </p:cNvPr>
          <p:cNvSpPr>
            <a:spLocks noGrp="1"/>
          </p:cNvSpPr>
          <p:nvPr>
            <p:ph type="body" sz="quarter" idx="10"/>
          </p:nvPr>
        </p:nvSpPr>
        <p:spPr>
          <a:xfrm>
            <a:off x="2135956" y="5679025"/>
            <a:ext cx="8280092" cy="629700"/>
          </a:xfrm>
        </p:spPr>
        <p:txBody>
          <a:bodyPr/>
          <a:lstStyle/>
          <a:p>
            <a:pPr lvl="1"/>
            <a:r>
              <a:rPr kumimoji="1" lang="en-US" altLang="ja-JP" dirty="0"/>
              <a:t>D-FF </a:t>
            </a:r>
            <a:r>
              <a:rPr kumimoji="1" lang="ja-JP" altLang="en-US" dirty="0"/>
              <a:t>よりも圧倒的に単純</a:t>
            </a: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4025977" y="2707559"/>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4025977" y="3428284"/>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5375992" y="3068996"/>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5015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2855964" y="3068996"/>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3215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5735996" y="3429001"/>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grpSp>
        <p:nvGrpSpPr>
          <p:cNvPr id="56" name="グループ化 55">
            <a:extLst>
              <a:ext uri="{FF2B5EF4-FFF2-40B4-BE49-F238E27FC236}">
                <a16:creationId xmlns:a16="http://schemas.microsoft.com/office/drawing/2014/main" id="{B2772659-A00E-4413-9EB6-D696321711C2}"/>
              </a:ext>
            </a:extLst>
          </p:cNvPr>
          <p:cNvGrpSpPr/>
          <p:nvPr/>
        </p:nvGrpSpPr>
        <p:grpSpPr>
          <a:xfrm>
            <a:off x="8256024" y="3068996"/>
            <a:ext cx="360004" cy="360004"/>
            <a:chOff x="4932004" y="2708992"/>
            <a:chExt cx="360004" cy="360004"/>
          </a:xfrm>
        </p:grpSpPr>
        <p:cxnSp>
          <p:nvCxnSpPr>
            <p:cNvPr id="57" name="直線コネクタ 56">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04ACCC42-4E49-4867-BFDC-671C90B11355}"/>
              </a:ext>
            </a:extLst>
          </p:cNvPr>
          <p:cNvCxnSpPr>
            <a:cxnSpLocks/>
          </p:cNvCxnSpPr>
          <p:nvPr/>
        </p:nvCxnSpPr>
        <p:spPr>
          <a:xfrm>
            <a:off x="789602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9FA852A0-5D43-4C5B-8D71-AF1C94363457}"/>
              </a:ext>
            </a:extLst>
          </p:cNvPr>
          <p:cNvCxnSpPr>
            <a:cxnSpLocks/>
          </p:cNvCxnSpPr>
          <p:nvPr/>
        </p:nvCxnSpPr>
        <p:spPr>
          <a:xfrm>
            <a:off x="8616028" y="3429001"/>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2495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2495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DDEA31C-DEA3-4027-A96D-5EC4FD0DCD35}"/>
              </a:ext>
            </a:extLst>
          </p:cNvPr>
          <p:cNvCxnSpPr>
            <a:cxnSpLocks/>
          </p:cNvCxnSpPr>
          <p:nvPr/>
        </p:nvCxnSpPr>
        <p:spPr>
          <a:xfrm flipV="1">
            <a:off x="789602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97" name="グループ化 96">
            <a:extLst>
              <a:ext uri="{FF2B5EF4-FFF2-40B4-BE49-F238E27FC236}">
                <a16:creationId xmlns:a16="http://schemas.microsoft.com/office/drawing/2014/main" id="{DE115225-CFB0-4004-A206-CB9F39CB2EA1}"/>
              </a:ext>
            </a:extLst>
          </p:cNvPr>
          <p:cNvGrpSpPr/>
          <p:nvPr/>
        </p:nvGrpSpPr>
        <p:grpSpPr>
          <a:xfrm>
            <a:off x="8796030" y="3609003"/>
            <a:ext cx="360004" cy="90003"/>
            <a:chOff x="7272030" y="3789004"/>
            <a:chExt cx="360004" cy="90003"/>
          </a:xfrm>
        </p:grpSpPr>
        <p:cxnSp>
          <p:nvCxnSpPr>
            <p:cNvPr id="70" name="直線コネクタ 69">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2" name="直線コネクタ 71">
            <a:extLst>
              <a:ext uri="{FF2B5EF4-FFF2-40B4-BE49-F238E27FC236}">
                <a16:creationId xmlns:a16="http://schemas.microsoft.com/office/drawing/2014/main" id="{980D156E-BEF6-49E5-BEDB-E654CED1DF10}"/>
              </a:ext>
            </a:extLst>
          </p:cNvPr>
          <p:cNvCxnSpPr>
            <a:cxnSpLocks/>
          </p:cNvCxnSpPr>
          <p:nvPr/>
        </p:nvCxnSpPr>
        <p:spPr>
          <a:xfrm flipV="1">
            <a:off x="8976032" y="3429000"/>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DDF1097C-113D-483C-86EC-803338665142}"/>
              </a:ext>
            </a:extLst>
          </p:cNvPr>
          <p:cNvCxnSpPr>
            <a:cxnSpLocks/>
          </p:cNvCxnSpPr>
          <p:nvPr/>
        </p:nvCxnSpPr>
        <p:spPr>
          <a:xfrm flipV="1">
            <a:off x="8976032" y="3699004"/>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6096000" y="2348989"/>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80" name="グループ化 79">
            <a:extLst>
              <a:ext uri="{FF2B5EF4-FFF2-40B4-BE49-F238E27FC236}">
                <a16:creationId xmlns:a16="http://schemas.microsoft.com/office/drawing/2014/main" id="{38D32D1F-3EE8-498D-B8DB-C60684B30C49}"/>
              </a:ext>
            </a:extLst>
          </p:cNvPr>
          <p:cNvGrpSpPr/>
          <p:nvPr/>
        </p:nvGrpSpPr>
        <p:grpSpPr>
          <a:xfrm>
            <a:off x="8796031" y="3969006"/>
            <a:ext cx="326325" cy="117556"/>
            <a:chOff x="2531592" y="5357236"/>
            <a:chExt cx="326325" cy="117556"/>
          </a:xfrm>
        </p:grpSpPr>
        <p:cxnSp>
          <p:nvCxnSpPr>
            <p:cNvPr id="77" name="直線コネクタ 76">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81" name="正方形/長方形 80">
            <a:extLst>
              <a:ext uri="{FF2B5EF4-FFF2-40B4-BE49-F238E27FC236}">
                <a16:creationId xmlns:a16="http://schemas.microsoft.com/office/drawing/2014/main" id="{2C6D6698-CD93-4E4F-B992-4C16E85E7ED2}"/>
              </a:ext>
            </a:extLst>
          </p:cNvPr>
          <p:cNvSpPr/>
          <p:nvPr/>
        </p:nvSpPr>
        <p:spPr bwMode="auto">
          <a:xfrm>
            <a:off x="3035966" y="1988984"/>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ea typeface="メイリオ" panose="020B0604030504040204" pitchFamily="50" charset="-128"/>
              </a:rPr>
              <a:t>SRAM</a:t>
            </a:r>
            <a:r>
              <a:rPr lang="ja-JP" altLang="en-US" dirty="0">
                <a:ea typeface="メイリオ" panose="020B0604030504040204" pitchFamily="50" charset="-128"/>
              </a:rPr>
              <a:t>：</a:t>
            </a:r>
            <a:r>
              <a:rPr lang="en-US" altLang="ja-JP" dirty="0">
                <a:ea typeface="メイリオ" panose="020B0604030504040204" pitchFamily="50" charset="-128"/>
              </a:rPr>
              <a:t>2 + 2*2 = 6</a:t>
            </a:r>
            <a:endParaRPr lang="ja-JP" altLang="en-US" dirty="0">
              <a:ea typeface="メイリオ" panose="020B0604030504040204" pitchFamily="50" charset="-128"/>
            </a:endParaRPr>
          </a:p>
        </p:txBody>
      </p:sp>
      <p:sp>
        <p:nvSpPr>
          <p:cNvPr id="82" name="正方形/長方形 81">
            <a:extLst>
              <a:ext uri="{FF2B5EF4-FFF2-40B4-BE49-F238E27FC236}">
                <a16:creationId xmlns:a16="http://schemas.microsoft.com/office/drawing/2014/main" id="{92DC1F23-AC38-454C-BC7F-E4136A1AC959}"/>
              </a:ext>
            </a:extLst>
          </p:cNvPr>
          <p:cNvSpPr/>
          <p:nvPr/>
        </p:nvSpPr>
        <p:spPr bwMode="auto">
          <a:xfrm>
            <a:off x="7356014" y="1988984"/>
            <a:ext cx="306003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ea typeface="メイリオ" panose="020B0604030504040204" pitchFamily="50" charset="-128"/>
              </a:rPr>
              <a:t>DRAM</a:t>
            </a:r>
            <a:r>
              <a:rPr lang="ja-JP" altLang="en-US" dirty="0">
                <a:ea typeface="メイリオ" panose="020B0604030504040204" pitchFamily="50" charset="-128"/>
              </a:rPr>
              <a:t>：</a:t>
            </a:r>
            <a:r>
              <a:rPr lang="en-US" altLang="ja-JP" dirty="0">
                <a:ea typeface="メイリオ" panose="020B0604030504040204" pitchFamily="50" charset="-128"/>
              </a:rPr>
              <a:t>1 +</a:t>
            </a:r>
            <a:r>
              <a:rPr lang="ja-JP" altLang="en-US" dirty="0">
                <a:ea typeface="メイリオ" panose="020B0604030504040204" pitchFamily="50" charset="-128"/>
              </a:rPr>
              <a:t>コンデンサ１</a:t>
            </a:r>
          </a:p>
        </p:txBody>
      </p: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5555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3035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2135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5C16D03F-62AA-402B-A9AC-ADCF020FC7D6}"/>
              </a:ext>
            </a:extLst>
          </p:cNvPr>
          <p:cNvCxnSpPr>
            <a:cxnSpLocks/>
          </p:cNvCxnSpPr>
          <p:nvPr/>
        </p:nvCxnSpPr>
        <p:spPr>
          <a:xfrm flipV="1">
            <a:off x="843602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287BB93E-CC11-4F3A-AF7A-8FAF390455E8}"/>
              </a:ext>
            </a:extLst>
          </p:cNvPr>
          <p:cNvCxnSpPr>
            <a:cxnSpLocks/>
          </p:cNvCxnSpPr>
          <p:nvPr/>
        </p:nvCxnSpPr>
        <p:spPr>
          <a:xfrm>
            <a:off x="7536016" y="2708992"/>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07422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920B7C0-D0C9-41DE-A307-859A7517D5C9}"/>
              </a:ext>
            </a:extLst>
          </p:cNvPr>
          <p:cNvSpPr>
            <a:spLocks noGrp="1"/>
          </p:cNvSpPr>
          <p:nvPr>
            <p:ph type="title"/>
          </p:nvPr>
        </p:nvSpPr>
        <p:spPr/>
        <p:txBody>
          <a:bodyPr/>
          <a:lstStyle/>
          <a:p>
            <a:r>
              <a:rPr kumimoji="1" lang="en-US" altLang="ja-JP" dirty="0"/>
              <a:t>SRAM </a:t>
            </a:r>
            <a:r>
              <a:rPr kumimoji="1" lang="ja-JP" altLang="en-US" dirty="0"/>
              <a:t>と </a:t>
            </a:r>
            <a:r>
              <a:rPr kumimoji="1" lang="en-US" altLang="ja-JP" dirty="0"/>
              <a:t>DRAM</a:t>
            </a:r>
            <a:r>
              <a:rPr kumimoji="1" lang="ja-JP" altLang="en-US" dirty="0"/>
              <a:t>（</a:t>
            </a:r>
            <a:r>
              <a:rPr lang="en-US" altLang="ja-JP" dirty="0"/>
              <a:t>4</a:t>
            </a:r>
            <a:r>
              <a:rPr kumimoji="1" lang="en-US" altLang="ja-JP" dirty="0"/>
              <a:t>bit</a:t>
            </a:r>
            <a:r>
              <a:rPr kumimoji="1" lang="ja-JP" altLang="en-US" dirty="0"/>
              <a:t>）</a:t>
            </a:r>
          </a:p>
        </p:txBody>
      </p:sp>
      <p:sp>
        <p:nvSpPr>
          <p:cNvPr id="81" name="正方形/長方形 80">
            <a:extLst>
              <a:ext uri="{FF2B5EF4-FFF2-40B4-BE49-F238E27FC236}">
                <a16:creationId xmlns:a16="http://schemas.microsoft.com/office/drawing/2014/main" id="{2C6D6698-CD93-4E4F-B992-4C16E85E7ED2}"/>
              </a:ext>
            </a:extLst>
          </p:cNvPr>
          <p:cNvSpPr/>
          <p:nvPr/>
        </p:nvSpPr>
        <p:spPr bwMode="auto">
          <a:xfrm>
            <a:off x="3125967" y="1088974"/>
            <a:ext cx="2520028"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ea typeface="メイリオ" panose="020B0604030504040204" pitchFamily="50" charset="-128"/>
              </a:rPr>
              <a:t>SRAM</a:t>
            </a:r>
            <a:r>
              <a:rPr lang="ja-JP" altLang="en-US" dirty="0">
                <a:ea typeface="メイリオ" panose="020B0604030504040204" pitchFamily="50" charset="-128"/>
              </a:rPr>
              <a:t>：</a:t>
            </a:r>
            <a:r>
              <a:rPr lang="en-US" altLang="ja-JP" dirty="0">
                <a:ea typeface="メイリオ" panose="020B0604030504040204" pitchFamily="50" charset="-128"/>
              </a:rPr>
              <a:t>6*4 = 24</a:t>
            </a:r>
            <a:endParaRPr lang="ja-JP" altLang="en-US" dirty="0">
              <a:ea typeface="メイリオ" panose="020B0604030504040204" pitchFamily="50" charset="-128"/>
            </a:endParaRPr>
          </a:p>
        </p:txBody>
      </p:sp>
      <p:sp>
        <p:nvSpPr>
          <p:cNvPr id="82" name="正方形/長方形 81">
            <a:extLst>
              <a:ext uri="{FF2B5EF4-FFF2-40B4-BE49-F238E27FC236}">
                <a16:creationId xmlns:a16="http://schemas.microsoft.com/office/drawing/2014/main" id="{92DC1F23-AC38-454C-BC7F-E4136A1AC959}"/>
              </a:ext>
            </a:extLst>
          </p:cNvPr>
          <p:cNvSpPr/>
          <p:nvPr/>
        </p:nvSpPr>
        <p:spPr bwMode="auto">
          <a:xfrm>
            <a:off x="6546005" y="1088974"/>
            <a:ext cx="306003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ea typeface="メイリオ" panose="020B0604030504040204" pitchFamily="50" charset="-128"/>
              </a:rPr>
              <a:t>DRAM</a:t>
            </a:r>
            <a:r>
              <a:rPr lang="ja-JP" altLang="en-US" dirty="0">
                <a:ea typeface="メイリオ" panose="020B0604030504040204" pitchFamily="50" charset="-128"/>
              </a:rPr>
              <a:t>：</a:t>
            </a:r>
            <a:r>
              <a:rPr lang="en-US" altLang="ja-JP" dirty="0">
                <a:ea typeface="メイリオ" panose="020B0604030504040204" pitchFamily="50" charset="-128"/>
              </a:rPr>
              <a:t>4 +</a:t>
            </a:r>
            <a:r>
              <a:rPr lang="ja-JP" altLang="en-US">
                <a:ea typeface="メイリオ" panose="020B0604030504040204" pitchFamily="50" charset="-128"/>
              </a:rPr>
              <a:t>コンデンサ </a:t>
            </a:r>
            <a:r>
              <a:rPr lang="en-US" altLang="ja-JP">
                <a:ea typeface="メイリオ" panose="020B0604030504040204" pitchFamily="50" charset="-128"/>
              </a:rPr>
              <a:t>4</a:t>
            </a:r>
            <a:endParaRPr lang="ja-JP" altLang="en-US" dirty="0">
              <a:ea typeface="メイリオ" panose="020B0604030504040204" pitchFamily="50" charset="-128"/>
            </a:endParaRPr>
          </a:p>
        </p:txBody>
      </p:sp>
      <p:grpSp>
        <p:nvGrpSpPr>
          <p:cNvPr id="11" name="グループ化 10">
            <a:extLst>
              <a:ext uri="{FF2B5EF4-FFF2-40B4-BE49-F238E27FC236}">
                <a16:creationId xmlns:a16="http://schemas.microsoft.com/office/drawing/2014/main" id="{5F89F5AB-8AA3-41DC-AD48-EDB4634E09E9}"/>
              </a:ext>
            </a:extLst>
          </p:cNvPr>
          <p:cNvGrpSpPr/>
          <p:nvPr/>
        </p:nvGrpSpPr>
        <p:grpSpPr>
          <a:xfrm>
            <a:off x="2675962" y="1628980"/>
            <a:ext cx="3420038" cy="4770054"/>
            <a:chOff x="611956" y="908972"/>
            <a:chExt cx="4320048" cy="5940067"/>
          </a:xfrm>
        </p:grpSpPr>
        <p:grpSp>
          <p:nvGrpSpPr>
            <p:cNvPr id="4" name="グループ化 3">
              <a:extLst>
                <a:ext uri="{FF2B5EF4-FFF2-40B4-BE49-F238E27FC236}">
                  <a16:creationId xmlns:a16="http://schemas.microsoft.com/office/drawing/2014/main" id="{462E64C4-0EB7-4BAC-9C3E-6587AA35DC45}"/>
                </a:ext>
              </a:extLst>
            </p:cNvPr>
            <p:cNvGrpSpPr/>
            <p:nvPr/>
          </p:nvGrpSpPr>
          <p:grpSpPr>
            <a:xfrm>
              <a:off x="611956" y="908972"/>
              <a:ext cx="4320048" cy="1620020"/>
              <a:chOff x="611956" y="2528990"/>
              <a:chExt cx="4320048" cy="1620020"/>
            </a:xfrm>
          </p:grpSpPr>
          <p:sp>
            <p:nvSpPr>
              <p:cNvPr id="51" name="正方形/長方形 50">
                <a:extLst>
                  <a:ext uri="{FF2B5EF4-FFF2-40B4-BE49-F238E27FC236}">
                    <a16:creationId xmlns:a16="http://schemas.microsoft.com/office/drawing/2014/main" id="{3DD7262D-3274-473E-B2E1-F40123548E2F}"/>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5" name="Picture 30" descr="NOT">
                <a:extLst>
                  <a:ext uri="{FF2B5EF4-FFF2-40B4-BE49-F238E27FC236}">
                    <a16:creationId xmlns:a16="http://schemas.microsoft.com/office/drawing/2014/main" id="{0794AC19-A550-4240-83B1-11644B63A990}"/>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6" name="Picture 31" descr="NOT">
                <a:extLst>
                  <a:ext uri="{FF2B5EF4-FFF2-40B4-BE49-F238E27FC236}">
                    <a16:creationId xmlns:a16="http://schemas.microsoft.com/office/drawing/2014/main" id="{0CB53EC0-4D6B-4A82-AA1A-BDBC8EBBB1B0}"/>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43" name="グループ化 42">
                <a:extLst>
                  <a:ext uri="{FF2B5EF4-FFF2-40B4-BE49-F238E27FC236}">
                    <a16:creationId xmlns:a16="http://schemas.microsoft.com/office/drawing/2014/main" id="{2E2C44F0-1023-431F-9CAE-76D98F4DEBBA}"/>
                  </a:ext>
                </a:extLst>
              </p:cNvPr>
              <p:cNvGrpSpPr/>
              <p:nvPr/>
            </p:nvGrpSpPr>
            <p:grpSpPr>
              <a:xfrm>
                <a:off x="3851992" y="3068996"/>
                <a:ext cx="360004" cy="360004"/>
                <a:chOff x="4932004" y="2708992"/>
                <a:chExt cx="360004" cy="360004"/>
              </a:xfrm>
            </p:grpSpPr>
            <p:cxnSp>
              <p:nvCxnSpPr>
                <p:cNvPr id="26" name="直線コネクタ 25">
                  <a:extLst>
                    <a:ext uri="{FF2B5EF4-FFF2-40B4-BE49-F238E27FC236}">
                      <a16:creationId xmlns:a16="http://schemas.microsoft.com/office/drawing/2014/main" id="{C6C212B0-E8E2-4305-B0F4-EC4C04DC91A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DADA5CC7-BFCA-4009-B807-BDA44F510924}"/>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6CE11CEA-71E0-4C39-9D33-FDB216731682}"/>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763186B6-1209-4A10-8E6C-4E78E05E46D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8" name="直線コネクタ 17">
                <a:extLst>
                  <a:ext uri="{FF2B5EF4-FFF2-40B4-BE49-F238E27FC236}">
                    <a16:creationId xmlns:a16="http://schemas.microsoft.com/office/drawing/2014/main" id="{DE0A7002-3073-49D6-8ABC-00E0FF26DECF}"/>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45" name="グループ化 44">
                <a:extLst>
                  <a:ext uri="{FF2B5EF4-FFF2-40B4-BE49-F238E27FC236}">
                    <a16:creationId xmlns:a16="http://schemas.microsoft.com/office/drawing/2014/main" id="{D778BFE3-A03E-473D-B803-AF62F6EBF32C}"/>
                  </a:ext>
                </a:extLst>
              </p:cNvPr>
              <p:cNvGrpSpPr/>
              <p:nvPr/>
            </p:nvGrpSpPr>
            <p:grpSpPr>
              <a:xfrm>
                <a:off x="1331964" y="3068996"/>
                <a:ext cx="360004" cy="360004"/>
                <a:chOff x="4932004" y="2708992"/>
                <a:chExt cx="360004" cy="360004"/>
              </a:xfrm>
            </p:grpSpPr>
            <p:cxnSp>
              <p:nvCxnSpPr>
                <p:cNvPr id="46" name="直線コネクタ 45">
                  <a:extLst>
                    <a:ext uri="{FF2B5EF4-FFF2-40B4-BE49-F238E27FC236}">
                      <a16:creationId xmlns:a16="http://schemas.microsoft.com/office/drawing/2014/main" id="{2E28824E-1E7E-4E4D-9CBA-A7B6CD2A6BBD}"/>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CC2CA34-64C3-4BE7-98C2-FCE52CD4767F}"/>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D8A6EFF-4579-4DC4-B286-B180B064FD90}"/>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629DA5D9-3BEF-4286-838C-85F006AE79DE}"/>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50" name="直線コネクタ 49">
                <a:extLst>
                  <a:ext uri="{FF2B5EF4-FFF2-40B4-BE49-F238E27FC236}">
                    <a16:creationId xmlns:a16="http://schemas.microsoft.com/office/drawing/2014/main" id="{6DA9E334-E262-4D78-AE9F-D066AE5E5934}"/>
                  </a:ext>
                </a:extLst>
              </p:cNvPr>
              <p:cNvCxnSpPr>
                <a:cxnSpLocks/>
                <a:stCxn id="51"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F6001733-09AD-4DAC-8BA5-9A735951D417}"/>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5135806F-DC95-4CE1-B9BE-E5FB3FE0437F}"/>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A1E25F94-64AD-4B0B-BA8A-8E0E99ACC480}"/>
                  </a:ext>
                </a:extLst>
              </p:cNvPr>
              <p:cNvCxnSpPr>
                <a:cxnSpLocks/>
              </p:cNvCxnSpPr>
              <p:nvPr/>
            </p:nvCxnSpPr>
            <p:spPr>
              <a:xfrm flipV="1">
                <a:off x="971960" y="2528990"/>
                <a:ext cx="0" cy="1620018"/>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428BCDB-12D7-414C-92E6-903ABDFB1719}"/>
                  </a:ext>
                </a:extLst>
              </p:cNvPr>
              <p:cNvCxnSpPr>
                <a:cxnSpLocks/>
              </p:cNvCxnSpPr>
              <p:nvPr/>
            </p:nvCxnSpPr>
            <p:spPr>
              <a:xfrm flipV="1">
                <a:off x="4572000" y="2528990"/>
                <a:ext cx="0" cy="162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36809C4F-E919-4760-95DB-403B2392206B}"/>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991E2654-AFE3-433F-9E80-1A3D175E7AF8}"/>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5DF913E5-9D7D-4CB2-BF16-5C60949ABA57}"/>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02" name="グループ化 101">
              <a:extLst>
                <a:ext uri="{FF2B5EF4-FFF2-40B4-BE49-F238E27FC236}">
                  <a16:creationId xmlns:a16="http://schemas.microsoft.com/office/drawing/2014/main" id="{85DB32D7-9A51-4712-BEDD-39FF75E5D8AA}"/>
                </a:ext>
              </a:extLst>
            </p:cNvPr>
            <p:cNvGrpSpPr/>
            <p:nvPr/>
          </p:nvGrpSpPr>
          <p:grpSpPr>
            <a:xfrm>
              <a:off x="611956" y="2168986"/>
              <a:ext cx="4320048" cy="1800021"/>
              <a:chOff x="611956" y="2348988"/>
              <a:chExt cx="4320048" cy="1800021"/>
            </a:xfrm>
          </p:grpSpPr>
          <p:sp>
            <p:nvSpPr>
              <p:cNvPr id="103" name="正方形/長方形 102">
                <a:extLst>
                  <a:ext uri="{FF2B5EF4-FFF2-40B4-BE49-F238E27FC236}">
                    <a16:creationId xmlns:a16="http://schemas.microsoft.com/office/drawing/2014/main" id="{B1A33AB8-EBF1-4B6F-8A3D-D7C6E6897F4F}"/>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104" name="Picture 30" descr="NOT">
                <a:extLst>
                  <a:ext uri="{FF2B5EF4-FFF2-40B4-BE49-F238E27FC236}">
                    <a16:creationId xmlns:a16="http://schemas.microsoft.com/office/drawing/2014/main" id="{53FF33BE-026C-41BC-B131-1FAEF6E7CBFA}"/>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05" name="Picture 31" descr="NOT">
                <a:extLst>
                  <a:ext uri="{FF2B5EF4-FFF2-40B4-BE49-F238E27FC236}">
                    <a16:creationId xmlns:a16="http://schemas.microsoft.com/office/drawing/2014/main" id="{AFA0FF98-F574-4130-89CD-6C9B21DF0F3C}"/>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06" name="グループ化 105">
                <a:extLst>
                  <a:ext uri="{FF2B5EF4-FFF2-40B4-BE49-F238E27FC236}">
                    <a16:creationId xmlns:a16="http://schemas.microsoft.com/office/drawing/2014/main" id="{E272CCFB-D57B-4548-A71D-F78375857029}"/>
                  </a:ext>
                </a:extLst>
              </p:cNvPr>
              <p:cNvGrpSpPr/>
              <p:nvPr/>
            </p:nvGrpSpPr>
            <p:grpSpPr>
              <a:xfrm>
                <a:off x="3851992" y="3068996"/>
                <a:ext cx="360004" cy="360004"/>
                <a:chOff x="4932004" y="2708992"/>
                <a:chExt cx="360004" cy="360004"/>
              </a:xfrm>
            </p:grpSpPr>
            <p:cxnSp>
              <p:nvCxnSpPr>
                <p:cNvPr id="121" name="直線コネクタ 120">
                  <a:extLst>
                    <a:ext uri="{FF2B5EF4-FFF2-40B4-BE49-F238E27FC236}">
                      <a16:creationId xmlns:a16="http://schemas.microsoft.com/office/drawing/2014/main" id="{1458DA48-91AC-47F0-9A8D-0E96D7756D5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a16:creationId xmlns:a16="http://schemas.microsoft.com/office/drawing/2014/main" id="{B9E79FF3-2BDE-4F86-9DE5-2E490BB85412}"/>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3" name="直線コネクタ 122">
                  <a:extLst>
                    <a:ext uri="{FF2B5EF4-FFF2-40B4-BE49-F238E27FC236}">
                      <a16:creationId xmlns:a16="http://schemas.microsoft.com/office/drawing/2014/main" id="{EF63AA20-FE93-4B79-B295-3961B9CECC6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a16:creationId xmlns:a16="http://schemas.microsoft.com/office/drawing/2014/main" id="{D3BC43BD-1FA0-479D-82C3-DD6322BAE7B7}"/>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7" name="直線コネクタ 106">
                <a:extLst>
                  <a:ext uri="{FF2B5EF4-FFF2-40B4-BE49-F238E27FC236}">
                    <a16:creationId xmlns:a16="http://schemas.microsoft.com/office/drawing/2014/main" id="{410300EF-0FB7-4D75-A709-359E46F3CF51}"/>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08" name="グループ化 107">
                <a:extLst>
                  <a:ext uri="{FF2B5EF4-FFF2-40B4-BE49-F238E27FC236}">
                    <a16:creationId xmlns:a16="http://schemas.microsoft.com/office/drawing/2014/main" id="{C4A227B8-2C8F-452D-A82A-20B77A6A76F0}"/>
                  </a:ext>
                </a:extLst>
              </p:cNvPr>
              <p:cNvGrpSpPr/>
              <p:nvPr/>
            </p:nvGrpSpPr>
            <p:grpSpPr>
              <a:xfrm>
                <a:off x="1331964" y="3068996"/>
                <a:ext cx="360004" cy="360004"/>
                <a:chOff x="4932004" y="2708992"/>
                <a:chExt cx="360004" cy="360004"/>
              </a:xfrm>
            </p:grpSpPr>
            <p:cxnSp>
              <p:nvCxnSpPr>
                <p:cNvPr id="117" name="直線コネクタ 116">
                  <a:extLst>
                    <a:ext uri="{FF2B5EF4-FFF2-40B4-BE49-F238E27FC236}">
                      <a16:creationId xmlns:a16="http://schemas.microsoft.com/office/drawing/2014/main" id="{AF3740A0-CFC3-4B4A-AAD5-BCC7577C033C}"/>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8" name="直線コネクタ 117">
                  <a:extLst>
                    <a:ext uri="{FF2B5EF4-FFF2-40B4-BE49-F238E27FC236}">
                      <a16:creationId xmlns:a16="http://schemas.microsoft.com/office/drawing/2014/main" id="{12AB5EE2-56B7-454F-9DED-643F605F2779}"/>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9" name="直線コネクタ 118">
                  <a:extLst>
                    <a:ext uri="{FF2B5EF4-FFF2-40B4-BE49-F238E27FC236}">
                      <a16:creationId xmlns:a16="http://schemas.microsoft.com/office/drawing/2014/main" id="{CCCFB4A9-9C71-42AD-8017-8DEED4C9F438}"/>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3EEF28B7-1167-44B7-9424-48AA22B58A5A}"/>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9" name="直線コネクタ 108">
                <a:extLst>
                  <a:ext uri="{FF2B5EF4-FFF2-40B4-BE49-F238E27FC236}">
                    <a16:creationId xmlns:a16="http://schemas.microsoft.com/office/drawing/2014/main" id="{0B1116F1-A7B7-4928-9337-291C1040FA68}"/>
                  </a:ext>
                </a:extLst>
              </p:cNvPr>
              <p:cNvCxnSpPr>
                <a:cxnSpLocks/>
                <a:stCxn id="103"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a16:creationId xmlns:a16="http://schemas.microsoft.com/office/drawing/2014/main" id="{73F62BD6-2DB2-40CA-B67D-1ED966E0B32F}"/>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BD55A59C-5A22-4D24-A0CE-92954DC442D9}"/>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43FB2787-D02F-427B-BD72-716B6905FC15}"/>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13" name="直線コネクタ 112">
                <a:extLst>
                  <a:ext uri="{FF2B5EF4-FFF2-40B4-BE49-F238E27FC236}">
                    <a16:creationId xmlns:a16="http://schemas.microsoft.com/office/drawing/2014/main" id="{6455E8E4-C24D-4ED8-A29C-54FE34637C3E}"/>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84730A6C-48D2-4274-88B1-1AC183F84E23}"/>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15" name="直線コネクタ 114">
                <a:extLst>
                  <a:ext uri="{FF2B5EF4-FFF2-40B4-BE49-F238E27FC236}">
                    <a16:creationId xmlns:a16="http://schemas.microsoft.com/office/drawing/2014/main" id="{8EA8E134-98DE-4392-8BDD-BA69CB315501}"/>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16" name="直線コネクタ 115">
                <a:extLst>
                  <a:ext uri="{FF2B5EF4-FFF2-40B4-BE49-F238E27FC236}">
                    <a16:creationId xmlns:a16="http://schemas.microsoft.com/office/drawing/2014/main" id="{2BF8C6B8-7937-4366-BC6C-BAD4FD0CC630}"/>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25" name="グループ化 124">
              <a:extLst>
                <a:ext uri="{FF2B5EF4-FFF2-40B4-BE49-F238E27FC236}">
                  <a16:creationId xmlns:a16="http://schemas.microsoft.com/office/drawing/2014/main" id="{441C153E-B9B6-4091-90B8-FA393E53C394}"/>
                </a:ext>
              </a:extLst>
            </p:cNvPr>
            <p:cNvGrpSpPr/>
            <p:nvPr/>
          </p:nvGrpSpPr>
          <p:grpSpPr>
            <a:xfrm>
              <a:off x="611956" y="3609002"/>
              <a:ext cx="4320048" cy="1800021"/>
              <a:chOff x="611956" y="2348988"/>
              <a:chExt cx="4320048" cy="1800021"/>
            </a:xfrm>
          </p:grpSpPr>
          <p:sp>
            <p:nvSpPr>
              <p:cNvPr id="126" name="正方形/長方形 125">
                <a:extLst>
                  <a:ext uri="{FF2B5EF4-FFF2-40B4-BE49-F238E27FC236}">
                    <a16:creationId xmlns:a16="http://schemas.microsoft.com/office/drawing/2014/main" id="{95AE8EF7-7BCB-464B-996F-606432A1D3C0}"/>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127" name="Picture 30" descr="NOT">
                <a:extLst>
                  <a:ext uri="{FF2B5EF4-FFF2-40B4-BE49-F238E27FC236}">
                    <a16:creationId xmlns:a16="http://schemas.microsoft.com/office/drawing/2014/main" id="{8108A68D-2DA4-4E43-B1AE-054A9334CA56}"/>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28" name="Picture 31" descr="NOT">
                <a:extLst>
                  <a:ext uri="{FF2B5EF4-FFF2-40B4-BE49-F238E27FC236}">
                    <a16:creationId xmlns:a16="http://schemas.microsoft.com/office/drawing/2014/main" id="{52C01EEE-DA6E-48E0-A0E1-7DFD10C26521}"/>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29" name="グループ化 128">
                <a:extLst>
                  <a:ext uri="{FF2B5EF4-FFF2-40B4-BE49-F238E27FC236}">
                    <a16:creationId xmlns:a16="http://schemas.microsoft.com/office/drawing/2014/main" id="{4B8B47F4-CD3A-412E-9FA6-E27BE591B354}"/>
                  </a:ext>
                </a:extLst>
              </p:cNvPr>
              <p:cNvGrpSpPr/>
              <p:nvPr/>
            </p:nvGrpSpPr>
            <p:grpSpPr>
              <a:xfrm>
                <a:off x="3851992" y="3068996"/>
                <a:ext cx="360004" cy="360004"/>
                <a:chOff x="4932004" y="2708992"/>
                <a:chExt cx="360004" cy="360004"/>
              </a:xfrm>
            </p:grpSpPr>
            <p:cxnSp>
              <p:nvCxnSpPr>
                <p:cNvPr id="144" name="直線コネクタ 143">
                  <a:extLst>
                    <a:ext uri="{FF2B5EF4-FFF2-40B4-BE49-F238E27FC236}">
                      <a16:creationId xmlns:a16="http://schemas.microsoft.com/office/drawing/2014/main" id="{3BB341C3-D13C-413F-BF4C-C462C5B88525}"/>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5" name="直線コネクタ 144">
                  <a:extLst>
                    <a:ext uri="{FF2B5EF4-FFF2-40B4-BE49-F238E27FC236}">
                      <a16:creationId xmlns:a16="http://schemas.microsoft.com/office/drawing/2014/main" id="{9F7596E2-E646-4464-A820-932FCB4E7E2A}"/>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6" name="直線コネクタ 145">
                  <a:extLst>
                    <a:ext uri="{FF2B5EF4-FFF2-40B4-BE49-F238E27FC236}">
                      <a16:creationId xmlns:a16="http://schemas.microsoft.com/office/drawing/2014/main" id="{B828DB55-9D58-4545-ABDA-6E3931EF57FC}"/>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7" name="直線コネクタ 146">
                  <a:extLst>
                    <a:ext uri="{FF2B5EF4-FFF2-40B4-BE49-F238E27FC236}">
                      <a16:creationId xmlns:a16="http://schemas.microsoft.com/office/drawing/2014/main" id="{A9273E1B-FFD1-4FE8-B8E5-C9935468DCB0}"/>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0" name="直線コネクタ 129">
                <a:extLst>
                  <a:ext uri="{FF2B5EF4-FFF2-40B4-BE49-F238E27FC236}">
                    <a16:creationId xmlns:a16="http://schemas.microsoft.com/office/drawing/2014/main" id="{7BE8DD0E-F450-488C-B4F9-D203CC7BDA4E}"/>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31" name="グループ化 130">
                <a:extLst>
                  <a:ext uri="{FF2B5EF4-FFF2-40B4-BE49-F238E27FC236}">
                    <a16:creationId xmlns:a16="http://schemas.microsoft.com/office/drawing/2014/main" id="{C4CB907F-76C1-464D-B341-96BC64E45C1E}"/>
                  </a:ext>
                </a:extLst>
              </p:cNvPr>
              <p:cNvGrpSpPr/>
              <p:nvPr/>
            </p:nvGrpSpPr>
            <p:grpSpPr>
              <a:xfrm>
                <a:off x="1331964" y="3068996"/>
                <a:ext cx="360004" cy="360004"/>
                <a:chOff x="4932004" y="2708992"/>
                <a:chExt cx="360004" cy="360004"/>
              </a:xfrm>
            </p:grpSpPr>
            <p:cxnSp>
              <p:nvCxnSpPr>
                <p:cNvPr id="140" name="直線コネクタ 139">
                  <a:extLst>
                    <a:ext uri="{FF2B5EF4-FFF2-40B4-BE49-F238E27FC236}">
                      <a16:creationId xmlns:a16="http://schemas.microsoft.com/office/drawing/2014/main" id="{8DD0A887-40E1-4FEB-A9F2-CADF53F0D40A}"/>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E4B98EC3-185B-4A3E-B28B-081762738C65}"/>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a:extLst>
                    <a:ext uri="{FF2B5EF4-FFF2-40B4-BE49-F238E27FC236}">
                      <a16:creationId xmlns:a16="http://schemas.microsoft.com/office/drawing/2014/main" id="{F43FD0E4-83E5-4381-8F23-2DD5C225D41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43" name="直線コネクタ 142">
                  <a:extLst>
                    <a:ext uri="{FF2B5EF4-FFF2-40B4-BE49-F238E27FC236}">
                      <a16:creationId xmlns:a16="http://schemas.microsoft.com/office/drawing/2014/main" id="{FF916E23-EAB0-47D1-9DA1-22B8CC557C81}"/>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32" name="直線コネクタ 131">
                <a:extLst>
                  <a:ext uri="{FF2B5EF4-FFF2-40B4-BE49-F238E27FC236}">
                    <a16:creationId xmlns:a16="http://schemas.microsoft.com/office/drawing/2014/main" id="{21AAFD98-4186-4FFB-9104-7440DAA623E9}"/>
                  </a:ext>
                </a:extLst>
              </p:cNvPr>
              <p:cNvCxnSpPr>
                <a:cxnSpLocks/>
                <a:stCxn id="126"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a16:creationId xmlns:a16="http://schemas.microsoft.com/office/drawing/2014/main" id="{9D11CBCE-CB70-4C8E-9E66-6FE45BF7A436}"/>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a16:creationId xmlns:a16="http://schemas.microsoft.com/office/drawing/2014/main" id="{3A0350E1-19B5-4A91-B384-2704F6F50B2F}"/>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35" name="直線コネクタ 134">
                <a:extLst>
                  <a:ext uri="{FF2B5EF4-FFF2-40B4-BE49-F238E27FC236}">
                    <a16:creationId xmlns:a16="http://schemas.microsoft.com/office/drawing/2014/main" id="{FC528E5F-861F-493F-8EDB-4FC5B56413F0}"/>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07EBE5A7-BE34-46C5-9121-AD42613281F8}"/>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37" name="直線コネクタ 136">
                <a:extLst>
                  <a:ext uri="{FF2B5EF4-FFF2-40B4-BE49-F238E27FC236}">
                    <a16:creationId xmlns:a16="http://schemas.microsoft.com/office/drawing/2014/main" id="{3C6F60E4-F99D-423C-9830-4C8C8B2C5E09}"/>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38" name="直線コネクタ 137">
                <a:extLst>
                  <a:ext uri="{FF2B5EF4-FFF2-40B4-BE49-F238E27FC236}">
                    <a16:creationId xmlns:a16="http://schemas.microsoft.com/office/drawing/2014/main" id="{FB45E1BB-A1BF-493A-80C6-417502D56A34}"/>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39" name="直線コネクタ 138">
                <a:extLst>
                  <a:ext uri="{FF2B5EF4-FFF2-40B4-BE49-F238E27FC236}">
                    <a16:creationId xmlns:a16="http://schemas.microsoft.com/office/drawing/2014/main" id="{1DD1E8D9-0FA7-4AF7-95AC-DD3FC9051928}"/>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48" name="グループ化 147">
              <a:extLst>
                <a:ext uri="{FF2B5EF4-FFF2-40B4-BE49-F238E27FC236}">
                  <a16:creationId xmlns:a16="http://schemas.microsoft.com/office/drawing/2014/main" id="{B1F5EC57-DDAC-4C58-A770-C068CE235CAD}"/>
                </a:ext>
              </a:extLst>
            </p:cNvPr>
            <p:cNvGrpSpPr/>
            <p:nvPr/>
          </p:nvGrpSpPr>
          <p:grpSpPr>
            <a:xfrm>
              <a:off x="611956" y="5049018"/>
              <a:ext cx="4320048" cy="1800021"/>
              <a:chOff x="611956" y="2348988"/>
              <a:chExt cx="4320048" cy="1800021"/>
            </a:xfrm>
          </p:grpSpPr>
          <p:sp>
            <p:nvSpPr>
              <p:cNvPr id="149" name="正方形/長方形 148">
                <a:extLst>
                  <a:ext uri="{FF2B5EF4-FFF2-40B4-BE49-F238E27FC236}">
                    <a16:creationId xmlns:a16="http://schemas.microsoft.com/office/drawing/2014/main" id="{EE1ADB96-9728-40E9-BFDF-AC45B8399E3E}"/>
                  </a:ext>
                </a:extLst>
              </p:cNvPr>
              <p:cNvSpPr/>
              <p:nvPr/>
            </p:nvSpPr>
            <p:spPr bwMode="auto">
              <a:xfrm>
                <a:off x="2051972" y="3068996"/>
                <a:ext cx="1440016" cy="720008"/>
              </a:xfrm>
              <a:prstGeom prst="rect">
                <a:avLst/>
              </a:prstGeom>
              <a:noFill/>
              <a:ln w="9525">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150" name="Picture 30" descr="NOT">
                <a:extLst>
                  <a:ext uri="{FF2B5EF4-FFF2-40B4-BE49-F238E27FC236}">
                    <a16:creationId xmlns:a16="http://schemas.microsoft.com/office/drawing/2014/main" id="{92356AF5-0B53-45A4-B736-E16AEBBB81E9}"/>
                  </a:ext>
                </a:extLst>
              </p:cNvPr>
              <p:cNvPicPr>
                <a:picLocks noChangeAspect="1" noChangeArrowheads="1"/>
              </p:cNvPicPr>
              <p:nvPr/>
            </p:nvPicPr>
            <p:blipFill>
              <a:blip r:embed="rId2" cstate="print"/>
              <a:srcRect/>
              <a:stretch>
                <a:fillRect/>
              </a:stretch>
            </p:blipFill>
            <p:spPr bwMode="auto">
              <a:xfrm flipH="1">
                <a:off x="2501977" y="2707558"/>
                <a:ext cx="717550" cy="720725"/>
              </a:xfrm>
              <a:prstGeom prst="rect">
                <a:avLst/>
              </a:prstGeom>
              <a:noFill/>
            </p:spPr>
          </p:pic>
          <p:pic>
            <p:nvPicPr>
              <p:cNvPr id="151" name="Picture 31" descr="NOT">
                <a:extLst>
                  <a:ext uri="{FF2B5EF4-FFF2-40B4-BE49-F238E27FC236}">
                    <a16:creationId xmlns:a16="http://schemas.microsoft.com/office/drawing/2014/main" id="{FF110F70-C0E9-4E97-A219-E7C115C42D06}"/>
                  </a:ext>
                </a:extLst>
              </p:cNvPr>
              <p:cNvPicPr>
                <a:picLocks noChangeAspect="1" noChangeArrowheads="1"/>
              </p:cNvPicPr>
              <p:nvPr/>
            </p:nvPicPr>
            <p:blipFill>
              <a:blip r:embed="rId2" cstate="print"/>
              <a:srcRect/>
              <a:stretch>
                <a:fillRect/>
              </a:stretch>
            </p:blipFill>
            <p:spPr bwMode="auto">
              <a:xfrm>
                <a:off x="2501977" y="3428283"/>
                <a:ext cx="717550" cy="720725"/>
              </a:xfrm>
              <a:prstGeom prst="rect">
                <a:avLst/>
              </a:prstGeom>
              <a:noFill/>
            </p:spPr>
          </p:pic>
          <p:grpSp>
            <p:nvGrpSpPr>
              <p:cNvPr id="152" name="グループ化 151">
                <a:extLst>
                  <a:ext uri="{FF2B5EF4-FFF2-40B4-BE49-F238E27FC236}">
                    <a16:creationId xmlns:a16="http://schemas.microsoft.com/office/drawing/2014/main" id="{383B3DC1-69FB-44A6-8DC3-D8D1AB130078}"/>
                  </a:ext>
                </a:extLst>
              </p:cNvPr>
              <p:cNvGrpSpPr/>
              <p:nvPr/>
            </p:nvGrpSpPr>
            <p:grpSpPr>
              <a:xfrm>
                <a:off x="3851992" y="3068996"/>
                <a:ext cx="360004" cy="360004"/>
                <a:chOff x="4932004" y="2708992"/>
                <a:chExt cx="360004" cy="360004"/>
              </a:xfrm>
            </p:grpSpPr>
            <p:cxnSp>
              <p:nvCxnSpPr>
                <p:cNvPr id="167" name="直線コネクタ 166">
                  <a:extLst>
                    <a:ext uri="{FF2B5EF4-FFF2-40B4-BE49-F238E27FC236}">
                      <a16:creationId xmlns:a16="http://schemas.microsoft.com/office/drawing/2014/main" id="{0194BD2F-D2EA-4994-9365-9C2B1D41A56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8" name="直線コネクタ 167">
                  <a:extLst>
                    <a:ext uri="{FF2B5EF4-FFF2-40B4-BE49-F238E27FC236}">
                      <a16:creationId xmlns:a16="http://schemas.microsoft.com/office/drawing/2014/main" id="{9E06F0FE-2B70-48BA-9FB7-444E82F1E14E}"/>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9" name="直線コネクタ 168">
                  <a:extLst>
                    <a:ext uri="{FF2B5EF4-FFF2-40B4-BE49-F238E27FC236}">
                      <a16:creationId xmlns:a16="http://schemas.microsoft.com/office/drawing/2014/main" id="{E2C9FB40-B3C8-4ADD-AB7D-B2B21113A91C}"/>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0" name="直線コネクタ 169">
                  <a:extLst>
                    <a:ext uri="{FF2B5EF4-FFF2-40B4-BE49-F238E27FC236}">
                      <a16:creationId xmlns:a16="http://schemas.microsoft.com/office/drawing/2014/main" id="{80E9B192-A27F-4167-AD2E-1E1D347F1CAF}"/>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3" name="直線コネクタ 152">
                <a:extLst>
                  <a:ext uri="{FF2B5EF4-FFF2-40B4-BE49-F238E27FC236}">
                    <a16:creationId xmlns:a16="http://schemas.microsoft.com/office/drawing/2014/main" id="{A7A61C6D-8D95-4A8E-8161-B0CEE58654D6}"/>
                  </a:ext>
                </a:extLst>
              </p:cNvPr>
              <p:cNvCxnSpPr>
                <a:cxnSpLocks/>
              </p:cNvCxnSpPr>
              <p:nvPr/>
            </p:nvCxnSpPr>
            <p:spPr>
              <a:xfrm>
                <a:off x="349198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grpSp>
            <p:nvGrpSpPr>
              <p:cNvPr id="154" name="グループ化 153">
                <a:extLst>
                  <a:ext uri="{FF2B5EF4-FFF2-40B4-BE49-F238E27FC236}">
                    <a16:creationId xmlns:a16="http://schemas.microsoft.com/office/drawing/2014/main" id="{15D4E600-080C-49BD-8976-D5E5EAEAB94B}"/>
                  </a:ext>
                </a:extLst>
              </p:cNvPr>
              <p:cNvGrpSpPr/>
              <p:nvPr/>
            </p:nvGrpSpPr>
            <p:grpSpPr>
              <a:xfrm>
                <a:off x="1331964" y="3068996"/>
                <a:ext cx="360004" cy="360004"/>
                <a:chOff x="4932004" y="2708992"/>
                <a:chExt cx="360004" cy="360004"/>
              </a:xfrm>
            </p:grpSpPr>
            <p:cxnSp>
              <p:nvCxnSpPr>
                <p:cNvPr id="163" name="直線コネクタ 162">
                  <a:extLst>
                    <a:ext uri="{FF2B5EF4-FFF2-40B4-BE49-F238E27FC236}">
                      <a16:creationId xmlns:a16="http://schemas.microsoft.com/office/drawing/2014/main" id="{57D357C5-E599-458B-BBA7-9F77BC46003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4" name="直線コネクタ 163">
                  <a:extLst>
                    <a:ext uri="{FF2B5EF4-FFF2-40B4-BE49-F238E27FC236}">
                      <a16:creationId xmlns:a16="http://schemas.microsoft.com/office/drawing/2014/main" id="{3AF82D25-2F4B-443D-9347-601CFF11A4E7}"/>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5" name="直線コネクタ 164">
                  <a:extLst>
                    <a:ext uri="{FF2B5EF4-FFF2-40B4-BE49-F238E27FC236}">
                      <a16:creationId xmlns:a16="http://schemas.microsoft.com/office/drawing/2014/main" id="{9875ED1D-9848-4A71-99CA-5F30FBC3D5BB}"/>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6" name="直線コネクタ 165">
                  <a:extLst>
                    <a:ext uri="{FF2B5EF4-FFF2-40B4-BE49-F238E27FC236}">
                      <a16:creationId xmlns:a16="http://schemas.microsoft.com/office/drawing/2014/main" id="{BDAE46EE-549A-48BF-83C1-9FF0832C9485}"/>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55" name="直線コネクタ 154">
                <a:extLst>
                  <a:ext uri="{FF2B5EF4-FFF2-40B4-BE49-F238E27FC236}">
                    <a16:creationId xmlns:a16="http://schemas.microsoft.com/office/drawing/2014/main" id="{C320A8F6-2311-4C61-8571-23B8E82DC6B3}"/>
                  </a:ext>
                </a:extLst>
              </p:cNvPr>
              <p:cNvCxnSpPr>
                <a:cxnSpLocks/>
                <a:stCxn id="149" idx="1"/>
              </p:cNvCxnSpPr>
              <p:nvPr/>
            </p:nvCxnSpPr>
            <p:spPr>
              <a:xfrm flipH="1">
                <a:off x="1691968"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49166FF5-AEAB-4F19-BE6A-B2605AE51A5D}"/>
                  </a:ext>
                </a:extLst>
              </p:cNvPr>
              <p:cNvCxnSpPr>
                <a:cxnSpLocks/>
              </p:cNvCxnSpPr>
              <p:nvPr/>
            </p:nvCxnSpPr>
            <p:spPr>
              <a:xfrm>
                <a:off x="4211996" y="3429000"/>
                <a:ext cx="360006" cy="1"/>
              </a:xfrm>
              <a:prstGeom prst="line">
                <a:avLst/>
              </a:prstGeom>
              <a:ln w="9525" cap="rnd">
                <a:solidFill>
                  <a:srgbClr val="000000"/>
                </a:solidFill>
                <a:headEnd type="none"/>
                <a:tailEnd type="oval" w="sm" len="sm"/>
              </a:ln>
            </p:spPr>
            <p:style>
              <a:lnRef idx="1">
                <a:schemeClr val="accent1"/>
              </a:lnRef>
              <a:fillRef idx="0">
                <a:schemeClr val="accent1"/>
              </a:fillRef>
              <a:effectRef idx="0">
                <a:schemeClr val="accent1"/>
              </a:effectRef>
              <a:fontRef idx="minor">
                <a:schemeClr val="tx1"/>
              </a:fontRef>
            </p:style>
          </p:cxnSp>
          <p:cxnSp>
            <p:nvCxnSpPr>
              <p:cNvPr id="157" name="直線コネクタ 156">
                <a:extLst>
                  <a:ext uri="{FF2B5EF4-FFF2-40B4-BE49-F238E27FC236}">
                    <a16:creationId xmlns:a16="http://schemas.microsoft.com/office/drawing/2014/main" id="{B1D3BF3E-22F9-43B2-8835-FD447DD84EF1}"/>
                  </a:ext>
                </a:extLst>
              </p:cNvPr>
              <p:cNvCxnSpPr>
                <a:cxnSpLocks/>
              </p:cNvCxnSpPr>
              <p:nvPr/>
            </p:nvCxnSpPr>
            <p:spPr>
              <a:xfrm>
                <a:off x="971960" y="3429000"/>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DC11228E-138A-4F60-80D3-1B66B021CC7E}"/>
                  </a:ext>
                </a:extLst>
              </p:cNvPr>
              <p:cNvCxnSpPr>
                <a:cxnSpLocks/>
              </p:cNvCxnSpPr>
              <p:nvPr/>
            </p:nvCxnSpPr>
            <p:spPr>
              <a:xfrm flipV="1">
                <a:off x="971960" y="2348988"/>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59" name="直線コネクタ 158">
                <a:extLst>
                  <a:ext uri="{FF2B5EF4-FFF2-40B4-BE49-F238E27FC236}">
                    <a16:creationId xmlns:a16="http://schemas.microsoft.com/office/drawing/2014/main" id="{AF149FCB-B3FD-4076-8932-3BB910109AA4}"/>
                  </a:ext>
                </a:extLst>
              </p:cNvPr>
              <p:cNvCxnSpPr>
                <a:cxnSpLocks/>
              </p:cNvCxnSpPr>
              <p:nvPr/>
            </p:nvCxnSpPr>
            <p:spPr>
              <a:xfrm flipV="1">
                <a:off x="4572000" y="2348988"/>
                <a:ext cx="0" cy="1800021"/>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60" name="直線コネクタ 159">
                <a:extLst>
                  <a:ext uri="{FF2B5EF4-FFF2-40B4-BE49-F238E27FC236}">
                    <a16:creationId xmlns:a16="http://schemas.microsoft.com/office/drawing/2014/main" id="{6406DCC9-680A-499A-B69C-E72A7F8D285A}"/>
                  </a:ext>
                </a:extLst>
              </p:cNvPr>
              <p:cNvCxnSpPr>
                <a:cxnSpLocks/>
              </p:cNvCxnSpPr>
              <p:nvPr/>
            </p:nvCxnSpPr>
            <p:spPr>
              <a:xfrm flipV="1">
                <a:off x="4031994"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68CE5D36-3403-49E7-8F4E-E92C77737117}"/>
                  </a:ext>
                </a:extLst>
              </p:cNvPr>
              <p:cNvCxnSpPr>
                <a:cxnSpLocks/>
              </p:cNvCxnSpPr>
              <p:nvPr/>
            </p:nvCxnSpPr>
            <p:spPr>
              <a:xfrm flipV="1">
                <a:off x="1511966" y="2708992"/>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62" name="直線コネクタ 161">
                <a:extLst>
                  <a:ext uri="{FF2B5EF4-FFF2-40B4-BE49-F238E27FC236}">
                    <a16:creationId xmlns:a16="http://schemas.microsoft.com/office/drawing/2014/main" id="{42816C17-E33D-4F25-93F8-BC7F9F81CBFB}"/>
                  </a:ext>
                </a:extLst>
              </p:cNvPr>
              <p:cNvCxnSpPr>
                <a:cxnSpLocks/>
              </p:cNvCxnSpPr>
              <p:nvPr/>
            </p:nvCxnSpPr>
            <p:spPr>
              <a:xfrm>
                <a:off x="611956" y="2708992"/>
                <a:ext cx="4320048"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grpSp>
        <p:nvGrpSpPr>
          <p:cNvPr id="10" name="グループ化 9">
            <a:extLst>
              <a:ext uri="{FF2B5EF4-FFF2-40B4-BE49-F238E27FC236}">
                <a16:creationId xmlns:a16="http://schemas.microsoft.com/office/drawing/2014/main" id="{478A1ABE-C95B-44FD-9203-345ACFF02B53}"/>
              </a:ext>
            </a:extLst>
          </p:cNvPr>
          <p:cNvGrpSpPr/>
          <p:nvPr/>
        </p:nvGrpSpPr>
        <p:grpSpPr>
          <a:xfrm>
            <a:off x="7176012" y="1538979"/>
            <a:ext cx="1620018" cy="4860054"/>
            <a:chOff x="5652012" y="728970"/>
            <a:chExt cx="1800020" cy="6134164"/>
          </a:xfrm>
        </p:grpSpPr>
        <p:grpSp>
          <p:nvGrpSpPr>
            <p:cNvPr id="9" name="グループ化 8">
              <a:extLst>
                <a:ext uri="{FF2B5EF4-FFF2-40B4-BE49-F238E27FC236}">
                  <a16:creationId xmlns:a16="http://schemas.microsoft.com/office/drawing/2014/main" id="{C4F768A5-3CC9-43A1-BC86-8B4454B5A7E2}"/>
                </a:ext>
              </a:extLst>
            </p:cNvPr>
            <p:cNvGrpSpPr/>
            <p:nvPr/>
          </p:nvGrpSpPr>
          <p:grpSpPr>
            <a:xfrm>
              <a:off x="5652012" y="728970"/>
              <a:ext cx="1800020" cy="1800020"/>
              <a:chOff x="5652012" y="728970"/>
              <a:chExt cx="1800020" cy="1800020"/>
            </a:xfrm>
          </p:grpSpPr>
          <p:grpSp>
            <p:nvGrpSpPr>
              <p:cNvPr id="56" name="グループ化 55">
                <a:extLst>
                  <a:ext uri="{FF2B5EF4-FFF2-40B4-BE49-F238E27FC236}">
                    <a16:creationId xmlns:a16="http://schemas.microsoft.com/office/drawing/2014/main" id="{B2772659-A00E-4413-9EB6-D696321711C2}"/>
                  </a:ext>
                </a:extLst>
              </p:cNvPr>
              <p:cNvGrpSpPr/>
              <p:nvPr/>
            </p:nvGrpSpPr>
            <p:grpSpPr>
              <a:xfrm>
                <a:off x="6372020" y="1448978"/>
                <a:ext cx="360004" cy="360004"/>
                <a:chOff x="4932004" y="2708992"/>
                <a:chExt cx="360004" cy="360004"/>
              </a:xfrm>
            </p:grpSpPr>
            <p:cxnSp>
              <p:nvCxnSpPr>
                <p:cNvPr id="57" name="直線コネクタ 56">
                  <a:extLst>
                    <a:ext uri="{FF2B5EF4-FFF2-40B4-BE49-F238E27FC236}">
                      <a16:creationId xmlns:a16="http://schemas.microsoft.com/office/drawing/2014/main" id="{CE9B70D6-1D90-4E04-BD88-F8DF94F7C494}"/>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EE431212-3CD4-45B0-9ECD-BB573F590178}"/>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54CA5229-7377-4A1B-A728-E763A120F77E}"/>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57B5B47-028B-4E3D-8FB3-5490133D576B}"/>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04ACCC42-4E49-4867-BFDC-671C90B11355}"/>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9FA852A0-5D43-4C5B-8D71-AF1C94363457}"/>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DDEA31C-DEA3-4027-A96D-5EC4FD0DCD35}"/>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97" name="グループ化 96">
                <a:extLst>
                  <a:ext uri="{FF2B5EF4-FFF2-40B4-BE49-F238E27FC236}">
                    <a16:creationId xmlns:a16="http://schemas.microsoft.com/office/drawing/2014/main" id="{DE115225-CFB0-4004-A206-CB9F39CB2EA1}"/>
                  </a:ext>
                </a:extLst>
              </p:cNvPr>
              <p:cNvGrpSpPr/>
              <p:nvPr/>
            </p:nvGrpSpPr>
            <p:grpSpPr>
              <a:xfrm>
                <a:off x="6912026" y="1988984"/>
                <a:ext cx="360004" cy="90003"/>
                <a:chOff x="7272030" y="3789004"/>
                <a:chExt cx="360004" cy="90003"/>
              </a:xfrm>
            </p:grpSpPr>
            <p:cxnSp>
              <p:nvCxnSpPr>
                <p:cNvPr id="70" name="直線コネクタ 69">
                  <a:extLst>
                    <a:ext uri="{FF2B5EF4-FFF2-40B4-BE49-F238E27FC236}">
                      <a16:creationId xmlns:a16="http://schemas.microsoft.com/office/drawing/2014/main" id="{2BAEB49E-1596-4709-9456-587CECEF00D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2D2BEEE-C054-4362-879D-B947D019F20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72" name="直線コネクタ 71">
                <a:extLst>
                  <a:ext uri="{FF2B5EF4-FFF2-40B4-BE49-F238E27FC236}">
                    <a16:creationId xmlns:a16="http://schemas.microsoft.com/office/drawing/2014/main" id="{980D156E-BEF6-49E5-BEDB-E654CED1DF10}"/>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DDF1097C-113D-483C-86EC-803338665142}"/>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80" name="グループ化 79">
                <a:extLst>
                  <a:ext uri="{FF2B5EF4-FFF2-40B4-BE49-F238E27FC236}">
                    <a16:creationId xmlns:a16="http://schemas.microsoft.com/office/drawing/2014/main" id="{38D32D1F-3EE8-498D-B8DB-C60684B30C49}"/>
                  </a:ext>
                </a:extLst>
              </p:cNvPr>
              <p:cNvGrpSpPr/>
              <p:nvPr/>
            </p:nvGrpSpPr>
            <p:grpSpPr>
              <a:xfrm>
                <a:off x="6912026" y="2348988"/>
                <a:ext cx="326325" cy="117556"/>
                <a:chOff x="2531592" y="5357236"/>
                <a:chExt cx="326325" cy="117556"/>
              </a:xfrm>
            </p:grpSpPr>
            <p:cxnSp>
              <p:nvCxnSpPr>
                <p:cNvPr id="77" name="直線コネクタ 76">
                  <a:extLst>
                    <a:ext uri="{FF2B5EF4-FFF2-40B4-BE49-F238E27FC236}">
                      <a16:creationId xmlns:a16="http://schemas.microsoft.com/office/drawing/2014/main" id="{1F5D5F47-3829-4D33-B94F-0FE22B8C22B5}"/>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51117BCE-AACC-4BD5-8C7D-FBCAFDFD8FAD}"/>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360640C4-3A38-49F5-ACDD-637737FC5B10}"/>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92" name="直線コネクタ 91">
                <a:extLst>
                  <a:ext uri="{FF2B5EF4-FFF2-40B4-BE49-F238E27FC236}">
                    <a16:creationId xmlns:a16="http://schemas.microsoft.com/office/drawing/2014/main" id="{5C16D03F-62AA-402B-A9AC-ADCF020FC7D6}"/>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287BB93E-CC11-4F3A-AF7A-8FAF390455E8}"/>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190" name="グループ化 189">
              <a:extLst>
                <a:ext uri="{FF2B5EF4-FFF2-40B4-BE49-F238E27FC236}">
                  <a16:creationId xmlns:a16="http://schemas.microsoft.com/office/drawing/2014/main" id="{436C3C4F-A927-41C9-B20E-BF607C38BA5F}"/>
                </a:ext>
              </a:extLst>
            </p:cNvPr>
            <p:cNvGrpSpPr/>
            <p:nvPr/>
          </p:nvGrpSpPr>
          <p:grpSpPr>
            <a:xfrm>
              <a:off x="5652012" y="2168986"/>
              <a:ext cx="1800020" cy="1800020"/>
              <a:chOff x="5652012" y="728970"/>
              <a:chExt cx="1800020" cy="1800020"/>
            </a:xfrm>
          </p:grpSpPr>
          <p:grpSp>
            <p:nvGrpSpPr>
              <p:cNvPr id="191" name="グループ化 190">
                <a:extLst>
                  <a:ext uri="{FF2B5EF4-FFF2-40B4-BE49-F238E27FC236}">
                    <a16:creationId xmlns:a16="http://schemas.microsoft.com/office/drawing/2014/main" id="{D25485CF-CB34-4701-8105-D1057310D6D3}"/>
                  </a:ext>
                </a:extLst>
              </p:cNvPr>
              <p:cNvGrpSpPr/>
              <p:nvPr/>
            </p:nvGrpSpPr>
            <p:grpSpPr>
              <a:xfrm>
                <a:off x="6372020" y="1448978"/>
                <a:ext cx="360004" cy="360004"/>
                <a:chOff x="4932004" y="2708992"/>
                <a:chExt cx="360004" cy="360004"/>
              </a:xfrm>
            </p:grpSpPr>
            <p:cxnSp>
              <p:nvCxnSpPr>
                <p:cNvPr id="206" name="直線コネクタ 205">
                  <a:extLst>
                    <a:ext uri="{FF2B5EF4-FFF2-40B4-BE49-F238E27FC236}">
                      <a16:creationId xmlns:a16="http://schemas.microsoft.com/office/drawing/2014/main" id="{001A4D5E-413F-4CC3-B0B9-5F884BC53E19}"/>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7" name="直線コネクタ 206">
                  <a:extLst>
                    <a:ext uri="{FF2B5EF4-FFF2-40B4-BE49-F238E27FC236}">
                      <a16:creationId xmlns:a16="http://schemas.microsoft.com/office/drawing/2014/main" id="{D1E0BF14-6979-4A8E-87BF-2B99A687986A}"/>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51B28292-9EC8-4EF4-BEA3-71BFA869ED99}"/>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9" name="直線コネクタ 208">
                  <a:extLst>
                    <a:ext uri="{FF2B5EF4-FFF2-40B4-BE49-F238E27FC236}">
                      <a16:creationId xmlns:a16="http://schemas.microsoft.com/office/drawing/2014/main" id="{D5FAC743-B4BC-4A52-9674-1EDFC79D2474}"/>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2" name="直線コネクタ 191">
                <a:extLst>
                  <a:ext uri="{FF2B5EF4-FFF2-40B4-BE49-F238E27FC236}">
                    <a16:creationId xmlns:a16="http://schemas.microsoft.com/office/drawing/2014/main" id="{03142A4B-87C9-4621-AFDF-B97D14E5CFF1}"/>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87CE94F9-05DA-475B-B9D9-2DA57EDB6D10}"/>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194" name="直線コネクタ 193">
                <a:extLst>
                  <a:ext uri="{FF2B5EF4-FFF2-40B4-BE49-F238E27FC236}">
                    <a16:creationId xmlns:a16="http://schemas.microsoft.com/office/drawing/2014/main" id="{B5F436DC-E768-4E92-A821-46A659C1E41F}"/>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95" name="グループ化 194">
                <a:extLst>
                  <a:ext uri="{FF2B5EF4-FFF2-40B4-BE49-F238E27FC236}">
                    <a16:creationId xmlns:a16="http://schemas.microsoft.com/office/drawing/2014/main" id="{412AED1C-0BE9-4319-B2FF-9A37349E8C31}"/>
                  </a:ext>
                </a:extLst>
              </p:cNvPr>
              <p:cNvGrpSpPr/>
              <p:nvPr/>
            </p:nvGrpSpPr>
            <p:grpSpPr>
              <a:xfrm>
                <a:off x="6912026" y="1988984"/>
                <a:ext cx="360004" cy="90003"/>
                <a:chOff x="7272030" y="3789004"/>
                <a:chExt cx="360004" cy="90003"/>
              </a:xfrm>
            </p:grpSpPr>
            <p:cxnSp>
              <p:nvCxnSpPr>
                <p:cNvPr id="204" name="直線コネクタ 203">
                  <a:extLst>
                    <a:ext uri="{FF2B5EF4-FFF2-40B4-BE49-F238E27FC236}">
                      <a16:creationId xmlns:a16="http://schemas.microsoft.com/office/drawing/2014/main" id="{F2B3FB15-504E-43D0-A168-3D71663E83A8}"/>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0C602B01-1C1B-4C28-88F0-62E4262103FF}"/>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6" name="直線コネクタ 195">
                <a:extLst>
                  <a:ext uri="{FF2B5EF4-FFF2-40B4-BE49-F238E27FC236}">
                    <a16:creationId xmlns:a16="http://schemas.microsoft.com/office/drawing/2014/main" id="{066DB9F5-9D05-46BC-8873-1403C710D254}"/>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197" name="直線コネクタ 196">
                <a:extLst>
                  <a:ext uri="{FF2B5EF4-FFF2-40B4-BE49-F238E27FC236}">
                    <a16:creationId xmlns:a16="http://schemas.microsoft.com/office/drawing/2014/main" id="{B873F066-44A7-4CD9-B861-128EB84E9DD4}"/>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198" name="グループ化 197">
                <a:extLst>
                  <a:ext uri="{FF2B5EF4-FFF2-40B4-BE49-F238E27FC236}">
                    <a16:creationId xmlns:a16="http://schemas.microsoft.com/office/drawing/2014/main" id="{0BACA2FA-51D1-4B45-8933-91D391EE63FA}"/>
                  </a:ext>
                </a:extLst>
              </p:cNvPr>
              <p:cNvGrpSpPr/>
              <p:nvPr/>
            </p:nvGrpSpPr>
            <p:grpSpPr>
              <a:xfrm>
                <a:off x="6912026" y="2348988"/>
                <a:ext cx="326325" cy="117556"/>
                <a:chOff x="2531592" y="5357236"/>
                <a:chExt cx="326325" cy="117556"/>
              </a:xfrm>
            </p:grpSpPr>
            <p:cxnSp>
              <p:nvCxnSpPr>
                <p:cNvPr id="201" name="直線コネクタ 200">
                  <a:extLst>
                    <a:ext uri="{FF2B5EF4-FFF2-40B4-BE49-F238E27FC236}">
                      <a16:creationId xmlns:a16="http://schemas.microsoft.com/office/drawing/2014/main" id="{8E1F3462-DA2D-4BD4-A3EB-E84168FA5FBF}"/>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2" name="直線コネクタ 201">
                  <a:extLst>
                    <a:ext uri="{FF2B5EF4-FFF2-40B4-BE49-F238E27FC236}">
                      <a16:creationId xmlns:a16="http://schemas.microsoft.com/office/drawing/2014/main" id="{7B70AF7B-6998-4E09-9862-A1AB217EBC85}"/>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B9BC80FE-C1EC-4F6D-90C7-9161D9E2B6CE}"/>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99" name="直線コネクタ 198">
                <a:extLst>
                  <a:ext uri="{FF2B5EF4-FFF2-40B4-BE49-F238E27FC236}">
                    <a16:creationId xmlns:a16="http://schemas.microsoft.com/office/drawing/2014/main" id="{DC80B686-1888-4B6A-AFEE-B4A7DC7AA8BA}"/>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00" name="直線コネクタ 199">
                <a:extLst>
                  <a:ext uri="{FF2B5EF4-FFF2-40B4-BE49-F238E27FC236}">
                    <a16:creationId xmlns:a16="http://schemas.microsoft.com/office/drawing/2014/main" id="{E400D98A-4885-422F-B970-AF06C3C469F8}"/>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210" name="グループ化 209">
              <a:extLst>
                <a:ext uri="{FF2B5EF4-FFF2-40B4-BE49-F238E27FC236}">
                  <a16:creationId xmlns:a16="http://schemas.microsoft.com/office/drawing/2014/main" id="{1694CD2C-2BD3-469A-929A-ACAE9DEFF4F4}"/>
                </a:ext>
              </a:extLst>
            </p:cNvPr>
            <p:cNvGrpSpPr/>
            <p:nvPr/>
          </p:nvGrpSpPr>
          <p:grpSpPr>
            <a:xfrm>
              <a:off x="5652012" y="3609002"/>
              <a:ext cx="1800020" cy="1800020"/>
              <a:chOff x="5652012" y="728970"/>
              <a:chExt cx="1800020" cy="1800020"/>
            </a:xfrm>
          </p:grpSpPr>
          <p:grpSp>
            <p:nvGrpSpPr>
              <p:cNvPr id="211" name="グループ化 210">
                <a:extLst>
                  <a:ext uri="{FF2B5EF4-FFF2-40B4-BE49-F238E27FC236}">
                    <a16:creationId xmlns:a16="http://schemas.microsoft.com/office/drawing/2014/main" id="{EF063828-012A-445B-BF14-75950650B38C}"/>
                  </a:ext>
                </a:extLst>
              </p:cNvPr>
              <p:cNvGrpSpPr/>
              <p:nvPr/>
            </p:nvGrpSpPr>
            <p:grpSpPr>
              <a:xfrm>
                <a:off x="6372020" y="1448978"/>
                <a:ext cx="360004" cy="360004"/>
                <a:chOff x="4932004" y="2708992"/>
                <a:chExt cx="360004" cy="360004"/>
              </a:xfrm>
            </p:grpSpPr>
            <p:cxnSp>
              <p:nvCxnSpPr>
                <p:cNvPr id="226" name="直線コネクタ 225">
                  <a:extLst>
                    <a:ext uri="{FF2B5EF4-FFF2-40B4-BE49-F238E27FC236}">
                      <a16:creationId xmlns:a16="http://schemas.microsoft.com/office/drawing/2014/main" id="{B69B0D71-5C15-412D-8D52-23D443DB6D15}"/>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7" name="直線コネクタ 226">
                  <a:extLst>
                    <a:ext uri="{FF2B5EF4-FFF2-40B4-BE49-F238E27FC236}">
                      <a16:creationId xmlns:a16="http://schemas.microsoft.com/office/drawing/2014/main" id="{DABADECF-A517-49C3-877F-7DE94755AB91}"/>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8" name="直線コネクタ 227">
                  <a:extLst>
                    <a:ext uri="{FF2B5EF4-FFF2-40B4-BE49-F238E27FC236}">
                      <a16:creationId xmlns:a16="http://schemas.microsoft.com/office/drawing/2014/main" id="{0B114486-01B7-448B-8728-4434D4AB1501}"/>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a16:creationId xmlns:a16="http://schemas.microsoft.com/office/drawing/2014/main" id="{8C619C50-0201-43BF-87E1-D166C6EBB5E2}"/>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2" name="直線コネクタ 211">
                <a:extLst>
                  <a:ext uri="{FF2B5EF4-FFF2-40B4-BE49-F238E27FC236}">
                    <a16:creationId xmlns:a16="http://schemas.microsoft.com/office/drawing/2014/main" id="{15672763-42E0-4C2C-AEE8-58C12AB35972}"/>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13" name="直線コネクタ 212">
                <a:extLst>
                  <a:ext uri="{FF2B5EF4-FFF2-40B4-BE49-F238E27FC236}">
                    <a16:creationId xmlns:a16="http://schemas.microsoft.com/office/drawing/2014/main" id="{CEA99A9B-21D9-41B5-86A2-9AC00313D276}"/>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14" name="直線コネクタ 213">
                <a:extLst>
                  <a:ext uri="{FF2B5EF4-FFF2-40B4-BE49-F238E27FC236}">
                    <a16:creationId xmlns:a16="http://schemas.microsoft.com/office/drawing/2014/main" id="{C6157632-FE25-4D61-8791-406A7021A0ED}"/>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15" name="グループ化 214">
                <a:extLst>
                  <a:ext uri="{FF2B5EF4-FFF2-40B4-BE49-F238E27FC236}">
                    <a16:creationId xmlns:a16="http://schemas.microsoft.com/office/drawing/2014/main" id="{FDCCFBE8-3A14-4EE7-ABAD-7E4C96818E33}"/>
                  </a:ext>
                </a:extLst>
              </p:cNvPr>
              <p:cNvGrpSpPr/>
              <p:nvPr/>
            </p:nvGrpSpPr>
            <p:grpSpPr>
              <a:xfrm>
                <a:off x="6912026" y="1988984"/>
                <a:ext cx="360004" cy="90003"/>
                <a:chOff x="7272030" y="3789004"/>
                <a:chExt cx="360004" cy="90003"/>
              </a:xfrm>
            </p:grpSpPr>
            <p:cxnSp>
              <p:nvCxnSpPr>
                <p:cNvPr id="224" name="直線コネクタ 223">
                  <a:extLst>
                    <a:ext uri="{FF2B5EF4-FFF2-40B4-BE49-F238E27FC236}">
                      <a16:creationId xmlns:a16="http://schemas.microsoft.com/office/drawing/2014/main" id="{8A0433E9-F951-4DF7-BBCF-C0B447C75B17}"/>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a16:creationId xmlns:a16="http://schemas.microsoft.com/office/drawing/2014/main" id="{B2178B64-5225-4E4A-B6E2-5F6EA314C5F5}"/>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6" name="直線コネクタ 215">
                <a:extLst>
                  <a:ext uri="{FF2B5EF4-FFF2-40B4-BE49-F238E27FC236}">
                    <a16:creationId xmlns:a16="http://schemas.microsoft.com/office/drawing/2014/main" id="{CA7A7151-4714-40C7-B53E-FBA39A954B67}"/>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22596E69-6625-473F-9E22-CA95A4194B2B}"/>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18" name="グループ化 217">
                <a:extLst>
                  <a:ext uri="{FF2B5EF4-FFF2-40B4-BE49-F238E27FC236}">
                    <a16:creationId xmlns:a16="http://schemas.microsoft.com/office/drawing/2014/main" id="{05272CA7-68AB-46C8-86D9-E7E3020F778C}"/>
                  </a:ext>
                </a:extLst>
              </p:cNvPr>
              <p:cNvGrpSpPr/>
              <p:nvPr/>
            </p:nvGrpSpPr>
            <p:grpSpPr>
              <a:xfrm>
                <a:off x="6912026" y="2348988"/>
                <a:ext cx="326325" cy="117556"/>
                <a:chOff x="2531592" y="5357236"/>
                <a:chExt cx="326325" cy="117556"/>
              </a:xfrm>
            </p:grpSpPr>
            <p:cxnSp>
              <p:nvCxnSpPr>
                <p:cNvPr id="221" name="直線コネクタ 220">
                  <a:extLst>
                    <a:ext uri="{FF2B5EF4-FFF2-40B4-BE49-F238E27FC236}">
                      <a16:creationId xmlns:a16="http://schemas.microsoft.com/office/drawing/2014/main" id="{3715A177-274F-495F-9658-FE2CBB4DCA47}"/>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a16:creationId xmlns:a16="http://schemas.microsoft.com/office/drawing/2014/main" id="{260419D1-213F-4694-8E03-D58ECC23BA59}"/>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a16:creationId xmlns:a16="http://schemas.microsoft.com/office/drawing/2014/main" id="{F085D748-4374-4922-8B7A-87A1C62753DF}"/>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19" name="直線コネクタ 218">
                <a:extLst>
                  <a:ext uri="{FF2B5EF4-FFF2-40B4-BE49-F238E27FC236}">
                    <a16:creationId xmlns:a16="http://schemas.microsoft.com/office/drawing/2014/main" id="{E70FA2B8-6D02-4CF9-95BE-6DDF394D3025}"/>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a16:creationId xmlns:a16="http://schemas.microsoft.com/office/drawing/2014/main" id="{3CB0462E-4E40-4B74-9A6F-240152D943CE}"/>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nvGrpSpPr>
            <p:cNvPr id="230" name="グループ化 229">
              <a:extLst>
                <a:ext uri="{FF2B5EF4-FFF2-40B4-BE49-F238E27FC236}">
                  <a16:creationId xmlns:a16="http://schemas.microsoft.com/office/drawing/2014/main" id="{E76D82AF-3266-4D55-9E2E-34167A265854}"/>
                </a:ext>
              </a:extLst>
            </p:cNvPr>
            <p:cNvGrpSpPr/>
            <p:nvPr/>
          </p:nvGrpSpPr>
          <p:grpSpPr>
            <a:xfrm>
              <a:off x="5652012" y="5063114"/>
              <a:ext cx="1800020" cy="1800020"/>
              <a:chOff x="5652012" y="728970"/>
              <a:chExt cx="1800020" cy="1800020"/>
            </a:xfrm>
          </p:grpSpPr>
          <p:grpSp>
            <p:nvGrpSpPr>
              <p:cNvPr id="231" name="グループ化 230">
                <a:extLst>
                  <a:ext uri="{FF2B5EF4-FFF2-40B4-BE49-F238E27FC236}">
                    <a16:creationId xmlns:a16="http://schemas.microsoft.com/office/drawing/2014/main" id="{018AA9BC-21FF-4F0D-B379-C2CC38AA37E8}"/>
                  </a:ext>
                </a:extLst>
              </p:cNvPr>
              <p:cNvGrpSpPr/>
              <p:nvPr/>
            </p:nvGrpSpPr>
            <p:grpSpPr>
              <a:xfrm>
                <a:off x="6372020" y="1448978"/>
                <a:ext cx="360004" cy="360004"/>
                <a:chOff x="4932004" y="2708992"/>
                <a:chExt cx="360004" cy="360004"/>
              </a:xfrm>
            </p:grpSpPr>
            <p:cxnSp>
              <p:nvCxnSpPr>
                <p:cNvPr id="246" name="直線コネクタ 245">
                  <a:extLst>
                    <a:ext uri="{FF2B5EF4-FFF2-40B4-BE49-F238E27FC236}">
                      <a16:creationId xmlns:a16="http://schemas.microsoft.com/office/drawing/2014/main" id="{B46EB9B0-75B4-43E1-AF3E-E50DB8578EF8}"/>
                    </a:ext>
                  </a:extLst>
                </p:cNvPr>
                <p:cNvCxnSpPr>
                  <a:cxnSpLocks/>
                </p:cNvCxnSpPr>
                <p:nvPr/>
              </p:nvCxnSpPr>
              <p:spPr>
                <a:xfrm flipV="1">
                  <a:off x="4932004"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7" name="直線コネクタ 246">
                  <a:extLst>
                    <a:ext uri="{FF2B5EF4-FFF2-40B4-BE49-F238E27FC236}">
                      <a16:creationId xmlns:a16="http://schemas.microsoft.com/office/drawing/2014/main" id="{FBAF95BC-58AC-4D57-918D-E069C1677220}"/>
                    </a:ext>
                  </a:extLst>
                </p:cNvPr>
                <p:cNvCxnSpPr>
                  <a:cxnSpLocks/>
                </p:cNvCxnSpPr>
                <p:nvPr/>
              </p:nvCxnSpPr>
              <p:spPr>
                <a:xfrm flipH="1" flipV="1">
                  <a:off x="4932004" y="270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8" name="直線コネクタ 247">
                  <a:extLst>
                    <a:ext uri="{FF2B5EF4-FFF2-40B4-BE49-F238E27FC236}">
                      <a16:creationId xmlns:a16="http://schemas.microsoft.com/office/drawing/2014/main" id="{3C98EAF3-7139-4D4F-98A4-8928F70D75A7}"/>
                    </a:ext>
                  </a:extLst>
                </p:cNvPr>
                <p:cNvCxnSpPr>
                  <a:cxnSpLocks/>
                </p:cNvCxnSpPr>
                <p:nvPr/>
              </p:nvCxnSpPr>
              <p:spPr>
                <a:xfrm flipV="1">
                  <a:off x="5292008" y="2798993"/>
                  <a:ext cx="0" cy="270003"/>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B067E30D-EF14-44DB-9B4D-BC16C9672192}"/>
                    </a:ext>
                  </a:extLst>
                </p:cNvPr>
                <p:cNvCxnSpPr>
                  <a:cxnSpLocks/>
                </p:cNvCxnSpPr>
                <p:nvPr/>
              </p:nvCxnSpPr>
              <p:spPr>
                <a:xfrm flipH="1" flipV="1">
                  <a:off x="4932004" y="2798992"/>
                  <a:ext cx="360004" cy="2"/>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2" name="直線コネクタ 231">
                <a:extLst>
                  <a:ext uri="{FF2B5EF4-FFF2-40B4-BE49-F238E27FC236}">
                    <a16:creationId xmlns:a16="http://schemas.microsoft.com/office/drawing/2014/main" id="{338C324E-4D45-43C6-A033-2AAE71708941}"/>
                  </a:ext>
                </a:extLst>
              </p:cNvPr>
              <p:cNvCxnSpPr>
                <a:cxnSpLocks/>
              </p:cNvCxnSpPr>
              <p:nvPr/>
            </p:nvCxnSpPr>
            <p:spPr>
              <a:xfrm>
                <a:off x="6012016" y="1808982"/>
                <a:ext cx="360004" cy="0"/>
              </a:xfrm>
              <a:prstGeom prst="line">
                <a:avLst/>
              </a:prstGeom>
              <a:ln w="9525" cap="rnd">
                <a:solidFill>
                  <a:srgbClr val="000000"/>
                </a:solidFill>
                <a:headEnd type="oval" w="sm" len="sm"/>
              </a:ln>
            </p:spPr>
            <p:style>
              <a:lnRef idx="1">
                <a:schemeClr val="accent1"/>
              </a:lnRef>
              <a:fillRef idx="0">
                <a:schemeClr val="accent1"/>
              </a:fillRef>
              <a:effectRef idx="0">
                <a:schemeClr val="accent1"/>
              </a:effectRef>
              <a:fontRef idx="minor">
                <a:schemeClr val="tx1"/>
              </a:fontRef>
            </p:style>
          </p:cxnSp>
          <p:cxnSp>
            <p:nvCxnSpPr>
              <p:cNvPr id="233" name="直線コネクタ 232">
                <a:extLst>
                  <a:ext uri="{FF2B5EF4-FFF2-40B4-BE49-F238E27FC236}">
                    <a16:creationId xmlns:a16="http://schemas.microsoft.com/office/drawing/2014/main" id="{1D13A683-8044-4DE8-BD47-7AAE930DA8A1}"/>
                  </a:ext>
                </a:extLst>
              </p:cNvPr>
              <p:cNvCxnSpPr>
                <a:cxnSpLocks/>
              </p:cNvCxnSpPr>
              <p:nvPr/>
            </p:nvCxnSpPr>
            <p:spPr>
              <a:xfrm>
                <a:off x="6732024" y="1808982"/>
                <a:ext cx="360006" cy="1"/>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234" name="直線コネクタ 233">
                <a:extLst>
                  <a:ext uri="{FF2B5EF4-FFF2-40B4-BE49-F238E27FC236}">
                    <a16:creationId xmlns:a16="http://schemas.microsoft.com/office/drawing/2014/main" id="{9F7B2E69-7628-4264-96F1-1A9B39841339}"/>
                  </a:ext>
                </a:extLst>
              </p:cNvPr>
              <p:cNvCxnSpPr>
                <a:cxnSpLocks/>
              </p:cNvCxnSpPr>
              <p:nvPr/>
            </p:nvCxnSpPr>
            <p:spPr>
              <a:xfrm flipV="1">
                <a:off x="6012016" y="728970"/>
                <a:ext cx="0" cy="180002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35" name="グループ化 234">
                <a:extLst>
                  <a:ext uri="{FF2B5EF4-FFF2-40B4-BE49-F238E27FC236}">
                    <a16:creationId xmlns:a16="http://schemas.microsoft.com/office/drawing/2014/main" id="{AE41BA6F-0997-4464-B8C4-638F498543A1}"/>
                  </a:ext>
                </a:extLst>
              </p:cNvPr>
              <p:cNvGrpSpPr/>
              <p:nvPr/>
            </p:nvGrpSpPr>
            <p:grpSpPr>
              <a:xfrm>
                <a:off x="6912026" y="1988984"/>
                <a:ext cx="360004" cy="90003"/>
                <a:chOff x="7272030" y="3789004"/>
                <a:chExt cx="360004" cy="90003"/>
              </a:xfrm>
            </p:grpSpPr>
            <p:cxnSp>
              <p:nvCxnSpPr>
                <p:cNvPr id="244" name="直線コネクタ 243">
                  <a:extLst>
                    <a:ext uri="{FF2B5EF4-FFF2-40B4-BE49-F238E27FC236}">
                      <a16:creationId xmlns:a16="http://schemas.microsoft.com/office/drawing/2014/main" id="{38F09523-41D6-49E7-82EB-031AFCC68EF9}"/>
                    </a:ext>
                  </a:extLst>
                </p:cNvPr>
                <p:cNvCxnSpPr>
                  <a:cxnSpLocks/>
                </p:cNvCxnSpPr>
                <p:nvPr/>
              </p:nvCxnSpPr>
              <p:spPr>
                <a:xfrm flipH="1" flipV="1">
                  <a:off x="7272030" y="3789004"/>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5" name="直線コネクタ 244">
                  <a:extLst>
                    <a:ext uri="{FF2B5EF4-FFF2-40B4-BE49-F238E27FC236}">
                      <a16:creationId xmlns:a16="http://schemas.microsoft.com/office/drawing/2014/main" id="{8841C5CD-982F-46D7-BA78-230879DBE950}"/>
                    </a:ext>
                  </a:extLst>
                </p:cNvPr>
                <p:cNvCxnSpPr>
                  <a:cxnSpLocks/>
                </p:cNvCxnSpPr>
                <p:nvPr/>
              </p:nvCxnSpPr>
              <p:spPr>
                <a:xfrm flipH="1" flipV="1">
                  <a:off x="7272030" y="3879005"/>
                  <a:ext cx="360004" cy="2"/>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6" name="直線コネクタ 235">
                <a:extLst>
                  <a:ext uri="{FF2B5EF4-FFF2-40B4-BE49-F238E27FC236}">
                    <a16:creationId xmlns:a16="http://schemas.microsoft.com/office/drawing/2014/main" id="{C1CBBE77-4F15-46EE-B9EE-ED0DEE982B9A}"/>
                  </a:ext>
                </a:extLst>
              </p:cNvPr>
              <p:cNvCxnSpPr>
                <a:cxnSpLocks/>
              </p:cNvCxnSpPr>
              <p:nvPr/>
            </p:nvCxnSpPr>
            <p:spPr>
              <a:xfrm flipV="1">
                <a:off x="7092028" y="1808982"/>
                <a:ext cx="0" cy="180002"/>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cxnSp>
            <p:nvCxnSpPr>
              <p:cNvPr id="237" name="直線コネクタ 236">
                <a:extLst>
                  <a:ext uri="{FF2B5EF4-FFF2-40B4-BE49-F238E27FC236}">
                    <a16:creationId xmlns:a16="http://schemas.microsoft.com/office/drawing/2014/main" id="{9488BB4D-B7D9-4721-93A7-A119454944FA}"/>
                  </a:ext>
                </a:extLst>
              </p:cNvPr>
              <p:cNvCxnSpPr>
                <a:cxnSpLocks/>
              </p:cNvCxnSpPr>
              <p:nvPr/>
            </p:nvCxnSpPr>
            <p:spPr>
              <a:xfrm flipV="1">
                <a:off x="7092028" y="2078985"/>
                <a:ext cx="0" cy="270003"/>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nvGrpSpPr>
              <p:cNvPr id="238" name="グループ化 237">
                <a:extLst>
                  <a:ext uri="{FF2B5EF4-FFF2-40B4-BE49-F238E27FC236}">
                    <a16:creationId xmlns:a16="http://schemas.microsoft.com/office/drawing/2014/main" id="{4F2033AC-CF6E-4853-8F99-C123E929A718}"/>
                  </a:ext>
                </a:extLst>
              </p:cNvPr>
              <p:cNvGrpSpPr/>
              <p:nvPr/>
            </p:nvGrpSpPr>
            <p:grpSpPr>
              <a:xfrm>
                <a:off x="6912026" y="2348988"/>
                <a:ext cx="326325" cy="117556"/>
                <a:chOff x="2531592" y="5357236"/>
                <a:chExt cx="326325" cy="117556"/>
              </a:xfrm>
            </p:grpSpPr>
            <p:cxnSp>
              <p:nvCxnSpPr>
                <p:cNvPr id="241" name="直線コネクタ 240">
                  <a:extLst>
                    <a:ext uri="{FF2B5EF4-FFF2-40B4-BE49-F238E27FC236}">
                      <a16:creationId xmlns:a16="http://schemas.microsoft.com/office/drawing/2014/main" id="{106DAF75-B8E0-421A-A349-EE0F152DDEE2}"/>
                    </a:ext>
                  </a:extLst>
                </p:cNvPr>
                <p:cNvCxnSpPr/>
                <p:nvPr/>
              </p:nvCxnSpPr>
              <p:spPr>
                <a:xfrm flipV="1">
                  <a:off x="2531592" y="5357236"/>
                  <a:ext cx="326325"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a16:creationId xmlns:a16="http://schemas.microsoft.com/office/drawing/2014/main" id="{576950CF-1A76-4A8D-893D-116E73952588}"/>
                    </a:ext>
                  </a:extLst>
                </p:cNvPr>
                <p:cNvCxnSpPr/>
                <p:nvPr/>
              </p:nvCxnSpPr>
              <p:spPr>
                <a:xfrm flipV="1">
                  <a:off x="2592779" y="5416014"/>
                  <a:ext cx="203953"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a16:creationId xmlns:a16="http://schemas.microsoft.com/office/drawing/2014/main" id="{C6497466-A738-4AEC-AF93-3A3CFB8717EA}"/>
                    </a:ext>
                  </a:extLst>
                </p:cNvPr>
                <p:cNvCxnSpPr/>
                <p:nvPr/>
              </p:nvCxnSpPr>
              <p:spPr>
                <a:xfrm flipV="1">
                  <a:off x="2653965" y="5474792"/>
                  <a:ext cx="8158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39" name="直線コネクタ 238">
                <a:extLst>
                  <a:ext uri="{FF2B5EF4-FFF2-40B4-BE49-F238E27FC236}">
                    <a16:creationId xmlns:a16="http://schemas.microsoft.com/office/drawing/2014/main" id="{EF104839-E095-4B9F-9EA7-27A73046FE12}"/>
                  </a:ext>
                </a:extLst>
              </p:cNvPr>
              <p:cNvCxnSpPr>
                <a:cxnSpLocks/>
              </p:cNvCxnSpPr>
              <p:nvPr/>
            </p:nvCxnSpPr>
            <p:spPr>
              <a:xfrm flipV="1">
                <a:off x="6552022" y="1088974"/>
                <a:ext cx="0" cy="360004"/>
              </a:xfrm>
              <a:prstGeom prst="line">
                <a:avLst/>
              </a:prstGeom>
              <a:ln w="9525" cap="rnd">
                <a:solidFill>
                  <a:srgbClr val="000000"/>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40" name="直線コネクタ 239">
                <a:extLst>
                  <a:ext uri="{FF2B5EF4-FFF2-40B4-BE49-F238E27FC236}">
                    <a16:creationId xmlns:a16="http://schemas.microsoft.com/office/drawing/2014/main" id="{066E6656-229E-4706-ADBB-77C7195B1F9F}"/>
                  </a:ext>
                </a:extLst>
              </p:cNvPr>
              <p:cNvCxnSpPr>
                <a:cxnSpLocks/>
              </p:cNvCxnSpPr>
              <p:nvPr/>
            </p:nvCxnSpPr>
            <p:spPr>
              <a:xfrm>
                <a:off x="5652012" y="1088974"/>
                <a:ext cx="1800020" cy="0"/>
              </a:xfrm>
              <a:prstGeom prst="line">
                <a:avLst/>
              </a:prstGeom>
              <a:ln w="9525" cap="rnd">
                <a:solidFill>
                  <a:srgbClr val="000000"/>
                </a:solidFill>
                <a:headEnd type="none" w="sm" len="sm"/>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694484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b="1" dirty="0"/>
              <a:t>マルチポート・メモリ</a:t>
            </a:r>
            <a:endParaRPr lang="en-US" altLang="ja-JP" b="1" dirty="0"/>
          </a:p>
          <a:p>
            <a:pPr marL="817200" lvl="1" indent="-457200">
              <a:buFont typeface="+mj-lt"/>
              <a:buAutoNum type="arabicPeriod"/>
            </a:pPr>
            <a:r>
              <a:rPr lang="ja-JP" altLang="en-US" dirty="0"/>
              <a:t>メモリを対象にしたアタック</a:t>
            </a:r>
            <a:endParaRPr lang="ja-JP" altLang="en-US" b="1" dirty="0"/>
          </a:p>
        </p:txBody>
      </p:sp>
    </p:spTree>
    <p:extLst>
      <p:ext uri="{BB962C8B-B14F-4D97-AF65-F5344CB8AC3E}">
        <p14:creationId xmlns:p14="http://schemas.microsoft.com/office/powerpoint/2010/main" val="35050014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マルチポート・メモリ</a:t>
            </a:r>
            <a:endParaRPr kumimoji="1" lang="ja-JP" altLang="en-US" dirty="0"/>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ランダムな複数の箇所を同時にアクセスできるメモリ</a:t>
            </a:r>
            <a:endParaRPr kumimoji="1" lang="en-US" altLang="ja-JP" dirty="0"/>
          </a:p>
          <a:p>
            <a:pPr lvl="1"/>
            <a:r>
              <a:rPr kumimoji="1" lang="ja-JP" altLang="en-US" dirty="0"/>
              <a:t>レジスタ・ファイルなどを作るときに必要</a:t>
            </a:r>
            <a:endParaRPr kumimoji="1" lang="en-US" altLang="ja-JP" dirty="0"/>
          </a:p>
          <a:p>
            <a:pPr lvl="2"/>
            <a:r>
              <a:rPr kumimoji="1" lang="ja-JP" altLang="en-US" dirty="0"/>
              <a:t>２つのソースの読み出しと，ディスティネーションの書き込み</a:t>
            </a:r>
            <a:endParaRPr kumimoji="1" lang="en-US" altLang="ja-JP" dirty="0"/>
          </a:p>
          <a:p>
            <a:pPr lvl="1"/>
            <a:r>
              <a:rPr kumimoji="1" lang="ja-JP" altLang="en-US" dirty="0"/>
              <a:t>同時にクセスできる数 </a:t>
            </a:r>
            <a:r>
              <a:rPr kumimoji="1" lang="en-US" altLang="ja-JP" dirty="0"/>
              <a:t>= </a:t>
            </a:r>
            <a:r>
              <a:rPr kumimoji="1" lang="ja-JP" altLang="en-US" dirty="0">
                <a:solidFill>
                  <a:schemeClr val="accent5"/>
                </a:solidFill>
              </a:rPr>
              <a:t>ポート数</a:t>
            </a:r>
            <a:endParaRPr kumimoji="1" lang="en-US" altLang="ja-JP" dirty="0">
              <a:solidFill>
                <a:schemeClr val="accent5"/>
              </a:solidFill>
            </a:endParaRPr>
          </a:p>
          <a:p>
            <a:r>
              <a:rPr kumimoji="1" lang="en-US" altLang="ja-JP" dirty="0"/>
              <a:t>CPU </a:t>
            </a:r>
            <a:r>
              <a:rPr kumimoji="1" lang="ja-JP" altLang="en-US" dirty="0"/>
              <a:t>に特有に良く必要になる</a:t>
            </a:r>
            <a:endParaRPr kumimoji="1" lang="en-US" altLang="ja-JP" dirty="0"/>
          </a:p>
          <a:p>
            <a:pPr lvl="1"/>
            <a:r>
              <a:rPr kumimoji="1" lang="ja-JP" altLang="en-US" dirty="0"/>
              <a:t>一般的な回路ではあまり出てこない</a:t>
            </a:r>
            <a:endParaRPr kumimoji="1" lang="en-US" altLang="ja-JP" dirty="0"/>
          </a:p>
          <a:p>
            <a:r>
              <a:rPr lang="ja-JP" altLang="en-US" dirty="0"/>
              <a:t>ポート数の２乗に比例して面積が大きくなる</a:t>
            </a:r>
            <a:endParaRPr lang="en-US" altLang="ja-JP" dirty="0"/>
          </a:p>
          <a:p>
            <a:pPr lvl="1"/>
            <a:r>
              <a:rPr lang="ja-JP" altLang="en-US" dirty="0"/>
              <a:t>同時にアクセスできる数の２乗に比例する</a:t>
            </a:r>
            <a:endParaRPr kumimoji="1" lang="ja-JP" altLang="en-US" dirty="0"/>
          </a:p>
        </p:txBody>
      </p:sp>
    </p:spTree>
    <p:extLst>
      <p:ext uri="{BB962C8B-B14F-4D97-AF65-F5344CB8AC3E}">
        <p14:creationId xmlns:p14="http://schemas.microsoft.com/office/powerpoint/2010/main" val="34013379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マルチポート・メモリの回路面積</a:t>
            </a:r>
            <a:endParaRPr kumimoji="1" lang="ja-JP" altLang="en-US" dirty="0"/>
          </a:p>
        </p:txBody>
      </p:sp>
      <p:sp>
        <p:nvSpPr>
          <p:cNvPr id="3" name="テキスト プレースホルダー 2"/>
          <p:cNvSpPr>
            <a:spLocks noGrp="1"/>
          </p:cNvSpPr>
          <p:nvPr>
            <p:ph type="body" sz="quarter" idx="10"/>
          </p:nvPr>
        </p:nvSpPr>
        <p:spPr>
          <a:xfrm>
            <a:off x="1775952" y="1088975"/>
            <a:ext cx="8532044" cy="5219751"/>
          </a:xfrm>
        </p:spPr>
        <p:txBody>
          <a:bodyPr/>
          <a:lstStyle/>
          <a:p>
            <a:r>
              <a:rPr lang="ja-JP" altLang="en-US" dirty="0"/>
              <a:t>ポート数の２乗に比例して面積が大きくなる</a:t>
            </a:r>
            <a:endParaRPr lang="en-US" altLang="ja-JP" dirty="0"/>
          </a:p>
          <a:p>
            <a:pPr lvl="1"/>
            <a:r>
              <a:rPr lang="ja-JP" altLang="en-US" dirty="0"/>
              <a:t>同時にアクセスできる数の２乗に比例する</a:t>
            </a:r>
            <a:endParaRPr lang="en-US" altLang="ja-JP" dirty="0"/>
          </a:p>
          <a:p>
            <a:r>
              <a:rPr kumimoji="1" lang="ja-JP" altLang="en-US" dirty="0">
                <a:solidFill>
                  <a:schemeClr val="accent5"/>
                </a:solidFill>
              </a:rPr>
              <a:t>レジスタ・ファイルなどは，同一記憶容量あたりの回路面積が大きい</a:t>
            </a:r>
          </a:p>
        </p:txBody>
      </p:sp>
    </p:spTree>
    <p:extLst>
      <p:ext uri="{BB962C8B-B14F-4D97-AF65-F5344CB8AC3E}">
        <p14:creationId xmlns:p14="http://schemas.microsoft.com/office/powerpoint/2010/main" val="441363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ポート数の２乗に比例して面積が大きくなる</a:t>
            </a:r>
            <a:endParaRPr lang="en-US" altLang="ja-JP" dirty="0"/>
          </a:p>
        </p:txBody>
      </p:sp>
      <p:sp>
        <p:nvSpPr>
          <p:cNvPr id="3" name="テキスト プレースホルダー 2"/>
          <p:cNvSpPr>
            <a:spLocks noGrp="1"/>
          </p:cNvSpPr>
          <p:nvPr>
            <p:ph type="body" sz="quarter" idx="10"/>
          </p:nvPr>
        </p:nvSpPr>
        <p:spPr>
          <a:xfrm>
            <a:off x="7266013" y="998974"/>
            <a:ext cx="3150035" cy="5655152"/>
          </a:xfrm>
        </p:spPr>
        <p:txBody>
          <a:bodyPr/>
          <a:lstStyle/>
          <a:p>
            <a:r>
              <a:rPr kumimoji="1" lang="ja-JP" altLang="en-US" dirty="0"/>
              <a:t>複数の異なる行を</a:t>
            </a:r>
            <a:br>
              <a:rPr kumimoji="1" lang="en-US" altLang="ja-JP" dirty="0"/>
            </a:br>
            <a:r>
              <a:rPr kumimoji="1" lang="ja-JP" altLang="en-US" dirty="0"/>
              <a:t>アクセス</a:t>
            </a:r>
            <a:endParaRPr kumimoji="1" lang="en-US" altLang="ja-JP" dirty="0"/>
          </a:p>
          <a:p>
            <a:pPr lvl="1"/>
            <a:r>
              <a:rPr kumimoji="1" lang="ja-JP" altLang="en-US" dirty="0"/>
              <a:t>ワードラインが</a:t>
            </a:r>
            <a:br>
              <a:rPr kumimoji="1" lang="en-US" altLang="ja-JP" dirty="0"/>
            </a:br>
            <a:r>
              <a:rPr kumimoji="1" lang="ja-JP" altLang="en-US" dirty="0"/>
              <a:t>複数必要</a:t>
            </a:r>
            <a:endParaRPr kumimoji="1" lang="en-US" altLang="ja-JP" dirty="0"/>
          </a:p>
          <a:p>
            <a:pPr lvl="1"/>
            <a:r>
              <a:rPr kumimoji="1" lang="ja-JP" altLang="en-US" dirty="0"/>
              <a:t>ビットラインも</a:t>
            </a:r>
            <a:br>
              <a:rPr kumimoji="1" lang="en-US" altLang="ja-JP" dirty="0"/>
            </a:br>
            <a:r>
              <a:rPr kumimoji="1" lang="ja-JP" altLang="en-US" dirty="0"/>
              <a:t>複数必要</a:t>
            </a:r>
            <a:endParaRPr kumimoji="1" lang="en-US" altLang="ja-JP" dirty="0"/>
          </a:p>
          <a:p>
            <a:r>
              <a:rPr kumimoji="1" lang="ja-JP" altLang="en-US" dirty="0"/>
              <a:t>縦と横がそれぞれ</a:t>
            </a:r>
            <a:br>
              <a:rPr kumimoji="1" lang="en-US" altLang="ja-JP" dirty="0"/>
            </a:br>
            <a:r>
              <a:rPr kumimoji="1" lang="ja-JP" altLang="en-US" dirty="0"/>
              <a:t>ポート数分増える</a:t>
            </a:r>
            <a:endParaRPr kumimoji="1" lang="en-US" altLang="ja-JP" dirty="0"/>
          </a:p>
          <a:p>
            <a:pPr lvl="1"/>
            <a:r>
              <a:rPr kumimoji="1" lang="ja-JP" altLang="en-US" dirty="0"/>
              <a:t>ポート数が増えると配線の面積が</a:t>
            </a:r>
            <a:br>
              <a:rPr kumimoji="1" lang="en-US" altLang="ja-JP" dirty="0"/>
            </a:br>
            <a:r>
              <a:rPr kumimoji="1" lang="ja-JP" altLang="en-US" dirty="0"/>
              <a:t>支配的に</a:t>
            </a:r>
          </a:p>
        </p:txBody>
      </p:sp>
      <p:sp>
        <p:nvSpPr>
          <p:cNvPr id="4" name="正方形/長方形 3"/>
          <p:cNvSpPr/>
          <p:nvPr/>
        </p:nvSpPr>
        <p:spPr>
          <a:xfrm>
            <a:off x="3215997" y="1268979"/>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4025994" y="126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835995" y="126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645995" y="126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765963" y="1538977"/>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215994" y="207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4025991" y="207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835992" y="207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645992" y="207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765964" y="2348974"/>
            <a:ext cx="3690029" cy="15"/>
          </a:xfrm>
          <a:prstGeom prst="line">
            <a:avLst/>
          </a:prstGeom>
          <a:ln w="3175"/>
        </p:spPr>
        <p:style>
          <a:lnRef idx="1">
            <a:schemeClr val="dk1"/>
          </a:lnRef>
          <a:fillRef idx="0">
            <a:schemeClr val="dk1"/>
          </a:fillRef>
          <a:effectRef idx="0">
            <a:schemeClr val="dk1"/>
          </a:effectRef>
          <a:fontRef idx="minor">
            <a:schemeClr val="tx1"/>
          </a:fontRef>
        </p:style>
      </p:cxnSp>
      <p:sp>
        <p:nvSpPr>
          <p:cNvPr id="14" name="正方形/長方形 13"/>
          <p:cNvSpPr/>
          <p:nvPr/>
        </p:nvSpPr>
        <p:spPr>
          <a:xfrm>
            <a:off x="3215994" y="288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4025991" y="288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835992" y="288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645992" y="288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765964" y="3158973"/>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215994" y="3698976"/>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4025991" y="369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835992" y="369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645992" y="3698973"/>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765964" y="3968974"/>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485995" y="9989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95995" y="9989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105996" y="9989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915996" y="998980"/>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28" name="台形 27"/>
          <p:cNvSpPr/>
          <p:nvPr/>
        </p:nvSpPr>
        <p:spPr>
          <a:xfrm flipV="1">
            <a:off x="3215994" y="477897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29" name="直線コネクタ 28"/>
          <p:cNvCxnSpPr/>
          <p:nvPr/>
        </p:nvCxnSpPr>
        <p:spPr>
          <a:xfrm flipV="1">
            <a:off x="4675976" y="5048976"/>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556005" y="2798983"/>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825998" y="998974"/>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32" name="台形 31"/>
          <p:cNvSpPr/>
          <p:nvPr/>
        </p:nvSpPr>
        <p:spPr>
          <a:xfrm rot="5400000" flipV="1">
            <a:off x="1145958" y="2618980"/>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35" name="直線コネクタ 34"/>
          <p:cNvCxnSpPr/>
          <p:nvPr/>
        </p:nvCxnSpPr>
        <p:spPr>
          <a:xfrm flipV="1">
            <a:off x="1685952" y="2708992"/>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sp>
        <p:nvSpPr>
          <p:cNvPr id="36" name="正方形/長方形 35"/>
          <p:cNvSpPr/>
          <p:nvPr/>
        </p:nvSpPr>
        <p:spPr>
          <a:xfrm>
            <a:off x="3125967" y="5319022"/>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data</a:t>
            </a:r>
            <a:endParaRPr lang="ja-JP" altLang="en-US" sz="1600" dirty="0">
              <a:latin typeface="Arial Narrow" pitchFamily="34" charset="0"/>
            </a:endParaRPr>
          </a:p>
        </p:txBody>
      </p:sp>
      <p:cxnSp>
        <p:nvCxnSpPr>
          <p:cNvPr id="37" name="直線コネクタ 36"/>
          <p:cNvCxnSpPr/>
          <p:nvPr/>
        </p:nvCxnSpPr>
        <p:spPr>
          <a:xfrm flipV="1">
            <a:off x="2918363" y="1691377"/>
            <a:ext cx="3690032" cy="3"/>
          </a:xfrm>
          <a:prstGeom prst="line">
            <a:avLst/>
          </a:prstGeom>
          <a:ln w="3175"/>
        </p:spPr>
        <p:style>
          <a:lnRef idx="1">
            <a:schemeClr val="dk1"/>
          </a:lnRef>
          <a:fillRef idx="0">
            <a:schemeClr val="dk1"/>
          </a:fillRef>
          <a:effectRef idx="0">
            <a:schemeClr val="dk1"/>
          </a:effectRef>
          <a:fontRef idx="minor">
            <a:schemeClr val="tx1"/>
          </a:fontRef>
        </p:style>
      </p:cxnSp>
      <p:cxnSp>
        <p:nvCxnSpPr>
          <p:cNvPr id="38" name="直線コネクタ 37"/>
          <p:cNvCxnSpPr/>
          <p:nvPr/>
        </p:nvCxnSpPr>
        <p:spPr>
          <a:xfrm flipV="1">
            <a:off x="2918364" y="2501374"/>
            <a:ext cx="3690029" cy="15"/>
          </a:xfrm>
          <a:prstGeom prst="line">
            <a:avLst/>
          </a:prstGeom>
          <a:ln w="3175"/>
        </p:spPr>
        <p:style>
          <a:lnRef idx="1">
            <a:schemeClr val="dk1"/>
          </a:lnRef>
          <a:fillRef idx="0">
            <a:schemeClr val="dk1"/>
          </a:fillRef>
          <a:effectRef idx="0">
            <a:schemeClr val="dk1"/>
          </a:effectRef>
          <a:fontRef idx="minor">
            <a:schemeClr val="tx1"/>
          </a:fontRef>
        </p:style>
      </p:cxnSp>
      <p:cxnSp>
        <p:nvCxnSpPr>
          <p:cNvPr id="39" name="直線コネクタ 38"/>
          <p:cNvCxnSpPr/>
          <p:nvPr/>
        </p:nvCxnSpPr>
        <p:spPr>
          <a:xfrm flipV="1">
            <a:off x="2918364" y="3311373"/>
            <a:ext cx="3690029" cy="24"/>
          </a:xfrm>
          <a:prstGeom prst="line">
            <a:avLst/>
          </a:prstGeom>
          <a:ln w="3175"/>
        </p:spPr>
        <p:style>
          <a:lnRef idx="1">
            <a:schemeClr val="dk1"/>
          </a:lnRef>
          <a:fillRef idx="0">
            <a:schemeClr val="dk1"/>
          </a:fillRef>
          <a:effectRef idx="0">
            <a:schemeClr val="dk1"/>
          </a:effectRef>
          <a:fontRef idx="minor">
            <a:schemeClr val="tx1"/>
          </a:fontRef>
        </p:style>
      </p:cxnSp>
      <p:cxnSp>
        <p:nvCxnSpPr>
          <p:cNvPr id="40" name="直線コネクタ 39"/>
          <p:cNvCxnSpPr/>
          <p:nvPr/>
        </p:nvCxnSpPr>
        <p:spPr>
          <a:xfrm flipV="1">
            <a:off x="2918364" y="4121374"/>
            <a:ext cx="3690029" cy="33"/>
          </a:xfrm>
          <a:prstGeom prst="line">
            <a:avLst/>
          </a:prstGeom>
          <a:ln w="3175"/>
        </p:spPr>
        <p:style>
          <a:lnRef idx="1">
            <a:schemeClr val="dk1"/>
          </a:lnRef>
          <a:fillRef idx="0">
            <a:schemeClr val="dk1"/>
          </a:fillRef>
          <a:effectRef idx="0">
            <a:schemeClr val="dk1"/>
          </a:effectRef>
          <a:fontRef idx="minor">
            <a:schemeClr val="tx1"/>
          </a:fontRef>
        </p:style>
      </p:cxnSp>
      <p:sp>
        <p:nvSpPr>
          <p:cNvPr id="41" name="台形 40"/>
          <p:cNvSpPr/>
          <p:nvPr/>
        </p:nvSpPr>
        <p:spPr>
          <a:xfrm rot="5400000" flipV="1">
            <a:off x="1298358" y="2771380"/>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42" name="直線コネクタ 41"/>
          <p:cNvCxnSpPr/>
          <p:nvPr/>
        </p:nvCxnSpPr>
        <p:spPr>
          <a:xfrm flipV="1">
            <a:off x="1838352" y="2861392"/>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cxnSp>
        <p:nvCxnSpPr>
          <p:cNvPr id="43" name="直線コネクタ 42"/>
          <p:cNvCxnSpPr/>
          <p:nvPr/>
        </p:nvCxnSpPr>
        <p:spPr>
          <a:xfrm flipV="1">
            <a:off x="3638395" y="11513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44" name="直線コネクタ 43"/>
          <p:cNvCxnSpPr/>
          <p:nvPr/>
        </p:nvCxnSpPr>
        <p:spPr>
          <a:xfrm flipV="1">
            <a:off x="4448395" y="11513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45" name="直線コネクタ 44"/>
          <p:cNvCxnSpPr/>
          <p:nvPr/>
        </p:nvCxnSpPr>
        <p:spPr>
          <a:xfrm flipV="1">
            <a:off x="5258396" y="1151380"/>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46" name="直線コネクタ 45"/>
          <p:cNvCxnSpPr/>
          <p:nvPr/>
        </p:nvCxnSpPr>
        <p:spPr>
          <a:xfrm flipV="1">
            <a:off x="6068396" y="1151380"/>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47" name="台形 46"/>
          <p:cNvSpPr/>
          <p:nvPr/>
        </p:nvSpPr>
        <p:spPr>
          <a:xfrm flipV="1">
            <a:off x="3368394" y="4931374"/>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cxnSp>
        <p:nvCxnSpPr>
          <p:cNvPr id="48" name="直線コネクタ 47"/>
          <p:cNvCxnSpPr/>
          <p:nvPr/>
        </p:nvCxnSpPr>
        <p:spPr>
          <a:xfrm flipV="1">
            <a:off x="4828376" y="5201376"/>
            <a:ext cx="0" cy="540000"/>
          </a:xfrm>
          <a:prstGeom prst="line">
            <a:avLst/>
          </a:prstGeom>
          <a:ln w="3175">
            <a:headEnd type="triangle"/>
          </a:ln>
        </p:spPr>
        <p:style>
          <a:lnRef idx="1">
            <a:schemeClr val="dk1"/>
          </a:lnRef>
          <a:fillRef idx="0">
            <a:schemeClr val="dk1"/>
          </a:fillRef>
          <a:effectRef idx="0">
            <a:schemeClr val="dk1"/>
          </a:effectRef>
          <a:fontRef idx="minor">
            <a:schemeClr val="tx1"/>
          </a:fontRef>
        </p:style>
      </p:cxnSp>
      <p:sp>
        <p:nvSpPr>
          <p:cNvPr id="33" name="正方形/長方形 32"/>
          <p:cNvSpPr/>
          <p:nvPr/>
        </p:nvSpPr>
        <p:spPr>
          <a:xfrm>
            <a:off x="3665973" y="4779016"/>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column selector</a:t>
            </a:r>
            <a:endParaRPr lang="ja-JP" altLang="en-US" sz="1600" dirty="0">
              <a:latin typeface="Arial Narrow" pitchFamily="34" charset="0"/>
            </a:endParaRPr>
          </a:p>
        </p:txBody>
      </p:sp>
      <p:sp>
        <p:nvSpPr>
          <p:cNvPr id="34" name="正方形/長方形 33"/>
          <p:cNvSpPr/>
          <p:nvPr/>
        </p:nvSpPr>
        <p:spPr>
          <a:xfrm rot="16200000">
            <a:off x="1550962" y="2483980"/>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spTree>
    <p:extLst>
      <p:ext uri="{BB962C8B-B14F-4D97-AF65-F5344CB8AC3E}">
        <p14:creationId xmlns:p14="http://schemas.microsoft.com/office/powerpoint/2010/main" val="8756922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SRAM</a:t>
            </a:r>
            <a:r>
              <a:rPr kumimoji="1" lang="ja-JP" altLang="en-US" dirty="0"/>
              <a:t>（</a:t>
            </a:r>
            <a:r>
              <a:rPr lang="en-US" altLang="ja-JP" dirty="0"/>
              <a:t>1bit</a:t>
            </a:r>
            <a:r>
              <a:rPr kumimoji="1" lang="ja-JP" altLang="en-US" dirty="0"/>
              <a:t>）のレイアウト</a:t>
            </a:r>
          </a:p>
        </p:txBody>
      </p:sp>
      <p:pic>
        <p:nvPicPr>
          <p:cNvPr id="5" name="Picture 2" descr="Z:\docs\articles\2008\master-thesis\fig\1r1w.png"/>
          <p:cNvPicPr>
            <a:picLocks noChangeAspect="1" noChangeArrowheads="1"/>
          </p:cNvPicPr>
          <p:nvPr/>
        </p:nvPicPr>
        <p:blipFill>
          <a:blip r:embed="rId3" cstate="print"/>
          <a:srcRect/>
          <a:stretch>
            <a:fillRect/>
          </a:stretch>
        </p:blipFill>
        <p:spPr bwMode="auto">
          <a:xfrm rot="10800000">
            <a:off x="6636006" y="1718981"/>
            <a:ext cx="2643206" cy="4699034"/>
          </a:xfrm>
          <a:prstGeom prst="rect">
            <a:avLst/>
          </a:prstGeom>
          <a:noFill/>
        </p:spPr>
      </p:pic>
      <p:pic>
        <p:nvPicPr>
          <p:cNvPr id="6" name="Picture 3" descr="Z:\docs\articles\2008\master-thesis\fig\8r4w.png"/>
          <p:cNvPicPr>
            <a:picLocks noChangeAspect="1" noChangeArrowheads="1"/>
          </p:cNvPicPr>
          <p:nvPr/>
        </p:nvPicPr>
        <p:blipFill>
          <a:blip r:embed="rId4" cstate="print"/>
          <a:srcRect/>
          <a:stretch>
            <a:fillRect/>
          </a:stretch>
        </p:blipFill>
        <p:spPr bwMode="auto">
          <a:xfrm rot="10800000">
            <a:off x="3233772" y="1733248"/>
            <a:ext cx="2616417" cy="4651408"/>
          </a:xfrm>
          <a:prstGeom prst="rect">
            <a:avLst/>
          </a:prstGeom>
          <a:noFill/>
        </p:spPr>
      </p:pic>
      <p:sp>
        <p:nvSpPr>
          <p:cNvPr id="48" name="正方形/長方形 47"/>
          <p:cNvSpPr/>
          <p:nvPr/>
        </p:nvSpPr>
        <p:spPr bwMode="auto">
          <a:xfrm>
            <a:off x="7636139" y="3560496"/>
            <a:ext cx="667081" cy="1000132"/>
          </a:xfrm>
          <a:prstGeom prst="rect">
            <a:avLst/>
          </a:prstGeom>
          <a:solidFill>
            <a:schemeClr val="lt1">
              <a:alpha val="61000"/>
            </a:schemeClr>
          </a:solidFill>
          <a:ln w="44450">
            <a:headEnd type="none" w="med" len="med"/>
            <a:tailEnd type="none" w="med" len="med"/>
          </a:ln>
        </p:spPr>
        <p:style>
          <a:lnRef idx="2">
            <a:schemeClr val="accent6"/>
          </a:lnRef>
          <a:fillRef idx="1">
            <a:schemeClr val="lt1"/>
          </a:fillRef>
          <a:effectRef idx="0">
            <a:schemeClr val="accent6"/>
          </a:effectRef>
          <a:fontRef idx="minor">
            <a:schemeClr val="dk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solidFill>
                <a:schemeClr val="tx1"/>
              </a:solidFill>
              <a:latin typeface="Verdana" pitchFamily="34" charset="0"/>
              <a:ea typeface="HG丸ｺﾞｼｯｸM-PRO" pitchFamily="50" charset="-128"/>
            </a:endParaRPr>
          </a:p>
        </p:txBody>
      </p:sp>
      <p:sp>
        <p:nvSpPr>
          <p:cNvPr id="49" name="正方形/長方形 48"/>
          <p:cNvSpPr/>
          <p:nvPr/>
        </p:nvSpPr>
        <p:spPr bwMode="auto">
          <a:xfrm>
            <a:off x="3325718" y="1813962"/>
            <a:ext cx="2428892" cy="4445029"/>
          </a:xfrm>
          <a:prstGeom prst="rect">
            <a:avLst/>
          </a:prstGeom>
          <a:solidFill>
            <a:schemeClr val="lt1">
              <a:alpha val="61000"/>
            </a:schemeClr>
          </a:solidFill>
          <a:ln w="44450">
            <a:headEnd type="none" w="med" len="med"/>
            <a:tailEnd type="none" w="med" len="med"/>
          </a:ln>
        </p:spPr>
        <p:style>
          <a:lnRef idx="2">
            <a:schemeClr val="accent6"/>
          </a:lnRef>
          <a:fillRef idx="1">
            <a:schemeClr val="lt1"/>
          </a:fillRef>
          <a:effectRef idx="0">
            <a:schemeClr val="accent6"/>
          </a:effectRef>
          <a:fontRef idx="minor">
            <a:schemeClr val="dk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solidFill>
                <a:schemeClr val="tx1"/>
              </a:solidFill>
              <a:latin typeface="Verdana" pitchFamily="34" charset="0"/>
              <a:ea typeface="HG丸ｺﾞｼｯｸM-PRO" pitchFamily="50" charset="-128"/>
            </a:endParaRPr>
          </a:p>
        </p:txBody>
      </p:sp>
      <p:sp>
        <p:nvSpPr>
          <p:cNvPr id="52" name="テキスト ボックス 51"/>
          <p:cNvSpPr txBox="1"/>
          <p:nvPr/>
        </p:nvSpPr>
        <p:spPr>
          <a:xfrm>
            <a:off x="3206982" y="1241444"/>
            <a:ext cx="2643206" cy="461665"/>
          </a:xfrm>
          <a:prstGeom prst="rect">
            <a:avLst/>
          </a:prstGeom>
          <a:noFill/>
        </p:spPr>
        <p:txBody>
          <a:bodyPr wrap="square" rtlCol="0">
            <a:spAutoFit/>
          </a:bodyPr>
          <a:lstStyle/>
          <a:p>
            <a:pPr algn="ctr"/>
            <a:r>
              <a:rPr lang="en-US" altLang="ja-JP" sz="2400" dirty="0">
                <a:latin typeface="Helvetica" pitchFamily="34" charset="0"/>
                <a:cs typeface="Helvetica" pitchFamily="34" charset="0"/>
              </a:rPr>
              <a:t>12 ports</a:t>
            </a:r>
            <a:endParaRPr lang="ja-JP" altLang="en-US" sz="2400" dirty="0">
              <a:latin typeface="Helvetica" pitchFamily="34" charset="0"/>
              <a:cs typeface="Helvetica" pitchFamily="34" charset="0"/>
            </a:endParaRPr>
          </a:p>
        </p:txBody>
      </p:sp>
      <p:sp>
        <p:nvSpPr>
          <p:cNvPr id="53" name="テキスト ボックス 52"/>
          <p:cNvSpPr txBox="1"/>
          <p:nvPr/>
        </p:nvSpPr>
        <p:spPr>
          <a:xfrm>
            <a:off x="6636006" y="1241444"/>
            <a:ext cx="2643206" cy="461665"/>
          </a:xfrm>
          <a:prstGeom prst="rect">
            <a:avLst/>
          </a:prstGeom>
          <a:noFill/>
        </p:spPr>
        <p:txBody>
          <a:bodyPr wrap="square" rtlCol="0">
            <a:spAutoFit/>
          </a:bodyPr>
          <a:lstStyle/>
          <a:p>
            <a:pPr algn="ctr"/>
            <a:r>
              <a:rPr lang="en-US" altLang="ja-JP" sz="2400" dirty="0">
                <a:latin typeface="Helvetica" pitchFamily="34" charset="0"/>
                <a:cs typeface="Helvetica" pitchFamily="34" charset="0"/>
              </a:rPr>
              <a:t>2 ports</a:t>
            </a:r>
            <a:endParaRPr lang="ja-JP" altLang="en-US" sz="2400" dirty="0">
              <a:latin typeface="Helvetica" pitchFamily="34" charset="0"/>
              <a:cs typeface="Helvetica" pitchFamily="34" charset="0"/>
            </a:endParaRPr>
          </a:p>
        </p:txBody>
      </p:sp>
    </p:spTree>
    <p:extLst>
      <p:ext uri="{BB962C8B-B14F-4D97-AF65-F5344CB8AC3E}">
        <p14:creationId xmlns:p14="http://schemas.microsoft.com/office/powerpoint/2010/main" val="11710808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blinds(horizontal)">
                                      <p:cBhvr>
                                        <p:cTn id="7" dur="500"/>
                                        <p:tgtEl>
                                          <p:spTgt spid="49"/>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blinds(horizontal)">
                                      <p:cBhvr>
                                        <p:cTn id="10"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Intel Pentium 4 </a:t>
            </a:r>
            <a:r>
              <a:rPr kumimoji="1" lang="ja-JP" altLang="en-US" dirty="0"/>
              <a:t>の整数演算ユニット</a:t>
            </a:r>
          </a:p>
        </p:txBody>
      </p:sp>
      <p:pic>
        <p:nvPicPr>
          <p:cNvPr id="4" name="Picture 6"/>
          <p:cNvPicPr>
            <a:picLocks noChangeAspect="1" noChangeArrowheads="1"/>
          </p:cNvPicPr>
          <p:nvPr/>
        </p:nvPicPr>
        <p:blipFill>
          <a:blip r:embed="rId2" cstate="print"/>
          <a:srcRect/>
          <a:stretch>
            <a:fillRect/>
          </a:stretch>
        </p:blipFill>
        <p:spPr bwMode="auto">
          <a:xfrm>
            <a:off x="2314280" y="1521823"/>
            <a:ext cx="2476517" cy="1857388"/>
          </a:xfrm>
          <a:prstGeom prst="rect">
            <a:avLst/>
          </a:prstGeom>
          <a:noFill/>
          <a:ln w="9525">
            <a:noFill/>
            <a:miter lim="800000"/>
            <a:headEnd/>
            <a:tailEnd/>
          </a:ln>
          <a:effectLst/>
        </p:spPr>
      </p:pic>
      <p:sp>
        <p:nvSpPr>
          <p:cNvPr id="5" name="正方形/長方形 4"/>
          <p:cNvSpPr/>
          <p:nvPr/>
        </p:nvSpPr>
        <p:spPr bwMode="auto">
          <a:xfrm>
            <a:off x="3242973" y="2379079"/>
            <a:ext cx="714380" cy="428628"/>
          </a:xfrm>
          <a:prstGeom prst="rect">
            <a:avLst/>
          </a:prstGeom>
          <a:noFill/>
          <a:ln w="38100" cap="flat" cmpd="sng" algn="ctr">
            <a:solidFill>
              <a:srgbClr val="FFC0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cxnSp>
        <p:nvCxnSpPr>
          <p:cNvPr id="6" name="直線コネクタ 5"/>
          <p:cNvCxnSpPr/>
          <p:nvPr/>
        </p:nvCxnSpPr>
        <p:spPr bwMode="auto">
          <a:xfrm flipV="1">
            <a:off x="3242973" y="1664699"/>
            <a:ext cx="1143008" cy="714380"/>
          </a:xfrm>
          <a:prstGeom prst="line">
            <a:avLst/>
          </a:prstGeom>
          <a:noFill/>
          <a:ln w="25400" cap="flat" cmpd="sng" algn="ctr">
            <a:solidFill>
              <a:srgbClr val="FFC000"/>
            </a:solidFill>
            <a:prstDash val="solid"/>
            <a:round/>
            <a:headEnd type="none" w="med" len="med"/>
            <a:tailEnd type="none" w="med" len="med"/>
          </a:ln>
          <a:effectLst/>
        </p:spPr>
      </p:cxnSp>
      <p:cxnSp>
        <p:nvCxnSpPr>
          <p:cNvPr id="7" name="直線コネクタ 6"/>
          <p:cNvCxnSpPr/>
          <p:nvPr/>
        </p:nvCxnSpPr>
        <p:spPr bwMode="auto">
          <a:xfrm rot="16200000" flipH="1">
            <a:off x="2671469" y="3379211"/>
            <a:ext cx="2286016" cy="1143008"/>
          </a:xfrm>
          <a:prstGeom prst="line">
            <a:avLst/>
          </a:prstGeom>
          <a:noFill/>
          <a:ln w="25400" cap="flat" cmpd="sng" algn="ctr">
            <a:solidFill>
              <a:srgbClr val="FFC000"/>
            </a:solidFill>
            <a:prstDash val="solid"/>
            <a:round/>
            <a:headEnd type="none" w="med" len="med"/>
            <a:tailEnd type="none" w="med" len="med"/>
          </a:ln>
          <a:effectLst/>
        </p:spPr>
      </p:cxnSp>
      <p:sp>
        <p:nvSpPr>
          <p:cNvPr id="8" name="正方形/長方形 7"/>
          <p:cNvSpPr/>
          <p:nvPr/>
        </p:nvSpPr>
        <p:spPr bwMode="auto">
          <a:xfrm>
            <a:off x="4385981" y="1664699"/>
            <a:ext cx="5786478" cy="3429024"/>
          </a:xfrm>
          <a:prstGeom prst="rect">
            <a:avLst/>
          </a:prstGeom>
          <a:noFill/>
          <a:ln w="38100" cap="flat" cmpd="sng" algn="ctr">
            <a:solidFill>
              <a:srgbClr val="FFC0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cxnSp>
        <p:nvCxnSpPr>
          <p:cNvPr id="9" name="直線コネクタ 8"/>
          <p:cNvCxnSpPr/>
          <p:nvPr/>
        </p:nvCxnSpPr>
        <p:spPr bwMode="auto">
          <a:xfrm flipV="1">
            <a:off x="3957353" y="1664699"/>
            <a:ext cx="6215106" cy="714380"/>
          </a:xfrm>
          <a:prstGeom prst="line">
            <a:avLst/>
          </a:prstGeom>
          <a:noFill/>
          <a:ln w="25400" cap="flat" cmpd="sng" algn="ctr">
            <a:solidFill>
              <a:srgbClr val="FFC000"/>
            </a:solidFill>
            <a:prstDash val="solid"/>
            <a:round/>
            <a:headEnd type="none" w="med" len="med"/>
            <a:tailEnd type="none" w="med" len="med"/>
          </a:ln>
          <a:effectLst/>
        </p:spPr>
      </p:cxnSp>
      <p:cxnSp>
        <p:nvCxnSpPr>
          <p:cNvPr id="10" name="直線コネクタ 9"/>
          <p:cNvCxnSpPr/>
          <p:nvPr/>
        </p:nvCxnSpPr>
        <p:spPr bwMode="auto">
          <a:xfrm>
            <a:off x="3957353" y="2807707"/>
            <a:ext cx="6215106" cy="2286016"/>
          </a:xfrm>
          <a:prstGeom prst="line">
            <a:avLst/>
          </a:prstGeom>
          <a:noFill/>
          <a:ln w="25400" cap="flat" cmpd="sng" algn="ctr">
            <a:solidFill>
              <a:srgbClr val="FFC000"/>
            </a:solidFill>
            <a:prstDash val="solid"/>
            <a:round/>
            <a:headEnd type="none" w="med" len="med"/>
            <a:tailEnd type="none" w="med" len="med"/>
          </a:ln>
          <a:effectLst/>
        </p:spPr>
      </p:cxnSp>
      <p:pic>
        <p:nvPicPr>
          <p:cNvPr id="11" name="Picture 4"/>
          <p:cNvPicPr>
            <a:picLocks noChangeAspect="1" noChangeArrowheads="1"/>
          </p:cNvPicPr>
          <p:nvPr/>
        </p:nvPicPr>
        <p:blipFill>
          <a:blip r:embed="rId3" cstate="print"/>
          <a:srcRect/>
          <a:stretch>
            <a:fillRect/>
          </a:stretch>
        </p:blipFill>
        <p:spPr bwMode="auto">
          <a:xfrm>
            <a:off x="4385981" y="1628980"/>
            <a:ext cx="5785486" cy="3500462"/>
          </a:xfrm>
          <a:prstGeom prst="rect">
            <a:avLst/>
          </a:prstGeom>
          <a:noFill/>
          <a:ln w="9525">
            <a:noFill/>
            <a:miter lim="800000"/>
            <a:headEnd/>
            <a:tailEnd/>
          </a:ln>
          <a:effectLst/>
        </p:spPr>
      </p:pic>
      <p:sp>
        <p:nvSpPr>
          <p:cNvPr id="12" name="正方形/長方形 11"/>
          <p:cNvSpPr/>
          <p:nvPr/>
        </p:nvSpPr>
        <p:spPr bwMode="auto">
          <a:xfrm>
            <a:off x="8315071" y="2346749"/>
            <a:ext cx="1785950" cy="1000132"/>
          </a:xfrm>
          <a:prstGeom prst="rect">
            <a:avLst/>
          </a:prstGeom>
          <a:solidFill>
            <a:schemeClr val="bg1">
              <a:alpha val="50000"/>
            </a:schemeClr>
          </a:solidFill>
          <a:ln w="63500" cap="flat" cmpd="sng" algn="ctr">
            <a:solidFill>
              <a:srgbClr val="FF00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sp>
        <p:nvSpPr>
          <p:cNvPr id="13" name="正方形/長方形 12"/>
          <p:cNvSpPr/>
          <p:nvPr/>
        </p:nvSpPr>
        <p:spPr bwMode="auto">
          <a:xfrm>
            <a:off x="8315071" y="4061261"/>
            <a:ext cx="1785950" cy="928694"/>
          </a:xfrm>
          <a:prstGeom prst="rect">
            <a:avLst/>
          </a:prstGeom>
          <a:solidFill>
            <a:schemeClr val="bg1">
              <a:alpha val="50000"/>
            </a:schemeClr>
          </a:solidFill>
          <a:ln w="63500" cap="flat" cmpd="sng" algn="ctr">
            <a:solidFill>
              <a:srgbClr val="FF00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sp>
        <p:nvSpPr>
          <p:cNvPr id="14" name="正方形/長方形 13"/>
          <p:cNvSpPr/>
          <p:nvPr/>
        </p:nvSpPr>
        <p:spPr bwMode="auto">
          <a:xfrm>
            <a:off x="5100361" y="3418319"/>
            <a:ext cx="1357322" cy="1246776"/>
          </a:xfrm>
          <a:prstGeom prst="rect">
            <a:avLst/>
          </a:prstGeom>
          <a:solidFill>
            <a:schemeClr val="bg1">
              <a:alpha val="50000"/>
            </a:schemeClr>
          </a:solidFill>
          <a:ln w="63500" cap="flat" cmpd="sng" algn="ctr">
            <a:solidFill>
              <a:srgbClr val="FFCC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sp>
        <p:nvSpPr>
          <p:cNvPr id="15" name="正方形/長方形 14"/>
          <p:cNvSpPr/>
          <p:nvPr/>
        </p:nvSpPr>
        <p:spPr bwMode="auto">
          <a:xfrm>
            <a:off x="5100361" y="1736137"/>
            <a:ext cx="1357322" cy="1214446"/>
          </a:xfrm>
          <a:prstGeom prst="rect">
            <a:avLst/>
          </a:prstGeom>
          <a:solidFill>
            <a:schemeClr val="bg1">
              <a:alpha val="50000"/>
            </a:schemeClr>
          </a:solidFill>
          <a:ln w="63500" cap="flat" cmpd="sng" algn="ctr">
            <a:solidFill>
              <a:srgbClr val="FFCC00"/>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sp>
        <p:nvSpPr>
          <p:cNvPr id="16" name="テキスト ボックス 15"/>
          <p:cNvSpPr txBox="1"/>
          <p:nvPr/>
        </p:nvSpPr>
        <p:spPr>
          <a:xfrm>
            <a:off x="2417161" y="5155037"/>
            <a:ext cx="3214710" cy="800219"/>
          </a:xfrm>
          <a:prstGeom prst="rect">
            <a:avLst/>
          </a:prstGeom>
          <a:noFill/>
        </p:spPr>
        <p:txBody>
          <a:bodyPr wrap="square" rtlCol="0">
            <a:spAutoFit/>
          </a:bodyPr>
          <a:lstStyle/>
          <a:p>
            <a:r>
              <a:rPr lang="en-US" altLang="ja-JP" sz="2800" dirty="0">
                <a:solidFill>
                  <a:schemeClr val="tx1">
                    <a:lumMod val="75000"/>
                    <a:lumOff val="25000"/>
                  </a:schemeClr>
                </a:solidFill>
                <a:latin typeface="Helvetica" pitchFamily="34" charset="0"/>
                <a:cs typeface="Helvetica" pitchFamily="34" charset="0"/>
              </a:rPr>
              <a:t>L1 Data cache</a:t>
            </a:r>
          </a:p>
          <a:p>
            <a:r>
              <a:rPr lang="en-US" altLang="ja-JP" dirty="0">
                <a:solidFill>
                  <a:schemeClr val="tx1">
                    <a:lumMod val="75000"/>
                    <a:lumOff val="25000"/>
                  </a:schemeClr>
                </a:solidFill>
                <a:latin typeface="Helvetica" pitchFamily="34" charset="0"/>
                <a:cs typeface="Helvetica" pitchFamily="34" charset="0"/>
              </a:rPr>
              <a:t>16KB </a:t>
            </a:r>
            <a:r>
              <a:rPr lang="en-US" altLang="ja-JP" dirty="0">
                <a:solidFill>
                  <a:schemeClr val="accent5"/>
                </a:solidFill>
                <a:latin typeface="Helvetica" pitchFamily="34" charset="0"/>
                <a:cs typeface="Helvetica" pitchFamily="34" charset="0"/>
              </a:rPr>
              <a:t>1 read/1 write </a:t>
            </a:r>
            <a:endParaRPr lang="ja-JP" altLang="en-US" dirty="0">
              <a:solidFill>
                <a:schemeClr val="accent5"/>
              </a:solidFill>
              <a:latin typeface="Helvetica" pitchFamily="34" charset="0"/>
              <a:cs typeface="Helvetica" pitchFamily="34" charset="0"/>
            </a:endParaRPr>
          </a:p>
        </p:txBody>
      </p:sp>
      <p:sp>
        <p:nvSpPr>
          <p:cNvPr id="17" name="テキスト ボックス 16"/>
          <p:cNvSpPr txBox="1"/>
          <p:nvPr/>
        </p:nvSpPr>
        <p:spPr>
          <a:xfrm>
            <a:off x="6536889" y="5155036"/>
            <a:ext cx="3550478" cy="1077218"/>
          </a:xfrm>
          <a:prstGeom prst="rect">
            <a:avLst/>
          </a:prstGeom>
          <a:noFill/>
        </p:spPr>
        <p:txBody>
          <a:bodyPr wrap="square" rtlCol="0">
            <a:spAutoFit/>
          </a:bodyPr>
          <a:lstStyle/>
          <a:p>
            <a:r>
              <a:rPr lang="en-US" altLang="ja-JP" sz="2800" dirty="0">
                <a:solidFill>
                  <a:schemeClr val="tx1">
                    <a:lumMod val="75000"/>
                    <a:lumOff val="25000"/>
                  </a:schemeClr>
                </a:solidFill>
                <a:latin typeface="Helvetica" pitchFamily="34" charset="0"/>
                <a:cs typeface="Helvetica" pitchFamily="34" charset="0"/>
              </a:rPr>
              <a:t>Register file</a:t>
            </a:r>
          </a:p>
          <a:p>
            <a:r>
              <a:rPr lang="en-US" altLang="ja-JP" dirty="0">
                <a:solidFill>
                  <a:schemeClr val="tx1">
                    <a:lumMod val="75000"/>
                    <a:lumOff val="25000"/>
                  </a:schemeClr>
                </a:solidFill>
                <a:latin typeface="Helvetica" pitchFamily="34" charset="0"/>
                <a:cs typeface="Helvetica" pitchFamily="34" charset="0"/>
              </a:rPr>
              <a:t>64 bits 144 entries </a:t>
            </a:r>
            <a:r>
              <a:rPr lang="en-US" altLang="ja-JP" dirty="0">
                <a:solidFill>
                  <a:schemeClr val="accent5"/>
                </a:solidFill>
                <a:latin typeface="Helvetica" pitchFamily="34" charset="0"/>
                <a:cs typeface="Helvetica" pitchFamily="34" charset="0"/>
              </a:rPr>
              <a:t>6 read/3 write</a:t>
            </a:r>
          </a:p>
          <a:p>
            <a:r>
              <a:rPr lang="en-US" altLang="ja-JP" dirty="0">
                <a:solidFill>
                  <a:schemeClr val="tx1">
                    <a:lumMod val="75000"/>
                    <a:lumOff val="25000"/>
                  </a:schemeClr>
                </a:solidFill>
                <a:latin typeface="Helvetica" pitchFamily="34" charset="0"/>
                <a:cs typeface="Helvetica" pitchFamily="34" charset="0"/>
              </a:rPr>
              <a:t>(double pumped)</a:t>
            </a:r>
            <a:endParaRPr lang="ja-JP" altLang="en-US" dirty="0">
              <a:solidFill>
                <a:schemeClr val="tx1">
                  <a:lumMod val="75000"/>
                  <a:lumOff val="25000"/>
                </a:schemeClr>
              </a:solidFill>
              <a:latin typeface="Helvetica" pitchFamily="34" charset="0"/>
              <a:cs typeface="Helvetica" pitchFamily="34" charset="0"/>
            </a:endParaRPr>
          </a:p>
        </p:txBody>
      </p:sp>
      <p:cxnSp>
        <p:nvCxnSpPr>
          <p:cNvPr id="18" name="図形 25"/>
          <p:cNvCxnSpPr>
            <a:stCxn id="16" idx="0"/>
            <a:endCxn id="14" idx="1"/>
          </p:cNvCxnSpPr>
          <p:nvPr/>
        </p:nvCxnSpPr>
        <p:spPr bwMode="auto">
          <a:xfrm rot="5400000" flipH="1" flipV="1">
            <a:off x="4005775" y="4060451"/>
            <a:ext cx="1113329" cy="1075845"/>
          </a:xfrm>
          <a:prstGeom prst="curvedConnector2">
            <a:avLst/>
          </a:prstGeom>
          <a:noFill/>
          <a:ln w="25400" cap="flat" cmpd="sng" algn="ctr">
            <a:solidFill>
              <a:schemeClr val="accent6"/>
            </a:solidFill>
            <a:prstDash val="solid"/>
            <a:round/>
            <a:headEnd type="none" w="med" len="med"/>
            <a:tailEnd type="arrow"/>
          </a:ln>
          <a:effectLst/>
        </p:spPr>
      </p:cxnSp>
      <p:cxnSp>
        <p:nvCxnSpPr>
          <p:cNvPr id="19" name="図形 26"/>
          <p:cNvCxnSpPr>
            <a:stCxn id="16" idx="0"/>
            <a:endCxn id="15" idx="1"/>
          </p:cNvCxnSpPr>
          <p:nvPr/>
        </p:nvCxnSpPr>
        <p:spPr bwMode="auto">
          <a:xfrm rot="5400000" flipH="1" flipV="1">
            <a:off x="3156600" y="3211277"/>
            <a:ext cx="2811676" cy="1075845"/>
          </a:xfrm>
          <a:prstGeom prst="curvedConnector2">
            <a:avLst/>
          </a:prstGeom>
          <a:noFill/>
          <a:ln w="25400" cap="flat" cmpd="sng" algn="ctr">
            <a:solidFill>
              <a:schemeClr val="accent6"/>
            </a:solidFill>
            <a:prstDash val="solid"/>
            <a:round/>
            <a:headEnd type="none" w="med" len="med"/>
            <a:tailEnd type="arrow"/>
          </a:ln>
          <a:effectLst/>
        </p:spPr>
      </p:cxnSp>
      <p:sp>
        <p:nvSpPr>
          <p:cNvPr id="20" name="正方形/長方形 19"/>
          <p:cNvSpPr/>
          <p:nvPr/>
        </p:nvSpPr>
        <p:spPr>
          <a:xfrm>
            <a:off x="2242841" y="5975014"/>
            <a:ext cx="6072230" cy="276999"/>
          </a:xfrm>
          <a:prstGeom prst="rect">
            <a:avLst/>
          </a:prstGeom>
        </p:spPr>
        <p:txBody>
          <a:bodyPr wrap="square">
            <a:spAutoFit/>
          </a:bodyPr>
          <a:lstStyle/>
          <a:p>
            <a:r>
              <a:rPr lang="ja-JP" altLang="en-US" sz="1200" dirty="0">
                <a:solidFill>
                  <a:schemeClr val="tx1">
                    <a:lumMod val="75000"/>
                    <a:lumOff val="25000"/>
                  </a:schemeClr>
                </a:solidFill>
                <a:latin typeface="Helvetica" pitchFamily="34" charset="0"/>
                <a:cs typeface="Helvetica" pitchFamily="34" charset="0"/>
              </a:rPr>
              <a:t>（</a:t>
            </a:r>
            <a:r>
              <a:rPr lang="en-US" altLang="ja-JP" sz="1200" dirty="0">
                <a:solidFill>
                  <a:schemeClr val="tx1">
                    <a:lumMod val="75000"/>
                    <a:lumOff val="25000"/>
                  </a:schemeClr>
                </a:solidFill>
                <a:latin typeface="Helvetica" pitchFamily="34" charset="0"/>
                <a:cs typeface="Helvetica" pitchFamily="34" charset="0"/>
              </a:rPr>
              <a:t> from http://www.chip-architect.com</a:t>
            </a:r>
            <a:r>
              <a:rPr lang="ja-JP" altLang="en-US" sz="1200" dirty="0">
                <a:solidFill>
                  <a:schemeClr val="tx1">
                    <a:lumMod val="75000"/>
                    <a:lumOff val="25000"/>
                  </a:schemeClr>
                </a:solidFill>
                <a:latin typeface="Helvetica" pitchFamily="34" charset="0"/>
                <a:cs typeface="Helvetica" pitchFamily="34" charset="0"/>
              </a:rPr>
              <a:t>）</a:t>
            </a:r>
          </a:p>
        </p:txBody>
      </p:sp>
      <p:sp>
        <p:nvSpPr>
          <p:cNvPr id="24" name="正方形/長方形 23"/>
          <p:cNvSpPr/>
          <p:nvPr/>
        </p:nvSpPr>
        <p:spPr bwMode="auto">
          <a:xfrm>
            <a:off x="7356014" y="2528991"/>
            <a:ext cx="540006" cy="630007"/>
          </a:xfrm>
          <a:prstGeom prst="rect">
            <a:avLst/>
          </a:prstGeom>
          <a:solidFill>
            <a:schemeClr val="bg1">
              <a:alpha val="50000"/>
            </a:schemeClr>
          </a:solidFill>
          <a:ln w="63500" cap="flat" cmpd="sng" algn="ctr">
            <a:solidFill>
              <a:schemeClr val="accent5"/>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sp>
        <p:nvSpPr>
          <p:cNvPr id="25" name="正方形/長方形 24"/>
          <p:cNvSpPr/>
          <p:nvPr/>
        </p:nvSpPr>
        <p:spPr bwMode="auto">
          <a:xfrm>
            <a:off x="7356014" y="4059007"/>
            <a:ext cx="540006" cy="720008"/>
          </a:xfrm>
          <a:prstGeom prst="rect">
            <a:avLst/>
          </a:prstGeom>
          <a:solidFill>
            <a:schemeClr val="bg1">
              <a:alpha val="50000"/>
            </a:schemeClr>
          </a:solidFill>
          <a:ln w="63500" cap="flat" cmpd="sng" algn="ctr">
            <a:solidFill>
              <a:schemeClr val="accent5"/>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Helvetica" pitchFamily="34" charset="0"/>
              <a:ea typeface="HG丸ｺﾞｼｯｸM-PRO" pitchFamily="50" charset="-128"/>
              <a:cs typeface="Helvetica" pitchFamily="34" charset="0"/>
            </a:endParaRPr>
          </a:p>
        </p:txBody>
      </p:sp>
      <p:cxnSp>
        <p:nvCxnSpPr>
          <p:cNvPr id="22" name="図形 26"/>
          <p:cNvCxnSpPr/>
          <p:nvPr/>
        </p:nvCxnSpPr>
        <p:spPr bwMode="auto">
          <a:xfrm rot="5400000" flipH="1" flipV="1">
            <a:off x="6294125" y="3261341"/>
            <a:ext cx="2811676" cy="1075845"/>
          </a:xfrm>
          <a:prstGeom prst="curvedConnector2">
            <a:avLst/>
          </a:prstGeom>
          <a:noFill/>
          <a:ln w="25400" cap="flat" cmpd="sng" algn="ctr">
            <a:solidFill>
              <a:srgbClr val="FF0000"/>
            </a:solidFill>
            <a:prstDash val="solid"/>
            <a:round/>
            <a:headEnd type="none" w="med" len="med"/>
            <a:tailEnd type="arrow"/>
          </a:ln>
          <a:effectLst/>
        </p:spPr>
      </p:cxnSp>
      <p:cxnSp>
        <p:nvCxnSpPr>
          <p:cNvPr id="21" name="図形 25"/>
          <p:cNvCxnSpPr/>
          <p:nvPr/>
        </p:nvCxnSpPr>
        <p:spPr bwMode="auto">
          <a:xfrm rot="5400000" flipH="1" flipV="1">
            <a:off x="7143300" y="4110515"/>
            <a:ext cx="1113329" cy="1075845"/>
          </a:xfrm>
          <a:prstGeom prst="curvedConnector2">
            <a:avLst/>
          </a:prstGeom>
          <a:noFill/>
          <a:ln w="25400" cap="flat" cmpd="sng" algn="ctr">
            <a:solidFill>
              <a:srgbClr val="FF0000"/>
            </a:solidFill>
            <a:prstDash val="solid"/>
            <a:round/>
            <a:headEnd type="none" w="med" len="med"/>
            <a:tailEnd type="arrow"/>
          </a:ln>
          <a:effectLst/>
        </p:spPr>
      </p:cxnSp>
    </p:spTree>
    <p:extLst>
      <p:ext uri="{BB962C8B-B14F-4D97-AF65-F5344CB8AC3E}">
        <p14:creationId xmlns:p14="http://schemas.microsoft.com/office/powerpoint/2010/main" val="23004770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マルチポート・メモリと </a:t>
            </a:r>
            <a:r>
              <a:rPr kumimoji="1" lang="en-US" altLang="ja-JP" dirty="0"/>
              <a:t>CPU </a:t>
            </a:r>
            <a:r>
              <a:rPr kumimoji="1" lang="ja-JP" altLang="en-US" dirty="0"/>
              <a:t>の回路規模</a:t>
            </a:r>
          </a:p>
        </p:txBody>
      </p:sp>
      <p:sp>
        <p:nvSpPr>
          <p:cNvPr id="3" name="テキスト プレースホルダー 2"/>
          <p:cNvSpPr>
            <a:spLocks noGrp="1"/>
          </p:cNvSpPr>
          <p:nvPr>
            <p:ph type="body" sz="quarter" idx="10"/>
          </p:nvPr>
        </p:nvSpPr>
        <p:spPr/>
        <p:txBody>
          <a:bodyPr/>
          <a:lstStyle/>
          <a:p>
            <a:r>
              <a:rPr lang="en-US" altLang="ja-JP" dirty="0"/>
              <a:t>CPU </a:t>
            </a:r>
            <a:r>
              <a:rPr lang="ja-JP" altLang="en-US" dirty="0"/>
              <a:t>の性能を上げようとすると，ポート数が増える事が多い</a:t>
            </a:r>
          </a:p>
          <a:p>
            <a:pPr lvl="1"/>
            <a:r>
              <a:rPr lang="ja-JP" altLang="en-US" dirty="0"/>
              <a:t>例：２命令を同時に処理できるようにする</a:t>
            </a:r>
            <a:endParaRPr lang="en-US" altLang="ja-JP" dirty="0"/>
          </a:p>
          <a:p>
            <a:pPr lvl="2"/>
            <a:r>
              <a:rPr lang="ja-JP" altLang="en-US" dirty="0"/>
              <a:t>レジスタ・ファイルの読み出しと書き込みが倍に</a:t>
            </a:r>
            <a:endParaRPr lang="en-US" altLang="ja-JP" dirty="0"/>
          </a:p>
          <a:p>
            <a:pPr lvl="2"/>
            <a:r>
              <a:rPr lang="ja-JP" altLang="en-US" dirty="0"/>
              <a:t>ポート数が倍 → 回路面積４倍</a:t>
            </a:r>
            <a:endParaRPr lang="en-US" altLang="ja-JP" dirty="0"/>
          </a:p>
        </p:txBody>
      </p:sp>
    </p:spTree>
    <p:extLst>
      <p:ext uri="{BB962C8B-B14F-4D97-AF65-F5344CB8AC3E}">
        <p14:creationId xmlns:p14="http://schemas.microsoft.com/office/powerpoint/2010/main" val="3127208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マルチポート・メモリと </a:t>
            </a:r>
            <a:r>
              <a:rPr kumimoji="1" lang="en-US" altLang="ja-JP" dirty="0"/>
              <a:t>CPU </a:t>
            </a:r>
            <a:r>
              <a:rPr kumimoji="1" lang="ja-JP" altLang="en-US" dirty="0"/>
              <a:t>の回路規模</a:t>
            </a:r>
          </a:p>
        </p:txBody>
      </p:sp>
      <p:sp>
        <p:nvSpPr>
          <p:cNvPr id="3" name="テキスト プレースホルダー 2"/>
          <p:cNvSpPr>
            <a:spLocks noGrp="1"/>
          </p:cNvSpPr>
          <p:nvPr>
            <p:ph type="body" sz="quarter" idx="10"/>
          </p:nvPr>
        </p:nvSpPr>
        <p:spPr/>
        <p:txBody>
          <a:bodyPr/>
          <a:lstStyle/>
          <a:p>
            <a:r>
              <a:rPr lang="en-US" altLang="ja-JP" dirty="0"/>
              <a:t>CPU </a:t>
            </a:r>
            <a:r>
              <a:rPr lang="ja-JP" altLang="en-US" dirty="0"/>
              <a:t>はそう言ったメモリのかたまり</a:t>
            </a:r>
            <a:endParaRPr lang="en-US" altLang="ja-JP" dirty="0"/>
          </a:p>
          <a:p>
            <a:pPr lvl="1"/>
            <a:r>
              <a:rPr lang="ja-JP" altLang="en-US" dirty="0"/>
              <a:t>演算器よりもメモリの方がずっと大きい</a:t>
            </a:r>
            <a:endParaRPr lang="en-US" altLang="ja-JP" dirty="0"/>
          </a:p>
          <a:p>
            <a:pPr lvl="1"/>
            <a:r>
              <a:rPr lang="ja-JP" altLang="en-US" dirty="0"/>
              <a:t>投機実行や並列実行をするために様々なテーブルが導入される</a:t>
            </a:r>
            <a:endParaRPr lang="en-US" altLang="ja-JP" dirty="0"/>
          </a:p>
          <a:p>
            <a:pPr lvl="1"/>
            <a:r>
              <a:rPr lang="ja-JP" altLang="en-US" dirty="0"/>
              <a:t>それらは同時アクセス可能な数に対して，急速に大きくなる</a:t>
            </a:r>
            <a:endParaRPr lang="en-US" altLang="ja-JP" dirty="0"/>
          </a:p>
          <a:p>
            <a:r>
              <a:rPr lang="ja-JP" altLang="en-US" dirty="0"/>
              <a:t>同時実行数を増やすことが難しい</a:t>
            </a:r>
            <a:endParaRPr lang="en-US" altLang="ja-JP" dirty="0"/>
          </a:p>
          <a:p>
            <a:pPr lvl="1"/>
            <a:r>
              <a:rPr lang="ja-JP" altLang="en-US" dirty="0"/>
              <a:t>完全に独立したメモリなら問題ない</a:t>
            </a:r>
            <a:endParaRPr lang="en-US" altLang="ja-JP" dirty="0"/>
          </a:p>
          <a:p>
            <a:pPr lvl="1"/>
            <a:r>
              <a:rPr lang="ja-JP" altLang="en-US" dirty="0"/>
              <a:t>１つの大きなコアを作るより，お互いが独立しているマルチコア化の方が面積効率は良い</a:t>
            </a:r>
            <a:endParaRPr lang="en-US" altLang="ja-JP" dirty="0"/>
          </a:p>
        </p:txBody>
      </p:sp>
    </p:spTree>
    <p:extLst>
      <p:ext uri="{BB962C8B-B14F-4D97-AF65-F5344CB8AC3E}">
        <p14:creationId xmlns:p14="http://schemas.microsoft.com/office/powerpoint/2010/main" val="2699251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9A7C45-7EB0-4F27-BADC-7782B7AF473B}"/>
              </a:ext>
            </a:extLst>
          </p:cNvPr>
          <p:cNvSpPr>
            <a:spLocks noGrp="1"/>
          </p:cNvSpPr>
          <p:nvPr>
            <p:ph type="title"/>
          </p:nvPr>
        </p:nvSpPr>
        <p:spPr/>
        <p:txBody>
          <a:bodyPr/>
          <a:lstStyle/>
          <a:p>
            <a:r>
              <a:rPr kumimoji="1" lang="ja-JP" altLang="en-US" dirty="0"/>
              <a:t>メモリ</a:t>
            </a:r>
          </a:p>
        </p:txBody>
      </p:sp>
      <p:sp>
        <p:nvSpPr>
          <p:cNvPr id="3" name="テキスト プレースホルダー 2">
            <a:extLst>
              <a:ext uri="{FF2B5EF4-FFF2-40B4-BE49-F238E27FC236}">
                <a16:creationId xmlns:a16="http://schemas.microsoft.com/office/drawing/2014/main" id="{9A9554BA-573E-4373-B0CB-9B8794EA0391}"/>
              </a:ext>
            </a:extLst>
          </p:cNvPr>
          <p:cNvSpPr>
            <a:spLocks noGrp="1"/>
          </p:cNvSpPr>
          <p:nvPr>
            <p:ph type="body" sz="quarter" idx="10"/>
          </p:nvPr>
        </p:nvSpPr>
        <p:spPr/>
        <p:txBody>
          <a:bodyPr/>
          <a:lstStyle/>
          <a:p>
            <a:pPr marL="457200" indent="-457200">
              <a:buFont typeface="+mj-lt"/>
              <a:buAutoNum type="arabicPeriod"/>
            </a:pPr>
            <a:r>
              <a:rPr lang="ja-JP" altLang="en-US" dirty="0"/>
              <a:t>メモリの基本</a:t>
            </a:r>
            <a:endParaRPr lang="en-US" altLang="ja-JP"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solidFill>
                  <a:schemeClr val="accent5"/>
                </a:solidFill>
              </a:rPr>
              <a:t>メモリを対象にしたアタック</a:t>
            </a:r>
          </a:p>
        </p:txBody>
      </p:sp>
    </p:spTree>
    <p:extLst>
      <p:ext uri="{BB962C8B-B14F-4D97-AF65-F5344CB8AC3E}">
        <p14:creationId xmlns:p14="http://schemas.microsoft.com/office/powerpoint/2010/main" val="2323041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メモリを対象にしたアタック</a:t>
            </a:r>
          </a:p>
        </p:txBody>
      </p:sp>
      <p:sp>
        <p:nvSpPr>
          <p:cNvPr id="3" name="テキスト プレースホルダー 2"/>
          <p:cNvSpPr>
            <a:spLocks noGrp="1"/>
          </p:cNvSpPr>
          <p:nvPr>
            <p:ph type="body" sz="quarter" idx="10"/>
          </p:nvPr>
        </p:nvSpPr>
        <p:spPr/>
        <p:txBody>
          <a:bodyPr/>
          <a:lstStyle/>
          <a:p>
            <a:r>
              <a:rPr lang="ja-JP" altLang="en-US" dirty="0"/>
              <a:t>メモリの仕組みがわかると，原理がわかる</a:t>
            </a:r>
          </a:p>
          <a:p>
            <a:pPr marL="817200" lvl="1" indent="-457200">
              <a:buFont typeface="+mj-lt"/>
              <a:buAutoNum type="arabicPeriod"/>
            </a:pPr>
            <a:r>
              <a:rPr lang="en-US" altLang="ja-JP" dirty="0"/>
              <a:t>Row Hammer</a:t>
            </a:r>
          </a:p>
          <a:p>
            <a:pPr marL="817200" lvl="1" indent="-457200">
              <a:buFont typeface="+mj-lt"/>
              <a:buAutoNum type="arabicPeriod"/>
            </a:pPr>
            <a:r>
              <a:rPr kumimoji="1" lang="en-US" altLang="ja-JP" dirty="0"/>
              <a:t>Cold Boot Attack</a:t>
            </a:r>
          </a:p>
        </p:txBody>
      </p:sp>
    </p:spTree>
    <p:extLst>
      <p:ext uri="{BB962C8B-B14F-4D97-AF65-F5344CB8AC3E}">
        <p14:creationId xmlns:p14="http://schemas.microsoft.com/office/powerpoint/2010/main" val="2108248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Row Hammer</a:t>
            </a:r>
            <a:endParaRPr kumimoji="1" lang="ja-JP" altLang="en-US" dirty="0"/>
          </a:p>
        </p:txBody>
      </p:sp>
      <p:sp>
        <p:nvSpPr>
          <p:cNvPr id="3" name="テキスト プレースホルダー 2"/>
          <p:cNvSpPr>
            <a:spLocks noGrp="1"/>
          </p:cNvSpPr>
          <p:nvPr>
            <p:ph type="body" sz="quarter" idx="10"/>
          </p:nvPr>
        </p:nvSpPr>
        <p:spPr>
          <a:xfrm>
            <a:off x="2135956" y="4419012"/>
            <a:ext cx="8280092" cy="1889714"/>
          </a:xfrm>
        </p:spPr>
        <p:txBody>
          <a:bodyPr/>
          <a:lstStyle/>
          <a:p>
            <a:r>
              <a:rPr lang="ja-JP" altLang="en-US" dirty="0"/>
              <a:t>特定の行を過剰に集中してアクセスすると隣接行のデータが化ける</a:t>
            </a:r>
            <a:endParaRPr lang="en-US" altLang="ja-JP" dirty="0"/>
          </a:p>
          <a:p>
            <a:pPr lvl="1"/>
            <a:r>
              <a:rPr lang="ja-JP" altLang="en-US" dirty="0"/>
              <a:t>通常よりも </a:t>
            </a:r>
            <a:r>
              <a:rPr lang="en-US" altLang="ja-JP" dirty="0"/>
              <a:t>DRAM </a:t>
            </a:r>
            <a:r>
              <a:rPr lang="ja-JP" altLang="en-US" dirty="0"/>
              <a:t>セルの放電が早まるため</a:t>
            </a:r>
            <a:endParaRPr lang="en-US" altLang="ja-JP" dirty="0"/>
          </a:p>
          <a:p>
            <a:pPr lvl="1"/>
            <a:r>
              <a:rPr lang="ja-JP" altLang="en-US" dirty="0"/>
              <a:t>意図的にデータを化けさせて様々なアタックを行う</a:t>
            </a:r>
            <a:endParaRPr lang="en-US" altLang="ja-JP" dirty="0"/>
          </a:p>
          <a:p>
            <a:pPr lvl="2"/>
            <a:r>
              <a:rPr lang="ja-JP" altLang="en-US" dirty="0"/>
              <a:t>特権昇格とかは実証コードがでている・・・ らしい</a:t>
            </a:r>
            <a:endParaRPr lang="en-US" altLang="ja-JP" dirty="0"/>
          </a:p>
          <a:p>
            <a:r>
              <a:rPr lang="en-US" altLang="ja-JP" dirty="0" err="1"/>
              <a:t>Yoongu</a:t>
            </a:r>
            <a:r>
              <a:rPr lang="en-US" altLang="ja-JP" dirty="0"/>
              <a:t> Kim</a:t>
            </a:r>
            <a:r>
              <a:rPr lang="ja-JP" altLang="en-US" dirty="0"/>
              <a:t> </a:t>
            </a:r>
            <a:r>
              <a:rPr lang="en-US" altLang="ja-JP" dirty="0"/>
              <a:t>et al., Flipping Bits in Memory Without Accessing Them: An Experimental Study of DRAM Disturbance Errors </a:t>
            </a:r>
            <a:r>
              <a:rPr lang="ja-JP" altLang="en-US" dirty="0"/>
              <a:t>など</a:t>
            </a:r>
            <a:endParaRPr kumimoji="1" lang="ja-JP" altLang="en-US" dirty="0"/>
          </a:p>
        </p:txBody>
      </p:sp>
      <p:grpSp>
        <p:nvGrpSpPr>
          <p:cNvPr id="37" name="グループ化 36"/>
          <p:cNvGrpSpPr/>
          <p:nvPr/>
        </p:nvGrpSpPr>
        <p:grpSpPr>
          <a:xfrm>
            <a:off x="3665973" y="908972"/>
            <a:ext cx="4500050" cy="3240036"/>
            <a:chOff x="1601967" y="908972"/>
            <a:chExt cx="5220055" cy="3780003"/>
          </a:xfrm>
        </p:grpSpPr>
        <p:sp>
          <p:nvSpPr>
            <p:cNvPr id="4" name="正方形/長方形 3"/>
            <p:cNvSpPr/>
            <p:nvPr/>
          </p:nvSpPr>
          <p:spPr>
            <a:xfrm>
              <a:off x="3132013" y="1178978"/>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5" name="正方形/長方形 4"/>
            <p:cNvSpPr/>
            <p:nvPr/>
          </p:nvSpPr>
          <p:spPr>
            <a:xfrm>
              <a:off x="3942010" y="1178975"/>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6" name="正方形/長方形 5"/>
            <p:cNvSpPr/>
            <p:nvPr/>
          </p:nvSpPr>
          <p:spPr>
            <a:xfrm>
              <a:off x="4752011" y="1178975"/>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7" name="正方形/長方形 6"/>
            <p:cNvSpPr/>
            <p:nvPr/>
          </p:nvSpPr>
          <p:spPr>
            <a:xfrm>
              <a:off x="5562011" y="1178975"/>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8" name="直線コネクタ 7"/>
            <p:cNvCxnSpPr/>
            <p:nvPr/>
          </p:nvCxnSpPr>
          <p:spPr>
            <a:xfrm flipV="1">
              <a:off x="2681979" y="1448975"/>
              <a:ext cx="3690032" cy="3"/>
            </a:xfrm>
            <a:prstGeom prst="line">
              <a:avLst/>
            </a:prstGeom>
            <a:ln w="3175"/>
          </p:spPr>
          <p:style>
            <a:lnRef idx="1">
              <a:schemeClr val="dk1"/>
            </a:lnRef>
            <a:fillRef idx="0">
              <a:schemeClr val="dk1"/>
            </a:fillRef>
            <a:effectRef idx="0">
              <a:schemeClr val="dk1"/>
            </a:effectRef>
            <a:fontRef idx="minor">
              <a:schemeClr val="tx1"/>
            </a:fontRef>
          </p:style>
        </p:cxnSp>
        <p:sp>
          <p:nvSpPr>
            <p:cNvPr id="9" name="正方形/長方形 8"/>
            <p:cNvSpPr/>
            <p:nvPr/>
          </p:nvSpPr>
          <p:spPr>
            <a:xfrm>
              <a:off x="3132010" y="1988975"/>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10" name="正方形/長方形 9"/>
            <p:cNvSpPr/>
            <p:nvPr/>
          </p:nvSpPr>
          <p:spPr>
            <a:xfrm>
              <a:off x="3942007" y="198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1" name="正方形/長方形 10"/>
            <p:cNvSpPr/>
            <p:nvPr/>
          </p:nvSpPr>
          <p:spPr>
            <a:xfrm>
              <a:off x="4752008" y="198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2" name="正方形/長方形 11"/>
            <p:cNvSpPr/>
            <p:nvPr/>
          </p:nvSpPr>
          <p:spPr>
            <a:xfrm>
              <a:off x="5562008" y="198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cxnSp>
          <p:nvCxnSpPr>
            <p:cNvPr id="13" name="直線コネクタ 12"/>
            <p:cNvCxnSpPr/>
            <p:nvPr/>
          </p:nvCxnSpPr>
          <p:spPr>
            <a:xfrm flipV="1">
              <a:off x="2681979" y="2258972"/>
              <a:ext cx="3690029" cy="15"/>
            </a:xfrm>
            <a:prstGeom prst="line">
              <a:avLst/>
            </a:prstGeom>
            <a:ln/>
          </p:spPr>
          <p:style>
            <a:lnRef idx="3">
              <a:schemeClr val="accent6"/>
            </a:lnRef>
            <a:fillRef idx="0">
              <a:schemeClr val="accent6"/>
            </a:fillRef>
            <a:effectRef idx="2">
              <a:schemeClr val="accent6"/>
            </a:effectRef>
            <a:fontRef idx="minor">
              <a:schemeClr val="tx1"/>
            </a:fontRef>
          </p:style>
        </p:cxnSp>
        <p:sp>
          <p:nvSpPr>
            <p:cNvPr id="14" name="正方形/長方形 13"/>
            <p:cNvSpPr/>
            <p:nvPr/>
          </p:nvSpPr>
          <p:spPr>
            <a:xfrm>
              <a:off x="3132010" y="2798975"/>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5" name="正方形/長方形 14"/>
            <p:cNvSpPr/>
            <p:nvPr/>
          </p:nvSpPr>
          <p:spPr>
            <a:xfrm>
              <a:off x="3942007" y="2798972"/>
              <a:ext cx="540000" cy="540000"/>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6" name="正方形/長方形 15"/>
            <p:cNvSpPr/>
            <p:nvPr/>
          </p:nvSpPr>
          <p:spPr>
            <a:xfrm>
              <a:off x="4752008" y="279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sp>
          <p:nvSpPr>
            <p:cNvPr id="17" name="正方形/長方形 16"/>
            <p:cNvSpPr/>
            <p:nvPr/>
          </p:nvSpPr>
          <p:spPr>
            <a:xfrm>
              <a:off x="5562008" y="279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18" name="直線コネクタ 17"/>
            <p:cNvCxnSpPr/>
            <p:nvPr/>
          </p:nvCxnSpPr>
          <p:spPr>
            <a:xfrm flipV="1">
              <a:off x="2681979" y="3068972"/>
              <a:ext cx="3690029" cy="24"/>
            </a:xfrm>
            <a:prstGeom prst="line">
              <a:avLst/>
            </a:prstGeom>
            <a:ln w="3175"/>
          </p:spPr>
          <p:style>
            <a:lnRef idx="1">
              <a:schemeClr val="dk1"/>
            </a:lnRef>
            <a:fillRef idx="0">
              <a:schemeClr val="dk1"/>
            </a:fillRef>
            <a:effectRef idx="0">
              <a:schemeClr val="dk1"/>
            </a:effectRef>
            <a:fontRef idx="minor">
              <a:schemeClr val="tx1"/>
            </a:fontRef>
          </p:style>
        </p:cxnSp>
        <p:sp>
          <p:nvSpPr>
            <p:cNvPr id="19" name="正方形/長方形 18"/>
            <p:cNvSpPr/>
            <p:nvPr/>
          </p:nvSpPr>
          <p:spPr>
            <a:xfrm>
              <a:off x="3132010" y="3608975"/>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0" name="正方形/長方形 19"/>
            <p:cNvSpPr/>
            <p:nvPr/>
          </p:nvSpPr>
          <p:spPr>
            <a:xfrm>
              <a:off x="3942007" y="360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1" name="正方形/長方形 20"/>
            <p:cNvSpPr/>
            <p:nvPr/>
          </p:nvSpPr>
          <p:spPr>
            <a:xfrm>
              <a:off x="4752008" y="360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1</a:t>
              </a:r>
              <a:endParaRPr lang="ja-JP" altLang="en-US" sz="1600" dirty="0">
                <a:latin typeface="Arial Narrow" pitchFamily="34" charset="0"/>
              </a:endParaRPr>
            </a:p>
          </p:txBody>
        </p:sp>
        <p:sp>
          <p:nvSpPr>
            <p:cNvPr id="22" name="正方形/長方形 21"/>
            <p:cNvSpPr/>
            <p:nvPr/>
          </p:nvSpPr>
          <p:spPr>
            <a:xfrm>
              <a:off x="5562008" y="3608972"/>
              <a:ext cx="540000" cy="540000"/>
            </a:xfrm>
            <a:prstGeom prst="rect">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sz="1600" dirty="0">
                  <a:latin typeface="Arial Narrow" pitchFamily="34" charset="0"/>
                </a:rPr>
                <a:t>0</a:t>
              </a:r>
              <a:endParaRPr lang="ja-JP" altLang="en-US" sz="1600" dirty="0">
                <a:latin typeface="Arial Narrow" pitchFamily="34" charset="0"/>
              </a:endParaRPr>
            </a:p>
          </p:txBody>
        </p:sp>
        <p:cxnSp>
          <p:nvCxnSpPr>
            <p:cNvPr id="23" name="直線コネクタ 22"/>
            <p:cNvCxnSpPr/>
            <p:nvPr/>
          </p:nvCxnSpPr>
          <p:spPr>
            <a:xfrm flipV="1">
              <a:off x="2681979" y="3878972"/>
              <a:ext cx="3690029" cy="33"/>
            </a:xfrm>
            <a:prstGeom prst="line">
              <a:avLst/>
            </a:prstGeom>
            <a:ln w="3175"/>
          </p:spPr>
          <p:style>
            <a:lnRef idx="1">
              <a:schemeClr val="dk1"/>
            </a:lnRef>
            <a:fillRef idx="0">
              <a:schemeClr val="dk1"/>
            </a:fillRef>
            <a:effectRef idx="0">
              <a:schemeClr val="dk1"/>
            </a:effectRef>
            <a:fontRef idx="minor">
              <a:schemeClr val="tx1"/>
            </a:fontRef>
          </p:style>
        </p:cxnSp>
        <p:cxnSp>
          <p:nvCxnSpPr>
            <p:cNvPr id="24" name="直線コネクタ 23"/>
            <p:cNvCxnSpPr/>
            <p:nvPr/>
          </p:nvCxnSpPr>
          <p:spPr>
            <a:xfrm flipV="1">
              <a:off x="3402010" y="908978"/>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5" name="直線コネクタ 24"/>
            <p:cNvCxnSpPr/>
            <p:nvPr/>
          </p:nvCxnSpPr>
          <p:spPr>
            <a:xfrm flipV="1">
              <a:off x="4212010" y="908978"/>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6" name="直線コネクタ 25"/>
            <p:cNvCxnSpPr/>
            <p:nvPr/>
          </p:nvCxnSpPr>
          <p:spPr>
            <a:xfrm flipV="1">
              <a:off x="5022011" y="908978"/>
              <a:ext cx="3" cy="3779997"/>
            </a:xfrm>
            <a:prstGeom prst="line">
              <a:avLst/>
            </a:prstGeom>
            <a:ln w="3175"/>
          </p:spPr>
          <p:style>
            <a:lnRef idx="1">
              <a:schemeClr val="dk1"/>
            </a:lnRef>
            <a:fillRef idx="0">
              <a:schemeClr val="dk1"/>
            </a:fillRef>
            <a:effectRef idx="0">
              <a:schemeClr val="dk1"/>
            </a:effectRef>
            <a:fontRef idx="minor">
              <a:schemeClr val="tx1"/>
            </a:fontRef>
          </p:style>
        </p:cxnSp>
        <p:cxnSp>
          <p:nvCxnSpPr>
            <p:cNvPr id="27" name="直線コネクタ 26"/>
            <p:cNvCxnSpPr/>
            <p:nvPr/>
          </p:nvCxnSpPr>
          <p:spPr>
            <a:xfrm flipV="1">
              <a:off x="5832011" y="908978"/>
              <a:ext cx="3" cy="3779997"/>
            </a:xfrm>
            <a:prstGeom prst="line">
              <a:avLst/>
            </a:prstGeom>
            <a:ln w="3175"/>
          </p:spPr>
          <p:style>
            <a:lnRef idx="1">
              <a:schemeClr val="dk1"/>
            </a:lnRef>
            <a:fillRef idx="0">
              <a:schemeClr val="dk1"/>
            </a:fillRef>
            <a:effectRef idx="0">
              <a:schemeClr val="dk1"/>
            </a:effectRef>
            <a:fontRef idx="minor">
              <a:schemeClr val="tx1"/>
            </a:fontRef>
          </p:style>
        </p:cxnSp>
        <p:sp>
          <p:nvSpPr>
            <p:cNvPr id="30" name="正方形/長方形 29"/>
            <p:cNvSpPr/>
            <p:nvPr/>
          </p:nvSpPr>
          <p:spPr>
            <a:xfrm rot="16200000">
              <a:off x="5472021" y="2798982"/>
              <a:ext cx="2160000"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word lines</a:t>
              </a:r>
              <a:endParaRPr lang="ja-JP" altLang="en-US" sz="1600" dirty="0">
                <a:latin typeface="Arial Narrow" pitchFamily="34" charset="0"/>
              </a:endParaRPr>
            </a:p>
          </p:txBody>
        </p:sp>
        <p:sp>
          <p:nvSpPr>
            <p:cNvPr id="31" name="正方形/長方形 30"/>
            <p:cNvSpPr/>
            <p:nvPr/>
          </p:nvSpPr>
          <p:spPr>
            <a:xfrm>
              <a:off x="5742013" y="908972"/>
              <a:ext cx="1080001"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cell</a:t>
              </a:r>
              <a:endParaRPr lang="ja-JP" altLang="en-US" sz="1600" dirty="0">
                <a:latin typeface="Arial Narrow" pitchFamily="34" charset="0"/>
              </a:endParaRPr>
            </a:p>
          </p:txBody>
        </p:sp>
        <p:sp>
          <p:nvSpPr>
            <p:cNvPr id="32" name="台形 31"/>
            <p:cNvSpPr/>
            <p:nvPr/>
          </p:nvSpPr>
          <p:spPr>
            <a:xfrm rot="5400000" flipV="1">
              <a:off x="1061974" y="2528978"/>
              <a:ext cx="2970002" cy="269997"/>
            </a:xfrm>
            <a:prstGeom prst="trapezoid">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Arial Narrow" pitchFamily="34" charset="0"/>
              </a:endParaRPr>
            </a:p>
          </p:txBody>
        </p:sp>
        <p:sp>
          <p:nvSpPr>
            <p:cNvPr id="34" name="正方形/長方形 33"/>
            <p:cNvSpPr/>
            <p:nvPr/>
          </p:nvSpPr>
          <p:spPr>
            <a:xfrm rot="16200000">
              <a:off x="1286974" y="2213975"/>
              <a:ext cx="2430002" cy="540003"/>
            </a:xfrm>
            <a:prstGeom prst="rect">
              <a:avLst/>
            </a:prstGeom>
            <a:noFill/>
            <a:ln w="12700">
              <a:noFill/>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latin typeface="Arial Narrow" pitchFamily="34" charset="0"/>
                </a:rPr>
                <a:t>decoder</a:t>
              </a:r>
              <a:endParaRPr lang="ja-JP" altLang="en-US" sz="1600" dirty="0">
                <a:latin typeface="Arial Narrow" pitchFamily="34" charset="0"/>
              </a:endParaRPr>
            </a:p>
          </p:txBody>
        </p:sp>
        <p:cxnSp>
          <p:nvCxnSpPr>
            <p:cNvPr id="35" name="直線コネクタ 34"/>
            <p:cNvCxnSpPr/>
            <p:nvPr/>
          </p:nvCxnSpPr>
          <p:spPr>
            <a:xfrm flipV="1">
              <a:off x="1601967" y="2618991"/>
              <a:ext cx="810009" cy="34"/>
            </a:xfrm>
            <a:prstGeom prst="line">
              <a:avLst/>
            </a:prstGeom>
            <a:ln w="3175">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8759608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3F4483BD-C346-C56E-FECD-25B81EB9FA3D}"/>
              </a:ext>
            </a:extLst>
          </p:cNvPr>
          <p:cNvPicPr>
            <a:picLocks noChangeAspect="1"/>
          </p:cNvPicPr>
          <p:nvPr/>
        </p:nvPicPr>
        <p:blipFill>
          <a:blip r:embed="rId2"/>
          <a:stretch>
            <a:fillRect/>
          </a:stretch>
        </p:blipFill>
        <p:spPr>
          <a:xfrm>
            <a:off x="3755974" y="3338999"/>
            <a:ext cx="3510039" cy="1837608"/>
          </a:xfrm>
          <a:prstGeom prst="rect">
            <a:avLst/>
          </a:prstGeom>
        </p:spPr>
      </p:pic>
      <p:sp>
        <p:nvSpPr>
          <p:cNvPr id="2" name="タイトル 1">
            <a:extLst>
              <a:ext uri="{FF2B5EF4-FFF2-40B4-BE49-F238E27FC236}">
                <a16:creationId xmlns:a16="http://schemas.microsoft.com/office/drawing/2014/main" id="{4EE45576-7E7C-9067-220A-41811F99D337}"/>
              </a:ext>
            </a:extLst>
          </p:cNvPr>
          <p:cNvSpPr>
            <a:spLocks noGrp="1"/>
          </p:cNvSpPr>
          <p:nvPr>
            <p:ph type="title"/>
          </p:nvPr>
        </p:nvSpPr>
        <p:spPr/>
        <p:txBody>
          <a:bodyPr/>
          <a:lstStyle/>
          <a:p>
            <a:r>
              <a:rPr kumimoji="1" lang="en-US" altLang="ja-JP" dirty="0"/>
              <a:t>Row Hammer </a:t>
            </a:r>
            <a:r>
              <a:rPr kumimoji="1" lang="ja-JP" altLang="en-US" dirty="0"/>
              <a:t>の応用：リバースエンジニアリング</a:t>
            </a:r>
          </a:p>
        </p:txBody>
      </p:sp>
      <p:sp>
        <p:nvSpPr>
          <p:cNvPr id="3" name="テキスト プレースホルダー 2">
            <a:extLst>
              <a:ext uri="{FF2B5EF4-FFF2-40B4-BE49-F238E27FC236}">
                <a16:creationId xmlns:a16="http://schemas.microsoft.com/office/drawing/2014/main" id="{D87AC7CE-B4CF-AD44-0BCD-361BB5E101A7}"/>
              </a:ext>
            </a:extLst>
          </p:cNvPr>
          <p:cNvSpPr>
            <a:spLocks noGrp="1"/>
          </p:cNvSpPr>
          <p:nvPr>
            <p:ph type="body" sz="quarter" idx="10"/>
          </p:nvPr>
        </p:nvSpPr>
        <p:spPr>
          <a:xfrm>
            <a:off x="7266013" y="1088974"/>
            <a:ext cx="4590051" cy="5580062"/>
          </a:xfrm>
        </p:spPr>
        <p:txBody>
          <a:bodyPr/>
          <a:lstStyle/>
          <a:p>
            <a:r>
              <a:rPr lang="ja-JP" altLang="en-US" dirty="0"/>
              <a:t>アドレスと物理配置の対応はよくわからない</a:t>
            </a:r>
            <a:endParaRPr lang="en-US" altLang="ja-JP" dirty="0"/>
          </a:p>
          <a:p>
            <a:pPr lvl="1"/>
            <a:r>
              <a:rPr lang="en-US" altLang="ja-JP" dirty="0"/>
              <a:t>DRAM </a:t>
            </a:r>
            <a:r>
              <a:rPr lang="ja-JP" altLang="en-US" dirty="0"/>
              <a:t>チップ内はかなり複雑な階層構造を持つ</a:t>
            </a:r>
            <a:endParaRPr lang="en-US" altLang="ja-JP" dirty="0"/>
          </a:p>
          <a:p>
            <a:pPr lvl="1"/>
            <a:r>
              <a:rPr lang="ja-JP" altLang="en-US" dirty="0"/>
              <a:t>アドレスはかなりインタリーブされている</a:t>
            </a:r>
            <a:endParaRPr lang="en-US" altLang="ja-JP" dirty="0"/>
          </a:p>
          <a:p>
            <a:r>
              <a:rPr lang="en-US" altLang="ja-JP" dirty="0"/>
              <a:t>Row Hammer </a:t>
            </a:r>
            <a:r>
              <a:rPr lang="ja-JP" altLang="en-US" dirty="0"/>
              <a:t>を行った際に，どこのデータが壊れるかを観測することで対応を明らかにできる</a:t>
            </a:r>
            <a:endParaRPr lang="en-US" altLang="ja-JP" dirty="0"/>
          </a:p>
          <a:p>
            <a:pPr lvl="1"/>
            <a:r>
              <a:rPr lang="ja-JP" altLang="en-US" dirty="0"/>
              <a:t>２の累乗以外のサイズのアレイがあるなど色々興味深い</a:t>
            </a:r>
            <a:endParaRPr lang="en-US" altLang="ja-JP" dirty="0"/>
          </a:p>
          <a:p>
            <a:pPr marL="0" indent="0">
              <a:buNone/>
            </a:pPr>
            <a:r>
              <a:rPr lang="en-US" altLang="ja-JP" sz="1200" dirty="0"/>
              <a:t>Nam et al., </a:t>
            </a:r>
            <a:r>
              <a:rPr lang="en-US" altLang="ja-JP" sz="1200" dirty="0" err="1"/>
              <a:t>DRAMScope</a:t>
            </a:r>
            <a:r>
              <a:rPr lang="en-US" altLang="ja-JP" sz="1200" dirty="0"/>
              <a:t>: Uncovering DRAM Microarchitecture and Characteristics by Issuing Memory Commands. 2024 </a:t>
            </a:r>
            <a:r>
              <a:rPr lang="ja-JP" altLang="en-US" sz="1200" dirty="0"/>
              <a:t>より</a:t>
            </a:r>
            <a:endParaRPr kumimoji="1" lang="ja-JP" altLang="en-US" sz="1200" dirty="0"/>
          </a:p>
        </p:txBody>
      </p:sp>
      <p:pic>
        <p:nvPicPr>
          <p:cNvPr id="5" name="図 4">
            <a:extLst>
              <a:ext uri="{FF2B5EF4-FFF2-40B4-BE49-F238E27FC236}">
                <a16:creationId xmlns:a16="http://schemas.microsoft.com/office/drawing/2014/main" id="{D55D2BC9-DE45-C502-F408-DF09A8BD602D}"/>
              </a:ext>
            </a:extLst>
          </p:cNvPr>
          <p:cNvPicPr>
            <a:picLocks noChangeAspect="1"/>
          </p:cNvPicPr>
          <p:nvPr/>
        </p:nvPicPr>
        <p:blipFill>
          <a:blip r:embed="rId3"/>
          <a:stretch>
            <a:fillRect/>
          </a:stretch>
        </p:blipFill>
        <p:spPr>
          <a:xfrm>
            <a:off x="515938" y="998973"/>
            <a:ext cx="3081873" cy="1776910"/>
          </a:xfrm>
          <a:prstGeom prst="rect">
            <a:avLst/>
          </a:prstGeom>
        </p:spPr>
      </p:pic>
      <p:pic>
        <p:nvPicPr>
          <p:cNvPr id="9" name="図 8">
            <a:extLst>
              <a:ext uri="{FF2B5EF4-FFF2-40B4-BE49-F238E27FC236}">
                <a16:creationId xmlns:a16="http://schemas.microsoft.com/office/drawing/2014/main" id="{8F6C0ABD-1A69-B206-1AE5-0513400D6861}"/>
              </a:ext>
            </a:extLst>
          </p:cNvPr>
          <p:cNvPicPr>
            <a:picLocks noChangeAspect="1"/>
          </p:cNvPicPr>
          <p:nvPr/>
        </p:nvPicPr>
        <p:blipFill>
          <a:blip r:embed="rId4"/>
          <a:stretch>
            <a:fillRect/>
          </a:stretch>
        </p:blipFill>
        <p:spPr>
          <a:xfrm>
            <a:off x="3935976" y="908972"/>
            <a:ext cx="3489162" cy="2342429"/>
          </a:xfrm>
          <a:prstGeom prst="rect">
            <a:avLst/>
          </a:prstGeom>
        </p:spPr>
      </p:pic>
      <p:pic>
        <p:nvPicPr>
          <p:cNvPr id="13" name="図 12">
            <a:extLst>
              <a:ext uri="{FF2B5EF4-FFF2-40B4-BE49-F238E27FC236}">
                <a16:creationId xmlns:a16="http://schemas.microsoft.com/office/drawing/2014/main" id="{DE123D38-93A6-1259-2253-30261FE8ED61}"/>
              </a:ext>
            </a:extLst>
          </p:cNvPr>
          <p:cNvPicPr>
            <a:picLocks noChangeAspect="1"/>
          </p:cNvPicPr>
          <p:nvPr/>
        </p:nvPicPr>
        <p:blipFill>
          <a:blip r:embed="rId5"/>
          <a:stretch>
            <a:fillRect/>
          </a:stretch>
        </p:blipFill>
        <p:spPr>
          <a:xfrm>
            <a:off x="425937" y="2888994"/>
            <a:ext cx="3125715" cy="3682958"/>
          </a:xfrm>
          <a:prstGeom prst="rect">
            <a:avLst/>
          </a:prstGeom>
        </p:spPr>
      </p:pic>
    </p:spTree>
    <p:extLst>
      <p:ext uri="{BB962C8B-B14F-4D97-AF65-F5344CB8AC3E}">
        <p14:creationId xmlns:p14="http://schemas.microsoft.com/office/powerpoint/2010/main" val="24876598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Cold Boot Attack</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稼働中のマシンの </a:t>
            </a:r>
            <a:r>
              <a:rPr kumimoji="1" lang="en-US" altLang="ja-JP" dirty="0"/>
              <a:t>DRAM </a:t>
            </a:r>
            <a:r>
              <a:rPr kumimoji="1" lang="ja-JP" altLang="en-US" dirty="0"/>
              <a:t>を物理的に引っこ抜いて，</a:t>
            </a:r>
            <a:br>
              <a:rPr kumimoji="1" lang="en-US" altLang="ja-JP" dirty="0"/>
            </a:br>
            <a:r>
              <a:rPr kumimoji="1" lang="ja-JP" altLang="en-US" dirty="0"/>
              <a:t>他のマシンにさして読み取る</a:t>
            </a:r>
            <a:endParaRPr kumimoji="1" lang="en-US" altLang="ja-JP" dirty="0"/>
          </a:p>
          <a:p>
            <a:pPr lvl="1"/>
            <a:r>
              <a:rPr kumimoji="1" lang="en-US" altLang="ja-JP" dirty="0"/>
              <a:t>DRAM </a:t>
            </a:r>
            <a:r>
              <a:rPr kumimoji="1" lang="ja-JP" altLang="en-US" dirty="0"/>
              <a:t>セルの電荷の放電は，温度が低いほどゆっくり</a:t>
            </a:r>
            <a:r>
              <a:rPr kumimoji="1" lang="ja-JP" altLang="en-US" dirty="0" err="1"/>
              <a:t>になる</a:t>
            </a:r>
            <a:endParaRPr kumimoji="1" lang="en-US" altLang="ja-JP" dirty="0"/>
          </a:p>
          <a:p>
            <a:pPr lvl="1"/>
            <a:r>
              <a:rPr kumimoji="1" lang="ja-JP" altLang="en-US" dirty="0"/>
              <a:t>メモリを極低温に冷やすことで，攻撃成功率が飛躍的に上がる</a:t>
            </a:r>
            <a:endParaRPr kumimoji="1" lang="en-US" altLang="ja-JP" dirty="0"/>
          </a:p>
          <a:p>
            <a:pPr lvl="1"/>
            <a:r>
              <a:rPr lang="en-US" altLang="ja-JP" dirty="0"/>
              <a:t>-50 </a:t>
            </a:r>
            <a:r>
              <a:rPr lang="ja-JP" altLang="en-US" dirty="0"/>
              <a:t>度まで冷やすと，</a:t>
            </a:r>
            <a:r>
              <a:rPr lang="en-US" altLang="ja-JP" dirty="0"/>
              <a:t>1</a:t>
            </a:r>
            <a:r>
              <a:rPr lang="ja-JP" altLang="en-US" dirty="0"/>
              <a:t>時間ぐらい持つ・・・らしい</a:t>
            </a:r>
            <a:endParaRPr lang="en-US" altLang="ja-JP" dirty="0"/>
          </a:p>
          <a:p>
            <a:r>
              <a:rPr lang="en-US" altLang="ja-JP" dirty="0"/>
              <a:t>J. A. </a:t>
            </a:r>
            <a:r>
              <a:rPr lang="en-US" altLang="ja-JP" dirty="0" err="1"/>
              <a:t>Halderman</a:t>
            </a:r>
            <a:r>
              <a:rPr lang="ja-JP" altLang="en-US" dirty="0"/>
              <a:t> </a:t>
            </a:r>
            <a:r>
              <a:rPr lang="en-US" altLang="ja-JP" dirty="0"/>
              <a:t>et al., Lest we remember: Cold-boot attacks on encryption keys </a:t>
            </a:r>
            <a:r>
              <a:rPr lang="ja-JP" altLang="en-US" dirty="0"/>
              <a:t>など</a:t>
            </a:r>
            <a:endParaRPr kumimoji="1" lang="ja-JP" altLang="en-US" dirty="0"/>
          </a:p>
        </p:txBody>
      </p:sp>
    </p:spTree>
    <p:extLst>
      <p:ext uri="{BB962C8B-B14F-4D97-AF65-F5344CB8AC3E}">
        <p14:creationId xmlns:p14="http://schemas.microsoft.com/office/powerpoint/2010/main" val="17924994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p:cNvPicPr>
            <a:picLocks noChangeAspect="1"/>
          </p:cNvPicPr>
          <p:nvPr/>
        </p:nvPicPr>
        <p:blipFill>
          <a:blip r:embed="rId2"/>
          <a:stretch>
            <a:fillRect/>
          </a:stretch>
        </p:blipFill>
        <p:spPr>
          <a:xfrm>
            <a:off x="4745985" y="3248998"/>
            <a:ext cx="5472010" cy="3077396"/>
          </a:xfrm>
          <a:prstGeom prst="rect">
            <a:avLst/>
          </a:prstGeom>
        </p:spPr>
      </p:pic>
      <p:sp>
        <p:nvSpPr>
          <p:cNvPr id="2" name="タイトル 1"/>
          <p:cNvSpPr>
            <a:spLocks noGrp="1"/>
          </p:cNvSpPr>
          <p:nvPr>
            <p:ph type="title"/>
          </p:nvPr>
        </p:nvSpPr>
        <p:spPr/>
        <p:txBody>
          <a:bodyPr/>
          <a:lstStyle/>
          <a:p>
            <a:r>
              <a:rPr lang="en-US" altLang="ja-JP" dirty="0"/>
              <a:t>Cold Boot Attack </a:t>
            </a:r>
            <a:r>
              <a:rPr lang="ja-JP" altLang="en-US" dirty="0"/>
              <a:t>の応用例</a:t>
            </a:r>
            <a:endParaRPr kumimoji="1" lang="ja-JP" altLang="en-US" dirty="0"/>
          </a:p>
        </p:txBody>
      </p:sp>
      <p:sp>
        <p:nvSpPr>
          <p:cNvPr id="3" name="テキスト プレースホルダー 2"/>
          <p:cNvSpPr>
            <a:spLocks noGrp="1"/>
          </p:cNvSpPr>
          <p:nvPr>
            <p:ph type="body" sz="quarter" idx="10"/>
          </p:nvPr>
        </p:nvSpPr>
        <p:spPr>
          <a:xfrm>
            <a:off x="2135956" y="1088975"/>
            <a:ext cx="8280092" cy="1170013"/>
          </a:xfrm>
        </p:spPr>
        <p:txBody>
          <a:bodyPr/>
          <a:lstStyle/>
          <a:p>
            <a:r>
              <a:rPr lang="en-US" altLang="ja-JP" dirty="0"/>
              <a:t>【</a:t>
            </a:r>
            <a:r>
              <a:rPr lang="ja-JP" altLang="en-US" dirty="0"/>
              <a:t>ロマサガ</a:t>
            </a:r>
            <a:r>
              <a:rPr lang="en-US" altLang="ja-JP" dirty="0"/>
              <a:t>2】</a:t>
            </a:r>
            <a:r>
              <a:rPr lang="ja-JP" altLang="en-US" dirty="0"/>
              <a:t>ほぼ全ての技を</a:t>
            </a:r>
            <a:r>
              <a:rPr lang="en-US" altLang="ja-JP" dirty="0"/>
              <a:t>100%</a:t>
            </a:r>
            <a:r>
              <a:rPr lang="ja-JP" altLang="en-US" dirty="0"/>
              <a:t>閃く方法 </a:t>
            </a:r>
            <a:r>
              <a:rPr lang="en-US" altLang="ja-JP" dirty="0"/>
              <a:t>(</a:t>
            </a:r>
            <a:r>
              <a:rPr lang="ja-JP" altLang="en-US" dirty="0"/>
              <a:t>おやつの人，</a:t>
            </a:r>
            <a:r>
              <a:rPr lang="en-US" altLang="ja-JP" dirty="0"/>
              <a:t>2019)</a:t>
            </a:r>
            <a:endParaRPr lang="ja-JP" altLang="en-US" dirty="0"/>
          </a:p>
          <a:p>
            <a:pPr lvl="1"/>
            <a:r>
              <a:rPr lang="en-US" altLang="ja-JP" dirty="0">
                <a:hlinkClick r:id="rId3"/>
              </a:rPr>
              <a:t>https://www.youtube.com/watch?v=gWfcZnAydQ4</a:t>
            </a:r>
            <a:endParaRPr kumimoji="1" lang="ja-JP" altLang="en-US" dirty="0"/>
          </a:p>
        </p:txBody>
      </p:sp>
      <p:pic>
        <p:nvPicPr>
          <p:cNvPr id="7" name="図 6"/>
          <p:cNvPicPr>
            <a:picLocks noChangeAspect="1"/>
          </p:cNvPicPr>
          <p:nvPr/>
        </p:nvPicPr>
        <p:blipFill>
          <a:blip r:embed="rId4"/>
          <a:stretch>
            <a:fillRect/>
          </a:stretch>
        </p:blipFill>
        <p:spPr>
          <a:xfrm>
            <a:off x="1955955" y="2348989"/>
            <a:ext cx="5302267" cy="2970032"/>
          </a:xfrm>
          <a:prstGeom prst="rect">
            <a:avLst/>
          </a:prstGeom>
        </p:spPr>
      </p:pic>
      <p:sp>
        <p:nvSpPr>
          <p:cNvPr id="4" name="楕円 3">
            <a:extLst>
              <a:ext uri="{FF2B5EF4-FFF2-40B4-BE49-F238E27FC236}">
                <a16:creationId xmlns:a16="http://schemas.microsoft.com/office/drawing/2014/main" id="{3F92D17C-A264-4736-8C69-A698D74DD714}"/>
              </a:ext>
            </a:extLst>
          </p:cNvPr>
          <p:cNvSpPr/>
          <p:nvPr/>
        </p:nvSpPr>
        <p:spPr bwMode="auto">
          <a:xfrm>
            <a:off x="5825997" y="5589024"/>
            <a:ext cx="4320048" cy="720008"/>
          </a:xfrm>
          <a:prstGeom prst="ellipse">
            <a:avLst/>
          </a:prstGeom>
          <a:noFill/>
          <a:ln w="47625">
            <a:solidFill>
              <a:srgbClr val="FF0000"/>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9282453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ロマサガ２の技のひらめき判定（イメージ）</a:t>
            </a:r>
            <a:br>
              <a:rPr kumimoji="1" lang="en-US" altLang="ja-JP" dirty="0"/>
            </a:br>
            <a:r>
              <a:rPr lang="ja-JP" altLang="en-US" sz="2000" dirty="0"/>
              <a:t>このゲームでは戦闘中に条件に応じて一定の確率で技をひらめく</a:t>
            </a:r>
            <a:endParaRPr kumimoji="1" lang="ja-JP" altLang="en-US" dirty="0"/>
          </a:p>
        </p:txBody>
      </p:sp>
      <p:sp>
        <p:nvSpPr>
          <p:cNvPr id="3" name="テキスト プレースホルダー 2"/>
          <p:cNvSpPr>
            <a:spLocks noGrp="1"/>
          </p:cNvSpPr>
          <p:nvPr>
            <p:ph type="body" sz="quarter" idx="10"/>
          </p:nvPr>
        </p:nvSpPr>
        <p:spPr>
          <a:xfrm>
            <a:off x="2135956" y="1088975"/>
            <a:ext cx="8460094" cy="5219751"/>
          </a:xfrm>
        </p:spPr>
        <p:txBody>
          <a:bodyPr/>
          <a:lstStyle/>
          <a:p>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乱数値で初期化されたテーブル</a:t>
            </a:r>
            <a:br>
              <a:rPr kumimoji="1" lang="en-US" altLang="ja-JP" dirty="0">
                <a:solidFill>
                  <a:schemeClr val="accent1"/>
                </a:solidFill>
                <a:latin typeface="Consolas" panose="020B0609020204030204" pitchFamily="49" charset="0"/>
              </a:rPr>
            </a:br>
            <a:r>
              <a:rPr kumimoji="1" lang="en-US" altLang="ja-JP" dirty="0">
                <a:solidFill>
                  <a:schemeClr val="accent1"/>
                </a:solidFill>
                <a:latin typeface="Consolas" panose="020B0609020204030204" pitchFamily="49" charset="0"/>
              </a:rPr>
              <a:t>uint8_t</a:t>
            </a:r>
            <a:r>
              <a:rPr kumimoji="1" lang="en-US" altLang="ja-JP" dirty="0">
                <a:latin typeface="Consolas" panose="020B0609020204030204" pitchFamily="49" charset="0"/>
              </a:rPr>
              <a:t> RAND_TABLE[256] = …; </a:t>
            </a:r>
            <a:br>
              <a:rPr kumimoji="1" lang="en-US" altLang="ja-JP" dirty="0">
                <a:latin typeface="Consolas" panose="020B0609020204030204" pitchFamily="49" charset="0"/>
              </a:rPr>
            </a:br>
            <a:r>
              <a:rPr kumimoji="1" lang="en-US" altLang="ja-JP" dirty="0">
                <a:latin typeface="Consolas" panose="020B0609020204030204" pitchFamily="49" charset="0"/>
              </a:rPr>
              <a:t>…</a:t>
            </a:r>
            <a:br>
              <a:rPr kumimoji="1" lang="en-US" altLang="ja-JP" dirty="0">
                <a:latin typeface="Consolas" panose="020B0609020204030204" pitchFamily="49" charset="0"/>
              </a:rPr>
            </a:b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乱数テーブルのインデクス</a:t>
            </a:r>
            <a:br>
              <a:rPr lang="en-US" altLang="ja-JP" dirty="0">
                <a:solidFill>
                  <a:schemeClr val="accent3">
                    <a:lumMod val="75000"/>
                  </a:schemeClr>
                </a:solidFill>
                <a:latin typeface="Consolas" panose="020B0609020204030204" pitchFamily="49" charset="0"/>
              </a:rPr>
            </a:br>
            <a:r>
              <a:rPr lang="en-US" altLang="ja-JP" b="1" dirty="0">
                <a:solidFill>
                  <a:schemeClr val="accent3">
                    <a:lumMod val="75000"/>
                  </a:schemeClr>
                </a:solidFill>
                <a:latin typeface="Consolas" panose="020B0609020204030204" pitchFamily="49" charset="0"/>
              </a:rPr>
              <a:t>// </a:t>
            </a:r>
            <a:r>
              <a:rPr lang="ja-JP" altLang="en-US" b="1" dirty="0">
                <a:solidFill>
                  <a:schemeClr val="accent3">
                    <a:lumMod val="75000"/>
                  </a:schemeClr>
                </a:solidFill>
                <a:latin typeface="Consolas" panose="020B0609020204030204" pitchFamily="49" charset="0"/>
              </a:rPr>
              <a:t>初期化されていないので，</a:t>
            </a:r>
            <a:br>
              <a:rPr lang="en-US" altLang="ja-JP" b="1" dirty="0">
                <a:solidFill>
                  <a:schemeClr val="accent3">
                    <a:lumMod val="75000"/>
                  </a:schemeClr>
                </a:solidFill>
                <a:latin typeface="Consolas" panose="020B0609020204030204" pitchFamily="49" charset="0"/>
              </a:rPr>
            </a:br>
            <a:r>
              <a:rPr lang="en-US" altLang="ja-JP" b="1" dirty="0">
                <a:solidFill>
                  <a:schemeClr val="accent3">
                    <a:lumMod val="75000"/>
                  </a:schemeClr>
                </a:solidFill>
                <a:latin typeface="Consolas" panose="020B0609020204030204" pitchFamily="49" charset="0"/>
              </a:rPr>
              <a:t>// </a:t>
            </a:r>
            <a:r>
              <a:rPr lang="ja-JP" altLang="en-US" b="1" dirty="0">
                <a:solidFill>
                  <a:schemeClr val="accent3">
                    <a:lumMod val="75000"/>
                  </a:schemeClr>
                </a:solidFill>
                <a:latin typeface="Consolas" panose="020B0609020204030204" pitchFamily="49" charset="0"/>
              </a:rPr>
              <a:t>直前にさしたカセットで書かれていた値が使われる</a:t>
            </a:r>
            <a:br>
              <a:rPr kumimoji="1" lang="en-US" altLang="ja-JP" dirty="0">
                <a:latin typeface="Consolas" panose="020B0609020204030204" pitchFamily="49" charset="0"/>
              </a:rPr>
            </a:br>
            <a:r>
              <a:rPr kumimoji="1" lang="en-US" altLang="ja-JP" dirty="0">
                <a:solidFill>
                  <a:schemeClr val="accent1"/>
                </a:solidFill>
                <a:latin typeface="Consolas" panose="020B0609020204030204" pitchFamily="49" charset="0"/>
              </a:rPr>
              <a:t>uint8_t</a:t>
            </a:r>
            <a:r>
              <a:rPr kumimoji="1" lang="en-US" altLang="ja-JP" dirty="0">
                <a:latin typeface="Consolas" panose="020B0609020204030204" pitchFamily="49" charset="0"/>
              </a:rPr>
              <a:t> rand_index</a:t>
            </a:r>
            <a:r>
              <a:rPr lang="en-US" altLang="ja-JP" dirty="0">
                <a:latin typeface="Consolas" panose="020B0609020204030204" pitchFamily="49" charset="0"/>
              </a:rPr>
              <a:t>; </a:t>
            </a:r>
            <a:br>
              <a:rPr kumimoji="1" lang="en-US" altLang="ja-JP" dirty="0">
                <a:latin typeface="Consolas" panose="020B0609020204030204" pitchFamily="49" charset="0"/>
              </a:rPr>
            </a:br>
            <a:r>
              <a:rPr kumimoji="1" lang="en-US" altLang="ja-JP" dirty="0">
                <a:solidFill>
                  <a:schemeClr val="accent1"/>
                </a:solidFill>
                <a:latin typeface="Consolas" panose="020B0609020204030204" pitchFamily="49" charset="0"/>
              </a:rPr>
              <a:t>uint8_t</a:t>
            </a:r>
            <a:r>
              <a:rPr kumimoji="1" lang="en-US" altLang="ja-JP" dirty="0">
                <a:latin typeface="Consolas" panose="020B0609020204030204" pitchFamily="49" charset="0"/>
              </a:rPr>
              <a:t> rand() {</a:t>
            </a:r>
            <a:br>
              <a:rPr kumimoji="1" lang="en-US" altLang="ja-JP" dirty="0">
                <a:latin typeface="Consolas" panose="020B0609020204030204" pitchFamily="49" charset="0"/>
              </a:rPr>
            </a:br>
            <a:r>
              <a:rPr kumimoji="1" lang="en-US" altLang="ja-JP" dirty="0">
                <a:latin typeface="Consolas" panose="020B0609020204030204" pitchFamily="49" charset="0"/>
              </a:rPr>
              <a:t>    </a:t>
            </a:r>
            <a:r>
              <a:rPr lang="en-US" altLang="ja-JP" dirty="0">
                <a:solidFill>
                  <a:schemeClr val="accent1"/>
                </a:solidFill>
                <a:latin typeface="Consolas" panose="020B0609020204030204" pitchFamily="49" charset="0"/>
              </a:rPr>
              <a:t>return</a:t>
            </a:r>
            <a:r>
              <a:rPr lang="en-US" altLang="ja-JP" dirty="0">
                <a:latin typeface="Consolas" panose="020B0609020204030204" pitchFamily="49" charset="0"/>
              </a:rPr>
              <a:t> RAND_TABLE[rand_index++];</a:t>
            </a:r>
            <a:br>
              <a:rPr kumimoji="1" lang="en-US" altLang="ja-JP" dirty="0">
                <a:latin typeface="Consolas" panose="020B0609020204030204" pitchFamily="49" charset="0"/>
              </a:rPr>
            </a:br>
            <a:r>
              <a:rPr kumimoji="1" lang="en-US" altLang="ja-JP" dirty="0">
                <a:latin typeface="Consolas" panose="020B0609020204030204" pitchFamily="49" charset="0"/>
              </a:rPr>
              <a:t>}</a:t>
            </a:r>
            <a:br>
              <a:rPr kumimoji="1" lang="en-US" altLang="ja-JP" dirty="0">
                <a:latin typeface="Consolas" panose="020B0609020204030204" pitchFamily="49" charset="0"/>
              </a:rPr>
            </a:br>
            <a:br>
              <a:rPr lang="en-US" altLang="ja-JP" dirty="0">
                <a:latin typeface="Consolas" panose="020B0609020204030204" pitchFamily="49" charset="0"/>
              </a:rPr>
            </a:b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技のひらめき境界値より小さい乱数を引けば技をひらめく</a:t>
            </a:r>
            <a:br>
              <a:rPr lang="en-US" altLang="ja-JP" dirty="0">
                <a:latin typeface="Consolas" panose="020B0609020204030204" pitchFamily="49" charset="0"/>
              </a:rPr>
            </a:br>
            <a:r>
              <a:rPr kumimoji="1" lang="en-US" altLang="ja-JP" dirty="0">
                <a:solidFill>
                  <a:schemeClr val="accent1"/>
                </a:solidFill>
                <a:latin typeface="Consolas" panose="020B0609020204030204" pitchFamily="49" charset="0"/>
              </a:rPr>
              <a:t>bool</a:t>
            </a:r>
            <a:r>
              <a:rPr kumimoji="1" lang="en-US" altLang="ja-JP" dirty="0">
                <a:latin typeface="Consolas" panose="020B0609020204030204" pitchFamily="49" charset="0"/>
              </a:rPr>
              <a:t> </a:t>
            </a:r>
            <a:r>
              <a:rPr kumimoji="1" lang="en-US" altLang="ja-JP" dirty="0" err="1">
                <a:latin typeface="Consolas" panose="020B0609020204030204" pitchFamily="49" charset="0"/>
              </a:rPr>
              <a:t>waza_hirameki</a:t>
            </a:r>
            <a:r>
              <a:rPr kumimoji="1" lang="en-US" altLang="ja-JP" dirty="0">
                <a:latin typeface="Consolas" panose="020B0609020204030204" pitchFamily="49" charset="0"/>
              </a:rPr>
              <a:t>() {</a:t>
            </a:r>
            <a:br>
              <a:rPr kumimoji="1" lang="en-US" altLang="ja-JP" dirty="0">
                <a:latin typeface="Consolas" panose="020B0609020204030204" pitchFamily="49" charset="0"/>
              </a:rPr>
            </a:br>
            <a:r>
              <a:rPr kumimoji="1" lang="en-US" altLang="ja-JP" dirty="0">
                <a:latin typeface="Consolas" panose="020B0609020204030204" pitchFamily="49" charset="0"/>
              </a:rPr>
              <a:t>    </a:t>
            </a:r>
            <a:r>
              <a:rPr kumimoji="1" lang="en-US" altLang="ja-JP" dirty="0">
                <a:solidFill>
                  <a:schemeClr val="accent1"/>
                </a:solidFill>
                <a:latin typeface="Consolas" panose="020B0609020204030204" pitchFamily="49" charset="0"/>
              </a:rPr>
              <a:t>return</a:t>
            </a:r>
            <a:r>
              <a:rPr kumimoji="1" lang="en-US" altLang="ja-JP" dirty="0">
                <a:latin typeface="Consolas" panose="020B0609020204030204" pitchFamily="49" charset="0"/>
              </a:rPr>
              <a:t> rand() </a:t>
            </a:r>
            <a:r>
              <a:rPr lang="en-US" altLang="ja-JP" dirty="0">
                <a:latin typeface="Consolas" panose="020B0609020204030204" pitchFamily="49" charset="0"/>
              </a:rPr>
              <a:t>&lt;</a:t>
            </a:r>
            <a:r>
              <a:rPr kumimoji="1" lang="en-US" altLang="ja-JP" dirty="0">
                <a:latin typeface="Consolas" panose="020B0609020204030204" pitchFamily="49" charset="0"/>
              </a:rPr>
              <a:t> </a:t>
            </a:r>
            <a:r>
              <a:rPr kumimoji="1" lang="en-US" altLang="ja-JP" dirty="0" err="1">
                <a:latin typeface="Consolas" panose="020B0609020204030204" pitchFamily="49" charset="0"/>
              </a:rPr>
              <a:t>waza_</a:t>
            </a:r>
            <a:r>
              <a:rPr lang="en-US" altLang="ja-JP" dirty="0" err="1">
                <a:latin typeface="Consolas" panose="020B0609020204030204" pitchFamily="49" charset="0"/>
              </a:rPr>
              <a:t>threshold</a:t>
            </a:r>
            <a:r>
              <a:rPr kumimoji="1" lang="en-US" altLang="ja-JP" dirty="0">
                <a:latin typeface="Consolas" panose="020B0609020204030204" pitchFamily="49" charset="0"/>
              </a:rPr>
              <a:t>() ? </a:t>
            </a:r>
            <a:r>
              <a:rPr kumimoji="1" lang="en-US" altLang="ja-JP" dirty="0">
                <a:solidFill>
                  <a:schemeClr val="accent1"/>
                </a:solidFill>
                <a:latin typeface="Consolas" panose="020B0609020204030204" pitchFamily="49" charset="0"/>
              </a:rPr>
              <a:t>true</a:t>
            </a:r>
            <a:r>
              <a:rPr kumimoji="1" lang="en-US" altLang="ja-JP" dirty="0">
                <a:latin typeface="Consolas" panose="020B0609020204030204" pitchFamily="49" charset="0"/>
              </a:rPr>
              <a:t> : </a:t>
            </a:r>
            <a:r>
              <a:rPr kumimoji="1" lang="en-US" altLang="ja-JP" dirty="0">
                <a:solidFill>
                  <a:schemeClr val="accent1"/>
                </a:solidFill>
                <a:latin typeface="Consolas" panose="020B0609020204030204" pitchFamily="49" charset="0"/>
              </a:rPr>
              <a:t>false</a:t>
            </a:r>
            <a:r>
              <a:rPr kumimoji="1" lang="en-US" altLang="ja-JP" dirty="0">
                <a:latin typeface="Consolas" panose="020B0609020204030204" pitchFamily="49" charset="0"/>
              </a:rPr>
              <a:t>;</a:t>
            </a:r>
            <a:br>
              <a:rPr lang="en-US" altLang="ja-JP" dirty="0">
                <a:latin typeface="Consolas" panose="020B0609020204030204" pitchFamily="49" charset="0"/>
              </a:rPr>
            </a:br>
            <a:r>
              <a:rPr lang="en-US" altLang="ja-JP" dirty="0">
                <a:latin typeface="Consolas" panose="020B0609020204030204" pitchFamily="49" charset="0"/>
              </a:rPr>
              <a:t>}</a:t>
            </a:r>
            <a:endParaRPr kumimoji="1" lang="en-US" altLang="ja-JP" dirty="0">
              <a:latin typeface="Consolas" panose="020B0609020204030204" pitchFamily="49" charset="0"/>
            </a:endParaRPr>
          </a:p>
        </p:txBody>
      </p:sp>
    </p:spTree>
    <p:extLst>
      <p:ext uri="{BB962C8B-B14F-4D97-AF65-F5344CB8AC3E}">
        <p14:creationId xmlns:p14="http://schemas.microsoft.com/office/powerpoint/2010/main" val="42133474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b="1" dirty="0"/>
              <a:t>メモリの基本</a:t>
            </a:r>
            <a:endParaRPr lang="en-US" altLang="ja-JP" b="1" dirty="0"/>
          </a:p>
          <a:p>
            <a:pPr marL="817200" lvl="1" indent="-457200">
              <a:buFont typeface="+mj-lt"/>
              <a:buAutoNum type="arabicPeriod"/>
            </a:pPr>
            <a:r>
              <a:rPr lang="ja-JP" altLang="en-US" dirty="0"/>
              <a:t>構造</a:t>
            </a:r>
            <a:endParaRPr lang="en-US" altLang="ja-JP" dirty="0"/>
          </a:p>
          <a:p>
            <a:pPr marL="817200" lvl="1" indent="-457200">
              <a:buFont typeface="+mj-lt"/>
              <a:buAutoNum type="arabicPeriod"/>
            </a:pPr>
            <a:r>
              <a:rPr lang="ja-JP" altLang="en-US" dirty="0"/>
              <a:t>動作</a:t>
            </a:r>
            <a:endParaRPr lang="en-US" altLang="ja-JP" dirty="0"/>
          </a:p>
          <a:p>
            <a:pPr marL="817200" lvl="1" indent="-457200">
              <a:buFont typeface="+mj-lt"/>
              <a:buAutoNum type="arabicPeriod"/>
            </a:pPr>
            <a:r>
              <a:rPr lang="ja-JP" altLang="en-US" dirty="0"/>
              <a:t>アクセス時間</a:t>
            </a:r>
            <a:endParaRPr lang="en-US" altLang="ja-JP" dirty="0"/>
          </a:p>
          <a:p>
            <a:pPr marL="457200" indent="-457200">
              <a:buFont typeface="+mj-lt"/>
              <a:buAutoNum type="arabicPeriod"/>
            </a:pPr>
            <a:r>
              <a:rPr lang="ja-JP" altLang="en-US" dirty="0"/>
              <a:t>メモリの詳細</a:t>
            </a:r>
            <a:endParaRPr lang="en-US" altLang="ja-JP" dirty="0"/>
          </a:p>
          <a:p>
            <a:pPr marL="817200" lvl="1" indent="-457200">
              <a:buFont typeface="+mj-lt"/>
              <a:buAutoNum type="arabicPeriod"/>
            </a:pPr>
            <a:r>
              <a:rPr lang="en-US" altLang="ja-JP" dirty="0"/>
              <a:t>SRAM </a:t>
            </a:r>
            <a:r>
              <a:rPr lang="ja-JP" altLang="en-US" dirty="0"/>
              <a:t>と </a:t>
            </a:r>
            <a:r>
              <a:rPr lang="en-US" altLang="ja-JP" dirty="0"/>
              <a:t>DRAM</a:t>
            </a:r>
          </a:p>
          <a:p>
            <a:pPr marL="817200" lvl="1" indent="-457200">
              <a:buFont typeface="+mj-lt"/>
              <a:buAutoNum type="arabicPeriod"/>
            </a:pPr>
            <a:r>
              <a:rPr lang="ja-JP" altLang="en-US" dirty="0"/>
              <a:t>なぜメモリが存在するのか？</a:t>
            </a:r>
            <a:endParaRPr lang="en-US" altLang="ja-JP" dirty="0"/>
          </a:p>
          <a:p>
            <a:pPr marL="817200" lvl="1" indent="-457200">
              <a:buFont typeface="+mj-lt"/>
              <a:buAutoNum type="arabicPeriod"/>
            </a:pPr>
            <a:r>
              <a:rPr lang="ja-JP" altLang="en-US" dirty="0"/>
              <a:t>マルチポート・メモリ</a:t>
            </a:r>
            <a:endParaRPr lang="en-US" altLang="ja-JP" dirty="0"/>
          </a:p>
          <a:p>
            <a:pPr marL="817200" lvl="1" indent="-457200">
              <a:buFont typeface="+mj-lt"/>
              <a:buAutoNum type="arabicPeriod"/>
            </a:pPr>
            <a:r>
              <a:rPr lang="ja-JP" altLang="en-US" dirty="0"/>
              <a:t>メモリの脆弱性を対象にしたアタック</a:t>
            </a:r>
            <a:endParaRPr lang="en-US" altLang="ja-JP" dirty="0"/>
          </a:p>
          <a:p>
            <a:pPr lvl="2"/>
            <a:r>
              <a:rPr lang="en-US" altLang="ja-JP" dirty="0"/>
              <a:t>Raw Hammer, Cold Boot Attack</a:t>
            </a:r>
            <a:endParaRPr lang="ja-JP" altLang="en-US" dirty="0"/>
          </a:p>
        </p:txBody>
      </p:sp>
    </p:spTree>
    <p:extLst>
      <p:ext uri="{BB962C8B-B14F-4D97-AF65-F5344CB8AC3E}">
        <p14:creationId xmlns:p14="http://schemas.microsoft.com/office/powerpoint/2010/main" val="12630911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7"/>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lang="ja-JP" altLang="en-US" dirty="0"/>
              <a:t>意見や内容へのリクエストもあったら書いてください</a:t>
            </a:r>
            <a:endParaRPr lang="en-US" altLang="ja-JP" dirty="0"/>
          </a:p>
          <a:p>
            <a:r>
              <a:rPr lang="en-US" altLang="ja-JP" dirty="0">
                <a:solidFill>
                  <a:schemeClr val="accent5"/>
                </a:solidFill>
              </a:rPr>
              <a:t>UTOL </a:t>
            </a:r>
            <a:r>
              <a:rPr lang="ja-JP" altLang="en-US" dirty="0">
                <a:solidFill>
                  <a:schemeClr val="accent5"/>
                </a:solidFill>
              </a:rPr>
              <a:t>の出席の締め切りは来週の講義開始までに設定してあります</a:t>
            </a:r>
            <a:endParaRPr lang="en-US" altLang="ja-JP" dirty="0">
              <a:solidFill>
                <a:schemeClr val="accent5"/>
              </a:solidFill>
            </a:endParaRPr>
          </a:p>
          <a:p>
            <a:pPr lvl="1"/>
            <a:r>
              <a:rPr lang="ja-JP" altLang="en-US" dirty="0"/>
              <a:t>仕様上「遅刻」表示になりますが，特に減点等しません</a:t>
            </a:r>
            <a:endParaRPr lang="en-US" altLang="ja-JP" dirty="0"/>
          </a:p>
          <a:p>
            <a:pPr lvl="1"/>
            <a:r>
              <a:rPr lang="ja-JP" altLang="en-US" dirty="0"/>
              <a:t>来週の講義開始までは感想や質問などを受け付けます</a:t>
            </a:r>
          </a:p>
        </p:txBody>
      </p:sp>
    </p:spTree>
    <p:extLst>
      <p:ext uri="{BB962C8B-B14F-4D97-AF65-F5344CB8AC3E}">
        <p14:creationId xmlns:p14="http://schemas.microsoft.com/office/powerpoint/2010/main" val="3225474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D92FC6-C481-4334-E992-204B439ABF09}"/>
              </a:ext>
            </a:extLst>
          </p:cNvPr>
          <p:cNvSpPr>
            <a:spLocks noGrp="1"/>
          </p:cNvSpPr>
          <p:nvPr>
            <p:ph type="title"/>
          </p:nvPr>
        </p:nvSpPr>
        <p:spPr/>
        <p:txBody>
          <a:bodyPr/>
          <a:lstStyle/>
          <a:p>
            <a:r>
              <a:rPr lang="ja-JP" altLang="en-US" dirty="0"/>
              <a:t>出席</a:t>
            </a:r>
            <a:endParaRPr kumimoji="1" lang="ja-JP" altLang="en-US" dirty="0"/>
          </a:p>
        </p:txBody>
      </p:sp>
      <p:sp>
        <p:nvSpPr>
          <p:cNvPr id="3" name="テキスト プレースホルダー 2">
            <a:extLst>
              <a:ext uri="{FF2B5EF4-FFF2-40B4-BE49-F238E27FC236}">
                <a16:creationId xmlns:a16="http://schemas.microsoft.com/office/drawing/2014/main" id="{BA87AF6B-357A-C55C-6782-832EA49BA99E}"/>
              </a:ext>
            </a:extLst>
          </p:cNvPr>
          <p:cNvSpPr>
            <a:spLocks noGrp="1"/>
          </p:cNvSpPr>
          <p:nvPr>
            <p:ph type="body" sz="quarter" idx="10"/>
          </p:nvPr>
        </p:nvSpPr>
        <p:spPr>
          <a:xfrm>
            <a:off x="1775952" y="1088974"/>
            <a:ext cx="9180102" cy="5219751"/>
          </a:xfrm>
        </p:spPr>
        <p:txBody>
          <a:bodyPr/>
          <a:lstStyle/>
          <a:p>
            <a:r>
              <a:rPr lang="ja-JP" altLang="en-US" dirty="0">
                <a:solidFill>
                  <a:schemeClr val="accent6"/>
                </a:solidFill>
              </a:rPr>
              <a:t>以下のスプレッドシートの自分の席のところに学籍番号を書いてください</a:t>
            </a:r>
            <a:endParaRPr kumimoji="1" lang="en-US" altLang="ja-JP" dirty="0">
              <a:hlinkClick r:id="" action="ppaction://noaction"/>
            </a:endParaRPr>
          </a:p>
          <a:p>
            <a:pPr lvl="1"/>
            <a:r>
              <a:rPr lang="en-US" altLang="ja-JP" dirty="0">
                <a:hlinkClick r:id="rId2"/>
              </a:rPr>
              <a:t>https://docs.google.com/spreadsheets/d/1ctRdav7Mp5iSBTSMsTZePPcYLtP0ZtTodefkk6O2N1E/edit?usp=drive_link</a:t>
            </a:r>
            <a:endParaRPr lang="en-US" altLang="ja-JP" dirty="0"/>
          </a:p>
          <a:p>
            <a:pPr lvl="1"/>
            <a:r>
              <a:rPr lang="ja-JP" altLang="en-US" dirty="0"/>
              <a:t>学生側から見た場合の配置で（画面上が教団側），席の対応する行と列のところに書いてください</a:t>
            </a:r>
            <a:endParaRPr lang="en-US" altLang="ja-JP" dirty="0"/>
          </a:p>
          <a:p>
            <a:endParaRPr kumimoji="1" lang="ja-JP" altLang="en-US" dirty="0"/>
          </a:p>
        </p:txBody>
      </p:sp>
    </p:spTree>
    <p:extLst>
      <p:ext uri="{BB962C8B-B14F-4D97-AF65-F5344CB8AC3E}">
        <p14:creationId xmlns:p14="http://schemas.microsoft.com/office/powerpoint/2010/main" val="3642383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A2942F2-211F-F3E9-AFF1-D728CA828418}"/>
              </a:ext>
            </a:extLst>
          </p:cNvPr>
          <p:cNvSpPr>
            <a:spLocks noGrp="1"/>
          </p:cNvSpPr>
          <p:nvPr>
            <p:ph type="title"/>
          </p:nvPr>
        </p:nvSpPr>
        <p:spPr/>
        <p:txBody>
          <a:bodyPr/>
          <a:lstStyle/>
          <a:p>
            <a:r>
              <a:rPr lang="ja-JP" altLang="en-US" dirty="0"/>
              <a:t>感想とか質問の回答</a:t>
            </a:r>
            <a:endParaRPr lang="en-US" dirty="0"/>
          </a:p>
        </p:txBody>
      </p:sp>
    </p:spTree>
    <p:extLst>
      <p:ext uri="{BB962C8B-B14F-4D97-AF65-F5344CB8AC3E}">
        <p14:creationId xmlns:p14="http://schemas.microsoft.com/office/powerpoint/2010/main" val="20147304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CC6F5B-3E95-40D9-907D-6FC9ADA11D0A}"/>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1E2CE547-11BD-4EEF-BB7A-D72DD8E2C2DB}"/>
              </a:ext>
            </a:extLst>
          </p:cNvPr>
          <p:cNvSpPr>
            <a:spLocks noGrp="1"/>
          </p:cNvSpPr>
          <p:nvPr>
            <p:ph type="body" sz="quarter" idx="10"/>
          </p:nvPr>
        </p:nvSpPr>
        <p:spPr/>
        <p:txBody>
          <a:bodyPr/>
          <a:lstStyle/>
          <a:p>
            <a:r>
              <a:rPr lang="en-US" altLang="ja-JP" dirty="0"/>
              <a:t>Ahead Pipelining </a:t>
            </a:r>
            <a:r>
              <a:rPr lang="ja-JP" altLang="en-US" dirty="0"/>
              <a:t>の課題の緩和方法のところで、直前からの呼び出しも参照するようにするとあったが、二個前のアタリの予測が誤っていた場合二度手間になってしまうのではないかなと思いました。</a:t>
            </a:r>
          </a:p>
        </p:txBody>
      </p:sp>
    </p:spTree>
    <p:extLst>
      <p:ext uri="{BB962C8B-B14F-4D97-AF65-F5344CB8AC3E}">
        <p14:creationId xmlns:p14="http://schemas.microsoft.com/office/powerpoint/2010/main" val="24056439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B892D-2696-CFCE-2683-FC09D5A7C3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CF323A8-A474-C801-0CAC-3D2A6EAAA1DC}"/>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A747BB28-077E-E372-9621-6DA83C1F5F28}"/>
              </a:ext>
            </a:extLst>
          </p:cNvPr>
          <p:cNvSpPr>
            <a:spLocks noGrp="1"/>
          </p:cNvSpPr>
          <p:nvPr>
            <p:ph type="body" sz="quarter" idx="10"/>
          </p:nvPr>
        </p:nvSpPr>
        <p:spPr/>
        <p:txBody>
          <a:bodyPr/>
          <a:lstStyle/>
          <a:p>
            <a:r>
              <a:rPr lang="en-US" altLang="ja-JP" dirty="0"/>
              <a:t>1%</a:t>
            </a:r>
            <a:r>
              <a:rPr lang="ja-JP" altLang="en-US" dirty="0"/>
              <a:t>の分岐予測ミスでも</a:t>
            </a:r>
            <a:r>
              <a:rPr lang="en-US" altLang="ja-JP" dirty="0"/>
              <a:t>30</a:t>
            </a:r>
            <a:r>
              <a:rPr lang="ja-JP" altLang="en-US" dirty="0"/>
              <a:t>％ほど性能を低下させてしまうというのは驚きだった。なぜこんなにも多くの分岐予測手法があるのかわかっていなかったが、今日の授業でその必要性や研究者たちの努力がわかった。</a:t>
            </a:r>
          </a:p>
        </p:txBody>
      </p:sp>
    </p:spTree>
    <p:extLst>
      <p:ext uri="{BB962C8B-B14F-4D97-AF65-F5344CB8AC3E}">
        <p14:creationId xmlns:p14="http://schemas.microsoft.com/office/powerpoint/2010/main" val="2669853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01F20-55A5-8C5D-BBEB-7CCF6798DA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0AEDE8-69C9-56F2-C10D-148C84603B52}"/>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4CDEB36C-59F0-85D2-0EAD-6E2DE6912FD7}"/>
              </a:ext>
            </a:extLst>
          </p:cNvPr>
          <p:cNvSpPr>
            <a:spLocks noGrp="1"/>
          </p:cNvSpPr>
          <p:nvPr>
            <p:ph type="body" sz="quarter" idx="10"/>
          </p:nvPr>
        </p:nvSpPr>
        <p:spPr/>
        <p:txBody>
          <a:bodyPr/>
          <a:lstStyle/>
          <a:p>
            <a:r>
              <a:rPr lang="en-US" altLang="ja-JP" dirty="0" err="1"/>
              <a:t>RBias</a:t>
            </a:r>
            <a:r>
              <a:rPr lang="ja-JP" altLang="en-US" dirty="0"/>
              <a:t>に関する説明は最先端の研究の内容を日本語で聞くことができるなかなかない機会で非常に興味深かった。スライド</a:t>
            </a:r>
            <a:r>
              <a:rPr lang="en-US" altLang="ja-JP" dirty="0"/>
              <a:t>75</a:t>
            </a:r>
            <a:r>
              <a:rPr lang="ja-JP" altLang="en-US" dirty="0"/>
              <a:t>ページの内容の理解が難しかったのでもう少し説明していただけるとありがたかったと思う。</a:t>
            </a:r>
          </a:p>
        </p:txBody>
      </p:sp>
    </p:spTree>
    <p:extLst>
      <p:ext uri="{BB962C8B-B14F-4D97-AF65-F5344CB8AC3E}">
        <p14:creationId xmlns:p14="http://schemas.microsoft.com/office/powerpoint/2010/main" val="16477951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A2F91-2F06-DAAD-63F0-6293B9DD77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C7A02-7CDD-7C27-2D46-D7E2D3CDB479}"/>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DDE7F327-DDD6-26D2-044A-209C72FDFCB6}"/>
              </a:ext>
            </a:extLst>
          </p:cNvPr>
          <p:cNvSpPr>
            <a:spLocks noGrp="1"/>
          </p:cNvSpPr>
          <p:nvPr>
            <p:ph type="body" sz="quarter" idx="10"/>
          </p:nvPr>
        </p:nvSpPr>
        <p:spPr/>
        <p:txBody>
          <a:bodyPr/>
          <a:lstStyle/>
          <a:p>
            <a:r>
              <a:rPr lang="en-US" altLang="ja-JP" dirty="0"/>
              <a:t>Decoupled pipeline</a:t>
            </a:r>
            <a:r>
              <a:rPr lang="ja-JP" altLang="en-US" dirty="0"/>
              <a:t>の大まかな動きはわかったような気がするが、例のパイプラインがあと</a:t>
            </a:r>
            <a:r>
              <a:rPr lang="en-US" altLang="ja-JP" dirty="0"/>
              <a:t>1, 2</a:t>
            </a:r>
            <a:r>
              <a:rPr lang="ja-JP" altLang="en-US" dirty="0"/>
              <a:t>段あれば確信が持てた気がする。</a:t>
            </a:r>
          </a:p>
        </p:txBody>
      </p:sp>
    </p:spTree>
    <p:extLst>
      <p:ext uri="{BB962C8B-B14F-4D97-AF65-F5344CB8AC3E}">
        <p14:creationId xmlns:p14="http://schemas.microsoft.com/office/powerpoint/2010/main" val="3600860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17817-FB7A-84AE-8484-B0E4B2958C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47672F2-8A34-A6B3-FF8C-86799B147E2E}"/>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92EFC050-A8A4-3B09-C26B-CCBD9895682C}"/>
              </a:ext>
            </a:extLst>
          </p:cNvPr>
          <p:cNvSpPr>
            <a:spLocks noGrp="1"/>
          </p:cNvSpPr>
          <p:nvPr>
            <p:ph type="body" sz="quarter" idx="10"/>
          </p:nvPr>
        </p:nvSpPr>
        <p:spPr/>
        <p:txBody>
          <a:bodyPr/>
          <a:lstStyle/>
          <a:p>
            <a:r>
              <a:rPr lang="ja-JP" altLang="en-US" dirty="0"/>
              <a:t>スライド</a:t>
            </a:r>
            <a:r>
              <a:rPr lang="en-US" altLang="ja-JP" dirty="0"/>
              <a:t>p.23</a:t>
            </a:r>
            <a:r>
              <a:rPr lang="ja-JP" altLang="en-US" dirty="0"/>
              <a:t>色で強調された一つ目の</a:t>
            </a:r>
            <a:r>
              <a:rPr lang="en-US" altLang="ja-JP" dirty="0"/>
              <a:t>00110</a:t>
            </a:r>
            <a:r>
              <a:rPr lang="ja-JP" altLang="en-US" dirty="0"/>
              <a:t>パターンの少し右に，色で強調されていない</a:t>
            </a:r>
            <a:r>
              <a:rPr lang="en-US" altLang="ja-JP" dirty="0"/>
              <a:t>00111</a:t>
            </a:r>
            <a:r>
              <a:rPr lang="ja-JP" altLang="en-US" dirty="0"/>
              <a:t>パターンがあるので，テーブルの値は</a:t>
            </a:r>
            <a:r>
              <a:rPr lang="en-US" altLang="ja-JP" dirty="0"/>
              <a:t>00</a:t>
            </a:r>
            <a:r>
              <a:rPr lang="ja-JP" altLang="en-US" dirty="0"/>
              <a:t>ではなく</a:t>
            </a:r>
            <a:r>
              <a:rPr lang="en-US" altLang="ja-JP" dirty="0"/>
              <a:t>01</a:t>
            </a:r>
            <a:r>
              <a:rPr lang="ja-JP" altLang="en-US" dirty="0"/>
              <a:t>になると思いました（</a:t>
            </a:r>
            <a:r>
              <a:rPr lang="en-US" altLang="ja-JP" dirty="0"/>
              <a:t>2bit</a:t>
            </a:r>
            <a:r>
              <a:rPr lang="ja-JP" altLang="en-US" dirty="0"/>
              <a:t>であれば弱状態になるだけなのでどちらにせよ予測は</a:t>
            </a:r>
            <a:r>
              <a:rPr lang="en-US" altLang="ja-JP" dirty="0"/>
              <a:t>0</a:t>
            </a:r>
            <a:r>
              <a:rPr lang="ja-JP" altLang="en-US" dirty="0"/>
              <a:t>になるので結果に問題ないようですが）</a:t>
            </a:r>
          </a:p>
        </p:txBody>
      </p:sp>
    </p:spTree>
    <p:extLst>
      <p:ext uri="{BB962C8B-B14F-4D97-AF65-F5344CB8AC3E}">
        <p14:creationId xmlns:p14="http://schemas.microsoft.com/office/powerpoint/2010/main" val="17700123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FD4CA-D359-FE1B-5BC7-BFAF3A6B24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3D13E8F-5AC7-3905-5EB6-185942017FB6}"/>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17D9F6E9-3A33-D2F5-A861-CEF35C5136CA}"/>
              </a:ext>
            </a:extLst>
          </p:cNvPr>
          <p:cNvSpPr>
            <a:spLocks noGrp="1"/>
          </p:cNvSpPr>
          <p:nvPr>
            <p:ph type="body" sz="quarter" idx="10"/>
          </p:nvPr>
        </p:nvSpPr>
        <p:spPr/>
        <p:txBody>
          <a:bodyPr/>
          <a:lstStyle/>
          <a:p>
            <a:r>
              <a:rPr lang="ja-JP" altLang="en-US" dirty="0"/>
              <a:t>パーセプトロン予測器の学習のタイミングはいつなのでしょうか？</a:t>
            </a:r>
          </a:p>
        </p:txBody>
      </p:sp>
    </p:spTree>
    <p:extLst>
      <p:ext uri="{BB962C8B-B14F-4D97-AF65-F5344CB8AC3E}">
        <p14:creationId xmlns:p14="http://schemas.microsoft.com/office/powerpoint/2010/main" val="603202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8DF05-6FED-6534-DC73-55F63861D68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E8A88A-D835-527E-A147-20C38556551B}"/>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5C2CF4F8-AC65-DD87-8684-856A7FD5877C}"/>
              </a:ext>
            </a:extLst>
          </p:cNvPr>
          <p:cNvSpPr>
            <a:spLocks noGrp="1"/>
          </p:cNvSpPr>
          <p:nvPr>
            <p:ph type="body" sz="quarter" idx="10"/>
          </p:nvPr>
        </p:nvSpPr>
        <p:spPr/>
        <p:txBody>
          <a:bodyPr/>
          <a:lstStyle/>
          <a:p>
            <a:r>
              <a:rPr lang="ja-JP" altLang="en-US" dirty="0"/>
              <a:t> 現状パーセプトロン予測器は単層のものになっていると思うのですが、重みづけをもっと単純化することでパーセプトロンを複層に拡張した場合、さらなる予測器の精度向上は見込めるものなのでしょうか</a:t>
            </a:r>
            <a:r>
              <a:rPr lang="en-US" altLang="ja-JP" dirty="0"/>
              <a:t>?</a:t>
            </a:r>
          </a:p>
          <a:p>
            <a:endParaRPr lang="ja-JP" altLang="en-US" dirty="0"/>
          </a:p>
        </p:txBody>
      </p:sp>
    </p:spTree>
    <p:extLst>
      <p:ext uri="{BB962C8B-B14F-4D97-AF65-F5344CB8AC3E}">
        <p14:creationId xmlns:p14="http://schemas.microsoft.com/office/powerpoint/2010/main" val="20318109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BB9C8-C3A4-1079-6F1C-25C82579E57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E28AB3E-E947-0E02-3DEF-16C7EC6C0442}"/>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DA839900-9378-8A57-A5B9-00A57EE25497}"/>
              </a:ext>
            </a:extLst>
          </p:cNvPr>
          <p:cNvSpPr>
            <a:spLocks noGrp="1"/>
          </p:cNvSpPr>
          <p:nvPr>
            <p:ph type="body" sz="quarter" idx="10"/>
          </p:nvPr>
        </p:nvSpPr>
        <p:spPr/>
        <p:txBody>
          <a:bodyPr/>
          <a:lstStyle/>
          <a:p>
            <a:r>
              <a:rPr lang="ja-JP" altLang="en-US" sz="1600" dirty="0"/>
              <a:t>今回の講義では、</a:t>
            </a:r>
            <a:r>
              <a:rPr lang="en-US" altLang="ja-JP" sz="1600" dirty="0"/>
              <a:t>TAGE </a:t>
            </a:r>
            <a:r>
              <a:rPr lang="ja-JP" altLang="en-US" sz="1600" dirty="0"/>
              <a:t>や </a:t>
            </a:r>
            <a:r>
              <a:rPr lang="en-US" altLang="ja-JP" sz="1600" dirty="0"/>
              <a:t>Hashed Perceptron </a:t>
            </a:r>
            <a:r>
              <a:rPr lang="ja-JP" altLang="en-US" sz="1600" dirty="0"/>
              <a:t>などの高度な分岐予測器が特に印象に残った。最初は、複数の履歴長や </a:t>
            </a:r>
            <a:r>
              <a:rPr lang="en-US" altLang="ja-JP" sz="1600" dirty="0"/>
              <a:t>tag</a:t>
            </a:r>
            <a:r>
              <a:rPr lang="ja-JP" altLang="en-US" sz="1600" dirty="0"/>
              <a:t>、</a:t>
            </a:r>
            <a:r>
              <a:rPr lang="en-US" altLang="ja-JP" sz="1600" dirty="0"/>
              <a:t>counter </a:t>
            </a:r>
            <a:r>
              <a:rPr lang="ja-JP" altLang="en-US" sz="1600" dirty="0"/>
              <a:t>などが出てきてかなり複雑に感じたが、整理して考えると、</a:t>
            </a:r>
            <a:r>
              <a:rPr lang="en-US" altLang="ja-JP" sz="1600" dirty="0"/>
              <a:t>TAGE </a:t>
            </a:r>
            <a:r>
              <a:rPr lang="ja-JP" altLang="en-US" sz="1600" dirty="0"/>
              <a:t>は「どの程度長い履歴を見れば現在の分岐をうまく説明できるか」を探す仕組みだと理解できた。</a:t>
            </a:r>
            <a:endParaRPr lang="en-US" altLang="ja-JP" sz="1600" dirty="0"/>
          </a:p>
          <a:p>
            <a:r>
              <a:rPr lang="ja-JP" altLang="en-US" sz="1600" dirty="0"/>
              <a:t>特に面白いと感じたのは、</a:t>
            </a:r>
            <a:r>
              <a:rPr lang="en-US" altLang="ja-JP" sz="1600" dirty="0"/>
              <a:t>TAGE </a:t>
            </a:r>
            <a:r>
              <a:rPr lang="ja-JP" altLang="en-US" sz="1600" dirty="0"/>
              <a:t>が複数の履歴長の表を用意し、短い履歴では大まかな傾向を、長い履歴ではより具体的な文脈を捉えようとしている点である。この考え方は、複雑な信号を複数の尺度に分けて見るフーリエ展開や小波変換の考え方に少し似ているように感じた。ただし、</a:t>
            </a:r>
            <a:r>
              <a:rPr lang="en-US" altLang="ja-JP" sz="1600" dirty="0"/>
              <a:t>TAGE </a:t>
            </a:r>
            <a:r>
              <a:rPr lang="ja-JP" altLang="en-US" sz="1600" dirty="0"/>
              <a:t>は各成分を単純に足し合わせるのではなく、</a:t>
            </a:r>
            <a:r>
              <a:rPr lang="en-US" altLang="ja-JP" sz="1600" dirty="0"/>
              <a:t>tag </a:t>
            </a:r>
            <a:r>
              <a:rPr lang="ja-JP" altLang="en-US" sz="1600" dirty="0"/>
              <a:t>が一致した表の中から最も長い履歴を持つものを選ぶため、線形和というよりは「多尺度の文脈照合」に近いと感じた。</a:t>
            </a:r>
            <a:endParaRPr lang="en-US" altLang="ja-JP" sz="1600" dirty="0"/>
          </a:p>
          <a:p>
            <a:r>
              <a:rPr lang="ja-JP" altLang="en-US" sz="1600" dirty="0"/>
              <a:t>一方で、</a:t>
            </a:r>
            <a:r>
              <a:rPr lang="en-US" altLang="ja-JP" sz="1600" dirty="0"/>
              <a:t>Hashed Perceptron </a:t>
            </a:r>
            <a:r>
              <a:rPr lang="ja-JP" altLang="en-US" sz="1600" dirty="0"/>
              <a:t>や </a:t>
            </a:r>
            <a:r>
              <a:rPr lang="en-US" altLang="ja-JP" sz="1600" dirty="0"/>
              <a:t>Statistical Corrector </a:t>
            </a:r>
            <a:r>
              <a:rPr lang="ja-JP" altLang="en-US" sz="1600" dirty="0"/>
              <a:t>は、複数の表から得られた重みを加算して予測を行うため、こちらの方がより「複数の特徴を重み付きで統合する」方式に近いと理解した。</a:t>
            </a:r>
            <a:r>
              <a:rPr lang="en-US" altLang="ja-JP" sz="1600" dirty="0"/>
              <a:t>TAGE </a:t>
            </a:r>
            <a:r>
              <a:rPr lang="ja-JP" altLang="en-US" sz="1600" dirty="0"/>
              <a:t>が特定の履歴パターンを記憶して照合する方式であるのに対し、</a:t>
            </a:r>
            <a:r>
              <a:rPr lang="en-US" altLang="ja-JP" sz="1600" dirty="0"/>
              <a:t>Perceptron </a:t>
            </a:r>
            <a:r>
              <a:rPr lang="ja-JP" altLang="en-US" sz="1600" dirty="0"/>
              <a:t>系は複数の弱い手がかりを組み合わせて判断する方式だと考えると、両者の違いが分かりやすくなった。</a:t>
            </a:r>
          </a:p>
        </p:txBody>
      </p:sp>
    </p:spTree>
    <p:extLst>
      <p:ext uri="{BB962C8B-B14F-4D97-AF65-F5344CB8AC3E}">
        <p14:creationId xmlns:p14="http://schemas.microsoft.com/office/powerpoint/2010/main" val="39719839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8D8B9-7E29-534E-B2FF-8A48506E6F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17FBBB1-6F34-A5F7-A939-11405F574F1A}"/>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03D42A5B-FF5D-DADE-3F87-E54EEAF79B4E}"/>
              </a:ext>
            </a:extLst>
          </p:cNvPr>
          <p:cNvSpPr>
            <a:spLocks noGrp="1"/>
          </p:cNvSpPr>
          <p:nvPr>
            <p:ph type="body" sz="quarter" idx="10"/>
          </p:nvPr>
        </p:nvSpPr>
        <p:spPr/>
        <p:txBody>
          <a:bodyPr/>
          <a:lstStyle/>
          <a:p>
            <a:r>
              <a:rPr lang="en-US" altLang="ja-JP" dirty="0"/>
              <a:t>BTB</a:t>
            </a:r>
            <a:r>
              <a:rPr lang="ja-JP" altLang="en-US" dirty="0"/>
              <a:t>と</a:t>
            </a:r>
            <a:r>
              <a:rPr lang="en-US" altLang="ja-JP" dirty="0" err="1"/>
              <a:t>OpCache</a:t>
            </a:r>
            <a:r>
              <a:rPr lang="ja-JP" altLang="en-US" dirty="0"/>
              <a:t>の説明がたりない</a:t>
            </a:r>
          </a:p>
        </p:txBody>
      </p:sp>
    </p:spTree>
    <p:extLst>
      <p:ext uri="{BB962C8B-B14F-4D97-AF65-F5344CB8AC3E}">
        <p14:creationId xmlns:p14="http://schemas.microsoft.com/office/powerpoint/2010/main" val="20531726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F66DB-6D46-B48E-2944-5F8C395D1A1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8B3473-36A9-31BE-37F2-A0F55AE5BB63}"/>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C754E8C5-3CE8-B329-73BD-F3BA1704524D}"/>
              </a:ext>
            </a:extLst>
          </p:cNvPr>
          <p:cNvSpPr>
            <a:spLocks noGrp="1"/>
          </p:cNvSpPr>
          <p:nvPr>
            <p:ph type="body" sz="quarter" idx="10"/>
          </p:nvPr>
        </p:nvSpPr>
        <p:spPr/>
        <p:txBody>
          <a:bodyPr/>
          <a:lstStyle/>
          <a:p>
            <a:r>
              <a:rPr lang="ja-JP" altLang="en-US" dirty="0"/>
              <a:t>パーセプトロン予測機の内積計算部分は足し算回路などが必要かと思うのですが</a:t>
            </a:r>
            <a:r>
              <a:rPr lang="en-US" altLang="ja-JP" dirty="0"/>
              <a:t>1</a:t>
            </a:r>
            <a:r>
              <a:rPr lang="ja-JP" altLang="en-US" dirty="0"/>
              <a:t>クロックで終わるような小さい回路をいれているのでしょうか</a:t>
            </a:r>
            <a:r>
              <a:rPr lang="en-US" altLang="ja-JP" dirty="0"/>
              <a:t>?</a:t>
            </a:r>
            <a:endParaRPr lang="ja-JP" altLang="en-US" dirty="0"/>
          </a:p>
        </p:txBody>
      </p:sp>
    </p:spTree>
    <p:extLst>
      <p:ext uri="{BB962C8B-B14F-4D97-AF65-F5344CB8AC3E}">
        <p14:creationId xmlns:p14="http://schemas.microsoft.com/office/powerpoint/2010/main" val="38447794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17F42-9B66-3C00-CFEC-0C62DEECEA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2F230CD-10D2-B97A-5622-450F036841AE}"/>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BE9B29B3-9775-F8E0-19BC-29923C3A9E65}"/>
              </a:ext>
            </a:extLst>
          </p:cNvPr>
          <p:cNvSpPr>
            <a:spLocks noGrp="1"/>
          </p:cNvSpPr>
          <p:nvPr>
            <p:ph type="body" sz="quarter" idx="10"/>
          </p:nvPr>
        </p:nvSpPr>
        <p:spPr/>
        <p:txBody>
          <a:bodyPr/>
          <a:lstStyle/>
          <a:p>
            <a:r>
              <a:rPr lang="ja-JP" altLang="en-US" dirty="0"/>
              <a:t>講義で </a:t>
            </a:r>
            <a:r>
              <a:rPr lang="en-US" altLang="ja-JP" dirty="0"/>
              <a:t>Ahead Pipelining </a:t>
            </a:r>
            <a:r>
              <a:rPr lang="ja-JP" altLang="en-US" dirty="0"/>
              <a:t>の解説を聞いて、</a:t>
            </a:r>
            <a:r>
              <a:rPr lang="en-US" altLang="ja-JP" dirty="0"/>
              <a:t>Zen 5 </a:t>
            </a:r>
            <a:r>
              <a:rPr lang="ja-JP" altLang="en-US" dirty="0"/>
              <a:t>の </a:t>
            </a:r>
            <a:r>
              <a:rPr lang="en-US" altLang="ja-JP" dirty="0"/>
              <a:t>2-Ahead Branch Predictor </a:t>
            </a:r>
            <a:r>
              <a:rPr lang="ja-JP" altLang="en-US" dirty="0"/>
              <a:t>を思い出し、関連する資料を読んでみたのですが、まだ十分には理解できていません。この両者は、どのような点で設計思想が似ており、またどのような点で異なるのでしょうか。</a:t>
            </a:r>
          </a:p>
          <a:p>
            <a:endParaRPr lang="ja-JP" altLang="en-US" dirty="0"/>
          </a:p>
        </p:txBody>
      </p:sp>
    </p:spTree>
    <p:extLst>
      <p:ext uri="{BB962C8B-B14F-4D97-AF65-F5344CB8AC3E}">
        <p14:creationId xmlns:p14="http://schemas.microsoft.com/office/powerpoint/2010/main" val="6188795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5AB06-FD44-9649-3906-AFC15E43D4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C854CA3-3DB8-A41E-47CE-031FED218F40}"/>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266C0399-F9A0-B447-04B3-855A416B3A2D}"/>
              </a:ext>
            </a:extLst>
          </p:cNvPr>
          <p:cNvSpPr>
            <a:spLocks noGrp="1"/>
          </p:cNvSpPr>
          <p:nvPr>
            <p:ph type="body" sz="quarter" idx="10"/>
          </p:nvPr>
        </p:nvSpPr>
        <p:spPr/>
        <p:txBody>
          <a:bodyPr/>
          <a:lstStyle/>
          <a:p>
            <a:r>
              <a:rPr lang="ja-JP" altLang="en-US" dirty="0"/>
              <a:t>グローバル分岐予測器のモチベーションで複数の分岐に相関があるものを拾いたいとのことですが、たとえば条件</a:t>
            </a:r>
            <a:r>
              <a:rPr lang="en-US" altLang="ja-JP" dirty="0"/>
              <a:t>X</a:t>
            </a:r>
            <a:r>
              <a:rPr lang="ja-JP" altLang="en-US" dirty="0"/>
              <a:t>で必ず</a:t>
            </a:r>
            <a:r>
              <a:rPr lang="en-US" altLang="ja-JP" dirty="0"/>
              <a:t>else</a:t>
            </a:r>
            <a:r>
              <a:rPr lang="ja-JP" altLang="en-US" dirty="0"/>
              <a:t>側を通るなら、後続の条件</a:t>
            </a:r>
            <a:r>
              <a:rPr lang="en-US" altLang="ja-JP" dirty="0"/>
              <a:t>Y</a:t>
            </a:r>
            <a:r>
              <a:rPr lang="ja-JP" altLang="en-US" dirty="0"/>
              <a:t>でも必ず</a:t>
            </a:r>
            <a:r>
              <a:rPr lang="en-US" altLang="ja-JP" dirty="0"/>
              <a:t>else</a:t>
            </a:r>
            <a:r>
              <a:rPr lang="ja-JP" altLang="en-US" dirty="0"/>
              <a:t>を通る、といったような確率</a:t>
            </a:r>
            <a:r>
              <a:rPr lang="en-US" altLang="ja-JP" dirty="0"/>
              <a:t>100%</a:t>
            </a:r>
            <a:r>
              <a:rPr lang="ja-JP" altLang="en-US" dirty="0"/>
              <a:t>で発生する相関であれば</a:t>
            </a:r>
            <a:r>
              <a:rPr lang="en-US" altLang="ja-JP" dirty="0" err="1"/>
              <a:t>gcc</a:t>
            </a:r>
            <a:r>
              <a:rPr lang="ja-JP" altLang="en-US" dirty="0"/>
              <a:t>などのコンパイラのオプション</a:t>
            </a:r>
            <a:r>
              <a:rPr lang="en-US" altLang="ja-JP" dirty="0"/>
              <a:t>(-O3</a:t>
            </a:r>
            <a:r>
              <a:rPr lang="ja-JP" altLang="en-US" dirty="0"/>
              <a:t>など</a:t>
            </a:r>
            <a:r>
              <a:rPr lang="en-US" altLang="ja-JP" dirty="0"/>
              <a:t>)</a:t>
            </a:r>
            <a:r>
              <a:rPr lang="ja-JP" altLang="en-US" dirty="0"/>
              <a:t>でまとめてしまうことはできないんでしょうか？ もちろんほとんどの場合は確率</a:t>
            </a:r>
            <a:r>
              <a:rPr lang="en-US" altLang="ja-JP" dirty="0"/>
              <a:t>100%</a:t>
            </a:r>
            <a:r>
              <a:rPr lang="ja-JP" altLang="en-US" dirty="0"/>
              <a:t>にはならないだろうし、仮にそうであるなら、そもそも人間側が高級言語でコーディングする際にまとめてしまえばいいという話になってしまいますが</a:t>
            </a:r>
            <a:r>
              <a:rPr lang="en-US" altLang="ja-JP" dirty="0"/>
              <a:t>…</a:t>
            </a:r>
            <a:endParaRPr lang="ja-JP" altLang="en-US" dirty="0"/>
          </a:p>
        </p:txBody>
      </p:sp>
    </p:spTree>
    <p:extLst>
      <p:ext uri="{BB962C8B-B14F-4D97-AF65-F5344CB8AC3E}">
        <p14:creationId xmlns:p14="http://schemas.microsoft.com/office/powerpoint/2010/main" val="898002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23CB5-E4E1-01B6-B845-4AFA2AA1892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066078-06B0-33D1-9B41-10670F743331}"/>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C44BEE24-1CBB-0446-9ED4-8404AC4FB512}"/>
              </a:ext>
            </a:extLst>
          </p:cNvPr>
          <p:cNvSpPr>
            <a:spLocks noGrp="1"/>
          </p:cNvSpPr>
          <p:nvPr>
            <p:ph type="body" sz="quarter" idx="10"/>
          </p:nvPr>
        </p:nvSpPr>
        <p:spPr/>
        <p:txBody>
          <a:bodyPr/>
          <a:lstStyle/>
          <a:p>
            <a:r>
              <a:rPr lang="ja-JP" altLang="en-US" dirty="0"/>
              <a:t>分岐予測器の学習や設計に用いられるコード（ベンチみたいな）みたいなものがあるのか気になった。</a:t>
            </a:r>
          </a:p>
        </p:txBody>
      </p:sp>
    </p:spTree>
    <p:extLst>
      <p:ext uri="{BB962C8B-B14F-4D97-AF65-F5344CB8AC3E}">
        <p14:creationId xmlns:p14="http://schemas.microsoft.com/office/powerpoint/2010/main" val="32629025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2E63D-8E49-83C6-DB22-B4E8B671E3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79F77D8-4379-9E20-A579-6C765A9767DB}"/>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82FE3A96-F157-E102-DBC4-6030C1008AC6}"/>
              </a:ext>
            </a:extLst>
          </p:cNvPr>
          <p:cNvSpPr>
            <a:spLocks noGrp="1"/>
          </p:cNvSpPr>
          <p:nvPr>
            <p:ph type="body" sz="quarter" idx="10"/>
          </p:nvPr>
        </p:nvSpPr>
        <p:spPr/>
        <p:txBody>
          <a:bodyPr/>
          <a:lstStyle/>
          <a:p>
            <a:r>
              <a:rPr lang="ja-JP" altLang="en-US" dirty="0"/>
              <a:t>複数の分岐予測器を同時に走らせてアンサンブルさせるなどできるのかなと思った（速度の問題で多分使えなさそうだが）。</a:t>
            </a:r>
            <a:r>
              <a:rPr lang="en-US" altLang="ja-JP" dirty="0"/>
              <a:t>"</a:t>
            </a:r>
            <a:endParaRPr lang="ja-JP" altLang="en-US" dirty="0"/>
          </a:p>
        </p:txBody>
      </p:sp>
    </p:spTree>
    <p:extLst>
      <p:ext uri="{BB962C8B-B14F-4D97-AF65-F5344CB8AC3E}">
        <p14:creationId xmlns:p14="http://schemas.microsoft.com/office/powerpoint/2010/main" val="20538315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228B9-D987-A91F-29D5-D0092E9261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A08238-97CA-017A-A9F5-9DFFE542E748}"/>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4F059037-1AD2-D84D-B5E6-0F2B48D4728F}"/>
              </a:ext>
            </a:extLst>
          </p:cNvPr>
          <p:cNvSpPr>
            <a:spLocks noGrp="1"/>
          </p:cNvSpPr>
          <p:nvPr>
            <p:ph type="body" sz="quarter" idx="10"/>
          </p:nvPr>
        </p:nvSpPr>
        <p:spPr/>
        <p:txBody>
          <a:bodyPr/>
          <a:lstStyle/>
          <a:p>
            <a:r>
              <a:rPr lang="ja-JP" altLang="en-US" dirty="0"/>
              <a:t>余談ですが、私は</a:t>
            </a:r>
            <a:r>
              <a:rPr lang="en-US" altLang="ja-JP" dirty="0"/>
              <a:t>XOR</a:t>
            </a:r>
            <a:r>
              <a:rPr lang="ja-JP" altLang="en-US" dirty="0"/>
              <a:t>と</a:t>
            </a:r>
            <a:r>
              <a:rPr lang="en-US" altLang="ja-JP" dirty="0"/>
              <a:t>XNOR</a:t>
            </a:r>
            <a:r>
              <a:rPr lang="ja-JP" altLang="en-US" dirty="0"/>
              <a:t>を混同して、どちらがどちらなのかを毎度</a:t>
            </a:r>
            <a:r>
              <a:rPr lang="en-US" altLang="ja-JP" dirty="0"/>
              <a:t>30</a:t>
            </a:r>
            <a:r>
              <a:rPr lang="ja-JP" altLang="en-US" dirty="0"/>
              <a:t>秒ほど考えるのですが、他の方にも共感してもらえるのか気になりました。</a:t>
            </a:r>
          </a:p>
        </p:txBody>
      </p:sp>
    </p:spTree>
    <p:extLst>
      <p:ext uri="{BB962C8B-B14F-4D97-AF65-F5344CB8AC3E}">
        <p14:creationId xmlns:p14="http://schemas.microsoft.com/office/powerpoint/2010/main" val="16486069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ACF14-C74B-BC4D-FEF8-65E0326E2D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E6B914-11C8-F72A-910F-92B7925DBF3B}"/>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48313C3A-6500-B26D-FCEB-C0C230C96C2C}"/>
              </a:ext>
            </a:extLst>
          </p:cNvPr>
          <p:cNvSpPr>
            <a:spLocks noGrp="1"/>
          </p:cNvSpPr>
          <p:nvPr>
            <p:ph type="body" sz="quarter" idx="10"/>
          </p:nvPr>
        </p:nvSpPr>
        <p:spPr/>
        <p:txBody>
          <a:bodyPr/>
          <a:lstStyle/>
          <a:p>
            <a:r>
              <a:rPr lang="ja-JP" altLang="en-US" dirty="0"/>
              <a:t>パーセプトロンや</a:t>
            </a:r>
            <a:r>
              <a:rPr lang="en-US" altLang="ja-JP" dirty="0"/>
              <a:t>TAGE</a:t>
            </a:r>
            <a:r>
              <a:rPr lang="ja-JP" altLang="en-US" dirty="0"/>
              <a:t>周りの話でかなり理解に時間がかかってしまったので、家でも考えたいと思うのですが、求められる理解度はどれほどでしょうか？そういった技術の存在を知っている程度でよいのでしょうか？それとも、回路の意味なども含めて深く理解をしておいた方がよいでしょうか？</a:t>
            </a:r>
          </a:p>
        </p:txBody>
      </p:sp>
    </p:spTree>
    <p:extLst>
      <p:ext uri="{BB962C8B-B14F-4D97-AF65-F5344CB8AC3E}">
        <p14:creationId xmlns:p14="http://schemas.microsoft.com/office/powerpoint/2010/main" val="29078249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54E84-5783-54D7-C8B5-758BF16371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0CC4A57-CFFD-CDB2-0CA8-7E009A91AB2E}"/>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B7F13C19-AF64-045F-ABE7-E79B50A7D7C8}"/>
              </a:ext>
            </a:extLst>
          </p:cNvPr>
          <p:cNvSpPr>
            <a:spLocks noGrp="1"/>
          </p:cNvSpPr>
          <p:nvPr>
            <p:ph type="body" sz="quarter" idx="10"/>
          </p:nvPr>
        </p:nvSpPr>
        <p:spPr/>
        <p:txBody>
          <a:bodyPr/>
          <a:lstStyle/>
          <a:p>
            <a:r>
              <a:rPr lang="ja-JP" altLang="en-US" dirty="0"/>
              <a:t>あと、分岐予測の日常的な例に困っていらっしゃるという話があったと思うのですが、「レジの店員が客の割り箸の必要性を予測するとして、客の購入品を見て、お弁当ならば用意しておく」みたいな感じでいかがでしょうか？</a:t>
            </a:r>
          </a:p>
        </p:txBody>
      </p:sp>
    </p:spTree>
    <p:extLst>
      <p:ext uri="{BB962C8B-B14F-4D97-AF65-F5344CB8AC3E}">
        <p14:creationId xmlns:p14="http://schemas.microsoft.com/office/powerpoint/2010/main" val="24596937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D4FC-7367-EB63-3ADE-7EB6BE64392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A67DF9-19E6-D684-518E-2E59C92CD7DF}"/>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7FF0C208-EC44-B36A-27CB-F13C9B37BBD6}"/>
              </a:ext>
            </a:extLst>
          </p:cNvPr>
          <p:cNvSpPr>
            <a:spLocks noGrp="1"/>
          </p:cNvSpPr>
          <p:nvPr>
            <p:ph type="body" sz="quarter" idx="10"/>
          </p:nvPr>
        </p:nvSpPr>
        <p:spPr/>
        <p:txBody>
          <a:bodyPr/>
          <a:lstStyle/>
          <a:p>
            <a:r>
              <a:rPr lang="en-US" altLang="ja-JP" dirty="0"/>
              <a:t>2006</a:t>
            </a:r>
            <a:r>
              <a:rPr lang="ja-JP" altLang="en-US" dirty="0"/>
              <a:t>年に出た</a:t>
            </a:r>
            <a:r>
              <a:rPr lang="en-US" altLang="ja-JP" dirty="0"/>
              <a:t>TAGE</a:t>
            </a:r>
            <a:r>
              <a:rPr lang="ja-JP" altLang="en-US" dirty="0"/>
              <a:t>予測器が今も最先端を支えているのに驚きました。名古屋出身としては個人的に、名工大などの名古屋関係の大学が</a:t>
            </a:r>
            <a:r>
              <a:rPr lang="en-US" altLang="ja-JP" dirty="0"/>
              <a:t>ISCA</a:t>
            </a:r>
            <a:r>
              <a:rPr lang="ja-JP" altLang="en-US" dirty="0"/>
              <a:t>のコンペで成果を出していると知って嬉しくなりました。</a:t>
            </a:r>
            <a:r>
              <a:rPr lang="en-US" altLang="ja-JP" dirty="0" err="1"/>
              <a:t>RBias</a:t>
            </a:r>
            <a:r>
              <a:rPr lang="ja-JP" altLang="en-US" dirty="0"/>
              <a:t>で相関をとるときの計算コスト・時間コストがどうなっているか気になりました。</a:t>
            </a:r>
          </a:p>
        </p:txBody>
      </p:sp>
    </p:spTree>
    <p:extLst>
      <p:ext uri="{BB962C8B-B14F-4D97-AF65-F5344CB8AC3E}">
        <p14:creationId xmlns:p14="http://schemas.microsoft.com/office/powerpoint/2010/main" val="32267228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4609A-B4E2-27E7-BD64-B543CA2E52C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57BAF1-8159-C205-27E1-BA8444A1A596}"/>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6A656387-9105-A7EE-E48C-99CD2C47DAFF}"/>
              </a:ext>
            </a:extLst>
          </p:cNvPr>
          <p:cNvSpPr>
            <a:spLocks noGrp="1"/>
          </p:cNvSpPr>
          <p:nvPr>
            <p:ph type="body" sz="quarter" idx="10"/>
          </p:nvPr>
        </p:nvSpPr>
        <p:spPr/>
        <p:txBody>
          <a:bodyPr/>
          <a:lstStyle/>
          <a:p>
            <a:r>
              <a:rPr lang="ja-JP" altLang="en-US" dirty="0"/>
              <a:t>学部の授業でマイクロプロセッサを作った際，分岐予測の部分がクリティカルパス気味となりエントリ数を大きく取れなかったために</a:t>
            </a:r>
            <a:r>
              <a:rPr lang="en-US" altLang="ja-JP" dirty="0"/>
              <a:t>bimodal</a:t>
            </a:r>
            <a:r>
              <a:rPr lang="ja-JP" altLang="en-US" dirty="0"/>
              <a:t>予測器が</a:t>
            </a:r>
            <a:r>
              <a:rPr lang="en-US" altLang="ja-JP" dirty="0" err="1"/>
              <a:t>gshare</a:t>
            </a:r>
            <a:r>
              <a:rPr lang="ja-JP" altLang="en-US" dirty="0"/>
              <a:t>予測器を上回ったのを思い出した。</a:t>
            </a:r>
          </a:p>
        </p:txBody>
      </p:sp>
    </p:spTree>
    <p:extLst>
      <p:ext uri="{BB962C8B-B14F-4D97-AF65-F5344CB8AC3E}">
        <p14:creationId xmlns:p14="http://schemas.microsoft.com/office/powerpoint/2010/main" val="17276249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A27E3-EC30-1E03-4920-00C9810FCB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F73307-B2AD-EE67-21AD-8006DCB07A60}"/>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F0F3A498-E7C3-3CEE-9D69-C8CFDC913675}"/>
              </a:ext>
            </a:extLst>
          </p:cNvPr>
          <p:cNvSpPr>
            <a:spLocks noGrp="1"/>
          </p:cNvSpPr>
          <p:nvPr>
            <p:ph type="body" sz="quarter" idx="10"/>
          </p:nvPr>
        </p:nvSpPr>
        <p:spPr/>
        <p:txBody>
          <a:bodyPr/>
          <a:lstStyle/>
          <a:p>
            <a:r>
              <a:rPr lang="en-US" altLang="ja-JP" dirty="0"/>
              <a:t>GPU</a:t>
            </a:r>
            <a:r>
              <a:rPr lang="ja-JP" altLang="en-US" dirty="0"/>
              <a:t>みたいな</a:t>
            </a:r>
            <a:r>
              <a:rPr lang="en-US" altLang="ja-JP" dirty="0"/>
              <a:t>SIMT</a:t>
            </a:r>
            <a:r>
              <a:rPr lang="ja-JP" altLang="en-US" dirty="0"/>
              <a:t>アーキテクチャだと，</a:t>
            </a:r>
            <a:r>
              <a:rPr lang="en-US" altLang="ja-JP" dirty="0"/>
              <a:t>warp divergence</a:t>
            </a:r>
            <a:r>
              <a:rPr lang="ja-JP" altLang="en-US" dirty="0"/>
              <a:t>が起こった後</a:t>
            </a:r>
            <a:r>
              <a:rPr lang="en-US" altLang="ja-JP" dirty="0"/>
              <a:t>32 thread</a:t>
            </a:r>
            <a:r>
              <a:rPr lang="ja-JP" altLang="en-US" dirty="0"/>
              <a:t>の</a:t>
            </a:r>
            <a:r>
              <a:rPr lang="en-US" altLang="ja-JP" dirty="0"/>
              <a:t>execution path</a:t>
            </a:r>
            <a:r>
              <a:rPr lang="ja-JP" altLang="en-US" dirty="0"/>
              <a:t>がどうやって収束（合流？）するのか気になっている（間接分岐だとそこまで容易ではなさそう）</a:t>
            </a:r>
          </a:p>
        </p:txBody>
      </p:sp>
    </p:spTree>
    <p:extLst>
      <p:ext uri="{BB962C8B-B14F-4D97-AF65-F5344CB8AC3E}">
        <p14:creationId xmlns:p14="http://schemas.microsoft.com/office/powerpoint/2010/main" val="13820862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0F38B-C686-AE99-A880-2F034C7C40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1F1FE3-0DE9-540F-7684-D8234F09CEF2}"/>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6A4D9D10-3EF9-C652-62AA-AA1137EC9016}"/>
              </a:ext>
            </a:extLst>
          </p:cNvPr>
          <p:cNvSpPr>
            <a:spLocks noGrp="1"/>
          </p:cNvSpPr>
          <p:nvPr>
            <p:ph type="body" sz="quarter" idx="10"/>
          </p:nvPr>
        </p:nvSpPr>
        <p:spPr/>
        <p:txBody>
          <a:bodyPr/>
          <a:lstStyle/>
          <a:p>
            <a:r>
              <a:rPr lang="en-US" altLang="ja-JP" dirty="0"/>
              <a:t>1. </a:t>
            </a:r>
            <a:r>
              <a:rPr lang="ja-JP" altLang="en-US" dirty="0"/>
              <a:t>資料</a:t>
            </a:r>
            <a:r>
              <a:rPr lang="en-US" altLang="ja-JP" dirty="0"/>
              <a:t>41</a:t>
            </a:r>
            <a:r>
              <a:rPr lang="ja-JP" altLang="en-US" dirty="0"/>
              <a:t>ページの</a:t>
            </a:r>
            <a:r>
              <a:rPr lang="en-US" altLang="ja-JP" dirty="0"/>
              <a:t>PHT</a:t>
            </a:r>
            <a:r>
              <a:rPr lang="ja-JP" altLang="en-US" dirty="0"/>
              <a:t>サイズの制約について、最近の対策を後で紹介する旨を仰っていましたが、キャッシュ周辺の話題につながるのでしょうか。</a:t>
            </a:r>
          </a:p>
          <a:p>
            <a:r>
              <a:rPr lang="en-US" altLang="ja-JP" dirty="0"/>
              <a:t>2. </a:t>
            </a:r>
            <a:r>
              <a:rPr lang="ja-JP" altLang="en-US" dirty="0"/>
              <a:t>資料</a:t>
            </a:r>
            <a:r>
              <a:rPr lang="en-US" altLang="ja-JP" dirty="0"/>
              <a:t>47</a:t>
            </a:r>
            <a:r>
              <a:rPr lang="ja-JP" altLang="en-US" dirty="0"/>
              <a:t>ページの</a:t>
            </a:r>
            <a:r>
              <a:rPr lang="en-US" altLang="ja-JP" dirty="0"/>
              <a:t>MPKI</a:t>
            </a:r>
            <a:r>
              <a:rPr lang="ja-JP" altLang="en-US" dirty="0"/>
              <a:t>分布について：</a:t>
            </a:r>
            <a:r>
              <a:rPr lang="en-US" altLang="ja-JP" dirty="0"/>
              <a:t>MPKI</a:t>
            </a:r>
            <a:r>
              <a:rPr lang="ja-JP" altLang="en-US" dirty="0"/>
              <a:t>と予測精度の関係は、ベンチマークにおける分岐命令の割合に依存すると思います。そこで、一般のベンチマークでは、方向分岐</a:t>
            </a:r>
            <a:r>
              <a:rPr lang="en-US" altLang="ja-JP" dirty="0"/>
              <a:t>/</a:t>
            </a:r>
            <a:r>
              <a:rPr lang="ja-JP" altLang="en-US" dirty="0"/>
              <a:t>関節分岐</a:t>
            </a:r>
            <a:r>
              <a:rPr lang="en-US" altLang="ja-JP" dirty="0"/>
              <a:t>/return </a:t>
            </a:r>
            <a:r>
              <a:rPr lang="ja-JP" altLang="en-US" dirty="0"/>
              <a:t>の各分類の内訳はどういう場合が多いのか気になりました。</a:t>
            </a:r>
          </a:p>
          <a:p>
            <a:endParaRPr lang="ja-JP" altLang="en-US" dirty="0"/>
          </a:p>
        </p:txBody>
      </p:sp>
    </p:spTree>
    <p:extLst>
      <p:ext uri="{BB962C8B-B14F-4D97-AF65-F5344CB8AC3E}">
        <p14:creationId xmlns:p14="http://schemas.microsoft.com/office/powerpoint/2010/main" val="702078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6420F-23CD-50A7-265E-192377FAE6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5BB61C3-4DAB-4713-156C-82E1FB1B7A2C}"/>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F8C6B082-35F8-EF7C-9214-9242F61DFC12}"/>
              </a:ext>
            </a:extLst>
          </p:cNvPr>
          <p:cNvSpPr>
            <a:spLocks noGrp="1"/>
          </p:cNvSpPr>
          <p:nvPr>
            <p:ph type="body" sz="quarter" idx="10"/>
          </p:nvPr>
        </p:nvSpPr>
        <p:spPr/>
        <p:txBody>
          <a:bodyPr/>
          <a:lstStyle/>
          <a:p>
            <a:r>
              <a:rPr lang="ja-JP" altLang="en-US" dirty="0"/>
              <a:t> </a:t>
            </a:r>
            <a:r>
              <a:rPr lang="en-US" altLang="ja-JP" dirty="0"/>
              <a:t>1-1. </a:t>
            </a:r>
            <a:r>
              <a:rPr lang="ja-JP" altLang="en-US" dirty="0"/>
              <a:t>ハッシュ・パーセプトロンの効果：ターゲットの履歴より長いパターンで学習が進むのであれば、「（実際には</a:t>
            </a:r>
            <a:r>
              <a:rPr lang="en-US" altLang="ja-JP" dirty="0"/>
              <a:t>5</a:t>
            </a:r>
            <a:r>
              <a:rPr lang="ja-JP" altLang="en-US" dirty="0"/>
              <a:t>箇所だが）主に</a:t>
            </a:r>
            <a:r>
              <a:rPr lang="en-US" altLang="ja-JP" dirty="0"/>
              <a:t>1</a:t>
            </a:r>
            <a:r>
              <a:rPr lang="ja-JP" altLang="en-US" dirty="0"/>
              <a:t>箇所を更新」という状況に陥らないのか（資料</a:t>
            </a:r>
            <a:r>
              <a:rPr lang="en-US" altLang="ja-JP" dirty="0"/>
              <a:t>61</a:t>
            </a:r>
            <a:r>
              <a:rPr lang="ja-JP" altLang="en-US" dirty="0"/>
              <a:t>ページ目）</a:t>
            </a:r>
          </a:p>
          <a:p>
            <a:r>
              <a:rPr lang="ja-JP" altLang="en-US" dirty="0"/>
              <a:t>  </a:t>
            </a:r>
            <a:r>
              <a:rPr lang="en-US" altLang="ja-JP" dirty="0"/>
              <a:t>1-2. Ahead Pipelining</a:t>
            </a:r>
            <a:r>
              <a:rPr lang="ja-JP" altLang="en-US" dirty="0"/>
              <a:t>：「インターリーブされている」とはどういうことか（資料</a:t>
            </a:r>
            <a:r>
              <a:rPr lang="en-US" altLang="ja-JP" dirty="0"/>
              <a:t>89</a:t>
            </a:r>
            <a:r>
              <a:rPr lang="ja-JP" altLang="en-US" dirty="0"/>
              <a:t>ページ目）</a:t>
            </a:r>
          </a:p>
        </p:txBody>
      </p:sp>
    </p:spTree>
    <p:extLst>
      <p:ext uri="{BB962C8B-B14F-4D97-AF65-F5344CB8AC3E}">
        <p14:creationId xmlns:p14="http://schemas.microsoft.com/office/powerpoint/2010/main" val="2749711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87A47-D720-D35B-EB9D-C2C0F893FD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35C8F8-F759-34BB-D8DA-1C5DE9A77A98}"/>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90A1C6DB-8FC2-8157-EFAF-3C0522160FB2}"/>
              </a:ext>
            </a:extLst>
          </p:cNvPr>
          <p:cNvSpPr>
            <a:spLocks noGrp="1"/>
          </p:cNvSpPr>
          <p:nvPr>
            <p:ph type="body" sz="quarter" idx="10"/>
          </p:nvPr>
        </p:nvSpPr>
        <p:spPr/>
        <p:txBody>
          <a:bodyPr/>
          <a:lstStyle/>
          <a:p>
            <a:r>
              <a:rPr lang="ja-JP" altLang="en-US" dirty="0"/>
              <a:t>感想文の紹介がトピックごとに分類されているのが個人的には見やすいです。今後、さらに「質問→感想・コメント」のように分けていただくこともご検討いただけたりしますでしょうか。</a:t>
            </a:r>
          </a:p>
        </p:txBody>
      </p:sp>
    </p:spTree>
    <p:extLst>
      <p:ext uri="{BB962C8B-B14F-4D97-AF65-F5344CB8AC3E}">
        <p14:creationId xmlns:p14="http://schemas.microsoft.com/office/powerpoint/2010/main" val="4267654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CD013-4F7A-5432-B4C2-52FEBC9D93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89EB4C-FE43-CCA6-A9CB-E58255D98652}"/>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8C138449-AD67-A04A-FA17-D8C9E6B30C0F}"/>
              </a:ext>
            </a:extLst>
          </p:cNvPr>
          <p:cNvSpPr>
            <a:spLocks noGrp="1"/>
          </p:cNvSpPr>
          <p:nvPr>
            <p:ph type="body" sz="quarter" idx="10"/>
          </p:nvPr>
        </p:nvSpPr>
        <p:spPr/>
        <p:txBody>
          <a:bodyPr/>
          <a:lstStyle/>
          <a:p>
            <a:r>
              <a:rPr lang="ja-JP" altLang="en-US" dirty="0"/>
              <a:t>分岐予測にパーセプトロンが使われているのは面白かった。この時代、機械学習からは逃れられないのかと感じた。</a:t>
            </a:r>
          </a:p>
        </p:txBody>
      </p:sp>
    </p:spTree>
    <p:extLst>
      <p:ext uri="{BB962C8B-B14F-4D97-AF65-F5344CB8AC3E}">
        <p14:creationId xmlns:p14="http://schemas.microsoft.com/office/powerpoint/2010/main" val="4046343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D60F1-82A0-AD3C-5FDB-8CDEFCFB4DD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E4FE508-4B36-3658-6D61-24953CFA99BD}"/>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D92439FE-8048-6023-82C2-1114F2BAA141}"/>
              </a:ext>
            </a:extLst>
          </p:cNvPr>
          <p:cNvSpPr>
            <a:spLocks noGrp="1"/>
          </p:cNvSpPr>
          <p:nvPr>
            <p:ph type="body" sz="quarter" idx="10"/>
          </p:nvPr>
        </p:nvSpPr>
        <p:spPr/>
        <p:txBody>
          <a:bodyPr/>
          <a:lstStyle/>
          <a:p>
            <a:r>
              <a:rPr lang="ja-JP" altLang="en-US" dirty="0"/>
              <a:t>言語処理系を書いていると、至る所でパターンマッチによる条件分岐を書くが、何となく</a:t>
            </a:r>
            <a:r>
              <a:rPr lang="en-US" altLang="ja-JP" dirty="0"/>
              <a:t>if</a:t>
            </a:r>
            <a:r>
              <a:rPr lang="ja-JP" altLang="en-US" dirty="0"/>
              <a:t>文で書くよりは良さそうというくらいにしか考えていなかったので、間接分岐命令というハードウェア実装が知れて面白かった。ノイズ除去の統計的アルゴリズムなどもそうですが、動的に改善されていくアルゴリズムは面白いです</a:t>
            </a:r>
          </a:p>
          <a:p>
            <a:endParaRPr lang="ja-JP" altLang="en-US" dirty="0"/>
          </a:p>
        </p:txBody>
      </p:sp>
    </p:spTree>
    <p:extLst>
      <p:ext uri="{BB962C8B-B14F-4D97-AF65-F5344CB8AC3E}">
        <p14:creationId xmlns:p14="http://schemas.microsoft.com/office/powerpoint/2010/main" val="30078790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4AF59-B9BF-F414-F1E8-12F11725DA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8AC202-BBC6-BFDE-C9B3-EC9B635C862C}"/>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919626EE-6E14-E3DB-EF96-93943FA4249D}"/>
              </a:ext>
            </a:extLst>
          </p:cNvPr>
          <p:cNvSpPr>
            <a:spLocks noGrp="1"/>
          </p:cNvSpPr>
          <p:nvPr>
            <p:ph type="body" sz="quarter" idx="10"/>
          </p:nvPr>
        </p:nvSpPr>
        <p:spPr/>
        <p:txBody>
          <a:bodyPr/>
          <a:lstStyle/>
          <a:p>
            <a:r>
              <a:rPr lang="en-US" altLang="ja-JP" dirty="0"/>
              <a:t>2006</a:t>
            </a:r>
            <a:r>
              <a:rPr lang="ja-JP" altLang="en-US" dirty="0"/>
              <a:t>年に開発</a:t>
            </a:r>
            <a:r>
              <a:rPr lang="en-US" altLang="ja-JP" dirty="0"/>
              <a:t>(?)</a:t>
            </a:r>
            <a:r>
              <a:rPr lang="ja-JP" altLang="en-US" dirty="0"/>
              <a:t>された予測器が</a:t>
            </a:r>
            <a:r>
              <a:rPr lang="en-US" altLang="ja-JP" dirty="0"/>
              <a:t>20</a:t>
            </a:r>
            <a:r>
              <a:rPr lang="ja-JP" altLang="en-US" dirty="0"/>
              <a:t>年たった今でも基盤となっていて、更新されていないのに驚いた。</a:t>
            </a:r>
          </a:p>
        </p:txBody>
      </p:sp>
    </p:spTree>
    <p:extLst>
      <p:ext uri="{BB962C8B-B14F-4D97-AF65-F5344CB8AC3E}">
        <p14:creationId xmlns:p14="http://schemas.microsoft.com/office/powerpoint/2010/main" val="2600804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1F808-C329-4CCB-1248-182B2D101C7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0A4CF2-1E58-0289-FCC4-52C567907A25}"/>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B8578DB1-DC57-D4B4-0E6C-0D06AF465715}"/>
              </a:ext>
            </a:extLst>
          </p:cNvPr>
          <p:cNvSpPr>
            <a:spLocks noGrp="1"/>
          </p:cNvSpPr>
          <p:nvPr>
            <p:ph type="body" sz="quarter" idx="10"/>
          </p:nvPr>
        </p:nvSpPr>
        <p:spPr/>
        <p:txBody>
          <a:bodyPr/>
          <a:lstStyle/>
          <a:p>
            <a:r>
              <a:rPr lang="en-US" altLang="ja-JP" dirty="0" err="1"/>
              <a:t>RBias</a:t>
            </a:r>
            <a:r>
              <a:rPr lang="ja-JP" altLang="en-US" dirty="0"/>
              <a:t>で、連続した分岐の</a:t>
            </a:r>
            <a:r>
              <a:rPr lang="en-US" altLang="ja-JP" dirty="0"/>
              <a:t>1</a:t>
            </a:r>
            <a:r>
              <a:rPr lang="ja-JP" altLang="en-US" dirty="0"/>
              <a:t>個目はミスが多い（この性質を利用している）とおっしゃていましたが、なぜミスが多いのですか。</a:t>
            </a:r>
            <a:endParaRPr lang="en-US" altLang="ja-JP" dirty="0"/>
          </a:p>
          <a:p>
            <a:endParaRPr lang="ja-JP" altLang="en-US" dirty="0"/>
          </a:p>
        </p:txBody>
      </p:sp>
    </p:spTree>
    <p:extLst>
      <p:ext uri="{BB962C8B-B14F-4D97-AF65-F5344CB8AC3E}">
        <p14:creationId xmlns:p14="http://schemas.microsoft.com/office/powerpoint/2010/main" val="31187126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5338A-8C4B-D8BE-ECEB-367F9765334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A647C0-998D-BAFA-C59E-5788AC404C9E}"/>
              </a:ext>
            </a:extLst>
          </p:cNvPr>
          <p:cNvSpPr>
            <a:spLocks noGrp="1"/>
          </p:cNvSpPr>
          <p:nvPr>
            <p:ph type="title"/>
          </p:nvPr>
        </p:nvSpPr>
        <p:spPr/>
        <p:txBody>
          <a:bodyPr/>
          <a:lstStyle/>
          <a:p>
            <a:r>
              <a:rPr kumimoji="1" lang="ja-JP" altLang="en-US" dirty="0"/>
              <a:t>感想とか質問の回答</a:t>
            </a:r>
          </a:p>
        </p:txBody>
      </p:sp>
      <p:sp>
        <p:nvSpPr>
          <p:cNvPr id="3" name="テキスト プレースホルダー 2">
            <a:extLst>
              <a:ext uri="{FF2B5EF4-FFF2-40B4-BE49-F238E27FC236}">
                <a16:creationId xmlns:a16="http://schemas.microsoft.com/office/drawing/2014/main" id="{8E20FAEE-9C46-C7C8-4119-5EDDFB82BA5C}"/>
              </a:ext>
            </a:extLst>
          </p:cNvPr>
          <p:cNvSpPr>
            <a:spLocks noGrp="1"/>
          </p:cNvSpPr>
          <p:nvPr>
            <p:ph type="body" sz="quarter" idx="10"/>
          </p:nvPr>
        </p:nvSpPr>
        <p:spPr/>
        <p:txBody>
          <a:bodyPr/>
          <a:lstStyle/>
          <a:p>
            <a:r>
              <a:rPr lang="ja-JP" altLang="en-US" dirty="0"/>
              <a:t>パーセプトロン式の予測器について、学習とかもハードワイヤされて</a:t>
            </a:r>
            <a:r>
              <a:rPr lang="en-US" altLang="ja-JP" dirty="0"/>
              <a:t>(</a:t>
            </a:r>
            <a:r>
              <a:rPr lang="ja-JP" altLang="en-US" dirty="0"/>
              <a:t>論理回路で組まれて</a:t>
            </a:r>
            <a:r>
              <a:rPr lang="en-US" altLang="ja-JP" dirty="0"/>
              <a:t>)</a:t>
            </a:r>
            <a:r>
              <a:rPr lang="ja-JP" altLang="en-US" dirty="0"/>
              <a:t>いるのか気になりました。自分は</a:t>
            </a:r>
            <a:r>
              <a:rPr lang="en-US" altLang="ja-JP" dirty="0"/>
              <a:t>Python</a:t>
            </a:r>
            <a:r>
              <a:rPr lang="ja-JP" altLang="en-US" dirty="0"/>
              <a:t>で</a:t>
            </a:r>
            <a:r>
              <a:rPr lang="en-US" altLang="ja-JP" dirty="0"/>
              <a:t>Adam</a:t>
            </a:r>
            <a:r>
              <a:rPr lang="ja-JP" altLang="en-US" dirty="0"/>
              <a:t>などの学習・最適化コードを書いたことがあるのですが、そういったものが実際にハードワイヤされているのですか</a:t>
            </a:r>
            <a:r>
              <a:rPr lang="en-US" altLang="ja-JP"/>
              <a:t>?</a:t>
            </a:r>
            <a:endParaRPr lang="ja-JP" altLang="en-US" dirty="0"/>
          </a:p>
        </p:txBody>
      </p:sp>
    </p:spTree>
    <p:extLst>
      <p:ext uri="{BB962C8B-B14F-4D97-AF65-F5344CB8AC3E}">
        <p14:creationId xmlns:p14="http://schemas.microsoft.com/office/powerpoint/2010/main" val="33807208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aco-shioya-06</Template>
  <TotalTime>60842</TotalTime>
  <Words>5221</Words>
  <Application>Microsoft Office PowerPoint</Application>
  <PresentationFormat>ワイド画面</PresentationFormat>
  <Paragraphs>798</Paragraphs>
  <Slides>87</Slides>
  <Notes>2</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87</vt:i4>
      </vt:variant>
    </vt:vector>
  </HeadingPairs>
  <TitlesOfParts>
    <vt:vector size="100" baseType="lpstr">
      <vt:lpstr>HG丸ｺﾞｼｯｸM-PRO</vt:lpstr>
      <vt:lpstr>MeiryoKe_PGothic</vt:lpstr>
      <vt:lpstr>メイリオ</vt:lpstr>
      <vt:lpstr>Arial Narrow</vt:lpstr>
      <vt:lpstr>Calibri</vt:lpstr>
      <vt:lpstr>Cambria Math</vt:lpstr>
      <vt:lpstr>Consolas</vt:lpstr>
      <vt:lpstr>Helvetica</vt:lpstr>
      <vt:lpstr>Segoe UI</vt:lpstr>
      <vt:lpstr>Times New Roman</vt:lpstr>
      <vt:lpstr>Verdana</vt:lpstr>
      <vt:lpstr>Wingdings</vt:lpstr>
      <vt:lpstr>cerulean</vt:lpstr>
      <vt:lpstr>先進計算機構成論 07</vt:lpstr>
      <vt:lpstr>メモリ</vt:lpstr>
      <vt:lpstr>メモリ</vt:lpstr>
      <vt:lpstr>メモリの基本構造：セルを行列状に配置</vt:lpstr>
      <vt:lpstr>メモリの読み出し操作</vt:lpstr>
      <vt:lpstr>メモリの読み出し動作の例</vt:lpstr>
      <vt:lpstr>メモリの読み出し動作（１） アドレスのデコード</vt:lpstr>
      <vt:lpstr>メモリの読み出し動作（２） ワードラインのアサート</vt:lpstr>
      <vt:lpstr>メモリの読み出し動作（３） ワード（１行分のデータ）の読み出し</vt:lpstr>
      <vt:lpstr>メモリの読み出し動作（４） 列の選択</vt:lpstr>
      <vt:lpstr>AMD Zen コアの場合 Teja Singh et al., Zen: An Energy-Efficient High-Performance ×86 Core より</vt:lpstr>
      <vt:lpstr>「田」の字の構造</vt:lpstr>
      <vt:lpstr>メモリ</vt:lpstr>
      <vt:lpstr>メモリの読み出し時間</vt:lpstr>
      <vt:lpstr>データをとってくるのに，どのぐらいかかるか？</vt:lpstr>
      <vt:lpstr>アクセス時間は容量に直接は比例しない （容量の平方根ぐらいに比例</vt:lpstr>
      <vt:lpstr>なぜレジスタやキャッシュがあるのか？</vt:lpstr>
      <vt:lpstr>メモリ</vt:lpstr>
      <vt:lpstr>メモリのバリエーション</vt:lpstr>
      <vt:lpstr>Static Random Access Memory (SRAM)</vt:lpstr>
      <vt:lpstr>SRAM のセル（1bit）</vt:lpstr>
      <vt:lpstr>SRAM の読み出し</vt:lpstr>
      <vt:lpstr>なぜプリチャージが必要なのか？</vt:lpstr>
      <vt:lpstr>SRAM の書き込み</vt:lpstr>
      <vt:lpstr>チップ上の SRAM セル</vt:lpstr>
      <vt:lpstr>Dynamic Random Access Memory (DRAM)</vt:lpstr>
      <vt:lpstr>DRAM のセル</vt:lpstr>
      <vt:lpstr>DRAM の読み出し</vt:lpstr>
      <vt:lpstr>DRAM の書き込み</vt:lpstr>
      <vt:lpstr>SRAM の場合との違い</vt:lpstr>
      <vt:lpstr>DRAM のコンデンサの作り方 H. Seidl et al, A Fully Integrated Al2O3 Trench Capacitor DRAM for Sub-100nm Technology より</vt:lpstr>
      <vt:lpstr>余談：磁気コアメモリ https://ja.wikipedia.org/wiki/%E7%A3%81%E6%B0%97%E3%82%B3%E3%82%A2%E3%83%A1%E3%83%A2%E3%83%AA より</vt:lpstr>
      <vt:lpstr>メモリ</vt:lpstr>
      <vt:lpstr>メモリの存在する理由</vt:lpstr>
      <vt:lpstr>D-FF とマルチプレクサによる 4bit の RAM</vt:lpstr>
      <vt:lpstr>D-FF：トランジスタ 16個</vt:lpstr>
      <vt:lpstr>マルチプレクサ：トランジスタ 6個</vt:lpstr>
      <vt:lpstr>4bit メモリに必要なトランジスタ数：80</vt:lpstr>
      <vt:lpstr>SRAM と DRAM のセル（1bit）</vt:lpstr>
      <vt:lpstr>SRAM と DRAM（4bit）</vt:lpstr>
      <vt:lpstr>メモリ</vt:lpstr>
      <vt:lpstr>マルチポート・メモリ</vt:lpstr>
      <vt:lpstr>マルチポート・メモリの回路面積</vt:lpstr>
      <vt:lpstr>ポート数の２乗に比例して面積が大きくなる</vt:lpstr>
      <vt:lpstr>SRAM（1bit）のレイアウト</vt:lpstr>
      <vt:lpstr>Intel Pentium 4 の整数演算ユニット</vt:lpstr>
      <vt:lpstr>マルチポート・メモリと CPU の回路規模</vt:lpstr>
      <vt:lpstr>マルチポート・メモリと CPU の回路規模</vt:lpstr>
      <vt:lpstr>メモリ</vt:lpstr>
      <vt:lpstr>メモリを対象にしたアタック</vt:lpstr>
      <vt:lpstr>Row Hammer</vt:lpstr>
      <vt:lpstr>Row Hammer の応用：リバースエンジニアリング</vt:lpstr>
      <vt:lpstr>Cold Boot Attack</vt:lpstr>
      <vt:lpstr>Cold Boot Attack の応用例</vt:lpstr>
      <vt:lpstr>ロマサガ２の技のひらめき判定（イメージ） このゲームでは戦闘中に条件に応じて一定の確率で技をひらめく</vt:lpstr>
      <vt:lpstr>今日のまとめ</vt:lpstr>
      <vt:lpstr>出欠と感想</vt:lpstr>
      <vt:lpstr>出席</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lpstr>感想とか質問の回答</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13880</cp:revision>
  <cp:lastPrinted>2014-12-10T13:40:48Z</cp:lastPrinted>
  <dcterms:created xsi:type="dcterms:W3CDTF">2014-11-17T10:53:59Z</dcterms:created>
  <dcterms:modified xsi:type="dcterms:W3CDTF">2026-06-22T05:54:06Z</dcterms:modified>
</cp:coreProperties>
</file>