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1"/>
  </p:sldMasterIdLst>
  <p:notesMasterIdLst>
    <p:notesMasterId r:id="rId93"/>
  </p:notesMasterIdLst>
  <p:sldIdLst>
    <p:sldId id="440" r:id="rId2"/>
    <p:sldId id="631" r:id="rId3"/>
    <p:sldId id="609" r:id="rId4"/>
    <p:sldId id="456" r:id="rId5"/>
    <p:sldId id="457" r:id="rId6"/>
    <p:sldId id="496" r:id="rId7"/>
    <p:sldId id="611" r:id="rId8"/>
    <p:sldId id="484" r:id="rId9"/>
    <p:sldId id="483" r:id="rId10"/>
    <p:sldId id="487" r:id="rId11"/>
    <p:sldId id="486" r:id="rId12"/>
    <p:sldId id="488" r:id="rId13"/>
    <p:sldId id="489" r:id="rId14"/>
    <p:sldId id="491" r:id="rId15"/>
    <p:sldId id="492" r:id="rId16"/>
    <p:sldId id="493" r:id="rId17"/>
    <p:sldId id="495" r:id="rId18"/>
    <p:sldId id="612" r:id="rId19"/>
    <p:sldId id="610" r:id="rId20"/>
    <p:sldId id="498" r:id="rId21"/>
    <p:sldId id="497" r:id="rId22"/>
    <p:sldId id="601" r:id="rId23"/>
    <p:sldId id="502" r:id="rId24"/>
    <p:sldId id="602" r:id="rId25"/>
    <p:sldId id="511" r:id="rId26"/>
    <p:sldId id="604" r:id="rId27"/>
    <p:sldId id="494" r:id="rId28"/>
    <p:sldId id="606" r:id="rId29"/>
    <p:sldId id="607" r:id="rId30"/>
    <p:sldId id="608" r:id="rId31"/>
    <p:sldId id="613" r:id="rId32"/>
    <p:sldId id="501" r:id="rId33"/>
    <p:sldId id="537" r:id="rId34"/>
    <p:sldId id="530" r:id="rId35"/>
    <p:sldId id="543" r:id="rId36"/>
    <p:sldId id="534" r:id="rId37"/>
    <p:sldId id="535" r:id="rId38"/>
    <p:sldId id="536" r:id="rId39"/>
    <p:sldId id="542" r:id="rId40"/>
    <p:sldId id="540" r:id="rId41"/>
    <p:sldId id="541" r:id="rId42"/>
    <p:sldId id="539" r:id="rId43"/>
    <p:sldId id="544" r:id="rId44"/>
    <p:sldId id="538" r:id="rId45"/>
    <p:sldId id="651" r:id="rId46"/>
    <p:sldId id="552" r:id="rId47"/>
    <p:sldId id="533" r:id="rId48"/>
    <p:sldId id="545" r:id="rId49"/>
    <p:sldId id="551" r:id="rId50"/>
    <p:sldId id="549" r:id="rId51"/>
    <p:sldId id="548" r:id="rId52"/>
    <p:sldId id="550" r:id="rId53"/>
    <p:sldId id="553" r:id="rId54"/>
    <p:sldId id="546" r:id="rId55"/>
    <p:sldId id="547" r:id="rId56"/>
    <p:sldId id="615" r:id="rId57"/>
    <p:sldId id="554" r:id="rId58"/>
    <p:sldId id="565" r:id="rId59"/>
    <p:sldId id="555" r:id="rId60"/>
    <p:sldId id="556" r:id="rId61"/>
    <p:sldId id="557" r:id="rId62"/>
    <p:sldId id="558" r:id="rId63"/>
    <p:sldId id="559" r:id="rId64"/>
    <p:sldId id="560" r:id="rId65"/>
    <p:sldId id="561" r:id="rId66"/>
    <p:sldId id="564" r:id="rId67"/>
    <p:sldId id="563" r:id="rId68"/>
    <p:sldId id="562" r:id="rId69"/>
    <p:sldId id="587" r:id="rId70"/>
    <p:sldId id="598" r:id="rId71"/>
    <p:sldId id="524" r:id="rId72"/>
    <p:sldId id="614" r:id="rId73"/>
    <p:sldId id="632" r:id="rId74"/>
    <p:sldId id="634" r:id="rId75"/>
    <p:sldId id="635" r:id="rId76"/>
    <p:sldId id="637" r:id="rId77"/>
    <p:sldId id="638" r:id="rId78"/>
    <p:sldId id="633" r:id="rId79"/>
    <p:sldId id="636" r:id="rId80"/>
    <p:sldId id="639" r:id="rId81"/>
    <p:sldId id="640" r:id="rId82"/>
    <p:sldId id="641" r:id="rId83"/>
    <p:sldId id="642" r:id="rId84"/>
    <p:sldId id="643" r:id="rId85"/>
    <p:sldId id="644" r:id="rId86"/>
    <p:sldId id="645" r:id="rId87"/>
    <p:sldId id="646" r:id="rId88"/>
    <p:sldId id="647" r:id="rId89"/>
    <p:sldId id="648" r:id="rId90"/>
    <p:sldId id="649" r:id="rId91"/>
    <p:sldId id="650" r:id="rId9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00" autoAdjust="0"/>
    <p:restoredTop sz="96862" autoAdjust="0"/>
  </p:normalViewPr>
  <p:slideViewPr>
    <p:cSldViewPr>
      <p:cViewPr varScale="1">
        <p:scale>
          <a:sx n="161" d="100"/>
          <a:sy n="161" d="100"/>
        </p:scale>
        <p:origin x="360" y="8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2026/5/18</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a:t>
            </a:fld>
            <a:endParaRPr kumimoji="1" lang="ja-JP" altLang="en-US"/>
          </a:p>
        </p:txBody>
      </p:sp>
    </p:spTree>
    <p:extLst>
      <p:ext uri="{BB962C8B-B14F-4D97-AF65-F5344CB8AC3E}">
        <p14:creationId xmlns:p14="http://schemas.microsoft.com/office/powerpoint/2010/main" val="2643899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5</a:t>
            </a:fld>
            <a:endParaRPr kumimoji="1" lang="ja-JP" altLang="en-US"/>
          </a:p>
        </p:txBody>
      </p:sp>
    </p:spTree>
    <p:extLst>
      <p:ext uri="{BB962C8B-B14F-4D97-AF65-F5344CB8AC3E}">
        <p14:creationId xmlns:p14="http://schemas.microsoft.com/office/powerpoint/2010/main" val="1563097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713838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686561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79561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77469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815941" y="1088974"/>
            <a:ext cx="11040123" cy="5219751"/>
          </a:xfrm>
        </p:spPr>
        <p:txBody>
          <a:bodyPr/>
          <a:lstStyle>
            <a:lvl2pPr>
              <a:buClr>
                <a:schemeClr val="accent4"/>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634993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1404259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815941" y="1628981"/>
            <a:ext cx="9600107" cy="990011"/>
          </a:xfrm>
        </p:spPr>
        <p:txBody>
          <a:bodyPr anchor="b"/>
          <a:lstStyle>
            <a:lvl1pPr algn="l">
              <a:defRPr sz="3200" b="0"/>
            </a:lvl1pPr>
          </a:lstStyle>
          <a:p>
            <a:r>
              <a:rPr kumimoji="1" lang="ja-JP" altLang="en-US"/>
              <a:t>マスター タイトルの書式設定</a:t>
            </a:r>
            <a:endParaRPr kumimoji="1" lang="ja-JP" altLang="en-US" dirty="0"/>
          </a:p>
        </p:txBody>
      </p:sp>
      <p:cxnSp>
        <p:nvCxnSpPr>
          <p:cNvPr id="4" name="直線コネクタ 3"/>
          <p:cNvCxnSpPr/>
          <p:nvPr userDrawn="1"/>
        </p:nvCxnSpPr>
        <p:spPr bwMode="auto">
          <a:xfrm flipV="1">
            <a:off x="815941" y="2618992"/>
            <a:ext cx="8160091" cy="1"/>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175611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92161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dirty="0"/>
              <a:t>マスタ タイトルの書式設定</a:t>
            </a:r>
          </a:p>
        </p:txBody>
      </p:sp>
      <p:sp>
        <p:nvSpPr>
          <p:cNvPr id="8" name="Rectangle 20"/>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815942" y="1088974"/>
            <a:ext cx="10680119" cy="5219751"/>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890359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dirty="0"/>
              <a:t>マスタ タイトルの書式設定</a:t>
            </a:r>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2537799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815941" y="1628981"/>
            <a:ext cx="9600107" cy="990011"/>
          </a:xfrm>
        </p:spPr>
        <p:txBody>
          <a:bodyPr anchor="b"/>
          <a:lstStyle>
            <a:lvl1pPr algn="l">
              <a:defRPr sz="3200" b="0"/>
            </a:lvl1pPr>
          </a:lstStyle>
          <a:p>
            <a:r>
              <a:rPr kumimoji="1" lang="ja-JP" altLang="en-US" dirty="0"/>
              <a:t>マスター タイトルの書式設定</a:t>
            </a:r>
          </a:p>
        </p:txBody>
      </p:sp>
      <p:cxnSp>
        <p:nvCxnSpPr>
          <p:cNvPr id="5" name="直線コネクタ 4"/>
          <p:cNvCxnSpPr/>
          <p:nvPr userDrawn="1"/>
        </p:nvCxnSpPr>
        <p:spPr bwMode="auto">
          <a:xfrm flipV="1">
            <a:off x="815941" y="2618992"/>
            <a:ext cx="8160091" cy="1"/>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240672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タイトルとコンテンツ（青）">
    <p:spTree>
      <p:nvGrpSpPr>
        <p:cNvPr id="1" name=""/>
        <p:cNvGrpSpPr/>
        <p:nvPr/>
      </p:nvGrpSpPr>
      <p:grpSpPr>
        <a:xfrm>
          <a:off x="0" y="0"/>
          <a:ext cx="0" cy="0"/>
          <a:chOff x="0" y="0"/>
          <a:chExt cx="0" cy="0"/>
        </a:xfrm>
      </p:grpSpPr>
      <p:sp>
        <p:nvSpPr>
          <p:cNvPr id="5" name="正方形/長方形 4"/>
          <p:cNvSpPr/>
          <p:nvPr userDrawn="1"/>
        </p:nvSpPr>
        <p:spPr bwMode="auto">
          <a:xfrm>
            <a:off x="0" y="0"/>
            <a:ext cx="12192000" cy="1268976"/>
          </a:xfrm>
          <a:prstGeom prst="rect">
            <a:avLst/>
          </a:prstGeom>
          <a:solidFill>
            <a:schemeClr val="accent5">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スライド番号プレースホルダ 3"/>
          <p:cNvSpPr>
            <a:spLocks noGrp="1"/>
          </p:cNvSpPr>
          <p:nvPr>
            <p:ph type="sldNum" sz="quarter" idx="10"/>
          </p:nvPr>
        </p:nvSpPr>
        <p:spPr/>
        <p:txBody>
          <a:bodyPr/>
          <a:lstStyle>
            <a:lvl1pPr>
              <a:defRPr>
                <a:solidFill>
                  <a:srgbClr val="5E6363"/>
                </a:solidFill>
                <a:latin typeface="+mn-ea"/>
                <a:ea typeface="+mn-ea"/>
              </a:defRPr>
            </a:lvl1pPr>
          </a:lstStyle>
          <a:p>
            <a:fld id="{D2D8002D-B5B0-4BAC-B1F6-782DDCCE6D9C}" type="slidenum">
              <a:rPr kumimoji="1" lang="ja-JP" altLang="en-US" smtClean="0"/>
              <a:pPr/>
              <a:t>‹#›</a:t>
            </a:fld>
            <a:endParaRPr kumimoji="1" lang="ja-JP" altLang="en-US"/>
          </a:p>
        </p:txBody>
      </p:sp>
      <p:sp>
        <p:nvSpPr>
          <p:cNvPr id="7" name="タイトル 6"/>
          <p:cNvSpPr>
            <a:spLocks noGrp="1"/>
          </p:cNvSpPr>
          <p:nvPr>
            <p:ph type="title"/>
          </p:nvPr>
        </p:nvSpPr>
        <p:spPr>
          <a:xfrm>
            <a:off x="815942" y="188964"/>
            <a:ext cx="10561173" cy="936104"/>
          </a:xfrm>
        </p:spPr>
        <p:txBody>
          <a:bodyPr>
            <a:normAutofit/>
          </a:bodyPr>
          <a:lstStyle>
            <a:lvl1pPr>
              <a:defRPr sz="3600" b="1">
                <a:solidFill>
                  <a:schemeClr val="bg1"/>
                </a:solidFill>
              </a:defRPr>
            </a:lvl1pPr>
          </a:lstStyle>
          <a:p>
            <a:r>
              <a:rPr kumimoji="1" lang="ja-JP" altLang="en-US"/>
              <a:t>マスター タイトルの書式設定</a:t>
            </a:r>
          </a:p>
        </p:txBody>
      </p:sp>
      <p:sp>
        <p:nvSpPr>
          <p:cNvPr id="9" name="コンテンツ プレースホルダー 8"/>
          <p:cNvSpPr>
            <a:spLocks noGrp="1"/>
          </p:cNvSpPr>
          <p:nvPr>
            <p:ph sz="quarter" idx="11"/>
          </p:nvPr>
        </p:nvSpPr>
        <p:spPr>
          <a:xfrm>
            <a:off x="814918" y="1628776"/>
            <a:ext cx="10562167" cy="4968875"/>
          </a:xfrm>
        </p:spPr>
        <p:txBody>
          <a:bodyPr/>
          <a:lstStyle>
            <a:lvl1pPr>
              <a:buClr>
                <a:schemeClr val="accent5"/>
              </a:buClr>
              <a:defRPr>
                <a:solidFill>
                  <a:srgbClr val="5E6363"/>
                </a:solidFill>
              </a:defRPr>
            </a:lvl1pPr>
            <a:lvl2pPr>
              <a:defRPr>
                <a:solidFill>
                  <a:srgbClr val="5E6363"/>
                </a:solidFill>
              </a:defRPr>
            </a:lvl2pPr>
            <a:lvl3pPr>
              <a:defRPr>
                <a:solidFill>
                  <a:srgbClr val="5E6363"/>
                </a:solidFill>
              </a:defRPr>
            </a:lvl3pPr>
            <a:lvl4pPr>
              <a:defRPr>
                <a:solidFill>
                  <a:srgbClr val="5E6363"/>
                </a:solidFill>
              </a:defRPr>
            </a:lvl4pPr>
            <a:lvl5pPr>
              <a:defRPr>
                <a:solidFill>
                  <a:srgbClr val="5E6363"/>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二等辺三角形 5"/>
          <p:cNvSpPr/>
          <p:nvPr userDrawn="1"/>
        </p:nvSpPr>
        <p:spPr bwMode="auto">
          <a:xfrm rot="10800000">
            <a:off x="5735994" y="1268976"/>
            <a:ext cx="720009" cy="288032"/>
          </a:xfrm>
          <a:prstGeom prst="triangle">
            <a:avLst/>
          </a:prstGeom>
          <a:solidFill>
            <a:schemeClr val="accent5">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800102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左">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8976384" y="2"/>
            <a:ext cx="3215616" cy="278579"/>
          </a:xfrm>
          <a:prstGeom prst="rect">
            <a:avLst/>
          </a:prstGeom>
        </p:spPr>
        <p:txBody>
          <a:bodyPr/>
          <a:lstStyle/>
          <a:p>
            <a:r>
              <a:rPr lang="ja-JP" altLang="en-US"/>
              <a:t>アドバンスト コンピュータ・アーキテクチャ</a:t>
            </a:r>
            <a:endParaRPr lang="ja-JP" altLang="ja-JP"/>
          </a:p>
        </p:txBody>
      </p:sp>
      <p:sp>
        <p:nvSpPr>
          <p:cNvPr id="8" name="コンテンツ プレースホルダー 7"/>
          <p:cNvSpPr>
            <a:spLocks noGrp="1"/>
          </p:cNvSpPr>
          <p:nvPr>
            <p:ph sz="quarter" idx="13"/>
          </p:nvPr>
        </p:nvSpPr>
        <p:spPr>
          <a:xfrm>
            <a:off x="335233" y="1268712"/>
            <a:ext cx="5760768" cy="549116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スライド番号プレースホルダー 2"/>
          <p:cNvSpPr>
            <a:spLocks noGrp="1"/>
          </p:cNvSpPr>
          <p:nvPr>
            <p:ph type="sldNum" sz="quarter" idx="4"/>
          </p:nvPr>
        </p:nvSpPr>
        <p:spPr>
          <a:xfrm>
            <a:off x="11616736" y="6399396"/>
            <a:ext cx="480064" cy="360048"/>
          </a:xfrm>
          <a:prstGeom prst="rect">
            <a:avLst/>
          </a:prstGeom>
        </p:spPr>
        <p:txBody>
          <a:bodyPr vert="horz" wrap="none" lIns="91440" tIns="45720" rIns="91440" bIns="45720" rtlCol="0" anchor="b" anchorCtr="0"/>
          <a:lstStyle>
            <a:lvl1pPr algn="r">
              <a:defRPr sz="1400" baseline="0">
                <a:solidFill>
                  <a:schemeClr val="tx1">
                    <a:lumMod val="65000"/>
                    <a:lumOff val="35000"/>
                  </a:schemeClr>
                </a:solidFill>
                <a:latin typeface="+mn-lt"/>
                <a:ea typeface="+mn-ea"/>
              </a:defRPr>
            </a:lvl1pPr>
          </a:lstStyle>
          <a:p>
            <a:fld id="{AB25FED9-6C1E-4BAE-9892-C02CADA97A8C}" type="slidenum">
              <a:rPr lang="ja-JP" altLang="en-US" smtClean="0"/>
              <a:pPr/>
              <a:t>‹#›</a:t>
            </a:fld>
            <a:endParaRPr lang="ja-JP" altLang="en-US"/>
          </a:p>
        </p:txBody>
      </p:sp>
    </p:spTree>
    <p:extLst>
      <p:ext uri="{BB962C8B-B14F-4D97-AF65-F5344CB8AC3E}">
        <p14:creationId xmlns:p14="http://schemas.microsoft.com/office/powerpoint/2010/main" val="3008992973"/>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815941" y="1088975"/>
            <a:ext cx="11040123"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35615592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62" r:id="rId6"/>
    <p:sldLayoutId id="2147483667" r:id="rId7"/>
    <p:sldLayoutId id="2147483668" r:id="rId8"/>
    <p:sldLayoutId id="2147483676" r:id="rId9"/>
    <p:sldLayoutId id="2147483677" r:id="rId10"/>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rsd-devel/rs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uops.info/table.html"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1988985"/>
            <a:ext cx="8460094" cy="630007"/>
          </a:xfrm>
        </p:spPr>
        <p:txBody>
          <a:bodyPr/>
          <a:lstStyle/>
          <a:p>
            <a:r>
              <a:rPr lang="ja-JP" altLang="en-US" sz="2800" dirty="0"/>
              <a:t>先進計算機構成論 </a:t>
            </a:r>
            <a:r>
              <a:rPr lang="en-US" altLang="ja-JP" sz="2800" dirty="0"/>
              <a:t>04</a:t>
            </a:r>
            <a:endParaRPr lang="ja-JP" altLang="en-US" sz="28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nSpc>
                <a:spcPct val="100000"/>
              </a:lnSpc>
            </a:pPr>
            <a:r>
              <a:rPr lang="ja-JP" altLang="en-US" kern="0" dirty="0"/>
              <a:t>東京大学大学院 情報理工学系研究科 創造情報学専攻</a:t>
            </a:r>
            <a:endParaRPr lang="en-US" altLang="ja-JP" kern="0" dirty="0"/>
          </a:p>
          <a:p>
            <a:pPr>
              <a:lnSpc>
                <a:spcPct val="100000"/>
              </a:lnSpc>
            </a:pPr>
            <a:r>
              <a:rPr lang="ja-JP" altLang="en-US" kern="0" dirty="0"/>
              <a:t>塩谷 亮太 </a:t>
            </a:r>
            <a:endParaRPr lang="en-US" altLang="ja-JP" kern="0" dirty="0"/>
          </a:p>
          <a:p>
            <a:pP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078985"/>
            <a:ext cx="7920088" cy="540006"/>
          </a:xfrm>
        </p:spPr>
        <p:txBody>
          <a:bodyPr/>
          <a:lstStyle/>
          <a:p>
            <a:r>
              <a:rPr kumimoji="1" lang="ja-JP" altLang="en-US" b="1" dirty="0"/>
              <a:t>命令パイプライン</a:t>
            </a:r>
            <a:endParaRPr lang="ja-JP" altLang="en-US" b="1" dirty="0"/>
          </a:p>
        </p:txBody>
      </p:sp>
    </p:spTree>
    <p:extLst>
      <p:ext uri="{BB962C8B-B14F-4D97-AF65-F5344CB8AC3E}">
        <p14:creationId xmlns:p14="http://schemas.microsoft.com/office/powerpoint/2010/main" val="1469584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今日の内容：命令パイプライン</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ハザード</a:t>
            </a:r>
            <a:endParaRPr kumimoji="1" lang="ja-JP" altLang="en-US" dirty="0"/>
          </a:p>
        </p:txBody>
      </p:sp>
    </p:spTree>
    <p:extLst>
      <p:ext uri="{BB962C8B-B14F-4D97-AF65-F5344CB8AC3E}">
        <p14:creationId xmlns:p14="http://schemas.microsoft.com/office/powerpoint/2010/main" val="4030959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p>
        </p:txBody>
      </p:sp>
      <p:sp>
        <p:nvSpPr>
          <p:cNvPr id="4" name="テキスト プレースホルダー 3"/>
          <p:cNvSpPr>
            <a:spLocks noGrp="1"/>
          </p:cNvSpPr>
          <p:nvPr>
            <p:ph type="body" sz="quarter" idx="10"/>
          </p:nvPr>
        </p:nvSpPr>
        <p:spPr>
          <a:xfrm>
            <a:off x="2135956" y="4239009"/>
            <a:ext cx="8280092" cy="2069716"/>
          </a:xfrm>
        </p:spPr>
        <p:txBody>
          <a:bodyPr/>
          <a:lstStyle/>
          <a:p>
            <a:r>
              <a:rPr kumimoji="1" lang="ja-JP" altLang="en-US" dirty="0"/>
              <a:t>ベルトコンベアのラインの上を製品が流れていく</a:t>
            </a:r>
            <a:endParaRPr kumimoji="1" lang="en-US" altLang="ja-JP" dirty="0"/>
          </a:p>
          <a:p>
            <a:pPr lvl="1"/>
            <a:r>
              <a:rPr kumimoji="1" lang="ja-JP" altLang="en-US" dirty="0"/>
              <a:t>４人の人が，それぞれの工程の作業をおこなって完成</a:t>
            </a:r>
            <a:endParaRPr kumimoji="1" lang="en-US" altLang="ja-JP" dirty="0"/>
          </a:p>
          <a:p>
            <a:r>
              <a:rPr lang="ja-JP" altLang="en-US" dirty="0"/>
              <a:t>上のように</a:t>
            </a:r>
            <a:r>
              <a:rPr lang="en-US" altLang="ja-JP" dirty="0"/>
              <a:t>1</a:t>
            </a:r>
            <a:r>
              <a:rPr lang="ja-JP" altLang="en-US" dirty="0" err="1"/>
              <a:t>つしか</a:t>
            </a:r>
            <a:r>
              <a:rPr lang="ja-JP" altLang="en-US" dirty="0"/>
              <a:t>製品をながさないと，</a:t>
            </a:r>
            <a:endParaRPr lang="en-US" altLang="ja-JP" dirty="0"/>
          </a:p>
          <a:p>
            <a:pPr lvl="1"/>
            <a:r>
              <a:rPr lang="ja-JP" altLang="en-US" dirty="0"/>
              <a:t>各人は他の人が作業している間はヒマ</a:t>
            </a:r>
            <a:endParaRPr kumimoji="1" lang="ja-JP" altLang="en-US"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1" name="グループ化 40"/>
          <p:cNvGrpSpPr/>
          <p:nvPr/>
        </p:nvGrpSpPr>
        <p:grpSpPr>
          <a:xfrm>
            <a:off x="2135957"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96" name="正方形/長方形 95"/>
          <p:cNvSpPr/>
          <p:nvPr/>
        </p:nvSpPr>
        <p:spPr bwMode="auto">
          <a:xfrm>
            <a:off x="1775952" y="2438990"/>
            <a:ext cx="1152128"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207069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38778E-17 1.85185E-6 L 0.15764 1.85185E-6 " pathEditMode="relative" rAng="0" ptsTypes="AA">
                                      <p:cBhvr>
                                        <p:cTn id="6" dur="1000" fill="hold"/>
                                        <p:tgtEl>
                                          <p:spTgt spid="41"/>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41"/>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41"/>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41"/>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endParaRPr kumimoji="1" lang="ja-JP" altLang="en-US" dirty="0"/>
          </a:p>
        </p:txBody>
      </p:sp>
      <p:sp>
        <p:nvSpPr>
          <p:cNvPr id="58" name="コンテンツ プレースホルダー 57"/>
          <p:cNvSpPr>
            <a:spLocks noGrp="1"/>
          </p:cNvSpPr>
          <p:nvPr>
            <p:ph idx="4294967295"/>
          </p:nvPr>
        </p:nvSpPr>
        <p:spPr>
          <a:xfrm>
            <a:off x="2045955" y="4869017"/>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pPr lvl="1"/>
            <a:r>
              <a:rPr lang="ja-JP" altLang="en-US" dirty="0"/>
              <a:t>さっきの</a:t>
            </a:r>
            <a:r>
              <a:rPr lang="en-US" altLang="ja-JP" dirty="0"/>
              <a:t>4</a:t>
            </a:r>
            <a:r>
              <a:rPr lang="ja-JP" altLang="en-US" dirty="0"/>
              <a:t>倍の速度で製品ができあがっていく</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tx1">
                  <a:lumMod val="85000"/>
                  <a:lumOff val="15000"/>
                </a:schemeClr>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624108" y="2978996"/>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1505517"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359215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5.55556E-7 1.85185E-6 L 0.15764 1.85185E-6 " pathEditMode="relative" rAng="0" ptsTypes="AA">
                                      <p:cBhvr>
                                        <p:cTn id="6" dur="1000" fill="hold"/>
                                        <p:tgtEl>
                                          <p:spTgt spid="6"/>
                                        </p:tgtEl>
                                        <p:attrNameLst>
                                          <p:attrName>ppt_x</p:attrName>
                                          <p:attrName>ppt_y</p:attrName>
                                        </p:attrNameLst>
                                      </p:cBhvr>
                                      <p:rCtr x="7882"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5764 1.85185E-6 L 0.3151 1.85185E-6 " pathEditMode="relative" rAng="0" ptsTypes="AA">
                                      <p:cBhvr>
                                        <p:cTn id="10" dur="1000" fill="hold"/>
                                        <p:tgtEl>
                                          <p:spTgt spid="6"/>
                                        </p:tgtEl>
                                        <p:attrNameLst>
                                          <p:attrName>ppt_x</p:attrName>
                                          <p:attrName>ppt_y</p:attrName>
                                        </p:attrNameLst>
                                      </p:cBhvr>
                                      <p:rCtr x="7865"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3151 1.85185E-6 L 0.4724 1.85185E-6 " pathEditMode="relative" rAng="0" ptsTypes="AA">
                                      <p:cBhvr>
                                        <p:cTn id="14" dur="1000" fill="hold"/>
                                        <p:tgtEl>
                                          <p:spTgt spid="6"/>
                                        </p:tgtEl>
                                        <p:attrNameLst>
                                          <p:attrName>ppt_x</p:attrName>
                                          <p:attrName>ppt_y</p:attrName>
                                        </p:attrNameLst>
                                      </p:cBhvr>
                                      <p:rCtr x="7865"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724 1.85185E-6 L 0.62986 1.85185E-6 " pathEditMode="relative" rAng="0" ptsTypes="AA">
                                      <p:cBhvr>
                                        <p:cTn id="18" dur="1000" fill="hold"/>
                                        <p:tgtEl>
                                          <p:spTgt spid="6"/>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線コネクタ 92"/>
          <p:cNvCxnSpPr/>
          <p:nvPr/>
        </p:nvCxnSpPr>
        <p:spPr bwMode="auto">
          <a:xfrm flipH="1">
            <a:off x="8436028" y="3338999"/>
            <a:ext cx="360003" cy="0"/>
          </a:xfrm>
          <a:prstGeom prst="line">
            <a:avLst/>
          </a:prstGeom>
          <a:noFill/>
          <a:ln w="9525" cap="flat" cmpd="sng" algn="ctr">
            <a:solidFill>
              <a:schemeClr val="tx1"/>
            </a:solidFill>
            <a:prstDash val="dash"/>
            <a:round/>
            <a:headEnd type="none" w="med" len="med"/>
            <a:tailEnd type="none" w="med" len="med"/>
          </a:ln>
          <a:effectLst/>
        </p:spPr>
      </p:cxnSp>
      <p:cxnSp>
        <p:nvCxnSpPr>
          <p:cNvPr id="89" name="直線コネクタ 88"/>
          <p:cNvCxnSpPr/>
          <p:nvPr/>
        </p:nvCxnSpPr>
        <p:spPr bwMode="auto">
          <a:xfrm>
            <a:off x="6456005" y="2618991"/>
            <a:ext cx="450005" cy="0"/>
          </a:xfrm>
          <a:prstGeom prst="line">
            <a:avLst/>
          </a:prstGeom>
          <a:noFill/>
          <a:ln w="9525" cap="flat" cmpd="sng" algn="ctr">
            <a:solidFill>
              <a:schemeClr val="tx1"/>
            </a:solidFill>
            <a:prstDash val="dash"/>
            <a:round/>
            <a:headEnd type="none" w="med" len="med"/>
            <a:tailEnd type="none" w="med" len="med"/>
          </a:ln>
          <a:effectLst/>
        </p:spPr>
      </p:cxnSp>
      <p:cxnSp>
        <p:nvCxnSpPr>
          <p:cNvPr id="86" name="直線コネクタ 85"/>
          <p:cNvCxnSpPr/>
          <p:nvPr/>
        </p:nvCxnSpPr>
        <p:spPr bwMode="auto">
          <a:xfrm>
            <a:off x="4655985" y="1988984"/>
            <a:ext cx="450005"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パイプライン化による性能向上</a:t>
            </a:r>
            <a:endParaRPr kumimoji="1" lang="ja-JP" altLang="en-US" dirty="0"/>
          </a:p>
        </p:txBody>
      </p:sp>
      <p:grpSp>
        <p:nvGrpSpPr>
          <p:cNvPr id="5" name="グループ化 4"/>
          <p:cNvGrpSpPr/>
          <p:nvPr/>
        </p:nvGrpSpPr>
        <p:grpSpPr>
          <a:xfrm>
            <a:off x="2729869" y="1845004"/>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2225957" y="1628980"/>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98" name="直線コネクタ 97"/>
          <p:cNvCxnSpPr/>
          <p:nvPr/>
        </p:nvCxnSpPr>
        <p:spPr bwMode="auto">
          <a:xfrm>
            <a:off x="5555994" y="5859027"/>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99" name="直線コネクタ 98"/>
          <p:cNvCxnSpPr/>
          <p:nvPr/>
        </p:nvCxnSpPr>
        <p:spPr bwMode="auto">
          <a:xfrm flipV="1">
            <a:off x="4835986" y="4599013"/>
            <a:ext cx="360004" cy="4708"/>
          </a:xfrm>
          <a:prstGeom prst="line">
            <a:avLst/>
          </a:prstGeom>
          <a:noFill/>
          <a:ln w="9525" cap="flat" cmpd="sng" algn="ctr">
            <a:solidFill>
              <a:schemeClr val="tx1"/>
            </a:solidFill>
            <a:prstDash val="dash"/>
            <a:round/>
            <a:headEnd type="none" w="med" len="med"/>
            <a:tailEnd type="none" w="med" len="med"/>
          </a:ln>
          <a:effectLst/>
        </p:spPr>
      </p:cxnSp>
      <p:cxnSp>
        <p:nvCxnSpPr>
          <p:cNvPr id="100" name="直線コネクタ 99"/>
          <p:cNvCxnSpPr/>
          <p:nvPr/>
        </p:nvCxnSpPr>
        <p:spPr bwMode="auto">
          <a:xfrm>
            <a:off x="5195990" y="5229020"/>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143" name="直線矢印コネクタ 142"/>
          <p:cNvCxnSpPr/>
          <p:nvPr/>
        </p:nvCxnSpPr>
        <p:spPr bwMode="auto">
          <a:xfrm>
            <a:off x="2153949" y="4221268"/>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45956"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2766252"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3126256"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486260"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212" name="角丸四角形 211"/>
          <p:cNvSpPr/>
          <p:nvPr/>
        </p:nvSpPr>
        <p:spPr bwMode="auto">
          <a:xfrm>
            <a:off x="5105989"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3" name="角丸四角形 212"/>
          <p:cNvSpPr/>
          <p:nvPr/>
        </p:nvSpPr>
        <p:spPr bwMode="auto">
          <a:xfrm>
            <a:off x="6906009"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4" name="角丸四角形 213"/>
          <p:cNvSpPr/>
          <p:nvPr/>
        </p:nvSpPr>
        <p:spPr bwMode="auto">
          <a:xfrm>
            <a:off x="8796030" y="315899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6" name="角丸四角形 215"/>
          <p:cNvSpPr/>
          <p:nvPr/>
        </p:nvSpPr>
        <p:spPr bwMode="auto">
          <a:xfrm>
            <a:off x="5195990" y="4419011"/>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7" name="角丸四角形 216"/>
          <p:cNvSpPr/>
          <p:nvPr/>
        </p:nvSpPr>
        <p:spPr bwMode="auto">
          <a:xfrm>
            <a:off x="5555994"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8" name="角丸四角形 217"/>
          <p:cNvSpPr/>
          <p:nvPr/>
        </p:nvSpPr>
        <p:spPr bwMode="auto">
          <a:xfrm>
            <a:off x="5915998" y="567902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97" name="グループ化 96"/>
          <p:cNvGrpSpPr/>
          <p:nvPr/>
        </p:nvGrpSpPr>
        <p:grpSpPr>
          <a:xfrm>
            <a:off x="4529889" y="2456946"/>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6419910" y="3176954"/>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6" name="正方形/長方形 105"/>
          <p:cNvSpPr/>
          <p:nvPr/>
        </p:nvSpPr>
        <p:spPr>
          <a:xfrm>
            <a:off x="7626018" y="243898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82093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078985"/>
            <a:ext cx="7920088" cy="540006"/>
          </a:xfrm>
        </p:spPr>
        <p:txBody>
          <a:bodyPr/>
          <a:lstStyle/>
          <a:p>
            <a:r>
              <a:rPr kumimoji="1" lang="ja-JP" altLang="en-US" b="1" dirty="0"/>
              <a:t>シングル・サイクル・プロセッサの動作</a:t>
            </a:r>
            <a:endParaRPr lang="ja-JP" altLang="en-US" dirty="0"/>
          </a:p>
        </p:txBody>
      </p:sp>
    </p:spTree>
    <p:extLst>
      <p:ext uri="{BB962C8B-B14F-4D97-AF65-F5344CB8AC3E}">
        <p14:creationId xmlns:p14="http://schemas.microsoft.com/office/powerpoint/2010/main" val="334710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b="1" dirty="0"/>
              <a:t>シングル・サイクル・プロセッサの動作</a:t>
            </a:r>
            <a:endParaRPr kumimoji="1" lang="en-US" altLang="ja-JP" b="1"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ハザード</a:t>
            </a:r>
            <a:endParaRPr kumimoji="1" lang="ja-JP" altLang="en-US" dirty="0"/>
          </a:p>
        </p:txBody>
      </p:sp>
    </p:spTree>
    <p:extLst>
      <p:ext uri="{BB962C8B-B14F-4D97-AF65-F5344CB8AC3E}">
        <p14:creationId xmlns:p14="http://schemas.microsoft.com/office/powerpoint/2010/main" val="233841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ベースとなるシングル・サイクル・プロセッサ</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kumimoji="1" lang="ja-JP" altLang="en-US" dirty="0"/>
              <a:t>以前説明したものとの違い：</a:t>
            </a:r>
            <a:endParaRPr kumimoji="1" lang="en-US" altLang="ja-JP" dirty="0"/>
          </a:p>
          <a:p>
            <a:pPr lvl="1"/>
            <a:r>
              <a:rPr kumimoji="1" lang="ja-JP" altLang="en-US" dirty="0"/>
              <a:t>メモリが命令メモリとデータメモリに別れている</a:t>
            </a:r>
          </a:p>
          <a:p>
            <a:pPr lvl="1"/>
            <a:r>
              <a:rPr kumimoji="1" lang="ja-JP" altLang="en-US" dirty="0"/>
              <a:t>算術 </a:t>
            </a:r>
            <a:r>
              <a:rPr kumimoji="1" lang="en-US" altLang="ja-JP" dirty="0"/>
              <a:t>&amp; </a:t>
            </a:r>
            <a:r>
              <a:rPr kumimoji="1" lang="ja-JP" altLang="en-US" dirty="0"/>
              <a:t>論理演算，ロード，ストアのみを実行可能</a:t>
            </a:r>
            <a:endParaRPr kumimoji="1" lang="en-US" altLang="ja-JP" dirty="0"/>
          </a:p>
          <a:p>
            <a:pPr lvl="2"/>
            <a:r>
              <a:rPr kumimoji="1" lang="ja-JP" altLang="en-US" dirty="0"/>
              <a:t>分岐とジャンプは，簡単のために今は考えない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81331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955954" y="0"/>
            <a:ext cx="8712046" cy="908972"/>
          </a:xfrm>
        </p:spPr>
        <p:txBody>
          <a:bodyPr/>
          <a:lstStyle/>
          <a:p>
            <a:r>
              <a:rPr lang="ja-JP" altLang="en-US" dirty="0"/>
              <a:t>命令の実行フェーズ</a:t>
            </a:r>
          </a:p>
        </p:txBody>
      </p:sp>
      <p:sp>
        <p:nvSpPr>
          <p:cNvPr id="3" name="コンテンツ プレースホルダー 2"/>
          <p:cNvSpPr>
            <a:spLocks noGrp="1"/>
          </p:cNvSpPr>
          <p:nvPr>
            <p:ph type="body" sz="quarter" idx="10"/>
          </p:nvPr>
        </p:nvSpPr>
        <p:spPr>
          <a:xfrm>
            <a:off x="2135956" y="1088975"/>
            <a:ext cx="8280092" cy="5220057"/>
          </a:xfrm>
        </p:spPr>
        <p:txBody>
          <a:bodyPr/>
          <a:lstStyle/>
          <a:p>
            <a:r>
              <a:rPr lang="ja-JP" altLang="en-US" dirty="0"/>
              <a:t>実行フェーズ</a:t>
            </a:r>
            <a:endParaRPr lang="en-US" altLang="ja-JP" dirty="0"/>
          </a:p>
          <a:p>
            <a:pPr marL="817200" lvl="1" indent="-457200">
              <a:buFont typeface="+mj-lt"/>
              <a:buAutoNum type="arabicPeriod"/>
            </a:pPr>
            <a:r>
              <a:rPr lang="ja-JP" altLang="en-US" dirty="0"/>
              <a:t>フェッチ</a:t>
            </a:r>
            <a:endParaRPr lang="en-US" altLang="ja-JP" dirty="0"/>
          </a:p>
          <a:p>
            <a:pPr marL="817200" lvl="1" indent="-457200">
              <a:buFont typeface="+mj-lt"/>
              <a:buAutoNum type="arabicPeriod"/>
            </a:pPr>
            <a:r>
              <a:rPr lang="ja-JP" altLang="en-US" dirty="0"/>
              <a:t>デコード</a:t>
            </a:r>
            <a:endParaRPr lang="en-US" altLang="ja-JP" dirty="0"/>
          </a:p>
          <a:p>
            <a:pPr marL="817200" lvl="1" indent="-457200">
              <a:buFont typeface="+mj-lt"/>
              <a:buAutoNum type="arabicPeriod"/>
            </a:pPr>
            <a:r>
              <a:rPr lang="ja-JP" altLang="en-US" dirty="0"/>
              <a:t>レジスタ読み出し</a:t>
            </a:r>
            <a:endParaRPr lang="en-US" altLang="ja-JP" dirty="0"/>
          </a:p>
          <a:p>
            <a:pPr marL="817200" lvl="1" indent="-457200">
              <a:buFont typeface="+mj-lt"/>
              <a:buAutoNum type="arabicPeriod"/>
            </a:pPr>
            <a:r>
              <a:rPr lang="ja-JP" altLang="en-US" dirty="0"/>
              <a:t>実行</a:t>
            </a:r>
            <a:endParaRPr lang="en-US" altLang="ja-JP" dirty="0"/>
          </a:p>
          <a:p>
            <a:pPr marL="817200" lvl="1" indent="-457200">
              <a:buFont typeface="+mj-lt"/>
              <a:buAutoNum type="arabicPeriod"/>
            </a:pPr>
            <a:r>
              <a:rPr lang="ja-JP" altLang="en-US" dirty="0"/>
              <a:t>レジスタ書き戻し</a:t>
            </a:r>
            <a:endParaRPr lang="en-US" altLang="ja-JP" dirty="0"/>
          </a:p>
          <a:p>
            <a:r>
              <a:rPr lang="en-US" altLang="ja-JP" dirty="0"/>
              <a:t>RISC-V </a:t>
            </a:r>
            <a:r>
              <a:rPr lang="ja-JP" altLang="en-US" dirty="0"/>
              <a:t>の加算命令を実行する流れをざっとみる</a:t>
            </a:r>
            <a:endParaRPr lang="en-US" altLang="ja-JP" dirty="0"/>
          </a:p>
        </p:txBody>
      </p:sp>
    </p:spTree>
    <p:extLst>
      <p:ext uri="{BB962C8B-B14F-4D97-AF65-F5344CB8AC3E}">
        <p14:creationId xmlns:p14="http://schemas.microsoft.com/office/powerpoint/2010/main" val="204473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命令フェッチ</a:t>
            </a:r>
            <a:endParaRPr kumimoji="1" lang="ja-JP" altLang="en-US" dirty="0"/>
          </a:p>
        </p:txBody>
      </p:sp>
      <p:sp>
        <p:nvSpPr>
          <p:cNvPr id="3" name="テキスト プレースホルダー 2"/>
          <p:cNvSpPr>
            <a:spLocks noGrp="1"/>
          </p:cNvSpPr>
          <p:nvPr>
            <p:ph type="body" sz="quarter" idx="10"/>
          </p:nvPr>
        </p:nvSpPr>
        <p:spPr>
          <a:xfrm>
            <a:off x="1775952" y="4599013"/>
            <a:ext cx="8280092" cy="2023864"/>
          </a:xfrm>
        </p:spPr>
        <p:txBody>
          <a:bodyPr anchor="t"/>
          <a:lstStyle/>
          <a:p>
            <a:r>
              <a:rPr lang="ja-JP" altLang="en-US" dirty="0"/>
              <a:t>命令メモリから命令を読み出す</a:t>
            </a:r>
            <a:endParaRPr lang="en-US" altLang="ja-JP" dirty="0"/>
          </a:p>
          <a:p>
            <a:pPr lvl="1"/>
            <a:r>
              <a:rPr lang="ja-JP" altLang="en-US" dirty="0"/>
              <a:t>命令メモリを順に読んでいくため，</a:t>
            </a:r>
            <a:r>
              <a:rPr lang="en-US" altLang="ja-JP" dirty="0"/>
              <a:t>PC </a:t>
            </a:r>
            <a:r>
              <a:rPr lang="ja-JP" altLang="en-US" dirty="0"/>
              <a:t>は毎サイクル加算される</a:t>
            </a:r>
            <a:endParaRPr lang="en-US" altLang="ja-JP" dirty="0"/>
          </a:p>
          <a:p>
            <a:pPr lvl="1"/>
            <a:r>
              <a:rPr lang="ja-JP" altLang="en-US" dirty="0"/>
              <a:t>足している４は，</a:t>
            </a:r>
            <a:r>
              <a:rPr lang="en-US" altLang="ja-JP" dirty="0"/>
              <a:t>RSIC-V </a:t>
            </a:r>
            <a:r>
              <a:rPr lang="ja-JP" altLang="en-US" dirty="0"/>
              <a:t>では命令の幅が４バイトだから</a:t>
            </a:r>
            <a:endParaRPr lang="en-US" altLang="ja-JP" dirty="0"/>
          </a:p>
          <a:p>
            <a:pPr lvl="1"/>
            <a:r>
              <a:rPr lang="ja-JP" altLang="en-US" dirty="0"/>
              <a:t>基本的に，この部分はどの命令でも変わらない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accent6"/>
            </a:solidFill>
            <a:prstDash val="solid"/>
            <a:round/>
            <a:headEnd type="none" w="med" len="med"/>
            <a:tailEnd type="triangle"/>
          </a:ln>
          <a:effectLst/>
        </p:spPr>
      </p:cxnSp>
      <p:sp>
        <p:nvSpPr>
          <p:cNvPr id="51" name="正方形/長方形 50"/>
          <p:cNvSpPr/>
          <p:nvPr/>
        </p:nvSpPr>
        <p:spPr bwMode="auto">
          <a:xfrm>
            <a:off x="4295981"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命令データ</a:t>
            </a:r>
          </a:p>
        </p:txBody>
      </p:sp>
      <p:sp>
        <p:nvSpPr>
          <p:cNvPr id="52" name="正方形/長方形 51"/>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99132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命令デコード</a:t>
            </a:r>
            <a:endParaRPr kumimoji="1" lang="ja-JP" altLang="en-US" dirty="0"/>
          </a:p>
        </p:txBody>
      </p:sp>
      <p:sp>
        <p:nvSpPr>
          <p:cNvPr id="3" name="テキスト プレースホルダー 2"/>
          <p:cNvSpPr>
            <a:spLocks noGrp="1"/>
          </p:cNvSpPr>
          <p:nvPr>
            <p:ph type="body" sz="quarter" idx="10"/>
          </p:nvPr>
        </p:nvSpPr>
        <p:spPr>
          <a:xfrm>
            <a:off x="2135956" y="5319022"/>
            <a:ext cx="8280092" cy="1350014"/>
          </a:xfrm>
        </p:spPr>
        <p:txBody>
          <a:bodyPr anchor="t"/>
          <a:lstStyle/>
          <a:p>
            <a:r>
              <a:rPr kumimoji="1" lang="ja-JP" altLang="en-US" dirty="0"/>
              <a:t>取り出した命令からレジスタ番号を表す部分のビットを取り出す</a:t>
            </a:r>
            <a:endParaRPr kumimoji="1" lang="en-US" altLang="ja-JP" dirty="0"/>
          </a:p>
          <a:p>
            <a:pPr lvl="1"/>
            <a:r>
              <a:rPr lang="ja-JP" altLang="en-US" dirty="0"/>
              <a:t>ソース（</a:t>
            </a:r>
            <a:r>
              <a:rPr lang="en-US" altLang="ja-JP" dirty="0"/>
              <a:t>rs1, rs2</a:t>
            </a:r>
            <a:r>
              <a:rPr lang="ja-JP" altLang="en-US" dirty="0"/>
              <a:t>）とディスティネーション（</a:t>
            </a:r>
            <a:r>
              <a:rPr lang="en-US" altLang="ja-JP" dirty="0" err="1"/>
              <a:t>rd</a:t>
            </a:r>
            <a:r>
              <a:rPr lang="ja-JP" altLang="en-US" dirty="0"/>
              <a:t>）</a:t>
            </a:r>
            <a:endParaRPr kumimoji="1" lang="ja-JP" altLang="en-US"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51" name="Freeform 10"/>
          <p:cNvSpPr>
            <a:spLocks/>
          </p:cNvSpPr>
          <p:nvPr/>
        </p:nvSpPr>
        <p:spPr bwMode="auto">
          <a:xfrm flipV="1">
            <a:off x="4295981" y="3248997"/>
            <a:ext cx="360004" cy="72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2" name="直線矢印コネクタ 51"/>
          <p:cNvCxnSpPr/>
          <p:nvPr/>
        </p:nvCxnSpPr>
        <p:spPr bwMode="auto">
          <a:xfrm>
            <a:off x="4295981" y="3609002"/>
            <a:ext cx="360004" cy="0"/>
          </a:xfrm>
          <a:prstGeom prst="straightConnector1">
            <a:avLst/>
          </a:prstGeom>
          <a:noFill/>
          <a:ln w="9525" cap="flat" cmpd="sng" algn="ctr">
            <a:solidFill>
              <a:schemeClr val="tx1"/>
            </a:solidFill>
            <a:prstDash val="solid"/>
            <a:round/>
            <a:headEnd type="oval" w="sm" len="sm"/>
            <a:tailEnd type="triangle"/>
          </a:ln>
          <a:effectLst/>
        </p:spPr>
      </p:cxnSp>
      <p:sp>
        <p:nvSpPr>
          <p:cNvPr id="53" name="正方形/長方形 52"/>
          <p:cNvSpPr/>
          <p:nvPr/>
        </p:nvSpPr>
        <p:spPr bwMode="auto">
          <a:xfrm>
            <a:off x="4655985"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err="1">
                <a:solidFill>
                  <a:schemeClr val="accent6"/>
                </a:solidFill>
                <a:latin typeface="メイリオ" panose="020B0604030504040204" pitchFamily="50" charset="-128"/>
                <a:ea typeface="メイリオ" panose="020B0604030504040204" pitchFamily="50" charset="-128"/>
              </a:rPr>
              <a:t>rd</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4" name="正方形/長方形 53"/>
          <p:cNvSpPr/>
          <p:nvPr/>
        </p:nvSpPr>
        <p:spPr bwMode="auto">
          <a:xfrm>
            <a:off x="4655985"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rs1</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5" name="正方形/長方形 54"/>
          <p:cNvSpPr/>
          <p:nvPr/>
        </p:nvSpPr>
        <p:spPr bwMode="auto">
          <a:xfrm>
            <a:off x="4655985"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rs2</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cxnSp>
        <p:nvCxnSpPr>
          <p:cNvPr id="56" name="直線矢印コネクタ 55"/>
          <p:cNvCxnSpPr/>
          <p:nvPr/>
        </p:nvCxnSpPr>
        <p:spPr bwMode="auto">
          <a:xfrm>
            <a:off x="4295981" y="3969006"/>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57" name="Text Box 30"/>
          <p:cNvSpPr txBox="1">
            <a:spLocks noChangeArrowheads="1"/>
          </p:cNvSpPr>
          <p:nvPr/>
        </p:nvSpPr>
        <p:spPr bwMode="auto">
          <a:xfrm>
            <a:off x="7176012" y="4869016"/>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58" name="Text Box 31"/>
          <p:cNvSpPr txBox="1">
            <a:spLocks noChangeArrowheads="1"/>
          </p:cNvSpPr>
          <p:nvPr/>
        </p:nvSpPr>
        <p:spPr bwMode="auto">
          <a:xfrm>
            <a:off x="8256024" y="4869016"/>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0110011</a:t>
            </a:r>
          </a:p>
        </p:txBody>
      </p:sp>
      <p:sp>
        <p:nvSpPr>
          <p:cNvPr id="59" name="Text Box 27"/>
          <p:cNvSpPr txBox="1">
            <a:spLocks noChangeArrowheads="1"/>
          </p:cNvSpPr>
          <p:nvPr/>
        </p:nvSpPr>
        <p:spPr bwMode="auto">
          <a:xfrm>
            <a:off x="2495961" y="4869016"/>
            <a:ext cx="1710019"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0000000</a:t>
            </a:r>
            <a:endParaRPr lang="ja-JP" altLang="ja-JP" sz="1600" dirty="0"/>
          </a:p>
        </p:txBody>
      </p:sp>
      <p:sp>
        <p:nvSpPr>
          <p:cNvPr id="60" name="Text Box 27"/>
          <p:cNvSpPr txBox="1">
            <a:spLocks noChangeArrowheads="1"/>
          </p:cNvSpPr>
          <p:nvPr/>
        </p:nvSpPr>
        <p:spPr bwMode="auto">
          <a:xfrm>
            <a:off x="4205979" y="4869016"/>
            <a:ext cx="1079500"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61" name="Text Box 28"/>
          <p:cNvSpPr txBox="1">
            <a:spLocks noChangeArrowheads="1"/>
          </p:cNvSpPr>
          <p:nvPr/>
        </p:nvSpPr>
        <p:spPr bwMode="auto">
          <a:xfrm>
            <a:off x="5285992" y="4869016"/>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62" name="Text Box 29"/>
          <p:cNvSpPr txBox="1">
            <a:spLocks noChangeArrowheads="1"/>
          </p:cNvSpPr>
          <p:nvPr/>
        </p:nvSpPr>
        <p:spPr bwMode="auto">
          <a:xfrm>
            <a:off x="6366003" y="4869016"/>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a:t>
            </a:r>
          </a:p>
        </p:txBody>
      </p:sp>
      <p:sp>
        <p:nvSpPr>
          <p:cNvPr id="64" name="正方形/長方形 63"/>
          <p:cNvSpPr/>
          <p:nvPr/>
        </p:nvSpPr>
        <p:spPr bwMode="auto">
          <a:xfrm>
            <a:off x="2405959" y="459901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65" name="正方形/長方形 6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1381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レジスタ読み出し</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ja-JP" altLang="en-US" dirty="0"/>
              <a:t>デコードで得られたレジスタ番号を使って </a:t>
            </a:r>
            <a:r>
              <a:rPr lang="en-US" altLang="ja-JP" dirty="0"/>
              <a:t>RF </a:t>
            </a:r>
            <a:r>
              <a:rPr lang="ja-JP" altLang="en-US" dirty="0"/>
              <a:t>にアクセス</a:t>
            </a:r>
            <a:endParaRPr lang="en-US" altLang="ja-JP" dirty="0"/>
          </a:p>
          <a:p>
            <a:pPr lvl="1"/>
            <a:r>
              <a:rPr lang="ja-JP" altLang="en-US" dirty="0"/>
              <a:t>ソース・オペランドの値を読み出す</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(rs1)</a:t>
            </a:r>
            <a:endParaRPr lang="ja-JP" altLang="en-US" sz="1200"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(rs2)</a:t>
            </a:r>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accent6"/>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accent6"/>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6816008"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1" name="正方形/長方形 50"/>
          <p:cNvSpPr/>
          <p:nvPr/>
        </p:nvSpPr>
        <p:spPr bwMode="auto">
          <a:xfrm>
            <a:off x="6816008"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703030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a:t>
            </a:r>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en-US" altLang="ja-JP" dirty="0"/>
              <a:t>RF </a:t>
            </a:r>
            <a:r>
              <a:rPr lang="ja-JP" altLang="en-US" dirty="0"/>
              <a:t>から読みだした２つの値を加算</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6" y="3158996"/>
            <a:ext cx="1260015"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7536017" y="3519001"/>
            <a:ext cx="450005" cy="0"/>
          </a:xfrm>
          <a:prstGeom prst="straightConnector1">
            <a:avLst/>
          </a:prstGeom>
          <a:noFill/>
          <a:ln w="9525" cap="flat" cmpd="sng" algn="ctr">
            <a:solidFill>
              <a:schemeClr val="accent6"/>
            </a:solidFill>
            <a:prstDash val="solid"/>
            <a:round/>
            <a:headEnd type="none" w="sm" len="sm"/>
            <a:tailEnd type="triangle"/>
          </a:ln>
          <a:effectLst/>
        </p:spPr>
      </p:cxnSp>
      <p:sp>
        <p:nvSpPr>
          <p:cNvPr id="51" name="正方形/長方形 50"/>
          <p:cNvSpPr/>
          <p:nvPr/>
        </p:nvSpPr>
        <p:spPr bwMode="auto">
          <a:xfrm>
            <a:off x="7986021" y="333899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加算の結果</a:t>
            </a:r>
          </a:p>
        </p:txBody>
      </p:sp>
      <p:sp>
        <p:nvSpPr>
          <p:cNvPr id="52" name="正方形/長方形 51"/>
          <p:cNvSpPr/>
          <p:nvPr/>
        </p:nvSpPr>
        <p:spPr bwMode="auto">
          <a:xfrm>
            <a:off x="6186001"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3" name="正方形/長方形 52"/>
          <p:cNvSpPr/>
          <p:nvPr/>
        </p:nvSpPr>
        <p:spPr bwMode="auto">
          <a:xfrm>
            <a:off x="6186001"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24901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レジスタ書き戻し</a:t>
            </a:r>
            <a:endParaRPr kumimoji="1" lang="ja-JP" altLang="en-US" dirty="0"/>
          </a:p>
        </p:txBody>
      </p:sp>
      <p:sp>
        <p:nvSpPr>
          <p:cNvPr id="3" name="テキスト プレースホルダー 2"/>
          <p:cNvSpPr>
            <a:spLocks noGrp="1"/>
          </p:cNvSpPr>
          <p:nvPr>
            <p:ph type="body" sz="quarter" idx="10"/>
          </p:nvPr>
        </p:nvSpPr>
        <p:spPr>
          <a:xfrm>
            <a:off x="2135956" y="4689015"/>
            <a:ext cx="8280092" cy="1259707"/>
          </a:xfrm>
        </p:spPr>
        <p:txBody>
          <a:bodyPr anchor="t"/>
          <a:lstStyle/>
          <a:p>
            <a:r>
              <a:rPr lang="ja-JP" altLang="en-US" dirty="0"/>
              <a:t>加算の結果をレジスタ・ファイルに書き戻す</a:t>
            </a:r>
            <a:endParaRPr lang="en-US" altLang="ja-JP" dirty="0"/>
          </a:p>
          <a:p>
            <a:pPr lvl="1"/>
            <a:r>
              <a:rPr lang="ja-JP" altLang="en-US" dirty="0"/>
              <a:t>データ・メモリには用がないので何もしない</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50" name="Freeform 10"/>
          <p:cNvSpPr>
            <a:spLocks/>
          </p:cNvSpPr>
          <p:nvPr/>
        </p:nvSpPr>
        <p:spPr bwMode="auto">
          <a:xfrm rot="10800000" flipH="1">
            <a:off x="8076022" y="2528985"/>
            <a:ext cx="1980022" cy="90001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8076022" y="2978995"/>
            <a:ext cx="180002" cy="0"/>
          </a:xfrm>
          <a:prstGeom prst="straightConnector1">
            <a:avLst/>
          </a:prstGeom>
          <a:noFill/>
          <a:ln w="9525" cap="flat"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3757577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ロードの場合：メモリ・アクセスが加わる</a:t>
            </a:r>
          </a:p>
        </p:txBody>
      </p:sp>
      <p:sp>
        <p:nvSpPr>
          <p:cNvPr id="3" name="テキスト プレースホルダー 2"/>
          <p:cNvSpPr>
            <a:spLocks noGrp="1"/>
          </p:cNvSpPr>
          <p:nvPr>
            <p:ph type="body" sz="quarter" idx="10"/>
          </p:nvPr>
        </p:nvSpPr>
        <p:spPr>
          <a:xfrm>
            <a:off x="2135956" y="5769334"/>
            <a:ext cx="8280092" cy="719701"/>
          </a:xfrm>
        </p:spPr>
        <p:txBody>
          <a:bodyPr/>
          <a:lstStyle/>
          <a:p>
            <a:r>
              <a:rPr kumimoji="1" lang="ja-JP" altLang="en-US" dirty="0"/>
              <a:t>加算命令との違い：</a:t>
            </a:r>
            <a:endParaRPr kumimoji="1" lang="en-US" altLang="ja-JP" dirty="0"/>
          </a:p>
          <a:p>
            <a:pPr lvl="1"/>
            <a:r>
              <a:rPr kumimoji="1" lang="ja-JP" altLang="en-US" dirty="0"/>
              <a:t>アドレスの計算（</a:t>
            </a:r>
            <a:r>
              <a:rPr lang="en-US" altLang="ja-JP" dirty="0">
                <a:solidFill>
                  <a:schemeClr val="tx1">
                    <a:lumMod val="85000"/>
                    <a:lumOff val="15000"/>
                  </a:schemeClr>
                </a:solidFill>
                <a:latin typeface="Consolas" panose="020B0609020204030204" pitchFamily="49" charset="0"/>
              </a:rPr>
              <a:t>x[rs1] + immediate</a:t>
            </a:r>
            <a:r>
              <a:rPr kumimoji="1" lang="ja-JP" altLang="en-US" dirty="0"/>
              <a:t>）を </a:t>
            </a:r>
            <a:r>
              <a:rPr kumimoji="1" lang="en-US" altLang="ja-JP" dirty="0"/>
              <a:t>ALU </a:t>
            </a:r>
            <a:r>
              <a:rPr kumimoji="1" lang="ja-JP" altLang="en-US" dirty="0"/>
              <a:t>でやる</a:t>
            </a:r>
            <a:endParaRPr kumimoji="1" lang="en-US" altLang="ja-JP" dirty="0"/>
          </a:p>
          <a:p>
            <a:pPr lvl="1"/>
            <a:r>
              <a:rPr kumimoji="1" lang="ja-JP" altLang="en-US" dirty="0"/>
              <a:t>得られたアドレスでデータ・メモリにアクセス</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accent6"/>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Text Box 30"/>
          <p:cNvSpPr txBox="1">
            <a:spLocks noChangeArrowheads="1"/>
          </p:cNvSpPr>
          <p:nvPr/>
        </p:nvSpPr>
        <p:spPr bwMode="auto">
          <a:xfrm>
            <a:off x="6906010" y="5049018"/>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47" name="Text Box 31"/>
          <p:cNvSpPr txBox="1">
            <a:spLocks noChangeArrowheads="1"/>
          </p:cNvSpPr>
          <p:nvPr/>
        </p:nvSpPr>
        <p:spPr bwMode="auto">
          <a:xfrm>
            <a:off x="7986022" y="5049018"/>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0000011</a:t>
            </a:r>
          </a:p>
        </p:txBody>
      </p:sp>
      <p:sp>
        <p:nvSpPr>
          <p:cNvPr id="48" name="Text Box 28"/>
          <p:cNvSpPr txBox="1">
            <a:spLocks noChangeArrowheads="1"/>
          </p:cNvSpPr>
          <p:nvPr/>
        </p:nvSpPr>
        <p:spPr bwMode="auto">
          <a:xfrm>
            <a:off x="5015990" y="5049018"/>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49" name="Text Box 29"/>
          <p:cNvSpPr txBox="1">
            <a:spLocks noChangeArrowheads="1"/>
          </p:cNvSpPr>
          <p:nvPr/>
        </p:nvSpPr>
        <p:spPr bwMode="auto">
          <a:xfrm>
            <a:off x="6096001" y="5049018"/>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50" name="正方形/長方形 49"/>
          <p:cNvSpPr/>
          <p:nvPr/>
        </p:nvSpPr>
        <p:spPr bwMode="auto">
          <a:xfrm>
            <a:off x="2135957" y="477901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1" name="Text Box 27"/>
          <p:cNvSpPr txBox="1">
            <a:spLocks noChangeArrowheads="1"/>
          </p:cNvSpPr>
          <p:nvPr/>
        </p:nvSpPr>
        <p:spPr bwMode="auto">
          <a:xfrm>
            <a:off x="2225959" y="5049018"/>
            <a:ext cx="279003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immediate[11:0]</a:t>
            </a:r>
            <a:endParaRPr lang="ja-JP" altLang="ja-JP" sz="1600" dirty="0"/>
          </a:p>
        </p:txBody>
      </p:sp>
      <p:sp>
        <p:nvSpPr>
          <p:cNvPr id="52" name="正方形/長方形 5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 </a:t>
            </a:r>
            <a:r>
              <a:rPr lang="en-US" altLang="ja-JP" sz="1200" b="1" dirty="0">
                <a:solidFill>
                  <a:schemeClr val="accent6"/>
                </a:solidFill>
                <a:latin typeface="メイリオ" panose="020B0604030504040204" pitchFamily="50" charset="-128"/>
                <a:ea typeface="メイリオ" panose="020B0604030504040204" pitchFamily="50" charset="-128"/>
              </a:rPr>
              <a:t>(</a:t>
            </a:r>
            <a:r>
              <a:rPr lang="en-US" altLang="ja-JP" sz="1200" b="1" dirty="0" err="1">
                <a:solidFill>
                  <a:schemeClr val="accent6"/>
                </a:solidFill>
                <a:latin typeface="メイリオ" panose="020B0604030504040204" pitchFamily="50" charset="-128"/>
                <a:ea typeface="メイリオ" panose="020B0604030504040204" pitchFamily="50" charset="-128"/>
              </a:rPr>
              <a:t>rd</a:t>
            </a:r>
            <a:r>
              <a:rPr lang="en-US" altLang="ja-JP" sz="1200" b="1" dirty="0">
                <a:solidFill>
                  <a:schemeClr val="accent6"/>
                </a:solidFill>
                <a:latin typeface="メイリオ" panose="020B0604030504040204" pitchFamily="50" charset="-128"/>
                <a:ea typeface="メイリオ" panose="020B0604030504040204" pitchFamily="50" charset="-128"/>
              </a:rPr>
              <a:t>)</a:t>
            </a:r>
            <a:endParaRPr lang="ja-JP" altLang="en-US" sz="1200" b="1" dirty="0">
              <a:solidFill>
                <a:schemeClr val="accent6"/>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23893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各処理は基本的には左から右に流れる</a:t>
            </a:r>
            <a:endParaRPr kumimoji="1" lang="ja-JP" altLang="en-US" dirty="0"/>
          </a:p>
        </p:txBody>
      </p:sp>
      <p:sp>
        <p:nvSpPr>
          <p:cNvPr id="3" name="テキスト プレースホルダー 2"/>
          <p:cNvSpPr>
            <a:spLocks noGrp="1"/>
          </p:cNvSpPr>
          <p:nvPr>
            <p:ph type="body" sz="quarter" idx="10"/>
          </p:nvPr>
        </p:nvSpPr>
        <p:spPr>
          <a:xfrm>
            <a:off x="2135956" y="5049019"/>
            <a:ext cx="8280092" cy="899703"/>
          </a:xfrm>
        </p:spPr>
        <p:txBody>
          <a:bodyPr anchor="t"/>
          <a:lstStyle/>
          <a:p>
            <a:r>
              <a:rPr kumimoji="1" lang="ja-JP" altLang="en-US" dirty="0"/>
              <a:t>特定のユニットで仕事をしている間，他の部分は遊んでいる</a:t>
            </a:r>
            <a:endParaRPr kumimoji="1" lang="en-US" altLang="ja-JP" dirty="0"/>
          </a:p>
          <a:p>
            <a:r>
              <a:rPr kumimoji="1" lang="ja-JP" altLang="en-US" dirty="0"/>
              <a:t>パイプライン化</a:t>
            </a:r>
            <a:endParaRPr kumimoji="1" lang="en-US" altLang="ja-JP" dirty="0"/>
          </a:p>
          <a:p>
            <a:pPr lvl="1"/>
            <a:r>
              <a:rPr kumimoji="1" lang="ja-JP" altLang="en-US" dirty="0"/>
              <a:t>これをもとに，導入で話したように処理をオーバーラップさせる</a:t>
            </a:r>
            <a:endParaRPr kumimoji="1"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3" name="角丸四角形 12"/>
          <p:cNvSpPr/>
          <p:nvPr/>
        </p:nvSpPr>
        <p:spPr bwMode="auto">
          <a:xfrm>
            <a:off x="1524000" y="1178976"/>
            <a:ext cx="252002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4295980" y="1178976"/>
            <a:ext cx="198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6456004" y="1178976"/>
            <a:ext cx="153001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8166023" y="1178976"/>
            <a:ext cx="207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正方形/長方形 52"/>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IF</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ID</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EX</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MEM</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WB</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9" name="角丸四角形 58"/>
          <p:cNvSpPr/>
          <p:nvPr/>
        </p:nvSpPr>
        <p:spPr bwMode="auto">
          <a:xfrm>
            <a:off x="2855964" y="2798993"/>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4066439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7.40741E-7 L 0.23611 0.00023 " pathEditMode="relative" rAng="0" ptsTypes="AA">
                                      <p:cBhvr>
                                        <p:cTn id="6" dur="1000" fill="hold"/>
                                        <p:tgtEl>
                                          <p:spTgt spid="59"/>
                                        </p:tgtEl>
                                        <p:attrNameLst>
                                          <p:attrName>ppt_x</p:attrName>
                                          <p:attrName>ppt_y</p:attrName>
                                        </p:attrNameLst>
                                      </p:cBhvr>
                                      <p:rCtr x="11806"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3611 0.00023 L 0.43299 0.00023 " pathEditMode="relative" rAng="0" ptsTypes="AA">
                                      <p:cBhvr>
                                        <p:cTn id="10" dur="1000" fill="hold"/>
                                        <p:tgtEl>
                                          <p:spTgt spid="59"/>
                                        </p:tgtEl>
                                        <p:attrNameLst>
                                          <p:attrName>ppt_x</p:attrName>
                                          <p:attrName>ppt_y</p:attrName>
                                        </p:attrNameLst>
                                      </p:cBhvr>
                                      <p:rCtr x="98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43299 0.00023 L 0.64965 0.00023 " pathEditMode="relative" rAng="0" ptsTypes="AA">
                                      <p:cBhvr>
                                        <p:cTn id="14" dur="1000" fill="hold"/>
                                        <p:tgtEl>
                                          <p:spTgt spid="59"/>
                                        </p:tgtEl>
                                        <p:attrNameLst>
                                          <p:attrName>ppt_x</p:attrName>
                                          <p:attrName>ppt_y</p:attrName>
                                        </p:attrNameLst>
                                      </p:cBhvr>
                                      <p:rCtr x="108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078985"/>
            <a:ext cx="7920088" cy="540006"/>
          </a:xfrm>
        </p:spPr>
        <p:txBody>
          <a:bodyPr/>
          <a:lstStyle/>
          <a:p>
            <a:r>
              <a:rPr kumimoji="1" lang="ja-JP" altLang="en-US" b="1" dirty="0"/>
              <a:t>パイプライン化</a:t>
            </a:r>
            <a:endParaRPr kumimoji="1" lang="en-US" altLang="ja-JP" b="1" dirty="0"/>
          </a:p>
        </p:txBody>
      </p:sp>
    </p:spTree>
    <p:extLst>
      <p:ext uri="{BB962C8B-B14F-4D97-AF65-F5344CB8AC3E}">
        <p14:creationId xmlns:p14="http://schemas.microsoft.com/office/powerpoint/2010/main" val="3034790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b="1" dirty="0"/>
              <a:t>上記のパイプライン化</a:t>
            </a:r>
            <a:endParaRPr kumimoji="1" lang="en-US" altLang="ja-JP" b="1"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dirty="0"/>
              <a:t>ハザード</a:t>
            </a:r>
            <a:endParaRPr kumimoji="1" lang="ja-JP" altLang="en-US" dirty="0"/>
          </a:p>
        </p:txBody>
      </p:sp>
    </p:spTree>
    <p:extLst>
      <p:ext uri="{BB962C8B-B14F-4D97-AF65-F5344CB8AC3E}">
        <p14:creationId xmlns:p14="http://schemas.microsoft.com/office/powerpoint/2010/main" val="4112056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a:t>
            </a:r>
          </a:p>
        </p:txBody>
      </p:sp>
      <p:sp>
        <p:nvSpPr>
          <p:cNvPr id="3" name="テキスト プレースホルダー 2"/>
          <p:cNvSpPr>
            <a:spLocks noGrp="1"/>
          </p:cNvSpPr>
          <p:nvPr>
            <p:ph type="body" sz="quarter" idx="10"/>
          </p:nvPr>
        </p:nvSpPr>
        <p:spPr/>
        <p:txBody>
          <a:bodyPr/>
          <a:lstStyle/>
          <a:p>
            <a:r>
              <a:rPr lang="ja-JP" altLang="en-US" dirty="0"/>
              <a:t>回路のまとまりをオーバラップさせる単位にする</a:t>
            </a:r>
            <a:endParaRPr lang="en-US" altLang="ja-JP" dirty="0"/>
          </a:p>
          <a:p>
            <a:pPr lvl="1"/>
            <a:r>
              <a:rPr lang="ja-JP" altLang="en-US" dirty="0"/>
              <a:t>この単位を</a:t>
            </a:r>
            <a:r>
              <a:rPr lang="ja-JP" altLang="en-US" dirty="0">
                <a:solidFill>
                  <a:schemeClr val="accent5"/>
                </a:solidFill>
              </a:rPr>
              <a:t>ステージ</a:t>
            </a:r>
            <a:r>
              <a:rPr lang="ja-JP" altLang="en-US" dirty="0"/>
              <a:t>と呼ぶ</a:t>
            </a:r>
            <a:endParaRPr lang="en-US" altLang="ja-JP" dirty="0"/>
          </a:p>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pPr lvl="1"/>
            <a:endParaRPr lang="en-US" altLang="ja-JP" dirty="0"/>
          </a:p>
          <a:p>
            <a:endParaRPr kumimoji="1" lang="ja-JP" altLang="en-US" dirty="0"/>
          </a:p>
        </p:txBody>
      </p:sp>
    </p:spTree>
    <p:extLst>
      <p:ext uri="{BB962C8B-B14F-4D97-AF65-F5344CB8AC3E}">
        <p14:creationId xmlns:p14="http://schemas.microsoft.com/office/powerpoint/2010/main" val="1024036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命令パイプラインの実行の様子</a:t>
            </a:r>
            <a:endParaRPr lang="en-US" altLang="ja-JP" dirty="0"/>
          </a:p>
        </p:txBody>
      </p:sp>
      <p:sp>
        <p:nvSpPr>
          <p:cNvPr id="202755" name="Rectangle 3"/>
          <p:cNvSpPr>
            <a:spLocks noChangeArrowheads="1"/>
          </p:cNvSpPr>
          <p:nvPr/>
        </p:nvSpPr>
        <p:spPr bwMode="auto">
          <a:xfrm>
            <a:off x="3665538"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6" name="AutoShape 4"/>
          <p:cNvCxnSpPr>
            <a:cxnSpLocks noChangeShapeType="1"/>
            <a:stCxn id="202755" idx="3"/>
            <a:endCxn id="202757" idx="1"/>
          </p:cNvCxnSpPr>
          <p:nvPr/>
        </p:nvCxnSpPr>
        <p:spPr bwMode="auto">
          <a:xfrm>
            <a:off x="4224338" y="1540438"/>
            <a:ext cx="500062"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7" name="Rectangle 5"/>
          <p:cNvSpPr>
            <a:spLocks noChangeArrowheads="1"/>
          </p:cNvSpPr>
          <p:nvPr/>
        </p:nvSpPr>
        <p:spPr bwMode="auto">
          <a:xfrm>
            <a:off x="4743450"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8" name="AutoShape 6"/>
          <p:cNvCxnSpPr>
            <a:cxnSpLocks noChangeShapeType="1"/>
            <a:stCxn id="202757" idx="3"/>
            <a:endCxn id="202759" idx="1"/>
          </p:cNvCxnSpPr>
          <p:nvPr/>
        </p:nvCxnSpPr>
        <p:spPr bwMode="auto">
          <a:xfrm>
            <a:off x="5302251" y="1540438"/>
            <a:ext cx="504825"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9" name="Rectangle 7"/>
          <p:cNvSpPr>
            <a:spLocks noChangeArrowheads="1"/>
          </p:cNvSpPr>
          <p:nvPr/>
        </p:nvSpPr>
        <p:spPr bwMode="auto">
          <a:xfrm>
            <a:off x="5826125"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0" name="AutoShape 8"/>
          <p:cNvCxnSpPr>
            <a:cxnSpLocks noChangeShapeType="1"/>
            <a:stCxn id="202759" idx="3"/>
            <a:endCxn id="202761" idx="1"/>
          </p:cNvCxnSpPr>
          <p:nvPr/>
        </p:nvCxnSpPr>
        <p:spPr bwMode="auto">
          <a:xfrm>
            <a:off x="6384925" y="1540438"/>
            <a:ext cx="501650"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1" name="Rectangle 9"/>
          <p:cNvSpPr>
            <a:spLocks noChangeArrowheads="1"/>
          </p:cNvSpPr>
          <p:nvPr/>
        </p:nvSpPr>
        <p:spPr bwMode="auto">
          <a:xfrm>
            <a:off x="6905625"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2" name="AutoShape 10"/>
          <p:cNvCxnSpPr>
            <a:cxnSpLocks noChangeShapeType="1"/>
            <a:stCxn id="202761" idx="3"/>
            <a:endCxn id="202763" idx="1"/>
          </p:cNvCxnSpPr>
          <p:nvPr/>
        </p:nvCxnSpPr>
        <p:spPr bwMode="auto">
          <a:xfrm>
            <a:off x="7464425" y="1540438"/>
            <a:ext cx="503238"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3" name="Rectangle 11"/>
          <p:cNvSpPr>
            <a:spLocks noChangeArrowheads="1"/>
          </p:cNvSpPr>
          <p:nvPr/>
        </p:nvSpPr>
        <p:spPr bwMode="auto">
          <a:xfrm>
            <a:off x="7986713" y="1268977"/>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sp>
        <p:nvSpPr>
          <p:cNvPr id="202764" name="Rectangle 12"/>
          <p:cNvSpPr>
            <a:spLocks noChangeArrowheads="1"/>
          </p:cNvSpPr>
          <p:nvPr/>
        </p:nvSpPr>
        <p:spPr bwMode="auto">
          <a:xfrm>
            <a:off x="3756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dirty="0"/>
              <a:t>IF</a:t>
            </a:r>
          </a:p>
        </p:txBody>
      </p:sp>
      <p:sp>
        <p:nvSpPr>
          <p:cNvPr id="202765" name="Rectangle 13"/>
          <p:cNvSpPr>
            <a:spLocks noChangeArrowheads="1"/>
          </p:cNvSpPr>
          <p:nvPr/>
        </p:nvSpPr>
        <p:spPr bwMode="auto">
          <a:xfrm>
            <a:off x="48355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ID</a:t>
            </a:r>
          </a:p>
        </p:txBody>
      </p:sp>
      <p:sp>
        <p:nvSpPr>
          <p:cNvPr id="202766" name="Rectangle 14"/>
          <p:cNvSpPr>
            <a:spLocks noChangeArrowheads="1"/>
          </p:cNvSpPr>
          <p:nvPr/>
        </p:nvSpPr>
        <p:spPr bwMode="auto">
          <a:xfrm>
            <a:off x="5915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EX</a:t>
            </a:r>
          </a:p>
        </p:txBody>
      </p:sp>
      <p:sp>
        <p:nvSpPr>
          <p:cNvPr id="202767" name="Rectangle 15"/>
          <p:cNvSpPr>
            <a:spLocks noChangeArrowheads="1"/>
          </p:cNvSpPr>
          <p:nvPr/>
        </p:nvSpPr>
        <p:spPr bwMode="auto">
          <a:xfrm>
            <a:off x="69945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MEM</a:t>
            </a:r>
          </a:p>
        </p:txBody>
      </p:sp>
      <p:sp>
        <p:nvSpPr>
          <p:cNvPr id="202768" name="Rectangle 16"/>
          <p:cNvSpPr>
            <a:spLocks noChangeArrowheads="1"/>
          </p:cNvSpPr>
          <p:nvPr/>
        </p:nvSpPr>
        <p:spPr bwMode="auto">
          <a:xfrm>
            <a:off x="8074026" y="1899214"/>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WB</a:t>
            </a:r>
          </a:p>
        </p:txBody>
      </p:sp>
      <p:grpSp>
        <p:nvGrpSpPr>
          <p:cNvPr id="202769" name="Group 17"/>
          <p:cNvGrpSpPr>
            <a:grpSpLocks/>
          </p:cNvGrpSpPr>
          <p:nvPr/>
        </p:nvGrpSpPr>
        <p:grpSpPr bwMode="auto">
          <a:xfrm>
            <a:off x="-2725738" y="1357876"/>
            <a:ext cx="5761038" cy="360362"/>
            <a:chOff x="725" y="1876"/>
            <a:chExt cx="3629" cy="227"/>
          </a:xfrm>
        </p:grpSpPr>
        <p:sp>
          <p:nvSpPr>
            <p:cNvPr id="202770" name="Rectangle 18"/>
            <p:cNvSpPr>
              <a:spLocks noChangeArrowheads="1"/>
            </p:cNvSpPr>
            <p:nvPr/>
          </p:nvSpPr>
          <p:spPr bwMode="auto">
            <a:xfrm>
              <a:off x="412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771" name="Rectangle 19"/>
            <p:cNvSpPr>
              <a:spLocks noChangeArrowheads="1"/>
            </p:cNvSpPr>
            <p:nvPr/>
          </p:nvSpPr>
          <p:spPr bwMode="auto">
            <a:xfrm>
              <a:off x="344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772" name="Rectangle 20"/>
            <p:cNvSpPr>
              <a:spLocks noChangeArrowheads="1"/>
            </p:cNvSpPr>
            <p:nvPr/>
          </p:nvSpPr>
          <p:spPr bwMode="auto">
            <a:xfrm>
              <a:off x="276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773" name="Rectangle 21"/>
            <p:cNvSpPr>
              <a:spLocks noChangeArrowheads="1"/>
            </p:cNvSpPr>
            <p:nvPr/>
          </p:nvSpPr>
          <p:spPr bwMode="auto">
            <a:xfrm>
              <a:off x="208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774" name="Rectangle 22"/>
            <p:cNvSpPr>
              <a:spLocks noChangeArrowheads="1"/>
            </p:cNvSpPr>
            <p:nvPr/>
          </p:nvSpPr>
          <p:spPr bwMode="auto">
            <a:xfrm>
              <a:off x="140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775" name="Rectangle 23"/>
            <p:cNvSpPr>
              <a:spLocks noChangeArrowheads="1"/>
            </p:cNvSpPr>
            <p:nvPr/>
          </p:nvSpPr>
          <p:spPr bwMode="auto">
            <a:xfrm>
              <a:off x="725"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grpSp>
      <p:sp>
        <p:nvSpPr>
          <p:cNvPr id="202776" name="Rectangle 24"/>
          <p:cNvSpPr>
            <a:spLocks noChangeArrowheads="1"/>
          </p:cNvSpPr>
          <p:nvPr/>
        </p:nvSpPr>
        <p:spPr bwMode="auto">
          <a:xfrm>
            <a:off x="2944813"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316163" y="27993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316163" y="342956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316163" y="405821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316163" y="468845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316163" y="5318689"/>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765426" y="252786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665538"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378325" y="27056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5091113" y="2702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803900" y="269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665538" y="3339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378325" y="33359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5091113" y="3332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803900" y="332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546850" y="3347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378325" y="39661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5091113" y="3962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803900" y="395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546850" y="3977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7265988" y="396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5091113" y="45932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803900" y="45900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546850" y="4607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7265988"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986713"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803900" y="52202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546850" y="5237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7265988"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986713"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705850"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1" name="Rectangle 89"/>
          <p:cNvSpPr>
            <a:spLocks noChangeArrowheads="1"/>
          </p:cNvSpPr>
          <p:nvPr/>
        </p:nvSpPr>
        <p:spPr bwMode="auto">
          <a:xfrm>
            <a:off x="6546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42" name="Rectangle 90"/>
          <p:cNvSpPr>
            <a:spLocks noChangeArrowheads="1"/>
          </p:cNvSpPr>
          <p:nvPr/>
        </p:nvSpPr>
        <p:spPr bwMode="auto">
          <a:xfrm>
            <a:off x="7265988"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43" name="Rectangle 91"/>
          <p:cNvSpPr>
            <a:spLocks noChangeArrowheads="1"/>
          </p:cNvSpPr>
          <p:nvPr/>
        </p:nvSpPr>
        <p:spPr bwMode="auto">
          <a:xfrm>
            <a:off x="7986713"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44" name="Rectangle 92"/>
          <p:cNvSpPr>
            <a:spLocks noChangeArrowheads="1"/>
          </p:cNvSpPr>
          <p:nvPr/>
        </p:nvSpPr>
        <p:spPr bwMode="auto">
          <a:xfrm>
            <a:off x="8705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5" name="Rectangle 93"/>
          <p:cNvSpPr>
            <a:spLocks noChangeArrowheads="1"/>
          </p:cNvSpPr>
          <p:nvPr/>
        </p:nvSpPr>
        <p:spPr bwMode="auto">
          <a:xfrm>
            <a:off x="9426575"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6" name="Rectangle 94"/>
          <p:cNvSpPr>
            <a:spLocks noChangeArrowheads="1"/>
          </p:cNvSpPr>
          <p:nvPr/>
        </p:nvSpPr>
        <p:spPr bwMode="auto">
          <a:xfrm>
            <a:off x="2316163" y="59489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sp>
        <p:nvSpPr>
          <p:cNvPr id="202847" name="Rectangle 95"/>
          <p:cNvSpPr>
            <a:spLocks noChangeArrowheads="1"/>
          </p:cNvSpPr>
          <p:nvPr/>
        </p:nvSpPr>
        <p:spPr bwMode="auto">
          <a:xfrm>
            <a:off x="2855914" y="2618351"/>
            <a:ext cx="719137" cy="3789362"/>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875838" y="207860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Tree>
    <p:extLst>
      <p:ext uri="{BB962C8B-B14F-4D97-AF65-F5344CB8AC3E}">
        <p14:creationId xmlns:p14="http://schemas.microsoft.com/office/powerpoint/2010/main" val="2649396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77778E-6 -4.07407E-6 L 0.11805 0.00024 " pathEditMode="relative" rAng="0" ptsTypes="AA">
                                      <p:cBhvr>
                                        <p:cTn id="6" dur="2000" fill="hold"/>
                                        <p:tgtEl>
                                          <p:spTgt spid="202769"/>
                                        </p:tgtEl>
                                        <p:attrNameLst>
                                          <p:attrName>ppt_x</p:attrName>
                                          <p:attrName>ppt_y</p:attrName>
                                        </p:attrNameLst>
                                      </p:cBhvr>
                                      <p:rCtr x="5903" y="0"/>
                                    </p:animMotion>
                                  </p:childTnLst>
                                </p:cTn>
                              </p:par>
                              <p:par>
                                <p:cTn id="7" presetID="10" presetClass="entr" presetSubtype="0" fill="hold" grpId="0" nodeType="withEffect">
                                  <p:stCondLst>
                                    <p:cond delay="0"/>
                                  </p:stCondLst>
                                  <p:childTnLst>
                                    <p:set>
                                      <p:cBhvr>
                                        <p:cTn id="8" dur="1" fill="hold">
                                          <p:stCondLst>
                                            <p:cond delay="0"/>
                                          </p:stCondLst>
                                        </p:cTn>
                                        <p:tgtEl>
                                          <p:spTgt spid="202847"/>
                                        </p:tgtEl>
                                        <p:attrNameLst>
                                          <p:attrName>style.visibility</p:attrName>
                                        </p:attrNameLst>
                                      </p:cBhvr>
                                      <p:to>
                                        <p:strVal val="visible"/>
                                      </p:to>
                                    </p:set>
                                    <p:animEffect transition="in" filter="fade">
                                      <p:cBhvr>
                                        <p:cTn id="9" dur="2000"/>
                                        <p:tgtEl>
                                          <p:spTgt spid="202847"/>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11805 0.00024 L 0.23628 0.00024 " pathEditMode="relative" rAng="0" ptsTypes="AA">
                                      <p:cBhvr>
                                        <p:cTn id="13" dur="2000" fill="hold"/>
                                        <p:tgtEl>
                                          <p:spTgt spid="202769"/>
                                        </p:tgtEl>
                                        <p:attrNameLst>
                                          <p:attrName>ppt_x</p:attrName>
                                          <p:attrName>ppt_y</p:attrName>
                                        </p:attrNameLst>
                                      </p:cBhvr>
                                      <p:rCtr x="5903" y="0"/>
                                    </p:animMotion>
                                  </p:childTnLst>
                                </p:cTn>
                              </p:par>
                              <p:par>
                                <p:cTn id="14" presetID="63" presetClass="path" presetSubtype="0" accel="50000" decel="50000" fill="hold" grpId="1" nodeType="withEffect">
                                  <p:stCondLst>
                                    <p:cond delay="0"/>
                                  </p:stCondLst>
                                  <p:childTnLst>
                                    <p:animMotion origin="layout" path="M 4.16667E-6 -3.7037E-7 L 0.07882 -0.00046 " pathEditMode="relative" rAng="0" ptsTypes="AA">
                                      <p:cBhvr>
                                        <p:cTn id="15" dur="2000" fill="hold"/>
                                        <p:tgtEl>
                                          <p:spTgt spid="202847"/>
                                        </p:tgtEl>
                                        <p:attrNameLst>
                                          <p:attrName>ppt_x</p:attrName>
                                          <p:attrName>ppt_y</p:attrName>
                                        </p:attrNameLst>
                                      </p:cBhvr>
                                      <p:rCtr x="3941" y="-23"/>
                                    </p:animMotion>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23628 0.00024 L 0.35434 0.00024 " pathEditMode="relative" rAng="0" ptsTypes="AA">
                                      <p:cBhvr>
                                        <p:cTn id="19" dur="2000" fill="hold"/>
                                        <p:tgtEl>
                                          <p:spTgt spid="202769"/>
                                        </p:tgtEl>
                                        <p:attrNameLst>
                                          <p:attrName>ppt_x</p:attrName>
                                          <p:attrName>ppt_y</p:attrName>
                                        </p:attrNameLst>
                                      </p:cBhvr>
                                      <p:rCtr x="5903" y="0"/>
                                    </p:animMotion>
                                  </p:childTnLst>
                                </p:cTn>
                              </p:par>
                              <p:par>
                                <p:cTn id="20" presetID="63" presetClass="path" presetSubtype="0" accel="50000" decel="50000" fill="hold" grpId="2" nodeType="withEffect">
                                  <p:stCondLst>
                                    <p:cond delay="0"/>
                                  </p:stCondLst>
                                  <p:childTnLst>
                                    <p:animMotion origin="layout" path="M 0.07882 -0.00046 L 0.15763 -0.00046 " pathEditMode="relative" rAng="0" ptsTypes="AA">
                                      <p:cBhvr>
                                        <p:cTn id="21" dur="2000" fill="hold"/>
                                        <p:tgtEl>
                                          <p:spTgt spid="202847"/>
                                        </p:tgtEl>
                                        <p:attrNameLst>
                                          <p:attrName>ppt_x</p:attrName>
                                          <p:attrName>ppt_y</p:attrName>
                                        </p:attrNameLst>
                                      </p:cBhvr>
                                      <p:rCtr x="3941" y="0"/>
                                    </p:animMotion>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nodeType="clickEffect">
                                  <p:stCondLst>
                                    <p:cond delay="0"/>
                                  </p:stCondLst>
                                  <p:childTnLst>
                                    <p:animMotion origin="layout" path="M 0.35434 0.00024 L 0.47239 0.00024 " pathEditMode="relative" rAng="0" ptsTypes="AA">
                                      <p:cBhvr>
                                        <p:cTn id="25" dur="2000" fill="hold"/>
                                        <p:tgtEl>
                                          <p:spTgt spid="202769"/>
                                        </p:tgtEl>
                                        <p:attrNameLst>
                                          <p:attrName>ppt_x</p:attrName>
                                          <p:attrName>ppt_y</p:attrName>
                                        </p:attrNameLst>
                                      </p:cBhvr>
                                      <p:rCtr x="5903" y="0"/>
                                    </p:animMotion>
                                  </p:childTnLst>
                                </p:cTn>
                              </p:par>
                              <p:par>
                                <p:cTn id="26" presetID="63" presetClass="path" presetSubtype="0" accel="50000" decel="50000" fill="hold" grpId="3" nodeType="withEffect">
                                  <p:stCondLst>
                                    <p:cond delay="0"/>
                                  </p:stCondLst>
                                  <p:childTnLst>
                                    <p:animMotion origin="layout" path="M 0.15763 -0.00046 L 0.23628 -0.00046 " pathEditMode="relative" rAng="0" ptsTypes="AA">
                                      <p:cBhvr>
                                        <p:cTn id="27" dur="2000" fill="hold"/>
                                        <p:tgtEl>
                                          <p:spTgt spid="202847"/>
                                        </p:tgtEl>
                                        <p:attrNameLst>
                                          <p:attrName>ppt_x</p:attrName>
                                          <p:attrName>ppt_y</p:attrName>
                                        </p:attrNameLst>
                                      </p:cBhvr>
                                      <p:rCtr x="3924" y="0"/>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47239 0.00024 L 0.59062 0.00024 " pathEditMode="relative" rAng="0" ptsTypes="AA">
                                      <p:cBhvr>
                                        <p:cTn id="31" dur="2000" fill="hold"/>
                                        <p:tgtEl>
                                          <p:spTgt spid="202769"/>
                                        </p:tgtEl>
                                        <p:attrNameLst>
                                          <p:attrName>ppt_x</p:attrName>
                                          <p:attrName>ppt_y</p:attrName>
                                        </p:attrNameLst>
                                      </p:cBhvr>
                                      <p:rCtr x="5903" y="0"/>
                                    </p:animMotion>
                                  </p:childTnLst>
                                </p:cTn>
                              </p:par>
                              <p:par>
                                <p:cTn id="32" presetID="63" presetClass="path" presetSubtype="0" accel="50000" decel="50000" fill="hold" grpId="4" nodeType="withEffect">
                                  <p:stCondLst>
                                    <p:cond delay="0"/>
                                  </p:stCondLst>
                                  <p:childTnLst>
                                    <p:animMotion origin="layout" path="M 0.23628 -0.00046 L 0.3151 -0.00046 " pathEditMode="relative" rAng="0" ptsTypes="AA">
                                      <p:cBhvr>
                                        <p:cTn id="33" dur="2000" fill="hold"/>
                                        <p:tgtEl>
                                          <p:spTgt spid="202847"/>
                                        </p:tgtEl>
                                        <p:attrNameLst>
                                          <p:attrName>ppt_x</p:attrName>
                                          <p:attrName>ppt_y</p:attrName>
                                        </p:attrNameLst>
                                      </p:cBhvr>
                                      <p:rCtr x="3941" y="0"/>
                                    </p:animMotion>
                                  </p:childTnLst>
                                </p:cTn>
                              </p:par>
                            </p:childTnLst>
                          </p:cTn>
                        </p:par>
                      </p:childTnLst>
                    </p:cTn>
                  </p:par>
                  <p:par>
                    <p:cTn id="34" fill="hold">
                      <p:stCondLst>
                        <p:cond delay="indefinite"/>
                      </p:stCondLst>
                      <p:childTnLst>
                        <p:par>
                          <p:cTn id="35" fill="hold">
                            <p:stCondLst>
                              <p:cond delay="0"/>
                            </p:stCondLst>
                            <p:childTnLst>
                              <p:par>
                                <p:cTn id="36" presetID="63" presetClass="path" presetSubtype="0" accel="50000" decel="50000" fill="hold" nodeType="clickEffect">
                                  <p:stCondLst>
                                    <p:cond delay="0"/>
                                  </p:stCondLst>
                                  <p:childTnLst>
                                    <p:animMotion origin="layout" path="M 0.59062 0.00024 L 0.70868 0.00024 " pathEditMode="relative" rAng="0" ptsTypes="AA">
                                      <p:cBhvr>
                                        <p:cTn id="37" dur="2000" fill="hold"/>
                                        <p:tgtEl>
                                          <p:spTgt spid="202769"/>
                                        </p:tgtEl>
                                        <p:attrNameLst>
                                          <p:attrName>ppt_x</p:attrName>
                                          <p:attrName>ppt_y</p:attrName>
                                        </p:attrNameLst>
                                      </p:cBhvr>
                                      <p:rCtr x="5903" y="0"/>
                                    </p:animMotion>
                                  </p:childTnLst>
                                </p:cTn>
                              </p:par>
                              <p:par>
                                <p:cTn id="38" presetID="63" presetClass="path" presetSubtype="0" accel="50000" decel="50000" fill="hold" grpId="5" nodeType="withEffect">
                                  <p:stCondLst>
                                    <p:cond delay="0"/>
                                  </p:stCondLst>
                                  <p:childTnLst>
                                    <p:animMotion origin="layout" path="M 0.3151 -0.00046 L 0.39392 -0.00046 " pathEditMode="relative" rAng="0" ptsTypes="AA">
                                      <p:cBhvr>
                                        <p:cTn id="39" dur="2000" fill="hold"/>
                                        <p:tgtEl>
                                          <p:spTgt spid="202847"/>
                                        </p:tgtEl>
                                        <p:attrNameLst>
                                          <p:attrName>ppt_x</p:attrName>
                                          <p:attrName>ppt_y</p:attrName>
                                        </p:attrNameLst>
                                      </p:cBhvr>
                                      <p:rCtr x="394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47" grpId="0" animBg="1"/>
      <p:bldP spid="202847" grpId="1" animBg="1"/>
      <p:bldP spid="202847" grpId="2" animBg="1"/>
      <p:bldP spid="202847" grpId="3" animBg="1"/>
      <p:bldP spid="202847" grpId="4" animBg="1"/>
      <p:bldP spid="202847" grpId="5"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パイプライン・チャートの見方</a:t>
            </a:r>
            <a:br>
              <a:rPr lang="en-US" altLang="ja-JP" dirty="0"/>
            </a:br>
            <a:r>
              <a:rPr lang="ja-JP" altLang="en-US" sz="2000" dirty="0"/>
              <a:t>ここから先で多用されるので重要</a:t>
            </a:r>
            <a:endParaRPr lang="en-US" altLang="ja-JP" dirty="0"/>
          </a:p>
        </p:txBody>
      </p:sp>
      <p:sp>
        <p:nvSpPr>
          <p:cNvPr id="2" name="テキスト プレースホルダー 1"/>
          <p:cNvSpPr>
            <a:spLocks noGrp="1"/>
          </p:cNvSpPr>
          <p:nvPr>
            <p:ph type="body" sz="quarter" idx="10"/>
          </p:nvPr>
        </p:nvSpPr>
        <p:spPr>
          <a:xfrm>
            <a:off x="1415948" y="5409023"/>
            <a:ext cx="9144000" cy="539699"/>
          </a:xfrm>
        </p:spPr>
        <p:txBody>
          <a:bodyPr/>
          <a:lstStyle/>
          <a:p>
            <a:pPr lvl="1"/>
            <a:r>
              <a:rPr kumimoji="1" lang="ja-JP" altLang="en-US" dirty="0"/>
              <a:t>左から右にむかって時間は進む</a:t>
            </a:r>
            <a:endParaRPr kumimoji="1" lang="en-US" altLang="ja-JP" dirty="0"/>
          </a:p>
          <a:p>
            <a:pPr lvl="1"/>
            <a:r>
              <a:rPr kumimoji="1" lang="ja-JP" altLang="en-US" dirty="0"/>
              <a:t>上から下にむかって命令が実行順に置かれる</a:t>
            </a:r>
            <a:endParaRPr kumimoji="1" lang="en-US" altLang="ja-JP" dirty="0"/>
          </a:p>
          <a:p>
            <a:pPr lvl="1"/>
            <a:r>
              <a:rPr kumimoji="1" lang="ja-JP" altLang="en-US" dirty="0"/>
              <a:t>各ステージを表す四角は左側にある命令がその時そこにいることを示す</a:t>
            </a:r>
            <a:endParaRPr kumimoji="1" lang="en-US" altLang="ja-JP" dirty="0"/>
          </a:p>
          <a:p>
            <a:pPr lvl="2"/>
            <a:r>
              <a:rPr kumimoji="1" lang="ja-JP" altLang="en-US" dirty="0"/>
              <a:t>上記では２サイクル目に，</a:t>
            </a:r>
            <a:r>
              <a:rPr kumimoji="1" lang="en-US" altLang="ja-JP" dirty="0"/>
              <a:t>I0 </a:t>
            </a:r>
            <a:r>
              <a:rPr kumimoji="1" lang="ja-JP" altLang="en-US" dirty="0"/>
              <a:t>が </a:t>
            </a:r>
            <a:r>
              <a:rPr kumimoji="1" lang="en-US" altLang="ja-JP" dirty="0"/>
              <a:t>ID </a:t>
            </a:r>
            <a:r>
              <a:rPr kumimoji="1" lang="ja-JP" altLang="en-US" dirty="0"/>
              <a:t>に，</a:t>
            </a:r>
            <a:r>
              <a:rPr kumimoji="1" lang="en-US" altLang="ja-JP" dirty="0"/>
              <a:t>I1 </a:t>
            </a:r>
            <a:r>
              <a:rPr kumimoji="1" lang="ja-JP" altLang="en-US" dirty="0"/>
              <a:t>が </a:t>
            </a:r>
            <a:r>
              <a:rPr kumimoji="1" lang="en-US" altLang="ja-JP" dirty="0"/>
              <a:t>IF </a:t>
            </a:r>
            <a:r>
              <a:rPr kumimoji="1" lang="ja-JP" altLang="en-US" dirty="0"/>
              <a:t>で処理されている</a:t>
            </a:r>
            <a:endParaRPr lang="en-US" altLang="ja-JP" dirty="0"/>
          </a:p>
        </p:txBody>
      </p:sp>
      <p:sp>
        <p:nvSpPr>
          <p:cNvPr id="202776" name="Rectangle 24"/>
          <p:cNvSpPr>
            <a:spLocks noChangeArrowheads="1"/>
          </p:cNvSpPr>
          <p:nvPr/>
        </p:nvSpPr>
        <p:spPr bwMode="auto">
          <a:xfrm>
            <a:off x="2674272"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045622" y="153037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045622" y="216061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045622" y="2789264"/>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045622" y="341950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045622" y="4049739"/>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494885" y="125891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394997"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107784" y="14367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4820572" y="1433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533359" y="143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394997" y="20701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107784" y="20669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4820572" y="2063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533359" y="206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276309" y="20780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107784" y="26971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4820572" y="2694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533359" y="269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276309" y="27083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6995447" y="270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4820572" y="3324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533359" y="3321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276309" y="3338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6995447"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716172"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533359" y="3951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276309" y="3968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6995447"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716172"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435309"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7" name="Rectangle 95"/>
          <p:cNvSpPr>
            <a:spLocks noChangeArrowheads="1"/>
          </p:cNvSpPr>
          <p:nvPr/>
        </p:nvSpPr>
        <p:spPr bwMode="auto">
          <a:xfrm>
            <a:off x="3305970" y="1358978"/>
            <a:ext cx="719137" cy="3150035"/>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605297" y="80965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Tree>
    <p:extLst>
      <p:ext uri="{BB962C8B-B14F-4D97-AF65-F5344CB8AC3E}">
        <p14:creationId xmlns:p14="http://schemas.microsoft.com/office/powerpoint/2010/main" val="1190741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パイプライン化による性能（スループット）向上</a:t>
            </a:r>
            <a:endParaRPr kumimoji="1" lang="ja-JP" altLang="en-US" dirty="0"/>
          </a:p>
        </p:txBody>
      </p:sp>
      <p:cxnSp>
        <p:nvCxnSpPr>
          <p:cNvPr id="96" name="直線矢印コネクタ 95"/>
          <p:cNvCxnSpPr/>
          <p:nvPr/>
        </p:nvCxnSpPr>
        <p:spPr bwMode="auto">
          <a:xfrm>
            <a:off x="2225958"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57"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57"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3"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56"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56"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2765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2" name="グループ化 161"/>
          <p:cNvGrpSpPr/>
          <p:nvPr/>
        </p:nvGrpSpPr>
        <p:grpSpPr>
          <a:xfrm>
            <a:off x="2765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4039104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余談：実際の </a:t>
            </a:r>
            <a:r>
              <a:rPr kumimoji="1" lang="en-US" altLang="ja-JP" dirty="0"/>
              <a:t>CPU </a:t>
            </a:r>
            <a:r>
              <a:rPr kumimoji="1" lang="ja-JP" altLang="en-US" dirty="0"/>
              <a:t>を実行した場合のパイプライン</a:t>
            </a:r>
          </a:p>
        </p:txBody>
      </p:sp>
      <p:sp>
        <p:nvSpPr>
          <p:cNvPr id="3" name="テキスト プレースホルダー 2"/>
          <p:cNvSpPr>
            <a:spLocks noGrp="1"/>
          </p:cNvSpPr>
          <p:nvPr>
            <p:ph type="body" sz="quarter" idx="10"/>
          </p:nvPr>
        </p:nvSpPr>
        <p:spPr>
          <a:xfrm>
            <a:off x="2135956" y="5409023"/>
            <a:ext cx="8280092" cy="899703"/>
          </a:xfrm>
        </p:spPr>
        <p:txBody>
          <a:bodyPr/>
          <a:lstStyle/>
          <a:p>
            <a:r>
              <a:rPr kumimoji="1" lang="ja-JP" altLang="en-US" dirty="0"/>
              <a:t>塩谷が開発している </a:t>
            </a:r>
            <a:r>
              <a:rPr kumimoji="1" lang="en-US" altLang="ja-JP" dirty="0"/>
              <a:t>RISC-V CPU</a:t>
            </a:r>
            <a:r>
              <a:rPr lang="ja-JP" altLang="en-US" dirty="0"/>
              <a:t>（</a:t>
            </a:r>
            <a:r>
              <a:rPr lang="en-US" altLang="ja-JP" dirty="0"/>
              <a:t>RSD</a:t>
            </a:r>
            <a:r>
              <a:rPr lang="ja-JP" altLang="en-US" dirty="0"/>
              <a:t>）</a:t>
            </a:r>
            <a:r>
              <a:rPr kumimoji="1" lang="ja-JP" altLang="en-US" dirty="0"/>
              <a:t>の実行を可視化したもの</a:t>
            </a:r>
            <a:endParaRPr kumimoji="1" lang="en-US" altLang="ja-JP" dirty="0"/>
          </a:p>
          <a:p>
            <a:pPr lvl="1"/>
            <a:r>
              <a:rPr kumimoji="1" lang="en-US" altLang="ja-JP" dirty="0">
                <a:hlinkClick r:id="rId2"/>
              </a:rPr>
              <a:t>https://github.com/rsd-devel/rsd</a:t>
            </a:r>
            <a:endParaRPr lang="en-US" altLang="ja-JP" dirty="0"/>
          </a:p>
          <a:p>
            <a:pPr lvl="1"/>
            <a:r>
              <a:rPr lang="en-US" altLang="ja-JP" dirty="0"/>
              <a:t>out-of-order </a:t>
            </a:r>
            <a:r>
              <a:rPr lang="ja-JP" altLang="en-US" dirty="0"/>
              <a:t>実行をしているので，途中からプログラム順とは</a:t>
            </a:r>
            <a:br>
              <a:rPr lang="en-US" altLang="ja-JP" dirty="0"/>
            </a:br>
            <a:r>
              <a:rPr lang="ja-JP" altLang="en-US" dirty="0"/>
              <a:t>異なるタイミングで実行が進んでいる</a:t>
            </a:r>
            <a:endParaRPr kumimoji="1" lang="ja-JP" altLang="en-US" dirty="0"/>
          </a:p>
        </p:txBody>
      </p:sp>
      <p:pic>
        <p:nvPicPr>
          <p:cNvPr id="4" name="図 3"/>
          <p:cNvPicPr>
            <a:picLocks noChangeAspect="1"/>
          </p:cNvPicPr>
          <p:nvPr/>
        </p:nvPicPr>
        <p:blipFill>
          <a:blip r:embed="rId3"/>
          <a:stretch>
            <a:fillRect/>
          </a:stretch>
        </p:blipFill>
        <p:spPr>
          <a:xfrm>
            <a:off x="2765964" y="998973"/>
            <a:ext cx="6708853" cy="3960044"/>
          </a:xfrm>
          <a:prstGeom prst="rect">
            <a:avLst/>
          </a:prstGeom>
        </p:spPr>
      </p:pic>
    </p:spTree>
    <p:extLst>
      <p:ext uri="{BB962C8B-B14F-4D97-AF65-F5344CB8AC3E}">
        <p14:creationId xmlns:p14="http://schemas.microsoft.com/office/powerpoint/2010/main" val="581280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ja-JP" altLang="en-US"/>
              <a:t>パイプライン化の効果</a:t>
            </a:r>
            <a:endParaRPr lang="ja-JP" altLang="en-US" dirty="0"/>
          </a:p>
        </p:txBody>
      </p:sp>
      <p:sp>
        <p:nvSpPr>
          <p:cNvPr id="204803" name="Rectangle 3"/>
          <p:cNvSpPr>
            <a:spLocks noGrp="1" noChangeArrowheads="1"/>
          </p:cNvSpPr>
          <p:nvPr>
            <p:ph type="body" idx="10"/>
          </p:nvPr>
        </p:nvSpPr>
        <p:spPr>
          <a:xfrm>
            <a:off x="2135188" y="1089025"/>
            <a:ext cx="8280400" cy="5219700"/>
          </a:xfrm>
        </p:spPr>
        <p:txBody>
          <a:bodyPr/>
          <a:lstStyle/>
          <a:p>
            <a:r>
              <a:rPr lang="ja-JP" altLang="en-US" dirty="0"/>
              <a:t>レイテンシ </a:t>
            </a:r>
            <a:r>
              <a:rPr lang="en-US" altLang="ja-JP" dirty="0"/>
              <a:t>(latency)</a:t>
            </a:r>
            <a:r>
              <a:rPr lang="ja-JP" altLang="en-US" dirty="0"/>
              <a:t>：</a:t>
            </a:r>
            <a:r>
              <a:rPr lang="en-US" altLang="ja-JP" dirty="0"/>
              <a:t>	</a:t>
            </a:r>
            <a:r>
              <a:rPr lang="ja-JP" altLang="en-US" dirty="0"/>
              <a:t>　</a:t>
            </a:r>
            <a:r>
              <a:rPr lang="ja-JP" altLang="en-US" dirty="0">
                <a:solidFill>
                  <a:schemeClr val="accent5"/>
                </a:solidFill>
              </a:rPr>
              <a:t>短くならない（か，やや延びる）</a:t>
            </a:r>
            <a:endParaRPr lang="en-US" altLang="ja-JP" dirty="0">
              <a:solidFill>
                <a:schemeClr val="accent5"/>
              </a:solidFill>
            </a:endParaRPr>
          </a:p>
          <a:p>
            <a:pPr lvl="1"/>
            <a:r>
              <a:rPr lang="ja-JP" altLang="en-US" dirty="0"/>
              <a:t>一続きの処理が始まってから終わるまでにかかる時間</a:t>
            </a:r>
            <a:endParaRPr lang="en-US" altLang="ja-JP" dirty="0"/>
          </a:p>
          <a:p>
            <a:pPr lvl="1"/>
            <a:r>
              <a:rPr lang="ja-JP" altLang="en-US" dirty="0"/>
              <a:t>この場合，</a:t>
            </a:r>
            <a:r>
              <a:rPr lang="en-US" altLang="ja-JP" dirty="0"/>
              <a:t>1</a:t>
            </a:r>
            <a:r>
              <a:rPr lang="ja-JP" altLang="en-US" dirty="0"/>
              <a:t>命令の始まりから終わりまでの処理時間</a:t>
            </a:r>
            <a:endParaRPr lang="en-US" altLang="ja-JP" dirty="0"/>
          </a:p>
          <a:p>
            <a:pPr lvl="1"/>
            <a:r>
              <a:rPr lang="ja-JP" altLang="en-US" dirty="0"/>
              <a:t>原理的に短くならない（ステージ間に</a:t>
            </a:r>
            <a:r>
              <a:rPr lang="en-US" altLang="ja-JP" dirty="0"/>
              <a:t>FF </a:t>
            </a:r>
            <a:r>
              <a:rPr lang="ja-JP" altLang="en-US" dirty="0"/>
              <a:t>が入る分のびる）</a:t>
            </a:r>
          </a:p>
          <a:p>
            <a:r>
              <a:rPr lang="ja-JP" altLang="en-US" dirty="0"/>
              <a:t>スループット </a:t>
            </a:r>
            <a:r>
              <a:rPr lang="en-US" altLang="ja-JP" dirty="0"/>
              <a:t>(throughput)</a:t>
            </a:r>
            <a:r>
              <a:rPr lang="ja-JP" altLang="en-US" dirty="0"/>
              <a:t>：　</a:t>
            </a:r>
            <a:r>
              <a:rPr lang="ja-JP" altLang="en-US" dirty="0">
                <a:solidFill>
                  <a:schemeClr val="accent5"/>
                </a:solidFill>
              </a:rPr>
              <a:t>ステージ数倍だけ上がる</a:t>
            </a:r>
            <a:endParaRPr lang="en-US" altLang="ja-JP" dirty="0">
              <a:solidFill>
                <a:schemeClr val="accent5"/>
              </a:solidFill>
            </a:endParaRPr>
          </a:p>
          <a:p>
            <a:pPr lvl="1"/>
            <a:r>
              <a:rPr lang="ja-JP" altLang="en-US" dirty="0"/>
              <a:t>単位時間当たりの処理量</a:t>
            </a:r>
            <a:endParaRPr lang="en-US" altLang="ja-JP" dirty="0"/>
          </a:p>
          <a:p>
            <a:pPr lvl="1"/>
            <a:r>
              <a:rPr lang="ja-JP" altLang="en-US" dirty="0"/>
              <a:t>この場合，単位時間あたりに実行される命令数</a:t>
            </a:r>
          </a:p>
        </p:txBody>
      </p:sp>
    </p:spTree>
    <p:extLst>
      <p:ext uri="{BB962C8B-B14F-4D97-AF65-F5344CB8AC3E}">
        <p14:creationId xmlns:p14="http://schemas.microsoft.com/office/powerpoint/2010/main" val="445213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a:xfrm>
            <a:off x="2135956" y="1088975"/>
            <a:ext cx="8280092" cy="2430027"/>
          </a:xfrm>
        </p:spPr>
        <p:txBody>
          <a:bodyPr anchor="t"/>
          <a:lstStyle/>
          <a:p>
            <a:r>
              <a:rPr lang="ja-JP" altLang="en-US" dirty="0"/>
              <a:t>大きな回路のまとまりをステージにする</a:t>
            </a:r>
            <a:endParaRPr lang="en-US" altLang="ja-JP" dirty="0"/>
          </a:p>
          <a:p>
            <a:pPr lvl="1"/>
            <a:r>
              <a:rPr lang="ja-JP" altLang="en-US" dirty="0"/>
              <a:t>回路のまとまりが大きい → 遅延も大きい</a:t>
            </a:r>
            <a:endParaRPr lang="en-US" altLang="ja-JP" dirty="0"/>
          </a:p>
          <a:p>
            <a:r>
              <a:rPr lang="ja-JP" altLang="en-US" dirty="0"/>
              <a:t>この遅延の大きさが揃っていないと，綺麗にうごかない</a:t>
            </a:r>
            <a:endParaRPr lang="en-US" altLang="ja-JP" dirty="0"/>
          </a:p>
          <a:p>
            <a:pPr lvl="1"/>
            <a:r>
              <a:rPr kumimoji="1" lang="ja-JP" altLang="en-US" dirty="0"/>
              <a:t>パイプライン全体は，一番遅いステージの遅延にあわせて動く</a:t>
            </a:r>
            <a:endParaRPr kumimoji="1" lang="en-US" altLang="ja-JP" dirty="0"/>
          </a:p>
          <a:p>
            <a:pPr lvl="1"/>
            <a:r>
              <a:rPr kumimoji="1" lang="ja-JP" altLang="en-US" dirty="0"/>
              <a:t>他の人が仕事が終わったからと言って，先に送れない</a:t>
            </a:r>
            <a:endParaRPr kumimoji="1" lang="en-US" altLang="ja-JP" dirty="0"/>
          </a:p>
          <a:p>
            <a:r>
              <a:rPr kumimoji="1" lang="ja-JP" altLang="en-US" dirty="0"/>
              <a:t>良くない例：緑の人だけ仕事が多いので，全体が動かせない</a:t>
            </a:r>
            <a:endParaRPr kumimoji="1" lang="en-US" altLang="ja-JP" dirty="0"/>
          </a:p>
        </p:txBody>
      </p:sp>
      <p:grpSp>
        <p:nvGrpSpPr>
          <p:cNvPr id="4" name="グループ化 3"/>
          <p:cNvGrpSpPr/>
          <p:nvPr/>
        </p:nvGrpSpPr>
        <p:grpSpPr>
          <a:xfrm>
            <a:off x="2405959" y="594902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3845975" y="5949028"/>
            <a:ext cx="2880032"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603350" y="594902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043510" y="594902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367799" y="508448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5982" y="5139019"/>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567077" y="510306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007237"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角丸四角形吹き出し 20"/>
          <p:cNvSpPr/>
          <p:nvPr/>
        </p:nvSpPr>
        <p:spPr bwMode="auto">
          <a:xfrm>
            <a:off x="5015989" y="4419011"/>
            <a:ext cx="2430027"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なんか仕事おおいんだけど</a:t>
            </a:r>
          </a:p>
        </p:txBody>
      </p:sp>
      <p:sp>
        <p:nvSpPr>
          <p:cNvPr id="22" name="角丸四角形吹き出し 21"/>
          <p:cNvSpPr/>
          <p:nvPr/>
        </p:nvSpPr>
        <p:spPr bwMode="auto">
          <a:xfrm>
            <a:off x="2855964" y="4419011"/>
            <a:ext cx="1260014"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はよせんかい</a:t>
            </a:r>
          </a:p>
        </p:txBody>
      </p:sp>
      <p:sp>
        <p:nvSpPr>
          <p:cNvPr id="23" name="角丸四角形 22"/>
          <p:cNvSpPr/>
          <p:nvPr/>
        </p:nvSpPr>
        <p:spPr bwMode="auto">
          <a:xfrm>
            <a:off x="483598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4" name="角丸四角形 23"/>
          <p:cNvSpPr/>
          <p:nvPr/>
        </p:nvSpPr>
        <p:spPr bwMode="auto">
          <a:xfrm>
            <a:off x="30359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5" name="角丸四角形 24"/>
          <p:cNvSpPr/>
          <p:nvPr/>
        </p:nvSpPr>
        <p:spPr bwMode="auto">
          <a:xfrm>
            <a:off x="69630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6" name="角丸四角形 25"/>
          <p:cNvSpPr/>
          <p:nvPr/>
        </p:nvSpPr>
        <p:spPr bwMode="auto">
          <a:xfrm>
            <a:off x="8313081"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7" name="角丸四角形吹き出し 26"/>
          <p:cNvSpPr/>
          <p:nvPr/>
        </p:nvSpPr>
        <p:spPr bwMode="auto">
          <a:xfrm>
            <a:off x="8796030" y="4419011"/>
            <a:ext cx="1260014" cy="432646"/>
          </a:xfrm>
          <a:prstGeom prst="wedgeRoundRectCallout">
            <a:avLst>
              <a:gd name="adj1" fmla="val -51493"/>
              <a:gd name="adj2" fmla="val 13979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まだー？</a:t>
            </a:r>
          </a:p>
        </p:txBody>
      </p:sp>
    </p:spTree>
    <p:extLst>
      <p:ext uri="{BB962C8B-B14F-4D97-AF65-F5344CB8AC3E}">
        <p14:creationId xmlns:p14="http://schemas.microsoft.com/office/powerpoint/2010/main" val="1112537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p:txBody>
          <a:bodyPr/>
          <a:lstStyle/>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r>
              <a:rPr kumimoji="1" lang="ja-JP" altLang="en-US" dirty="0"/>
              <a:t>上記では，デコードとレジスタ読み出しが </a:t>
            </a:r>
            <a:r>
              <a:rPr kumimoji="1" lang="en-US" altLang="ja-JP" dirty="0"/>
              <a:t>ID </a:t>
            </a:r>
            <a:r>
              <a:rPr kumimoji="1" lang="ja-JP" altLang="en-US" dirty="0"/>
              <a:t>ステージにまとめられている</a:t>
            </a:r>
            <a:endParaRPr kumimoji="1" lang="en-US" altLang="ja-JP" dirty="0"/>
          </a:p>
          <a:p>
            <a:pPr lvl="1"/>
            <a:r>
              <a:rPr kumimoji="1" lang="ja-JP" altLang="en-US" dirty="0"/>
              <a:t>デコードにかかる遅延はほとんどない</a:t>
            </a:r>
            <a:endParaRPr kumimoji="1" lang="en-US" altLang="ja-JP" dirty="0"/>
          </a:p>
          <a:p>
            <a:pPr lvl="1"/>
            <a:r>
              <a:rPr kumimoji="1" lang="ja-JP" altLang="en-US" dirty="0"/>
              <a:t>読み出した命令からオペランドを取り出すのは，単に信号線を繋ぐだけで良い</a:t>
            </a:r>
          </a:p>
        </p:txBody>
      </p:sp>
    </p:spTree>
    <p:extLst>
      <p:ext uri="{BB962C8B-B14F-4D97-AF65-F5344CB8AC3E}">
        <p14:creationId xmlns:p14="http://schemas.microsoft.com/office/powerpoint/2010/main" val="3800762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ステージを「どうやって」切るか</a:t>
            </a:r>
          </a:p>
        </p:txBody>
      </p:sp>
      <p:sp>
        <p:nvSpPr>
          <p:cNvPr id="3" name="テキスト プレースホルダー 2"/>
          <p:cNvSpPr>
            <a:spLocks noGrp="1"/>
          </p:cNvSpPr>
          <p:nvPr>
            <p:ph type="body" sz="quarter" idx="10"/>
          </p:nvPr>
        </p:nvSpPr>
        <p:spPr>
          <a:xfrm>
            <a:off x="2135956" y="1088975"/>
            <a:ext cx="8280092" cy="2430027"/>
          </a:xfrm>
        </p:spPr>
        <p:txBody>
          <a:bodyPr anchor="t"/>
          <a:lstStyle/>
          <a:p>
            <a:r>
              <a:rPr kumimoji="1" lang="ja-JP" altLang="en-US" dirty="0"/>
              <a:t>シングル・サイクル・プロセッサの回路に適当に間隔をあけて命令を流せばよいというものもない</a:t>
            </a:r>
            <a:endParaRPr kumimoji="1" lang="en-US" altLang="ja-JP" dirty="0"/>
          </a:p>
          <a:p>
            <a:pPr marL="457200" indent="-457200">
              <a:buFont typeface="+mj-lt"/>
              <a:buAutoNum type="arabicPeriod"/>
            </a:pPr>
            <a:r>
              <a:rPr kumimoji="1" lang="ja-JP" altLang="en-US" dirty="0"/>
              <a:t>各ステージを完全に同じ長さにすることは凄く難しい</a:t>
            </a:r>
            <a:endParaRPr kumimoji="1" lang="en-US" altLang="ja-JP" dirty="0"/>
          </a:p>
          <a:p>
            <a:pPr lvl="1"/>
            <a:r>
              <a:rPr kumimoji="1" lang="ja-JP" altLang="en-US" dirty="0"/>
              <a:t>同じ長さ</a:t>
            </a:r>
            <a:r>
              <a:rPr kumimoji="1" lang="en-US" altLang="ja-JP" dirty="0"/>
              <a:t>=</a:t>
            </a:r>
            <a:r>
              <a:rPr kumimoji="1" lang="ja-JP" altLang="en-US" dirty="0"/>
              <a:t>同じ遅延</a:t>
            </a:r>
            <a:r>
              <a:rPr kumimoji="1" lang="en-US" altLang="ja-JP" dirty="0"/>
              <a:t>=</a:t>
            </a:r>
            <a:r>
              <a:rPr kumimoji="1" lang="ja-JP" altLang="en-US" dirty="0"/>
              <a:t>全く同じ段数の組み合わせ回路</a:t>
            </a:r>
            <a:endParaRPr kumimoji="1" lang="en-US" altLang="ja-JP" dirty="0"/>
          </a:p>
          <a:p>
            <a:pPr marL="457200" indent="-457200">
              <a:buFont typeface="+mj-lt"/>
              <a:buAutoNum type="arabicPeriod"/>
            </a:pPr>
            <a:r>
              <a:rPr kumimoji="1" lang="ja-JP" altLang="en-US" dirty="0"/>
              <a:t>長いステージであっても信号は絶えず変化する可能性がある</a:t>
            </a:r>
            <a:endParaRPr kumimoji="1" lang="en-US" altLang="ja-JP" dirty="0"/>
          </a:p>
          <a:p>
            <a:pPr lvl="1"/>
            <a:r>
              <a:rPr kumimoji="1" lang="ja-JP" altLang="en-US" dirty="0"/>
              <a:t>短いパスから順に出力に反映される</a:t>
            </a:r>
            <a:endParaRPr kumimoji="1" lang="en-US" altLang="ja-JP" dirty="0"/>
          </a:p>
          <a:p>
            <a:pPr lvl="1"/>
            <a:r>
              <a:rPr kumimoji="1" lang="ja-JP" altLang="en-US" dirty="0"/>
              <a:t>たとえば下の回路で </a:t>
            </a:r>
            <a:r>
              <a:rPr kumimoji="1" lang="en-US" altLang="ja-JP" i="1" dirty="0" err="1"/>
              <a:t>a,b,c,d</a:t>
            </a:r>
            <a:r>
              <a:rPr kumimoji="1" lang="en-US" altLang="ja-JP" i="1" dirty="0"/>
              <a:t> </a:t>
            </a:r>
            <a:r>
              <a:rPr kumimoji="1" lang="ja-JP" altLang="en-US" i="1" dirty="0"/>
              <a:t>が全て変化したとすると，</a:t>
            </a:r>
            <a:br>
              <a:rPr kumimoji="1" lang="en-US" altLang="ja-JP" i="1" dirty="0"/>
            </a:br>
            <a:r>
              <a:rPr kumimoji="1" lang="ja-JP" altLang="en-US" dirty="0"/>
              <a:t>まず </a:t>
            </a:r>
            <a:r>
              <a:rPr kumimoji="1" lang="en-US" altLang="ja-JP" i="1" dirty="0"/>
              <a:t>d </a:t>
            </a:r>
            <a:r>
              <a:rPr kumimoji="1" lang="ja-JP" altLang="en-US" i="1" dirty="0"/>
              <a:t>の変化が </a:t>
            </a:r>
            <a:r>
              <a:rPr kumimoji="1" lang="en-US" altLang="ja-JP" i="1" dirty="0"/>
              <a:t>z </a:t>
            </a:r>
            <a:r>
              <a:rPr kumimoji="1" lang="ja-JP" altLang="en-US" i="1" dirty="0"/>
              <a:t>に反映し，次に </a:t>
            </a:r>
            <a:r>
              <a:rPr kumimoji="1" lang="en-US" altLang="ja-JP" i="1" dirty="0"/>
              <a:t>d </a:t>
            </a:r>
            <a:r>
              <a:rPr kumimoji="1" lang="ja-JP" altLang="en-US" i="1" dirty="0"/>
              <a:t>が･･･</a:t>
            </a:r>
            <a:endParaRPr kumimoji="1" lang="en-US" altLang="ja-JP" dirty="0"/>
          </a:p>
        </p:txBody>
      </p:sp>
      <p:sp>
        <p:nvSpPr>
          <p:cNvPr id="29" name="Line 9"/>
          <p:cNvSpPr>
            <a:spLocks noChangeShapeType="1"/>
          </p:cNvSpPr>
          <p:nvPr/>
        </p:nvSpPr>
        <p:spPr bwMode="auto">
          <a:xfrm>
            <a:off x="4296108" y="495804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0"/>
          <p:cNvSpPr>
            <a:spLocks noChangeShapeType="1"/>
          </p:cNvSpPr>
          <p:nvPr/>
        </p:nvSpPr>
        <p:spPr bwMode="auto">
          <a:xfrm>
            <a:off x="4296108" y="5318406"/>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11"/>
          <p:cNvSpPr>
            <a:spLocks noChangeShapeType="1"/>
          </p:cNvSpPr>
          <p:nvPr/>
        </p:nvSpPr>
        <p:spPr bwMode="auto">
          <a:xfrm>
            <a:off x="5286708" y="5137431"/>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2" name="Line 12"/>
          <p:cNvSpPr>
            <a:spLocks noChangeShapeType="1"/>
          </p:cNvSpPr>
          <p:nvPr/>
        </p:nvSpPr>
        <p:spPr bwMode="auto">
          <a:xfrm flipV="1">
            <a:off x="5736125" y="5138661"/>
            <a:ext cx="89873" cy="973"/>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3"/>
          <p:cNvSpPr>
            <a:spLocks noChangeShapeType="1"/>
          </p:cNvSpPr>
          <p:nvPr/>
        </p:nvSpPr>
        <p:spPr bwMode="auto">
          <a:xfrm flipV="1">
            <a:off x="5556123" y="5498664"/>
            <a:ext cx="269875" cy="133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4"/>
          <p:cNvSpPr>
            <a:spLocks noChangeShapeType="1"/>
          </p:cNvSpPr>
          <p:nvPr/>
        </p:nvSpPr>
        <p:spPr bwMode="auto">
          <a:xfrm flipV="1">
            <a:off x="6456005" y="5318662"/>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5" name="Rectangle 18"/>
          <p:cNvSpPr>
            <a:spLocks noChangeArrowheads="1"/>
          </p:cNvSpPr>
          <p:nvPr/>
        </p:nvSpPr>
        <p:spPr bwMode="auto">
          <a:xfrm>
            <a:off x="3935746" y="4778657"/>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36" name="Rectangle 20"/>
          <p:cNvSpPr>
            <a:spLocks noChangeArrowheads="1"/>
          </p:cNvSpPr>
          <p:nvPr/>
        </p:nvSpPr>
        <p:spPr bwMode="auto">
          <a:xfrm>
            <a:off x="3935746" y="5137432"/>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pic>
        <p:nvPicPr>
          <p:cNvPr id="43" name="Picture 7" descr="OR"/>
          <p:cNvPicPr>
            <a:picLocks noChangeAspect="1" noChangeArrowheads="1"/>
          </p:cNvPicPr>
          <p:nvPr/>
        </p:nvPicPr>
        <p:blipFill>
          <a:blip r:embed="rId2" cstate="print"/>
          <a:srcRect/>
          <a:stretch>
            <a:fillRect/>
          </a:stretch>
        </p:blipFill>
        <p:spPr bwMode="auto">
          <a:xfrm>
            <a:off x="5645995" y="4958658"/>
            <a:ext cx="1079500" cy="717550"/>
          </a:xfrm>
          <a:prstGeom prst="rect">
            <a:avLst/>
          </a:prstGeom>
          <a:noFill/>
        </p:spPr>
      </p:pic>
      <p:pic>
        <p:nvPicPr>
          <p:cNvPr id="45" name="Picture 6" descr="AND"/>
          <p:cNvPicPr>
            <a:picLocks noChangeAspect="1" noChangeArrowheads="1"/>
          </p:cNvPicPr>
          <p:nvPr/>
        </p:nvPicPr>
        <p:blipFill>
          <a:blip r:embed="rId3" cstate="print"/>
          <a:srcRect/>
          <a:stretch>
            <a:fillRect/>
          </a:stretch>
        </p:blipFill>
        <p:spPr bwMode="auto">
          <a:xfrm>
            <a:off x="4565983" y="4778657"/>
            <a:ext cx="1079500" cy="720725"/>
          </a:xfrm>
          <a:prstGeom prst="rect">
            <a:avLst/>
          </a:prstGeom>
          <a:noFill/>
        </p:spPr>
      </p:pic>
      <p:sp>
        <p:nvSpPr>
          <p:cNvPr id="46" name="Line 10"/>
          <p:cNvSpPr>
            <a:spLocks noChangeShapeType="1"/>
          </p:cNvSpPr>
          <p:nvPr/>
        </p:nvSpPr>
        <p:spPr bwMode="auto">
          <a:xfrm>
            <a:off x="6546133" y="567841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47" name="Picture 6" descr="AND"/>
          <p:cNvPicPr>
            <a:picLocks noChangeAspect="1" noChangeArrowheads="1"/>
          </p:cNvPicPr>
          <p:nvPr/>
        </p:nvPicPr>
        <p:blipFill>
          <a:blip r:embed="rId3" cstate="print"/>
          <a:srcRect/>
          <a:stretch>
            <a:fillRect/>
          </a:stretch>
        </p:blipFill>
        <p:spPr bwMode="auto">
          <a:xfrm>
            <a:off x="6726007" y="5138661"/>
            <a:ext cx="1079500" cy="720725"/>
          </a:xfrm>
          <a:prstGeom prst="rect">
            <a:avLst/>
          </a:prstGeom>
          <a:noFill/>
        </p:spPr>
      </p:pic>
      <p:sp>
        <p:nvSpPr>
          <p:cNvPr id="48" name="Line 13"/>
          <p:cNvSpPr>
            <a:spLocks noChangeShapeType="1"/>
          </p:cNvSpPr>
          <p:nvPr/>
        </p:nvSpPr>
        <p:spPr bwMode="auto">
          <a:xfrm flipV="1">
            <a:off x="5555995" y="5498664"/>
            <a:ext cx="231" cy="18000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9" name="Line 13"/>
          <p:cNvSpPr>
            <a:spLocks noChangeShapeType="1"/>
          </p:cNvSpPr>
          <p:nvPr/>
        </p:nvSpPr>
        <p:spPr bwMode="auto">
          <a:xfrm>
            <a:off x="4295981" y="5678666"/>
            <a:ext cx="126001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0" name="Line 13"/>
          <p:cNvSpPr>
            <a:spLocks noChangeShapeType="1"/>
          </p:cNvSpPr>
          <p:nvPr/>
        </p:nvSpPr>
        <p:spPr bwMode="auto">
          <a:xfrm>
            <a:off x="4295981" y="6038670"/>
            <a:ext cx="2250025"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1" name="Line 13"/>
          <p:cNvSpPr>
            <a:spLocks noChangeShapeType="1"/>
          </p:cNvSpPr>
          <p:nvPr/>
        </p:nvSpPr>
        <p:spPr bwMode="auto">
          <a:xfrm flipV="1">
            <a:off x="6546006" y="5678666"/>
            <a:ext cx="231" cy="360004"/>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2" name="Rectangle 20"/>
          <p:cNvSpPr>
            <a:spLocks noChangeArrowheads="1"/>
          </p:cNvSpPr>
          <p:nvPr/>
        </p:nvSpPr>
        <p:spPr bwMode="auto">
          <a:xfrm>
            <a:off x="3935977" y="5498665"/>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sp>
        <p:nvSpPr>
          <p:cNvPr id="53" name="Rectangle 20"/>
          <p:cNvSpPr>
            <a:spLocks noChangeArrowheads="1"/>
          </p:cNvSpPr>
          <p:nvPr/>
        </p:nvSpPr>
        <p:spPr bwMode="auto">
          <a:xfrm>
            <a:off x="3935977" y="5858669"/>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d</a:t>
            </a:r>
          </a:p>
        </p:txBody>
      </p:sp>
      <p:sp>
        <p:nvSpPr>
          <p:cNvPr id="54" name="Line 10"/>
          <p:cNvSpPr>
            <a:spLocks noChangeShapeType="1"/>
          </p:cNvSpPr>
          <p:nvPr/>
        </p:nvSpPr>
        <p:spPr bwMode="auto">
          <a:xfrm>
            <a:off x="7536017" y="5498664"/>
            <a:ext cx="27000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6" name="Rectangle 20"/>
          <p:cNvSpPr>
            <a:spLocks noChangeArrowheads="1"/>
          </p:cNvSpPr>
          <p:nvPr/>
        </p:nvSpPr>
        <p:spPr bwMode="auto">
          <a:xfrm>
            <a:off x="7806020" y="5318663"/>
            <a:ext cx="360363" cy="360363"/>
          </a:xfrm>
          <a:prstGeom prst="rect">
            <a:avLst/>
          </a:prstGeom>
          <a:noFill/>
          <a:ln w="28575">
            <a:noFill/>
            <a:miter lim="800000"/>
            <a:headEnd/>
            <a:tailEnd/>
          </a:ln>
          <a:effectLst/>
        </p:spPr>
        <p:txBody>
          <a:bodyPr wrap="none" anchor="ctr"/>
          <a:lstStyle/>
          <a:p>
            <a:pPr algn="ctr"/>
            <a:r>
              <a:rPr lang="ja-JP" altLang="en-US" sz="2000" i="1" dirty="0" err="1">
                <a:ea typeface="MeiryoKe_PGothic" pitchFamily="50" charset="-128"/>
              </a:rPr>
              <a:t>ｚ</a:t>
            </a:r>
            <a:endParaRPr lang="en-US" altLang="ja-JP" sz="2000" i="1" dirty="0">
              <a:ea typeface="MeiryoKe_PGothic" pitchFamily="50" charset="-128"/>
            </a:endParaRPr>
          </a:p>
        </p:txBody>
      </p:sp>
    </p:spTree>
    <p:extLst>
      <p:ext uri="{BB962C8B-B14F-4D97-AF65-F5344CB8AC3E}">
        <p14:creationId xmlns:p14="http://schemas.microsoft.com/office/powerpoint/2010/main" val="327800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パイプライン化（オーバーラップ）の実現方法</a:t>
            </a:r>
          </a:p>
        </p:txBody>
      </p:sp>
      <p:sp>
        <p:nvSpPr>
          <p:cNvPr id="3" name="テキスト プレースホルダー 2"/>
          <p:cNvSpPr>
            <a:spLocks noGrp="1"/>
          </p:cNvSpPr>
          <p:nvPr>
            <p:ph type="body" sz="quarter" idx="10"/>
          </p:nvPr>
        </p:nvSpPr>
        <p:spPr>
          <a:xfrm>
            <a:off x="1595951" y="5589024"/>
            <a:ext cx="8820098" cy="449698"/>
          </a:xfrm>
        </p:spPr>
        <p:txBody>
          <a:bodyPr/>
          <a:lstStyle/>
          <a:p>
            <a:pPr lvl="1"/>
            <a:r>
              <a:rPr kumimoji="1" lang="ja-JP" altLang="en-US" dirty="0"/>
              <a:t>各ステージの間に，</a:t>
            </a:r>
            <a:r>
              <a:rPr kumimoji="1" lang="en-US" altLang="ja-JP" dirty="0"/>
              <a:t>D-FF</a:t>
            </a:r>
            <a:r>
              <a:rPr kumimoji="1" lang="ja-JP" altLang="en-US" dirty="0"/>
              <a:t>（オレンジの四角）をいれる</a:t>
            </a:r>
            <a:endParaRPr kumimoji="1" lang="en-US" altLang="ja-JP" dirty="0"/>
          </a:p>
          <a:p>
            <a:pPr lvl="2"/>
            <a:r>
              <a:rPr kumimoji="1" lang="en-US" altLang="ja-JP" dirty="0"/>
              <a:t>WB </a:t>
            </a:r>
            <a:r>
              <a:rPr kumimoji="1" lang="ja-JP" altLang="en-US" dirty="0"/>
              <a:t>の書き込みについては，レジスタ・ファイル自体が</a:t>
            </a:r>
            <a:br>
              <a:rPr kumimoji="1" lang="en-US" altLang="ja-JP" dirty="0"/>
            </a:br>
            <a:r>
              <a:rPr kumimoji="1" lang="ja-JP" altLang="en-US" dirty="0"/>
              <a:t>クロックに同期して書き込みが行われるので </a:t>
            </a:r>
            <a:r>
              <a:rPr kumimoji="1" lang="en-US" altLang="ja-JP" dirty="0"/>
              <a:t>D-FF </a:t>
            </a:r>
            <a:r>
              <a:rPr kumimoji="1" lang="ja-JP" altLang="en-US" dirty="0"/>
              <a:t>は不要</a:t>
            </a:r>
            <a:endParaRPr kumimoji="1" lang="en-US" altLang="ja-JP" dirty="0"/>
          </a:p>
          <a:p>
            <a:pPr lvl="1"/>
            <a:r>
              <a:rPr kumimoji="1" lang="ja-JP" altLang="en-US" dirty="0"/>
              <a:t>各ステージの処理が早く終わっても，次のクロックまでは </a:t>
            </a:r>
            <a:r>
              <a:rPr kumimoji="1" lang="en-US" altLang="ja-JP" dirty="0"/>
              <a:t>D-FF </a:t>
            </a:r>
            <a:r>
              <a:rPr kumimoji="1" lang="ja-JP" altLang="en-US" dirty="0"/>
              <a:t>で</a:t>
            </a:r>
            <a:br>
              <a:rPr kumimoji="1" lang="en-US" altLang="ja-JP" dirty="0"/>
            </a:br>
            <a:r>
              <a:rPr kumimoji="1" lang="ja-JP" altLang="en-US" dirty="0"/>
              <a:t>信号の伝搬は止まる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76"/>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76"/>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76"/>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76"/>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149395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55556E-7 7.40741E-7 L 0.23611 0.00023 " pathEditMode="relative" rAng="0" ptsTypes="AA">
                                      <p:cBhvr>
                                        <p:cTn id="6" dur="1000" fill="hold"/>
                                        <p:tgtEl>
                                          <p:spTgt spid="55"/>
                                        </p:tgtEl>
                                        <p:attrNameLst>
                                          <p:attrName>ppt_x</p:attrName>
                                          <p:attrName>ppt_y</p:attrName>
                                        </p:attrNameLst>
                                      </p:cBhvr>
                                      <p:rCtr x="11806"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23611 0.00023 L 0.43299 0.00023 " pathEditMode="relative" rAng="0" ptsTypes="AA">
                                      <p:cBhvr>
                                        <p:cTn id="10" dur="1000" fill="hold"/>
                                        <p:tgtEl>
                                          <p:spTgt spid="55"/>
                                        </p:tgtEl>
                                        <p:attrNameLst>
                                          <p:attrName>ppt_x</p:attrName>
                                          <p:attrName>ppt_y</p:attrName>
                                        </p:attrNameLst>
                                      </p:cBhvr>
                                      <p:rCtr x="984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43299 0.00023 L 0.64965 0.00023 " pathEditMode="relative" rAng="0" ptsTypes="AA">
                                      <p:cBhvr>
                                        <p:cTn id="14" dur="1000" fill="hold"/>
                                        <p:tgtEl>
                                          <p:spTgt spid="55"/>
                                        </p:tgtEl>
                                        <p:attrNameLst>
                                          <p:attrName>ppt_x</p:attrName>
                                          <p:attrName>ppt_y</p:attrName>
                                        </p:attrNameLst>
                                      </p:cBhvr>
                                      <p:rCtr x="108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5" grpId="2"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余談：非同期回路やウェーブ・パイプライン</a:t>
            </a:r>
          </a:p>
        </p:txBody>
      </p:sp>
      <p:sp>
        <p:nvSpPr>
          <p:cNvPr id="3" name="テキスト プレースホルダー 2"/>
          <p:cNvSpPr>
            <a:spLocks noGrp="1"/>
          </p:cNvSpPr>
          <p:nvPr>
            <p:ph type="body" sz="quarter" idx="10"/>
          </p:nvPr>
        </p:nvSpPr>
        <p:spPr/>
        <p:txBody>
          <a:bodyPr/>
          <a:lstStyle/>
          <a:p>
            <a:r>
              <a:rPr kumimoji="1" lang="ja-JP" altLang="en-US" dirty="0"/>
              <a:t>クロックによる同期化を使わずにパイプラインを作る方法も</a:t>
            </a:r>
            <a:br>
              <a:rPr kumimoji="1" lang="en-US" altLang="ja-JP" dirty="0"/>
            </a:br>
            <a:r>
              <a:rPr kumimoji="1" lang="ja-JP" altLang="en-US" dirty="0"/>
              <a:t>あるにはある</a:t>
            </a:r>
            <a:endParaRPr kumimoji="1" lang="en-US" altLang="ja-JP" dirty="0"/>
          </a:p>
          <a:p>
            <a:r>
              <a:rPr kumimoji="1" lang="ja-JP" altLang="en-US" dirty="0"/>
              <a:t>やり方：</a:t>
            </a:r>
            <a:endParaRPr kumimoji="1" lang="en-US" altLang="ja-JP" dirty="0"/>
          </a:p>
          <a:p>
            <a:pPr marL="817200" lvl="1" indent="-457200">
              <a:buFont typeface="+mj-lt"/>
              <a:buAutoNum type="arabicPeriod"/>
            </a:pPr>
            <a:r>
              <a:rPr kumimoji="1" lang="ja-JP" altLang="en-US" dirty="0"/>
              <a:t>色々な方法でステージ間の遅延の大きさを気合いで揃える</a:t>
            </a:r>
            <a:endParaRPr kumimoji="1" lang="en-US" altLang="ja-JP" dirty="0"/>
          </a:p>
          <a:p>
            <a:pPr marL="817200" lvl="1" indent="-457200">
              <a:buFont typeface="+mj-lt"/>
              <a:buAutoNum type="arabicPeriod"/>
            </a:pPr>
            <a:r>
              <a:rPr kumimoji="1" lang="ja-JP" altLang="en-US" dirty="0"/>
              <a:t>一定間隔でデータを流す</a:t>
            </a:r>
            <a:endParaRPr kumimoji="1" lang="en-US" altLang="ja-JP" dirty="0"/>
          </a:p>
          <a:p>
            <a:r>
              <a:rPr kumimoji="1" lang="ja-JP" altLang="en-US" dirty="0"/>
              <a:t>設計 </a:t>
            </a:r>
            <a:r>
              <a:rPr kumimoji="1" lang="en-US" altLang="ja-JP" dirty="0"/>
              <a:t>&amp; </a:t>
            </a:r>
            <a:r>
              <a:rPr kumimoji="1" lang="ja-JP" altLang="en-US" dirty="0"/>
              <a:t>動作させることがすごく難しいので，主流ではない</a:t>
            </a:r>
            <a:endParaRPr kumimoji="1" lang="en-US" altLang="ja-JP" dirty="0"/>
          </a:p>
          <a:p>
            <a:pPr lvl="1"/>
            <a:r>
              <a:rPr kumimoji="1" lang="ja-JP" altLang="en-US" dirty="0"/>
              <a:t>特に，高速動作がかなり難しい</a:t>
            </a:r>
            <a:endParaRPr kumimoji="1" lang="en-US" altLang="ja-JP" dirty="0"/>
          </a:p>
        </p:txBody>
      </p:sp>
    </p:spTree>
    <p:extLst>
      <p:ext uri="{BB962C8B-B14F-4D97-AF65-F5344CB8AC3E}">
        <p14:creationId xmlns:p14="http://schemas.microsoft.com/office/powerpoint/2010/main" val="2731787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a:xfrm>
            <a:off x="2135956" y="2078985"/>
            <a:ext cx="7920088" cy="540006"/>
          </a:xfrm>
        </p:spPr>
        <p:txBody>
          <a:bodyPr/>
          <a:lstStyle/>
          <a:p>
            <a:r>
              <a:rPr kumimoji="1" lang="ja-JP" altLang="en-US" b="1" dirty="0"/>
              <a:t>ハザード</a:t>
            </a:r>
            <a:endParaRPr kumimoji="1" lang="en-US" altLang="ja-JP" b="1" dirty="0"/>
          </a:p>
        </p:txBody>
      </p:sp>
    </p:spTree>
    <p:extLst>
      <p:ext uri="{BB962C8B-B14F-4D97-AF65-F5344CB8AC3E}">
        <p14:creationId xmlns:p14="http://schemas.microsoft.com/office/powerpoint/2010/main" val="2272838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パイプライン化を前提とした構造のものを使って復習</a:t>
            </a:r>
            <a:endParaRPr lang="en-US" altLang="ja-JP" dirty="0"/>
          </a:p>
          <a:p>
            <a:pPr lvl="1"/>
            <a:r>
              <a:rPr lang="ja-JP" altLang="en-US" dirty="0"/>
              <a:t>全ての命令の処理が１サイクルで完結</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marL="817200" lvl="1" indent="-457200">
              <a:buFont typeface="+mj-lt"/>
              <a:buAutoNum type="arabicPeriod"/>
            </a:pPr>
            <a:r>
              <a:rPr kumimoji="1" lang="ja-JP" altLang="en-US" dirty="0"/>
              <a:t>具体的にどうパイプライン化するか</a:t>
            </a:r>
            <a:endParaRPr kumimoji="1" lang="en-US" altLang="ja-JP" dirty="0"/>
          </a:p>
          <a:p>
            <a:pPr marL="457200" indent="-457200">
              <a:buFont typeface="+mj-lt"/>
              <a:buAutoNum type="arabicPeriod"/>
            </a:pPr>
            <a:r>
              <a:rPr lang="ja-JP" altLang="en-US" b="1" dirty="0">
                <a:solidFill>
                  <a:schemeClr val="accent5"/>
                </a:solidFill>
              </a:rPr>
              <a:t>ハザード</a:t>
            </a:r>
            <a:endParaRPr kumimoji="1" lang="ja-JP" altLang="en-US" b="1" dirty="0">
              <a:solidFill>
                <a:schemeClr val="accent5"/>
              </a:solidFill>
            </a:endParaRPr>
          </a:p>
        </p:txBody>
      </p:sp>
    </p:spTree>
    <p:extLst>
      <p:ext uri="{BB962C8B-B14F-4D97-AF65-F5344CB8AC3E}">
        <p14:creationId xmlns:p14="http://schemas.microsoft.com/office/powerpoint/2010/main" val="2153873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ハザード</a:t>
            </a:r>
          </a:p>
        </p:txBody>
      </p:sp>
      <p:sp>
        <p:nvSpPr>
          <p:cNvPr id="3" name="テキスト プレースホルダー 2"/>
          <p:cNvSpPr>
            <a:spLocks noGrp="1"/>
          </p:cNvSpPr>
          <p:nvPr>
            <p:ph type="body" sz="quarter" idx="10"/>
          </p:nvPr>
        </p:nvSpPr>
        <p:spPr/>
        <p:txBody>
          <a:bodyPr/>
          <a:lstStyle/>
          <a:p>
            <a:pPr marL="385200" indent="-457200">
              <a:buFont typeface="+mj-lt"/>
              <a:buAutoNum type="arabicPeriod"/>
            </a:pPr>
            <a:r>
              <a:rPr lang="ja-JP" altLang="en-US" b="1" dirty="0"/>
              <a:t>構造ハザード</a:t>
            </a:r>
            <a:endParaRPr lang="en-US" altLang="ja-JP" b="1" dirty="0"/>
          </a:p>
          <a:p>
            <a:pPr marL="745200" lvl="1" indent="-457200">
              <a:buFont typeface="+mj-lt"/>
              <a:buAutoNum type="arabicPeriod"/>
            </a:pPr>
            <a:r>
              <a:rPr lang="ja-JP" altLang="en-US" dirty="0"/>
              <a:t>構造ハザードとはなにか？</a:t>
            </a:r>
            <a:endParaRPr lang="en-US" altLang="ja-JP" dirty="0"/>
          </a:p>
          <a:p>
            <a:pPr marL="745200" lvl="1" indent="-457200">
              <a:buFont typeface="+mj-lt"/>
              <a:buAutoNum type="arabicPeriod"/>
            </a:pPr>
            <a:r>
              <a:rPr lang="ja-JP" altLang="en-US" dirty="0"/>
              <a:t>その解決方法</a:t>
            </a:r>
          </a:p>
          <a:p>
            <a:pPr marL="385200" indent="-457200">
              <a:buFont typeface="+mj-lt"/>
              <a:buAutoNum type="arabicPeriod"/>
            </a:pPr>
            <a:r>
              <a:rPr lang="ja-JP" altLang="en-US" dirty="0"/>
              <a:t>非構造ハザード</a:t>
            </a:r>
            <a:endParaRPr lang="en-US" altLang="ja-JP" dirty="0"/>
          </a:p>
          <a:p>
            <a:pPr marL="745200" lvl="1" indent="-457200">
              <a:buFont typeface="+mj-lt"/>
              <a:buAutoNum type="alphaLcPeriod"/>
            </a:pPr>
            <a:r>
              <a:rPr lang="ja-JP" altLang="en-US" dirty="0"/>
              <a:t>データ・ハザード</a:t>
            </a:r>
          </a:p>
          <a:p>
            <a:pPr marL="709200" lvl="1" indent="-457200">
              <a:buFont typeface="+mj-lt"/>
              <a:buAutoNum type="alphaLcPeriod"/>
            </a:pPr>
            <a:r>
              <a:rPr lang="ja-JP" altLang="en-US" dirty="0"/>
              <a:t>制御ハザード</a:t>
            </a:r>
            <a:endParaRPr lang="en-US" altLang="ja-JP" dirty="0"/>
          </a:p>
        </p:txBody>
      </p:sp>
    </p:spTree>
    <p:extLst>
      <p:ext uri="{BB962C8B-B14F-4D97-AF65-F5344CB8AC3E}">
        <p14:creationId xmlns:p14="http://schemas.microsoft.com/office/powerpoint/2010/main" val="1205545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a:t>
            </a:r>
          </a:p>
        </p:txBody>
      </p:sp>
      <p:sp>
        <p:nvSpPr>
          <p:cNvPr id="3" name="テキスト プレースホルダー 2"/>
          <p:cNvSpPr>
            <a:spLocks noGrp="1"/>
          </p:cNvSpPr>
          <p:nvPr>
            <p:ph type="body" sz="quarter" idx="10"/>
          </p:nvPr>
        </p:nvSpPr>
        <p:spPr/>
        <p:txBody>
          <a:bodyPr/>
          <a:lstStyle/>
          <a:p>
            <a:r>
              <a:rPr lang="ja-JP" altLang="en-US" dirty="0"/>
              <a:t>ハード資源の不足により，パイプラインがうまく動作しないこと</a:t>
            </a:r>
            <a:endParaRPr lang="en-US" altLang="ja-JP" dirty="0"/>
          </a:p>
          <a:p>
            <a:r>
              <a:rPr kumimoji="1" lang="ja-JP" altLang="en-US" dirty="0"/>
              <a:t>いくつかの例を使った説明，解消方法について解説</a:t>
            </a:r>
          </a:p>
        </p:txBody>
      </p:sp>
    </p:spTree>
    <p:extLst>
      <p:ext uri="{BB962C8B-B14F-4D97-AF65-F5344CB8AC3E}">
        <p14:creationId xmlns:p14="http://schemas.microsoft.com/office/powerpoint/2010/main" val="2629053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a:t>
            </a:r>
            <a:r>
              <a:rPr lang="ja-JP" altLang="en-US" dirty="0"/>
              <a:t>例１：メモリ間 </a:t>
            </a:r>
            <a:r>
              <a:rPr lang="en-US" altLang="ja-JP" dirty="0" err="1"/>
              <a:t>mov</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例１：仮に </a:t>
            </a:r>
            <a:r>
              <a:rPr kumimoji="1" lang="en-US" altLang="ja-JP" dirty="0" err="1"/>
              <a:t>mov</a:t>
            </a:r>
            <a:r>
              <a:rPr kumimoji="1" lang="en-US" altLang="ja-JP" dirty="0"/>
              <a:t> [rs1]</a:t>
            </a:r>
            <a:r>
              <a:rPr kumimoji="1" lang="ja-JP" altLang="en-US" dirty="0"/>
              <a:t>→</a:t>
            </a:r>
            <a:r>
              <a:rPr kumimoji="1" lang="en-US" altLang="ja-JP" dirty="0"/>
              <a:t>[rs2] </a:t>
            </a:r>
            <a:r>
              <a:rPr kumimoji="1" lang="ja-JP" altLang="en-US" dirty="0" err="1"/>
              <a:t>のような</a:t>
            </a:r>
            <a:r>
              <a:rPr kumimoji="1" lang="ja-JP" altLang="en-US" dirty="0"/>
              <a:t>命令があったとする</a:t>
            </a:r>
            <a:endParaRPr kumimoji="1" lang="en-US" altLang="ja-JP" dirty="0"/>
          </a:p>
          <a:p>
            <a:pPr lvl="1"/>
            <a:r>
              <a:rPr lang="en-US" altLang="ja-JP" dirty="0"/>
              <a:t>rs1 </a:t>
            </a:r>
            <a:r>
              <a:rPr lang="ja-JP" altLang="en-US" dirty="0"/>
              <a:t>で指定されるアドレスのメモリの値を読んで，</a:t>
            </a:r>
            <a:endParaRPr lang="en-US" altLang="ja-JP" dirty="0"/>
          </a:p>
          <a:p>
            <a:pPr lvl="1"/>
            <a:r>
              <a:rPr lang="en-US" altLang="ja-JP" dirty="0"/>
              <a:t>rs2 </a:t>
            </a:r>
            <a:r>
              <a:rPr lang="ja-JP" altLang="en-US" dirty="0"/>
              <a:t>で指定されるアドレスのメモリに書き込む</a:t>
            </a:r>
            <a:endParaRPr lang="en-US" altLang="ja-JP" dirty="0"/>
          </a:p>
          <a:p>
            <a:r>
              <a:rPr lang="ja-JP" altLang="en-US" dirty="0"/>
              <a:t>実際に，</a:t>
            </a:r>
            <a:r>
              <a:rPr lang="en-US" altLang="ja-JP" dirty="0"/>
              <a:t>x86 </a:t>
            </a:r>
            <a:r>
              <a:rPr lang="ja-JP" altLang="en-US" dirty="0" err="1"/>
              <a:t>には</a:t>
            </a:r>
            <a:r>
              <a:rPr lang="ja-JP" altLang="en-US" dirty="0"/>
              <a:t>このような命令がある</a:t>
            </a:r>
            <a:endParaRPr kumimoji="1" lang="ja-JP" altLang="en-US" dirty="0"/>
          </a:p>
        </p:txBody>
      </p:sp>
    </p:spTree>
    <p:extLst>
      <p:ext uri="{BB962C8B-B14F-4D97-AF65-F5344CB8AC3E}">
        <p14:creationId xmlns:p14="http://schemas.microsoft.com/office/powerpoint/2010/main" val="1685023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mov</a:t>
            </a:r>
            <a:r>
              <a:rPr lang="en-US" altLang="ja-JP" dirty="0"/>
              <a:t> [rs1]</a:t>
            </a:r>
            <a:r>
              <a:rPr lang="ja-JP" altLang="en-US" dirty="0"/>
              <a:t>→</a:t>
            </a:r>
            <a:r>
              <a:rPr lang="en-US" altLang="ja-JP" dirty="0"/>
              <a:t>[rs2] // [rs1]</a:t>
            </a:r>
            <a:r>
              <a:rPr lang="ja-JP" altLang="en-US" dirty="0"/>
              <a:t>→</a:t>
            </a:r>
            <a:r>
              <a:rPr lang="en-US" altLang="ja-JP" dirty="0"/>
              <a:t>[rs2] </a:t>
            </a:r>
            <a:r>
              <a:rPr lang="ja-JP" altLang="en-US" dirty="0" err="1"/>
              <a:t>への</a:t>
            </a:r>
            <a:r>
              <a:rPr lang="ja-JP" altLang="en-US" dirty="0"/>
              <a:t>コピー</a:t>
            </a:r>
            <a:endParaRPr kumimoji="1" lang="ja-JP" altLang="en-US" dirty="0"/>
          </a:p>
        </p:txBody>
      </p:sp>
      <p:sp>
        <p:nvSpPr>
          <p:cNvPr id="3" name="テキスト プレースホルダー 2"/>
          <p:cNvSpPr>
            <a:spLocks noGrp="1"/>
          </p:cNvSpPr>
          <p:nvPr>
            <p:ph type="body" sz="quarter" idx="10"/>
          </p:nvPr>
        </p:nvSpPr>
        <p:spPr>
          <a:xfrm>
            <a:off x="1865954" y="5589024"/>
            <a:ext cx="8550095" cy="449698"/>
          </a:xfrm>
        </p:spPr>
        <p:txBody>
          <a:bodyPr/>
          <a:lstStyle/>
          <a:p>
            <a:r>
              <a:rPr kumimoji="1" lang="ja-JP" altLang="en-US" dirty="0"/>
              <a:t>メモリをあるサイクルに同時に読んで書く必要がある</a:t>
            </a:r>
            <a:endParaRPr kumimoji="1" lang="en-US" altLang="ja-JP" dirty="0"/>
          </a:p>
          <a:p>
            <a:pPr lvl="1"/>
            <a:r>
              <a:rPr lang="ja-JP" altLang="en-US" dirty="0"/>
              <a:t>しかし，データ・メモリのアドレス</a:t>
            </a:r>
            <a:r>
              <a:rPr kumimoji="1" lang="ja-JP" altLang="en-US" dirty="0"/>
              <a:t>の口は</a:t>
            </a:r>
            <a:r>
              <a:rPr kumimoji="1" lang="en-US" altLang="ja-JP" dirty="0"/>
              <a:t>1</a:t>
            </a:r>
            <a:r>
              <a:rPr kumimoji="1" lang="ja-JP" altLang="en-US" dirty="0"/>
              <a:t>つしかない</a:t>
            </a:r>
            <a:endParaRPr kumimoji="1" lang="en-US" altLang="ja-JP" dirty="0"/>
          </a:p>
          <a:p>
            <a:pPr lvl="1"/>
            <a:r>
              <a:rPr lang="en-US" altLang="ja-JP" dirty="0"/>
              <a:t>MEM </a:t>
            </a:r>
            <a:r>
              <a:rPr lang="ja-JP" altLang="en-US" dirty="0"/>
              <a:t>ステージでデータ・メモリの読みと書きが同時にできない</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b="1" dirty="0">
                <a:solidFill>
                  <a:schemeClr val="accent5"/>
                </a:solidFill>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7896021" y="2348988"/>
            <a:ext cx="2070023"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err="1"/>
              <a:t>mov</a:t>
            </a:r>
            <a:r>
              <a:rPr lang="en-US" altLang="ja-JP" b="1" dirty="0"/>
              <a:t> [rs1]</a:t>
            </a:r>
            <a:r>
              <a:rPr lang="ja-JP" altLang="en-US" b="1" dirty="0"/>
              <a:t>→</a:t>
            </a:r>
            <a:r>
              <a:rPr lang="en-US" altLang="ja-JP" b="1" dirty="0"/>
              <a:t>[rs2] </a:t>
            </a:r>
            <a:endParaRPr lang="ja-JP" altLang="en-US" b="1" dirty="0">
              <a:latin typeface="Arial Narrow" panose="020B0606020202030204" pitchFamily="34" charset="0"/>
            </a:endParaRPr>
          </a:p>
        </p:txBody>
      </p:sp>
    </p:spTree>
    <p:extLst>
      <p:ext uri="{BB962C8B-B14F-4D97-AF65-F5344CB8AC3E}">
        <p14:creationId xmlns:p14="http://schemas.microsoft.com/office/powerpoint/2010/main" val="202570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構造ハザードの例２：</a:t>
            </a:r>
            <a:r>
              <a:rPr kumimoji="1" lang="en-US" altLang="ja-JP" dirty="0"/>
              <a:t>push/pop</a:t>
            </a:r>
            <a:endParaRPr kumimoji="1" lang="ja-JP" altLang="en-US" dirty="0"/>
          </a:p>
        </p:txBody>
      </p:sp>
      <p:sp>
        <p:nvSpPr>
          <p:cNvPr id="3" name="テキスト プレースホルダー 2"/>
          <p:cNvSpPr>
            <a:spLocks noGrp="1"/>
          </p:cNvSpPr>
          <p:nvPr>
            <p:ph type="body" sz="quarter" idx="10"/>
          </p:nvPr>
        </p:nvSpPr>
        <p:spPr>
          <a:xfrm>
            <a:off x="2135956" y="908972"/>
            <a:ext cx="8280092" cy="3240036"/>
          </a:xfrm>
        </p:spPr>
        <p:txBody>
          <a:bodyPr/>
          <a:lstStyle/>
          <a:p>
            <a:r>
              <a:rPr kumimoji="1" lang="en-US" altLang="ja-JP" dirty="0"/>
              <a:t>x86 </a:t>
            </a:r>
            <a:r>
              <a:rPr kumimoji="1" lang="ja-JP" altLang="en-US" dirty="0"/>
              <a:t>や </a:t>
            </a:r>
            <a:r>
              <a:rPr kumimoji="1" lang="en-US" altLang="ja-JP" dirty="0"/>
              <a:t>ARM </a:t>
            </a:r>
            <a:r>
              <a:rPr kumimoji="1" lang="ja-JP" altLang="en-US" dirty="0"/>
              <a:t>では</a:t>
            </a:r>
            <a:r>
              <a:rPr lang="ja-JP" altLang="en-US" dirty="0"/>
              <a:t>スタック操作のための </a:t>
            </a:r>
            <a:r>
              <a:rPr lang="en-US" altLang="ja-JP" dirty="0"/>
              <a:t>push/pop </a:t>
            </a:r>
            <a:r>
              <a:rPr lang="ja-JP" altLang="en-US" dirty="0"/>
              <a:t>命令がある</a:t>
            </a:r>
            <a:endParaRPr lang="en-US" altLang="ja-JP" dirty="0"/>
          </a:p>
          <a:p>
            <a:pPr lvl="1"/>
            <a:r>
              <a:rPr lang="en-US" altLang="ja-JP" dirty="0"/>
              <a:t>push</a:t>
            </a:r>
            <a:r>
              <a:rPr lang="ja-JP" altLang="en-US" dirty="0"/>
              <a:t>：</a:t>
            </a:r>
            <a:r>
              <a:rPr lang="en-US" altLang="ja-JP" dirty="0"/>
              <a:t>rs1-1</a:t>
            </a:r>
            <a:r>
              <a:rPr lang="ja-JP" altLang="en-US" dirty="0"/>
              <a:t>→</a:t>
            </a:r>
            <a:r>
              <a:rPr lang="en-US" altLang="ja-JP" dirty="0" err="1">
                <a:solidFill>
                  <a:schemeClr val="accent5"/>
                </a:solidFill>
              </a:rPr>
              <a:t>rd</a:t>
            </a:r>
            <a:r>
              <a:rPr lang="en-US" altLang="ja-JP" dirty="0"/>
              <a:t>,    r2</a:t>
            </a:r>
            <a:r>
              <a:rPr lang="ja-JP" altLang="en-US" dirty="0"/>
              <a:t>→</a:t>
            </a:r>
            <a:r>
              <a:rPr lang="en-US" altLang="ja-JP" dirty="0"/>
              <a:t>[</a:t>
            </a:r>
            <a:r>
              <a:rPr lang="en-US" altLang="ja-JP" dirty="0" err="1">
                <a:solidFill>
                  <a:schemeClr val="accent5"/>
                </a:solidFill>
              </a:rPr>
              <a:t>rd</a:t>
            </a:r>
            <a:r>
              <a:rPr lang="en-US" altLang="ja-JP" dirty="0"/>
              <a:t>]</a:t>
            </a:r>
          </a:p>
          <a:p>
            <a:pPr marL="1177200" lvl="2" indent="-457200">
              <a:buFont typeface="+mj-lt"/>
              <a:buAutoNum type="arabicPeriod"/>
            </a:pPr>
            <a:r>
              <a:rPr lang="ja-JP" altLang="en-US" dirty="0"/>
              <a:t>スタック・ポインタ（のレジスタ）をデクリメントし，</a:t>
            </a:r>
            <a:endParaRPr lang="en-US" altLang="ja-JP" dirty="0"/>
          </a:p>
          <a:p>
            <a:pPr marL="1177200" lvl="2" indent="-457200">
              <a:buFont typeface="+mj-lt"/>
              <a:buAutoNum type="arabicPeriod"/>
            </a:pPr>
            <a:r>
              <a:rPr lang="ja-JP" altLang="en-US" dirty="0"/>
              <a:t>それをアドレスにしてメモリに値を書き込む</a:t>
            </a:r>
            <a:endParaRPr lang="en-US" altLang="ja-JP" dirty="0"/>
          </a:p>
          <a:p>
            <a:pPr lvl="1"/>
            <a:r>
              <a:rPr kumimoji="1" lang="en-US" altLang="ja-JP" dirty="0"/>
              <a:t>pop</a:t>
            </a:r>
            <a:r>
              <a:rPr kumimoji="1" lang="ja-JP" altLang="en-US" dirty="0"/>
              <a:t>：</a:t>
            </a:r>
            <a:r>
              <a:rPr lang="en-US" altLang="ja-JP" dirty="0"/>
              <a:t>[rs1]</a:t>
            </a:r>
            <a:r>
              <a:rPr lang="ja-JP" altLang="en-US" dirty="0"/>
              <a:t>→</a:t>
            </a:r>
            <a:r>
              <a:rPr lang="en-US" altLang="ja-JP" dirty="0" err="1">
                <a:solidFill>
                  <a:schemeClr val="accent5"/>
                </a:solidFill>
              </a:rPr>
              <a:t>rd</a:t>
            </a:r>
            <a:r>
              <a:rPr lang="en-US" altLang="ja-JP" dirty="0"/>
              <a:t>, rs1+1</a:t>
            </a:r>
            <a:r>
              <a:rPr lang="ja-JP" altLang="en-US" dirty="0"/>
              <a:t>→</a:t>
            </a:r>
            <a:r>
              <a:rPr lang="en-US" altLang="ja-JP" dirty="0">
                <a:solidFill>
                  <a:schemeClr val="accent6"/>
                </a:solidFill>
              </a:rPr>
              <a:t>rs1</a:t>
            </a:r>
            <a:endParaRPr kumimoji="1" lang="en-US" altLang="ja-JP" dirty="0">
              <a:solidFill>
                <a:schemeClr val="accent6"/>
              </a:solidFill>
            </a:endParaRPr>
          </a:p>
          <a:p>
            <a:pPr marL="1177200" lvl="2" indent="-457200">
              <a:buFont typeface="+mj-lt"/>
              <a:buAutoNum type="arabicPeriod"/>
            </a:pPr>
            <a:r>
              <a:rPr kumimoji="1" lang="ja-JP" altLang="en-US" dirty="0"/>
              <a:t>スタック・ポインタをアドレスにして値を読む</a:t>
            </a:r>
            <a:endParaRPr kumimoji="1" lang="en-US" altLang="ja-JP" dirty="0"/>
          </a:p>
          <a:p>
            <a:pPr marL="1177200" lvl="2" indent="-457200">
              <a:buFont typeface="+mj-lt"/>
              <a:buAutoNum type="arabicPeriod"/>
            </a:pPr>
            <a:r>
              <a:rPr kumimoji="1" lang="ja-JP" altLang="en-US" dirty="0"/>
              <a:t>スタック・ポインタをインクリメント</a:t>
            </a:r>
          </a:p>
        </p:txBody>
      </p:sp>
      <p:sp>
        <p:nvSpPr>
          <p:cNvPr id="4" name="正方形/長方形 3"/>
          <p:cNvSpPr/>
          <p:nvPr/>
        </p:nvSpPr>
        <p:spPr bwMode="auto">
          <a:xfrm>
            <a:off x="4655984" y="4869016"/>
            <a:ext cx="720008" cy="180002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4655984" y="486901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p:cNvSpPr/>
          <p:nvPr/>
        </p:nvSpPr>
        <p:spPr bwMode="auto">
          <a:xfrm>
            <a:off x="4655984" y="5229019"/>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p:cNvSpPr/>
          <p:nvPr/>
        </p:nvSpPr>
        <p:spPr bwMode="auto">
          <a:xfrm>
            <a:off x="4655984" y="5589023"/>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p:cNvSpPr/>
          <p:nvPr/>
        </p:nvSpPr>
        <p:spPr bwMode="auto">
          <a:xfrm>
            <a:off x="4655984" y="5949027"/>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4655984" y="6309031"/>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正方形/長方形 9"/>
          <p:cNvSpPr/>
          <p:nvPr/>
        </p:nvSpPr>
        <p:spPr bwMode="auto">
          <a:xfrm>
            <a:off x="3935976"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rs1-1 </a:t>
            </a:r>
            <a:r>
              <a:rPr lang="ja-JP" altLang="en-US" sz="1200" dirty="0">
                <a:latin typeface="メイリオ" panose="020B0604030504040204" pitchFamily="50" charset="-128"/>
                <a:ea typeface="メイリオ" panose="020B0604030504040204" pitchFamily="50" charset="-128"/>
              </a:rPr>
              <a:t>→</a:t>
            </a:r>
          </a:p>
        </p:txBody>
      </p:sp>
      <p:cxnSp>
        <p:nvCxnSpPr>
          <p:cNvPr id="12" name="直線矢印コネクタ 11"/>
          <p:cNvCxnSpPr/>
          <p:nvPr/>
        </p:nvCxnSpPr>
        <p:spPr bwMode="auto">
          <a:xfrm>
            <a:off x="5015988" y="4779015"/>
            <a:ext cx="0" cy="540006"/>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13" name="正方形/長方形 12"/>
          <p:cNvSpPr/>
          <p:nvPr/>
        </p:nvSpPr>
        <p:spPr bwMode="auto">
          <a:xfrm>
            <a:off x="6816008" y="4869016"/>
            <a:ext cx="720008" cy="180002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p:cNvSpPr/>
          <p:nvPr/>
        </p:nvSpPr>
        <p:spPr bwMode="auto">
          <a:xfrm>
            <a:off x="6816008" y="486901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p:cNvSpPr/>
          <p:nvPr/>
        </p:nvSpPr>
        <p:spPr bwMode="auto">
          <a:xfrm>
            <a:off x="6816008" y="5229019"/>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p:cNvSpPr/>
          <p:nvPr/>
        </p:nvSpPr>
        <p:spPr bwMode="auto">
          <a:xfrm>
            <a:off x="6816008" y="5589023"/>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6816008" y="5949027"/>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 name="正方形/長方形 17"/>
          <p:cNvSpPr/>
          <p:nvPr/>
        </p:nvSpPr>
        <p:spPr bwMode="auto">
          <a:xfrm>
            <a:off x="6816008" y="6309031"/>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6276002" y="522902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200" dirty="0">
                <a:latin typeface="メイリオ" panose="020B0604030504040204" pitchFamily="50" charset="-128"/>
                <a:ea typeface="メイリオ" panose="020B0604030504040204" pitchFamily="50" charset="-128"/>
              </a:rPr>
              <a:t>rs1 </a:t>
            </a:r>
            <a:r>
              <a:rPr lang="ja-JP" altLang="en-US" sz="1200" dirty="0">
                <a:latin typeface="メイリオ" panose="020B0604030504040204" pitchFamily="50" charset="-128"/>
                <a:ea typeface="メイリオ" panose="020B0604030504040204" pitchFamily="50" charset="-128"/>
              </a:rPr>
              <a:t>→</a:t>
            </a:r>
          </a:p>
        </p:txBody>
      </p:sp>
      <p:cxnSp>
        <p:nvCxnSpPr>
          <p:cNvPr id="20" name="直線矢印コネクタ 19"/>
          <p:cNvCxnSpPr/>
          <p:nvPr/>
        </p:nvCxnSpPr>
        <p:spPr bwMode="auto">
          <a:xfrm flipV="1">
            <a:off x="7176012" y="4779017"/>
            <a:ext cx="0" cy="54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2" name="円/楕円 21"/>
          <p:cNvSpPr/>
          <p:nvPr/>
        </p:nvSpPr>
        <p:spPr bwMode="auto">
          <a:xfrm>
            <a:off x="4745985" y="4239009"/>
            <a:ext cx="540006" cy="360004"/>
          </a:xfrm>
          <a:prstGeom prst="ellipse">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bg1"/>
                </a:solidFill>
                <a:latin typeface="+mn-ea"/>
              </a:rPr>
              <a:t>値</a:t>
            </a:r>
          </a:p>
        </p:txBody>
      </p:sp>
      <p:sp>
        <p:nvSpPr>
          <p:cNvPr id="24" name="円/楕円 23"/>
          <p:cNvSpPr/>
          <p:nvPr/>
        </p:nvSpPr>
        <p:spPr bwMode="auto">
          <a:xfrm>
            <a:off x="6906009" y="4239009"/>
            <a:ext cx="540006" cy="360004"/>
          </a:xfrm>
          <a:prstGeom prst="ellipse">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bg1"/>
                </a:solidFill>
                <a:latin typeface="+mn-ea"/>
              </a:rPr>
              <a:t>値</a:t>
            </a:r>
          </a:p>
        </p:txBody>
      </p:sp>
      <p:sp>
        <p:nvSpPr>
          <p:cNvPr id="29" name="正方形/長方形 28"/>
          <p:cNvSpPr/>
          <p:nvPr/>
        </p:nvSpPr>
        <p:spPr bwMode="auto">
          <a:xfrm>
            <a:off x="4205979"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600" dirty="0">
                <a:latin typeface="メイリオ" panose="020B0604030504040204" pitchFamily="50" charset="-128"/>
                <a:ea typeface="メイリオ" panose="020B0604030504040204" pitchFamily="50" charset="-128"/>
              </a:rPr>
              <a:t>Push</a:t>
            </a:r>
            <a:endParaRPr lang="ja-JP" altLang="en-US" sz="1600"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6366003" y="450901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en-US" altLang="ja-JP" sz="1600" dirty="0">
                <a:latin typeface="メイリオ" panose="020B0604030504040204" pitchFamily="50" charset="-128"/>
                <a:ea typeface="メイリオ" panose="020B0604030504040204" pitchFamily="50" charset="-128"/>
              </a:rPr>
              <a:t>Pop</a:t>
            </a:r>
            <a:endParaRPr lang="ja-JP" altLang="en-US" sz="1600" dirty="0">
              <a:latin typeface="メイリオ" panose="020B0604030504040204" pitchFamily="50" charset="-128"/>
              <a:ea typeface="メイリオ" panose="020B0604030504040204" pitchFamily="50" charset="-128"/>
            </a:endParaRPr>
          </a:p>
        </p:txBody>
      </p:sp>
      <p:cxnSp>
        <p:nvCxnSpPr>
          <p:cNvPr id="35" name="直線矢印コネクタ 34"/>
          <p:cNvCxnSpPr/>
          <p:nvPr/>
        </p:nvCxnSpPr>
        <p:spPr bwMode="auto">
          <a:xfrm flipV="1">
            <a:off x="4295980" y="4959018"/>
            <a:ext cx="0" cy="360005"/>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8" name="直線矢印コネクタ 37"/>
          <p:cNvCxnSpPr/>
          <p:nvPr/>
        </p:nvCxnSpPr>
        <p:spPr bwMode="auto">
          <a:xfrm>
            <a:off x="6456004" y="5499023"/>
            <a:ext cx="0" cy="360002"/>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618062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pop</a:t>
            </a:r>
            <a:r>
              <a:rPr lang="ja-JP" altLang="en-US" dirty="0"/>
              <a:t>：</a:t>
            </a:r>
            <a:r>
              <a:rPr lang="en-US" altLang="ja-JP" dirty="0"/>
              <a:t>[rs1]→</a:t>
            </a:r>
            <a:r>
              <a:rPr lang="en-US" altLang="ja-JP" dirty="0" err="1"/>
              <a:t>rd</a:t>
            </a:r>
            <a:r>
              <a:rPr lang="en-US" altLang="ja-JP" dirty="0"/>
              <a:t>, rs1+1→rs1</a:t>
            </a:r>
          </a:p>
        </p:txBody>
      </p:sp>
      <p:sp>
        <p:nvSpPr>
          <p:cNvPr id="3" name="テキスト プレースホルダー 2"/>
          <p:cNvSpPr>
            <a:spLocks noGrp="1"/>
          </p:cNvSpPr>
          <p:nvPr>
            <p:ph type="body" sz="quarter" idx="10"/>
          </p:nvPr>
        </p:nvSpPr>
        <p:spPr>
          <a:xfrm>
            <a:off x="1865954" y="5589024"/>
            <a:ext cx="8550095" cy="449698"/>
          </a:xfrm>
        </p:spPr>
        <p:txBody>
          <a:bodyPr/>
          <a:lstStyle/>
          <a:p>
            <a:r>
              <a:rPr kumimoji="1" lang="en-US" altLang="ja-JP" dirty="0"/>
              <a:t>WB </a:t>
            </a:r>
            <a:r>
              <a:rPr kumimoji="1" lang="ja-JP" altLang="en-US" dirty="0"/>
              <a:t>ステージでレジスタに </a:t>
            </a:r>
            <a:r>
              <a:rPr kumimoji="1" lang="en-US" altLang="ja-JP" dirty="0" err="1"/>
              <a:t>rd</a:t>
            </a:r>
            <a:r>
              <a:rPr kumimoji="1" lang="en-US" altLang="ja-JP" dirty="0"/>
              <a:t> </a:t>
            </a:r>
            <a:r>
              <a:rPr kumimoji="1" lang="ja-JP" altLang="en-US" dirty="0"/>
              <a:t>と </a:t>
            </a:r>
            <a:r>
              <a:rPr kumimoji="1" lang="en-US" altLang="ja-JP" dirty="0"/>
              <a:t>rs1 </a:t>
            </a:r>
            <a:r>
              <a:rPr kumimoji="1" lang="ja-JP" altLang="en-US" dirty="0"/>
              <a:t>の</a:t>
            </a:r>
            <a:r>
              <a:rPr kumimoji="1" lang="en-US" altLang="ja-JP" dirty="0"/>
              <a:t>2</a:t>
            </a:r>
            <a:r>
              <a:rPr kumimoji="1" lang="ja-JP" altLang="en-US" dirty="0" err="1"/>
              <a:t>つを</a:t>
            </a:r>
            <a:r>
              <a:rPr kumimoji="1" lang="ja-JP" altLang="en-US" dirty="0"/>
              <a:t>書き込む必要がある</a:t>
            </a:r>
            <a:endParaRPr kumimoji="1" lang="en-US" altLang="ja-JP" dirty="0"/>
          </a:p>
          <a:p>
            <a:pPr lvl="1"/>
            <a:r>
              <a:rPr kumimoji="1" lang="ja-JP" altLang="en-US" dirty="0"/>
              <a:t>レジスタ・ファイルへの書き込みは，同時に２つはできない</a:t>
            </a:r>
            <a:endParaRPr kumimoji="1"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3755975" y="2168986"/>
            <a:ext cx="3031751"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t>pop</a:t>
            </a:r>
            <a:r>
              <a:rPr lang="ja-JP" altLang="en-US" b="1" dirty="0"/>
              <a:t>：</a:t>
            </a:r>
            <a:r>
              <a:rPr lang="en-US" altLang="ja-JP" b="1" dirty="0"/>
              <a:t>[rs1]→</a:t>
            </a:r>
            <a:r>
              <a:rPr lang="en-US" altLang="ja-JP" b="1" dirty="0" err="1">
                <a:solidFill>
                  <a:schemeClr val="tx2"/>
                </a:solidFill>
              </a:rPr>
              <a:t>rd</a:t>
            </a:r>
            <a:r>
              <a:rPr lang="en-US" altLang="ja-JP" b="1" dirty="0"/>
              <a:t>, rs1+1→</a:t>
            </a:r>
            <a:r>
              <a:rPr lang="en-US" altLang="ja-JP" b="1" dirty="0">
                <a:solidFill>
                  <a:schemeClr val="tx2"/>
                </a:solidFill>
              </a:rPr>
              <a:t>rs1</a:t>
            </a:r>
            <a:endParaRPr lang="ja-JP" altLang="en-US" b="1" dirty="0">
              <a:solidFill>
                <a:schemeClr val="tx2"/>
              </a:solidFill>
              <a:latin typeface="Arial Narrow" panose="020B0606020202030204" pitchFamily="34" charset="0"/>
            </a:endParaRPr>
          </a:p>
        </p:txBody>
      </p:sp>
      <p:sp>
        <p:nvSpPr>
          <p:cNvPr id="65" name="正方形/長方形 64"/>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66" name="正方形/長方形 65"/>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67" name="正方形/長方形 66"/>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68" name="正方形/長方形 67"/>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69" name="正方形/長方形 68"/>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Tree>
    <p:extLst>
      <p:ext uri="{BB962C8B-B14F-4D97-AF65-F5344CB8AC3E}">
        <p14:creationId xmlns:p14="http://schemas.microsoft.com/office/powerpoint/2010/main" val="1032034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構造ハザードの例３</a:t>
            </a:r>
            <a:endParaRPr lang="ja-JP" altLang="en-US" dirty="0"/>
          </a:p>
        </p:txBody>
      </p:sp>
      <p:sp>
        <p:nvSpPr>
          <p:cNvPr id="3" name="テキスト プレースホルダー 2"/>
          <p:cNvSpPr>
            <a:spLocks noGrp="1"/>
          </p:cNvSpPr>
          <p:nvPr>
            <p:ph type="body" sz="quarter" idx="10"/>
          </p:nvPr>
        </p:nvSpPr>
        <p:spPr/>
        <p:txBody>
          <a:bodyPr/>
          <a:lstStyle/>
          <a:p>
            <a:r>
              <a:rPr lang="ja-JP" altLang="en-US" dirty="0"/>
              <a:t>使用資源の異なるステージ間のぶつかりでも起きる</a:t>
            </a:r>
            <a:endParaRPr lang="en-US" altLang="ja-JP" dirty="0"/>
          </a:p>
          <a:p>
            <a:pPr lvl="1"/>
            <a:r>
              <a:rPr lang="ja-JP" altLang="en-US" dirty="0"/>
              <a:t>これまでの例は，同じステージ内で資源が足りない例</a:t>
            </a:r>
            <a:endParaRPr lang="en-US" altLang="ja-JP" dirty="0"/>
          </a:p>
          <a:p>
            <a:r>
              <a:rPr lang="en-US" altLang="ja-JP" b="1" dirty="0" err="1">
                <a:latin typeface="Consolas" panose="020B0609020204030204" pitchFamily="49" charset="0"/>
              </a:rPr>
              <a:t>ld_inc</a:t>
            </a:r>
            <a:r>
              <a:rPr lang="en-US" altLang="ja-JP" b="1" dirty="0">
                <a:latin typeface="Consolas" panose="020B0609020204030204" pitchFamily="49" charset="0"/>
              </a:rPr>
              <a:t> [rs1]+1</a:t>
            </a:r>
            <a:r>
              <a:rPr lang="ja-JP" altLang="en-US" b="1" dirty="0">
                <a:latin typeface="Consolas" panose="020B0609020204030204" pitchFamily="49" charset="0"/>
              </a:rPr>
              <a:t>→</a:t>
            </a:r>
            <a:r>
              <a:rPr lang="en-US" altLang="ja-JP" b="1" dirty="0" err="1">
                <a:latin typeface="Consolas" panose="020B0609020204030204" pitchFamily="49" charset="0"/>
              </a:rPr>
              <a:t>rd</a:t>
            </a:r>
            <a:r>
              <a:rPr lang="en-US" altLang="ja-JP" dirty="0"/>
              <a:t> </a:t>
            </a:r>
            <a:r>
              <a:rPr lang="ja-JP" altLang="en-US" dirty="0" err="1"/>
              <a:t>のような</a:t>
            </a:r>
            <a:r>
              <a:rPr lang="ja-JP" altLang="en-US" dirty="0"/>
              <a:t>命令があったとする</a:t>
            </a:r>
            <a:endParaRPr lang="en-US" altLang="ja-JP" dirty="0"/>
          </a:p>
          <a:p>
            <a:pPr marL="817200" lvl="1" indent="-457200">
              <a:buFont typeface="+mj-lt"/>
              <a:buAutoNum type="arabicPeriod"/>
            </a:pPr>
            <a:r>
              <a:rPr lang="en-US" altLang="ja-JP" dirty="0"/>
              <a:t>rs1 </a:t>
            </a:r>
            <a:r>
              <a:rPr lang="ja-JP" altLang="en-US" dirty="0"/>
              <a:t>の指すアドレスからメモリを読む</a:t>
            </a:r>
            <a:endParaRPr lang="en-US" altLang="ja-JP" dirty="0"/>
          </a:p>
          <a:p>
            <a:pPr marL="817200" lvl="1" indent="-457200">
              <a:buFont typeface="+mj-lt"/>
              <a:buAutoNum type="arabicPeriod"/>
            </a:pPr>
            <a:r>
              <a:rPr lang="ja-JP" altLang="en-US" dirty="0"/>
              <a:t>読んだ値にさらに</a:t>
            </a:r>
            <a:r>
              <a:rPr lang="en-US" altLang="ja-JP" dirty="0"/>
              <a:t>+</a:t>
            </a:r>
            <a:r>
              <a:rPr lang="ja-JP" altLang="en-US" dirty="0"/>
              <a:t>１してから </a:t>
            </a:r>
            <a:r>
              <a:rPr lang="en-US" altLang="ja-JP" dirty="0" err="1"/>
              <a:t>rd</a:t>
            </a:r>
            <a:r>
              <a:rPr lang="en-US" altLang="ja-JP" dirty="0"/>
              <a:t> </a:t>
            </a:r>
            <a:r>
              <a:rPr lang="ja-JP" altLang="en-US" dirty="0"/>
              <a:t>に書く</a:t>
            </a:r>
            <a:endParaRPr lang="en-US" altLang="ja-JP" dirty="0"/>
          </a:p>
          <a:p>
            <a:r>
              <a:rPr lang="ja-JP" altLang="en-US" dirty="0"/>
              <a:t>一見，資源は足りているようだが･･･</a:t>
            </a:r>
            <a:endParaRPr lang="en-US" altLang="ja-JP" dirty="0"/>
          </a:p>
          <a:p>
            <a:pPr lvl="1"/>
            <a:r>
              <a:rPr lang="ja-JP" altLang="en-US" dirty="0"/>
              <a:t>レジスタの読み書きは１つずつしかない</a:t>
            </a:r>
            <a:endParaRPr lang="en-US" altLang="ja-JP" dirty="0"/>
          </a:p>
          <a:p>
            <a:pPr lvl="1"/>
            <a:r>
              <a:rPr lang="ja-JP" altLang="en-US" dirty="0"/>
              <a:t>メモリも１カ所を読むだけ</a:t>
            </a:r>
            <a:endParaRPr lang="en-US" altLang="ja-JP" dirty="0"/>
          </a:p>
          <a:p>
            <a:pPr lvl="1"/>
            <a:r>
              <a:rPr lang="ja-JP" altLang="en-US" dirty="0"/>
              <a:t>加算も１回行うだけ</a:t>
            </a:r>
            <a:endParaRPr lang="en-US" altLang="ja-JP" dirty="0"/>
          </a:p>
        </p:txBody>
      </p:sp>
    </p:spTree>
    <p:extLst>
      <p:ext uri="{BB962C8B-B14F-4D97-AF65-F5344CB8AC3E}">
        <p14:creationId xmlns:p14="http://schemas.microsoft.com/office/powerpoint/2010/main" val="36778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構造ハザードの例３</a:t>
            </a:r>
            <a:endParaRPr lang="ja-JP" altLang="en-US" dirty="0"/>
          </a:p>
        </p:txBody>
      </p:sp>
      <p:sp>
        <p:nvSpPr>
          <p:cNvPr id="3" name="テキスト プレースホルダー 2"/>
          <p:cNvSpPr>
            <a:spLocks noGrp="1"/>
          </p:cNvSpPr>
          <p:nvPr>
            <p:ph type="body" sz="quarter" idx="10"/>
          </p:nvPr>
        </p:nvSpPr>
        <p:spPr>
          <a:xfrm>
            <a:off x="2135956" y="1088975"/>
            <a:ext cx="8280092" cy="2250025"/>
          </a:xfrm>
        </p:spPr>
        <p:txBody>
          <a:bodyPr/>
          <a:lstStyle/>
          <a:p>
            <a:r>
              <a:rPr lang="en-US" altLang="ja-JP" dirty="0" err="1"/>
              <a:t>ld_inc</a:t>
            </a:r>
            <a:r>
              <a:rPr lang="en-US" altLang="ja-JP" dirty="0"/>
              <a:t> [rs1]+1</a:t>
            </a:r>
            <a:r>
              <a:rPr lang="ja-JP" altLang="en-US" dirty="0"/>
              <a:t>→</a:t>
            </a:r>
            <a:r>
              <a:rPr lang="en-US" altLang="ja-JP" dirty="0" err="1"/>
              <a:t>rd</a:t>
            </a:r>
            <a:r>
              <a:rPr lang="en-US" altLang="ja-JP" dirty="0"/>
              <a:t>  </a:t>
            </a:r>
            <a:r>
              <a:rPr lang="ja-JP" altLang="en-US" dirty="0"/>
              <a:t>と </a:t>
            </a:r>
            <a:r>
              <a:rPr lang="en-US" altLang="ja-JP" dirty="0"/>
              <a:t>add </a:t>
            </a:r>
            <a:r>
              <a:rPr lang="ja-JP" altLang="en-US" dirty="0"/>
              <a:t>が連続した場合：</a:t>
            </a:r>
            <a:endParaRPr lang="en-US" altLang="ja-JP" dirty="0"/>
          </a:p>
          <a:p>
            <a:pPr lvl="1"/>
            <a:r>
              <a:rPr lang="en-US" altLang="ja-JP" dirty="0" err="1"/>
              <a:t>ld_inc</a:t>
            </a:r>
            <a:r>
              <a:rPr lang="en-US" altLang="ja-JP" dirty="0"/>
              <a:t> </a:t>
            </a:r>
            <a:r>
              <a:rPr lang="ja-JP" altLang="en-US" dirty="0"/>
              <a:t>で，</a:t>
            </a:r>
            <a:r>
              <a:rPr lang="en-US" altLang="ja-JP" dirty="0"/>
              <a:t>MEM </a:t>
            </a:r>
            <a:r>
              <a:rPr lang="ja-JP" altLang="en-US" dirty="0"/>
              <a:t>ステージから読んだ値を加算しようとしても，</a:t>
            </a:r>
            <a:endParaRPr lang="en-US" altLang="ja-JP" dirty="0"/>
          </a:p>
          <a:p>
            <a:pPr lvl="1"/>
            <a:r>
              <a:rPr lang="ja-JP" altLang="en-US" dirty="0"/>
              <a:t>そのサイクルは後続の </a:t>
            </a:r>
            <a:r>
              <a:rPr lang="en-US" altLang="ja-JP" dirty="0"/>
              <a:t>add </a:t>
            </a:r>
            <a:r>
              <a:rPr lang="ja-JP" altLang="en-US" dirty="0"/>
              <a:t>が演算器を使っているので使用できない</a:t>
            </a:r>
            <a:endParaRPr lang="en-US" altLang="ja-JP" dirty="0"/>
          </a:p>
        </p:txBody>
      </p:sp>
      <p:cxnSp>
        <p:nvCxnSpPr>
          <p:cNvPr id="4" name="直線コネクタ 3"/>
          <p:cNvCxnSpPr/>
          <p:nvPr/>
        </p:nvCxnSpPr>
        <p:spPr bwMode="auto">
          <a:xfrm>
            <a:off x="4475982" y="4329010"/>
            <a:ext cx="720080" cy="0"/>
          </a:xfrm>
          <a:prstGeom prst="line">
            <a:avLst/>
          </a:prstGeom>
          <a:noFill/>
          <a:ln w="9525" cap="flat" cmpd="sng" algn="ctr">
            <a:solidFill>
              <a:schemeClr val="tx1"/>
            </a:solidFill>
            <a:prstDash val="dash"/>
            <a:round/>
            <a:headEnd type="none" w="med" len="med"/>
            <a:tailEnd type="none" w="med" len="med"/>
          </a:ln>
          <a:effectLst/>
        </p:spPr>
      </p:cxnSp>
      <p:sp>
        <p:nvSpPr>
          <p:cNvPr id="5" name="角丸四角形 4"/>
          <p:cNvSpPr/>
          <p:nvPr/>
        </p:nvSpPr>
        <p:spPr bwMode="auto">
          <a:xfrm>
            <a:off x="3381490" y="4184850"/>
            <a:ext cx="11523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err="1">
                <a:latin typeface="Courier New" panose="02070309020205020404" pitchFamily="49" charset="0"/>
                <a:cs typeface="Courier New" panose="02070309020205020404" pitchFamily="49" charset="0"/>
              </a:rPr>
              <a:t>ld_inc</a:t>
            </a:r>
            <a:endParaRPr lang="ja-JP" altLang="en-US" b="1" dirty="0">
              <a:latin typeface="Courier New" panose="02070309020205020404" pitchFamily="49" charset="0"/>
              <a:cs typeface="Courier New" panose="02070309020205020404" pitchFamily="49" charset="0"/>
            </a:endParaRPr>
          </a:p>
        </p:txBody>
      </p:sp>
      <p:sp>
        <p:nvSpPr>
          <p:cNvPr id="6" name="角丸四角形 5"/>
          <p:cNvSpPr/>
          <p:nvPr/>
        </p:nvSpPr>
        <p:spPr bwMode="auto">
          <a:xfrm>
            <a:off x="3381490" y="4904858"/>
            <a:ext cx="11523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add</a:t>
            </a:r>
            <a:endParaRPr lang="ja-JP" altLang="en-US" b="1" dirty="0">
              <a:latin typeface="Courier New" panose="02070309020205020404" pitchFamily="49" charset="0"/>
              <a:cs typeface="Courier New" panose="02070309020205020404" pitchFamily="49" charset="0"/>
            </a:endParaRPr>
          </a:p>
        </p:txBody>
      </p:sp>
      <p:cxnSp>
        <p:nvCxnSpPr>
          <p:cNvPr id="7" name="直線コネクタ 6"/>
          <p:cNvCxnSpPr>
            <a:endCxn id="15" idx="1"/>
          </p:cNvCxnSpPr>
          <p:nvPr/>
        </p:nvCxnSpPr>
        <p:spPr bwMode="auto">
          <a:xfrm>
            <a:off x="4551503" y="5084860"/>
            <a:ext cx="1080012" cy="2"/>
          </a:xfrm>
          <a:prstGeom prst="line">
            <a:avLst/>
          </a:prstGeom>
          <a:noFill/>
          <a:ln w="9525" cap="flat" cmpd="sng" algn="ctr">
            <a:solidFill>
              <a:schemeClr val="tx1"/>
            </a:solidFill>
            <a:prstDash val="dash"/>
            <a:round/>
            <a:headEnd type="none" w="med" len="med"/>
            <a:tailEnd type="none" w="med" len="med"/>
          </a:ln>
          <a:effectLst/>
        </p:spPr>
      </p:cxnSp>
      <p:grpSp>
        <p:nvGrpSpPr>
          <p:cNvPr id="8" name="グループ化 7"/>
          <p:cNvGrpSpPr/>
          <p:nvPr/>
        </p:nvGrpSpPr>
        <p:grpSpPr>
          <a:xfrm>
            <a:off x="5181510" y="4184850"/>
            <a:ext cx="2160020" cy="360000"/>
            <a:chOff x="4481999" y="4959017"/>
            <a:chExt cx="2160020" cy="360000"/>
          </a:xfrm>
        </p:grpSpPr>
        <p:sp>
          <p:nvSpPr>
            <p:cNvPr id="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2"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3"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 name="グループ化 13"/>
          <p:cNvGrpSpPr/>
          <p:nvPr/>
        </p:nvGrpSpPr>
        <p:grpSpPr>
          <a:xfrm>
            <a:off x="5631515" y="4904862"/>
            <a:ext cx="2160020" cy="360000"/>
            <a:chOff x="4481999" y="4959017"/>
            <a:chExt cx="2160020" cy="360000"/>
          </a:xfrm>
        </p:grpSpPr>
        <p:sp>
          <p:nvSpPr>
            <p:cNvPr id="15"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8"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9"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
        <p:nvSpPr>
          <p:cNvPr id="20" name="角丸四角形 19"/>
          <p:cNvSpPr/>
          <p:nvPr/>
        </p:nvSpPr>
        <p:spPr bwMode="auto">
          <a:xfrm>
            <a:off x="6486129" y="4004848"/>
            <a:ext cx="450005" cy="1440016"/>
          </a:xfrm>
          <a:prstGeom prst="roundRect">
            <a:avLst/>
          </a:prstGeom>
          <a:no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725545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ld_inc</a:t>
            </a:r>
            <a:r>
              <a:rPr lang="en-US" altLang="ja-JP" dirty="0"/>
              <a:t> [rs1]+1</a:t>
            </a:r>
            <a:r>
              <a:rPr lang="ja-JP" altLang="en-US" dirty="0"/>
              <a:t>→</a:t>
            </a:r>
            <a:r>
              <a:rPr lang="en-US" altLang="ja-JP" dirty="0" err="1"/>
              <a:t>rd</a:t>
            </a:r>
            <a:r>
              <a:rPr lang="en-US" altLang="ja-JP" dirty="0"/>
              <a:t>  </a:t>
            </a:r>
            <a:r>
              <a:rPr lang="ja-JP" altLang="en-US" dirty="0"/>
              <a:t>と </a:t>
            </a:r>
            <a:r>
              <a:rPr lang="en-US" altLang="ja-JP" dirty="0"/>
              <a:t>add </a:t>
            </a:r>
            <a:r>
              <a:rPr lang="ja-JP" altLang="en-US" dirty="0"/>
              <a:t>が連続した場合</a:t>
            </a:r>
            <a:endParaRPr kumimoji="1" lang="ja-JP" altLang="en-US" dirty="0"/>
          </a:p>
        </p:txBody>
      </p:sp>
      <p:sp>
        <p:nvSpPr>
          <p:cNvPr id="3" name="テキスト プレースホルダー 2"/>
          <p:cNvSpPr>
            <a:spLocks noGrp="1"/>
          </p:cNvSpPr>
          <p:nvPr>
            <p:ph type="body" sz="quarter" idx="10"/>
          </p:nvPr>
        </p:nvSpPr>
        <p:spPr>
          <a:xfrm>
            <a:off x="2135956" y="5589025"/>
            <a:ext cx="8280092" cy="719701"/>
          </a:xfrm>
        </p:spPr>
        <p:txBody>
          <a:bodyPr/>
          <a:lstStyle/>
          <a:p>
            <a:r>
              <a:rPr lang="en-US" altLang="ja-JP" dirty="0"/>
              <a:t>EX </a:t>
            </a:r>
            <a:r>
              <a:rPr lang="ja-JP" altLang="en-US" dirty="0"/>
              <a:t>ステージ以外では，演算器にはアクセスできない</a:t>
            </a:r>
            <a:endParaRPr lang="en-US" altLang="ja-JP" dirty="0"/>
          </a:p>
          <a:p>
            <a:pPr lvl="1"/>
            <a:r>
              <a:rPr kumimoji="1" lang="ja-JP" altLang="en-US" dirty="0"/>
              <a:t>他の命令が使っている可能性がある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07" y="3068995"/>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5"/>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dk1"/>
          </a:lnRef>
          <a:fillRef idx="2">
            <a:schemeClr val="dk1"/>
          </a:fillRef>
          <a:effectRef idx="1">
            <a:schemeClr val="dk1"/>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59"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76"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Freeform 10"/>
          <p:cNvSpPr>
            <a:spLocks/>
          </p:cNvSpPr>
          <p:nvPr/>
        </p:nvSpPr>
        <p:spPr bwMode="auto">
          <a:xfrm flipV="1">
            <a:off x="4475982" y="3248995"/>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8" name="直線矢印コネクタ 17"/>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cxnSp>
        <p:nvCxnSpPr>
          <p:cNvPr id="19" name="直線矢印コネクタ 18"/>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0" name="Freeform 10"/>
          <p:cNvSpPr>
            <a:spLocks/>
          </p:cNvSpPr>
          <p:nvPr/>
        </p:nvSpPr>
        <p:spPr bwMode="auto">
          <a:xfrm>
            <a:off x="4475982" y="2258988"/>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 name="Freeform 10"/>
          <p:cNvSpPr>
            <a:spLocks/>
          </p:cNvSpPr>
          <p:nvPr/>
        </p:nvSpPr>
        <p:spPr bwMode="auto">
          <a:xfrm rot="10800000" flipH="1">
            <a:off x="9876039" y="2708992"/>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2" name="直線矢印コネクタ 21"/>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23" name="直線矢印コネクタ 22"/>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24" name="直線矢印コネクタ 23"/>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25" name="直線矢印コネクタ 24"/>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26" name="正方形/長方形 25"/>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27" name="Freeform 10"/>
          <p:cNvSpPr>
            <a:spLocks/>
          </p:cNvSpPr>
          <p:nvPr/>
        </p:nvSpPr>
        <p:spPr bwMode="auto">
          <a:xfrm>
            <a:off x="6636005"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31" name="直線矢印コネクタ 30"/>
          <p:cNvCxnSpPr>
            <a:endCxn id="20" idx="0"/>
          </p:cNvCxnSpPr>
          <p:nvPr/>
        </p:nvCxnSpPr>
        <p:spPr bwMode="auto">
          <a:xfrm flipH="1">
            <a:off x="4475983"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32" name="Freeform 10"/>
          <p:cNvSpPr>
            <a:spLocks/>
          </p:cNvSpPr>
          <p:nvPr/>
        </p:nvSpPr>
        <p:spPr bwMode="auto">
          <a:xfrm rot="10800000" flipH="1">
            <a:off x="8076022" y="2528987"/>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3" name="Freeform 10"/>
          <p:cNvSpPr>
            <a:spLocks/>
          </p:cNvSpPr>
          <p:nvPr/>
        </p:nvSpPr>
        <p:spPr bwMode="auto">
          <a:xfrm rot="5400000" flipH="1" flipV="1">
            <a:off x="10101044" y="2213986"/>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正方形/長方形 33"/>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7" name="正方形/長方形 36"/>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正方形/長方形 37"/>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9" name="正方形/長方形 38"/>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40" name="グループ化 39"/>
          <p:cNvGrpSpPr/>
          <p:nvPr/>
        </p:nvGrpSpPr>
        <p:grpSpPr>
          <a:xfrm>
            <a:off x="4025977" y="3068996"/>
            <a:ext cx="360004" cy="720008"/>
            <a:chOff x="2411977" y="3068996"/>
            <a:chExt cx="360004" cy="720008"/>
          </a:xfrm>
        </p:grpSpPr>
        <p:sp>
          <p:nvSpPr>
            <p:cNvPr id="41" name="正方形/長方形 40"/>
            <p:cNvSpPr/>
            <p:nvPr/>
          </p:nvSpPr>
          <p:spPr bwMode="auto">
            <a:xfrm>
              <a:off x="2411977" y="3068996"/>
              <a:ext cx="360004" cy="720008"/>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2" name="二等辺三角形 41"/>
            <p:cNvSpPr/>
            <p:nvPr/>
          </p:nvSpPr>
          <p:spPr bwMode="auto">
            <a:xfrm>
              <a:off x="2501977" y="3609002"/>
              <a:ext cx="180002" cy="180002"/>
            </a:xfrm>
            <a:prstGeom prst="triangle">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43" name="正方形/長方形 42"/>
          <p:cNvSpPr/>
          <p:nvPr/>
        </p:nvSpPr>
        <p:spPr bwMode="auto">
          <a:xfrm>
            <a:off x="6186001"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4" name="二等辺三角形 43"/>
          <p:cNvSpPr/>
          <p:nvPr/>
        </p:nvSpPr>
        <p:spPr bwMode="auto">
          <a:xfrm>
            <a:off x="6276001"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正方形/長方形 44"/>
          <p:cNvSpPr/>
          <p:nvPr/>
        </p:nvSpPr>
        <p:spPr bwMode="auto">
          <a:xfrm>
            <a:off x="7626017" y="2438989"/>
            <a:ext cx="360004" cy="2160024"/>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6" name="二等辺三角形 45"/>
          <p:cNvSpPr/>
          <p:nvPr/>
        </p:nvSpPr>
        <p:spPr bwMode="auto">
          <a:xfrm>
            <a:off x="7716017" y="4419011"/>
            <a:ext cx="180002" cy="180002"/>
          </a:xfrm>
          <a:prstGeom prst="triangle">
            <a:avLst/>
          </a:prstGeom>
          <a:noFill/>
          <a:ln>
            <a:solidFill>
              <a:schemeClr val="accent4"/>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7986021" y="2258987"/>
            <a:ext cx="204174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err="1"/>
              <a:t>ld_inc</a:t>
            </a:r>
            <a:r>
              <a:rPr lang="en-US" altLang="ja-JP" dirty="0"/>
              <a:t> [rs1]+1</a:t>
            </a:r>
            <a:r>
              <a:rPr lang="ja-JP" altLang="en-US" dirty="0"/>
              <a:t>→</a:t>
            </a:r>
            <a:r>
              <a:rPr lang="en-US" altLang="ja-JP" dirty="0" err="1"/>
              <a:t>rd</a:t>
            </a:r>
            <a:r>
              <a:rPr lang="en-US" altLang="ja-JP" dirty="0"/>
              <a:t>  </a:t>
            </a:r>
            <a:endParaRPr lang="ja-JP" altLang="en-US" dirty="0">
              <a:latin typeface="Arial Narrow" panose="020B0606020202030204" pitchFamily="34" charset="0"/>
            </a:endParaRPr>
          </a:p>
        </p:txBody>
      </p:sp>
      <p:sp>
        <p:nvSpPr>
          <p:cNvPr id="53" name="角丸四角形 52"/>
          <p:cNvSpPr/>
          <p:nvPr/>
        </p:nvSpPr>
        <p:spPr bwMode="auto">
          <a:xfrm>
            <a:off x="6636006" y="2258987"/>
            <a:ext cx="90001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t>add</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575901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構造ハザードの解決方法</a:t>
            </a:r>
          </a:p>
        </p:txBody>
      </p:sp>
      <p:sp>
        <p:nvSpPr>
          <p:cNvPr id="3" name="テキスト プレースホルダー 2"/>
          <p:cNvSpPr>
            <a:spLocks noGrp="1"/>
          </p:cNvSpPr>
          <p:nvPr>
            <p:ph type="body" sz="quarter" idx="10"/>
          </p:nvPr>
        </p:nvSpPr>
        <p:spPr/>
        <p:txBody>
          <a:bodyPr/>
          <a:lstStyle/>
          <a:p>
            <a:r>
              <a:rPr kumimoji="1" lang="ja-JP" altLang="en-US" dirty="0"/>
              <a:t>解決方法</a:t>
            </a:r>
            <a:endParaRPr kumimoji="1" lang="en-US" altLang="ja-JP" dirty="0"/>
          </a:p>
          <a:p>
            <a:pPr marL="817200" lvl="1" indent="-457200">
              <a:buFont typeface="+mj-lt"/>
              <a:buAutoNum type="arabicPeriod"/>
            </a:pPr>
            <a:r>
              <a:rPr kumimoji="1" lang="ja-JP" altLang="en-US" dirty="0"/>
              <a:t>ハードウェアの増強</a:t>
            </a:r>
            <a:endParaRPr kumimoji="1" lang="en-US" altLang="ja-JP" dirty="0"/>
          </a:p>
          <a:p>
            <a:pPr marL="817200" lvl="1" indent="-457200">
              <a:buFont typeface="+mj-lt"/>
              <a:buAutoNum type="arabicPeriod"/>
            </a:pPr>
            <a:r>
              <a:rPr kumimoji="1" lang="ja-JP" altLang="en-US" dirty="0"/>
              <a:t>時分割処理</a:t>
            </a:r>
            <a:endParaRPr kumimoji="1" lang="en-US" altLang="ja-JP" dirty="0"/>
          </a:p>
          <a:p>
            <a:pPr marL="817200" lvl="1" indent="-457200">
              <a:buFont typeface="+mj-lt"/>
              <a:buAutoNum type="arabicPeriod"/>
            </a:pPr>
            <a:r>
              <a:rPr kumimoji="1" lang="ja-JP" altLang="en-US" dirty="0"/>
              <a:t>マイクロ命令への変換</a:t>
            </a:r>
          </a:p>
        </p:txBody>
      </p:sp>
    </p:spTree>
    <p:extLst>
      <p:ext uri="{BB962C8B-B14F-4D97-AF65-F5344CB8AC3E}">
        <p14:creationId xmlns:p14="http://schemas.microsoft.com/office/powerpoint/2010/main" val="3009723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解決方法１：ハードウェアの増強</a:t>
            </a:r>
          </a:p>
        </p:txBody>
      </p:sp>
      <p:sp>
        <p:nvSpPr>
          <p:cNvPr id="3" name="テキスト プレースホルダー 2"/>
          <p:cNvSpPr>
            <a:spLocks noGrp="1"/>
          </p:cNvSpPr>
          <p:nvPr>
            <p:ph type="body" sz="quarter" idx="10"/>
          </p:nvPr>
        </p:nvSpPr>
        <p:spPr/>
        <p:txBody>
          <a:bodyPr/>
          <a:lstStyle/>
          <a:p>
            <a:r>
              <a:rPr kumimoji="1" lang="ja-JP" altLang="en-US" dirty="0"/>
              <a:t>ハードウェアを増強する</a:t>
            </a:r>
            <a:br>
              <a:rPr kumimoji="1" lang="en-US" altLang="ja-JP" dirty="0"/>
            </a:br>
            <a:endParaRPr kumimoji="1" lang="en-US" altLang="ja-JP" dirty="0"/>
          </a:p>
          <a:p>
            <a:pPr lvl="1"/>
            <a:r>
              <a:rPr lang="en-US" altLang="ja-JP" dirty="0" err="1"/>
              <a:t>mov</a:t>
            </a:r>
            <a:r>
              <a:rPr lang="en-US" altLang="ja-JP" dirty="0"/>
              <a:t> [rs1]</a:t>
            </a:r>
            <a:r>
              <a:rPr lang="ja-JP" altLang="en-US" dirty="0"/>
              <a:t>→</a:t>
            </a:r>
            <a:r>
              <a:rPr lang="en-US" altLang="ja-JP" dirty="0"/>
              <a:t>[rs2]</a:t>
            </a:r>
          </a:p>
          <a:p>
            <a:pPr lvl="2"/>
            <a:r>
              <a:rPr lang="ja-JP" altLang="en-US" dirty="0"/>
              <a:t>複数箇所のメモリを同時に読み書きできるように</a:t>
            </a:r>
            <a:endParaRPr lang="en-US" altLang="ja-JP" dirty="0"/>
          </a:p>
          <a:p>
            <a:pPr lvl="2"/>
            <a:endParaRPr lang="en-US" altLang="ja-JP" dirty="0"/>
          </a:p>
          <a:p>
            <a:pPr lvl="1"/>
            <a:r>
              <a:rPr kumimoji="1" lang="en-US" altLang="ja-JP" dirty="0"/>
              <a:t>pop</a:t>
            </a:r>
          </a:p>
          <a:p>
            <a:pPr lvl="2"/>
            <a:r>
              <a:rPr kumimoji="1" lang="ja-JP" altLang="en-US" dirty="0"/>
              <a:t>レジスタに２つ同時に書き込めるように</a:t>
            </a:r>
            <a:endParaRPr kumimoji="1" lang="en-US" altLang="ja-JP" dirty="0"/>
          </a:p>
          <a:p>
            <a:pPr lvl="2"/>
            <a:endParaRPr kumimoji="1" lang="en-US" altLang="ja-JP" dirty="0"/>
          </a:p>
          <a:p>
            <a:pPr lvl="1"/>
            <a:r>
              <a:rPr lang="en-US" altLang="ja-JP" dirty="0" err="1"/>
              <a:t>ld_inc</a:t>
            </a:r>
            <a:r>
              <a:rPr lang="en-US" altLang="ja-JP" dirty="0"/>
              <a:t> [rs1]+1</a:t>
            </a:r>
            <a:r>
              <a:rPr lang="ja-JP" altLang="en-US" dirty="0"/>
              <a:t>→</a:t>
            </a:r>
            <a:r>
              <a:rPr lang="en-US" altLang="ja-JP" dirty="0" err="1"/>
              <a:t>rd</a:t>
            </a:r>
            <a:r>
              <a:rPr lang="en-US" altLang="ja-JP" dirty="0"/>
              <a:t>  </a:t>
            </a:r>
          </a:p>
          <a:p>
            <a:pPr lvl="2"/>
            <a:r>
              <a:rPr lang="en-US" altLang="ja-JP" dirty="0">
                <a:latin typeface="Arial Narrow" panose="020B0606020202030204" pitchFamily="34" charset="0"/>
              </a:rPr>
              <a:t>MEM </a:t>
            </a:r>
            <a:r>
              <a:rPr lang="ja-JP" altLang="en-US" dirty="0">
                <a:latin typeface="Arial Narrow" panose="020B0606020202030204" pitchFamily="34" charset="0"/>
              </a:rPr>
              <a:t>ステージに専用の加算器を追加</a:t>
            </a:r>
            <a:endParaRPr kumimoji="1" lang="ja-JP" altLang="en-US" dirty="0"/>
          </a:p>
        </p:txBody>
      </p:sp>
    </p:spTree>
    <p:extLst>
      <p:ext uri="{BB962C8B-B14F-4D97-AF65-F5344CB8AC3E}">
        <p14:creationId xmlns:p14="http://schemas.microsoft.com/office/powerpoint/2010/main" val="3713780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解決方法１：ハードウェアの増強</a:t>
            </a:r>
          </a:p>
        </p:txBody>
      </p:sp>
      <p:sp>
        <p:nvSpPr>
          <p:cNvPr id="3" name="テキスト プレースホルダー 2"/>
          <p:cNvSpPr>
            <a:spLocks noGrp="1"/>
          </p:cNvSpPr>
          <p:nvPr>
            <p:ph type="body" sz="quarter" idx="10"/>
          </p:nvPr>
        </p:nvSpPr>
        <p:spPr>
          <a:xfrm>
            <a:off x="1775952" y="1088975"/>
            <a:ext cx="8640096" cy="5219751"/>
          </a:xfrm>
        </p:spPr>
        <p:txBody>
          <a:bodyPr/>
          <a:lstStyle/>
          <a:p>
            <a:r>
              <a:rPr kumimoji="1" lang="ja-JP" altLang="en-US" dirty="0"/>
              <a:t>利点：オーバーヘッドをいとわなければ，基本これで解決</a:t>
            </a:r>
            <a:endParaRPr kumimoji="1" lang="en-US" altLang="ja-JP" dirty="0"/>
          </a:p>
          <a:p>
            <a:r>
              <a:rPr kumimoji="1" lang="ja-JP" altLang="en-US" dirty="0"/>
              <a:t>欠点：回路規模が増える</a:t>
            </a:r>
            <a:br>
              <a:rPr kumimoji="1" lang="en-US" altLang="ja-JP" dirty="0"/>
            </a:br>
            <a:endParaRPr kumimoji="1" lang="en-US" altLang="ja-JP" dirty="0"/>
          </a:p>
          <a:p>
            <a:pPr marL="817200" lvl="1" indent="-457200">
              <a:buFont typeface="+mj-lt"/>
              <a:buAutoNum type="arabicPeriod"/>
            </a:pPr>
            <a:r>
              <a:rPr kumimoji="1" lang="ja-JP" altLang="en-US" dirty="0"/>
              <a:t>機能の増強量に比例した回路が必要</a:t>
            </a:r>
            <a:endParaRPr kumimoji="1" lang="en-US" altLang="ja-JP" dirty="0"/>
          </a:p>
          <a:p>
            <a:pPr lvl="2"/>
            <a:r>
              <a:rPr lang="ja-JP" altLang="en-US" dirty="0"/>
              <a:t>なにも考えないで対応していくと，ものすごい数の回路になる</a:t>
            </a:r>
            <a:endParaRPr kumimoji="1" lang="en-US" altLang="ja-JP" dirty="0"/>
          </a:p>
          <a:p>
            <a:pPr lvl="2"/>
            <a:r>
              <a:rPr kumimoji="1" lang="ja-JP" altLang="en-US" dirty="0"/>
              <a:t>例：</a:t>
            </a:r>
            <a:r>
              <a:rPr kumimoji="1" lang="en-US" altLang="ja-JP" dirty="0"/>
              <a:t>ARM </a:t>
            </a:r>
            <a:r>
              <a:rPr kumimoji="1" lang="ja-JP" altLang="en-US" dirty="0"/>
              <a:t>は全１６レジスタを一気にメモリに書ける命令がある</a:t>
            </a:r>
            <a:endParaRPr kumimoji="1" lang="en-US" altLang="ja-JP" dirty="0"/>
          </a:p>
          <a:p>
            <a:pPr lvl="2"/>
            <a:endParaRPr kumimoji="1" lang="en-US" altLang="ja-JP" dirty="0"/>
          </a:p>
          <a:p>
            <a:pPr marL="817200" lvl="1" indent="-457200">
              <a:buFont typeface="+mj-lt"/>
              <a:buAutoNum type="arabicPeriod"/>
            </a:pPr>
            <a:r>
              <a:rPr kumimoji="1" lang="ja-JP" altLang="en-US" dirty="0"/>
              <a:t>機能の増強量に対して，線形より大きなオーダーで回路規模が</a:t>
            </a:r>
            <a:br>
              <a:rPr kumimoji="1" lang="en-US" altLang="ja-JP" dirty="0"/>
            </a:br>
            <a:r>
              <a:rPr kumimoji="1" lang="ja-JP" altLang="en-US" dirty="0"/>
              <a:t>増える場合もある</a:t>
            </a:r>
            <a:endParaRPr kumimoji="1" lang="en-US" altLang="ja-JP" dirty="0"/>
          </a:p>
          <a:p>
            <a:pPr lvl="2"/>
            <a:r>
              <a:rPr lang="ja-JP" altLang="en-US" dirty="0"/>
              <a:t>加算器などなら，増やした数の分だけ線形に回路が増える</a:t>
            </a:r>
          </a:p>
          <a:p>
            <a:pPr lvl="2"/>
            <a:r>
              <a:rPr kumimoji="1" lang="ja-JP" altLang="en-US" dirty="0">
                <a:solidFill>
                  <a:schemeClr val="accent5"/>
                </a:solidFill>
              </a:rPr>
              <a:t>メモリやレジスタは，同時に読み書きできる数の２乗で回路が大きくなる（今後の講義で説明）</a:t>
            </a:r>
            <a:endParaRPr kumimoji="1" lang="en-US" altLang="ja-JP" dirty="0">
              <a:solidFill>
                <a:schemeClr val="accent5"/>
              </a:solidFill>
            </a:endParaRPr>
          </a:p>
        </p:txBody>
      </p:sp>
    </p:spTree>
    <p:extLst>
      <p:ext uri="{BB962C8B-B14F-4D97-AF65-F5344CB8AC3E}">
        <p14:creationId xmlns:p14="http://schemas.microsoft.com/office/powerpoint/2010/main" val="2709897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3638B5-2EAF-C4EE-B33F-2159DBAD8012}"/>
              </a:ext>
            </a:extLst>
          </p:cNvPr>
          <p:cNvSpPr>
            <a:spLocks noGrp="1"/>
          </p:cNvSpPr>
          <p:nvPr>
            <p:ph type="title"/>
          </p:nvPr>
        </p:nvSpPr>
        <p:spPr/>
        <p:txBody>
          <a:bodyPr/>
          <a:lstStyle/>
          <a:p>
            <a:r>
              <a:rPr lang="en-US" altLang="ja-JP" sz="2000" dirty="0"/>
              <a:t>ARM</a:t>
            </a:r>
            <a:r>
              <a:rPr lang="ja-JP" altLang="en-US" sz="2000" dirty="0"/>
              <a:t>（</a:t>
            </a:r>
            <a:r>
              <a:rPr lang="en-US" altLang="ja-JP" sz="2000" dirty="0"/>
              <a:t>32</a:t>
            </a:r>
            <a:r>
              <a:rPr lang="ja-JP" altLang="en-US" sz="2000" dirty="0"/>
              <a:t>ビット）の </a:t>
            </a:r>
            <a:r>
              <a:rPr lang="en-US" altLang="ja-JP" sz="2000" dirty="0"/>
              <a:t>Load/Store Multiple (LDM/STM) </a:t>
            </a:r>
            <a:r>
              <a:rPr lang="ja-JP" altLang="en-US" sz="2000" dirty="0"/>
              <a:t>命令</a:t>
            </a:r>
            <a:br>
              <a:rPr lang="en-US" altLang="ja-JP" sz="2000" dirty="0"/>
            </a:br>
            <a:r>
              <a:rPr lang="ja-JP" altLang="en-US" sz="1600" dirty="0"/>
              <a:t>ビットマスクで指定した最大</a:t>
            </a:r>
            <a:r>
              <a:rPr lang="en-US" altLang="ja-JP" sz="1600" dirty="0"/>
              <a:t>16</a:t>
            </a:r>
            <a:r>
              <a:rPr lang="ja-JP" altLang="en-US" sz="1600" dirty="0"/>
              <a:t>個のレジスタへのロードストアを行う</a:t>
            </a:r>
            <a:br>
              <a:rPr lang="en-US" altLang="ja-JP" sz="1600" dirty="0"/>
            </a:br>
            <a:r>
              <a:rPr lang="ja-JP" altLang="en-US" sz="1600" dirty="0"/>
              <a:t>関数呼び出し</a:t>
            </a:r>
            <a:r>
              <a:rPr lang="en-US" altLang="ja-JP" sz="1600" dirty="0"/>
              <a:t>/</a:t>
            </a:r>
            <a:r>
              <a:rPr lang="ja-JP" altLang="en-US" sz="1600" dirty="0"/>
              <a:t>復帰の際の，レジスタの保存や復帰でよく使われる</a:t>
            </a:r>
            <a:endParaRPr lang="ja-JP" altLang="en-US" sz="2000" dirty="0"/>
          </a:p>
        </p:txBody>
      </p:sp>
      <p:pic>
        <p:nvPicPr>
          <p:cNvPr id="4" name="図 3">
            <a:extLst>
              <a:ext uri="{FF2B5EF4-FFF2-40B4-BE49-F238E27FC236}">
                <a16:creationId xmlns:a16="http://schemas.microsoft.com/office/drawing/2014/main" id="{293E8730-3C6F-5BDF-D31F-BB2EB6805DEC}"/>
              </a:ext>
            </a:extLst>
          </p:cNvPr>
          <p:cNvPicPr>
            <a:picLocks noChangeAspect="1"/>
          </p:cNvPicPr>
          <p:nvPr/>
        </p:nvPicPr>
        <p:blipFill>
          <a:blip r:embed="rId2"/>
          <a:stretch>
            <a:fillRect/>
          </a:stretch>
        </p:blipFill>
        <p:spPr>
          <a:xfrm>
            <a:off x="3665973" y="998973"/>
            <a:ext cx="5058990" cy="5220058"/>
          </a:xfrm>
          <a:prstGeom prst="rect">
            <a:avLst/>
          </a:prstGeom>
        </p:spPr>
      </p:pic>
      <p:sp>
        <p:nvSpPr>
          <p:cNvPr id="3" name="テキスト プレースホルダー 2">
            <a:extLst>
              <a:ext uri="{FF2B5EF4-FFF2-40B4-BE49-F238E27FC236}">
                <a16:creationId xmlns:a16="http://schemas.microsoft.com/office/drawing/2014/main" id="{00D2305C-FC9B-70C0-86AC-B74E47954F37}"/>
              </a:ext>
            </a:extLst>
          </p:cNvPr>
          <p:cNvSpPr>
            <a:spLocks noGrp="1"/>
          </p:cNvSpPr>
          <p:nvPr>
            <p:ph type="body" sz="quarter" idx="10"/>
          </p:nvPr>
        </p:nvSpPr>
        <p:spPr>
          <a:xfrm>
            <a:off x="1775952" y="6309033"/>
            <a:ext cx="8640096" cy="359697"/>
          </a:xfrm>
        </p:spPr>
        <p:txBody>
          <a:bodyPr/>
          <a:lstStyle/>
          <a:p>
            <a:r>
              <a:rPr lang="en-US" altLang="ja-JP" dirty="0"/>
              <a:t>ARM Architecture Reference Manual </a:t>
            </a:r>
            <a:r>
              <a:rPr lang="ja-JP" altLang="en-US" dirty="0"/>
              <a:t>より</a:t>
            </a:r>
            <a:endParaRPr lang="en-US" altLang="ja-JP" dirty="0"/>
          </a:p>
        </p:txBody>
      </p:sp>
    </p:spTree>
    <p:extLst>
      <p:ext uri="{BB962C8B-B14F-4D97-AF65-F5344CB8AC3E}">
        <p14:creationId xmlns:p14="http://schemas.microsoft.com/office/powerpoint/2010/main" val="287222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構造ハザードの解決方法</a:t>
            </a:r>
          </a:p>
        </p:txBody>
      </p:sp>
      <p:sp>
        <p:nvSpPr>
          <p:cNvPr id="3" name="テキスト プレースホルダー 2"/>
          <p:cNvSpPr>
            <a:spLocks noGrp="1"/>
          </p:cNvSpPr>
          <p:nvPr>
            <p:ph type="body" sz="quarter" idx="10"/>
          </p:nvPr>
        </p:nvSpPr>
        <p:spPr/>
        <p:txBody>
          <a:bodyPr/>
          <a:lstStyle/>
          <a:p>
            <a:r>
              <a:rPr kumimoji="1" lang="ja-JP" altLang="en-US" dirty="0"/>
              <a:t>解決方法</a:t>
            </a:r>
            <a:endParaRPr kumimoji="1" lang="en-US" altLang="ja-JP" dirty="0"/>
          </a:p>
          <a:p>
            <a:pPr marL="817200" lvl="1" indent="-457200">
              <a:buFont typeface="+mj-lt"/>
              <a:buAutoNum type="arabicPeriod"/>
            </a:pPr>
            <a:r>
              <a:rPr kumimoji="1" lang="ja-JP" altLang="en-US" dirty="0"/>
              <a:t>ハードウェアの増強</a:t>
            </a:r>
            <a:endParaRPr kumimoji="1" lang="en-US" altLang="ja-JP" dirty="0"/>
          </a:p>
          <a:p>
            <a:pPr marL="817200" lvl="1" indent="-457200">
              <a:buFont typeface="+mj-lt"/>
              <a:buAutoNum type="arabicPeriod"/>
            </a:pPr>
            <a:r>
              <a:rPr kumimoji="1" lang="ja-JP" altLang="en-US" b="1" dirty="0"/>
              <a:t>時分割処理</a:t>
            </a:r>
            <a:endParaRPr kumimoji="1" lang="en-US" altLang="ja-JP" b="1" dirty="0"/>
          </a:p>
          <a:p>
            <a:pPr marL="817200" lvl="1" indent="-457200">
              <a:buFont typeface="+mj-lt"/>
              <a:buAutoNum type="arabicPeriod"/>
            </a:pPr>
            <a:r>
              <a:rPr kumimoji="1" lang="ja-JP" altLang="en-US" dirty="0"/>
              <a:t>マイクロ命令への変換</a:t>
            </a:r>
          </a:p>
        </p:txBody>
      </p:sp>
    </p:spTree>
    <p:extLst>
      <p:ext uri="{BB962C8B-B14F-4D97-AF65-F5344CB8AC3E}">
        <p14:creationId xmlns:p14="http://schemas.microsoft.com/office/powerpoint/2010/main" val="3790353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解決方法２：時分割で処理</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構造ハザードの原因：</a:t>
            </a:r>
            <a:endParaRPr kumimoji="1" lang="en-US" altLang="ja-JP" dirty="0"/>
          </a:p>
          <a:p>
            <a:pPr lvl="1"/>
            <a:r>
              <a:rPr kumimoji="1" lang="ja-JP" altLang="en-US" dirty="0"/>
              <a:t>ハードウェア（の機能）が足りない</a:t>
            </a:r>
            <a:endParaRPr kumimoji="1" lang="en-US" altLang="ja-JP" dirty="0"/>
          </a:p>
          <a:p>
            <a:r>
              <a:rPr kumimoji="1" lang="ja-JP" altLang="en-US" dirty="0">
                <a:solidFill>
                  <a:schemeClr val="accent5"/>
                </a:solidFill>
              </a:rPr>
              <a:t>パイプラインを止めて</a:t>
            </a:r>
            <a:r>
              <a:rPr kumimoji="1" lang="ja-JP" altLang="en-US" dirty="0"/>
              <a:t>，複数のサイクルをかけて処理する</a:t>
            </a:r>
            <a:endParaRPr kumimoji="1" lang="en-US" altLang="ja-JP" dirty="0"/>
          </a:p>
          <a:p>
            <a:pPr lvl="1"/>
            <a:r>
              <a:rPr lang="en-US" altLang="ja-JP" dirty="0" err="1"/>
              <a:t>mov</a:t>
            </a:r>
            <a:r>
              <a:rPr lang="en-US" altLang="ja-JP" dirty="0"/>
              <a:t> [rs1]</a:t>
            </a:r>
            <a:r>
              <a:rPr lang="ja-JP" altLang="en-US" dirty="0"/>
              <a:t>→</a:t>
            </a:r>
            <a:r>
              <a:rPr lang="en-US" altLang="ja-JP" dirty="0"/>
              <a:t>[rs2]</a:t>
            </a:r>
          </a:p>
          <a:p>
            <a:pPr lvl="2"/>
            <a:r>
              <a:rPr lang="ja-JP" altLang="en-US" dirty="0"/>
              <a:t>メモリを読んだあと，次のサイクルで書きこむ</a:t>
            </a:r>
            <a:endParaRPr lang="en-US" altLang="ja-JP" dirty="0"/>
          </a:p>
          <a:p>
            <a:pPr lvl="2"/>
            <a:endParaRPr lang="en-US" altLang="ja-JP" dirty="0"/>
          </a:p>
          <a:p>
            <a:pPr lvl="1"/>
            <a:r>
              <a:rPr lang="en-US" altLang="ja-JP" dirty="0"/>
              <a:t>pop</a:t>
            </a:r>
          </a:p>
          <a:p>
            <a:pPr lvl="2"/>
            <a:r>
              <a:rPr lang="ja-JP" altLang="en-US" dirty="0"/>
              <a:t>１つレジスタに書いたあと，次のサイクルで書き込む</a:t>
            </a:r>
            <a:endParaRPr lang="en-US" altLang="ja-JP" dirty="0"/>
          </a:p>
          <a:p>
            <a:pPr lvl="2"/>
            <a:endParaRPr lang="en-US" altLang="ja-JP" dirty="0"/>
          </a:p>
          <a:p>
            <a:pPr lvl="1"/>
            <a:r>
              <a:rPr lang="en-US" altLang="ja-JP" dirty="0" err="1"/>
              <a:t>ld_inc</a:t>
            </a:r>
            <a:r>
              <a:rPr lang="en-US" altLang="ja-JP" dirty="0"/>
              <a:t> [rs1]+1</a:t>
            </a:r>
            <a:r>
              <a:rPr lang="ja-JP" altLang="en-US" dirty="0"/>
              <a:t>→</a:t>
            </a:r>
            <a:r>
              <a:rPr lang="en-US" altLang="ja-JP" dirty="0" err="1"/>
              <a:t>rd</a:t>
            </a:r>
            <a:r>
              <a:rPr lang="en-US" altLang="ja-JP" dirty="0"/>
              <a:t>  </a:t>
            </a:r>
          </a:p>
          <a:p>
            <a:pPr lvl="2"/>
            <a:r>
              <a:rPr kumimoji="1" lang="en-US" altLang="ja-JP" dirty="0" err="1"/>
              <a:t>ld_inc</a:t>
            </a:r>
            <a:r>
              <a:rPr kumimoji="1" lang="en-US" altLang="ja-JP" dirty="0"/>
              <a:t> </a:t>
            </a:r>
            <a:r>
              <a:rPr kumimoji="1" lang="ja-JP" altLang="en-US" dirty="0"/>
              <a:t>が </a:t>
            </a:r>
            <a:r>
              <a:rPr kumimoji="1" lang="en-US" altLang="ja-JP" dirty="0"/>
              <a:t>MEM </a:t>
            </a:r>
            <a:r>
              <a:rPr kumimoji="1" lang="ja-JP" altLang="en-US" dirty="0"/>
              <a:t>で値を読んだら，次のサイクルで </a:t>
            </a:r>
            <a:r>
              <a:rPr kumimoji="1" lang="en-US" altLang="ja-JP" dirty="0"/>
              <a:t>+1</a:t>
            </a:r>
            <a:endParaRPr kumimoji="1" lang="ja-JP" altLang="en-US" dirty="0"/>
          </a:p>
        </p:txBody>
      </p:sp>
    </p:spTree>
    <p:extLst>
      <p:ext uri="{BB962C8B-B14F-4D97-AF65-F5344CB8AC3E}">
        <p14:creationId xmlns:p14="http://schemas.microsoft.com/office/powerpoint/2010/main" val="368360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なぜパイプラインを止めるのか</a:t>
            </a:r>
          </a:p>
        </p:txBody>
      </p:sp>
      <p:sp>
        <p:nvSpPr>
          <p:cNvPr id="3" name="テキスト プレースホルダー 2"/>
          <p:cNvSpPr>
            <a:spLocks noGrp="1"/>
          </p:cNvSpPr>
          <p:nvPr>
            <p:ph type="body" sz="quarter" idx="10"/>
          </p:nvPr>
        </p:nvSpPr>
        <p:spPr>
          <a:xfrm>
            <a:off x="2135956" y="4869017"/>
            <a:ext cx="8280092" cy="719701"/>
          </a:xfrm>
        </p:spPr>
        <p:txBody>
          <a:bodyPr/>
          <a:lstStyle/>
          <a:p>
            <a:r>
              <a:rPr lang="ja-JP" altLang="en-US" dirty="0"/>
              <a:t>上流を止めないと破綻する</a:t>
            </a:r>
            <a:endParaRPr lang="en-US" altLang="ja-JP" dirty="0"/>
          </a:p>
          <a:p>
            <a:pPr lvl="1"/>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が複数サイクルをかけて仕事をしている場合，</a:t>
            </a:r>
            <a:br>
              <a:rPr lang="en-US" altLang="ja-JP" dirty="0"/>
            </a:br>
            <a:r>
              <a:rPr lang="ja-JP" altLang="en-US" dirty="0"/>
              <a:t>命令はそこにとどまり続ける</a:t>
            </a:r>
            <a:endParaRPr lang="en-US" altLang="ja-JP" dirty="0"/>
          </a:p>
          <a:p>
            <a:pPr lvl="1"/>
            <a:r>
              <a:rPr lang="ja-JP" altLang="en-US" dirty="0"/>
              <a:t>その間は上流をとめないと命令をおく場所がないし，</a:t>
            </a:r>
            <a:br>
              <a:rPr lang="en-US" altLang="ja-JP" dirty="0"/>
            </a:br>
            <a:r>
              <a:rPr lang="ja-JP" altLang="en-US" dirty="0"/>
              <a:t>依存関係がまもられない</a:t>
            </a:r>
            <a:endPar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dirty="0"/>
              <a:t>より</a:t>
            </a:r>
            <a:r>
              <a:rPr kumimoji="1" lang="ja-JP" altLang="en-US" dirty="0"/>
              <a:t>下流は流れていっても，この場合は問題ない</a:t>
            </a:r>
            <a:endParaRPr kumimoji="1" lang="en-US" altLang="ja-JP" dirty="0"/>
          </a:p>
        </p:txBody>
      </p:sp>
      <p:grpSp>
        <p:nvGrpSpPr>
          <p:cNvPr id="4" name="グループ化 3"/>
          <p:cNvGrpSpPr/>
          <p:nvPr/>
        </p:nvGrpSpPr>
        <p:grpSpPr>
          <a:xfrm>
            <a:off x="3125967" y="2618991"/>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4566127" y="2618991"/>
            <a:ext cx="1562400"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006287" y="2618991"/>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7446447" y="2618991"/>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3087807" y="175444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527967" y="175444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5970014" y="1773032"/>
            <a:ext cx="865983" cy="738664"/>
          </a:xfrm>
          <a:prstGeom prst="rect">
            <a:avLst/>
          </a:prstGeom>
        </p:spPr>
        <p:txBody>
          <a:bodyPr wrap="none">
            <a:no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ﾀｲﾍﾝﾈ</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7410174" y="1773032"/>
            <a:ext cx="937991" cy="738664"/>
          </a:xfrm>
          <a:prstGeom prst="rect">
            <a:avLst/>
          </a:prstGeom>
        </p:spPr>
        <p:txBody>
          <a:bodyPr wrap="none">
            <a:no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ｺﾜｲﾅｧ</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p:cNvCxnSpPr/>
          <p:nvPr/>
        </p:nvCxnSpPr>
        <p:spPr bwMode="auto">
          <a:xfrm>
            <a:off x="3125967" y="3429000"/>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角丸四角形 20"/>
          <p:cNvSpPr/>
          <p:nvPr/>
        </p:nvSpPr>
        <p:spPr bwMode="auto">
          <a:xfrm>
            <a:off x="4925987" y="252899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sp>
        <p:nvSpPr>
          <p:cNvPr id="22" name="角丸四角形 21"/>
          <p:cNvSpPr/>
          <p:nvPr/>
        </p:nvSpPr>
        <p:spPr bwMode="auto">
          <a:xfrm>
            <a:off x="3575972" y="2528990"/>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grpSp>
        <p:nvGrpSpPr>
          <p:cNvPr id="27" name="グループ化 26"/>
          <p:cNvGrpSpPr/>
          <p:nvPr/>
        </p:nvGrpSpPr>
        <p:grpSpPr>
          <a:xfrm>
            <a:off x="6456004" y="2528990"/>
            <a:ext cx="2160024" cy="360004"/>
            <a:chOff x="4932004" y="3068996"/>
            <a:chExt cx="2160024" cy="360004"/>
          </a:xfrm>
        </p:grpSpPr>
        <p:sp>
          <p:nvSpPr>
            <p:cNvPr id="23" name="角丸四角形 22"/>
            <p:cNvSpPr/>
            <p:nvPr/>
          </p:nvSpPr>
          <p:spPr bwMode="auto">
            <a:xfrm>
              <a:off x="4932004"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sp>
          <p:nvSpPr>
            <p:cNvPr id="24" name="角丸四角形 23"/>
            <p:cNvSpPr/>
            <p:nvPr/>
          </p:nvSpPr>
          <p:spPr bwMode="auto">
            <a:xfrm>
              <a:off x="6372020" y="3068996"/>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命令</a:t>
              </a:r>
            </a:p>
          </p:txBody>
        </p:sp>
      </p:grpSp>
      <p:sp>
        <p:nvSpPr>
          <p:cNvPr id="25" name="角丸四角形吹き出し 24"/>
          <p:cNvSpPr/>
          <p:nvPr/>
        </p:nvSpPr>
        <p:spPr bwMode="auto">
          <a:xfrm>
            <a:off x="3575972" y="1088974"/>
            <a:ext cx="1440016"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うるせぇ</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命令ぶつけんぞ</a:t>
            </a:r>
          </a:p>
        </p:txBody>
      </p:sp>
      <p:sp>
        <p:nvSpPr>
          <p:cNvPr id="26" name="角丸四角形吹き出し 25"/>
          <p:cNvSpPr/>
          <p:nvPr/>
        </p:nvSpPr>
        <p:spPr bwMode="auto">
          <a:xfrm>
            <a:off x="5195990" y="1088974"/>
            <a:ext cx="1440016"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もうしばらく</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おまちください</a:t>
            </a:r>
          </a:p>
        </p:txBody>
      </p:sp>
      <p:sp>
        <p:nvSpPr>
          <p:cNvPr id="29" name="正方形/長方形 28">
            <a:extLst>
              <a:ext uri="{FF2B5EF4-FFF2-40B4-BE49-F238E27FC236}">
                <a16:creationId xmlns:a16="http://schemas.microsoft.com/office/drawing/2014/main" id="{07F62B24-E63D-E477-40B2-4DBC9DC34AA2}"/>
              </a:ext>
            </a:extLst>
          </p:cNvPr>
          <p:cNvSpPr/>
          <p:nvPr/>
        </p:nvSpPr>
        <p:spPr bwMode="auto">
          <a:xfrm>
            <a:off x="1955954" y="324899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rPr>
              <a:t>上流</a:t>
            </a:r>
          </a:p>
        </p:txBody>
      </p:sp>
      <p:sp>
        <p:nvSpPr>
          <p:cNvPr id="30" name="正方形/長方形 29">
            <a:extLst>
              <a:ext uri="{FF2B5EF4-FFF2-40B4-BE49-F238E27FC236}">
                <a16:creationId xmlns:a16="http://schemas.microsoft.com/office/drawing/2014/main" id="{1CF20944-CBF9-C76B-5DEA-A17F77EF5477}"/>
              </a:ext>
            </a:extLst>
          </p:cNvPr>
          <p:cNvSpPr/>
          <p:nvPr/>
        </p:nvSpPr>
        <p:spPr bwMode="auto">
          <a:xfrm>
            <a:off x="8706029" y="324899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rPr>
              <a:t>下流</a:t>
            </a:r>
          </a:p>
        </p:txBody>
      </p:sp>
    </p:spTree>
    <p:extLst>
      <p:ext uri="{BB962C8B-B14F-4D97-AF65-F5344CB8AC3E}">
        <p14:creationId xmlns:p14="http://schemas.microsoft.com/office/powerpoint/2010/main" val="2074875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72222E-6 2.59259E-6 L 0.15746 0.00023 " pathEditMode="relative" rAng="0" ptsTypes="AA">
                                      <p:cBhvr>
                                        <p:cTn id="6" dur="2000" fill="hold"/>
                                        <p:tgtEl>
                                          <p:spTgt spid="27"/>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パイプラインを止めること</a:t>
            </a:r>
          </a:p>
        </p:txBody>
      </p:sp>
      <p:sp>
        <p:nvSpPr>
          <p:cNvPr id="3" name="テキスト プレースホルダー 2"/>
          <p:cNvSpPr>
            <a:spLocks noGrp="1"/>
          </p:cNvSpPr>
          <p:nvPr>
            <p:ph type="body" sz="quarter" idx="10"/>
          </p:nvPr>
        </p:nvSpPr>
        <p:spPr>
          <a:xfrm>
            <a:off x="1775952" y="1088975"/>
            <a:ext cx="8892048" cy="5219751"/>
          </a:xfrm>
        </p:spPr>
        <p:txBody>
          <a:bodyPr/>
          <a:lstStyle/>
          <a:p>
            <a:r>
              <a:rPr kumimoji="1" lang="ja-JP" altLang="en-US" dirty="0"/>
              <a:t>パイプラインを止めるとことを「</a:t>
            </a:r>
            <a:r>
              <a:rPr kumimoji="1" lang="ja-JP" altLang="en-US" dirty="0">
                <a:solidFill>
                  <a:schemeClr val="accent5"/>
                </a:solidFill>
              </a:rPr>
              <a:t>ストール</a:t>
            </a:r>
            <a:r>
              <a:rPr kumimoji="1" lang="ja-JP" altLang="en-US" dirty="0"/>
              <a:t>」や「</a:t>
            </a:r>
            <a:r>
              <a:rPr kumimoji="1" lang="ja-JP" altLang="en-US" dirty="0">
                <a:solidFill>
                  <a:schemeClr val="accent5"/>
                </a:solidFill>
              </a:rPr>
              <a:t>インターロック</a:t>
            </a:r>
            <a:r>
              <a:rPr kumimoji="1" lang="ja-JP" altLang="en-US" dirty="0"/>
              <a:t>」</a:t>
            </a:r>
            <a:br>
              <a:rPr kumimoji="1" lang="en-US" altLang="ja-JP" dirty="0"/>
            </a:br>
            <a:r>
              <a:rPr kumimoji="1" lang="ja-JP" altLang="en-US" dirty="0"/>
              <a:t>という</a:t>
            </a:r>
            <a:endParaRPr kumimoji="1" lang="en-US" altLang="ja-JP" dirty="0"/>
          </a:p>
          <a:p>
            <a:pPr lvl="1"/>
            <a:r>
              <a:rPr kumimoji="1" lang="ja-JP" altLang="en-US" dirty="0"/>
              <a:t>本や人によって，意味や使い方が微妙に統一されていない</a:t>
            </a:r>
            <a:endParaRPr lang="en-US" altLang="ja-JP" dirty="0"/>
          </a:p>
          <a:p>
            <a:pPr lvl="1"/>
            <a:r>
              <a:rPr kumimoji="1" lang="ja-JP" altLang="en-US" dirty="0"/>
              <a:t>この講義では，以降は</a:t>
            </a:r>
            <a:r>
              <a:rPr kumimoji="1" lang="ja-JP" altLang="en-US" dirty="0">
                <a:solidFill>
                  <a:schemeClr val="accent5"/>
                </a:solidFill>
              </a:rPr>
              <a:t>ストールで統一</a:t>
            </a:r>
            <a:endParaRPr kumimoji="1" lang="en-US" altLang="ja-JP" dirty="0">
              <a:solidFill>
                <a:schemeClr val="accent5"/>
              </a:solidFill>
            </a:endParaRPr>
          </a:p>
        </p:txBody>
      </p:sp>
    </p:spTree>
    <p:extLst>
      <p:ext uri="{BB962C8B-B14F-4D97-AF65-F5344CB8AC3E}">
        <p14:creationId xmlns:p14="http://schemas.microsoft.com/office/powerpoint/2010/main" val="312195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直線コネクタ 53"/>
          <p:cNvCxnSpPr/>
          <p:nvPr/>
        </p:nvCxnSpPr>
        <p:spPr bwMode="auto">
          <a:xfrm>
            <a:off x="3215968" y="1718981"/>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28" name="直線コネクタ 27"/>
          <p:cNvCxnSpPr/>
          <p:nvPr/>
        </p:nvCxnSpPr>
        <p:spPr bwMode="auto">
          <a:xfrm>
            <a:off x="3215968" y="126897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kumimoji="1" lang="ja-JP" altLang="en-US" dirty="0"/>
              <a:t>ストールの動作</a:t>
            </a:r>
          </a:p>
        </p:txBody>
      </p:sp>
      <p:sp>
        <p:nvSpPr>
          <p:cNvPr id="3" name="テキスト プレースホルダー 2"/>
          <p:cNvSpPr>
            <a:spLocks noGrp="1"/>
          </p:cNvSpPr>
          <p:nvPr>
            <p:ph type="body" sz="quarter" idx="10"/>
          </p:nvPr>
        </p:nvSpPr>
        <p:spPr>
          <a:xfrm>
            <a:off x="2135956" y="4509013"/>
            <a:ext cx="8280092" cy="1799713"/>
          </a:xfrm>
        </p:spPr>
        <p:txBody>
          <a:bodyPr/>
          <a:lstStyle/>
          <a:p>
            <a:r>
              <a:rPr lang="en-US" altLang="ja-JP" dirty="0"/>
              <a:t>pop</a:t>
            </a:r>
            <a:r>
              <a:rPr lang="ja-JP" altLang="en-US" dirty="0"/>
              <a:t>：１つレジスタに書いたあと，次のサイクルで書き込む</a:t>
            </a:r>
            <a:endParaRPr lang="en-US" altLang="ja-JP" dirty="0"/>
          </a:p>
          <a:p>
            <a:pPr lvl="1"/>
            <a:r>
              <a:rPr lang="en-US" altLang="ja-JP" dirty="0"/>
              <a:t>WB1 </a:t>
            </a:r>
            <a:r>
              <a:rPr lang="ja-JP" altLang="en-US" dirty="0"/>
              <a:t>と </a:t>
            </a:r>
            <a:r>
              <a:rPr lang="en-US" altLang="ja-JP" dirty="0"/>
              <a:t>WB2 </a:t>
            </a:r>
            <a:r>
              <a:rPr lang="ja-JP" altLang="en-US" dirty="0"/>
              <a:t>の２サイクルで書き込む</a:t>
            </a:r>
            <a:endParaRPr lang="en-US" altLang="ja-JP" dirty="0"/>
          </a:p>
          <a:p>
            <a:pPr lvl="1"/>
            <a:r>
              <a:rPr lang="en-US" altLang="ja-JP" dirty="0"/>
              <a:t>WB2 </a:t>
            </a:r>
            <a:r>
              <a:rPr lang="ja-JP" altLang="en-US" dirty="0"/>
              <a:t>の間は上流を全て止める</a:t>
            </a:r>
            <a:endParaRPr lang="en-US" altLang="ja-JP" dirty="0"/>
          </a:p>
          <a:p>
            <a:r>
              <a:rPr kumimoji="1" lang="ja-JP" altLang="en-US" dirty="0"/>
              <a:t>パイプライン・チャート上では上記のようになる</a:t>
            </a:r>
            <a:endParaRPr kumimoji="1" lang="en-US" altLang="ja-JP" dirty="0"/>
          </a:p>
          <a:p>
            <a:pPr lvl="1"/>
            <a:r>
              <a:rPr kumimoji="1" lang="ja-JP" altLang="en-US" dirty="0"/>
              <a:t>止める原因の命令の下が全部右にずれる</a:t>
            </a:r>
            <a:endParaRPr kumimoji="1" lang="en-US" altLang="ja-JP" dirty="0"/>
          </a:p>
          <a:p>
            <a:pPr lvl="1"/>
            <a:r>
              <a:rPr kumimoji="1" lang="ja-JP" altLang="en-US" dirty="0"/>
              <a:t>ずれた部分の空き（</a:t>
            </a:r>
            <a:r>
              <a:rPr kumimoji="1" lang="en-US" altLang="ja-JP" dirty="0"/>
              <a:t>bb</a:t>
            </a:r>
            <a:r>
              <a:rPr kumimoji="1" lang="ja-JP" altLang="en-US" dirty="0"/>
              <a:t>）を「</a:t>
            </a:r>
            <a:r>
              <a:rPr kumimoji="1" lang="ja-JP" altLang="en-US" dirty="0">
                <a:solidFill>
                  <a:schemeClr val="accent5"/>
                </a:solidFill>
              </a:rPr>
              <a:t>バブル</a:t>
            </a:r>
            <a:r>
              <a:rPr kumimoji="1" lang="ja-JP" altLang="en-US" dirty="0"/>
              <a:t>」とよぶ</a:t>
            </a:r>
          </a:p>
        </p:txBody>
      </p:sp>
      <p:sp>
        <p:nvSpPr>
          <p:cNvPr id="11" name="Rectangle 69"/>
          <p:cNvSpPr>
            <a:spLocks noChangeArrowheads="1"/>
          </p:cNvSpPr>
          <p:nvPr/>
        </p:nvSpPr>
        <p:spPr bwMode="auto">
          <a:xfrm>
            <a:off x="375597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2" name="Rectangle 70"/>
          <p:cNvSpPr>
            <a:spLocks noChangeArrowheads="1"/>
          </p:cNvSpPr>
          <p:nvPr/>
        </p:nvSpPr>
        <p:spPr bwMode="auto">
          <a:xfrm>
            <a:off x="420597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3" name="Rectangle 71"/>
          <p:cNvSpPr>
            <a:spLocks noChangeArrowheads="1"/>
          </p:cNvSpPr>
          <p:nvPr/>
        </p:nvSpPr>
        <p:spPr bwMode="auto">
          <a:xfrm>
            <a:off x="465598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 name="Rectangle 72"/>
          <p:cNvSpPr>
            <a:spLocks noChangeArrowheads="1"/>
          </p:cNvSpPr>
          <p:nvPr/>
        </p:nvSpPr>
        <p:spPr bwMode="auto">
          <a:xfrm>
            <a:off x="510598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 name="Rectangle 73"/>
          <p:cNvSpPr>
            <a:spLocks noChangeArrowheads="1"/>
          </p:cNvSpPr>
          <p:nvPr/>
        </p:nvSpPr>
        <p:spPr bwMode="auto">
          <a:xfrm>
            <a:off x="5555994"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WB1</a:t>
            </a:r>
          </a:p>
        </p:txBody>
      </p:sp>
      <p:sp>
        <p:nvSpPr>
          <p:cNvPr id="17" name="Rectangle 69"/>
          <p:cNvSpPr>
            <a:spLocks noChangeArrowheads="1"/>
          </p:cNvSpPr>
          <p:nvPr/>
        </p:nvSpPr>
        <p:spPr bwMode="auto">
          <a:xfrm>
            <a:off x="420597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8" name="Rectangle 70"/>
          <p:cNvSpPr>
            <a:spLocks noChangeArrowheads="1"/>
          </p:cNvSpPr>
          <p:nvPr/>
        </p:nvSpPr>
        <p:spPr bwMode="auto">
          <a:xfrm>
            <a:off x="465598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9" name="Rectangle 71"/>
          <p:cNvSpPr>
            <a:spLocks noChangeArrowheads="1"/>
          </p:cNvSpPr>
          <p:nvPr/>
        </p:nvSpPr>
        <p:spPr bwMode="auto">
          <a:xfrm>
            <a:off x="510598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 name="Rectangle 72"/>
          <p:cNvSpPr>
            <a:spLocks noChangeArrowheads="1"/>
          </p:cNvSpPr>
          <p:nvPr/>
        </p:nvSpPr>
        <p:spPr bwMode="auto">
          <a:xfrm>
            <a:off x="555599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 name="Rectangle 73"/>
          <p:cNvSpPr>
            <a:spLocks noChangeArrowheads="1"/>
          </p:cNvSpPr>
          <p:nvPr/>
        </p:nvSpPr>
        <p:spPr bwMode="auto">
          <a:xfrm>
            <a:off x="645600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3" name="Rectangle 69"/>
          <p:cNvSpPr>
            <a:spLocks noChangeArrowheads="1"/>
          </p:cNvSpPr>
          <p:nvPr/>
        </p:nvSpPr>
        <p:spPr bwMode="auto">
          <a:xfrm>
            <a:off x="465598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510598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5" name="Rectangle 71"/>
          <p:cNvSpPr>
            <a:spLocks noChangeArrowheads="1"/>
          </p:cNvSpPr>
          <p:nvPr/>
        </p:nvSpPr>
        <p:spPr bwMode="auto">
          <a:xfrm>
            <a:off x="555599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6" name="Rectangle 72"/>
          <p:cNvSpPr>
            <a:spLocks noChangeArrowheads="1"/>
          </p:cNvSpPr>
          <p:nvPr/>
        </p:nvSpPr>
        <p:spPr bwMode="auto">
          <a:xfrm>
            <a:off x="645600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7" name="Rectangle 73"/>
          <p:cNvSpPr>
            <a:spLocks noChangeArrowheads="1"/>
          </p:cNvSpPr>
          <p:nvPr/>
        </p:nvSpPr>
        <p:spPr bwMode="auto">
          <a:xfrm>
            <a:off x="690600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1" name="正方形/長方形 30"/>
          <p:cNvSpPr/>
          <p:nvPr/>
        </p:nvSpPr>
        <p:spPr bwMode="auto">
          <a:xfrm>
            <a:off x="2495960" y="108897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pop</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Rectangle 73"/>
          <p:cNvSpPr>
            <a:spLocks noChangeArrowheads="1"/>
          </p:cNvSpPr>
          <p:nvPr/>
        </p:nvSpPr>
        <p:spPr bwMode="auto">
          <a:xfrm>
            <a:off x="6005999" y="1088974"/>
            <a:ext cx="360000" cy="360000"/>
          </a:xfrm>
          <a:prstGeom prst="rect">
            <a:avLst/>
          </a:prstGeom>
          <a:ln>
            <a:headEnd/>
            <a:tailEnd type="none" w="med" len="lg"/>
          </a:ln>
        </p:spPr>
        <p:style>
          <a:lnRef idx="1">
            <a:schemeClr val="accent6"/>
          </a:lnRef>
          <a:fillRef idx="2">
            <a:schemeClr val="accent6"/>
          </a:fillRef>
          <a:effectRef idx="1">
            <a:schemeClr val="accent6"/>
          </a:effectRef>
          <a:fontRef idx="minor">
            <a:schemeClr val="dk1"/>
          </a:fontRef>
        </p:style>
        <p:txBody>
          <a:bodyPr wrap="none" lIns="93600" tIns="46800" rIns="93600" bIns="46800" anchor="ctr"/>
          <a:lstStyle/>
          <a:p>
            <a:pPr algn="ctr"/>
            <a:r>
              <a:rPr lang="en-US" altLang="ja-JP" sz="1600" dirty="0"/>
              <a:t>WB2</a:t>
            </a:r>
          </a:p>
        </p:txBody>
      </p:sp>
      <p:sp>
        <p:nvSpPr>
          <p:cNvPr id="33" name="Rectangle 69"/>
          <p:cNvSpPr>
            <a:spLocks noChangeArrowheads="1"/>
          </p:cNvSpPr>
          <p:nvPr/>
        </p:nvSpPr>
        <p:spPr bwMode="auto">
          <a:xfrm>
            <a:off x="510598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4" name="Rectangle 70"/>
          <p:cNvSpPr>
            <a:spLocks noChangeArrowheads="1"/>
          </p:cNvSpPr>
          <p:nvPr/>
        </p:nvSpPr>
        <p:spPr bwMode="auto">
          <a:xfrm>
            <a:off x="555599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5" name="Rectangle 71"/>
          <p:cNvSpPr>
            <a:spLocks noChangeArrowheads="1"/>
          </p:cNvSpPr>
          <p:nvPr/>
        </p:nvSpPr>
        <p:spPr bwMode="auto">
          <a:xfrm>
            <a:off x="645600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6" name="Rectangle 72"/>
          <p:cNvSpPr>
            <a:spLocks noChangeArrowheads="1"/>
          </p:cNvSpPr>
          <p:nvPr/>
        </p:nvSpPr>
        <p:spPr bwMode="auto">
          <a:xfrm>
            <a:off x="690600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7" name="Rectangle 73"/>
          <p:cNvSpPr>
            <a:spLocks noChangeArrowheads="1"/>
          </p:cNvSpPr>
          <p:nvPr/>
        </p:nvSpPr>
        <p:spPr bwMode="auto">
          <a:xfrm>
            <a:off x="735601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8" name="Rectangle 69"/>
          <p:cNvSpPr>
            <a:spLocks noChangeArrowheads="1"/>
          </p:cNvSpPr>
          <p:nvPr/>
        </p:nvSpPr>
        <p:spPr bwMode="auto">
          <a:xfrm>
            <a:off x="555599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9" name="Rectangle 70"/>
          <p:cNvSpPr>
            <a:spLocks noChangeArrowheads="1"/>
          </p:cNvSpPr>
          <p:nvPr/>
        </p:nvSpPr>
        <p:spPr bwMode="auto">
          <a:xfrm>
            <a:off x="645600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0" name="Rectangle 71"/>
          <p:cNvSpPr>
            <a:spLocks noChangeArrowheads="1"/>
          </p:cNvSpPr>
          <p:nvPr/>
        </p:nvSpPr>
        <p:spPr bwMode="auto">
          <a:xfrm>
            <a:off x="690600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41" name="Rectangle 72"/>
          <p:cNvSpPr>
            <a:spLocks noChangeArrowheads="1"/>
          </p:cNvSpPr>
          <p:nvPr/>
        </p:nvSpPr>
        <p:spPr bwMode="auto">
          <a:xfrm>
            <a:off x="735601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42" name="Rectangle 73"/>
          <p:cNvSpPr>
            <a:spLocks noChangeArrowheads="1"/>
          </p:cNvSpPr>
          <p:nvPr/>
        </p:nvSpPr>
        <p:spPr bwMode="auto">
          <a:xfrm>
            <a:off x="780601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43" name="Rectangle 73"/>
          <p:cNvSpPr>
            <a:spLocks noChangeArrowheads="1"/>
          </p:cNvSpPr>
          <p:nvPr/>
        </p:nvSpPr>
        <p:spPr bwMode="auto">
          <a:xfrm>
            <a:off x="6005999"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4" name="Rectangle 73"/>
          <p:cNvSpPr>
            <a:spLocks noChangeArrowheads="1"/>
          </p:cNvSpPr>
          <p:nvPr/>
        </p:nvSpPr>
        <p:spPr bwMode="auto">
          <a:xfrm>
            <a:off x="6005999" y="198898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5" name="Rectangle 73"/>
          <p:cNvSpPr>
            <a:spLocks noChangeArrowheads="1"/>
          </p:cNvSpPr>
          <p:nvPr/>
        </p:nvSpPr>
        <p:spPr bwMode="auto">
          <a:xfrm>
            <a:off x="6005999" y="243898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6" name="Rectangle 73"/>
          <p:cNvSpPr>
            <a:spLocks noChangeArrowheads="1"/>
          </p:cNvSpPr>
          <p:nvPr/>
        </p:nvSpPr>
        <p:spPr bwMode="auto">
          <a:xfrm>
            <a:off x="6005999" y="288899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47" name="Rectangle 69"/>
          <p:cNvSpPr>
            <a:spLocks noChangeArrowheads="1"/>
          </p:cNvSpPr>
          <p:nvPr/>
        </p:nvSpPr>
        <p:spPr bwMode="auto">
          <a:xfrm>
            <a:off x="645600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48" name="Rectangle 70"/>
          <p:cNvSpPr>
            <a:spLocks noChangeArrowheads="1"/>
          </p:cNvSpPr>
          <p:nvPr/>
        </p:nvSpPr>
        <p:spPr bwMode="auto">
          <a:xfrm>
            <a:off x="6906009"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49" name="Rectangle 71"/>
          <p:cNvSpPr>
            <a:spLocks noChangeArrowheads="1"/>
          </p:cNvSpPr>
          <p:nvPr/>
        </p:nvSpPr>
        <p:spPr bwMode="auto">
          <a:xfrm>
            <a:off x="735601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50" name="Rectangle 72"/>
          <p:cNvSpPr>
            <a:spLocks noChangeArrowheads="1"/>
          </p:cNvSpPr>
          <p:nvPr/>
        </p:nvSpPr>
        <p:spPr bwMode="auto">
          <a:xfrm>
            <a:off x="7806019"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51" name="Rectangle 73"/>
          <p:cNvSpPr>
            <a:spLocks noChangeArrowheads="1"/>
          </p:cNvSpPr>
          <p:nvPr/>
        </p:nvSpPr>
        <p:spPr bwMode="auto">
          <a:xfrm>
            <a:off x="8256024" y="333899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53" name="角丸四角形 52"/>
          <p:cNvSpPr/>
          <p:nvPr/>
        </p:nvSpPr>
        <p:spPr bwMode="auto">
          <a:xfrm>
            <a:off x="5953169" y="908972"/>
            <a:ext cx="450005" cy="2970033"/>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6" name="直線コネクタ 55"/>
          <p:cNvCxnSpPr/>
          <p:nvPr/>
        </p:nvCxnSpPr>
        <p:spPr bwMode="auto">
          <a:xfrm>
            <a:off x="3215968" y="2168986"/>
            <a:ext cx="1440088" cy="0"/>
          </a:xfrm>
          <a:prstGeom prst="line">
            <a:avLst/>
          </a:prstGeom>
          <a:noFill/>
          <a:ln w="9525" cap="flat" cmpd="sng" algn="ctr">
            <a:solidFill>
              <a:schemeClr val="tx1"/>
            </a:solidFill>
            <a:prstDash val="dash"/>
            <a:round/>
            <a:headEnd type="none" w="med" len="med"/>
            <a:tailEnd type="none" w="med" len="med"/>
          </a:ln>
          <a:effectLst/>
        </p:spPr>
      </p:cxnSp>
      <p:sp>
        <p:nvSpPr>
          <p:cNvPr id="58" name="正方形/長方形 57"/>
          <p:cNvSpPr/>
          <p:nvPr/>
        </p:nvSpPr>
        <p:spPr bwMode="auto">
          <a:xfrm>
            <a:off x="2495960" y="153897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add</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2495960" y="198898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0" name="直線コネクタ 59"/>
          <p:cNvCxnSpPr/>
          <p:nvPr/>
        </p:nvCxnSpPr>
        <p:spPr bwMode="auto">
          <a:xfrm>
            <a:off x="3215969" y="2618991"/>
            <a:ext cx="1890093" cy="0"/>
          </a:xfrm>
          <a:prstGeom prst="line">
            <a:avLst/>
          </a:prstGeom>
          <a:noFill/>
          <a:ln w="9525" cap="flat" cmpd="sng" algn="ctr">
            <a:solidFill>
              <a:schemeClr val="tx1"/>
            </a:solidFill>
            <a:prstDash val="dash"/>
            <a:round/>
            <a:headEnd type="none" w="med" len="med"/>
            <a:tailEnd type="none" w="med" len="med"/>
          </a:ln>
          <a:effectLst/>
        </p:spPr>
      </p:cxnSp>
      <p:sp>
        <p:nvSpPr>
          <p:cNvPr id="62" name="正方形/長方形 61"/>
          <p:cNvSpPr/>
          <p:nvPr/>
        </p:nvSpPr>
        <p:spPr bwMode="auto">
          <a:xfrm>
            <a:off x="2495960" y="243898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p:cNvCxnSpPr>
            <a:endCxn id="38" idx="1"/>
          </p:cNvCxnSpPr>
          <p:nvPr/>
        </p:nvCxnSpPr>
        <p:spPr bwMode="auto">
          <a:xfrm flipV="1">
            <a:off x="3215968" y="3068994"/>
            <a:ext cx="2340026" cy="2"/>
          </a:xfrm>
          <a:prstGeom prst="line">
            <a:avLst/>
          </a:prstGeom>
          <a:noFill/>
          <a:ln w="9525" cap="flat" cmpd="sng" algn="ctr">
            <a:solidFill>
              <a:schemeClr val="tx1"/>
            </a:solidFill>
            <a:prstDash val="dash"/>
            <a:round/>
            <a:headEnd type="none" w="med" len="med"/>
            <a:tailEnd type="none" w="med" len="med"/>
          </a:ln>
          <a:effectLst/>
        </p:spPr>
      </p:cxnSp>
      <p:sp>
        <p:nvSpPr>
          <p:cNvPr id="64" name="正方形/長方形 63"/>
          <p:cNvSpPr/>
          <p:nvPr/>
        </p:nvSpPr>
        <p:spPr bwMode="auto">
          <a:xfrm>
            <a:off x="2495960" y="288899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5" name="直線コネクタ 64"/>
          <p:cNvCxnSpPr>
            <a:endCxn id="47" idx="1"/>
          </p:cNvCxnSpPr>
          <p:nvPr/>
        </p:nvCxnSpPr>
        <p:spPr bwMode="auto">
          <a:xfrm flipV="1">
            <a:off x="3215968" y="3518999"/>
            <a:ext cx="3240036" cy="2"/>
          </a:xfrm>
          <a:prstGeom prst="line">
            <a:avLst/>
          </a:prstGeom>
          <a:noFill/>
          <a:ln w="9525" cap="flat" cmpd="sng" algn="ctr">
            <a:solidFill>
              <a:schemeClr val="tx1"/>
            </a:solidFill>
            <a:prstDash val="dash"/>
            <a:round/>
            <a:headEnd type="none" w="med" len="med"/>
            <a:tailEnd type="none" w="med" len="med"/>
          </a:ln>
          <a:effectLst/>
        </p:spPr>
      </p:cxnSp>
      <p:sp>
        <p:nvSpPr>
          <p:cNvPr id="66" name="正方形/長方形 65"/>
          <p:cNvSpPr/>
          <p:nvPr/>
        </p:nvSpPr>
        <p:spPr bwMode="auto">
          <a:xfrm>
            <a:off x="2495960" y="333899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2" name="直線矢印コネクタ 51"/>
          <p:cNvCxnSpPr/>
          <p:nvPr/>
        </p:nvCxnSpPr>
        <p:spPr bwMode="auto">
          <a:xfrm>
            <a:off x="6005999" y="3789004"/>
            <a:ext cx="2700030"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55" name="正方形/長方形 54"/>
          <p:cNvSpPr/>
          <p:nvPr/>
        </p:nvSpPr>
        <p:spPr bwMode="auto">
          <a:xfrm>
            <a:off x="8166023" y="2078985"/>
            <a:ext cx="1800020"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add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以降の全処理が</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バブルで右に１つずれる</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１サイクル実行が</a:t>
            </a:r>
            <a:b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b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遅くなっている</a:t>
            </a:r>
          </a:p>
        </p:txBody>
      </p:sp>
    </p:spTree>
    <p:extLst>
      <p:ext uri="{BB962C8B-B14F-4D97-AF65-F5344CB8AC3E}">
        <p14:creationId xmlns:p14="http://schemas.microsoft.com/office/powerpoint/2010/main" val="26788138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ストールの実現方法</a:t>
            </a:r>
            <a:endParaRPr kumimoji="1" lang="ja-JP" altLang="en-US" dirty="0"/>
          </a:p>
        </p:txBody>
      </p:sp>
      <p:sp>
        <p:nvSpPr>
          <p:cNvPr id="3" name="テキスト プレースホルダー 2"/>
          <p:cNvSpPr>
            <a:spLocks noGrp="1"/>
          </p:cNvSpPr>
          <p:nvPr>
            <p:ph type="body" sz="quarter" idx="10"/>
          </p:nvPr>
        </p:nvSpPr>
        <p:spPr>
          <a:xfrm>
            <a:off x="2135956" y="4509013"/>
            <a:ext cx="8280092" cy="1799713"/>
          </a:xfrm>
        </p:spPr>
        <p:txBody>
          <a:bodyPr/>
          <a:lstStyle/>
          <a:p>
            <a:r>
              <a:rPr kumimoji="1" lang="ja-JP" altLang="en-US" dirty="0"/>
              <a:t>回路的には，</a:t>
            </a:r>
            <a:r>
              <a:rPr lang="en-US" altLang="ja-JP" dirty="0"/>
              <a:t>Write Enable</a:t>
            </a:r>
            <a:r>
              <a:rPr lang="ja-JP" altLang="en-US" dirty="0"/>
              <a:t>（</a:t>
            </a:r>
            <a:r>
              <a:rPr lang="en-US" altLang="ja-JP" dirty="0"/>
              <a:t>WE</a:t>
            </a:r>
            <a:r>
              <a:rPr lang="ja-JP" altLang="en-US" dirty="0"/>
              <a:t>）つきの </a:t>
            </a:r>
            <a:r>
              <a:rPr lang="en-US" altLang="ja-JP" dirty="0"/>
              <a:t>D-FF </a:t>
            </a:r>
            <a:r>
              <a:rPr lang="ja-JP" altLang="en-US" dirty="0"/>
              <a:t>を使う</a:t>
            </a:r>
            <a:endParaRPr lang="en-US" altLang="ja-JP" dirty="0"/>
          </a:p>
          <a:p>
            <a:pPr lvl="1"/>
            <a:r>
              <a:rPr kumimoji="1" lang="en-US" altLang="ja-JP" dirty="0"/>
              <a:t>WE </a:t>
            </a:r>
            <a:r>
              <a:rPr kumimoji="1" lang="ja-JP" altLang="en-US" dirty="0"/>
              <a:t>が </a:t>
            </a:r>
            <a:r>
              <a:rPr kumimoji="1" lang="en-US" altLang="ja-JP" dirty="0"/>
              <a:t>0 </a:t>
            </a:r>
            <a:r>
              <a:rPr kumimoji="1" lang="ja-JP" altLang="en-US" dirty="0"/>
              <a:t>のサイクルは書き込みが行われない</a:t>
            </a:r>
            <a:endParaRPr kumimoji="1" lang="en-US" altLang="ja-JP" dirty="0"/>
          </a:p>
          <a:p>
            <a:pPr lvl="1"/>
            <a:r>
              <a:rPr kumimoji="1" lang="ja-JP" altLang="en-US" dirty="0"/>
              <a:t>ストールさせたい時は，そのステージの </a:t>
            </a:r>
            <a:r>
              <a:rPr kumimoji="1" lang="en-US" altLang="ja-JP" dirty="0"/>
              <a:t>WE </a:t>
            </a:r>
            <a:r>
              <a:rPr kumimoji="1" lang="ja-JP" altLang="en-US" dirty="0"/>
              <a:t>を </a:t>
            </a:r>
            <a:r>
              <a:rPr kumimoji="1" lang="en-US" altLang="ja-JP" dirty="0"/>
              <a:t>0 </a:t>
            </a:r>
            <a:r>
              <a:rPr kumimoji="1" lang="ja-JP" altLang="en-US" dirty="0"/>
              <a:t>に</a:t>
            </a:r>
          </a:p>
        </p:txBody>
      </p:sp>
      <p:sp>
        <p:nvSpPr>
          <p:cNvPr id="4" name="正方形/長方形 3"/>
          <p:cNvSpPr/>
          <p:nvPr/>
        </p:nvSpPr>
        <p:spPr bwMode="auto">
          <a:xfrm>
            <a:off x="3215968" y="198898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cxnSp>
        <p:nvCxnSpPr>
          <p:cNvPr id="6" name="直線矢印コネクタ 5"/>
          <p:cNvCxnSpPr/>
          <p:nvPr/>
        </p:nvCxnSpPr>
        <p:spPr bwMode="auto">
          <a:xfrm>
            <a:off x="4655984" y="2708992"/>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7" name="グループ化 6"/>
          <p:cNvGrpSpPr/>
          <p:nvPr/>
        </p:nvGrpSpPr>
        <p:grpSpPr>
          <a:xfrm>
            <a:off x="5015988" y="2348988"/>
            <a:ext cx="360004" cy="720008"/>
            <a:chOff x="2411977" y="3068996"/>
            <a:chExt cx="360004" cy="720008"/>
          </a:xfrm>
        </p:grpSpPr>
        <p:sp>
          <p:nvSpPr>
            <p:cNvPr id="8" name="正方形/長方形 7"/>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9" name="二等辺三角形 8"/>
            <p:cNvSpPr/>
            <p:nvPr/>
          </p:nvSpPr>
          <p:spPr bwMode="auto">
            <a:xfrm>
              <a:off x="2501977" y="3609002"/>
              <a:ext cx="180002" cy="180002"/>
            </a:xfrm>
            <a:prstGeom prst="triangle">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cxnSp>
        <p:nvCxnSpPr>
          <p:cNvPr id="10" name="直線矢印コネクタ 9"/>
          <p:cNvCxnSpPr/>
          <p:nvPr/>
        </p:nvCxnSpPr>
        <p:spPr bwMode="auto">
          <a:xfrm>
            <a:off x="2855964" y="2708992"/>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11" name="グループ化 10"/>
          <p:cNvGrpSpPr/>
          <p:nvPr/>
        </p:nvGrpSpPr>
        <p:grpSpPr>
          <a:xfrm>
            <a:off x="7536016" y="2348988"/>
            <a:ext cx="360004" cy="720008"/>
            <a:chOff x="2411977" y="3068996"/>
            <a:chExt cx="360004" cy="720008"/>
          </a:xfrm>
        </p:grpSpPr>
        <p:sp>
          <p:nvSpPr>
            <p:cNvPr id="12" name="正方形/長方形 11"/>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3" name="二等辺三角形 12"/>
            <p:cNvSpPr/>
            <p:nvPr/>
          </p:nvSpPr>
          <p:spPr bwMode="auto">
            <a:xfrm>
              <a:off x="2501977" y="3609002"/>
              <a:ext cx="180002" cy="180002"/>
            </a:xfrm>
            <a:prstGeom prst="triangle">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14" name="正方形/長方形 13"/>
          <p:cNvSpPr/>
          <p:nvPr/>
        </p:nvSpPr>
        <p:spPr bwMode="auto">
          <a:xfrm>
            <a:off x="5735996" y="198898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cxnSp>
        <p:nvCxnSpPr>
          <p:cNvPr id="15" name="直線矢印コネクタ 14"/>
          <p:cNvCxnSpPr/>
          <p:nvPr/>
        </p:nvCxnSpPr>
        <p:spPr bwMode="auto">
          <a:xfrm>
            <a:off x="7176012"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6" name="直線矢印コネクタ 15"/>
          <p:cNvCxnSpPr/>
          <p:nvPr/>
        </p:nvCxnSpPr>
        <p:spPr bwMode="auto">
          <a:xfrm>
            <a:off x="5375992"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7" name="直線矢印コネクタ 16"/>
          <p:cNvCxnSpPr/>
          <p:nvPr/>
        </p:nvCxnSpPr>
        <p:spPr bwMode="auto">
          <a:xfrm>
            <a:off x="7896020" y="2708992"/>
            <a:ext cx="360004" cy="0"/>
          </a:xfrm>
          <a:prstGeom prst="straightConnector1">
            <a:avLst/>
          </a:prstGeom>
          <a:noFill/>
          <a:ln w="9525" cap="flat" cmpd="sng" algn="ctr">
            <a:solidFill>
              <a:schemeClr val="tx1"/>
            </a:solidFill>
            <a:prstDash val="solid"/>
            <a:round/>
            <a:headEnd type="none" w="med" len="med"/>
            <a:tailEnd type="triangle"/>
          </a:ln>
          <a:effectLst/>
        </p:spPr>
      </p:cxnSp>
      <p:cxnSp>
        <p:nvCxnSpPr>
          <p:cNvPr id="18" name="直線矢印コネクタ 17"/>
          <p:cNvCxnSpPr>
            <a:endCxn id="8" idx="0"/>
          </p:cNvCxnSpPr>
          <p:nvPr/>
        </p:nvCxnSpPr>
        <p:spPr bwMode="auto">
          <a:xfrm>
            <a:off x="5195990" y="1988984"/>
            <a:ext cx="0" cy="360004"/>
          </a:xfrm>
          <a:prstGeom prst="straightConnector1">
            <a:avLst/>
          </a:prstGeom>
          <a:noFill/>
          <a:ln w="9525" cap="flat" cmpd="sng" algn="ctr">
            <a:solidFill>
              <a:schemeClr val="tx1"/>
            </a:solidFill>
            <a:prstDash val="solid"/>
            <a:round/>
            <a:headEnd type="none" w="med" len="med"/>
            <a:tailEnd type="triangle"/>
          </a:ln>
          <a:effectLst/>
        </p:spPr>
      </p:cxnSp>
      <p:cxnSp>
        <p:nvCxnSpPr>
          <p:cNvPr id="21" name="直線矢印コネクタ 20"/>
          <p:cNvCxnSpPr/>
          <p:nvPr/>
        </p:nvCxnSpPr>
        <p:spPr bwMode="auto">
          <a:xfrm>
            <a:off x="7716018" y="1988984"/>
            <a:ext cx="0" cy="360004"/>
          </a:xfrm>
          <a:prstGeom prst="straightConnector1">
            <a:avLst/>
          </a:prstGeom>
          <a:noFill/>
          <a:ln w="9525" cap="flat" cmpd="sng" algn="ctr">
            <a:solidFill>
              <a:schemeClr val="tx1"/>
            </a:solidFill>
            <a:prstDash val="solid"/>
            <a:round/>
            <a:headEnd type="none" w="med" len="med"/>
            <a:tailEnd type="triangle"/>
          </a:ln>
          <a:effectLst/>
        </p:spPr>
      </p:cxnSp>
      <p:sp>
        <p:nvSpPr>
          <p:cNvPr id="22" name="正方形/長方形 21"/>
          <p:cNvSpPr/>
          <p:nvPr/>
        </p:nvSpPr>
        <p:spPr bwMode="auto">
          <a:xfrm>
            <a:off x="4835986" y="162898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p:cNvSpPr/>
          <p:nvPr/>
        </p:nvSpPr>
        <p:spPr bwMode="auto">
          <a:xfrm>
            <a:off x="7356014" y="1628980"/>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534305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WE </a:t>
            </a:r>
            <a:r>
              <a:rPr lang="ja-JP" altLang="en-US" dirty="0"/>
              <a:t>つき </a:t>
            </a:r>
            <a:r>
              <a:rPr lang="en-US" altLang="ja-JP" dirty="0"/>
              <a:t>D-FF </a:t>
            </a:r>
            <a:r>
              <a:rPr lang="ja-JP" altLang="en-US" dirty="0"/>
              <a:t>の実現方法</a:t>
            </a:r>
            <a:endParaRPr kumimoji="1" lang="ja-JP" altLang="en-US" dirty="0"/>
          </a:p>
        </p:txBody>
      </p:sp>
      <p:sp>
        <p:nvSpPr>
          <p:cNvPr id="3" name="テキスト プレースホルダー 2"/>
          <p:cNvSpPr>
            <a:spLocks noGrp="1"/>
          </p:cNvSpPr>
          <p:nvPr>
            <p:ph type="body" sz="quarter" idx="10"/>
          </p:nvPr>
        </p:nvSpPr>
        <p:spPr>
          <a:xfrm>
            <a:off x="2045955" y="3789005"/>
            <a:ext cx="8280092" cy="1799713"/>
          </a:xfrm>
        </p:spPr>
        <p:txBody>
          <a:bodyPr/>
          <a:lstStyle/>
          <a:p>
            <a:r>
              <a:rPr kumimoji="1" lang="ja-JP" altLang="en-US" dirty="0"/>
              <a:t>たとえば </a:t>
            </a:r>
            <a:r>
              <a:rPr kumimoji="1" lang="en-US" altLang="ja-JP" dirty="0"/>
              <a:t>D-FF </a:t>
            </a:r>
            <a:r>
              <a:rPr kumimoji="1" lang="ja-JP" altLang="en-US" dirty="0"/>
              <a:t>とマルチプレクサで作れる</a:t>
            </a:r>
            <a:endParaRPr kumimoji="1" lang="en-US" altLang="ja-JP" dirty="0"/>
          </a:p>
          <a:p>
            <a:pPr lvl="1"/>
            <a:r>
              <a:rPr kumimoji="1" lang="en-US" altLang="ja-JP" dirty="0"/>
              <a:t>WE </a:t>
            </a:r>
            <a:r>
              <a:rPr kumimoji="1" lang="ja-JP" altLang="en-US" dirty="0"/>
              <a:t>が </a:t>
            </a:r>
            <a:r>
              <a:rPr kumimoji="1" lang="en-US" altLang="ja-JP" dirty="0"/>
              <a:t>0 </a:t>
            </a:r>
            <a:r>
              <a:rPr kumimoji="1" lang="ja-JP" altLang="en-US" dirty="0"/>
              <a:t>の時は，その時の自分自身の出力を書き込む</a:t>
            </a:r>
          </a:p>
        </p:txBody>
      </p:sp>
      <p:sp>
        <p:nvSpPr>
          <p:cNvPr id="30" name="正方形/長方形 29"/>
          <p:cNvSpPr/>
          <p:nvPr/>
        </p:nvSpPr>
        <p:spPr bwMode="auto">
          <a:xfrm>
            <a:off x="5285991"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WE</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grpSp>
        <p:nvGrpSpPr>
          <p:cNvPr id="35" name="グループ化 34"/>
          <p:cNvGrpSpPr/>
          <p:nvPr/>
        </p:nvGrpSpPr>
        <p:grpSpPr>
          <a:xfrm>
            <a:off x="5195990" y="2438990"/>
            <a:ext cx="1620018" cy="1260013"/>
            <a:chOff x="3761991" y="1718981"/>
            <a:chExt cx="1620018" cy="1260013"/>
          </a:xfrm>
        </p:grpSpPr>
        <p:cxnSp>
          <p:nvCxnSpPr>
            <p:cNvPr id="24" name="直線矢印コネクタ 23"/>
            <p:cNvCxnSpPr/>
            <p:nvPr/>
          </p:nvCxnSpPr>
          <p:spPr bwMode="auto">
            <a:xfrm>
              <a:off x="3761991" y="2258987"/>
              <a:ext cx="360004" cy="0"/>
            </a:xfrm>
            <a:prstGeom prst="straightConnector1">
              <a:avLst/>
            </a:prstGeom>
            <a:noFill/>
            <a:ln w="9525" cap="flat" cmpd="sng" algn="ctr">
              <a:solidFill>
                <a:schemeClr val="tx1"/>
              </a:solidFill>
              <a:prstDash val="solid"/>
              <a:round/>
              <a:headEnd type="none" w="med" len="med"/>
              <a:tailEnd type="triangle"/>
            </a:ln>
            <a:effectLst/>
          </p:spPr>
        </p:cxnSp>
        <p:grpSp>
          <p:nvGrpSpPr>
            <p:cNvPr id="25" name="グループ化 24"/>
            <p:cNvGrpSpPr/>
            <p:nvPr/>
          </p:nvGrpSpPr>
          <p:grpSpPr>
            <a:xfrm>
              <a:off x="4572000" y="1988984"/>
              <a:ext cx="360004" cy="720008"/>
              <a:chOff x="2411977" y="3068996"/>
              <a:chExt cx="360004" cy="720008"/>
            </a:xfrm>
          </p:grpSpPr>
          <p:sp>
            <p:nvSpPr>
              <p:cNvPr id="26" name="正方形/長方形 25"/>
              <p:cNvSpPr/>
              <p:nvPr/>
            </p:nvSpPr>
            <p:spPr bwMode="auto">
              <a:xfrm>
                <a:off x="2411977"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7" name="二等辺三角形 26"/>
              <p:cNvSpPr/>
              <p:nvPr/>
            </p:nvSpPr>
            <p:spPr bwMode="auto">
              <a:xfrm>
                <a:off x="2501977" y="3609002"/>
                <a:ext cx="180002" cy="180002"/>
              </a:xfrm>
              <a:prstGeom prst="triangle">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cxnSp>
          <p:nvCxnSpPr>
            <p:cNvPr id="28" name="直線矢印コネクタ 27"/>
            <p:cNvCxnSpPr/>
            <p:nvPr/>
          </p:nvCxnSpPr>
          <p:spPr bwMode="auto">
            <a:xfrm>
              <a:off x="4932004" y="2348988"/>
              <a:ext cx="450005"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直線矢印コネクタ 28"/>
            <p:cNvCxnSpPr/>
            <p:nvPr/>
          </p:nvCxnSpPr>
          <p:spPr bwMode="auto">
            <a:xfrm>
              <a:off x="4211996" y="1718981"/>
              <a:ext cx="0" cy="360004"/>
            </a:xfrm>
            <a:prstGeom prst="straightConnector1">
              <a:avLst/>
            </a:prstGeom>
            <a:noFill/>
            <a:ln w="9525" cap="flat" cmpd="sng" algn="ctr">
              <a:solidFill>
                <a:schemeClr val="tx1"/>
              </a:solidFill>
              <a:prstDash val="solid"/>
              <a:round/>
              <a:headEnd type="none" w="med" len="med"/>
              <a:tailEnd type="triangle"/>
            </a:ln>
            <a:effectLst/>
          </p:spPr>
        </p:cxnSp>
        <p:sp>
          <p:nvSpPr>
            <p:cNvPr id="31" name="フローチャート: 手作業 30"/>
            <p:cNvSpPr/>
            <p:nvPr/>
          </p:nvSpPr>
          <p:spPr bwMode="auto">
            <a:xfrm rot="16200000">
              <a:off x="3851992" y="2258987"/>
              <a:ext cx="720008" cy="180001"/>
            </a:xfrm>
            <a:prstGeom prst="flowChartManualOperation">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2" name="Freeform 10"/>
            <p:cNvSpPr>
              <a:spLocks/>
            </p:cNvSpPr>
            <p:nvPr/>
          </p:nvSpPr>
          <p:spPr bwMode="auto">
            <a:xfrm flipH="1">
              <a:off x="3851992" y="2348987"/>
              <a:ext cx="126001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33" name="Freeform 10"/>
            <p:cNvSpPr>
              <a:spLocks/>
            </p:cNvSpPr>
            <p:nvPr/>
          </p:nvSpPr>
          <p:spPr bwMode="auto">
            <a:xfrm flipV="1">
              <a:off x="3851992" y="2528989"/>
              <a:ext cx="270002"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cxnSp>
          <p:nvCxnSpPr>
            <p:cNvPr id="34" name="直線矢印コネクタ 33"/>
            <p:cNvCxnSpPr>
              <a:stCxn id="31" idx="2"/>
            </p:cNvCxnSpPr>
            <p:nvPr/>
          </p:nvCxnSpPr>
          <p:spPr bwMode="auto">
            <a:xfrm>
              <a:off x="4301997" y="2348988"/>
              <a:ext cx="270003" cy="0"/>
            </a:xfrm>
            <a:prstGeom prst="straightConnector1">
              <a:avLst/>
            </a:prstGeom>
            <a:noFill/>
            <a:ln w="9525" cap="flat" cmpd="sng" algn="ctr">
              <a:solidFill>
                <a:schemeClr val="tx1"/>
              </a:solidFill>
              <a:prstDash val="solid"/>
              <a:round/>
              <a:headEnd type="none" w="med" len="med"/>
              <a:tailEnd type="triangle"/>
            </a:ln>
            <a:effectLst/>
          </p:spPr>
        </p:cxnSp>
      </p:grpSp>
    </p:spTree>
    <p:extLst>
      <p:ext uri="{BB962C8B-B14F-4D97-AF65-F5344CB8AC3E}">
        <p14:creationId xmlns:p14="http://schemas.microsoft.com/office/powerpoint/2010/main" val="9473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構造ハザードの解決方法</a:t>
            </a:r>
          </a:p>
        </p:txBody>
      </p:sp>
      <p:sp>
        <p:nvSpPr>
          <p:cNvPr id="3" name="テキスト プレースホルダー 2"/>
          <p:cNvSpPr>
            <a:spLocks noGrp="1"/>
          </p:cNvSpPr>
          <p:nvPr>
            <p:ph type="body" sz="quarter" idx="10"/>
          </p:nvPr>
        </p:nvSpPr>
        <p:spPr/>
        <p:txBody>
          <a:bodyPr/>
          <a:lstStyle/>
          <a:p>
            <a:r>
              <a:rPr kumimoji="1" lang="ja-JP" altLang="en-US" dirty="0"/>
              <a:t>解決方法</a:t>
            </a:r>
            <a:endParaRPr kumimoji="1" lang="en-US" altLang="ja-JP" dirty="0"/>
          </a:p>
          <a:p>
            <a:pPr marL="817200" lvl="1" indent="-457200">
              <a:buFont typeface="+mj-lt"/>
              <a:buAutoNum type="arabicPeriod"/>
            </a:pPr>
            <a:r>
              <a:rPr kumimoji="1" lang="ja-JP" altLang="en-US" dirty="0"/>
              <a:t>ハードウェアの増強</a:t>
            </a:r>
            <a:endParaRPr kumimoji="1" lang="en-US" altLang="ja-JP" dirty="0"/>
          </a:p>
          <a:p>
            <a:pPr marL="817200" lvl="1" indent="-457200">
              <a:buFont typeface="+mj-lt"/>
              <a:buAutoNum type="arabicPeriod"/>
            </a:pPr>
            <a:r>
              <a:rPr kumimoji="1" lang="ja-JP" altLang="en-US" dirty="0"/>
              <a:t>時分割処理</a:t>
            </a:r>
            <a:endParaRPr kumimoji="1" lang="en-US" altLang="ja-JP" dirty="0"/>
          </a:p>
          <a:p>
            <a:pPr marL="817200" lvl="1" indent="-457200">
              <a:buFont typeface="+mj-lt"/>
              <a:buAutoNum type="arabicPeriod"/>
            </a:pPr>
            <a:r>
              <a:rPr kumimoji="1" lang="ja-JP" altLang="en-US" b="1" dirty="0"/>
              <a:t>マイクロ命令への変換</a:t>
            </a:r>
          </a:p>
        </p:txBody>
      </p:sp>
    </p:spTree>
    <p:extLst>
      <p:ext uri="{BB962C8B-B14F-4D97-AF65-F5344CB8AC3E}">
        <p14:creationId xmlns:p14="http://schemas.microsoft.com/office/powerpoint/2010/main" val="1530442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解決方法３：マイクロ命令への変換</a:t>
            </a:r>
            <a:endParaRPr kumimoji="1" lang="ja-JP" altLang="en-US" dirty="0"/>
          </a:p>
        </p:txBody>
      </p:sp>
      <p:sp>
        <p:nvSpPr>
          <p:cNvPr id="3" name="テキスト プレースホルダー 2"/>
          <p:cNvSpPr>
            <a:spLocks noGrp="1"/>
          </p:cNvSpPr>
          <p:nvPr>
            <p:ph type="body" sz="quarter" idx="10"/>
          </p:nvPr>
        </p:nvSpPr>
        <p:spPr>
          <a:xfrm>
            <a:off x="1775952" y="1088975"/>
            <a:ext cx="8820098" cy="5219751"/>
          </a:xfrm>
        </p:spPr>
        <p:txBody>
          <a:bodyPr/>
          <a:lstStyle/>
          <a:p>
            <a:r>
              <a:rPr kumimoji="1" lang="ja-JP" altLang="en-US" dirty="0"/>
              <a:t>複数の</a:t>
            </a:r>
            <a:r>
              <a:rPr kumimoji="1" lang="ja-JP" altLang="en-US" dirty="0">
                <a:solidFill>
                  <a:schemeClr val="accent5"/>
                </a:solidFill>
              </a:rPr>
              <a:t>マイクロ命令</a:t>
            </a:r>
            <a:r>
              <a:rPr kumimoji="1" lang="ja-JP" altLang="en-US" dirty="0"/>
              <a:t>に分解して実行</a:t>
            </a:r>
            <a:endParaRPr kumimoji="1" lang="en-US" altLang="ja-JP" dirty="0"/>
          </a:p>
          <a:p>
            <a:pPr lvl="1"/>
            <a:r>
              <a:rPr kumimoji="1" lang="ja-JP" altLang="en-US" dirty="0"/>
              <a:t>マイクロ命令：</a:t>
            </a:r>
            <a:r>
              <a:rPr kumimoji="1" lang="en-US" altLang="ja-JP" dirty="0"/>
              <a:t>CPU </a:t>
            </a:r>
            <a:r>
              <a:rPr kumimoji="1" lang="ja-JP" altLang="en-US" dirty="0"/>
              <a:t>の内部でのみ使われる命令</a:t>
            </a:r>
            <a:endParaRPr kumimoji="1" lang="en-US" altLang="ja-JP" dirty="0"/>
          </a:p>
          <a:p>
            <a:pPr lvl="2"/>
            <a:r>
              <a:rPr kumimoji="1" lang="ja-JP" altLang="en-US" dirty="0"/>
              <a:t>プログラマからは全く見えない</a:t>
            </a:r>
            <a:endParaRPr kumimoji="1" lang="en-US" altLang="ja-JP" dirty="0"/>
          </a:p>
          <a:p>
            <a:pPr lvl="1"/>
            <a:r>
              <a:rPr lang="ja-JP" altLang="en-US" dirty="0"/>
              <a:t>マイクロ命令は，構造ハザードを起こさないよう設計しておく</a:t>
            </a:r>
            <a:endParaRPr lang="en-US" altLang="ja-JP" dirty="0"/>
          </a:p>
          <a:p>
            <a:r>
              <a:rPr kumimoji="1" lang="ja-JP" altLang="en-US" dirty="0"/>
              <a:t>現代の </a:t>
            </a:r>
            <a:r>
              <a:rPr kumimoji="1" lang="en-US" altLang="ja-JP" dirty="0"/>
              <a:t>x86 </a:t>
            </a:r>
            <a:r>
              <a:rPr kumimoji="1" lang="ja-JP" altLang="en-US" dirty="0"/>
              <a:t>や </a:t>
            </a:r>
            <a:r>
              <a:rPr kumimoji="1" lang="en-US" altLang="ja-JP" dirty="0"/>
              <a:t>ARM </a:t>
            </a:r>
            <a:r>
              <a:rPr kumimoji="1" lang="ja-JP" altLang="en-US" dirty="0"/>
              <a:t>は，主にこの方法を採用している</a:t>
            </a:r>
            <a:endParaRPr kumimoji="1" lang="en-US" altLang="ja-JP" dirty="0"/>
          </a:p>
        </p:txBody>
      </p:sp>
    </p:spTree>
    <p:extLst>
      <p:ext uri="{BB962C8B-B14F-4D97-AF65-F5344CB8AC3E}">
        <p14:creationId xmlns:p14="http://schemas.microsoft.com/office/powerpoint/2010/main" val="2783649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マイクロ命令への変換の例</a:t>
            </a:r>
            <a:endParaRPr kumimoji="1" lang="ja-JP" altLang="en-US" dirty="0"/>
          </a:p>
        </p:txBody>
      </p:sp>
      <p:sp>
        <p:nvSpPr>
          <p:cNvPr id="3" name="テキスト プレースホルダー 2"/>
          <p:cNvSpPr>
            <a:spLocks noGrp="1"/>
          </p:cNvSpPr>
          <p:nvPr>
            <p:ph type="body" sz="quarter" idx="10"/>
          </p:nvPr>
        </p:nvSpPr>
        <p:spPr>
          <a:xfrm>
            <a:off x="2135956" y="1088975"/>
            <a:ext cx="8460094" cy="5219751"/>
          </a:xfrm>
        </p:spPr>
        <p:txBody>
          <a:bodyPr/>
          <a:lstStyle/>
          <a:p>
            <a:r>
              <a:rPr lang="en-US" altLang="ja-JP" dirty="0" err="1"/>
              <a:t>mov</a:t>
            </a:r>
            <a:r>
              <a:rPr lang="en-US" altLang="ja-JP" dirty="0"/>
              <a:t> [rs1]</a:t>
            </a:r>
            <a:r>
              <a:rPr lang="ja-JP" altLang="en-US" dirty="0"/>
              <a:t>→</a:t>
            </a:r>
            <a:r>
              <a:rPr lang="en-US" altLang="ja-JP" dirty="0"/>
              <a:t>[rs2]</a:t>
            </a:r>
          </a:p>
          <a:p>
            <a:pPr marL="817200" lvl="1" indent="-457200">
              <a:buFont typeface="+mj-lt"/>
              <a:buAutoNum type="arabicPeriod"/>
            </a:pPr>
            <a:r>
              <a:rPr lang="en-US" altLang="ja-JP" dirty="0" err="1"/>
              <a:t>ld</a:t>
            </a:r>
            <a:r>
              <a:rPr lang="en-US" altLang="ja-JP" dirty="0"/>
              <a:t> [rs1]</a:t>
            </a:r>
            <a:r>
              <a:rPr lang="ja-JP" altLang="en-US" dirty="0"/>
              <a:t>→</a:t>
            </a:r>
            <a:r>
              <a:rPr lang="en-US" altLang="ja-JP" dirty="0" err="1">
                <a:solidFill>
                  <a:schemeClr val="accent5"/>
                </a:solidFill>
              </a:rPr>
              <a:t>rt</a:t>
            </a:r>
            <a:endParaRPr lang="en-US" altLang="ja-JP" dirty="0">
              <a:solidFill>
                <a:schemeClr val="accent5"/>
              </a:solidFill>
            </a:endParaRPr>
          </a:p>
          <a:p>
            <a:pPr marL="817200" lvl="1" indent="-457200">
              <a:buFont typeface="+mj-lt"/>
              <a:buAutoNum type="arabicPeriod"/>
            </a:pPr>
            <a:r>
              <a:rPr lang="en-US" altLang="ja-JP" dirty="0" err="1"/>
              <a:t>st</a:t>
            </a:r>
            <a:r>
              <a:rPr lang="en-US" altLang="ja-JP" dirty="0"/>
              <a:t> </a:t>
            </a:r>
            <a:r>
              <a:rPr lang="en-US" altLang="ja-JP" dirty="0" err="1">
                <a:solidFill>
                  <a:schemeClr val="accent5"/>
                </a:solidFill>
              </a:rPr>
              <a:t>rt</a:t>
            </a:r>
            <a:r>
              <a:rPr lang="ja-JP" altLang="en-US" dirty="0"/>
              <a:t>→</a:t>
            </a:r>
            <a:r>
              <a:rPr lang="en-US" altLang="ja-JP" dirty="0"/>
              <a:t>[rs2]</a:t>
            </a:r>
          </a:p>
          <a:p>
            <a:r>
              <a:rPr lang="en-US" altLang="ja-JP" dirty="0"/>
              <a:t>pop</a:t>
            </a:r>
          </a:p>
          <a:p>
            <a:pPr marL="817200" lvl="1" indent="-457200">
              <a:buFont typeface="+mj-lt"/>
              <a:buAutoNum type="arabicPeriod"/>
            </a:pPr>
            <a:r>
              <a:rPr lang="en-US" altLang="ja-JP" dirty="0"/>
              <a:t>add rs1+1</a:t>
            </a:r>
            <a:r>
              <a:rPr lang="ja-JP" altLang="en-US" dirty="0"/>
              <a:t>→</a:t>
            </a:r>
            <a:r>
              <a:rPr lang="en-US" altLang="ja-JP" dirty="0" err="1">
                <a:solidFill>
                  <a:schemeClr val="accent5"/>
                </a:solidFill>
              </a:rPr>
              <a:t>rt</a:t>
            </a:r>
            <a:endParaRPr lang="en-US" altLang="ja-JP" dirty="0">
              <a:solidFill>
                <a:schemeClr val="accent5"/>
              </a:solidFill>
            </a:endParaRPr>
          </a:p>
          <a:p>
            <a:pPr marL="817200" lvl="1" indent="-457200">
              <a:buFont typeface="+mj-lt"/>
              <a:buAutoNum type="arabicPeriod"/>
            </a:pPr>
            <a:r>
              <a:rPr lang="en-US" altLang="ja-JP" dirty="0" err="1"/>
              <a:t>ld</a:t>
            </a:r>
            <a:r>
              <a:rPr lang="en-US" altLang="ja-JP" dirty="0"/>
              <a:t> [</a:t>
            </a:r>
            <a:r>
              <a:rPr lang="en-US" altLang="ja-JP" dirty="0" err="1">
                <a:solidFill>
                  <a:schemeClr val="accent5"/>
                </a:solidFill>
              </a:rPr>
              <a:t>rt</a:t>
            </a:r>
            <a:r>
              <a:rPr lang="en-US" altLang="ja-JP" dirty="0"/>
              <a:t>]</a:t>
            </a:r>
            <a:r>
              <a:rPr lang="ja-JP" altLang="en-US" dirty="0"/>
              <a:t>→</a:t>
            </a:r>
            <a:r>
              <a:rPr lang="en-US" altLang="ja-JP" dirty="0" err="1"/>
              <a:t>rd</a:t>
            </a:r>
            <a:endParaRPr lang="en-US" altLang="ja-JP" dirty="0"/>
          </a:p>
          <a:p>
            <a:r>
              <a:rPr lang="en-US" altLang="ja-JP" dirty="0" err="1"/>
              <a:t>ld_inc</a:t>
            </a:r>
            <a:r>
              <a:rPr lang="en-US" altLang="ja-JP" dirty="0"/>
              <a:t> [rs1]+1</a:t>
            </a:r>
            <a:r>
              <a:rPr lang="ja-JP" altLang="en-US" dirty="0"/>
              <a:t>→</a:t>
            </a:r>
            <a:r>
              <a:rPr lang="en-US" altLang="ja-JP" dirty="0" err="1"/>
              <a:t>rd</a:t>
            </a:r>
            <a:r>
              <a:rPr lang="en-US" altLang="ja-JP" dirty="0"/>
              <a:t>  </a:t>
            </a:r>
          </a:p>
          <a:p>
            <a:pPr marL="817200" lvl="1" indent="-457200">
              <a:buFont typeface="+mj-lt"/>
              <a:buAutoNum type="arabicPeriod"/>
            </a:pPr>
            <a:r>
              <a:rPr lang="en-US" altLang="ja-JP" dirty="0" err="1"/>
              <a:t>ld</a:t>
            </a:r>
            <a:r>
              <a:rPr lang="en-US" altLang="ja-JP" dirty="0"/>
              <a:t> [rs1]</a:t>
            </a:r>
            <a:r>
              <a:rPr lang="ja-JP" altLang="en-US" dirty="0"/>
              <a:t>→</a:t>
            </a:r>
            <a:r>
              <a:rPr lang="en-US" altLang="ja-JP" dirty="0" err="1">
                <a:solidFill>
                  <a:schemeClr val="accent5"/>
                </a:solidFill>
              </a:rPr>
              <a:t>rt</a:t>
            </a:r>
            <a:endParaRPr lang="en-US" altLang="ja-JP" dirty="0">
              <a:solidFill>
                <a:schemeClr val="accent5"/>
              </a:solidFill>
            </a:endParaRPr>
          </a:p>
          <a:p>
            <a:pPr marL="817200" lvl="1" indent="-457200">
              <a:buFont typeface="+mj-lt"/>
              <a:buAutoNum type="arabicPeriod"/>
            </a:pPr>
            <a:r>
              <a:rPr lang="en-US" altLang="ja-JP" dirty="0"/>
              <a:t>add </a:t>
            </a:r>
            <a:r>
              <a:rPr lang="en-US" altLang="ja-JP" dirty="0">
                <a:solidFill>
                  <a:schemeClr val="accent5"/>
                </a:solidFill>
              </a:rPr>
              <a:t>rt</a:t>
            </a:r>
            <a:r>
              <a:rPr lang="en-US" altLang="ja-JP" dirty="0"/>
              <a:t>+1</a:t>
            </a:r>
            <a:r>
              <a:rPr lang="ja-JP" altLang="en-US" dirty="0"/>
              <a:t>→</a:t>
            </a:r>
            <a:r>
              <a:rPr lang="en-US" altLang="ja-JP" dirty="0" err="1"/>
              <a:t>rd</a:t>
            </a:r>
            <a:endParaRPr lang="en-US" altLang="ja-JP" dirty="0"/>
          </a:p>
          <a:p>
            <a:pPr marL="0" indent="0">
              <a:buNone/>
            </a:pPr>
            <a:r>
              <a:rPr lang="en-US" altLang="ja-JP" dirty="0" err="1">
                <a:solidFill>
                  <a:schemeClr val="accent5"/>
                </a:solidFill>
              </a:rPr>
              <a:t>rt</a:t>
            </a:r>
            <a:r>
              <a:rPr lang="en-US" altLang="ja-JP" dirty="0">
                <a:solidFill>
                  <a:schemeClr val="accent5"/>
                </a:solidFill>
              </a:rPr>
              <a:t> </a:t>
            </a:r>
            <a:r>
              <a:rPr lang="ja-JP" altLang="en-US" dirty="0"/>
              <a:t>はプログラマから見えない </a:t>
            </a:r>
            <a:r>
              <a:rPr lang="en-US" altLang="ja-JP" dirty="0"/>
              <a:t>CPU </a:t>
            </a:r>
            <a:r>
              <a:rPr lang="ja-JP" altLang="en-US" dirty="0"/>
              <a:t>内部にある中間結果を保持するレジスタ</a:t>
            </a:r>
            <a:endParaRPr lang="en-US" altLang="ja-JP" dirty="0"/>
          </a:p>
        </p:txBody>
      </p:sp>
    </p:spTree>
    <p:extLst>
      <p:ext uri="{BB962C8B-B14F-4D97-AF65-F5344CB8AC3E}">
        <p14:creationId xmlns:p14="http://schemas.microsoft.com/office/powerpoint/2010/main" val="1841557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6B2EB1-71A8-AC10-1520-B9F79AB336EB}"/>
              </a:ext>
            </a:extLst>
          </p:cNvPr>
          <p:cNvSpPr>
            <a:spLocks noGrp="1"/>
          </p:cNvSpPr>
          <p:nvPr>
            <p:ph type="title"/>
          </p:nvPr>
        </p:nvSpPr>
        <p:spPr/>
        <p:txBody>
          <a:bodyPr/>
          <a:lstStyle/>
          <a:p>
            <a:r>
              <a:rPr kumimoji="1" lang="ja-JP" altLang="en-US"/>
              <a:t>マイクロ命令の分解の例</a:t>
            </a:r>
            <a:endParaRPr kumimoji="1" lang="ja-JP" altLang="en-US" dirty="0"/>
          </a:p>
        </p:txBody>
      </p:sp>
      <p:sp>
        <p:nvSpPr>
          <p:cNvPr id="3" name="テキスト プレースホルダー 2">
            <a:extLst>
              <a:ext uri="{FF2B5EF4-FFF2-40B4-BE49-F238E27FC236}">
                <a16:creationId xmlns:a16="http://schemas.microsoft.com/office/drawing/2014/main" id="{3A18D376-79BA-DA17-8745-789FB0D99683}"/>
              </a:ext>
            </a:extLst>
          </p:cNvPr>
          <p:cNvSpPr>
            <a:spLocks noGrp="1"/>
          </p:cNvSpPr>
          <p:nvPr>
            <p:ph type="body" sz="quarter" idx="10"/>
          </p:nvPr>
        </p:nvSpPr>
        <p:spPr>
          <a:xfrm>
            <a:off x="2135956" y="1088976"/>
            <a:ext cx="8280092" cy="2880031"/>
          </a:xfrm>
        </p:spPr>
        <p:txBody>
          <a:bodyPr/>
          <a:lstStyle/>
          <a:p>
            <a:r>
              <a:rPr kumimoji="1" lang="ja-JP" altLang="en-US" dirty="0"/>
              <a:t>解析結果をまとめているサイトも</a:t>
            </a:r>
            <a:br>
              <a:rPr kumimoji="1" lang="en-US" altLang="ja-JP" dirty="0"/>
            </a:br>
            <a:r>
              <a:rPr kumimoji="1" lang="en-US" altLang="ja-JP" dirty="0">
                <a:hlinkClick r:id="rId2"/>
              </a:rPr>
              <a:t>https://uops.info/table.html</a:t>
            </a:r>
            <a:br>
              <a:rPr kumimoji="1" lang="en-US" altLang="ja-JP" dirty="0"/>
            </a:br>
            <a:r>
              <a:rPr kumimoji="1" lang="ja-JP" altLang="en-US" dirty="0"/>
              <a:t>下の例は，</a:t>
            </a:r>
            <a:r>
              <a:rPr kumimoji="1" lang="en-US" altLang="ja-JP" dirty="0"/>
              <a:t>x86-64 </a:t>
            </a:r>
            <a:r>
              <a:rPr kumimoji="1" lang="ja-JP" altLang="en-US" dirty="0"/>
              <a:t>の </a:t>
            </a:r>
            <a:r>
              <a:rPr kumimoji="1" lang="en-US" altLang="ja-JP" dirty="0"/>
              <a:t>CMOVBE </a:t>
            </a:r>
            <a:r>
              <a:rPr kumimoji="1" lang="ja-JP" altLang="en-US" dirty="0"/>
              <a:t>命令の </a:t>
            </a:r>
            <a:r>
              <a:rPr kumimoji="1" lang="en-US" altLang="ja-JP" dirty="0"/>
              <a:t>Alder Lake </a:t>
            </a:r>
            <a:r>
              <a:rPr kumimoji="1" lang="ja-JP" altLang="en-US" dirty="0"/>
              <a:t>大きいコアでの</a:t>
            </a:r>
            <a:br>
              <a:rPr kumimoji="1" lang="en-US" altLang="ja-JP" dirty="0"/>
            </a:br>
            <a:r>
              <a:rPr kumimoji="1" lang="ja-JP" altLang="en-US" dirty="0"/>
              <a:t>分解の説明</a:t>
            </a:r>
          </a:p>
        </p:txBody>
      </p:sp>
      <p:pic>
        <p:nvPicPr>
          <p:cNvPr id="5" name="図 4">
            <a:extLst>
              <a:ext uri="{FF2B5EF4-FFF2-40B4-BE49-F238E27FC236}">
                <a16:creationId xmlns:a16="http://schemas.microsoft.com/office/drawing/2014/main" id="{3DFAE755-09E6-10D2-489A-63C11B060A22}"/>
              </a:ext>
            </a:extLst>
          </p:cNvPr>
          <p:cNvPicPr>
            <a:picLocks noChangeAspect="1"/>
          </p:cNvPicPr>
          <p:nvPr/>
        </p:nvPicPr>
        <p:blipFill>
          <a:blip r:embed="rId3"/>
          <a:stretch>
            <a:fillRect/>
          </a:stretch>
        </p:blipFill>
        <p:spPr>
          <a:xfrm>
            <a:off x="5540432" y="4059007"/>
            <a:ext cx="5112006" cy="2534214"/>
          </a:xfrm>
          <a:prstGeom prst="rect">
            <a:avLst/>
          </a:prstGeom>
        </p:spPr>
      </p:pic>
      <p:pic>
        <p:nvPicPr>
          <p:cNvPr id="7" name="図 6">
            <a:extLst>
              <a:ext uri="{FF2B5EF4-FFF2-40B4-BE49-F238E27FC236}">
                <a16:creationId xmlns:a16="http://schemas.microsoft.com/office/drawing/2014/main" id="{6912A4B5-19E4-75AF-8FE0-CD7B92ED4920}"/>
              </a:ext>
            </a:extLst>
          </p:cNvPr>
          <p:cNvPicPr>
            <a:picLocks noChangeAspect="1"/>
          </p:cNvPicPr>
          <p:nvPr/>
        </p:nvPicPr>
        <p:blipFill>
          <a:blip r:embed="rId4"/>
          <a:stretch>
            <a:fillRect/>
          </a:stretch>
        </p:blipFill>
        <p:spPr>
          <a:xfrm>
            <a:off x="1865953" y="4059008"/>
            <a:ext cx="3561998" cy="2539271"/>
          </a:xfrm>
          <a:prstGeom prst="rect">
            <a:avLst/>
          </a:prstGeom>
        </p:spPr>
      </p:pic>
    </p:spTree>
    <p:extLst>
      <p:ext uri="{BB962C8B-B14F-4D97-AF65-F5344CB8AC3E}">
        <p14:creationId xmlns:p14="http://schemas.microsoft.com/office/powerpoint/2010/main" val="3551279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時分割処理と</a:t>
            </a:r>
            <a:r>
              <a:rPr lang="ja-JP" altLang="en-US" dirty="0"/>
              <a:t>マイクロ命令への分解の比較</a:t>
            </a:r>
            <a:br>
              <a:rPr lang="en-US" altLang="ja-JP" dirty="0"/>
            </a:br>
            <a:r>
              <a:rPr lang="en-US" altLang="ja-JP" dirty="0">
                <a:latin typeface="Consolas" panose="020B0609020204030204" pitchFamily="49" charset="0"/>
              </a:rPr>
              <a:t>I4</a:t>
            </a:r>
            <a:r>
              <a:rPr lang="en-US" altLang="ja-JP" dirty="0"/>
              <a:t> </a:t>
            </a:r>
            <a:r>
              <a:rPr lang="ja-JP" altLang="en-US" dirty="0"/>
              <a:t>が終わる時間は変わらない</a:t>
            </a:r>
            <a:endParaRPr kumimoji="1" lang="ja-JP" altLang="en-US" dirty="0"/>
          </a:p>
        </p:txBody>
      </p:sp>
      <p:sp>
        <p:nvSpPr>
          <p:cNvPr id="3" name="テキスト プレースホルダー 2"/>
          <p:cNvSpPr>
            <a:spLocks noGrp="1"/>
          </p:cNvSpPr>
          <p:nvPr>
            <p:ph type="body" sz="quarter" idx="10"/>
          </p:nvPr>
        </p:nvSpPr>
        <p:spPr>
          <a:xfrm>
            <a:off x="1775952" y="6399034"/>
            <a:ext cx="8280092" cy="359697"/>
          </a:xfrm>
        </p:spPr>
        <p:txBody>
          <a:bodyPr/>
          <a:lstStyle/>
          <a:p>
            <a:r>
              <a:rPr kumimoji="1" lang="en-US" altLang="ja-JP" dirty="0"/>
              <a:t>ID </a:t>
            </a:r>
            <a:r>
              <a:rPr kumimoji="1" lang="ja-JP" altLang="en-US" dirty="0"/>
              <a:t>でマイクロ命令に分解 </a:t>
            </a:r>
            <a:r>
              <a:rPr kumimoji="1" lang="en-US" altLang="ja-JP" dirty="0"/>
              <a:t>= </a:t>
            </a:r>
            <a:r>
              <a:rPr kumimoji="1" lang="ja-JP" altLang="en-US" dirty="0"/>
              <a:t>デコードで時分割処理している</a:t>
            </a:r>
          </a:p>
        </p:txBody>
      </p:sp>
      <p:cxnSp>
        <p:nvCxnSpPr>
          <p:cNvPr id="4" name="直線コネクタ 3"/>
          <p:cNvCxnSpPr/>
          <p:nvPr/>
        </p:nvCxnSpPr>
        <p:spPr bwMode="auto">
          <a:xfrm>
            <a:off x="4115978" y="1718981"/>
            <a:ext cx="1080084" cy="0"/>
          </a:xfrm>
          <a:prstGeom prst="line">
            <a:avLst/>
          </a:prstGeom>
          <a:noFill/>
          <a:ln w="9525" cap="flat" cmpd="sng" algn="ctr">
            <a:solidFill>
              <a:schemeClr val="tx1"/>
            </a:solidFill>
            <a:prstDash val="dash"/>
            <a:round/>
            <a:headEnd type="none" w="med" len="med"/>
            <a:tailEnd type="none" w="med" len="med"/>
          </a:ln>
          <a:effectLst/>
        </p:spPr>
      </p:cxnSp>
      <p:cxnSp>
        <p:nvCxnSpPr>
          <p:cNvPr id="5" name="直線コネクタ 4"/>
          <p:cNvCxnSpPr/>
          <p:nvPr/>
        </p:nvCxnSpPr>
        <p:spPr bwMode="auto">
          <a:xfrm>
            <a:off x="4115978" y="1268976"/>
            <a:ext cx="720080" cy="0"/>
          </a:xfrm>
          <a:prstGeom prst="line">
            <a:avLst/>
          </a:prstGeom>
          <a:noFill/>
          <a:ln w="9525" cap="flat" cmpd="sng" algn="ctr">
            <a:solidFill>
              <a:schemeClr val="tx1"/>
            </a:solidFill>
            <a:prstDash val="dash"/>
            <a:round/>
            <a:headEnd type="none" w="med" len="med"/>
            <a:tailEnd type="none" w="med" len="med"/>
          </a:ln>
          <a:effectLst/>
        </p:spPr>
      </p:cxnSp>
      <p:sp>
        <p:nvSpPr>
          <p:cNvPr id="6" name="Rectangle 69"/>
          <p:cNvSpPr>
            <a:spLocks noChangeArrowheads="1"/>
          </p:cNvSpPr>
          <p:nvPr/>
        </p:nvSpPr>
        <p:spPr bwMode="auto">
          <a:xfrm>
            <a:off x="465598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510598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8" name="Rectangle 71"/>
          <p:cNvSpPr>
            <a:spLocks noChangeArrowheads="1"/>
          </p:cNvSpPr>
          <p:nvPr/>
        </p:nvSpPr>
        <p:spPr bwMode="auto">
          <a:xfrm>
            <a:off x="555599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600599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0" name="Rectangle 73"/>
          <p:cNvSpPr>
            <a:spLocks noChangeArrowheads="1"/>
          </p:cNvSpPr>
          <p:nvPr/>
        </p:nvSpPr>
        <p:spPr bwMode="auto">
          <a:xfrm>
            <a:off x="6456004"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WB1</a:t>
            </a:r>
          </a:p>
        </p:txBody>
      </p:sp>
      <p:sp>
        <p:nvSpPr>
          <p:cNvPr id="11" name="Rectangle 69"/>
          <p:cNvSpPr>
            <a:spLocks noChangeArrowheads="1"/>
          </p:cNvSpPr>
          <p:nvPr/>
        </p:nvSpPr>
        <p:spPr bwMode="auto">
          <a:xfrm>
            <a:off x="510598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2" name="Rectangle 70"/>
          <p:cNvSpPr>
            <a:spLocks noChangeArrowheads="1"/>
          </p:cNvSpPr>
          <p:nvPr/>
        </p:nvSpPr>
        <p:spPr bwMode="auto">
          <a:xfrm>
            <a:off x="555599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3" name="Rectangle 71"/>
          <p:cNvSpPr>
            <a:spLocks noChangeArrowheads="1"/>
          </p:cNvSpPr>
          <p:nvPr/>
        </p:nvSpPr>
        <p:spPr bwMode="auto">
          <a:xfrm>
            <a:off x="6005999"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 name="Rectangle 72"/>
          <p:cNvSpPr>
            <a:spLocks noChangeArrowheads="1"/>
          </p:cNvSpPr>
          <p:nvPr/>
        </p:nvSpPr>
        <p:spPr bwMode="auto">
          <a:xfrm>
            <a:off x="645600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 name="Rectangle 73"/>
          <p:cNvSpPr>
            <a:spLocks noChangeArrowheads="1"/>
          </p:cNvSpPr>
          <p:nvPr/>
        </p:nvSpPr>
        <p:spPr bwMode="auto">
          <a:xfrm>
            <a:off x="7356014" y="153897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6" name="Rectangle 69"/>
          <p:cNvSpPr>
            <a:spLocks noChangeArrowheads="1"/>
          </p:cNvSpPr>
          <p:nvPr/>
        </p:nvSpPr>
        <p:spPr bwMode="auto">
          <a:xfrm>
            <a:off x="555599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 name="Rectangle 70"/>
          <p:cNvSpPr>
            <a:spLocks noChangeArrowheads="1"/>
          </p:cNvSpPr>
          <p:nvPr/>
        </p:nvSpPr>
        <p:spPr bwMode="auto">
          <a:xfrm>
            <a:off x="600599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8" name="Rectangle 71"/>
          <p:cNvSpPr>
            <a:spLocks noChangeArrowheads="1"/>
          </p:cNvSpPr>
          <p:nvPr/>
        </p:nvSpPr>
        <p:spPr bwMode="auto">
          <a:xfrm>
            <a:off x="645600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9" name="Rectangle 72"/>
          <p:cNvSpPr>
            <a:spLocks noChangeArrowheads="1"/>
          </p:cNvSpPr>
          <p:nvPr/>
        </p:nvSpPr>
        <p:spPr bwMode="auto">
          <a:xfrm>
            <a:off x="7356014"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0" name="Rectangle 73"/>
          <p:cNvSpPr>
            <a:spLocks noChangeArrowheads="1"/>
          </p:cNvSpPr>
          <p:nvPr/>
        </p:nvSpPr>
        <p:spPr bwMode="auto">
          <a:xfrm>
            <a:off x="7806019" y="198898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1" name="正方形/長方形 20"/>
          <p:cNvSpPr/>
          <p:nvPr/>
        </p:nvSpPr>
        <p:spPr bwMode="auto">
          <a:xfrm>
            <a:off x="3395970" y="108897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pop</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2" name="Rectangle 73"/>
          <p:cNvSpPr>
            <a:spLocks noChangeArrowheads="1"/>
          </p:cNvSpPr>
          <p:nvPr/>
        </p:nvSpPr>
        <p:spPr bwMode="auto">
          <a:xfrm>
            <a:off x="6906009" y="108897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WB2</a:t>
            </a:r>
          </a:p>
        </p:txBody>
      </p:sp>
      <p:sp>
        <p:nvSpPr>
          <p:cNvPr id="23" name="Rectangle 69"/>
          <p:cNvSpPr>
            <a:spLocks noChangeArrowheads="1"/>
          </p:cNvSpPr>
          <p:nvPr/>
        </p:nvSpPr>
        <p:spPr bwMode="auto">
          <a:xfrm>
            <a:off x="600599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4" name="Rectangle 70"/>
          <p:cNvSpPr>
            <a:spLocks noChangeArrowheads="1"/>
          </p:cNvSpPr>
          <p:nvPr/>
        </p:nvSpPr>
        <p:spPr bwMode="auto">
          <a:xfrm>
            <a:off x="645600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5" name="Rectangle 71"/>
          <p:cNvSpPr>
            <a:spLocks noChangeArrowheads="1"/>
          </p:cNvSpPr>
          <p:nvPr/>
        </p:nvSpPr>
        <p:spPr bwMode="auto">
          <a:xfrm>
            <a:off x="735601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6" name="Rectangle 72"/>
          <p:cNvSpPr>
            <a:spLocks noChangeArrowheads="1"/>
          </p:cNvSpPr>
          <p:nvPr/>
        </p:nvSpPr>
        <p:spPr bwMode="auto">
          <a:xfrm>
            <a:off x="7806019"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7" name="Rectangle 73"/>
          <p:cNvSpPr>
            <a:spLocks noChangeArrowheads="1"/>
          </p:cNvSpPr>
          <p:nvPr/>
        </p:nvSpPr>
        <p:spPr bwMode="auto">
          <a:xfrm>
            <a:off x="8256024" y="243898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8" name="Rectangle 69"/>
          <p:cNvSpPr>
            <a:spLocks noChangeArrowheads="1"/>
          </p:cNvSpPr>
          <p:nvPr/>
        </p:nvSpPr>
        <p:spPr bwMode="auto">
          <a:xfrm>
            <a:off x="645600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9" name="Rectangle 70"/>
          <p:cNvSpPr>
            <a:spLocks noChangeArrowheads="1"/>
          </p:cNvSpPr>
          <p:nvPr/>
        </p:nvSpPr>
        <p:spPr bwMode="auto">
          <a:xfrm>
            <a:off x="735601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30" name="Rectangle 71"/>
          <p:cNvSpPr>
            <a:spLocks noChangeArrowheads="1"/>
          </p:cNvSpPr>
          <p:nvPr/>
        </p:nvSpPr>
        <p:spPr bwMode="auto">
          <a:xfrm>
            <a:off x="780601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1" name="Rectangle 72"/>
          <p:cNvSpPr>
            <a:spLocks noChangeArrowheads="1"/>
          </p:cNvSpPr>
          <p:nvPr/>
        </p:nvSpPr>
        <p:spPr bwMode="auto">
          <a:xfrm>
            <a:off x="8256024"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2" name="Rectangle 73"/>
          <p:cNvSpPr>
            <a:spLocks noChangeArrowheads="1"/>
          </p:cNvSpPr>
          <p:nvPr/>
        </p:nvSpPr>
        <p:spPr bwMode="auto">
          <a:xfrm>
            <a:off x="8706029" y="288899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3" name="Rectangle 73"/>
          <p:cNvSpPr>
            <a:spLocks noChangeArrowheads="1"/>
          </p:cNvSpPr>
          <p:nvPr/>
        </p:nvSpPr>
        <p:spPr bwMode="auto">
          <a:xfrm>
            <a:off x="6906009" y="153897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4" name="Rectangle 73"/>
          <p:cNvSpPr>
            <a:spLocks noChangeArrowheads="1"/>
          </p:cNvSpPr>
          <p:nvPr/>
        </p:nvSpPr>
        <p:spPr bwMode="auto">
          <a:xfrm>
            <a:off x="6906009" y="198898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5" name="Rectangle 73"/>
          <p:cNvSpPr>
            <a:spLocks noChangeArrowheads="1"/>
          </p:cNvSpPr>
          <p:nvPr/>
        </p:nvSpPr>
        <p:spPr bwMode="auto">
          <a:xfrm>
            <a:off x="6906009" y="243898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6" name="Rectangle 73"/>
          <p:cNvSpPr>
            <a:spLocks noChangeArrowheads="1"/>
          </p:cNvSpPr>
          <p:nvPr/>
        </p:nvSpPr>
        <p:spPr bwMode="auto">
          <a:xfrm>
            <a:off x="6906009" y="288899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cxnSp>
        <p:nvCxnSpPr>
          <p:cNvPr id="43" name="直線コネクタ 42"/>
          <p:cNvCxnSpPr/>
          <p:nvPr/>
        </p:nvCxnSpPr>
        <p:spPr bwMode="auto">
          <a:xfrm>
            <a:off x="4115978" y="2168986"/>
            <a:ext cx="1440088" cy="0"/>
          </a:xfrm>
          <a:prstGeom prst="line">
            <a:avLst/>
          </a:prstGeom>
          <a:noFill/>
          <a:ln w="9525" cap="flat" cmpd="sng" algn="ctr">
            <a:solidFill>
              <a:schemeClr val="tx1"/>
            </a:solidFill>
            <a:prstDash val="dash"/>
            <a:round/>
            <a:headEnd type="none" w="med" len="med"/>
            <a:tailEnd type="none" w="med" len="med"/>
          </a:ln>
          <a:effectLst/>
        </p:spPr>
      </p:cxnSp>
      <p:sp>
        <p:nvSpPr>
          <p:cNvPr id="44" name="正方形/長方形 43"/>
          <p:cNvSpPr/>
          <p:nvPr/>
        </p:nvSpPr>
        <p:spPr bwMode="auto">
          <a:xfrm>
            <a:off x="3395970" y="153897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5" name="正方形/長方形 44"/>
          <p:cNvSpPr/>
          <p:nvPr/>
        </p:nvSpPr>
        <p:spPr bwMode="auto">
          <a:xfrm>
            <a:off x="3395970" y="198898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6" name="直線コネクタ 45"/>
          <p:cNvCxnSpPr/>
          <p:nvPr/>
        </p:nvCxnSpPr>
        <p:spPr bwMode="auto">
          <a:xfrm>
            <a:off x="4115979" y="2618991"/>
            <a:ext cx="1890093" cy="0"/>
          </a:xfrm>
          <a:prstGeom prst="line">
            <a:avLst/>
          </a:prstGeom>
          <a:noFill/>
          <a:ln w="9525" cap="flat" cmpd="sng" algn="ctr">
            <a:solidFill>
              <a:schemeClr val="tx1"/>
            </a:solidFill>
            <a:prstDash val="dash"/>
            <a:round/>
            <a:headEnd type="none" w="med" len="med"/>
            <a:tailEnd type="none" w="med" len="med"/>
          </a:ln>
          <a:effectLst/>
        </p:spPr>
      </p:cxnSp>
      <p:sp>
        <p:nvSpPr>
          <p:cNvPr id="47" name="正方形/長方形 46"/>
          <p:cNvSpPr/>
          <p:nvPr/>
        </p:nvSpPr>
        <p:spPr bwMode="auto">
          <a:xfrm>
            <a:off x="3395970" y="2438989"/>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p:cNvCxnSpPr>
            <a:endCxn id="28" idx="1"/>
          </p:cNvCxnSpPr>
          <p:nvPr/>
        </p:nvCxnSpPr>
        <p:spPr bwMode="auto">
          <a:xfrm flipV="1">
            <a:off x="4115978" y="3068994"/>
            <a:ext cx="2340026" cy="2"/>
          </a:xfrm>
          <a:prstGeom prst="line">
            <a:avLst/>
          </a:prstGeom>
          <a:noFill/>
          <a:ln w="9525" cap="flat" cmpd="sng" algn="ctr">
            <a:solidFill>
              <a:schemeClr val="tx1"/>
            </a:solidFill>
            <a:prstDash val="dash"/>
            <a:round/>
            <a:headEnd type="none" w="med" len="med"/>
            <a:tailEnd type="none" w="med" len="med"/>
          </a:ln>
          <a:effectLst/>
        </p:spPr>
      </p:cxnSp>
      <p:sp>
        <p:nvSpPr>
          <p:cNvPr id="49" name="正方形/長方形 48"/>
          <p:cNvSpPr/>
          <p:nvPr/>
        </p:nvSpPr>
        <p:spPr bwMode="auto">
          <a:xfrm>
            <a:off x="3395970" y="2888994"/>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accent6"/>
                </a:solidFill>
                <a:latin typeface="メイリオ" panose="020B0604030504040204" pitchFamily="50" charset="-128"/>
                <a:ea typeface="メイリオ" panose="020B0604030504040204" pitchFamily="50" charset="-128"/>
              </a:rPr>
              <a:t>I4</a:t>
            </a:r>
            <a:endParaRPr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52" name="直線コネクタ 51"/>
          <p:cNvCxnSpPr>
            <a:endCxn id="93" idx="1"/>
          </p:cNvCxnSpPr>
          <p:nvPr/>
        </p:nvCxnSpPr>
        <p:spPr bwMode="auto">
          <a:xfrm flipV="1">
            <a:off x="4115978" y="4239007"/>
            <a:ext cx="1440016" cy="2"/>
          </a:xfrm>
          <a:prstGeom prst="line">
            <a:avLst/>
          </a:prstGeom>
          <a:noFill/>
          <a:ln w="9525" cap="flat" cmpd="sng" algn="ctr">
            <a:solidFill>
              <a:schemeClr val="tx1"/>
            </a:solidFill>
            <a:prstDash val="dash"/>
            <a:round/>
            <a:headEnd type="none" w="med" len="med"/>
            <a:tailEnd type="none" w="med" len="med"/>
          </a:ln>
          <a:effectLst/>
        </p:spPr>
      </p:cxnSp>
      <p:cxnSp>
        <p:nvCxnSpPr>
          <p:cNvPr id="53" name="直線コネクタ 52"/>
          <p:cNvCxnSpPr/>
          <p:nvPr/>
        </p:nvCxnSpPr>
        <p:spPr bwMode="auto">
          <a:xfrm>
            <a:off x="4115978" y="3789004"/>
            <a:ext cx="720080" cy="0"/>
          </a:xfrm>
          <a:prstGeom prst="line">
            <a:avLst/>
          </a:prstGeom>
          <a:noFill/>
          <a:ln w="9525" cap="flat" cmpd="sng" algn="ctr">
            <a:solidFill>
              <a:schemeClr val="tx1"/>
            </a:solidFill>
            <a:prstDash val="dash"/>
            <a:round/>
            <a:headEnd type="none" w="med" len="med"/>
            <a:tailEnd type="none" w="med" len="med"/>
          </a:ln>
          <a:effectLst/>
        </p:spPr>
      </p:cxnSp>
      <p:sp>
        <p:nvSpPr>
          <p:cNvPr id="54" name="Rectangle 69"/>
          <p:cNvSpPr>
            <a:spLocks noChangeArrowheads="1"/>
          </p:cNvSpPr>
          <p:nvPr/>
        </p:nvSpPr>
        <p:spPr bwMode="auto">
          <a:xfrm>
            <a:off x="4655984"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5" name="Rectangle 70"/>
          <p:cNvSpPr>
            <a:spLocks noChangeArrowheads="1"/>
          </p:cNvSpPr>
          <p:nvPr/>
        </p:nvSpPr>
        <p:spPr bwMode="auto">
          <a:xfrm>
            <a:off x="5105989"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56" name="Rectangle 71"/>
          <p:cNvSpPr>
            <a:spLocks noChangeArrowheads="1"/>
          </p:cNvSpPr>
          <p:nvPr/>
        </p:nvSpPr>
        <p:spPr bwMode="auto">
          <a:xfrm>
            <a:off x="5555994"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57" name="Rectangle 72"/>
          <p:cNvSpPr>
            <a:spLocks noChangeArrowheads="1"/>
          </p:cNvSpPr>
          <p:nvPr/>
        </p:nvSpPr>
        <p:spPr bwMode="auto">
          <a:xfrm>
            <a:off x="6005999"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59" name="Rectangle 69"/>
          <p:cNvSpPr>
            <a:spLocks noChangeArrowheads="1"/>
          </p:cNvSpPr>
          <p:nvPr/>
        </p:nvSpPr>
        <p:spPr bwMode="auto">
          <a:xfrm>
            <a:off x="5105989"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0" name="Rectangle 70"/>
          <p:cNvSpPr>
            <a:spLocks noChangeArrowheads="1"/>
          </p:cNvSpPr>
          <p:nvPr/>
        </p:nvSpPr>
        <p:spPr bwMode="auto">
          <a:xfrm>
            <a:off x="6005999"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1" name="Rectangle 71"/>
          <p:cNvSpPr>
            <a:spLocks noChangeArrowheads="1"/>
          </p:cNvSpPr>
          <p:nvPr/>
        </p:nvSpPr>
        <p:spPr bwMode="auto">
          <a:xfrm>
            <a:off x="6456004"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62" name="Rectangle 72"/>
          <p:cNvSpPr>
            <a:spLocks noChangeArrowheads="1"/>
          </p:cNvSpPr>
          <p:nvPr/>
        </p:nvSpPr>
        <p:spPr bwMode="auto">
          <a:xfrm>
            <a:off x="6906009"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63" name="Rectangle 73"/>
          <p:cNvSpPr>
            <a:spLocks noChangeArrowheads="1"/>
          </p:cNvSpPr>
          <p:nvPr/>
        </p:nvSpPr>
        <p:spPr bwMode="auto">
          <a:xfrm>
            <a:off x="7356014"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64" name="Rectangle 69"/>
          <p:cNvSpPr>
            <a:spLocks noChangeArrowheads="1"/>
          </p:cNvSpPr>
          <p:nvPr/>
        </p:nvSpPr>
        <p:spPr bwMode="auto">
          <a:xfrm>
            <a:off x="6005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5" name="Rectangle 70"/>
          <p:cNvSpPr>
            <a:spLocks noChangeArrowheads="1"/>
          </p:cNvSpPr>
          <p:nvPr/>
        </p:nvSpPr>
        <p:spPr bwMode="auto">
          <a:xfrm>
            <a:off x="6456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66" name="Rectangle 71"/>
          <p:cNvSpPr>
            <a:spLocks noChangeArrowheads="1"/>
          </p:cNvSpPr>
          <p:nvPr/>
        </p:nvSpPr>
        <p:spPr bwMode="auto">
          <a:xfrm>
            <a:off x="6906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67" name="Rectangle 72"/>
          <p:cNvSpPr>
            <a:spLocks noChangeArrowheads="1"/>
          </p:cNvSpPr>
          <p:nvPr/>
        </p:nvSpPr>
        <p:spPr bwMode="auto">
          <a:xfrm>
            <a:off x="7356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68" name="Rectangle 73"/>
          <p:cNvSpPr>
            <a:spLocks noChangeArrowheads="1"/>
          </p:cNvSpPr>
          <p:nvPr/>
        </p:nvSpPr>
        <p:spPr bwMode="auto">
          <a:xfrm>
            <a:off x="7806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69" name="正方形/長方形 68"/>
          <p:cNvSpPr/>
          <p:nvPr/>
        </p:nvSpPr>
        <p:spPr bwMode="auto">
          <a:xfrm>
            <a:off x="2585961" y="360900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5"/>
                </a:solidFill>
                <a:latin typeface="メイリオ" panose="020B0604030504040204" pitchFamily="50" charset="-128"/>
                <a:ea typeface="メイリオ" panose="020B0604030504040204" pitchFamily="50" charset="-128"/>
              </a:rPr>
              <a:t>pop </a:t>
            </a:r>
            <a:r>
              <a:rPr lang="en-US" altLang="ja-JP" sz="1600" dirty="0">
                <a:solidFill>
                  <a:schemeClr val="accent5"/>
                </a:solidFill>
              </a:rPr>
              <a:t>add rs1+1</a:t>
            </a:r>
            <a:r>
              <a:rPr lang="ja-JP" altLang="en-US" sz="1600" dirty="0">
                <a:solidFill>
                  <a:schemeClr val="accent5"/>
                </a:solidFill>
              </a:rPr>
              <a:t>→</a:t>
            </a:r>
            <a:r>
              <a:rPr lang="en-US" altLang="ja-JP" sz="1600" dirty="0" err="1">
                <a:solidFill>
                  <a:schemeClr val="accent5"/>
                </a:solidFill>
              </a:rPr>
              <a:t>rt</a:t>
            </a:r>
            <a:endParaRPr lang="ja-JP" altLang="en-US" sz="1600" b="1" dirty="0">
              <a:solidFill>
                <a:schemeClr val="accent5"/>
              </a:solidFill>
              <a:latin typeface="メイリオ" panose="020B0604030504040204" pitchFamily="50" charset="-128"/>
              <a:ea typeface="メイリオ" panose="020B0604030504040204" pitchFamily="50" charset="-128"/>
            </a:endParaRPr>
          </a:p>
        </p:txBody>
      </p:sp>
      <p:sp>
        <p:nvSpPr>
          <p:cNvPr id="71" name="Rectangle 69"/>
          <p:cNvSpPr>
            <a:spLocks noChangeArrowheads="1"/>
          </p:cNvSpPr>
          <p:nvPr/>
        </p:nvSpPr>
        <p:spPr bwMode="auto">
          <a:xfrm>
            <a:off x="6456004"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2" name="Rectangle 70"/>
          <p:cNvSpPr>
            <a:spLocks noChangeArrowheads="1"/>
          </p:cNvSpPr>
          <p:nvPr/>
        </p:nvSpPr>
        <p:spPr bwMode="auto">
          <a:xfrm>
            <a:off x="6906009"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3" name="Rectangle 71"/>
          <p:cNvSpPr>
            <a:spLocks noChangeArrowheads="1"/>
          </p:cNvSpPr>
          <p:nvPr/>
        </p:nvSpPr>
        <p:spPr bwMode="auto">
          <a:xfrm>
            <a:off x="7356014"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74" name="Rectangle 72"/>
          <p:cNvSpPr>
            <a:spLocks noChangeArrowheads="1"/>
          </p:cNvSpPr>
          <p:nvPr/>
        </p:nvSpPr>
        <p:spPr bwMode="auto">
          <a:xfrm>
            <a:off x="7806019"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75" name="Rectangle 73"/>
          <p:cNvSpPr>
            <a:spLocks noChangeArrowheads="1"/>
          </p:cNvSpPr>
          <p:nvPr/>
        </p:nvSpPr>
        <p:spPr bwMode="auto">
          <a:xfrm>
            <a:off x="8256024"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76" name="Rectangle 69"/>
          <p:cNvSpPr>
            <a:spLocks noChangeArrowheads="1"/>
          </p:cNvSpPr>
          <p:nvPr/>
        </p:nvSpPr>
        <p:spPr bwMode="auto">
          <a:xfrm>
            <a:off x="6906009"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7" name="Rectangle 70"/>
          <p:cNvSpPr>
            <a:spLocks noChangeArrowheads="1"/>
          </p:cNvSpPr>
          <p:nvPr/>
        </p:nvSpPr>
        <p:spPr bwMode="auto">
          <a:xfrm>
            <a:off x="7356014"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78" name="Rectangle 71"/>
          <p:cNvSpPr>
            <a:spLocks noChangeArrowheads="1"/>
          </p:cNvSpPr>
          <p:nvPr/>
        </p:nvSpPr>
        <p:spPr bwMode="auto">
          <a:xfrm>
            <a:off x="7806019"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79" name="Rectangle 72"/>
          <p:cNvSpPr>
            <a:spLocks noChangeArrowheads="1"/>
          </p:cNvSpPr>
          <p:nvPr/>
        </p:nvSpPr>
        <p:spPr bwMode="auto">
          <a:xfrm>
            <a:off x="8256024"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80" name="Rectangle 73"/>
          <p:cNvSpPr>
            <a:spLocks noChangeArrowheads="1"/>
          </p:cNvSpPr>
          <p:nvPr/>
        </p:nvSpPr>
        <p:spPr bwMode="auto">
          <a:xfrm>
            <a:off x="8706029"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85" name="直線コネクタ 84"/>
          <p:cNvCxnSpPr>
            <a:endCxn id="64" idx="1"/>
          </p:cNvCxnSpPr>
          <p:nvPr/>
        </p:nvCxnSpPr>
        <p:spPr bwMode="auto">
          <a:xfrm flipV="1">
            <a:off x="4115979" y="5139017"/>
            <a:ext cx="1890021" cy="2"/>
          </a:xfrm>
          <a:prstGeom prst="line">
            <a:avLst/>
          </a:prstGeom>
          <a:noFill/>
          <a:ln w="9525" cap="flat" cmpd="sng" algn="ctr">
            <a:solidFill>
              <a:schemeClr val="tx1"/>
            </a:solidFill>
            <a:prstDash val="dash"/>
            <a:round/>
            <a:headEnd type="none" w="med" len="med"/>
            <a:tailEnd type="none" w="med" len="med"/>
          </a:ln>
          <a:effectLst/>
        </p:spPr>
      </p:cxnSp>
      <p:cxnSp>
        <p:nvCxnSpPr>
          <p:cNvPr id="88" name="直線コネクタ 87"/>
          <p:cNvCxnSpPr>
            <a:endCxn id="71" idx="1"/>
          </p:cNvCxnSpPr>
          <p:nvPr/>
        </p:nvCxnSpPr>
        <p:spPr bwMode="auto">
          <a:xfrm flipV="1">
            <a:off x="4115978" y="5589022"/>
            <a:ext cx="2340026" cy="2"/>
          </a:xfrm>
          <a:prstGeom prst="line">
            <a:avLst/>
          </a:prstGeom>
          <a:noFill/>
          <a:ln w="9525" cap="flat" cmpd="sng" algn="ctr">
            <a:solidFill>
              <a:schemeClr val="tx1"/>
            </a:solidFill>
            <a:prstDash val="dash"/>
            <a:round/>
            <a:headEnd type="none" w="med" len="med"/>
            <a:tailEnd type="none" w="med" len="med"/>
          </a:ln>
          <a:effectLst/>
        </p:spPr>
      </p:cxnSp>
      <p:cxnSp>
        <p:nvCxnSpPr>
          <p:cNvPr id="90" name="直線コネクタ 89"/>
          <p:cNvCxnSpPr>
            <a:endCxn id="76" idx="1"/>
          </p:cNvCxnSpPr>
          <p:nvPr/>
        </p:nvCxnSpPr>
        <p:spPr bwMode="auto">
          <a:xfrm flipV="1">
            <a:off x="4115979" y="6039027"/>
            <a:ext cx="2790031" cy="2"/>
          </a:xfrm>
          <a:prstGeom prst="line">
            <a:avLst/>
          </a:prstGeom>
          <a:noFill/>
          <a:ln w="9525" cap="flat" cmpd="sng" algn="ctr">
            <a:solidFill>
              <a:schemeClr val="tx1"/>
            </a:solidFill>
            <a:prstDash val="dash"/>
            <a:round/>
            <a:headEnd type="none" w="med" len="med"/>
            <a:tailEnd type="none" w="med" len="med"/>
          </a:ln>
          <a:effectLst/>
        </p:spPr>
      </p:cxnSp>
      <p:sp>
        <p:nvSpPr>
          <p:cNvPr id="92" name="Rectangle 73"/>
          <p:cNvSpPr>
            <a:spLocks noChangeArrowheads="1"/>
          </p:cNvSpPr>
          <p:nvPr/>
        </p:nvSpPr>
        <p:spPr bwMode="auto">
          <a:xfrm>
            <a:off x="6456004" y="360900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93" name="Rectangle 70"/>
          <p:cNvSpPr>
            <a:spLocks noChangeArrowheads="1"/>
          </p:cNvSpPr>
          <p:nvPr/>
        </p:nvSpPr>
        <p:spPr bwMode="auto">
          <a:xfrm>
            <a:off x="5555994"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94" name="Rectangle 71"/>
          <p:cNvSpPr>
            <a:spLocks noChangeArrowheads="1"/>
          </p:cNvSpPr>
          <p:nvPr/>
        </p:nvSpPr>
        <p:spPr bwMode="auto">
          <a:xfrm>
            <a:off x="6005999"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5" name="Rectangle 72"/>
          <p:cNvSpPr>
            <a:spLocks noChangeArrowheads="1"/>
          </p:cNvSpPr>
          <p:nvPr/>
        </p:nvSpPr>
        <p:spPr bwMode="auto">
          <a:xfrm>
            <a:off x="6456004"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96" name="Rectangle 73"/>
          <p:cNvSpPr>
            <a:spLocks noChangeArrowheads="1"/>
          </p:cNvSpPr>
          <p:nvPr/>
        </p:nvSpPr>
        <p:spPr bwMode="auto">
          <a:xfrm>
            <a:off x="6906009" y="405900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97" name="Rectangle 73"/>
          <p:cNvSpPr>
            <a:spLocks noChangeArrowheads="1"/>
          </p:cNvSpPr>
          <p:nvPr/>
        </p:nvSpPr>
        <p:spPr bwMode="auto">
          <a:xfrm>
            <a:off x="5555994" y="450901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100" name="正方形/長方形 99"/>
          <p:cNvSpPr/>
          <p:nvPr/>
        </p:nvSpPr>
        <p:spPr bwMode="auto">
          <a:xfrm>
            <a:off x="3035966" y="405900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err="1">
                <a:solidFill>
                  <a:schemeClr val="accent5"/>
                </a:solidFill>
              </a:rPr>
              <a:t>ld</a:t>
            </a:r>
            <a:r>
              <a:rPr lang="en-US" altLang="ja-JP" sz="1600" dirty="0">
                <a:solidFill>
                  <a:schemeClr val="accent5"/>
                </a:solidFill>
              </a:rPr>
              <a:t> [</a:t>
            </a:r>
            <a:r>
              <a:rPr lang="en-US" altLang="ja-JP" sz="1600" dirty="0" err="1">
                <a:solidFill>
                  <a:schemeClr val="accent5"/>
                </a:solidFill>
              </a:rPr>
              <a:t>rt</a:t>
            </a:r>
            <a:r>
              <a:rPr lang="en-US" altLang="ja-JP" sz="1600" dirty="0">
                <a:solidFill>
                  <a:schemeClr val="accent5"/>
                </a:solidFill>
              </a:rPr>
              <a:t>]</a:t>
            </a:r>
            <a:r>
              <a:rPr lang="ja-JP" altLang="en-US" sz="1600" dirty="0">
                <a:solidFill>
                  <a:schemeClr val="accent5"/>
                </a:solidFill>
              </a:rPr>
              <a:t>→</a:t>
            </a:r>
            <a:r>
              <a:rPr lang="en-US" altLang="ja-JP" sz="1600" dirty="0" err="1">
                <a:solidFill>
                  <a:schemeClr val="accent5"/>
                </a:solidFill>
              </a:rPr>
              <a:t>rd</a:t>
            </a:r>
            <a:endParaRPr lang="ja-JP" altLang="en-US" sz="1600" dirty="0">
              <a:solidFill>
                <a:schemeClr val="accent5"/>
              </a:solidFill>
              <a:latin typeface="メイリオ" panose="020B0604030504040204" pitchFamily="50" charset="-128"/>
              <a:ea typeface="メイリオ" panose="020B0604030504040204" pitchFamily="50" charset="-128"/>
            </a:endParaRPr>
          </a:p>
        </p:txBody>
      </p:sp>
      <p:sp>
        <p:nvSpPr>
          <p:cNvPr id="108" name="正方形/長方形 107"/>
          <p:cNvSpPr/>
          <p:nvPr/>
        </p:nvSpPr>
        <p:spPr bwMode="auto">
          <a:xfrm>
            <a:off x="3395970" y="450901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I1</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09" name="正方形/長方形 108"/>
          <p:cNvSpPr/>
          <p:nvPr/>
        </p:nvSpPr>
        <p:spPr bwMode="auto">
          <a:xfrm>
            <a:off x="3395970" y="495901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I2</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10" name="正方形/長方形 109"/>
          <p:cNvSpPr/>
          <p:nvPr/>
        </p:nvSpPr>
        <p:spPr bwMode="auto">
          <a:xfrm>
            <a:off x="3395970" y="540902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I3</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11" name="正方形/長方形 110"/>
          <p:cNvSpPr/>
          <p:nvPr/>
        </p:nvSpPr>
        <p:spPr bwMode="auto">
          <a:xfrm>
            <a:off x="3395970" y="585902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dirty="0">
                <a:solidFill>
                  <a:schemeClr val="accent6"/>
                </a:solidFill>
                <a:latin typeface="メイリオ" panose="020B0604030504040204" pitchFamily="50" charset="-128"/>
                <a:ea typeface="メイリオ" panose="020B0604030504040204" pitchFamily="50" charset="-128"/>
              </a:rPr>
              <a:t>I4</a:t>
            </a:r>
            <a:endParaRPr lang="ja-JP" altLang="en-US" sz="1600" dirty="0">
              <a:solidFill>
                <a:schemeClr val="accent6"/>
              </a:solidFill>
              <a:latin typeface="メイリオ" panose="020B0604030504040204" pitchFamily="50" charset="-128"/>
              <a:ea typeface="メイリオ" panose="020B0604030504040204" pitchFamily="50" charset="-128"/>
            </a:endParaRPr>
          </a:p>
        </p:txBody>
      </p:sp>
      <p:cxnSp>
        <p:nvCxnSpPr>
          <p:cNvPr id="112" name="直線コネクタ 111"/>
          <p:cNvCxnSpPr/>
          <p:nvPr/>
        </p:nvCxnSpPr>
        <p:spPr bwMode="auto">
          <a:xfrm flipV="1">
            <a:off x="4115979" y="4689014"/>
            <a:ext cx="990011" cy="4"/>
          </a:xfrm>
          <a:prstGeom prst="line">
            <a:avLst/>
          </a:prstGeom>
          <a:noFill/>
          <a:ln w="9525" cap="flat" cmpd="sng" algn="ctr">
            <a:solidFill>
              <a:schemeClr val="tx1"/>
            </a:solidFill>
            <a:prstDash val="dash"/>
            <a:round/>
            <a:headEnd type="none" w="med" len="med"/>
            <a:tailEnd type="none" w="med" len="med"/>
          </a:ln>
          <a:effectLst/>
        </p:spPr>
      </p:cxnSp>
      <p:cxnSp>
        <p:nvCxnSpPr>
          <p:cNvPr id="115" name="直線コネクタ 114"/>
          <p:cNvCxnSpPr/>
          <p:nvPr/>
        </p:nvCxnSpPr>
        <p:spPr bwMode="auto">
          <a:xfrm>
            <a:off x="9066033" y="1088975"/>
            <a:ext cx="0" cy="5310059"/>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3289362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マイクロ命令への分解の利点</a:t>
            </a:r>
          </a:p>
        </p:txBody>
      </p:sp>
      <p:sp>
        <p:nvSpPr>
          <p:cNvPr id="3" name="テキスト プレースホルダー 2"/>
          <p:cNvSpPr>
            <a:spLocks noGrp="1"/>
          </p:cNvSpPr>
          <p:nvPr>
            <p:ph type="body" sz="quarter" idx="10"/>
          </p:nvPr>
        </p:nvSpPr>
        <p:spPr/>
        <p:txBody>
          <a:bodyPr/>
          <a:lstStyle/>
          <a:p>
            <a:r>
              <a:rPr kumimoji="1" lang="ja-JP" altLang="en-US" dirty="0"/>
              <a:t>処理時間が変わらないのなら，なぜこんな複雑なことをするのか？</a:t>
            </a:r>
            <a:endParaRPr kumimoji="1" lang="en-US" altLang="ja-JP" dirty="0"/>
          </a:p>
          <a:p>
            <a:r>
              <a:rPr lang="ja-JP" altLang="en-US" dirty="0"/>
              <a:t>分解後は，構造ハザードのことを一切考えなくてよくなるから</a:t>
            </a:r>
            <a:endParaRPr lang="en-US" altLang="ja-JP" dirty="0"/>
          </a:p>
          <a:p>
            <a:pPr lvl="1"/>
            <a:r>
              <a:rPr lang="en-US" altLang="ja-JP" dirty="0" err="1"/>
              <a:t>mov</a:t>
            </a:r>
            <a:r>
              <a:rPr lang="ja-JP" altLang="en-US" dirty="0" err="1"/>
              <a:t>，</a:t>
            </a:r>
            <a:r>
              <a:rPr lang="en-US" altLang="ja-JP" dirty="0"/>
              <a:t>pop</a:t>
            </a:r>
            <a:r>
              <a:rPr lang="ja-JP" altLang="en-US" dirty="0" err="1"/>
              <a:t>，</a:t>
            </a:r>
            <a:r>
              <a:rPr lang="en-US" altLang="ja-JP" dirty="0" err="1"/>
              <a:t>ld_inc</a:t>
            </a:r>
            <a:r>
              <a:rPr lang="en-US" altLang="ja-JP" dirty="0"/>
              <a:t> </a:t>
            </a:r>
            <a:r>
              <a:rPr lang="ja-JP" altLang="en-US" dirty="0"/>
              <a:t>が連続で来た場合，どう止めたらよいのか？</a:t>
            </a:r>
            <a:endParaRPr lang="en-US" altLang="ja-JP" dirty="0"/>
          </a:p>
          <a:p>
            <a:pPr lvl="2"/>
            <a:r>
              <a:rPr lang="ja-JP" altLang="en-US" dirty="0"/>
              <a:t>止めるべきステージの場所はさまざま</a:t>
            </a:r>
            <a:endParaRPr lang="en-US" altLang="ja-JP" dirty="0"/>
          </a:p>
          <a:p>
            <a:pPr lvl="2"/>
            <a:r>
              <a:rPr lang="ja-JP" altLang="en-US" dirty="0"/>
              <a:t>組み合わさると意味がわからない</a:t>
            </a:r>
            <a:endParaRPr lang="en-US" altLang="ja-JP" dirty="0"/>
          </a:p>
          <a:p>
            <a:pPr lvl="1"/>
            <a:r>
              <a:rPr kumimoji="1" lang="ja-JP" altLang="en-US" dirty="0"/>
              <a:t>マイクロ命令に分解してしまえば，</a:t>
            </a:r>
            <a:r>
              <a:rPr kumimoji="1" lang="en-US" altLang="ja-JP" dirty="0"/>
              <a:t>ID </a:t>
            </a:r>
            <a:r>
              <a:rPr kumimoji="1" lang="ja-JP" altLang="en-US" dirty="0"/>
              <a:t>ステージでのストール</a:t>
            </a:r>
            <a:br>
              <a:rPr kumimoji="1" lang="en-US" altLang="ja-JP" dirty="0"/>
            </a:br>
            <a:r>
              <a:rPr kumimoji="1" lang="ja-JP" altLang="en-US" dirty="0"/>
              <a:t>のみ考えれば良い</a:t>
            </a:r>
            <a:endParaRPr kumimoji="1" lang="en-US" altLang="ja-JP" dirty="0"/>
          </a:p>
        </p:txBody>
      </p:sp>
    </p:spTree>
    <p:extLst>
      <p:ext uri="{BB962C8B-B14F-4D97-AF65-F5344CB8AC3E}">
        <p14:creationId xmlns:p14="http://schemas.microsoft.com/office/powerpoint/2010/main" val="1423166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マイクロ命令への分解の利点</a:t>
            </a:r>
          </a:p>
        </p:txBody>
      </p:sp>
      <p:sp>
        <p:nvSpPr>
          <p:cNvPr id="3" name="テキスト プレースホルダー 2"/>
          <p:cNvSpPr>
            <a:spLocks noGrp="1"/>
          </p:cNvSpPr>
          <p:nvPr>
            <p:ph type="body" sz="quarter" idx="10"/>
          </p:nvPr>
        </p:nvSpPr>
        <p:spPr/>
        <p:txBody>
          <a:bodyPr/>
          <a:lstStyle/>
          <a:p>
            <a:r>
              <a:rPr lang="ja-JP" altLang="en-US" dirty="0"/>
              <a:t>内部の設計をクリーンにできる</a:t>
            </a:r>
            <a:endParaRPr lang="en-US" altLang="ja-JP" dirty="0"/>
          </a:p>
          <a:p>
            <a:pPr lvl="1"/>
            <a:r>
              <a:rPr kumimoji="1" lang="ja-JP" altLang="en-US" dirty="0"/>
              <a:t>スーパスカラ（パイプラインを複数並列に並べる）などでは，</a:t>
            </a:r>
            <a:br>
              <a:rPr lang="en-US" altLang="ja-JP" dirty="0"/>
            </a:br>
            <a:r>
              <a:rPr lang="ja-JP" altLang="en-US" dirty="0"/>
              <a:t>こうしないと複雑すぎて無理</a:t>
            </a:r>
            <a:endParaRPr lang="en-US" altLang="ja-JP" dirty="0"/>
          </a:p>
          <a:p>
            <a:r>
              <a:rPr kumimoji="1" lang="en-US" altLang="ja-JP" dirty="0"/>
              <a:t>= </a:t>
            </a:r>
            <a:r>
              <a:rPr kumimoji="1" lang="ja-JP" altLang="en-US" dirty="0"/>
              <a:t>内部を刷新</a:t>
            </a:r>
            <a:r>
              <a:rPr kumimoji="1" lang="ja-JP" altLang="en-US"/>
              <a:t>しつつ，プログラムの互換性</a:t>
            </a:r>
            <a:r>
              <a:rPr kumimoji="1" lang="ja-JP" altLang="en-US" dirty="0"/>
              <a:t>を保てる</a:t>
            </a:r>
            <a:endParaRPr kumimoji="1" lang="en-US" altLang="ja-JP" dirty="0"/>
          </a:p>
        </p:txBody>
      </p:sp>
    </p:spTree>
    <p:extLst>
      <p:ext uri="{BB962C8B-B14F-4D97-AF65-F5344CB8AC3E}">
        <p14:creationId xmlns:p14="http://schemas.microsoft.com/office/powerpoint/2010/main" val="30226536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マイクロ命令への分解の欠点</a:t>
            </a:r>
          </a:p>
        </p:txBody>
      </p:sp>
      <p:sp>
        <p:nvSpPr>
          <p:cNvPr id="3" name="テキスト プレースホルダー 2"/>
          <p:cNvSpPr>
            <a:spLocks noGrp="1"/>
          </p:cNvSpPr>
          <p:nvPr>
            <p:ph type="body" sz="quarter" idx="10"/>
          </p:nvPr>
        </p:nvSpPr>
        <p:spPr/>
        <p:txBody>
          <a:bodyPr/>
          <a:lstStyle/>
          <a:p>
            <a:r>
              <a:rPr kumimoji="1" lang="ja-JP" altLang="en-US" dirty="0"/>
              <a:t>分解（デコード）がマジで大変</a:t>
            </a:r>
            <a:endParaRPr kumimoji="1" lang="en-US" altLang="ja-JP" dirty="0"/>
          </a:p>
          <a:p>
            <a:r>
              <a:rPr kumimoji="1" lang="ja-JP" altLang="en-US" dirty="0"/>
              <a:t>基本的には，ひたすらパターン・マッチング</a:t>
            </a:r>
            <a:endParaRPr kumimoji="1" lang="en-US" altLang="ja-JP" dirty="0"/>
          </a:p>
          <a:p>
            <a:pPr lvl="1"/>
            <a:r>
              <a:rPr kumimoji="1" lang="ja-JP" altLang="en-US" dirty="0"/>
              <a:t>でかい真理値表がいる</a:t>
            </a:r>
            <a:endParaRPr kumimoji="1" lang="en-US" altLang="ja-JP" dirty="0"/>
          </a:p>
          <a:p>
            <a:pPr lvl="1"/>
            <a:r>
              <a:rPr kumimoji="1" lang="ja-JP" altLang="en-US" dirty="0"/>
              <a:t>本当に複雑なものは，メモリで出来たテーブルも使う</a:t>
            </a:r>
          </a:p>
        </p:txBody>
      </p:sp>
    </p:spTree>
    <p:extLst>
      <p:ext uri="{BB962C8B-B14F-4D97-AF65-F5344CB8AC3E}">
        <p14:creationId xmlns:p14="http://schemas.microsoft.com/office/powerpoint/2010/main" val="653444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AMD Bulldozer </a:t>
            </a:r>
            <a:r>
              <a:rPr kumimoji="1" lang="ja-JP" altLang="en-US" dirty="0"/>
              <a:t>のチップ写真</a:t>
            </a:r>
          </a:p>
        </p:txBody>
      </p:sp>
      <p:pic>
        <p:nvPicPr>
          <p:cNvPr id="4" name="図 3"/>
          <p:cNvPicPr>
            <a:picLocks noChangeAspect="1"/>
          </p:cNvPicPr>
          <p:nvPr/>
        </p:nvPicPr>
        <p:blipFill>
          <a:blip r:embed="rId2"/>
          <a:stretch>
            <a:fillRect/>
          </a:stretch>
        </p:blipFill>
        <p:spPr>
          <a:xfrm>
            <a:off x="2495961" y="1268976"/>
            <a:ext cx="7492327" cy="3925378"/>
          </a:xfrm>
          <a:prstGeom prst="rect">
            <a:avLst/>
          </a:prstGeom>
        </p:spPr>
      </p:pic>
      <p:sp>
        <p:nvSpPr>
          <p:cNvPr id="3" name="テキスト プレースホルダー 2"/>
          <p:cNvSpPr>
            <a:spLocks noGrp="1"/>
          </p:cNvSpPr>
          <p:nvPr>
            <p:ph type="body" sz="quarter" idx="10"/>
          </p:nvPr>
        </p:nvSpPr>
        <p:spPr>
          <a:xfrm>
            <a:off x="2135956" y="5769027"/>
            <a:ext cx="8280092" cy="539699"/>
          </a:xfrm>
        </p:spPr>
        <p:txBody>
          <a:bodyPr/>
          <a:lstStyle/>
          <a:p>
            <a:r>
              <a:rPr lang="en-US" altLang="ja-JP" sz="1100" dirty="0"/>
              <a:t>Tim Fischer1 , Srikanth Arekapudi2 , Eric Busta1 , Carl Dietz3 , Michael Golden2 , Scott Hilker2 , Aaron Horiuchi1 , Kevin A. Hurd1 , Dave Johnson1 , Hugh McIntyre2 , Samuel Naffziger1 , James Vinh2 , Jonathan White4 , Kathryn Wilcox, Design Solutions for the Bulldozer 32nm SOI 2-Core Processor Module in an 8-Core CPU, ISSCC 2011 </a:t>
            </a:r>
            <a:r>
              <a:rPr lang="ja-JP" altLang="en-US" sz="1100" dirty="0"/>
              <a:t>より</a:t>
            </a:r>
          </a:p>
        </p:txBody>
      </p:sp>
      <p:sp>
        <p:nvSpPr>
          <p:cNvPr id="6" name="正方形/長方形 5"/>
          <p:cNvSpPr/>
          <p:nvPr/>
        </p:nvSpPr>
        <p:spPr bwMode="auto">
          <a:xfrm>
            <a:off x="2765963" y="2798993"/>
            <a:ext cx="180002" cy="540006"/>
          </a:xfrm>
          <a:prstGeom prst="rect">
            <a:avLst/>
          </a:prstGeom>
          <a:solidFill>
            <a:srgbClr val="009999">
              <a:alpha val="50000"/>
            </a:srgbClr>
          </a:solidFill>
          <a:ln>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ALU</a:t>
            </a:r>
            <a:endParaRPr lang="ja-JP" altLang="en-US" sz="1200" b="1" dirty="0">
              <a:solidFill>
                <a:schemeClr val="bg1"/>
              </a:solidFill>
              <a:latin typeface="+mn-ea"/>
            </a:endParaRPr>
          </a:p>
        </p:txBody>
      </p:sp>
      <p:sp>
        <p:nvSpPr>
          <p:cNvPr id="7" name="正方形/長方形 6"/>
          <p:cNvSpPr/>
          <p:nvPr/>
        </p:nvSpPr>
        <p:spPr bwMode="auto">
          <a:xfrm>
            <a:off x="6005999" y="2798993"/>
            <a:ext cx="180002" cy="540006"/>
          </a:xfrm>
          <a:prstGeom prst="rect">
            <a:avLst/>
          </a:prstGeom>
          <a:solidFill>
            <a:srgbClr val="009999">
              <a:alpha val="50000"/>
            </a:srgbClr>
          </a:solidFill>
          <a:ln>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sz="1200" b="1" dirty="0">
                <a:solidFill>
                  <a:schemeClr val="bg1"/>
                </a:solidFill>
                <a:latin typeface="+mn-ea"/>
              </a:rPr>
              <a:t>ALU</a:t>
            </a:r>
            <a:endParaRPr lang="ja-JP" altLang="en-US" sz="1200" b="1" dirty="0">
              <a:solidFill>
                <a:schemeClr val="bg1"/>
              </a:solidFill>
              <a:latin typeface="+mn-ea"/>
            </a:endParaRPr>
          </a:p>
        </p:txBody>
      </p:sp>
      <p:sp>
        <p:nvSpPr>
          <p:cNvPr id="8" name="正方形/長方形 7"/>
          <p:cNvSpPr/>
          <p:nvPr/>
        </p:nvSpPr>
        <p:spPr bwMode="auto">
          <a:xfrm>
            <a:off x="3755974" y="1808983"/>
            <a:ext cx="1080012" cy="900009"/>
          </a:xfrm>
          <a:prstGeom prst="rect">
            <a:avLst/>
          </a:prstGeom>
          <a:solidFill>
            <a:srgbClr val="9933FF">
              <a:alpha val="49804"/>
            </a:srgbClr>
          </a:solidFill>
          <a:ln>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bg1"/>
                </a:solidFill>
                <a:latin typeface="+mn-ea"/>
              </a:rPr>
              <a:t>Decode</a:t>
            </a:r>
            <a:endParaRPr lang="ja-JP" altLang="en-US" sz="1400" b="1" dirty="0">
              <a:solidFill>
                <a:schemeClr val="bg1"/>
              </a:solidFill>
              <a:latin typeface="+mn-ea"/>
            </a:endParaRPr>
          </a:p>
        </p:txBody>
      </p:sp>
      <p:sp>
        <p:nvSpPr>
          <p:cNvPr id="9" name="正方形/長方形 8"/>
          <p:cNvSpPr/>
          <p:nvPr/>
        </p:nvSpPr>
        <p:spPr bwMode="auto">
          <a:xfrm>
            <a:off x="3755974" y="1358978"/>
            <a:ext cx="1080012" cy="450005"/>
          </a:xfrm>
          <a:prstGeom prst="rect">
            <a:avLst/>
          </a:prstGeom>
          <a:solidFill>
            <a:srgbClr val="9933FF">
              <a:alpha val="49804"/>
            </a:srgbClr>
          </a:solidFill>
          <a:ln>
            <a:headEnd/>
            <a:tailEnd type="triangle" w="sm"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b="1" dirty="0">
                <a:solidFill>
                  <a:schemeClr val="bg1"/>
                </a:solidFill>
                <a:latin typeface="+mn-ea"/>
              </a:rPr>
              <a:t>Microcode</a:t>
            </a:r>
            <a:br>
              <a:rPr lang="en-US" altLang="ja-JP" sz="1400" b="1" dirty="0">
                <a:solidFill>
                  <a:schemeClr val="bg1"/>
                </a:solidFill>
                <a:latin typeface="+mn-ea"/>
              </a:rPr>
            </a:br>
            <a:r>
              <a:rPr lang="en-US" altLang="ja-JP" sz="1400" b="1" dirty="0">
                <a:solidFill>
                  <a:schemeClr val="bg1"/>
                </a:solidFill>
                <a:latin typeface="+mn-ea"/>
              </a:rPr>
              <a:t>ROM</a:t>
            </a:r>
            <a:endParaRPr lang="ja-JP" altLang="en-US" sz="1400" b="1" dirty="0">
              <a:solidFill>
                <a:schemeClr val="bg1"/>
              </a:solidFill>
              <a:latin typeface="+mn-ea"/>
            </a:endParaRPr>
          </a:p>
        </p:txBody>
      </p:sp>
    </p:spTree>
    <p:extLst>
      <p:ext uri="{BB962C8B-B14F-4D97-AF65-F5344CB8AC3E}">
        <p14:creationId xmlns:p14="http://schemas.microsoft.com/office/powerpoint/2010/main" val="4282365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ARM Cortex-A15 </a:t>
            </a:r>
            <a:r>
              <a:rPr lang="ja-JP" altLang="en-US" dirty="0"/>
              <a:t>の消費電力の割合</a:t>
            </a:r>
            <a:endParaRPr kumimoji="1" lang="ja-JP" altLang="en-US" dirty="0"/>
          </a:p>
        </p:txBody>
      </p:sp>
      <p:sp>
        <p:nvSpPr>
          <p:cNvPr id="3" name="テキスト プレースホルダー 2"/>
          <p:cNvSpPr>
            <a:spLocks noGrp="1"/>
          </p:cNvSpPr>
          <p:nvPr>
            <p:ph type="body" sz="quarter" idx="10"/>
          </p:nvPr>
        </p:nvSpPr>
        <p:spPr>
          <a:xfrm>
            <a:off x="2225957" y="5589025"/>
            <a:ext cx="8190091" cy="719701"/>
          </a:xfrm>
        </p:spPr>
        <p:txBody>
          <a:bodyPr/>
          <a:lstStyle/>
          <a:p>
            <a:r>
              <a:rPr lang="en-US" altLang="ja-JP" sz="1200" dirty="0"/>
              <a:t>NVIDIA </a:t>
            </a:r>
            <a:r>
              <a:rPr lang="en-US" altLang="ja-JP" sz="1200" dirty="0" err="1"/>
              <a:t>Tegra</a:t>
            </a:r>
            <a:r>
              <a:rPr lang="en-US" altLang="ja-JP" sz="1200" dirty="0"/>
              <a:t> 4 Family CPU Architecture </a:t>
            </a:r>
            <a:r>
              <a:rPr lang="ja-JP" altLang="en-US" sz="1200" dirty="0"/>
              <a:t>より</a:t>
            </a:r>
            <a:endParaRPr lang="en-US" altLang="ja-JP" sz="1200" dirty="0"/>
          </a:p>
        </p:txBody>
      </p:sp>
      <p:pic>
        <p:nvPicPr>
          <p:cNvPr id="5" name="図 4"/>
          <p:cNvPicPr>
            <a:picLocks noChangeAspect="1"/>
          </p:cNvPicPr>
          <p:nvPr/>
        </p:nvPicPr>
        <p:blipFill>
          <a:blip r:embed="rId2"/>
          <a:stretch>
            <a:fillRect/>
          </a:stretch>
        </p:blipFill>
        <p:spPr>
          <a:xfrm>
            <a:off x="3395971" y="1178975"/>
            <a:ext cx="5401429" cy="4267796"/>
          </a:xfrm>
          <a:prstGeom prst="rect">
            <a:avLst/>
          </a:prstGeom>
        </p:spPr>
      </p:pic>
      <p:sp>
        <p:nvSpPr>
          <p:cNvPr id="6" name="角丸四角形 5"/>
          <p:cNvSpPr/>
          <p:nvPr/>
        </p:nvSpPr>
        <p:spPr bwMode="auto">
          <a:xfrm>
            <a:off x="7806020" y="2528990"/>
            <a:ext cx="1170013" cy="540006"/>
          </a:xfrm>
          <a:prstGeom prst="roundRect">
            <a:avLst/>
          </a:prstGeom>
          <a:noFill/>
          <a:ln w="38100">
            <a:solidFill>
              <a:schemeClr val="accent5"/>
            </a:solidFill>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617345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マイクロ命令への分解の他の利点</a:t>
            </a:r>
          </a:p>
        </p:txBody>
      </p:sp>
      <p:sp>
        <p:nvSpPr>
          <p:cNvPr id="3" name="テキスト プレースホルダー 2"/>
          <p:cNvSpPr>
            <a:spLocks noGrp="1"/>
          </p:cNvSpPr>
          <p:nvPr>
            <p:ph type="body" sz="quarter" idx="10"/>
          </p:nvPr>
        </p:nvSpPr>
        <p:spPr/>
        <p:txBody>
          <a:bodyPr/>
          <a:lstStyle/>
          <a:p>
            <a:r>
              <a:rPr kumimoji="1" lang="en-US" altLang="ja-JP" dirty="0"/>
              <a:t>CPU </a:t>
            </a:r>
            <a:r>
              <a:rPr kumimoji="1" lang="ja-JP" altLang="en-US" dirty="0"/>
              <a:t>にバグがあったときに，後からパッチが当てられる</a:t>
            </a:r>
            <a:endParaRPr kumimoji="1" lang="en-US" altLang="ja-JP" dirty="0"/>
          </a:p>
          <a:p>
            <a:pPr lvl="1"/>
            <a:r>
              <a:rPr kumimoji="1" lang="ja-JP" altLang="en-US" dirty="0"/>
              <a:t>バグを「エラッタ」とも呼ぶ</a:t>
            </a:r>
            <a:endParaRPr kumimoji="1" lang="en-US" altLang="ja-JP" dirty="0"/>
          </a:p>
          <a:p>
            <a:r>
              <a:rPr kumimoji="1" lang="ja-JP" altLang="en-US" dirty="0"/>
              <a:t>動作がおかしい命令を，違う命令の列で置き換える</a:t>
            </a:r>
            <a:endParaRPr kumimoji="1" lang="en-US" altLang="ja-JP" dirty="0"/>
          </a:p>
          <a:p>
            <a:pPr lvl="1"/>
            <a:r>
              <a:rPr kumimoji="1" lang="ja-JP" altLang="en-US" dirty="0"/>
              <a:t>分解に使う表は，あとから書き換えられるようになっている</a:t>
            </a:r>
            <a:endParaRPr kumimoji="1" lang="en-US" altLang="ja-JP" dirty="0"/>
          </a:p>
          <a:p>
            <a:pPr lvl="2"/>
            <a:r>
              <a:rPr lang="en-US" altLang="ja-JP" dirty="0"/>
              <a:t>Microcode ROM </a:t>
            </a:r>
            <a:r>
              <a:rPr lang="ja-JP" altLang="en-US" dirty="0"/>
              <a:t>というのがそれ</a:t>
            </a:r>
            <a:endParaRPr lang="en-US" altLang="ja-JP" dirty="0"/>
          </a:p>
          <a:p>
            <a:pPr lvl="1"/>
            <a:r>
              <a:rPr kumimoji="1" lang="ja-JP" altLang="en-US" dirty="0"/>
              <a:t>ただし，元の命令の動作を他の複数の命令で再現したりするので，</a:t>
            </a:r>
            <a:br>
              <a:rPr kumimoji="1" lang="en-US" altLang="ja-JP" dirty="0"/>
            </a:br>
            <a:r>
              <a:rPr kumimoji="1" lang="ja-JP" altLang="en-US" dirty="0"/>
              <a:t>かなり遅くなる事もある</a:t>
            </a:r>
          </a:p>
        </p:txBody>
      </p:sp>
    </p:spTree>
    <p:extLst>
      <p:ext uri="{BB962C8B-B14F-4D97-AF65-F5344CB8AC3E}">
        <p14:creationId xmlns:p14="http://schemas.microsoft.com/office/powerpoint/2010/main" val="431519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インテルの </a:t>
            </a:r>
            <a:r>
              <a:rPr kumimoji="1" lang="en-US" altLang="ja-JP" dirty="0"/>
              <a:t>Core </a:t>
            </a:r>
            <a:r>
              <a:rPr kumimoji="1" lang="ja-JP" altLang="en-US" dirty="0"/>
              <a:t>シリーズのエラッタのリスト</a:t>
            </a:r>
            <a:br>
              <a:rPr kumimoji="1" lang="en-US" altLang="ja-JP" dirty="0"/>
            </a:br>
            <a:r>
              <a:rPr lang="ja-JP" altLang="en-US" dirty="0"/>
              <a:t>地味に結構バグって</a:t>
            </a:r>
            <a:r>
              <a:rPr lang="ja-JP" altLang="en-US" dirty="0" err="1"/>
              <a:t>る</a:t>
            </a:r>
            <a:endParaRPr kumimoji="1" lang="ja-JP" altLang="en-US" dirty="0"/>
          </a:p>
        </p:txBody>
      </p:sp>
      <p:sp>
        <p:nvSpPr>
          <p:cNvPr id="3" name="テキスト プレースホルダー 2"/>
          <p:cNvSpPr>
            <a:spLocks noGrp="1"/>
          </p:cNvSpPr>
          <p:nvPr>
            <p:ph type="body" sz="quarter" idx="10"/>
          </p:nvPr>
        </p:nvSpPr>
        <p:spPr>
          <a:xfrm>
            <a:off x="2405960" y="6489035"/>
            <a:ext cx="8010089" cy="179695"/>
          </a:xfrm>
        </p:spPr>
        <p:txBody>
          <a:bodyPr/>
          <a:lstStyle/>
          <a:p>
            <a:r>
              <a:rPr lang="en-US" altLang="ja-JP" sz="1100" dirty="0"/>
              <a:t>https://edc.intel.com/content/www/us/en/secure/design/confidential/products-and-solutions/processors-and-chipsets/tiger-lake/11th-generation-intel-core-processor-family-specification-update/summary-tables-of-changes/#_Summary_Tables_of </a:t>
            </a:r>
            <a:r>
              <a:rPr lang="ja-JP" altLang="en-US" sz="1100" dirty="0"/>
              <a:t>より</a:t>
            </a:r>
          </a:p>
        </p:txBody>
      </p:sp>
      <p:pic>
        <p:nvPicPr>
          <p:cNvPr id="7" name="図 6">
            <a:extLst>
              <a:ext uri="{FF2B5EF4-FFF2-40B4-BE49-F238E27FC236}">
                <a16:creationId xmlns:a16="http://schemas.microsoft.com/office/drawing/2014/main" id="{A9551BAE-29C6-4020-6892-0DE43FC1BDE2}"/>
              </a:ext>
            </a:extLst>
          </p:cNvPr>
          <p:cNvPicPr>
            <a:picLocks noChangeAspect="1"/>
          </p:cNvPicPr>
          <p:nvPr/>
        </p:nvPicPr>
        <p:blipFill>
          <a:blip r:embed="rId2"/>
          <a:stretch>
            <a:fillRect/>
          </a:stretch>
        </p:blipFill>
        <p:spPr>
          <a:xfrm>
            <a:off x="1775952" y="1268976"/>
            <a:ext cx="3458500" cy="3600040"/>
          </a:xfrm>
          <a:prstGeom prst="rect">
            <a:avLst/>
          </a:prstGeom>
        </p:spPr>
      </p:pic>
      <p:pic>
        <p:nvPicPr>
          <p:cNvPr id="13" name="図 12">
            <a:extLst>
              <a:ext uri="{FF2B5EF4-FFF2-40B4-BE49-F238E27FC236}">
                <a16:creationId xmlns:a16="http://schemas.microsoft.com/office/drawing/2014/main" id="{9E4BC0C6-0251-0A2C-7424-DB9CB47A1C0B}"/>
              </a:ext>
            </a:extLst>
          </p:cNvPr>
          <p:cNvPicPr>
            <a:picLocks noChangeAspect="1"/>
          </p:cNvPicPr>
          <p:nvPr/>
        </p:nvPicPr>
        <p:blipFill>
          <a:blip r:embed="rId3"/>
          <a:stretch>
            <a:fillRect/>
          </a:stretch>
        </p:blipFill>
        <p:spPr>
          <a:xfrm>
            <a:off x="5375993" y="1358978"/>
            <a:ext cx="5112467" cy="4059007"/>
          </a:xfrm>
          <a:prstGeom prst="rect">
            <a:avLst/>
          </a:prstGeom>
        </p:spPr>
      </p:pic>
    </p:spTree>
    <p:extLst>
      <p:ext uri="{BB962C8B-B14F-4D97-AF65-F5344CB8AC3E}">
        <p14:creationId xmlns:p14="http://schemas.microsoft.com/office/powerpoint/2010/main" val="10102007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685952" y="0"/>
            <a:ext cx="8982049" cy="908972"/>
          </a:xfrm>
        </p:spPr>
        <p:txBody>
          <a:bodyPr/>
          <a:lstStyle/>
          <a:p>
            <a:br>
              <a:rPr lang="ja-JP" altLang="en-US" dirty="0"/>
            </a:br>
            <a:r>
              <a:rPr lang="en-US" altLang="ja-JP" dirty="0"/>
              <a:t>Windows Update </a:t>
            </a:r>
            <a:r>
              <a:rPr lang="ja-JP" altLang="en-US" dirty="0"/>
              <a:t>でこっそり更新されていたりもする</a:t>
            </a:r>
            <a:br>
              <a:rPr lang="ja-JP" altLang="en-US" dirty="0"/>
            </a:br>
            <a:endParaRPr kumimoji="1" lang="ja-JP" altLang="en-US" dirty="0"/>
          </a:p>
        </p:txBody>
      </p:sp>
      <p:sp>
        <p:nvSpPr>
          <p:cNvPr id="3" name="テキスト プレースホルダー 2"/>
          <p:cNvSpPr>
            <a:spLocks noGrp="1"/>
          </p:cNvSpPr>
          <p:nvPr>
            <p:ph type="body" sz="quarter" idx="10"/>
          </p:nvPr>
        </p:nvSpPr>
        <p:spPr>
          <a:xfrm>
            <a:off x="2135956" y="5949028"/>
            <a:ext cx="8280092" cy="629700"/>
          </a:xfrm>
        </p:spPr>
        <p:txBody>
          <a:bodyPr/>
          <a:lstStyle/>
          <a:p>
            <a:r>
              <a:rPr lang="en-US" altLang="ja-JP" sz="1600" dirty="0"/>
              <a:t>https://support.microsoft.com/ja-jp/help/4093836/summary-of-intel-microcode-updates </a:t>
            </a:r>
            <a:r>
              <a:rPr lang="ja-JP" altLang="en-US" sz="1600" dirty="0"/>
              <a:t>より</a:t>
            </a:r>
          </a:p>
        </p:txBody>
      </p:sp>
      <p:pic>
        <p:nvPicPr>
          <p:cNvPr id="4" name="図 3"/>
          <p:cNvPicPr>
            <a:picLocks noChangeAspect="1"/>
          </p:cNvPicPr>
          <p:nvPr/>
        </p:nvPicPr>
        <p:blipFill>
          <a:blip r:embed="rId2"/>
          <a:stretch>
            <a:fillRect/>
          </a:stretch>
        </p:blipFill>
        <p:spPr>
          <a:xfrm>
            <a:off x="2855965" y="1088975"/>
            <a:ext cx="6239289" cy="4739717"/>
          </a:xfrm>
          <a:prstGeom prst="rect">
            <a:avLst/>
          </a:prstGeom>
        </p:spPr>
      </p:pic>
    </p:spTree>
    <p:extLst>
      <p:ext uri="{BB962C8B-B14F-4D97-AF65-F5344CB8AC3E}">
        <p14:creationId xmlns:p14="http://schemas.microsoft.com/office/powerpoint/2010/main" val="2346255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余談：命令の歴史</a:t>
            </a:r>
          </a:p>
        </p:txBody>
      </p:sp>
      <p:sp>
        <p:nvSpPr>
          <p:cNvPr id="3" name="テキスト プレースホルダー 2"/>
          <p:cNvSpPr>
            <a:spLocks noGrp="1"/>
          </p:cNvSpPr>
          <p:nvPr>
            <p:ph type="body" sz="quarter" idx="10"/>
          </p:nvPr>
        </p:nvSpPr>
        <p:spPr/>
        <p:txBody>
          <a:bodyPr/>
          <a:lstStyle/>
          <a:p>
            <a:r>
              <a:rPr lang="en-US" altLang="ja-JP" dirty="0"/>
              <a:t>RISC-V </a:t>
            </a:r>
            <a:r>
              <a:rPr lang="ja-JP" altLang="en-US" dirty="0"/>
              <a:t>や </a:t>
            </a:r>
            <a:r>
              <a:rPr lang="en-US" altLang="ja-JP" dirty="0"/>
              <a:t>MIPS </a:t>
            </a:r>
            <a:r>
              <a:rPr lang="ja-JP" altLang="en-US" dirty="0"/>
              <a:t>などでは，パイプライン実行を最初から想定</a:t>
            </a:r>
            <a:endParaRPr lang="en-US" altLang="ja-JP" dirty="0"/>
          </a:p>
          <a:p>
            <a:pPr lvl="1"/>
            <a:r>
              <a:rPr lang="ja-JP" altLang="en-US" dirty="0"/>
              <a:t>小さいハードで構造ハザードが起きにくいよう設計されている</a:t>
            </a:r>
            <a:endParaRPr lang="en-US" altLang="ja-JP" dirty="0"/>
          </a:p>
          <a:p>
            <a:pPr lvl="1"/>
            <a:r>
              <a:rPr lang="en-US" altLang="ja-JP" dirty="0"/>
              <a:t>RISC</a:t>
            </a:r>
            <a:r>
              <a:rPr lang="ja-JP" altLang="en-US" dirty="0"/>
              <a:t>（</a:t>
            </a:r>
            <a:r>
              <a:rPr lang="en-US" altLang="ja-JP" dirty="0"/>
              <a:t>Reduced Instruction Set Computer</a:t>
            </a:r>
            <a:r>
              <a:rPr lang="ja-JP" altLang="en-US" dirty="0"/>
              <a:t>）と呼ばれる</a:t>
            </a:r>
            <a:endParaRPr lang="en-US" altLang="ja-JP" dirty="0"/>
          </a:p>
          <a:p>
            <a:pPr lvl="1"/>
            <a:r>
              <a:rPr lang="en-US" altLang="ja-JP" dirty="0"/>
              <a:t>RISC-V </a:t>
            </a:r>
            <a:r>
              <a:rPr lang="ja-JP" altLang="en-US" dirty="0"/>
              <a:t>は，「</a:t>
            </a:r>
            <a:r>
              <a:rPr lang="en-US" altLang="ja-JP" dirty="0"/>
              <a:t>5</a:t>
            </a:r>
            <a:r>
              <a:rPr lang="ja-JP" altLang="en-US" dirty="0"/>
              <a:t>代目の </a:t>
            </a:r>
            <a:r>
              <a:rPr lang="en-US" altLang="ja-JP" dirty="0"/>
              <a:t>RISC</a:t>
            </a:r>
            <a:r>
              <a:rPr lang="ja-JP" altLang="en-US" dirty="0"/>
              <a:t>」という名前</a:t>
            </a:r>
            <a:endParaRPr lang="en-US" altLang="ja-JP" dirty="0"/>
          </a:p>
          <a:p>
            <a:r>
              <a:rPr kumimoji="1" lang="en-US" altLang="ja-JP" dirty="0"/>
              <a:t>x86 </a:t>
            </a:r>
            <a:r>
              <a:rPr kumimoji="1" lang="ja-JP" altLang="en-US" dirty="0"/>
              <a:t>は，登場時はパイプライン化を考えていなかった</a:t>
            </a:r>
            <a:endParaRPr kumimoji="1" lang="en-US" altLang="ja-JP" dirty="0"/>
          </a:p>
          <a:p>
            <a:pPr lvl="1"/>
            <a:r>
              <a:rPr kumimoji="1" lang="ja-JP" altLang="en-US" dirty="0"/>
              <a:t>当時は，小数の命令でたくさんのことができるのが正義</a:t>
            </a:r>
            <a:endParaRPr kumimoji="1" lang="en-US" altLang="ja-JP" dirty="0"/>
          </a:p>
          <a:p>
            <a:pPr lvl="1"/>
            <a:r>
              <a:rPr kumimoji="1" lang="ja-JP" altLang="en-US" dirty="0"/>
              <a:t>しかし，そのままではパイプライン化は困難</a:t>
            </a:r>
            <a:endParaRPr kumimoji="1" lang="en-US" altLang="ja-JP" dirty="0"/>
          </a:p>
          <a:p>
            <a:pPr lvl="1"/>
            <a:r>
              <a:rPr lang="en-US" altLang="ja-JP" dirty="0"/>
              <a:t>CISC</a:t>
            </a:r>
            <a:r>
              <a:rPr lang="ja-JP" altLang="en-US" dirty="0"/>
              <a:t>（</a:t>
            </a:r>
            <a:r>
              <a:rPr lang="en-US" altLang="ja-JP" dirty="0"/>
              <a:t>Complex Instruction Set Computer</a:t>
            </a:r>
            <a:r>
              <a:rPr lang="ja-JP" altLang="en-US" dirty="0"/>
              <a:t>）と呼ばれる</a:t>
            </a:r>
            <a:endParaRPr lang="en-US" altLang="ja-JP" dirty="0"/>
          </a:p>
          <a:p>
            <a:r>
              <a:rPr kumimoji="1" lang="en-US" altLang="ja-JP" dirty="0"/>
              <a:t>ARM </a:t>
            </a:r>
            <a:r>
              <a:rPr kumimoji="1" lang="ja-JP" altLang="en-US" dirty="0"/>
              <a:t>の </a:t>
            </a:r>
            <a:r>
              <a:rPr kumimoji="1" lang="en-US" altLang="ja-JP" dirty="0"/>
              <a:t>R </a:t>
            </a:r>
            <a:r>
              <a:rPr kumimoji="1" lang="ja-JP" altLang="en-US" dirty="0"/>
              <a:t>は </a:t>
            </a:r>
            <a:r>
              <a:rPr kumimoji="1" lang="en-US" altLang="ja-JP" dirty="0"/>
              <a:t>RISC </a:t>
            </a:r>
            <a:r>
              <a:rPr kumimoji="1" lang="ja-JP" altLang="en-US" dirty="0"/>
              <a:t>の </a:t>
            </a:r>
            <a:r>
              <a:rPr kumimoji="1" lang="en-US" altLang="ja-JP" dirty="0"/>
              <a:t>R </a:t>
            </a:r>
            <a:r>
              <a:rPr kumimoji="1" lang="ja-JP" altLang="en-US" dirty="0"/>
              <a:t>なのだが，</a:t>
            </a:r>
            <a:r>
              <a:rPr kumimoji="1" lang="en-US" altLang="ja-JP" dirty="0"/>
              <a:t>ARM </a:t>
            </a:r>
            <a:r>
              <a:rPr kumimoji="1" lang="ja-JP" altLang="en-US" dirty="0"/>
              <a:t>は結構 </a:t>
            </a:r>
            <a:r>
              <a:rPr kumimoji="1" lang="en-US" altLang="ja-JP" dirty="0"/>
              <a:t>CISC </a:t>
            </a:r>
            <a:r>
              <a:rPr kumimoji="1" lang="ja-JP" altLang="en-US" dirty="0"/>
              <a:t>ぽい</a:t>
            </a:r>
            <a:endParaRPr kumimoji="1" lang="en-US" altLang="ja-JP" dirty="0"/>
          </a:p>
          <a:p>
            <a:pPr lvl="1"/>
            <a:r>
              <a:rPr lang="en-US" altLang="ja-JP" dirty="0"/>
              <a:t>ARM</a:t>
            </a:r>
            <a:r>
              <a:rPr lang="ja-JP" altLang="en-US" dirty="0"/>
              <a:t>：</a:t>
            </a:r>
            <a:r>
              <a:rPr lang="en-US" altLang="ja-JP" dirty="0"/>
              <a:t>Advanced RISC Machine</a:t>
            </a:r>
          </a:p>
          <a:p>
            <a:pPr lvl="1"/>
            <a:r>
              <a:rPr lang="ja-JP" altLang="en-US" dirty="0"/>
              <a:t>構造ハザードを凄い勢いで起こす命令が多い</a:t>
            </a:r>
            <a:r>
              <a:rPr lang="en-US" altLang="ja-JP" dirty="0"/>
              <a:t> </a:t>
            </a:r>
            <a:endParaRPr kumimoji="1" lang="en-US" altLang="ja-JP" dirty="0"/>
          </a:p>
        </p:txBody>
      </p:sp>
    </p:spTree>
    <p:extLst>
      <p:ext uri="{BB962C8B-B14F-4D97-AF65-F5344CB8AC3E}">
        <p14:creationId xmlns:p14="http://schemas.microsoft.com/office/powerpoint/2010/main" val="3794194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余談：命令の歴史</a:t>
            </a:r>
          </a:p>
        </p:txBody>
      </p:sp>
      <p:sp>
        <p:nvSpPr>
          <p:cNvPr id="3" name="テキスト プレースホルダー 2"/>
          <p:cNvSpPr>
            <a:spLocks noGrp="1"/>
          </p:cNvSpPr>
          <p:nvPr>
            <p:ph type="body" sz="quarter" idx="10"/>
          </p:nvPr>
        </p:nvSpPr>
        <p:spPr/>
        <p:txBody>
          <a:bodyPr/>
          <a:lstStyle/>
          <a:p>
            <a:r>
              <a:rPr kumimoji="1" lang="ja-JP" altLang="en-US" dirty="0"/>
              <a:t>マイクロ命令への分解により，</a:t>
            </a:r>
            <a:r>
              <a:rPr kumimoji="1" lang="en-US" altLang="ja-JP" dirty="0"/>
              <a:t>x86 </a:t>
            </a:r>
            <a:r>
              <a:rPr kumimoji="1" lang="ja-JP" altLang="en-US" dirty="0"/>
              <a:t>や </a:t>
            </a:r>
            <a:r>
              <a:rPr kumimoji="1" lang="en-US" altLang="ja-JP" dirty="0"/>
              <a:t>ARM </a:t>
            </a:r>
            <a:r>
              <a:rPr kumimoji="1" lang="ja-JP" altLang="en-US" dirty="0"/>
              <a:t>はこの問題を</a:t>
            </a:r>
            <a:br>
              <a:rPr kumimoji="1" lang="en-US" altLang="ja-JP" dirty="0"/>
            </a:br>
            <a:r>
              <a:rPr kumimoji="1" lang="ja-JP" altLang="en-US" dirty="0"/>
              <a:t>（一応）克服</a:t>
            </a:r>
            <a:endParaRPr kumimoji="1" lang="en-US" altLang="ja-JP" dirty="0"/>
          </a:p>
          <a:p>
            <a:pPr lvl="1"/>
            <a:r>
              <a:rPr kumimoji="1" lang="ja-JP" altLang="en-US" dirty="0"/>
              <a:t>回路規模やエネルギーにおける代償は大きい</a:t>
            </a:r>
            <a:endParaRPr kumimoji="1" lang="en-US" altLang="ja-JP" dirty="0"/>
          </a:p>
          <a:p>
            <a:pPr lvl="1"/>
            <a:r>
              <a:rPr kumimoji="1" lang="ja-JP" altLang="en-US" dirty="0"/>
              <a:t>互換性が維持できるので，商業上重要</a:t>
            </a:r>
            <a:endParaRPr kumimoji="1" lang="en-US" altLang="ja-JP" dirty="0"/>
          </a:p>
          <a:p>
            <a:r>
              <a:rPr kumimoji="1" lang="en-US" altLang="ja-JP" dirty="0"/>
              <a:t>x86</a:t>
            </a:r>
            <a:r>
              <a:rPr lang="ja-JP" altLang="en-US" dirty="0"/>
              <a:t> や </a:t>
            </a:r>
            <a:r>
              <a:rPr lang="en-US" altLang="ja-JP" dirty="0"/>
              <a:t>ARM </a:t>
            </a:r>
            <a:r>
              <a:rPr lang="ja-JP" altLang="en-US" dirty="0"/>
              <a:t>は，</a:t>
            </a:r>
            <a:r>
              <a:rPr lang="en-US" altLang="ja-JP" dirty="0"/>
              <a:t>64bit </a:t>
            </a:r>
            <a:r>
              <a:rPr lang="ja-JP" altLang="en-US" dirty="0"/>
              <a:t>バージョンを作る際に命令の内容を</a:t>
            </a:r>
            <a:br>
              <a:rPr lang="en-US" altLang="ja-JP" dirty="0"/>
            </a:br>
            <a:r>
              <a:rPr lang="ja-JP" altLang="en-US" dirty="0"/>
              <a:t>かなり整理した</a:t>
            </a:r>
            <a:endParaRPr lang="en-US" altLang="ja-JP" dirty="0"/>
          </a:p>
          <a:p>
            <a:pPr lvl="1"/>
            <a:r>
              <a:rPr kumimoji="1" lang="ja-JP" altLang="en-US" dirty="0"/>
              <a:t>パイプラインが作りやすくなっている</a:t>
            </a:r>
            <a:endParaRPr kumimoji="1" lang="en-US" altLang="ja-JP" dirty="0"/>
          </a:p>
          <a:p>
            <a:pPr lvl="1"/>
            <a:r>
              <a:rPr kumimoji="1" lang="ja-JP" altLang="en-US" dirty="0"/>
              <a:t>富岳の </a:t>
            </a:r>
            <a:r>
              <a:rPr kumimoji="1" lang="en-US" altLang="ja-JP" dirty="0"/>
              <a:t>A64FX </a:t>
            </a:r>
            <a:r>
              <a:rPr kumimoji="1" lang="ja-JP" altLang="en-US" dirty="0"/>
              <a:t>では </a:t>
            </a:r>
            <a:r>
              <a:rPr kumimoji="1" lang="en-US" altLang="ja-JP" dirty="0"/>
              <a:t>ARM</a:t>
            </a:r>
            <a:r>
              <a:rPr kumimoji="1" lang="ja-JP" altLang="en-US" dirty="0"/>
              <a:t> </a:t>
            </a:r>
            <a:r>
              <a:rPr kumimoji="1" lang="en-US" altLang="ja-JP" dirty="0"/>
              <a:t>32bit </a:t>
            </a:r>
            <a:r>
              <a:rPr kumimoji="1" lang="ja-JP" altLang="en-US" dirty="0"/>
              <a:t>を切り捨てており（多分），</a:t>
            </a:r>
            <a:br>
              <a:rPr kumimoji="1" lang="en-US" altLang="ja-JP" dirty="0"/>
            </a:br>
            <a:r>
              <a:rPr kumimoji="1" lang="ja-JP" altLang="en-US" dirty="0"/>
              <a:t>大分楽になっているはず</a:t>
            </a:r>
          </a:p>
        </p:txBody>
      </p:sp>
    </p:spTree>
    <p:extLst>
      <p:ext uri="{BB962C8B-B14F-4D97-AF65-F5344CB8AC3E}">
        <p14:creationId xmlns:p14="http://schemas.microsoft.com/office/powerpoint/2010/main" val="875431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構造ハザードのまとめ</a:t>
            </a:r>
          </a:p>
        </p:txBody>
      </p:sp>
      <p:sp>
        <p:nvSpPr>
          <p:cNvPr id="3" name="テキスト プレースホルダー 2"/>
          <p:cNvSpPr>
            <a:spLocks noGrp="1"/>
          </p:cNvSpPr>
          <p:nvPr>
            <p:ph type="body" sz="quarter" idx="10"/>
          </p:nvPr>
        </p:nvSpPr>
        <p:spPr/>
        <p:txBody>
          <a:bodyPr/>
          <a:lstStyle/>
          <a:p>
            <a:r>
              <a:rPr lang="ja-JP" altLang="en-US" dirty="0"/>
              <a:t>構造ハザード：ハード資源の不足に起因</a:t>
            </a:r>
            <a:endParaRPr lang="en-US" altLang="ja-JP" dirty="0"/>
          </a:p>
          <a:p>
            <a:r>
              <a:rPr lang="ja-JP" altLang="en-US" dirty="0"/>
              <a:t>解決方法</a:t>
            </a:r>
            <a:endParaRPr lang="en-US" altLang="ja-JP" dirty="0"/>
          </a:p>
          <a:p>
            <a:pPr marL="817200" lvl="1" indent="-457200">
              <a:buFont typeface="+mj-lt"/>
              <a:buAutoNum type="arabicPeriod"/>
            </a:pPr>
            <a:r>
              <a:rPr lang="ja-JP" altLang="en-US" dirty="0"/>
              <a:t>ハードウェアの増強</a:t>
            </a:r>
            <a:endParaRPr lang="en-US" altLang="ja-JP" dirty="0"/>
          </a:p>
          <a:p>
            <a:pPr marL="817200" lvl="1" indent="-457200">
              <a:buFont typeface="+mj-lt"/>
              <a:buAutoNum type="arabicPeriod"/>
            </a:pPr>
            <a:r>
              <a:rPr lang="ja-JP" altLang="en-US" dirty="0"/>
              <a:t>時分割処理</a:t>
            </a:r>
            <a:endParaRPr lang="en-US" altLang="ja-JP" dirty="0"/>
          </a:p>
          <a:p>
            <a:pPr marL="817200" lvl="1" indent="-457200">
              <a:buFont typeface="+mj-lt"/>
              <a:buAutoNum type="arabicPeriod"/>
            </a:pPr>
            <a:r>
              <a:rPr lang="ja-JP" altLang="en-US" dirty="0"/>
              <a:t>マイクロ命令への変換</a:t>
            </a:r>
            <a:endParaRPr lang="en-US" altLang="ja-JP" dirty="0"/>
          </a:p>
          <a:p>
            <a:r>
              <a:rPr kumimoji="1" lang="ja-JP" altLang="en-US" dirty="0"/>
              <a:t>パイプライン・ストール</a:t>
            </a:r>
          </a:p>
        </p:txBody>
      </p:sp>
    </p:spTree>
    <p:extLst>
      <p:ext uri="{BB962C8B-B14F-4D97-AF65-F5344CB8AC3E}">
        <p14:creationId xmlns:p14="http://schemas.microsoft.com/office/powerpoint/2010/main" val="25680168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今日のまとめ</a:t>
            </a:r>
          </a:p>
        </p:txBody>
      </p:sp>
      <p:sp>
        <p:nvSpPr>
          <p:cNvPr id="3" name="テキスト プレースホルダー 2"/>
          <p:cNvSpPr>
            <a:spLocks noGrp="1"/>
          </p:cNvSpPr>
          <p:nvPr>
            <p:ph type="body" sz="quarter" idx="10"/>
          </p:nvPr>
        </p:nvSpPr>
        <p:spPr/>
        <p:txBody>
          <a:bodyPr/>
          <a:lstStyle/>
          <a:p>
            <a:r>
              <a:rPr kumimoji="1" lang="ja-JP" altLang="en-US" dirty="0"/>
              <a:t>パイプライン</a:t>
            </a:r>
            <a:endParaRPr kumimoji="1" lang="en-US" altLang="ja-JP" dirty="0"/>
          </a:p>
          <a:p>
            <a:r>
              <a:rPr kumimoji="1" lang="ja-JP" altLang="en-US" dirty="0"/>
              <a:t>各種のハザードと解消方法</a:t>
            </a:r>
            <a:endParaRPr kumimoji="1" lang="en-US" altLang="ja-JP" dirty="0"/>
          </a:p>
          <a:p>
            <a:pPr lvl="1"/>
            <a:r>
              <a:rPr kumimoji="1" lang="ja-JP" altLang="en-US" dirty="0"/>
              <a:t>構造ハザード</a:t>
            </a:r>
            <a:endParaRPr kumimoji="1" lang="en-US" altLang="ja-JP" dirty="0"/>
          </a:p>
          <a:p>
            <a:pPr lvl="1"/>
            <a:r>
              <a:rPr kumimoji="1" lang="ja-JP" altLang="en-US" dirty="0"/>
              <a:t>非構造ハザード（ここは次回</a:t>
            </a:r>
            <a:endParaRPr kumimoji="1" lang="en-US" altLang="ja-JP" dirty="0"/>
          </a:p>
          <a:p>
            <a:pPr lvl="2"/>
            <a:r>
              <a:rPr kumimoji="1" lang="ja-JP" altLang="en-US" dirty="0"/>
              <a:t>データ・ハザード</a:t>
            </a:r>
            <a:endParaRPr kumimoji="1" lang="en-US" altLang="ja-JP" dirty="0"/>
          </a:p>
          <a:p>
            <a:pPr lvl="2"/>
            <a:r>
              <a:rPr kumimoji="1" lang="ja-JP" altLang="en-US" dirty="0"/>
              <a:t>制御ハザード</a:t>
            </a:r>
            <a:endParaRPr kumimoji="1" lang="en-US" altLang="ja-JP" dirty="0"/>
          </a:p>
          <a:p>
            <a:r>
              <a:rPr kumimoji="1" lang="ja-JP" altLang="en-US"/>
              <a:t>来週は非構造ハザードと分岐予測など</a:t>
            </a:r>
            <a:endParaRPr kumimoji="1" lang="ja-JP" altLang="en-US" dirty="0"/>
          </a:p>
        </p:txBody>
      </p:sp>
    </p:spTree>
    <p:extLst>
      <p:ext uri="{BB962C8B-B14F-4D97-AF65-F5344CB8AC3E}">
        <p14:creationId xmlns:p14="http://schemas.microsoft.com/office/powerpoint/2010/main" val="211698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5"/>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a:t>
            </a:r>
            <a:r>
              <a:rPr lang="en-US" altLang="ja-JP"/>
              <a:t>: </a:t>
            </a:r>
            <a:r>
              <a:rPr lang="ja-JP" altLang="en-US"/>
              <a:t> </a:t>
            </a:r>
            <a:endParaRPr lang="en-US" altLang="ja-JP" dirty="0"/>
          </a:p>
          <a:p>
            <a:r>
              <a:rPr kumimoji="1" lang="ja-JP" altLang="en-US" dirty="0"/>
              <a:t>意見や内容へのリクエストもあったら書いてください</a:t>
            </a:r>
            <a:endParaRPr kumimoji="1" lang="en-US" altLang="ja-JP" dirty="0"/>
          </a:p>
          <a:p>
            <a:r>
              <a:rPr kumimoji="1" lang="en-US" altLang="ja-JP" dirty="0">
                <a:solidFill>
                  <a:schemeClr val="accent5"/>
                </a:solidFill>
              </a:rPr>
              <a:t>LMS </a:t>
            </a:r>
            <a:r>
              <a:rPr kumimoji="1" lang="ja-JP" altLang="en-US" dirty="0">
                <a:solidFill>
                  <a:schemeClr val="accent5"/>
                </a:solidFill>
              </a:rPr>
              <a:t>の出席の締め切りは来週の講義開始までに設定してあります</a:t>
            </a:r>
            <a:endParaRPr kumimoji="1" lang="en-US" altLang="ja-JP" dirty="0">
              <a:solidFill>
                <a:schemeClr val="accent5"/>
              </a:solidFill>
            </a:endParaRPr>
          </a:p>
          <a:p>
            <a:pPr lvl="1"/>
            <a:r>
              <a:rPr kumimoji="1" lang="ja-JP" altLang="en-US" dirty="0"/>
              <a:t>仕様上「遅刻」表示になりますが，特に減点等しません</a:t>
            </a:r>
            <a:endParaRPr kumimoji="1" lang="en-US" altLang="ja-JP" dirty="0"/>
          </a:p>
          <a:p>
            <a:pPr lvl="1"/>
            <a:r>
              <a:rPr kumimoji="1" lang="ja-JP" altLang="en-US" dirty="0"/>
              <a:t>来週の講義開始までは感想や質問などを受け付けます</a:t>
            </a:r>
            <a:endParaRPr kumimoji="1" lang="en-US" altLang="ja-JP" dirty="0"/>
          </a:p>
        </p:txBody>
      </p:sp>
    </p:spTree>
    <p:extLst>
      <p:ext uri="{BB962C8B-B14F-4D97-AF65-F5344CB8AC3E}">
        <p14:creationId xmlns:p14="http://schemas.microsoft.com/office/powerpoint/2010/main" val="1013461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45BA461-EB4B-6344-0363-EBCE1294355D}"/>
              </a:ext>
            </a:extLst>
          </p:cNvPr>
          <p:cNvSpPr>
            <a:spLocks noGrp="1"/>
          </p:cNvSpPr>
          <p:nvPr>
            <p:ph type="ctrTitle"/>
          </p:nvPr>
        </p:nvSpPr>
        <p:spPr>
          <a:xfrm>
            <a:off x="2225957" y="2078985"/>
            <a:ext cx="7920088" cy="540006"/>
          </a:xfrm>
        </p:spPr>
        <p:txBody>
          <a:bodyPr/>
          <a:lstStyle/>
          <a:p>
            <a:r>
              <a:rPr lang="ja-JP" altLang="en-US" dirty="0"/>
              <a:t>質問や感想</a:t>
            </a:r>
            <a:endParaRPr lang="en-US" dirty="0"/>
          </a:p>
        </p:txBody>
      </p:sp>
      <p:sp>
        <p:nvSpPr>
          <p:cNvPr id="5" name="字幕 4">
            <a:extLst>
              <a:ext uri="{FF2B5EF4-FFF2-40B4-BE49-F238E27FC236}">
                <a16:creationId xmlns:a16="http://schemas.microsoft.com/office/drawing/2014/main" id="{ED090A9F-2FB3-DADA-E31B-D2E1712125A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117258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クロックジッターのによる誤差がクロックサイクルに占める割合が大きくなるため、クロック周波数が増加し続けることができない原因でしょうか。</a:t>
            </a:r>
            <a:endParaRPr kumimoji="1" lang="en-US" altLang="ja-JP" dirty="0"/>
          </a:p>
          <a:p>
            <a:pPr lvl="1"/>
            <a:endParaRPr lang="en-US" altLang="ja-JP" dirty="0"/>
          </a:p>
          <a:p>
            <a:pPr lvl="1"/>
            <a:r>
              <a:rPr kumimoji="1" lang="ja-JP" altLang="en-US" dirty="0"/>
              <a:t>電力や熱の制約の方が支配的だと思います</a:t>
            </a:r>
          </a:p>
        </p:txBody>
      </p:sp>
    </p:spTree>
    <p:extLst>
      <p:ext uri="{BB962C8B-B14F-4D97-AF65-F5344CB8AC3E}">
        <p14:creationId xmlns:p14="http://schemas.microsoft.com/office/powerpoint/2010/main" val="3662495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現代の</a:t>
            </a:r>
            <a:r>
              <a:rPr kumimoji="1" lang="en-US" altLang="ja-JP" dirty="0"/>
              <a:t>CPU</a:t>
            </a:r>
            <a:r>
              <a:rPr kumimoji="1" lang="ja-JP" altLang="en-US" dirty="0"/>
              <a:t>はより大きな面積ではなく、より小さなプロセスを優先している、これは消費電力やクロック遅延のためでしょうか。</a:t>
            </a:r>
          </a:p>
          <a:p>
            <a:pPr lvl="1"/>
            <a:endParaRPr kumimoji="1" lang="en-US" altLang="ja-JP" dirty="0"/>
          </a:p>
          <a:p>
            <a:pPr lvl="1"/>
            <a:r>
              <a:rPr kumimoji="1" lang="ja-JP" altLang="en-US" dirty="0"/>
              <a:t>物理的なチップの面積は歩留まりやコストの問題が大きいです</a:t>
            </a:r>
            <a:endParaRPr kumimoji="1" lang="en-US" altLang="ja-JP" dirty="0"/>
          </a:p>
          <a:p>
            <a:pPr lvl="1"/>
            <a:r>
              <a:rPr kumimoji="1" lang="ja-JP" altLang="en-US" dirty="0"/>
              <a:t>論理的な回路量は，プロセスの改良により増えています</a:t>
            </a:r>
          </a:p>
        </p:txBody>
      </p:sp>
    </p:spTree>
    <p:extLst>
      <p:ext uri="{BB962C8B-B14F-4D97-AF65-F5344CB8AC3E}">
        <p14:creationId xmlns:p14="http://schemas.microsoft.com/office/powerpoint/2010/main" val="1220585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自分は研究室でカーボンナノチューブの物性に関する研究を行っています。塩谷先生は「超微細ナノカーボン・プロセッサのアーキテクチャに関する研究」と題して</a:t>
            </a:r>
            <a:r>
              <a:rPr kumimoji="1" lang="en-US" altLang="ja-JP" dirty="0"/>
              <a:t>CNFET</a:t>
            </a:r>
            <a:r>
              <a:rPr kumimoji="1" lang="ja-JP" altLang="en-US" dirty="0"/>
              <a:t>の応用に向けた研究をされていたようですが、授業で紹介された</a:t>
            </a:r>
            <a:r>
              <a:rPr kumimoji="1" lang="en-US" altLang="ja-JP" dirty="0"/>
              <a:t>CMOSFET</a:t>
            </a:r>
            <a:r>
              <a:rPr kumimoji="1" lang="ja-JP" altLang="en-US" dirty="0"/>
              <a:t>と比べてどのような違いがあったのでしょうか？</a:t>
            </a:r>
            <a:endParaRPr kumimoji="1" lang="en-US" altLang="ja-JP" dirty="0"/>
          </a:p>
          <a:p>
            <a:pPr lvl="1"/>
            <a:endParaRPr lang="en-US" altLang="ja-JP" dirty="0"/>
          </a:p>
          <a:p>
            <a:pPr lvl="1"/>
            <a:r>
              <a:rPr kumimoji="1" lang="ja-JP" altLang="en-US" dirty="0"/>
              <a:t>電流の</a:t>
            </a:r>
          </a:p>
        </p:txBody>
      </p:sp>
    </p:spTree>
    <p:extLst>
      <p:ext uri="{BB962C8B-B14F-4D97-AF65-F5344CB8AC3E}">
        <p14:creationId xmlns:p14="http://schemas.microsoft.com/office/powerpoint/2010/main" val="41843242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ノイマン型コンピュータの弱点であるノイマンボトルネックは、メモリと</a:t>
            </a:r>
            <a:r>
              <a:rPr kumimoji="1" lang="en-US" altLang="ja-JP" dirty="0"/>
              <a:t>CPU</a:t>
            </a:r>
            <a:r>
              <a:rPr kumimoji="1" lang="ja-JP" altLang="en-US" dirty="0"/>
              <a:t>をバスで繋ぐという構造上にあると言われていますが、これはバス上を通じて読み書きをしているということが何らかの弱点を生み出しているということでしょうか？</a:t>
            </a:r>
            <a:br>
              <a:rPr kumimoji="1" lang="en-US" altLang="ja-JP" dirty="0"/>
            </a:br>
            <a:endParaRPr kumimoji="1" lang="en-US" altLang="ja-JP" dirty="0"/>
          </a:p>
          <a:p>
            <a:pPr lvl="1"/>
            <a:r>
              <a:rPr kumimoji="1" lang="ja-JP" altLang="en-US" dirty="0"/>
              <a:t>キャッシュとか </a:t>
            </a:r>
            <a:r>
              <a:rPr kumimoji="1" lang="en-US" altLang="ja-JP" dirty="0"/>
              <a:t>SIMD </a:t>
            </a:r>
            <a:r>
              <a:rPr kumimoji="1" lang="ja-JP" altLang="en-US" dirty="0"/>
              <a:t>により既に克服されている</a:t>
            </a:r>
          </a:p>
          <a:p>
            <a:r>
              <a:rPr kumimoji="1" lang="ja-JP" altLang="en-US" dirty="0"/>
              <a:t>また、この弱点を解消する非ノイマン型コンピュータを用いることで消費電力が１万分の１程度になると説明する論文があると以前耳にしたのですが、どのような原理でしょうか？</a:t>
            </a:r>
            <a:endParaRPr lang="en-US" altLang="ja-JP" dirty="0"/>
          </a:p>
          <a:p>
            <a:pPr lvl="1"/>
            <a:endParaRPr kumimoji="1" lang="en-US" altLang="ja-JP" dirty="0"/>
          </a:p>
          <a:p>
            <a:pPr lvl="1"/>
            <a:r>
              <a:rPr kumimoji="1" lang="ja-JP" altLang="en-US" dirty="0"/>
              <a:t>加算や乗算みたいな本質的に必要な演算だけで数割以上はくってるので，非ノイマン型にしても１万分の１には絶対ならない</a:t>
            </a:r>
          </a:p>
        </p:txBody>
      </p:sp>
    </p:spTree>
    <p:extLst>
      <p:ext uri="{BB962C8B-B14F-4D97-AF65-F5344CB8AC3E}">
        <p14:creationId xmlns:p14="http://schemas.microsoft.com/office/powerpoint/2010/main" val="2589322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top500</a:t>
            </a:r>
            <a:r>
              <a:rPr kumimoji="1" lang="ja-JP" altLang="en-US" dirty="0"/>
              <a:t>の上位</a:t>
            </a:r>
            <a:r>
              <a:rPr kumimoji="1" lang="en-US" altLang="ja-JP" dirty="0"/>
              <a:t>10</a:t>
            </a:r>
            <a:r>
              <a:rPr kumimoji="1" lang="ja-JP" altLang="en-US" dirty="0"/>
              <a:t>個あたりを見ると</a:t>
            </a:r>
            <a:r>
              <a:rPr kumimoji="1" lang="en-US" altLang="ja-JP" dirty="0"/>
              <a:t>GPU</a:t>
            </a:r>
            <a:r>
              <a:rPr kumimoji="1" lang="ja-JP" altLang="en-US" dirty="0"/>
              <a:t>を載せたシステムが多い理由が気になっています。ゴリゴリに作り込んだ</a:t>
            </a:r>
            <a:r>
              <a:rPr kumimoji="1" lang="en-US" altLang="ja-JP" dirty="0"/>
              <a:t>ASIC</a:t>
            </a:r>
            <a:r>
              <a:rPr kumimoji="1" lang="ja-JP" altLang="en-US" dirty="0"/>
              <a:t>の方が、制御命令やデータ転送の無駄が少なくなり性能が出るのかなと思っていたのですが、何か別の要素があるのでしょうか？</a:t>
            </a:r>
          </a:p>
          <a:p>
            <a:pPr lvl="1"/>
            <a:endParaRPr kumimoji="1" lang="en-US" altLang="ja-JP" dirty="0"/>
          </a:p>
          <a:p>
            <a:pPr lvl="1"/>
            <a:r>
              <a:rPr kumimoji="1" lang="en-US" altLang="ja-JP" dirty="0"/>
              <a:t>Top500 </a:t>
            </a:r>
            <a:r>
              <a:rPr kumimoji="1" lang="ja-JP" altLang="en-US" dirty="0"/>
              <a:t>のような倍精度 </a:t>
            </a:r>
            <a:r>
              <a:rPr kumimoji="1" lang="en-US" altLang="ja-JP" dirty="0"/>
              <a:t>FP </a:t>
            </a:r>
            <a:r>
              <a:rPr kumimoji="1" lang="ja-JP" altLang="en-US" dirty="0"/>
              <a:t>演算がメインの場合，</a:t>
            </a:r>
            <a:r>
              <a:rPr kumimoji="1" lang="en-US" altLang="ja-JP" dirty="0"/>
              <a:t>SIMD </a:t>
            </a:r>
            <a:r>
              <a:rPr kumimoji="1" lang="ja-JP" altLang="en-US" dirty="0"/>
              <a:t>構造にすることで，それらの無駄は無視できるレベルまで削減できます</a:t>
            </a:r>
            <a:endParaRPr kumimoji="1" lang="en-US" altLang="ja-JP" dirty="0"/>
          </a:p>
        </p:txBody>
      </p:sp>
    </p:spTree>
    <p:extLst>
      <p:ext uri="{BB962C8B-B14F-4D97-AF65-F5344CB8AC3E}">
        <p14:creationId xmlns:p14="http://schemas.microsoft.com/office/powerpoint/2010/main" val="3082442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トランジスタのサイズを</a:t>
            </a:r>
            <a:r>
              <a:rPr kumimoji="1" lang="en-US" altLang="ja-JP" dirty="0"/>
              <a:t>1/K</a:t>
            </a:r>
            <a:r>
              <a:rPr kumimoji="1" lang="ja-JP" altLang="en-US" dirty="0"/>
              <a:t>にスケーリングすると電圧が</a:t>
            </a:r>
            <a:r>
              <a:rPr kumimoji="1" lang="en-US" altLang="ja-JP" dirty="0"/>
              <a:t>1/K</a:t>
            </a:r>
            <a:r>
              <a:rPr kumimoji="1" lang="ja-JP" altLang="en-US" dirty="0"/>
              <a:t>になるのはよく分からなかった</a:t>
            </a:r>
            <a:r>
              <a:rPr kumimoji="1" lang="en-US" altLang="ja-JP" dirty="0"/>
              <a:t>.</a:t>
            </a:r>
          </a:p>
          <a:p>
            <a:pPr lvl="1"/>
            <a:endParaRPr lang="en-US" altLang="ja-JP" dirty="0"/>
          </a:p>
          <a:p>
            <a:pPr lvl="1"/>
            <a:r>
              <a:rPr kumimoji="1" lang="ja-JP" altLang="en-US" dirty="0"/>
              <a:t>電圧が </a:t>
            </a:r>
            <a:r>
              <a:rPr kumimoji="1" lang="en-US" altLang="ja-JP" dirty="0"/>
              <a:t>1/K </a:t>
            </a:r>
            <a:r>
              <a:rPr kumimoji="1" lang="ja-JP" altLang="en-US" dirty="0"/>
              <a:t>に勝手になるのではなく，</a:t>
            </a:r>
            <a:r>
              <a:rPr kumimoji="1" lang="en-US" altLang="ja-JP" dirty="0"/>
              <a:t>1/K </a:t>
            </a:r>
            <a:r>
              <a:rPr kumimoji="1" lang="ja-JP" altLang="en-US" dirty="0"/>
              <a:t>に下げても速度が保ていたのでそうしていたと言う事になります</a:t>
            </a:r>
          </a:p>
        </p:txBody>
      </p:sp>
    </p:spTree>
    <p:extLst>
      <p:ext uri="{BB962C8B-B14F-4D97-AF65-F5344CB8AC3E}">
        <p14:creationId xmlns:p14="http://schemas.microsoft.com/office/powerpoint/2010/main" val="550835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近年自動運転車等でコンピュータの消費電力が重要視されている理由はなぜでしょうか</a:t>
            </a:r>
            <a:endParaRPr kumimoji="1" lang="en-US" altLang="ja-JP" dirty="0"/>
          </a:p>
          <a:p>
            <a:pPr lvl="1"/>
            <a:endParaRPr lang="en-US" altLang="ja-JP" dirty="0"/>
          </a:p>
          <a:p>
            <a:pPr lvl="1"/>
            <a:endParaRPr kumimoji="1" lang="ja-JP" altLang="en-US" dirty="0"/>
          </a:p>
        </p:txBody>
      </p:sp>
    </p:spTree>
    <p:extLst>
      <p:ext uri="{BB962C8B-B14F-4D97-AF65-F5344CB8AC3E}">
        <p14:creationId xmlns:p14="http://schemas.microsoft.com/office/powerpoint/2010/main" val="1942168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でのハードウェア開発について、</a:t>
            </a:r>
            <a:r>
              <a:rPr kumimoji="1" lang="en-US" altLang="ja-JP" dirty="0"/>
              <a:t>FPGA</a:t>
            </a:r>
            <a:r>
              <a:rPr kumimoji="1" lang="ja-JP" altLang="en-US" dirty="0"/>
              <a:t>に適した回路を作るときもかなり開発コスト</a:t>
            </a:r>
            <a:r>
              <a:rPr kumimoji="1" lang="en-US" altLang="ja-JP" dirty="0"/>
              <a:t>(</a:t>
            </a:r>
            <a:r>
              <a:rPr kumimoji="1" lang="ja-JP" altLang="en-US" dirty="0"/>
              <a:t>時間など</a:t>
            </a:r>
            <a:r>
              <a:rPr kumimoji="1" lang="en-US" altLang="ja-JP" dirty="0"/>
              <a:t>)</a:t>
            </a:r>
            <a:r>
              <a:rPr kumimoji="1" lang="ja-JP" altLang="en-US" dirty="0"/>
              <a:t>がかかると聞きますが、実際どのくらい大変なのでしょうか。</a:t>
            </a:r>
          </a:p>
          <a:p>
            <a:endParaRPr kumimoji="1" lang="ja-JP" altLang="en-US" dirty="0"/>
          </a:p>
        </p:txBody>
      </p:sp>
    </p:spTree>
    <p:extLst>
      <p:ext uri="{BB962C8B-B14F-4D97-AF65-F5344CB8AC3E}">
        <p14:creationId xmlns:p14="http://schemas.microsoft.com/office/powerpoint/2010/main" val="1206675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はリアルタイム性が求められるところで使われる印象を抱いていたのですが，直接回路作るより遅延大きいけど，結局並列処理能力（で低遅延になる）と回路の規模感のトレードオフってことですかね？論文読んでみます！</a:t>
            </a:r>
          </a:p>
          <a:p>
            <a:endParaRPr kumimoji="1" lang="ja-JP" altLang="en-US" dirty="0"/>
          </a:p>
        </p:txBody>
      </p:sp>
    </p:spTree>
    <p:extLst>
      <p:ext uri="{BB962C8B-B14F-4D97-AF65-F5344CB8AC3E}">
        <p14:creationId xmlns:p14="http://schemas.microsoft.com/office/powerpoint/2010/main" val="2054179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消費電力の話が面白かったです。ヒーターのように電力を消費して熱に変えているだけなのに情報処理ができるというのはとても興味深いです。</a:t>
            </a:r>
          </a:p>
        </p:txBody>
      </p:sp>
    </p:spTree>
    <p:extLst>
      <p:ext uri="{BB962C8B-B14F-4D97-AF65-F5344CB8AC3E}">
        <p14:creationId xmlns:p14="http://schemas.microsoft.com/office/powerpoint/2010/main" val="365336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高速化をしようとすると結局</a:t>
            </a:r>
            <a:r>
              <a:rPr kumimoji="1" lang="en-US" altLang="ja-JP" dirty="0"/>
              <a:t>LUT</a:t>
            </a:r>
            <a:r>
              <a:rPr kumimoji="1" lang="ja-JP" altLang="en-US" dirty="0"/>
              <a:t>を使うことになるのだなぁと思っていました．別のアルゴリズムの授業で，完全な</a:t>
            </a:r>
            <a:r>
              <a:rPr kumimoji="1" lang="en-US" altLang="ja-JP" dirty="0"/>
              <a:t>LUT</a:t>
            </a:r>
            <a:r>
              <a:rPr kumimoji="1" lang="ja-JP" altLang="en-US" dirty="0"/>
              <a:t>ではなく不完全なものでもそれなりに高速化できることがあると見たので，そのような発想がハードウェアの層にもあるのか気になりました．</a:t>
            </a:r>
          </a:p>
        </p:txBody>
      </p:sp>
    </p:spTree>
    <p:extLst>
      <p:ext uri="{BB962C8B-B14F-4D97-AF65-F5344CB8AC3E}">
        <p14:creationId xmlns:p14="http://schemas.microsoft.com/office/powerpoint/2010/main" val="1708622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半導体業界では</a:t>
            </a:r>
            <a:r>
              <a:rPr kumimoji="1" lang="en-US" altLang="ja-JP" dirty="0"/>
              <a:t>TSMC</a:t>
            </a:r>
            <a:r>
              <a:rPr kumimoji="1" lang="ja-JP" altLang="en-US" dirty="0"/>
              <a:t>の工場建設などが話題です。みてみるとより半導体のサイズを小さくしようとする流れのように思うのですが、ダークシリコンへは到達しないのでしょうか？（半導体業界の進歩とアーキテクチャの進歩の関連があまりよくわかっていないです）</a:t>
            </a:r>
          </a:p>
        </p:txBody>
      </p:sp>
    </p:spTree>
    <p:extLst>
      <p:ext uri="{BB962C8B-B14F-4D97-AF65-F5344CB8AC3E}">
        <p14:creationId xmlns:p14="http://schemas.microsoft.com/office/powerpoint/2010/main" val="2485450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は金融分野でよく使われていると聞きますが、具体的にどういう計算をするのが得意なのか気になりました。</a:t>
            </a:r>
          </a:p>
        </p:txBody>
      </p:sp>
    </p:spTree>
    <p:extLst>
      <p:ext uri="{BB962C8B-B14F-4D97-AF65-F5344CB8AC3E}">
        <p14:creationId xmlns:p14="http://schemas.microsoft.com/office/powerpoint/2010/main" val="1873938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と</a:t>
            </a:r>
            <a:r>
              <a:rPr kumimoji="1" lang="en-US" altLang="ja-JP" dirty="0"/>
              <a:t>ASIC</a:t>
            </a:r>
            <a:r>
              <a:rPr kumimoji="1" lang="ja-JP" altLang="en-US" dirty="0"/>
              <a:t>の速度差をトランジスタ数で考えると大体の差がわかるというのが面白かった（自分はむしろ</a:t>
            </a:r>
            <a:r>
              <a:rPr kumimoji="1" lang="en-US" altLang="ja-JP" dirty="0"/>
              <a:t>20</a:t>
            </a:r>
            <a:r>
              <a:rPr kumimoji="1" lang="ja-JP" altLang="en-US" dirty="0"/>
              <a:t>倍程度の差で済むことに驚いた）</a:t>
            </a:r>
          </a:p>
        </p:txBody>
      </p:sp>
    </p:spTree>
    <p:extLst>
      <p:ext uri="{BB962C8B-B14F-4D97-AF65-F5344CB8AC3E}">
        <p14:creationId xmlns:p14="http://schemas.microsoft.com/office/powerpoint/2010/main" val="14680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また、</a:t>
            </a:r>
            <a:r>
              <a:rPr kumimoji="1" lang="en-US" altLang="ja-JP" dirty="0"/>
              <a:t>MIPS</a:t>
            </a:r>
            <a:r>
              <a:rPr kumimoji="1" lang="ja-JP" altLang="en-US" dirty="0"/>
              <a:t>の制御部分と浮動小数点演算器でこの程度の差しかないのなら、深層学習のために</a:t>
            </a:r>
            <a:r>
              <a:rPr kumimoji="1" lang="en-US" altLang="ja-JP" dirty="0"/>
              <a:t>GPU</a:t>
            </a:r>
            <a:r>
              <a:rPr kumimoji="1" lang="ja-JP" altLang="en-US" dirty="0"/>
              <a:t>の代わりに専用回路を作るみたいな試みは結構難しいのかなと思った。</a:t>
            </a:r>
          </a:p>
          <a:p>
            <a:r>
              <a:rPr kumimoji="1" lang="ja-JP" altLang="en-US" dirty="0"/>
              <a:t>深層学習では推論時には結構低い精度でも行けるみたいな話もあるので、</a:t>
            </a:r>
            <a:r>
              <a:rPr kumimoji="1" lang="en-US" altLang="ja-JP" dirty="0"/>
              <a:t>(</a:t>
            </a:r>
            <a:r>
              <a:rPr kumimoji="1" lang="ja-JP" altLang="en-US" dirty="0"/>
              <a:t>演算精度が低く、回路制御の負担が大きい</a:t>
            </a:r>
            <a:r>
              <a:rPr kumimoji="1" lang="en-US" altLang="ja-JP" dirty="0"/>
              <a:t>)</a:t>
            </a:r>
            <a:r>
              <a:rPr kumimoji="1" lang="ja-JP" altLang="en-US" dirty="0"/>
              <a:t>推論専用チップが</a:t>
            </a:r>
            <a:r>
              <a:rPr kumimoji="1" lang="en-US" altLang="ja-JP" dirty="0"/>
              <a:t>GPU</a:t>
            </a:r>
            <a:r>
              <a:rPr kumimoji="1" lang="ja-JP" altLang="en-US" dirty="0"/>
              <a:t>よりは様々なところで作られているのはそういう理由もあるのかもしれないと考えた。</a:t>
            </a:r>
          </a:p>
        </p:txBody>
      </p:sp>
    </p:spTree>
    <p:extLst>
      <p:ext uri="{BB962C8B-B14F-4D97-AF65-F5344CB8AC3E}">
        <p14:creationId xmlns:p14="http://schemas.microsoft.com/office/powerpoint/2010/main" val="943766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HDL</a:t>
            </a:r>
            <a:r>
              <a:rPr kumimoji="1" lang="ja-JP" altLang="en-US" dirty="0"/>
              <a:t>で回路を記述するとき、入力の数は自由に設定できるため必要な真理値表のサイズは固定ではないと思うのですが、書き出しのたびに</a:t>
            </a:r>
            <a:r>
              <a:rPr kumimoji="1" lang="en-US" altLang="ja-JP" dirty="0"/>
              <a:t>LUT</a:t>
            </a:r>
            <a:r>
              <a:rPr kumimoji="1" lang="ja-JP" altLang="en-US" dirty="0"/>
              <a:t>の回路を動的に構成しているのでしょうか。あるいは、</a:t>
            </a:r>
            <a:r>
              <a:rPr kumimoji="1" lang="en-US" altLang="ja-JP" dirty="0"/>
              <a:t>FPGA</a:t>
            </a:r>
            <a:r>
              <a:rPr kumimoji="1" lang="ja-JP" altLang="en-US" dirty="0"/>
              <a:t>の内部に（例えば）サイズ </a:t>
            </a:r>
            <a:r>
              <a:rPr kumimoji="1" lang="en-US" altLang="ja-JP" dirty="0"/>
              <a:t>4</a:t>
            </a:r>
            <a:r>
              <a:rPr kumimoji="1" lang="ja-JP" altLang="en-US" dirty="0"/>
              <a:t>の</a:t>
            </a:r>
            <a:r>
              <a:rPr kumimoji="1" lang="en-US" altLang="ja-JP" dirty="0"/>
              <a:t>LUT</a:t>
            </a:r>
            <a:r>
              <a:rPr kumimoji="1" lang="ja-JP" altLang="en-US" dirty="0"/>
              <a:t>のモジュールがたくさんあり、書き出される回路が複雑な場合、複数のモジュールが協調して所望の真理値表を構成するのでしょうか。</a:t>
            </a:r>
          </a:p>
        </p:txBody>
      </p:sp>
    </p:spTree>
    <p:extLst>
      <p:ext uri="{BB962C8B-B14F-4D97-AF65-F5344CB8AC3E}">
        <p14:creationId xmlns:p14="http://schemas.microsoft.com/office/powerpoint/2010/main" val="42835977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ja-JP" altLang="en-US" dirty="0"/>
              <a:t>消費電力がマシンを設計する上で、重要な考慮点であることはわかるが、具体的にはどのような値の消費電力に抑えるのか、またスパコンではどのぐらいの消費電力になるように設計するのかが気になった。</a:t>
            </a:r>
          </a:p>
        </p:txBody>
      </p:sp>
    </p:spTree>
    <p:extLst>
      <p:ext uri="{BB962C8B-B14F-4D97-AF65-F5344CB8AC3E}">
        <p14:creationId xmlns:p14="http://schemas.microsoft.com/office/powerpoint/2010/main" val="1030535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FPGA</a:t>
            </a:r>
            <a:r>
              <a:rPr kumimoji="1" lang="ja-JP" altLang="en-US" dirty="0"/>
              <a:t>の回路のオーバーヘッドについて、基本となる回路素子</a:t>
            </a:r>
            <a:r>
              <a:rPr kumimoji="1" lang="en-US" altLang="ja-JP" dirty="0"/>
              <a:t>(AND/OR</a:t>
            </a:r>
            <a:r>
              <a:rPr kumimoji="1" lang="ja-JP" altLang="en-US" dirty="0"/>
              <a:t>等</a:t>
            </a:r>
            <a:r>
              <a:rPr kumimoji="1" lang="en-US" altLang="ja-JP" dirty="0"/>
              <a:t>)</a:t>
            </a:r>
            <a:r>
              <a:rPr kumimoji="1" lang="ja-JP" altLang="en-US" dirty="0"/>
              <a:t>についても組み込みのものを配線することで利用すればいいと考えてしまったが、むしろマルチプレクサを必要としてしまうので、なかなか単純にはいかないものだと考え直した。</a:t>
            </a:r>
          </a:p>
          <a:p>
            <a:endParaRPr kumimoji="1" lang="ja-JP" altLang="en-US" dirty="0"/>
          </a:p>
        </p:txBody>
      </p:sp>
    </p:spTree>
    <p:extLst>
      <p:ext uri="{BB962C8B-B14F-4D97-AF65-F5344CB8AC3E}">
        <p14:creationId xmlns:p14="http://schemas.microsoft.com/office/powerpoint/2010/main" val="1688462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Snapdragon 888 SoC</a:t>
            </a:r>
            <a:r>
              <a:rPr kumimoji="1" lang="ja-JP" altLang="en-US" dirty="0"/>
              <a:t>のより多く発熱の原因は製造プロセスのせいで、リーク電流が多く発生すると言われていて、授業資料の話とやや異なるけど、実際そうでしょうか？</a:t>
            </a:r>
          </a:p>
        </p:txBody>
      </p:sp>
    </p:spTree>
    <p:extLst>
      <p:ext uri="{BB962C8B-B14F-4D97-AF65-F5344CB8AC3E}">
        <p14:creationId xmlns:p14="http://schemas.microsoft.com/office/powerpoint/2010/main" val="1784175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質問とか回答など</a:t>
            </a:r>
          </a:p>
        </p:txBody>
      </p:sp>
      <p:sp>
        <p:nvSpPr>
          <p:cNvPr id="3" name="テキスト プレースホルダー 2"/>
          <p:cNvSpPr>
            <a:spLocks noGrp="1"/>
          </p:cNvSpPr>
          <p:nvPr>
            <p:ph type="body" sz="quarter" idx="10"/>
          </p:nvPr>
        </p:nvSpPr>
        <p:spPr/>
        <p:txBody>
          <a:bodyPr/>
          <a:lstStyle/>
          <a:p>
            <a:r>
              <a:rPr kumimoji="1" lang="en-US" altLang="ja-JP" dirty="0"/>
              <a:t>AVX512</a:t>
            </a:r>
            <a:r>
              <a:rPr kumimoji="1" lang="ja-JP" altLang="en-US" dirty="0"/>
              <a:t>の消費電力が多いのは、主の原因は該当する部分の回路の規模が大きいですか？</a:t>
            </a:r>
          </a:p>
        </p:txBody>
      </p:sp>
    </p:spTree>
    <p:extLst>
      <p:ext uri="{BB962C8B-B14F-4D97-AF65-F5344CB8AC3E}">
        <p14:creationId xmlns:p14="http://schemas.microsoft.com/office/powerpoint/2010/main" val="2101120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8064A2"/>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cerulean</Template>
  <TotalTime>59631</TotalTime>
  <Words>5441</Words>
  <Application>Microsoft Office PowerPoint</Application>
  <PresentationFormat>ワイド画面</PresentationFormat>
  <Paragraphs>924</Paragraphs>
  <Slides>91</Slides>
  <Notes>6</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91</vt:i4>
      </vt:variant>
    </vt:vector>
  </HeadingPairs>
  <TitlesOfParts>
    <vt:vector size="103" baseType="lpstr">
      <vt:lpstr>HG丸ｺﾞｼｯｸM-PRO</vt:lpstr>
      <vt:lpstr>MeiryoKe_PGothic</vt:lpstr>
      <vt:lpstr>ＭＳ Ｐゴシック</vt:lpstr>
      <vt:lpstr>メイリオ</vt:lpstr>
      <vt:lpstr>Arial Narrow</vt:lpstr>
      <vt:lpstr>Calibri</vt:lpstr>
      <vt:lpstr>Consolas</vt:lpstr>
      <vt:lpstr>Courier New</vt:lpstr>
      <vt:lpstr>Segoe UI</vt:lpstr>
      <vt:lpstr>Times New Roman</vt:lpstr>
      <vt:lpstr>Wingdings</vt:lpstr>
      <vt:lpstr>cerulean</vt:lpstr>
      <vt:lpstr>先進計算機構成論 04</vt:lpstr>
      <vt:lpstr>命令パイプライン</vt:lpstr>
      <vt:lpstr>今日の内容：命令パイプライン</vt:lpstr>
      <vt:lpstr>導入：工場のラインを考える</vt:lpstr>
      <vt:lpstr>導入：工場のラインを考える</vt:lpstr>
      <vt:lpstr>パイプライン化による性能向上</vt:lpstr>
      <vt:lpstr>シングル・サイクル・プロセッサの動作</vt:lpstr>
      <vt:lpstr>もくじ</vt:lpstr>
      <vt:lpstr>ベースとなるシングル・サイクル・プロセッサ</vt:lpstr>
      <vt:lpstr>命令の実行フェーズ</vt:lpstr>
      <vt:lpstr>命令フェッチ</vt:lpstr>
      <vt:lpstr>命令デコード</vt:lpstr>
      <vt:lpstr>レジスタ読み出し</vt:lpstr>
      <vt:lpstr>実行</vt:lpstr>
      <vt:lpstr>レジスタ書き戻し</vt:lpstr>
      <vt:lpstr>ロードの場合：メモリ・アクセスが加わる</vt:lpstr>
      <vt:lpstr>各処理は基本的には左から右に流れる</vt:lpstr>
      <vt:lpstr>パイプライン化</vt:lpstr>
      <vt:lpstr>もくじ</vt:lpstr>
      <vt:lpstr>パイプライン化</vt:lpstr>
      <vt:lpstr>命令パイプラインの実行の様子</vt:lpstr>
      <vt:lpstr>パイプライン・チャートの見方 ここから先で多用されるので重要</vt:lpstr>
      <vt:lpstr>パイプライン化による性能（スループット）向上</vt:lpstr>
      <vt:lpstr>余談：実際の CPU を実行した場合のパイプライン</vt:lpstr>
      <vt:lpstr>パイプライン化の効果</vt:lpstr>
      <vt:lpstr>ステージを「どこで」切るか</vt:lpstr>
      <vt:lpstr>ステージを「どこで」切るか</vt:lpstr>
      <vt:lpstr>ステージを「どうやって」切るか</vt:lpstr>
      <vt:lpstr>パイプライン化（オーバーラップ）の実現方法</vt:lpstr>
      <vt:lpstr>余談：非同期回路やウェーブ・パイプライン</vt:lpstr>
      <vt:lpstr>ハザード</vt:lpstr>
      <vt:lpstr>もくじ</vt:lpstr>
      <vt:lpstr>ハザード</vt:lpstr>
      <vt:lpstr>構造ハザード</vt:lpstr>
      <vt:lpstr>構造ハザードの例１：メモリ間 mov</vt:lpstr>
      <vt:lpstr>mov [rs1]→[rs2] // [rs1]→[rs2] へのコピー</vt:lpstr>
      <vt:lpstr>構造ハザードの例２：push/pop</vt:lpstr>
      <vt:lpstr>pop：[rs1]→rd, rs1+1→rs1</vt:lpstr>
      <vt:lpstr>構造ハザードの例３</vt:lpstr>
      <vt:lpstr>構造ハザードの例３</vt:lpstr>
      <vt:lpstr>ld_inc [rs1]+1→rd  と add が連続した場合</vt:lpstr>
      <vt:lpstr>構造ハザードの解決方法</vt:lpstr>
      <vt:lpstr>解決方法１：ハードウェアの増強</vt:lpstr>
      <vt:lpstr>解決方法１：ハードウェアの増強</vt:lpstr>
      <vt:lpstr>ARM（32ビット）の Load/Store Multiple (LDM/STM) 命令 ビットマスクで指定した最大16個のレジスタへのロードストアを行う 関数呼び出し/復帰の際の，レジスタの保存や復帰でよく使われる</vt:lpstr>
      <vt:lpstr>構造ハザードの解決方法</vt:lpstr>
      <vt:lpstr>解決方法２：時分割で処理</vt:lpstr>
      <vt:lpstr>なぜパイプラインを止めるのか</vt:lpstr>
      <vt:lpstr>パイプラインを止めること</vt:lpstr>
      <vt:lpstr>ストールの動作</vt:lpstr>
      <vt:lpstr>ストールの実現方法</vt:lpstr>
      <vt:lpstr>WE つき D-FF の実現方法</vt:lpstr>
      <vt:lpstr>構造ハザードの解決方法</vt:lpstr>
      <vt:lpstr>解決方法３：マイクロ命令への変換</vt:lpstr>
      <vt:lpstr>マイクロ命令への変換の例</vt:lpstr>
      <vt:lpstr>マイクロ命令の分解の例</vt:lpstr>
      <vt:lpstr>時分割処理とマイクロ命令への分解の比較 I4 が終わる時間は変わらない</vt:lpstr>
      <vt:lpstr>マイクロ命令への分解の利点</vt:lpstr>
      <vt:lpstr>マイクロ命令への分解の利点</vt:lpstr>
      <vt:lpstr>マイクロ命令への分解の欠点</vt:lpstr>
      <vt:lpstr>AMD Bulldozer のチップ写真</vt:lpstr>
      <vt:lpstr>ARM Cortex-A15 の消費電力の割合</vt:lpstr>
      <vt:lpstr>マイクロ命令への分解の他の利点</vt:lpstr>
      <vt:lpstr>インテルの Core シリーズのエラッタのリスト 地味に結構バグってる</vt:lpstr>
      <vt:lpstr> Windows Update でこっそり更新されていたりもする </vt:lpstr>
      <vt:lpstr>余談：命令の歴史</vt:lpstr>
      <vt:lpstr>余談：命令の歴史</vt:lpstr>
      <vt:lpstr>構造ハザードのまとめ</vt:lpstr>
      <vt:lpstr>今日のまとめ</vt:lpstr>
      <vt:lpstr>出欠と感想</vt:lpstr>
      <vt:lpstr>質問や感想</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lpstr>質問とか回答など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11896</cp:revision>
  <cp:lastPrinted>2014-12-10T13:40:48Z</cp:lastPrinted>
  <dcterms:created xsi:type="dcterms:W3CDTF">2014-11-17T10:53:59Z</dcterms:created>
  <dcterms:modified xsi:type="dcterms:W3CDTF">2026-05-18T05:52:03Z</dcterms:modified>
</cp:coreProperties>
</file>