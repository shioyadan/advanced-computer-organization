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1"/>
  </p:sldMasterIdLst>
  <p:notesMasterIdLst>
    <p:notesMasterId r:id="rId105"/>
  </p:notesMasterIdLst>
  <p:sldIdLst>
    <p:sldId id="440" r:id="rId2"/>
    <p:sldId id="351" r:id="rId3"/>
    <p:sldId id="352" r:id="rId4"/>
    <p:sldId id="442" r:id="rId5"/>
    <p:sldId id="441" r:id="rId6"/>
    <p:sldId id="264" r:id="rId7"/>
    <p:sldId id="371" r:id="rId8"/>
    <p:sldId id="356" r:id="rId9"/>
    <p:sldId id="357" r:id="rId10"/>
    <p:sldId id="353" r:id="rId11"/>
    <p:sldId id="354" r:id="rId12"/>
    <p:sldId id="355" r:id="rId13"/>
    <p:sldId id="359" r:id="rId14"/>
    <p:sldId id="369" r:id="rId15"/>
    <p:sldId id="372" r:id="rId16"/>
    <p:sldId id="380" r:id="rId17"/>
    <p:sldId id="379" r:id="rId18"/>
    <p:sldId id="358" r:id="rId19"/>
    <p:sldId id="378" r:id="rId20"/>
    <p:sldId id="461" r:id="rId21"/>
    <p:sldId id="381" r:id="rId22"/>
    <p:sldId id="449" r:id="rId23"/>
    <p:sldId id="444" r:id="rId24"/>
    <p:sldId id="445" r:id="rId25"/>
    <p:sldId id="446" r:id="rId26"/>
    <p:sldId id="447" r:id="rId27"/>
    <p:sldId id="448" r:id="rId28"/>
    <p:sldId id="453" r:id="rId29"/>
    <p:sldId id="455" r:id="rId30"/>
    <p:sldId id="456" r:id="rId31"/>
    <p:sldId id="452" r:id="rId32"/>
    <p:sldId id="363" r:id="rId33"/>
    <p:sldId id="382" r:id="rId34"/>
    <p:sldId id="364" r:id="rId35"/>
    <p:sldId id="383" r:id="rId36"/>
    <p:sldId id="457" r:id="rId37"/>
    <p:sldId id="451" r:id="rId38"/>
    <p:sldId id="384" r:id="rId39"/>
    <p:sldId id="832" r:id="rId40"/>
    <p:sldId id="385" r:id="rId41"/>
    <p:sldId id="458" r:id="rId42"/>
    <p:sldId id="741" r:id="rId43"/>
    <p:sldId id="744" r:id="rId44"/>
    <p:sldId id="460" r:id="rId45"/>
    <p:sldId id="721" r:id="rId46"/>
    <p:sldId id="745" r:id="rId47"/>
    <p:sldId id="746" r:id="rId48"/>
    <p:sldId id="747" r:id="rId49"/>
    <p:sldId id="748" r:id="rId50"/>
    <p:sldId id="749" r:id="rId51"/>
    <p:sldId id="750" r:id="rId52"/>
    <p:sldId id="751" r:id="rId53"/>
    <p:sldId id="780" r:id="rId54"/>
    <p:sldId id="825" r:id="rId55"/>
    <p:sldId id="787" r:id="rId56"/>
    <p:sldId id="789" r:id="rId57"/>
    <p:sldId id="792" r:id="rId58"/>
    <p:sldId id="793" r:id="rId59"/>
    <p:sldId id="794" r:id="rId60"/>
    <p:sldId id="795" r:id="rId61"/>
    <p:sldId id="790" r:id="rId62"/>
    <p:sldId id="796" r:id="rId63"/>
    <p:sldId id="473" r:id="rId64"/>
    <p:sldId id="274" r:id="rId65"/>
    <p:sldId id="804" r:id="rId66"/>
    <p:sldId id="800" r:id="rId67"/>
    <p:sldId id="801" r:id="rId68"/>
    <p:sldId id="803" r:id="rId69"/>
    <p:sldId id="454" r:id="rId70"/>
    <p:sldId id="805" r:id="rId71"/>
    <p:sldId id="483" r:id="rId72"/>
    <p:sldId id="484" r:id="rId73"/>
    <p:sldId id="829" r:id="rId74"/>
    <p:sldId id="830" r:id="rId75"/>
    <p:sldId id="459" r:id="rId76"/>
    <p:sldId id="632" r:id="rId77"/>
    <p:sldId id="806" r:id="rId78"/>
    <p:sldId id="472" r:id="rId79"/>
    <p:sldId id="366" r:id="rId80"/>
    <p:sldId id="474" r:id="rId81"/>
    <p:sldId id="478" r:id="rId82"/>
    <p:sldId id="477" r:id="rId83"/>
    <p:sldId id="476" r:id="rId84"/>
    <p:sldId id="386" r:id="rId85"/>
    <p:sldId id="487" r:id="rId86"/>
    <p:sldId id="831" r:id="rId87"/>
    <p:sldId id="524" r:id="rId88"/>
    <p:sldId id="517" r:id="rId89"/>
    <p:sldId id="833" r:id="rId90"/>
    <p:sldId id="834" r:id="rId91"/>
    <p:sldId id="835" r:id="rId92"/>
    <p:sldId id="836" r:id="rId93"/>
    <p:sldId id="837" r:id="rId94"/>
    <p:sldId id="838" r:id="rId95"/>
    <p:sldId id="839" r:id="rId96"/>
    <p:sldId id="840" r:id="rId97"/>
    <p:sldId id="841" r:id="rId98"/>
    <p:sldId id="842" r:id="rId99"/>
    <p:sldId id="843" r:id="rId100"/>
    <p:sldId id="844" r:id="rId101"/>
    <p:sldId id="847" r:id="rId102"/>
    <p:sldId id="848" r:id="rId103"/>
    <p:sldId id="849" r:id="rId10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99"/>
    <a:srgbClr val="009999"/>
    <a:srgbClr val="FFFFFF"/>
    <a:srgbClr val="31869D"/>
    <a:srgbClr val="4444E8"/>
    <a:srgbClr val="4E4EF6"/>
    <a:srgbClr val="5555FF"/>
    <a:srgbClr val="4141FF"/>
    <a:srgbClr val="6666FF"/>
    <a:srgbClr val="2525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93" autoAdjust="0"/>
    <p:restoredTop sz="91397" autoAdjust="0"/>
  </p:normalViewPr>
  <p:slideViewPr>
    <p:cSldViewPr>
      <p:cViewPr varScale="1">
        <p:scale>
          <a:sx n="161" d="100"/>
          <a:sy n="161" d="100"/>
        </p:scale>
        <p:origin x="268" y="88"/>
      </p:cViewPr>
      <p:guideLst>
        <p:guide orient="horz" pos="2160"/>
        <p:guide pos="3840"/>
      </p:guideLst>
    </p:cSldViewPr>
  </p:slideViewPr>
  <p:outlineViewPr>
    <p:cViewPr>
      <p:scale>
        <a:sx n="33" d="100"/>
        <a:sy n="33" d="100"/>
      </p:scale>
      <p:origin x="0" y="-22210"/>
    </p:cViewPr>
  </p:outlineViewPr>
  <p:notesTextViewPr>
    <p:cViewPr>
      <p:scale>
        <a:sx n="3" d="2"/>
        <a:sy n="3" d="2"/>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2026/5/11</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2</a:t>
            </a:fld>
            <a:endParaRPr kumimoji="1" lang="ja-JP" altLang="en-US"/>
          </a:p>
        </p:txBody>
      </p:sp>
    </p:spTree>
    <p:extLst>
      <p:ext uri="{BB962C8B-B14F-4D97-AF65-F5344CB8AC3E}">
        <p14:creationId xmlns:p14="http://schemas.microsoft.com/office/powerpoint/2010/main" val="3757948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3</a:t>
            </a:fld>
            <a:endParaRPr kumimoji="1" lang="ja-JP" altLang="en-US"/>
          </a:p>
        </p:txBody>
      </p:sp>
    </p:spTree>
    <p:extLst>
      <p:ext uri="{BB962C8B-B14F-4D97-AF65-F5344CB8AC3E}">
        <p14:creationId xmlns:p14="http://schemas.microsoft.com/office/powerpoint/2010/main" val="3697836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604EF3-5C7D-4D85-9999-033EF01FAD76}" type="slidenum">
              <a:rPr lang="en-US" altLang="ja-JP"/>
              <a:pPr/>
              <a:t>13</a:t>
            </a:fld>
            <a:endParaRPr lang="en-US" altLang="ja-JP"/>
          </a:p>
        </p:txBody>
      </p:sp>
      <p:sp>
        <p:nvSpPr>
          <p:cNvPr id="476162" name="Rectangle 2"/>
          <p:cNvSpPr>
            <a:spLocks noGrp="1" noRot="1" noChangeAspect="1" noChangeArrowheads="1" noTextEdit="1"/>
          </p:cNvSpPr>
          <p:nvPr>
            <p:ph type="sldImg"/>
          </p:nvPr>
        </p:nvSpPr>
        <p:spPr>
          <a:xfrm>
            <a:off x="-50800" y="161925"/>
            <a:ext cx="6959600" cy="3914775"/>
          </a:xfrm>
          <a:ln/>
        </p:spPr>
      </p:sp>
      <p:sp>
        <p:nvSpPr>
          <p:cNvPr id="476163"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1518508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879E0F-6B73-4EF4-851E-289B8D795FF2}" type="slidenum">
              <a:rPr lang="en-US" altLang="ja-JP"/>
              <a:pPr/>
              <a:t>28</a:t>
            </a:fld>
            <a:endParaRPr lang="en-US" altLang="ja-JP"/>
          </a:p>
        </p:txBody>
      </p:sp>
      <p:sp>
        <p:nvSpPr>
          <p:cNvPr id="717826" name="Rectangle 2"/>
          <p:cNvSpPr>
            <a:spLocks noGrp="1" noRot="1" noChangeAspect="1" noChangeArrowheads="1" noTextEdit="1"/>
          </p:cNvSpPr>
          <p:nvPr>
            <p:ph type="sldImg"/>
          </p:nvPr>
        </p:nvSpPr>
        <p:spPr>
          <a:xfrm>
            <a:off x="-50800" y="161925"/>
            <a:ext cx="6959600" cy="3914775"/>
          </a:xfrm>
          <a:ln/>
        </p:spPr>
      </p:sp>
      <p:sp>
        <p:nvSpPr>
          <p:cNvPr id="717827"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2929783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29</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875607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30</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3831131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55F7E7B6-97A1-4C8F-A8C0-76121E6C1AAA}" type="slidenum">
              <a:rPr kumimoji="1" lang="ja-JP" altLang="en-US" smtClean="0"/>
              <a:t>36</a:t>
            </a:fld>
            <a:endParaRPr kumimoji="1" lang="ja-JP" altLang="en-US"/>
          </a:p>
        </p:txBody>
      </p:sp>
    </p:spTree>
    <p:extLst>
      <p:ext uri="{BB962C8B-B14F-4D97-AF65-F5344CB8AC3E}">
        <p14:creationId xmlns:p14="http://schemas.microsoft.com/office/powerpoint/2010/main" val="415491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45</a:t>
            </a:fld>
            <a:endParaRPr lang="en-US" altLang="ja-JP"/>
          </a:p>
        </p:txBody>
      </p:sp>
    </p:spTree>
    <p:extLst>
      <p:ext uri="{BB962C8B-B14F-4D97-AF65-F5344CB8AC3E}">
        <p14:creationId xmlns:p14="http://schemas.microsoft.com/office/powerpoint/2010/main" val="470677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46</a:t>
            </a:fld>
            <a:endParaRPr lang="en-US" altLang="ja-JP"/>
          </a:p>
        </p:txBody>
      </p:sp>
    </p:spTree>
    <p:extLst>
      <p:ext uri="{BB962C8B-B14F-4D97-AF65-F5344CB8AC3E}">
        <p14:creationId xmlns:p14="http://schemas.microsoft.com/office/powerpoint/2010/main" val="3418180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47</a:t>
            </a:fld>
            <a:endParaRPr lang="en-US" altLang="ja-JP"/>
          </a:p>
        </p:txBody>
      </p:sp>
    </p:spTree>
    <p:extLst>
      <p:ext uri="{BB962C8B-B14F-4D97-AF65-F5344CB8AC3E}">
        <p14:creationId xmlns:p14="http://schemas.microsoft.com/office/powerpoint/2010/main" val="513406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r>
              <a:rPr kumimoji="1" lang="ja-JP" altLang="en-US" dirty="0"/>
              <a:t>現在の </a:t>
            </a:r>
            <a:r>
              <a:rPr kumimoji="1" lang="en-US" altLang="ja-JP" dirty="0"/>
              <a:t>CPU </a:t>
            </a:r>
            <a:r>
              <a:rPr kumimoji="1" lang="ja-JP" altLang="en-US" dirty="0"/>
              <a:t>は一般に </a:t>
            </a:r>
            <a:r>
              <a:rPr kumimoji="1" lang="en-US" altLang="ja-JP" dirty="0"/>
              <a:t>CMOS </a:t>
            </a:r>
            <a:r>
              <a:rPr kumimoji="1" lang="ja-JP" altLang="en-US" dirty="0"/>
              <a:t>ゲートというものでできているのですが，</a:t>
            </a:r>
            <a:endParaRPr kumimoji="1" lang="en-US" altLang="ja-JP" dirty="0"/>
          </a:p>
          <a:p>
            <a:r>
              <a:rPr kumimoji="1" lang="ja-JP" altLang="en-US" dirty="0"/>
              <a:t>おもいっきり細かいことを省くと，</a:t>
            </a:r>
            <a:endParaRPr kumimoji="1" lang="en-US" altLang="ja-JP" dirty="0"/>
          </a:p>
          <a:p>
            <a:endParaRPr kumimoji="1" lang="en-US" altLang="ja-JP" dirty="0"/>
          </a:p>
          <a:p>
            <a:r>
              <a:rPr kumimoji="1" lang="ja-JP" altLang="en-US" dirty="0"/>
              <a:t>これは入力にコンデンサがついていて，</a:t>
            </a:r>
            <a:endParaRPr kumimoji="1" lang="en-US" altLang="ja-JP" dirty="0"/>
          </a:p>
          <a:p>
            <a:r>
              <a:rPr kumimoji="1" lang="ja-JP" altLang="en-US" dirty="0"/>
              <a:t>これに連動して動くスイッチが出力を決めるものとなっています．</a:t>
            </a:r>
            <a:endParaRPr kumimoji="1" lang="en-US" altLang="ja-JP" dirty="0"/>
          </a:p>
          <a:p>
            <a:endParaRPr kumimoji="1" lang="en-US" altLang="ja-JP" dirty="0"/>
          </a:p>
          <a:p>
            <a:r>
              <a:rPr kumimoji="1" lang="ja-JP" altLang="en-US" dirty="0"/>
              <a:t>たとえば </a:t>
            </a:r>
            <a:r>
              <a:rPr kumimoji="1" lang="en-US" altLang="ja-JP" dirty="0"/>
              <a:t>NOT </a:t>
            </a:r>
            <a:r>
              <a:rPr kumimoji="1" lang="ja-JP" altLang="en-US" dirty="0"/>
              <a:t>ゲートは，入力に高電位がかかると，</a:t>
            </a:r>
            <a:endParaRPr kumimoji="1" lang="en-US" altLang="ja-JP" dirty="0"/>
          </a:p>
          <a:p>
            <a:r>
              <a:rPr kumimoji="1" lang="ja-JP" altLang="en-US" dirty="0"/>
              <a:t>下のスイッチが </a:t>
            </a:r>
            <a:r>
              <a:rPr kumimoji="1" lang="en-US" altLang="ja-JP" dirty="0"/>
              <a:t>ON </a:t>
            </a:r>
            <a:r>
              <a:rPr kumimoji="1" lang="ja-JP" altLang="en-US" dirty="0"/>
              <a:t>になって，出力がグラウンドに</a:t>
            </a:r>
            <a:endParaRPr kumimoji="1" lang="en-US" altLang="ja-JP" dirty="0"/>
          </a:p>
          <a:p>
            <a:r>
              <a:rPr kumimoji="1" lang="ja-JP" altLang="en-US" dirty="0"/>
              <a:t>つながるので低電位になって </a:t>
            </a:r>
            <a:r>
              <a:rPr kumimoji="1" lang="en-US" altLang="ja-JP" dirty="0"/>
              <a:t>NOT </a:t>
            </a:r>
            <a:r>
              <a:rPr kumimoji="1" lang="ja-JP" altLang="en-US" dirty="0"/>
              <a:t>回路ができると．</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64</a:t>
            </a:fld>
            <a:endParaRPr kumimoji="1" lang="ja-JP" altLang="en-US"/>
          </a:p>
        </p:txBody>
      </p:sp>
    </p:spTree>
    <p:extLst>
      <p:ext uri="{BB962C8B-B14F-4D97-AF65-F5344CB8AC3E}">
        <p14:creationId xmlns:p14="http://schemas.microsoft.com/office/powerpoint/2010/main" val="499314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r>
              <a:rPr kumimoji="1" lang="ja-JP" altLang="en-US" dirty="0"/>
              <a:t>現在の </a:t>
            </a:r>
            <a:r>
              <a:rPr kumimoji="1" lang="en-US" altLang="ja-JP" dirty="0"/>
              <a:t>CPU </a:t>
            </a:r>
            <a:r>
              <a:rPr kumimoji="1" lang="ja-JP" altLang="en-US" dirty="0"/>
              <a:t>は一般に </a:t>
            </a:r>
            <a:r>
              <a:rPr kumimoji="1" lang="en-US" altLang="ja-JP" dirty="0"/>
              <a:t>CMOS </a:t>
            </a:r>
            <a:r>
              <a:rPr kumimoji="1" lang="ja-JP" altLang="en-US" dirty="0"/>
              <a:t>ゲートというものでできているのですが，</a:t>
            </a:r>
            <a:endParaRPr kumimoji="1" lang="en-US" altLang="ja-JP" dirty="0"/>
          </a:p>
          <a:p>
            <a:r>
              <a:rPr kumimoji="1" lang="ja-JP" altLang="en-US" dirty="0"/>
              <a:t>おもいっきり細かいことを省くと，</a:t>
            </a:r>
            <a:endParaRPr kumimoji="1" lang="en-US" altLang="ja-JP" dirty="0"/>
          </a:p>
          <a:p>
            <a:endParaRPr kumimoji="1" lang="en-US" altLang="ja-JP" dirty="0"/>
          </a:p>
          <a:p>
            <a:r>
              <a:rPr kumimoji="1" lang="ja-JP" altLang="en-US" dirty="0"/>
              <a:t>これは入力にコンデンサがついていて，</a:t>
            </a:r>
            <a:endParaRPr kumimoji="1" lang="en-US" altLang="ja-JP" dirty="0"/>
          </a:p>
          <a:p>
            <a:r>
              <a:rPr kumimoji="1" lang="ja-JP" altLang="en-US" dirty="0"/>
              <a:t>これに連動して動くスイッチが出力を決めるものとなっています．</a:t>
            </a:r>
            <a:endParaRPr kumimoji="1" lang="en-US" altLang="ja-JP" dirty="0"/>
          </a:p>
          <a:p>
            <a:endParaRPr kumimoji="1" lang="en-US" altLang="ja-JP" dirty="0"/>
          </a:p>
          <a:p>
            <a:r>
              <a:rPr kumimoji="1" lang="ja-JP" altLang="en-US" dirty="0"/>
              <a:t>たとえば </a:t>
            </a:r>
            <a:r>
              <a:rPr kumimoji="1" lang="en-US" altLang="ja-JP" dirty="0"/>
              <a:t>NOT </a:t>
            </a:r>
            <a:r>
              <a:rPr kumimoji="1" lang="ja-JP" altLang="en-US" dirty="0"/>
              <a:t>ゲートは，入力に高電位がかかると，</a:t>
            </a:r>
            <a:endParaRPr kumimoji="1" lang="en-US" altLang="ja-JP" dirty="0"/>
          </a:p>
          <a:p>
            <a:r>
              <a:rPr kumimoji="1" lang="ja-JP" altLang="en-US" dirty="0"/>
              <a:t>下のスイッチが </a:t>
            </a:r>
            <a:r>
              <a:rPr kumimoji="1" lang="en-US" altLang="ja-JP" dirty="0"/>
              <a:t>ON </a:t>
            </a:r>
            <a:r>
              <a:rPr kumimoji="1" lang="ja-JP" altLang="en-US" dirty="0"/>
              <a:t>になって，出力がグラウンドに</a:t>
            </a:r>
            <a:endParaRPr kumimoji="1" lang="en-US" altLang="ja-JP" dirty="0"/>
          </a:p>
          <a:p>
            <a:r>
              <a:rPr kumimoji="1" lang="ja-JP" altLang="en-US" dirty="0"/>
              <a:t>つながるので低電位になって </a:t>
            </a:r>
            <a:r>
              <a:rPr kumimoji="1" lang="en-US" altLang="ja-JP" dirty="0"/>
              <a:t>NOT </a:t>
            </a:r>
            <a:r>
              <a:rPr kumimoji="1" lang="ja-JP" altLang="en-US" dirty="0"/>
              <a:t>回路ができると．</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78</a:t>
            </a:fld>
            <a:endParaRPr kumimoji="1" lang="ja-JP" altLang="en-US"/>
          </a:p>
        </p:txBody>
      </p:sp>
    </p:spTree>
    <p:extLst>
      <p:ext uri="{BB962C8B-B14F-4D97-AF65-F5344CB8AC3E}">
        <p14:creationId xmlns:p14="http://schemas.microsoft.com/office/powerpoint/2010/main" val="2354947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787310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16874992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124805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上">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4" name="フッター プレースホルダー 3"/>
          <p:cNvSpPr>
            <a:spLocks noGrp="1"/>
          </p:cNvSpPr>
          <p:nvPr>
            <p:ph type="ftr" sz="quarter" idx="11"/>
          </p:nvPr>
        </p:nvSpPr>
        <p:spPr>
          <a:xfrm>
            <a:off x="8976384" y="2"/>
            <a:ext cx="3215616" cy="278579"/>
          </a:xfrm>
          <a:prstGeom prst="rect">
            <a:avLst/>
          </a:prstGeom>
        </p:spPr>
        <p:txBody>
          <a:bodyPr/>
          <a:lstStyle/>
          <a:p>
            <a:r>
              <a:rPr lang="ja-JP" altLang="en-US"/>
              <a:t>ディジタル回路</a:t>
            </a:r>
            <a:endParaRPr lang="ja-JP" altLang="ja-JP"/>
          </a:p>
        </p:txBody>
      </p:sp>
      <p:sp>
        <p:nvSpPr>
          <p:cNvPr id="5" name="スライド番号プレースホルダー 4"/>
          <p:cNvSpPr>
            <a:spLocks noGrp="1"/>
          </p:cNvSpPr>
          <p:nvPr>
            <p:ph type="sldNum" sz="quarter" idx="12"/>
          </p:nvPr>
        </p:nvSpPr>
        <p:spPr>
          <a:xfrm>
            <a:off x="11711936" y="6482651"/>
            <a:ext cx="480064" cy="360048"/>
          </a:xfrm>
          <a:prstGeom prst="rect">
            <a:avLst/>
          </a:prstGeom>
        </p:spPr>
        <p:txBody>
          <a:bodyPr/>
          <a:lstStyle/>
          <a:p>
            <a:endParaRPr lang="ja-JP" altLang="ja-JP"/>
          </a:p>
        </p:txBody>
      </p:sp>
      <p:sp>
        <p:nvSpPr>
          <p:cNvPr id="8" name="コンテンツ プレースホルダー 7"/>
          <p:cNvSpPr>
            <a:spLocks noGrp="1"/>
          </p:cNvSpPr>
          <p:nvPr>
            <p:ph sz="quarter" idx="13"/>
          </p:nvPr>
        </p:nvSpPr>
        <p:spPr>
          <a:xfrm>
            <a:off x="335232" y="1268712"/>
            <a:ext cx="11521536" cy="2160288"/>
          </a:xfrm>
        </p:spPr>
        <p:txBody>
          <a:bodyPr anchor="t" anchorCtr="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00519370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278681007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_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accent4"/>
                </a:solidFill>
              </a:defRPr>
            </a:lvl1pPr>
          </a:lstStyle>
          <a:p>
            <a:r>
              <a:rPr kumimoji="1" lang="ja-JP" altLang="en-US"/>
              <a:t>マスター タイトルの書式設定</a:t>
            </a:r>
            <a:endParaRPr kumimoji="1" lang="ja-JP" altLang="en-US" dirty="0"/>
          </a:p>
        </p:txBody>
      </p:sp>
      <p:sp>
        <p:nvSpPr>
          <p:cNvPr id="4" name="コンテンツ プレースホルダー 3">
            <a:extLst>
              <a:ext uri="{FF2B5EF4-FFF2-40B4-BE49-F238E27FC236}">
                <a16:creationId xmlns:a16="http://schemas.microsoft.com/office/drawing/2014/main" id="{3B411819-7407-177D-333B-1437DD14AF43}"/>
              </a:ext>
            </a:extLst>
          </p:cNvPr>
          <p:cNvSpPr>
            <a:spLocks noGrp="1"/>
          </p:cNvSpPr>
          <p:nvPr>
            <p:ph sz="quarter" idx="11"/>
          </p:nvPr>
        </p:nvSpPr>
        <p:spPr>
          <a:xfrm>
            <a:off x="815941" y="1088974"/>
            <a:ext cx="11040123"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903747364"/>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2340120224"/>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5" r:id="rId4"/>
    <p:sldLayoutId id="2147483686" r:id="rId5"/>
    <p:sldLayoutId id="2147483687" r:id="rId6"/>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wmf"/><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wmf"/><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wmf"/></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wmf"/><Relationship Id="rId4" Type="http://schemas.openxmlformats.org/officeDocument/2006/relationships/image" Target="../media/image3.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en.wikipedia.org/wiki/Triode" TargetMode="External"/><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minecraft.net/ja-jp"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hyperlink" Target="https://minecraft.fandom.com/wiki/Redstone_circuits/Logic"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mcpedl.com/raffis-calculator-2-map/" TargetMode="External"/><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irds.ieee.org/images/files/pdf/2022/2022IRDS_ExecutiveSummary_JP.pdf"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image" Target="../media/image1.wmf"/><Relationship Id="rId4" Type="http://schemas.openxmlformats.org/officeDocument/2006/relationships/image" Target="../media/image17.wmf"/></Relationships>
</file>

<file path=ppt/slides/_rels/slide8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7"/>
            <a:ext cx="8460094" cy="630007"/>
          </a:xfrm>
        </p:spPr>
        <p:txBody>
          <a:bodyPr/>
          <a:lstStyle/>
          <a:p>
            <a:r>
              <a:rPr lang="ja-JP" altLang="en-US" sz="2800" dirty="0"/>
              <a:t>先進計算機構成論 </a:t>
            </a:r>
            <a:r>
              <a:rPr lang="en-US" altLang="ja-JP" sz="2800" dirty="0"/>
              <a:t>02</a:t>
            </a:r>
            <a:endParaRPr lang="ja-JP" altLang="en-US" sz="2800" dirty="0"/>
          </a:p>
        </p:txBody>
      </p:sp>
      <p:sp>
        <p:nvSpPr>
          <p:cNvPr id="6" name="サブタイトル 2"/>
          <p:cNvSpPr txBox="1">
            <a:spLocks/>
          </p:cNvSpPr>
          <p:nvPr/>
        </p:nvSpPr>
        <p:spPr bwMode="auto">
          <a:xfrm>
            <a:off x="2405962"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9"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9"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6"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6"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導入：工場のラインを考える</a:t>
            </a:r>
          </a:p>
        </p:txBody>
      </p:sp>
      <p:sp>
        <p:nvSpPr>
          <p:cNvPr id="4" name="テキスト プレースホルダー 3"/>
          <p:cNvSpPr>
            <a:spLocks noGrp="1"/>
          </p:cNvSpPr>
          <p:nvPr>
            <p:ph type="body" sz="quarter" idx="10"/>
          </p:nvPr>
        </p:nvSpPr>
        <p:spPr>
          <a:xfrm>
            <a:off x="2135956" y="4239009"/>
            <a:ext cx="8280092" cy="2069716"/>
          </a:xfrm>
        </p:spPr>
        <p:txBody>
          <a:bodyPr/>
          <a:lstStyle/>
          <a:p>
            <a:r>
              <a:rPr kumimoji="1" lang="ja-JP" altLang="en-US" dirty="0"/>
              <a:t>ベルトコンベアのラインの上を製品が流れていく</a:t>
            </a:r>
            <a:endParaRPr kumimoji="1" lang="en-US" altLang="ja-JP" dirty="0"/>
          </a:p>
          <a:p>
            <a:pPr lvl="1"/>
            <a:r>
              <a:rPr kumimoji="1" lang="ja-JP" altLang="en-US" dirty="0"/>
              <a:t>４人の人が，それぞれの工程の作業をおこなって完成</a:t>
            </a:r>
            <a:endParaRPr kumimoji="1" lang="en-US" altLang="ja-JP" dirty="0"/>
          </a:p>
          <a:p>
            <a:r>
              <a:rPr lang="ja-JP" altLang="en-US" dirty="0"/>
              <a:t>上のように</a:t>
            </a:r>
            <a:r>
              <a:rPr lang="en-US" altLang="ja-JP" dirty="0"/>
              <a:t>1</a:t>
            </a:r>
            <a:r>
              <a:rPr lang="ja-JP" altLang="en-US" dirty="0" err="1"/>
              <a:t>つしか</a:t>
            </a:r>
            <a:r>
              <a:rPr lang="ja-JP" altLang="en-US" dirty="0"/>
              <a:t>製品をながさないと，</a:t>
            </a:r>
            <a:endParaRPr lang="en-US" altLang="ja-JP" dirty="0"/>
          </a:p>
          <a:p>
            <a:pPr lvl="1"/>
            <a:r>
              <a:rPr lang="ja-JP" altLang="en-US" dirty="0"/>
              <a:t>各人は他の人が作業している間はヒマ</a:t>
            </a:r>
            <a:endParaRPr kumimoji="1" lang="ja-JP" altLang="en-US"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41" name="グループ化 40"/>
          <p:cNvGrpSpPr/>
          <p:nvPr/>
        </p:nvGrpSpPr>
        <p:grpSpPr>
          <a:xfrm>
            <a:off x="2135959"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96" name="正方形/長方形 95"/>
          <p:cNvSpPr/>
          <p:nvPr/>
        </p:nvSpPr>
        <p:spPr bwMode="auto">
          <a:xfrm>
            <a:off x="1775952" y="2438992"/>
            <a:ext cx="1152128" cy="1710019"/>
          </a:xfrm>
          <a:prstGeom prst="rect">
            <a:avLst/>
          </a:prstGeom>
          <a:solidFill>
            <a:schemeClr val="bg1"/>
          </a:solidFill>
          <a:ln>
            <a:solidFill>
              <a:schemeClr val="bg1"/>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4161779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38778E-17 1.85185E-6 L 0.15764 1.85185E-6 " pathEditMode="relative" rAng="0" ptsTypes="AA">
                                      <p:cBhvr>
                                        <p:cTn id="6" dur="1000" fill="hold"/>
                                        <p:tgtEl>
                                          <p:spTgt spid="41"/>
                                        </p:tgtEl>
                                        <p:attrNameLst>
                                          <p:attrName>ppt_x</p:attrName>
                                          <p:attrName>ppt_y</p:attrName>
                                        </p:attrNameLst>
                                      </p:cBhvr>
                                      <p:rCtr x="7882"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5764 1.85185E-6 L 0.3151 1.85185E-6 " pathEditMode="relative" rAng="0" ptsTypes="AA">
                                      <p:cBhvr>
                                        <p:cTn id="10" dur="1000" fill="hold"/>
                                        <p:tgtEl>
                                          <p:spTgt spid="41"/>
                                        </p:tgtEl>
                                        <p:attrNameLst>
                                          <p:attrName>ppt_x</p:attrName>
                                          <p:attrName>ppt_y</p:attrName>
                                        </p:attrNameLst>
                                      </p:cBhvr>
                                      <p:rCtr x="7865"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3151 1.85185E-6 L 0.4724 1.85185E-6 " pathEditMode="relative" rAng="0" ptsTypes="AA">
                                      <p:cBhvr>
                                        <p:cTn id="14" dur="1000" fill="hold"/>
                                        <p:tgtEl>
                                          <p:spTgt spid="41"/>
                                        </p:tgtEl>
                                        <p:attrNameLst>
                                          <p:attrName>ppt_x</p:attrName>
                                          <p:attrName>ppt_y</p:attrName>
                                        </p:attrNameLst>
                                      </p:cBhvr>
                                      <p:rCtr x="7865"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724 1.85185E-6 L 0.62986 1.85185E-6 " pathEditMode="relative" rAng="0" ptsTypes="AA">
                                      <p:cBhvr>
                                        <p:cTn id="18" dur="1000" fill="hold"/>
                                        <p:tgtEl>
                                          <p:spTgt spid="41"/>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9"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9"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6"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6"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導入：工場のラインを考える</a:t>
            </a:r>
            <a:endParaRPr kumimoji="1" lang="ja-JP" altLang="en-US" dirty="0"/>
          </a:p>
        </p:txBody>
      </p:sp>
      <p:sp>
        <p:nvSpPr>
          <p:cNvPr id="58" name="コンテンツ プレースホルダー 57"/>
          <p:cNvSpPr>
            <a:spLocks noGrp="1"/>
          </p:cNvSpPr>
          <p:nvPr>
            <p:ph type="body" sz="quarter" idx="10"/>
          </p:nvPr>
        </p:nvSpPr>
        <p:spPr>
          <a:xfrm>
            <a:off x="2045955" y="4869019"/>
            <a:ext cx="8460094" cy="1369161"/>
          </a:xfrm>
          <a:prstGeom prst="rect">
            <a:avLst/>
          </a:prstGeom>
        </p:spPr>
        <p:txBody>
          <a:bodyPr/>
          <a:lstStyle/>
          <a:p>
            <a:r>
              <a:rPr lang="ja-JP" altLang="en-US" dirty="0"/>
              <a:t>実際の工場：複数の製品を同時に流す</a:t>
            </a:r>
            <a:endParaRPr lang="en-US" altLang="ja-JP" dirty="0"/>
          </a:p>
          <a:p>
            <a:pPr lvl="1"/>
            <a:r>
              <a:rPr lang="ja-JP" altLang="en-US" dirty="0"/>
              <a:t>各工程を並列して処理することによりスループットを向上</a:t>
            </a:r>
            <a:endParaRPr lang="en-US" altLang="ja-JP" dirty="0"/>
          </a:p>
          <a:p>
            <a:pPr lvl="1"/>
            <a:r>
              <a:rPr lang="ja-JP" altLang="en-US" dirty="0"/>
              <a:t>さっきの</a:t>
            </a:r>
            <a:r>
              <a:rPr lang="en-US" altLang="ja-JP" dirty="0"/>
              <a:t>4</a:t>
            </a:r>
            <a:r>
              <a:rPr lang="ja-JP" altLang="en-US" dirty="0"/>
              <a:t>倍の速度で製品ができあがっていく</a:t>
            </a:r>
            <a:endParaRPr lang="en-US" altLang="ja-JP" dirty="0"/>
          </a:p>
          <a:p>
            <a:r>
              <a:rPr lang="ja-JP" altLang="en-US" dirty="0"/>
              <a:t>これが </a:t>
            </a:r>
            <a:r>
              <a:rPr lang="ja-JP" altLang="en-US" dirty="0">
                <a:solidFill>
                  <a:schemeClr val="accent5"/>
                </a:solidFill>
              </a:rPr>
              <a:t>命令パイプライン</a:t>
            </a:r>
            <a:endParaRPr lang="en-US" altLang="ja-JP" dirty="0">
              <a:solidFill>
                <a:schemeClr val="accent5"/>
              </a:solidFill>
            </a:endParaRPr>
          </a:p>
          <a:p>
            <a:pPr lvl="1"/>
            <a:r>
              <a:rPr lang="ja-JP" altLang="en-US" dirty="0">
                <a:solidFill>
                  <a:schemeClr val="tx1">
                    <a:lumMod val="85000"/>
                    <a:lumOff val="15000"/>
                  </a:schemeClr>
                </a:solidFill>
              </a:rPr>
              <a:t>・・・ の話を今日はしたいところではありますが</a:t>
            </a:r>
            <a:endParaRPr lang="en-US" altLang="ja-JP" dirty="0">
              <a:solidFill>
                <a:schemeClr val="tx1">
                  <a:lumMod val="85000"/>
                  <a:lumOff val="15000"/>
                </a:schemeClr>
              </a:solidFill>
            </a:endParaRPr>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p:cNvGrpSpPr/>
          <p:nvPr/>
        </p:nvGrpSpPr>
        <p:grpSpPr>
          <a:xfrm>
            <a:off x="-3624108" y="2978996"/>
            <a:ext cx="6480073" cy="360005"/>
            <a:chOff x="611956" y="3699003"/>
            <a:chExt cx="6480073" cy="360005"/>
          </a:xfrm>
        </p:grpSpPr>
        <p:sp>
          <p:nvSpPr>
            <p:cNvPr id="90" name="角丸四角形 89"/>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1" name="角丸四角形 90"/>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2" name="角丸四角形 91"/>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3" name="角丸四角形 92"/>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4" name="角丸四角形 93"/>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7" name="正方形/長方形 6"/>
          <p:cNvSpPr/>
          <p:nvPr/>
        </p:nvSpPr>
        <p:spPr bwMode="auto">
          <a:xfrm>
            <a:off x="1505517"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Tree>
    <p:extLst>
      <p:ext uri="{BB962C8B-B14F-4D97-AF65-F5344CB8AC3E}">
        <p14:creationId xmlns:p14="http://schemas.microsoft.com/office/powerpoint/2010/main" val="871053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5.55556E-7 1.85185E-6 L 0.15764 1.85185E-6 " pathEditMode="relative" rAng="0" ptsTypes="AA">
                                      <p:cBhvr>
                                        <p:cTn id="6" dur="1000" fill="hold"/>
                                        <p:tgtEl>
                                          <p:spTgt spid="6"/>
                                        </p:tgtEl>
                                        <p:attrNameLst>
                                          <p:attrName>ppt_x</p:attrName>
                                          <p:attrName>ppt_y</p:attrName>
                                        </p:attrNameLst>
                                      </p:cBhvr>
                                      <p:rCtr x="7882"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5764 1.85185E-6 L 0.3151 1.85185E-6 " pathEditMode="relative" rAng="0" ptsTypes="AA">
                                      <p:cBhvr>
                                        <p:cTn id="10" dur="1000" fill="hold"/>
                                        <p:tgtEl>
                                          <p:spTgt spid="6"/>
                                        </p:tgtEl>
                                        <p:attrNameLst>
                                          <p:attrName>ppt_x</p:attrName>
                                          <p:attrName>ppt_y</p:attrName>
                                        </p:attrNameLst>
                                      </p:cBhvr>
                                      <p:rCtr x="7865"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3151 1.85185E-6 L 0.4724 1.85185E-6 " pathEditMode="relative" rAng="0" ptsTypes="AA">
                                      <p:cBhvr>
                                        <p:cTn id="14" dur="1000" fill="hold"/>
                                        <p:tgtEl>
                                          <p:spTgt spid="6"/>
                                        </p:tgtEl>
                                        <p:attrNameLst>
                                          <p:attrName>ppt_x</p:attrName>
                                          <p:attrName>ppt_y</p:attrName>
                                        </p:attrNameLst>
                                      </p:cBhvr>
                                      <p:rCtr x="7865"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724 1.85185E-6 L 0.62986 1.85185E-6 " pathEditMode="relative" rAng="0" ptsTypes="AA">
                                      <p:cBhvr>
                                        <p:cTn id="18" dur="1000" fill="hold"/>
                                        <p:tgtEl>
                                          <p:spTgt spid="6"/>
                                        </p:tgtEl>
                                        <p:attrNameLst>
                                          <p:attrName>ppt_x</p:attrName>
                                          <p:attrName>ppt_y</p:attrName>
                                        </p:attrNameLst>
                                      </p:cBhvr>
                                      <p:rCtr x="7865" y="0"/>
                                    </p:animMotion>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8">
                                            <p:txEl>
                                              <p:pRg st="4" end="4"/>
                                            </p:txEl>
                                          </p:spTgt>
                                        </p:tgtEl>
                                        <p:attrNameLst>
                                          <p:attrName>style.visibility</p:attrName>
                                        </p:attrNameLst>
                                      </p:cBhvr>
                                      <p:to>
                                        <p:strVal val="visible"/>
                                      </p:to>
                                    </p:set>
                                    <p:animEffect transition="in" filter="wipe(left)">
                                      <p:cBhvr>
                                        <p:cTn id="23" dur="500"/>
                                        <p:tgtEl>
                                          <p:spTgt spid="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遅延に対する疑問</a:t>
            </a:r>
          </a:p>
        </p:txBody>
      </p:sp>
      <p:sp>
        <p:nvSpPr>
          <p:cNvPr id="5" name="テキスト プレースホルダー 4"/>
          <p:cNvSpPr>
            <a:spLocks noGrp="1"/>
          </p:cNvSpPr>
          <p:nvPr>
            <p:ph type="body" sz="quarter" idx="10"/>
          </p:nvPr>
        </p:nvSpPr>
        <p:spPr>
          <a:xfrm>
            <a:off x="2135956" y="3519001"/>
            <a:ext cx="8280092" cy="2789724"/>
          </a:xfrm>
        </p:spPr>
        <p:txBody>
          <a:bodyPr/>
          <a:lstStyle/>
          <a:p>
            <a:r>
              <a:rPr kumimoji="1" lang="ja-JP" altLang="en-US" dirty="0"/>
              <a:t>工場のラインの絵は，回路中を信号が伝搬されていくことのたとえ</a:t>
            </a:r>
            <a:endParaRPr kumimoji="1" lang="en-US" altLang="ja-JP" dirty="0"/>
          </a:p>
          <a:p>
            <a:pPr lvl="1"/>
            <a:r>
              <a:rPr kumimoji="1" lang="ja-JP" altLang="en-US" dirty="0"/>
              <a:t>「製品」は，処理対象の信号（データ）</a:t>
            </a:r>
            <a:endParaRPr kumimoji="1" lang="en-US" altLang="ja-JP" dirty="0"/>
          </a:p>
          <a:p>
            <a:r>
              <a:rPr lang="ja-JP" altLang="en-US" dirty="0">
                <a:solidFill>
                  <a:schemeClr val="accent5"/>
                </a:solidFill>
              </a:rPr>
              <a:t>そもそも「回路中を信号</a:t>
            </a:r>
            <a:r>
              <a:rPr kumimoji="1" lang="ja-JP" altLang="en-US" dirty="0">
                <a:solidFill>
                  <a:schemeClr val="accent5"/>
                </a:solidFill>
              </a:rPr>
              <a:t>が伝搬される」のに「かかる時間」とは？</a:t>
            </a:r>
            <a:endParaRPr kumimoji="1" lang="en-US" altLang="ja-JP" dirty="0">
              <a:solidFill>
                <a:schemeClr val="accent5"/>
              </a:solidFill>
            </a:endParaRPr>
          </a:p>
          <a:p>
            <a:pPr lvl="1"/>
            <a:r>
              <a:rPr kumimoji="1" lang="ja-JP" altLang="en-US" dirty="0"/>
              <a:t>そりゃ，伝搬するのになんか時間はかかるのだろう</a:t>
            </a:r>
            <a:endParaRPr kumimoji="1" lang="en-US" altLang="ja-JP" dirty="0"/>
          </a:p>
          <a:p>
            <a:pPr lvl="1"/>
            <a:r>
              <a:rPr kumimoji="1" lang="ja-JP" altLang="en-US" dirty="0"/>
              <a:t>しかしそもそも回路が速いとか遅いとは，どういうことなのか？</a:t>
            </a:r>
            <a:endParaRPr kumimoji="1" lang="en-US" altLang="ja-JP" dirty="0"/>
          </a:p>
          <a:p>
            <a:pPr lvl="1"/>
            <a:r>
              <a:rPr lang="ja-JP" altLang="en-US" dirty="0"/>
              <a:t>遅延は，「論理回路」の授業では理想化されていることが多い</a:t>
            </a:r>
            <a:endParaRPr kumimoji="1" lang="en-US" altLang="ja-JP" dirty="0"/>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4</a:t>
            </a:fld>
            <a:endParaRPr kumimoji="1" lang="ja-JP" altLang="en-US"/>
          </a:p>
        </p:txBody>
      </p:sp>
      <p:grpSp>
        <p:nvGrpSpPr>
          <p:cNvPr id="24" name="グループ化 23"/>
          <p:cNvGrpSpPr/>
          <p:nvPr/>
        </p:nvGrpSpPr>
        <p:grpSpPr>
          <a:xfrm>
            <a:off x="2984126" y="1953517"/>
            <a:ext cx="1562400" cy="576064"/>
            <a:chOff x="971600" y="5445224"/>
            <a:chExt cx="7200800" cy="576064"/>
          </a:xfrm>
        </p:grpSpPr>
        <p:sp>
          <p:nvSpPr>
            <p:cNvPr id="25" name="平行四辺形 2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6" name="平行四辺形 2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7" name="グループ化 26"/>
          <p:cNvGrpSpPr/>
          <p:nvPr/>
        </p:nvGrpSpPr>
        <p:grpSpPr>
          <a:xfrm>
            <a:off x="4424286" y="1953517"/>
            <a:ext cx="1562400" cy="576064"/>
            <a:chOff x="971600" y="5445224"/>
            <a:chExt cx="7200800" cy="576064"/>
          </a:xfrm>
        </p:grpSpPr>
        <p:sp>
          <p:nvSpPr>
            <p:cNvPr id="28" name="平行四辺形 2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9" name="平行四辺形 2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0" name="グループ化 29"/>
          <p:cNvGrpSpPr/>
          <p:nvPr/>
        </p:nvGrpSpPr>
        <p:grpSpPr>
          <a:xfrm>
            <a:off x="5864446" y="1953517"/>
            <a:ext cx="1562400" cy="576064"/>
            <a:chOff x="971600" y="5445224"/>
            <a:chExt cx="7200800" cy="576064"/>
          </a:xfrm>
        </p:grpSpPr>
        <p:sp>
          <p:nvSpPr>
            <p:cNvPr id="31" name="平行四辺形 3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2" name="平行四辺形 3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3" name="グループ化 32"/>
          <p:cNvGrpSpPr/>
          <p:nvPr/>
        </p:nvGrpSpPr>
        <p:grpSpPr>
          <a:xfrm>
            <a:off x="7304606" y="1953517"/>
            <a:ext cx="1584176" cy="576064"/>
            <a:chOff x="971600" y="5445224"/>
            <a:chExt cx="7200800" cy="576064"/>
          </a:xfrm>
        </p:grpSpPr>
        <p:sp>
          <p:nvSpPr>
            <p:cNvPr id="34" name="平行四辺形 3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5" name="平行四辺形 3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6" name="正方形/長方形 35"/>
          <p:cNvSpPr/>
          <p:nvPr/>
        </p:nvSpPr>
        <p:spPr>
          <a:xfrm>
            <a:off x="2945968" y="1088974"/>
            <a:ext cx="883575"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7" name="正方形/長方形 36"/>
          <p:cNvSpPr/>
          <p:nvPr/>
        </p:nvSpPr>
        <p:spPr>
          <a:xfrm>
            <a:off x="4386128" y="1088974"/>
            <a:ext cx="968535"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8" name="正方形/長方形 37"/>
          <p:cNvSpPr/>
          <p:nvPr/>
        </p:nvSpPr>
        <p:spPr>
          <a:xfrm>
            <a:off x="5828175" y="1107558"/>
            <a:ext cx="837089"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9" name="正方形/長方形 38"/>
          <p:cNvSpPr/>
          <p:nvPr/>
        </p:nvSpPr>
        <p:spPr>
          <a:xfrm>
            <a:off x="7268335" y="1107558"/>
            <a:ext cx="939681"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40" name="直線矢印コネクタ 39"/>
          <p:cNvCxnSpPr/>
          <p:nvPr/>
        </p:nvCxnSpPr>
        <p:spPr bwMode="auto">
          <a:xfrm>
            <a:off x="2984126" y="276352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41" name="グループ化 40"/>
          <p:cNvGrpSpPr/>
          <p:nvPr/>
        </p:nvGrpSpPr>
        <p:grpSpPr>
          <a:xfrm>
            <a:off x="1994118" y="177351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43" name="角丸四角形 42"/>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44" name="正方形/長方形 43"/>
          <p:cNvSpPr/>
          <p:nvPr/>
        </p:nvSpPr>
        <p:spPr bwMode="auto">
          <a:xfrm>
            <a:off x="1634111" y="1233512"/>
            <a:ext cx="1152128" cy="1710019"/>
          </a:xfrm>
          <a:prstGeom prst="rect">
            <a:avLst/>
          </a:prstGeom>
          <a:solidFill>
            <a:schemeClr val="bg1"/>
          </a:solidFill>
          <a:ln>
            <a:solidFill>
              <a:schemeClr val="bg1"/>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
        <p:nvSpPr>
          <p:cNvPr id="51" name="角丸四角形 50"/>
          <p:cNvSpPr/>
          <p:nvPr/>
        </p:nvSpPr>
        <p:spPr bwMode="auto">
          <a:xfrm>
            <a:off x="4835986" y="180898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Tree>
    <p:extLst>
      <p:ext uri="{BB962C8B-B14F-4D97-AF65-F5344CB8AC3E}">
        <p14:creationId xmlns:p14="http://schemas.microsoft.com/office/powerpoint/2010/main" val="25651088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回路に対する疑問</a:t>
            </a:r>
          </a:p>
        </p:txBody>
      </p:sp>
      <p:sp>
        <p:nvSpPr>
          <p:cNvPr id="5" name="テキスト プレースホルダー 4"/>
          <p:cNvSpPr>
            <a:spLocks noGrp="1"/>
          </p:cNvSpPr>
          <p:nvPr>
            <p:ph type="body" sz="quarter" idx="10"/>
          </p:nvPr>
        </p:nvSpPr>
        <p:spPr>
          <a:xfrm>
            <a:off x="1955954" y="1268979"/>
            <a:ext cx="8280092" cy="1439709"/>
          </a:xfrm>
        </p:spPr>
        <p:txBody>
          <a:bodyPr anchor="t"/>
          <a:lstStyle/>
          <a:p>
            <a:r>
              <a:rPr kumimoji="1" lang="ja-JP" altLang="en-US" dirty="0"/>
              <a:t>前回の講義：</a:t>
            </a:r>
            <a:r>
              <a:rPr kumimoji="1" lang="en-US" altLang="ja-JP" dirty="0"/>
              <a:t>CPU </a:t>
            </a:r>
            <a:r>
              <a:rPr kumimoji="1" lang="ja-JP" altLang="en-US" dirty="0"/>
              <a:t>の動作を</a:t>
            </a:r>
            <a:r>
              <a:rPr kumimoji="1" lang="ja-JP" altLang="en-US" dirty="0" err="1"/>
              <a:t>ふわっと</a:t>
            </a:r>
            <a:r>
              <a:rPr kumimoji="1" lang="ja-JP" altLang="en-US" dirty="0"/>
              <a:t>説明</a:t>
            </a:r>
            <a:endParaRPr kumimoji="1" lang="en-US" altLang="ja-JP" dirty="0"/>
          </a:p>
          <a:p>
            <a:pPr lvl="1"/>
            <a:r>
              <a:rPr kumimoji="1" lang="ja-JP" altLang="en-US" dirty="0"/>
              <a:t>「ここでもし命令が </a:t>
            </a:r>
            <a:r>
              <a:rPr kumimoji="1" lang="en-US" altLang="ja-JP" dirty="0"/>
              <a:t>add </a:t>
            </a:r>
            <a:r>
              <a:rPr kumimoji="1" lang="ja-JP" altLang="en-US" dirty="0"/>
              <a:t>だったら，加算する」</a:t>
            </a:r>
            <a:endParaRPr kumimoji="1" lang="en-US" altLang="ja-JP" dirty="0"/>
          </a:p>
          <a:p>
            <a:pPr lvl="1"/>
            <a:r>
              <a:rPr kumimoji="1" lang="ja-JP" altLang="en-US" dirty="0"/>
              <a:t>「</a:t>
            </a:r>
            <a:r>
              <a:rPr lang="ja-JP" altLang="en-US" dirty="0"/>
              <a:t>ここで</a:t>
            </a:r>
            <a:r>
              <a:rPr kumimoji="1" lang="ja-JP" altLang="en-US" dirty="0"/>
              <a:t>もし</a:t>
            </a:r>
            <a:r>
              <a:rPr lang="ja-JP" altLang="en-US" dirty="0"/>
              <a:t>命令が </a:t>
            </a:r>
            <a:r>
              <a:rPr lang="en-US" altLang="ja-JP" dirty="0"/>
              <a:t>store </a:t>
            </a:r>
            <a:r>
              <a:rPr lang="ja-JP" altLang="en-US" dirty="0"/>
              <a:t>だったら，メモリに書く</a:t>
            </a:r>
            <a:r>
              <a:rPr kumimoji="1" lang="ja-JP" altLang="en-US" dirty="0"/>
              <a:t>」</a:t>
            </a:r>
            <a:endParaRPr kumimoji="1" lang="en-US" altLang="ja-JP" dirty="0"/>
          </a:p>
          <a:p>
            <a:r>
              <a:rPr kumimoji="1" lang="ja-JP" altLang="en-US" dirty="0">
                <a:solidFill>
                  <a:schemeClr val="accent5"/>
                </a:solidFill>
              </a:rPr>
              <a:t>このような制御は，どのような回路で実現されるのか？</a:t>
            </a:r>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5</a:t>
            </a:fld>
            <a:endParaRPr kumimoji="1" lang="ja-JP" altLang="en-US"/>
          </a:p>
        </p:txBody>
      </p:sp>
      <p:sp>
        <p:nvSpPr>
          <p:cNvPr id="6" name="正方形/長方形 5"/>
          <p:cNvSpPr/>
          <p:nvPr/>
        </p:nvSpPr>
        <p:spPr bwMode="auto">
          <a:xfrm>
            <a:off x="4925990" y="3699003"/>
            <a:ext cx="2070023" cy="2790030"/>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4835987" y="3338998"/>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5015989" y="387900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006000" y="3879004"/>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5015989" y="423900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正方形/長方形 10"/>
          <p:cNvSpPr/>
          <p:nvPr/>
        </p:nvSpPr>
        <p:spPr bwMode="auto">
          <a:xfrm>
            <a:off x="5015989" y="459901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5015989" y="495901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フローチャート: 手作業 12"/>
          <p:cNvSpPr/>
          <p:nvPr/>
        </p:nvSpPr>
        <p:spPr bwMode="auto">
          <a:xfrm rot="16200000">
            <a:off x="6088806" y="4786209"/>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5015989" y="531902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5015989" y="567902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5375993" y="387900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5375993" y="423900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5375993" y="459901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5375993" y="495901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5375993" y="531902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5375993" y="567902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366004" y="3879004"/>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23" name="直線コネクタ 22"/>
          <p:cNvCxnSpPr/>
          <p:nvPr/>
        </p:nvCxnSpPr>
        <p:spPr bwMode="auto">
          <a:xfrm>
            <a:off x="5825998" y="3879004"/>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直線コネクタ 23"/>
          <p:cNvCxnSpPr/>
          <p:nvPr/>
        </p:nvCxnSpPr>
        <p:spPr bwMode="auto">
          <a:xfrm>
            <a:off x="5915999" y="3879004"/>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5" name="直線コネクタ 24"/>
          <p:cNvCxnSpPr/>
          <p:nvPr/>
        </p:nvCxnSpPr>
        <p:spPr bwMode="auto">
          <a:xfrm>
            <a:off x="5825998" y="4689013"/>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直線コネクタ 25"/>
          <p:cNvCxnSpPr/>
          <p:nvPr/>
        </p:nvCxnSpPr>
        <p:spPr bwMode="auto">
          <a:xfrm>
            <a:off x="5916002" y="5229019"/>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直線コネクタ 26"/>
          <p:cNvCxnSpPr/>
          <p:nvPr/>
        </p:nvCxnSpPr>
        <p:spPr bwMode="auto">
          <a:xfrm flipV="1">
            <a:off x="5555995" y="6129029"/>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直線コネクタ 27"/>
          <p:cNvCxnSpPr/>
          <p:nvPr/>
        </p:nvCxnSpPr>
        <p:spPr bwMode="auto">
          <a:xfrm flipH="1">
            <a:off x="5555999" y="6309031"/>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直線コネクタ 28"/>
          <p:cNvCxnSpPr/>
          <p:nvPr/>
        </p:nvCxnSpPr>
        <p:spPr bwMode="auto">
          <a:xfrm flipH="1">
            <a:off x="6726011" y="4959016"/>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直線コネクタ 29"/>
          <p:cNvCxnSpPr/>
          <p:nvPr/>
        </p:nvCxnSpPr>
        <p:spPr bwMode="auto">
          <a:xfrm flipV="1">
            <a:off x="6816012" y="495901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2" name="正方形/長方形 31"/>
          <p:cNvSpPr/>
          <p:nvPr/>
        </p:nvSpPr>
        <p:spPr bwMode="auto">
          <a:xfrm>
            <a:off x="6006000" y="4509011"/>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1</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006000" y="5049017"/>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6726008" y="477901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rgbClr val="FF0000"/>
                </a:solidFill>
                <a:latin typeface="メイリオ" panose="020B0604030504040204" pitchFamily="50" charset="-128"/>
                <a:ea typeface="メイリオ" panose="020B0604030504040204" pitchFamily="50" charset="-128"/>
              </a:rPr>
              <a:t>３</a:t>
            </a:r>
          </a:p>
        </p:txBody>
      </p:sp>
    </p:spTree>
    <p:extLst>
      <p:ext uri="{BB962C8B-B14F-4D97-AF65-F5344CB8AC3E}">
        <p14:creationId xmlns:p14="http://schemas.microsoft.com/office/powerpoint/2010/main" val="3329925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r>
              <a:rPr lang="ja-JP" altLang="en-US" dirty="0"/>
              <a:t>命令パイプライン</a:t>
            </a:r>
            <a:endParaRPr lang="en-US" altLang="ja-JP" dirty="0"/>
          </a:p>
          <a:p>
            <a:pPr lvl="1"/>
            <a:r>
              <a:rPr lang="ja-JP" altLang="en-US" dirty="0"/>
              <a:t>・・・ではなく</a:t>
            </a:r>
            <a:r>
              <a:rPr lang="ja-JP" altLang="en-US" dirty="0">
                <a:solidFill>
                  <a:schemeClr val="accent5"/>
                </a:solidFill>
              </a:rPr>
              <a:t>回路と遅延，エネルギーの話をします</a:t>
            </a:r>
            <a:endParaRPr lang="en-US" altLang="ja-JP" dirty="0">
              <a:solidFill>
                <a:schemeClr val="accent5"/>
              </a:solidFill>
            </a:endParaRPr>
          </a:p>
        </p:txBody>
      </p:sp>
    </p:spTree>
    <p:extLst>
      <p:ext uri="{BB962C8B-B14F-4D97-AF65-F5344CB8AC3E}">
        <p14:creationId xmlns:p14="http://schemas.microsoft.com/office/powerpoint/2010/main" val="264927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回路と遅延</a:t>
            </a:r>
          </a:p>
        </p:txBody>
      </p:sp>
      <p:sp>
        <p:nvSpPr>
          <p:cNvPr id="3" name="テキスト プレースホルダー 2"/>
          <p:cNvSpPr>
            <a:spLocks noGrp="1"/>
          </p:cNvSpPr>
          <p:nvPr>
            <p:ph type="body" sz="quarter" idx="10"/>
          </p:nvPr>
        </p:nvSpPr>
        <p:spPr/>
        <p:txBody>
          <a:bodyPr/>
          <a:lstStyle/>
          <a:p>
            <a:r>
              <a:rPr lang="ja-JP" altLang="en-US" dirty="0"/>
              <a:t>目的：これらの具体的なイメージを持つ</a:t>
            </a:r>
            <a:endParaRPr lang="en-US" altLang="ja-JP" dirty="0"/>
          </a:p>
          <a:p>
            <a:pPr lvl="1"/>
            <a:r>
              <a:rPr lang="en-US" altLang="ja-JP" dirty="0"/>
              <a:t>CPU </a:t>
            </a:r>
            <a:r>
              <a:rPr lang="ja-JP" altLang="en-US" dirty="0"/>
              <a:t>の論理的な動作と，それを実現する回路の繋がり</a:t>
            </a:r>
            <a:endParaRPr lang="en-US" altLang="ja-JP" dirty="0"/>
          </a:p>
          <a:p>
            <a:pPr lvl="1"/>
            <a:r>
              <a:rPr lang="ja-JP" altLang="en-US" dirty="0"/>
              <a:t>それら論理回路の遅延や消費エネルギー</a:t>
            </a:r>
            <a:endParaRPr lang="en-US" altLang="ja-JP" dirty="0"/>
          </a:p>
          <a:p>
            <a:r>
              <a:rPr lang="ja-JP" altLang="en-US" dirty="0"/>
              <a:t>論理回路の復習から始めて説明</a:t>
            </a:r>
            <a:endParaRPr lang="en-US" altLang="ja-JP" dirty="0"/>
          </a:p>
          <a:p>
            <a:pPr lvl="1"/>
            <a:r>
              <a:rPr kumimoji="1" lang="ja-JP" altLang="en-US" dirty="0"/>
              <a:t>論理回路</a:t>
            </a:r>
            <a:endParaRPr kumimoji="1" lang="en-US" altLang="ja-JP" dirty="0"/>
          </a:p>
          <a:p>
            <a:pPr lvl="1"/>
            <a:r>
              <a:rPr kumimoji="1" lang="en-US" altLang="ja-JP" dirty="0"/>
              <a:t>CMOS </a:t>
            </a:r>
            <a:r>
              <a:rPr kumimoji="1" lang="ja-JP" altLang="en-US" dirty="0"/>
              <a:t>による実現</a:t>
            </a:r>
            <a:endParaRPr kumimoji="1" lang="en-US" altLang="ja-JP" dirty="0"/>
          </a:p>
          <a:p>
            <a:pPr lvl="1"/>
            <a:r>
              <a:rPr kumimoji="1" lang="ja-JP" altLang="en-US" dirty="0"/>
              <a:t>遅延と消費電力がどのように決まるのか</a:t>
            </a:r>
          </a:p>
        </p:txBody>
      </p:sp>
    </p:spTree>
    <p:extLst>
      <p:ext uri="{BB962C8B-B14F-4D97-AF65-F5344CB8AC3E}">
        <p14:creationId xmlns:p14="http://schemas.microsoft.com/office/powerpoint/2010/main" val="593204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角丸四角形 10"/>
          <p:cNvSpPr/>
          <p:nvPr/>
        </p:nvSpPr>
        <p:spPr bwMode="auto">
          <a:xfrm>
            <a:off x="3125967" y="2708992"/>
            <a:ext cx="6120392" cy="1170012"/>
          </a:xfrm>
          <a:prstGeom prst="roundRect">
            <a:avLst/>
          </a:prstGeom>
          <a:solidFill>
            <a:schemeClr val="accent5"/>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システム・ソフトウェア</a:t>
            </a:r>
            <a:endParaRPr lang="en-US" altLang="ja-JP" dirty="0">
              <a:solidFill>
                <a:schemeClr val="bg1"/>
              </a:solidFill>
            </a:endParaRPr>
          </a:p>
          <a:p>
            <a:pPr algn="ctr"/>
            <a:r>
              <a:rPr lang="en-US" altLang="ja-JP" dirty="0">
                <a:solidFill>
                  <a:schemeClr val="bg1"/>
                </a:solidFill>
              </a:rPr>
              <a:t>OS / </a:t>
            </a:r>
            <a:r>
              <a:rPr lang="ja-JP" altLang="en-US" dirty="0">
                <a:solidFill>
                  <a:schemeClr val="bg1"/>
                </a:solidFill>
              </a:rPr>
              <a:t>コンパイラ </a:t>
            </a:r>
            <a:r>
              <a:rPr lang="en-US" altLang="ja-JP" dirty="0">
                <a:solidFill>
                  <a:schemeClr val="bg1"/>
                </a:solidFill>
              </a:rPr>
              <a:t>/ </a:t>
            </a:r>
            <a:r>
              <a:rPr lang="ja-JP" altLang="en-US" dirty="0">
                <a:solidFill>
                  <a:schemeClr val="bg1"/>
                </a:solidFill>
              </a:rPr>
              <a:t>インタプリタ</a:t>
            </a:r>
          </a:p>
        </p:txBody>
      </p:sp>
      <p:sp>
        <p:nvSpPr>
          <p:cNvPr id="12" name="角丸四角形 11"/>
          <p:cNvSpPr/>
          <p:nvPr/>
        </p:nvSpPr>
        <p:spPr bwMode="auto">
          <a:xfrm>
            <a:off x="3125967" y="3789006"/>
            <a:ext cx="6120392" cy="1170011"/>
          </a:xfrm>
          <a:prstGeom prst="roundRect">
            <a:avLst/>
          </a:prstGeom>
          <a:solidFill>
            <a:schemeClr val="accent6"/>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3200" b="1" dirty="0">
                <a:solidFill>
                  <a:schemeClr val="bg1"/>
                </a:solidFill>
              </a:rPr>
              <a:t>ここ→ </a:t>
            </a:r>
            <a:r>
              <a:rPr lang="ja-JP" altLang="en-US" sz="2400" b="1" dirty="0">
                <a:solidFill>
                  <a:schemeClr val="bg1"/>
                </a:solidFill>
              </a:rPr>
              <a:t>コンピュータ・アーキテクチャ</a:t>
            </a:r>
          </a:p>
        </p:txBody>
      </p:sp>
      <p:sp>
        <p:nvSpPr>
          <p:cNvPr id="13" name="角丸四角形 12"/>
          <p:cNvSpPr/>
          <p:nvPr/>
        </p:nvSpPr>
        <p:spPr bwMode="auto">
          <a:xfrm>
            <a:off x="3125967" y="1628982"/>
            <a:ext cx="6120392" cy="1170013"/>
          </a:xfrm>
          <a:prstGeom prst="roundRect">
            <a:avLst/>
          </a:prstGeom>
          <a:solidFill>
            <a:schemeClr val="accent5"/>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アプリケーション・ソフトウェア</a:t>
            </a:r>
            <a:endParaRPr lang="en-US" altLang="ja-JP" dirty="0">
              <a:solidFill>
                <a:schemeClr val="bg1"/>
              </a:solidFill>
            </a:endParaRPr>
          </a:p>
          <a:p>
            <a:pPr algn="ctr"/>
            <a:r>
              <a:rPr lang="ja-JP" altLang="en-US" dirty="0">
                <a:solidFill>
                  <a:schemeClr val="bg1"/>
                </a:solidFill>
              </a:rPr>
              <a:t>画像処理 </a:t>
            </a:r>
            <a:r>
              <a:rPr lang="en-US" altLang="ja-JP" dirty="0">
                <a:solidFill>
                  <a:schemeClr val="bg1"/>
                </a:solidFill>
              </a:rPr>
              <a:t>/ </a:t>
            </a:r>
            <a:r>
              <a:rPr lang="ja-JP" altLang="en-US" dirty="0">
                <a:solidFill>
                  <a:schemeClr val="bg1"/>
                </a:solidFill>
              </a:rPr>
              <a:t>音声認識 </a:t>
            </a:r>
            <a:r>
              <a:rPr lang="en-US" altLang="ja-JP" dirty="0">
                <a:solidFill>
                  <a:schemeClr val="bg1"/>
                </a:solidFill>
              </a:rPr>
              <a:t>/ </a:t>
            </a:r>
            <a:r>
              <a:rPr lang="ja-JP" altLang="en-US" dirty="0">
                <a:solidFill>
                  <a:schemeClr val="bg1"/>
                </a:solidFill>
              </a:rPr>
              <a:t>言語処理 </a:t>
            </a:r>
            <a:r>
              <a:rPr lang="en-US" altLang="ja-JP" dirty="0">
                <a:solidFill>
                  <a:schemeClr val="bg1"/>
                </a:solidFill>
              </a:rPr>
              <a:t>/ </a:t>
            </a:r>
            <a:r>
              <a:rPr lang="ja-JP" altLang="en-US" dirty="0">
                <a:solidFill>
                  <a:schemeClr val="bg1"/>
                </a:solidFill>
              </a:rPr>
              <a:t>機械制御 </a:t>
            </a:r>
            <a:endParaRPr lang="en-US" altLang="ja-JP" dirty="0">
              <a:solidFill>
                <a:schemeClr val="bg1"/>
              </a:solidFill>
            </a:endParaRPr>
          </a:p>
          <a:p>
            <a:pPr algn="ctr"/>
            <a:r>
              <a:rPr lang="en-US" altLang="ja-JP" dirty="0">
                <a:solidFill>
                  <a:schemeClr val="bg1"/>
                </a:solidFill>
              </a:rPr>
              <a:t>WEB </a:t>
            </a:r>
            <a:r>
              <a:rPr lang="ja-JP" altLang="en-US" dirty="0">
                <a:solidFill>
                  <a:schemeClr val="bg1"/>
                </a:solidFill>
              </a:rPr>
              <a:t>サービス </a:t>
            </a:r>
            <a:r>
              <a:rPr lang="en-US" altLang="ja-JP" dirty="0">
                <a:solidFill>
                  <a:schemeClr val="bg1"/>
                </a:solidFill>
              </a:rPr>
              <a:t>/ </a:t>
            </a:r>
            <a:r>
              <a:rPr lang="ja-JP" altLang="en-US" dirty="0">
                <a:solidFill>
                  <a:schemeClr val="bg1"/>
                </a:solidFill>
              </a:rPr>
              <a:t>暗号　</a:t>
            </a:r>
            <a:r>
              <a:rPr lang="en-US" altLang="ja-JP" dirty="0">
                <a:solidFill>
                  <a:schemeClr val="bg1"/>
                </a:solidFill>
              </a:rPr>
              <a:t>…</a:t>
            </a:r>
          </a:p>
        </p:txBody>
      </p:sp>
      <p:sp>
        <p:nvSpPr>
          <p:cNvPr id="14" name="角丸四角形 13"/>
          <p:cNvSpPr/>
          <p:nvPr/>
        </p:nvSpPr>
        <p:spPr bwMode="auto">
          <a:xfrm>
            <a:off x="3125967" y="4869018"/>
            <a:ext cx="6120392" cy="1080119"/>
          </a:xfrm>
          <a:prstGeom prst="roundRect">
            <a:avLst/>
          </a:prstGeom>
          <a:solidFill>
            <a:schemeClr val="accent3">
              <a:lumMod val="75000"/>
            </a:schemeClr>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400" dirty="0">
                <a:solidFill>
                  <a:schemeClr val="bg1"/>
                </a:solidFill>
              </a:rPr>
              <a:t>論理回路</a:t>
            </a:r>
          </a:p>
        </p:txBody>
      </p:sp>
      <p:sp>
        <p:nvSpPr>
          <p:cNvPr id="15" name="角丸四角形 14"/>
          <p:cNvSpPr/>
          <p:nvPr/>
        </p:nvSpPr>
        <p:spPr bwMode="auto">
          <a:xfrm>
            <a:off x="3125967" y="5859029"/>
            <a:ext cx="6120392" cy="1080013"/>
          </a:xfrm>
          <a:prstGeom prst="roundRect">
            <a:avLst/>
          </a:prstGeom>
          <a:solidFill>
            <a:schemeClr val="accent3">
              <a:lumMod val="75000"/>
            </a:schemeClr>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400" dirty="0">
                <a:solidFill>
                  <a:schemeClr val="bg1"/>
                </a:solidFill>
              </a:rPr>
              <a:t>集積回路 </a:t>
            </a:r>
            <a:r>
              <a:rPr lang="en-US" altLang="ja-JP" sz="2400" dirty="0">
                <a:solidFill>
                  <a:schemeClr val="bg1"/>
                </a:solidFill>
              </a:rPr>
              <a:t>/ </a:t>
            </a:r>
            <a:r>
              <a:rPr lang="ja-JP" altLang="en-US" sz="2400" dirty="0">
                <a:solidFill>
                  <a:schemeClr val="bg1"/>
                </a:solidFill>
              </a:rPr>
              <a:t>デバイス</a:t>
            </a:r>
          </a:p>
        </p:txBody>
      </p:sp>
      <p:sp>
        <p:nvSpPr>
          <p:cNvPr id="2" name="タイトル 1"/>
          <p:cNvSpPr>
            <a:spLocks noGrp="1"/>
          </p:cNvSpPr>
          <p:nvPr>
            <p:ph type="title"/>
          </p:nvPr>
        </p:nvSpPr>
        <p:spPr/>
        <p:txBody>
          <a:bodyPr/>
          <a:lstStyle/>
          <a:p>
            <a:r>
              <a:rPr kumimoji="1" lang="ja-JP" altLang="en-US" dirty="0"/>
              <a:t>情報の各分野の階層</a:t>
            </a:r>
          </a:p>
        </p:txBody>
      </p:sp>
      <p:sp>
        <p:nvSpPr>
          <p:cNvPr id="10" name="テキスト プレースホルダー 4"/>
          <p:cNvSpPr>
            <a:spLocks noGrp="1"/>
          </p:cNvSpPr>
          <p:nvPr>
            <p:ph type="body" sz="quarter" idx="10"/>
          </p:nvPr>
        </p:nvSpPr>
        <p:spPr>
          <a:xfrm>
            <a:off x="2045955" y="818974"/>
            <a:ext cx="8280092" cy="1710019"/>
          </a:xfrm>
        </p:spPr>
        <p:txBody>
          <a:bodyPr/>
          <a:lstStyle/>
          <a:p>
            <a:r>
              <a:rPr lang="ja-JP" altLang="en-US" dirty="0">
                <a:latin typeface="+mn-ea"/>
              </a:rPr>
              <a:t>前回は，「</a:t>
            </a:r>
            <a:r>
              <a:rPr lang="en-US" altLang="ja-JP" dirty="0">
                <a:latin typeface="+mn-ea"/>
              </a:rPr>
              <a:t>C </a:t>
            </a:r>
            <a:r>
              <a:rPr lang="ja-JP" altLang="en-US" dirty="0">
                <a:latin typeface="+mn-ea"/>
              </a:rPr>
              <a:t>言語で書かれたプログラムを動かすためには」</a:t>
            </a:r>
            <a:br>
              <a:rPr lang="en-US" altLang="ja-JP" dirty="0">
                <a:latin typeface="+mn-ea"/>
              </a:rPr>
            </a:br>
            <a:r>
              <a:rPr lang="ja-JP" altLang="en-US" dirty="0">
                <a:latin typeface="+mn-ea"/>
              </a:rPr>
              <a:t>という視点で上から迫っていきました</a:t>
            </a:r>
            <a:endParaRPr lang="en-US" altLang="ja-JP" dirty="0">
              <a:latin typeface="+mn-ea"/>
            </a:endParaRPr>
          </a:p>
          <a:p>
            <a:endParaRPr lang="ja-JP" altLang="en-US" dirty="0">
              <a:latin typeface="+mn-ea"/>
            </a:endParaRPr>
          </a:p>
        </p:txBody>
      </p:sp>
      <p:sp>
        <p:nvSpPr>
          <p:cNvPr id="3" name="下矢印 2"/>
          <p:cNvSpPr/>
          <p:nvPr/>
        </p:nvSpPr>
        <p:spPr bwMode="auto">
          <a:xfrm>
            <a:off x="5555997" y="1718981"/>
            <a:ext cx="990011" cy="2340026"/>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765507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角丸四角形 10"/>
          <p:cNvSpPr/>
          <p:nvPr/>
        </p:nvSpPr>
        <p:spPr bwMode="auto">
          <a:xfrm>
            <a:off x="3125967" y="1898984"/>
            <a:ext cx="6120392" cy="1170012"/>
          </a:xfrm>
          <a:prstGeom prst="roundRect">
            <a:avLst/>
          </a:prstGeom>
          <a:solidFill>
            <a:schemeClr val="accent5"/>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システム・ソフトウェア</a:t>
            </a:r>
            <a:endParaRPr lang="en-US" altLang="ja-JP" dirty="0">
              <a:solidFill>
                <a:schemeClr val="bg1"/>
              </a:solidFill>
            </a:endParaRPr>
          </a:p>
          <a:p>
            <a:pPr algn="ctr"/>
            <a:r>
              <a:rPr lang="en-US" altLang="ja-JP" dirty="0">
                <a:solidFill>
                  <a:schemeClr val="bg1"/>
                </a:solidFill>
              </a:rPr>
              <a:t>OS / </a:t>
            </a:r>
            <a:r>
              <a:rPr lang="ja-JP" altLang="en-US" dirty="0">
                <a:solidFill>
                  <a:schemeClr val="bg1"/>
                </a:solidFill>
              </a:rPr>
              <a:t>コンパイラ </a:t>
            </a:r>
            <a:r>
              <a:rPr lang="en-US" altLang="ja-JP" dirty="0">
                <a:solidFill>
                  <a:schemeClr val="bg1"/>
                </a:solidFill>
              </a:rPr>
              <a:t>/ </a:t>
            </a:r>
            <a:r>
              <a:rPr lang="ja-JP" altLang="en-US" dirty="0">
                <a:solidFill>
                  <a:schemeClr val="bg1"/>
                </a:solidFill>
              </a:rPr>
              <a:t>インタプリタ</a:t>
            </a:r>
          </a:p>
        </p:txBody>
      </p:sp>
      <p:sp>
        <p:nvSpPr>
          <p:cNvPr id="12" name="角丸四角形 11"/>
          <p:cNvSpPr/>
          <p:nvPr/>
        </p:nvSpPr>
        <p:spPr bwMode="auto">
          <a:xfrm>
            <a:off x="3125967" y="2978998"/>
            <a:ext cx="6120392" cy="1170011"/>
          </a:xfrm>
          <a:prstGeom prst="roundRect">
            <a:avLst/>
          </a:prstGeom>
          <a:solidFill>
            <a:schemeClr val="accent6"/>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3200" b="1" dirty="0">
                <a:solidFill>
                  <a:schemeClr val="bg1"/>
                </a:solidFill>
              </a:rPr>
              <a:t>ここ→ </a:t>
            </a:r>
            <a:r>
              <a:rPr lang="ja-JP" altLang="en-US" sz="2400" b="1" dirty="0">
                <a:solidFill>
                  <a:schemeClr val="bg1"/>
                </a:solidFill>
              </a:rPr>
              <a:t>コンピュータ・アーキテクチャ</a:t>
            </a:r>
          </a:p>
        </p:txBody>
      </p:sp>
      <p:sp>
        <p:nvSpPr>
          <p:cNvPr id="13" name="角丸四角形 12"/>
          <p:cNvSpPr/>
          <p:nvPr/>
        </p:nvSpPr>
        <p:spPr bwMode="auto">
          <a:xfrm>
            <a:off x="3125967" y="818974"/>
            <a:ext cx="6120392" cy="1170013"/>
          </a:xfrm>
          <a:prstGeom prst="roundRect">
            <a:avLst/>
          </a:prstGeom>
          <a:solidFill>
            <a:schemeClr val="accent5"/>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アプリケーション・ソフトウェア</a:t>
            </a:r>
            <a:endParaRPr lang="en-US" altLang="ja-JP" dirty="0">
              <a:solidFill>
                <a:schemeClr val="bg1"/>
              </a:solidFill>
            </a:endParaRPr>
          </a:p>
          <a:p>
            <a:pPr algn="ctr"/>
            <a:r>
              <a:rPr lang="ja-JP" altLang="en-US" dirty="0">
                <a:solidFill>
                  <a:schemeClr val="bg1"/>
                </a:solidFill>
              </a:rPr>
              <a:t>画像処理 </a:t>
            </a:r>
            <a:r>
              <a:rPr lang="en-US" altLang="ja-JP" dirty="0">
                <a:solidFill>
                  <a:schemeClr val="bg1"/>
                </a:solidFill>
              </a:rPr>
              <a:t>/ </a:t>
            </a:r>
            <a:r>
              <a:rPr lang="ja-JP" altLang="en-US" dirty="0">
                <a:solidFill>
                  <a:schemeClr val="bg1"/>
                </a:solidFill>
              </a:rPr>
              <a:t>音声認識 </a:t>
            </a:r>
            <a:r>
              <a:rPr lang="en-US" altLang="ja-JP" dirty="0">
                <a:solidFill>
                  <a:schemeClr val="bg1"/>
                </a:solidFill>
              </a:rPr>
              <a:t>/ </a:t>
            </a:r>
            <a:r>
              <a:rPr lang="ja-JP" altLang="en-US" dirty="0">
                <a:solidFill>
                  <a:schemeClr val="bg1"/>
                </a:solidFill>
              </a:rPr>
              <a:t>言語処理 </a:t>
            </a:r>
            <a:r>
              <a:rPr lang="en-US" altLang="ja-JP" dirty="0">
                <a:solidFill>
                  <a:schemeClr val="bg1"/>
                </a:solidFill>
              </a:rPr>
              <a:t>/ </a:t>
            </a:r>
            <a:r>
              <a:rPr lang="ja-JP" altLang="en-US" dirty="0">
                <a:solidFill>
                  <a:schemeClr val="bg1"/>
                </a:solidFill>
              </a:rPr>
              <a:t>機械制御 </a:t>
            </a:r>
            <a:endParaRPr lang="en-US" altLang="ja-JP" dirty="0">
              <a:solidFill>
                <a:schemeClr val="bg1"/>
              </a:solidFill>
            </a:endParaRPr>
          </a:p>
          <a:p>
            <a:pPr algn="ctr"/>
            <a:r>
              <a:rPr lang="en-US" altLang="ja-JP" dirty="0">
                <a:solidFill>
                  <a:schemeClr val="bg1"/>
                </a:solidFill>
              </a:rPr>
              <a:t>WEB </a:t>
            </a:r>
            <a:r>
              <a:rPr lang="ja-JP" altLang="en-US" dirty="0">
                <a:solidFill>
                  <a:schemeClr val="bg1"/>
                </a:solidFill>
              </a:rPr>
              <a:t>サービス </a:t>
            </a:r>
            <a:r>
              <a:rPr lang="en-US" altLang="ja-JP" dirty="0">
                <a:solidFill>
                  <a:schemeClr val="bg1"/>
                </a:solidFill>
              </a:rPr>
              <a:t>/ </a:t>
            </a:r>
            <a:r>
              <a:rPr lang="ja-JP" altLang="en-US" dirty="0">
                <a:solidFill>
                  <a:schemeClr val="bg1"/>
                </a:solidFill>
              </a:rPr>
              <a:t>暗号　</a:t>
            </a:r>
            <a:r>
              <a:rPr lang="en-US" altLang="ja-JP" dirty="0">
                <a:solidFill>
                  <a:schemeClr val="bg1"/>
                </a:solidFill>
              </a:rPr>
              <a:t>…</a:t>
            </a:r>
          </a:p>
        </p:txBody>
      </p:sp>
      <p:sp>
        <p:nvSpPr>
          <p:cNvPr id="14" name="角丸四角形 13"/>
          <p:cNvSpPr/>
          <p:nvPr/>
        </p:nvSpPr>
        <p:spPr bwMode="auto">
          <a:xfrm>
            <a:off x="3125967" y="4059010"/>
            <a:ext cx="6120392" cy="1080119"/>
          </a:xfrm>
          <a:prstGeom prst="roundRect">
            <a:avLst/>
          </a:prstGeom>
          <a:solidFill>
            <a:schemeClr val="accent3">
              <a:lumMod val="75000"/>
            </a:schemeClr>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400" dirty="0">
                <a:solidFill>
                  <a:schemeClr val="bg1"/>
                </a:solidFill>
              </a:rPr>
              <a:t>論理回路</a:t>
            </a:r>
          </a:p>
        </p:txBody>
      </p:sp>
      <p:sp>
        <p:nvSpPr>
          <p:cNvPr id="15" name="角丸四角形 14"/>
          <p:cNvSpPr/>
          <p:nvPr/>
        </p:nvSpPr>
        <p:spPr bwMode="auto">
          <a:xfrm>
            <a:off x="3125967" y="5049021"/>
            <a:ext cx="6120392" cy="1080013"/>
          </a:xfrm>
          <a:prstGeom prst="roundRect">
            <a:avLst/>
          </a:prstGeom>
          <a:solidFill>
            <a:schemeClr val="accent3">
              <a:lumMod val="75000"/>
            </a:schemeClr>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400" dirty="0">
                <a:solidFill>
                  <a:schemeClr val="bg1"/>
                </a:solidFill>
              </a:rPr>
              <a:t>集積回路 </a:t>
            </a:r>
            <a:r>
              <a:rPr lang="en-US" altLang="ja-JP" sz="2400" dirty="0">
                <a:solidFill>
                  <a:schemeClr val="bg1"/>
                </a:solidFill>
              </a:rPr>
              <a:t>/ </a:t>
            </a:r>
            <a:r>
              <a:rPr lang="ja-JP" altLang="en-US" sz="2400" dirty="0">
                <a:solidFill>
                  <a:schemeClr val="bg1"/>
                </a:solidFill>
              </a:rPr>
              <a:t>デバイス</a:t>
            </a:r>
          </a:p>
        </p:txBody>
      </p:sp>
      <p:sp>
        <p:nvSpPr>
          <p:cNvPr id="2" name="タイトル 1"/>
          <p:cNvSpPr>
            <a:spLocks noGrp="1"/>
          </p:cNvSpPr>
          <p:nvPr>
            <p:ph type="title"/>
          </p:nvPr>
        </p:nvSpPr>
        <p:spPr/>
        <p:txBody>
          <a:bodyPr/>
          <a:lstStyle/>
          <a:p>
            <a:r>
              <a:rPr kumimoji="1" lang="ja-JP" altLang="en-US" dirty="0"/>
              <a:t>情報の各分野の階層</a:t>
            </a:r>
          </a:p>
        </p:txBody>
      </p:sp>
      <p:sp>
        <p:nvSpPr>
          <p:cNvPr id="10" name="テキスト プレースホルダー 4"/>
          <p:cNvSpPr>
            <a:spLocks noGrp="1"/>
          </p:cNvSpPr>
          <p:nvPr>
            <p:ph type="body" sz="quarter" idx="10"/>
          </p:nvPr>
        </p:nvSpPr>
        <p:spPr>
          <a:xfrm>
            <a:off x="2315958" y="6129032"/>
            <a:ext cx="7740086" cy="630007"/>
          </a:xfrm>
        </p:spPr>
        <p:txBody>
          <a:bodyPr/>
          <a:lstStyle/>
          <a:p>
            <a:r>
              <a:rPr lang="ja-JP" altLang="en-US" dirty="0">
                <a:latin typeface="+mn-ea"/>
              </a:rPr>
              <a:t>今回は，「コンピュータのハードを作るためには」という視点で，さらに下がっていきます</a:t>
            </a:r>
            <a:endParaRPr lang="en-US" altLang="ja-JP" dirty="0">
              <a:latin typeface="+mn-ea"/>
            </a:endParaRPr>
          </a:p>
        </p:txBody>
      </p:sp>
      <p:sp>
        <p:nvSpPr>
          <p:cNvPr id="3" name="下矢印 2"/>
          <p:cNvSpPr/>
          <p:nvPr/>
        </p:nvSpPr>
        <p:spPr bwMode="auto">
          <a:xfrm>
            <a:off x="5645998" y="3879008"/>
            <a:ext cx="990011" cy="2070023"/>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6122848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a:t>論理回路</a:t>
            </a:r>
            <a:endParaRPr kumimoji="1" lang="ja-JP" altLang="en-US" dirty="0"/>
          </a:p>
        </p:txBody>
      </p:sp>
    </p:spTree>
    <p:extLst>
      <p:ext uri="{BB962C8B-B14F-4D97-AF65-F5344CB8AC3E}">
        <p14:creationId xmlns:p14="http://schemas.microsoft.com/office/powerpoint/2010/main" val="800829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組み合わせ回路と順序回路</a:t>
            </a:r>
          </a:p>
        </p:txBody>
      </p:sp>
      <p:sp>
        <p:nvSpPr>
          <p:cNvPr id="5" name="テキスト プレースホルダー 4"/>
          <p:cNvSpPr>
            <a:spLocks noGrp="1"/>
          </p:cNvSpPr>
          <p:nvPr>
            <p:ph type="body" sz="quarter" idx="10"/>
          </p:nvPr>
        </p:nvSpPr>
        <p:spPr/>
        <p:txBody>
          <a:bodyPr/>
          <a:lstStyle/>
          <a:p>
            <a:pPr marL="457200" indent="-457200">
              <a:buFont typeface="+mj-lt"/>
              <a:buAutoNum type="arabicPeriod"/>
            </a:pPr>
            <a:r>
              <a:rPr kumimoji="1" lang="ja-JP" altLang="en-US" dirty="0"/>
              <a:t>組み合わせ回路</a:t>
            </a:r>
            <a:endParaRPr kumimoji="1" lang="en-US" altLang="ja-JP" dirty="0"/>
          </a:p>
          <a:p>
            <a:pPr lvl="1"/>
            <a:r>
              <a:rPr lang="ja-JP" altLang="en-US" dirty="0"/>
              <a:t>出力が，現在の入力のみにより決定される論理回路</a:t>
            </a:r>
            <a:endParaRPr lang="en-US" altLang="ja-JP" dirty="0"/>
          </a:p>
          <a:p>
            <a:pPr marL="457200" indent="-457200">
              <a:buFont typeface="+mj-lt"/>
              <a:buAutoNum type="arabicPeriod"/>
            </a:pPr>
            <a:r>
              <a:rPr kumimoji="1" lang="ja-JP" altLang="en-US" dirty="0"/>
              <a:t>順序回路</a:t>
            </a:r>
            <a:endParaRPr kumimoji="1" lang="en-US" altLang="ja-JP" dirty="0"/>
          </a:p>
          <a:p>
            <a:pPr lvl="1"/>
            <a:r>
              <a:rPr kumimoji="1" lang="ja-JP" altLang="en-US" dirty="0"/>
              <a:t>出力が，過去の入力（の履歴）にも依存する</a:t>
            </a:r>
            <a:r>
              <a:rPr lang="ja-JP" altLang="en-US" dirty="0"/>
              <a:t>論理回路</a:t>
            </a:r>
            <a:endParaRPr kumimoji="1" lang="ja-JP" altLang="en-US" dirty="0"/>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11</a:t>
            </a:fld>
            <a:endParaRPr kumimoji="1" lang="ja-JP" altLang="en-US"/>
          </a:p>
        </p:txBody>
      </p:sp>
    </p:spTree>
    <p:extLst>
      <p:ext uri="{BB962C8B-B14F-4D97-AF65-F5344CB8AC3E}">
        <p14:creationId xmlns:p14="http://schemas.microsoft.com/office/powerpoint/2010/main" val="1090795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組み合わせ回路の例：</a:t>
            </a:r>
            <a:r>
              <a:rPr kumimoji="1" lang="en-US" altLang="ja-JP" dirty="0"/>
              <a:t>2</a:t>
            </a:r>
            <a:r>
              <a:rPr kumimoji="1" lang="ja-JP" altLang="en-US" dirty="0"/>
              <a:t>入力論理ゲート</a:t>
            </a:r>
          </a:p>
        </p:txBody>
      </p:sp>
      <p:sp>
        <p:nvSpPr>
          <p:cNvPr id="4" name="Line 17"/>
          <p:cNvSpPr>
            <a:spLocks noChangeShapeType="1"/>
          </p:cNvSpPr>
          <p:nvPr/>
        </p:nvSpPr>
        <p:spPr bwMode="auto">
          <a:xfrm>
            <a:off x="8258178" y="2708275"/>
            <a:ext cx="1439863"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graphicFrame>
        <p:nvGraphicFramePr>
          <p:cNvPr id="5" name="Group 383"/>
          <p:cNvGraphicFramePr>
            <a:graphicFrameLocks/>
          </p:cNvGraphicFramePr>
          <p:nvPr>
            <p:extLst>
              <p:ext uri="{D42A27DB-BD31-4B8C-83A1-F6EECF244321}">
                <p14:modId xmlns:p14="http://schemas.microsoft.com/office/powerpoint/2010/main" val="3377532745"/>
              </p:ext>
            </p:extLst>
          </p:nvPr>
        </p:nvGraphicFramePr>
        <p:xfrm>
          <a:off x="3935712" y="4417718"/>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 name="Group 393"/>
          <p:cNvGraphicFramePr>
            <a:graphicFrameLocks/>
          </p:cNvGraphicFramePr>
          <p:nvPr>
            <p:extLst>
              <p:ext uri="{D42A27DB-BD31-4B8C-83A1-F6EECF244321}">
                <p14:modId xmlns:p14="http://schemas.microsoft.com/office/powerpoint/2010/main" val="2248315833"/>
              </p:ext>
            </p:extLst>
          </p:nvPr>
        </p:nvGraphicFramePr>
        <p:xfrm>
          <a:off x="8526324" y="5319252"/>
          <a:ext cx="900112" cy="1170156"/>
        </p:xfrm>
        <a:graphic>
          <a:graphicData uri="http://schemas.openxmlformats.org/drawingml/2006/table">
            <a:tbl>
              <a:tblPr/>
              <a:tblGrid>
                <a:gridCol w="450850">
                  <a:extLst>
                    <a:ext uri="{9D8B030D-6E8A-4147-A177-3AD203B41FA5}">
                      <a16:colId xmlns:a16="http://schemas.microsoft.com/office/drawing/2014/main" val="20000"/>
                    </a:ext>
                  </a:extLst>
                </a:gridCol>
                <a:gridCol w="449262">
                  <a:extLst>
                    <a:ext uri="{9D8B030D-6E8A-4147-A177-3AD203B41FA5}">
                      <a16:colId xmlns:a16="http://schemas.microsoft.com/office/drawing/2014/main" val="20001"/>
                    </a:ext>
                  </a:extLst>
                </a:gridCol>
              </a:tblGrid>
              <a:tr h="390052">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0052">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390052">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Line 9"/>
          <p:cNvSpPr>
            <a:spLocks noChangeShapeType="1"/>
          </p:cNvSpPr>
          <p:nvPr/>
        </p:nvSpPr>
        <p:spPr bwMode="auto">
          <a:xfrm>
            <a:off x="3935413" y="2528888"/>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8" name="Line 10"/>
          <p:cNvSpPr>
            <a:spLocks noChangeShapeType="1"/>
          </p:cNvSpPr>
          <p:nvPr/>
        </p:nvSpPr>
        <p:spPr bwMode="auto">
          <a:xfrm>
            <a:off x="3935413" y="288925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9" name="Line 11"/>
          <p:cNvSpPr>
            <a:spLocks noChangeShapeType="1"/>
          </p:cNvSpPr>
          <p:nvPr/>
        </p:nvSpPr>
        <p:spPr bwMode="auto">
          <a:xfrm>
            <a:off x="4926013" y="2708275"/>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0" name="Line 12"/>
          <p:cNvSpPr>
            <a:spLocks noChangeShapeType="1"/>
          </p:cNvSpPr>
          <p:nvPr/>
        </p:nvSpPr>
        <p:spPr bwMode="auto">
          <a:xfrm>
            <a:off x="6096000" y="2530475"/>
            <a:ext cx="63023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1" name="Line 13"/>
          <p:cNvSpPr>
            <a:spLocks noChangeShapeType="1"/>
          </p:cNvSpPr>
          <p:nvPr/>
        </p:nvSpPr>
        <p:spPr bwMode="auto">
          <a:xfrm>
            <a:off x="6096000" y="2890838"/>
            <a:ext cx="63023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2" name="Line 14"/>
          <p:cNvSpPr>
            <a:spLocks noChangeShapeType="1"/>
          </p:cNvSpPr>
          <p:nvPr/>
        </p:nvSpPr>
        <p:spPr bwMode="auto">
          <a:xfrm flipV="1">
            <a:off x="7177091" y="2708275"/>
            <a:ext cx="358775" cy="158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3" name="Rectangle 18"/>
          <p:cNvSpPr>
            <a:spLocks noChangeArrowheads="1"/>
          </p:cNvSpPr>
          <p:nvPr/>
        </p:nvSpPr>
        <p:spPr bwMode="auto">
          <a:xfrm>
            <a:off x="3575053" y="2349503"/>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14" name="Rectangle 20"/>
          <p:cNvSpPr>
            <a:spLocks noChangeArrowheads="1"/>
          </p:cNvSpPr>
          <p:nvPr/>
        </p:nvSpPr>
        <p:spPr bwMode="auto">
          <a:xfrm>
            <a:off x="3575053" y="2708278"/>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15" name="Rectangle 21"/>
          <p:cNvSpPr>
            <a:spLocks noChangeArrowheads="1"/>
          </p:cNvSpPr>
          <p:nvPr/>
        </p:nvSpPr>
        <p:spPr bwMode="auto">
          <a:xfrm>
            <a:off x="5375278" y="2528888"/>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z</a:t>
            </a:r>
          </a:p>
        </p:txBody>
      </p:sp>
      <p:sp>
        <p:nvSpPr>
          <p:cNvPr id="16" name="Rectangle 22"/>
          <p:cNvSpPr>
            <a:spLocks noChangeArrowheads="1"/>
          </p:cNvSpPr>
          <p:nvPr/>
        </p:nvSpPr>
        <p:spPr bwMode="auto">
          <a:xfrm>
            <a:off x="5735638" y="2349503"/>
            <a:ext cx="361950"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17" name="Rectangle 23"/>
          <p:cNvSpPr>
            <a:spLocks noChangeArrowheads="1"/>
          </p:cNvSpPr>
          <p:nvPr/>
        </p:nvSpPr>
        <p:spPr bwMode="auto">
          <a:xfrm>
            <a:off x="5735638" y="2709863"/>
            <a:ext cx="361950"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18" name="Rectangle 24"/>
          <p:cNvSpPr>
            <a:spLocks noChangeArrowheads="1"/>
          </p:cNvSpPr>
          <p:nvPr/>
        </p:nvSpPr>
        <p:spPr bwMode="auto">
          <a:xfrm>
            <a:off x="7535863" y="2528888"/>
            <a:ext cx="360362"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z</a:t>
            </a:r>
          </a:p>
        </p:txBody>
      </p:sp>
      <p:sp>
        <p:nvSpPr>
          <p:cNvPr id="19" name="Rectangle 25"/>
          <p:cNvSpPr>
            <a:spLocks noChangeArrowheads="1"/>
          </p:cNvSpPr>
          <p:nvPr/>
        </p:nvSpPr>
        <p:spPr bwMode="auto">
          <a:xfrm>
            <a:off x="7896228" y="2528888"/>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20" name="Rectangle 27"/>
          <p:cNvSpPr>
            <a:spLocks noChangeArrowheads="1"/>
          </p:cNvSpPr>
          <p:nvPr/>
        </p:nvSpPr>
        <p:spPr bwMode="auto">
          <a:xfrm>
            <a:off x="9698038" y="2528888"/>
            <a:ext cx="360362"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z</a:t>
            </a:r>
          </a:p>
        </p:txBody>
      </p:sp>
      <p:pic>
        <p:nvPicPr>
          <p:cNvPr id="21" name="Picture 7" descr="OR"/>
          <p:cNvPicPr>
            <a:picLocks noChangeAspect="1" noChangeArrowheads="1"/>
          </p:cNvPicPr>
          <p:nvPr/>
        </p:nvPicPr>
        <p:blipFill>
          <a:blip r:embed="rId2" cstate="print"/>
          <a:srcRect/>
          <a:stretch>
            <a:fillRect/>
          </a:stretch>
        </p:blipFill>
        <p:spPr bwMode="auto">
          <a:xfrm>
            <a:off x="6365875" y="2349500"/>
            <a:ext cx="1079500" cy="717550"/>
          </a:xfrm>
          <a:prstGeom prst="rect">
            <a:avLst/>
          </a:prstGeom>
          <a:noFill/>
        </p:spPr>
      </p:pic>
      <p:pic>
        <p:nvPicPr>
          <p:cNvPr id="22" name="Picture 28" descr="NOT"/>
          <p:cNvPicPr>
            <a:picLocks noChangeAspect="1" noChangeArrowheads="1"/>
          </p:cNvPicPr>
          <p:nvPr/>
        </p:nvPicPr>
        <p:blipFill>
          <a:blip r:embed="rId3" cstate="print"/>
          <a:srcRect/>
          <a:stretch>
            <a:fillRect/>
          </a:stretch>
        </p:blipFill>
        <p:spPr bwMode="auto">
          <a:xfrm>
            <a:off x="8616950" y="2347916"/>
            <a:ext cx="717550" cy="720725"/>
          </a:xfrm>
          <a:prstGeom prst="rect">
            <a:avLst/>
          </a:prstGeom>
          <a:noFill/>
        </p:spPr>
      </p:pic>
      <p:sp>
        <p:nvSpPr>
          <p:cNvPr id="23" name="Rectangle 141"/>
          <p:cNvSpPr>
            <a:spLocks noChangeArrowheads="1"/>
          </p:cNvSpPr>
          <p:nvPr/>
        </p:nvSpPr>
        <p:spPr bwMode="auto">
          <a:xfrm>
            <a:off x="3575050" y="3609975"/>
            <a:ext cx="2160588"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i="1" dirty="0" err="1">
                <a:ea typeface="MeiryoKe_PGothic" pitchFamily="50" charset="-128"/>
              </a:rPr>
              <a:t>a</a:t>
            </a:r>
            <a:r>
              <a:rPr lang="en-US" altLang="ja-JP" sz="2400" dirty="0" err="1">
                <a:ea typeface="MeiryoKe_PGothic" pitchFamily="50" charset="-128"/>
                <a:cs typeface="Times New Roman" pitchFamily="18" charset="0"/>
              </a:rPr>
              <a:t>∙</a:t>
            </a:r>
            <a:r>
              <a:rPr lang="en-US" altLang="ja-JP" sz="2400" i="1" dirty="0" err="1">
                <a:ea typeface="MeiryoKe_PGothic" pitchFamily="50" charset="-128"/>
              </a:rPr>
              <a:t>b</a:t>
            </a:r>
            <a:endParaRPr lang="en-US" altLang="ja-JP" sz="2400" i="1" dirty="0">
              <a:ea typeface="MeiryoKe_PGothic" pitchFamily="50" charset="-128"/>
            </a:endParaRPr>
          </a:p>
        </p:txBody>
      </p:sp>
      <p:sp>
        <p:nvSpPr>
          <p:cNvPr id="24" name="Rectangle 143"/>
          <p:cNvSpPr>
            <a:spLocks noChangeArrowheads="1"/>
          </p:cNvSpPr>
          <p:nvPr/>
        </p:nvSpPr>
        <p:spPr bwMode="auto">
          <a:xfrm>
            <a:off x="7976897" y="3609975"/>
            <a:ext cx="2070100"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i="1" dirty="0">
                <a:ea typeface="MeiryoKe_PGothic" pitchFamily="50" charset="-128"/>
              </a:rPr>
              <a:t>a’</a:t>
            </a:r>
          </a:p>
        </p:txBody>
      </p:sp>
      <p:sp>
        <p:nvSpPr>
          <p:cNvPr id="25" name="Rectangle 144"/>
          <p:cNvSpPr>
            <a:spLocks noChangeArrowheads="1"/>
          </p:cNvSpPr>
          <p:nvPr/>
        </p:nvSpPr>
        <p:spPr bwMode="auto">
          <a:xfrm>
            <a:off x="7896225" y="4062416"/>
            <a:ext cx="2160588"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i="1" dirty="0">
                <a:ea typeface="MeiryoKe_PGothic" pitchFamily="50" charset="-128"/>
              </a:rPr>
              <a:t>a</a:t>
            </a:r>
          </a:p>
        </p:txBody>
      </p:sp>
      <p:sp>
        <p:nvSpPr>
          <p:cNvPr id="26" name="Rectangle 145"/>
          <p:cNvSpPr>
            <a:spLocks noChangeArrowheads="1"/>
          </p:cNvSpPr>
          <p:nvPr/>
        </p:nvSpPr>
        <p:spPr bwMode="auto">
          <a:xfrm>
            <a:off x="4297366" y="1270003"/>
            <a:ext cx="719137" cy="360363"/>
          </a:xfrm>
          <a:prstGeom prst="rect">
            <a:avLst/>
          </a:prstGeom>
          <a:noFill/>
          <a:ln w="28575">
            <a:noFill/>
            <a:miter lim="800000"/>
            <a:headEnd/>
            <a:tailEnd/>
          </a:ln>
          <a:effectLst/>
        </p:spPr>
        <p:txBody>
          <a:bodyPr wrap="none" anchor="ctr"/>
          <a:lstStyle/>
          <a:p>
            <a:pPr algn="ctr"/>
            <a:r>
              <a:rPr lang="en-US" altLang="ja-JP" sz="2400" u="sng" dirty="0">
                <a:ea typeface="MeiryoKe_PGothic" pitchFamily="50" charset="-128"/>
              </a:rPr>
              <a:t>AND</a:t>
            </a:r>
          </a:p>
        </p:txBody>
      </p:sp>
      <p:sp>
        <p:nvSpPr>
          <p:cNvPr id="27" name="Rectangle 146"/>
          <p:cNvSpPr>
            <a:spLocks noChangeArrowheads="1"/>
          </p:cNvSpPr>
          <p:nvPr/>
        </p:nvSpPr>
        <p:spPr bwMode="auto">
          <a:xfrm>
            <a:off x="6456366" y="1270003"/>
            <a:ext cx="719137" cy="360363"/>
          </a:xfrm>
          <a:prstGeom prst="rect">
            <a:avLst/>
          </a:prstGeom>
          <a:noFill/>
          <a:ln w="28575">
            <a:noFill/>
            <a:miter lim="800000"/>
            <a:headEnd/>
            <a:tailEnd/>
          </a:ln>
          <a:effectLst/>
        </p:spPr>
        <p:txBody>
          <a:bodyPr wrap="none" anchor="ctr"/>
          <a:lstStyle/>
          <a:p>
            <a:pPr algn="ctr"/>
            <a:r>
              <a:rPr lang="en-US" altLang="ja-JP" sz="2400" u="sng" dirty="0">
                <a:ea typeface="MeiryoKe_PGothic" pitchFamily="50" charset="-128"/>
              </a:rPr>
              <a:t>OR</a:t>
            </a:r>
          </a:p>
        </p:txBody>
      </p:sp>
      <p:sp>
        <p:nvSpPr>
          <p:cNvPr id="28" name="Rectangle 147"/>
          <p:cNvSpPr>
            <a:spLocks noChangeArrowheads="1"/>
          </p:cNvSpPr>
          <p:nvPr/>
        </p:nvSpPr>
        <p:spPr bwMode="auto">
          <a:xfrm>
            <a:off x="8616950" y="1268413"/>
            <a:ext cx="719138" cy="360362"/>
          </a:xfrm>
          <a:prstGeom prst="rect">
            <a:avLst/>
          </a:prstGeom>
          <a:noFill/>
          <a:ln w="28575">
            <a:noFill/>
            <a:miter lim="800000"/>
            <a:headEnd/>
            <a:tailEnd/>
          </a:ln>
          <a:effectLst/>
        </p:spPr>
        <p:txBody>
          <a:bodyPr wrap="none" anchor="ctr"/>
          <a:lstStyle/>
          <a:p>
            <a:pPr algn="ctr"/>
            <a:r>
              <a:rPr lang="en-US" altLang="ja-JP" sz="2400" u="sng" dirty="0">
                <a:ea typeface="MeiryoKe_PGothic" pitchFamily="50" charset="-128"/>
              </a:rPr>
              <a:t>NOT</a:t>
            </a:r>
          </a:p>
        </p:txBody>
      </p:sp>
      <p:sp>
        <p:nvSpPr>
          <p:cNvPr id="29" name="Rectangle 149"/>
          <p:cNvSpPr>
            <a:spLocks noChangeArrowheads="1"/>
          </p:cNvSpPr>
          <p:nvPr/>
        </p:nvSpPr>
        <p:spPr bwMode="auto">
          <a:xfrm>
            <a:off x="1774825" y="2349500"/>
            <a:ext cx="1441450" cy="719138"/>
          </a:xfrm>
          <a:prstGeom prst="rect">
            <a:avLst/>
          </a:prstGeom>
          <a:noFill/>
          <a:ln w="28575">
            <a:noFill/>
            <a:miter lim="800000"/>
            <a:headEnd/>
            <a:tailEnd/>
          </a:ln>
          <a:effectLst/>
        </p:spPr>
        <p:txBody>
          <a:bodyPr wrap="none" anchor="ctr"/>
          <a:lstStyle/>
          <a:p>
            <a:pPr algn="ctr"/>
            <a:r>
              <a:rPr lang="en-US" altLang="ja-JP" dirty="0">
                <a:latin typeface="メイリオ" pitchFamily="50" charset="-128"/>
                <a:ea typeface="メイリオ" pitchFamily="50" charset="-128"/>
              </a:rPr>
              <a:t>MIL</a:t>
            </a:r>
            <a:r>
              <a:rPr lang="ja-JP" altLang="en-US" dirty="0">
                <a:latin typeface="メイリオ" pitchFamily="50" charset="-128"/>
                <a:ea typeface="メイリオ" pitchFamily="50" charset="-128"/>
              </a:rPr>
              <a:t>記号</a:t>
            </a:r>
          </a:p>
          <a:p>
            <a:pPr algn="ctr"/>
            <a:r>
              <a:rPr lang="en-US" altLang="ja-JP" dirty="0">
                <a:ea typeface="MeiryoKe_PGothic" pitchFamily="50" charset="-128"/>
              </a:rPr>
              <a:t>MIL symbol</a:t>
            </a:r>
          </a:p>
        </p:txBody>
      </p:sp>
      <p:sp>
        <p:nvSpPr>
          <p:cNvPr id="30" name="Rectangle 150"/>
          <p:cNvSpPr>
            <a:spLocks noChangeArrowheads="1"/>
          </p:cNvSpPr>
          <p:nvPr/>
        </p:nvSpPr>
        <p:spPr bwMode="auto">
          <a:xfrm>
            <a:off x="1774825" y="3519491"/>
            <a:ext cx="1441450" cy="720725"/>
          </a:xfrm>
          <a:prstGeom prst="rect">
            <a:avLst/>
          </a:prstGeom>
          <a:noFill/>
          <a:ln w="28575">
            <a:noFill/>
            <a:miter lim="800000"/>
            <a:headEnd/>
            <a:tailEnd/>
          </a:ln>
          <a:effectLst/>
        </p:spPr>
        <p:txBody>
          <a:bodyPr wrap="none" anchor="ctr"/>
          <a:lstStyle/>
          <a:p>
            <a:pPr algn="ctr"/>
            <a:r>
              <a:rPr lang="ja-JP" altLang="en-US" dirty="0">
                <a:latin typeface="メイリオ" pitchFamily="50" charset="-128"/>
                <a:ea typeface="メイリオ" pitchFamily="50" charset="-128"/>
              </a:rPr>
              <a:t>論理式</a:t>
            </a:r>
          </a:p>
          <a:p>
            <a:pPr algn="ctr"/>
            <a:r>
              <a:rPr lang="en-US" altLang="ja-JP" dirty="0">
                <a:ea typeface="MeiryoKe_PGothic" pitchFamily="50" charset="-128"/>
              </a:rPr>
              <a:t>logic expression</a:t>
            </a:r>
          </a:p>
        </p:txBody>
      </p:sp>
      <p:sp>
        <p:nvSpPr>
          <p:cNvPr id="31" name="Rectangle 151"/>
          <p:cNvSpPr>
            <a:spLocks noChangeArrowheads="1"/>
          </p:cNvSpPr>
          <p:nvPr/>
        </p:nvSpPr>
        <p:spPr bwMode="auto">
          <a:xfrm>
            <a:off x="1774825" y="5138741"/>
            <a:ext cx="1441450" cy="719137"/>
          </a:xfrm>
          <a:prstGeom prst="rect">
            <a:avLst/>
          </a:prstGeom>
          <a:noFill/>
          <a:ln w="28575">
            <a:noFill/>
            <a:miter lim="800000"/>
            <a:headEnd/>
            <a:tailEnd/>
          </a:ln>
          <a:effectLst/>
        </p:spPr>
        <p:txBody>
          <a:bodyPr wrap="none" anchor="ctr"/>
          <a:lstStyle/>
          <a:p>
            <a:pPr algn="ctr"/>
            <a:r>
              <a:rPr lang="ja-JP" altLang="en-US" dirty="0">
                <a:latin typeface="メイリオ" pitchFamily="50" charset="-128"/>
                <a:ea typeface="メイリオ" pitchFamily="50" charset="-128"/>
              </a:rPr>
              <a:t>真理値表</a:t>
            </a:r>
          </a:p>
          <a:p>
            <a:pPr algn="ctr"/>
            <a:r>
              <a:rPr lang="en-US" altLang="ja-JP" dirty="0">
                <a:ea typeface="MeiryoKe_PGothic" pitchFamily="50" charset="-128"/>
              </a:rPr>
              <a:t>truth table</a:t>
            </a:r>
          </a:p>
        </p:txBody>
      </p:sp>
      <p:sp>
        <p:nvSpPr>
          <p:cNvPr id="32" name="Line 152"/>
          <p:cNvSpPr>
            <a:spLocks noChangeShapeType="1"/>
          </p:cNvSpPr>
          <p:nvPr/>
        </p:nvSpPr>
        <p:spPr bwMode="auto">
          <a:xfrm>
            <a:off x="9156700" y="4241803"/>
            <a:ext cx="179388" cy="0"/>
          </a:xfrm>
          <a:prstGeom prst="line">
            <a:avLst/>
          </a:prstGeom>
          <a:noFill/>
          <a:ln w="12700">
            <a:solidFill>
              <a:schemeClr val="tx1"/>
            </a:solidFill>
            <a:round/>
            <a:headEnd/>
            <a:tailEnd/>
          </a:ln>
          <a:effectLst/>
        </p:spPr>
        <p:txBody>
          <a:bodyPr/>
          <a:lstStyle/>
          <a:p>
            <a:endParaRPr lang="ja-JP" altLang="en-US" dirty="0">
              <a:ea typeface="MeiryoKe_PGothic" pitchFamily="50" charset="-128"/>
            </a:endParaRPr>
          </a:p>
        </p:txBody>
      </p:sp>
      <p:pic>
        <p:nvPicPr>
          <p:cNvPr id="33" name="Picture 6" descr="AND"/>
          <p:cNvPicPr>
            <a:picLocks noChangeAspect="1" noChangeArrowheads="1"/>
          </p:cNvPicPr>
          <p:nvPr/>
        </p:nvPicPr>
        <p:blipFill>
          <a:blip r:embed="rId4" cstate="print"/>
          <a:srcRect/>
          <a:stretch>
            <a:fillRect/>
          </a:stretch>
        </p:blipFill>
        <p:spPr bwMode="auto">
          <a:xfrm>
            <a:off x="4205288" y="2349503"/>
            <a:ext cx="1079500" cy="720725"/>
          </a:xfrm>
          <a:prstGeom prst="rect">
            <a:avLst/>
          </a:prstGeom>
          <a:noFill/>
        </p:spPr>
      </p:pic>
      <p:sp>
        <p:nvSpPr>
          <p:cNvPr id="34" name="Rectangle 153"/>
          <p:cNvSpPr>
            <a:spLocks noChangeArrowheads="1"/>
          </p:cNvSpPr>
          <p:nvPr/>
        </p:nvSpPr>
        <p:spPr bwMode="auto">
          <a:xfrm>
            <a:off x="4295775" y="1719263"/>
            <a:ext cx="719138" cy="360362"/>
          </a:xfrm>
          <a:prstGeom prst="rect">
            <a:avLst/>
          </a:prstGeom>
          <a:noFill/>
          <a:ln w="28575">
            <a:noFill/>
            <a:miter lim="800000"/>
            <a:headEnd/>
            <a:tailEnd/>
          </a:ln>
          <a:effectLst/>
        </p:spPr>
        <p:txBody>
          <a:bodyPr wrap="none" anchor="ctr"/>
          <a:lstStyle/>
          <a:p>
            <a:pPr algn="ctr"/>
            <a:r>
              <a:rPr lang="ja-JP" altLang="en-US" sz="2400" dirty="0">
                <a:ea typeface="MeiryoKe_PGothic" pitchFamily="50" charset="-128"/>
              </a:rPr>
              <a:t>（論理積）</a:t>
            </a:r>
          </a:p>
        </p:txBody>
      </p:sp>
      <p:sp>
        <p:nvSpPr>
          <p:cNvPr id="35" name="Rectangle 154"/>
          <p:cNvSpPr>
            <a:spLocks noChangeArrowheads="1"/>
          </p:cNvSpPr>
          <p:nvPr/>
        </p:nvSpPr>
        <p:spPr bwMode="auto">
          <a:xfrm>
            <a:off x="6454775" y="1719263"/>
            <a:ext cx="719138" cy="360362"/>
          </a:xfrm>
          <a:prstGeom prst="rect">
            <a:avLst/>
          </a:prstGeom>
          <a:noFill/>
          <a:ln w="28575">
            <a:noFill/>
            <a:miter lim="800000"/>
            <a:headEnd/>
            <a:tailEnd/>
          </a:ln>
          <a:effectLst/>
        </p:spPr>
        <p:txBody>
          <a:bodyPr wrap="none" anchor="ctr"/>
          <a:lstStyle/>
          <a:p>
            <a:pPr algn="ctr"/>
            <a:r>
              <a:rPr lang="ja-JP" altLang="en-US" sz="2400" dirty="0">
                <a:ea typeface="MeiryoKe_PGothic" pitchFamily="50" charset="-128"/>
              </a:rPr>
              <a:t>（論理和）</a:t>
            </a:r>
          </a:p>
        </p:txBody>
      </p:sp>
      <p:sp>
        <p:nvSpPr>
          <p:cNvPr id="36" name="Rectangle 155"/>
          <p:cNvSpPr>
            <a:spLocks noChangeArrowheads="1"/>
          </p:cNvSpPr>
          <p:nvPr/>
        </p:nvSpPr>
        <p:spPr bwMode="auto">
          <a:xfrm>
            <a:off x="8615366" y="1717678"/>
            <a:ext cx="719137" cy="360363"/>
          </a:xfrm>
          <a:prstGeom prst="rect">
            <a:avLst/>
          </a:prstGeom>
          <a:noFill/>
          <a:ln w="28575">
            <a:noFill/>
            <a:miter lim="800000"/>
            <a:headEnd/>
            <a:tailEnd/>
          </a:ln>
          <a:effectLst/>
        </p:spPr>
        <p:txBody>
          <a:bodyPr wrap="none" anchor="ctr"/>
          <a:lstStyle/>
          <a:p>
            <a:pPr algn="ctr"/>
            <a:r>
              <a:rPr lang="ja-JP" altLang="en-US" sz="2400" dirty="0">
                <a:ea typeface="MeiryoKe_PGothic" pitchFamily="50" charset="-128"/>
              </a:rPr>
              <a:t>（論理否定）</a:t>
            </a:r>
          </a:p>
        </p:txBody>
      </p:sp>
      <p:sp>
        <p:nvSpPr>
          <p:cNvPr id="37" name="Rectangle 156"/>
          <p:cNvSpPr>
            <a:spLocks noChangeArrowheads="1"/>
          </p:cNvSpPr>
          <p:nvPr/>
        </p:nvSpPr>
        <p:spPr bwMode="auto">
          <a:xfrm>
            <a:off x="7896225" y="4514856"/>
            <a:ext cx="2160588"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dirty="0">
                <a:ea typeface="MeiryoKe_PGothic" pitchFamily="50" charset="-128"/>
                <a:cs typeface="Times New Roman" pitchFamily="18" charset="0"/>
              </a:rPr>
              <a:t>¬ </a:t>
            </a:r>
            <a:r>
              <a:rPr lang="en-US" altLang="ja-JP" sz="2400" i="1" dirty="0">
                <a:ea typeface="MeiryoKe_PGothic" pitchFamily="50" charset="-128"/>
              </a:rPr>
              <a:t>a</a:t>
            </a:r>
          </a:p>
        </p:txBody>
      </p:sp>
      <p:graphicFrame>
        <p:nvGraphicFramePr>
          <p:cNvPr id="38" name="Group 278"/>
          <p:cNvGraphicFramePr>
            <a:graphicFrameLocks noGrp="1"/>
          </p:cNvGraphicFramePr>
          <p:nvPr>
            <p:extLst>
              <p:ext uri="{D42A27DB-BD31-4B8C-83A1-F6EECF244321}">
                <p14:modId xmlns:p14="http://schemas.microsoft.com/office/powerpoint/2010/main" val="1071812070"/>
              </p:ext>
            </p:extLst>
          </p:nvPr>
        </p:nvGraphicFramePr>
        <p:xfrm>
          <a:off x="6096003" y="4386288"/>
          <a:ext cx="1439863" cy="2103120"/>
        </p:xfrm>
        <a:graphic>
          <a:graphicData uri="http://schemas.openxmlformats.org/drawingml/2006/table">
            <a:tbl>
              <a:tblPr/>
              <a:tblGrid>
                <a:gridCol w="479425">
                  <a:extLst>
                    <a:ext uri="{9D8B030D-6E8A-4147-A177-3AD203B41FA5}">
                      <a16:colId xmlns:a16="http://schemas.microsoft.com/office/drawing/2014/main" val="20000"/>
                    </a:ext>
                  </a:extLst>
                </a:gridCol>
                <a:gridCol w="481013">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9" name="Rectangle 143"/>
          <p:cNvSpPr>
            <a:spLocks noChangeArrowheads="1"/>
          </p:cNvSpPr>
          <p:nvPr/>
        </p:nvSpPr>
        <p:spPr bwMode="auto">
          <a:xfrm>
            <a:off x="5734048" y="3609976"/>
            <a:ext cx="2070100"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i="1" dirty="0">
                <a:ea typeface="MeiryoKe_PGothic" pitchFamily="50" charset="-128"/>
              </a:rPr>
              <a:t>a </a:t>
            </a:r>
            <a:r>
              <a:rPr lang="en-US" altLang="ja-JP" sz="2400" dirty="0">
                <a:ea typeface="MeiryoKe_PGothic" pitchFamily="50" charset="-128"/>
                <a:cs typeface="Times New Roman" pitchFamily="18" charset="0"/>
              </a:rPr>
              <a:t>+ </a:t>
            </a:r>
            <a:r>
              <a:rPr lang="en-US" altLang="ja-JP" sz="2400" i="1" dirty="0">
                <a:ea typeface="MeiryoKe_PGothic" pitchFamily="50" charset="-128"/>
              </a:rPr>
              <a:t>b</a:t>
            </a:r>
          </a:p>
        </p:txBody>
      </p:sp>
    </p:spTree>
    <p:extLst>
      <p:ext uri="{BB962C8B-B14F-4D97-AF65-F5344CB8AC3E}">
        <p14:creationId xmlns:p14="http://schemas.microsoft.com/office/powerpoint/2010/main" val="1492239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22" name="Rectangle 6"/>
          <p:cNvSpPr>
            <a:spLocks noGrp="1" noChangeArrowheads="1"/>
          </p:cNvSpPr>
          <p:nvPr>
            <p:ph type="title"/>
          </p:nvPr>
        </p:nvSpPr>
        <p:spPr/>
        <p:txBody>
          <a:bodyPr/>
          <a:lstStyle/>
          <a:p>
            <a:r>
              <a:rPr lang="ja-JP" altLang="en-US" dirty="0"/>
              <a:t>完全性（</a:t>
            </a:r>
            <a:r>
              <a:rPr lang="en-US" altLang="ja-JP" dirty="0"/>
              <a:t>Completeness</a:t>
            </a:r>
            <a:r>
              <a:rPr lang="ja-JP" altLang="en-US" dirty="0" err="1"/>
              <a:t>，</a:t>
            </a:r>
            <a:r>
              <a:rPr lang="ja-JP" altLang="en-US" dirty="0"/>
              <a:t>完備性）</a:t>
            </a:r>
          </a:p>
        </p:txBody>
      </p:sp>
      <p:sp>
        <p:nvSpPr>
          <p:cNvPr id="444423" name="Rectangle 7"/>
          <p:cNvSpPr>
            <a:spLocks noGrp="1" noChangeArrowheads="1"/>
          </p:cNvSpPr>
          <p:nvPr>
            <p:ph type="body" sz="quarter" idx="10"/>
          </p:nvPr>
        </p:nvSpPr>
        <p:spPr>
          <a:xfrm>
            <a:off x="1775427" y="1268712"/>
            <a:ext cx="8641751" cy="5491162"/>
          </a:xfrm>
          <a:prstGeom prst="rect">
            <a:avLst/>
          </a:prstGeom>
        </p:spPr>
        <p:txBody>
          <a:bodyPr/>
          <a:lstStyle/>
          <a:p>
            <a:r>
              <a:rPr lang="ja-JP" altLang="en-US" dirty="0"/>
              <a:t>完全集合 </a:t>
            </a:r>
            <a:r>
              <a:rPr lang="en-US" altLang="ja-JP" dirty="0"/>
              <a:t>(Complete Set)</a:t>
            </a:r>
            <a:r>
              <a:rPr lang="ja-JP" altLang="en-US" dirty="0"/>
              <a:t>：</a:t>
            </a:r>
            <a:endParaRPr lang="en-US" altLang="ja-JP" dirty="0"/>
          </a:p>
          <a:p>
            <a:pPr lvl="1"/>
            <a:r>
              <a:rPr lang="ja-JP" altLang="en-US" dirty="0"/>
              <a:t>その組み合わせによって，すべての論理関数を表現できる</a:t>
            </a:r>
            <a:br>
              <a:rPr lang="en-US" altLang="ja-JP" dirty="0"/>
            </a:br>
            <a:r>
              <a:rPr lang="ja-JP" altLang="en-US" dirty="0"/>
              <a:t>論理関数の集合</a:t>
            </a:r>
            <a:endParaRPr lang="en-US" altLang="ja-JP" dirty="0"/>
          </a:p>
          <a:p>
            <a:r>
              <a:rPr lang="ja-JP" altLang="en-US" dirty="0"/>
              <a:t>完全集合の例</a:t>
            </a:r>
          </a:p>
          <a:p>
            <a:pPr lvl="1"/>
            <a:r>
              <a:rPr lang="en-US" altLang="ja-JP" dirty="0"/>
              <a:t>{AND, OR, NOT}</a:t>
            </a:r>
          </a:p>
          <a:p>
            <a:pPr lvl="1"/>
            <a:r>
              <a:rPr lang="en-US" altLang="ja-JP" dirty="0"/>
              <a:t>{AND, NOT}</a:t>
            </a:r>
          </a:p>
          <a:p>
            <a:pPr lvl="1"/>
            <a:r>
              <a:rPr lang="en-US" altLang="ja-JP" dirty="0"/>
              <a:t>{OR, NOT}</a:t>
            </a:r>
          </a:p>
          <a:p>
            <a:pPr lvl="1"/>
            <a:r>
              <a:rPr lang="en-US" altLang="ja-JP" dirty="0"/>
              <a:t>{NAND}</a:t>
            </a:r>
          </a:p>
          <a:p>
            <a:pPr lvl="1"/>
            <a:r>
              <a:rPr lang="en-US" altLang="ja-JP" dirty="0"/>
              <a:t>{NOR}</a:t>
            </a:r>
          </a:p>
          <a:p>
            <a:r>
              <a:rPr lang="ja-JP" altLang="en-US" dirty="0">
                <a:solidFill>
                  <a:schemeClr val="accent5"/>
                </a:solidFill>
              </a:rPr>
              <a:t>たとえば，</a:t>
            </a:r>
            <a:r>
              <a:rPr lang="en-US" altLang="ja-JP" dirty="0">
                <a:solidFill>
                  <a:schemeClr val="accent5"/>
                </a:solidFill>
              </a:rPr>
              <a:t>{AND, OR, NOT} </a:t>
            </a:r>
            <a:r>
              <a:rPr lang="ja-JP" altLang="en-US" dirty="0">
                <a:solidFill>
                  <a:schemeClr val="accent5"/>
                </a:solidFill>
              </a:rPr>
              <a:t>を組み合わせると任意の論理関数が作れる</a:t>
            </a:r>
            <a:endParaRPr lang="en-US" altLang="ja-JP" dirty="0">
              <a:solidFill>
                <a:schemeClr val="accent5"/>
              </a:solidFill>
            </a:endParaRPr>
          </a:p>
          <a:p>
            <a:pPr lvl="1"/>
            <a:r>
              <a:rPr lang="ja-JP" altLang="en-US" dirty="0">
                <a:solidFill>
                  <a:schemeClr val="tx1">
                    <a:lumMod val="85000"/>
                    <a:lumOff val="15000"/>
                  </a:schemeClr>
                </a:solidFill>
              </a:rPr>
              <a:t>（証明は，数学的帰納法を使えばそんなに難しくない）</a:t>
            </a:r>
            <a:endParaRPr lang="en-US" altLang="ja-JP" dirty="0">
              <a:solidFill>
                <a:schemeClr val="tx1">
                  <a:lumMod val="85000"/>
                  <a:lumOff val="15000"/>
                </a:schemeClr>
              </a:solidFill>
            </a:endParaRPr>
          </a:p>
        </p:txBody>
      </p:sp>
    </p:spTree>
    <p:extLst>
      <p:ext uri="{BB962C8B-B14F-4D97-AF65-F5344CB8AC3E}">
        <p14:creationId xmlns:p14="http://schemas.microsoft.com/office/powerpoint/2010/main" val="34149794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真理値表による表現と，積和標準系による回路</a:t>
            </a:r>
            <a:endParaRPr kumimoji="1" lang="ja-JP" altLang="en-US" dirty="0"/>
          </a:p>
        </p:txBody>
      </p:sp>
      <p:sp>
        <p:nvSpPr>
          <p:cNvPr id="3" name="テキスト プレースホルダー 2"/>
          <p:cNvSpPr>
            <a:spLocks noGrp="1"/>
          </p:cNvSpPr>
          <p:nvPr>
            <p:ph type="body" sz="quarter" idx="10"/>
          </p:nvPr>
        </p:nvSpPr>
        <p:spPr>
          <a:xfrm>
            <a:off x="1865953" y="5499023"/>
            <a:ext cx="8550094" cy="1169706"/>
          </a:xfrm>
        </p:spPr>
        <p:txBody>
          <a:bodyPr/>
          <a:lstStyle/>
          <a:p>
            <a:r>
              <a:rPr kumimoji="1" lang="ja-JP" altLang="en-US" dirty="0"/>
              <a:t>真理値表が与えられれば，</a:t>
            </a:r>
            <a:endParaRPr kumimoji="1" lang="en-US" altLang="ja-JP" dirty="0"/>
          </a:p>
          <a:p>
            <a:pPr lvl="1"/>
            <a:r>
              <a:rPr lang="en-US" altLang="ja-JP" dirty="0"/>
              <a:t>{AND, OR, NOT} </a:t>
            </a:r>
            <a:r>
              <a:rPr lang="ja-JP" altLang="en-US" dirty="0"/>
              <a:t>を使った積和標準系に機械的に置き換えできる</a:t>
            </a:r>
            <a:endParaRPr lang="en-US" altLang="ja-JP" dirty="0"/>
          </a:p>
          <a:p>
            <a:pPr lvl="1"/>
            <a:r>
              <a:rPr kumimoji="1" lang="ja-JP" altLang="en-US" dirty="0"/>
              <a:t>つまり，</a:t>
            </a:r>
            <a:r>
              <a:rPr lang="en-US" altLang="ja-JP" dirty="0"/>
              <a:t>{AND, OR, NOT} </a:t>
            </a:r>
            <a:r>
              <a:rPr lang="ja-JP" altLang="en-US" dirty="0"/>
              <a:t>を使って</a:t>
            </a:r>
            <a:r>
              <a:rPr kumimoji="1" lang="ja-JP" altLang="en-US" dirty="0"/>
              <a:t>対応する回路</a:t>
            </a:r>
            <a:r>
              <a:rPr lang="ja-JP" altLang="en-US" dirty="0"/>
              <a:t>が生成できる</a:t>
            </a:r>
            <a:endParaRPr kumimoji="1" lang="ja-JP" altLang="en-US" dirty="0"/>
          </a:p>
        </p:txBody>
      </p:sp>
      <p:graphicFrame>
        <p:nvGraphicFramePr>
          <p:cNvPr id="4" name="Group 153"/>
          <p:cNvGraphicFramePr>
            <a:graphicFrameLocks/>
          </p:cNvGraphicFramePr>
          <p:nvPr>
            <p:extLst>
              <p:ext uri="{D42A27DB-BD31-4B8C-83A1-F6EECF244321}">
                <p14:modId xmlns:p14="http://schemas.microsoft.com/office/powerpoint/2010/main" val="2953444351"/>
              </p:ext>
            </p:extLst>
          </p:nvPr>
        </p:nvGraphicFramePr>
        <p:xfrm>
          <a:off x="3035966" y="998976"/>
          <a:ext cx="1728000" cy="3424301"/>
        </p:xfrm>
        <a:graphic>
          <a:graphicData uri="http://schemas.openxmlformats.org/drawingml/2006/table">
            <a:tbl>
              <a:tblPr/>
              <a:tblGrid>
                <a:gridCol w="43200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432000">
                  <a:extLst>
                    <a:ext uri="{9D8B030D-6E8A-4147-A177-3AD203B41FA5}">
                      <a16:colId xmlns:a16="http://schemas.microsoft.com/office/drawing/2014/main" val="20002"/>
                    </a:ext>
                  </a:extLst>
                </a:gridCol>
                <a:gridCol w="432000">
                  <a:extLst>
                    <a:ext uri="{9D8B030D-6E8A-4147-A177-3AD203B41FA5}">
                      <a16:colId xmlns:a16="http://schemas.microsoft.com/office/drawing/2014/main" val="20003"/>
                    </a:ext>
                  </a:extLst>
                </a:gridCol>
              </a:tblGrid>
              <a:tr h="5429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o</a:t>
                      </a:r>
                      <a:endPar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bg1">
                        <a:alpha val="50000"/>
                      </a:schemeClr>
                    </a:soli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4">
                        <a:lumMod val="40000"/>
                        <a:lumOff val="60000"/>
                      </a:schemeClr>
                    </a:solidFill>
                  </a:tcPr>
                </a:tc>
                <a:extLst>
                  <a:ext uri="{0D108BD9-81ED-4DB2-BD59-A6C34878D82A}">
                    <a16:rowId xmlns:a16="http://schemas.microsoft.com/office/drawing/2014/main" val="10002"/>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3"/>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4"/>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4">
                        <a:lumMod val="40000"/>
                        <a:lumOff val="60000"/>
                      </a:schemeClr>
                    </a:solidFill>
                  </a:tcPr>
                </a:tc>
                <a:extLst>
                  <a:ext uri="{0D108BD9-81ED-4DB2-BD59-A6C34878D82A}">
                    <a16:rowId xmlns:a16="http://schemas.microsoft.com/office/drawing/2014/main" val="10005"/>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6"/>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7"/>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extLst>
                  <a:ext uri="{0D108BD9-81ED-4DB2-BD59-A6C34878D82A}">
                    <a16:rowId xmlns:a16="http://schemas.microsoft.com/office/drawing/2014/main" val="10008"/>
                  </a:ext>
                </a:extLst>
              </a:tr>
            </a:tbl>
          </a:graphicData>
        </a:graphic>
      </p:graphicFrame>
      <p:pic>
        <p:nvPicPr>
          <p:cNvPr id="7" name="Picture 6" descr="AND"/>
          <p:cNvPicPr>
            <a:picLocks noChangeAspect="1" noChangeArrowheads="1"/>
          </p:cNvPicPr>
          <p:nvPr/>
        </p:nvPicPr>
        <p:blipFill>
          <a:blip r:embed="rId2" cstate="print"/>
          <a:srcRect/>
          <a:stretch>
            <a:fillRect/>
          </a:stretch>
        </p:blipFill>
        <p:spPr bwMode="auto">
          <a:xfrm>
            <a:off x="6726007" y="1808985"/>
            <a:ext cx="1079500" cy="720725"/>
          </a:xfrm>
          <a:prstGeom prst="rect">
            <a:avLst/>
          </a:prstGeom>
          <a:noFill/>
        </p:spPr>
      </p:pic>
      <p:sp>
        <p:nvSpPr>
          <p:cNvPr id="8" name="Freeform 10"/>
          <p:cNvSpPr>
            <a:spLocks/>
          </p:cNvSpPr>
          <p:nvPr/>
        </p:nvSpPr>
        <p:spPr bwMode="auto">
          <a:xfrm flipH="1" flipV="1">
            <a:off x="7536016" y="2168988"/>
            <a:ext cx="360004"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9" name="直線矢印コネクタ 8"/>
          <p:cNvCxnSpPr/>
          <p:nvPr/>
        </p:nvCxnSpPr>
        <p:spPr bwMode="auto">
          <a:xfrm>
            <a:off x="5375992" y="1988984"/>
            <a:ext cx="1440016" cy="0"/>
          </a:xfrm>
          <a:prstGeom prst="straightConnector1">
            <a:avLst/>
          </a:prstGeom>
          <a:noFill/>
          <a:ln w="15875" cap="flat" cmpd="sng" algn="ctr">
            <a:solidFill>
              <a:schemeClr val="accent6"/>
            </a:solidFill>
            <a:prstDash val="solid"/>
            <a:round/>
            <a:headEnd type="oval" w="sm" len="sm"/>
            <a:tailEnd type="none"/>
          </a:ln>
          <a:effectLst/>
        </p:spPr>
      </p:cxnSp>
      <p:cxnSp>
        <p:nvCxnSpPr>
          <p:cNvPr id="11" name="直線矢印コネクタ 10"/>
          <p:cNvCxnSpPr/>
          <p:nvPr/>
        </p:nvCxnSpPr>
        <p:spPr bwMode="auto">
          <a:xfrm flipV="1">
            <a:off x="5375992" y="1538984"/>
            <a:ext cx="0" cy="3330035"/>
          </a:xfrm>
          <a:prstGeom prst="straightConnector1">
            <a:avLst/>
          </a:prstGeom>
          <a:noFill/>
          <a:ln w="9525" cap="flat" cmpd="sng" algn="ctr">
            <a:solidFill>
              <a:schemeClr val="tx1"/>
            </a:solidFill>
            <a:prstDash val="solid"/>
            <a:round/>
            <a:headEnd type="none" w="med" len="med"/>
            <a:tailEnd type="none"/>
          </a:ln>
          <a:effectLst/>
        </p:spPr>
      </p:cxnSp>
      <p:sp>
        <p:nvSpPr>
          <p:cNvPr id="14" name="正方形/長方形 13"/>
          <p:cNvSpPr/>
          <p:nvPr/>
        </p:nvSpPr>
        <p:spPr bwMode="auto">
          <a:xfrm>
            <a:off x="5195990" y="108897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fontAlgn="base"/>
            <a:r>
              <a:rPr lang="en-US" altLang="ja-JP" sz="2000" i="1" dirty="0">
                <a:latin typeface="Times New Roman" panose="02020603050405020304" pitchFamily="18" charset="0"/>
                <a:cs typeface="Times New Roman" panose="02020603050405020304" pitchFamily="18" charset="0"/>
              </a:rPr>
              <a:t>i</a:t>
            </a:r>
            <a:r>
              <a:rPr lang="en-US" altLang="ja-JP" sz="2000" i="1" baseline="-25000" dirty="0">
                <a:latin typeface="Times New Roman" panose="02020603050405020304" pitchFamily="18" charset="0"/>
                <a:cs typeface="Times New Roman" panose="02020603050405020304" pitchFamily="18" charset="0"/>
              </a:rPr>
              <a:t>2</a:t>
            </a:r>
            <a:endParaRPr lang="ja-JP" altLang="ja-JP" sz="2000" dirty="0">
              <a:latin typeface="Times New Roman" panose="02020603050405020304" pitchFamily="18" charset="0"/>
              <a:cs typeface="Times New Roman" panose="02020603050405020304" pitchFamily="18" charset="0"/>
            </a:endParaRPr>
          </a:p>
        </p:txBody>
      </p:sp>
      <p:sp>
        <p:nvSpPr>
          <p:cNvPr id="15" name="正方形/長方形 14"/>
          <p:cNvSpPr/>
          <p:nvPr/>
        </p:nvSpPr>
        <p:spPr bwMode="auto">
          <a:xfrm>
            <a:off x="5555994" y="108897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fontAlgn="base"/>
            <a:r>
              <a:rPr lang="en-US" altLang="ja-JP" sz="2000" i="1" dirty="0">
                <a:latin typeface="Times New Roman" panose="02020603050405020304" pitchFamily="18" charset="0"/>
                <a:cs typeface="Times New Roman" panose="02020603050405020304" pitchFamily="18" charset="0"/>
              </a:rPr>
              <a:t>i</a:t>
            </a:r>
            <a:r>
              <a:rPr lang="en-US" altLang="ja-JP" sz="2000" i="1" baseline="-25000" dirty="0">
                <a:latin typeface="Times New Roman" panose="02020603050405020304" pitchFamily="18" charset="0"/>
                <a:cs typeface="Times New Roman" panose="02020603050405020304" pitchFamily="18" charset="0"/>
              </a:rPr>
              <a:t>1</a:t>
            </a:r>
            <a:endParaRPr lang="ja-JP" altLang="ja-JP" sz="2000" dirty="0">
              <a:latin typeface="Times New Roman" panose="02020603050405020304" pitchFamily="18" charset="0"/>
              <a:cs typeface="Times New Roman" panose="02020603050405020304" pitchFamily="18" charset="0"/>
            </a:endParaRPr>
          </a:p>
        </p:txBody>
      </p:sp>
      <p:sp>
        <p:nvSpPr>
          <p:cNvPr id="16" name="正方形/長方形 15"/>
          <p:cNvSpPr/>
          <p:nvPr/>
        </p:nvSpPr>
        <p:spPr bwMode="auto">
          <a:xfrm>
            <a:off x="5915998" y="108897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fontAlgn="base"/>
            <a:r>
              <a:rPr lang="en-US" altLang="ja-JP" sz="2000" i="1" dirty="0">
                <a:latin typeface="Times New Roman" panose="02020603050405020304" pitchFamily="18" charset="0"/>
                <a:cs typeface="Times New Roman" panose="02020603050405020304" pitchFamily="18" charset="0"/>
              </a:rPr>
              <a:t>i</a:t>
            </a:r>
            <a:r>
              <a:rPr lang="en-US" altLang="ja-JP" sz="2000" i="1" baseline="-25000" dirty="0">
                <a:latin typeface="Times New Roman" panose="02020603050405020304" pitchFamily="18" charset="0"/>
                <a:cs typeface="Times New Roman" panose="02020603050405020304" pitchFamily="18" charset="0"/>
              </a:rPr>
              <a:t>0</a:t>
            </a:r>
            <a:endParaRPr lang="ja-JP" altLang="ja-JP" sz="2000" dirty="0">
              <a:latin typeface="Times New Roman" panose="02020603050405020304" pitchFamily="18" charset="0"/>
              <a:cs typeface="Times New Roman" panose="02020603050405020304" pitchFamily="18" charset="0"/>
            </a:endParaRPr>
          </a:p>
        </p:txBody>
      </p:sp>
      <p:cxnSp>
        <p:nvCxnSpPr>
          <p:cNvPr id="17" name="直線矢印コネクタ 16"/>
          <p:cNvCxnSpPr/>
          <p:nvPr/>
        </p:nvCxnSpPr>
        <p:spPr bwMode="auto">
          <a:xfrm flipV="1">
            <a:off x="5735996" y="1538980"/>
            <a:ext cx="0" cy="3330036"/>
          </a:xfrm>
          <a:prstGeom prst="straightConnector1">
            <a:avLst/>
          </a:prstGeom>
          <a:noFill/>
          <a:ln w="9525" cap="flat" cmpd="sng" algn="ctr">
            <a:solidFill>
              <a:schemeClr val="tx1"/>
            </a:solidFill>
            <a:prstDash val="solid"/>
            <a:round/>
            <a:headEnd type="none" w="med" len="med"/>
            <a:tailEnd type="none"/>
          </a:ln>
          <a:effectLst/>
        </p:spPr>
      </p:cxnSp>
      <p:cxnSp>
        <p:nvCxnSpPr>
          <p:cNvPr id="18" name="直線矢印コネクタ 17"/>
          <p:cNvCxnSpPr/>
          <p:nvPr/>
        </p:nvCxnSpPr>
        <p:spPr bwMode="auto">
          <a:xfrm flipV="1">
            <a:off x="6096000" y="1538980"/>
            <a:ext cx="0" cy="3330036"/>
          </a:xfrm>
          <a:prstGeom prst="straightConnector1">
            <a:avLst/>
          </a:prstGeom>
          <a:noFill/>
          <a:ln w="9525" cap="flat" cmpd="sng" algn="ctr">
            <a:solidFill>
              <a:schemeClr val="tx1"/>
            </a:solidFill>
            <a:prstDash val="solid"/>
            <a:round/>
            <a:headEnd type="none" w="med" len="med"/>
            <a:tailEnd type="none"/>
          </a:ln>
          <a:effectLst/>
        </p:spPr>
      </p:cxnSp>
      <p:pic>
        <p:nvPicPr>
          <p:cNvPr id="6" name="Picture 28" descr="NOT"/>
          <p:cNvPicPr>
            <a:picLocks noChangeAspect="1" noChangeArrowheads="1"/>
          </p:cNvPicPr>
          <p:nvPr/>
        </p:nvPicPr>
        <p:blipFill>
          <a:blip r:embed="rId3" cstate="print"/>
          <a:srcRect/>
          <a:stretch>
            <a:fillRect/>
          </a:stretch>
        </p:blipFill>
        <p:spPr bwMode="auto">
          <a:xfrm>
            <a:off x="6456004" y="1855444"/>
            <a:ext cx="268814" cy="270003"/>
          </a:xfrm>
          <a:prstGeom prst="rect">
            <a:avLst/>
          </a:prstGeom>
          <a:noFill/>
        </p:spPr>
      </p:pic>
      <p:cxnSp>
        <p:nvCxnSpPr>
          <p:cNvPr id="21" name="直線矢印コネクタ 20"/>
          <p:cNvCxnSpPr/>
          <p:nvPr/>
        </p:nvCxnSpPr>
        <p:spPr bwMode="auto">
          <a:xfrm>
            <a:off x="5735996" y="2168986"/>
            <a:ext cx="1080012" cy="0"/>
          </a:xfrm>
          <a:prstGeom prst="straightConnector1">
            <a:avLst/>
          </a:prstGeom>
          <a:noFill/>
          <a:ln w="15875" cap="flat" cmpd="sng" algn="ctr">
            <a:solidFill>
              <a:schemeClr val="accent6"/>
            </a:solidFill>
            <a:prstDash val="solid"/>
            <a:round/>
            <a:headEnd type="oval" w="sm" len="sm"/>
            <a:tailEnd type="none"/>
          </a:ln>
          <a:effectLst/>
        </p:spPr>
      </p:cxnSp>
      <p:cxnSp>
        <p:nvCxnSpPr>
          <p:cNvPr id="22" name="直線矢印コネクタ 21"/>
          <p:cNvCxnSpPr/>
          <p:nvPr/>
        </p:nvCxnSpPr>
        <p:spPr bwMode="auto">
          <a:xfrm>
            <a:off x="6096000" y="2348988"/>
            <a:ext cx="720008" cy="0"/>
          </a:xfrm>
          <a:prstGeom prst="straightConnector1">
            <a:avLst/>
          </a:prstGeom>
          <a:noFill/>
          <a:ln w="12700" cap="flat" cmpd="sng" algn="ctr">
            <a:solidFill>
              <a:schemeClr val="accent5"/>
            </a:solidFill>
            <a:prstDash val="solid"/>
            <a:round/>
            <a:headEnd type="oval" w="sm" len="sm"/>
            <a:tailEnd type="none"/>
          </a:ln>
          <a:effectLst/>
        </p:spPr>
      </p:cxnSp>
      <p:pic>
        <p:nvPicPr>
          <p:cNvPr id="30" name="Picture 28" descr="NOT"/>
          <p:cNvPicPr>
            <a:picLocks noChangeAspect="1" noChangeArrowheads="1"/>
          </p:cNvPicPr>
          <p:nvPr/>
        </p:nvPicPr>
        <p:blipFill>
          <a:blip r:embed="rId3" cstate="print"/>
          <a:srcRect/>
          <a:stretch>
            <a:fillRect/>
          </a:stretch>
        </p:blipFill>
        <p:spPr bwMode="auto">
          <a:xfrm>
            <a:off x="6456004" y="2035446"/>
            <a:ext cx="268814" cy="270003"/>
          </a:xfrm>
          <a:prstGeom prst="rect">
            <a:avLst/>
          </a:prstGeom>
          <a:noFill/>
        </p:spPr>
      </p:pic>
      <p:pic>
        <p:nvPicPr>
          <p:cNvPr id="31" name="Picture 6" descr="AND"/>
          <p:cNvPicPr>
            <a:picLocks noChangeAspect="1" noChangeArrowheads="1"/>
          </p:cNvPicPr>
          <p:nvPr/>
        </p:nvPicPr>
        <p:blipFill>
          <a:blip r:embed="rId2" cstate="print"/>
          <a:srcRect/>
          <a:stretch>
            <a:fillRect/>
          </a:stretch>
        </p:blipFill>
        <p:spPr bwMode="auto">
          <a:xfrm>
            <a:off x="6726007" y="2978998"/>
            <a:ext cx="1079500" cy="720725"/>
          </a:xfrm>
          <a:prstGeom prst="rect">
            <a:avLst/>
          </a:prstGeom>
          <a:solidFill>
            <a:schemeClr val="bg1"/>
          </a:solidFill>
        </p:spPr>
      </p:pic>
      <p:cxnSp>
        <p:nvCxnSpPr>
          <p:cNvPr id="32" name="直線矢印コネクタ 31"/>
          <p:cNvCxnSpPr/>
          <p:nvPr/>
        </p:nvCxnSpPr>
        <p:spPr bwMode="auto">
          <a:xfrm>
            <a:off x="5375992" y="3158997"/>
            <a:ext cx="1440016" cy="0"/>
          </a:xfrm>
          <a:prstGeom prst="straightConnector1">
            <a:avLst/>
          </a:prstGeom>
          <a:noFill/>
          <a:ln w="12700" cap="flat" cmpd="sng" algn="ctr">
            <a:solidFill>
              <a:schemeClr val="accent5"/>
            </a:solidFill>
            <a:prstDash val="solid"/>
            <a:round/>
            <a:headEnd type="oval" w="sm" len="sm"/>
            <a:tailEnd type="none"/>
          </a:ln>
          <a:effectLst/>
        </p:spPr>
      </p:cxnSp>
      <p:cxnSp>
        <p:nvCxnSpPr>
          <p:cNvPr id="34" name="直線矢印コネクタ 33"/>
          <p:cNvCxnSpPr/>
          <p:nvPr/>
        </p:nvCxnSpPr>
        <p:spPr bwMode="auto">
          <a:xfrm>
            <a:off x="5735996" y="3338999"/>
            <a:ext cx="1080012" cy="0"/>
          </a:xfrm>
          <a:prstGeom prst="straightConnector1">
            <a:avLst/>
          </a:prstGeom>
          <a:noFill/>
          <a:ln w="15875" cap="flat" cmpd="sng" algn="ctr">
            <a:solidFill>
              <a:schemeClr val="accent6"/>
            </a:solidFill>
            <a:prstDash val="solid"/>
            <a:round/>
            <a:headEnd type="oval" w="sm" len="sm"/>
            <a:tailEnd type="none"/>
          </a:ln>
          <a:effectLst/>
        </p:spPr>
      </p:cxnSp>
      <p:cxnSp>
        <p:nvCxnSpPr>
          <p:cNvPr id="35" name="直線矢印コネクタ 34"/>
          <p:cNvCxnSpPr/>
          <p:nvPr/>
        </p:nvCxnSpPr>
        <p:spPr bwMode="auto">
          <a:xfrm>
            <a:off x="6096000" y="3519001"/>
            <a:ext cx="720008" cy="0"/>
          </a:xfrm>
          <a:prstGeom prst="straightConnector1">
            <a:avLst/>
          </a:prstGeom>
          <a:noFill/>
          <a:ln w="15875" cap="flat" cmpd="sng" algn="ctr">
            <a:solidFill>
              <a:schemeClr val="accent6"/>
            </a:solidFill>
            <a:prstDash val="solid"/>
            <a:round/>
            <a:headEnd type="oval" w="sm" len="sm"/>
            <a:tailEnd type="none"/>
          </a:ln>
          <a:effectLst/>
        </p:spPr>
      </p:cxnSp>
      <p:pic>
        <p:nvPicPr>
          <p:cNvPr id="36" name="Picture 28" descr="NOT"/>
          <p:cNvPicPr>
            <a:picLocks noChangeAspect="1" noChangeArrowheads="1"/>
          </p:cNvPicPr>
          <p:nvPr/>
        </p:nvPicPr>
        <p:blipFill>
          <a:blip r:embed="rId3" cstate="print"/>
          <a:srcRect/>
          <a:stretch>
            <a:fillRect/>
          </a:stretch>
        </p:blipFill>
        <p:spPr bwMode="auto">
          <a:xfrm>
            <a:off x="6456004" y="3205459"/>
            <a:ext cx="268814" cy="270003"/>
          </a:xfrm>
          <a:prstGeom prst="rect">
            <a:avLst/>
          </a:prstGeom>
          <a:noFill/>
        </p:spPr>
      </p:pic>
      <p:pic>
        <p:nvPicPr>
          <p:cNvPr id="33" name="Picture 28" descr="NOT"/>
          <p:cNvPicPr>
            <a:picLocks noChangeAspect="1" noChangeArrowheads="1"/>
          </p:cNvPicPr>
          <p:nvPr/>
        </p:nvPicPr>
        <p:blipFill>
          <a:blip r:embed="rId3" cstate="print"/>
          <a:srcRect/>
          <a:stretch>
            <a:fillRect/>
          </a:stretch>
        </p:blipFill>
        <p:spPr bwMode="auto">
          <a:xfrm>
            <a:off x="6456004" y="3385461"/>
            <a:ext cx="268814" cy="270003"/>
          </a:xfrm>
          <a:prstGeom prst="rect">
            <a:avLst/>
          </a:prstGeom>
          <a:noFill/>
        </p:spPr>
      </p:pic>
      <p:pic>
        <p:nvPicPr>
          <p:cNvPr id="37" name="Picture 6" descr="AND"/>
          <p:cNvPicPr>
            <a:picLocks noChangeAspect="1" noChangeArrowheads="1"/>
          </p:cNvPicPr>
          <p:nvPr/>
        </p:nvPicPr>
        <p:blipFill>
          <a:blip r:embed="rId2" cstate="print"/>
          <a:srcRect/>
          <a:stretch>
            <a:fillRect/>
          </a:stretch>
        </p:blipFill>
        <p:spPr bwMode="auto">
          <a:xfrm>
            <a:off x="6726007" y="4149011"/>
            <a:ext cx="1079500" cy="720725"/>
          </a:xfrm>
          <a:prstGeom prst="rect">
            <a:avLst/>
          </a:prstGeom>
          <a:noFill/>
        </p:spPr>
      </p:pic>
      <p:cxnSp>
        <p:nvCxnSpPr>
          <p:cNvPr id="38" name="直線矢印コネクタ 37"/>
          <p:cNvCxnSpPr/>
          <p:nvPr/>
        </p:nvCxnSpPr>
        <p:spPr bwMode="auto">
          <a:xfrm>
            <a:off x="5375992" y="4329010"/>
            <a:ext cx="1440016" cy="0"/>
          </a:xfrm>
          <a:prstGeom prst="straightConnector1">
            <a:avLst/>
          </a:prstGeom>
          <a:noFill/>
          <a:ln w="12700" cap="flat" cmpd="sng" algn="ctr">
            <a:solidFill>
              <a:schemeClr val="accent5"/>
            </a:solidFill>
            <a:prstDash val="solid"/>
            <a:round/>
            <a:headEnd type="oval" w="sm" len="sm"/>
            <a:tailEnd type="none"/>
          </a:ln>
          <a:effectLst/>
        </p:spPr>
      </p:cxnSp>
      <p:cxnSp>
        <p:nvCxnSpPr>
          <p:cNvPr id="39" name="直線矢印コネクタ 38"/>
          <p:cNvCxnSpPr/>
          <p:nvPr/>
        </p:nvCxnSpPr>
        <p:spPr bwMode="auto">
          <a:xfrm>
            <a:off x="5735996" y="4509012"/>
            <a:ext cx="1080012" cy="0"/>
          </a:xfrm>
          <a:prstGeom prst="straightConnector1">
            <a:avLst/>
          </a:prstGeom>
          <a:noFill/>
          <a:ln w="12700" cap="flat" cmpd="sng" algn="ctr">
            <a:solidFill>
              <a:schemeClr val="accent5"/>
            </a:solidFill>
            <a:prstDash val="solid"/>
            <a:round/>
            <a:headEnd type="oval" w="sm" len="sm"/>
            <a:tailEnd type="none"/>
          </a:ln>
          <a:effectLst/>
        </p:spPr>
      </p:cxnSp>
      <p:cxnSp>
        <p:nvCxnSpPr>
          <p:cNvPr id="40" name="直線矢印コネクタ 39"/>
          <p:cNvCxnSpPr/>
          <p:nvPr/>
        </p:nvCxnSpPr>
        <p:spPr bwMode="auto">
          <a:xfrm>
            <a:off x="6096000" y="4689014"/>
            <a:ext cx="720008" cy="0"/>
          </a:xfrm>
          <a:prstGeom prst="straightConnector1">
            <a:avLst/>
          </a:prstGeom>
          <a:noFill/>
          <a:ln w="12700" cap="flat" cmpd="sng" algn="ctr">
            <a:solidFill>
              <a:schemeClr val="accent5"/>
            </a:solidFill>
            <a:prstDash val="solid"/>
            <a:round/>
            <a:headEnd type="oval" w="sm" len="sm"/>
            <a:tailEnd type="none"/>
          </a:ln>
          <a:effectLst/>
        </p:spPr>
      </p:cxnSp>
      <p:cxnSp>
        <p:nvCxnSpPr>
          <p:cNvPr id="47" name="直線矢印コネクタ 46"/>
          <p:cNvCxnSpPr/>
          <p:nvPr/>
        </p:nvCxnSpPr>
        <p:spPr bwMode="auto">
          <a:xfrm>
            <a:off x="7536016" y="3338999"/>
            <a:ext cx="720008" cy="0"/>
          </a:xfrm>
          <a:prstGeom prst="straightConnector1">
            <a:avLst/>
          </a:prstGeom>
          <a:noFill/>
          <a:ln w="9525" cap="flat" cmpd="sng" algn="ctr">
            <a:solidFill>
              <a:schemeClr val="tx1"/>
            </a:solidFill>
            <a:prstDash val="solid"/>
            <a:round/>
            <a:headEnd type="none" w="sm" len="sm"/>
            <a:tailEnd type="none"/>
          </a:ln>
          <a:effectLst/>
        </p:spPr>
      </p:cxnSp>
      <p:sp>
        <p:nvSpPr>
          <p:cNvPr id="49" name="Freeform 10"/>
          <p:cNvSpPr>
            <a:spLocks/>
          </p:cNvSpPr>
          <p:nvPr/>
        </p:nvSpPr>
        <p:spPr bwMode="auto">
          <a:xfrm flipH="1">
            <a:off x="7536016" y="3519004"/>
            <a:ext cx="360004"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1" name="直線矢印コネクタ 50"/>
          <p:cNvCxnSpPr/>
          <p:nvPr/>
        </p:nvCxnSpPr>
        <p:spPr bwMode="auto">
          <a:xfrm>
            <a:off x="7896020" y="3158997"/>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53" name="直線矢印コネクタ 52"/>
          <p:cNvCxnSpPr/>
          <p:nvPr/>
        </p:nvCxnSpPr>
        <p:spPr bwMode="auto">
          <a:xfrm>
            <a:off x="7896020" y="3519001"/>
            <a:ext cx="360004" cy="0"/>
          </a:xfrm>
          <a:prstGeom prst="straightConnector1">
            <a:avLst/>
          </a:prstGeom>
          <a:noFill/>
          <a:ln w="9525" cap="flat" cmpd="sng" algn="ctr">
            <a:solidFill>
              <a:schemeClr val="tx1"/>
            </a:solidFill>
            <a:prstDash val="solid"/>
            <a:round/>
            <a:headEnd type="none" w="sm" len="sm"/>
            <a:tailEnd type="none"/>
          </a:ln>
          <a:effectLst/>
        </p:spPr>
      </p:cxnSp>
      <p:pic>
        <p:nvPicPr>
          <p:cNvPr id="5" name="Picture 7" descr="OR"/>
          <p:cNvPicPr>
            <a:picLocks noChangeAspect="1" noChangeArrowheads="1"/>
          </p:cNvPicPr>
          <p:nvPr/>
        </p:nvPicPr>
        <p:blipFill>
          <a:blip r:embed="rId4" cstate="print"/>
          <a:srcRect/>
          <a:stretch>
            <a:fillRect/>
          </a:stretch>
        </p:blipFill>
        <p:spPr bwMode="auto">
          <a:xfrm>
            <a:off x="8076022" y="2978995"/>
            <a:ext cx="1079500" cy="717550"/>
          </a:xfrm>
          <a:prstGeom prst="rect">
            <a:avLst/>
          </a:prstGeom>
          <a:noFill/>
        </p:spPr>
      </p:pic>
      <p:cxnSp>
        <p:nvCxnSpPr>
          <p:cNvPr id="54" name="直線矢印コネクタ 53"/>
          <p:cNvCxnSpPr/>
          <p:nvPr/>
        </p:nvCxnSpPr>
        <p:spPr bwMode="auto">
          <a:xfrm>
            <a:off x="8886031" y="3338999"/>
            <a:ext cx="360004" cy="0"/>
          </a:xfrm>
          <a:prstGeom prst="straightConnector1">
            <a:avLst/>
          </a:prstGeom>
          <a:noFill/>
          <a:ln w="22225" cap="flat" cmpd="sng" algn="ctr">
            <a:solidFill>
              <a:schemeClr val="accent4"/>
            </a:solidFill>
            <a:prstDash val="solid"/>
            <a:round/>
            <a:headEnd type="none" w="sm" len="sm"/>
            <a:tailEnd type="none"/>
          </a:ln>
          <a:effectLst/>
        </p:spPr>
      </p:cxnSp>
      <mc:AlternateContent xmlns:mc="http://schemas.openxmlformats.org/markup-compatibility/2006">
        <mc:Choice xmlns:a14="http://schemas.microsoft.com/office/drawing/2010/main" Requires="a14">
          <p:sp>
            <p:nvSpPr>
              <p:cNvPr id="57" name="Rectangle 141"/>
              <p:cNvSpPr>
                <a:spLocks noChangeArrowheads="1"/>
              </p:cNvSpPr>
              <p:nvPr/>
            </p:nvSpPr>
            <p:spPr bwMode="auto">
              <a:xfrm>
                <a:off x="3395973" y="4959020"/>
                <a:ext cx="4410049" cy="450005"/>
              </a:xfrm>
              <a:prstGeom prst="rect">
                <a:avLst/>
              </a:prstGeom>
              <a:noFill/>
              <a:ln w="28575">
                <a:noFill/>
                <a:miter lim="800000"/>
                <a:headEnd/>
                <a:tailEnd/>
              </a:ln>
              <a:effectLst/>
            </p:spPr>
            <p:txBody>
              <a:bodyPr wrap="none" anchor="ctr"/>
              <a:lstStyle/>
              <a:p>
                <a:pPr algn="ctr"/>
                <a14:m>
                  <m:oMathPara xmlns:m="http://schemas.openxmlformats.org/officeDocument/2006/math">
                    <m:oMathParaPr>
                      <m:jc m:val="centerGroup"/>
                    </m:oMathParaPr>
                    <m:oMath xmlns:m="http://schemas.openxmlformats.org/officeDocument/2006/math">
                      <m:r>
                        <a:rPr lang="en-US" altLang="ja-JP" sz="2400" i="1" dirty="0">
                          <a:latin typeface="Cambria Math" panose="02040503050406030204" pitchFamily="18" charset="0"/>
                          <a:ea typeface="MeiryoKe_PGothic" pitchFamily="50" charset="-128"/>
                          <a:cs typeface="Times New Roman" panose="02020603050405020304" pitchFamily="18" charset="0"/>
                        </a:rPr>
                        <m:t>𝑜</m:t>
                      </m:r>
                      <m:r>
                        <a:rPr lang="en-US" altLang="ja-JP" sz="2400" i="1" dirty="0">
                          <a:latin typeface="Cambria Math" panose="02040503050406030204" pitchFamily="18" charset="0"/>
                          <a:ea typeface="MeiryoKe_PGothic" pitchFamily="50" charset="-128"/>
                          <a:cs typeface="Times New Roman" panose="02020603050405020304" pitchFamily="18" charset="0"/>
                        </a:rPr>
                        <m:t> =</m:t>
                      </m:r>
                      <m:sSub>
                        <m:sSubPr>
                          <m:ctrlP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2</m:t>
                          </m:r>
                        </m:sub>
                      </m:s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1</m:t>
                          </m:r>
                        </m:sub>
                      </m:s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0</m:t>
                          </m:r>
                        </m:sub>
                      </m:sSub>
                      <m:r>
                        <a:rPr lang="en-US" altLang="ja-JP" sz="2400" i="1" dirty="0">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2</m:t>
                          </m:r>
                        </m:sub>
                      </m:sSub>
                      <m:sSub>
                        <m:sSubPr>
                          <m:ctrlP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1</m:t>
                          </m:r>
                        </m:sub>
                      </m:s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0</m:t>
                          </m:r>
                        </m:sub>
                      </m:s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m:t>
                      </m:r>
                      <m:r>
                        <a:rPr lang="en-US" altLang="ja-JP" sz="2400" i="1" dirty="0">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2</m:t>
                          </m:r>
                        </m:sub>
                      </m:sSub>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1</m:t>
                          </m:r>
                        </m:sub>
                      </m:sSub>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0</m:t>
                          </m:r>
                        </m:sub>
                      </m:sSub>
                    </m:oMath>
                  </m:oMathPara>
                </a14:m>
                <a:endParaRPr lang="en-US" altLang="ja-JP" sz="2400" i="1" dirty="0">
                  <a:solidFill>
                    <a:schemeClr val="accent5"/>
                  </a:solidFill>
                  <a:latin typeface="Times New Roman" panose="02020603050405020304" pitchFamily="18" charset="0"/>
                  <a:ea typeface="MeiryoKe_PGothic" pitchFamily="50" charset="-128"/>
                  <a:cs typeface="Times New Roman" panose="02020603050405020304" pitchFamily="18" charset="0"/>
                </a:endParaRPr>
              </a:p>
            </p:txBody>
          </p:sp>
        </mc:Choice>
        <mc:Fallback>
          <p:sp>
            <p:nvSpPr>
              <p:cNvPr id="57" name="Rectangle 141"/>
              <p:cNvSpPr>
                <a:spLocks noRot="1" noChangeAspect="1" noMove="1" noResize="1" noEditPoints="1" noAdjustHandles="1" noChangeArrowheads="1" noChangeShapeType="1" noTextEdit="1"/>
              </p:cNvSpPr>
              <p:nvPr/>
            </p:nvSpPr>
            <p:spPr bwMode="auto">
              <a:xfrm>
                <a:off x="3395973" y="4959020"/>
                <a:ext cx="4410049" cy="450005"/>
              </a:xfrm>
              <a:prstGeom prst="rect">
                <a:avLst/>
              </a:prstGeom>
              <a:blipFill>
                <a:blip r:embed="rId5"/>
                <a:stretch>
                  <a:fillRect b="-4054"/>
                </a:stretch>
              </a:blipFill>
              <a:ln w="28575">
                <a:noFill/>
                <a:miter lim="800000"/>
                <a:headEnd/>
                <a:tailEnd/>
              </a:ln>
              <a:effectLst/>
            </p:spPr>
            <p:txBody>
              <a:bodyPr/>
              <a:lstStyle/>
              <a:p>
                <a:r>
                  <a:rPr lang="ja-JP" altLang="en-US">
                    <a:noFill/>
                  </a:rPr>
                  <a:t> </a:t>
                </a:r>
              </a:p>
            </p:txBody>
          </p:sp>
        </mc:Fallback>
      </mc:AlternateContent>
      <p:sp>
        <p:nvSpPr>
          <p:cNvPr id="58" name="正方形/長方形 57"/>
          <p:cNvSpPr/>
          <p:nvPr/>
        </p:nvSpPr>
        <p:spPr bwMode="auto">
          <a:xfrm>
            <a:off x="9227984" y="315899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fontAlgn="base"/>
            <a:r>
              <a:rPr lang="en-US" altLang="ja-JP" sz="2000" i="1" dirty="0">
                <a:latin typeface="Times New Roman" panose="02020603050405020304" pitchFamily="18" charset="0"/>
                <a:cs typeface="Times New Roman" panose="02020603050405020304" pitchFamily="18" charset="0"/>
              </a:rPr>
              <a:t>o</a:t>
            </a:r>
            <a:endParaRPr lang="ja-JP" altLang="ja-JP"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6931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回路の例：</a:t>
            </a:r>
            <a:r>
              <a:rPr lang="en-US" altLang="ja-JP" dirty="0"/>
              <a:t>RISC-V </a:t>
            </a:r>
            <a:r>
              <a:rPr lang="ja-JP" altLang="en-US" dirty="0"/>
              <a:t>の </a:t>
            </a:r>
            <a:r>
              <a:rPr lang="en-US" altLang="ja-JP" dirty="0"/>
              <a:t>AND/OR/XOR </a:t>
            </a:r>
            <a:r>
              <a:rPr lang="ja-JP" altLang="en-US" dirty="0"/>
              <a:t>命令の演算</a:t>
            </a:r>
          </a:p>
        </p:txBody>
      </p:sp>
      <p:sp>
        <p:nvSpPr>
          <p:cNvPr id="3" name="テキスト プレースホルダー 2"/>
          <p:cNvSpPr>
            <a:spLocks noGrp="1"/>
          </p:cNvSpPr>
          <p:nvPr>
            <p:ph type="body" sz="quarter" idx="10"/>
          </p:nvPr>
        </p:nvSpPr>
        <p:spPr>
          <a:xfrm>
            <a:off x="2045955" y="3789007"/>
            <a:ext cx="8280092" cy="2790031"/>
          </a:xfrm>
        </p:spPr>
        <p:txBody>
          <a:bodyPr/>
          <a:lstStyle/>
          <a:p>
            <a:r>
              <a:rPr lang="en-US" altLang="ja-JP" dirty="0">
                <a:solidFill>
                  <a:schemeClr val="tx1">
                    <a:lumMod val="85000"/>
                    <a:lumOff val="15000"/>
                  </a:schemeClr>
                </a:solidFill>
              </a:rPr>
              <a:t>RISC-V </a:t>
            </a:r>
            <a:r>
              <a:rPr lang="ja-JP" altLang="en-US" dirty="0">
                <a:solidFill>
                  <a:schemeClr val="tx1">
                    <a:lumMod val="85000"/>
                    <a:lumOff val="15000"/>
                  </a:schemeClr>
                </a:solidFill>
              </a:rPr>
              <a:t>の </a:t>
            </a:r>
            <a:r>
              <a:rPr lang="en-US" altLang="ja-JP" dirty="0">
                <a:solidFill>
                  <a:schemeClr val="tx1">
                    <a:lumMod val="85000"/>
                    <a:lumOff val="15000"/>
                  </a:schemeClr>
                </a:solidFill>
              </a:rPr>
              <a:t>AND/OR/XOR </a:t>
            </a:r>
            <a:r>
              <a:rPr lang="ja-JP" altLang="en-US" dirty="0">
                <a:solidFill>
                  <a:schemeClr val="tx1">
                    <a:lumMod val="85000"/>
                    <a:lumOff val="15000"/>
                  </a:schemeClr>
                </a:solidFill>
              </a:rPr>
              <a:t>命令</a:t>
            </a:r>
            <a:endParaRPr lang="en-US" altLang="ja-JP" dirty="0">
              <a:solidFill>
                <a:schemeClr val="tx1">
                  <a:lumMod val="85000"/>
                  <a:lumOff val="15000"/>
                </a:schemeClr>
              </a:solidFill>
            </a:endParaRPr>
          </a:p>
          <a:p>
            <a:pPr lvl="1"/>
            <a:r>
              <a:rPr kumimoji="1" lang="ja-JP" altLang="en-US" dirty="0">
                <a:solidFill>
                  <a:schemeClr val="tx1">
                    <a:lumMod val="85000"/>
                    <a:lumOff val="15000"/>
                  </a:schemeClr>
                </a:solidFill>
              </a:rPr>
              <a:t>まず右端の </a:t>
            </a:r>
            <a:r>
              <a:rPr kumimoji="1" lang="en-US" altLang="ja-JP" dirty="0">
                <a:solidFill>
                  <a:schemeClr val="tx1">
                    <a:lumMod val="85000"/>
                    <a:lumOff val="15000"/>
                  </a:schemeClr>
                </a:solidFill>
              </a:rPr>
              <a:t>opcode </a:t>
            </a:r>
            <a:r>
              <a:rPr kumimoji="1" lang="ja-JP" altLang="en-US" dirty="0">
                <a:solidFill>
                  <a:schemeClr val="tx1">
                    <a:lumMod val="85000"/>
                    <a:lumOff val="15000"/>
                  </a:schemeClr>
                </a:solidFill>
              </a:rPr>
              <a:t>が </a:t>
            </a:r>
            <a:r>
              <a:rPr kumimoji="1" lang="en-US" altLang="ja-JP" dirty="0">
                <a:solidFill>
                  <a:schemeClr val="tx1">
                    <a:lumMod val="85000"/>
                    <a:lumOff val="15000"/>
                  </a:schemeClr>
                </a:solidFill>
              </a:rPr>
              <a:t>0110011 </a:t>
            </a:r>
            <a:r>
              <a:rPr kumimoji="1" lang="ja-JP" altLang="en-US" dirty="0">
                <a:solidFill>
                  <a:schemeClr val="tx1">
                    <a:lumMod val="85000"/>
                    <a:lumOff val="15000"/>
                  </a:schemeClr>
                </a:solidFill>
              </a:rPr>
              <a:t>であれば，この３つのどれかということにする</a:t>
            </a:r>
            <a:endParaRPr kumimoji="1" lang="en-US" altLang="ja-JP" dirty="0">
              <a:solidFill>
                <a:schemeClr val="tx1">
                  <a:lumMod val="85000"/>
                  <a:lumOff val="15000"/>
                </a:schemeClr>
              </a:solidFill>
            </a:endParaRPr>
          </a:p>
          <a:p>
            <a:pPr lvl="2"/>
            <a:r>
              <a:rPr lang="ja-JP" altLang="en-US" dirty="0">
                <a:solidFill>
                  <a:schemeClr val="tx1">
                    <a:lumMod val="85000"/>
                    <a:lumOff val="15000"/>
                  </a:schemeClr>
                </a:solidFill>
              </a:rPr>
              <a:t>本当はほかの命令との識別がさらにあるが，ここでは忘れる</a:t>
            </a:r>
            <a:endParaRPr lang="en-US" altLang="ja-JP" dirty="0">
              <a:solidFill>
                <a:schemeClr val="tx1">
                  <a:lumMod val="85000"/>
                  <a:lumOff val="15000"/>
                </a:schemeClr>
              </a:solidFill>
            </a:endParaRPr>
          </a:p>
          <a:p>
            <a:pPr lvl="1"/>
            <a:r>
              <a:rPr kumimoji="1" lang="ja-JP" altLang="en-US" dirty="0">
                <a:solidFill>
                  <a:schemeClr val="tx1">
                    <a:lumMod val="85000"/>
                    <a:lumOff val="15000"/>
                  </a:schemeClr>
                </a:solidFill>
              </a:rPr>
              <a:t>真ん中の </a:t>
            </a:r>
            <a:r>
              <a:rPr kumimoji="1" lang="en-US" altLang="ja-JP" dirty="0">
                <a:solidFill>
                  <a:schemeClr val="tx1">
                    <a:lumMod val="85000"/>
                    <a:lumOff val="15000"/>
                  </a:schemeClr>
                </a:solidFill>
              </a:rPr>
              <a:t>3</a:t>
            </a:r>
            <a:r>
              <a:rPr kumimoji="1" lang="ja-JP" altLang="en-US" dirty="0">
                <a:solidFill>
                  <a:schemeClr val="tx1">
                    <a:lumMod val="85000"/>
                    <a:lumOff val="15000"/>
                  </a:schemeClr>
                </a:solidFill>
              </a:rPr>
              <a:t>ビットの違いで識別する</a:t>
            </a:r>
            <a:endParaRPr kumimoji="1" lang="en-US" altLang="ja-JP" dirty="0">
              <a:solidFill>
                <a:schemeClr val="tx1">
                  <a:lumMod val="85000"/>
                  <a:lumOff val="15000"/>
                </a:schemeClr>
              </a:solidFill>
            </a:endParaRPr>
          </a:p>
        </p:txBody>
      </p:sp>
      <p:sp>
        <p:nvSpPr>
          <p:cNvPr id="7" name="Text Box 30"/>
          <p:cNvSpPr txBox="1">
            <a:spLocks noChangeArrowheads="1"/>
          </p:cNvSpPr>
          <p:nvPr/>
        </p:nvSpPr>
        <p:spPr bwMode="auto">
          <a:xfrm>
            <a:off x="6996010" y="3158997"/>
            <a:ext cx="108011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8" name="Text Box 30"/>
          <p:cNvSpPr txBox="1">
            <a:spLocks noChangeArrowheads="1"/>
          </p:cNvSpPr>
          <p:nvPr/>
        </p:nvSpPr>
        <p:spPr bwMode="auto">
          <a:xfrm>
            <a:off x="6996010" y="2258987"/>
            <a:ext cx="108011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9" name="Text Box 31"/>
          <p:cNvSpPr txBox="1">
            <a:spLocks noChangeArrowheads="1"/>
          </p:cNvSpPr>
          <p:nvPr/>
        </p:nvSpPr>
        <p:spPr bwMode="auto">
          <a:xfrm>
            <a:off x="8076022" y="3158997"/>
            <a:ext cx="143960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0110011</a:t>
            </a:r>
          </a:p>
        </p:txBody>
      </p:sp>
      <p:sp>
        <p:nvSpPr>
          <p:cNvPr id="10" name="Text Box 31"/>
          <p:cNvSpPr txBox="1">
            <a:spLocks noChangeArrowheads="1"/>
          </p:cNvSpPr>
          <p:nvPr/>
        </p:nvSpPr>
        <p:spPr bwMode="auto">
          <a:xfrm>
            <a:off x="8076022" y="2258987"/>
            <a:ext cx="143960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0110011</a:t>
            </a:r>
          </a:p>
        </p:txBody>
      </p:sp>
      <p:sp>
        <p:nvSpPr>
          <p:cNvPr id="11" name="Text Box 27"/>
          <p:cNvSpPr txBox="1">
            <a:spLocks noChangeArrowheads="1"/>
          </p:cNvSpPr>
          <p:nvPr/>
        </p:nvSpPr>
        <p:spPr bwMode="auto">
          <a:xfrm>
            <a:off x="2315961" y="3158997"/>
            <a:ext cx="1710019"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0000000</a:t>
            </a:r>
            <a:endParaRPr lang="ja-JP" altLang="ja-JP" dirty="0"/>
          </a:p>
        </p:txBody>
      </p:sp>
      <p:sp>
        <p:nvSpPr>
          <p:cNvPr id="12" name="Text Box 27"/>
          <p:cNvSpPr txBox="1">
            <a:spLocks noChangeArrowheads="1"/>
          </p:cNvSpPr>
          <p:nvPr/>
        </p:nvSpPr>
        <p:spPr bwMode="auto">
          <a:xfrm>
            <a:off x="2315961" y="2258987"/>
            <a:ext cx="1710019"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0000000</a:t>
            </a:r>
            <a:endParaRPr lang="ja-JP" altLang="ja-JP" dirty="0"/>
          </a:p>
        </p:txBody>
      </p:sp>
      <p:sp>
        <p:nvSpPr>
          <p:cNvPr id="13" name="Text Box 27"/>
          <p:cNvSpPr txBox="1">
            <a:spLocks noChangeArrowheads="1"/>
          </p:cNvSpPr>
          <p:nvPr/>
        </p:nvSpPr>
        <p:spPr bwMode="auto">
          <a:xfrm>
            <a:off x="4025977" y="3158997"/>
            <a:ext cx="1079500"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rs2</a:t>
            </a:r>
            <a:endParaRPr lang="ja-JP" altLang="ja-JP" dirty="0"/>
          </a:p>
        </p:txBody>
      </p:sp>
      <p:sp>
        <p:nvSpPr>
          <p:cNvPr id="14" name="Text Box 28"/>
          <p:cNvSpPr txBox="1">
            <a:spLocks noChangeArrowheads="1"/>
          </p:cNvSpPr>
          <p:nvPr/>
        </p:nvSpPr>
        <p:spPr bwMode="auto">
          <a:xfrm>
            <a:off x="5105992" y="3158997"/>
            <a:ext cx="1080115"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15" name="Text Box 29"/>
          <p:cNvSpPr txBox="1">
            <a:spLocks noChangeArrowheads="1"/>
          </p:cNvSpPr>
          <p:nvPr/>
        </p:nvSpPr>
        <p:spPr bwMode="auto">
          <a:xfrm>
            <a:off x="6186003" y="3158997"/>
            <a:ext cx="81011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111</a:t>
            </a:r>
          </a:p>
        </p:txBody>
      </p:sp>
      <p:sp>
        <p:nvSpPr>
          <p:cNvPr id="16" name="Text Box 27"/>
          <p:cNvSpPr txBox="1">
            <a:spLocks noChangeArrowheads="1"/>
          </p:cNvSpPr>
          <p:nvPr/>
        </p:nvSpPr>
        <p:spPr bwMode="auto">
          <a:xfrm>
            <a:off x="4025977" y="2258987"/>
            <a:ext cx="1079500"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rs2</a:t>
            </a:r>
            <a:endParaRPr lang="ja-JP" altLang="ja-JP" dirty="0"/>
          </a:p>
        </p:txBody>
      </p:sp>
      <p:sp>
        <p:nvSpPr>
          <p:cNvPr id="17" name="Text Box 28"/>
          <p:cNvSpPr txBox="1">
            <a:spLocks noChangeArrowheads="1"/>
          </p:cNvSpPr>
          <p:nvPr/>
        </p:nvSpPr>
        <p:spPr bwMode="auto">
          <a:xfrm>
            <a:off x="5105992" y="2258987"/>
            <a:ext cx="1080115"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18" name="Text Box 29"/>
          <p:cNvSpPr txBox="1">
            <a:spLocks noChangeArrowheads="1"/>
          </p:cNvSpPr>
          <p:nvPr/>
        </p:nvSpPr>
        <p:spPr bwMode="auto">
          <a:xfrm>
            <a:off x="6186003" y="2258987"/>
            <a:ext cx="81011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110</a:t>
            </a:r>
          </a:p>
        </p:txBody>
      </p:sp>
      <p:sp>
        <p:nvSpPr>
          <p:cNvPr id="19" name="正方形/長方形 18"/>
          <p:cNvSpPr/>
          <p:nvPr/>
        </p:nvSpPr>
        <p:spPr bwMode="auto">
          <a:xfrm>
            <a:off x="2225957" y="279899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AND: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20" name="正方形/長方形 19"/>
          <p:cNvSpPr/>
          <p:nvPr/>
        </p:nvSpPr>
        <p:spPr bwMode="auto">
          <a:xfrm>
            <a:off x="2225957" y="189898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OR: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21" name="Text Box 30"/>
          <p:cNvSpPr txBox="1">
            <a:spLocks noChangeArrowheads="1"/>
          </p:cNvSpPr>
          <p:nvPr/>
        </p:nvSpPr>
        <p:spPr bwMode="auto">
          <a:xfrm>
            <a:off x="6996010" y="1448978"/>
            <a:ext cx="108011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22" name="Text Box 31"/>
          <p:cNvSpPr txBox="1">
            <a:spLocks noChangeArrowheads="1"/>
          </p:cNvSpPr>
          <p:nvPr/>
        </p:nvSpPr>
        <p:spPr bwMode="auto">
          <a:xfrm>
            <a:off x="8076022" y="1448978"/>
            <a:ext cx="143960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0110011</a:t>
            </a:r>
          </a:p>
        </p:txBody>
      </p:sp>
      <p:sp>
        <p:nvSpPr>
          <p:cNvPr id="23" name="Text Box 27"/>
          <p:cNvSpPr txBox="1">
            <a:spLocks noChangeArrowheads="1"/>
          </p:cNvSpPr>
          <p:nvPr/>
        </p:nvSpPr>
        <p:spPr bwMode="auto">
          <a:xfrm>
            <a:off x="2315961" y="1448978"/>
            <a:ext cx="1710019"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0000000</a:t>
            </a:r>
            <a:endParaRPr lang="ja-JP" altLang="ja-JP" dirty="0"/>
          </a:p>
        </p:txBody>
      </p:sp>
      <p:sp>
        <p:nvSpPr>
          <p:cNvPr id="24" name="Text Box 27"/>
          <p:cNvSpPr txBox="1">
            <a:spLocks noChangeArrowheads="1"/>
          </p:cNvSpPr>
          <p:nvPr/>
        </p:nvSpPr>
        <p:spPr bwMode="auto">
          <a:xfrm>
            <a:off x="4025977" y="1448978"/>
            <a:ext cx="1079500"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rs2</a:t>
            </a:r>
            <a:endParaRPr lang="ja-JP" altLang="ja-JP" dirty="0"/>
          </a:p>
        </p:txBody>
      </p:sp>
      <p:sp>
        <p:nvSpPr>
          <p:cNvPr id="25" name="Text Box 28"/>
          <p:cNvSpPr txBox="1">
            <a:spLocks noChangeArrowheads="1"/>
          </p:cNvSpPr>
          <p:nvPr/>
        </p:nvSpPr>
        <p:spPr bwMode="auto">
          <a:xfrm>
            <a:off x="5105992" y="1448978"/>
            <a:ext cx="1080115"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26" name="Text Box 29"/>
          <p:cNvSpPr txBox="1">
            <a:spLocks noChangeArrowheads="1"/>
          </p:cNvSpPr>
          <p:nvPr/>
        </p:nvSpPr>
        <p:spPr bwMode="auto">
          <a:xfrm>
            <a:off x="6186003" y="1448978"/>
            <a:ext cx="81011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100</a:t>
            </a:r>
          </a:p>
        </p:txBody>
      </p:sp>
      <p:sp>
        <p:nvSpPr>
          <p:cNvPr id="27" name="正方形/長方形 26"/>
          <p:cNvSpPr/>
          <p:nvPr/>
        </p:nvSpPr>
        <p:spPr bwMode="auto">
          <a:xfrm>
            <a:off x="2225957" y="1088974"/>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Tree>
    <p:extLst>
      <p:ext uri="{BB962C8B-B14F-4D97-AF65-F5344CB8AC3E}">
        <p14:creationId xmlns:p14="http://schemas.microsoft.com/office/powerpoint/2010/main" val="2825971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制御の例：</a:t>
            </a:r>
            <a:r>
              <a:rPr lang="en-US" altLang="ja-JP" dirty="0"/>
              <a:t>RISC-V </a:t>
            </a:r>
            <a:r>
              <a:rPr lang="ja-JP" altLang="en-US" dirty="0"/>
              <a:t>の </a:t>
            </a:r>
            <a:r>
              <a:rPr lang="en-US" altLang="ja-JP" dirty="0"/>
              <a:t>AND/OR/XOR </a:t>
            </a:r>
            <a:r>
              <a:rPr lang="ja-JP" altLang="en-US" dirty="0"/>
              <a:t>命令</a:t>
            </a:r>
            <a:endParaRPr kumimoji="1" lang="ja-JP" altLang="en-US" dirty="0"/>
          </a:p>
        </p:txBody>
      </p:sp>
      <p:sp>
        <p:nvSpPr>
          <p:cNvPr id="7" name="テキスト プレースホルダー 6"/>
          <p:cNvSpPr>
            <a:spLocks noGrp="1"/>
          </p:cNvSpPr>
          <p:nvPr>
            <p:ph type="body" sz="quarter" idx="10"/>
          </p:nvPr>
        </p:nvSpPr>
        <p:spPr>
          <a:xfrm>
            <a:off x="2045958" y="4599014"/>
            <a:ext cx="8370093" cy="1529710"/>
          </a:xfrm>
        </p:spPr>
        <p:txBody>
          <a:bodyPr/>
          <a:lstStyle/>
          <a:p>
            <a:r>
              <a:rPr lang="ja-JP" altLang="en-US" dirty="0">
                <a:solidFill>
                  <a:schemeClr val="tx1">
                    <a:lumMod val="85000"/>
                    <a:lumOff val="15000"/>
                  </a:schemeClr>
                </a:solidFill>
              </a:rPr>
              <a:t>各命令の </a:t>
            </a:r>
            <a:r>
              <a:rPr lang="en-US" altLang="ja-JP" dirty="0">
                <a:solidFill>
                  <a:schemeClr val="tx1">
                    <a:lumMod val="85000"/>
                    <a:lumOff val="15000"/>
                  </a:schemeClr>
                </a:solidFill>
              </a:rPr>
              <a:t>3bit </a:t>
            </a:r>
            <a:r>
              <a:rPr lang="ja-JP" altLang="en-US" dirty="0">
                <a:solidFill>
                  <a:schemeClr val="tx1">
                    <a:lumMod val="85000"/>
                    <a:lumOff val="15000"/>
                  </a:schemeClr>
                </a:solidFill>
              </a:rPr>
              <a:t>の </a:t>
            </a:r>
            <a:r>
              <a:rPr lang="en-US" altLang="ja-JP" dirty="0">
                <a:solidFill>
                  <a:schemeClr val="tx1">
                    <a:lumMod val="85000"/>
                    <a:lumOff val="15000"/>
                  </a:schemeClr>
                </a:solidFill>
              </a:rPr>
              <a:t>code </a:t>
            </a:r>
            <a:r>
              <a:rPr lang="ja-JP" altLang="en-US" dirty="0">
                <a:solidFill>
                  <a:schemeClr val="tx1">
                    <a:lumMod val="85000"/>
                    <a:lumOff val="15000"/>
                  </a:schemeClr>
                </a:solidFill>
              </a:rPr>
              <a:t>の違いに応じて </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演算器に，</a:t>
            </a:r>
            <a:r>
              <a:rPr lang="en-US" altLang="ja-JP" dirty="0">
                <a:solidFill>
                  <a:schemeClr val="tx1">
                    <a:lumMod val="85000"/>
                    <a:lumOff val="15000"/>
                  </a:schemeClr>
                </a:solidFill>
              </a:rPr>
              <a:t>AND/OR/XOR </a:t>
            </a:r>
            <a:r>
              <a:rPr lang="ja-JP" altLang="en-US" dirty="0">
                <a:solidFill>
                  <a:schemeClr val="tx1">
                    <a:lumMod val="85000"/>
                    <a:lumOff val="15000"/>
                  </a:schemeClr>
                </a:solidFill>
              </a:rPr>
              <a:t>演算をさせることを考える</a:t>
            </a:r>
            <a:endParaRPr lang="en-US" altLang="ja-JP" dirty="0">
              <a:solidFill>
                <a:schemeClr val="tx1">
                  <a:lumMod val="85000"/>
                  <a:lumOff val="15000"/>
                </a:schemeClr>
              </a:solidFill>
            </a:endParaRPr>
          </a:p>
        </p:txBody>
      </p:sp>
      <p:sp>
        <p:nvSpPr>
          <p:cNvPr id="4" name="フローチャート: 手作業 3"/>
          <p:cNvSpPr/>
          <p:nvPr/>
        </p:nvSpPr>
        <p:spPr bwMode="auto">
          <a:xfrm rot="16200000">
            <a:off x="7258818" y="3616197"/>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bwMode="auto">
          <a:xfrm>
            <a:off x="6996010" y="3519001"/>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 name="直線コネクタ 5"/>
          <p:cNvCxnSpPr/>
          <p:nvPr/>
        </p:nvCxnSpPr>
        <p:spPr bwMode="auto">
          <a:xfrm>
            <a:off x="6996010" y="4059007"/>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直線コネクタ 28"/>
          <p:cNvCxnSpPr/>
          <p:nvPr/>
        </p:nvCxnSpPr>
        <p:spPr bwMode="auto">
          <a:xfrm>
            <a:off x="7896020" y="3789004"/>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1" name="直線コネクタ 60"/>
          <p:cNvCxnSpPr>
            <a:endCxn id="4" idx="3"/>
          </p:cNvCxnSpPr>
          <p:nvPr/>
        </p:nvCxnSpPr>
        <p:spPr bwMode="auto">
          <a:xfrm>
            <a:off x="7716018" y="2888997"/>
            <a:ext cx="0" cy="541445"/>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正方形/長方形 62"/>
          <p:cNvSpPr/>
          <p:nvPr/>
        </p:nvSpPr>
        <p:spPr bwMode="auto">
          <a:xfrm>
            <a:off x="6456004" y="324900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rs1</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64" name="正方形/長方形 63"/>
          <p:cNvSpPr/>
          <p:nvPr/>
        </p:nvSpPr>
        <p:spPr bwMode="auto">
          <a:xfrm>
            <a:off x="6456004" y="3789007"/>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65" name="正方形/長方形 64"/>
          <p:cNvSpPr/>
          <p:nvPr/>
        </p:nvSpPr>
        <p:spPr bwMode="auto">
          <a:xfrm>
            <a:off x="6906012" y="2438992"/>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演算の制御信号</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 or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3" name="正方形/長方形 42"/>
          <p:cNvSpPr/>
          <p:nvPr/>
        </p:nvSpPr>
        <p:spPr bwMode="auto">
          <a:xfrm>
            <a:off x="3395970" y="2618994"/>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Tree>
    <p:extLst>
      <p:ext uri="{BB962C8B-B14F-4D97-AF65-F5344CB8AC3E}">
        <p14:creationId xmlns:p14="http://schemas.microsoft.com/office/powerpoint/2010/main" val="2525904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制御の例：</a:t>
            </a:r>
            <a:r>
              <a:rPr lang="en-US" altLang="ja-JP" dirty="0"/>
              <a:t>RISC-V </a:t>
            </a:r>
            <a:r>
              <a:rPr lang="ja-JP" altLang="en-US" dirty="0"/>
              <a:t>の </a:t>
            </a:r>
            <a:r>
              <a:rPr lang="en-US" altLang="ja-JP" dirty="0"/>
              <a:t>AND/OR/XOR </a:t>
            </a:r>
            <a:r>
              <a:rPr lang="ja-JP" altLang="en-US" dirty="0"/>
              <a:t>命令</a:t>
            </a:r>
            <a:endParaRPr kumimoji="1" lang="ja-JP" altLang="en-US" dirty="0"/>
          </a:p>
        </p:txBody>
      </p:sp>
      <p:sp>
        <p:nvSpPr>
          <p:cNvPr id="7" name="テキスト プレースホルダー 6"/>
          <p:cNvSpPr>
            <a:spLocks noGrp="1"/>
          </p:cNvSpPr>
          <p:nvPr>
            <p:ph type="body" sz="quarter" idx="10"/>
          </p:nvPr>
        </p:nvSpPr>
        <p:spPr>
          <a:xfrm>
            <a:off x="2315959" y="4509015"/>
            <a:ext cx="8100090" cy="1619711"/>
          </a:xfrm>
        </p:spPr>
        <p:txBody>
          <a:bodyPr/>
          <a:lstStyle/>
          <a:p>
            <a:r>
              <a:rPr lang="ja-JP" altLang="en-US" dirty="0"/>
              <a:t>典型的には，</a:t>
            </a:r>
            <a:endParaRPr kumimoji="1" lang="en-US" altLang="ja-JP" dirty="0"/>
          </a:p>
          <a:p>
            <a:pPr lvl="1"/>
            <a:r>
              <a:rPr kumimoji="1" lang="ja-JP" altLang="en-US" dirty="0"/>
              <a:t>各場合ごとの回路を用意して並列に配置</a:t>
            </a:r>
            <a:endParaRPr kumimoji="1" lang="en-US" altLang="ja-JP" dirty="0"/>
          </a:p>
          <a:p>
            <a:pPr lvl="2"/>
            <a:r>
              <a:rPr kumimoji="1" lang="en-US" altLang="ja-JP" dirty="0"/>
              <a:t>XOR</a:t>
            </a:r>
            <a:r>
              <a:rPr lang="en-US" altLang="ja-JP" dirty="0"/>
              <a:t>, OR, AND </a:t>
            </a:r>
            <a:r>
              <a:rPr lang="ja-JP" altLang="en-US" dirty="0"/>
              <a:t>ゲートを並べる</a:t>
            </a:r>
            <a:endParaRPr kumimoji="1" lang="en-US" altLang="ja-JP" dirty="0"/>
          </a:p>
          <a:p>
            <a:pPr lvl="1"/>
            <a:r>
              <a:rPr kumimoji="1" lang="ja-JP" altLang="en-US" dirty="0"/>
              <a:t>制御に従ってマルチプレクサで出力を選択</a:t>
            </a:r>
            <a:endParaRPr kumimoji="1" lang="en-US" altLang="ja-JP" dirty="0"/>
          </a:p>
        </p:txBody>
      </p:sp>
      <p:cxnSp>
        <p:nvCxnSpPr>
          <p:cNvPr id="33" name="直線矢印コネクタ 32"/>
          <p:cNvCxnSpPr/>
          <p:nvPr/>
        </p:nvCxnSpPr>
        <p:spPr bwMode="auto">
          <a:xfrm>
            <a:off x="6096000" y="1997946"/>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34" name="直線矢印コネクタ 33"/>
          <p:cNvCxnSpPr/>
          <p:nvPr/>
        </p:nvCxnSpPr>
        <p:spPr bwMode="auto">
          <a:xfrm flipV="1">
            <a:off x="6096000" y="1988987"/>
            <a:ext cx="0" cy="1710019"/>
          </a:xfrm>
          <a:prstGeom prst="straightConnector1">
            <a:avLst/>
          </a:prstGeom>
          <a:noFill/>
          <a:ln w="9525" cap="flat" cmpd="sng" algn="ctr">
            <a:solidFill>
              <a:schemeClr val="tx1"/>
            </a:solidFill>
            <a:prstDash val="solid"/>
            <a:round/>
            <a:headEnd type="none" w="med" len="med"/>
            <a:tailEnd type="none"/>
          </a:ln>
          <a:effectLst/>
        </p:spPr>
      </p:cxnSp>
      <p:cxnSp>
        <p:nvCxnSpPr>
          <p:cNvPr id="35" name="直線矢印コネクタ 34"/>
          <p:cNvCxnSpPr/>
          <p:nvPr/>
        </p:nvCxnSpPr>
        <p:spPr bwMode="auto">
          <a:xfrm flipV="1">
            <a:off x="6456004" y="2348991"/>
            <a:ext cx="0" cy="1710019"/>
          </a:xfrm>
          <a:prstGeom prst="straightConnector1">
            <a:avLst/>
          </a:prstGeom>
          <a:noFill/>
          <a:ln w="9525" cap="flat" cmpd="sng" algn="ctr">
            <a:solidFill>
              <a:schemeClr val="tx1"/>
            </a:solidFill>
            <a:prstDash val="solid"/>
            <a:round/>
            <a:headEnd type="none" w="med" len="med"/>
            <a:tailEnd type="none"/>
          </a:ln>
          <a:effectLst/>
        </p:spPr>
      </p:cxnSp>
      <p:cxnSp>
        <p:nvCxnSpPr>
          <p:cNvPr id="36" name="直線矢印コネクタ 35"/>
          <p:cNvCxnSpPr/>
          <p:nvPr/>
        </p:nvCxnSpPr>
        <p:spPr bwMode="auto">
          <a:xfrm>
            <a:off x="6456004" y="2348988"/>
            <a:ext cx="1080012" cy="0"/>
          </a:xfrm>
          <a:prstGeom prst="straightConnector1">
            <a:avLst/>
          </a:prstGeom>
          <a:noFill/>
          <a:ln w="9525" cap="flat" cmpd="sng" algn="ctr">
            <a:solidFill>
              <a:schemeClr val="tx1"/>
            </a:solidFill>
            <a:prstDash val="solid"/>
            <a:round/>
            <a:headEnd type="oval" w="sm" len="sm"/>
            <a:tailEnd type="none"/>
          </a:ln>
          <a:effectLst/>
        </p:spPr>
      </p:cxnSp>
      <p:cxnSp>
        <p:nvCxnSpPr>
          <p:cNvPr id="37" name="直線矢印コネクタ 36"/>
          <p:cNvCxnSpPr/>
          <p:nvPr/>
        </p:nvCxnSpPr>
        <p:spPr bwMode="auto">
          <a:xfrm>
            <a:off x="6096000" y="2888994"/>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38" name="直線矢印コネクタ 37"/>
          <p:cNvCxnSpPr/>
          <p:nvPr/>
        </p:nvCxnSpPr>
        <p:spPr bwMode="auto">
          <a:xfrm>
            <a:off x="6456004" y="3248998"/>
            <a:ext cx="1080012" cy="0"/>
          </a:xfrm>
          <a:prstGeom prst="straightConnector1">
            <a:avLst/>
          </a:prstGeom>
          <a:noFill/>
          <a:ln w="9525" cap="flat" cmpd="sng" algn="ctr">
            <a:solidFill>
              <a:schemeClr val="tx1"/>
            </a:solidFill>
            <a:prstDash val="solid"/>
            <a:round/>
            <a:headEnd type="oval" w="sm" len="sm"/>
            <a:tailEnd type="none"/>
          </a:ln>
          <a:effectLst/>
        </p:spPr>
      </p:cxnSp>
      <p:cxnSp>
        <p:nvCxnSpPr>
          <p:cNvPr id="39" name="直線矢印コネクタ 38"/>
          <p:cNvCxnSpPr/>
          <p:nvPr/>
        </p:nvCxnSpPr>
        <p:spPr bwMode="auto">
          <a:xfrm>
            <a:off x="6096000" y="3699003"/>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40" name="直線矢印コネクタ 39"/>
          <p:cNvCxnSpPr/>
          <p:nvPr/>
        </p:nvCxnSpPr>
        <p:spPr bwMode="auto">
          <a:xfrm>
            <a:off x="6456004" y="4059007"/>
            <a:ext cx="1080012" cy="0"/>
          </a:xfrm>
          <a:prstGeom prst="straightConnector1">
            <a:avLst/>
          </a:prstGeom>
          <a:noFill/>
          <a:ln w="9525" cap="flat" cmpd="sng" algn="ctr">
            <a:solidFill>
              <a:schemeClr val="tx1"/>
            </a:solidFill>
            <a:prstDash val="solid"/>
            <a:round/>
            <a:headEnd type="oval" w="sm" len="sm"/>
            <a:tailEnd type="none"/>
          </a:ln>
          <a:effectLst/>
        </p:spPr>
      </p:cxnSp>
      <p:pic>
        <p:nvPicPr>
          <p:cNvPr id="30" name="Picture 7" descr="OR"/>
          <p:cNvPicPr>
            <a:picLocks noChangeAspect="1" noChangeArrowheads="1"/>
          </p:cNvPicPr>
          <p:nvPr/>
        </p:nvPicPr>
        <p:blipFill>
          <a:blip r:embed="rId2" cstate="print"/>
          <a:srcRect/>
          <a:stretch>
            <a:fillRect/>
          </a:stretch>
        </p:blipFill>
        <p:spPr bwMode="auto">
          <a:xfrm>
            <a:off x="6906009" y="2708992"/>
            <a:ext cx="1079500" cy="717550"/>
          </a:xfrm>
          <a:prstGeom prst="rect">
            <a:avLst/>
          </a:prstGeom>
          <a:noFill/>
        </p:spPr>
      </p:pic>
      <p:pic>
        <p:nvPicPr>
          <p:cNvPr id="31" name="Picture 6" descr="AND"/>
          <p:cNvPicPr>
            <a:picLocks noChangeAspect="1" noChangeArrowheads="1"/>
          </p:cNvPicPr>
          <p:nvPr/>
        </p:nvPicPr>
        <p:blipFill>
          <a:blip r:embed="rId3" cstate="print"/>
          <a:srcRect/>
          <a:stretch>
            <a:fillRect/>
          </a:stretch>
        </p:blipFill>
        <p:spPr bwMode="auto">
          <a:xfrm>
            <a:off x="6906009" y="3519004"/>
            <a:ext cx="1079500" cy="720725"/>
          </a:xfrm>
          <a:prstGeom prst="rect">
            <a:avLst/>
          </a:prstGeom>
          <a:noFill/>
        </p:spPr>
      </p:pic>
      <p:pic>
        <p:nvPicPr>
          <p:cNvPr id="32" name="Picture 18" descr="XOR"/>
          <p:cNvPicPr>
            <a:picLocks noChangeAspect="1" noChangeArrowheads="1"/>
          </p:cNvPicPr>
          <p:nvPr/>
        </p:nvPicPr>
        <p:blipFill>
          <a:blip r:embed="rId4" cstate="print"/>
          <a:srcRect/>
          <a:stretch>
            <a:fillRect/>
          </a:stretch>
        </p:blipFill>
        <p:spPr bwMode="auto">
          <a:xfrm>
            <a:off x="6906009" y="1808982"/>
            <a:ext cx="1079500" cy="717550"/>
          </a:xfrm>
          <a:prstGeom prst="rect">
            <a:avLst/>
          </a:prstGeom>
          <a:noFill/>
        </p:spPr>
      </p:pic>
      <p:cxnSp>
        <p:nvCxnSpPr>
          <p:cNvPr id="45" name="直線コネクタ 44"/>
          <p:cNvCxnSpPr/>
          <p:nvPr/>
        </p:nvCxnSpPr>
        <p:spPr bwMode="auto">
          <a:xfrm>
            <a:off x="5555994" y="2618991"/>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a:off x="5555994" y="3158997"/>
            <a:ext cx="900010"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直線コネクタ 51"/>
          <p:cNvCxnSpPr/>
          <p:nvPr/>
        </p:nvCxnSpPr>
        <p:spPr bwMode="auto">
          <a:xfrm>
            <a:off x="8706029" y="3068996"/>
            <a:ext cx="900010"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Freeform 10"/>
          <p:cNvSpPr>
            <a:spLocks/>
          </p:cNvSpPr>
          <p:nvPr/>
        </p:nvSpPr>
        <p:spPr bwMode="auto">
          <a:xfrm flipH="1" flipV="1">
            <a:off x="7716018" y="2168988"/>
            <a:ext cx="360004" cy="72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4" name="直線矢印コネクタ 53"/>
          <p:cNvCxnSpPr/>
          <p:nvPr/>
        </p:nvCxnSpPr>
        <p:spPr bwMode="auto">
          <a:xfrm>
            <a:off x="7716018" y="3068996"/>
            <a:ext cx="720008" cy="0"/>
          </a:xfrm>
          <a:prstGeom prst="straightConnector1">
            <a:avLst/>
          </a:prstGeom>
          <a:noFill/>
          <a:ln w="9525" cap="flat" cmpd="sng" algn="ctr">
            <a:solidFill>
              <a:schemeClr val="tx1"/>
            </a:solidFill>
            <a:prstDash val="solid"/>
            <a:round/>
            <a:headEnd type="none" w="sm" len="sm"/>
            <a:tailEnd type="none"/>
          </a:ln>
          <a:effectLst/>
        </p:spPr>
      </p:cxnSp>
      <p:sp>
        <p:nvSpPr>
          <p:cNvPr id="55" name="Freeform 10"/>
          <p:cNvSpPr>
            <a:spLocks/>
          </p:cNvSpPr>
          <p:nvPr/>
        </p:nvSpPr>
        <p:spPr bwMode="auto">
          <a:xfrm flipH="1">
            <a:off x="7716018" y="3249001"/>
            <a:ext cx="360004"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6" name="直線矢印コネクタ 55"/>
          <p:cNvCxnSpPr/>
          <p:nvPr/>
        </p:nvCxnSpPr>
        <p:spPr bwMode="auto">
          <a:xfrm>
            <a:off x="8076022" y="2888994"/>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57" name="直線矢印コネクタ 56"/>
          <p:cNvCxnSpPr/>
          <p:nvPr/>
        </p:nvCxnSpPr>
        <p:spPr bwMode="auto">
          <a:xfrm>
            <a:off x="8076022" y="3248998"/>
            <a:ext cx="360004" cy="0"/>
          </a:xfrm>
          <a:prstGeom prst="straightConnector1">
            <a:avLst/>
          </a:prstGeom>
          <a:noFill/>
          <a:ln w="9525" cap="flat" cmpd="sng" algn="ctr">
            <a:solidFill>
              <a:schemeClr val="tx1"/>
            </a:solidFill>
            <a:prstDash val="solid"/>
            <a:round/>
            <a:headEnd type="none" w="sm" len="sm"/>
            <a:tailEnd type="none"/>
          </a:ln>
          <a:effectLst/>
        </p:spPr>
      </p:cxnSp>
      <p:sp>
        <p:nvSpPr>
          <p:cNvPr id="50" name="フローチャート: 手作業 49"/>
          <p:cNvSpPr/>
          <p:nvPr/>
        </p:nvSpPr>
        <p:spPr bwMode="auto">
          <a:xfrm rot="16200000">
            <a:off x="8158828" y="2896189"/>
            <a:ext cx="914400" cy="360004"/>
          </a:xfrm>
          <a:prstGeom prst="flowChartManualOperation">
            <a:avLst/>
          </a:prstGeom>
          <a:ln>
            <a:solidFill>
              <a:schemeClr val="accent5"/>
            </a:solidFill>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7626017" y="3609005"/>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8" name="正方形/長方形 57"/>
          <p:cNvSpPr/>
          <p:nvPr/>
        </p:nvSpPr>
        <p:spPr bwMode="auto">
          <a:xfrm>
            <a:off x="7626017" y="2798996"/>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9" name="正方形/長方形 58"/>
          <p:cNvSpPr/>
          <p:nvPr/>
        </p:nvSpPr>
        <p:spPr bwMode="auto">
          <a:xfrm>
            <a:off x="7626017" y="1898986"/>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63" name="正方形/長方形 62"/>
          <p:cNvSpPr/>
          <p:nvPr/>
        </p:nvSpPr>
        <p:spPr bwMode="auto">
          <a:xfrm>
            <a:off x="4925987" y="234899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rs1</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64" name="正方形/長方形 63"/>
          <p:cNvSpPr/>
          <p:nvPr/>
        </p:nvSpPr>
        <p:spPr bwMode="auto">
          <a:xfrm>
            <a:off x="4925987" y="2888997"/>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mc:AlternateContent xmlns:mc="http://schemas.openxmlformats.org/markup-compatibility/2006">
        <mc:Choice xmlns:a14="http://schemas.microsoft.com/office/drawing/2010/main" Requires="a14">
          <p:sp>
            <p:nvSpPr>
              <p:cNvPr id="66" name="正方形/長方形 65"/>
              <p:cNvSpPr/>
              <p:nvPr/>
            </p:nvSpPr>
            <p:spPr bwMode="auto">
              <a:xfrm>
                <a:off x="8526027" y="2438992"/>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r>
                        <a:rPr lang="en-US" altLang="ja-JP" sz="2800" i="1" dirty="0">
                          <a:solidFill>
                            <a:schemeClr val="tx1">
                              <a:lumMod val="75000"/>
                              <a:lumOff val="25000"/>
                            </a:schemeClr>
                          </a:solidFill>
                          <a:latin typeface="Cambria Math" panose="02040503050406030204" pitchFamily="18" charset="0"/>
                          <a:ea typeface="メイリオ" panose="020B0604030504040204" pitchFamily="50" charset="-128"/>
                        </a:rPr>
                        <m:t>𝑠</m:t>
                      </m:r>
                    </m:oMath>
                  </m:oMathPara>
                </a14:m>
                <a:endParaRPr lang="ja-JP" altLang="en-US" sz="2000" dirty="0">
                  <a:solidFill>
                    <a:schemeClr val="tx1">
                      <a:lumMod val="75000"/>
                      <a:lumOff val="25000"/>
                    </a:schemeClr>
                  </a:solidFill>
                  <a:latin typeface="Consolas" panose="020B0609020204030204" pitchFamily="49" charset="0"/>
                  <a:ea typeface="メイリオ" panose="020B0604030504040204" pitchFamily="50" charset="-128"/>
                </a:endParaRPr>
              </a:p>
            </p:txBody>
          </p:sp>
        </mc:Choice>
        <mc:Fallback>
          <p:sp>
            <p:nvSpPr>
              <p:cNvPr id="66" name="正方形/長方形 65"/>
              <p:cNvSpPr>
                <a:spLocks noRot="1" noChangeAspect="1" noMove="1" noResize="1" noEditPoints="1" noAdjustHandles="1" noChangeArrowheads="1" noChangeShapeType="1" noTextEdit="1"/>
              </p:cNvSpPr>
              <p:nvPr/>
            </p:nvSpPr>
            <p:spPr bwMode="auto">
              <a:xfrm>
                <a:off x="8526027" y="2438992"/>
                <a:ext cx="540006" cy="270003"/>
              </a:xfrm>
              <a:prstGeom prst="rect">
                <a:avLst/>
              </a:prstGeom>
              <a:blipFill>
                <a:blip r:embed="rId5"/>
                <a:stretch>
                  <a:fillRect/>
                </a:stretch>
              </a:blipFill>
              <a:ln>
                <a:noFill/>
                <a:headEnd/>
                <a:tailEnd type="triangle" w="sm" len="med"/>
              </a:ln>
              <a:effectLst/>
            </p:spPr>
            <p:txBody>
              <a:bodyPr/>
              <a:lstStyle/>
              <a:p>
                <a:r>
                  <a:rPr lang="ja-JP" altLang="en-US">
                    <a:noFill/>
                  </a:rPr>
                  <a:t> </a:t>
                </a:r>
              </a:p>
            </p:txBody>
          </p:sp>
        </mc:Fallback>
      </mc:AlternateContent>
      <p:sp>
        <p:nvSpPr>
          <p:cNvPr id="43" name="正方形/長方形 42"/>
          <p:cNvSpPr/>
          <p:nvPr/>
        </p:nvSpPr>
        <p:spPr bwMode="auto">
          <a:xfrm>
            <a:off x="2405959" y="1808985"/>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
        <p:nvSpPr>
          <p:cNvPr id="9" name="正方形/長方形 8"/>
          <p:cNvSpPr/>
          <p:nvPr/>
        </p:nvSpPr>
        <p:spPr bwMode="auto">
          <a:xfrm>
            <a:off x="8436026" y="1808982"/>
            <a:ext cx="360004" cy="540006"/>
          </a:xfrm>
          <a:prstGeom prst="rect">
            <a:avLst/>
          </a:prstGeom>
          <a:solidFill>
            <a:schemeClr val="bg1"/>
          </a:solidFill>
          <a:ln w="222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68" name="直線コネクタ 67"/>
          <p:cNvCxnSpPr/>
          <p:nvPr/>
        </p:nvCxnSpPr>
        <p:spPr bwMode="auto">
          <a:xfrm>
            <a:off x="8616028" y="1538979"/>
            <a:ext cx="0" cy="27144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a:stCxn id="9" idx="2"/>
          </p:cNvCxnSpPr>
          <p:nvPr/>
        </p:nvCxnSpPr>
        <p:spPr bwMode="auto">
          <a:xfrm>
            <a:off x="8616028" y="2348991"/>
            <a:ext cx="0" cy="361443"/>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70" name="正方形/長方形 69"/>
          <p:cNvSpPr/>
          <p:nvPr/>
        </p:nvSpPr>
        <p:spPr bwMode="auto">
          <a:xfrm>
            <a:off x="8346025" y="1268979"/>
            <a:ext cx="720008"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71" name="正方形/長方形 70"/>
          <p:cNvSpPr/>
          <p:nvPr/>
        </p:nvSpPr>
        <p:spPr bwMode="auto">
          <a:xfrm>
            <a:off x="8526030" y="3609005"/>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マルチプレクサ</a:t>
            </a:r>
          </a:p>
        </p:txBody>
      </p:sp>
      <p:sp>
        <p:nvSpPr>
          <p:cNvPr id="72" name="正方形/長方形 71"/>
          <p:cNvSpPr/>
          <p:nvPr/>
        </p:nvSpPr>
        <p:spPr bwMode="auto">
          <a:xfrm>
            <a:off x="8801801" y="1988987"/>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選択信号を</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出すための</a:t>
            </a:r>
            <a:b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b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論理関数</a:t>
            </a:r>
          </a:p>
        </p:txBody>
      </p:sp>
    </p:spTree>
    <p:extLst>
      <p:ext uri="{BB962C8B-B14F-4D97-AF65-F5344CB8AC3E}">
        <p14:creationId xmlns:p14="http://schemas.microsoft.com/office/powerpoint/2010/main" val="2449040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マルチプレクサ：複数入力から</a:t>
            </a:r>
            <a:r>
              <a:rPr kumimoji="1" lang="en-US" altLang="ja-JP" dirty="0"/>
              <a:t>1</a:t>
            </a:r>
            <a:r>
              <a:rPr kumimoji="1" lang="ja-JP" altLang="en-US" dirty="0" err="1"/>
              <a:t>つを</a:t>
            </a:r>
            <a:r>
              <a:rPr kumimoji="1" lang="ja-JP" altLang="en-US" dirty="0"/>
              <a:t>選ぶ回路</a:t>
            </a:r>
          </a:p>
        </p:txBody>
      </p:sp>
      <p:sp>
        <p:nvSpPr>
          <p:cNvPr id="3" name="テキスト プレースホルダー 2"/>
          <p:cNvSpPr>
            <a:spLocks noGrp="1"/>
          </p:cNvSpPr>
          <p:nvPr>
            <p:ph type="body" sz="quarter" idx="10"/>
          </p:nvPr>
        </p:nvSpPr>
        <p:spPr>
          <a:xfrm>
            <a:off x="2135956" y="5679025"/>
            <a:ext cx="8280092" cy="629700"/>
          </a:xfrm>
        </p:spPr>
        <p:txBody>
          <a:bodyPr/>
          <a:lstStyle/>
          <a:p>
            <a:r>
              <a:rPr lang="ja-JP" altLang="en-US" dirty="0"/>
              <a:t>以下により，回路が生成できる</a:t>
            </a:r>
            <a:endParaRPr lang="en-US" altLang="ja-JP" dirty="0"/>
          </a:p>
          <a:p>
            <a:pPr lvl="1"/>
            <a:r>
              <a:rPr kumimoji="1" lang="ja-JP" altLang="en-US" dirty="0"/>
              <a:t>２：１マルチプレクサは真理値表でかける </a:t>
            </a:r>
            <a:r>
              <a:rPr kumimoji="1" lang="en-US" altLang="ja-JP" dirty="0"/>
              <a:t>= </a:t>
            </a:r>
            <a:r>
              <a:rPr kumimoji="1" lang="ja-JP" altLang="en-US" dirty="0"/>
              <a:t>回路が作れる</a:t>
            </a:r>
            <a:endParaRPr kumimoji="1" lang="en-US" altLang="ja-JP" dirty="0"/>
          </a:p>
          <a:p>
            <a:pPr lvl="1"/>
            <a:r>
              <a:rPr kumimoji="1" lang="ja-JP" altLang="en-US" dirty="0"/>
              <a:t>多入力マルチプレクサは，カスケードすれば良い</a:t>
            </a:r>
          </a:p>
        </p:txBody>
      </p:sp>
      <mc:AlternateContent xmlns:mc="http://schemas.openxmlformats.org/markup-compatibility/2006">
        <mc:Choice xmlns:a14="http://schemas.microsoft.com/office/drawing/2010/main" Requires="a14">
          <p:graphicFrame>
            <p:nvGraphicFramePr>
              <p:cNvPr id="4" name="Group 153"/>
              <p:cNvGraphicFramePr>
                <a:graphicFrameLocks/>
              </p:cNvGraphicFramePr>
              <p:nvPr>
                <p:extLst>
                  <p:ext uri="{D42A27DB-BD31-4B8C-83A1-F6EECF244321}">
                    <p14:modId xmlns:p14="http://schemas.microsoft.com/office/powerpoint/2010/main" val="3597257769"/>
                  </p:ext>
                </p:extLst>
              </p:nvPr>
            </p:nvGraphicFramePr>
            <p:xfrm>
              <a:off x="2495960" y="1268979"/>
              <a:ext cx="1382400" cy="3424301"/>
            </p:xfrm>
            <a:graphic>
              <a:graphicData uri="http://schemas.openxmlformats.org/drawingml/2006/table">
                <a:tbl>
                  <a:tblPr/>
                  <a:tblGrid>
                    <a:gridCol w="345600">
                      <a:extLst>
                        <a:ext uri="{9D8B030D-6E8A-4147-A177-3AD203B41FA5}">
                          <a16:colId xmlns:a16="http://schemas.microsoft.com/office/drawing/2014/main" val="20000"/>
                        </a:ext>
                      </a:extLst>
                    </a:gridCol>
                    <a:gridCol w="345600">
                      <a:extLst>
                        <a:ext uri="{9D8B030D-6E8A-4147-A177-3AD203B41FA5}">
                          <a16:colId xmlns:a16="http://schemas.microsoft.com/office/drawing/2014/main" val="20001"/>
                        </a:ext>
                      </a:extLst>
                    </a:gridCol>
                    <a:gridCol w="345600">
                      <a:extLst>
                        <a:ext uri="{9D8B030D-6E8A-4147-A177-3AD203B41FA5}">
                          <a16:colId xmlns:a16="http://schemas.microsoft.com/office/drawing/2014/main" val="20002"/>
                        </a:ext>
                      </a:extLst>
                    </a:gridCol>
                    <a:gridCol w="345600">
                      <a:extLst>
                        <a:ext uri="{9D8B030D-6E8A-4147-A177-3AD203B41FA5}">
                          <a16:colId xmlns:a16="http://schemas.microsoft.com/office/drawing/2014/main" val="20003"/>
                        </a:ext>
                      </a:extLst>
                    </a:gridCol>
                  </a:tblGrid>
                  <a:tr h="542925">
                    <a:tc>
                      <a:txBody>
                        <a:bodyPr/>
                        <a:lstStyle/>
                        <a:p>
                          <a:pPr/>
                          <a14:m>
                            <m:oMathPara xmlns:m="http://schemas.openxmlformats.org/officeDocument/2006/math">
                              <m:oMathParaPr>
                                <m:jc m:val="centerGroup"/>
                              </m:oMathParaPr>
                              <m:oMath xmlns:m="http://schemas.openxmlformats.org/officeDocument/2006/math">
                                <m:r>
                                  <a:rPr lang="en-US" altLang="ja-JP" i="1" dirty="0" smtClean="0">
                                    <a:latin typeface="Cambria Math" panose="02040503050406030204" pitchFamily="18" charset="0"/>
                                  </a:rPr>
                                  <m:t>𝑠</m:t>
                                </m:r>
                              </m:oMath>
                            </m:oMathPara>
                          </a14:m>
                          <a:endParaRPr lang="ja-JP" altLang="en-US" dirty="0"/>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US" altLang="ja-JP" sz="2000" i="1" smtClean="0">
                                        <a:solidFill>
                                          <a:schemeClr val="tx1"/>
                                        </a:solidFill>
                                        <a:latin typeface="Cambria Math" panose="02040503050406030204" pitchFamily="18" charset="0"/>
                                        <a:ea typeface="MeiryoKe_PGothic" pitchFamily="50" charset="-128"/>
                                      </a:rPr>
                                    </m:ctrlPr>
                                  </m:sSubPr>
                                  <m:e>
                                    <m:r>
                                      <a:rPr kumimoji="0" lang="en-US" altLang="ja-JP" sz="2000" b="0" i="1" smtClean="0">
                                        <a:solidFill>
                                          <a:schemeClr val="tx1"/>
                                        </a:solidFill>
                                        <a:latin typeface="Cambria Math" panose="02040503050406030204" pitchFamily="18" charset="0"/>
                                        <a:ea typeface="MeiryoKe_PGothic" pitchFamily="50" charset="-128"/>
                                      </a:rPr>
                                      <m:t>𝑖</m:t>
                                    </m:r>
                                  </m:e>
                                  <m:sub>
                                    <m:r>
                                      <a:rPr kumimoji="0" lang="en-US" altLang="ja-JP" sz="2000" b="0" i="1" smtClean="0">
                                        <a:solidFill>
                                          <a:schemeClr val="tx1"/>
                                        </a:solidFill>
                                        <a:latin typeface="Cambria Math" panose="02040503050406030204" pitchFamily="18" charset="0"/>
                                        <a:ea typeface="MeiryoKe_PGothic" pitchFamily="50" charset="-128"/>
                                      </a:rPr>
                                      <m:t>0</m:t>
                                    </m:r>
                                  </m:sub>
                                </m:sSub>
                              </m:oMath>
                            </m:oMathPara>
                          </a14:m>
                          <a:endPar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endParaRP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US" altLang="ja-JP" sz="2000" i="1" smtClean="0">
                                        <a:solidFill>
                                          <a:schemeClr val="tx1"/>
                                        </a:solidFill>
                                        <a:latin typeface="Cambria Math" panose="02040503050406030204" pitchFamily="18" charset="0"/>
                                        <a:ea typeface="MeiryoKe_PGothic" pitchFamily="50" charset="-128"/>
                                      </a:rPr>
                                    </m:ctrlPr>
                                  </m:sSubPr>
                                  <m:e>
                                    <m:r>
                                      <a:rPr kumimoji="0" lang="en-US" altLang="ja-JP" sz="2000" b="0" i="1" smtClean="0">
                                        <a:solidFill>
                                          <a:schemeClr val="tx1"/>
                                        </a:solidFill>
                                        <a:latin typeface="Cambria Math" panose="02040503050406030204" pitchFamily="18" charset="0"/>
                                        <a:ea typeface="MeiryoKe_PGothic" pitchFamily="50" charset="-128"/>
                                      </a:rPr>
                                      <m:t>𝑖</m:t>
                                    </m:r>
                                  </m:e>
                                  <m:sub>
                                    <m:r>
                                      <a:rPr kumimoji="0" lang="en-US" altLang="ja-JP" sz="2000" b="0" i="1" smtClean="0">
                                        <a:solidFill>
                                          <a:schemeClr val="tx1"/>
                                        </a:solidFill>
                                        <a:latin typeface="Cambria Math" panose="02040503050406030204" pitchFamily="18" charset="0"/>
                                        <a:ea typeface="MeiryoKe_PGothic" pitchFamily="50" charset="-128"/>
                                      </a:rPr>
                                      <m:t>1</m:t>
                                    </m:r>
                                  </m:sub>
                                </m:sSub>
                              </m:oMath>
                            </m:oMathPara>
                          </a14:m>
                          <a:endPar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endParaRP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r>
                                  <a:rPr kumimoji="0" lang="en-US" altLang="ja-JP" sz="2000" b="0" i="1" u="none" strike="noStrike" cap="none" normalizeH="0" baseline="0" dirty="0" smtClean="0">
                                    <a:ln>
                                      <a:noFill/>
                                    </a:ln>
                                    <a:solidFill>
                                      <a:schemeClr val="tx1">
                                        <a:lumMod val="85000"/>
                                        <a:lumOff val="15000"/>
                                      </a:schemeClr>
                                    </a:solidFill>
                                    <a:effectLst/>
                                    <a:latin typeface="Cambria Math" panose="02040503050406030204" pitchFamily="18" charset="0"/>
                                    <a:ea typeface="MeiryoKe_PGothic" pitchFamily="50" charset="-128"/>
                                  </a:rPr>
                                  <m:t>𝑜</m:t>
                                </m:r>
                              </m:oMath>
                            </m:oMathPara>
                          </a14:m>
                          <a:endParaRPr kumimoji="0" lang="en-US" altLang="ja-JP" sz="2000" b="0" i="0" u="none" strike="noStrike" cap="none" normalizeH="0" baseline="-25000" dirty="0">
                            <a:ln>
                              <a:noFill/>
                            </a:ln>
                            <a:solidFill>
                              <a:schemeClr val="accent5"/>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cap="flat">
                          <a:noFill/>
                        </a:lnB>
                        <a:lnTlToBr>
                          <a:noFill/>
                        </a:lnTlToBr>
                        <a:lnBlToTr>
                          <a:noFill/>
                        </a:lnBlToTr>
                        <a:solidFill>
                          <a:schemeClr val="accent5">
                            <a:lumMod val="40000"/>
                            <a:lumOff val="60000"/>
                          </a:schemeClr>
                        </a:solidFill>
                      </a:tcPr>
                    </a:tc>
                    <a:extLst>
                      <a:ext uri="{0D108BD9-81ED-4DB2-BD59-A6C34878D82A}">
                        <a16:rowId xmlns:a16="http://schemas.microsoft.com/office/drawing/2014/main" val="10002"/>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3"/>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4"/>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5"/>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6"/>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7"/>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8"/>
                      </a:ext>
                    </a:extLst>
                  </a:tr>
                </a:tbl>
              </a:graphicData>
            </a:graphic>
          </p:graphicFrame>
        </mc:Choice>
        <mc:Fallback>
          <p:graphicFrame>
            <p:nvGraphicFramePr>
              <p:cNvPr id="4" name="Group 153"/>
              <p:cNvGraphicFramePr>
                <a:graphicFrameLocks/>
              </p:cNvGraphicFramePr>
              <p:nvPr>
                <p:extLst>
                  <p:ext uri="{D42A27DB-BD31-4B8C-83A1-F6EECF244321}">
                    <p14:modId xmlns:p14="http://schemas.microsoft.com/office/powerpoint/2010/main" val="3597257769"/>
                  </p:ext>
                </p:extLst>
              </p:nvPr>
            </p:nvGraphicFramePr>
            <p:xfrm>
              <a:off x="2495960" y="1268979"/>
              <a:ext cx="1382400" cy="3424301"/>
            </p:xfrm>
            <a:graphic>
              <a:graphicData uri="http://schemas.openxmlformats.org/drawingml/2006/table">
                <a:tbl>
                  <a:tblPr/>
                  <a:tblGrid>
                    <a:gridCol w="345600">
                      <a:extLst>
                        <a:ext uri="{9D8B030D-6E8A-4147-A177-3AD203B41FA5}">
                          <a16:colId xmlns:a16="http://schemas.microsoft.com/office/drawing/2014/main" val="20000"/>
                        </a:ext>
                      </a:extLst>
                    </a:gridCol>
                    <a:gridCol w="345600">
                      <a:extLst>
                        <a:ext uri="{9D8B030D-6E8A-4147-A177-3AD203B41FA5}">
                          <a16:colId xmlns:a16="http://schemas.microsoft.com/office/drawing/2014/main" val="20001"/>
                        </a:ext>
                      </a:extLst>
                    </a:gridCol>
                    <a:gridCol w="345600">
                      <a:extLst>
                        <a:ext uri="{9D8B030D-6E8A-4147-A177-3AD203B41FA5}">
                          <a16:colId xmlns:a16="http://schemas.microsoft.com/office/drawing/2014/main" val="20002"/>
                        </a:ext>
                      </a:extLst>
                    </a:gridCol>
                    <a:gridCol w="345600">
                      <a:extLst>
                        <a:ext uri="{9D8B030D-6E8A-4147-A177-3AD203B41FA5}">
                          <a16:colId xmlns:a16="http://schemas.microsoft.com/office/drawing/2014/main" val="20003"/>
                        </a:ext>
                      </a:extLst>
                    </a:gridCol>
                  </a:tblGrid>
                  <a:tr h="542925">
                    <a:tc>
                      <a:txBody>
                        <a:bodyPr/>
                        <a:lstStyle/>
                        <a:p>
                          <a:endParaRPr lang="ja-JP"/>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t="-3371" r="-303509" b="-546067"/>
                          </a:stretch>
                        </a:blipFill>
                      </a:tcPr>
                    </a:tc>
                    <a:tc>
                      <a:txBody>
                        <a:bodyPr/>
                        <a:lstStyle/>
                        <a:p>
                          <a:endParaRPr lang="ja-JP"/>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100000" t="-3371" r="-203509" b="-546067"/>
                          </a:stretch>
                        </a:blipFill>
                      </a:tcPr>
                    </a:tc>
                    <a:tc>
                      <a:txBody>
                        <a:bodyPr/>
                        <a:lstStyle/>
                        <a:p>
                          <a:endParaRPr lang="ja-JP"/>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200000" t="-3371" r="-103509" b="-546067"/>
                          </a:stretch>
                        </a:blipFill>
                      </a:tcPr>
                    </a:tc>
                    <a:tc>
                      <a:txBody>
                        <a:bodyPr/>
                        <a:lstStyle/>
                        <a:p>
                          <a:endParaRPr lang="ja-JP"/>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300000" t="-3371" r="-3509" b="-546067"/>
                          </a:stretch>
                        </a:blip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cap="flat">
                          <a:noFill/>
                        </a:lnB>
                        <a:lnTlToBr>
                          <a:noFill/>
                        </a:lnTlToBr>
                        <a:lnBlToTr>
                          <a:noFill/>
                        </a:lnBlToTr>
                        <a:solidFill>
                          <a:schemeClr val="accent5">
                            <a:lumMod val="40000"/>
                            <a:lumOff val="60000"/>
                          </a:schemeClr>
                        </a:solidFill>
                      </a:tcPr>
                    </a:tc>
                    <a:extLst>
                      <a:ext uri="{0D108BD9-81ED-4DB2-BD59-A6C34878D82A}">
                        <a16:rowId xmlns:a16="http://schemas.microsoft.com/office/drawing/2014/main" val="10002"/>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3"/>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4"/>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5"/>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6"/>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7"/>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8"/>
                      </a:ext>
                    </a:extLst>
                  </a:tr>
                </a:tbl>
              </a:graphicData>
            </a:graphic>
          </p:graphicFrame>
        </mc:Fallback>
      </mc:AlternateContent>
      <p:cxnSp>
        <p:nvCxnSpPr>
          <p:cNvPr id="5" name="直線コネクタ 4"/>
          <p:cNvCxnSpPr/>
          <p:nvPr/>
        </p:nvCxnSpPr>
        <p:spPr bwMode="auto">
          <a:xfrm>
            <a:off x="5285991" y="3158997"/>
            <a:ext cx="360004"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フローチャート: 手作業 5"/>
          <p:cNvSpPr/>
          <p:nvPr/>
        </p:nvSpPr>
        <p:spPr bwMode="auto">
          <a:xfrm rot="16200000">
            <a:off x="4738790" y="2986190"/>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cxnSp>
        <p:nvCxnSpPr>
          <p:cNvPr id="7" name="直線矢印コネクタ 6"/>
          <p:cNvCxnSpPr/>
          <p:nvPr/>
        </p:nvCxnSpPr>
        <p:spPr bwMode="auto">
          <a:xfrm>
            <a:off x="4745988" y="2888994"/>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8" name="直線矢印コネクタ 7"/>
          <p:cNvCxnSpPr/>
          <p:nvPr/>
        </p:nvCxnSpPr>
        <p:spPr bwMode="auto">
          <a:xfrm>
            <a:off x="4745988" y="3429000"/>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9" name="直線コネクタ 8"/>
          <p:cNvCxnSpPr/>
          <p:nvPr/>
        </p:nvCxnSpPr>
        <p:spPr bwMode="auto">
          <a:xfrm>
            <a:off x="5195990" y="2438989"/>
            <a:ext cx="0" cy="360004"/>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正方形/長方形 10"/>
              <p:cNvSpPr/>
              <p:nvPr/>
            </p:nvSpPr>
            <p:spPr bwMode="auto">
              <a:xfrm>
                <a:off x="4925987" y="2078988"/>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r>
                        <a:rPr lang="en-US" altLang="ja-JP" sz="2800" i="1" dirty="0">
                          <a:solidFill>
                            <a:schemeClr val="tx1">
                              <a:lumMod val="85000"/>
                              <a:lumOff val="15000"/>
                            </a:schemeClr>
                          </a:solidFill>
                          <a:latin typeface="Cambria Math" panose="02040503050406030204" pitchFamily="18" charset="0"/>
                          <a:ea typeface="メイリオ" panose="020B0604030504040204" pitchFamily="50" charset="-128"/>
                        </a:rPr>
                        <m:t>𝑠</m:t>
                      </m:r>
                    </m:oMath>
                  </m:oMathPara>
                </a14:m>
                <a:endParaRPr lang="ja-JP" altLang="en-US" sz="2000" dirty="0">
                  <a:solidFill>
                    <a:schemeClr val="tx1">
                      <a:lumMod val="85000"/>
                      <a:lumOff val="15000"/>
                    </a:schemeClr>
                  </a:solidFill>
                  <a:latin typeface="Consolas" panose="020B0609020204030204" pitchFamily="49" charset="0"/>
                  <a:ea typeface="メイリオ" panose="020B0604030504040204" pitchFamily="50" charset="-128"/>
                </a:endParaRPr>
              </a:p>
            </p:txBody>
          </p:sp>
        </mc:Choice>
        <mc:Fallback>
          <p:sp>
            <p:nvSpPr>
              <p:cNvPr id="11" name="正方形/長方形 10"/>
              <p:cNvSpPr>
                <a:spLocks noRot="1" noChangeAspect="1" noMove="1" noResize="1" noEditPoints="1" noAdjustHandles="1" noChangeArrowheads="1" noChangeShapeType="1" noTextEdit="1"/>
              </p:cNvSpPr>
              <p:nvPr/>
            </p:nvSpPr>
            <p:spPr bwMode="auto">
              <a:xfrm>
                <a:off x="4925987" y="2078988"/>
                <a:ext cx="540006" cy="270003"/>
              </a:xfrm>
              <a:prstGeom prst="rect">
                <a:avLst/>
              </a:prstGeom>
              <a:blipFill>
                <a:blip r:embed="rId3"/>
                <a:stretch>
                  <a:fillRect/>
                </a:stretch>
              </a:blipFill>
              <a:ln>
                <a:noFill/>
                <a:headEnd/>
                <a:tailEnd type="triangle" w="sm"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5" name="正方形/長方形 14"/>
              <p:cNvSpPr/>
              <p:nvPr/>
            </p:nvSpPr>
            <p:spPr bwMode="auto">
              <a:xfrm>
                <a:off x="4295980" y="2708995"/>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sSub>
                        <m:sSubPr>
                          <m:ctrlPr>
                            <a:rPr kumimoji="0" lang="en-US" altLang="ja-JP" sz="2800" i="1">
                              <a:solidFill>
                                <a:schemeClr val="tx1"/>
                              </a:solidFill>
                              <a:latin typeface="Cambria Math" panose="02040503050406030204" pitchFamily="18" charset="0"/>
                              <a:ea typeface="MeiryoKe_PGothic" pitchFamily="50" charset="-128"/>
                            </a:rPr>
                          </m:ctrlPr>
                        </m:sSubPr>
                        <m:e>
                          <m:r>
                            <a:rPr kumimoji="0" lang="en-US" altLang="ja-JP" sz="2800" i="1">
                              <a:solidFill>
                                <a:schemeClr val="tx1"/>
                              </a:solidFill>
                              <a:latin typeface="Cambria Math" panose="02040503050406030204" pitchFamily="18" charset="0"/>
                              <a:ea typeface="MeiryoKe_PGothic" pitchFamily="50" charset="-128"/>
                            </a:rPr>
                            <m:t>𝑖</m:t>
                          </m:r>
                        </m:e>
                        <m:sub>
                          <m:r>
                            <a:rPr kumimoji="0" lang="en-US" altLang="ja-JP" sz="2800" i="1">
                              <a:solidFill>
                                <a:schemeClr val="tx1"/>
                              </a:solidFill>
                              <a:latin typeface="Cambria Math" panose="02040503050406030204" pitchFamily="18" charset="0"/>
                              <a:ea typeface="MeiryoKe_PGothic" pitchFamily="50" charset="-128"/>
                            </a:rPr>
                            <m:t>0</m:t>
                          </m:r>
                        </m:sub>
                      </m:sSub>
                    </m:oMath>
                  </m:oMathPara>
                </a14:m>
                <a:endParaRPr kumimoji="0" lang="en-US" altLang="ja-JP" sz="2800" i="1" baseline="-25000" dirty="0">
                  <a:solidFill>
                    <a:schemeClr val="tx1"/>
                  </a:solidFill>
                  <a:latin typeface="Times New Roman" pitchFamily="18" charset="0"/>
                  <a:ea typeface="MeiryoKe_PGothic" pitchFamily="50" charset="-128"/>
                </a:endParaRPr>
              </a:p>
            </p:txBody>
          </p:sp>
        </mc:Choice>
        <mc:Fallback>
          <p:sp>
            <p:nvSpPr>
              <p:cNvPr id="15" name="正方形/長方形 14"/>
              <p:cNvSpPr>
                <a:spLocks noRot="1" noChangeAspect="1" noMove="1" noResize="1" noEditPoints="1" noAdjustHandles="1" noChangeArrowheads="1" noChangeShapeType="1" noTextEdit="1"/>
              </p:cNvSpPr>
              <p:nvPr/>
            </p:nvSpPr>
            <p:spPr bwMode="auto">
              <a:xfrm>
                <a:off x="4295980" y="2708995"/>
                <a:ext cx="540006" cy="270003"/>
              </a:xfrm>
              <a:prstGeom prst="rect">
                <a:avLst/>
              </a:prstGeom>
              <a:blipFill>
                <a:blip r:embed="rId4"/>
                <a:stretch>
                  <a:fillRect b="-24444"/>
                </a:stretch>
              </a:blipFill>
              <a:ln>
                <a:noFill/>
                <a:headEnd/>
                <a:tailEnd type="triangle" w="sm"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6" name="正方形/長方形 15"/>
              <p:cNvSpPr/>
              <p:nvPr/>
            </p:nvSpPr>
            <p:spPr bwMode="auto">
              <a:xfrm>
                <a:off x="4295980" y="324900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sSub>
                        <m:sSubPr>
                          <m:ctrlPr>
                            <a:rPr kumimoji="0" lang="en-US" altLang="ja-JP" sz="2800" i="1">
                              <a:solidFill>
                                <a:schemeClr val="tx1"/>
                              </a:solidFill>
                              <a:latin typeface="Cambria Math" panose="02040503050406030204" pitchFamily="18" charset="0"/>
                              <a:ea typeface="MeiryoKe_PGothic" pitchFamily="50" charset="-128"/>
                            </a:rPr>
                          </m:ctrlPr>
                        </m:sSubPr>
                        <m:e>
                          <m:r>
                            <a:rPr kumimoji="0" lang="en-US" altLang="ja-JP" sz="2800" i="1">
                              <a:solidFill>
                                <a:schemeClr val="tx1"/>
                              </a:solidFill>
                              <a:latin typeface="Cambria Math" panose="02040503050406030204" pitchFamily="18" charset="0"/>
                              <a:ea typeface="MeiryoKe_PGothic" pitchFamily="50" charset="-128"/>
                            </a:rPr>
                            <m:t>𝑖</m:t>
                          </m:r>
                        </m:e>
                        <m:sub>
                          <m:r>
                            <a:rPr kumimoji="0" lang="en-US" altLang="ja-JP" sz="2800" i="1">
                              <a:solidFill>
                                <a:schemeClr val="tx1"/>
                              </a:solidFill>
                              <a:latin typeface="Cambria Math" panose="02040503050406030204" pitchFamily="18" charset="0"/>
                              <a:ea typeface="MeiryoKe_PGothic" pitchFamily="50" charset="-128"/>
                            </a:rPr>
                            <m:t>1</m:t>
                          </m:r>
                        </m:sub>
                      </m:sSub>
                    </m:oMath>
                  </m:oMathPara>
                </a14:m>
                <a:endParaRPr kumimoji="0" lang="en-US" altLang="ja-JP" sz="2800" i="1" baseline="-25000" dirty="0">
                  <a:solidFill>
                    <a:schemeClr val="tx1"/>
                  </a:solidFill>
                  <a:latin typeface="Times New Roman" pitchFamily="18" charset="0"/>
                  <a:ea typeface="MeiryoKe_PGothic" pitchFamily="50" charset="-128"/>
                </a:endParaRPr>
              </a:p>
            </p:txBody>
          </p:sp>
        </mc:Choice>
        <mc:Fallback>
          <p:sp>
            <p:nvSpPr>
              <p:cNvPr id="16" name="正方形/長方形 15"/>
              <p:cNvSpPr>
                <a:spLocks noRot="1" noChangeAspect="1" noMove="1" noResize="1" noEditPoints="1" noAdjustHandles="1" noChangeArrowheads="1" noChangeShapeType="1" noTextEdit="1"/>
              </p:cNvSpPr>
              <p:nvPr/>
            </p:nvSpPr>
            <p:spPr bwMode="auto">
              <a:xfrm>
                <a:off x="4295980" y="3249001"/>
                <a:ext cx="540006" cy="270003"/>
              </a:xfrm>
              <a:prstGeom prst="rect">
                <a:avLst/>
              </a:prstGeom>
              <a:blipFill>
                <a:blip r:embed="rId5"/>
                <a:stretch>
                  <a:fillRect b="-25000"/>
                </a:stretch>
              </a:blipFill>
              <a:ln>
                <a:noFill/>
                <a:headEnd/>
                <a:tailEnd type="triangle" w="sm"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7" name="正方形/長方形 16"/>
              <p:cNvSpPr/>
              <p:nvPr/>
            </p:nvSpPr>
            <p:spPr bwMode="auto">
              <a:xfrm>
                <a:off x="5645995" y="2978998"/>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r>
                        <a:rPr kumimoji="0" lang="en-US" altLang="ja-JP" sz="2800" i="1" dirty="0">
                          <a:solidFill>
                            <a:schemeClr val="tx1"/>
                          </a:solidFill>
                          <a:latin typeface="Cambria Math" panose="02040503050406030204" pitchFamily="18" charset="0"/>
                          <a:ea typeface="MeiryoKe_PGothic" pitchFamily="50" charset="-128"/>
                        </a:rPr>
                        <m:t>𝑜</m:t>
                      </m:r>
                    </m:oMath>
                  </m:oMathPara>
                </a14:m>
                <a:endParaRPr kumimoji="0" lang="en-US" altLang="ja-JP" sz="2800" i="1" baseline="-25000" dirty="0">
                  <a:solidFill>
                    <a:schemeClr val="tx1"/>
                  </a:solidFill>
                  <a:latin typeface="Times New Roman" pitchFamily="18" charset="0"/>
                  <a:ea typeface="MeiryoKe_PGothic" pitchFamily="50" charset="-128"/>
                </a:endParaRPr>
              </a:p>
            </p:txBody>
          </p:sp>
        </mc:Choice>
        <mc:Fallback>
          <p:sp>
            <p:nvSpPr>
              <p:cNvPr id="17" name="正方形/長方形 16"/>
              <p:cNvSpPr>
                <a:spLocks noRot="1" noChangeAspect="1" noMove="1" noResize="1" noEditPoints="1" noAdjustHandles="1" noChangeArrowheads="1" noChangeShapeType="1" noTextEdit="1"/>
              </p:cNvSpPr>
              <p:nvPr/>
            </p:nvSpPr>
            <p:spPr bwMode="auto">
              <a:xfrm>
                <a:off x="5645995" y="2978998"/>
                <a:ext cx="540006" cy="270003"/>
              </a:xfrm>
              <a:prstGeom prst="rect">
                <a:avLst/>
              </a:prstGeom>
              <a:blipFill>
                <a:blip r:embed="rId6"/>
                <a:stretch>
                  <a:fillRect/>
                </a:stretch>
              </a:blipFill>
              <a:ln>
                <a:noFill/>
                <a:headEnd/>
                <a:tailEnd type="triangle" w="sm" len="med"/>
              </a:ln>
              <a:effectLst/>
            </p:spPr>
            <p:txBody>
              <a:bodyPr/>
              <a:lstStyle/>
              <a:p>
                <a:r>
                  <a:rPr lang="ja-JP" altLang="en-US">
                    <a:noFill/>
                  </a:rPr>
                  <a:t> </a:t>
                </a:r>
              </a:p>
            </p:txBody>
          </p:sp>
        </mc:Fallback>
      </mc:AlternateContent>
      <p:sp>
        <p:nvSpPr>
          <p:cNvPr id="20" name="フローチャート: 手作業 19"/>
          <p:cNvSpPr/>
          <p:nvPr/>
        </p:nvSpPr>
        <p:spPr bwMode="auto">
          <a:xfrm rot="16200000">
            <a:off x="7078816" y="2356183"/>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cxnSp>
        <p:nvCxnSpPr>
          <p:cNvPr id="21" name="直線矢印コネクタ 20"/>
          <p:cNvCxnSpPr/>
          <p:nvPr/>
        </p:nvCxnSpPr>
        <p:spPr bwMode="auto">
          <a:xfrm>
            <a:off x="7086014" y="2258987"/>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22" name="直線矢印コネクタ 21"/>
          <p:cNvCxnSpPr/>
          <p:nvPr/>
        </p:nvCxnSpPr>
        <p:spPr bwMode="auto">
          <a:xfrm>
            <a:off x="7086014" y="2798993"/>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23" name="直線コネクタ 22"/>
          <p:cNvCxnSpPr/>
          <p:nvPr/>
        </p:nvCxnSpPr>
        <p:spPr bwMode="auto">
          <a:xfrm>
            <a:off x="7536016" y="1988984"/>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フローチャート: 手作業 27"/>
          <p:cNvSpPr/>
          <p:nvPr/>
        </p:nvSpPr>
        <p:spPr bwMode="auto">
          <a:xfrm rot="16200000">
            <a:off x="7078816" y="3436195"/>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cxnSp>
        <p:nvCxnSpPr>
          <p:cNvPr id="29" name="直線矢印コネクタ 28"/>
          <p:cNvCxnSpPr/>
          <p:nvPr/>
        </p:nvCxnSpPr>
        <p:spPr bwMode="auto">
          <a:xfrm>
            <a:off x="7086014" y="3338999"/>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30" name="直線矢印コネクタ 29"/>
          <p:cNvCxnSpPr/>
          <p:nvPr/>
        </p:nvCxnSpPr>
        <p:spPr bwMode="auto">
          <a:xfrm>
            <a:off x="7086014" y="3879005"/>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8076022" y="2888994"/>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7716021" y="3609002"/>
            <a:ext cx="270003" cy="0"/>
          </a:xfrm>
          <a:prstGeom prst="straightConnector1">
            <a:avLst/>
          </a:prstGeom>
          <a:noFill/>
          <a:ln w="9525" cap="flat" cmpd="sng" algn="ctr">
            <a:solidFill>
              <a:schemeClr val="tx1"/>
            </a:solidFill>
            <a:prstDash val="solid"/>
            <a:round/>
            <a:headEnd type="none" w="sm" len="sm"/>
            <a:tailEnd type="none"/>
          </a:ln>
          <a:effectLst/>
        </p:spPr>
      </p:cxnSp>
      <p:sp>
        <p:nvSpPr>
          <p:cNvPr id="33" name="フローチャート: 手作業 32"/>
          <p:cNvSpPr/>
          <p:nvPr/>
        </p:nvSpPr>
        <p:spPr bwMode="auto">
          <a:xfrm rot="16200000">
            <a:off x="8158828" y="2896189"/>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34" name="Freeform 10"/>
          <p:cNvSpPr>
            <a:spLocks/>
          </p:cNvSpPr>
          <p:nvPr/>
        </p:nvSpPr>
        <p:spPr bwMode="auto">
          <a:xfrm flipH="1" flipV="1">
            <a:off x="7716018" y="2528990"/>
            <a:ext cx="360004"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6" name="Freeform 10"/>
          <p:cNvSpPr>
            <a:spLocks/>
          </p:cNvSpPr>
          <p:nvPr/>
        </p:nvSpPr>
        <p:spPr bwMode="auto">
          <a:xfrm flipH="1">
            <a:off x="7716018" y="3248998"/>
            <a:ext cx="360004"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8" name="直線矢印コネクタ 37"/>
          <p:cNvCxnSpPr/>
          <p:nvPr/>
        </p:nvCxnSpPr>
        <p:spPr bwMode="auto">
          <a:xfrm>
            <a:off x="8076022" y="3248998"/>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39" name="直線コネクタ 38"/>
          <p:cNvCxnSpPr/>
          <p:nvPr/>
        </p:nvCxnSpPr>
        <p:spPr bwMode="auto">
          <a:xfrm>
            <a:off x="7536016" y="3068996"/>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直線コネクタ 41"/>
          <p:cNvCxnSpPr/>
          <p:nvPr/>
        </p:nvCxnSpPr>
        <p:spPr bwMode="auto">
          <a:xfrm>
            <a:off x="8616028" y="2528990"/>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矢印コネクタ 42"/>
          <p:cNvCxnSpPr/>
          <p:nvPr/>
        </p:nvCxnSpPr>
        <p:spPr bwMode="auto">
          <a:xfrm>
            <a:off x="8796030" y="3068996"/>
            <a:ext cx="360004" cy="0"/>
          </a:xfrm>
          <a:prstGeom prst="straightConnector1">
            <a:avLst/>
          </a:prstGeom>
          <a:noFill/>
          <a:ln w="9525" cap="flat" cmpd="sng" algn="ctr">
            <a:solidFill>
              <a:schemeClr val="tx1"/>
            </a:solidFill>
            <a:prstDash val="solid"/>
            <a:round/>
            <a:headEnd type="none" w="sm" len="sm"/>
            <a:tailEnd type="none"/>
          </a:ln>
          <a:effectLst/>
        </p:spPr>
      </p:cxnSp>
    </p:spTree>
    <p:extLst>
      <p:ext uri="{BB962C8B-B14F-4D97-AF65-F5344CB8AC3E}">
        <p14:creationId xmlns:p14="http://schemas.microsoft.com/office/powerpoint/2010/main" val="37877276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選択信号を出すための論理関数</a:t>
            </a:r>
          </a:p>
        </p:txBody>
      </p:sp>
      <p:sp>
        <p:nvSpPr>
          <p:cNvPr id="3" name="テキスト プレースホルダー 2"/>
          <p:cNvSpPr>
            <a:spLocks noGrp="1"/>
          </p:cNvSpPr>
          <p:nvPr>
            <p:ph type="body" sz="quarter" idx="10"/>
          </p:nvPr>
        </p:nvSpPr>
        <p:spPr>
          <a:xfrm>
            <a:off x="1595950" y="5859030"/>
            <a:ext cx="8820098" cy="720009"/>
          </a:xfrm>
        </p:spPr>
        <p:txBody>
          <a:bodyPr/>
          <a:lstStyle/>
          <a:p>
            <a:pPr lvl="1"/>
            <a:r>
              <a:rPr kumimoji="1" lang="ja-JP" altLang="en-US" dirty="0">
                <a:solidFill>
                  <a:schemeClr val="tx1">
                    <a:lumMod val="85000"/>
                    <a:lumOff val="15000"/>
                  </a:schemeClr>
                </a:solidFill>
              </a:rPr>
              <a:t>場合わけの制御は，そのまま真理値表にして回路を生成すればよい</a:t>
            </a:r>
            <a:endParaRPr kumimoji="1" lang="en-US" altLang="ja-JP" dirty="0">
              <a:solidFill>
                <a:schemeClr val="tx1">
                  <a:lumMod val="85000"/>
                  <a:lumOff val="15000"/>
                </a:schemeClr>
              </a:solidFill>
            </a:endParaRPr>
          </a:p>
          <a:p>
            <a:pPr lvl="2"/>
            <a:r>
              <a:rPr lang="en-US" altLang="ja-JP" dirty="0">
                <a:solidFill>
                  <a:schemeClr val="tx1">
                    <a:lumMod val="85000"/>
                    <a:lumOff val="15000"/>
                  </a:schemeClr>
                </a:solidFill>
              </a:rPr>
              <a:t>XOR </a:t>
            </a:r>
            <a:r>
              <a:rPr lang="ja-JP" altLang="en-US" dirty="0">
                <a:solidFill>
                  <a:schemeClr val="tx1">
                    <a:lumMod val="85000"/>
                    <a:lumOff val="15000"/>
                  </a:schemeClr>
                </a:solidFill>
              </a:rPr>
              <a:t>なら </a:t>
            </a:r>
            <a:r>
              <a:rPr lang="en-US" altLang="ja-JP" dirty="0">
                <a:solidFill>
                  <a:schemeClr val="tx1">
                    <a:lumMod val="85000"/>
                    <a:lumOff val="15000"/>
                  </a:schemeClr>
                </a:solidFill>
              </a:rPr>
              <a:t>00</a:t>
            </a:r>
            <a:r>
              <a:rPr lang="ja-JP" altLang="en-US" dirty="0" err="1">
                <a:solidFill>
                  <a:schemeClr val="tx1">
                    <a:lumMod val="85000"/>
                    <a:lumOff val="15000"/>
                  </a:schemeClr>
                </a:solidFill>
              </a:rPr>
              <a:t>，</a:t>
            </a:r>
            <a:r>
              <a:rPr lang="en-US" altLang="ja-JP" dirty="0">
                <a:solidFill>
                  <a:schemeClr val="tx1">
                    <a:lumMod val="85000"/>
                    <a:lumOff val="15000"/>
                  </a:schemeClr>
                </a:solidFill>
              </a:rPr>
              <a:t>OR </a:t>
            </a:r>
            <a:r>
              <a:rPr lang="ja-JP" altLang="en-US" dirty="0">
                <a:solidFill>
                  <a:schemeClr val="tx1">
                    <a:lumMod val="85000"/>
                    <a:lumOff val="15000"/>
                  </a:schemeClr>
                </a:solidFill>
              </a:rPr>
              <a:t>なら </a:t>
            </a:r>
            <a:r>
              <a:rPr lang="en-US" altLang="ja-JP" dirty="0">
                <a:solidFill>
                  <a:schemeClr val="tx1">
                    <a:lumMod val="85000"/>
                    <a:lumOff val="15000"/>
                  </a:schemeClr>
                </a:solidFill>
              </a:rPr>
              <a:t>01</a:t>
            </a:r>
            <a:r>
              <a:rPr lang="ja-JP" altLang="en-US" dirty="0" err="1">
                <a:solidFill>
                  <a:schemeClr val="tx1">
                    <a:lumMod val="85000"/>
                    <a:lumOff val="15000"/>
                  </a:schemeClr>
                </a:solidFill>
              </a:rPr>
              <a:t>，</a:t>
            </a:r>
            <a:r>
              <a:rPr lang="ja-JP" altLang="en-US" dirty="0">
                <a:solidFill>
                  <a:schemeClr val="tx1">
                    <a:lumMod val="85000"/>
                    <a:lumOff val="15000"/>
                  </a:schemeClr>
                </a:solidFill>
              </a:rPr>
              <a:t>その他は </a:t>
            </a:r>
            <a:r>
              <a:rPr lang="en-US" altLang="ja-JP" dirty="0">
                <a:solidFill>
                  <a:schemeClr val="tx1">
                    <a:lumMod val="85000"/>
                    <a:lumOff val="15000"/>
                  </a:schemeClr>
                </a:solidFill>
              </a:rPr>
              <a:t>10</a:t>
            </a:r>
            <a:endParaRPr kumimoji="1" lang="ja-JP" altLang="en-US" dirty="0">
              <a:solidFill>
                <a:schemeClr val="tx1">
                  <a:lumMod val="85000"/>
                  <a:lumOff val="15000"/>
                </a:schemeClr>
              </a:solidFill>
            </a:endParaRPr>
          </a:p>
        </p:txBody>
      </p:sp>
      <p:sp>
        <p:nvSpPr>
          <p:cNvPr id="19" name="正方形/長方形 18"/>
          <p:cNvSpPr/>
          <p:nvPr/>
        </p:nvSpPr>
        <p:spPr bwMode="auto">
          <a:xfrm>
            <a:off x="7086011" y="5139019"/>
            <a:ext cx="54000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8" name="正方形/長方形 47"/>
          <p:cNvSpPr/>
          <p:nvPr/>
        </p:nvSpPr>
        <p:spPr bwMode="auto">
          <a:xfrm>
            <a:off x="7086011" y="4779015"/>
            <a:ext cx="54000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9" name="正方形/長方形 48"/>
          <p:cNvSpPr/>
          <p:nvPr/>
        </p:nvSpPr>
        <p:spPr bwMode="auto">
          <a:xfrm>
            <a:off x="7086011" y="3969006"/>
            <a:ext cx="54000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mc:AlternateContent xmlns:mc="http://schemas.openxmlformats.org/markup-compatibility/2006">
        <mc:Choice xmlns:a14="http://schemas.microsoft.com/office/drawing/2010/main" Requires="a14">
          <p:graphicFrame>
            <p:nvGraphicFramePr>
              <p:cNvPr id="62" name="Group 153"/>
              <p:cNvGraphicFramePr>
                <a:graphicFrameLocks/>
              </p:cNvGraphicFramePr>
              <p:nvPr>
                <p:extLst>
                  <p:ext uri="{D42A27DB-BD31-4B8C-83A1-F6EECF244321}">
                    <p14:modId xmlns:p14="http://schemas.microsoft.com/office/powerpoint/2010/main" val="351130744"/>
                  </p:ext>
                </p:extLst>
              </p:nvPr>
            </p:nvGraphicFramePr>
            <p:xfrm>
              <a:off x="7626017" y="1898986"/>
              <a:ext cx="1728000" cy="3424301"/>
            </p:xfrm>
            <a:graphic>
              <a:graphicData uri="http://schemas.openxmlformats.org/drawingml/2006/table">
                <a:tbl>
                  <a:tblPr/>
                  <a:tblGrid>
                    <a:gridCol w="345600">
                      <a:extLst>
                        <a:ext uri="{9D8B030D-6E8A-4147-A177-3AD203B41FA5}">
                          <a16:colId xmlns:a16="http://schemas.microsoft.com/office/drawing/2014/main" val="20000"/>
                        </a:ext>
                      </a:extLst>
                    </a:gridCol>
                    <a:gridCol w="345600">
                      <a:extLst>
                        <a:ext uri="{9D8B030D-6E8A-4147-A177-3AD203B41FA5}">
                          <a16:colId xmlns:a16="http://schemas.microsoft.com/office/drawing/2014/main" val="20001"/>
                        </a:ext>
                      </a:extLst>
                    </a:gridCol>
                    <a:gridCol w="345600">
                      <a:extLst>
                        <a:ext uri="{9D8B030D-6E8A-4147-A177-3AD203B41FA5}">
                          <a16:colId xmlns:a16="http://schemas.microsoft.com/office/drawing/2014/main" val="20002"/>
                        </a:ext>
                      </a:extLst>
                    </a:gridCol>
                    <a:gridCol w="345600">
                      <a:extLst>
                        <a:ext uri="{9D8B030D-6E8A-4147-A177-3AD203B41FA5}">
                          <a16:colId xmlns:a16="http://schemas.microsoft.com/office/drawing/2014/main" val="20003"/>
                        </a:ext>
                      </a:extLst>
                    </a:gridCol>
                    <a:gridCol w="345600">
                      <a:extLst>
                        <a:ext uri="{9D8B030D-6E8A-4147-A177-3AD203B41FA5}">
                          <a16:colId xmlns:a16="http://schemas.microsoft.com/office/drawing/2014/main" val="20004"/>
                        </a:ext>
                      </a:extLst>
                    </a:gridCol>
                  </a:tblGrid>
                  <a:tr h="5429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US" altLang="ja-JP" sz="2000" b="0" i="1" u="none" strike="noStrike" cap="none" normalizeH="0" baseline="0" dirty="0" smtClean="0">
                                        <a:ln>
                                          <a:noFill/>
                                        </a:ln>
                                        <a:solidFill>
                                          <a:schemeClr val="accent5"/>
                                        </a:solidFill>
                                        <a:effectLst/>
                                        <a:latin typeface="Cambria Math" panose="02040503050406030204" pitchFamily="18" charset="0"/>
                                        <a:ea typeface="MeiryoKe_PGothic" pitchFamily="50" charset="-128"/>
                                      </a:rPr>
                                    </m:ctrlPr>
                                  </m:sSubPr>
                                  <m:e>
                                    <m:r>
                                      <a:rPr kumimoji="0" lang="en-US" altLang="ja-JP" sz="2000" b="0" i="1" u="none" strike="noStrike" cap="none" normalizeH="0" baseline="0" dirty="0" smtClean="0">
                                        <a:ln>
                                          <a:noFill/>
                                        </a:ln>
                                        <a:solidFill>
                                          <a:schemeClr val="accent5"/>
                                        </a:solidFill>
                                        <a:effectLst/>
                                        <a:latin typeface="Cambria Math" panose="02040503050406030204" pitchFamily="18" charset="0"/>
                                        <a:ea typeface="MeiryoKe_PGothic" pitchFamily="50" charset="-128"/>
                                      </a:rPr>
                                      <m:t>𝑠</m:t>
                                    </m:r>
                                  </m:e>
                                  <m:sub>
                                    <m:r>
                                      <a:rPr kumimoji="0" lang="en-US" altLang="ja-JP" sz="2000" b="0" i="1" u="none" strike="noStrike" cap="none" normalizeH="0" baseline="0" dirty="0" smtClean="0">
                                        <a:ln>
                                          <a:noFill/>
                                        </a:ln>
                                        <a:solidFill>
                                          <a:schemeClr val="accent5"/>
                                        </a:solidFill>
                                        <a:effectLst/>
                                        <a:latin typeface="Cambria Math" panose="02040503050406030204" pitchFamily="18" charset="0"/>
                                        <a:ea typeface="MeiryoKe_PGothic" pitchFamily="50" charset="-128"/>
                                      </a:rPr>
                                      <m:t>1</m:t>
                                    </m:r>
                                  </m:sub>
                                </m:sSub>
                              </m:oMath>
                            </m:oMathPara>
                          </a14:m>
                          <a:endParaRPr kumimoji="0" lang="en-US" altLang="ja-JP" sz="2000" b="0" i="0" u="none" strike="noStrike" cap="none" normalizeH="0" baseline="-25000" dirty="0">
                            <a:ln>
                              <a:noFill/>
                            </a:ln>
                            <a:solidFill>
                              <a:schemeClr val="accent5"/>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r>
                                  <a:rPr kumimoji="0" lang="en-US" altLang="ja-JP" sz="2000" b="0" i="1" u="none" strike="noStrike" cap="none" normalizeH="0" baseline="0" dirty="0" smtClean="0">
                                    <a:ln>
                                      <a:noFill/>
                                    </a:ln>
                                    <a:solidFill>
                                      <a:schemeClr val="accent5"/>
                                    </a:solidFill>
                                    <a:effectLst/>
                                    <a:latin typeface="Cambria Math" panose="02040503050406030204" pitchFamily="18" charset="0"/>
                                    <a:ea typeface="MeiryoKe_PGothic" pitchFamily="50" charset="-128"/>
                                  </a:rPr>
                                  <m:t>𝑠</m:t>
                                </m:r>
                                <m:r>
                                  <a:rPr kumimoji="0" lang="en-US" altLang="ja-JP" sz="2000" b="0" i="1" u="none" strike="noStrike" cap="none" normalizeH="0" baseline="-25000" dirty="0" smtClean="0">
                                    <a:ln>
                                      <a:noFill/>
                                    </a:ln>
                                    <a:solidFill>
                                      <a:schemeClr val="accent5"/>
                                    </a:solidFill>
                                    <a:effectLst/>
                                    <a:latin typeface="Cambria Math" panose="02040503050406030204" pitchFamily="18" charset="0"/>
                                    <a:ea typeface="MeiryoKe_PGothic" pitchFamily="50" charset="-128"/>
                                  </a:rPr>
                                  <m:t>0</m:t>
                                </m:r>
                              </m:oMath>
                            </m:oMathPara>
                          </a14:m>
                          <a:endParaRPr kumimoji="0" lang="en-US" altLang="ja-JP" sz="2000" b="0" i="0" u="none" strike="noStrike" cap="none" normalizeH="0" baseline="-25000" dirty="0">
                            <a:ln>
                              <a:noFill/>
                            </a:ln>
                            <a:solidFill>
                              <a:schemeClr val="accent5"/>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5"/>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7"/>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8"/>
                      </a:ext>
                    </a:extLst>
                  </a:tr>
                </a:tbl>
              </a:graphicData>
            </a:graphic>
          </p:graphicFrame>
        </mc:Choice>
        <mc:Fallback>
          <p:graphicFrame>
            <p:nvGraphicFramePr>
              <p:cNvPr id="62" name="Group 153"/>
              <p:cNvGraphicFramePr>
                <a:graphicFrameLocks/>
              </p:cNvGraphicFramePr>
              <p:nvPr>
                <p:extLst>
                  <p:ext uri="{D42A27DB-BD31-4B8C-83A1-F6EECF244321}">
                    <p14:modId xmlns:p14="http://schemas.microsoft.com/office/powerpoint/2010/main" val="351130744"/>
                  </p:ext>
                </p:extLst>
              </p:nvPr>
            </p:nvGraphicFramePr>
            <p:xfrm>
              <a:off x="7626017" y="1898986"/>
              <a:ext cx="1728000" cy="3424301"/>
            </p:xfrm>
            <a:graphic>
              <a:graphicData uri="http://schemas.openxmlformats.org/drawingml/2006/table">
                <a:tbl>
                  <a:tblPr/>
                  <a:tblGrid>
                    <a:gridCol w="345600">
                      <a:extLst>
                        <a:ext uri="{9D8B030D-6E8A-4147-A177-3AD203B41FA5}">
                          <a16:colId xmlns:a16="http://schemas.microsoft.com/office/drawing/2014/main" val="20000"/>
                        </a:ext>
                      </a:extLst>
                    </a:gridCol>
                    <a:gridCol w="345600">
                      <a:extLst>
                        <a:ext uri="{9D8B030D-6E8A-4147-A177-3AD203B41FA5}">
                          <a16:colId xmlns:a16="http://schemas.microsoft.com/office/drawing/2014/main" val="20001"/>
                        </a:ext>
                      </a:extLst>
                    </a:gridCol>
                    <a:gridCol w="345600">
                      <a:extLst>
                        <a:ext uri="{9D8B030D-6E8A-4147-A177-3AD203B41FA5}">
                          <a16:colId xmlns:a16="http://schemas.microsoft.com/office/drawing/2014/main" val="20002"/>
                        </a:ext>
                      </a:extLst>
                    </a:gridCol>
                    <a:gridCol w="345600">
                      <a:extLst>
                        <a:ext uri="{9D8B030D-6E8A-4147-A177-3AD203B41FA5}">
                          <a16:colId xmlns:a16="http://schemas.microsoft.com/office/drawing/2014/main" val="20003"/>
                        </a:ext>
                      </a:extLst>
                    </a:gridCol>
                    <a:gridCol w="345600">
                      <a:extLst>
                        <a:ext uri="{9D8B030D-6E8A-4147-A177-3AD203B41FA5}">
                          <a16:colId xmlns:a16="http://schemas.microsoft.com/office/drawing/2014/main" val="20004"/>
                        </a:ext>
                      </a:extLst>
                    </a:gridCol>
                  </a:tblGrid>
                  <a:tr h="5429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endParaRPr lang="ja-JP"/>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315789" t="-2247" r="-103509" b="-546067"/>
                          </a:stretch>
                        </a:blipFill>
                      </a:tcPr>
                    </a:tc>
                    <a:tc>
                      <a:txBody>
                        <a:bodyPr/>
                        <a:lstStyle/>
                        <a:p>
                          <a:endParaRPr lang="ja-JP"/>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415789" t="-2247" r="-3509" b="-546067"/>
                          </a:stretch>
                        </a:blip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5"/>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7"/>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8"/>
                      </a:ext>
                    </a:extLst>
                  </a:tr>
                </a:tbl>
              </a:graphicData>
            </a:graphic>
          </p:graphicFrame>
        </mc:Fallback>
      </mc:AlternateContent>
      <p:cxnSp>
        <p:nvCxnSpPr>
          <p:cNvPr id="67" name="直線矢印コネクタ 66"/>
          <p:cNvCxnSpPr/>
          <p:nvPr/>
        </p:nvCxnSpPr>
        <p:spPr bwMode="auto">
          <a:xfrm>
            <a:off x="2850196" y="3347961"/>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68" name="直線矢印コネクタ 67"/>
          <p:cNvCxnSpPr/>
          <p:nvPr/>
        </p:nvCxnSpPr>
        <p:spPr bwMode="auto">
          <a:xfrm flipV="1">
            <a:off x="2850196" y="3339002"/>
            <a:ext cx="0" cy="1710019"/>
          </a:xfrm>
          <a:prstGeom prst="straightConnector1">
            <a:avLst/>
          </a:prstGeom>
          <a:noFill/>
          <a:ln w="9525" cap="flat" cmpd="sng" algn="ctr">
            <a:solidFill>
              <a:schemeClr val="tx1"/>
            </a:solidFill>
            <a:prstDash val="solid"/>
            <a:round/>
            <a:headEnd type="none" w="med" len="med"/>
            <a:tailEnd type="none"/>
          </a:ln>
          <a:effectLst/>
        </p:spPr>
      </p:cxnSp>
      <p:cxnSp>
        <p:nvCxnSpPr>
          <p:cNvPr id="69" name="直線矢印コネクタ 68"/>
          <p:cNvCxnSpPr/>
          <p:nvPr/>
        </p:nvCxnSpPr>
        <p:spPr bwMode="auto">
          <a:xfrm flipV="1">
            <a:off x="3210200" y="3699006"/>
            <a:ext cx="0" cy="1710019"/>
          </a:xfrm>
          <a:prstGeom prst="straightConnector1">
            <a:avLst/>
          </a:prstGeom>
          <a:noFill/>
          <a:ln w="9525" cap="flat" cmpd="sng" algn="ctr">
            <a:solidFill>
              <a:schemeClr val="tx1"/>
            </a:solidFill>
            <a:prstDash val="solid"/>
            <a:round/>
            <a:headEnd type="none" w="med" len="med"/>
            <a:tailEnd type="none"/>
          </a:ln>
          <a:effectLst/>
        </p:spPr>
      </p:cxnSp>
      <p:cxnSp>
        <p:nvCxnSpPr>
          <p:cNvPr id="70" name="直線矢印コネクタ 69"/>
          <p:cNvCxnSpPr/>
          <p:nvPr/>
        </p:nvCxnSpPr>
        <p:spPr bwMode="auto">
          <a:xfrm>
            <a:off x="3210200" y="3699003"/>
            <a:ext cx="1080012" cy="0"/>
          </a:xfrm>
          <a:prstGeom prst="straightConnector1">
            <a:avLst/>
          </a:prstGeom>
          <a:noFill/>
          <a:ln w="9525" cap="flat" cmpd="sng" algn="ctr">
            <a:solidFill>
              <a:schemeClr val="tx1"/>
            </a:solidFill>
            <a:prstDash val="solid"/>
            <a:round/>
            <a:headEnd type="oval" w="sm" len="sm"/>
            <a:tailEnd type="none"/>
          </a:ln>
          <a:effectLst/>
        </p:spPr>
      </p:cxnSp>
      <p:cxnSp>
        <p:nvCxnSpPr>
          <p:cNvPr id="71" name="直線矢印コネクタ 70"/>
          <p:cNvCxnSpPr/>
          <p:nvPr/>
        </p:nvCxnSpPr>
        <p:spPr bwMode="auto">
          <a:xfrm>
            <a:off x="2850196" y="4239009"/>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72" name="直線矢印コネクタ 71"/>
          <p:cNvCxnSpPr/>
          <p:nvPr/>
        </p:nvCxnSpPr>
        <p:spPr bwMode="auto">
          <a:xfrm>
            <a:off x="3210200" y="4599013"/>
            <a:ext cx="1080012" cy="0"/>
          </a:xfrm>
          <a:prstGeom prst="straightConnector1">
            <a:avLst/>
          </a:prstGeom>
          <a:noFill/>
          <a:ln w="9525" cap="flat" cmpd="sng" algn="ctr">
            <a:solidFill>
              <a:schemeClr val="tx1"/>
            </a:solidFill>
            <a:prstDash val="solid"/>
            <a:round/>
            <a:headEnd type="oval" w="sm" len="sm"/>
            <a:tailEnd type="none"/>
          </a:ln>
          <a:effectLst/>
        </p:spPr>
      </p:cxnSp>
      <p:cxnSp>
        <p:nvCxnSpPr>
          <p:cNvPr id="73" name="直線矢印コネクタ 72"/>
          <p:cNvCxnSpPr/>
          <p:nvPr/>
        </p:nvCxnSpPr>
        <p:spPr bwMode="auto">
          <a:xfrm>
            <a:off x="2850196" y="5049018"/>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74" name="直線矢印コネクタ 73"/>
          <p:cNvCxnSpPr/>
          <p:nvPr/>
        </p:nvCxnSpPr>
        <p:spPr bwMode="auto">
          <a:xfrm>
            <a:off x="3210200" y="5409022"/>
            <a:ext cx="1080012" cy="0"/>
          </a:xfrm>
          <a:prstGeom prst="straightConnector1">
            <a:avLst/>
          </a:prstGeom>
          <a:noFill/>
          <a:ln w="9525" cap="flat" cmpd="sng" algn="ctr">
            <a:solidFill>
              <a:schemeClr val="tx1"/>
            </a:solidFill>
            <a:prstDash val="solid"/>
            <a:round/>
            <a:headEnd type="oval" w="sm" len="sm"/>
            <a:tailEnd type="none"/>
          </a:ln>
          <a:effectLst/>
        </p:spPr>
      </p:cxnSp>
      <p:pic>
        <p:nvPicPr>
          <p:cNvPr id="75" name="Picture 7" descr="OR"/>
          <p:cNvPicPr>
            <a:picLocks noChangeAspect="1" noChangeArrowheads="1"/>
          </p:cNvPicPr>
          <p:nvPr/>
        </p:nvPicPr>
        <p:blipFill>
          <a:blip r:embed="rId3" cstate="print"/>
          <a:srcRect/>
          <a:stretch>
            <a:fillRect/>
          </a:stretch>
        </p:blipFill>
        <p:spPr bwMode="auto">
          <a:xfrm>
            <a:off x="3660205" y="4059007"/>
            <a:ext cx="1079500" cy="717550"/>
          </a:xfrm>
          <a:prstGeom prst="rect">
            <a:avLst/>
          </a:prstGeom>
          <a:noFill/>
        </p:spPr>
      </p:pic>
      <p:pic>
        <p:nvPicPr>
          <p:cNvPr id="76" name="Picture 6" descr="AND"/>
          <p:cNvPicPr>
            <a:picLocks noChangeAspect="1" noChangeArrowheads="1"/>
          </p:cNvPicPr>
          <p:nvPr/>
        </p:nvPicPr>
        <p:blipFill>
          <a:blip r:embed="rId4" cstate="print"/>
          <a:srcRect/>
          <a:stretch>
            <a:fillRect/>
          </a:stretch>
        </p:blipFill>
        <p:spPr bwMode="auto">
          <a:xfrm>
            <a:off x="3660205" y="4869019"/>
            <a:ext cx="1079500" cy="720725"/>
          </a:xfrm>
          <a:prstGeom prst="rect">
            <a:avLst/>
          </a:prstGeom>
          <a:noFill/>
        </p:spPr>
      </p:pic>
      <p:pic>
        <p:nvPicPr>
          <p:cNvPr id="77" name="Picture 18" descr="XOR"/>
          <p:cNvPicPr>
            <a:picLocks noChangeAspect="1" noChangeArrowheads="1"/>
          </p:cNvPicPr>
          <p:nvPr/>
        </p:nvPicPr>
        <p:blipFill>
          <a:blip r:embed="rId5" cstate="print"/>
          <a:srcRect/>
          <a:stretch>
            <a:fillRect/>
          </a:stretch>
        </p:blipFill>
        <p:spPr bwMode="auto">
          <a:xfrm>
            <a:off x="3660205" y="3158997"/>
            <a:ext cx="1079500" cy="717550"/>
          </a:xfrm>
          <a:prstGeom prst="rect">
            <a:avLst/>
          </a:prstGeom>
          <a:noFill/>
        </p:spPr>
      </p:pic>
      <p:cxnSp>
        <p:nvCxnSpPr>
          <p:cNvPr id="78" name="直線コネクタ 77"/>
          <p:cNvCxnSpPr/>
          <p:nvPr/>
        </p:nvCxnSpPr>
        <p:spPr bwMode="auto">
          <a:xfrm>
            <a:off x="2310190" y="3969006"/>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9" name="直線コネクタ 78"/>
          <p:cNvCxnSpPr/>
          <p:nvPr/>
        </p:nvCxnSpPr>
        <p:spPr bwMode="auto">
          <a:xfrm>
            <a:off x="2310190" y="4509012"/>
            <a:ext cx="900010"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0" name="直線コネクタ 79"/>
          <p:cNvCxnSpPr/>
          <p:nvPr/>
        </p:nvCxnSpPr>
        <p:spPr bwMode="auto">
          <a:xfrm>
            <a:off x="5460225" y="4419011"/>
            <a:ext cx="900010"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81" name="Freeform 10"/>
          <p:cNvSpPr>
            <a:spLocks/>
          </p:cNvSpPr>
          <p:nvPr/>
        </p:nvSpPr>
        <p:spPr bwMode="auto">
          <a:xfrm flipH="1" flipV="1">
            <a:off x="4470214" y="3519003"/>
            <a:ext cx="360004" cy="72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82" name="直線矢印コネクタ 81"/>
          <p:cNvCxnSpPr/>
          <p:nvPr/>
        </p:nvCxnSpPr>
        <p:spPr bwMode="auto">
          <a:xfrm>
            <a:off x="4470214" y="4419011"/>
            <a:ext cx="720008" cy="0"/>
          </a:xfrm>
          <a:prstGeom prst="straightConnector1">
            <a:avLst/>
          </a:prstGeom>
          <a:noFill/>
          <a:ln w="9525" cap="flat" cmpd="sng" algn="ctr">
            <a:solidFill>
              <a:schemeClr val="tx1"/>
            </a:solidFill>
            <a:prstDash val="solid"/>
            <a:round/>
            <a:headEnd type="none" w="sm" len="sm"/>
            <a:tailEnd type="none"/>
          </a:ln>
          <a:effectLst/>
        </p:spPr>
      </p:cxnSp>
      <p:sp>
        <p:nvSpPr>
          <p:cNvPr id="83" name="Freeform 10"/>
          <p:cNvSpPr>
            <a:spLocks/>
          </p:cNvSpPr>
          <p:nvPr/>
        </p:nvSpPr>
        <p:spPr bwMode="auto">
          <a:xfrm flipH="1">
            <a:off x="4470214" y="4599016"/>
            <a:ext cx="360004"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84" name="直線矢印コネクタ 83"/>
          <p:cNvCxnSpPr/>
          <p:nvPr/>
        </p:nvCxnSpPr>
        <p:spPr bwMode="auto">
          <a:xfrm>
            <a:off x="4830218" y="4239009"/>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85" name="直線矢印コネクタ 84"/>
          <p:cNvCxnSpPr/>
          <p:nvPr/>
        </p:nvCxnSpPr>
        <p:spPr bwMode="auto">
          <a:xfrm>
            <a:off x="4830218" y="4599013"/>
            <a:ext cx="360004" cy="0"/>
          </a:xfrm>
          <a:prstGeom prst="straightConnector1">
            <a:avLst/>
          </a:prstGeom>
          <a:noFill/>
          <a:ln w="9525" cap="flat" cmpd="sng" algn="ctr">
            <a:solidFill>
              <a:schemeClr val="tx1"/>
            </a:solidFill>
            <a:prstDash val="solid"/>
            <a:round/>
            <a:headEnd type="none" w="sm" len="sm"/>
            <a:tailEnd type="none"/>
          </a:ln>
          <a:effectLst/>
        </p:spPr>
      </p:cxnSp>
      <p:sp>
        <p:nvSpPr>
          <p:cNvPr id="86" name="フローチャート: 手作業 85"/>
          <p:cNvSpPr/>
          <p:nvPr/>
        </p:nvSpPr>
        <p:spPr bwMode="auto">
          <a:xfrm rot="16200000">
            <a:off x="4913024" y="4246204"/>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87" name="正方形/長方形 86"/>
          <p:cNvSpPr/>
          <p:nvPr/>
        </p:nvSpPr>
        <p:spPr bwMode="auto">
          <a:xfrm>
            <a:off x="4380213" y="4959020"/>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88" name="正方形/長方形 87"/>
          <p:cNvSpPr/>
          <p:nvPr/>
        </p:nvSpPr>
        <p:spPr bwMode="auto">
          <a:xfrm>
            <a:off x="4380213" y="414901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89" name="正方形/長方形 88"/>
          <p:cNvSpPr/>
          <p:nvPr/>
        </p:nvSpPr>
        <p:spPr bwMode="auto">
          <a:xfrm>
            <a:off x="4380213" y="324900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mc:AlternateContent xmlns:mc="http://schemas.openxmlformats.org/markup-compatibility/2006">
        <mc:Choice xmlns:a14="http://schemas.microsoft.com/office/drawing/2010/main" Requires="a14">
          <p:sp>
            <p:nvSpPr>
              <p:cNvPr id="90" name="正方形/長方形 89"/>
              <p:cNvSpPr/>
              <p:nvPr/>
            </p:nvSpPr>
            <p:spPr bwMode="auto">
              <a:xfrm>
                <a:off x="5280223" y="3789007"/>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r>
                        <a:rPr lang="en-US" altLang="ja-JP" sz="2800" i="1" dirty="0">
                          <a:solidFill>
                            <a:schemeClr val="accent5"/>
                          </a:solidFill>
                          <a:latin typeface="Cambria Math" panose="02040503050406030204" pitchFamily="18" charset="0"/>
                          <a:ea typeface="メイリオ" panose="020B0604030504040204" pitchFamily="50" charset="-128"/>
                        </a:rPr>
                        <m:t>𝑠</m:t>
                      </m:r>
                    </m:oMath>
                  </m:oMathPara>
                </a14:m>
                <a:endParaRPr lang="ja-JP" altLang="en-US" sz="2000" dirty="0">
                  <a:solidFill>
                    <a:schemeClr val="accent5"/>
                  </a:solidFill>
                  <a:latin typeface="Consolas" panose="020B0609020204030204" pitchFamily="49" charset="0"/>
                  <a:ea typeface="メイリオ" panose="020B0604030504040204" pitchFamily="50" charset="-128"/>
                </a:endParaRPr>
              </a:p>
            </p:txBody>
          </p:sp>
        </mc:Choice>
        <mc:Fallback>
          <p:sp>
            <p:nvSpPr>
              <p:cNvPr id="90" name="正方形/長方形 89"/>
              <p:cNvSpPr>
                <a:spLocks noRot="1" noChangeAspect="1" noMove="1" noResize="1" noEditPoints="1" noAdjustHandles="1" noChangeArrowheads="1" noChangeShapeType="1" noTextEdit="1"/>
              </p:cNvSpPr>
              <p:nvPr/>
            </p:nvSpPr>
            <p:spPr bwMode="auto">
              <a:xfrm>
                <a:off x="5280223" y="3789007"/>
                <a:ext cx="540006" cy="270003"/>
              </a:xfrm>
              <a:prstGeom prst="rect">
                <a:avLst/>
              </a:prstGeom>
              <a:blipFill>
                <a:blip r:embed="rId6"/>
                <a:stretch>
                  <a:fillRect/>
                </a:stretch>
              </a:blipFill>
              <a:ln>
                <a:noFill/>
                <a:headEnd/>
                <a:tailEnd type="triangle" w="sm" len="med"/>
              </a:ln>
              <a:effectLst/>
            </p:spPr>
            <p:txBody>
              <a:bodyPr/>
              <a:lstStyle/>
              <a:p>
                <a:r>
                  <a:rPr lang="ja-JP" altLang="en-US">
                    <a:noFill/>
                  </a:rPr>
                  <a:t> </a:t>
                </a:r>
              </a:p>
            </p:txBody>
          </p:sp>
        </mc:Fallback>
      </mc:AlternateContent>
      <p:sp>
        <p:nvSpPr>
          <p:cNvPr id="91" name="正方形/長方形 90"/>
          <p:cNvSpPr/>
          <p:nvPr/>
        </p:nvSpPr>
        <p:spPr bwMode="auto">
          <a:xfrm>
            <a:off x="5190222" y="3158997"/>
            <a:ext cx="360004" cy="540006"/>
          </a:xfrm>
          <a:prstGeom prst="rect">
            <a:avLst/>
          </a:prstGeom>
          <a:solidFill>
            <a:schemeClr val="bg1"/>
          </a:solidFill>
          <a:ln w="222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92" name="直線コネクタ 91"/>
          <p:cNvCxnSpPr/>
          <p:nvPr/>
        </p:nvCxnSpPr>
        <p:spPr bwMode="auto">
          <a:xfrm>
            <a:off x="5370224" y="2888994"/>
            <a:ext cx="0" cy="27144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3" name="直線コネクタ 92"/>
          <p:cNvCxnSpPr>
            <a:stCxn id="91" idx="2"/>
          </p:cNvCxnSpPr>
          <p:nvPr/>
        </p:nvCxnSpPr>
        <p:spPr bwMode="auto">
          <a:xfrm>
            <a:off x="5370224" y="3699006"/>
            <a:ext cx="0" cy="361443"/>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94" name="正方形/長方形 93"/>
          <p:cNvSpPr/>
          <p:nvPr/>
        </p:nvSpPr>
        <p:spPr bwMode="auto">
          <a:xfrm>
            <a:off x="5015988" y="2618994"/>
            <a:ext cx="720008"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fontAlgn="base"/>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a:t>
            </a:r>
            <a:r>
              <a:rPr lang="en-US" altLang="ja-JP" sz="20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2000" i="1" dirty="0"/>
              <a:t>i</a:t>
            </a:r>
            <a:r>
              <a:rPr lang="en-US" altLang="ja-JP" sz="2000" i="1" baseline="-25000" dirty="0"/>
              <a:t>2 </a:t>
            </a:r>
            <a:r>
              <a:rPr lang="en-US" altLang="ja-JP" sz="2000" i="1" dirty="0"/>
              <a:t>i</a:t>
            </a:r>
            <a:r>
              <a:rPr lang="en-US" altLang="ja-JP" sz="2000" i="1" baseline="-25000" dirty="0"/>
              <a:t>1 </a:t>
            </a:r>
            <a:r>
              <a:rPr lang="en-US" altLang="ja-JP" sz="2000" i="1" dirty="0"/>
              <a:t>i</a:t>
            </a:r>
            <a:r>
              <a:rPr lang="en-US" altLang="ja-JP" sz="2000" i="1" baseline="-25000" dirty="0"/>
              <a:t>0</a:t>
            </a:r>
            <a:endParaRPr lang="ja-JP" altLang="ja-JP" sz="2000" dirty="0"/>
          </a:p>
          <a:p>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96" name="正方形/長方形 95"/>
          <p:cNvSpPr/>
          <p:nvPr/>
        </p:nvSpPr>
        <p:spPr bwMode="auto">
          <a:xfrm>
            <a:off x="5555997" y="3339002"/>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選択信号を</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出すための</a:t>
            </a:r>
            <a:b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b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論理関数</a:t>
            </a:r>
          </a:p>
        </p:txBody>
      </p:sp>
      <p:sp>
        <p:nvSpPr>
          <p:cNvPr id="98" name="正方形/長方形 97"/>
          <p:cNvSpPr/>
          <p:nvPr/>
        </p:nvSpPr>
        <p:spPr bwMode="auto">
          <a:xfrm>
            <a:off x="2675962" y="1088977"/>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
        <p:nvSpPr>
          <p:cNvPr id="99" name="正方形/長方形 98"/>
          <p:cNvSpPr/>
          <p:nvPr/>
        </p:nvSpPr>
        <p:spPr bwMode="auto">
          <a:xfrm>
            <a:off x="7806022" y="1358980"/>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Tree>
    <p:extLst>
      <p:ext uri="{BB962C8B-B14F-4D97-AF65-F5344CB8AC3E}">
        <p14:creationId xmlns:p14="http://schemas.microsoft.com/office/powerpoint/2010/main" val="80192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回路の生成のまとめ</a:t>
            </a:r>
          </a:p>
        </p:txBody>
      </p:sp>
      <p:sp>
        <p:nvSpPr>
          <p:cNvPr id="3" name="テキスト プレースホルダー 2"/>
          <p:cNvSpPr>
            <a:spLocks noGrp="1"/>
          </p:cNvSpPr>
          <p:nvPr>
            <p:ph type="body" sz="quarter" idx="10"/>
          </p:nvPr>
        </p:nvSpPr>
        <p:spPr>
          <a:xfrm>
            <a:off x="2045955" y="4599016"/>
            <a:ext cx="8280092" cy="899703"/>
          </a:xfrm>
        </p:spPr>
        <p:txBody>
          <a:bodyPr/>
          <a:lstStyle/>
          <a:p>
            <a:r>
              <a:rPr kumimoji="1" lang="ja-JP" altLang="en-US" dirty="0"/>
              <a:t>結局この手の，「条件に応じて異なる演算を出力する回路」は，</a:t>
            </a:r>
            <a:endParaRPr kumimoji="1" lang="en-US" altLang="ja-JP" dirty="0"/>
          </a:p>
          <a:p>
            <a:pPr lvl="1"/>
            <a:r>
              <a:rPr lang="ja-JP" altLang="en-US" dirty="0"/>
              <a:t>各場合ごとの回路を用意して並列に配置</a:t>
            </a:r>
            <a:endParaRPr lang="en-US" altLang="ja-JP" dirty="0"/>
          </a:p>
          <a:p>
            <a:pPr lvl="1"/>
            <a:r>
              <a:rPr lang="ja-JP" altLang="en-US" dirty="0"/>
              <a:t>制御に従ってマルチプレクサで出力を選択</a:t>
            </a:r>
            <a:endParaRPr lang="en-US" altLang="ja-JP" dirty="0"/>
          </a:p>
          <a:p>
            <a:pPr lvl="1"/>
            <a:r>
              <a:rPr lang="ja-JP" altLang="en-US" dirty="0"/>
              <a:t>･･･というように分解すれば，</a:t>
            </a:r>
            <a:r>
              <a:rPr lang="en-US" altLang="ja-JP" dirty="0"/>
              <a:t>AND/OR/NOT </a:t>
            </a:r>
            <a:r>
              <a:rPr lang="ja-JP" altLang="en-US" dirty="0"/>
              <a:t>回路に落とし込める</a:t>
            </a:r>
            <a:endParaRPr kumimoji="1" lang="ja-JP" altLang="en-US" dirty="0"/>
          </a:p>
        </p:txBody>
      </p:sp>
      <p:sp>
        <p:nvSpPr>
          <p:cNvPr id="5" name="フローチャート: 手作業 4"/>
          <p:cNvSpPr/>
          <p:nvPr/>
        </p:nvSpPr>
        <p:spPr bwMode="auto">
          <a:xfrm rot="16200000">
            <a:off x="7168817" y="2626186"/>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cxnSp>
        <p:nvCxnSpPr>
          <p:cNvPr id="6" name="直線コネクタ 5"/>
          <p:cNvCxnSpPr/>
          <p:nvPr/>
        </p:nvCxnSpPr>
        <p:spPr bwMode="auto">
          <a:xfrm>
            <a:off x="6906009" y="2528990"/>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直線コネクタ 6"/>
          <p:cNvCxnSpPr/>
          <p:nvPr/>
        </p:nvCxnSpPr>
        <p:spPr bwMode="auto">
          <a:xfrm>
            <a:off x="6906009" y="3068996"/>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直線コネクタ 7"/>
          <p:cNvCxnSpPr/>
          <p:nvPr/>
        </p:nvCxnSpPr>
        <p:spPr bwMode="auto">
          <a:xfrm>
            <a:off x="7806019" y="2798993"/>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直線コネクタ 8"/>
          <p:cNvCxnSpPr>
            <a:endCxn id="5" idx="3"/>
          </p:cNvCxnSpPr>
          <p:nvPr/>
        </p:nvCxnSpPr>
        <p:spPr bwMode="auto">
          <a:xfrm>
            <a:off x="7626017" y="1898986"/>
            <a:ext cx="0" cy="541445"/>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正方形/長方形 9"/>
          <p:cNvSpPr/>
          <p:nvPr/>
        </p:nvSpPr>
        <p:spPr bwMode="auto">
          <a:xfrm>
            <a:off x="6366003" y="2258990"/>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rs1</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11" name="正方形/長方形 10"/>
          <p:cNvSpPr/>
          <p:nvPr/>
        </p:nvSpPr>
        <p:spPr bwMode="auto">
          <a:xfrm>
            <a:off x="6366003" y="2798996"/>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12" name="正方形/長方形 11"/>
          <p:cNvSpPr/>
          <p:nvPr/>
        </p:nvSpPr>
        <p:spPr bwMode="auto">
          <a:xfrm>
            <a:off x="6816011" y="1448981"/>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演算の制御信号</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 or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13" name="正方形/長方形 12"/>
          <p:cNvSpPr/>
          <p:nvPr/>
        </p:nvSpPr>
        <p:spPr bwMode="auto">
          <a:xfrm>
            <a:off x="3305969" y="1628983"/>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Tree>
    <p:extLst>
      <p:ext uri="{BB962C8B-B14F-4D97-AF65-F5344CB8AC3E}">
        <p14:creationId xmlns:p14="http://schemas.microsoft.com/office/powerpoint/2010/main" val="3777653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回路の生成のまとめ</a:t>
            </a:r>
            <a:endParaRPr kumimoji="1" lang="ja-JP" altLang="en-US" dirty="0"/>
          </a:p>
        </p:txBody>
      </p:sp>
      <p:sp>
        <p:nvSpPr>
          <p:cNvPr id="3" name="テキスト プレースホルダー 2"/>
          <p:cNvSpPr>
            <a:spLocks noGrp="1"/>
          </p:cNvSpPr>
          <p:nvPr>
            <p:ph type="body" sz="quarter" idx="10"/>
          </p:nvPr>
        </p:nvSpPr>
        <p:spPr>
          <a:xfrm>
            <a:off x="2045955" y="4599016"/>
            <a:ext cx="8280092" cy="899703"/>
          </a:xfrm>
        </p:spPr>
        <p:txBody>
          <a:bodyPr/>
          <a:lstStyle/>
          <a:p>
            <a:r>
              <a:rPr lang="en-US" altLang="ja-JP" dirty="0"/>
              <a:t>code, rs1, rs2 </a:t>
            </a:r>
            <a:r>
              <a:rPr lang="ja-JP" altLang="en-US" dirty="0"/>
              <a:t>を全て含む真理値表を作れば，そこから直接回路に</a:t>
            </a:r>
            <a:br>
              <a:rPr lang="en-US" altLang="ja-JP" dirty="0"/>
            </a:br>
            <a:r>
              <a:rPr lang="ja-JP" altLang="en-US" dirty="0"/>
              <a:t>落とし込むことも原理的にはできる</a:t>
            </a:r>
            <a:endParaRPr lang="en-US" altLang="ja-JP" dirty="0"/>
          </a:p>
          <a:p>
            <a:pPr lvl="1"/>
            <a:r>
              <a:rPr kumimoji="1" lang="ja-JP" altLang="en-US" dirty="0"/>
              <a:t>表が大きくなりすぎて </a:t>
            </a:r>
            <a:r>
              <a:rPr kumimoji="1" lang="en-US" altLang="ja-JP" dirty="0"/>
              <a:t>(2 </a:t>
            </a:r>
            <a:r>
              <a:rPr kumimoji="1" lang="ja-JP" altLang="en-US" dirty="0"/>
              <a:t>の </a:t>
            </a:r>
            <a:r>
              <a:rPr kumimoji="1" lang="en-US" altLang="ja-JP" dirty="0"/>
              <a:t>3+32+32</a:t>
            </a:r>
            <a:r>
              <a:rPr kumimoji="1" lang="ja-JP" altLang="en-US" dirty="0"/>
              <a:t>乗</a:t>
            </a:r>
            <a:r>
              <a:rPr kumimoji="1" lang="en-US" altLang="ja-JP" dirty="0"/>
              <a:t>)</a:t>
            </a:r>
            <a:r>
              <a:rPr kumimoji="1" lang="ja-JP" altLang="en-US" dirty="0" err="1"/>
              <a:t>，</a:t>
            </a:r>
            <a:r>
              <a:rPr kumimoji="1" lang="ja-JP" altLang="en-US" dirty="0"/>
              <a:t>現実的には無理</a:t>
            </a:r>
            <a:endParaRPr kumimoji="1" lang="en-US" altLang="ja-JP" dirty="0"/>
          </a:p>
          <a:p>
            <a:pPr lvl="1"/>
            <a:r>
              <a:rPr kumimoji="1" lang="ja-JP" altLang="en-US" dirty="0"/>
              <a:t>もっと効率の良い表現方法で表現（後述）</a:t>
            </a:r>
            <a:endParaRPr kumimoji="1" lang="en-US" altLang="ja-JP" dirty="0"/>
          </a:p>
        </p:txBody>
      </p:sp>
      <p:sp>
        <p:nvSpPr>
          <p:cNvPr id="5" name="フローチャート: 手作業 4"/>
          <p:cNvSpPr/>
          <p:nvPr/>
        </p:nvSpPr>
        <p:spPr bwMode="auto">
          <a:xfrm rot="16200000">
            <a:off x="7168817" y="2791798"/>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cxnSp>
        <p:nvCxnSpPr>
          <p:cNvPr id="6" name="直線コネクタ 5"/>
          <p:cNvCxnSpPr/>
          <p:nvPr/>
        </p:nvCxnSpPr>
        <p:spPr bwMode="auto">
          <a:xfrm>
            <a:off x="6906009" y="2694602"/>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直線コネクタ 6"/>
          <p:cNvCxnSpPr/>
          <p:nvPr/>
        </p:nvCxnSpPr>
        <p:spPr bwMode="auto">
          <a:xfrm>
            <a:off x="6906009" y="3234608"/>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直線コネクタ 7"/>
          <p:cNvCxnSpPr/>
          <p:nvPr/>
        </p:nvCxnSpPr>
        <p:spPr bwMode="auto">
          <a:xfrm>
            <a:off x="7806019" y="296460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直線コネクタ 8"/>
          <p:cNvCxnSpPr>
            <a:endCxn id="5" idx="3"/>
          </p:cNvCxnSpPr>
          <p:nvPr/>
        </p:nvCxnSpPr>
        <p:spPr bwMode="auto">
          <a:xfrm>
            <a:off x="7626017" y="2064598"/>
            <a:ext cx="0" cy="541445"/>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正方形/長方形 9"/>
          <p:cNvSpPr/>
          <p:nvPr/>
        </p:nvSpPr>
        <p:spPr bwMode="auto">
          <a:xfrm>
            <a:off x="6366003" y="2424602"/>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rs1</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11" name="正方形/長方形 10"/>
          <p:cNvSpPr/>
          <p:nvPr/>
        </p:nvSpPr>
        <p:spPr bwMode="auto">
          <a:xfrm>
            <a:off x="6366003" y="2964608"/>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12" name="正方形/長方形 11"/>
          <p:cNvSpPr/>
          <p:nvPr/>
        </p:nvSpPr>
        <p:spPr bwMode="auto">
          <a:xfrm>
            <a:off x="6816011" y="1614593"/>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演算の制御信号</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 or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13" name="正方形/長方形 12"/>
          <p:cNvSpPr/>
          <p:nvPr/>
        </p:nvSpPr>
        <p:spPr bwMode="auto">
          <a:xfrm>
            <a:off x="3305969" y="1794595"/>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Tree>
    <p:extLst>
      <p:ext uri="{BB962C8B-B14F-4D97-AF65-F5344CB8AC3E}">
        <p14:creationId xmlns:p14="http://schemas.microsoft.com/office/powerpoint/2010/main" val="37784755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組み合わせ回路と順序回路</a:t>
            </a:r>
          </a:p>
        </p:txBody>
      </p:sp>
      <p:sp>
        <p:nvSpPr>
          <p:cNvPr id="5" name="テキスト プレースホルダー 4"/>
          <p:cNvSpPr>
            <a:spLocks noGrp="1"/>
          </p:cNvSpPr>
          <p:nvPr>
            <p:ph type="body" sz="quarter" idx="10"/>
          </p:nvPr>
        </p:nvSpPr>
        <p:spPr/>
        <p:txBody>
          <a:bodyPr/>
          <a:lstStyle/>
          <a:p>
            <a:pPr marL="457200" indent="-457200">
              <a:buFont typeface="+mj-lt"/>
              <a:buAutoNum type="arabicPeriod"/>
            </a:pPr>
            <a:r>
              <a:rPr kumimoji="1" lang="ja-JP" altLang="en-US" dirty="0"/>
              <a:t>組み合わせ回路</a:t>
            </a:r>
            <a:endParaRPr kumimoji="1" lang="en-US" altLang="ja-JP" dirty="0"/>
          </a:p>
          <a:p>
            <a:pPr lvl="1"/>
            <a:r>
              <a:rPr lang="ja-JP" altLang="en-US" dirty="0"/>
              <a:t>出力が，現在の入力のみにより決定される論理回路</a:t>
            </a:r>
            <a:endParaRPr lang="en-US" altLang="ja-JP" dirty="0"/>
          </a:p>
          <a:p>
            <a:pPr marL="457200" indent="-457200">
              <a:buFont typeface="+mj-lt"/>
              <a:buAutoNum type="arabicPeriod"/>
            </a:pPr>
            <a:r>
              <a:rPr kumimoji="1" lang="ja-JP" altLang="en-US" dirty="0">
                <a:solidFill>
                  <a:schemeClr val="accent5"/>
                </a:solidFill>
              </a:rPr>
              <a:t>順序回路</a:t>
            </a:r>
            <a:endParaRPr kumimoji="1" lang="en-US" altLang="ja-JP" dirty="0">
              <a:solidFill>
                <a:schemeClr val="accent5"/>
              </a:solidFill>
            </a:endParaRPr>
          </a:p>
          <a:p>
            <a:pPr lvl="1"/>
            <a:r>
              <a:rPr kumimoji="1" lang="ja-JP" altLang="en-US" dirty="0"/>
              <a:t>出力が，過去の入力（の履歴）にも依存する</a:t>
            </a:r>
            <a:r>
              <a:rPr lang="ja-JP" altLang="en-US" dirty="0"/>
              <a:t>論理回路</a:t>
            </a:r>
            <a:endParaRPr kumimoji="1" lang="ja-JP" altLang="en-US" dirty="0"/>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22</a:t>
            </a:fld>
            <a:endParaRPr kumimoji="1" lang="ja-JP" altLang="en-US"/>
          </a:p>
        </p:txBody>
      </p:sp>
    </p:spTree>
    <p:extLst>
      <p:ext uri="{BB962C8B-B14F-4D97-AF65-F5344CB8AC3E}">
        <p14:creationId xmlns:p14="http://schemas.microsoft.com/office/powerpoint/2010/main" val="3670488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順序回路</a:t>
            </a:r>
          </a:p>
        </p:txBody>
      </p:sp>
      <p:sp>
        <p:nvSpPr>
          <p:cNvPr id="3" name="テキスト プレースホルダー 2"/>
          <p:cNvSpPr>
            <a:spLocks noGrp="1"/>
          </p:cNvSpPr>
          <p:nvPr>
            <p:ph type="body" sz="quarter" idx="10"/>
          </p:nvPr>
        </p:nvSpPr>
        <p:spPr>
          <a:xfrm>
            <a:off x="2135956" y="4239009"/>
            <a:ext cx="8280092" cy="2069716"/>
          </a:xfrm>
        </p:spPr>
        <p:txBody>
          <a:bodyPr/>
          <a:lstStyle/>
          <a:p>
            <a:r>
              <a:rPr lang="ja-JP" altLang="en-US" dirty="0"/>
              <a:t>出力が，過去の入力（の履歴）にも依存する論理回路</a:t>
            </a:r>
          </a:p>
          <a:p>
            <a:pPr lvl="1"/>
            <a:r>
              <a:rPr kumimoji="1" lang="ja-JP" altLang="en-US" dirty="0"/>
              <a:t>記憶素子と，組み合わせ回路から成る</a:t>
            </a:r>
          </a:p>
        </p:txBody>
      </p:sp>
      <p:sp>
        <p:nvSpPr>
          <p:cNvPr id="4" name="Rectangle 3"/>
          <p:cNvSpPr>
            <a:spLocks noChangeArrowheads="1"/>
          </p:cNvSpPr>
          <p:nvPr/>
        </p:nvSpPr>
        <p:spPr bwMode="auto">
          <a:xfrm>
            <a:off x="5375992" y="1627908"/>
            <a:ext cx="1439862" cy="719137"/>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lIns="90000" tIns="46800" rIns="90000" bIns="46800" anchor="ctr"/>
          <a:lstStyle/>
          <a:p>
            <a:r>
              <a:rPr lang="ja-JP" altLang="en-US" dirty="0">
                <a:solidFill>
                  <a:schemeClr val="tx1"/>
                </a:solidFill>
                <a:latin typeface="メイリオ" pitchFamily="50" charset="-128"/>
                <a:ea typeface="メイリオ" pitchFamily="50" charset="-128"/>
              </a:rPr>
              <a:t>組み合わせ</a:t>
            </a:r>
          </a:p>
          <a:p>
            <a:r>
              <a:rPr lang="ja-JP" altLang="en-US" dirty="0">
                <a:solidFill>
                  <a:schemeClr val="tx1"/>
                </a:solidFill>
                <a:latin typeface="メイリオ" pitchFamily="50" charset="-128"/>
                <a:ea typeface="メイリオ" pitchFamily="50" charset="-128"/>
              </a:rPr>
              <a:t>回路</a:t>
            </a:r>
          </a:p>
        </p:txBody>
      </p:sp>
      <p:sp>
        <p:nvSpPr>
          <p:cNvPr id="5" name="Rectangle 4"/>
          <p:cNvSpPr>
            <a:spLocks noChangeArrowheads="1"/>
          </p:cNvSpPr>
          <p:nvPr/>
        </p:nvSpPr>
        <p:spPr bwMode="auto">
          <a:xfrm>
            <a:off x="5375992" y="2708992"/>
            <a:ext cx="1439862" cy="71913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r>
              <a:rPr lang="ja-JP" altLang="en-US" dirty="0">
                <a:solidFill>
                  <a:schemeClr val="tx1"/>
                </a:solidFill>
                <a:latin typeface="メイリオ" pitchFamily="50" charset="-128"/>
                <a:ea typeface="メイリオ" pitchFamily="50" charset="-128"/>
              </a:rPr>
              <a:t>記憶素子</a:t>
            </a:r>
          </a:p>
        </p:txBody>
      </p:sp>
      <p:sp>
        <p:nvSpPr>
          <p:cNvPr id="6" name="Line 5"/>
          <p:cNvSpPr>
            <a:spLocks noChangeShapeType="1"/>
          </p:cNvSpPr>
          <p:nvPr/>
        </p:nvSpPr>
        <p:spPr bwMode="auto">
          <a:xfrm>
            <a:off x="4836242" y="1807292"/>
            <a:ext cx="539750" cy="0"/>
          </a:xfrm>
          <a:prstGeom prst="line">
            <a:avLst/>
          </a:prstGeom>
          <a:noFill/>
          <a:ln w="19050">
            <a:solidFill>
              <a:schemeClr val="tx1"/>
            </a:solidFill>
            <a:round/>
            <a:headEnd/>
            <a:tailEnd type="stealth" w="med" len="lg"/>
          </a:ln>
          <a:effectLst/>
        </p:spPr>
        <p:txBody>
          <a:bodyPr wrap="none" lIns="90000" tIns="46800" rIns="90000" bIns="46800" anchor="ctr"/>
          <a:lstStyle/>
          <a:p>
            <a:endParaRPr lang="ja-JP" altLang="en-US">
              <a:latin typeface="メイリオ" pitchFamily="50" charset="-128"/>
              <a:ea typeface="メイリオ" pitchFamily="50" charset="-128"/>
            </a:endParaRPr>
          </a:p>
        </p:txBody>
      </p:sp>
      <p:sp>
        <p:nvSpPr>
          <p:cNvPr id="7" name="Line 6"/>
          <p:cNvSpPr>
            <a:spLocks noChangeShapeType="1"/>
          </p:cNvSpPr>
          <p:nvPr/>
        </p:nvSpPr>
        <p:spPr bwMode="auto">
          <a:xfrm>
            <a:off x="6815854" y="1807292"/>
            <a:ext cx="541338" cy="0"/>
          </a:xfrm>
          <a:prstGeom prst="line">
            <a:avLst/>
          </a:prstGeom>
          <a:noFill/>
          <a:ln w="19050">
            <a:solidFill>
              <a:schemeClr val="tx1"/>
            </a:solidFill>
            <a:round/>
            <a:headEnd/>
            <a:tailEnd type="stealth" w="med" len="lg"/>
          </a:ln>
          <a:effectLst/>
        </p:spPr>
        <p:txBody>
          <a:bodyPr wrap="none" lIns="90000" tIns="46800" rIns="90000" bIns="46800" anchor="ctr"/>
          <a:lstStyle/>
          <a:p>
            <a:endParaRPr lang="ja-JP" altLang="en-US">
              <a:latin typeface="メイリオ" pitchFamily="50" charset="-128"/>
              <a:ea typeface="メイリオ" pitchFamily="50" charset="-128"/>
            </a:endParaRPr>
          </a:p>
        </p:txBody>
      </p:sp>
      <p:sp>
        <p:nvSpPr>
          <p:cNvPr id="8" name="Rectangle 7"/>
          <p:cNvSpPr>
            <a:spLocks noChangeArrowheads="1"/>
          </p:cNvSpPr>
          <p:nvPr/>
        </p:nvSpPr>
        <p:spPr bwMode="auto">
          <a:xfrm>
            <a:off x="4109163" y="1623136"/>
            <a:ext cx="719137" cy="360362"/>
          </a:xfrm>
          <a:prstGeom prst="rect">
            <a:avLst/>
          </a:prstGeom>
          <a:noFill/>
          <a:ln w="12700" algn="ctr">
            <a:noFill/>
            <a:miter lim="800000"/>
            <a:headEnd/>
            <a:tailEnd/>
          </a:ln>
          <a:effectLst/>
        </p:spPr>
        <p:txBody>
          <a:bodyPr wrap="none" lIns="90000" tIns="46800" rIns="90000" bIns="46800" anchor="ctr"/>
          <a:lstStyle/>
          <a:p>
            <a:r>
              <a:rPr lang="ja-JP" altLang="en-US">
                <a:latin typeface="メイリオ" pitchFamily="50" charset="-128"/>
                <a:ea typeface="メイリオ" pitchFamily="50" charset="-128"/>
              </a:rPr>
              <a:t>入力</a:t>
            </a:r>
          </a:p>
        </p:txBody>
      </p:sp>
      <p:sp>
        <p:nvSpPr>
          <p:cNvPr id="9" name="Rectangle 8"/>
          <p:cNvSpPr>
            <a:spLocks noChangeArrowheads="1"/>
          </p:cNvSpPr>
          <p:nvPr/>
        </p:nvSpPr>
        <p:spPr bwMode="auto">
          <a:xfrm>
            <a:off x="7366731" y="1623136"/>
            <a:ext cx="719137" cy="360362"/>
          </a:xfrm>
          <a:prstGeom prst="rect">
            <a:avLst/>
          </a:prstGeom>
          <a:noFill/>
          <a:ln w="12700" algn="ctr">
            <a:noFill/>
            <a:miter lim="800000"/>
            <a:headEnd/>
            <a:tailEnd/>
          </a:ln>
          <a:effectLst/>
        </p:spPr>
        <p:txBody>
          <a:bodyPr wrap="none" lIns="90000" tIns="46800" rIns="90000" bIns="46800" anchor="ctr"/>
          <a:lstStyle/>
          <a:p>
            <a:r>
              <a:rPr lang="ja-JP" altLang="en-US" dirty="0">
                <a:latin typeface="メイリオ" pitchFamily="50" charset="-128"/>
                <a:ea typeface="メイリオ" pitchFamily="50" charset="-128"/>
              </a:rPr>
              <a:t>出力</a:t>
            </a:r>
          </a:p>
        </p:txBody>
      </p:sp>
      <p:sp>
        <p:nvSpPr>
          <p:cNvPr id="10" name="Freeform 19"/>
          <p:cNvSpPr>
            <a:spLocks/>
          </p:cNvSpPr>
          <p:nvPr/>
        </p:nvSpPr>
        <p:spPr bwMode="auto">
          <a:xfrm>
            <a:off x="6815857" y="2167655"/>
            <a:ext cx="360363" cy="900112"/>
          </a:xfrm>
          <a:custGeom>
            <a:avLst/>
            <a:gdLst/>
            <a:ahLst/>
            <a:cxnLst>
              <a:cxn ang="0">
                <a:pos x="0" y="0"/>
              </a:cxn>
              <a:cxn ang="0">
                <a:pos x="227" y="0"/>
              </a:cxn>
              <a:cxn ang="0">
                <a:pos x="227" y="567"/>
              </a:cxn>
              <a:cxn ang="0">
                <a:pos x="0" y="567"/>
              </a:cxn>
            </a:cxnLst>
            <a:rect l="0" t="0" r="r" b="b"/>
            <a:pathLst>
              <a:path w="227" h="567">
                <a:moveTo>
                  <a:pt x="0" y="0"/>
                </a:moveTo>
                <a:lnTo>
                  <a:pt x="227" y="0"/>
                </a:lnTo>
                <a:lnTo>
                  <a:pt x="227" y="567"/>
                </a:lnTo>
                <a:lnTo>
                  <a:pt x="0" y="567"/>
                </a:lnTo>
              </a:path>
            </a:pathLst>
          </a:custGeom>
          <a:noFill/>
          <a:ln w="19050"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latin typeface="メイリオ" pitchFamily="50" charset="-128"/>
              <a:ea typeface="メイリオ" pitchFamily="50" charset="-128"/>
            </a:endParaRPr>
          </a:p>
        </p:txBody>
      </p:sp>
      <p:sp>
        <p:nvSpPr>
          <p:cNvPr id="11" name="Freeform 20"/>
          <p:cNvSpPr>
            <a:spLocks/>
          </p:cNvSpPr>
          <p:nvPr/>
        </p:nvSpPr>
        <p:spPr bwMode="auto">
          <a:xfrm flipH="1" flipV="1">
            <a:off x="5015632" y="2167655"/>
            <a:ext cx="360363" cy="900112"/>
          </a:xfrm>
          <a:custGeom>
            <a:avLst/>
            <a:gdLst/>
            <a:ahLst/>
            <a:cxnLst>
              <a:cxn ang="0">
                <a:pos x="0" y="0"/>
              </a:cxn>
              <a:cxn ang="0">
                <a:pos x="227" y="0"/>
              </a:cxn>
              <a:cxn ang="0">
                <a:pos x="227" y="567"/>
              </a:cxn>
              <a:cxn ang="0">
                <a:pos x="0" y="567"/>
              </a:cxn>
            </a:cxnLst>
            <a:rect l="0" t="0" r="r" b="b"/>
            <a:pathLst>
              <a:path w="227" h="567">
                <a:moveTo>
                  <a:pt x="0" y="0"/>
                </a:moveTo>
                <a:lnTo>
                  <a:pt x="227" y="0"/>
                </a:lnTo>
                <a:lnTo>
                  <a:pt x="227" y="567"/>
                </a:lnTo>
                <a:lnTo>
                  <a:pt x="0" y="567"/>
                </a:lnTo>
              </a:path>
            </a:pathLst>
          </a:custGeom>
          <a:noFill/>
          <a:ln w="19050"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latin typeface="メイリオ" pitchFamily="50" charset="-128"/>
              <a:ea typeface="メイリオ" pitchFamily="50" charset="-128"/>
            </a:endParaRPr>
          </a:p>
        </p:txBody>
      </p:sp>
      <p:sp>
        <p:nvSpPr>
          <p:cNvPr id="12" name="Rectangle 7"/>
          <p:cNvSpPr>
            <a:spLocks noChangeArrowheads="1"/>
          </p:cNvSpPr>
          <p:nvPr/>
        </p:nvSpPr>
        <p:spPr bwMode="auto">
          <a:xfrm>
            <a:off x="4109163" y="2437528"/>
            <a:ext cx="719137" cy="360362"/>
          </a:xfrm>
          <a:prstGeom prst="rect">
            <a:avLst/>
          </a:prstGeom>
          <a:noFill/>
          <a:ln w="12700" algn="ctr">
            <a:noFill/>
            <a:miter lim="800000"/>
            <a:headEnd/>
            <a:tailEnd/>
          </a:ln>
          <a:effectLst/>
        </p:spPr>
        <p:txBody>
          <a:bodyPr wrap="none" lIns="90000" tIns="46800" rIns="90000" bIns="46800" anchor="ctr"/>
          <a:lstStyle/>
          <a:p>
            <a:r>
              <a:rPr lang="ja-JP" altLang="en-US" dirty="0">
                <a:latin typeface="メイリオ" pitchFamily="50" charset="-128"/>
                <a:ea typeface="メイリオ" pitchFamily="50" charset="-128"/>
              </a:rPr>
              <a:t>現状態</a:t>
            </a:r>
          </a:p>
        </p:txBody>
      </p:sp>
      <p:sp>
        <p:nvSpPr>
          <p:cNvPr id="13" name="Rectangle 8"/>
          <p:cNvSpPr>
            <a:spLocks noChangeArrowheads="1"/>
          </p:cNvSpPr>
          <p:nvPr/>
        </p:nvSpPr>
        <p:spPr bwMode="auto">
          <a:xfrm>
            <a:off x="7350838" y="2437528"/>
            <a:ext cx="719137" cy="360362"/>
          </a:xfrm>
          <a:prstGeom prst="rect">
            <a:avLst/>
          </a:prstGeom>
          <a:noFill/>
          <a:ln w="12700" algn="ctr">
            <a:noFill/>
            <a:miter lim="800000"/>
            <a:headEnd/>
            <a:tailEnd/>
          </a:ln>
          <a:effectLst/>
        </p:spPr>
        <p:txBody>
          <a:bodyPr wrap="none" lIns="90000" tIns="46800" rIns="90000" bIns="46800" anchor="ctr"/>
          <a:lstStyle/>
          <a:p>
            <a:r>
              <a:rPr lang="ja-JP" altLang="en-US" dirty="0">
                <a:latin typeface="メイリオ" pitchFamily="50" charset="-128"/>
                <a:ea typeface="メイリオ" pitchFamily="50" charset="-128"/>
              </a:rPr>
              <a:t>次状態</a:t>
            </a:r>
          </a:p>
        </p:txBody>
      </p:sp>
    </p:spTree>
    <p:extLst>
      <p:ext uri="{BB962C8B-B14F-4D97-AF65-F5344CB8AC3E}">
        <p14:creationId xmlns:p14="http://schemas.microsoft.com/office/powerpoint/2010/main" val="10687993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 </a:t>
            </a:r>
            <a:r>
              <a:rPr kumimoji="1" lang="en-US" altLang="ja-JP" dirty="0"/>
              <a:t>PC </a:t>
            </a:r>
            <a:r>
              <a:rPr kumimoji="1" lang="ja-JP" altLang="en-US" dirty="0"/>
              <a:t>部分</a:t>
            </a:r>
          </a:p>
        </p:txBody>
      </p:sp>
      <p:sp>
        <p:nvSpPr>
          <p:cNvPr id="3" name="テキスト プレースホルダー 2"/>
          <p:cNvSpPr>
            <a:spLocks noGrp="1"/>
          </p:cNvSpPr>
          <p:nvPr>
            <p:ph type="body" sz="quarter" idx="10"/>
          </p:nvPr>
        </p:nvSpPr>
        <p:spPr>
          <a:xfrm>
            <a:off x="2135956" y="5589027"/>
            <a:ext cx="8280092" cy="719701"/>
          </a:xfrm>
        </p:spPr>
        <p:txBody>
          <a:bodyPr/>
          <a:lstStyle/>
          <a:p>
            <a:r>
              <a:rPr kumimoji="1" lang="ja-JP" altLang="en-US" dirty="0"/>
              <a:t>毎サイクル </a:t>
            </a:r>
            <a:r>
              <a:rPr kumimoji="1" lang="en-US" altLang="ja-JP" dirty="0"/>
              <a:t>PC </a:t>
            </a:r>
            <a:r>
              <a:rPr kumimoji="1" lang="ja-JP" altLang="en-US" dirty="0"/>
              <a:t>が加算される部分は，典型的な順序回路</a:t>
            </a:r>
            <a:endParaRPr kumimoji="1" lang="en-US" altLang="ja-JP" dirty="0"/>
          </a:p>
        </p:txBody>
      </p:sp>
      <p:sp>
        <p:nvSpPr>
          <p:cNvPr id="4" name="正方形/長方形 3"/>
          <p:cNvSpPr/>
          <p:nvPr/>
        </p:nvSpPr>
        <p:spPr bwMode="auto">
          <a:xfrm>
            <a:off x="4835986" y="3429000"/>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5" name="直線矢印コネクタ 4"/>
          <p:cNvCxnSpPr/>
          <p:nvPr/>
        </p:nvCxnSpPr>
        <p:spPr bwMode="auto">
          <a:xfrm>
            <a:off x="5195993" y="3789004"/>
            <a:ext cx="1890021" cy="0"/>
          </a:xfrm>
          <a:prstGeom prst="straightConnector1">
            <a:avLst/>
          </a:prstGeom>
          <a:noFill/>
          <a:ln w="9525" cap="flat" cmpd="sng" algn="ctr">
            <a:solidFill>
              <a:schemeClr val="tx1"/>
            </a:solidFill>
            <a:prstDash val="solid"/>
            <a:round/>
            <a:headEnd type="none" w="med" len="med"/>
            <a:tailEnd type="triangle"/>
          </a:ln>
          <a:effectLst/>
        </p:spPr>
      </p:cxnSp>
      <p:sp>
        <p:nvSpPr>
          <p:cNvPr id="6" name="Freeform 10"/>
          <p:cNvSpPr>
            <a:spLocks/>
          </p:cNvSpPr>
          <p:nvPr/>
        </p:nvSpPr>
        <p:spPr bwMode="auto">
          <a:xfrm flipV="1">
            <a:off x="5375992" y="2618991"/>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 name="フリーフォーム 6"/>
          <p:cNvSpPr>
            <a:spLocks noChangeArrowheads="1"/>
          </p:cNvSpPr>
          <p:nvPr/>
        </p:nvSpPr>
        <p:spPr bwMode="auto">
          <a:xfrm rot="-5400000">
            <a:off x="5645994" y="2168986"/>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8" name="直線矢印コネクタ 7"/>
          <p:cNvCxnSpPr/>
          <p:nvPr/>
        </p:nvCxnSpPr>
        <p:spPr bwMode="auto">
          <a:xfrm>
            <a:off x="5465995" y="2078985"/>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9" name="正方形/長方形 8"/>
          <p:cNvSpPr/>
          <p:nvPr/>
        </p:nvSpPr>
        <p:spPr bwMode="auto">
          <a:xfrm>
            <a:off x="5105989" y="189898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10" name="Freeform 10"/>
          <p:cNvSpPr>
            <a:spLocks/>
          </p:cNvSpPr>
          <p:nvPr/>
        </p:nvSpPr>
        <p:spPr bwMode="auto">
          <a:xfrm>
            <a:off x="4655984" y="1628980"/>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Freeform 10"/>
          <p:cNvSpPr>
            <a:spLocks/>
          </p:cNvSpPr>
          <p:nvPr/>
        </p:nvSpPr>
        <p:spPr bwMode="auto">
          <a:xfrm rot="16200000">
            <a:off x="6096001" y="1808981"/>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2" name="直線矢印コネクタ 11"/>
          <p:cNvCxnSpPr/>
          <p:nvPr/>
        </p:nvCxnSpPr>
        <p:spPr bwMode="auto">
          <a:xfrm>
            <a:off x="4655984" y="1628980"/>
            <a:ext cx="1980022" cy="0"/>
          </a:xfrm>
          <a:prstGeom prst="straightConnector1">
            <a:avLst/>
          </a:prstGeom>
          <a:noFill/>
          <a:ln w="9525" cap="flat" cmpd="sng" algn="ctr">
            <a:solidFill>
              <a:schemeClr val="tx1"/>
            </a:solidFill>
            <a:prstDash val="solid"/>
            <a:round/>
            <a:headEnd type="none" w="sm" len="sm"/>
            <a:tailEnd type="none"/>
          </a:ln>
          <a:effectLst/>
        </p:spPr>
      </p:cxnSp>
      <p:sp>
        <p:nvSpPr>
          <p:cNvPr id="13" name="正方形/長方形 12"/>
          <p:cNvSpPr/>
          <p:nvPr/>
        </p:nvSpPr>
        <p:spPr bwMode="auto">
          <a:xfrm>
            <a:off x="7176012"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dirty="0">
                <a:latin typeface="メイリオ" panose="020B0604030504040204" pitchFamily="50" charset="-128"/>
                <a:ea typeface="メイリオ" panose="020B0604030504040204" pitchFamily="50" charset="-128"/>
              </a:rPr>
              <a:t>命令のアドレス</a:t>
            </a:r>
          </a:p>
        </p:txBody>
      </p:sp>
    </p:spTree>
    <p:extLst>
      <p:ext uri="{BB962C8B-B14F-4D97-AF65-F5344CB8AC3E}">
        <p14:creationId xmlns:p14="http://schemas.microsoft.com/office/powerpoint/2010/main" val="3990318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5"/>
          <p:cNvSpPr txBox="1">
            <a:spLocks noChangeArrowheads="1"/>
          </p:cNvSpPr>
          <p:nvPr/>
        </p:nvSpPr>
        <p:spPr>
          <a:xfrm>
            <a:off x="2135959" y="1268712"/>
            <a:ext cx="8281219" cy="5491162"/>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sz="1800" kern="0" dirty="0"/>
              <a:t>入出力端子</a:t>
            </a:r>
            <a:endParaRPr lang="en-US" altLang="ja-JP" sz="1800" kern="0" dirty="0"/>
          </a:p>
          <a:p>
            <a:pPr lvl="1"/>
            <a:r>
              <a:rPr lang="ja-JP" altLang="en-US" sz="1800" kern="0" dirty="0"/>
              <a:t>データ入力</a:t>
            </a:r>
            <a:r>
              <a:rPr lang="en-US" altLang="ja-JP" sz="1800" kern="0" dirty="0"/>
              <a:t>	  </a:t>
            </a:r>
            <a:r>
              <a:rPr lang="ja-JP" altLang="en-US" sz="1800" kern="0" dirty="0"/>
              <a:t>： </a:t>
            </a:r>
            <a:r>
              <a:rPr lang="en-US" altLang="ja-JP" sz="1800" i="1" kern="0" dirty="0"/>
              <a:t>d</a:t>
            </a:r>
          </a:p>
          <a:p>
            <a:pPr lvl="1"/>
            <a:r>
              <a:rPr lang="ja-JP" altLang="en-US" sz="1800" kern="0" dirty="0"/>
              <a:t>データ出力</a:t>
            </a:r>
            <a:r>
              <a:rPr lang="en-US" altLang="ja-JP" sz="1800" kern="0" dirty="0"/>
              <a:t>	  </a:t>
            </a:r>
            <a:r>
              <a:rPr lang="ja-JP" altLang="en-US" sz="1800" kern="0" dirty="0"/>
              <a:t>： </a:t>
            </a:r>
            <a:r>
              <a:rPr lang="en-US" altLang="ja-JP" sz="1800" i="1" kern="0" dirty="0"/>
              <a:t>q</a:t>
            </a:r>
          </a:p>
          <a:p>
            <a:pPr lvl="1"/>
            <a:r>
              <a:rPr lang="ja-JP" altLang="en-US" sz="1800" kern="0" dirty="0"/>
              <a:t>クロック入力： </a:t>
            </a:r>
            <a:r>
              <a:rPr lang="en-US" altLang="ja-JP" sz="1800" i="1" kern="0" dirty="0" err="1"/>
              <a:t>clk</a:t>
            </a:r>
            <a:endParaRPr lang="en-US" altLang="ja-JP" sz="1800" kern="0" dirty="0"/>
          </a:p>
          <a:p>
            <a:r>
              <a:rPr lang="ja-JP" altLang="en-US" sz="1800" kern="0" dirty="0"/>
              <a:t>働き：</a:t>
            </a:r>
            <a:endParaRPr lang="en-US" altLang="ja-JP" sz="1800" kern="0" dirty="0"/>
          </a:p>
          <a:p>
            <a:pPr lvl="1"/>
            <a:r>
              <a:rPr lang="ja-JP" altLang="en-US" sz="1800" kern="0" dirty="0"/>
              <a:t>クロックの立ち上がりのたびに，</a:t>
            </a:r>
            <a:r>
              <a:rPr lang="en-US" altLang="ja-JP" sz="1800" i="1" kern="0" dirty="0"/>
              <a:t>d</a:t>
            </a:r>
            <a:r>
              <a:rPr lang="ja-JP" altLang="en-US" sz="1800" kern="0" dirty="0"/>
              <a:t> の値がサンプリングされる</a:t>
            </a:r>
            <a:endParaRPr lang="en-US" altLang="ja-JP" sz="1800" kern="0" dirty="0"/>
          </a:p>
          <a:p>
            <a:pPr lvl="1"/>
            <a:r>
              <a:rPr lang="ja-JP" altLang="en-US" sz="1800" kern="0" dirty="0"/>
              <a:t>その値が次のサイクルの間 </a:t>
            </a:r>
            <a:r>
              <a:rPr lang="en-US" altLang="ja-JP" sz="1800" i="1" kern="0" dirty="0"/>
              <a:t>q</a:t>
            </a:r>
            <a:r>
              <a:rPr lang="ja-JP" altLang="en-US" sz="1800" kern="0" dirty="0"/>
              <a:t> から出力される</a:t>
            </a:r>
            <a:endParaRPr lang="en-US" altLang="ja-JP" sz="1800" kern="0" dirty="0"/>
          </a:p>
        </p:txBody>
      </p:sp>
      <p:sp>
        <p:nvSpPr>
          <p:cNvPr id="2" name="タイトル 1"/>
          <p:cNvSpPr>
            <a:spLocks noGrp="1"/>
          </p:cNvSpPr>
          <p:nvPr>
            <p:ph type="title"/>
          </p:nvPr>
        </p:nvSpPr>
        <p:spPr/>
        <p:txBody>
          <a:bodyPr/>
          <a:lstStyle/>
          <a:p>
            <a:r>
              <a:rPr kumimoji="1" lang="ja-JP" altLang="en-US"/>
              <a:t>記憶素子の例：</a:t>
            </a:r>
            <a:r>
              <a:rPr kumimoji="1" lang="en-US" altLang="ja-JP"/>
              <a:t>D-FF</a:t>
            </a:r>
            <a:r>
              <a:rPr kumimoji="1" lang="ja-JP" altLang="en-US"/>
              <a:t>（</a:t>
            </a:r>
            <a:r>
              <a:rPr kumimoji="1" lang="en-US" altLang="ja-JP"/>
              <a:t>Flip Flop</a:t>
            </a:r>
            <a:r>
              <a:rPr kumimoji="1" lang="ja-JP" altLang="en-US"/>
              <a:t>）</a:t>
            </a:r>
            <a:endParaRPr kumimoji="1" lang="ja-JP" altLang="en-US" dirty="0"/>
          </a:p>
        </p:txBody>
      </p:sp>
      <p:grpSp>
        <p:nvGrpSpPr>
          <p:cNvPr id="13" name="グループ化 12"/>
          <p:cNvGrpSpPr/>
          <p:nvPr/>
        </p:nvGrpSpPr>
        <p:grpSpPr>
          <a:xfrm>
            <a:off x="5915998" y="2438992"/>
            <a:ext cx="1441450" cy="1085855"/>
            <a:chOff x="6369707" y="1718772"/>
            <a:chExt cx="1441450" cy="1085855"/>
          </a:xfrm>
        </p:grpSpPr>
        <p:sp>
          <p:nvSpPr>
            <p:cNvPr id="4"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sp>
          <p:nvSpPr>
            <p:cNvPr id="5"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a:p>
          </p:txBody>
        </p:sp>
        <p:sp>
          <p:nvSpPr>
            <p:cNvPr id="6"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q</a:t>
              </a:r>
              <a:endParaRPr lang="en-US" altLang="ja-JP" dirty="0"/>
            </a:p>
          </p:txBody>
        </p:sp>
        <p:sp>
          <p:nvSpPr>
            <p:cNvPr id="7"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d</a:t>
              </a:r>
              <a:endParaRPr lang="en-US" altLang="ja-JP" dirty="0"/>
            </a:p>
          </p:txBody>
        </p:sp>
        <p:sp>
          <p:nvSpPr>
            <p:cNvPr id="8"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sp>
          <p:nvSpPr>
            <p:cNvPr id="15"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i="1" dirty="0"/>
                <a:t>clk</a:t>
              </a:r>
              <a:endParaRPr lang="en-US" altLang="ja-JP" dirty="0"/>
            </a:p>
          </p:txBody>
        </p:sp>
      </p:grpSp>
    </p:spTree>
    <p:extLst>
      <p:ext uri="{BB962C8B-B14F-4D97-AF65-F5344CB8AC3E}">
        <p14:creationId xmlns:p14="http://schemas.microsoft.com/office/powerpoint/2010/main" val="1646714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D-FF </a:t>
            </a:r>
            <a:r>
              <a:rPr kumimoji="1" lang="ja-JP" altLang="en-US" dirty="0"/>
              <a:t>の動作</a:t>
            </a:r>
          </a:p>
        </p:txBody>
      </p:sp>
      <p:graphicFrame>
        <p:nvGraphicFramePr>
          <p:cNvPr id="4" name="Group 66"/>
          <p:cNvGraphicFramePr>
            <a:graphicFrameLocks noGrp="1"/>
          </p:cNvGraphicFramePr>
          <p:nvPr/>
        </p:nvGraphicFramePr>
        <p:xfrm>
          <a:off x="2133603" y="1628778"/>
          <a:ext cx="7921625" cy="1439863"/>
        </p:xfrm>
        <a:graphic>
          <a:graphicData uri="http://schemas.openxmlformats.org/drawingml/2006/table">
            <a:tbl>
              <a:tblPr/>
              <a:tblGrid>
                <a:gridCol w="720725">
                  <a:extLst>
                    <a:ext uri="{9D8B030D-6E8A-4147-A177-3AD203B41FA5}">
                      <a16:colId xmlns:a16="http://schemas.microsoft.com/office/drawing/2014/main" val="20000"/>
                    </a:ext>
                  </a:extLst>
                </a:gridCol>
                <a:gridCol w="719138">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gridCol w="719137">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gridCol w="719138">
                  <a:extLst>
                    <a:ext uri="{9D8B030D-6E8A-4147-A177-3AD203B41FA5}">
                      <a16:colId xmlns:a16="http://schemas.microsoft.com/office/drawing/2014/main" val="20006"/>
                    </a:ext>
                  </a:extLst>
                </a:gridCol>
                <a:gridCol w="720725">
                  <a:extLst>
                    <a:ext uri="{9D8B030D-6E8A-4147-A177-3AD203B41FA5}">
                      <a16:colId xmlns:a16="http://schemas.microsoft.com/office/drawing/2014/main" val="20007"/>
                    </a:ext>
                  </a:extLst>
                </a:gridCol>
                <a:gridCol w="720725">
                  <a:extLst>
                    <a:ext uri="{9D8B030D-6E8A-4147-A177-3AD203B41FA5}">
                      <a16:colId xmlns:a16="http://schemas.microsoft.com/office/drawing/2014/main" val="20008"/>
                    </a:ext>
                  </a:extLst>
                </a:gridCol>
                <a:gridCol w="719137">
                  <a:extLst>
                    <a:ext uri="{9D8B030D-6E8A-4147-A177-3AD203B41FA5}">
                      <a16:colId xmlns:a16="http://schemas.microsoft.com/office/drawing/2014/main" val="20009"/>
                    </a:ext>
                  </a:extLst>
                </a:gridCol>
                <a:gridCol w="720725">
                  <a:extLst>
                    <a:ext uri="{9D8B030D-6E8A-4147-A177-3AD203B41FA5}">
                      <a16:colId xmlns:a16="http://schemas.microsoft.com/office/drawing/2014/main" val="20010"/>
                    </a:ext>
                  </a:extLst>
                </a:gridCol>
              </a:tblGrid>
              <a:tr h="7207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charset="0"/>
                          <a:ea typeface="HG丸ｺﾞｼｯｸM-PRO" pitchFamily="50" charset="-128"/>
                        </a:rPr>
                        <a:t>d</a:t>
                      </a:r>
                    </a:p>
                  </a:txBody>
                  <a:tcPr marL="90000" marR="90000" marT="46800" marB="46800" anchor="ctr" horzOverflow="overflow">
                    <a:lnL cap="flat">
                      <a:noFill/>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w="12700" cap="flat" cmpd="sng" algn="ctr">
                      <a:solidFill>
                        <a:schemeClr val="tx1"/>
                      </a:solidFill>
                      <a:prstDash val="solid"/>
                      <a:round/>
                      <a:headEnd type="none" w="med" len="med"/>
                      <a:tailEnd type="none" w="med" len="lg"/>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7191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charset="0"/>
                          <a:ea typeface="HG丸ｺﾞｼｯｸM-PRO" pitchFamily="50" charset="-128"/>
                        </a:rPr>
                        <a:t>q</a:t>
                      </a:r>
                    </a:p>
                  </a:txBody>
                  <a:tcPr marL="90000" marR="90000" marT="46800" marB="46800" anchor="ctr" horzOverflow="overflow">
                    <a:lnL cap="flat">
                      <a:noFill/>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w="12700" cap="flat" cmpd="sng" algn="ctr">
                      <a:solidFill>
                        <a:schemeClr val="tx1"/>
                      </a:solidFill>
                      <a:prstDash val="solid"/>
                      <a:round/>
                      <a:headEnd type="none" w="med" len="med"/>
                      <a:tailEnd type="none" w="med" len="lg"/>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Rectangle 71"/>
          <p:cNvSpPr>
            <a:spLocks noChangeArrowheads="1"/>
          </p:cNvSpPr>
          <p:nvPr/>
        </p:nvSpPr>
        <p:spPr bwMode="auto">
          <a:xfrm>
            <a:off x="1773241" y="3968753"/>
            <a:ext cx="720725" cy="360363"/>
          </a:xfrm>
          <a:prstGeom prst="rect">
            <a:avLst/>
          </a:prstGeom>
          <a:noFill/>
          <a:ln w="12700" algn="ctr">
            <a:noFill/>
            <a:miter lim="800000"/>
            <a:headEnd/>
            <a:tailEnd/>
          </a:ln>
          <a:effectLst/>
        </p:spPr>
        <p:txBody>
          <a:bodyPr wrap="none" lIns="90000" tIns="46800" rIns="90000" bIns="46800" anchor="ctr"/>
          <a:lstStyle/>
          <a:p>
            <a:r>
              <a:rPr lang="en-US" altLang="ja-JP" i="1" dirty="0"/>
              <a:t>clock</a:t>
            </a:r>
          </a:p>
        </p:txBody>
      </p:sp>
      <p:sp>
        <p:nvSpPr>
          <p:cNvPr id="6" name="Freeform 73"/>
          <p:cNvSpPr>
            <a:spLocks/>
          </p:cNvSpPr>
          <p:nvPr/>
        </p:nvSpPr>
        <p:spPr bwMode="auto">
          <a:xfrm>
            <a:off x="3575050"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7" name="Rectangle 74"/>
          <p:cNvSpPr>
            <a:spLocks noChangeArrowheads="1"/>
          </p:cNvSpPr>
          <p:nvPr/>
        </p:nvSpPr>
        <p:spPr bwMode="auto">
          <a:xfrm>
            <a:off x="1954213" y="5768978"/>
            <a:ext cx="360362" cy="360363"/>
          </a:xfrm>
          <a:prstGeom prst="rect">
            <a:avLst/>
          </a:prstGeom>
          <a:noFill/>
          <a:ln w="12700" algn="ctr">
            <a:noFill/>
            <a:miter lim="800000"/>
            <a:headEnd/>
            <a:tailEnd/>
          </a:ln>
          <a:effectLst/>
        </p:spPr>
        <p:txBody>
          <a:bodyPr wrap="none" lIns="90000" tIns="46800" rIns="90000" bIns="46800" anchor="ctr"/>
          <a:lstStyle/>
          <a:p>
            <a:r>
              <a:rPr lang="en-US" altLang="ja-JP" i="1" dirty="0"/>
              <a:t>q</a:t>
            </a:r>
          </a:p>
        </p:txBody>
      </p:sp>
      <p:sp>
        <p:nvSpPr>
          <p:cNvPr id="8" name="Line 75"/>
          <p:cNvSpPr>
            <a:spLocks noChangeShapeType="1"/>
          </p:cNvSpPr>
          <p:nvPr/>
        </p:nvSpPr>
        <p:spPr bwMode="auto">
          <a:xfrm>
            <a:off x="3575050"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9" name="Line 77"/>
          <p:cNvSpPr>
            <a:spLocks noChangeShapeType="1"/>
          </p:cNvSpPr>
          <p:nvPr/>
        </p:nvSpPr>
        <p:spPr bwMode="auto">
          <a:xfrm>
            <a:off x="2674941" y="3608388"/>
            <a:ext cx="7742237" cy="0"/>
          </a:xfrm>
          <a:prstGeom prst="line">
            <a:avLst/>
          </a:prstGeom>
          <a:noFill/>
          <a:ln w="12700">
            <a:solidFill>
              <a:schemeClr val="tx1"/>
            </a:solidFill>
            <a:round/>
            <a:headEnd/>
            <a:tailEnd type="stealth" w="med" len="lg"/>
          </a:ln>
          <a:effectLst/>
        </p:spPr>
        <p:txBody>
          <a:bodyPr wrap="none" lIns="90000" tIns="46800" rIns="90000" bIns="46800" anchor="ctr"/>
          <a:lstStyle/>
          <a:p>
            <a:endParaRPr lang="ja-JP" altLang="en-US"/>
          </a:p>
        </p:txBody>
      </p:sp>
      <p:sp>
        <p:nvSpPr>
          <p:cNvPr id="10" name="Rectangle 78"/>
          <p:cNvSpPr>
            <a:spLocks noChangeArrowheads="1"/>
          </p:cNvSpPr>
          <p:nvPr/>
        </p:nvSpPr>
        <p:spPr bwMode="auto">
          <a:xfrm>
            <a:off x="9966325" y="3159128"/>
            <a:ext cx="541338" cy="360363"/>
          </a:xfrm>
          <a:prstGeom prst="rect">
            <a:avLst/>
          </a:prstGeom>
          <a:noFill/>
          <a:ln w="12700" algn="ctr">
            <a:noFill/>
            <a:miter lim="800000"/>
            <a:headEnd/>
            <a:tailEnd/>
          </a:ln>
          <a:effectLst/>
        </p:spPr>
        <p:txBody>
          <a:bodyPr wrap="none" lIns="90000" tIns="46800" rIns="90000" bIns="46800" anchor="ctr"/>
          <a:lstStyle/>
          <a:p>
            <a:r>
              <a:rPr lang="en-US" altLang="ja-JP" i="1"/>
              <a:t>time</a:t>
            </a:r>
          </a:p>
        </p:txBody>
      </p:sp>
      <p:sp>
        <p:nvSpPr>
          <p:cNvPr id="11" name="Freeform 84"/>
          <p:cNvSpPr>
            <a:spLocks/>
          </p:cNvSpPr>
          <p:nvPr/>
        </p:nvSpPr>
        <p:spPr bwMode="auto">
          <a:xfrm>
            <a:off x="9336091" y="4868863"/>
            <a:ext cx="180975"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12" name="Rectangle 85"/>
          <p:cNvSpPr>
            <a:spLocks noChangeArrowheads="1"/>
          </p:cNvSpPr>
          <p:nvPr/>
        </p:nvSpPr>
        <p:spPr bwMode="auto">
          <a:xfrm>
            <a:off x="1955803" y="4868863"/>
            <a:ext cx="358775" cy="360362"/>
          </a:xfrm>
          <a:prstGeom prst="rect">
            <a:avLst/>
          </a:prstGeom>
          <a:noFill/>
          <a:ln w="12700" algn="ctr">
            <a:noFill/>
            <a:miter lim="800000"/>
            <a:headEnd/>
            <a:tailEnd/>
          </a:ln>
          <a:effectLst/>
        </p:spPr>
        <p:txBody>
          <a:bodyPr wrap="none" lIns="90000" tIns="46800" rIns="90000" bIns="46800" anchor="ctr"/>
          <a:lstStyle/>
          <a:p>
            <a:r>
              <a:rPr lang="en-US" altLang="ja-JP" i="1" dirty="0"/>
              <a:t>d</a:t>
            </a:r>
          </a:p>
        </p:txBody>
      </p:sp>
      <p:sp>
        <p:nvSpPr>
          <p:cNvPr id="13" name="Freeform 87"/>
          <p:cNvSpPr>
            <a:spLocks/>
          </p:cNvSpPr>
          <p:nvPr/>
        </p:nvSpPr>
        <p:spPr bwMode="auto">
          <a:xfrm>
            <a:off x="9334503" y="3970338"/>
            <a:ext cx="720725" cy="360362"/>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14" name="Line 88"/>
          <p:cNvSpPr>
            <a:spLocks noChangeShapeType="1"/>
          </p:cNvSpPr>
          <p:nvPr/>
        </p:nvSpPr>
        <p:spPr bwMode="auto">
          <a:xfrm flipH="1">
            <a:off x="4294188"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15" name="Line 90"/>
          <p:cNvSpPr>
            <a:spLocks noChangeShapeType="1"/>
          </p:cNvSpPr>
          <p:nvPr/>
        </p:nvSpPr>
        <p:spPr bwMode="auto">
          <a:xfrm flipV="1">
            <a:off x="2674938" y="5229225"/>
            <a:ext cx="900112"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16" name="Freeform 91"/>
          <p:cNvSpPr>
            <a:spLocks/>
          </p:cNvSpPr>
          <p:nvPr/>
        </p:nvSpPr>
        <p:spPr bwMode="auto">
          <a:xfrm>
            <a:off x="4295775" y="4868863"/>
            <a:ext cx="179388"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17" name="Line 92"/>
          <p:cNvSpPr>
            <a:spLocks noChangeShapeType="1"/>
          </p:cNvSpPr>
          <p:nvPr/>
        </p:nvSpPr>
        <p:spPr bwMode="auto">
          <a:xfrm flipV="1">
            <a:off x="3756025" y="4868863"/>
            <a:ext cx="539750"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18" name="Line 93"/>
          <p:cNvSpPr>
            <a:spLocks noChangeShapeType="1"/>
          </p:cNvSpPr>
          <p:nvPr/>
        </p:nvSpPr>
        <p:spPr bwMode="auto">
          <a:xfrm flipV="1">
            <a:off x="9517063" y="5229225"/>
            <a:ext cx="900112"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19" name="Freeform 100"/>
          <p:cNvSpPr>
            <a:spLocks/>
          </p:cNvSpPr>
          <p:nvPr/>
        </p:nvSpPr>
        <p:spPr bwMode="auto">
          <a:xfrm>
            <a:off x="5735641" y="4868863"/>
            <a:ext cx="180975"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20" name="Freeform 105"/>
          <p:cNvSpPr>
            <a:spLocks/>
          </p:cNvSpPr>
          <p:nvPr/>
        </p:nvSpPr>
        <p:spPr bwMode="auto">
          <a:xfrm>
            <a:off x="2674941" y="3968753"/>
            <a:ext cx="179387" cy="360363"/>
          </a:xfrm>
          <a:custGeom>
            <a:avLst/>
            <a:gdLst/>
            <a:ahLst/>
            <a:cxnLst>
              <a:cxn ang="0">
                <a:pos x="0" y="227"/>
              </a:cxn>
              <a:cxn ang="0">
                <a:pos x="680" y="227"/>
              </a:cxn>
              <a:cxn ang="0">
                <a:pos x="680" y="0"/>
              </a:cxn>
            </a:cxnLst>
            <a:rect l="0" t="0" r="r" b="b"/>
            <a:pathLst>
              <a:path w="680" h="227">
                <a:moveTo>
                  <a:pt x="0" y="227"/>
                </a:moveTo>
                <a:lnTo>
                  <a:pt x="680" y="227"/>
                </a:lnTo>
                <a:lnTo>
                  <a:pt x="680" y="0"/>
                </a:lnTo>
              </a:path>
            </a:pathLst>
          </a:custGeom>
          <a:noFill/>
          <a:ln w="9525"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p>
        </p:txBody>
      </p:sp>
      <p:sp>
        <p:nvSpPr>
          <p:cNvPr id="21" name="Freeform 120"/>
          <p:cNvSpPr>
            <a:spLocks/>
          </p:cNvSpPr>
          <p:nvPr/>
        </p:nvSpPr>
        <p:spPr bwMode="auto">
          <a:xfrm>
            <a:off x="4294191" y="3968753"/>
            <a:ext cx="719137"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22" name="Line 121"/>
          <p:cNvSpPr>
            <a:spLocks noChangeShapeType="1"/>
          </p:cNvSpPr>
          <p:nvPr/>
        </p:nvSpPr>
        <p:spPr bwMode="auto">
          <a:xfrm flipH="1">
            <a:off x="5013325"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23" name="Freeform 122"/>
          <p:cNvSpPr>
            <a:spLocks/>
          </p:cNvSpPr>
          <p:nvPr/>
        </p:nvSpPr>
        <p:spPr bwMode="auto">
          <a:xfrm>
            <a:off x="5013325"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24" name="Line 123"/>
          <p:cNvSpPr>
            <a:spLocks noChangeShapeType="1"/>
          </p:cNvSpPr>
          <p:nvPr/>
        </p:nvSpPr>
        <p:spPr bwMode="auto">
          <a:xfrm flipH="1">
            <a:off x="5732463"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25" name="Freeform 124"/>
          <p:cNvSpPr>
            <a:spLocks/>
          </p:cNvSpPr>
          <p:nvPr/>
        </p:nvSpPr>
        <p:spPr bwMode="auto">
          <a:xfrm>
            <a:off x="5732466" y="3968753"/>
            <a:ext cx="719137"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26" name="Line 125"/>
          <p:cNvSpPr>
            <a:spLocks noChangeShapeType="1"/>
          </p:cNvSpPr>
          <p:nvPr/>
        </p:nvSpPr>
        <p:spPr bwMode="auto">
          <a:xfrm flipH="1">
            <a:off x="6451600"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27" name="Freeform 126"/>
          <p:cNvSpPr>
            <a:spLocks/>
          </p:cNvSpPr>
          <p:nvPr/>
        </p:nvSpPr>
        <p:spPr bwMode="auto">
          <a:xfrm>
            <a:off x="6451600"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28" name="Line 127"/>
          <p:cNvSpPr>
            <a:spLocks noChangeShapeType="1"/>
          </p:cNvSpPr>
          <p:nvPr/>
        </p:nvSpPr>
        <p:spPr bwMode="auto">
          <a:xfrm flipH="1">
            <a:off x="7170738"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29" name="Freeform 128"/>
          <p:cNvSpPr>
            <a:spLocks/>
          </p:cNvSpPr>
          <p:nvPr/>
        </p:nvSpPr>
        <p:spPr bwMode="auto">
          <a:xfrm>
            <a:off x="7170741" y="3968753"/>
            <a:ext cx="719137"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30" name="Line 129"/>
          <p:cNvSpPr>
            <a:spLocks noChangeShapeType="1"/>
          </p:cNvSpPr>
          <p:nvPr/>
        </p:nvSpPr>
        <p:spPr bwMode="auto">
          <a:xfrm flipH="1">
            <a:off x="7889875"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1" name="Freeform 130"/>
          <p:cNvSpPr>
            <a:spLocks/>
          </p:cNvSpPr>
          <p:nvPr/>
        </p:nvSpPr>
        <p:spPr bwMode="auto">
          <a:xfrm>
            <a:off x="7889875"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32" name="Line 131"/>
          <p:cNvSpPr>
            <a:spLocks noChangeShapeType="1"/>
          </p:cNvSpPr>
          <p:nvPr/>
        </p:nvSpPr>
        <p:spPr bwMode="auto">
          <a:xfrm flipH="1">
            <a:off x="8609013"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3" name="Freeform 132"/>
          <p:cNvSpPr>
            <a:spLocks/>
          </p:cNvSpPr>
          <p:nvPr/>
        </p:nvSpPr>
        <p:spPr bwMode="auto">
          <a:xfrm>
            <a:off x="8609016" y="3968753"/>
            <a:ext cx="719137"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34" name="Line 133"/>
          <p:cNvSpPr>
            <a:spLocks noChangeShapeType="1"/>
          </p:cNvSpPr>
          <p:nvPr/>
        </p:nvSpPr>
        <p:spPr bwMode="auto">
          <a:xfrm flipH="1">
            <a:off x="9328150"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5" name="Line 183"/>
          <p:cNvSpPr>
            <a:spLocks noChangeShapeType="1"/>
          </p:cNvSpPr>
          <p:nvPr/>
        </p:nvSpPr>
        <p:spPr bwMode="auto">
          <a:xfrm flipH="1">
            <a:off x="10055225"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6" name="Freeform 184"/>
          <p:cNvSpPr>
            <a:spLocks/>
          </p:cNvSpPr>
          <p:nvPr/>
        </p:nvSpPr>
        <p:spPr bwMode="auto">
          <a:xfrm>
            <a:off x="2854325"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37" name="Line 185"/>
          <p:cNvSpPr>
            <a:spLocks noChangeShapeType="1"/>
          </p:cNvSpPr>
          <p:nvPr/>
        </p:nvSpPr>
        <p:spPr bwMode="auto">
          <a:xfrm>
            <a:off x="2854325"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8" name="Freeform 186"/>
          <p:cNvSpPr>
            <a:spLocks/>
          </p:cNvSpPr>
          <p:nvPr/>
        </p:nvSpPr>
        <p:spPr bwMode="auto">
          <a:xfrm flipH="1">
            <a:off x="3575053" y="4868863"/>
            <a:ext cx="180975"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39" name="Line 187"/>
          <p:cNvSpPr>
            <a:spLocks noChangeShapeType="1"/>
          </p:cNvSpPr>
          <p:nvPr/>
        </p:nvSpPr>
        <p:spPr bwMode="auto">
          <a:xfrm flipV="1">
            <a:off x="5195891" y="4868863"/>
            <a:ext cx="541337"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40" name="Freeform 188"/>
          <p:cNvSpPr>
            <a:spLocks/>
          </p:cNvSpPr>
          <p:nvPr/>
        </p:nvSpPr>
        <p:spPr bwMode="auto">
          <a:xfrm flipH="1">
            <a:off x="5016500" y="4868863"/>
            <a:ext cx="179388"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41" name="Line 189"/>
          <p:cNvSpPr>
            <a:spLocks noChangeShapeType="1"/>
          </p:cNvSpPr>
          <p:nvPr/>
        </p:nvSpPr>
        <p:spPr bwMode="auto">
          <a:xfrm flipV="1">
            <a:off x="4475166" y="5229225"/>
            <a:ext cx="541337"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42" name="Line 191"/>
          <p:cNvSpPr>
            <a:spLocks noChangeShapeType="1"/>
          </p:cNvSpPr>
          <p:nvPr/>
        </p:nvSpPr>
        <p:spPr bwMode="auto">
          <a:xfrm flipV="1">
            <a:off x="8075616" y="4868863"/>
            <a:ext cx="1260475"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43" name="Freeform 192"/>
          <p:cNvSpPr>
            <a:spLocks/>
          </p:cNvSpPr>
          <p:nvPr/>
        </p:nvSpPr>
        <p:spPr bwMode="auto">
          <a:xfrm flipH="1">
            <a:off x="7896228" y="4868863"/>
            <a:ext cx="180975"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44" name="Line 193"/>
          <p:cNvSpPr>
            <a:spLocks noChangeShapeType="1"/>
          </p:cNvSpPr>
          <p:nvPr/>
        </p:nvSpPr>
        <p:spPr bwMode="auto">
          <a:xfrm flipV="1">
            <a:off x="5916613" y="5229225"/>
            <a:ext cx="1979612"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45" name="Line 194"/>
          <p:cNvSpPr>
            <a:spLocks noChangeShapeType="1"/>
          </p:cNvSpPr>
          <p:nvPr/>
        </p:nvSpPr>
        <p:spPr bwMode="auto">
          <a:xfrm flipV="1">
            <a:off x="10056816" y="3968750"/>
            <a:ext cx="179387" cy="1588"/>
          </a:xfrm>
          <a:prstGeom prst="line">
            <a:avLst/>
          </a:prstGeom>
          <a:noFill/>
          <a:ln w="12700">
            <a:solidFill>
              <a:schemeClr val="tx1"/>
            </a:solidFill>
            <a:round/>
            <a:headEnd/>
            <a:tailEnd type="none" w="med" len="lg"/>
          </a:ln>
          <a:effectLst/>
        </p:spPr>
        <p:txBody>
          <a:bodyPr wrap="none" lIns="90000" tIns="46800" rIns="90000" bIns="46800" anchor="ctr"/>
          <a:lstStyle/>
          <a:p>
            <a:endParaRPr lang="ja-JP" altLang="en-US"/>
          </a:p>
        </p:txBody>
      </p:sp>
      <p:cxnSp>
        <p:nvCxnSpPr>
          <p:cNvPr id="46" name="直線矢印コネクタ 45"/>
          <p:cNvCxnSpPr/>
          <p:nvPr/>
        </p:nvCxnSpPr>
        <p:spPr bwMode="auto">
          <a:xfrm rot="16200000" flipH="1">
            <a:off x="4060020" y="2207412"/>
            <a:ext cx="452440" cy="361952"/>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cxnSp>
        <p:nvCxnSpPr>
          <p:cNvPr id="47" name="直線矢印コネクタ 46"/>
          <p:cNvCxnSpPr/>
          <p:nvPr/>
        </p:nvCxnSpPr>
        <p:spPr bwMode="auto">
          <a:xfrm rot="16200000" flipH="1">
            <a:off x="5507828" y="2207412"/>
            <a:ext cx="452440" cy="361952"/>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cxnSp>
        <p:nvCxnSpPr>
          <p:cNvPr id="48" name="直線矢印コネクタ 47"/>
          <p:cNvCxnSpPr/>
          <p:nvPr/>
        </p:nvCxnSpPr>
        <p:spPr bwMode="auto">
          <a:xfrm rot="16200000" flipH="1">
            <a:off x="8403444" y="2207412"/>
            <a:ext cx="452440" cy="361952"/>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cxnSp>
        <p:nvCxnSpPr>
          <p:cNvPr id="49" name="直線矢印コネクタ 48"/>
          <p:cNvCxnSpPr/>
          <p:nvPr/>
        </p:nvCxnSpPr>
        <p:spPr bwMode="auto">
          <a:xfrm rot="16200000" flipH="1">
            <a:off x="9127348" y="2207412"/>
            <a:ext cx="452440" cy="361952"/>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grpSp>
        <p:nvGrpSpPr>
          <p:cNvPr id="50" name="グループ化 49"/>
          <p:cNvGrpSpPr/>
          <p:nvPr/>
        </p:nvGrpSpPr>
        <p:grpSpPr>
          <a:xfrm>
            <a:off x="4286240" y="5782482"/>
            <a:ext cx="180976" cy="363540"/>
            <a:chOff x="1314432" y="5962664"/>
            <a:chExt cx="361952" cy="363540"/>
          </a:xfrm>
        </p:grpSpPr>
        <p:sp>
          <p:nvSpPr>
            <p:cNvPr id="51" name="正方形/長方形 50"/>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52" name="直線コネクタ 51"/>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53" name="直線コネクタ 52"/>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54" name="直線コネクタ 53"/>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cxnSp>
        <p:nvCxnSpPr>
          <p:cNvPr id="55" name="直線コネクタ 54"/>
          <p:cNvCxnSpPr/>
          <p:nvPr/>
        </p:nvCxnSpPr>
        <p:spPr bwMode="auto">
          <a:xfrm rot="10800000">
            <a:off x="2657456" y="6144434"/>
            <a:ext cx="1628784"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nvGrpSpPr>
          <p:cNvPr id="56" name="グループ化 55"/>
          <p:cNvGrpSpPr/>
          <p:nvPr/>
        </p:nvGrpSpPr>
        <p:grpSpPr>
          <a:xfrm flipH="1">
            <a:off x="5010144" y="5782482"/>
            <a:ext cx="180976" cy="363540"/>
            <a:chOff x="1314432" y="5962664"/>
            <a:chExt cx="361952" cy="363540"/>
          </a:xfrm>
        </p:grpSpPr>
        <p:sp>
          <p:nvSpPr>
            <p:cNvPr id="57" name="正方形/長方形 56"/>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58" name="直線コネクタ 57"/>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59" name="直線コネクタ 58"/>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60" name="直線コネクタ 59"/>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cxnSp>
        <p:nvCxnSpPr>
          <p:cNvPr id="61" name="直線コネクタ 60"/>
          <p:cNvCxnSpPr/>
          <p:nvPr/>
        </p:nvCxnSpPr>
        <p:spPr bwMode="auto">
          <a:xfrm rot="10800000">
            <a:off x="4468010" y="5781688"/>
            <a:ext cx="542134"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nvGrpSpPr>
          <p:cNvPr id="62" name="グループ化 61"/>
          <p:cNvGrpSpPr/>
          <p:nvPr/>
        </p:nvGrpSpPr>
        <p:grpSpPr>
          <a:xfrm>
            <a:off x="5734048" y="5782482"/>
            <a:ext cx="180976" cy="363540"/>
            <a:chOff x="1314432" y="5962664"/>
            <a:chExt cx="361952" cy="363540"/>
          </a:xfrm>
        </p:grpSpPr>
        <p:sp>
          <p:nvSpPr>
            <p:cNvPr id="63" name="正方形/長方形 62"/>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64" name="直線コネクタ 63"/>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65" name="直線コネクタ 64"/>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66" name="直線コネクタ 65"/>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grpSp>
        <p:nvGrpSpPr>
          <p:cNvPr id="67" name="グループ化 66"/>
          <p:cNvGrpSpPr/>
          <p:nvPr/>
        </p:nvGrpSpPr>
        <p:grpSpPr>
          <a:xfrm flipH="1">
            <a:off x="6457952" y="5782482"/>
            <a:ext cx="180976" cy="363540"/>
            <a:chOff x="1314432" y="5962664"/>
            <a:chExt cx="361952" cy="363540"/>
          </a:xfrm>
        </p:grpSpPr>
        <p:sp>
          <p:nvSpPr>
            <p:cNvPr id="68" name="正方形/長方形 67"/>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69" name="直線コネクタ 68"/>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0" name="直線コネクタ 69"/>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1" name="直線コネクタ 70"/>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cxnSp>
        <p:nvCxnSpPr>
          <p:cNvPr id="72" name="直線コネクタ 71"/>
          <p:cNvCxnSpPr/>
          <p:nvPr/>
        </p:nvCxnSpPr>
        <p:spPr bwMode="auto">
          <a:xfrm rot="10800000">
            <a:off x="5915818" y="5781688"/>
            <a:ext cx="542134"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3" name="直線コネクタ 72"/>
          <p:cNvCxnSpPr/>
          <p:nvPr/>
        </p:nvCxnSpPr>
        <p:spPr bwMode="auto">
          <a:xfrm rot="10800000">
            <a:off x="5191120" y="6144434"/>
            <a:ext cx="542134"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nvGrpSpPr>
          <p:cNvPr id="74" name="グループ化 73"/>
          <p:cNvGrpSpPr/>
          <p:nvPr/>
        </p:nvGrpSpPr>
        <p:grpSpPr>
          <a:xfrm>
            <a:off x="8629664" y="5782482"/>
            <a:ext cx="180976" cy="363540"/>
            <a:chOff x="1314432" y="5962664"/>
            <a:chExt cx="361952" cy="363540"/>
          </a:xfrm>
        </p:grpSpPr>
        <p:sp>
          <p:nvSpPr>
            <p:cNvPr id="75" name="正方形/長方形 74"/>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76" name="直線コネクタ 75"/>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7" name="直線コネクタ 76"/>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8" name="直線コネクタ 77"/>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grpSp>
        <p:nvGrpSpPr>
          <p:cNvPr id="79" name="グループ化 78"/>
          <p:cNvGrpSpPr/>
          <p:nvPr/>
        </p:nvGrpSpPr>
        <p:grpSpPr>
          <a:xfrm flipH="1">
            <a:off x="10077472" y="5782482"/>
            <a:ext cx="180976" cy="363540"/>
            <a:chOff x="1314432" y="5962664"/>
            <a:chExt cx="361952" cy="363540"/>
          </a:xfrm>
        </p:grpSpPr>
        <p:sp>
          <p:nvSpPr>
            <p:cNvPr id="80" name="正方形/長方形 79"/>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81" name="直線コネクタ 80"/>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2" name="直線コネクタ 81"/>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3" name="直線コネクタ 82"/>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cxnSp>
        <p:nvCxnSpPr>
          <p:cNvPr id="84" name="直線コネクタ 83"/>
          <p:cNvCxnSpPr/>
          <p:nvPr/>
        </p:nvCxnSpPr>
        <p:spPr bwMode="auto">
          <a:xfrm rot="10800000">
            <a:off x="8811434" y="5781688"/>
            <a:ext cx="1266038"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5" name="直線コネクタ 84"/>
          <p:cNvCxnSpPr/>
          <p:nvPr/>
        </p:nvCxnSpPr>
        <p:spPr bwMode="auto">
          <a:xfrm rot="10800000">
            <a:off x="6638928" y="6144434"/>
            <a:ext cx="1990736"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6" name="直線コネクタ 85"/>
          <p:cNvCxnSpPr/>
          <p:nvPr/>
        </p:nvCxnSpPr>
        <p:spPr bwMode="auto">
          <a:xfrm rot="10800000">
            <a:off x="10258448" y="6144434"/>
            <a:ext cx="180182"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7" name="直線矢印コネクタ 86"/>
          <p:cNvCxnSpPr/>
          <p:nvPr/>
        </p:nvCxnSpPr>
        <p:spPr bwMode="auto">
          <a:xfrm rot="16200000" flipH="1">
            <a:off x="3336116"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cxnSp>
        <p:nvCxnSpPr>
          <p:cNvPr id="88" name="直線矢印コネクタ 87"/>
          <p:cNvCxnSpPr/>
          <p:nvPr/>
        </p:nvCxnSpPr>
        <p:spPr bwMode="auto">
          <a:xfrm rot="16200000" flipH="1">
            <a:off x="4783924"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cxnSp>
        <p:nvCxnSpPr>
          <p:cNvPr id="89" name="直線矢印コネクタ 88"/>
          <p:cNvCxnSpPr/>
          <p:nvPr/>
        </p:nvCxnSpPr>
        <p:spPr bwMode="auto">
          <a:xfrm rot="16200000" flipH="1">
            <a:off x="6231732"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cxnSp>
        <p:nvCxnSpPr>
          <p:cNvPr id="90" name="直線矢印コネクタ 89"/>
          <p:cNvCxnSpPr/>
          <p:nvPr/>
        </p:nvCxnSpPr>
        <p:spPr bwMode="auto">
          <a:xfrm rot="16200000" flipH="1">
            <a:off x="6955636"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cxnSp>
        <p:nvCxnSpPr>
          <p:cNvPr id="91" name="直線矢印コネクタ 90"/>
          <p:cNvCxnSpPr/>
          <p:nvPr/>
        </p:nvCxnSpPr>
        <p:spPr bwMode="auto">
          <a:xfrm rot="16200000" flipH="1">
            <a:off x="7679540"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spTree>
    <p:extLst>
      <p:ext uri="{BB962C8B-B14F-4D97-AF65-F5344CB8AC3E}">
        <p14:creationId xmlns:p14="http://schemas.microsoft.com/office/powerpoint/2010/main" val="4182178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メモリやレジスタ・ファイル</a:t>
            </a:r>
          </a:p>
        </p:txBody>
      </p:sp>
      <p:sp>
        <p:nvSpPr>
          <p:cNvPr id="3" name="テキスト プレースホルダー 2"/>
          <p:cNvSpPr>
            <a:spLocks noGrp="1"/>
          </p:cNvSpPr>
          <p:nvPr>
            <p:ph type="body" sz="quarter" idx="10"/>
          </p:nvPr>
        </p:nvSpPr>
        <p:spPr>
          <a:xfrm>
            <a:off x="1685954" y="4869019"/>
            <a:ext cx="8910099" cy="1439709"/>
          </a:xfrm>
        </p:spPr>
        <p:txBody>
          <a:bodyPr/>
          <a:lstStyle/>
          <a:p>
            <a:r>
              <a:rPr kumimoji="1" lang="en-US" altLang="ja-JP" dirty="0"/>
              <a:t>D-FF </a:t>
            </a:r>
            <a:r>
              <a:rPr kumimoji="1" lang="ja-JP" altLang="en-US" dirty="0"/>
              <a:t>を必要なだけ並べて，マルチプレクサで選択することで実現できる</a:t>
            </a:r>
            <a:endParaRPr kumimoji="1" lang="en-US" altLang="ja-JP" dirty="0"/>
          </a:p>
          <a:p>
            <a:pPr lvl="1"/>
            <a:r>
              <a:rPr kumimoji="1" lang="ja-JP" altLang="en-US" dirty="0"/>
              <a:t>実際には，もっと最適化された回路（</a:t>
            </a:r>
            <a:r>
              <a:rPr kumimoji="1" lang="en-US" altLang="ja-JP" dirty="0"/>
              <a:t>SRAM</a:t>
            </a:r>
            <a:r>
              <a:rPr kumimoji="1" lang="ja-JP" altLang="en-US" dirty="0"/>
              <a:t>）が使用される事が多い</a:t>
            </a:r>
            <a:endParaRPr kumimoji="1" lang="en-US" altLang="ja-JP" dirty="0"/>
          </a:p>
          <a:p>
            <a:pPr lvl="1"/>
            <a:r>
              <a:rPr kumimoji="1" lang="ja-JP" altLang="en-US" dirty="0"/>
              <a:t>（後の講義で詳しく説明する予定</a:t>
            </a:r>
          </a:p>
        </p:txBody>
      </p:sp>
      <p:grpSp>
        <p:nvGrpSpPr>
          <p:cNvPr id="4" name="グループ化 3"/>
          <p:cNvGrpSpPr/>
          <p:nvPr/>
        </p:nvGrpSpPr>
        <p:grpSpPr>
          <a:xfrm>
            <a:off x="4745988" y="1268976"/>
            <a:ext cx="990011" cy="720008"/>
            <a:chOff x="6369707" y="1718772"/>
            <a:chExt cx="1441450" cy="1085855"/>
          </a:xfrm>
        </p:grpSpPr>
        <p:sp>
          <p:nvSpPr>
            <p:cNvPr id="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7"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q</a:t>
              </a:r>
              <a:endParaRPr lang="en-US" altLang="ja-JP" sz="1200" dirty="0"/>
            </a:p>
          </p:txBody>
        </p:sp>
        <p:sp>
          <p:nvSpPr>
            <p:cNvPr id="8"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200" i="1" dirty="0"/>
                <a:t>d</a:t>
              </a:r>
              <a:endParaRPr lang="en-US" altLang="ja-JP" sz="1200" dirty="0"/>
            </a:p>
          </p:txBody>
        </p:sp>
        <p:sp>
          <p:nvSpPr>
            <p:cNvPr id="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1"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clk</a:t>
              </a:r>
              <a:endParaRPr lang="en-US" altLang="ja-JP" sz="1200" dirty="0"/>
            </a:p>
          </p:txBody>
        </p:sp>
      </p:grpSp>
      <p:grpSp>
        <p:nvGrpSpPr>
          <p:cNvPr id="12" name="グループ化 11"/>
          <p:cNvGrpSpPr/>
          <p:nvPr/>
        </p:nvGrpSpPr>
        <p:grpSpPr>
          <a:xfrm>
            <a:off x="4745988" y="2168986"/>
            <a:ext cx="990011" cy="720008"/>
            <a:chOff x="6369707" y="1718772"/>
            <a:chExt cx="1441450" cy="1085855"/>
          </a:xfrm>
        </p:grpSpPr>
        <p:sp>
          <p:nvSpPr>
            <p:cNvPr id="13"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4"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15"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q</a:t>
              </a:r>
              <a:endParaRPr lang="en-US" altLang="ja-JP" sz="1200" dirty="0"/>
            </a:p>
          </p:txBody>
        </p:sp>
        <p:sp>
          <p:nvSpPr>
            <p:cNvPr id="16"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200" i="1" dirty="0"/>
                <a:t>d</a:t>
              </a:r>
              <a:endParaRPr lang="en-US" altLang="ja-JP" sz="1200" dirty="0"/>
            </a:p>
          </p:txBody>
        </p:sp>
        <p:sp>
          <p:nvSpPr>
            <p:cNvPr id="17"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8"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9"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clk</a:t>
              </a:r>
              <a:endParaRPr lang="en-US" altLang="ja-JP" sz="1200" dirty="0"/>
            </a:p>
          </p:txBody>
        </p:sp>
      </p:grpSp>
      <p:grpSp>
        <p:nvGrpSpPr>
          <p:cNvPr id="20" name="グループ化 19"/>
          <p:cNvGrpSpPr/>
          <p:nvPr/>
        </p:nvGrpSpPr>
        <p:grpSpPr>
          <a:xfrm>
            <a:off x="4745988" y="3068996"/>
            <a:ext cx="990011" cy="720008"/>
            <a:chOff x="6369707" y="1718772"/>
            <a:chExt cx="1441450" cy="1085855"/>
          </a:xfrm>
        </p:grpSpPr>
        <p:sp>
          <p:nvSpPr>
            <p:cNvPr id="21"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2"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23"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q</a:t>
              </a:r>
              <a:endParaRPr lang="en-US" altLang="ja-JP" sz="1200" dirty="0"/>
            </a:p>
          </p:txBody>
        </p:sp>
        <p:sp>
          <p:nvSpPr>
            <p:cNvPr id="24"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200" i="1" dirty="0"/>
                <a:t>d</a:t>
              </a:r>
              <a:endParaRPr lang="en-US" altLang="ja-JP" sz="1200" dirty="0"/>
            </a:p>
          </p:txBody>
        </p:sp>
        <p:sp>
          <p:nvSpPr>
            <p:cNvPr id="25"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26"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7"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clk</a:t>
              </a:r>
              <a:endParaRPr lang="en-US" altLang="ja-JP" sz="1200" dirty="0"/>
            </a:p>
          </p:txBody>
        </p:sp>
      </p:grpSp>
      <p:grpSp>
        <p:nvGrpSpPr>
          <p:cNvPr id="28" name="グループ化 27"/>
          <p:cNvGrpSpPr/>
          <p:nvPr/>
        </p:nvGrpSpPr>
        <p:grpSpPr>
          <a:xfrm>
            <a:off x="4745988" y="3969006"/>
            <a:ext cx="990011" cy="720008"/>
            <a:chOff x="6369707" y="1718772"/>
            <a:chExt cx="1441450" cy="1085855"/>
          </a:xfrm>
        </p:grpSpPr>
        <p:sp>
          <p:nvSpPr>
            <p:cNvPr id="29"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0"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31"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q</a:t>
              </a:r>
              <a:endParaRPr lang="en-US" altLang="ja-JP" sz="1200" dirty="0"/>
            </a:p>
          </p:txBody>
        </p:sp>
        <p:sp>
          <p:nvSpPr>
            <p:cNvPr id="32"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200" i="1" dirty="0"/>
                <a:t>d</a:t>
              </a:r>
              <a:endParaRPr lang="en-US" altLang="ja-JP" sz="1200" dirty="0"/>
            </a:p>
          </p:txBody>
        </p:sp>
        <p:sp>
          <p:nvSpPr>
            <p:cNvPr id="33"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34"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5"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clk</a:t>
              </a:r>
              <a:endParaRPr lang="en-US" altLang="ja-JP" sz="1200" dirty="0"/>
            </a:p>
          </p:txBody>
        </p:sp>
      </p:grpSp>
      <p:sp>
        <p:nvSpPr>
          <p:cNvPr id="36" name="フローチャート: 手作業 35"/>
          <p:cNvSpPr/>
          <p:nvPr/>
        </p:nvSpPr>
        <p:spPr bwMode="auto">
          <a:xfrm rot="16200000">
            <a:off x="5555994" y="1808982"/>
            <a:ext cx="1260014"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37" name="フローチャート: 手作業 36"/>
          <p:cNvSpPr/>
          <p:nvPr/>
        </p:nvSpPr>
        <p:spPr bwMode="auto">
          <a:xfrm rot="16200000">
            <a:off x="5555994" y="3609002"/>
            <a:ext cx="1260014"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38" name="Line 9"/>
          <p:cNvSpPr>
            <a:spLocks noChangeShapeType="1"/>
          </p:cNvSpPr>
          <p:nvPr/>
        </p:nvSpPr>
        <p:spPr bwMode="auto">
          <a:xfrm>
            <a:off x="6546008" y="243898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9" name="Line 9"/>
          <p:cNvSpPr>
            <a:spLocks noChangeShapeType="1"/>
          </p:cNvSpPr>
          <p:nvPr/>
        </p:nvSpPr>
        <p:spPr bwMode="auto">
          <a:xfrm>
            <a:off x="6546008" y="333899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0" name="フローチャート: 手作業 39"/>
          <p:cNvSpPr/>
          <p:nvPr/>
        </p:nvSpPr>
        <p:spPr bwMode="auto">
          <a:xfrm rot="16200000">
            <a:off x="6456004" y="2798993"/>
            <a:ext cx="1260014"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41" name="Freeform 10"/>
          <p:cNvSpPr>
            <a:spLocks/>
          </p:cNvSpPr>
          <p:nvPr/>
        </p:nvSpPr>
        <p:spPr bwMode="auto">
          <a:xfrm flipH="1" flipV="1">
            <a:off x="6276003" y="1898985"/>
            <a:ext cx="270003" cy="54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2" name="Freeform 10"/>
          <p:cNvSpPr>
            <a:spLocks/>
          </p:cNvSpPr>
          <p:nvPr/>
        </p:nvSpPr>
        <p:spPr bwMode="auto">
          <a:xfrm flipH="1">
            <a:off x="6276003" y="3339000"/>
            <a:ext cx="270003"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Line 9"/>
          <p:cNvSpPr>
            <a:spLocks noChangeShapeType="1"/>
          </p:cNvSpPr>
          <p:nvPr/>
        </p:nvSpPr>
        <p:spPr bwMode="auto">
          <a:xfrm>
            <a:off x="7176015" y="288899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4" name="Line 9"/>
          <p:cNvSpPr>
            <a:spLocks noChangeShapeType="1"/>
          </p:cNvSpPr>
          <p:nvPr/>
        </p:nvSpPr>
        <p:spPr bwMode="auto">
          <a:xfrm>
            <a:off x="5735997" y="1458503"/>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5" name="Line 9"/>
          <p:cNvSpPr>
            <a:spLocks noChangeShapeType="1"/>
          </p:cNvSpPr>
          <p:nvPr/>
        </p:nvSpPr>
        <p:spPr bwMode="auto">
          <a:xfrm>
            <a:off x="5735996" y="2348988"/>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6" name="Line 9"/>
          <p:cNvSpPr>
            <a:spLocks noChangeShapeType="1"/>
          </p:cNvSpPr>
          <p:nvPr/>
        </p:nvSpPr>
        <p:spPr bwMode="auto">
          <a:xfrm>
            <a:off x="5735996" y="3258523"/>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7" name="Line 9"/>
          <p:cNvSpPr>
            <a:spLocks noChangeShapeType="1"/>
          </p:cNvSpPr>
          <p:nvPr/>
        </p:nvSpPr>
        <p:spPr bwMode="auto">
          <a:xfrm>
            <a:off x="5735996" y="4149008"/>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Tree>
    <p:extLst>
      <p:ext uri="{BB962C8B-B14F-4D97-AF65-F5344CB8AC3E}">
        <p14:creationId xmlns:p14="http://schemas.microsoft.com/office/powerpoint/2010/main" val="1877691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r>
              <a:rPr lang="ja-JP" altLang="en-US" dirty="0"/>
              <a:t>記憶素子の原理</a:t>
            </a:r>
          </a:p>
        </p:txBody>
      </p:sp>
      <p:sp>
        <p:nvSpPr>
          <p:cNvPr id="715779" name="Rectangle 3"/>
          <p:cNvSpPr>
            <a:spLocks noGrp="1" noChangeArrowheads="1"/>
          </p:cNvSpPr>
          <p:nvPr>
            <p:ph sz="quarter" idx="13"/>
          </p:nvPr>
        </p:nvSpPr>
        <p:spPr>
          <a:xfrm>
            <a:off x="2135956" y="2078985"/>
            <a:ext cx="8280620" cy="1350014"/>
          </a:xfrm>
        </p:spPr>
        <p:txBody>
          <a:bodyPr/>
          <a:lstStyle/>
          <a:p>
            <a:r>
              <a:rPr lang="ja-JP" altLang="en-US" dirty="0"/>
              <a:t>記憶</a:t>
            </a:r>
          </a:p>
          <a:p>
            <a:pPr lvl="1"/>
            <a:r>
              <a:rPr lang="ja-JP" altLang="en-US" dirty="0"/>
              <a:t>２つの </a:t>
            </a:r>
            <a:r>
              <a:rPr lang="en-US" altLang="ja-JP" dirty="0"/>
              <a:t>NOT </a:t>
            </a:r>
            <a:r>
              <a:rPr lang="ja-JP" altLang="en-US" dirty="0"/>
              <a:t>ゲートをループさせた回路により記憶</a:t>
            </a:r>
            <a:endParaRPr lang="en-US" altLang="ja-JP" dirty="0"/>
          </a:p>
          <a:p>
            <a:pPr lvl="1"/>
            <a:r>
              <a:rPr lang="ja-JP" altLang="en-US" dirty="0"/>
              <a:t>２通りの安定状態がある：</a:t>
            </a:r>
            <a:r>
              <a:rPr lang="en-US" altLang="ja-JP" dirty="0"/>
              <a:t>1 bit </a:t>
            </a:r>
            <a:r>
              <a:rPr lang="ja-JP" altLang="en-US" dirty="0"/>
              <a:t>を記憶</a:t>
            </a:r>
          </a:p>
        </p:txBody>
      </p:sp>
      <p:sp>
        <p:nvSpPr>
          <p:cNvPr id="715787" name="Freeform 11"/>
          <p:cNvSpPr>
            <a:spLocks/>
          </p:cNvSpPr>
          <p:nvPr/>
        </p:nvSpPr>
        <p:spPr bwMode="auto">
          <a:xfrm>
            <a:off x="3935387" y="4149011"/>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6"/>
            </a:solidFill>
            <a:prstDash val="solid"/>
            <a:round/>
            <a:headEnd type="none" w="med" len="med"/>
            <a:tailEnd type="none" w="med" len="med"/>
          </a:ln>
          <a:effectLst/>
        </p:spPr>
        <p:txBody>
          <a:bodyPr wrap="none" lIns="90000" tIns="46800" rIns="90000" bIns="46800" anchor="ctr"/>
          <a:lstStyle/>
          <a:p>
            <a:endParaRPr lang="ja-JP" altLang="en-US"/>
          </a:p>
        </p:txBody>
      </p:sp>
      <p:sp>
        <p:nvSpPr>
          <p:cNvPr id="715788" name="Freeform 12"/>
          <p:cNvSpPr>
            <a:spLocks/>
          </p:cNvSpPr>
          <p:nvPr/>
        </p:nvSpPr>
        <p:spPr bwMode="auto">
          <a:xfrm flipH="1">
            <a:off x="4925987" y="4149011"/>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5"/>
            </a:solidFill>
            <a:prstDash val="solid"/>
            <a:round/>
            <a:headEnd type="none" w="med" len="med"/>
            <a:tailEnd type="none" w="med" len="med"/>
          </a:ln>
          <a:effectLst/>
        </p:spPr>
        <p:txBody>
          <a:bodyPr wrap="none" lIns="90000" tIns="46800" rIns="90000" bIns="46800" anchor="ctr"/>
          <a:lstStyle/>
          <a:p>
            <a:endParaRPr lang="ja-JP" altLang="en-US"/>
          </a:p>
        </p:txBody>
      </p:sp>
      <p:sp>
        <p:nvSpPr>
          <p:cNvPr id="715789" name="Rectangle 13"/>
          <p:cNvSpPr>
            <a:spLocks noChangeArrowheads="1"/>
          </p:cNvSpPr>
          <p:nvPr/>
        </p:nvSpPr>
        <p:spPr bwMode="auto">
          <a:xfrm>
            <a:off x="3665976" y="4329013"/>
            <a:ext cx="179387" cy="360363"/>
          </a:xfrm>
          <a:prstGeom prst="rect">
            <a:avLst/>
          </a:prstGeom>
          <a:noFill/>
          <a:ln w="12700" algn="ctr">
            <a:noFill/>
            <a:miter lim="800000"/>
            <a:headEnd/>
            <a:tailEnd/>
          </a:ln>
          <a:effectLst/>
        </p:spPr>
        <p:txBody>
          <a:bodyPr wrap="none" lIns="90000" tIns="46800" rIns="90000" bIns="46800" anchor="ctr"/>
          <a:lstStyle/>
          <a:p>
            <a:r>
              <a:rPr lang="en-US" altLang="ja-JP">
                <a:solidFill>
                  <a:schemeClr val="accent6"/>
                </a:solidFill>
              </a:rPr>
              <a:t>1</a:t>
            </a:r>
          </a:p>
        </p:txBody>
      </p:sp>
      <p:sp>
        <p:nvSpPr>
          <p:cNvPr id="715790" name="Rectangle 14"/>
          <p:cNvSpPr>
            <a:spLocks noChangeArrowheads="1"/>
          </p:cNvSpPr>
          <p:nvPr/>
        </p:nvSpPr>
        <p:spPr bwMode="auto">
          <a:xfrm>
            <a:off x="5376837" y="4329986"/>
            <a:ext cx="179388" cy="360363"/>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pic>
        <p:nvPicPr>
          <p:cNvPr id="715791" name="Picture 15" descr="NOT"/>
          <p:cNvPicPr>
            <a:picLocks noChangeAspect="1" noChangeArrowheads="1"/>
          </p:cNvPicPr>
          <p:nvPr/>
        </p:nvPicPr>
        <p:blipFill>
          <a:blip r:embed="rId3" cstate="print"/>
          <a:srcRect/>
          <a:stretch>
            <a:fillRect/>
          </a:stretch>
        </p:blipFill>
        <p:spPr bwMode="auto">
          <a:xfrm>
            <a:off x="4295750" y="3790236"/>
            <a:ext cx="717550" cy="720725"/>
          </a:xfrm>
          <a:prstGeom prst="rect">
            <a:avLst/>
          </a:prstGeom>
          <a:noFill/>
        </p:spPr>
      </p:pic>
      <p:pic>
        <p:nvPicPr>
          <p:cNvPr id="715792" name="Picture 16" descr="NOT"/>
          <p:cNvPicPr>
            <a:picLocks noChangeAspect="1" noChangeArrowheads="1"/>
          </p:cNvPicPr>
          <p:nvPr/>
        </p:nvPicPr>
        <p:blipFill>
          <a:blip r:embed="rId3" cstate="print"/>
          <a:srcRect/>
          <a:stretch>
            <a:fillRect/>
          </a:stretch>
        </p:blipFill>
        <p:spPr bwMode="auto">
          <a:xfrm flipH="1">
            <a:off x="4295750" y="4509374"/>
            <a:ext cx="717550" cy="720725"/>
          </a:xfrm>
          <a:prstGeom prst="rect">
            <a:avLst/>
          </a:prstGeom>
          <a:noFill/>
        </p:spPr>
      </p:pic>
      <p:sp>
        <p:nvSpPr>
          <p:cNvPr id="52" name="Freeform 11"/>
          <p:cNvSpPr>
            <a:spLocks/>
          </p:cNvSpPr>
          <p:nvPr/>
        </p:nvSpPr>
        <p:spPr bwMode="auto">
          <a:xfrm>
            <a:off x="6815419" y="4149011"/>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5"/>
            </a:solidFill>
            <a:prstDash val="solid"/>
            <a:round/>
            <a:headEnd type="none" w="med" len="med"/>
            <a:tailEnd type="none" w="med" len="med"/>
          </a:ln>
          <a:effectLst/>
        </p:spPr>
        <p:txBody>
          <a:bodyPr wrap="none" lIns="90000" tIns="46800" rIns="90000" bIns="46800" anchor="ctr"/>
          <a:lstStyle/>
          <a:p>
            <a:endParaRPr lang="ja-JP" altLang="en-US"/>
          </a:p>
        </p:txBody>
      </p:sp>
      <p:sp>
        <p:nvSpPr>
          <p:cNvPr id="53" name="Freeform 12"/>
          <p:cNvSpPr>
            <a:spLocks/>
          </p:cNvSpPr>
          <p:nvPr/>
        </p:nvSpPr>
        <p:spPr bwMode="auto">
          <a:xfrm flipH="1">
            <a:off x="7806019" y="4149011"/>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6"/>
            </a:solidFill>
            <a:prstDash val="solid"/>
            <a:round/>
            <a:headEnd type="none" w="med" len="med"/>
            <a:tailEnd type="none" w="med" len="med"/>
          </a:ln>
          <a:effectLst/>
        </p:spPr>
        <p:txBody>
          <a:bodyPr wrap="none" lIns="90000" tIns="46800" rIns="90000" bIns="46800" anchor="ctr"/>
          <a:lstStyle/>
          <a:p>
            <a:endParaRPr lang="ja-JP" altLang="en-US"/>
          </a:p>
        </p:txBody>
      </p:sp>
      <p:sp>
        <p:nvSpPr>
          <p:cNvPr id="54" name="Rectangle 13"/>
          <p:cNvSpPr>
            <a:spLocks noChangeArrowheads="1"/>
          </p:cNvSpPr>
          <p:nvPr/>
        </p:nvSpPr>
        <p:spPr bwMode="auto">
          <a:xfrm>
            <a:off x="8345798" y="4330242"/>
            <a:ext cx="179387" cy="360363"/>
          </a:xfrm>
          <a:prstGeom prst="rect">
            <a:avLst/>
          </a:prstGeom>
          <a:noFill/>
          <a:ln w="12700" algn="ctr">
            <a:noFill/>
            <a:miter lim="800000"/>
            <a:headEnd/>
            <a:tailEnd/>
          </a:ln>
          <a:effectLst/>
        </p:spPr>
        <p:txBody>
          <a:bodyPr wrap="none" lIns="90000" tIns="46800" rIns="90000" bIns="46800" anchor="ctr"/>
          <a:lstStyle/>
          <a:p>
            <a:r>
              <a:rPr lang="en-US" altLang="ja-JP">
                <a:solidFill>
                  <a:schemeClr val="accent6"/>
                </a:solidFill>
              </a:rPr>
              <a:t>1</a:t>
            </a:r>
          </a:p>
        </p:txBody>
      </p:sp>
      <p:sp>
        <p:nvSpPr>
          <p:cNvPr id="55" name="Rectangle 14"/>
          <p:cNvSpPr>
            <a:spLocks noChangeArrowheads="1"/>
          </p:cNvSpPr>
          <p:nvPr/>
        </p:nvSpPr>
        <p:spPr bwMode="auto">
          <a:xfrm>
            <a:off x="6455774" y="4330242"/>
            <a:ext cx="179388" cy="360363"/>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pic>
        <p:nvPicPr>
          <p:cNvPr id="56" name="Picture 15" descr="NOT"/>
          <p:cNvPicPr>
            <a:picLocks noChangeAspect="1" noChangeArrowheads="1"/>
          </p:cNvPicPr>
          <p:nvPr/>
        </p:nvPicPr>
        <p:blipFill>
          <a:blip r:embed="rId3" cstate="print"/>
          <a:srcRect/>
          <a:stretch>
            <a:fillRect/>
          </a:stretch>
        </p:blipFill>
        <p:spPr bwMode="auto">
          <a:xfrm>
            <a:off x="7175782" y="3790236"/>
            <a:ext cx="717550" cy="720725"/>
          </a:xfrm>
          <a:prstGeom prst="rect">
            <a:avLst/>
          </a:prstGeom>
          <a:noFill/>
        </p:spPr>
      </p:pic>
      <p:pic>
        <p:nvPicPr>
          <p:cNvPr id="57" name="Picture 16" descr="NOT"/>
          <p:cNvPicPr>
            <a:picLocks noChangeAspect="1" noChangeArrowheads="1"/>
          </p:cNvPicPr>
          <p:nvPr/>
        </p:nvPicPr>
        <p:blipFill>
          <a:blip r:embed="rId3" cstate="print"/>
          <a:srcRect/>
          <a:stretch>
            <a:fillRect/>
          </a:stretch>
        </p:blipFill>
        <p:spPr bwMode="auto">
          <a:xfrm flipH="1">
            <a:off x="7175782" y="4509374"/>
            <a:ext cx="717550" cy="720725"/>
          </a:xfrm>
          <a:prstGeom prst="rect">
            <a:avLst/>
          </a:prstGeom>
          <a:noFill/>
        </p:spPr>
      </p:pic>
    </p:spTree>
    <p:extLst>
      <p:ext uri="{BB962C8B-B14F-4D97-AF65-F5344CB8AC3E}">
        <p14:creationId xmlns:p14="http://schemas.microsoft.com/office/powerpoint/2010/main" val="1746398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60" name="Freeform 44"/>
          <p:cNvSpPr>
            <a:spLocks/>
          </p:cNvSpPr>
          <p:nvPr/>
        </p:nvSpPr>
        <p:spPr bwMode="auto">
          <a:xfrm>
            <a:off x="4205980" y="4689017"/>
            <a:ext cx="1600588"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59" name="Freeform 43"/>
          <p:cNvSpPr>
            <a:spLocks/>
          </p:cNvSpPr>
          <p:nvPr/>
        </p:nvSpPr>
        <p:spPr bwMode="auto">
          <a:xfrm>
            <a:off x="6366006" y="4689014"/>
            <a:ext cx="1601153" cy="721442"/>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29</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の実装</a:t>
            </a:r>
            <a:endParaRPr lang="en-US" altLang="ja-JP" dirty="0"/>
          </a:p>
        </p:txBody>
      </p:sp>
      <p:pic>
        <p:nvPicPr>
          <p:cNvPr id="700446" name="Picture 30" descr="NOT"/>
          <p:cNvPicPr>
            <a:picLocks noChangeAspect="1" noChangeArrowheads="1"/>
          </p:cNvPicPr>
          <p:nvPr/>
        </p:nvPicPr>
        <p:blipFill>
          <a:blip r:embed="rId3" cstate="print"/>
          <a:srcRect/>
          <a:stretch>
            <a:fillRect/>
          </a:stretch>
        </p:blipFill>
        <p:spPr bwMode="auto">
          <a:xfrm flipH="1">
            <a:off x="4727068" y="4328655"/>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4727068" y="5049380"/>
            <a:ext cx="717550" cy="720725"/>
          </a:xfrm>
          <a:prstGeom prst="rect">
            <a:avLst/>
          </a:prstGeom>
          <a:noFill/>
        </p:spPr>
      </p:pic>
      <p:pic>
        <p:nvPicPr>
          <p:cNvPr id="700448" name="Picture 32" descr="NOT"/>
          <p:cNvPicPr>
            <a:picLocks noChangeAspect="1" noChangeArrowheads="1"/>
          </p:cNvPicPr>
          <p:nvPr/>
        </p:nvPicPr>
        <p:blipFill>
          <a:blip r:embed="rId3" cstate="print"/>
          <a:srcRect/>
          <a:stretch>
            <a:fillRect/>
          </a:stretch>
        </p:blipFill>
        <p:spPr bwMode="auto">
          <a:xfrm flipH="1">
            <a:off x="6887656" y="4328655"/>
            <a:ext cx="717550" cy="720725"/>
          </a:xfrm>
          <a:prstGeom prst="rect">
            <a:avLst/>
          </a:prstGeom>
          <a:noFill/>
        </p:spPr>
      </p:pic>
      <p:pic>
        <p:nvPicPr>
          <p:cNvPr id="700449" name="Picture 33" descr="NOT"/>
          <p:cNvPicPr>
            <a:picLocks noChangeAspect="1" noChangeArrowheads="1"/>
          </p:cNvPicPr>
          <p:nvPr/>
        </p:nvPicPr>
        <p:blipFill>
          <a:blip r:embed="rId3" cstate="print"/>
          <a:srcRect/>
          <a:stretch>
            <a:fillRect/>
          </a:stretch>
        </p:blipFill>
        <p:spPr bwMode="auto">
          <a:xfrm>
            <a:off x="6887656" y="5049380"/>
            <a:ext cx="717550" cy="720725"/>
          </a:xfrm>
          <a:prstGeom prst="rect">
            <a:avLst/>
          </a:prstGeom>
          <a:noFill/>
        </p:spPr>
      </p:pic>
      <p:sp>
        <p:nvSpPr>
          <p:cNvPr id="700461" name="Line 45"/>
          <p:cNvSpPr>
            <a:spLocks noChangeShapeType="1"/>
          </p:cNvSpPr>
          <p:nvPr/>
        </p:nvSpPr>
        <p:spPr bwMode="auto">
          <a:xfrm>
            <a:off x="5806571" y="5409738"/>
            <a:ext cx="739437" cy="718"/>
          </a:xfrm>
          <a:prstGeom prst="line">
            <a:avLst/>
          </a:prstGeom>
          <a:noFill/>
          <a:ln w="9525">
            <a:solidFill>
              <a:schemeClr val="tx1"/>
            </a:solidFill>
            <a:round/>
            <a:headEnd type="oval" w="sm" len="sm"/>
            <a:tailEnd type="triangle" w="med" len="med"/>
          </a:ln>
          <a:effectLst/>
        </p:spPr>
        <p:txBody>
          <a:bodyPr wrap="none" lIns="90000" tIns="46800" rIns="90000" bIns="46800" anchor="ctr"/>
          <a:lstStyle/>
          <a:p>
            <a:endParaRPr lang="ja-JP" altLang="en-US"/>
          </a:p>
        </p:txBody>
      </p:sp>
      <p:sp>
        <p:nvSpPr>
          <p:cNvPr id="700462" name="Line 46"/>
          <p:cNvSpPr>
            <a:spLocks noChangeShapeType="1"/>
          </p:cNvSpPr>
          <p:nvPr/>
        </p:nvSpPr>
        <p:spPr bwMode="auto">
          <a:xfrm>
            <a:off x="3647571" y="5409738"/>
            <a:ext cx="738413" cy="718"/>
          </a:xfrm>
          <a:prstGeom prst="line">
            <a:avLst/>
          </a:prstGeom>
          <a:noFill/>
          <a:ln w="9525">
            <a:solidFill>
              <a:schemeClr val="tx1"/>
            </a:solidFill>
            <a:round/>
            <a:headEnd type="none" w="sm" len="sm"/>
            <a:tailEnd type="triangle" w="med" len="med"/>
          </a:ln>
          <a:effectLst/>
        </p:spPr>
        <p:txBody>
          <a:bodyPr wrap="none" lIns="90000" tIns="46800" rIns="90000" bIns="46800" anchor="ctr"/>
          <a:lstStyle/>
          <a:p>
            <a:endParaRPr lang="ja-JP" altLang="en-US"/>
          </a:p>
        </p:txBody>
      </p:sp>
      <p:sp>
        <p:nvSpPr>
          <p:cNvPr id="700472" name="Line 56"/>
          <p:cNvSpPr>
            <a:spLocks noChangeShapeType="1"/>
          </p:cNvSpPr>
          <p:nvPr/>
        </p:nvSpPr>
        <p:spPr bwMode="auto">
          <a:xfrm>
            <a:off x="7967156" y="540973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3287206" y="5230352"/>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8327521" y="5230352"/>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4" name="フローチャート: 手作業 73"/>
          <p:cNvSpPr/>
          <p:nvPr/>
        </p:nvSpPr>
        <p:spPr bwMode="auto">
          <a:xfrm rot="16200000">
            <a:off x="4250983" y="5275454"/>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75" name="Freeform 10"/>
          <p:cNvSpPr>
            <a:spLocks/>
          </p:cNvSpPr>
          <p:nvPr/>
        </p:nvSpPr>
        <p:spPr bwMode="auto">
          <a:xfrm>
            <a:off x="4205979" y="5050452"/>
            <a:ext cx="180002" cy="18000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6" name="フローチャート: 手作業 75"/>
          <p:cNvSpPr/>
          <p:nvPr/>
        </p:nvSpPr>
        <p:spPr bwMode="auto">
          <a:xfrm rot="16200000">
            <a:off x="6411007" y="5275454"/>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77" name="Freeform 10"/>
          <p:cNvSpPr>
            <a:spLocks/>
          </p:cNvSpPr>
          <p:nvPr/>
        </p:nvSpPr>
        <p:spPr bwMode="auto">
          <a:xfrm>
            <a:off x="6366003" y="4960453"/>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 name="Rectangle 3"/>
          <p:cNvSpPr txBox="1">
            <a:spLocks noChangeArrowheads="1"/>
          </p:cNvSpPr>
          <p:nvPr/>
        </p:nvSpPr>
        <p:spPr>
          <a:xfrm>
            <a:off x="2135956" y="1358979"/>
            <a:ext cx="8280620" cy="2070023"/>
          </a:xfrm>
          <a:prstGeom prst="rect">
            <a:avLst/>
          </a:prstGeom>
        </p:spPr>
        <p:txBody>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構造：</a:t>
            </a:r>
            <a:endParaRPr lang="en-US" altLang="ja-JP" kern="0" dirty="0"/>
          </a:p>
          <a:p>
            <a:pPr lvl="1"/>
            <a:r>
              <a:rPr lang="ja-JP" altLang="en-US" dirty="0"/>
              <a:t> </a:t>
            </a:r>
            <a:r>
              <a:rPr lang="en-US" altLang="ja-JP" dirty="0"/>
              <a:t>NOT </a:t>
            </a:r>
            <a:r>
              <a:rPr lang="ja-JP" altLang="en-US" dirty="0"/>
              <a:t>ゲートの</a:t>
            </a:r>
            <a:r>
              <a:rPr lang="ja-JP" altLang="en-US" kern="0" dirty="0"/>
              <a:t>ループを二段に接続</a:t>
            </a:r>
            <a:endParaRPr lang="en-US" altLang="ja-JP" kern="0" dirty="0"/>
          </a:p>
          <a:p>
            <a:pPr lvl="1"/>
            <a:r>
              <a:rPr lang="ja-JP" altLang="en-US" kern="0" dirty="0"/>
              <a:t>各ループにはマルチプレクサが入っている</a:t>
            </a:r>
            <a:endParaRPr lang="en-US" altLang="ja-JP" kern="0" dirty="0"/>
          </a:p>
          <a:p>
            <a:r>
              <a:rPr lang="ja-JP" altLang="en-US" kern="0" dirty="0"/>
              <a:t>この構造は，クロックのエッジで記憶を更新するため</a:t>
            </a:r>
            <a:endParaRPr lang="en-US" altLang="ja-JP" kern="0" dirty="0"/>
          </a:p>
        </p:txBody>
      </p:sp>
      <p:cxnSp>
        <p:nvCxnSpPr>
          <p:cNvPr id="79" name="直線矢印コネクタ 78"/>
          <p:cNvCxnSpPr/>
          <p:nvPr/>
        </p:nvCxnSpPr>
        <p:spPr bwMode="auto">
          <a:xfrm flipV="1">
            <a:off x="4475985" y="5589024"/>
            <a:ext cx="1" cy="360004"/>
          </a:xfrm>
          <a:prstGeom prst="straightConnector1">
            <a:avLst/>
          </a:prstGeom>
          <a:noFill/>
          <a:ln w="9525" cap="flat" cmpd="sng" algn="ctr">
            <a:solidFill>
              <a:schemeClr val="tx1"/>
            </a:solidFill>
            <a:prstDash val="solid"/>
            <a:round/>
            <a:headEnd type="none" w="sm" len="sm"/>
            <a:tailEnd type="triangle"/>
          </a:ln>
          <a:effectLst/>
        </p:spPr>
      </p:cxnSp>
      <p:sp>
        <p:nvSpPr>
          <p:cNvPr id="80" name="正方形/長方形 79"/>
          <p:cNvSpPr/>
          <p:nvPr/>
        </p:nvSpPr>
        <p:spPr bwMode="auto">
          <a:xfrm>
            <a:off x="4295980" y="594902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rtlCol="0" anchor="ctr"/>
          <a:lstStyle/>
          <a:p>
            <a:pPr algn="ctr"/>
            <a:r>
              <a:rPr lang="en-US" altLang="ja-JP" dirty="0">
                <a:latin typeface="メイリオ" panose="020B0604030504040204" pitchFamily="50" charset="-128"/>
                <a:ea typeface="メイリオ" panose="020B0604030504040204" pitchFamily="50" charset="-128"/>
              </a:rPr>
              <a:t>clock</a:t>
            </a:r>
            <a:endParaRPr lang="ja-JP" altLang="en-US" dirty="0">
              <a:latin typeface="メイリオ" panose="020B0604030504040204" pitchFamily="50" charset="-128"/>
              <a:ea typeface="メイリオ" panose="020B0604030504040204" pitchFamily="50" charset="-128"/>
            </a:endParaRPr>
          </a:p>
        </p:txBody>
      </p:sp>
      <p:cxnSp>
        <p:nvCxnSpPr>
          <p:cNvPr id="82" name="直線矢印コネクタ 81"/>
          <p:cNvCxnSpPr/>
          <p:nvPr/>
        </p:nvCxnSpPr>
        <p:spPr bwMode="auto">
          <a:xfrm flipV="1">
            <a:off x="6636009" y="5589024"/>
            <a:ext cx="1" cy="360004"/>
          </a:xfrm>
          <a:prstGeom prst="straightConnector1">
            <a:avLst/>
          </a:prstGeom>
          <a:noFill/>
          <a:ln w="9525" cap="flat" cmpd="sng" algn="ctr">
            <a:solidFill>
              <a:schemeClr val="tx1"/>
            </a:solidFill>
            <a:prstDash val="solid"/>
            <a:round/>
            <a:headEnd type="none" w="sm" len="sm"/>
            <a:tailEnd type="triangle"/>
          </a:ln>
          <a:effectLst/>
        </p:spPr>
      </p:cxnSp>
      <p:sp>
        <p:nvSpPr>
          <p:cNvPr id="83" name="正方形/長方形 82"/>
          <p:cNvSpPr/>
          <p:nvPr/>
        </p:nvSpPr>
        <p:spPr bwMode="auto">
          <a:xfrm>
            <a:off x="6456004" y="594902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rtlCol="0" anchor="ctr"/>
          <a:lstStyle/>
          <a:p>
            <a:pPr algn="ctr"/>
            <a:r>
              <a:rPr lang="en-US" altLang="ja-JP" dirty="0">
                <a:latin typeface="メイリオ" panose="020B0604030504040204" pitchFamily="50" charset="-128"/>
                <a:ea typeface="メイリオ" panose="020B0604030504040204" pitchFamily="50" charset="-128"/>
              </a:rPr>
              <a:t>clock'</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81617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30</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の実現例</a:t>
            </a:r>
            <a:endParaRPr lang="en-US" altLang="ja-JP" dirty="0"/>
          </a:p>
        </p:txBody>
      </p:sp>
      <p:grpSp>
        <p:nvGrpSpPr>
          <p:cNvPr id="3" name="グループ化 2"/>
          <p:cNvGrpSpPr/>
          <p:nvPr/>
        </p:nvGrpSpPr>
        <p:grpSpPr>
          <a:xfrm>
            <a:off x="3395973" y="4779018"/>
            <a:ext cx="5400675" cy="1620223"/>
            <a:chOff x="1673205" y="1448415"/>
            <a:chExt cx="5400675" cy="1620223"/>
          </a:xfrm>
        </p:grpSpPr>
        <p:sp>
          <p:nvSpPr>
            <p:cNvPr id="700460" name="Freeform 44"/>
            <p:cNvSpPr>
              <a:spLocks/>
            </p:cNvSpPr>
            <p:nvPr/>
          </p:nvSpPr>
          <p:spPr bwMode="auto">
            <a:xfrm>
              <a:off x="2752705" y="1987550"/>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59" name="Freeform 43"/>
            <p:cNvSpPr>
              <a:spLocks/>
            </p:cNvSpPr>
            <p:nvPr/>
          </p:nvSpPr>
          <p:spPr bwMode="auto">
            <a:xfrm>
              <a:off x="4913292" y="1987550"/>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46" name="Picture 30" descr="NOT"/>
            <p:cNvPicPr>
              <a:picLocks noChangeAspect="1" noChangeArrowheads="1"/>
            </p:cNvPicPr>
            <p:nvPr/>
          </p:nvPicPr>
          <p:blipFill>
            <a:blip r:embed="rId3" cstate="print"/>
            <a:srcRect/>
            <a:stretch>
              <a:fillRect/>
            </a:stretch>
          </p:blipFill>
          <p:spPr bwMode="auto">
            <a:xfrm flipH="1">
              <a:off x="3113067" y="1627188"/>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3113067" y="2347913"/>
              <a:ext cx="717550" cy="720725"/>
            </a:xfrm>
            <a:prstGeom prst="rect">
              <a:avLst/>
            </a:prstGeom>
            <a:noFill/>
          </p:spPr>
        </p:pic>
        <p:pic>
          <p:nvPicPr>
            <p:cNvPr id="700448" name="Picture 32" descr="NOT"/>
            <p:cNvPicPr>
              <a:picLocks noChangeAspect="1" noChangeArrowheads="1"/>
            </p:cNvPicPr>
            <p:nvPr/>
          </p:nvPicPr>
          <p:blipFill>
            <a:blip r:embed="rId3" cstate="print"/>
            <a:srcRect/>
            <a:stretch>
              <a:fillRect/>
            </a:stretch>
          </p:blipFill>
          <p:spPr bwMode="auto">
            <a:xfrm flipH="1">
              <a:off x="5273655" y="1627188"/>
              <a:ext cx="717550" cy="720725"/>
            </a:xfrm>
            <a:prstGeom prst="rect">
              <a:avLst/>
            </a:prstGeom>
            <a:noFill/>
          </p:spPr>
        </p:pic>
        <p:pic>
          <p:nvPicPr>
            <p:cNvPr id="700449" name="Picture 33" descr="NOT"/>
            <p:cNvPicPr>
              <a:picLocks noChangeAspect="1" noChangeArrowheads="1"/>
            </p:cNvPicPr>
            <p:nvPr/>
          </p:nvPicPr>
          <p:blipFill>
            <a:blip r:embed="rId3" cstate="print"/>
            <a:srcRect/>
            <a:stretch>
              <a:fillRect/>
            </a:stretch>
          </p:blipFill>
          <p:spPr bwMode="auto">
            <a:xfrm>
              <a:off x="5273655" y="2347913"/>
              <a:ext cx="717550" cy="720725"/>
            </a:xfrm>
            <a:prstGeom prst="rect">
              <a:avLst/>
            </a:prstGeom>
            <a:noFill/>
          </p:spPr>
        </p:pic>
        <p:sp>
          <p:nvSpPr>
            <p:cNvPr id="700461" name="Line 45"/>
            <p:cNvSpPr>
              <a:spLocks noChangeShapeType="1"/>
            </p:cNvSpPr>
            <p:nvPr/>
          </p:nvSpPr>
          <p:spPr bwMode="auto">
            <a:xfrm>
              <a:off x="4192567" y="2708275"/>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53" name="Group 37"/>
            <p:cNvGrpSpPr>
              <a:grpSpLocks/>
            </p:cNvGrpSpPr>
            <p:nvPr/>
          </p:nvGrpSpPr>
          <p:grpSpPr bwMode="auto">
            <a:xfrm>
              <a:off x="4822805" y="2257425"/>
              <a:ext cx="180975" cy="180975"/>
              <a:chOff x="2823" y="1990"/>
              <a:chExt cx="227" cy="227"/>
            </a:xfrm>
          </p:grpSpPr>
          <p:sp>
            <p:nvSpPr>
              <p:cNvPr id="700454" name="Rectangle 3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5" name="Oval 3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56" name="Group 40"/>
            <p:cNvGrpSpPr>
              <a:grpSpLocks/>
            </p:cNvGrpSpPr>
            <p:nvPr/>
          </p:nvGrpSpPr>
          <p:grpSpPr bwMode="auto">
            <a:xfrm>
              <a:off x="4462442" y="2617788"/>
              <a:ext cx="180975" cy="180975"/>
              <a:chOff x="2823" y="1990"/>
              <a:chExt cx="227" cy="227"/>
            </a:xfrm>
          </p:grpSpPr>
          <p:sp>
            <p:nvSpPr>
              <p:cNvPr id="700457" name="Rectangle 4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8" name="Oval 4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62" name="Line 46"/>
            <p:cNvSpPr>
              <a:spLocks noChangeShapeType="1"/>
            </p:cNvSpPr>
            <p:nvPr/>
          </p:nvSpPr>
          <p:spPr bwMode="auto">
            <a:xfrm>
              <a:off x="2033567" y="2708275"/>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66" name="Group 50"/>
            <p:cNvGrpSpPr>
              <a:grpSpLocks/>
            </p:cNvGrpSpPr>
            <p:nvPr/>
          </p:nvGrpSpPr>
          <p:grpSpPr bwMode="auto">
            <a:xfrm>
              <a:off x="2663805" y="2257425"/>
              <a:ext cx="180975" cy="180975"/>
              <a:chOff x="2823" y="1990"/>
              <a:chExt cx="227" cy="227"/>
            </a:xfrm>
          </p:grpSpPr>
          <p:sp>
            <p:nvSpPr>
              <p:cNvPr id="700467" name="Rectangle 5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8" name="Oval 5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69" name="Group 53"/>
            <p:cNvGrpSpPr>
              <a:grpSpLocks/>
            </p:cNvGrpSpPr>
            <p:nvPr/>
          </p:nvGrpSpPr>
          <p:grpSpPr bwMode="auto">
            <a:xfrm>
              <a:off x="2303442" y="2617788"/>
              <a:ext cx="180975" cy="180975"/>
              <a:chOff x="2823" y="1990"/>
              <a:chExt cx="227" cy="227"/>
            </a:xfrm>
          </p:grpSpPr>
          <p:sp>
            <p:nvSpPr>
              <p:cNvPr id="700470" name="Rectangle 54"/>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71" name="Oval 55"/>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2" name="Line 56"/>
            <p:cNvSpPr>
              <a:spLocks noChangeShapeType="1"/>
            </p:cNvSpPr>
            <p:nvPr/>
          </p:nvSpPr>
          <p:spPr bwMode="auto">
            <a:xfrm>
              <a:off x="6353155" y="2708275"/>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1673205" y="2528888"/>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6713517" y="2528888"/>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476" name="Line 60"/>
            <p:cNvSpPr>
              <a:spLocks noChangeShapeType="1"/>
            </p:cNvSpPr>
            <p:nvPr/>
          </p:nvSpPr>
          <p:spPr bwMode="auto">
            <a:xfrm flipH="1" flipV="1">
              <a:off x="2303442" y="2617788"/>
              <a:ext cx="449263" cy="90487"/>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63" name="Group 47"/>
            <p:cNvGrpSpPr>
              <a:grpSpLocks/>
            </p:cNvGrpSpPr>
            <p:nvPr/>
          </p:nvGrpSpPr>
          <p:grpSpPr bwMode="auto">
            <a:xfrm>
              <a:off x="2663805" y="2617788"/>
              <a:ext cx="180975" cy="180975"/>
              <a:chOff x="2823" y="1990"/>
              <a:chExt cx="227" cy="227"/>
            </a:xfrm>
          </p:grpSpPr>
          <p:sp>
            <p:nvSpPr>
              <p:cNvPr id="700464" name="Rectangle 4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5" name="Oval 4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7" name="Line 61"/>
            <p:cNvSpPr>
              <a:spLocks noChangeShapeType="1"/>
            </p:cNvSpPr>
            <p:nvPr/>
          </p:nvSpPr>
          <p:spPr bwMode="auto">
            <a:xfrm flipH="1" flipV="1">
              <a:off x="4822805" y="2257425"/>
              <a:ext cx="88900" cy="45085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52" name="Group 36"/>
            <p:cNvGrpSpPr>
              <a:grpSpLocks/>
            </p:cNvGrpSpPr>
            <p:nvPr/>
          </p:nvGrpSpPr>
          <p:grpSpPr bwMode="auto">
            <a:xfrm>
              <a:off x="4822805" y="2617788"/>
              <a:ext cx="180975" cy="180975"/>
              <a:chOff x="2823" y="1990"/>
              <a:chExt cx="227" cy="227"/>
            </a:xfrm>
          </p:grpSpPr>
          <p:sp>
            <p:nvSpPr>
              <p:cNvPr id="700451" name="Rectangle 35"/>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0" name="Oval 3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9" name="Rectangle 93"/>
            <p:cNvSpPr>
              <a:spLocks noChangeArrowheads="1"/>
            </p:cNvSpPr>
            <p:nvPr/>
          </p:nvSpPr>
          <p:spPr bwMode="auto">
            <a:xfrm>
              <a:off x="4013231" y="1448415"/>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0</a:t>
              </a:r>
            </a:p>
          </p:txBody>
        </p:sp>
      </p:grpSp>
      <p:grpSp>
        <p:nvGrpSpPr>
          <p:cNvPr id="5" name="グループ化 4"/>
          <p:cNvGrpSpPr/>
          <p:nvPr/>
        </p:nvGrpSpPr>
        <p:grpSpPr>
          <a:xfrm>
            <a:off x="3395973" y="2528990"/>
            <a:ext cx="5400675" cy="1621452"/>
            <a:chOff x="1673205" y="4328498"/>
            <a:chExt cx="5400675" cy="1621452"/>
          </a:xfrm>
        </p:grpSpPr>
        <p:sp>
          <p:nvSpPr>
            <p:cNvPr id="700478" name="Freeform 62"/>
            <p:cNvSpPr>
              <a:spLocks/>
            </p:cNvSpPr>
            <p:nvPr/>
          </p:nvSpPr>
          <p:spPr bwMode="auto">
            <a:xfrm>
              <a:off x="2752705" y="4868863"/>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4913292" y="4868863"/>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3113067" y="4508500"/>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3113067" y="5229225"/>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5273655" y="4508500"/>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5273655" y="5229225"/>
              <a:ext cx="717550" cy="720725"/>
            </a:xfrm>
            <a:prstGeom prst="rect">
              <a:avLst/>
            </a:prstGeom>
            <a:noFill/>
          </p:spPr>
        </p:pic>
        <p:sp>
          <p:nvSpPr>
            <p:cNvPr id="700484" name="Line 68"/>
            <p:cNvSpPr>
              <a:spLocks noChangeShapeType="1"/>
            </p:cNvSpPr>
            <p:nvPr/>
          </p:nvSpPr>
          <p:spPr bwMode="auto">
            <a:xfrm>
              <a:off x="4192567" y="5589588"/>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4822805" y="5138738"/>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4462442" y="5499100"/>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2033567" y="5589588"/>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2663805" y="5138738"/>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2303442" y="5499100"/>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6353155" y="5589588"/>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1673205" y="5410200"/>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6713517" y="5410200"/>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2662217" y="5140325"/>
              <a:ext cx="90488" cy="449263"/>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2663805" y="5499100"/>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4462442" y="5499100"/>
              <a:ext cx="449263" cy="90488"/>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4822805" y="5499100"/>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10" name="Rectangle 94"/>
            <p:cNvSpPr>
              <a:spLocks noChangeArrowheads="1"/>
            </p:cNvSpPr>
            <p:nvPr/>
          </p:nvSpPr>
          <p:spPr bwMode="auto">
            <a:xfrm>
              <a:off x="4013231" y="4328498"/>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1</a:t>
              </a:r>
            </a:p>
          </p:txBody>
        </p:sp>
      </p:grpSp>
      <p:grpSp>
        <p:nvGrpSpPr>
          <p:cNvPr id="700516" name="Group 100"/>
          <p:cNvGrpSpPr>
            <a:grpSpLocks/>
          </p:cNvGrpSpPr>
          <p:nvPr/>
        </p:nvGrpSpPr>
        <p:grpSpPr bwMode="auto">
          <a:xfrm>
            <a:off x="9786044" y="4689014"/>
            <a:ext cx="358775" cy="360362"/>
            <a:chOff x="159" y="2500"/>
            <a:chExt cx="226" cy="227"/>
          </a:xfrm>
        </p:grpSpPr>
        <p:sp>
          <p:nvSpPr>
            <p:cNvPr id="700511" name="Freeform 95"/>
            <p:cNvSpPr>
              <a:spLocks/>
            </p:cNvSpPr>
            <p:nvPr/>
          </p:nvSpPr>
          <p:spPr bwMode="auto">
            <a:xfrm>
              <a:off x="159" y="2500"/>
              <a:ext cx="113" cy="227"/>
            </a:xfrm>
            <a:custGeom>
              <a:avLst/>
              <a:gdLst/>
              <a:ahLst/>
              <a:cxnLst>
                <a:cxn ang="0">
                  <a:pos x="0" y="227"/>
                </a:cxn>
                <a:cxn ang="0">
                  <a:pos x="113" y="227"/>
                </a:cxn>
                <a:cxn ang="0">
                  <a:pos x="113" y="0"/>
                </a:cxn>
              </a:cxnLst>
              <a:rect l="0" t="0" r="r" b="b"/>
              <a:pathLst>
                <a:path w="113" h="227">
                  <a:moveTo>
                    <a:pt x="0" y="227"/>
                  </a:moveTo>
                  <a:lnTo>
                    <a:pt x="113" y="227"/>
                  </a:lnTo>
                  <a:lnTo>
                    <a:pt x="113" y="0"/>
                  </a:lnTo>
                </a:path>
              </a:pathLst>
            </a:custGeom>
            <a:noFill/>
            <a:ln w="9525"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p>
          </p:txBody>
        </p:sp>
        <p:sp>
          <p:nvSpPr>
            <p:cNvPr id="700512" name="Line 96"/>
            <p:cNvSpPr>
              <a:spLocks noChangeShapeType="1"/>
            </p:cNvSpPr>
            <p:nvPr/>
          </p:nvSpPr>
          <p:spPr bwMode="auto">
            <a:xfrm>
              <a:off x="272" y="2500"/>
              <a:ext cx="113"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grpSp>
      <p:sp>
        <p:nvSpPr>
          <p:cNvPr id="700513" name="Freeform 97"/>
          <p:cNvSpPr>
            <a:spLocks/>
          </p:cNvSpPr>
          <p:nvPr/>
        </p:nvSpPr>
        <p:spPr bwMode="auto">
          <a:xfrm flipV="1">
            <a:off x="2225957" y="4869019"/>
            <a:ext cx="360362" cy="360363"/>
          </a:xfrm>
          <a:custGeom>
            <a:avLst/>
            <a:gdLst/>
            <a:ahLst/>
            <a:cxnLst>
              <a:cxn ang="0">
                <a:pos x="0" y="227"/>
              </a:cxn>
              <a:cxn ang="0">
                <a:pos x="114" y="227"/>
              </a:cxn>
              <a:cxn ang="0">
                <a:pos x="114" y="0"/>
              </a:cxn>
              <a:cxn ang="0">
                <a:pos x="227" y="0"/>
              </a:cxn>
            </a:cxnLst>
            <a:rect l="0" t="0" r="r" b="b"/>
            <a:pathLst>
              <a:path w="227" h="227">
                <a:moveTo>
                  <a:pt x="0" y="227"/>
                </a:moveTo>
                <a:lnTo>
                  <a:pt x="114" y="227"/>
                </a:lnTo>
                <a:lnTo>
                  <a:pt x="114" y="0"/>
                </a:lnTo>
                <a:lnTo>
                  <a:pt x="227" y="0"/>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514" name="AutoShape 98"/>
          <p:cNvSpPr>
            <a:spLocks noChangeArrowheads="1"/>
          </p:cNvSpPr>
          <p:nvPr/>
        </p:nvSpPr>
        <p:spPr bwMode="auto">
          <a:xfrm>
            <a:off x="2855964" y="4149011"/>
            <a:ext cx="539750" cy="1709737"/>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00515" name="AutoShape 99"/>
          <p:cNvSpPr>
            <a:spLocks noChangeArrowheads="1"/>
          </p:cNvSpPr>
          <p:nvPr/>
        </p:nvSpPr>
        <p:spPr bwMode="auto">
          <a:xfrm rot="-10800000">
            <a:off x="8976032" y="4059007"/>
            <a:ext cx="539750" cy="1709738"/>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5" name="Rectangle 5"/>
          <p:cNvSpPr txBox="1">
            <a:spLocks noChangeArrowheads="1"/>
          </p:cNvSpPr>
          <p:nvPr/>
        </p:nvSpPr>
        <p:spPr>
          <a:xfrm>
            <a:off x="2225960" y="1358977"/>
            <a:ext cx="8281219" cy="630844"/>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マルチプレクサを，切り替えスイッチとして説明</a:t>
            </a:r>
          </a:p>
          <a:p>
            <a:pPr lvl="1"/>
            <a:r>
              <a:rPr lang="ja-JP" altLang="en-US" kern="0" dirty="0"/>
              <a:t>クロックの立ち上がりのたびに，</a:t>
            </a:r>
            <a:r>
              <a:rPr lang="en-US" altLang="ja-JP" i="1" kern="0" dirty="0"/>
              <a:t>d</a:t>
            </a:r>
            <a:r>
              <a:rPr lang="ja-JP" altLang="en-US" kern="0" dirty="0"/>
              <a:t> の値がサンプリングされる</a:t>
            </a:r>
            <a:endParaRPr lang="en-US" altLang="ja-JP" kern="0" dirty="0"/>
          </a:p>
          <a:p>
            <a:pPr lvl="1"/>
            <a:r>
              <a:rPr lang="ja-JP" altLang="en-US" kern="0" dirty="0"/>
              <a:t>その値が次のサイクルの間 </a:t>
            </a:r>
            <a:r>
              <a:rPr lang="en-US" altLang="ja-JP" i="1" kern="0" dirty="0"/>
              <a:t>q</a:t>
            </a:r>
            <a:r>
              <a:rPr lang="ja-JP" altLang="en-US" kern="0" dirty="0"/>
              <a:t> から出力される</a:t>
            </a:r>
            <a:endParaRPr lang="en-US" altLang="ja-JP" kern="0" dirty="0"/>
          </a:p>
        </p:txBody>
      </p:sp>
      <p:sp>
        <p:nvSpPr>
          <p:cNvPr id="77" name="Rectangle 93"/>
          <p:cNvSpPr>
            <a:spLocks noChangeArrowheads="1"/>
          </p:cNvSpPr>
          <p:nvPr/>
        </p:nvSpPr>
        <p:spPr bwMode="auto">
          <a:xfrm>
            <a:off x="8886034" y="3609002"/>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立ち上がり</a:t>
            </a:r>
            <a:endParaRPr lang="en-US" altLang="ja-JP" dirty="0"/>
          </a:p>
        </p:txBody>
      </p:sp>
      <p:sp>
        <p:nvSpPr>
          <p:cNvPr id="78" name="Rectangle 93"/>
          <p:cNvSpPr>
            <a:spLocks noChangeArrowheads="1"/>
          </p:cNvSpPr>
          <p:nvPr/>
        </p:nvSpPr>
        <p:spPr bwMode="auto">
          <a:xfrm>
            <a:off x="1865956" y="5859027"/>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立ち下がり</a:t>
            </a:r>
            <a:endParaRPr lang="en-US" altLang="ja-JP" dirty="0"/>
          </a:p>
        </p:txBody>
      </p:sp>
    </p:spTree>
    <p:extLst>
      <p:ext uri="{BB962C8B-B14F-4D97-AF65-F5344CB8AC3E}">
        <p14:creationId xmlns:p14="http://schemas.microsoft.com/office/powerpoint/2010/main" val="1315682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順序回路のまとめ</a:t>
            </a:r>
          </a:p>
        </p:txBody>
      </p:sp>
      <p:sp>
        <p:nvSpPr>
          <p:cNvPr id="3" name="テキスト プレースホルダー 2"/>
          <p:cNvSpPr>
            <a:spLocks noGrp="1"/>
          </p:cNvSpPr>
          <p:nvPr>
            <p:ph type="body" sz="quarter" idx="10"/>
          </p:nvPr>
        </p:nvSpPr>
        <p:spPr/>
        <p:txBody>
          <a:bodyPr/>
          <a:lstStyle/>
          <a:p>
            <a:r>
              <a:rPr kumimoji="1" lang="ja-JP" altLang="en-US" dirty="0"/>
              <a:t>記憶素子も，</a:t>
            </a:r>
            <a:r>
              <a:rPr lang="ja-JP" altLang="en-US" dirty="0"/>
              <a:t> </a:t>
            </a:r>
            <a:r>
              <a:rPr lang="en-US" altLang="ja-JP" dirty="0"/>
              <a:t>NOT </a:t>
            </a:r>
            <a:r>
              <a:rPr lang="ja-JP" altLang="en-US" dirty="0"/>
              <a:t>ゲート</a:t>
            </a:r>
            <a:r>
              <a:rPr kumimoji="1" lang="ja-JP" altLang="en-US" dirty="0"/>
              <a:t>などの論理ゲートで構成される</a:t>
            </a:r>
            <a:endParaRPr kumimoji="1" lang="en-US" altLang="ja-JP" dirty="0"/>
          </a:p>
          <a:p>
            <a:r>
              <a:rPr kumimoji="1" lang="ja-JP" altLang="en-US" dirty="0"/>
              <a:t>結果として，任意の組み合わせ回路</a:t>
            </a:r>
            <a:r>
              <a:rPr kumimoji="1" lang="en-US" altLang="ja-JP" dirty="0"/>
              <a:t>/</a:t>
            </a:r>
            <a:r>
              <a:rPr kumimoji="1" lang="ja-JP" altLang="en-US" dirty="0"/>
              <a:t>順序回路は</a:t>
            </a:r>
            <a:endParaRPr kumimoji="1" lang="en-US" altLang="ja-JP" dirty="0"/>
          </a:p>
          <a:p>
            <a:pPr lvl="1"/>
            <a:r>
              <a:rPr lang="ja-JP" altLang="en-US" dirty="0"/>
              <a:t>原理的には，完全集合の要素の組み合わせに落とし込める</a:t>
            </a:r>
            <a:endParaRPr lang="en-US" altLang="ja-JP" dirty="0"/>
          </a:p>
          <a:p>
            <a:pPr lvl="1"/>
            <a:r>
              <a:rPr kumimoji="1" lang="ja-JP" altLang="en-US" dirty="0"/>
              <a:t>たとえば </a:t>
            </a:r>
            <a:r>
              <a:rPr kumimoji="1" lang="en-US" altLang="ja-JP" dirty="0"/>
              <a:t>{AND, OR, NOT} </a:t>
            </a:r>
            <a:r>
              <a:rPr kumimoji="1" lang="ja-JP" altLang="en-US" dirty="0"/>
              <a:t>を組み合わせれば，全部つくれる</a:t>
            </a:r>
            <a:endParaRPr kumimoji="1" lang="en-US" altLang="ja-JP" dirty="0"/>
          </a:p>
          <a:p>
            <a:r>
              <a:rPr kumimoji="1" lang="ja-JP" altLang="en-US" dirty="0"/>
              <a:t>これまでに説明した </a:t>
            </a:r>
            <a:r>
              <a:rPr kumimoji="1" lang="en-US" altLang="ja-JP" dirty="0"/>
              <a:t>CPU </a:t>
            </a:r>
            <a:r>
              <a:rPr kumimoji="1" lang="ja-JP" altLang="en-US" dirty="0"/>
              <a:t>の要素は，全てこれでカバー可能</a:t>
            </a:r>
          </a:p>
        </p:txBody>
      </p:sp>
    </p:spTree>
    <p:extLst>
      <p:ext uri="{BB962C8B-B14F-4D97-AF65-F5344CB8AC3E}">
        <p14:creationId xmlns:p14="http://schemas.microsoft.com/office/powerpoint/2010/main" val="7121031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実際の回路生成</a:t>
            </a:r>
            <a:endParaRPr lang="ja-JP" altLang="en-US" dirty="0"/>
          </a:p>
        </p:txBody>
      </p:sp>
      <p:sp>
        <p:nvSpPr>
          <p:cNvPr id="8" name="テキスト プレースホルダー 7"/>
          <p:cNvSpPr>
            <a:spLocks noGrp="1"/>
          </p:cNvSpPr>
          <p:nvPr>
            <p:ph type="body" sz="quarter" idx="10"/>
          </p:nvPr>
        </p:nvSpPr>
        <p:spPr>
          <a:xfrm>
            <a:off x="1865956" y="2888997"/>
            <a:ext cx="8550095" cy="3599733"/>
          </a:xfrm>
        </p:spPr>
        <p:txBody>
          <a:bodyPr/>
          <a:lstStyle/>
          <a:p>
            <a:pPr marL="457200" indent="-457200">
              <a:buFont typeface="+mj-lt"/>
              <a:buAutoNum type="arabicPeriod"/>
            </a:pPr>
            <a:r>
              <a:rPr kumimoji="1" lang="ja-JP" altLang="en-US" dirty="0"/>
              <a:t>ハードウェア記述言語から，論理関数を生成：</a:t>
            </a:r>
            <a:endParaRPr kumimoji="1" lang="en-US" altLang="ja-JP" dirty="0"/>
          </a:p>
          <a:p>
            <a:pPr lvl="1"/>
            <a:r>
              <a:rPr kumimoji="1" lang="ja-JP" altLang="en-US" dirty="0"/>
              <a:t>ナイーブには，入力の全パターンに対して出力を記録した真理値表</a:t>
            </a:r>
            <a:endParaRPr kumimoji="1" lang="en-US" altLang="ja-JP" dirty="0"/>
          </a:p>
          <a:p>
            <a:pPr lvl="2"/>
            <a:r>
              <a:rPr kumimoji="1" lang="ja-JP" altLang="en-US" dirty="0"/>
              <a:t>実際には表のサイズが爆発して，真理値表ではすぐに破綻</a:t>
            </a:r>
            <a:endParaRPr kumimoji="1" lang="en-US" altLang="ja-JP" dirty="0"/>
          </a:p>
          <a:p>
            <a:pPr lvl="2"/>
            <a:r>
              <a:rPr kumimoji="1" lang="ja-JP" altLang="en-US" dirty="0"/>
              <a:t>表のサイズ </a:t>
            </a:r>
            <a:r>
              <a:rPr kumimoji="1" lang="en-US" altLang="ja-JP" dirty="0"/>
              <a:t>= 2 </a:t>
            </a:r>
            <a:r>
              <a:rPr kumimoji="1" lang="ja-JP" altLang="en-US" dirty="0"/>
              <a:t>の入力ビット数乗</a:t>
            </a:r>
            <a:endParaRPr kumimoji="1" lang="en-US" altLang="ja-JP" dirty="0"/>
          </a:p>
          <a:p>
            <a:pPr lvl="1"/>
            <a:r>
              <a:rPr kumimoji="1" lang="ja-JP" altLang="en-US" dirty="0"/>
              <a:t>さまざまな効率的な保持方法が提案されており，使用されている</a:t>
            </a:r>
            <a:endParaRPr kumimoji="1" lang="en-US" altLang="ja-JP" dirty="0"/>
          </a:p>
          <a:p>
            <a:pPr lvl="2"/>
            <a:r>
              <a:rPr lang="en-US" altLang="ja-JP" dirty="0"/>
              <a:t>Binary Decision Diagram (BDD)</a:t>
            </a:r>
          </a:p>
        </p:txBody>
      </p:sp>
      <p:sp>
        <p:nvSpPr>
          <p:cNvPr id="9" name="正方形/長方形 8"/>
          <p:cNvSpPr/>
          <p:nvPr/>
        </p:nvSpPr>
        <p:spPr bwMode="auto">
          <a:xfrm>
            <a:off x="5015988" y="1538982"/>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out =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out =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out =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Tree>
    <p:extLst>
      <p:ext uri="{BB962C8B-B14F-4D97-AF65-F5344CB8AC3E}">
        <p14:creationId xmlns:p14="http://schemas.microsoft.com/office/powerpoint/2010/main" val="30641993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実際の回路生成</a:t>
            </a:r>
            <a:endParaRPr lang="ja-JP" altLang="en-US" dirty="0"/>
          </a:p>
        </p:txBody>
      </p:sp>
      <p:sp>
        <p:nvSpPr>
          <p:cNvPr id="8" name="テキスト プレースホルダー 7"/>
          <p:cNvSpPr>
            <a:spLocks noGrp="1"/>
          </p:cNvSpPr>
          <p:nvPr>
            <p:ph type="body" sz="quarter" idx="10"/>
          </p:nvPr>
        </p:nvSpPr>
        <p:spPr>
          <a:xfrm>
            <a:off x="2135956" y="1268979"/>
            <a:ext cx="8280092" cy="5219751"/>
          </a:xfrm>
        </p:spPr>
        <p:txBody>
          <a:bodyPr/>
          <a:lstStyle/>
          <a:p>
            <a:pPr marL="457200" indent="-457200">
              <a:buFont typeface="+mj-lt"/>
              <a:buAutoNum type="arabicPeriod"/>
            </a:pPr>
            <a:r>
              <a:rPr kumimoji="1" lang="ja-JP" altLang="en-US" dirty="0"/>
              <a:t>論理合成：</a:t>
            </a:r>
            <a:endParaRPr kumimoji="1" lang="en-US" altLang="ja-JP" dirty="0"/>
          </a:p>
          <a:p>
            <a:pPr marL="817200" lvl="1" indent="-457200">
              <a:buFont typeface="+mj-lt"/>
              <a:buAutoNum type="arabicPeriod"/>
            </a:pPr>
            <a:r>
              <a:rPr kumimoji="1" lang="ja-JP" altLang="en-US" dirty="0"/>
              <a:t>ハードウェア記述言語から，論理関数を生成</a:t>
            </a:r>
            <a:endParaRPr kumimoji="1" lang="en-US" altLang="ja-JP" dirty="0"/>
          </a:p>
          <a:p>
            <a:pPr marL="817200" lvl="1" indent="-457200">
              <a:buFont typeface="+mj-lt"/>
              <a:buAutoNum type="arabicPeriod"/>
            </a:pPr>
            <a:r>
              <a:rPr kumimoji="1" lang="ja-JP" altLang="en-US" dirty="0"/>
              <a:t>生成された論理関数を最適化</a:t>
            </a:r>
            <a:endParaRPr kumimoji="1" lang="en-US" altLang="ja-JP" dirty="0"/>
          </a:p>
          <a:p>
            <a:pPr lvl="2"/>
            <a:r>
              <a:rPr kumimoji="1" lang="ja-JP" altLang="en-US" dirty="0"/>
              <a:t>カルノー図：４入力ぐらいが限界</a:t>
            </a:r>
            <a:endParaRPr kumimoji="1" lang="en-US" altLang="ja-JP" dirty="0"/>
          </a:p>
          <a:p>
            <a:pPr lvl="2"/>
            <a:r>
              <a:rPr kumimoji="1" lang="ja-JP" altLang="en-US" dirty="0"/>
              <a:t>クワイン・マクラスキー法：</a:t>
            </a:r>
            <a:r>
              <a:rPr lang="ja-JP" altLang="en-US" dirty="0"/>
              <a:t>入力数が増えると計算量が爆発</a:t>
            </a:r>
            <a:endParaRPr kumimoji="1" lang="en-US" altLang="ja-JP" dirty="0"/>
          </a:p>
          <a:p>
            <a:pPr lvl="2"/>
            <a:r>
              <a:rPr kumimoji="1" lang="ja-JP" altLang="en-US" dirty="0"/>
              <a:t>さまざまな最適化アルゴリズムが提案・使用されている</a:t>
            </a:r>
            <a:endParaRPr kumimoji="1" lang="en-US" altLang="ja-JP" dirty="0"/>
          </a:p>
          <a:p>
            <a:pPr marL="817200" lvl="1" indent="-457200">
              <a:buFont typeface="+mj-lt"/>
              <a:buAutoNum type="arabicPeriod"/>
            </a:pPr>
            <a:r>
              <a:rPr lang="ja-JP" altLang="en-US" dirty="0"/>
              <a:t>回路のプリミティブと接続関係を生成</a:t>
            </a:r>
            <a:endParaRPr lang="en-US" altLang="ja-JP" dirty="0"/>
          </a:p>
          <a:p>
            <a:pPr lvl="2"/>
            <a:r>
              <a:rPr lang="en-US" altLang="ja-JP" dirty="0"/>
              <a:t>AND, OR, NOT, D-FF </a:t>
            </a:r>
            <a:r>
              <a:rPr lang="ja-JP" altLang="en-US" dirty="0"/>
              <a:t>を始めとして，よく現れる回路の部品が用意される</a:t>
            </a:r>
            <a:endParaRPr kumimoji="1" lang="en-US" altLang="ja-JP" dirty="0"/>
          </a:p>
          <a:p>
            <a:pPr marL="457200" indent="-457200">
              <a:buFont typeface="+mj-lt"/>
              <a:buAutoNum type="arabicPeriod"/>
            </a:pPr>
            <a:r>
              <a:rPr lang="ja-JP" altLang="en-US" dirty="0"/>
              <a:t>配置・配線：</a:t>
            </a:r>
            <a:endParaRPr lang="en-US" altLang="ja-JP" dirty="0"/>
          </a:p>
          <a:p>
            <a:pPr marL="817200" lvl="1" indent="-457200">
              <a:buFont typeface="+mj-lt"/>
              <a:buAutoNum type="arabicPeriod"/>
            </a:pPr>
            <a:r>
              <a:rPr kumimoji="1" lang="ja-JP" altLang="en-US" dirty="0"/>
              <a:t>回路のプリミティブを配置・配線</a:t>
            </a:r>
            <a:endParaRPr kumimoji="1" lang="en-US" altLang="ja-JP" dirty="0"/>
          </a:p>
        </p:txBody>
      </p:sp>
    </p:spTree>
    <p:extLst>
      <p:ext uri="{BB962C8B-B14F-4D97-AF65-F5344CB8AC3E}">
        <p14:creationId xmlns:p14="http://schemas.microsoft.com/office/powerpoint/2010/main" val="2176222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スタンダード・セル</a:t>
            </a:r>
          </a:p>
        </p:txBody>
      </p:sp>
      <p:sp>
        <p:nvSpPr>
          <p:cNvPr id="3" name="テキスト プレースホルダー 2"/>
          <p:cNvSpPr>
            <a:spLocks noGrp="1"/>
          </p:cNvSpPr>
          <p:nvPr>
            <p:ph type="body" sz="quarter" idx="10"/>
          </p:nvPr>
        </p:nvSpPr>
        <p:spPr>
          <a:xfrm>
            <a:off x="1775952" y="4869019"/>
            <a:ext cx="8640096" cy="1439709"/>
          </a:xfrm>
        </p:spPr>
        <p:txBody>
          <a:bodyPr/>
          <a:lstStyle/>
          <a:p>
            <a:r>
              <a:rPr kumimoji="1" lang="ja-JP" altLang="en-US" dirty="0"/>
              <a:t>スタンダード・セル：</a:t>
            </a:r>
            <a:endParaRPr kumimoji="1" lang="en-US" altLang="ja-JP" dirty="0"/>
          </a:p>
          <a:p>
            <a:pPr lvl="1"/>
            <a:r>
              <a:rPr lang="en-US" altLang="ja-JP" dirty="0"/>
              <a:t>AND </a:t>
            </a:r>
            <a:r>
              <a:rPr lang="ja-JP" altLang="en-US" dirty="0"/>
              <a:t>や </a:t>
            </a:r>
            <a:r>
              <a:rPr lang="en-US" altLang="ja-JP" dirty="0"/>
              <a:t>OR </a:t>
            </a:r>
            <a:r>
              <a:rPr lang="ja-JP" altLang="en-US" dirty="0" err="1"/>
              <a:t>のような</a:t>
            </a:r>
            <a:r>
              <a:rPr lang="ja-JP" altLang="en-US" dirty="0"/>
              <a:t>プリミティブとなる回路「セル」を用意</a:t>
            </a:r>
            <a:endParaRPr lang="en-US" altLang="ja-JP" dirty="0"/>
          </a:p>
          <a:p>
            <a:pPr lvl="2"/>
            <a:r>
              <a:rPr lang="ja-JP" altLang="en-US" dirty="0"/>
              <a:t>高さを幅を揃えておいて，簡単に並べられるように作ってある</a:t>
            </a:r>
          </a:p>
          <a:p>
            <a:pPr lvl="1"/>
            <a:r>
              <a:rPr kumimoji="1" lang="ja-JP" altLang="en-US" dirty="0"/>
              <a:t>これらを配置して，配線を接続することにより回路を実現</a:t>
            </a:r>
            <a:endParaRPr kumimoji="1" lang="en-US" altLang="ja-JP" dirty="0"/>
          </a:p>
          <a:p>
            <a:pPr lvl="2"/>
            <a:r>
              <a:rPr kumimoji="1" lang="ja-JP" altLang="en-US" dirty="0"/>
              <a:t>配置配線という</a:t>
            </a:r>
            <a:endParaRPr kumimoji="1" lang="en-US" altLang="ja-JP" dirty="0"/>
          </a:p>
        </p:txBody>
      </p:sp>
      <p:sp>
        <p:nvSpPr>
          <p:cNvPr id="4" name="正方形/長方形 3"/>
          <p:cNvSpPr/>
          <p:nvPr/>
        </p:nvSpPr>
        <p:spPr bwMode="auto">
          <a:xfrm>
            <a:off x="3485974" y="1088974"/>
            <a:ext cx="4770053" cy="360004"/>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VDD</a:t>
            </a:r>
            <a:endParaRPr lang="ja-JP" altLang="en-US" dirty="0">
              <a:solidFill>
                <a:schemeClr val="tx1">
                  <a:lumMod val="75000"/>
                  <a:lumOff val="25000"/>
                </a:schemeClr>
              </a:solidFill>
              <a:latin typeface="+mn-ea"/>
            </a:endParaRPr>
          </a:p>
        </p:txBody>
      </p:sp>
      <p:sp>
        <p:nvSpPr>
          <p:cNvPr id="7" name="正方形/長方形 6"/>
          <p:cNvSpPr/>
          <p:nvPr/>
        </p:nvSpPr>
        <p:spPr bwMode="auto">
          <a:xfrm>
            <a:off x="3935979" y="1448978"/>
            <a:ext cx="630007"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AND</a:t>
            </a:r>
            <a:endParaRPr lang="ja-JP" altLang="en-US" dirty="0">
              <a:solidFill>
                <a:schemeClr val="tx1">
                  <a:lumMod val="75000"/>
                  <a:lumOff val="25000"/>
                </a:schemeClr>
              </a:solidFill>
              <a:latin typeface="+mn-ea"/>
            </a:endParaRPr>
          </a:p>
        </p:txBody>
      </p:sp>
      <p:sp>
        <p:nvSpPr>
          <p:cNvPr id="8" name="正方形/長方形 7"/>
          <p:cNvSpPr/>
          <p:nvPr/>
        </p:nvSpPr>
        <p:spPr bwMode="auto">
          <a:xfrm>
            <a:off x="4565986" y="1448978"/>
            <a:ext cx="630007"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OR</a:t>
            </a:r>
            <a:endParaRPr lang="ja-JP" altLang="en-US" dirty="0">
              <a:solidFill>
                <a:schemeClr val="tx1">
                  <a:lumMod val="75000"/>
                  <a:lumOff val="25000"/>
                </a:schemeClr>
              </a:solidFill>
              <a:latin typeface="+mn-ea"/>
            </a:endParaRPr>
          </a:p>
        </p:txBody>
      </p:sp>
      <p:sp>
        <p:nvSpPr>
          <p:cNvPr id="9" name="正方形/長方形 8"/>
          <p:cNvSpPr/>
          <p:nvPr/>
        </p:nvSpPr>
        <p:spPr bwMode="auto">
          <a:xfrm>
            <a:off x="5195993" y="1448978"/>
            <a:ext cx="630007"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AND</a:t>
            </a:r>
            <a:endParaRPr lang="ja-JP" altLang="en-US" dirty="0">
              <a:solidFill>
                <a:schemeClr val="tx1">
                  <a:lumMod val="75000"/>
                  <a:lumOff val="25000"/>
                </a:schemeClr>
              </a:solidFill>
              <a:latin typeface="+mn-ea"/>
            </a:endParaRPr>
          </a:p>
        </p:txBody>
      </p:sp>
      <p:sp>
        <p:nvSpPr>
          <p:cNvPr id="10" name="正方形/長方形 9"/>
          <p:cNvSpPr/>
          <p:nvPr/>
        </p:nvSpPr>
        <p:spPr bwMode="auto">
          <a:xfrm>
            <a:off x="5826000" y="1448978"/>
            <a:ext cx="630007"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OR</a:t>
            </a:r>
            <a:endParaRPr lang="ja-JP" altLang="en-US" dirty="0">
              <a:solidFill>
                <a:schemeClr val="tx1">
                  <a:lumMod val="75000"/>
                  <a:lumOff val="25000"/>
                </a:schemeClr>
              </a:solidFill>
              <a:latin typeface="+mn-ea"/>
            </a:endParaRPr>
          </a:p>
        </p:txBody>
      </p:sp>
      <p:sp>
        <p:nvSpPr>
          <p:cNvPr id="11" name="正方形/長方形 10"/>
          <p:cNvSpPr/>
          <p:nvPr/>
        </p:nvSpPr>
        <p:spPr bwMode="auto">
          <a:xfrm>
            <a:off x="6456004" y="1448978"/>
            <a:ext cx="1440016"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D-FF</a:t>
            </a:r>
            <a:endParaRPr lang="ja-JP" altLang="en-US" dirty="0">
              <a:solidFill>
                <a:schemeClr val="tx1">
                  <a:lumMod val="75000"/>
                  <a:lumOff val="25000"/>
                </a:schemeClr>
              </a:solidFill>
              <a:latin typeface="+mn-ea"/>
            </a:endParaRPr>
          </a:p>
        </p:txBody>
      </p:sp>
      <p:sp>
        <p:nvSpPr>
          <p:cNvPr id="5" name="正方形/長方形 4"/>
          <p:cNvSpPr/>
          <p:nvPr/>
        </p:nvSpPr>
        <p:spPr bwMode="auto">
          <a:xfrm>
            <a:off x="3485974" y="2528990"/>
            <a:ext cx="4770053" cy="360004"/>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GND</a:t>
            </a:r>
            <a:endParaRPr lang="ja-JP" altLang="en-US" dirty="0">
              <a:solidFill>
                <a:schemeClr val="tx1">
                  <a:lumMod val="75000"/>
                  <a:lumOff val="25000"/>
                </a:schemeClr>
              </a:solidFill>
              <a:latin typeface="+mn-ea"/>
            </a:endParaRPr>
          </a:p>
        </p:txBody>
      </p:sp>
      <p:sp>
        <p:nvSpPr>
          <p:cNvPr id="12" name="正方形/長方形 11"/>
          <p:cNvSpPr/>
          <p:nvPr/>
        </p:nvSpPr>
        <p:spPr bwMode="auto">
          <a:xfrm>
            <a:off x="5375995" y="2888994"/>
            <a:ext cx="630007"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NOT</a:t>
            </a:r>
            <a:endParaRPr lang="ja-JP" altLang="en-US" dirty="0">
              <a:solidFill>
                <a:schemeClr val="tx1">
                  <a:lumMod val="75000"/>
                  <a:lumOff val="25000"/>
                </a:schemeClr>
              </a:solidFill>
              <a:latin typeface="+mn-ea"/>
            </a:endParaRPr>
          </a:p>
        </p:txBody>
      </p:sp>
      <p:sp>
        <p:nvSpPr>
          <p:cNvPr id="13" name="正方形/長方形 12"/>
          <p:cNvSpPr/>
          <p:nvPr/>
        </p:nvSpPr>
        <p:spPr bwMode="auto">
          <a:xfrm>
            <a:off x="6006002" y="2888994"/>
            <a:ext cx="630007"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NOT</a:t>
            </a:r>
            <a:endParaRPr lang="ja-JP" altLang="en-US" dirty="0">
              <a:solidFill>
                <a:schemeClr val="tx1">
                  <a:lumMod val="75000"/>
                  <a:lumOff val="25000"/>
                </a:schemeClr>
              </a:solidFill>
              <a:latin typeface="+mn-ea"/>
            </a:endParaRPr>
          </a:p>
        </p:txBody>
      </p:sp>
      <p:sp>
        <p:nvSpPr>
          <p:cNvPr id="14" name="正方形/長方形 13"/>
          <p:cNvSpPr/>
          <p:nvPr/>
        </p:nvSpPr>
        <p:spPr bwMode="auto">
          <a:xfrm>
            <a:off x="6636009" y="2888994"/>
            <a:ext cx="630007"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AND</a:t>
            </a:r>
            <a:endParaRPr lang="ja-JP" altLang="en-US" dirty="0">
              <a:solidFill>
                <a:schemeClr val="tx1">
                  <a:lumMod val="75000"/>
                  <a:lumOff val="25000"/>
                </a:schemeClr>
              </a:solidFill>
              <a:latin typeface="+mn-ea"/>
            </a:endParaRPr>
          </a:p>
        </p:txBody>
      </p:sp>
      <p:sp>
        <p:nvSpPr>
          <p:cNvPr id="15" name="正方形/長方形 14"/>
          <p:cNvSpPr/>
          <p:nvPr/>
        </p:nvSpPr>
        <p:spPr bwMode="auto">
          <a:xfrm>
            <a:off x="7266016" y="2888994"/>
            <a:ext cx="630007"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OR</a:t>
            </a:r>
            <a:endParaRPr lang="ja-JP" altLang="en-US" dirty="0">
              <a:solidFill>
                <a:schemeClr val="tx1">
                  <a:lumMod val="75000"/>
                  <a:lumOff val="25000"/>
                </a:schemeClr>
              </a:solidFill>
              <a:latin typeface="+mn-ea"/>
            </a:endParaRPr>
          </a:p>
        </p:txBody>
      </p:sp>
      <p:sp>
        <p:nvSpPr>
          <p:cNvPr id="16" name="正方形/長方形 15"/>
          <p:cNvSpPr/>
          <p:nvPr/>
        </p:nvSpPr>
        <p:spPr bwMode="auto">
          <a:xfrm>
            <a:off x="3935976" y="2888994"/>
            <a:ext cx="1440016" cy="108001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D-FF</a:t>
            </a:r>
            <a:endParaRPr lang="ja-JP" altLang="en-US" dirty="0">
              <a:solidFill>
                <a:schemeClr val="tx1">
                  <a:lumMod val="75000"/>
                  <a:lumOff val="25000"/>
                </a:schemeClr>
              </a:solidFill>
              <a:latin typeface="+mn-ea"/>
            </a:endParaRPr>
          </a:p>
        </p:txBody>
      </p:sp>
      <p:sp>
        <p:nvSpPr>
          <p:cNvPr id="6" name="正方形/長方形 5"/>
          <p:cNvSpPr/>
          <p:nvPr/>
        </p:nvSpPr>
        <p:spPr bwMode="auto">
          <a:xfrm>
            <a:off x="3485974" y="3969006"/>
            <a:ext cx="4770053" cy="360004"/>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VDD</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226675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フルカスタム・レイアウト</a:t>
            </a:r>
          </a:p>
        </p:txBody>
      </p:sp>
      <p:sp>
        <p:nvSpPr>
          <p:cNvPr id="3" name="テキスト プレースホルダー 2"/>
          <p:cNvSpPr>
            <a:spLocks noGrp="1"/>
          </p:cNvSpPr>
          <p:nvPr>
            <p:ph type="body" sz="quarter" idx="10"/>
          </p:nvPr>
        </p:nvSpPr>
        <p:spPr>
          <a:xfrm>
            <a:off x="2135956" y="3158997"/>
            <a:ext cx="8280092" cy="3329730"/>
          </a:xfrm>
        </p:spPr>
        <p:txBody>
          <a:bodyPr/>
          <a:lstStyle/>
          <a:p>
            <a:r>
              <a:rPr kumimoji="1" lang="ja-JP" altLang="en-US" dirty="0"/>
              <a:t>各スタンダード・セル（ゲート）は複数のトランジスタにより構成</a:t>
            </a:r>
            <a:endParaRPr kumimoji="1" lang="en-US" altLang="ja-JP" dirty="0"/>
          </a:p>
          <a:p>
            <a:r>
              <a:rPr kumimoji="1" lang="ja-JP" altLang="en-US" dirty="0"/>
              <a:t>フルカスタム・レイアウト：</a:t>
            </a:r>
            <a:endParaRPr kumimoji="1" lang="en-US" altLang="ja-JP" dirty="0"/>
          </a:p>
          <a:p>
            <a:pPr lvl="1"/>
            <a:r>
              <a:rPr kumimoji="1" lang="ja-JP" altLang="en-US" dirty="0"/>
              <a:t>半導体チップ上に１つ１つトランジスタをお絵かきして設計</a:t>
            </a:r>
            <a:endParaRPr kumimoji="1" lang="en-US" altLang="ja-JP" dirty="0"/>
          </a:p>
          <a:p>
            <a:pPr lvl="2"/>
            <a:r>
              <a:rPr kumimoji="1" lang="ja-JP" altLang="en-US" dirty="0"/>
              <a:t>形状が特定のパターンを満たすと，トランジスタとして機能</a:t>
            </a:r>
            <a:endParaRPr kumimoji="1" lang="en-US" altLang="ja-JP" dirty="0"/>
          </a:p>
          <a:p>
            <a:pPr lvl="1"/>
            <a:r>
              <a:rPr kumimoji="1" lang="ja-JP" altLang="en-US" dirty="0"/>
              <a:t>尋常じゃない手間がかかる</a:t>
            </a:r>
            <a:endParaRPr kumimoji="1" lang="en-US" altLang="ja-JP" dirty="0"/>
          </a:p>
          <a:p>
            <a:r>
              <a:rPr lang="ja-JP" altLang="en-US" dirty="0"/>
              <a:t>今はスタセルの中身と，本当に性能が出したい部分だけこれで作る</a:t>
            </a:r>
            <a:endParaRPr lang="en-US" altLang="ja-JP" dirty="0"/>
          </a:p>
          <a:p>
            <a:pPr lvl="1"/>
            <a:r>
              <a:rPr kumimoji="1" lang="ja-JP" altLang="en-US" dirty="0"/>
              <a:t>ごく一部だけアセンブリ言語でプログラムするようなもの</a:t>
            </a:r>
          </a:p>
        </p:txBody>
      </p:sp>
      <p:grpSp>
        <p:nvGrpSpPr>
          <p:cNvPr id="153" name="グループ化 152"/>
          <p:cNvGrpSpPr/>
          <p:nvPr/>
        </p:nvGrpSpPr>
        <p:grpSpPr>
          <a:xfrm>
            <a:off x="3755974" y="998973"/>
            <a:ext cx="4320664" cy="1980308"/>
            <a:chOff x="2231952" y="1088952"/>
            <a:chExt cx="5220696" cy="2520336"/>
          </a:xfrm>
        </p:grpSpPr>
        <p:sp>
          <p:nvSpPr>
            <p:cNvPr id="4" name="正方形/長方形 3"/>
            <p:cNvSpPr/>
            <p:nvPr/>
          </p:nvSpPr>
          <p:spPr>
            <a:xfrm rot="5400000">
              <a:off x="3402108" y="1358988"/>
              <a:ext cx="1080144" cy="540072"/>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正方形/長方形 4"/>
            <p:cNvSpPr/>
            <p:nvPr/>
          </p:nvSpPr>
          <p:spPr>
            <a:xfrm rot="5400000">
              <a:off x="4032192" y="1629024"/>
              <a:ext cx="1800240" cy="720096"/>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正方形/長方形 5"/>
            <p:cNvSpPr/>
            <p:nvPr/>
          </p:nvSpPr>
          <p:spPr>
            <a:xfrm rot="5400000">
              <a:off x="4414753" y="751417"/>
              <a:ext cx="180024" cy="175521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正方形/長方形 6"/>
            <p:cNvSpPr/>
            <p:nvPr/>
          </p:nvSpPr>
          <p:spPr>
            <a:xfrm rot="5400000">
              <a:off x="4819789" y="1921571"/>
              <a:ext cx="180024" cy="855097"/>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 name="正方形/長方形 7"/>
            <p:cNvSpPr/>
            <p:nvPr/>
          </p:nvSpPr>
          <p:spPr>
            <a:xfrm rot="5400000">
              <a:off x="2051928" y="2349120"/>
              <a:ext cx="1800240" cy="720096"/>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 name="正方形/長方形 8"/>
            <p:cNvSpPr/>
            <p:nvPr/>
          </p:nvSpPr>
          <p:spPr>
            <a:xfrm rot="5400000">
              <a:off x="3402108" y="2799180"/>
              <a:ext cx="1080144" cy="540072"/>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0" name="正方形/長方形 9"/>
            <p:cNvSpPr/>
            <p:nvPr/>
          </p:nvSpPr>
          <p:spPr>
            <a:xfrm rot="5400000">
              <a:off x="3289597" y="2191595"/>
              <a:ext cx="180024" cy="1755241"/>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 name="正方形/長方形 10"/>
            <p:cNvSpPr/>
            <p:nvPr/>
          </p:nvSpPr>
          <p:spPr>
            <a:xfrm rot="5400000">
              <a:off x="2884561" y="1921585"/>
              <a:ext cx="180024" cy="855069"/>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12" name="グループ化 11"/>
            <p:cNvGrpSpPr/>
            <p:nvPr/>
          </p:nvGrpSpPr>
          <p:grpSpPr>
            <a:xfrm>
              <a:off x="2862036" y="1899060"/>
              <a:ext cx="180024" cy="180024"/>
              <a:chOff x="3311832" y="2168832"/>
              <a:chExt cx="180024" cy="180024"/>
            </a:xfrm>
          </p:grpSpPr>
          <p:sp>
            <p:nvSpPr>
              <p:cNvPr id="13" name="正方形/長方形 1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4" name="直線コネクタ 1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6" name="グループ化 15"/>
            <p:cNvGrpSpPr/>
            <p:nvPr/>
          </p:nvGrpSpPr>
          <p:grpSpPr>
            <a:xfrm>
              <a:off x="2862036" y="2619156"/>
              <a:ext cx="180024" cy="180024"/>
              <a:chOff x="3311832" y="2168832"/>
              <a:chExt cx="180024" cy="180024"/>
            </a:xfrm>
          </p:grpSpPr>
          <p:sp>
            <p:nvSpPr>
              <p:cNvPr id="17" name="正方形/長方形 16"/>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8" name="直線コネクタ 17"/>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20" name="グループ化 19"/>
            <p:cNvGrpSpPr/>
            <p:nvPr/>
          </p:nvGrpSpPr>
          <p:grpSpPr>
            <a:xfrm>
              <a:off x="2862036" y="3339252"/>
              <a:ext cx="180024" cy="180024"/>
              <a:chOff x="3311832" y="2168832"/>
              <a:chExt cx="180024" cy="180024"/>
            </a:xfrm>
          </p:grpSpPr>
          <p:sp>
            <p:nvSpPr>
              <p:cNvPr id="21" name="正方形/長方形 20"/>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2" name="直線コネクタ 21"/>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3852168" y="2619156"/>
              <a:ext cx="180024" cy="180024"/>
              <a:chOff x="3311832" y="2168832"/>
              <a:chExt cx="180024" cy="180024"/>
            </a:xfrm>
          </p:grpSpPr>
          <p:sp>
            <p:nvSpPr>
              <p:cNvPr id="25" name="正方形/長方形 24"/>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6" name="直線コネクタ 25"/>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28" name="グループ化 27"/>
            <p:cNvGrpSpPr/>
            <p:nvPr/>
          </p:nvGrpSpPr>
          <p:grpSpPr>
            <a:xfrm>
              <a:off x="3852168" y="3339252"/>
              <a:ext cx="180024" cy="180024"/>
              <a:chOff x="3311832" y="2168832"/>
              <a:chExt cx="180024" cy="180024"/>
            </a:xfrm>
          </p:grpSpPr>
          <p:sp>
            <p:nvSpPr>
              <p:cNvPr id="29" name="正方形/長方形 2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0" name="直線コネクタ 2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32" name="グループ化 31"/>
            <p:cNvGrpSpPr/>
            <p:nvPr/>
          </p:nvGrpSpPr>
          <p:grpSpPr>
            <a:xfrm>
              <a:off x="3852168" y="1178964"/>
              <a:ext cx="180024" cy="180024"/>
              <a:chOff x="3311832" y="2168832"/>
              <a:chExt cx="180024" cy="180024"/>
            </a:xfrm>
          </p:grpSpPr>
          <p:sp>
            <p:nvSpPr>
              <p:cNvPr id="33" name="正方形/長方形 3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4" name="直線コネクタ 3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3852168" y="1899060"/>
              <a:ext cx="180024" cy="180024"/>
              <a:chOff x="3311832" y="2168832"/>
              <a:chExt cx="180024" cy="180024"/>
            </a:xfrm>
          </p:grpSpPr>
          <p:sp>
            <p:nvSpPr>
              <p:cNvPr id="37" name="正方形/長方形 36"/>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8" name="直線コネクタ 37"/>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40" name="グループ化 39"/>
            <p:cNvGrpSpPr/>
            <p:nvPr/>
          </p:nvGrpSpPr>
          <p:grpSpPr>
            <a:xfrm>
              <a:off x="4842300" y="1178964"/>
              <a:ext cx="180024" cy="180024"/>
              <a:chOff x="3311832" y="2168832"/>
              <a:chExt cx="180024" cy="180024"/>
            </a:xfrm>
          </p:grpSpPr>
          <p:sp>
            <p:nvSpPr>
              <p:cNvPr id="41" name="正方形/長方形 40"/>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2" name="直線コネクタ 41"/>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44" name="グループ化 43"/>
            <p:cNvGrpSpPr/>
            <p:nvPr/>
          </p:nvGrpSpPr>
          <p:grpSpPr>
            <a:xfrm>
              <a:off x="4842300" y="1899060"/>
              <a:ext cx="180024" cy="180024"/>
              <a:chOff x="3311832" y="2168832"/>
              <a:chExt cx="180024" cy="180024"/>
            </a:xfrm>
          </p:grpSpPr>
          <p:sp>
            <p:nvSpPr>
              <p:cNvPr id="45" name="正方形/長方形 44"/>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6" name="直線コネクタ 45"/>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48" name="グループ化 47"/>
            <p:cNvGrpSpPr/>
            <p:nvPr/>
          </p:nvGrpSpPr>
          <p:grpSpPr>
            <a:xfrm>
              <a:off x="4842300" y="2619156"/>
              <a:ext cx="180024" cy="180024"/>
              <a:chOff x="3311832" y="2168832"/>
              <a:chExt cx="180024" cy="180024"/>
            </a:xfrm>
          </p:grpSpPr>
          <p:sp>
            <p:nvSpPr>
              <p:cNvPr id="49" name="正方形/長方形 4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50" name="直線コネクタ 4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52" name="正方形/長方形 51"/>
            <p:cNvSpPr/>
            <p:nvPr/>
          </p:nvSpPr>
          <p:spPr>
            <a:xfrm>
              <a:off x="2862074" y="2259110"/>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WR1</a:t>
              </a:r>
              <a:endParaRPr lang="ja-JP" altLang="en-US" dirty="0">
                <a:solidFill>
                  <a:schemeClr val="tx1"/>
                </a:solidFill>
              </a:endParaRPr>
            </a:p>
          </p:txBody>
        </p:sp>
        <p:sp>
          <p:nvSpPr>
            <p:cNvPr id="53" name="正方形/長方形 52"/>
            <p:cNvSpPr/>
            <p:nvPr/>
          </p:nvSpPr>
          <p:spPr>
            <a:xfrm>
              <a:off x="2862036" y="1899060"/>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BR1</a:t>
              </a:r>
              <a:endParaRPr lang="ja-JP" altLang="en-US" sz="1200" dirty="0">
                <a:solidFill>
                  <a:schemeClr val="tx1"/>
                </a:solidFill>
              </a:endParaRPr>
            </a:p>
          </p:txBody>
        </p:sp>
        <p:sp>
          <p:nvSpPr>
            <p:cNvPr id="54" name="正方形/長方形 53"/>
            <p:cNvSpPr/>
            <p:nvPr/>
          </p:nvSpPr>
          <p:spPr>
            <a:xfrm>
              <a:off x="4842300" y="2259108"/>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WR2</a:t>
              </a:r>
              <a:endParaRPr lang="ja-JP" altLang="en-US" sz="1200" dirty="0">
                <a:solidFill>
                  <a:schemeClr val="tx1"/>
                </a:solidFill>
              </a:endParaRPr>
            </a:p>
          </p:txBody>
        </p:sp>
        <p:sp>
          <p:nvSpPr>
            <p:cNvPr id="55" name="正方形/長方形 54"/>
            <p:cNvSpPr/>
            <p:nvPr/>
          </p:nvSpPr>
          <p:spPr>
            <a:xfrm>
              <a:off x="4842300" y="2619156"/>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BR2’</a:t>
              </a:r>
              <a:endParaRPr lang="ja-JP" altLang="en-US" sz="1200" dirty="0">
                <a:solidFill>
                  <a:schemeClr val="tx1"/>
                </a:solidFill>
              </a:endParaRPr>
            </a:p>
          </p:txBody>
        </p:sp>
        <p:sp>
          <p:nvSpPr>
            <p:cNvPr id="56" name="正方形/長方形 55"/>
            <p:cNvSpPr/>
            <p:nvPr/>
          </p:nvSpPr>
          <p:spPr>
            <a:xfrm rot="5400000">
              <a:off x="4347234" y="1403994"/>
              <a:ext cx="180024" cy="1170156"/>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7" name="正方形/長方形 56"/>
            <p:cNvSpPr/>
            <p:nvPr/>
          </p:nvSpPr>
          <p:spPr>
            <a:xfrm rot="5400000">
              <a:off x="3357102" y="2124090"/>
              <a:ext cx="180024" cy="1170156"/>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58" name="グループ化 57"/>
            <p:cNvGrpSpPr/>
            <p:nvPr/>
          </p:nvGrpSpPr>
          <p:grpSpPr>
            <a:xfrm>
              <a:off x="4212216" y="2889192"/>
              <a:ext cx="360048" cy="360048"/>
              <a:chOff x="5292096" y="1268712"/>
              <a:chExt cx="360048" cy="360048"/>
            </a:xfrm>
          </p:grpSpPr>
          <p:sp>
            <p:nvSpPr>
              <p:cNvPr id="59" name="正方形/長方形 58"/>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0" name="正方形/長方形 59"/>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61" name="グループ化 60"/>
            <p:cNvGrpSpPr/>
            <p:nvPr/>
          </p:nvGrpSpPr>
          <p:grpSpPr>
            <a:xfrm>
              <a:off x="4302228" y="2979204"/>
              <a:ext cx="180024" cy="180024"/>
              <a:chOff x="3311832" y="2168832"/>
              <a:chExt cx="180024" cy="180024"/>
            </a:xfrm>
          </p:grpSpPr>
          <p:sp>
            <p:nvSpPr>
              <p:cNvPr id="62" name="正方形/長方形 61"/>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63" name="直線コネクタ 62"/>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3312096" y="1449000"/>
              <a:ext cx="360048" cy="360048"/>
              <a:chOff x="5292096" y="1268712"/>
              <a:chExt cx="360048" cy="360048"/>
            </a:xfrm>
          </p:grpSpPr>
          <p:sp>
            <p:nvSpPr>
              <p:cNvPr id="66" name="正方形/長方形 65"/>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7" name="正方形/長方形 66"/>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68" name="グループ化 67"/>
            <p:cNvGrpSpPr/>
            <p:nvPr/>
          </p:nvGrpSpPr>
          <p:grpSpPr>
            <a:xfrm>
              <a:off x="3402108" y="1539012"/>
              <a:ext cx="180024" cy="180024"/>
              <a:chOff x="3311832" y="2168832"/>
              <a:chExt cx="180024" cy="180024"/>
            </a:xfrm>
          </p:grpSpPr>
          <p:sp>
            <p:nvSpPr>
              <p:cNvPr id="69" name="正方形/長方形 6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70" name="直線コネクタ 6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72" name="正方形/長方形 71"/>
            <p:cNvSpPr/>
            <p:nvPr/>
          </p:nvSpPr>
          <p:spPr>
            <a:xfrm rot="5400000">
              <a:off x="3762156" y="2439132"/>
              <a:ext cx="1260168" cy="180024"/>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3" name="正方形/長方形 72"/>
            <p:cNvSpPr/>
            <p:nvPr/>
          </p:nvSpPr>
          <p:spPr>
            <a:xfrm rot="5400000">
              <a:off x="2862036" y="2079084"/>
              <a:ext cx="1260168" cy="180024"/>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74" name="グループ化 73"/>
            <p:cNvGrpSpPr/>
            <p:nvPr/>
          </p:nvGrpSpPr>
          <p:grpSpPr>
            <a:xfrm>
              <a:off x="2231952" y="2169096"/>
              <a:ext cx="360048" cy="360048"/>
              <a:chOff x="5292096" y="1268712"/>
              <a:chExt cx="360048" cy="360048"/>
            </a:xfrm>
          </p:grpSpPr>
          <p:sp>
            <p:nvSpPr>
              <p:cNvPr id="75" name="正方形/長方形 74"/>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6" name="正方形/長方形 75"/>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77" name="グループ化 76"/>
            <p:cNvGrpSpPr/>
            <p:nvPr/>
          </p:nvGrpSpPr>
          <p:grpSpPr>
            <a:xfrm>
              <a:off x="5292360" y="2169096"/>
              <a:ext cx="360048" cy="360048"/>
              <a:chOff x="5292096" y="1268712"/>
              <a:chExt cx="360048" cy="360048"/>
            </a:xfrm>
          </p:grpSpPr>
          <p:sp>
            <p:nvSpPr>
              <p:cNvPr id="78" name="正方形/長方形 77"/>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9" name="正方形/長方形 78"/>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80" name="グループ化 79"/>
            <p:cNvGrpSpPr/>
            <p:nvPr/>
          </p:nvGrpSpPr>
          <p:grpSpPr>
            <a:xfrm>
              <a:off x="2321964" y="2259108"/>
              <a:ext cx="180024" cy="180024"/>
              <a:chOff x="3311832" y="2168832"/>
              <a:chExt cx="180024" cy="180024"/>
            </a:xfrm>
          </p:grpSpPr>
          <p:sp>
            <p:nvSpPr>
              <p:cNvPr id="81" name="正方形/長方形 80"/>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2" name="直線コネクタ 81"/>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直線コネクタ 82"/>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84" name="グループ化 83"/>
            <p:cNvGrpSpPr/>
            <p:nvPr/>
          </p:nvGrpSpPr>
          <p:grpSpPr>
            <a:xfrm>
              <a:off x="5382372" y="2259108"/>
              <a:ext cx="180024" cy="180024"/>
              <a:chOff x="3311832" y="2168832"/>
              <a:chExt cx="180024" cy="180024"/>
            </a:xfrm>
          </p:grpSpPr>
          <p:sp>
            <p:nvSpPr>
              <p:cNvPr id="85" name="正方形/長方形 84"/>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6" name="直線コネクタ 85"/>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88" name="正方形/長方形 87"/>
            <p:cNvSpPr/>
            <p:nvPr/>
          </p:nvSpPr>
          <p:spPr>
            <a:xfrm rot="16200000" flipV="1">
              <a:off x="4819807" y="2236615"/>
              <a:ext cx="2205273"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9" name="正方形/長方形 88"/>
            <p:cNvSpPr/>
            <p:nvPr/>
          </p:nvSpPr>
          <p:spPr>
            <a:xfrm rot="16200000" flipV="1">
              <a:off x="5719941" y="1921566"/>
              <a:ext cx="2205246"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0" name="正方形/長方形 89"/>
            <p:cNvSpPr/>
            <p:nvPr/>
          </p:nvSpPr>
          <p:spPr>
            <a:xfrm rot="16200000" flipV="1">
              <a:off x="6259961" y="1201495"/>
              <a:ext cx="180024" cy="157515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1" name="正方形/長方形 90"/>
            <p:cNvSpPr/>
            <p:nvPr/>
          </p:nvSpPr>
          <p:spPr>
            <a:xfrm rot="16200000" flipV="1">
              <a:off x="6259961" y="1921591"/>
              <a:ext cx="180024" cy="157515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92" name="グループ化 91"/>
            <p:cNvGrpSpPr/>
            <p:nvPr/>
          </p:nvGrpSpPr>
          <p:grpSpPr>
            <a:xfrm flipV="1">
              <a:off x="5832432" y="3339252"/>
              <a:ext cx="180024" cy="180024"/>
              <a:chOff x="3311832" y="2168832"/>
              <a:chExt cx="180024" cy="180024"/>
            </a:xfrm>
          </p:grpSpPr>
          <p:sp>
            <p:nvSpPr>
              <p:cNvPr id="93" name="正方形/長方形 9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94" name="直線コネクタ 9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96" name="グループ化 95"/>
            <p:cNvGrpSpPr/>
            <p:nvPr/>
          </p:nvGrpSpPr>
          <p:grpSpPr>
            <a:xfrm flipV="1">
              <a:off x="5832432" y="2259108"/>
              <a:ext cx="180024" cy="180024"/>
              <a:chOff x="3311832" y="2168832"/>
              <a:chExt cx="180024" cy="180024"/>
            </a:xfrm>
          </p:grpSpPr>
          <p:sp>
            <p:nvSpPr>
              <p:cNvPr id="97" name="正方形/長方形 96"/>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98" name="直線コネクタ 97"/>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00" name="グループ化 99"/>
            <p:cNvGrpSpPr/>
            <p:nvPr/>
          </p:nvGrpSpPr>
          <p:grpSpPr>
            <a:xfrm flipV="1">
              <a:off x="5832396" y="1494027"/>
              <a:ext cx="180024" cy="180024"/>
              <a:chOff x="3311832" y="2168832"/>
              <a:chExt cx="180024" cy="180024"/>
            </a:xfrm>
          </p:grpSpPr>
          <p:sp>
            <p:nvSpPr>
              <p:cNvPr id="101" name="正方形/長方形 100"/>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02" name="直線コネクタ 101"/>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04" name="グループ化 103"/>
            <p:cNvGrpSpPr/>
            <p:nvPr/>
          </p:nvGrpSpPr>
          <p:grpSpPr>
            <a:xfrm flipV="1">
              <a:off x="6732516" y="3024197"/>
              <a:ext cx="180024" cy="180024"/>
              <a:chOff x="3311832" y="2168832"/>
              <a:chExt cx="180024" cy="180024"/>
            </a:xfrm>
          </p:grpSpPr>
          <p:sp>
            <p:nvSpPr>
              <p:cNvPr id="105" name="正方形/長方形 104"/>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06" name="直線コネクタ 105"/>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7" name="直線コネクタ 106"/>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08" name="グループ化 107"/>
            <p:cNvGrpSpPr/>
            <p:nvPr/>
          </p:nvGrpSpPr>
          <p:grpSpPr>
            <a:xfrm flipV="1">
              <a:off x="6732552" y="2259108"/>
              <a:ext cx="180024" cy="180024"/>
              <a:chOff x="3311832" y="2168832"/>
              <a:chExt cx="180024" cy="180024"/>
            </a:xfrm>
          </p:grpSpPr>
          <p:sp>
            <p:nvSpPr>
              <p:cNvPr id="109" name="正方形/長方形 10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10" name="直線コネクタ 10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1" name="直線コネクタ 11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12" name="グループ化 111"/>
            <p:cNvGrpSpPr/>
            <p:nvPr/>
          </p:nvGrpSpPr>
          <p:grpSpPr>
            <a:xfrm flipV="1">
              <a:off x="6732552" y="1178964"/>
              <a:ext cx="180024" cy="180024"/>
              <a:chOff x="3311832" y="2168832"/>
              <a:chExt cx="180024" cy="180024"/>
            </a:xfrm>
          </p:grpSpPr>
          <p:sp>
            <p:nvSpPr>
              <p:cNvPr id="113" name="正方形/長方形 11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14" name="直線コネクタ 11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5" name="直線コネクタ 11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116" name="正方形/長方形 115"/>
            <p:cNvSpPr/>
            <p:nvPr/>
          </p:nvSpPr>
          <p:spPr>
            <a:xfrm rot="16200000" flipV="1">
              <a:off x="6755026" y="1291464"/>
              <a:ext cx="180038" cy="67513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7" name="正方形/長方形 116"/>
            <p:cNvSpPr/>
            <p:nvPr/>
          </p:nvSpPr>
          <p:spPr>
            <a:xfrm rot="16200000" flipV="1">
              <a:off x="5809911" y="2731689"/>
              <a:ext cx="180024" cy="675053"/>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8" name="正方形/長方形 117"/>
            <p:cNvSpPr/>
            <p:nvPr/>
          </p:nvSpPr>
          <p:spPr>
            <a:xfrm>
              <a:off x="6282492" y="2619156"/>
              <a:ext cx="270036"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WW1</a:t>
              </a:r>
              <a:endParaRPr lang="ja-JP" altLang="en-US" sz="1200" dirty="0">
                <a:solidFill>
                  <a:schemeClr val="tx1"/>
                </a:solidFill>
              </a:endParaRPr>
            </a:p>
          </p:txBody>
        </p:sp>
        <p:sp>
          <p:nvSpPr>
            <p:cNvPr id="119" name="正方形/長方形 118"/>
            <p:cNvSpPr/>
            <p:nvPr/>
          </p:nvSpPr>
          <p:spPr>
            <a:xfrm>
              <a:off x="5832432" y="2979204"/>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BW1’</a:t>
              </a:r>
              <a:endParaRPr lang="ja-JP" altLang="en-US" sz="1200" dirty="0">
                <a:solidFill>
                  <a:schemeClr val="tx1"/>
                </a:solidFill>
              </a:endParaRPr>
            </a:p>
          </p:txBody>
        </p:sp>
        <p:sp>
          <p:nvSpPr>
            <p:cNvPr id="120" name="正方形/長方形 119"/>
            <p:cNvSpPr/>
            <p:nvPr/>
          </p:nvSpPr>
          <p:spPr>
            <a:xfrm>
              <a:off x="6282492" y="1899060"/>
              <a:ext cx="270036"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WW2</a:t>
              </a:r>
              <a:endParaRPr lang="ja-JP" altLang="en-US" dirty="0">
                <a:solidFill>
                  <a:schemeClr val="tx1"/>
                </a:solidFill>
              </a:endParaRPr>
            </a:p>
          </p:txBody>
        </p:sp>
        <p:sp>
          <p:nvSpPr>
            <p:cNvPr id="121" name="正方形/長方形 120"/>
            <p:cNvSpPr/>
            <p:nvPr/>
          </p:nvSpPr>
          <p:spPr>
            <a:xfrm>
              <a:off x="6732552" y="1539012"/>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BW2’</a:t>
              </a:r>
              <a:endParaRPr lang="ja-JP" altLang="en-US" sz="1200" dirty="0">
                <a:solidFill>
                  <a:schemeClr val="tx1"/>
                </a:solidFill>
              </a:endParaRPr>
            </a:p>
          </p:txBody>
        </p:sp>
        <p:grpSp>
          <p:nvGrpSpPr>
            <p:cNvPr id="122" name="グループ化 121"/>
            <p:cNvGrpSpPr/>
            <p:nvPr/>
          </p:nvGrpSpPr>
          <p:grpSpPr>
            <a:xfrm flipV="1">
              <a:off x="7092600" y="2529144"/>
              <a:ext cx="360048" cy="360048"/>
              <a:chOff x="5292096" y="1268712"/>
              <a:chExt cx="360048" cy="360048"/>
            </a:xfrm>
          </p:grpSpPr>
          <p:sp>
            <p:nvSpPr>
              <p:cNvPr id="123" name="正方形/長方形 122"/>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24" name="正方形/長方形 123"/>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125" name="グループ化 124"/>
            <p:cNvGrpSpPr/>
            <p:nvPr/>
          </p:nvGrpSpPr>
          <p:grpSpPr>
            <a:xfrm flipV="1">
              <a:off x="7092600" y="1809048"/>
              <a:ext cx="360048" cy="360048"/>
              <a:chOff x="5292096" y="1268712"/>
              <a:chExt cx="360048" cy="360048"/>
            </a:xfrm>
          </p:grpSpPr>
          <p:sp>
            <p:nvSpPr>
              <p:cNvPr id="126" name="正方形/長方形 125"/>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27" name="正方形/長方形 126"/>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128" name="グループ化 127"/>
            <p:cNvGrpSpPr/>
            <p:nvPr/>
          </p:nvGrpSpPr>
          <p:grpSpPr>
            <a:xfrm flipV="1">
              <a:off x="7182612" y="1899060"/>
              <a:ext cx="180024" cy="180024"/>
              <a:chOff x="3311832" y="2168832"/>
              <a:chExt cx="180024" cy="180024"/>
            </a:xfrm>
          </p:grpSpPr>
          <p:sp>
            <p:nvSpPr>
              <p:cNvPr id="129" name="正方形/長方形 128"/>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30" name="直線コネクタ 129"/>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1" name="直線コネクタ 130"/>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32" name="グループ化 131"/>
            <p:cNvGrpSpPr/>
            <p:nvPr/>
          </p:nvGrpSpPr>
          <p:grpSpPr>
            <a:xfrm flipV="1">
              <a:off x="7182612" y="2619156"/>
              <a:ext cx="180024" cy="180024"/>
              <a:chOff x="3311832" y="2168832"/>
              <a:chExt cx="180024" cy="180024"/>
            </a:xfrm>
          </p:grpSpPr>
          <p:sp>
            <p:nvSpPr>
              <p:cNvPr id="133" name="正方形/長方形 13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34" name="直線コネクタ 13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36" name="グループ化 135"/>
            <p:cNvGrpSpPr/>
            <p:nvPr/>
          </p:nvGrpSpPr>
          <p:grpSpPr>
            <a:xfrm flipV="1">
              <a:off x="6192444" y="1404015"/>
              <a:ext cx="360048" cy="360048"/>
              <a:chOff x="5292096" y="1268712"/>
              <a:chExt cx="360048" cy="360048"/>
            </a:xfrm>
          </p:grpSpPr>
          <p:sp>
            <p:nvSpPr>
              <p:cNvPr id="137" name="正方形/長方形 136"/>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38" name="正方形/長方形 137"/>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139" name="グループ化 138"/>
            <p:cNvGrpSpPr/>
            <p:nvPr/>
          </p:nvGrpSpPr>
          <p:grpSpPr>
            <a:xfrm flipV="1">
              <a:off x="6192444" y="2934185"/>
              <a:ext cx="360048" cy="360048"/>
              <a:chOff x="5292096" y="1268712"/>
              <a:chExt cx="360048" cy="360048"/>
            </a:xfrm>
          </p:grpSpPr>
          <p:sp>
            <p:nvSpPr>
              <p:cNvPr id="140" name="正方形/長方形 139"/>
              <p:cNvSpPr/>
              <p:nvPr/>
            </p:nvSpPr>
            <p:spPr>
              <a:xfrm rot="5400000">
                <a:off x="5337102" y="1313718"/>
                <a:ext cx="270036" cy="270036"/>
              </a:xfrm>
              <a:prstGeom prst="rect">
                <a:avLst/>
              </a:prstGeom>
              <a:solidFill>
                <a:srgbClr val="FFFF00">
                  <a:alpha val="50000"/>
                </a:srgbClr>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1" name="正方形/長方形 140"/>
              <p:cNvSpPr/>
              <p:nvPr/>
            </p:nvSpPr>
            <p:spPr>
              <a:xfrm rot="5400000">
                <a:off x="5292096" y="1268712"/>
                <a:ext cx="360048" cy="3600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142" name="グループ化 141"/>
            <p:cNvGrpSpPr/>
            <p:nvPr/>
          </p:nvGrpSpPr>
          <p:grpSpPr>
            <a:xfrm flipV="1">
              <a:off x="6282456" y="3024197"/>
              <a:ext cx="180024" cy="180024"/>
              <a:chOff x="3311832" y="2168832"/>
              <a:chExt cx="180024" cy="180024"/>
            </a:xfrm>
          </p:grpSpPr>
          <p:sp>
            <p:nvSpPr>
              <p:cNvPr id="143" name="正方形/長方形 142"/>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44" name="直線コネクタ 143"/>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5" name="直線コネクタ 144"/>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grpSp>
          <p:nvGrpSpPr>
            <p:cNvPr id="146" name="グループ化 145"/>
            <p:cNvGrpSpPr/>
            <p:nvPr/>
          </p:nvGrpSpPr>
          <p:grpSpPr>
            <a:xfrm flipV="1">
              <a:off x="6282456" y="1494027"/>
              <a:ext cx="180024" cy="180024"/>
              <a:chOff x="3311832" y="2168832"/>
              <a:chExt cx="180024" cy="180024"/>
            </a:xfrm>
          </p:grpSpPr>
          <p:sp>
            <p:nvSpPr>
              <p:cNvPr id="147" name="正方形/長方形 146"/>
              <p:cNvSpPr/>
              <p:nvPr/>
            </p:nvSpPr>
            <p:spPr>
              <a:xfrm rot="5400000">
                <a:off x="3311832" y="2168832"/>
                <a:ext cx="180024" cy="180024"/>
              </a:xfrm>
              <a:prstGeom prst="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48" name="直線コネクタ 147"/>
              <p:cNvCxnSpPr/>
              <p:nvPr/>
            </p:nvCxnSpPr>
            <p:spPr>
              <a:xfrm>
                <a:off x="3311832" y="2168832"/>
                <a:ext cx="180024" cy="1800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H="1">
                <a:off x="3311832" y="2168832"/>
                <a:ext cx="180024" cy="180024"/>
              </a:xfrm>
              <a:prstGeom prst="line">
                <a:avLst/>
              </a:prstGeom>
              <a:ln w="6350"/>
            </p:spPr>
            <p:style>
              <a:lnRef idx="1">
                <a:schemeClr val="accent1"/>
              </a:lnRef>
              <a:fillRef idx="0">
                <a:schemeClr val="accent1"/>
              </a:fillRef>
              <a:effectRef idx="0">
                <a:schemeClr val="accent1"/>
              </a:effectRef>
              <a:fontRef idx="minor">
                <a:schemeClr val="tx1"/>
              </a:fontRef>
            </p:style>
          </p:cxnSp>
        </p:grpSp>
        <p:sp>
          <p:nvSpPr>
            <p:cNvPr id="150" name="正方形/長方形 149"/>
            <p:cNvSpPr/>
            <p:nvPr/>
          </p:nvSpPr>
          <p:spPr>
            <a:xfrm rot="16200000" flipV="1">
              <a:off x="6507486" y="2799167"/>
              <a:ext cx="180024" cy="630084"/>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1" name="正方形/長方形 150"/>
            <p:cNvSpPr/>
            <p:nvPr/>
          </p:nvSpPr>
          <p:spPr>
            <a:xfrm rot="16200000" flipV="1">
              <a:off x="6057426" y="1268997"/>
              <a:ext cx="180024" cy="630084"/>
            </a:xfrm>
            <a:prstGeom prst="rect">
              <a:avLst/>
            </a:prstGeom>
            <a:solidFill>
              <a:srgbClr val="0070C0">
                <a:alpha val="25000"/>
              </a:srgbClr>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2" name="正方形/長方形 151"/>
            <p:cNvSpPr/>
            <p:nvPr/>
          </p:nvSpPr>
          <p:spPr>
            <a:xfrm rot="5400000">
              <a:off x="3762156" y="-81204"/>
              <a:ext cx="2160288" cy="486064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spTree>
    <p:extLst>
      <p:ext uri="{BB962C8B-B14F-4D97-AF65-F5344CB8AC3E}">
        <p14:creationId xmlns:p14="http://schemas.microsoft.com/office/powerpoint/2010/main" val="11651783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正方形/長方形 128"/>
          <p:cNvSpPr/>
          <p:nvPr/>
        </p:nvSpPr>
        <p:spPr>
          <a:xfrm rot="5400000">
            <a:off x="7536709" y="1628991"/>
            <a:ext cx="180024"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65" name="直線コネクタ 164"/>
          <p:cNvCxnSpPr/>
          <p:nvPr/>
        </p:nvCxnSpPr>
        <p:spPr>
          <a:xfrm flipH="1">
            <a:off x="7536709" y="1719003"/>
            <a:ext cx="1080144"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6" name="直線コネクタ 165"/>
          <p:cNvCxnSpPr/>
          <p:nvPr/>
        </p:nvCxnSpPr>
        <p:spPr>
          <a:xfrm>
            <a:off x="7536709" y="1719003"/>
            <a:ext cx="90012" cy="90012"/>
          </a:xfrm>
          <a:prstGeom prst="line">
            <a:avLst/>
          </a:prstGeom>
          <a:ln w="38100" cap="rnd">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3" name="直線コネクタ 182"/>
          <p:cNvCxnSpPr/>
          <p:nvPr/>
        </p:nvCxnSpPr>
        <p:spPr>
          <a:xfrm flipH="1">
            <a:off x="6816613" y="1719003"/>
            <a:ext cx="720096"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1" name="正方形/長方形 110"/>
          <p:cNvSpPr/>
          <p:nvPr/>
        </p:nvSpPr>
        <p:spPr>
          <a:xfrm rot="16200000" flipV="1">
            <a:off x="5916493" y="4149327"/>
            <a:ext cx="3420456"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2" name="正方形/長方形 111"/>
          <p:cNvSpPr/>
          <p:nvPr/>
        </p:nvSpPr>
        <p:spPr>
          <a:xfrm rot="16200000" flipV="1">
            <a:off x="6996637" y="3249207"/>
            <a:ext cx="3420456"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62" name="直線コネクタ 61"/>
          <p:cNvCxnSpPr/>
          <p:nvPr/>
        </p:nvCxnSpPr>
        <p:spPr>
          <a:xfrm flipH="1">
            <a:off x="7176661" y="4689399"/>
            <a:ext cx="2430324" cy="0"/>
          </a:xfrm>
          <a:prstGeom prst="line">
            <a:avLst/>
          </a:prstGeom>
          <a:ln w="38100" cap="rnd">
            <a:solidFill>
              <a:srgbClr val="FFFF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a:off x="7626721" y="2349087"/>
            <a:ext cx="1530204"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19" name="直線コネクタ 118"/>
          <p:cNvCxnSpPr/>
          <p:nvPr/>
        </p:nvCxnSpPr>
        <p:spPr>
          <a:xfrm>
            <a:off x="7536709" y="2259075"/>
            <a:ext cx="0" cy="540072"/>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7" name="正方形/長方形 136"/>
          <p:cNvSpPr/>
          <p:nvPr/>
        </p:nvSpPr>
        <p:spPr>
          <a:xfrm>
            <a:off x="7626721" y="6309615"/>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138" name="正方形/長方形 137"/>
          <p:cNvSpPr/>
          <p:nvPr/>
        </p:nvSpPr>
        <p:spPr>
          <a:xfrm>
            <a:off x="7896757" y="1268943"/>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143" name="正方形/長方形 142"/>
          <p:cNvSpPr/>
          <p:nvPr/>
        </p:nvSpPr>
        <p:spPr>
          <a:xfrm>
            <a:off x="9606985" y="4779411"/>
            <a:ext cx="270036"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WW1</a:t>
            </a:r>
            <a:endParaRPr lang="ja-JP" altLang="en-US" sz="1200" dirty="0">
              <a:solidFill>
                <a:schemeClr val="tx1"/>
              </a:solidFill>
            </a:endParaRPr>
          </a:p>
        </p:txBody>
      </p:sp>
      <p:sp>
        <p:nvSpPr>
          <p:cNvPr id="144" name="正方形/長方形 143"/>
          <p:cNvSpPr/>
          <p:nvPr/>
        </p:nvSpPr>
        <p:spPr>
          <a:xfrm>
            <a:off x="8886889" y="5589519"/>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BW1</a:t>
            </a:r>
            <a:endParaRPr lang="ja-JP" altLang="en-US" sz="1200" dirty="0">
              <a:solidFill>
                <a:schemeClr val="tx1"/>
              </a:solidFill>
            </a:endParaRPr>
          </a:p>
        </p:txBody>
      </p:sp>
      <p:sp>
        <p:nvSpPr>
          <p:cNvPr id="145" name="正方形/長方形 144"/>
          <p:cNvSpPr/>
          <p:nvPr/>
        </p:nvSpPr>
        <p:spPr>
          <a:xfrm>
            <a:off x="9606985" y="2619123"/>
            <a:ext cx="270036"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WW2</a:t>
            </a:r>
            <a:endParaRPr lang="ja-JP" altLang="en-US" dirty="0">
              <a:solidFill>
                <a:schemeClr val="tx1"/>
              </a:solidFill>
            </a:endParaRPr>
          </a:p>
        </p:txBody>
      </p:sp>
      <p:sp>
        <p:nvSpPr>
          <p:cNvPr id="146" name="正方形/長方形 145"/>
          <p:cNvSpPr/>
          <p:nvPr/>
        </p:nvSpPr>
        <p:spPr>
          <a:xfrm>
            <a:off x="7086649" y="2079051"/>
            <a:ext cx="180024" cy="180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BW2’</a:t>
            </a:r>
            <a:endParaRPr lang="ja-JP" altLang="en-US" sz="1200" dirty="0">
              <a:solidFill>
                <a:schemeClr val="tx1"/>
              </a:solidFill>
            </a:endParaRPr>
          </a:p>
        </p:txBody>
      </p:sp>
      <p:cxnSp>
        <p:nvCxnSpPr>
          <p:cNvPr id="167" name="直線コネクタ 166"/>
          <p:cNvCxnSpPr/>
          <p:nvPr/>
        </p:nvCxnSpPr>
        <p:spPr>
          <a:xfrm flipH="1" flipV="1">
            <a:off x="7536709" y="4239339"/>
            <a:ext cx="90012" cy="90012"/>
          </a:xfrm>
          <a:prstGeom prst="line">
            <a:avLst/>
          </a:prstGeom>
          <a:ln w="38100">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69" name="直線コネクタ 168"/>
          <p:cNvCxnSpPr/>
          <p:nvPr/>
        </p:nvCxnSpPr>
        <p:spPr>
          <a:xfrm flipH="1" flipV="1">
            <a:off x="7536709" y="2799147"/>
            <a:ext cx="90012" cy="9001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0" name="直線コネクタ 169"/>
          <p:cNvCxnSpPr/>
          <p:nvPr/>
        </p:nvCxnSpPr>
        <p:spPr>
          <a:xfrm flipH="1" flipV="1">
            <a:off x="7536709" y="2259075"/>
            <a:ext cx="90012" cy="9001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2" name="直線コネクタ 171"/>
          <p:cNvCxnSpPr/>
          <p:nvPr/>
        </p:nvCxnSpPr>
        <p:spPr>
          <a:xfrm flipH="1" flipV="1">
            <a:off x="8526841" y="4869423"/>
            <a:ext cx="180024" cy="180024"/>
          </a:xfrm>
          <a:prstGeom prst="line">
            <a:avLst/>
          </a:prstGeom>
          <a:ln w="38100">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3" name="直線コネクタ 172"/>
          <p:cNvCxnSpPr/>
          <p:nvPr/>
        </p:nvCxnSpPr>
        <p:spPr>
          <a:xfrm flipH="1" flipV="1">
            <a:off x="7536709" y="6039579"/>
            <a:ext cx="90012" cy="9001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4" name="直線コネクタ 173"/>
          <p:cNvCxnSpPr/>
          <p:nvPr/>
        </p:nvCxnSpPr>
        <p:spPr>
          <a:xfrm flipH="1" flipV="1">
            <a:off x="9246937" y="4509375"/>
            <a:ext cx="180024" cy="180024"/>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6" name="直線コネクタ 175"/>
          <p:cNvCxnSpPr/>
          <p:nvPr/>
        </p:nvCxnSpPr>
        <p:spPr>
          <a:xfrm flipH="1" flipV="1">
            <a:off x="8616853" y="1719003"/>
            <a:ext cx="90012" cy="9001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flipH="1">
            <a:off x="7176661" y="5589519"/>
            <a:ext cx="1530204"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207" name="直線コネクタ 206"/>
          <p:cNvCxnSpPr/>
          <p:nvPr/>
        </p:nvCxnSpPr>
        <p:spPr>
          <a:xfrm>
            <a:off x="7176661" y="3249207"/>
            <a:ext cx="2430324" cy="0"/>
          </a:xfrm>
          <a:prstGeom prst="line">
            <a:avLst/>
          </a:prstGeom>
          <a:ln w="38100" cap="rnd">
            <a:solidFill>
              <a:srgbClr val="FFFF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2" name="直線コネクタ 121"/>
          <p:cNvCxnSpPr/>
          <p:nvPr/>
        </p:nvCxnSpPr>
        <p:spPr>
          <a:xfrm>
            <a:off x="8526841" y="4869423"/>
            <a:ext cx="0" cy="540072"/>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1" name="直線コネクタ 170"/>
          <p:cNvCxnSpPr/>
          <p:nvPr/>
        </p:nvCxnSpPr>
        <p:spPr>
          <a:xfrm flipH="1" flipV="1">
            <a:off x="8526841" y="5409495"/>
            <a:ext cx="180024" cy="180024"/>
          </a:xfrm>
          <a:prstGeom prst="line">
            <a:avLst/>
          </a:prstGeom>
          <a:ln w="38100">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5" name="直線コネクタ 174"/>
          <p:cNvCxnSpPr/>
          <p:nvPr/>
        </p:nvCxnSpPr>
        <p:spPr>
          <a:xfrm flipH="1" flipV="1">
            <a:off x="9246937" y="3069183"/>
            <a:ext cx="180024" cy="180024"/>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28" name="正方形/長方形 127"/>
          <p:cNvSpPr/>
          <p:nvPr/>
        </p:nvSpPr>
        <p:spPr>
          <a:xfrm rot="5400000">
            <a:off x="8616853" y="5769543"/>
            <a:ext cx="180024" cy="540072"/>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20" name="正方形/長方形 219"/>
          <p:cNvSpPr/>
          <p:nvPr/>
        </p:nvSpPr>
        <p:spPr>
          <a:xfrm rot="5400000">
            <a:off x="3846217" y="548847"/>
            <a:ext cx="4320576" cy="6840912"/>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6" name="正方形/長方形 75"/>
          <p:cNvSpPr/>
          <p:nvPr/>
        </p:nvSpPr>
        <p:spPr>
          <a:xfrm rot="5400000">
            <a:off x="3216133" y="1628991"/>
            <a:ext cx="180024" cy="540072"/>
          </a:xfrm>
          <a:prstGeom prst="rect">
            <a:avLst/>
          </a:prstGeom>
          <a:solidFill>
            <a:schemeClr val="accent1">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7" name="正方形/長方形 76"/>
          <p:cNvSpPr/>
          <p:nvPr/>
        </p:nvSpPr>
        <p:spPr>
          <a:xfrm rot="5400000">
            <a:off x="6096517" y="5769543"/>
            <a:ext cx="180024" cy="540072"/>
          </a:xfrm>
          <a:prstGeom prst="rect">
            <a:avLst/>
          </a:prstGeom>
          <a:solidFill>
            <a:schemeClr val="accent1">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9" name="正方形/長方形 78"/>
          <p:cNvSpPr/>
          <p:nvPr/>
        </p:nvSpPr>
        <p:spPr>
          <a:xfrm rot="5400000">
            <a:off x="3711199" y="2574117"/>
            <a:ext cx="2070276" cy="540072"/>
          </a:xfrm>
          <a:prstGeom prst="rect">
            <a:avLst/>
          </a:prstGeom>
          <a:solidFill>
            <a:schemeClr val="accent2">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0" name="正方形/長方形 79"/>
          <p:cNvSpPr/>
          <p:nvPr/>
        </p:nvSpPr>
        <p:spPr>
          <a:xfrm rot="5400000">
            <a:off x="4611319" y="3114189"/>
            <a:ext cx="3150420" cy="540072"/>
          </a:xfrm>
          <a:prstGeom prst="rect">
            <a:avLst/>
          </a:prstGeom>
          <a:solidFill>
            <a:schemeClr val="accent1">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1" name="正方形/長方形 80"/>
          <p:cNvSpPr/>
          <p:nvPr/>
        </p:nvSpPr>
        <p:spPr>
          <a:xfrm rot="5400000">
            <a:off x="1910959" y="4464369"/>
            <a:ext cx="2790372" cy="540072"/>
          </a:xfrm>
          <a:prstGeom prst="rect">
            <a:avLst/>
          </a:prstGeom>
          <a:solidFill>
            <a:schemeClr val="accent1">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2" name="正方形/長方形 81"/>
          <p:cNvSpPr/>
          <p:nvPr/>
        </p:nvSpPr>
        <p:spPr>
          <a:xfrm rot="5400000">
            <a:off x="3711199" y="4824417"/>
            <a:ext cx="2070276" cy="540072"/>
          </a:xfrm>
          <a:prstGeom prst="rect">
            <a:avLst/>
          </a:prstGeom>
          <a:solidFill>
            <a:schemeClr val="accent2">
              <a:lumMod val="20000"/>
              <a:lumOff val="80000"/>
            </a:schemeClr>
          </a:solidFill>
          <a:ln w="127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4" name="直線コネクタ 83"/>
          <p:cNvCxnSpPr/>
          <p:nvPr/>
        </p:nvCxnSpPr>
        <p:spPr>
          <a:xfrm>
            <a:off x="2586049" y="3969303"/>
            <a:ext cx="1170156"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5" name="直線コネクタ 84"/>
          <p:cNvCxnSpPr/>
          <p:nvPr/>
        </p:nvCxnSpPr>
        <p:spPr>
          <a:xfrm flipH="1">
            <a:off x="2856085" y="5049447"/>
            <a:ext cx="2610348"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a:off x="4026241" y="2889159"/>
            <a:ext cx="2610348"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flipH="1">
            <a:off x="5736469" y="4329351"/>
            <a:ext cx="1170156" cy="0"/>
          </a:xfrm>
          <a:prstGeom prst="line">
            <a:avLst/>
          </a:prstGeom>
          <a:ln w="38100" cap="rnd">
            <a:solidFill>
              <a:srgbClr val="FFFF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flipH="1">
            <a:off x="3216133" y="4239339"/>
            <a:ext cx="1440192"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9" name="直線コネクタ 88"/>
          <p:cNvCxnSpPr/>
          <p:nvPr/>
        </p:nvCxnSpPr>
        <p:spPr>
          <a:xfrm flipV="1">
            <a:off x="3936229" y="2799147"/>
            <a:ext cx="0" cy="144019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flipH="1">
            <a:off x="4656325" y="3519243"/>
            <a:ext cx="1440192"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1" name="正方形/長方形 90"/>
          <p:cNvSpPr/>
          <p:nvPr/>
        </p:nvSpPr>
        <p:spPr>
          <a:xfrm>
            <a:off x="3216133" y="6309615"/>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92" name="正方形/長方形 91"/>
          <p:cNvSpPr/>
          <p:nvPr/>
        </p:nvSpPr>
        <p:spPr>
          <a:xfrm>
            <a:off x="1775941" y="5589519"/>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93" name="正方形/長方形 92"/>
          <p:cNvSpPr/>
          <p:nvPr/>
        </p:nvSpPr>
        <p:spPr>
          <a:xfrm>
            <a:off x="4476301" y="81888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DD</a:t>
            </a:r>
            <a:endParaRPr lang="ja-JP" altLang="en-US" baseline="-25000" dirty="0">
              <a:solidFill>
                <a:schemeClr val="tx1"/>
              </a:solidFill>
            </a:endParaRPr>
          </a:p>
        </p:txBody>
      </p:sp>
      <p:sp>
        <p:nvSpPr>
          <p:cNvPr id="94" name="正方形/長方形 93"/>
          <p:cNvSpPr/>
          <p:nvPr/>
        </p:nvSpPr>
        <p:spPr>
          <a:xfrm>
            <a:off x="1775941" y="126894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V</a:t>
            </a:r>
            <a:r>
              <a:rPr lang="en-US" altLang="ja-JP" sz="1200" baseline="-25000" dirty="0">
                <a:solidFill>
                  <a:schemeClr val="tx1"/>
                </a:solidFill>
              </a:rPr>
              <a:t>SS</a:t>
            </a:r>
            <a:endParaRPr lang="ja-JP" altLang="en-US" baseline="-25000" dirty="0">
              <a:solidFill>
                <a:schemeClr val="tx1"/>
              </a:solidFill>
            </a:endParaRPr>
          </a:p>
        </p:txBody>
      </p:sp>
      <p:sp>
        <p:nvSpPr>
          <p:cNvPr id="96" name="正方形/長方形 95"/>
          <p:cNvSpPr/>
          <p:nvPr/>
        </p:nvSpPr>
        <p:spPr>
          <a:xfrm>
            <a:off x="1775941" y="306918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WR1</a:t>
            </a:r>
            <a:endParaRPr lang="ja-JP" altLang="en-US" dirty="0">
              <a:solidFill>
                <a:schemeClr val="tx1"/>
              </a:solidFill>
            </a:endParaRPr>
          </a:p>
        </p:txBody>
      </p:sp>
      <p:sp>
        <p:nvSpPr>
          <p:cNvPr id="97" name="正方形/長方形 96"/>
          <p:cNvSpPr/>
          <p:nvPr/>
        </p:nvSpPr>
        <p:spPr>
          <a:xfrm>
            <a:off x="3036109" y="81888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BR1</a:t>
            </a:r>
            <a:endParaRPr lang="ja-JP" altLang="en-US" sz="1200" dirty="0">
              <a:solidFill>
                <a:schemeClr val="tx1"/>
              </a:solidFill>
            </a:endParaRPr>
          </a:p>
        </p:txBody>
      </p:sp>
      <p:sp>
        <p:nvSpPr>
          <p:cNvPr id="98" name="正方形/長方形 97"/>
          <p:cNvSpPr/>
          <p:nvPr/>
        </p:nvSpPr>
        <p:spPr>
          <a:xfrm>
            <a:off x="1775941" y="3789279"/>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WR2</a:t>
            </a:r>
            <a:endParaRPr lang="ja-JP" altLang="en-US" sz="1200" dirty="0">
              <a:solidFill>
                <a:schemeClr val="tx1"/>
              </a:solidFill>
            </a:endParaRPr>
          </a:p>
        </p:txBody>
      </p:sp>
      <p:sp>
        <p:nvSpPr>
          <p:cNvPr id="99" name="正方形/長方形 98"/>
          <p:cNvSpPr/>
          <p:nvPr/>
        </p:nvSpPr>
        <p:spPr>
          <a:xfrm>
            <a:off x="5916493" y="818883"/>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BR2’</a:t>
            </a:r>
            <a:endParaRPr lang="ja-JP" altLang="en-US" sz="1200" dirty="0">
              <a:solidFill>
                <a:schemeClr val="tx1"/>
              </a:solidFill>
            </a:endParaRPr>
          </a:p>
        </p:txBody>
      </p:sp>
      <p:sp>
        <p:nvSpPr>
          <p:cNvPr id="100" name="正方形/長方形 99"/>
          <p:cNvSpPr/>
          <p:nvPr/>
        </p:nvSpPr>
        <p:spPr>
          <a:xfrm>
            <a:off x="3756205" y="4239339"/>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S</a:t>
            </a:r>
            <a:endParaRPr lang="ja-JP" altLang="en-US" sz="1200" dirty="0">
              <a:solidFill>
                <a:schemeClr val="tx1"/>
              </a:solidFill>
            </a:endParaRPr>
          </a:p>
        </p:txBody>
      </p:sp>
      <p:sp>
        <p:nvSpPr>
          <p:cNvPr id="101" name="正方形/長方形 100"/>
          <p:cNvSpPr/>
          <p:nvPr/>
        </p:nvSpPr>
        <p:spPr>
          <a:xfrm>
            <a:off x="5196397" y="3159195"/>
            <a:ext cx="180024" cy="180024"/>
          </a:xfrm>
          <a:prstGeom prst="rect">
            <a:avLst/>
          </a:prstGeom>
          <a:noFill/>
          <a:ln cap="rnd">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S’</a:t>
            </a:r>
            <a:endParaRPr lang="ja-JP" altLang="en-US" sz="1200" dirty="0">
              <a:solidFill>
                <a:schemeClr val="tx1"/>
              </a:solidFill>
            </a:endParaRPr>
          </a:p>
        </p:txBody>
      </p:sp>
      <p:cxnSp>
        <p:nvCxnSpPr>
          <p:cNvPr id="102" name="直線コネクタ 101"/>
          <p:cNvCxnSpPr/>
          <p:nvPr/>
        </p:nvCxnSpPr>
        <p:spPr>
          <a:xfrm>
            <a:off x="3216133" y="423933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4" name="直線コネクタ 103"/>
          <p:cNvCxnSpPr/>
          <p:nvPr/>
        </p:nvCxnSpPr>
        <p:spPr>
          <a:xfrm>
            <a:off x="4656325" y="423933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a:off x="4656325" y="3519243"/>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a:off x="6096517" y="3519243"/>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15" name="直線コネクタ 114"/>
          <p:cNvCxnSpPr/>
          <p:nvPr/>
        </p:nvCxnSpPr>
        <p:spPr>
          <a:xfrm>
            <a:off x="3936229" y="2799147"/>
            <a:ext cx="2880384" cy="0"/>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16" name="直線コネクタ 115"/>
          <p:cNvCxnSpPr/>
          <p:nvPr/>
        </p:nvCxnSpPr>
        <p:spPr>
          <a:xfrm>
            <a:off x="5376421" y="3519243"/>
            <a:ext cx="0" cy="1890252"/>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17" name="直線コネクタ 116"/>
          <p:cNvCxnSpPr/>
          <p:nvPr/>
        </p:nvCxnSpPr>
        <p:spPr>
          <a:xfrm>
            <a:off x="3216133" y="3519243"/>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a:off x="3216133" y="603957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20" name="直線コネクタ 119"/>
          <p:cNvCxnSpPr/>
          <p:nvPr/>
        </p:nvCxnSpPr>
        <p:spPr>
          <a:xfrm>
            <a:off x="4656325" y="5679531"/>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21" name="直線コネクタ 120"/>
          <p:cNvCxnSpPr/>
          <p:nvPr/>
        </p:nvCxnSpPr>
        <p:spPr>
          <a:xfrm>
            <a:off x="6096517" y="4599387"/>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a:off x="2496037" y="3879291"/>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7" name="直線コネクタ 146"/>
          <p:cNvCxnSpPr/>
          <p:nvPr/>
        </p:nvCxnSpPr>
        <p:spPr>
          <a:xfrm>
            <a:off x="6816613" y="2799147"/>
            <a:ext cx="0" cy="360048"/>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8" name="直線コネクタ 147"/>
          <p:cNvCxnSpPr/>
          <p:nvPr/>
        </p:nvCxnSpPr>
        <p:spPr>
          <a:xfrm flipH="1" flipV="1">
            <a:off x="5376421" y="4959435"/>
            <a:ext cx="90012" cy="90012"/>
          </a:xfrm>
          <a:prstGeom prst="line">
            <a:avLst/>
          </a:prstGeom>
          <a:ln w="38100" cap="rnd">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56" name="直線コネクタ 155"/>
          <p:cNvCxnSpPr/>
          <p:nvPr/>
        </p:nvCxnSpPr>
        <p:spPr>
          <a:xfrm flipH="1" flipV="1">
            <a:off x="3936229" y="2799147"/>
            <a:ext cx="90012" cy="90012"/>
          </a:xfrm>
          <a:prstGeom prst="line">
            <a:avLst/>
          </a:prstGeom>
          <a:ln w="38100" cap="rnd">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57" name="直線コネクタ 156"/>
          <p:cNvCxnSpPr/>
          <p:nvPr/>
        </p:nvCxnSpPr>
        <p:spPr>
          <a:xfrm>
            <a:off x="3126121" y="3429231"/>
            <a:ext cx="90012" cy="90012"/>
          </a:xfrm>
          <a:prstGeom prst="line">
            <a:avLst/>
          </a:prstGeom>
          <a:ln w="38100" cap="rnd">
            <a:solidFill>
              <a:srgbClr val="FF00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58" name="直線コネクタ 157"/>
          <p:cNvCxnSpPr/>
          <p:nvPr/>
        </p:nvCxnSpPr>
        <p:spPr>
          <a:xfrm>
            <a:off x="2406025" y="3789279"/>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0" name="直線コネクタ 159"/>
          <p:cNvCxnSpPr/>
          <p:nvPr/>
        </p:nvCxnSpPr>
        <p:spPr>
          <a:xfrm>
            <a:off x="4566313" y="5589519"/>
            <a:ext cx="90012" cy="90012"/>
          </a:xfrm>
          <a:prstGeom prst="line">
            <a:avLst/>
          </a:prstGeom>
          <a:ln w="38100" cap="rnd">
            <a:solidFill>
              <a:srgbClr val="FF00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7" name="直線コネクタ 176"/>
          <p:cNvCxnSpPr/>
          <p:nvPr/>
        </p:nvCxnSpPr>
        <p:spPr>
          <a:xfrm>
            <a:off x="6006505" y="4509375"/>
            <a:ext cx="90012" cy="90012"/>
          </a:xfrm>
          <a:prstGeom prst="line">
            <a:avLst/>
          </a:prstGeom>
          <a:ln w="38100" cap="rnd">
            <a:solidFill>
              <a:srgbClr val="FF000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9" name="直線コネクタ 178"/>
          <p:cNvCxnSpPr/>
          <p:nvPr/>
        </p:nvCxnSpPr>
        <p:spPr>
          <a:xfrm>
            <a:off x="2496037" y="6039579"/>
            <a:ext cx="720096" cy="0"/>
          </a:xfrm>
          <a:prstGeom prst="line">
            <a:avLst/>
          </a:prstGeom>
          <a:ln w="38100" cap="rnd">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80" name="直線コネクタ 179"/>
          <p:cNvCxnSpPr/>
          <p:nvPr/>
        </p:nvCxnSpPr>
        <p:spPr>
          <a:xfrm flipH="1" flipV="1">
            <a:off x="2406025" y="5949567"/>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1" name="直線コネクタ 180"/>
          <p:cNvCxnSpPr/>
          <p:nvPr/>
        </p:nvCxnSpPr>
        <p:spPr>
          <a:xfrm>
            <a:off x="6096517" y="1719003"/>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82" name="直線コネクタ 181"/>
          <p:cNvCxnSpPr/>
          <p:nvPr/>
        </p:nvCxnSpPr>
        <p:spPr>
          <a:xfrm>
            <a:off x="6096517" y="1719003"/>
            <a:ext cx="720096" cy="0"/>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85" name="直線コネクタ 184"/>
          <p:cNvCxnSpPr/>
          <p:nvPr/>
        </p:nvCxnSpPr>
        <p:spPr>
          <a:xfrm>
            <a:off x="6726601" y="1628991"/>
            <a:ext cx="90012" cy="90012"/>
          </a:xfrm>
          <a:prstGeom prst="line">
            <a:avLst/>
          </a:prstGeom>
          <a:ln w="38100" cap="rnd">
            <a:solidFill>
              <a:srgbClr val="FF000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87" name="直線コネクタ 186"/>
          <p:cNvCxnSpPr/>
          <p:nvPr/>
        </p:nvCxnSpPr>
        <p:spPr>
          <a:xfrm>
            <a:off x="6636589" y="1538979"/>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p:cNvCxnSpPr/>
          <p:nvPr/>
        </p:nvCxnSpPr>
        <p:spPr>
          <a:xfrm flipV="1">
            <a:off x="2406025" y="3429231"/>
            <a:ext cx="0" cy="36004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1" name="直線コネクタ 190"/>
          <p:cNvCxnSpPr/>
          <p:nvPr/>
        </p:nvCxnSpPr>
        <p:spPr>
          <a:xfrm>
            <a:off x="6636589" y="4059315"/>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92" name="直線コネクタ 191"/>
          <p:cNvCxnSpPr/>
          <p:nvPr/>
        </p:nvCxnSpPr>
        <p:spPr>
          <a:xfrm>
            <a:off x="6096517" y="603957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93" name="直線コネクタ 192"/>
          <p:cNvCxnSpPr/>
          <p:nvPr/>
        </p:nvCxnSpPr>
        <p:spPr>
          <a:xfrm>
            <a:off x="6096517" y="6039579"/>
            <a:ext cx="720096" cy="0"/>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94" name="直線コネクタ 193"/>
          <p:cNvCxnSpPr/>
          <p:nvPr/>
        </p:nvCxnSpPr>
        <p:spPr>
          <a:xfrm flipH="1" flipV="1">
            <a:off x="6726601" y="5949567"/>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p:cNvCxnSpPr/>
          <p:nvPr/>
        </p:nvCxnSpPr>
        <p:spPr>
          <a:xfrm>
            <a:off x="6636589" y="5859555"/>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96" name="直線コネクタ 195"/>
          <p:cNvCxnSpPr/>
          <p:nvPr/>
        </p:nvCxnSpPr>
        <p:spPr>
          <a:xfrm>
            <a:off x="6816613" y="2799147"/>
            <a:ext cx="0" cy="810108"/>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p:nvPr/>
        </p:nvCxnSpPr>
        <p:spPr>
          <a:xfrm>
            <a:off x="5376421" y="5409495"/>
            <a:ext cx="2160288"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flipV="1">
            <a:off x="7536709" y="4419363"/>
            <a:ext cx="0" cy="990132"/>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2" name="直線コネクタ 201"/>
          <p:cNvCxnSpPr/>
          <p:nvPr/>
        </p:nvCxnSpPr>
        <p:spPr>
          <a:xfrm>
            <a:off x="7536709" y="4239339"/>
            <a:ext cx="0" cy="270036"/>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直線コネクタ 109"/>
          <p:cNvCxnSpPr/>
          <p:nvPr/>
        </p:nvCxnSpPr>
        <p:spPr>
          <a:xfrm>
            <a:off x="6636589" y="1538979"/>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40" name="直線コネクタ 139"/>
          <p:cNvCxnSpPr/>
          <p:nvPr/>
        </p:nvCxnSpPr>
        <p:spPr>
          <a:xfrm flipH="1">
            <a:off x="7536709" y="6039579"/>
            <a:ext cx="1080144"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1" name="直線コネクタ 140"/>
          <p:cNvCxnSpPr/>
          <p:nvPr/>
        </p:nvCxnSpPr>
        <p:spPr>
          <a:xfrm>
            <a:off x="7536709" y="6039579"/>
            <a:ext cx="90012" cy="90012"/>
          </a:xfrm>
          <a:prstGeom prst="line">
            <a:avLst/>
          </a:prstGeom>
          <a:ln w="38100" cap="rnd">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42" name="直線コネクタ 141"/>
          <p:cNvCxnSpPr/>
          <p:nvPr/>
        </p:nvCxnSpPr>
        <p:spPr>
          <a:xfrm>
            <a:off x="8616853" y="603957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H="1">
            <a:off x="6816613" y="6039579"/>
            <a:ext cx="720096"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p:cNvCxnSpPr/>
          <p:nvPr/>
        </p:nvCxnSpPr>
        <p:spPr>
          <a:xfrm>
            <a:off x="9156925" y="4419363"/>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1" name="直線コネクタ 150"/>
          <p:cNvCxnSpPr/>
          <p:nvPr/>
        </p:nvCxnSpPr>
        <p:spPr>
          <a:xfrm>
            <a:off x="9156925" y="4419363"/>
            <a:ext cx="0" cy="450060"/>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2" name="直線コネクタ 151"/>
          <p:cNvCxnSpPr/>
          <p:nvPr/>
        </p:nvCxnSpPr>
        <p:spPr>
          <a:xfrm>
            <a:off x="9066913" y="4779411"/>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55" name="直線コネクタ 154"/>
          <p:cNvCxnSpPr/>
          <p:nvPr/>
        </p:nvCxnSpPr>
        <p:spPr>
          <a:xfrm flipV="1">
            <a:off x="9246937" y="2709135"/>
            <a:ext cx="0" cy="36004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9" name="直線コネクタ 158"/>
          <p:cNvCxnSpPr/>
          <p:nvPr/>
        </p:nvCxnSpPr>
        <p:spPr>
          <a:xfrm>
            <a:off x="9156925" y="2619123"/>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61" name="直線コネクタ 160"/>
          <p:cNvCxnSpPr/>
          <p:nvPr/>
        </p:nvCxnSpPr>
        <p:spPr>
          <a:xfrm>
            <a:off x="9246937" y="3069183"/>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3" name="直線コネクタ 122"/>
          <p:cNvCxnSpPr/>
          <p:nvPr/>
        </p:nvCxnSpPr>
        <p:spPr>
          <a:xfrm flipH="1" flipV="1">
            <a:off x="8616853" y="3879291"/>
            <a:ext cx="90012" cy="90012"/>
          </a:xfrm>
          <a:prstGeom prst="line">
            <a:avLst/>
          </a:prstGeom>
          <a:ln w="38100">
            <a:solidFill>
              <a:srgbClr val="00B05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08" name="直線コネクタ 107"/>
          <p:cNvCxnSpPr/>
          <p:nvPr/>
        </p:nvCxnSpPr>
        <p:spPr>
          <a:xfrm>
            <a:off x="6816613" y="4239339"/>
            <a:ext cx="90012" cy="90012"/>
          </a:xfrm>
          <a:prstGeom prst="line">
            <a:avLst/>
          </a:prstGeom>
          <a:ln w="38100" cap="rnd">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9" name="直線コネクタ 108"/>
          <p:cNvCxnSpPr/>
          <p:nvPr/>
        </p:nvCxnSpPr>
        <p:spPr>
          <a:xfrm>
            <a:off x="6726601" y="4149327"/>
            <a:ext cx="90012" cy="90012"/>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5" name="直線コネクタ 124"/>
          <p:cNvCxnSpPr/>
          <p:nvPr/>
        </p:nvCxnSpPr>
        <p:spPr>
          <a:xfrm>
            <a:off x="6816613" y="3609255"/>
            <a:ext cx="1800240" cy="0"/>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6" name="直線コネクタ 125"/>
          <p:cNvCxnSpPr/>
          <p:nvPr/>
        </p:nvCxnSpPr>
        <p:spPr>
          <a:xfrm>
            <a:off x="8616853" y="3609255"/>
            <a:ext cx="0" cy="270036"/>
          </a:xfrm>
          <a:prstGeom prst="line">
            <a:avLst/>
          </a:prstGeom>
          <a:ln w="38100" cap="rnd">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7" name="直線コネクタ 106"/>
          <p:cNvCxnSpPr/>
          <p:nvPr/>
        </p:nvCxnSpPr>
        <p:spPr>
          <a:xfrm flipH="1">
            <a:off x="2316013" y="3339219"/>
            <a:ext cx="8191092" cy="0"/>
          </a:xfrm>
          <a:prstGeom prst="line">
            <a:avLst/>
          </a:prstGeom>
          <a:ln w="38100" cap="rnd">
            <a:solidFill>
              <a:srgbClr val="0070C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3" name="直線コネクタ 132"/>
          <p:cNvCxnSpPr/>
          <p:nvPr/>
        </p:nvCxnSpPr>
        <p:spPr>
          <a:xfrm flipH="1">
            <a:off x="9066913" y="4779411"/>
            <a:ext cx="1440192" cy="0"/>
          </a:xfrm>
          <a:prstGeom prst="line">
            <a:avLst/>
          </a:prstGeom>
          <a:ln w="38100" cap="rnd">
            <a:solidFill>
              <a:srgbClr val="0070C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4" name="直線コネクタ 133"/>
          <p:cNvCxnSpPr/>
          <p:nvPr/>
        </p:nvCxnSpPr>
        <p:spPr>
          <a:xfrm>
            <a:off x="2316013" y="3339219"/>
            <a:ext cx="90012" cy="90012"/>
          </a:xfrm>
          <a:prstGeom prst="line">
            <a:avLst/>
          </a:prstGeom>
          <a:ln w="38100" cap="rnd">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3126121" y="1088919"/>
            <a:ext cx="0" cy="2340312"/>
          </a:xfrm>
          <a:prstGeom prst="line">
            <a:avLst/>
          </a:prstGeom>
          <a:ln w="38100" cap="rnd">
            <a:solidFill>
              <a:srgbClr val="FF000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9" name="直線コネクタ 138"/>
          <p:cNvCxnSpPr/>
          <p:nvPr/>
        </p:nvCxnSpPr>
        <p:spPr>
          <a:xfrm>
            <a:off x="8436829"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4" name="直線コネクタ 153"/>
          <p:cNvCxnSpPr/>
          <p:nvPr/>
        </p:nvCxnSpPr>
        <p:spPr>
          <a:xfrm>
            <a:off x="7446697"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3126121"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a:off x="4566313"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p:cNvCxnSpPr/>
          <p:nvPr/>
        </p:nvCxnSpPr>
        <p:spPr>
          <a:xfrm>
            <a:off x="6006505" y="1088919"/>
            <a:ext cx="0" cy="5760768"/>
          </a:xfrm>
          <a:prstGeom prst="line">
            <a:avLst/>
          </a:prstGeom>
          <a:ln w="38100" cap="rnd">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3" name="直線コネクタ 112"/>
          <p:cNvCxnSpPr/>
          <p:nvPr/>
        </p:nvCxnSpPr>
        <p:spPr>
          <a:xfrm>
            <a:off x="1865953" y="1538979"/>
            <a:ext cx="8641152" cy="0"/>
          </a:xfrm>
          <a:prstGeom prst="line">
            <a:avLst/>
          </a:prstGeom>
          <a:ln w="38100" cap="rnd">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4" name="直線コネクタ 113"/>
          <p:cNvCxnSpPr/>
          <p:nvPr/>
        </p:nvCxnSpPr>
        <p:spPr>
          <a:xfrm>
            <a:off x="1865953" y="2619123"/>
            <a:ext cx="8641152" cy="0"/>
          </a:xfrm>
          <a:prstGeom prst="line">
            <a:avLst/>
          </a:prstGeom>
          <a:ln w="38100" cap="rnd">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4" name="直線コネクタ 123"/>
          <p:cNvCxnSpPr/>
          <p:nvPr/>
        </p:nvCxnSpPr>
        <p:spPr>
          <a:xfrm flipH="1">
            <a:off x="1865953" y="4059315"/>
            <a:ext cx="8641152" cy="0"/>
          </a:xfrm>
          <a:prstGeom prst="line">
            <a:avLst/>
          </a:prstGeom>
          <a:ln w="38100" cap="rnd">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7" name="直線コネクタ 126"/>
          <p:cNvCxnSpPr/>
          <p:nvPr/>
        </p:nvCxnSpPr>
        <p:spPr>
          <a:xfrm>
            <a:off x="1865953" y="4779411"/>
            <a:ext cx="7200960" cy="0"/>
          </a:xfrm>
          <a:prstGeom prst="line">
            <a:avLst/>
          </a:prstGeom>
          <a:ln w="38100" cap="rnd">
            <a:solidFill>
              <a:srgbClr val="0070C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1" name="直線コネクタ 130"/>
          <p:cNvCxnSpPr/>
          <p:nvPr/>
        </p:nvCxnSpPr>
        <p:spPr>
          <a:xfrm>
            <a:off x="1865953" y="5859555"/>
            <a:ext cx="8641152" cy="0"/>
          </a:xfrm>
          <a:prstGeom prst="line">
            <a:avLst/>
          </a:prstGeom>
          <a:ln w="38100" cap="rnd">
            <a:solidFill>
              <a:srgbClr val="0070C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2" name="直線コネクタ 131"/>
          <p:cNvCxnSpPr/>
          <p:nvPr/>
        </p:nvCxnSpPr>
        <p:spPr>
          <a:xfrm>
            <a:off x="1865953" y="3339219"/>
            <a:ext cx="450060" cy="0"/>
          </a:xfrm>
          <a:prstGeom prst="line">
            <a:avLst/>
          </a:prstGeom>
          <a:ln w="38100" cap="rnd">
            <a:solidFill>
              <a:srgbClr val="0070C0"/>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p:nvPr>
        </p:nvSpPr>
        <p:spPr/>
        <p:txBody>
          <a:bodyPr/>
          <a:lstStyle/>
          <a:p>
            <a:r>
              <a:rPr lang="en-US" altLang="ja-JP" dirty="0"/>
              <a:t>3</a:t>
            </a:r>
            <a:r>
              <a:rPr lang="ja-JP" altLang="en-US" dirty="0"/>
              <a:t>次元的な構造を考えながら，設計</a:t>
            </a:r>
            <a:endParaRPr kumimoji="1" lang="ja-JP" altLang="en-US" dirty="0"/>
          </a:p>
        </p:txBody>
      </p:sp>
    </p:spTree>
    <p:extLst>
      <p:ext uri="{BB962C8B-B14F-4D97-AF65-F5344CB8AC3E}">
        <p14:creationId xmlns:p14="http://schemas.microsoft.com/office/powerpoint/2010/main" val="2403874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実際の設計データ</a:t>
            </a:r>
            <a:endParaRPr kumimoji="1" lang="ja-JP" altLang="en-US" dirty="0"/>
          </a:p>
        </p:txBody>
      </p:sp>
      <p:sp>
        <p:nvSpPr>
          <p:cNvPr id="5" name="テキスト プレースホルダー 4"/>
          <p:cNvSpPr>
            <a:spLocks noGrp="1"/>
          </p:cNvSpPr>
          <p:nvPr>
            <p:ph type="body" sz="quarter" idx="10"/>
          </p:nvPr>
        </p:nvSpPr>
        <p:spPr/>
        <p:txBody>
          <a:bodyPr/>
          <a:lstStyle/>
          <a:p>
            <a:endParaRPr kumimoji="1" lang="ja-JP" altLang="en-US"/>
          </a:p>
        </p:txBody>
      </p:sp>
      <p:pic>
        <p:nvPicPr>
          <p:cNvPr id="4" name="図 3"/>
          <p:cNvPicPr>
            <a:picLocks noChangeAspect="1"/>
          </p:cNvPicPr>
          <p:nvPr/>
        </p:nvPicPr>
        <p:blipFill>
          <a:blip r:embed="rId2"/>
          <a:stretch>
            <a:fillRect/>
          </a:stretch>
        </p:blipFill>
        <p:spPr>
          <a:xfrm>
            <a:off x="2045955" y="2258987"/>
            <a:ext cx="8452256" cy="3305876"/>
          </a:xfrm>
          <a:prstGeom prst="rect">
            <a:avLst/>
          </a:prstGeom>
        </p:spPr>
      </p:pic>
    </p:spTree>
    <p:extLst>
      <p:ext uri="{BB962C8B-B14F-4D97-AF65-F5344CB8AC3E}">
        <p14:creationId xmlns:p14="http://schemas.microsoft.com/office/powerpoint/2010/main" val="3566262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55954" y="3"/>
            <a:ext cx="8712046" cy="638969"/>
          </a:xfrm>
        </p:spPr>
        <p:txBody>
          <a:bodyPr/>
          <a:lstStyle/>
          <a:p>
            <a:r>
              <a:rPr kumimoji="1" lang="ja-JP" altLang="en-US" dirty="0"/>
              <a:t>実際の例：</a:t>
            </a:r>
            <a:r>
              <a:rPr kumimoji="1" lang="en-US" altLang="ja-JP" dirty="0"/>
              <a:t>IBM POWER8 </a:t>
            </a:r>
            <a:r>
              <a:rPr kumimoji="1" lang="ja-JP" altLang="en-US" dirty="0"/>
              <a:t>のチップ写真</a:t>
            </a:r>
          </a:p>
        </p:txBody>
      </p:sp>
      <p:sp>
        <p:nvSpPr>
          <p:cNvPr id="3" name="テキスト プレースホルダー 2"/>
          <p:cNvSpPr>
            <a:spLocks noGrp="1"/>
          </p:cNvSpPr>
          <p:nvPr>
            <p:ph type="body" sz="quarter" idx="10"/>
          </p:nvPr>
        </p:nvSpPr>
        <p:spPr>
          <a:xfrm>
            <a:off x="1524000" y="5859027"/>
            <a:ext cx="8892048" cy="449698"/>
          </a:xfrm>
        </p:spPr>
        <p:txBody>
          <a:bodyPr/>
          <a:lstStyle/>
          <a:p>
            <a:pPr lvl="1"/>
            <a:r>
              <a:rPr kumimoji="1" lang="ja-JP" altLang="en-US" dirty="0" err="1"/>
              <a:t>もわっ</a:t>
            </a:r>
            <a:r>
              <a:rPr kumimoji="1" lang="ja-JP" altLang="en-US" dirty="0"/>
              <a:t>とした模様の部分がスタンダード・セルを自動で配置した部分</a:t>
            </a:r>
            <a:endParaRPr kumimoji="1" lang="en-US" altLang="ja-JP" dirty="0"/>
          </a:p>
          <a:p>
            <a:pPr lvl="1"/>
            <a:r>
              <a:rPr kumimoji="1" lang="ja-JP" altLang="en-US" dirty="0"/>
              <a:t>四角いところは基本的にはメモリ</a:t>
            </a:r>
            <a:endParaRPr kumimoji="1" lang="en-US" altLang="ja-JP" dirty="0"/>
          </a:p>
          <a:p>
            <a:pPr lvl="2"/>
            <a:r>
              <a:rPr kumimoji="1" lang="ja-JP" altLang="en-US" dirty="0"/>
              <a:t>同じものが規則正しく並んでいる</a:t>
            </a:r>
          </a:p>
        </p:txBody>
      </p:sp>
      <p:pic>
        <p:nvPicPr>
          <p:cNvPr id="4" name="図 3"/>
          <p:cNvPicPr>
            <a:picLocks noChangeAspect="1"/>
          </p:cNvPicPr>
          <p:nvPr/>
        </p:nvPicPr>
        <p:blipFill>
          <a:blip r:embed="rId2"/>
          <a:stretch>
            <a:fillRect/>
          </a:stretch>
        </p:blipFill>
        <p:spPr>
          <a:xfrm>
            <a:off x="2945968" y="1088977"/>
            <a:ext cx="6763067" cy="4444831"/>
          </a:xfrm>
          <a:prstGeom prst="rect">
            <a:avLst/>
          </a:prstGeom>
        </p:spPr>
      </p:pic>
      <p:sp>
        <p:nvSpPr>
          <p:cNvPr id="5" name="テキスト プレースホルダー 2"/>
          <p:cNvSpPr txBox="1">
            <a:spLocks/>
          </p:cNvSpPr>
          <p:nvPr/>
        </p:nvSpPr>
        <p:spPr bwMode="auto">
          <a:xfrm>
            <a:off x="1955954" y="458967"/>
            <a:ext cx="8280092" cy="4496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100" kern="0" dirty="0">
                <a:solidFill>
                  <a:schemeClr val="bg1"/>
                </a:solidFill>
              </a:rPr>
              <a:t>画像は </a:t>
            </a:r>
            <a:r>
              <a:rPr lang="en-US" altLang="ja-JP" sz="1100" dirty="0">
                <a:solidFill>
                  <a:schemeClr val="bg1"/>
                </a:solidFill>
              </a:rPr>
              <a:t>2014 IEEE International Solid-State Circuits Conference </a:t>
            </a:r>
            <a:r>
              <a:rPr lang="en-US" altLang="ja-JP" sz="1100" kern="0" dirty="0">
                <a:solidFill>
                  <a:schemeClr val="bg1"/>
                </a:solidFill>
              </a:rPr>
              <a:t>5.1: POWER8TM: A 12-Core Server-Class Processor in 22nm SOI with 7.6Tb/s Off-Chip Bandwidth </a:t>
            </a:r>
            <a:r>
              <a:rPr lang="ja-JP" altLang="en-US" sz="1100" kern="0" dirty="0">
                <a:solidFill>
                  <a:schemeClr val="bg1"/>
                </a:solidFill>
              </a:rPr>
              <a:t>より</a:t>
            </a:r>
          </a:p>
        </p:txBody>
      </p:sp>
    </p:spTree>
    <p:extLst>
      <p:ext uri="{BB962C8B-B14F-4D97-AF65-F5344CB8AC3E}">
        <p14:creationId xmlns:p14="http://schemas.microsoft.com/office/powerpoint/2010/main" val="11438942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B04B2E-4030-0D02-B825-F44422B906D3}"/>
              </a:ext>
            </a:extLst>
          </p:cNvPr>
          <p:cNvSpPr>
            <a:spLocks noGrp="1"/>
          </p:cNvSpPr>
          <p:nvPr>
            <p:ph type="title"/>
          </p:nvPr>
        </p:nvSpPr>
        <p:spPr/>
        <p:txBody>
          <a:bodyPr/>
          <a:lstStyle/>
          <a:p>
            <a:r>
              <a:rPr kumimoji="1" lang="en-US" altLang="ja-JP" dirty="0"/>
              <a:t>Zen5 </a:t>
            </a:r>
            <a:r>
              <a:rPr kumimoji="1" lang="ja-JP" altLang="en-US" dirty="0"/>
              <a:t>のチップ写真</a:t>
            </a:r>
            <a:br>
              <a:rPr kumimoji="1" lang="en-US" altLang="ja-JP" dirty="0"/>
            </a:br>
            <a:r>
              <a:rPr kumimoji="1" lang="en-US" altLang="ja-JP" sz="1400" dirty="0" err="1"/>
              <a:t>Fritzchens</a:t>
            </a:r>
            <a:r>
              <a:rPr kumimoji="1" lang="en-US" altLang="ja-JP" sz="1400" dirty="0"/>
              <a:t> Fritz, </a:t>
            </a:r>
            <a:r>
              <a:rPr lang="en-US" altLang="ja-JP" sz="1400" dirty="0"/>
              <a:t>https://www.flickr.com/photos/130561288@N04/albums/72177720320942793/with/54045630362 </a:t>
            </a:r>
            <a:r>
              <a:rPr lang="ja-JP" altLang="en-US" sz="1400" dirty="0"/>
              <a:t>より</a:t>
            </a:r>
            <a:endParaRPr kumimoji="1" lang="ja-JP" altLang="en-US" dirty="0"/>
          </a:p>
        </p:txBody>
      </p:sp>
      <p:sp>
        <p:nvSpPr>
          <p:cNvPr id="3" name="テキスト プレースホルダー 2">
            <a:extLst>
              <a:ext uri="{FF2B5EF4-FFF2-40B4-BE49-F238E27FC236}">
                <a16:creationId xmlns:a16="http://schemas.microsoft.com/office/drawing/2014/main" id="{235163BD-C4CA-4E43-53D4-810762F2AC0C}"/>
              </a:ext>
            </a:extLst>
          </p:cNvPr>
          <p:cNvSpPr>
            <a:spLocks noGrp="1"/>
          </p:cNvSpPr>
          <p:nvPr>
            <p:ph type="body" sz="quarter" idx="10"/>
          </p:nvPr>
        </p:nvSpPr>
        <p:spPr/>
        <p:txBody>
          <a:bodyPr/>
          <a:lstStyle/>
          <a:p>
            <a:endParaRPr kumimoji="1" lang="ja-JP" altLang="en-US"/>
          </a:p>
        </p:txBody>
      </p:sp>
      <p:pic>
        <p:nvPicPr>
          <p:cNvPr id="5" name="図 4">
            <a:extLst>
              <a:ext uri="{FF2B5EF4-FFF2-40B4-BE49-F238E27FC236}">
                <a16:creationId xmlns:a16="http://schemas.microsoft.com/office/drawing/2014/main" id="{178F7B25-3B40-C3C6-8D0D-3094D86B89DF}"/>
              </a:ext>
            </a:extLst>
          </p:cNvPr>
          <p:cNvPicPr>
            <a:picLocks noChangeAspect="1"/>
          </p:cNvPicPr>
          <p:nvPr/>
        </p:nvPicPr>
        <p:blipFill>
          <a:blip r:embed="rId2"/>
          <a:stretch>
            <a:fillRect/>
          </a:stretch>
        </p:blipFill>
        <p:spPr>
          <a:xfrm>
            <a:off x="875942" y="1178975"/>
            <a:ext cx="10236046" cy="5007493"/>
          </a:xfrm>
          <a:prstGeom prst="rect">
            <a:avLst/>
          </a:prstGeom>
        </p:spPr>
      </p:pic>
    </p:spTree>
    <p:extLst>
      <p:ext uri="{BB962C8B-B14F-4D97-AF65-F5344CB8AC3E}">
        <p14:creationId xmlns:p14="http://schemas.microsoft.com/office/powerpoint/2010/main" val="21025940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回路の設計のまとめ</a:t>
            </a:r>
          </a:p>
        </p:txBody>
      </p:sp>
      <p:sp>
        <p:nvSpPr>
          <p:cNvPr id="3" name="テキスト プレースホルダー 2"/>
          <p:cNvSpPr>
            <a:spLocks noGrp="1"/>
          </p:cNvSpPr>
          <p:nvPr>
            <p:ph type="body" sz="quarter" idx="10"/>
          </p:nvPr>
        </p:nvSpPr>
        <p:spPr/>
        <p:txBody>
          <a:bodyPr/>
          <a:lstStyle/>
          <a:p>
            <a:r>
              <a:rPr kumimoji="1" lang="ja-JP" altLang="en-US" dirty="0"/>
              <a:t>論理関数や記憶素子は，</a:t>
            </a:r>
            <a:br>
              <a:rPr kumimoji="1" lang="en-US" altLang="ja-JP" dirty="0"/>
            </a:br>
            <a:r>
              <a:rPr kumimoji="1" lang="ja-JP" altLang="en-US" dirty="0"/>
              <a:t>すべて完全集合の要素のゲートに分解して実装出来る</a:t>
            </a:r>
            <a:endParaRPr kumimoji="1" lang="en-US" altLang="ja-JP" dirty="0"/>
          </a:p>
          <a:p>
            <a:r>
              <a:rPr kumimoji="1" lang="en-US" altLang="ja-JP" dirty="0"/>
              <a:t>CPU </a:t>
            </a:r>
            <a:r>
              <a:rPr kumimoji="1" lang="ja-JP" altLang="en-US" dirty="0"/>
              <a:t>の設計と製造の流れ</a:t>
            </a:r>
            <a:endParaRPr kumimoji="1" lang="en-US" altLang="ja-JP" dirty="0"/>
          </a:p>
          <a:p>
            <a:pPr marL="817200" lvl="1" indent="-457200">
              <a:buFont typeface="+mj-lt"/>
              <a:buAutoNum type="arabicPeriod"/>
            </a:pPr>
            <a:r>
              <a:rPr kumimoji="1" lang="ja-JP" altLang="en-US" dirty="0"/>
              <a:t>命令セットの仕様を考える</a:t>
            </a:r>
            <a:endParaRPr kumimoji="1" lang="en-US" altLang="ja-JP" dirty="0"/>
          </a:p>
          <a:p>
            <a:pPr marL="817200" lvl="1" indent="-457200">
              <a:buFont typeface="+mj-lt"/>
              <a:buAutoNum type="arabicPeriod"/>
            </a:pPr>
            <a:r>
              <a:rPr kumimoji="1" lang="ja-JP" altLang="en-US" dirty="0"/>
              <a:t>ブロック図のレベルで設計する</a:t>
            </a:r>
            <a:endParaRPr kumimoji="1" lang="en-US" altLang="ja-JP" dirty="0"/>
          </a:p>
          <a:p>
            <a:pPr marL="817200" lvl="1" indent="-457200">
              <a:buFont typeface="+mj-lt"/>
              <a:buAutoNum type="arabicPeriod"/>
            </a:pPr>
            <a:r>
              <a:rPr kumimoji="1" lang="ja-JP" altLang="en-US" dirty="0"/>
              <a:t>ハードウェア記述言語で回路を記述する</a:t>
            </a:r>
            <a:endParaRPr kumimoji="1" lang="en-US" altLang="ja-JP" dirty="0"/>
          </a:p>
          <a:p>
            <a:pPr marL="817200" lvl="1" indent="-457200">
              <a:buFont typeface="+mj-lt"/>
              <a:buAutoNum type="arabicPeriod"/>
            </a:pPr>
            <a:r>
              <a:rPr kumimoji="1" lang="ja-JP" altLang="en-US" dirty="0"/>
              <a:t>論理合成する</a:t>
            </a:r>
            <a:endParaRPr kumimoji="1" lang="en-US" altLang="ja-JP" dirty="0"/>
          </a:p>
          <a:p>
            <a:pPr marL="817200" lvl="1" indent="-457200">
              <a:buFont typeface="+mj-lt"/>
              <a:buAutoNum type="arabicPeriod"/>
            </a:pPr>
            <a:r>
              <a:rPr kumimoji="1" lang="ja-JP" altLang="en-US" dirty="0"/>
              <a:t>配置配線する</a:t>
            </a:r>
            <a:endParaRPr kumimoji="1" lang="en-US" altLang="ja-JP" dirty="0"/>
          </a:p>
          <a:p>
            <a:pPr marL="817200" lvl="1" indent="-457200">
              <a:buFont typeface="+mj-lt"/>
              <a:buAutoNum type="arabicPeriod"/>
            </a:pPr>
            <a:r>
              <a:rPr kumimoji="1" lang="ja-JP" altLang="en-US" dirty="0"/>
              <a:t>設計データを工場で焼いてもらう</a:t>
            </a:r>
          </a:p>
        </p:txBody>
      </p:sp>
    </p:spTree>
    <p:extLst>
      <p:ext uri="{BB962C8B-B14F-4D97-AF65-F5344CB8AC3E}">
        <p14:creationId xmlns:p14="http://schemas.microsoft.com/office/powerpoint/2010/main" val="3214913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論理回路の実現方法</a:t>
            </a:r>
            <a:r>
              <a:rPr lang="ja-JP" altLang="en-US" dirty="0"/>
              <a:t>と，電力効率や遅延</a:t>
            </a:r>
            <a:endParaRPr kumimoji="1" lang="ja-JP" altLang="en-US" dirty="0"/>
          </a:p>
        </p:txBody>
      </p:sp>
    </p:spTree>
    <p:extLst>
      <p:ext uri="{BB962C8B-B14F-4D97-AF65-F5344CB8AC3E}">
        <p14:creationId xmlns:p14="http://schemas.microsoft.com/office/powerpoint/2010/main" val="2602657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117E17-B3FC-B2E2-CEA8-964861055E33}"/>
              </a:ext>
            </a:extLst>
          </p:cNvPr>
          <p:cNvSpPr>
            <a:spLocks noGrp="1"/>
          </p:cNvSpPr>
          <p:nvPr>
            <p:ph type="title"/>
          </p:nvPr>
        </p:nvSpPr>
        <p:spPr/>
        <p:txBody>
          <a:bodyPr/>
          <a:lstStyle/>
          <a:p>
            <a:r>
              <a:rPr kumimoji="1" lang="ja-JP" altLang="en-US" dirty="0"/>
              <a:t>現代のコンピュータの速度</a:t>
            </a:r>
            <a:endParaRPr kumimoji="1" lang="en-US" dirty="0"/>
          </a:p>
        </p:txBody>
      </p:sp>
      <p:sp>
        <p:nvSpPr>
          <p:cNvPr id="3" name="テキスト プレースホルダー 2">
            <a:extLst>
              <a:ext uri="{FF2B5EF4-FFF2-40B4-BE49-F238E27FC236}">
                <a16:creationId xmlns:a16="http://schemas.microsoft.com/office/drawing/2014/main" id="{93EDE26E-5C9E-35B7-0B24-996469045091}"/>
              </a:ext>
            </a:extLst>
          </p:cNvPr>
          <p:cNvSpPr>
            <a:spLocks noGrp="1"/>
          </p:cNvSpPr>
          <p:nvPr>
            <p:ph type="body" sz="quarter" idx="10"/>
          </p:nvPr>
        </p:nvSpPr>
        <p:spPr>
          <a:xfrm>
            <a:off x="1775951" y="1088974"/>
            <a:ext cx="9990112" cy="5490061"/>
          </a:xfrm>
        </p:spPr>
        <p:txBody>
          <a:bodyPr/>
          <a:lstStyle/>
          <a:p>
            <a:r>
              <a:rPr kumimoji="1" lang="ja-JP" altLang="en-US" dirty="0"/>
              <a:t>速度は電力（とそれによって生じる熱）によってかなり律速されている</a:t>
            </a:r>
            <a:endParaRPr kumimoji="1" lang="en-US" altLang="ja-JP" dirty="0"/>
          </a:p>
          <a:p>
            <a:pPr lvl="1"/>
            <a:r>
              <a:rPr kumimoji="1" lang="ja-JP" altLang="en-US" dirty="0"/>
              <a:t>チップに供給できる電力はピン数などから一定</a:t>
            </a:r>
            <a:endParaRPr kumimoji="1" lang="en-US" altLang="ja-JP" dirty="0"/>
          </a:p>
          <a:p>
            <a:pPr lvl="1"/>
            <a:r>
              <a:rPr kumimoji="1" lang="ja-JP" altLang="en-US" dirty="0"/>
              <a:t>排熱にも物理的な限界がある</a:t>
            </a:r>
            <a:endParaRPr kumimoji="1" lang="en-US" altLang="ja-JP" dirty="0"/>
          </a:p>
          <a:p>
            <a:r>
              <a:rPr lang="ja-JP" altLang="en-US" dirty="0"/>
              <a:t>だいたい数百～</a:t>
            </a:r>
            <a:r>
              <a:rPr lang="en-US" altLang="ja-JP" dirty="0"/>
              <a:t>1000 </a:t>
            </a:r>
            <a:r>
              <a:rPr lang="ja-JP" altLang="en-US" dirty="0"/>
              <a:t>ワット程度を供給するのが限界</a:t>
            </a:r>
            <a:endParaRPr kumimoji="1" lang="en-US" altLang="ja-JP" dirty="0"/>
          </a:p>
          <a:p>
            <a:r>
              <a:rPr kumimoji="1" lang="ja-JP" altLang="en-US" dirty="0"/>
              <a:t>計算を行うために必要なエネルギーが，速度を決める重要な尺度となる</a:t>
            </a:r>
            <a:endParaRPr kumimoji="1" lang="en-US" altLang="ja-JP" dirty="0"/>
          </a:p>
          <a:p>
            <a:pPr lvl="1"/>
            <a:r>
              <a:rPr lang="ja-JP" altLang="en-US" dirty="0"/>
              <a:t>同じ処理を行うのに必要なエネルギーが減れば，時間あたりの処理数が増える</a:t>
            </a:r>
            <a:endParaRPr kumimoji="1" lang="en-US" dirty="0"/>
          </a:p>
        </p:txBody>
      </p:sp>
    </p:spTree>
    <p:extLst>
      <p:ext uri="{BB962C8B-B14F-4D97-AF65-F5344CB8AC3E}">
        <p14:creationId xmlns:p14="http://schemas.microsoft.com/office/powerpoint/2010/main" val="615115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BD129F-A82D-56E6-7B3D-41859FBA4ADD}"/>
              </a:ext>
            </a:extLst>
          </p:cNvPr>
          <p:cNvSpPr>
            <a:spLocks noGrp="1"/>
          </p:cNvSpPr>
          <p:nvPr>
            <p:ph type="title"/>
          </p:nvPr>
        </p:nvSpPr>
        <p:spPr/>
        <p:txBody>
          <a:bodyPr/>
          <a:lstStyle/>
          <a:p>
            <a:r>
              <a:rPr kumimoji="1" lang="ja-JP" altLang="en-US" dirty="0"/>
              <a:t>消費電力や効率</a:t>
            </a:r>
            <a:endParaRPr kumimoji="1" lang="en-US" dirty="0"/>
          </a:p>
        </p:txBody>
      </p:sp>
      <p:sp>
        <p:nvSpPr>
          <p:cNvPr id="3" name="テキスト プレースホルダー 2">
            <a:extLst>
              <a:ext uri="{FF2B5EF4-FFF2-40B4-BE49-F238E27FC236}">
                <a16:creationId xmlns:a16="http://schemas.microsoft.com/office/drawing/2014/main" id="{8A5364E3-DF20-AE7A-0C05-BFED2DCA0511}"/>
              </a:ext>
            </a:extLst>
          </p:cNvPr>
          <p:cNvSpPr>
            <a:spLocks noGrp="1"/>
          </p:cNvSpPr>
          <p:nvPr>
            <p:ph type="body" sz="quarter" idx="10"/>
          </p:nvPr>
        </p:nvSpPr>
        <p:spPr/>
        <p:txBody>
          <a:bodyPr/>
          <a:lstStyle/>
          <a:p>
            <a:r>
              <a:rPr kumimoji="1" lang="ja-JP" altLang="en-US" dirty="0"/>
              <a:t>回路の量と消費電力は（概ね）比例するが，なぜか？</a:t>
            </a:r>
            <a:endParaRPr kumimoji="1" lang="en-US" altLang="ja-JP" dirty="0"/>
          </a:p>
          <a:p>
            <a:r>
              <a:rPr kumimoji="1" lang="ja-JP" altLang="en-US" dirty="0"/>
              <a:t>なぜ計算により電力が消費されるのか？</a:t>
            </a:r>
            <a:endParaRPr kumimoji="1" lang="en-US" altLang="ja-JP" dirty="0"/>
          </a:p>
          <a:p>
            <a:pPr lvl="1"/>
            <a:r>
              <a:rPr kumimoji="1" lang="ja-JP" altLang="en-US" dirty="0"/>
              <a:t>なぜ「情報」を処理すると電力が消費される？</a:t>
            </a:r>
            <a:endParaRPr kumimoji="1" lang="en-US" altLang="ja-JP" dirty="0"/>
          </a:p>
          <a:p>
            <a:pPr lvl="1"/>
            <a:r>
              <a:rPr kumimoji="1" lang="ja-JP" altLang="en-US" dirty="0"/>
              <a:t>消費される電力の量はどのように決まる？</a:t>
            </a:r>
            <a:endParaRPr kumimoji="1" lang="en-US" altLang="ja-JP" dirty="0"/>
          </a:p>
          <a:p>
            <a:pPr lvl="1"/>
            <a:endParaRPr kumimoji="1" lang="en-US" altLang="ja-JP" dirty="0"/>
          </a:p>
          <a:p>
            <a:r>
              <a:rPr kumimoji="1" lang="ja-JP" altLang="en-US" dirty="0"/>
              <a:t>これらを考える上で半導体の仕組みを大雑把に説明</a:t>
            </a:r>
            <a:endParaRPr kumimoji="1" lang="en-US" dirty="0"/>
          </a:p>
        </p:txBody>
      </p:sp>
    </p:spTree>
    <p:extLst>
      <p:ext uri="{BB962C8B-B14F-4D97-AF65-F5344CB8AC3E}">
        <p14:creationId xmlns:p14="http://schemas.microsoft.com/office/powerpoint/2010/main" val="3686625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論理ゲートの構成</a:t>
            </a:r>
          </a:p>
        </p:txBody>
      </p:sp>
      <p:sp>
        <p:nvSpPr>
          <p:cNvPr id="5" name="テキスト プレースホルダー 4"/>
          <p:cNvSpPr>
            <a:spLocks noGrp="1"/>
          </p:cNvSpPr>
          <p:nvPr>
            <p:ph type="body" sz="quarter" idx="10"/>
          </p:nvPr>
        </p:nvSpPr>
        <p:spPr/>
        <p:txBody>
          <a:bodyPr/>
          <a:lstStyle/>
          <a:p>
            <a:r>
              <a:rPr kumimoji="1" lang="en-US" altLang="ja-JP" dirty="0"/>
              <a:t>CMOS </a:t>
            </a:r>
            <a:r>
              <a:rPr kumimoji="1" lang="ja-JP" altLang="en-US" dirty="0"/>
              <a:t>と呼ばれる方式により，各種ゲートは実現されている</a:t>
            </a:r>
            <a:endParaRPr kumimoji="1" lang="en-US" altLang="ja-JP" dirty="0"/>
          </a:p>
          <a:p>
            <a:pPr lvl="1"/>
            <a:r>
              <a:rPr kumimoji="1" lang="ja-JP" altLang="en-US" dirty="0"/>
              <a:t>スタンダード・セルの中身は</a:t>
            </a:r>
            <a:r>
              <a:rPr lang="ja-JP" altLang="en-US" dirty="0"/>
              <a:t> </a:t>
            </a:r>
            <a:r>
              <a:rPr lang="en-US" altLang="ja-JP" dirty="0"/>
              <a:t>CMOS </a:t>
            </a:r>
            <a:endParaRPr kumimoji="1" lang="en-US" altLang="ja-JP" dirty="0"/>
          </a:p>
          <a:p>
            <a:pPr lvl="1"/>
            <a:r>
              <a:rPr kumimoji="1" lang="ja-JP" altLang="en-US" dirty="0"/>
              <a:t>フルカスタム・レイアウトは，</a:t>
            </a:r>
            <a:r>
              <a:rPr kumimoji="1" lang="en-US" altLang="ja-JP" dirty="0"/>
              <a:t>CMOS </a:t>
            </a:r>
            <a:r>
              <a:rPr kumimoji="1" lang="ja-JP" altLang="en-US" dirty="0"/>
              <a:t>を描いている</a:t>
            </a:r>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44</a:t>
            </a:fld>
            <a:endParaRPr kumimoji="1" lang="ja-JP" altLang="en-US"/>
          </a:p>
        </p:txBody>
      </p:sp>
    </p:spTree>
    <p:extLst>
      <p:ext uri="{BB962C8B-B14F-4D97-AF65-F5344CB8AC3E}">
        <p14:creationId xmlns:p14="http://schemas.microsoft.com/office/powerpoint/2010/main" val="1331896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41" name="Freeform 9"/>
          <p:cNvSpPr>
            <a:spLocks/>
          </p:cNvSpPr>
          <p:nvPr/>
        </p:nvSpPr>
        <p:spPr bwMode="auto">
          <a:xfrm>
            <a:off x="3575972" y="4239010"/>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3" name="正方形/長方形 2"/>
          <p:cNvSpPr/>
          <p:nvPr/>
        </p:nvSpPr>
        <p:spPr bwMode="auto">
          <a:xfrm>
            <a:off x="2495772" y="4959119"/>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ctr" anchorCtr="0" compatLnSpc="1">
            <a:prstTxWarp prst="textNoShape">
              <a:avLst/>
            </a:prstTxWarp>
          </a:bodyPr>
          <a:lstStyle/>
          <a:p>
            <a:pPr algn="ctr" fontAlgn="base">
              <a:spcBef>
                <a:spcPct val="0"/>
              </a:spcBef>
              <a:spcAft>
                <a:spcPct val="0"/>
              </a:spcAft>
            </a:pPr>
            <a:r>
              <a:rPr lang="ja-JP" altLang="en-US" sz="1200" dirty="0">
                <a:solidFill>
                  <a:schemeClr val="tx1"/>
                </a:solidFill>
              </a:rPr>
              <a:t>酸化膜（絶縁体）</a:t>
            </a:r>
          </a:p>
        </p:txBody>
      </p:sp>
      <p:sp>
        <p:nvSpPr>
          <p:cNvPr id="556040" name="Rectangle 8"/>
          <p:cNvSpPr>
            <a:spLocks noChangeArrowheads="1"/>
          </p:cNvSpPr>
          <p:nvPr/>
        </p:nvSpPr>
        <p:spPr bwMode="auto">
          <a:xfrm>
            <a:off x="2495803" y="5228826"/>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34" name="Rectangle 2"/>
          <p:cNvSpPr>
            <a:spLocks noGrp="1" noChangeArrowheads="1"/>
          </p:cNvSpPr>
          <p:nvPr>
            <p:ph type="title"/>
          </p:nvPr>
        </p:nvSpPr>
        <p:spPr/>
        <p:txBody>
          <a:bodyPr/>
          <a:lstStyle/>
          <a:p>
            <a:r>
              <a:rPr lang="en-US" altLang="ja-JP" dirty="0">
                <a:latin typeface="+mn-ea"/>
                <a:ea typeface="+mn-ea"/>
              </a:rPr>
              <a:t>MOS FET</a:t>
            </a:r>
          </a:p>
        </p:txBody>
      </p:sp>
      <p:sp>
        <p:nvSpPr>
          <p:cNvPr id="4" name="スライド番号プレースホルダー 3"/>
          <p:cNvSpPr>
            <a:spLocks noGrp="1"/>
          </p:cNvSpPr>
          <p:nvPr>
            <p:ph type="sldNum" sz="quarter" idx="12"/>
          </p:nvPr>
        </p:nvSpPr>
        <p:spPr>
          <a:xfrm>
            <a:off x="11766063" y="6489034"/>
            <a:ext cx="360362" cy="358775"/>
          </a:xfrm>
        </p:spPr>
        <p:txBody>
          <a:bodyPr/>
          <a:lstStyle/>
          <a:p>
            <a:fld id="{57822056-E1F9-464F-82C8-6C2C7E347532}" type="slidenum">
              <a:rPr lang="ja-JP" altLang="en-US" smtClean="0"/>
              <a:pPr/>
              <a:t>45</a:t>
            </a:fld>
            <a:endParaRPr lang="ja-JP" altLang="en-US" dirty="0"/>
          </a:p>
        </p:txBody>
      </p:sp>
      <p:sp>
        <p:nvSpPr>
          <p:cNvPr id="556036" name="Rectangle 4"/>
          <p:cNvSpPr>
            <a:spLocks noGrp="1" noChangeArrowheads="1"/>
          </p:cNvSpPr>
          <p:nvPr>
            <p:ph sz="quarter" idx="13"/>
          </p:nvPr>
        </p:nvSpPr>
        <p:spPr>
          <a:xfrm>
            <a:off x="1775952" y="908972"/>
            <a:ext cx="8892049" cy="3150036"/>
          </a:xfrm>
        </p:spPr>
        <p:txBody>
          <a:bodyPr/>
          <a:lstStyle/>
          <a:p>
            <a:r>
              <a:rPr lang="en-US" altLang="ja-JP" sz="1800" dirty="0">
                <a:solidFill>
                  <a:schemeClr val="accent5"/>
                </a:solidFill>
              </a:rPr>
              <a:t>MOS</a:t>
            </a:r>
            <a:r>
              <a:rPr lang="en-US" altLang="ja-JP" sz="1800" dirty="0"/>
              <a:t>: metal-oxide-semiconductor</a:t>
            </a:r>
          </a:p>
          <a:p>
            <a:pPr lvl="1"/>
            <a:r>
              <a:rPr lang="ja-JP" altLang="en-US" sz="1800" dirty="0"/>
              <a:t>上から，金属，酸化膜，半導体のサンドイッチ構造</a:t>
            </a:r>
            <a:endParaRPr lang="en-US" altLang="ja-JP" sz="1800" dirty="0"/>
          </a:p>
          <a:p>
            <a:pPr lvl="1"/>
            <a:r>
              <a:rPr lang="ja-JP" altLang="en-US" sz="1800" dirty="0"/>
              <a:t>酸化膜を挟んで平行板コンデンサ様の構造が構成されている</a:t>
            </a:r>
            <a:endParaRPr lang="en-US" altLang="ja-JP" sz="1800" dirty="0"/>
          </a:p>
          <a:p>
            <a:pPr lvl="2"/>
            <a:r>
              <a:rPr lang="ja-JP" altLang="en-US" sz="1800" dirty="0"/>
              <a:t>最近は酸化膜ではない，より誘電率が高い素材が使われる事も多い</a:t>
            </a:r>
            <a:endParaRPr lang="en-US" altLang="ja-JP" sz="1800" dirty="0"/>
          </a:p>
          <a:p>
            <a:r>
              <a:rPr lang="ja-JP" altLang="en-US" sz="1800" dirty="0"/>
              <a:t>電界効果トランジスタ</a:t>
            </a:r>
            <a:r>
              <a:rPr lang="en-US" altLang="ja-JP" sz="1800" dirty="0"/>
              <a:t> (</a:t>
            </a:r>
            <a:r>
              <a:rPr lang="en-US" altLang="ja-JP" sz="1800" dirty="0">
                <a:solidFill>
                  <a:schemeClr val="accent5"/>
                </a:solidFill>
              </a:rPr>
              <a:t>FET</a:t>
            </a:r>
            <a:r>
              <a:rPr lang="en-US" altLang="ja-JP" sz="1800" dirty="0"/>
              <a:t>: Field-Effect </a:t>
            </a:r>
            <a:r>
              <a:rPr lang="en-US" altLang="ja-JP" sz="1800" dirty="0">
                <a:solidFill>
                  <a:schemeClr val="accent5"/>
                </a:solidFill>
              </a:rPr>
              <a:t>Transistor</a:t>
            </a:r>
            <a:r>
              <a:rPr lang="en-US" altLang="ja-JP" sz="1800" dirty="0"/>
              <a:t>)</a:t>
            </a:r>
          </a:p>
          <a:p>
            <a:pPr lvl="1"/>
            <a:r>
              <a:rPr lang="ja-JP" altLang="en-US" sz="1800" dirty="0">
                <a:solidFill>
                  <a:schemeClr val="accent5"/>
                </a:solidFill>
              </a:rPr>
              <a:t>電界で電子を動かしてスイッチングする（</a:t>
            </a:r>
            <a:r>
              <a:rPr lang="en-US" altLang="ja-JP" sz="1800" dirty="0">
                <a:solidFill>
                  <a:schemeClr val="accent5"/>
                </a:solidFill>
              </a:rPr>
              <a:t>NMOS </a:t>
            </a:r>
            <a:r>
              <a:rPr lang="ja-JP" altLang="en-US" sz="1800" dirty="0">
                <a:solidFill>
                  <a:schemeClr val="accent5"/>
                </a:solidFill>
              </a:rPr>
              <a:t>の場合）</a:t>
            </a:r>
            <a:endParaRPr lang="en-US" altLang="ja-JP" sz="1800" dirty="0">
              <a:solidFill>
                <a:schemeClr val="accent5"/>
              </a:solidFill>
            </a:endParaRPr>
          </a:p>
          <a:p>
            <a:pPr marL="1177200" lvl="2" indent="-457200">
              <a:buFont typeface="+mj-lt"/>
              <a:buAutoNum type="arabicPeriod"/>
            </a:pPr>
            <a:r>
              <a:rPr lang="en-US" altLang="ja-JP" sz="1800" dirty="0"/>
              <a:t>G </a:t>
            </a:r>
            <a:r>
              <a:rPr lang="ja-JP" altLang="en-US" sz="1800" dirty="0"/>
              <a:t>に電圧をかけてコンデンサに充電</a:t>
            </a:r>
            <a:endParaRPr lang="en-US" altLang="ja-JP" sz="1800" dirty="0"/>
          </a:p>
          <a:p>
            <a:pPr marL="1177200" lvl="2" indent="-457200">
              <a:buFont typeface="+mj-lt"/>
              <a:buAutoNum type="arabicPeriod"/>
            </a:pPr>
            <a:r>
              <a:rPr lang="ja-JP" altLang="en-US" sz="1800" dirty="0"/>
              <a:t>電子の層（チャネル）酸化膜下にできて，</a:t>
            </a:r>
            <a:r>
              <a:rPr lang="en-US" altLang="ja-JP" sz="1800" dirty="0"/>
              <a:t>S </a:t>
            </a:r>
            <a:r>
              <a:rPr lang="ja-JP" altLang="en-US" sz="1800" dirty="0"/>
              <a:t>と </a:t>
            </a:r>
            <a:r>
              <a:rPr lang="en-US" altLang="ja-JP" sz="1800" dirty="0"/>
              <a:t>D </a:t>
            </a:r>
            <a:r>
              <a:rPr lang="ja-JP" altLang="en-US" sz="1800" dirty="0"/>
              <a:t>が繋がり </a:t>
            </a:r>
            <a:r>
              <a:rPr lang="en-US" altLang="ja-JP" sz="1800" dirty="0"/>
              <a:t>ON </a:t>
            </a:r>
            <a:r>
              <a:rPr lang="ja-JP" altLang="en-US" sz="1800" dirty="0"/>
              <a:t>に</a:t>
            </a:r>
            <a:endParaRPr lang="en-US" altLang="ja-JP" sz="1800" dirty="0"/>
          </a:p>
        </p:txBody>
      </p:sp>
      <p:sp>
        <p:nvSpPr>
          <p:cNvPr id="556038" name="Freeform 6"/>
          <p:cNvSpPr>
            <a:spLocks/>
          </p:cNvSpPr>
          <p:nvPr/>
        </p:nvSpPr>
        <p:spPr bwMode="auto">
          <a:xfrm>
            <a:off x="2495803"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56039" name="Freeform 7"/>
          <p:cNvSpPr>
            <a:spLocks/>
          </p:cNvSpPr>
          <p:nvPr/>
        </p:nvSpPr>
        <p:spPr bwMode="auto">
          <a:xfrm flipH="1">
            <a:off x="4656391"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56042" name="Line 10"/>
          <p:cNvSpPr>
            <a:spLocks noChangeShapeType="1"/>
          </p:cNvSpPr>
          <p:nvPr/>
        </p:nvSpPr>
        <p:spPr bwMode="auto">
          <a:xfrm>
            <a:off x="2495773" y="4959119"/>
            <a:ext cx="2879725" cy="0"/>
          </a:xfrm>
          <a:prstGeom prst="line">
            <a:avLst/>
          </a:prstGeom>
          <a:noFill/>
          <a:ln w="19050">
            <a:solidFill>
              <a:schemeClr val="tx1"/>
            </a:solidFill>
            <a:round/>
            <a:headEnd/>
            <a:tailEnd/>
          </a:ln>
          <a:effectLst/>
        </p:spPr>
        <p:txBody>
          <a:bodyPr/>
          <a:lstStyle/>
          <a:p>
            <a:endParaRPr lang="ja-JP" altLang="en-US"/>
          </a:p>
        </p:txBody>
      </p:sp>
      <p:sp>
        <p:nvSpPr>
          <p:cNvPr id="556043" name="Line 11"/>
          <p:cNvSpPr>
            <a:spLocks noChangeShapeType="1"/>
          </p:cNvSpPr>
          <p:nvPr/>
        </p:nvSpPr>
        <p:spPr bwMode="auto">
          <a:xfrm>
            <a:off x="2495803" y="6668688"/>
            <a:ext cx="2879725" cy="0"/>
          </a:xfrm>
          <a:prstGeom prst="line">
            <a:avLst/>
          </a:prstGeom>
          <a:noFill/>
          <a:ln w="19050">
            <a:solidFill>
              <a:schemeClr val="tx1"/>
            </a:solidFill>
            <a:round/>
            <a:headEnd/>
            <a:tailEnd/>
          </a:ln>
          <a:effectLst/>
        </p:spPr>
        <p:txBody>
          <a:bodyPr/>
          <a:lstStyle/>
          <a:p>
            <a:endParaRPr lang="ja-JP" altLang="en-US"/>
          </a:p>
        </p:txBody>
      </p:sp>
      <p:sp>
        <p:nvSpPr>
          <p:cNvPr id="556044" name="Rectangle 12"/>
          <p:cNvSpPr>
            <a:spLocks noChangeArrowheads="1"/>
          </p:cNvSpPr>
          <p:nvPr/>
        </p:nvSpPr>
        <p:spPr bwMode="auto">
          <a:xfrm>
            <a:off x="2495803" y="5409802"/>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556047" name="Rectangle 15"/>
          <p:cNvSpPr>
            <a:spLocks noChangeArrowheads="1"/>
          </p:cNvSpPr>
          <p:nvPr/>
        </p:nvSpPr>
        <p:spPr bwMode="auto">
          <a:xfrm>
            <a:off x="5016753" y="5409802"/>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556048" name="Rectangle 16"/>
          <p:cNvSpPr>
            <a:spLocks noChangeArrowheads="1"/>
          </p:cNvSpPr>
          <p:nvPr/>
        </p:nvSpPr>
        <p:spPr bwMode="auto">
          <a:xfrm>
            <a:off x="3756947" y="4418397"/>
            <a:ext cx="360363" cy="358775"/>
          </a:xfrm>
          <a:prstGeom prst="rect">
            <a:avLst/>
          </a:prstGeom>
          <a:noFill/>
          <a:ln w="9525">
            <a:noFill/>
            <a:miter lim="800000"/>
            <a:headEnd/>
            <a:tailEnd/>
          </a:ln>
          <a:effectLst/>
        </p:spPr>
        <p:txBody>
          <a:bodyPr wrap="none" anchor="ctr"/>
          <a:lstStyle/>
          <a:p>
            <a:pPr algn="ctr"/>
            <a:r>
              <a:rPr lang="en-US" altLang="ja-JP"/>
              <a:t>G</a:t>
            </a:r>
          </a:p>
        </p:txBody>
      </p:sp>
      <p:cxnSp>
        <p:nvCxnSpPr>
          <p:cNvPr id="6" name="直線矢印コネクタ 5"/>
          <p:cNvCxnSpPr/>
          <p:nvPr/>
        </p:nvCxnSpPr>
        <p:spPr bwMode="auto">
          <a:xfrm>
            <a:off x="3575916"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46" name="直線矢印コネクタ 45"/>
          <p:cNvCxnSpPr/>
          <p:nvPr/>
        </p:nvCxnSpPr>
        <p:spPr bwMode="auto">
          <a:xfrm>
            <a:off x="3935964"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47" name="直線矢印コネクタ 46"/>
          <p:cNvCxnSpPr/>
          <p:nvPr/>
        </p:nvCxnSpPr>
        <p:spPr bwMode="auto">
          <a:xfrm>
            <a:off x="4296012"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grpSp>
        <p:nvGrpSpPr>
          <p:cNvPr id="7" name="グループ化 6"/>
          <p:cNvGrpSpPr/>
          <p:nvPr/>
        </p:nvGrpSpPr>
        <p:grpSpPr>
          <a:xfrm>
            <a:off x="3486403" y="5859064"/>
            <a:ext cx="900113" cy="180975"/>
            <a:chOff x="1962150" y="5499100"/>
            <a:chExt cx="900113" cy="180975"/>
          </a:xfrm>
        </p:grpSpPr>
        <p:grpSp>
          <p:nvGrpSpPr>
            <p:cNvPr id="556051" name="Group 19"/>
            <p:cNvGrpSpPr>
              <a:grpSpLocks/>
            </p:cNvGrpSpPr>
            <p:nvPr/>
          </p:nvGrpSpPr>
          <p:grpSpPr bwMode="auto">
            <a:xfrm>
              <a:off x="1962150" y="5499100"/>
              <a:ext cx="180975" cy="180975"/>
              <a:chOff x="2823" y="3464"/>
              <a:chExt cx="114" cy="114"/>
            </a:xfrm>
          </p:grpSpPr>
          <p:sp>
            <p:nvSpPr>
              <p:cNvPr id="556049" name="Oval 17"/>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0" name="Line 18"/>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556052" name="Group 20"/>
            <p:cNvGrpSpPr>
              <a:grpSpLocks/>
            </p:cNvGrpSpPr>
            <p:nvPr/>
          </p:nvGrpSpPr>
          <p:grpSpPr bwMode="auto">
            <a:xfrm>
              <a:off x="2322513" y="5499100"/>
              <a:ext cx="180975" cy="180975"/>
              <a:chOff x="2823" y="3464"/>
              <a:chExt cx="114" cy="114"/>
            </a:xfrm>
          </p:grpSpPr>
          <p:sp>
            <p:nvSpPr>
              <p:cNvPr id="556053" name="Oval 21"/>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4" name="Line 22"/>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556055" name="Group 23"/>
            <p:cNvGrpSpPr>
              <a:grpSpLocks/>
            </p:cNvGrpSpPr>
            <p:nvPr/>
          </p:nvGrpSpPr>
          <p:grpSpPr bwMode="auto">
            <a:xfrm>
              <a:off x="2681288" y="5499100"/>
              <a:ext cx="180975" cy="180975"/>
              <a:chOff x="2823" y="3464"/>
              <a:chExt cx="114" cy="114"/>
            </a:xfrm>
          </p:grpSpPr>
          <p:sp>
            <p:nvSpPr>
              <p:cNvPr id="556056" name="Oval 24"/>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7" name="Line 25"/>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sp>
        <p:nvSpPr>
          <p:cNvPr id="2" name="Freeform 9">
            <a:extLst>
              <a:ext uri="{FF2B5EF4-FFF2-40B4-BE49-F238E27FC236}">
                <a16:creationId xmlns:a16="http://schemas.microsoft.com/office/drawing/2014/main" id="{B012697E-90BD-1C97-2AB1-DC86FC7DAE70}"/>
              </a:ext>
            </a:extLst>
          </p:cNvPr>
          <p:cNvSpPr>
            <a:spLocks/>
          </p:cNvSpPr>
          <p:nvPr/>
        </p:nvSpPr>
        <p:spPr bwMode="auto">
          <a:xfrm>
            <a:off x="7536016" y="4239010"/>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 name="正方形/長方形 4">
            <a:extLst>
              <a:ext uri="{FF2B5EF4-FFF2-40B4-BE49-F238E27FC236}">
                <a16:creationId xmlns:a16="http://schemas.microsoft.com/office/drawing/2014/main" id="{1541AAB3-0B99-A322-5E59-A5417E122F45}"/>
              </a:ext>
            </a:extLst>
          </p:cNvPr>
          <p:cNvSpPr/>
          <p:nvPr/>
        </p:nvSpPr>
        <p:spPr bwMode="auto">
          <a:xfrm>
            <a:off x="6455816" y="4959119"/>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t" anchorCtr="0" compatLnSpc="1">
            <a:prstTxWarp prst="textNoShape">
              <a:avLst/>
            </a:prstTxWarp>
          </a:bodyPr>
          <a:lstStyle/>
          <a:p>
            <a:pPr algn="ctr" fontAlgn="base">
              <a:spcBef>
                <a:spcPct val="0"/>
              </a:spcBef>
              <a:spcAft>
                <a:spcPct val="0"/>
              </a:spcAft>
            </a:pPr>
            <a:endParaRPr lang="ja-JP" altLang="en-US" dirty="0">
              <a:solidFill>
                <a:schemeClr val="tx1"/>
              </a:solidFill>
            </a:endParaRPr>
          </a:p>
        </p:txBody>
      </p:sp>
      <p:sp>
        <p:nvSpPr>
          <p:cNvPr id="8" name="Rectangle 8">
            <a:extLst>
              <a:ext uri="{FF2B5EF4-FFF2-40B4-BE49-F238E27FC236}">
                <a16:creationId xmlns:a16="http://schemas.microsoft.com/office/drawing/2014/main" id="{6966788D-91F7-32C1-A417-DE33945F037F}"/>
              </a:ext>
            </a:extLst>
          </p:cNvPr>
          <p:cNvSpPr>
            <a:spLocks noChangeArrowheads="1"/>
          </p:cNvSpPr>
          <p:nvPr/>
        </p:nvSpPr>
        <p:spPr bwMode="auto">
          <a:xfrm>
            <a:off x="6455847" y="5228826"/>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9" name="Freeform 6">
            <a:extLst>
              <a:ext uri="{FF2B5EF4-FFF2-40B4-BE49-F238E27FC236}">
                <a16:creationId xmlns:a16="http://schemas.microsoft.com/office/drawing/2014/main" id="{D7E5104E-C24B-2439-B6CA-7D3FEB2569DD}"/>
              </a:ext>
            </a:extLst>
          </p:cNvPr>
          <p:cNvSpPr>
            <a:spLocks/>
          </p:cNvSpPr>
          <p:nvPr/>
        </p:nvSpPr>
        <p:spPr bwMode="auto">
          <a:xfrm>
            <a:off x="6455847"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10" name="Freeform 7">
            <a:extLst>
              <a:ext uri="{FF2B5EF4-FFF2-40B4-BE49-F238E27FC236}">
                <a16:creationId xmlns:a16="http://schemas.microsoft.com/office/drawing/2014/main" id="{FC1A5FA5-C1B7-5EE2-6671-1CE915E88AEA}"/>
              </a:ext>
            </a:extLst>
          </p:cNvPr>
          <p:cNvSpPr>
            <a:spLocks/>
          </p:cNvSpPr>
          <p:nvPr/>
        </p:nvSpPr>
        <p:spPr bwMode="auto">
          <a:xfrm flipH="1">
            <a:off x="8616435"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11" name="Line 10">
            <a:extLst>
              <a:ext uri="{FF2B5EF4-FFF2-40B4-BE49-F238E27FC236}">
                <a16:creationId xmlns:a16="http://schemas.microsoft.com/office/drawing/2014/main" id="{41EE8F78-6B9D-87FB-5C9E-EA124ECE1DF5}"/>
              </a:ext>
            </a:extLst>
          </p:cNvPr>
          <p:cNvSpPr>
            <a:spLocks noChangeShapeType="1"/>
          </p:cNvSpPr>
          <p:nvPr/>
        </p:nvSpPr>
        <p:spPr bwMode="auto">
          <a:xfrm>
            <a:off x="6455817" y="4959119"/>
            <a:ext cx="2879725" cy="0"/>
          </a:xfrm>
          <a:prstGeom prst="line">
            <a:avLst/>
          </a:prstGeom>
          <a:noFill/>
          <a:ln w="19050">
            <a:solidFill>
              <a:schemeClr val="tx1"/>
            </a:solidFill>
            <a:round/>
            <a:headEnd/>
            <a:tailEnd/>
          </a:ln>
          <a:effectLst/>
        </p:spPr>
        <p:txBody>
          <a:bodyPr/>
          <a:lstStyle/>
          <a:p>
            <a:endParaRPr lang="ja-JP" altLang="en-US"/>
          </a:p>
        </p:txBody>
      </p:sp>
      <p:sp>
        <p:nvSpPr>
          <p:cNvPr id="12" name="Line 11">
            <a:extLst>
              <a:ext uri="{FF2B5EF4-FFF2-40B4-BE49-F238E27FC236}">
                <a16:creationId xmlns:a16="http://schemas.microsoft.com/office/drawing/2014/main" id="{3E5B1AE8-146D-632F-B084-6E8E07394F08}"/>
              </a:ext>
            </a:extLst>
          </p:cNvPr>
          <p:cNvSpPr>
            <a:spLocks noChangeShapeType="1"/>
          </p:cNvSpPr>
          <p:nvPr/>
        </p:nvSpPr>
        <p:spPr bwMode="auto">
          <a:xfrm>
            <a:off x="6455847" y="6668688"/>
            <a:ext cx="2879725" cy="0"/>
          </a:xfrm>
          <a:prstGeom prst="line">
            <a:avLst/>
          </a:prstGeom>
          <a:noFill/>
          <a:ln w="19050">
            <a:solidFill>
              <a:schemeClr val="tx1"/>
            </a:solidFill>
            <a:round/>
            <a:headEnd/>
            <a:tailEnd/>
          </a:ln>
          <a:effectLst/>
        </p:spPr>
        <p:txBody>
          <a:bodyPr/>
          <a:lstStyle/>
          <a:p>
            <a:endParaRPr lang="ja-JP" altLang="en-US"/>
          </a:p>
        </p:txBody>
      </p:sp>
      <p:sp>
        <p:nvSpPr>
          <p:cNvPr id="13" name="Rectangle 12">
            <a:extLst>
              <a:ext uri="{FF2B5EF4-FFF2-40B4-BE49-F238E27FC236}">
                <a16:creationId xmlns:a16="http://schemas.microsoft.com/office/drawing/2014/main" id="{B78E739C-A35D-E813-A09F-BDDE4446ACC7}"/>
              </a:ext>
            </a:extLst>
          </p:cNvPr>
          <p:cNvSpPr>
            <a:spLocks noChangeArrowheads="1"/>
          </p:cNvSpPr>
          <p:nvPr/>
        </p:nvSpPr>
        <p:spPr bwMode="auto">
          <a:xfrm>
            <a:off x="6455847" y="5409802"/>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14" name="Rectangle 15">
            <a:extLst>
              <a:ext uri="{FF2B5EF4-FFF2-40B4-BE49-F238E27FC236}">
                <a16:creationId xmlns:a16="http://schemas.microsoft.com/office/drawing/2014/main" id="{7C36156A-44D4-D73B-C427-F28FC938BD51}"/>
              </a:ext>
            </a:extLst>
          </p:cNvPr>
          <p:cNvSpPr>
            <a:spLocks noChangeArrowheads="1"/>
          </p:cNvSpPr>
          <p:nvPr/>
        </p:nvSpPr>
        <p:spPr bwMode="auto">
          <a:xfrm>
            <a:off x="8976797" y="5409802"/>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15" name="Rectangle 16">
            <a:extLst>
              <a:ext uri="{FF2B5EF4-FFF2-40B4-BE49-F238E27FC236}">
                <a16:creationId xmlns:a16="http://schemas.microsoft.com/office/drawing/2014/main" id="{ABE9B84A-7551-C927-B0D3-AC1CA3F22F18}"/>
              </a:ext>
            </a:extLst>
          </p:cNvPr>
          <p:cNvSpPr>
            <a:spLocks noChangeArrowheads="1"/>
          </p:cNvSpPr>
          <p:nvPr/>
        </p:nvSpPr>
        <p:spPr bwMode="auto">
          <a:xfrm>
            <a:off x="7716991" y="4418397"/>
            <a:ext cx="360363" cy="358775"/>
          </a:xfrm>
          <a:prstGeom prst="rect">
            <a:avLst/>
          </a:prstGeom>
          <a:noFill/>
          <a:ln w="9525">
            <a:noFill/>
            <a:miter lim="800000"/>
            <a:headEnd/>
            <a:tailEnd/>
          </a:ln>
          <a:effectLst/>
        </p:spPr>
        <p:txBody>
          <a:bodyPr wrap="none" anchor="ctr"/>
          <a:lstStyle/>
          <a:p>
            <a:pPr algn="ctr"/>
            <a:r>
              <a:rPr lang="en-US" altLang="ja-JP"/>
              <a:t>G</a:t>
            </a:r>
          </a:p>
        </p:txBody>
      </p:sp>
      <p:grpSp>
        <p:nvGrpSpPr>
          <p:cNvPr id="19" name="グループ化 18">
            <a:extLst>
              <a:ext uri="{FF2B5EF4-FFF2-40B4-BE49-F238E27FC236}">
                <a16:creationId xmlns:a16="http://schemas.microsoft.com/office/drawing/2014/main" id="{EFF559BE-F1D7-8ADD-E44C-23F236B57921}"/>
              </a:ext>
            </a:extLst>
          </p:cNvPr>
          <p:cNvGrpSpPr/>
          <p:nvPr/>
        </p:nvGrpSpPr>
        <p:grpSpPr>
          <a:xfrm>
            <a:off x="7446016" y="5319022"/>
            <a:ext cx="900113" cy="180975"/>
            <a:chOff x="1962150" y="5499100"/>
            <a:chExt cx="900113" cy="180975"/>
          </a:xfrm>
        </p:grpSpPr>
        <p:grpSp>
          <p:nvGrpSpPr>
            <p:cNvPr id="20" name="Group 19">
              <a:extLst>
                <a:ext uri="{FF2B5EF4-FFF2-40B4-BE49-F238E27FC236}">
                  <a16:creationId xmlns:a16="http://schemas.microsoft.com/office/drawing/2014/main" id="{8366906E-799E-5CEF-9E73-7D0C37CC9673}"/>
                </a:ext>
              </a:extLst>
            </p:cNvPr>
            <p:cNvGrpSpPr>
              <a:grpSpLocks/>
            </p:cNvGrpSpPr>
            <p:nvPr/>
          </p:nvGrpSpPr>
          <p:grpSpPr bwMode="auto">
            <a:xfrm>
              <a:off x="1962150" y="5499100"/>
              <a:ext cx="180975" cy="180975"/>
              <a:chOff x="2823" y="3464"/>
              <a:chExt cx="114" cy="114"/>
            </a:xfrm>
          </p:grpSpPr>
          <p:sp>
            <p:nvSpPr>
              <p:cNvPr id="27" name="Oval 17">
                <a:extLst>
                  <a:ext uri="{FF2B5EF4-FFF2-40B4-BE49-F238E27FC236}">
                    <a16:creationId xmlns:a16="http://schemas.microsoft.com/office/drawing/2014/main" id="{8CC16491-E66F-3BDC-C8FA-5AD5DA0D2660}"/>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8" name="Line 18">
                <a:extLst>
                  <a:ext uri="{FF2B5EF4-FFF2-40B4-BE49-F238E27FC236}">
                    <a16:creationId xmlns:a16="http://schemas.microsoft.com/office/drawing/2014/main" id="{E4B388A9-E03F-0314-C692-0AF1FEE523B2}"/>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21" name="Group 20">
              <a:extLst>
                <a:ext uri="{FF2B5EF4-FFF2-40B4-BE49-F238E27FC236}">
                  <a16:creationId xmlns:a16="http://schemas.microsoft.com/office/drawing/2014/main" id="{D29F5FD8-8030-4AA8-46ED-50E865E8C4AB}"/>
                </a:ext>
              </a:extLst>
            </p:cNvPr>
            <p:cNvGrpSpPr>
              <a:grpSpLocks/>
            </p:cNvGrpSpPr>
            <p:nvPr/>
          </p:nvGrpSpPr>
          <p:grpSpPr bwMode="auto">
            <a:xfrm>
              <a:off x="2322513" y="5499100"/>
              <a:ext cx="180975" cy="180975"/>
              <a:chOff x="2823" y="3464"/>
              <a:chExt cx="114" cy="114"/>
            </a:xfrm>
          </p:grpSpPr>
          <p:sp>
            <p:nvSpPr>
              <p:cNvPr id="25" name="Oval 21">
                <a:extLst>
                  <a:ext uri="{FF2B5EF4-FFF2-40B4-BE49-F238E27FC236}">
                    <a16:creationId xmlns:a16="http://schemas.microsoft.com/office/drawing/2014/main" id="{E263F852-92FD-ED3E-12E9-CE2B8F024205}"/>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6" name="Line 22">
                <a:extLst>
                  <a:ext uri="{FF2B5EF4-FFF2-40B4-BE49-F238E27FC236}">
                    <a16:creationId xmlns:a16="http://schemas.microsoft.com/office/drawing/2014/main" id="{878A30F6-9405-EEDF-0C79-797D412FCA86}"/>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22" name="Group 23">
              <a:extLst>
                <a:ext uri="{FF2B5EF4-FFF2-40B4-BE49-F238E27FC236}">
                  <a16:creationId xmlns:a16="http://schemas.microsoft.com/office/drawing/2014/main" id="{1B637B3A-E433-8320-EC77-4C1FE525D962}"/>
                </a:ext>
              </a:extLst>
            </p:cNvPr>
            <p:cNvGrpSpPr>
              <a:grpSpLocks/>
            </p:cNvGrpSpPr>
            <p:nvPr/>
          </p:nvGrpSpPr>
          <p:grpSpPr bwMode="auto">
            <a:xfrm>
              <a:off x="2681288" y="5499100"/>
              <a:ext cx="180975" cy="180975"/>
              <a:chOff x="2823" y="3464"/>
              <a:chExt cx="114" cy="114"/>
            </a:xfrm>
          </p:grpSpPr>
          <p:sp>
            <p:nvSpPr>
              <p:cNvPr id="23" name="Oval 24">
                <a:extLst>
                  <a:ext uri="{FF2B5EF4-FFF2-40B4-BE49-F238E27FC236}">
                    <a16:creationId xmlns:a16="http://schemas.microsoft.com/office/drawing/2014/main" id="{19DCBB86-BFF2-9606-6793-252FF5475106}"/>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4" name="Line 25">
                <a:extLst>
                  <a:ext uri="{FF2B5EF4-FFF2-40B4-BE49-F238E27FC236}">
                    <a16:creationId xmlns:a16="http://schemas.microsoft.com/office/drawing/2014/main" id="{54E16104-C51D-A5B5-3F3E-CF8F267763D7}"/>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cxnSp>
        <p:nvCxnSpPr>
          <p:cNvPr id="30" name="直線矢印コネクタ 29">
            <a:extLst>
              <a:ext uri="{FF2B5EF4-FFF2-40B4-BE49-F238E27FC236}">
                <a16:creationId xmlns:a16="http://schemas.microsoft.com/office/drawing/2014/main" id="{8280BC87-7615-05B2-F4D5-26B9B6616364}"/>
              </a:ext>
            </a:extLst>
          </p:cNvPr>
          <p:cNvCxnSpPr/>
          <p:nvPr/>
        </p:nvCxnSpPr>
        <p:spPr bwMode="auto">
          <a:xfrm>
            <a:off x="6726007" y="5319021"/>
            <a:ext cx="2340026" cy="0"/>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8973493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MOS </a:t>
            </a:r>
            <a:r>
              <a:rPr lang="ja-JP" altLang="en-US" dirty="0"/>
              <a:t>には </a:t>
            </a:r>
            <a:r>
              <a:rPr lang="en-US" altLang="ja-JP" dirty="0"/>
              <a:t>NMOS </a:t>
            </a:r>
            <a:r>
              <a:rPr lang="ja-JP" altLang="en-US" dirty="0"/>
              <a:t>と </a:t>
            </a:r>
            <a:r>
              <a:rPr lang="en-US" altLang="ja-JP" dirty="0"/>
              <a:t>PMOS </a:t>
            </a:r>
            <a:r>
              <a:rPr lang="ja-JP" altLang="en-US" dirty="0"/>
              <a:t>の２つがある</a:t>
            </a:r>
          </a:p>
        </p:txBody>
      </p:sp>
      <p:sp>
        <p:nvSpPr>
          <p:cNvPr id="3" name="コンテンツ プレースホルダ 2"/>
          <p:cNvSpPr>
            <a:spLocks noGrp="1"/>
          </p:cNvSpPr>
          <p:nvPr>
            <p:ph idx="10"/>
          </p:nvPr>
        </p:nvSpPr>
        <p:spPr>
          <a:xfrm>
            <a:off x="2135188" y="1089025"/>
            <a:ext cx="8280400" cy="5219700"/>
          </a:xfrm>
        </p:spPr>
        <p:txBody>
          <a:bodyPr/>
          <a:lstStyle/>
          <a:p>
            <a:r>
              <a:rPr lang="en-US" altLang="ja-JP" dirty="0"/>
              <a:t>Negative (N)</a:t>
            </a:r>
          </a:p>
          <a:p>
            <a:pPr lvl="1"/>
            <a:r>
              <a:rPr lang="ja-JP" altLang="en-US" dirty="0"/>
              <a:t>電子がキャリア</a:t>
            </a:r>
            <a:endParaRPr lang="en-US" altLang="ja-JP" dirty="0"/>
          </a:p>
          <a:p>
            <a:pPr lvl="1"/>
            <a:r>
              <a:rPr lang="ja-JP" altLang="en-US" dirty="0"/>
              <a:t>低電位しか通せない</a:t>
            </a:r>
            <a:endParaRPr lang="en-US" altLang="ja-JP" dirty="0"/>
          </a:p>
          <a:p>
            <a:pPr lvl="1"/>
            <a:r>
              <a:rPr lang="ja-JP" altLang="en-US" dirty="0"/>
              <a:t>接地側に配置</a:t>
            </a:r>
            <a:endParaRPr lang="en-US" altLang="ja-JP" dirty="0"/>
          </a:p>
          <a:p>
            <a:pPr lvl="1"/>
            <a:endParaRPr lang="en-US" altLang="ja-JP" dirty="0"/>
          </a:p>
          <a:p>
            <a:r>
              <a:rPr lang="en-US" altLang="ja-JP" dirty="0"/>
              <a:t>Positive (P)</a:t>
            </a:r>
          </a:p>
          <a:p>
            <a:pPr lvl="1"/>
            <a:r>
              <a:rPr lang="ja-JP" altLang="en-US" dirty="0"/>
              <a:t>正孔 </a:t>
            </a:r>
            <a:r>
              <a:rPr lang="en-US" altLang="ja-JP" dirty="0"/>
              <a:t>(hole)</a:t>
            </a:r>
            <a:r>
              <a:rPr lang="ja-JP" altLang="en-US" dirty="0"/>
              <a:t> がキャリア</a:t>
            </a:r>
            <a:endParaRPr lang="en-US" altLang="ja-JP" dirty="0"/>
          </a:p>
          <a:p>
            <a:pPr lvl="1"/>
            <a:r>
              <a:rPr lang="ja-JP" altLang="en-US" dirty="0"/>
              <a:t>高電位しか通せない</a:t>
            </a:r>
            <a:endParaRPr lang="en-US" altLang="ja-JP" dirty="0"/>
          </a:p>
          <a:p>
            <a:pPr lvl="1"/>
            <a:r>
              <a:rPr lang="ja-JP" altLang="en-US" dirty="0"/>
              <a:t>電源側に配置</a:t>
            </a:r>
            <a:endParaRPr lang="en-US" altLang="ja-JP" dirty="0"/>
          </a:p>
          <a:p>
            <a:pPr lvl="1"/>
            <a:r>
              <a:rPr lang="en-US" altLang="ja-JP" dirty="0"/>
              <a:t>Gate </a:t>
            </a:r>
            <a:r>
              <a:rPr lang="ja-JP" altLang="en-US" dirty="0"/>
              <a:t>に○がついている</a:t>
            </a:r>
            <a:endParaRPr lang="en-US" altLang="ja-JP" dirty="0"/>
          </a:p>
          <a:p>
            <a:r>
              <a:rPr lang="ja-JP" altLang="en-US" dirty="0"/>
              <a:t>この２つを相補的に組み合わせるので </a:t>
            </a:r>
            <a:r>
              <a:rPr lang="en-US" altLang="ja-JP" dirty="0"/>
              <a:t>CMOS </a:t>
            </a:r>
            <a:r>
              <a:rPr lang="ja-JP" altLang="en-US" dirty="0"/>
              <a:t>という</a:t>
            </a:r>
            <a:endParaRPr lang="en-US" altLang="ja-JP" dirty="0"/>
          </a:p>
        </p:txBody>
      </p:sp>
      <p:grpSp>
        <p:nvGrpSpPr>
          <p:cNvPr id="6" name="グループ化 5"/>
          <p:cNvGrpSpPr/>
          <p:nvPr/>
        </p:nvGrpSpPr>
        <p:grpSpPr>
          <a:xfrm>
            <a:off x="6906009" y="3969006"/>
            <a:ext cx="2160240" cy="1475975"/>
            <a:chOff x="5292080" y="3203975"/>
            <a:chExt cx="2160240" cy="1475975"/>
          </a:xfrm>
        </p:grpSpPr>
        <p:cxnSp>
          <p:nvCxnSpPr>
            <p:cNvPr id="7" name="直線コネクタ 6"/>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8" name="直線コネクタ 7"/>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9" name="直線コネクタ 8"/>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0" name="直線コネクタ 9"/>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1" name="直線コネクタ 10"/>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2" name="直線コネクタ 11"/>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3" name="直線コネクタ 12"/>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14" name="円/楕円 13"/>
            <p:cNvSpPr/>
            <p:nvPr/>
          </p:nvSpPr>
          <p:spPr bwMode="auto">
            <a:xfrm>
              <a:off x="6304693" y="3519010"/>
              <a:ext cx="135015" cy="132239"/>
            </a:xfrm>
            <a:prstGeom prst="ellipse">
              <a:avLst/>
            </a:prstGeom>
            <a:ln w="381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15" name="正方形/長方形 14"/>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grpSp>
        <p:nvGrpSpPr>
          <p:cNvPr id="16" name="グループ化 15"/>
          <p:cNvGrpSpPr/>
          <p:nvPr/>
        </p:nvGrpSpPr>
        <p:grpSpPr>
          <a:xfrm>
            <a:off x="6906009" y="1538979"/>
            <a:ext cx="2160240" cy="1487513"/>
            <a:chOff x="5292080" y="5004175"/>
            <a:chExt cx="2160240" cy="1487513"/>
          </a:xfrm>
        </p:grpSpPr>
        <p:cxnSp>
          <p:nvCxnSpPr>
            <p:cNvPr id="17" name="直線コネクタ 16"/>
            <p:cNvCxnSpPr/>
            <p:nvPr/>
          </p:nvCxnSpPr>
          <p:spPr bwMode="auto">
            <a:xfrm>
              <a:off x="529208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8" name="直線コネクタ 17"/>
            <p:cNvCxnSpPr/>
            <p:nvPr/>
          </p:nvCxnSpPr>
          <p:spPr bwMode="auto">
            <a:xfrm>
              <a:off x="673224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9" name="直線コネクタ 18"/>
            <p:cNvCxnSpPr/>
            <p:nvPr/>
          </p:nvCxnSpPr>
          <p:spPr bwMode="auto">
            <a:xfrm>
              <a:off x="6012160" y="55892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20" name="直線コネクタ 19"/>
            <p:cNvCxnSpPr/>
            <p:nvPr/>
          </p:nvCxnSpPr>
          <p:spPr bwMode="auto">
            <a:xfrm>
              <a:off x="601216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1" name="直線コネクタ 20"/>
            <p:cNvCxnSpPr/>
            <p:nvPr/>
          </p:nvCxnSpPr>
          <p:spPr bwMode="auto">
            <a:xfrm>
              <a:off x="673224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2" name="直線コネクタ 21"/>
            <p:cNvCxnSpPr/>
            <p:nvPr/>
          </p:nvCxnSpPr>
          <p:spPr bwMode="auto">
            <a:xfrm>
              <a:off x="6012160" y="5454225"/>
              <a:ext cx="720080" cy="1"/>
            </a:xfrm>
            <a:prstGeom prst="line">
              <a:avLst/>
            </a:prstGeom>
            <a:noFill/>
            <a:ln w="38100" cap="rnd" cmpd="sng" algn="ctr">
              <a:solidFill>
                <a:schemeClr val="tx1"/>
              </a:solidFill>
              <a:prstDash val="solid"/>
              <a:round/>
              <a:headEnd type="none" w="med" len="med"/>
              <a:tailEnd type="none" w="med" len="med"/>
            </a:ln>
            <a:effectLst/>
          </p:spPr>
        </p:cxnSp>
        <p:cxnSp>
          <p:nvCxnSpPr>
            <p:cNvPr id="23" name="直線コネクタ 22"/>
            <p:cNvCxnSpPr/>
            <p:nvPr/>
          </p:nvCxnSpPr>
          <p:spPr bwMode="auto">
            <a:xfrm>
              <a:off x="6372200" y="5004175"/>
              <a:ext cx="0" cy="450050"/>
            </a:xfrm>
            <a:prstGeom prst="line">
              <a:avLst/>
            </a:prstGeom>
            <a:noFill/>
            <a:ln w="12700" cap="rnd" cmpd="sng" algn="ctr">
              <a:solidFill>
                <a:schemeClr val="tx1"/>
              </a:solidFill>
              <a:prstDash val="solid"/>
              <a:round/>
              <a:headEnd type="none" w="med" len="med"/>
              <a:tailEnd type="none" w="med" len="med"/>
            </a:ln>
            <a:effectLst/>
          </p:spPr>
        </p:cxnSp>
        <p:sp>
          <p:nvSpPr>
            <p:cNvPr id="24" name="正方形/長方形 23"/>
            <p:cNvSpPr/>
            <p:nvPr/>
          </p:nvSpPr>
          <p:spPr bwMode="auto">
            <a:xfrm>
              <a:off x="5652084" y="6174188"/>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NMOS</a:t>
              </a:r>
              <a:endParaRPr lang="ja-JP" altLang="en-US" dirty="0">
                <a:solidFill>
                  <a:schemeClr val="tx1"/>
                </a:solidFill>
                <a:latin typeface="Times New Roman" pitchFamily="18" charset="0"/>
                <a:ea typeface="HG丸ｺﾞｼｯｸM-PRO" pitchFamily="50" charset="-128"/>
              </a:endParaRPr>
            </a:p>
          </p:txBody>
        </p:sp>
      </p:grpSp>
      <p:sp>
        <p:nvSpPr>
          <p:cNvPr id="25" name="Rectangle 93"/>
          <p:cNvSpPr>
            <a:spLocks noChangeArrowheads="1"/>
          </p:cNvSpPr>
          <p:nvPr/>
        </p:nvSpPr>
        <p:spPr bwMode="auto">
          <a:xfrm>
            <a:off x="7626018" y="1178974"/>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6" name="Rectangle 93"/>
          <p:cNvSpPr>
            <a:spLocks noChangeArrowheads="1"/>
          </p:cNvSpPr>
          <p:nvPr/>
        </p:nvSpPr>
        <p:spPr bwMode="auto">
          <a:xfrm>
            <a:off x="6546006" y="2078984"/>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27" name="Rectangle 93"/>
          <p:cNvSpPr>
            <a:spLocks noChangeArrowheads="1"/>
          </p:cNvSpPr>
          <p:nvPr/>
        </p:nvSpPr>
        <p:spPr bwMode="auto">
          <a:xfrm>
            <a:off x="8526028" y="2078984"/>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
        <p:nvSpPr>
          <p:cNvPr id="28" name="Rectangle 93"/>
          <p:cNvSpPr>
            <a:spLocks noChangeArrowheads="1"/>
          </p:cNvSpPr>
          <p:nvPr/>
        </p:nvSpPr>
        <p:spPr bwMode="auto">
          <a:xfrm>
            <a:off x="7626018" y="360900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9" name="Rectangle 93"/>
          <p:cNvSpPr>
            <a:spLocks noChangeArrowheads="1"/>
          </p:cNvSpPr>
          <p:nvPr/>
        </p:nvSpPr>
        <p:spPr bwMode="auto">
          <a:xfrm>
            <a:off x="6546006" y="450901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30" name="Rectangle 93"/>
          <p:cNvSpPr>
            <a:spLocks noChangeArrowheads="1"/>
          </p:cNvSpPr>
          <p:nvPr/>
        </p:nvSpPr>
        <p:spPr bwMode="auto">
          <a:xfrm>
            <a:off x="8526028" y="450901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Tree>
    <p:extLst>
      <p:ext uri="{BB962C8B-B14F-4D97-AF65-F5344CB8AC3E}">
        <p14:creationId xmlns:p14="http://schemas.microsoft.com/office/powerpoint/2010/main" val="3460727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800" dirty="0"/>
              <a:t>入力で </a:t>
            </a:r>
            <a:r>
              <a:rPr lang="en-US" altLang="ja-JP" sz="2800" dirty="0"/>
              <a:t>ON/OFF </a:t>
            </a:r>
            <a:r>
              <a:rPr lang="ja-JP" altLang="en-US" sz="2800" dirty="0"/>
              <a:t>が切り替わるスイッチと考える事ができる</a:t>
            </a:r>
          </a:p>
        </p:txBody>
      </p:sp>
      <p:sp>
        <p:nvSpPr>
          <p:cNvPr id="3" name="コンテンツ プレースホルダ 2"/>
          <p:cNvSpPr>
            <a:spLocks noGrp="1"/>
          </p:cNvSpPr>
          <p:nvPr>
            <p:ph idx="10"/>
          </p:nvPr>
        </p:nvSpPr>
        <p:spPr>
          <a:xfrm>
            <a:off x="1775952" y="1089025"/>
            <a:ext cx="8280400" cy="5219700"/>
          </a:xfrm>
        </p:spPr>
        <p:txBody>
          <a:bodyPr/>
          <a:lstStyle/>
          <a:p>
            <a:r>
              <a:rPr lang="en-US" altLang="ja-JP" dirty="0"/>
              <a:t>Negative</a:t>
            </a:r>
          </a:p>
          <a:p>
            <a:pPr lvl="1"/>
            <a:r>
              <a:rPr lang="en-US" altLang="ja-JP" dirty="0"/>
              <a:t>Gate (G) </a:t>
            </a:r>
            <a:r>
              <a:rPr lang="ja-JP" altLang="en-US" dirty="0"/>
              <a:t>を </a:t>
            </a:r>
            <a:r>
              <a:rPr lang="en-US" altLang="ja-JP" dirty="0"/>
              <a:t>1 </a:t>
            </a:r>
            <a:r>
              <a:rPr lang="ja-JP" altLang="en-US" dirty="0"/>
              <a:t>にすると</a:t>
            </a:r>
            <a:br>
              <a:rPr lang="en-US" altLang="ja-JP" dirty="0"/>
            </a:br>
            <a:r>
              <a:rPr lang="en-US" altLang="ja-JP" dirty="0"/>
              <a:t>ON </a:t>
            </a:r>
            <a:r>
              <a:rPr lang="ja-JP" altLang="en-US" dirty="0"/>
              <a:t>になる</a:t>
            </a:r>
            <a:endParaRPr lang="en-US" altLang="ja-JP" dirty="0"/>
          </a:p>
          <a:p>
            <a:pPr lvl="1"/>
            <a:endParaRPr lang="en-US" altLang="ja-JP" dirty="0"/>
          </a:p>
          <a:p>
            <a:pPr lvl="1"/>
            <a:endParaRPr lang="en-US" altLang="ja-JP" dirty="0"/>
          </a:p>
          <a:p>
            <a:r>
              <a:rPr lang="en-US" altLang="ja-JP" dirty="0"/>
              <a:t>Positive</a:t>
            </a:r>
          </a:p>
          <a:p>
            <a:pPr lvl="1"/>
            <a:r>
              <a:rPr lang="en-US" altLang="ja-JP" dirty="0"/>
              <a:t>Gate (G) </a:t>
            </a:r>
            <a:r>
              <a:rPr lang="ja-JP" altLang="en-US" dirty="0"/>
              <a:t>を ０</a:t>
            </a:r>
            <a:r>
              <a:rPr lang="en-US" altLang="ja-JP" dirty="0"/>
              <a:t> </a:t>
            </a:r>
            <a:r>
              <a:rPr lang="ja-JP" altLang="en-US" dirty="0"/>
              <a:t>にすると</a:t>
            </a:r>
            <a:br>
              <a:rPr lang="en-US" altLang="ja-JP" dirty="0"/>
            </a:br>
            <a:r>
              <a:rPr lang="en-US" altLang="ja-JP" dirty="0"/>
              <a:t>ON </a:t>
            </a:r>
            <a:r>
              <a:rPr lang="ja-JP" altLang="en-US" dirty="0"/>
              <a:t>になる</a:t>
            </a:r>
            <a:endParaRPr lang="en-US" altLang="ja-JP" dirty="0"/>
          </a:p>
        </p:txBody>
      </p:sp>
      <p:grpSp>
        <p:nvGrpSpPr>
          <p:cNvPr id="6" name="グループ化 5"/>
          <p:cNvGrpSpPr/>
          <p:nvPr/>
        </p:nvGrpSpPr>
        <p:grpSpPr>
          <a:xfrm>
            <a:off x="5915998" y="4419012"/>
            <a:ext cx="2160240" cy="1475975"/>
            <a:chOff x="5292080" y="3203975"/>
            <a:chExt cx="2160240" cy="1475975"/>
          </a:xfrm>
        </p:grpSpPr>
        <p:cxnSp>
          <p:nvCxnSpPr>
            <p:cNvPr id="7" name="直線コネクタ 6"/>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8" name="直線コネクタ 7"/>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9" name="直線コネクタ 8"/>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0" name="直線コネクタ 9"/>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1" name="直線コネクタ 10"/>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2" name="直線コネクタ 11"/>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3" name="直線コネクタ 12"/>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14" name="円/楕円 13"/>
            <p:cNvSpPr/>
            <p:nvPr/>
          </p:nvSpPr>
          <p:spPr bwMode="auto">
            <a:xfrm>
              <a:off x="6304693" y="3519010"/>
              <a:ext cx="135015" cy="132239"/>
            </a:xfrm>
            <a:prstGeom prst="ellipse">
              <a:avLst/>
            </a:prstGeom>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15" name="正方形/長方形 14"/>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grpSp>
        <p:nvGrpSpPr>
          <p:cNvPr id="16" name="グループ化 15"/>
          <p:cNvGrpSpPr/>
          <p:nvPr/>
        </p:nvGrpSpPr>
        <p:grpSpPr>
          <a:xfrm>
            <a:off x="5915998" y="1988985"/>
            <a:ext cx="2160240" cy="1487513"/>
            <a:chOff x="5292080" y="5004175"/>
            <a:chExt cx="2160240" cy="1487513"/>
          </a:xfrm>
        </p:grpSpPr>
        <p:cxnSp>
          <p:nvCxnSpPr>
            <p:cNvPr id="17" name="直線コネクタ 16"/>
            <p:cNvCxnSpPr/>
            <p:nvPr/>
          </p:nvCxnSpPr>
          <p:spPr bwMode="auto">
            <a:xfrm>
              <a:off x="529208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8" name="直線コネクタ 17"/>
            <p:cNvCxnSpPr/>
            <p:nvPr/>
          </p:nvCxnSpPr>
          <p:spPr bwMode="auto">
            <a:xfrm>
              <a:off x="673224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9" name="直線コネクタ 18"/>
            <p:cNvCxnSpPr/>
            <p:nvPr/>
          </p:nvCxnSpPr>
          <p:spPr bwMode="auto">
            <a:xfrm>
              <a:off x="6012160" y="55892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20" name="直線コネクタ 19"/>
            <p:cNvCxnSpPr/>
            <p:nvPr/>
          </p:nvCxnSpPr>
          <p:spPr bwMode="auto">
            <a:xfrm>
              <a:off x="601216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1" name="直線コネクタ 20"/>
            <p:cNvCxnSpPr/>
            <p:nvPr/>
          </p:nvCxnSpPr>
          <p:spPr bwMode="auto">
            <a:xfrm>
              <a:off x="673224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2" name="直線コネクタ 21"/>
            <p:cNvCxnSpPr/>
            <p:nvPr/>
          </p:nvCxnSpPr>
          <p:spPr bwMode="auto">
            <a:xfrm>
              <a:off x="6012160" y="5454225"/>
              <a:ext cx="720080" cy="1"/>
            </a:xfrm>
            <a:prstGeom prst="line">
              <a:avLst/>
            </a:prstGeom>
            <a:noFill/>
            <a:ln w="38100" cap="rnd" cmpd="sng" algn="ctr">
              <a:solidFill>
                <a:schemeClr val="tx1"/>
              </a:solidFill>
              <a:prstDash val="solid"/>
              <a:round/>
              <a:headEnd type="none" w="med" len="med"/>
              <a:tailEnd type="none" w="med" len="med"/>
            </a:ln>
            <a:effectLst/>
          </p:spPr>
        </p:cxnSp>
        <p:cxnSp>
          <p:nvCxnSpPr>
            <p:cNvPr id="23" name="直線コネクタ 22"/>
            <p:cNvCxnSpPr/>
            <p:nvPr/>
          </p:nvCxnSpPr>
          <p:spPr bwMode="auto">
            <a:xfrm>
              <a:off x="6372200" y="5004175"/>
              <a:ext cx="0" cy="450050"/>
            </a:xfrm>
            <a:prstGeom prst="line">
              <a:avLst/>
            </a:prstGeom>
            <a:noFill/>
            <a:ln w="12700" cap="rnd" cmpd="sng" algn="ctr">
              <a:solidFill>
                <a:schemeClr val="tx1"/>
              </a:solidFill>
              <a:prstDash val="solid"/>
              <a:round/>
              <a:headEnd type="none" w="med" len="med"/>
              <a:tailEnd type="none" w="med" len="med"/>
            </a:ln>
            <a:effectLst/>
          </p:spPr>
        </p:cxnSp>
        <p:sp>
          <p:nvSpPr>
            <p:cNvPr id="24" name="正方形/長方形 23"/>
            <p:cNvSpPr/>
            <p:nvPr/>
          </p:nvSpPr>
          <p:spPr bwMode="auto">
            <a:xfrm>
              <a:off x="5652084" y="6174188"/>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NMOS</a:t>
              </a:r>
              <a:endParaRPr lang="ja-JP" altLang="en-US" dirty="0">
                <a:solidFill>
                  <a:schemeClr val="tx1"/>
                </a:solidFill>
                <a:latin typeface="Times New Roman" pitchFamily="18" charset="0"/>
                <a:ea typeface="HG丸ｺﾞｼｯｸM-PRO" pitchFamily="50" charset="-128"/>
              </a:endParaRPr>
            </a:p>
          </p:txBody>
        </p:sp>
      </p:grpSp>
      <p:sp>
        <p:nvSpPr>
          <p:cNvPr id="25" name="Rectangle 93"/>
          <p:cNvSpPr>
            <a:spLocks noChangeArrowheads="1"/>
          </p:cNvSpPr>
          <p:nvPr/>
        </p:nvSpPr>
        <p:spPr bwMode="auto">
          <a:xfrm>
            <a:off x="6636007" y="162898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6" name="Rectangle 93"/>
          <p:cNvSpPr>
            <a:spLocks noChangeArrowheads="1"/>
          </p:cNvSpPr>
          <p:nvPr/>
        </p:nvSpPr>
        <p:spPr bwMode="auto">
          <a:xfrm>
            <a:off x="5555995" y="252899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27" name="Rectangle 93"/>
          <p:cNvSpPr>
            <a:spLocks noChangeArrowheads="1"/>
          </p:cNvSpPr>
          <p:nvPr/>
        </p:nvSpPr>
        <p:spPr bwMode="auto">
          <a:xfrm>
            <a:off x="7536017" y="252899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
        <p:nvSpPr>
          <p:cNvPr id="28" name="Rectangle 93"/>
          <p:cNvSpPr>
            <a:spLocks noChangeArrowheads="1"/>
          </p:cNvSpPr>
          <p:nvPr/>
        </p:nvSpPr>
        <p:spPr bwMode="auto">
          <a:xfrm>
            <a:off x="6636007" y="405900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9" name="Rectangle 93"/>
          <p:cNvSpPr>
            <a:spLocks noChangeArrowheads="1"/>
          </p:cNvSpPr>
          <p:nvPr/>
        </p:nvSpPr>
        <p:spPr bwMode="auto">
          <a:xfrm>
            <a:off x="5555995" y="495901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30" name="Rectangle 93"/>
          <p:cNvSpPr>
            <a:spLocks noChangeArrowheads="1"/>
          </p:cNvSpPr>
          <p:nvPr/>
        </p:nvSpPr>
        <p:spPr bwMode="auto">
          <a:xfrm>
            <a:off x="7536017" y="495901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grpSp>
        <p:nvGrpSpPr>
          <p:cNvPr id="4" name="グループ化 3">
            <a:extLst>
              <a:ext uri="{FF2B5EF4-FFF2-40B4-BE49-F238E27FC236}">
                <a16:creationId xmlns:a16="http://schemas.microsoft.com/office/drawing/2014/main" id="{4D20A9FF-C273-68EE-AAE2-2B4C85DB41B1}"/>
              </a:ext>
            </a:extLst>
          </p:cNvPr>
          <p:cNvGrpSpPr/>
          <p:nvPr/>
        </p:nvGrpSpPr>
        <p:grpSpPr>
          <a:xfrm>
            <a:off x="8526027" y="1988984"/>
            <a:ext cx="1531092" cy="1440374"/>
            <a:chOff x="5202007" y="3068996"/>
            <a:chExt cx="1531092" cy="1440374"/>
          </a:xfrm>
        </p:grpSpPr>
        <p:sp>
          <p:nvSpPr>
            <p:cNvPr id="5" name="正方形/長方形 4">
              <a:extLst>
                <a:ext uri="{FF2B5EF4-FFF2-40B4-BE49-F238E27FC236}">
                  <a16:creationId xmlns:a16="http://schemas.microsoft.com/office/drawing/2014/main" id="{AE9BBB44-7DA6-F8D8-A556-7E2D0EED10FF}"/>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1" name="円/楕円 69">
              <a:extLst>
                <a:ext uri="{FF2B5EF4-FFF2-40B4-BE49-F238E27FC236}">
                  <a16:creationId xmlns:a16="http://schemas.microsoft.com/office/drawing/2014/main" id="{EC5410DB-3924-6636-3A98-1D6EB6539C55}"/>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32" name="直線コネクタ 31">
              <a:extLst>
                <a:ext uri="{FF2B5EF4-FFF2-40B4-BE49-F238E27FC236}">
                  <a16:creationId xmlns:a16="http://schemas.microsoft.com/office/drawing/2014/main" id="{7592A6B3-7EA6-9E62-03DB-DA9A1FAE83F7}"/>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4249CCA0-38C8-EBD7-336F-8F819F32A5FE}"/>
                </a:ext>
              </a:extLst>
            </p:cNvPr>
            <p:cNvCxnSpPr>
              <a:cxnSpLocks/>
              <a:endCxn id="34"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4" name="円/楕円 68">
              <a:extLst>
                <a:ext uri="{FF2B5EF4-FFF2-40B4-BE49-F238E27FC236}">
                  <a16:creationId xmlns:a16="http://schemas.microsoft.com/office/drawing/2014/main" id="{FB5FF257-823C-17F1-D152-A7CBA118DD6A}"/>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35" name="直線コネクタ 34">
              <a:extLst>
                <a:ext uri="{FF2B5EF4-FFF2-40B4-BE49-F238E27FC236}">
                  <a16:creationId xmlns:a16="http://schemas.microsoft.com/office/drawing/2014/main" id="{EE5941DD-A771-5A4B-C27F-081E04532EA7}"/>
                </a:ext>
              </a:extLst>
            </p:cNvPr>
            <p:cNvCxnSpPr>
              <a:cxnSpLocks/>
              <a:endCxn id="31"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7B77D66B-CB44-DCF4-3F98-5C736F258D6A}"/>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7" name="Rectangle 93">
              <a:extLst>
                <a:ext uri="{FF2B5EF4-FFF2-40B4-BE49-F238E27FC236}">
                  <a16:creationId xmlns:a16="http://schemas.microsoft.com/office/drawing/2014/main" id="{F51FEFD8-9C75-EB34-4E28-7AFC4F3427B5}"/>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8" name="Rectangle 93">
              <a:extLst>
                <a:ext uri="{FF2B5EF4-FFF2-40B4-BE49-F238E27FC236}">
                  <a16:creationId xmlns:a16="http://schemas.microsoft.com/office/drawing/2014/main" id="{972DE9FD-CF0A-A8A2-4258-80F65EE0E4CB}"/>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39" name="Rectangle 93">
              <a:extLst>
                <a:ext uri="{FF2B5EF4-FFF2-40B4-BE49-F238E27FC236}">
                  <a16:creationId xmlns:a16="http://schemas.microsoft.com/office/drawing/2014/main" id="{22674F4A-A4D4-419D-7995-64F739CEEDDD}"/>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40" name="直線コネクタ 39">
              <a:extLst>
                <a:ext uri="{FF2B5EF4-FFF2-40B4-BE49-F238E27FC236}">
                  <a16:creationId xmlns:a16="http://schemas.microsoft.com/office/drawing/2014/main" id="{65F37BEC-6C6B-9A8F-9427-D4CEA6FD52F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48C6C3AF-B87E-AE92-61E4-40F1D8E98EF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42" name="グループ化 41">
            <a:extLst>
              <a:ext uri="{FF2B5EF4-FFF2-40B4-BE49-F238E27FC236}">
                <a16:creationId xmlns:a16="http://schemas.microsoft.com/office/drawing/2014/main" id="{1CAB5E11-FB11-73F8-1975-8233A1F05954}"/>
              </a:ext>
            </a:extLst>
          </p:cNvPr>
          <p:cNvGrpSpPr/>
          <p:nvPr/>
        </p:nvGrpSpPr>
        <p:grpSpPr>
          <a:xfrm>
            <a:off x="8526027" y="4509012"/>
            <a:ext cx="1531092" cy="1440374"/>
            <a:chOff x="5202007" y="2708992"/>
            <a:chExt cx="1531092" cy="1440374"/>
          </a:xfrm>
        </p:grpSpPr>
        <p:grpSp>
          <p:nvGrpSpPr>
            <p:cNvPr id="43" name="グループ化 42">
              <a:extLst>
                <a:ext uri="{FF2B5EF4-FFF2-40B4-BE49-F238E27FC236}">
                  <a16:creationId xmlns:a16="http://schemas.microsoft.com/office/drawing/2014/main" id="{A042DA85-F4FC-3014-7360-4E12AFDA9657}"/>
                </a:ext>
              </a:extLst>
            </p:cNvPr>
            <p:cNvGrpSpPr/>
            <p:nvPr/>
          </p:nvGrpSpPr>
          <p:grpSpPr>
            <a:xfrm>
              <a:off x="5202007" y="2708992"/>
              <a:ext cx="1531092" cy="1440374"/>
              <a:chOff x="5202007" y="3068996"/>
              <a:chExt cx="1531092" cy="1440374"/>
            </a:xfrm>
          </p:grpSpPr>
          <p:sp>
            <p:nvSpPr>
              <p:cNvPr id="45" name="正方形/長方形 44">
                <a:extLst>
                  <a:ext uri="{FF2B5EF4-FFF2-40B4-BE49-F238E27FC236}">
                    <a16:creationId xmlns:a16="http://schemas.microsoft.com/office/drawing/2014/main" id="{C47CB782-1FD7-AA68-4291-A60A9F4712F9}"/>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46" name="円/楕円 69">
                <a:extLst>
                  <a:ext uri="{FF2B5EF4-FFF2-40B4-BE49-F238E27FC236}">
                    <a16:creationId xmlns:a16="http://schemas.microsoft.com/office/drawing/2014/main" id="{8A7C1364-F621-F3F1-F9F8-C556888428EF}"/>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47" name="直線コネクタ 46">
                <a:extLst>
                  <a:ext uri="{FF2B5EF4-FFF2-40B4-BE49-F238E27FC236}">
                    <a16:creationId xmlns:a16="http://schemas.microsoft.com/office/drawing/2014/main" id="{2CB88CDD-FAF5-A353-D7E1-CB59ABF52E34}"/>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01AB4057-928F-3ED5-7334-CEDAD8129450}"/>
                  </a:ext>
                </a:extLst>
              </p:cNvPr>
              <p:cNvCxnSpPr>
                <a:cxnSpLocks/>
                <a:endCxn id="49"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49" name="円/楕円 68">
                <a:extLst>
                  <a:ext uri="{FF2B5EF4-FFF2-40B4-BE49-F238E27FC236}">
                    <a16:creationId xmlns:a16="http://schemas.microsoft.com/office/drawing/2014/main" id="{210B036E-6956-443C-39F6-447118F9E1ED}"/>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0" name="直線コネクタ 49">
                <a:extLst>
                  <a:ext uri="{FF2B5EF4-FFF2-40B4-BE49-F238E27FC236}">
                    <a16:creationId xmlns:a16="http://schemas.microsoft.com/office/drawing/2014/main" id="{AFC405F1-A1A9-8E8E-2E95-B3AD1E3C7F4D}"/>
                  </a:ext>
                </a:extLst>
              </p:cNvPr>
              <p:cNvCxnSpPr>
                <a:cxnSpLocks/>
                <a:endCxn id="46"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BB484EB-B9AD-A7D3-ED7C-3167ABDCD0E1}"/>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2" name="Rectangle 93">
                <a:extLst>
                  <a:ext uri="{FF2B5EF4-FFF2-40B4-BE49-F238E27FC236}">
                    <a16:creationId xmlns:a16="http://schemas.microsoft.com/office/drawing/2014/main" id="{8EB3165D-6DEB-6E31-472A-0AC8123BF5E6}"/>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3" name="Rectangle 93">
                <a:extLst>
                  <a:ext uri="{FF2B5EF4-FFF2-40B4-BE49-F238E27FC236}">
                    <a16:creationId xmlns:a16="http://schemas.microsoft.com/office/drawing/2014/main" id="{35DAE38D-AFE0-8F42-CDB7-443EEBD2A42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54" name="Rectangle 93">
                <a:extLst>
                  <a:ext uri="{FF2B5EF4-FFF2-40B4-BE49-F238E27FC236}">
                    <a16:creationId xmlns:a16="http://schemas.microsoft.com/office/drawing/2014/main" id="{E08D5D87-3BF5-F011-A1D2-5A7143F12B56}"/>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55" name="直線コネクタ 54">
                <a:extLst>
                  <a:ext uri="{FF2B5EF4-FFF2-40B4-BE49-F238E27FC236}">
                    <a16:creationId xmlns:a16="http://schemas.microsoft.com/office/drawing/2014/main" id="{24612928-DF70-61AF-FEDC-1CB3D070E630}"/>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2D71FEA6-831D-09D4-8CE5-553F6336A58E}"/>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44" name="円/楕円 69">
              <a:extLst>
                <a:ext uri="{FF2B5EF4-FFF2-40B4-BE49-F238E27FC236}">
                  <a16:creationId xmlns:a16="http://schemas.microsoft.com/office/drawing/2014/main" id="{A1898B93-7A45-E9F4-19F4-52FD98B933DE}"/>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21506950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AB1F67-BE7D-CC4F-AEAE-473F52A9739A}"/>
              </a:ext>
            </a:extLst>
          </p:cNvPr>
          <p:cNvSpPr>
            <a:spLocks noGrp="1"/>
          </p:cNvSpPr>
          <p:nvPr>
            <p:ph type="title"/>
          </p:nvPr>
        </p:nvSpPr>
        <p:spPr/>
        <p:txBody>
          <a:bodyPr/>
          <a:lstStyle/>
          <a:p>
            <a:r>
              <a:rPr kumimoji="1" lang="ja-JP" altLang="en-US" dirty="0"/>
              <a:t>だがしかし</a:t>
            </a:r>
            <a:endParaRPr kumimoji="1" lang="en-US" dirty="0"/>
          </a:p>
        </p:txBody>
      </p:sp>
      <p:sp>
        <p:nvSpPr>
          <p:cNvPr id="3" name="テキスト プレースホルダー 2">
            <a:extLst>
              <a:ext uri="{FF2B5EF4-FFF2-40B4-BE49-F238E27FC236}">
                <a16:creationId xmlns:a16="http://schemas.microsoft.com/office/drawing/2014/main" id="{F8408C9E-8C29-3967-B494-68886E31D5DD}"/>
              </a:ext>
            </a:extLst>
          </p:cNvPr>
          <p:cNvSpPr>
            <a:spLocks noGrp="1"/>
          </p:cNvSpPr>
          <p:nvPr>
            <p:ph type="body" sz="quarter" idx="10"/>
          </p:nvPr>
        </p:nvSpPr>
        <p:spPr/>
        <p:txBody>
          <a:bodyPr/>
          <a:lstStyle/>
          <a:p>
            <a:r>
              <a:rPr kumimoji="1" lang="ja-JP" altLang="en-US" dirty="0"/>
              <a:t>いきなり </a:t>
            </a:r>
            <a:r>
              <a:rPr kumimoji="1" lang="en-US" altLang="ja-JP" dirty="0"/>
              <a:t>MOS </a:t>
            </a:r>
            <a:r>
              <a:rPr kumimoji="1" lang="ja-JP" altLang="en-US" dirty="0"/>
              <a:t>とか言われても，何もわからないのではないか</a:t>
            </a:r>
            <a:endParaRPr kumimoji="1" lang="en-US" altLang="ja-JP" dirty="0"/>
          </a:p>
          <a:p>
            <a:pPr lvl="1"/>
            <a:r>
              <a:rPr kumimoji="1" lang="ja-JP" altLang="en-US" dirty="0"/>
              <a:t>消費電力はコンデンサへの充放電により説明されるが，</a:t>
            </a:r>
            <a:br>
              <a:rPr kumimoji="1" lang="en-US" altLang="ja-JP" dirty="0"/>
            </a:br>
            <a:r>
              <a:rPr kumimoji="1" lang="ja-JP" altLang="en-US" dirty="0"/>
              <a:t>コンデンサが何かとか憶えてない（</a:t>
            </a:r>
            <a:r>
              <a:rPr kumimoji="1" lang="en-US" altLang="ja-JP" dirty="0"/>
              <a:t>or </a:t>
            </a:r>
            <a:r>
              <a:rPr kumimoji="1" lang="ja-JP" altLang="en-US" dirty="0"/>
              <a:t>知らない）のでは</a:t>
            </a:r>
            <a:endParaRPr kumimoji="1" lang="en-US" altLang="ja-JP" dirty="0"/>
          </a:p>
          <a:p>
            <a:r>
              <a:rPr kumimoji="1" lang="ja-JP" altLang="en-US" dirty="0"/>
              <a:t>もうちょっと直感的な例を使って</a:t>
            </a:r>
            <a:r>
              <a:rPr lang="ja-JP" altLang="en-US" dirty="0"/>
              <a:t>イメージを掴みたい</a:t>
            </a:r>
            <a:endParaRPr kumimoji="1" lang="en-US" altLang="ja-JP" dirty="0"/>
          </a:p>
          <a:p>
            <a:pPr lvl="1"/>
            <a:r>
              <a:rPr kumimoji="1" lang="ja-JP" altLang="en-US" dirty="0"/>
              <a:t>ここでは水の流れに例えて説明</a:t>
            </a:r>
            <a:endParaRPr kumimoji="1" lang="en-US" altLang="ja-JP" dirty="0"/>
          </a:p>
          <a:p>
            <a:pPr lvl="1"/>
            <a:r>
              <a:rPr kumimoji="1" lang="ja-JP" altLang="en-US" dirty="0">
                <a:solidFill>
                  <a:schemeClr val="accent5"/>
                </a:solidFill>
              </a:rPr>
              <a:t>技術的に正確ではないが</a:t>
            </a:r>
            <a:r>
              <a:rPr kumimoji="1" lang="ja-JP" altLang="en-US" dirty="0"/>
              <a:t>，かなりイメージは一致する</a:t>
            </a:r>
            <a:endParaRPr kumimoji="1" lang="en-US" altLang="ja-JP" dirty="0"/>
          </a:p>
          <a:p>
            <a:pPr lvl="2"/>
            <a:r>
              <a:rPr lang="ja-JP" altLang="en-US" dirty="0"/>
              <a:t>一次近似としては良くあっているはず</a:t>
            </a:r>
            <a:endParaRPr kumimoji="1" lang="en-US" altLang="ja-JP" dirty="0"/>
          </a:p>
          <a:p>
            <a:pPr lvl="2"/>
            <a:r>
              <a:rPr kumimoji="1" lang="ja-JP" altLang="en-US" dirty="0"/>
              <a:t>消費電力のイメージもかなり伝えやすい</a:t>
            </a:r>
            <a:endParaRPr kumimoji="1" lang="en-US" altLang="ja-JP" dirty="0"/>
          </a:p>
          <a:p>
            <a:r>
              <a:rPr lang="ja-JP" altLang="en-US" dirty="0"/>
              <a:t>回路の量（大きさ）と，電力の関係のイメージを掴んでほしい</a:t>
            </a:r>
            <a:endParaRPr lang="en-US" altLang="ja-JP" dirty="0"/>
          </a:p>
        </p:txBody>
      </p:sp>
    </p:spTree>
    <p:extLst>
      <p:ext uri="{BB962C8B-B14F-4D97-AF65-F5344CB8AC3E}">
        <p14:creationId xmlns:p14="http://schemas.microsoft.com/office/powerpoint/2010/main" val="4280096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0CCA5-EB2A-1758-EBB5-1A51DEBD2793}"/>
              </a:ext>
            </a:extLst>
          </p:cNvPr>
          <p:cNvSpPr>
            <a:spLocks noGrp="1"/>
          </p:cNvSpPr>
          <p:nvPr>
            <p:ph type="title"/>
          </p:nvPr>
        </p:nvSpPr>
        <p:spPr/>
        <p:txBody>
          <a:bodyPr/>
          <a:lstStyle/>
          <a:p>
            <a:r>
              <a:rPr kumimoji="1" lang="ja-JP" altLang="en-US" dirty="0"/>
              <a:t>水の流れで例えることにする</a:t>
            </a:r>
            <a:endParaRPr kumimoji="1" lang="en-US" dirty="0"/>
          </a:p>
        </p:txBody>
      </p:sp>
      <p:sp>
        <p:nvSpPr>
          <p:cNvPr id="3" name="テキスト プレースホルダー 2">
            <a:extLst>
              <a:ext uri="{FF2B5EF4-FFF2-40B4-BE49-F238E27FC236}">
                <a16:creationId xmlns:a16="http://schemas.microsoft.com/office/drawing/2014/main" id="{0FAF7A46-B8E3-23D8-12A2-0F7E8F98C48D}"/>
              </a:ext>
            </a:extLst>
          </p:cNvPr>
          <p:cNvSpPr>
            <a:spLocks noGrp="1"/>
          </p:cNvSpPr>
          <p:nvPr>
            <p:ph type="body" sz="quarter" idx="10"/>
          </p:nvPr>
        </p:nvSpPr>
        <p:spPr>
          <a:xfrm>
            <a:off x="1055944" y="3609002"/>
            <a:ext cx="9360104" cy="2700030"/>
          </a:xfrm>
        </p:spPr>
        <p:txBody>
          <a:bodyPr/>
          <a:lstStyle/>
          <a:p>
            <a:r>
              <a:rPr kumimoji="1" lang="ja-JP" altLang="en-US" dirty="0">
                <a:solidFill>
                  <a:schemeClr val="accent5"/>
                </a:solidFill>
              </a:rPr>
              <a:t>水流タンクシステム：</a:t>
            </a:r>
            <a:endParaRPr kumimoji="1" lang="en-US" altLang="ja-JP" dirty="0">
              <a:solidFill>
                <a:schemeClr val="accent5"/>
              </a:solidFill>
            </a:endParaRPr>
          </a:p>
          <a:p>
            <a:pPr lvl="1"/>
            <a:r>
              <a:rPr kumimoji="1" lang="ja-JP" altLang="en-US" dirty="0"/>
              <a:t>水が流れるパイプとタンク＋栓を考える</a:t>
            </a:r>
            <a:endParaRPr kumimoji="1" lang="en-US" altLang="ja-JP" dirty="0"/>
          </a:p>
          <a:p>
            <a:pPr lvl="1"/>
            <a:r>
              <a:rPr kumimoji="1" lang="ja-JP" altLang="en-US" dirty="0">
                <a:solidFill>
                  <a:schemeClr val="accent5"/>
                </a:solidFill>
              </a:rPr>
              <a:t>タンクに水がたまっているかどうかに連動して動く栓を持つ</a:t>
            </a:r>
            <a:endParaRPr kumimoji="1" lang="en-US" altLang="ja-JP" dirty="0">
              <a:solidFill>
                <a:schemeClr val="accent5"/>
              </a:solidFill>
            </a:endParaRPr>
          </a:p>
          <a:p>
            <a:pPr lvl="2"/>
            <a:r>
              <a:rPr lang="ja-JP" altLang="en-US" dirty="0"/>
              <a:t>栓には</a:t>
            </a:r>
            <a:r>
              <a:rPr kumimoji="1" lang="ja-JP" altLang="en-US" dirty="0"/>
              <a:t>水が通れる部分があって，水流を制御できる</a:t>
            </a:r>
            <a:endParaRPr kumimoji="1" lang="en-US" altLang="ja-JP" dirty="0"/>
          </a:p>
          <a:p>
            <a:r>
              <a:rPr kumimoji="1" lang="en-US" altLang="ja-JP" dirty="0"/>
              <a:t>PMOS </a:t>
            </a:r>
            <a:r>
              <a:rPr kumimoji="1" lang="ja-JP" altLang="en-US" dirty="0"/>
              <a:t>と同様の挙動：</a:t>
            </a:r>
            <a:endParaRPr kumimoji="1" lang="en-US" altLang="ja-JP" dirty="0"/>
          </a:p>
          <a:p>
            <a:pPr lvl="1"/>
            <a:r>
              <a:rPr lang="ja-JP" altLang="en-US" dirty="0"/>
              <a:t>「タンクが空だと，</a:t>
            </a:r>
            <a:r>
              <a:rPr lang="en-US" altLang="ja-JP" dirty="0"/>
              <a:t>S </a:t>
            </a:r>
            <a:r>
              <a:rPr lang="ja-JP" altLang="en-US" dirty="0"/>
              <a:t>から </a:t>
            </a:r>
            <a:r>
              <a:rPr lang="en-US" altLang="ja-JP" dirty="0"/>
              <a:t>D </a:t>
            </a:r>
            <a:r>
              <a:rPr lang="ja-JP" altLang="en-US" dirty="0"/>
              <a:t>に水が流れる」</a:t>
            </a:r>
            <a:endParaRPr lang="en-US" altLang="ja-JP" dirty="0"/>
          </a:p>
          <a:p>
            <a:pPr lvl="1"/>
            <a:r>
              <a:rPr kumimoji="1" lang="ja-JP" altLang="en-US" dirty="0"/>
              <a:t>「電荷が </a:t>
            </a:r>
            <a:r>
              <a:rPr kumimoji="1" lang="en-US" altLang="ja-JP" dirty="0"/>
              <a:t>Gate </a:t>
            </a:r>
            <a:r>
              <a:rPr kumimoji="1" lang="ja-JP" altLang="en-US" dirty="0"/>
              <a:t>から抜けて空だと，</a:t>
            </a:r>
            <a:r>
              <a:rPr lang="en-US" altLang="ja-JP" dirty="0"/>
              <a:t>S </a:t>
            </a:r>
            <a:r>
              <a:rPr lang="ja-JP" altLang="en-US" dirty="0"/>
              <a:t>から </a:t>
            </a:r>
            <a:r>
              <a:rPr lang="en-US" altLang="ja-JP" dirty="0"/>
              <a:t>D </a:t>
            </a:r>
            <a:r>
              <a:rPr lang="ja-JP" altLang="en-US" dirty="0"/>
              <a:t>に電荷が流れる」</a:t>
            </a:r>
          </a:p>
        </p:txBody>
      </p:sp>
      <p:cxnSp>
        <p:nvCxnSpPr>
          <p:cNvPr id="185" name="直線コネクタ 184">
            <a:extLst>
              <a:ext uri="{FF2B5EF4-FFF2-40B4-BE49-F238E27FC236}">
                <a16:creationId xmlns:a16="http://schemas.microsoft.com/office/drawing/2014/main" id="{243B26EC-4D37-A9E5-CAC1-E6876022B997}"/>
              </a:ext>
            </a:extLst>
          </p:cNvPr>
          <p:cNvCxnSpPr>
            <a:cxnSpLocks/>
          </p:cNvCxnSpPr>
          <p:nvPr/>
        </p:nvCxnSpPr>
        <p:spPr bwMode="auto">
          <a:xfrm>
            <a:off x="3845977" y="3338998"/>
            <a:ext cx="7290081" cy="0"/>
          </a:xfrm>
          <a:prstGeom prst="line">
            <a:avLst/>
          </a:prstGeom>
          <a:noFill/>
          <a:ln w="6350" cap="flat" cmpd="sng" algn="ctr">
            <a:solidFill>
              <a:schemeClr val="tx1"/>
            </a:solidFill>
            <a:prstDash val="solid"/>
            <a:round/>
            <a:headEnd type="none" w="med" len="med"/>
            <a:tailEnd type="none" w="med" len="med"/>
          </a:ln>
          <a:effectLst/>
        </p:spPr>
      </p:cxnSp>
      <p:grpSp>
        <p:nvGrpSpPr>
          <p:cNvPr id="313" name="グループ化 312">
            <a:extLst>
              <a:ext uri="{FF2B5EF4-FFF2-40B4-BE49-F238E27FC236}">
                <a16:creationId xmlns:a16="http://schemas.microsoft.com/office/drawing/2014/main" id="{C6D83E9D-93CE-35EF-79D4-C6F2C1CA8999}"/>
              </a:ext>
            </a:extLst>
          </p:cNvPr>
          <p:cNvGrpSpPr/>
          <p:nvPr/>
        </p:nvGrpSpPr>
        <p:grpSpPr>
          <a:xfrm>
            <a:off x="875942" y="1448977"/>
            <a:ext cx="2160240" cy="1475975"/>
            <a:chOff x="5292080" y="3203975"/>
            <a:chExt cx="2160240" cy="1475975"/>
          </a:xfrm>
        </p:grpSpPr>
        <p:cxnSp>
          <p:nvCxnSpPr>
            <p:cNvPr id="314" name="直線コネクタ 313">
              <a:extLst>
                <a:ext uri="{FF2B5EF4-FFF2-40B4-BE49-F238E27FC236}">
                  <a16:creationId xmlns:a16="http://schemas.microsoft.com/office/drawing/2014/main" id="{127055AE-9783-BE19-FB72-AF109AB90721}"/>
                </a:ext>
              </a:extLst>
            </p:cNvPr>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315" name="直線コネクタ 314">
              <a:extLst>
                <a:ext uri="{FF2B5EF4-FFF2-40B4-BE49-F238E27FC236}">
                  <a16:creationId xmlns:a16="http://schemas.microsoft.com/office/drawing/2014/main" id="{830A3127-30AB-EF22-6A57-BF30D2BF9C0A}"/>
                </a:ext>
              </a:extLst>
            </p:cNvPr>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316" name="直線コネクタ 315">
              <a:extLst>
                <a:ext uri="{FF2B5EF4-FFF2-40B4-BE49-F238E27FC236}">
                  <a16:creationId xmlns:a16="http://schemas.microsoft.com/office/drawing/2014/main" id="{59865F86-B6A0-0517-857B-C4FBE208E165}"/>
                </a:ext>
              </a:extLst>
            </p:cNvPr>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317" name="直線コネクタ 316">
              <a:extLst>
                <a:ext uri="{FF2B5EF4-FFF2-40B4-BE49-F238E27FC236}">
                  <a16:creationId xmlns:a16="http://schemas.microsoft.com/office/drawing/2014/main" id="{5F52F240-AFB7-40CB-7138-64CE2A293594}"/>
                </a:ext>
              </a:extLst>
            </p:cNvPr>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318" name="直線コネクタ 317">
              <a:extLst>
                <a:ext uri="{FF2B5EF4-FFF2-40B4-BE49-F238E27FC236}">
                  <a16:creationId xmlns:a16="http://schemas.microsoft.com/office/drawing/2014/main" id="{EDCB114F-ABD9-40D3-C60A-01242440777B}"/>
                </a:ext>
              </a:extLst>
            </p:cNvPr>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319" name="直線コネクタ 318">
              <a:extLst>
                <a:ext uri="{FF2B5EF4-FFF2-40B4-BE49-F238E27FC236}">
                  <a16:creationId xmlns:a16="http://schemas.microsoft.com/office/drawing/2014/main" id="{B071A40D-9419-FFAB-4862-8E0E2A018D5A}"/>
                </a:ext>
              </a:extLst>
            </p:cNvPr>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320" name="直線コネクタ 319">
              <a:extLst>
                <a:ext uri="{FF2B5EF4-FFF2-40B4-BE49-F238E27FC236}">
                  <a16:creationId xmlns:a16="http://schemas.microsoft.com/office/drawing/2014/main" id="{8580DF30-ADFA-551D-7855-763C747DD9E1}"/>
                </a:ext>
              </a:extLst>
            </p:cNvPr>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321" name="円/楕円 13">
              <a:extLst>
                <a:ext uri="{FF2B5EF4-FFF2-40B4-BE49-F238E27FC236}">
                  <a16:creationId xmlns:a16="http://schemas.microsoft.com/office/drawing/2014/main" id="{727A7DC3-D1C5-5AB9-7F08-FE2D4D96F1E1}"/>
                </a:ext>
              </a:extLst>
            </p:cNvPr>
            <p:cNvSpPr/>
            <p:nvPr/>
          </p:nvSpPr>
          <p:spPr bwMode="auto">
            <a:xfrm>
              <a:off x="6304693" y="3519010"/>
              <a:ext cx="135015" cy="132239"/>
            </a:xfrm>
            <a:prstGeom prst="ellipse">
              <a:avLst/>
            </a:prstGeom>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322" name="正方形/長方形 321">
              <a:extLst>
                <a:ext uri="{FF2B5EF4-FFF2-40B4-BE49-F238E27FC236}">
                  <a16:creationId xmlns:a16="http://schemas.microsoft.com/office/drawing/2014/main" id="{AB400B23-78AD-CAA2-1934-9857F35FF6C4}"/>
                </a:ext>
              </a:extLst>
            </p:cNvPr>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sp>
        <p:nvSpPr>
          <p:cNvPr id="323" name="Rectangle 93">
            <a:extLst>
              <a:ext uri="{FF2B5EF4-FFF2-40B4-BE49-F238E27FC236}">
                <a16:creationId xmlns:a16="http://schemas.microsoft.com/office/drawing/2014/main" id="{FB59D1F6-ECB0-8A25-296D-9EA976AB1665}"/>
              </a:ext>
            </a:extLst>
          </p:cNvPr>
          <p:cNvSpPr>
            <a:spLocks noChangeArrowheads="1"/>
          </p:cNvSpPr>
          <p:nvPr/>
        </p:nvSpPr>
        <p:spPr bwMode="auto">
          <a:xfrm>
            <a:off x="1595951" y="108897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324" name="Rectangle 93">
            <a:extLst>
              <a:ext uri="{FF2B5EF4-FFF2-40B4-BE49-F238E27FC236}">
                <a16:creationId xmlns:a16="http://schemas.microsoft.com/office/drawing/2014/main" id="{F9FA0BB3-70F2-6DFB-0BE0-CFAA42238F1D}"/>
              </a:ext>
            </a:extLst>
          </p:cNvPr>
          <p:cNvSpPr>
            <a:spLocks noChangeArrowheads="1"/>
          </p:cNvSpPr>
          <p:nvPr/>
        </p:nvSpPr>
        <p:spPr bwMode="auto">
          <a:xfrm>
            <a:off x="515939" y="198898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325" name="Rectangle 93">
            <a:extLst>
              <a:ext uri="{FF2B5EF4-FFF2-40B4-BE49-F238E27FC236}">
                <a16:creationId xmlns:a16="http://schemas.microsoft.com/office/drawing/2014/main" id="{E90ADCEF-D758-B488-EE95-210E1E9F86C7}"/>
              </a:ext>
            </a:extLst>
          </p:cNvPr>
          <p:cNvSpPr>
            <a:spLocks noChangeArrowheads="1"/>
          </p:cNvSpPr>
          <p:nvPr/>
        </p:nvSpPr>
        <p:spPr bwMode="auto">
          <a:xfrm>
            <a:off x="2495961" y="198898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grpSp>
        <p:nvGrpSpPr>
          <p:cNvPr id="4" name="グループ化 3">
            <a:extLst>
              <a:ext uri="{FF2B5EF4-FFF2-40B4-BE49-F238E27FC236}">
                <a16:creationId xmlns:a16="http://schemas.microsoft.com/office/drawing/2014/main" id="{3A257138-6FB7-AA50-9BE8-779B5BF86754}"/>
              </a:ext>
            </a:extLst>
          </p:cNvPr>
          <p:cNvGrpSpPr/>
          <p:nvPr/>
        </p:nvGrpSpPr>
        <p:grpSpPr>
          <a:xfrm>
            <a:off x="3845975" y="908972"/>
            <a:ext cx="3240037" cy="2430026"/>
            <a:chOff x="8166024" y="908972"/>
            <a:chExt cx="3240037" cy="2430026"/>
          </a:xfrm>
        </p:grpSpPr>
        <p:cxnSp>
          <p:nvCxnSpPr>
            <p:cNvPr id="138" name="直線コネクタ 137">
              <a:extLst>
                <a:ext uri="{FF2B5EF4-FFF2-40B4-BE49-F238E27FC236}">
                  <a16:creationId xmlns:a16="http://schemas.microsoft.com/office/drawing/2014/main" id="{3D1BDB27-E911-73E0-10A0-25A7BA915B3A}"/>
                </a:ext>
              </a:extLst>
            </p:cNvPr>
            <p:cNvCxnSpPr>
              <a:cxnSpLocks/>
            </p:cNvCxnSpPr>
            <p:nvPr/>
          </p:nvCxnSpPr>
          <p:spPr bwMode="auto">
            <a:xfrm>
              <a:off x="9336038" y="1628980"/>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E9A89B82-A0B5-8A2E-EB7B-F84A7D1715CE}"/>
                </a:ext>
              </a:extLst>
            </p:cNvPr>
            <p:cNvCxnSpPr>
              <a:cxnSpLocks/>
            </p:cNvCxnSpPr>
            <p:nvPr/>
          </p:nvCxnSpPr>
          <p:spPr bwMode="auto">
            <a:xfrm>
              <a:off x="9336038"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06F0BF4F-4BE9-2CDB-9C18-548EAB7730D7}"/>
                </a:ext>
              </a:extLst>
            </p:cNvPr>
            <p:cNvCxnSpPr>
              <a:cxnSpLocks/>
            </p:cNvCxnSpPr>
            <p:nvPr/>
          </p:nvCxnSpPr>
          <p:spPr bwMode="auto">
            <a:xfrm>
              <a:off x="9876044"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41" name="直線コネクタ 140">
              <a:extLst>
                <a:ext uri="{FF2B5EF4-FFF2-40B4-BE49-F238E27FC236}">
                  <a16:creationId xmlns:a16="http://schemas.microsoft.com/office/drawing/2014/main" id="{2A711A06-F65D-0F7A-06EF-E9ED85649217}"/>
                </a:ext>
              </a:extLst>
            </p:cNvPr>
            <p:cNvCxnSpPr>
              <a:cxnSpLocks/>
            </p:cNvCxnSpPr>
            <p:nvPr/>
          </p:nvCxnSpPr>
          <p:spPr bwMode="auto">
            <a:xfrm flipV="1">
              <a:off x="9606039" y="1628980"/>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42" name="正方形/長方形 141">
              <a:extLst>
                <a:ext uri="{FF2B5EF4-FFF2-40B4-BE49-F238E27FC236}">
                  <a16:creationId xmlns:a16="http://schemas.microsoft.com/office/drawing/2014/main" id="{E1AF8E8E-DFBC-A1C8-E91C-F5BD4398029D}"/>
                </a:ext>
              </a:extLst>
            </p:cNvPr>
            <p:cNvSpPr/>
            <p:nvPr/>
          </p:nvSpPr>
          <p:spPr bwMode="auto">
            <a:xfrm rot="5400000">
              <a:off x="9516040" y="998973"/>
              <a:ext cx="180002" cy="2880033"/>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3" name="直線コネクタ 142">
              <a:extLst>
                <a:ext uri="{FF2B5EF4-FFF2-40B4-BE49-F238E27FC236}">
                  <a16:creationId xmlns:a16="http://schemas.microsoft.com/office/drawing/2014/main" id="{9F3EA5DE-21C2-B9FF-CE51-9D9637C5C226}"/>
                </a:ext>
              </a:extLst>
            </p:cNvPr>
            <p:cNvCxnSpPr>
              <a:cxnSpLocks/>
            </p:cNvCxnSpPr>
            <p:nvPr/>
          </p:nvCxnSpPr>
          <p:spPr bwMode="auto">
            <a:xfrm>
              <a:off x="9696044"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44" name="直線コネクタ 143">
              <a:extLst>
                <a:ext uri="{FF2B5EF4-FFF2-40B4-BE49-F238E27FC236}">
                  <a16:creationId xmlns:a16="http://schemas.microsoft.com/office/drawing/2014/main" id="{32CC6C35-DDB5-893A-9560-35D4B6178DA2}"/>
                </a:ext>
              </a:extLst>
            </p:cNvPr>
            <p:cNvCxnSpPr>
              <a:cxnSpLocks/>
            </p:cNvCxnSpPr>
            <p:nvPr/>
          </p:nvCxnSpPr>
          <p:spPr bwMode="auto">
            <a:xfrm>
              <a:off x="8166024"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884578CE-614B-D8D9-CB42-EA777C006AEC}"/>
                </a:ext>
              </a:extLst>
            </p:cNvPr>
            <p:cNvCxnSpPr>
              <a:cxnSpLocks/>
            </p:cNvCxnSpPr>
            <p:nvPr/>
          </p:nvCxnSpPr>
          <p:spPr bwMode="auto">
            <a:xfrm>
              <a:off x="8166024"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146" name="正方形/長方形 145">
              <a:extLst>
                <a:ext uri="{FF2B5EF4-FFF2-40B4-BE49-F238E27FC236}">
                  <a16:creationId xmlns:a16="http://schemas.microsoft.com/office/drawing/2014/main" id="{0836A2F0-B7EC-6471-BAFB-4930CF9C58E1}"/>
                </a:ext>
              </a:extLst>
            </p:cNvPr>
            <p:cNvSpPr/>
            <p:nvPr/>
          </p:nvSpPr>
          <p:spPr bwMode="auto">
            <a:xfrm rot="5400000">
              <a:off x="9336036" y="1988984"/>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47" name="グループ化 146">
              <a:extLst>
                <a:ext uri="{FF2B5EF4-FFF2-40B4-BE49-F238E27FC236}">
                  <a16:creationId xmlns:a16="http://schemas.microsoft.com/office/drawing/2014/main" id="{4DB04772-9190-6B3F-6B84-5293D9EB77C2}"/>
                </a:ext>
              </a:extLst>
            </p:cNvPr>
            <p:cNvGrpSpPr/>
            <p:nvPr/>
          </p:nvGrpSpPr>
          <p:grpSpPr>
            <a:xfrm>
              <a:off x="9516040" y="2618989"/>
              <a:ext cx="180003" cy="720009"/>
              <a:chOff x="3131985" y="5049018"/>
              <a:chExt cx="180002" cy="437056"/>
            </a:xfrm>
          </p:grpSpPr>
          <p:grpSp>
            <p:nvGrpSpPr>
              <p:cNvPr id="148" name="グループ化 147">
                <a:extLst>
                  <a:ext uri="{FF2B5EF4-FFF2-40B4-BE49-F238E27FC236}">
                    <a16:creationId xmlns:a16="http://schemas.microsoft.com/office/drawing/2014/main" id="{8C5923D4-6EDC-5946-AAD3-73B6D9B2C1D4}"/>
                  </a:ext>
                </a:extLst>
              </p:cNvPr>
              <p:cNvGrpSpPr/>
              <p:nvPr/>
            </p:nvGrpSpPr>
            <p:grpSpPr>
              <a:xfrm>
                <a:off x="3131985" y="5139021"/>
                <a:ext cx="180002" cy="254126"/>
                <a:chOff x="3131984" y="5191944"/>
                <a:chExt cx="270003" cy="201854"/>
              </a:xfrm>
            </p:grpSpPr>
            <p:sp>
              <p:nvSpPr>
                <p:cNvPr id="151" name="Freeform 42">
                  <a:extLst>
                    <a:ext uri="{FF2B5EF4-FFF2-40B4-BE49-F238E27FC236}">
                      <a16:creationId xmlns:a16="http://schemas.microsoft.com/office/drawing/2014/main" id="{7172C465-3584-FBD2-B44F-142E95F20F0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2" name="Freeform 42">
                  <a:extLst>
                    <a:ext uri="{FF2B5EF4-FFF2-40B4-BE49-F238E27FC236}">
                      <a16:creationId xmlns:a16="http://schemas.microsoft.com/office/drawing/2014/main" id="{452CBD54-1EBF-0643-8FD3-182145594D35}"/>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3" name="Freeform 42">
                  <a:extLst>
                    <a:ext uri="{FF2B5EF4-FFF2-40B4-BE49-F238E27FC236}">
                      <a16:creationId xmlns:a16="http://schemas.microsoft.com/office/drawing/2014/main" id="{2A1C9113-94B4-70FE-E828-85F9AAA57101}"/>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4" name="Freeform 42">
                  <a:extLst>
                    <a:ext uri="{FF2B5EF4-FFF2-40B4-BE49-F238E27FC236}">
                      <a16:creationId xmlns:a16="http://schemas.microsoft.com/office/drawing/2014/main" id="{31597B0A-42BD-BD2B-6AF6-420A0027A14F}"/>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49" name="直線コネクタ 148">
                <a:extLst>
                  <a:ext uri="{FF2B5EF4-FFF2-40B4-BE49-F238E27FC236}">
                    <a16:creationId xmlns:a16="http://schemas.microsoft.com/office/drawing/2014/main" id="{B62B9CA8-961F-5163-1A73-71AD6FAF5EF3}"/>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18F68D78-8FE5-5990-AA51-F04867913767}"/>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81" name="正方形/長方形 180">
              <a:extLst>
                <a:ext uri="{FF2B5EF4-FFF2-40B4-BE49-F238E27FC236}">
                  <a16:creationId xmlns:a16="http://schemas.microsoft.com/office/drawing/2014/main" id="{311E4025-1AB0-EE3C-0D80-826DB64A6209}"/>
                </a:ext>
              </a:extLst>
            </p:cNvPr>
            <p:cNvSpPr/>
            <p:nvPr/>
          </p:nvSpPr>
          <p:spPr bwMode="auto">
            <a:xfrm rot="5400000" flipH="1">
              <a:off x="9561038" y="2483987"/>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82" name="直線コネクタ 181">
              <a:extLst>
                <a:ext uri="{FF2B5EF4-FFF2-40B4-BE49-F238E27FC236}">
                  <a16:creationId xmlns:a16="http://schemas.microsoft.com/office/drawing/2014/main" id="{03375B85-EC39-832E-F8AA-ED7D60C1A38A}"/>
                </a:ext>
              </a:extLst>
            </p:cNvPr>
            <p:cNvCxnSpPr>
              <a:cxnSpLocks/>
            </p:cNvCxnSpPr>
            <p:nvPr/>
          </p:nvCxnSpPr>
          <p:spPr bwMode="auto">
            <a:xfrm flipH="1">
              <a:off x="9696042" y="2348986"/>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83" name="直線コネクタ 182">
              <a:extLst>
                <a:ext uri="{FF2B5EF4-FFF2-40B4-BE49-F238E27FC236}">
                  <a16:creationId xmlns:a16="http://schemas.microsoft.com/office/drawing/2014/main" id="{2F951B46-437E-DC17-1DDE-DBFF7EA63FBE}"/>
                </a:ext>
              </a:extLst>
            </p:cNvPr>
            <p:cNvCxnSpPr>
              <a:cxnSpLocks/>
            </p:cNvCxnSpPr>
            <p:nvPr/>
          </p:nvCxnSpPr>
          <p:spPr bwMode="auto">
            <a:xfrm flipH="1">
              <a:off x="9516041" y="2348986"/>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184" name="正方形/長方形 183">
              <a:extLst>
                <a:ext uri="{FF2B5EF4-FFF2-40B4-BE49-F238E27FC236}">
                  <a16:creationId xmlns:a16="http://schemas.microsoft.com/office/drawing/2014/main" id="{E1AF7C07-BA81-67A6-B367-DABF2A86DCBF}"/>
                </a:ext>
              </a:extLst>
            </p:cNvPr>
            <p:cNvSpPr/>
            <p:nvPr/>
          </p:nvSpPr>
          <p:spPr bwMode="auto">
            <a:xfrm>
              <a:off x="10686053" y="126897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400" dirty="0">
                  <a:solidFill>
                    <a:schemeClr val="accent6"/>
                  </a:solidFill>
                </a:rPr>
                <a:t>タンク（空）</a:t>
              </a:r>
            </a:p>
          </p:txBody>
        </p:sp>
        <p:sp>
          <p:nvSpPr>
            <p:cNvPr id="188" name="正方形/長方形 187">
              <a:extLst>
                <a:ext uri="{FF2B5EF4-FFF2-40B4-BE49-F238E27FC236}">
                  <a16:creationId xmlns:a16="http://schemas.microsoft.com/office/drawing/2014/main" id="{751A9E03-3B36-5CA3-4F28-E8E1A4988DBA}"/>
                </a:ext>
              </a:extLst>
            </p:cNvPr>
            <p:cNvSpPr/>
            <p:nvPr/>
          </p:nvSpPr>
          <p:spPr bwMode="auto">
            <a:xfrm>
              <a:off x="9696042"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栓がバネで上がって</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水が流れる</a:t>
              </a:r>
            </a:p>
          </p:txBody>
        </p:sp>
        <p:cxnSp>
          <p:nvCxnSpPr>
            <p:cNvPr id="190" name="直線矢印コネクタ 189">
              <a:extLst>
                <a:ext uri="{FF2B5EF4-FFF2-40B4-BE49-F238E27FC236}">
                  <a16:creationId xmlns:a16="http://schemas.microsoft.com/office/drawing/2014/main" id="{5714EF0B-4D83-FFE8-0356-2648D9BF3145}"/>
                </a:ext>
              </a:extLst>
            </p:cNvPr>
            <p:cNvCxnSpPr/>
            <p:nvPr/>
          </p:nvCxnSpPr>
          <p:spPr bwMode="auto">
            <a:xfrm>
              <a:off x="8886033" y="2438989"/>
              <a:ext cx="1530017" cy="0"/>
            </a:xfrm>
            <a:prstGeom prst="straightConnector1">
              <a:avLst/>
            </a:prstGeom>
            <a:noFill/>
            <a:ln w="9525" cap="flat" cmpd="sng" algn="ctr">
              <a:solidFill>
                <a:schemeClr val="tx1"/>
              </a:solidFill>
              <a:prstDash val="solid"/>
              <a:round/>
              <a:headEnd type="none" w="med" len="med"/>
              <a:tailEnd type="triangle"/>
            </a:ln>
            <a:effectLst/>
          </p:spPr>
        </p:cxnSp>
        <p:sp>
          <p:nvSpPr>
            <p:cNvPr id="207" name="Rectangle 93">
              <a:extLst>
                <a:ext uri="{FF2B5EF4-FFF2-40B4-BE49-F238E27FC236}">
                  <a16:creationId xmlns:a16="http://schemas.microsoft.com/office/drawing/2014/main" id="{8E2A8724-5C45-B554-36AB-22B676778A4B}"/>
                </a:ext>
              </a:extLst>
            </p:cNvPr>
            <p:cNvSpPr>
              <a:spLocks noChangeArrowheads="1"/>
            </p:cNvSpPr>
            <p:nvPr/>
          </p:nvSpPr>
          <p:spPr bwMode="auto">
            <a:xfrm>
              <a:off x="9426038" y="908972"/>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8" name="Rectangle 93">
              <a:extLst>
                <a:ext uri="{FF2B5EF4-FFF2-40B4-BE49-F238E27FC236}">
                  <a16:creationId xmlns:a16="http://schemas.microsoft.com/office/drawing/2014/main" id="{C81E4564-342C-ED27-8E15-7707FA312181}"/>
                </a:ext>
              </a:extLst>
            </p:cNvPr>
            <p:cNvSpPr>
              <a:spLocks noChangeArrowheads="1"/>
            </p:cNvSpPr>
            <p:nvPr/>
          </p:nvSpPr>
          <p:spPr bwMode="auto">
            <a:xfrm>
              <a:off x="8166024"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09" name="Rectangle 93">
              <a:extLst>
                <a:ext uri="{FF2B5EF4-FFF2-40B4-BE49-F238E27FC236}">
                  <a16:creationId xmlns:a16="http://schemas.microsoft.com/office/drawing/2014/main" id="{230161D1-3696-354C-BD17-9C8D6687B8F9}"/>
                </a:ext>
              </a:extLst>
            </p:cNvPr>
            <p:cNvSpPr>
              <a:spLocks noChangeArrowheads="1"/>
            </p:cNvSpPr>
            <p:nvPr/>
          </p:nvSpPr>
          <p:spPr bwMode="auto">
            <a:xfrm>
              <a:off x="10776053"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326" name="直線矢印コネクタ 325">
              <a:extLst>
                <a:ext uri="{FF2B5EF4-FFF2-40B4-BE49-F238E27FC236}">
                  <a16:creationId xmlns:a16="http://schemas.microsoft.com/office/drawing/2014/main" id="{A0167388-382F-B61A-676C-1720E7B9E789}"/>
                </a:ext>
              </a:extLst>
            </p:cNvPr>
            <p:cNvCxnSpPr>
              <a:cxnSpLocks/>
            </p:cNvCxnSpPr>
            <p:nvPr/>
          </p:nvCxnSpPr>
          <p:spPr bwMode="auto">
            <a:xfrm flipV="1">
              <a:off x="9426037" y="2798992"/>
              <a:ext cx="0" cy="360004"/>
            </a:xfrm>
            <a:prstGeom prst="straightConnector1">
              <a:avLst/>
            </a:prstGeom>
            <a:noFill/>
            <a:ln w="9525" cap="flat" cmpd="sng" algn="ctr">
              <a:solidFill>
                <a:schemeClr val="tx1"/>
              </a:solidFill>
              <a:prstDash val="solid"/>
              <a:round/>
              <a:headEnd type="none" w="med" len="med"/>
              <a:tailEnd type="triangle"/>
            </a:ln>
            <a:effectLst/>
          </p:spPr>
        </p:cxnSp>
      </p:grpSp>
      <p:grpSp>
        <p:nvGrpSpPr>
          <p:cNvPr id="5" name="グループ化 4">
            <a:extLst>
              <a:ext uri="{FF2B5EF4-FFF2-40B4-BE49-F238E27FC236}">
                <a16:creationId xmlns:a16="http://schemas.microsoft.com/office/drawing/2014/main" id="{077E8F91-A026-DAD1-4EF3-1CC619F538E4}"/>
              </a:ext>
            </a:extLst>
          </p:cNvPr>
          <p:cNvGrpSpPr/>
          <p:nvPr/>
        </p:nvGrpSpPr>
        <p:grpSpPr>
          <a:xfrm>
            <a:off x="7716018" y="1178975"/>
            <a:ext cx="2971108" cy="2160023"/>
            <a:chOff x="3845976" y="1178975"/>
            <a:chExt cx="2971108" cy="2160023"/>
          </a:xfrm>
        </p:grpSpPr>
        <p:sp>
          <p:nvSpPr>
            <p:cNvPr id="96" name="正方形/長方形 95">
              <a:extLst>
                <a:ext uri="{FF2B5EF4-FFF2-40B4-BE49-F238E27FC236}">
                  <a16:creationId xmlns:a16="http://schemas.microsoft.com/office/drawing/2014/main" id="{C02DB7A0-8698-6C41-1879-46A733182D00}"/>
                </a:ext>
              </a:extLst>
            </p:cNvPr>
            <p:cNvSpPr/>
            <p:nvPr/>
          </p:nvSpPr>
          <p:spPr bwMode="auto">
            <a:xfrm>
              <a:off x="5015992" y="1628980"/>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2" name="直線コネクタ 91">
              <a:extLst>
                <a:ext uri="{FF2B5EF4-FFF2-40B4-BE49-F238E27FC236}">
                  <a16:creationId xmlns:a16="http://schemas.microsoft.com/office/drawing/2014/main" id="{6A95AF56-EA91-3972-A1F8-99DF96AACCB7}"/>
                </a:ext>
              </a:extLst>
            </p:cNvPr>
            <p:cNvCxnSpPr>
              <a:cxnSpLocks/>
            </p:cNvCxnSpPr>
            <p:nvPr/>
          </p:nvCxnSpPr>
          <p:spPr bwMode="auto">
            <a:xfrm>
              <a:off x="5015992" y="1988985"/>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93" name="直線コネクタ 92">
              <a:extLst>
                <a:ext uri="{FF2B5EF4-FFF2-40B4-BE49-F238E27FC236}">
                  <a16:creationId xmlns:a16="http://schemas.microsoft.com/office/drawing/2014/main" id="{3A191E2D-C30A-F142-049A-CDB68490038B}"/>
                </a:ext>
              </a:extLst>
            </p:cNvPr>
            <p:cNvCxnSpPr>
              <a:cxnSpLocks/>
            </p:cNvCxnSpPr>
            <p:nvPr/>
          </p:nvCxnSpPr>
          <p:spPr bwMode="auto">
            <a:xfrm>
              <a:off x="5015992"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94" name="直線コネクタ 93">
              <a:extLst>
                <a:ext uri="{FF2B5EF4-FFF2-40B4-BE49-F238E27FC236}">
                  <a16:creationId xmlns:a16="http://schemas.microsoft.com/office/drawing/2014/main" id="{055718A8-CEC8-030F-6083-B27CA95AC537}"/>
                </a:ext>
              </a:extLst>
            </p:cNvPr>
            <p:cNvCxnSpPr>
              <a:cxnSpLocks/>
            </p:cNvCxnSpPr>
            <p:nvPr/>
          </p:nvCxnSpPr>
          <p:spPr bwMode="auto">
            <a:xfrm>
              <a:off x="5555998"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98" name="直線コネクタ 97">
              <a:extLst>
                <a:ext uri="{FF2B5EF4-FFF2-40B4-BE49-F238E27FC236}">
                  <a16:creationId xmlns:a16="http://schemas.microsoft.com/office/drawing/2014/main" id="{9B2122C0-305E-08B4-2CE8-0B925F50CFCA}"/>
                </a:ext>
              </a:extLst>
            </p:cNvPr>
            <p:cNvCxnSpPr>
              <a:cxnSpLocks/>
            </p:cNvCxnSpPr>
            <p:nvPr/>
          </p:nvCxnSpPr>
          <p:spPr bwMode="auto">
            <a:xfrm flipV="1">
              <a:off x="5285993" y="1988985"/>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07" name="正方形/長方形 106">
              <a:extLst>
                <a:ext uri="{FF2B5EF4-FFF2-40B4-BE49-F238E27FC236}">
                  <a16:creationId xmlns:a16="http://schemas.microsoft.com/office/drawing/2014/main" id="{85A8B95B-F7FB-931F-0A7F-05354E3BC42F}"/>
                </a:ext>
              </a:extLst>
            </p:cNvPr>
            <p:cNvSpPr/>
            <p:nvPr/>
          </p:nvSpPr>
          <p:spPr bwMode="auto">
            <a:xfrm rot="5400000">
              <a:off x="4430983" y="1763982"/>
              <a:ext cx="180002" cy="135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0" name="直線コネクタ 99">
              <a:extLst>
                <a:ext uri="{FF2B5EF4-FFF2-40B4-BE49-F238E27FC236}">
                  <a16:creationId xmlns:a16="http://schemas.microsoft.com/office/drawing/2014/main" id="{855B669B-315A-D65E-B16A-6B3D5DE538AF}"/>
                </a:ext>
              </a:extLst>
            </p:cNvPr>
            <p:cNvCxnSpPr>
              <a:cxnSpLocks/>
            </p:cNvCxnSpPr>
            <p:nvPr/>
          </p:nvCxnSpPr>
          <p:spPr bwMode="auto">
            <a:xfrm>
              <a:off x="5375996"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DFF5316E-5D50-8E18-18D3-C77D1B93B42F}"/>
                </a:ext>
              </a:extLst>
            </p:cNvPr>
            <p:cNvCxnSpPr>
              <a:cxnSpLocks/>
            </p:cNvCxnSpPr>
            <p:nvPr/>
          </p:nvCxnSpPr>
          <p:spPr bwMode="auto">
            <a:xfrm>
              <a:off x="3845976"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106" name="直線コネクタ 105">
              <a:extLst>
                <a:ext uri="{FF2B5EF4-FFF2-40B4-BE49-F238E27FC236}">
                  <a16:creationId xmlns:a16="http://schemas.microsoft.com/office/drawing/2014/main" id="{00703513-CD50-B101-3D6F-C8FC29959F48}"/>
                </a:ext>
              </a:extLst>
            </p:cNvPr>
            <p:cNvCxnSpPr>
              <a:cxnSpLocks/>
            </p:cNvCxnSpPr>
            <p:nvPr/>
          </p:nvCxnSpPr>
          <p:spPr bwMode="auto">
            <a:xfrm>
              <a:off x="3845976"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109" name="正方形/長方形 108">
              <a:extLst>
                <a:ext uri="{FF2B5EF4-FFF2-40B4-BE49-F238E27FC236}">
                  <a16:creationId xmlns:a16="http://schemas.microsoft.com/office/drawing/2014/main" id="{F48CA9D9-9E54-2253-AECE-3A28CE4F8BB4}"/>
                </a:ext>
              </a:extLst>
            </p:cNvPr>
            <p:cNvSpPr/>
            <p:nvPr/>
          </p:nvSpPr>
          <p:spPr bwMode="auto">
            <a:xfrm rot="5400000">
              <a:off x="5015990" y="2348989"/>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17" name="グループ化 116">
              <a:extLst>
                <a:ext uri="{FF2B5EF4-FFF2-40B4-BE49-F238E27FC236}">
                  <a16:creationId xmlns:a16="http://schemas.microsoft.com/office/drawing/2014/main" id="{BE86DD72-9AE4-C699-C12A-A4549D154B4E}"/>
                </a:ext>
              </a:extLst>
            </p:cNvPr>
            <p:cNvGrpSpPr/>
            <p:nvPr/>
          </p:nvGrpSpPr>
          <p:grpSpPr>
            <a:xfrm>
              <a:off x="5195992" y="2978994"/>
              <a:ext cx="180003" cy="360004"/>
              <a:chOff x="3131985" y="5049018"/>
              <a:chExt cx="180002" cy="437056"/>
            </a:xfrm>
          </p:grpSpPr>
          <p:grpSp>
            <p:nvGrpSpPr>
              <p:cNvPr id="118" name="グループ化 117">
                <a:extLst>
                  <a:ext uri="{FF2B5EF4-FFF2-40B4-BE49-F238E27FC236}">
                    <a16:creationId xmlns:a16="http://schemas.microsoft.com/office/drawing/2014/main" id="{B4DA64CF-041E-2F31-6211-2E72008E8F68}"/>
                  </a:ext>
                </a:extLst>
              </p:cNvPr>
              <p:cNvGrpSpPr/>
              <p:nvPr/>
            </p:nvGrpSpPr>
            <p:grpSpPr>
              <a:xfrm>
                <a:off x="3131985" y="5139021"/>
                <a:ext cx="180002" cy="254126"/>
                <a:chOff x="3131984" y="5191944"/>
                <a:chExt cx="270003" cy="201854"/>
              </a:xfrm>
            </p:grpSpPr>
            <p:sp>
              <p:nvSpPr>
                <p:cNvPr id="121" name="Freeform 42">
                  <a:extLst>
                    <a:ext uri="{FF2B5EF4-FFF2-40B4-BE49-F238E27FC236}">
                      <a16:creationId xmlns:a16="http://schemas.microsoft.com/office/drawing/2014/main" id="{60074FB6-C7B5-B425-F232-B269F0EFC6E8}"/>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2" name="Freeform 42">
                  <a:extLst>
                    <a:ext uri="{FF2B5EF4-FFF2-40B4-BE49-F238E27FC236}">
                      <a16:creationId xmlns:a16="http://schemas.microsoft.com/office/drawing/2014/main" id="{5D08D684-EA89-6459-1683-2348F7084C61}"/>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3" name="Freeform 42">
                  <a:extLst>
                    <a:ext uri="{FF2B5EF4-FFF2-40B4-BE49-F238E27FC236}">
                      <a16:creationId xmlns:a16="http://schemas.microsoft.com/office/drawing/2014/main" id="{CDF4C01C-5F74-8E39-23E0-DBF42F250487}"/>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4" name="Freeform 42">
                  <a:extLst>
                    <a:ext uri="{FF2B5EF4-FFF2-40B4-BE49-F238E27FC236}">
                      <a16:creationId xmlns:a16="http://schemas.microsoft.com/office/drawing/2014/main" id="{C728A1E3-1C0F-6E1B-A5BB-A4472A34191D}"/>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19" name="直線コネクタ 118">
                <a:extLst>
                  <a:ext uri="{FF2B5EF4-FFF2-40B4-BE49-F238E27FC236}">
                    <a16:creationId xmlns:a16="http://schemas.microsoft.com/office/drawing/2014/main" id="{E0D645FE-B56D-DD10-183C-703C2949FF9A}"/>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E59D46EB-5474-347B-CCA0-5B52BF4DD26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55" name="正方形/長方形 154">
              <a:extLst>
                <a:ext uri="{FF2B5EF4-FFF2-40B4-BE49-F238E27FC236}">
                  <a16:creationId xmlns:a16="http://schemas.microsoft.com/office/drawing/2014/main" id="{45F9BF97-B2E4-6AF6-3CB8-691C192A029C}"/>
                </a:ext>
              </a:extLst>
            </p:cNvPr>
            <p:cNvSpPr/>
            <p:nvPr/>
          </p:nvSpPr>
          <p:spPr bwMode="auto">
            <a:xfrm>
              <a:off x="5645995" y="126897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dirty="0">
                  <a:solidFill>
                    <a:schemeClr val="accent6"/>
                  </a:solidFill>
                </a:rPr>
                <a:t>タンク（溜）</a:t>
              </a:r>
            </a:p>
          </p:txBody>
        </p:sp>
        <p:sp>
          <p:nvSpPr>
            <p:cNvPr id="156" name="正方形/長方形 155">
              <a:extLst>
                <a:ext uri="{FF2B5EF4-FFF2-40B4-BE49-F238E27FC236}">
                  <a16:creationId xmlns:a16="http://schemas.microsoft.com/office/drawing/2014/main" id="{7A5A3D32-45DC-5643-DED1-4ACF450F068A}"/>
                </a:ext>
              </a:extLst>
            </p:cNvPr>
            <p:cNvSpPr/>
            <p:nvPr/>
          </p:nvSpPr>
          <p:spPr bwMode="auto">
            <a:xfrm rot="5400000" flipH="1">
              <a:off x="5240990" y="2843992"/>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76" name="直線コネクタ 175">
              <a:extLst>
                <a:ext uri="{FF2B5EF4-FFF2-40B4-BE49-F238E27FC236}">
                  <a16:creationId xmlns:a16="http://schemas.microsoft.com/office/drawing/2014/main" id="{8220F12F-841C-9960-F2B7-381A71094A1D}"/>
                </a:ext>
              </a:extLst>
            </p:cNvPr>
            <p:cNvCxnSpPr>
              <a:cxnSpLocks/>
            </p:cNvCxnSpPr>
            <p:nvPr/>
          </p:nvCxnSpPr>
          <p:spPr bwMode="auto">
            <a:xfrm flipH="1">
              <a:off x="5375994" y="2708991"/>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78" name="直線コネクタ 177">
              <a:extLst>
                <a:ext uri="{FF2B5EF4-FFF2-40B4-BE49-F238E27FC236}">
                  <a16:creationId xmlns:a16="http://schemas.microsoft.com/office/drawing/2014/main" id="{5F986E48-F194-51DF-911A-FA71F51A546E}"/>
                </a:ext>
              </a:extLst>
            </p:cNvPr>
            <p:cNvCxnSpPr>
              <a:cxnSpLocks/>
            </p:cNvCxnSpPr>
            <p:nvPr/>
          </p:nvCxnSpPr>
          <p:spPr bwMode="auto">
            <a:xfrm flipH="1">
              <a:off x="5195993" y="2708991"/>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187" name="正方形/長方形 186">
              <a:extLst>
                <a:ext uri="{FF2B5EF4-FFF2-40B4-BE49-F238E27FC236}">
                  <a16:creationId xmlns:a16="http://schemas.microsoft.com/office/drawing/2014/main" id="{F300A16D-D4C2-F7FE-0880-0A177C99FC7F}"/>
                </a:ext>
              </a:extLst>
            </p:cNvPr>
            <p:cNvSpPr/>
            <p:nvPr/>
          </p:nvSpPr>
          <p:spPr bwMode="auto">
            <a:xfrm>
              <a:off x="5375994"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栓が水の重みで</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降りて水が流れない</a:t>
              </a:r>
            </a:p>
          </p:txBody>
        </p:sp>
        <p:sp>
          <p:nvSpPr>
            <p:cNvPr id="204" name="Rectangle 93">
              <a:extLst>
                <a:ext uri="{FF2B5EF4-FFF2-40B4-BE49-F238E27FC236}">
                  <a16:creationId xmlns:a16="http://schemas.microsoft.com/office/drawing/2014/main" id="{668326D5-07F6-01DF-1DCE-4A4C7231FAE0}"/>
                </a:ext>
              </a:extLst>
            </p:cNvPr>
            <p:cNvSpPr>
              <a:spLocks noChangeArrowheads="1"/>
            </p:cNvSpPr>
            <p:nvPr/>
          </p:nvSpPr>
          <p:spPr bwMode="auto">
            <a:xfrm>
              <a:off x="5105990" y="117897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5" name="Rectangle 93">
              <a:extLst>
                <a:ext uri="{FF2B5EF4-FFF2-40B4-BE49-F238E27FC236}">
                  <a16:creationId xmlns:a16="http://schemas.microsoft.com/office/drawing/2014/main" id="{39AEA9D5-B671-34DA-22B9-EB2E1AF63E63}"/>
                </a:ext>
              </a:extLst>
            </p:cNvPr>
            <p:cNvSpPr>
              <a:spLocks noChangeArrowheads="1"/>
            </p:cNvSpPr>
            <p:nvPr/>
          </p:nvSpPr>
          <p:spPr bwMode="auto">
            <a:xfrm>
              <a:off x="3845976"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06" name="Rectangle 93">
              <a:extLst>
                <a:ext uri="{FF2B5EF4-FFF2-40B4-BE49-F238E27FC236}">
                  <a16:creationId xmlns:a16="http://schemas.microsoft.com/office/drawing/2014/main" id="{9BFE4FC4-4342-0787-6C6A-B15710F791A9}"/>
                </a:ext>
              </a:extLst>
            </p:cNvPr>
            <p:cNvSpPr>
              <a:spLocks noChangeArrowheads="1"/>
            </p:cNvSpPr>
            <p:nvPr/>
          </p:nvSpPr>
          <p:spPr bwMode="auto">
            <a:xfrm>
              <a:off x="6456005"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328" name="直線矢印コネクタ 327">
              <a:extLst>
                <a:ext uri="{FF2B5EF4-FFF2-40B4-BE49-F238E27FC236}">
                  <a16:creationId xmlns:a16="http://schemas.microsoft.com/office/drawing/2014/main" id="{156219F7-08E7-52C8-0B5B-EEB3983AAFEE}"/>
                </a:ext>
              </a:extLst>
            </p:cNvPr>
            <p:cNvCxnSpPr>
              <a:cxnSpLocks/>
            </p:cNvCxnSpPr>
            <p:nvPr/>
          </p:nvCxnSpPr>
          <p:spPr bwMode="auto">
            <a:xfrm>
              <a:off x="5105989" y="3068995"/>
              <a:ext cx="0" cy="180002"/>
            </a:xfrm>
            <a:prstGeom prst="straightConnector1">
              <a:avLst/>
            </a:prstGeom>
            <a:noFill/>
            <a:ln w="952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4108690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0CCA5-EB2A-1758-EBB5-1A51DEBD2793}"/>
              </a:ext>
            </a:extLst>
          </p:cNvPr>
          <p:cNvSpPr>
            <a:spLocks noGrp="1"/>
          </p:cNvSpPr>
          <p:nvPr>
            <p:ph type="title"/>
          </p:nvPr>
        </p:nvSpPr>
        <p:spPr/>
        <p:txBody>
          <a:bodyPr/>
          <a:lstStyle/>
          <a:p>
            <a:r>
              <a:rPr kumimoji="1" lang="ja-JP" altLang="en-US" dirty="0"/>
              <a:t>タンクは２種類ある（</a:t>
            </a:r>
            <a:r>
              <a:rPr kumimoji="1" lang="en-US" altLang="ja-JP" dirty="0"/>
              <a:t>PMOS </a:t>
            </a:r>
            <a:r>
              <a:rPr kumimoji="1" lang="ja-JP" altLang="en-US" dirty="0"/>
              <a:t>と </a:t>
            </a:r>
            <a:r>
              <a:rPr kumimoji="1" lang="en-US" altLang="ja-JP" dirty="0"/>
              <a:t>NMOS </a:t>
            </a:r>
            <a:r>
              <a:rPr kumimoji="1" lang="ja-JP" altLang="en-US" dirty="0"/>
              <a:t>に相当）</a:t>
            </a:r>
            <a:br>
              <a:rPr kumimoji="1" lang="en-US" altLang="ja-JP" dirty="0"/>
            </a:br>
            <a:r>
              <a:rPr lang="ja-JP" altLang="en-US" sz="2000" dirty="0"/>
              <a:t>タンクに水が</a:t>
            </a:r>
            <a:r>
              <a:rPr kumimoji="1" lang="ja-JP" altLang="en-US" sz="2000" dirty="0"/>
              <a:t>溜まっている時に，流れるか遮断されるかが逆になっている</a:t>
            </a:r>
            <a:endParaRPr kumimoji="1" lang="en-US" sz="2400" dirty="0"/>
          </a:p>
        </p:txBody>
      </p:sp>
      <p:cxnSp>
        <p:nvCxnSpPr>
          <p:cNvPr id="185" name="直線コネクタ 184">
            <a:extLst>
              <a:ext uri="{FF2B5EF4-FFF2-40B4-BE49-F238E27FC236}">
                <a16:creationId xmlns:a16="http://schemas.microsoft.com/office/drawing/2014/main" id="{243B26EC-4D37-A9E5-CAC1-E6876022B997}"/>
              </a:ext>
            </a:extLst>
          </p:cNvPr>
          <p:cNvCxnSpPr>
            <a:cxnSpLocks/>
          </p:cNvCxnSpPr>
          <p:nvPr/>
        </p:nvCxnSpPr>
        <p:spPr bwMode="auto">
          <a:xfrm>
            <a:off x="3935976" y="6309031"/>
            <a:ext cx="7290081" cy="0"/>
          </a:xfrm>
          <a:prstGeom prst="line">
            <a:avLst/>
          </a:prstGeom>
          <a:noFill/>
          <a:ln w="6350" cap="flat" cmpd="sng" algn="ctr">
            <a:solidFill>
              <a:schemeClr val="tx1"/>
            </a:solidFill>
            <a:prstDash val="solid"/>
            <a:round/>
            <a:headEnd type="none" w="med" len="med"/>
            <a:tailEnd type="none" w="med" len="med"/>
          </a:ln>
          <a:effectLst/>
        </p:spPr>
      </p:cxnSp>
      <p:grpSp>
        <p:nvGrpSpPr>
          <p:cNvPr id="6" name="グループ化 5">
            <a:extLst>
              <a:ext uri="{FF2B5EF4-FFF2-40B4-BE49-F238E27FC236}">
                <a16:creationId xmlns:a16="http://schemas.microsoft.com/office/drawing/2014/main" id="{09D93189-D8A1-5091-2A7F-62F146DF22A2}"/>
              </a:ext>
            </a:extLst>
          </p:cNvPr>
          <p:cNvGrpSpPr/>
          <p:nvPr/>
        </p:nvGrpSpPr>
        <p:grpSpPr>
          <a:xfrm>
            <a:off x="7896020" y="4149008"/>
            <a:ext cx="3331111" cy="2160023"/>
            <a:chOff x="3575972" y="4149008"/>
            <a:chExt cx="3331111" cy="2160023"/>
          </a:xfrm>
        </p:grpSpPr>
        <p:sp>
          <p:nvSpPr>
            <p:cNvPr id="96" name="正方形/長方形 95">
              <a:extLst>
                <a:ext uri="{FF2B5EF4-FFF2-40B4-BE49-F238E27FC236}">
                  <a16:creationId xmlns:a16="http://schemas.microsoft.com/office/drawing/2014/main" id="{C02DB7A0-8698-6C41-1879-46A733182D00}"/>
                </a:ext>
              </a:extLst>
            </p:cNvPr>
            <p:cNvSpPr/>
            <p:nvPr/>
          </p:nvSpPr>
          <p:spPr bwMode="auto">
            <a:xfrm>
              <a:off x="5105991" y="459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2" name="直線コネクタ 91">
              <a:extLst>
                <a:ext uri="{FF2B5EF4-FFF2-40B4-BE49-F238E27FC236}">
                  <a16:creationId xmlns:a16="http://schemas.microsoft.com/office/drawing/2014/main" id="{6A95AF56-EA91-3972-A1F8-99DF96AACCB7}"/>
                </a:ext>
              </a:extLst>
            </p:cNvPr>
            <p:cNvCxnSpPr>
              <a:cxnSpLocks/>
            </p:cNvCxnSpPr>
            <p:nvPr/>
          </p:nvCxnSpPr>
          <p:spPr bwMode="auto">
            <a:xfrm>
              <a:off x="5105991" y="495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93" name="直線コネクタ 92">
              <a:extLst>
                <a:ext uri="{FF2B5EF4-FFF2-40B4-BE49-F238E27FC236}">
                  <a16:creationId xmlns:a16="http://schemas.microsoft.com/office/drawing/2014/main" id="{3A191E2D-C30A-F142-049A-CDB68490038B}"/>
                </a:ext>
              </a:extLst>
            </p:cNvPr>
            <p:cNvCxnSpPr>
              <a:cxnSpLocks/>
            </p:cNvCxnSpPr>
            <p:nvPr/>
          </p:nvCxnSpPr>
          <p:spPr bwMode="auto">
            <a:xfrm>
              <a:off x="5105991"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94" name="直線コネクタ 93">
              <a:extLst>
                <a:ext uri="{FF2B5EF4-FFF2-40B4-BE49-F238E27FC236}">
                  <a16:creationId xmlns:a16="http://schemas.microsoft.com/office/drawing/2014/main" id="{055718A8-CEC8-030F-6083-B27CA95AC537}"/>
                </a:ext>
              </a:extLst>
            </p:cNvPr>
            <p:cNvCxnSpPr>
              <a:cxnSpLocks/>
            </p:cNvCxnSpPr>
            <p:nvPr/>
          </p:nvCxnSpPr>
          <p:spPr bwMode="auto">
            <a:xfrm>
              <a:off x="5645997"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98" name="直線コネクタ 97">
              <a:extLst>
                <a:ext uri="{FF2B5EF4-FFF2-40B4-BE49-F238E27FC236}">
                  <a16:creationId xmlns:a16="http://schemas.microsoft.com/office/drawing/2014/main" id="{9B2122C0-305E-08B4-2CE8-0B925F50CFCA}"/>
                </a:ext>
              </a:extLst>
            </p:cNvPr>
            <p:cNvCxnSpPr>
              <a:cxnSpLocks/>
            </p:cNvCxnSpPr>
            <p:nvPr/>
          </p:nvCxnSpPr>
          <p:spPr bwMode="auto">
            <a:xfrm flipV="1">
              <a:off x="5375992" y="495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07" name="正方形/長方形 106">
              <a:extLst>
                <a:ext uri="{FF2B5EF4-FFF2-40B4-BE49-F238E27FC236}">
                  <a16:creationId xmlns:a16="http://schemas.microsoft.com/office/drawing/2014/main" id="{85A8B95B-F7FB-931F-0A7F-05354E3BC42F}"/>
                </a:ext>
              </a:extLst>
            </p:cNvPr>
            <p:cNvSpPr/>
            <p:nvPr/>
          </p:nvSpPr>
          <p:spPr bwMode="auto">
            <a:xfrm rot="5400000">
              <a:off x="5285989" y="3969008"/>
              <a:ext cx="180002" cy="2880030"/>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0" name="直線コネクタ 99">
              <a:extLst>
                <a:ext uri="{FF2B5EF4-FFF2-40B4-BE49-F238E27FC236}">
                  <a16:creationId xmlns:a16="http://schemas.microsoft.com/office/drawing/2014/main" id="{855B669B-315A-D65E-B16A-6B3D5DE538AF}"/>
                </a:ext>
              </a:extLst>
            </p:cNvPr>
            <p:cNvCxnSpPr>
              <a:cxnSpLocks/>
            </p:cNvCxnSpPr>
            <p:nvPr/>
          </p:nvCxnSpPr>
          <p:spPr bwMode="auto">
            <a:xfrm>
              <a:off x="5465995" y="5319023"/>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DFF5316E-5D50-8E18-18D3-C77D1B93B42F}"/>
                </a:ext>
              </a:extLst>
            </p:cNvPr>
            <p:cNvCxnSpPr>
              <a:cxnSpLocks/>
            </p:cNvCxnSpPr>
            <p:nvPr/>
          </p:nvCxnSpPr>
          <p:spPr bwMode="auto">
            <a:xfrm>
              <a:off x="3935975" y="5499023"/>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106" name="直線コネクタ 105">
              <a:extLst>
                <a:ext uri="{FF2B5EF4-FFF2-40B4-BE49-F238E27FC236}">
                  <a16:creationId xmlns:a16="http://schemas.microsoft.com/office/drawing/2014/main" id="{00703513-CD50-B101-3D6F-C8FC29959F48}"/>
                </a:ext>
              </a:extLst>
            </p:cNvPr>
            <p:cNvCxnSpPr>
              <a:cxnSpLocks/>
            </p:cNvCxnSpPr>
            <p:nvPr/>
          </p:nvCxnSpPr>
          <p:spPr bwMode="auto">
            <a:xfrm>
              <a:off x="3935975" y="5319021"/>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109" name="正方形/長方形 108">
              <a:extLst>
                <a:ext uri="{FF2B5EF4-FFF2-40B4-BE49-F238E27FC236}">
                  <a16:creationId xmlns:a16="http://schemas.microsoft.com/office/drawing/2014/main" id="{F48CA9D9-9E54-2253-AECE-3A28CE4F8BB4}"/>
                </a:ext>
              </a:extLst>
            </p:cNvPr>
            <p:cNvSpPr/>
            <p:nvPr/>
          </p:nvSpPr>
          <p:spPr bwMode="auto">
            <a:xfrm rot="5400000">
              <a:off x="5285991" y="513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17" name="グループ化 116">
              <a:extLst>
                <a:ext uri="{FF2B5EF4-FFF2-40B4-BE49-F238E27FC236}">
                  <a16:creationId xmlns:a16="http://schemas.microsoft.com/office/drawing/2014/main" id="{BE86DD72-9AE4-C699-C12A-A4549D154B4E}"/>
                </a:ext>
              </a:extLst>
            </p:cNvPr>
            <p:cNvGrpSpPr/>
            <p:nvPr/>
          </p:nvGrpSpPr>
          <p:grpSpPr>
            <a:xfrm>
              <a:off x="5285991" y="5949027"/>
              <a:ext cx="180003" cy="360004"/>
              <a:chOff x="3131985" y="5049018"/>
              <a:chExt cx="180002" cy="437056"/>
            </a:xfrm>
          </p:grpSpPr>
          <p:grpSp>
            <p:nvGrpSpPr>
              <p:cNvPr id="118" name="グループ化 117">
                <a:extLst>
                  <a:ext uri="{FF2B5EF4-FFF2-40B4-BE49-F238E27FC236}">
                    <a16:creationId xmlns:a16="http://schemas.microsoft.com/office/drawing/2014/main" id="{B4DA64CF-041E-2F31-6211-2E72008E8F68}"/>
                  </a:ext>
                </a:extLst>
              </p:cNvPr>
              <p:cNvGrpSpPr/>
              <p:nvPr/>
            </p:nvGrpSpPr>
            <p:grpSpPr>
              <a:xfrm>
                <a:off x="3131985" y="5139021"/>
                <a:ext cx="180002" cy="254126"/>
                <a:chOff x="3131984" y="5191944"/>
                <a:chExt cx="270003" cy="201854"/>
              </a:xfrm>
            </p:grpSpPr>
            <p:sp>
              <p:nvSpPr>
                <p:cNvPr id="121" name="Freeform 42">
                  <a:extLst>
                    <a:ext uri="{FF2B5EF4-FFF2-40B4-BE49-F238E27FC236}">
                      <a16:creationId xmlns:a16="http://schemas.microsoft.com/office/drawing/2014/main" id="{60074FB6-C7B5-B425-F232-B269F0EFC6E8}"/>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2" name="Freeform 42">
                  <a:extLst>
                    <a:ext uri="{FF2B5EF4-FFF2-40B4-BE49-F238E27FC236}">
                      <a16:creationId xmlns:a16="http://schemas.microsoft.com/office/drawing/2014/main" id="{5D08D684-EA89-6459-1683-2348F7084C61}"/>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3" name="Freeform 42">
                  <a:extLst>
                    <a:ext uri="{FF2B5EF4-FFF2-40B4-BE49-F238E27FC236}">
                      <a16:creationId xmlns:a16="http://schemas.microsoft.com/office/drawing/2014/main" id="{CDF4C01C-5F74-8E39-23E0-DBF42F250487}"/>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4" name="Freeform 42">
                  <a:extLst>
                    <a:ext uri="{FF2B5EF4-FFF2-40B4-BE49-F238E27FC236}">
                      <a16:creationId xmlns:a16="http://schemas.microsoft.com/office/drawing/2014/main" id="{C728A1E3-1C0F-6E1B-A5BB-A4472A34191D}"/>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19" name="直線コネクタ 118">
                <a:extLst>
                  <a:ext uri="{FF2B5EF4-FFF2-40B4-BE49-F238E27FC236}">
                    <a16:creationId xmlns:a16="http://schemas.microsoft.com/office/drawing/2014/main" id="{E0D645FE-B56D-DD10-183C-703C2949FF9A}"/>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E59D46EB-5474-347B-CCA0-5B52BF4DD26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55" name="正方形/長方形 154">
              <a:extLst>
                <a:ext uri="{FF2B5EF4-FFF2-40B4-BE49-F238E27FC236}">
                  <a16:creationId xmlns:a16="http://schemas.microsoft.com/office/drawing/2014/main" id="{45F9BF97-B2E4-6AF6-3CB8-691C192A029C}"/>
                </a:ext>
              </a:extLst>
            </p:cNvPr>
            <p:cNvSpPr/>
            <p:nvPr/>
          </p:nvSpPr>
          <p:spPr bwMode="auto">
            <a:xfrm>
              <a:off x="5825997" y="423900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en-US" altLang="ja-JP" sz="2400" dirty="0">
                  <a:solidFill>
                    <a:schemeClr val="tx1">
                      <a:lumMod val="75000"/>
                      <a:lumOff val="25000"/>
                    </a:schemeClr>
                  </a:solidFill>
                </a:rPr>
                <a:t>N</a:t>
              </a:r>
              <a:r>
                <a:rPr lang="ja-JP" altLang="en-US" sz="2400" dirty="0">
                  <a:solidFill>
                    <a:schemeClr val="tx1">
                      <a:lumMod val="75000"/>
                      <a:lumOff val="25000"/>
                    </a:schemeClr>
                  </a:solidFill>
                </a:rPr>
                <a:t>タンク（溜）</a:t>
              </a:r>
            </a:p>
          </p:txBody>
        </p:sp>
        <p:sp>
          <p:nvSpPr>
            <p:cNvPr id="156" name="正方形/長方形 155">
              <a:extLst>
                <a:ext uri="{FF2B5EF4-FFF2-40B4-BE49-F238E27FC236}">
                  <a16:creationId xmlns:a16="http://schemas.microsoft.com/office/drawing/2014/main" id="{7A5A3D32-45DC-5643-DED1-4ACF450F068A}"/>
                </a:ext>
              </a:extLst>
            </p:cNvPr>
            <p:cNvSpPr/>
            <p:nvPr/>
          </p:nvSpPr>
          <p:spPr bwMode="auto">
            <a:xfrm rot="5400000" flipH="1">
              <a:off x="5150987" y="5634023"/>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76" name="直線コネクタ 175">
              <a:extLst>
                <a:ext uri="{FF2B5EF4-FFF2-40B4-BE49-F238E27FC236}">
                  <a16:creationId xmlns:a16="http://schemas.microsoft.com/office/drawing/2014/main" id="{8220F12F-841C-9960-F2B7-381A71094A1D}"/>
                </a:ext>
              </a:extLst>
            </p:cNvPr>
            <p:cNvCxnSpPr>
              <a:cxnSpLocks/>
            </p:cNvCxnSpPr>
            <p:nvPr/>
          </p:nvCxnSpPr>
          <p:spPr bwMode="auto">
            <a:xfrm flipH="1">
              <a:off x="5465991" y="5319020"/>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178" name="直線コネクタ 177">
              <a:extLst>
                <a:ext uri="{FF2B5EF4-FFF2-40B4-BE49-F238E27FC236}">
                  <a16:creationId xmlns:a16="http://schemas.microsoft.com/office/drawing/2014/main" id="{5F986E48-F194-51DF-911A-FA71F51A546E}"/>
                </a:ext>
              </a:extLst>
            </p:cNvPr>
            <p:cNvCxnSpPr>
              <a:cxnSpLocks/>
            </p:cNvCxnSpPr>
            <p:nvPr/>
          </p:nvCxnSpPr>
          <p:spPr bwMode="auto">
            <a:xfrm flipH="1">
              <a:off x="5285990" y="5319020"/>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87" name="正方形/長方形 186">
              <a:extLst>
                <a:ext uri="{FF2B5EF4-FFF2-40B4-BE49-F238E27FC236}">
                  <a16:creationId xmlns:a16="http://schemas.microsoft.com/office/drawing/2014/main" id="{F300A16D-D4C2-F7FE-0880-0A177C99FC7F}"/>
                </a:ext>
              </a:extLst>
            </p:cNvPr>
            <p:cNvSpPr/>
            <p:nvPr/>
          </p:nvSpPr>
          <p:spPr bwMode="auto">
            <a:xfrm>
              <a:off x="5465993" y="540902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水の重みで降りた時に</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流れる</a:t>
              </a:r>
            </a:p>
          </p:txBody>
        </p:sp>
        <p:cxnSp>
          <p:nvCxnSpPr>
            <p:cNvPr id="190" name="直線矢印コネクタ 189">
              <a:extLst>
                <a:ext uri="{FF2B5EF4-FFF2-40B4-BE49-F238E27FC236}">
                  <a16:creationId xmlns:a16="http://schemas.microsoft.com/office/drawing/2014/main" id="{5714EF0B-4D83-FFE8-0356-2648D9BF3145}"/>
                </a:ext>
              </a:extLst>
            </p:cNvPr>
            <p:cNvCxnSpPr/>
            <p:nvPr/>
          </p:nvCxnSpPr>
          <p:spPr bwMode="auto">
            <a:xfrm>
              <a:off x="4655984" y="5409022"/>
              <a:ext cx="1530017" cy="0"/>
            </a:xfrm>
            <a:prstGeom prst="straightConnector1">
              <a:avLst/>
            </a:prstGeom>
            <a:noFill/>
            <a:ln w="9525" cap="flat" cmpd="sng" algn="ctr">
              <a:solidFill>
                <a:schemeClr val="tx1"/>
              </a:solidFill>
              <a:prstDash val="solid"/>
              <a:round/>
              <a:headEnd type="none" w="med" len="med"/>
              <a:tailEnd type="triangle"/>
            </a:ln>
            <a:effectLst/>
          </p:spPr>
        </p:cxnSp>
        <p:sp>
          <p:nvSpPr>
            <p:cNvPr id="204" name="Rectangle 93">
              <a:extLst>
                <a:ext uri="{FF2B5EF4-FFF2-40B4-BE49-F238E27FC236}">
                  <a16:creationId xmlns:a16="http://schemas.microsoft.com/office/drawing/2014/main" id="{668326D5-07F6-01DF-1DCE-4A4C7231FAE0}"/>
                </a:ext>
              </a:extLst>
            </p:cNvPr>
            <p:cNvSpPr>
              <a:spLocks noChangeArrowheads="1"/>
            </p:cNvSpPr>
            <p:nvPr/>
          </p:nvSpPr>
          <p:spPr bwMode="auto">
            <a:xfrm>
              <a:off x="5195989" y="4149008"/>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5" name="Rectangle 93">
              <a:extLst>
                <a:ext uri="{FF2B5EF4-FFF2-40B4-BE49-F238E27FC236}">
                  <a16:creationId xmlns:a16="http://schemas.microsoft.com/office/drawing/2014/main" id="{39AEA9D5-B671-34DA-22B9-EB2E1AF63E63}"/>
                </a:ext>
              </a:extLst>
            </p:cNvPr>
            <p:cNvSpPr>
              <a:spLocks noChangeArrowheads="1"/>
            </p:cNvSpPr>
            <p:nvPr/>
          </p:nvSpPr>
          <p:spPr bwMode="auto">
            <a:xfrm>
              <a:off x="3575972" y="504902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06" name="Rectangle 93">
              <a:extLst>
                <a:ext uri="{FF2B5EF4-FFF2-40B4-BE49-F238E27FC236}">
                  <a16:creationId xmlns:a16="http://schemas.microsoft.com/office/drawing/2014/main" id="{9BFE4FC4-4342-0787-6C6A-B15710F791A9}"/>
                </a:ext>
              </a:extLst>
            </p:cNvPr>
            <p:cNvSpPr>
              <a:spLocks noChangeArrowheads="1"/>
            </p:cNvSpPr>
            <p:nvPr/>
          </p:nvSpPr>
          <p:spPr bwMode="auto">
            <a:xfrm>
              <a:off x="6546004" y="4959017"/>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grpSp>
      <p:grpSp>
        <p:nvGrpSpPr>
          <p:cNvPr id="14" name="グループ化 13">
            <a:extLst>
              <a:ext uri="{FF2B5EF4-FFF2-40B4-BE49-F238E27FC236}">
                <a16:creationId xmlns:a16="http://schemas.microsoft.com/office/drawing/2014/main" id="{09DBB5E9-6200-7B6B-EB10-027D50FF9585}"/>
              </a:ext>
            </a:extLst>
          </p:cNvPr>
          <p:cNvGrpSpPr/>
          <p:nvPr/>
        </p:nvGrpSpPr>
        <p:grpSpPr>
          <a:xfrm>
            <a:off x="1055944" y="1593021"/>
            <a:ext cx="2160240" cy="1475975"/>
            <a:chOff x="5292080" y="3203975"/>
            <a:chExt cx="2160240" cy="1475975"/>
          </a:xfrm>
        </p:grpSpPr>
        <p:cxnSp>
          <p:nvCxnSpPr>
            <p:cNvPr id="15" name="直線コネクタ 14">
              <a:extLst>
                <a:ext uri="{FF2B5EF4-FFF2-40B4-BE49-F238E27FC236}">
                  <a16:creationId xmlns:a16="http://schemas.microsoft.com/office/drawing/2014/main" id="{5B573A17-5393-A49C-FA2E-71632BEE4A26}"/>
                </a:ext>
              </a:extLst>
            </p:cNvPr>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16" name="直線コネクタ 15">
              <a:extLst>
                <a:ext uri="{FF2B5EF4-FFF2-40B4-BE49-F238E27FC236}">
                  <a16:creationId xmlns:a16="http://schemas.microsoft.com/office/drawing/2014/main" id="{96E5CE0C-3FFD-C5AB-CE78-7E0B2EE56209}"/>
                </a:ext>
              </a:extLst>
            </p:cNvPr>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17" name="直線コネクタ 16">
              <a:extLst>
                <a:ext uri="{FF2B5EF4-FFF2-40B4-BE49-F238E27FC236}">
                  <a16:creationId xmlns:a16="http://schemas.microsoft.com/office/drawing/2014/main" id="{FCE28633-96DE-24F8-DE0E-3B51162D9D36}"/>
                </a:ext>
              </a:extLst>
            </p:cNvPr>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8" name="直線コネクタ 17">
              <a:extLst>
                <a:ext uri="{FF2B5EF4-FFF2-40B4-BE49-F238E27FC236}">
                  <a16:creationId xmlns:a16="http://schemas.microsoft.com/office/drawing/2014/main" id="{C3C85C1B-7F44-488D-8293-A1DD439A9983}"/>
                </a:ext>
              </a:extLst>
            </p:cNvPr>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9" name="直線コネクタ 18">
              <a:extLst>
                <a:ext uri="{FF2B5EF4-FFF2-40B4-BE49-F238E27FC236}">
                  <a16:creationId xmlns:a16="http://schemas.microsoft.com/office/drawing/2014/main" id="{56360E89-55FE-33F2-C721-BC06EE8F1D1A}"/>
                </a:ext>
              </a:extLst>
            </p:cNvPr>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A5A0A396-D2C3-E82D-4D69-BA306FBC3311}"/>
                </a:ext>
              </a:extLst>
            </p:cNvPr>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15082E3D-3167-0ED7-A05F-44481B65801A}"/>
                </a:ext>
              </a:extLst>
            </p:cNvPr>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22" name="円/楕円 13">
              <a:extLst>
                <a:ext uri="{FF2B5EF4-FFF2-40B4-BE49-F238E27FC236}">
                  <a16:creationId xmlns:a16="http://schemas.microsoft.com/office/drawing/2014/main" id="{9D1264BB-3BB7-4068-75A5-53D43C0B344D}"/>
                </a:ext>
              </a:extLst>
            </p:cNvPr>
            <p:cNvSpPr/>
            <p:nvPr/>
          </p:nvSpPr>
          <p:spPr bwMode="auto">
            <a:xfrm>
              <a:off x="6304693" y="3519010"/>
              <a:ext cx="135015" cy="132239"/>
            </a:xfrm>
            <a:prstGeom prst="ellipse">
              <a:avLst/>
            </a:prstGeom>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23" name="正方形/長方形 22">
              <a:extLst>
                <a:ext uri="{FF2B5EF4-FFF2-40B4-BE49-F238E27FC236}">
                  <a16:creationId xmlns:a16="http://schemas.microsoft.com/office/drawing/2014/main" id="{75F64B60-72CA-1992-3EE7-8A15814BBCFF}"/>
                </a:ext>
              </a:extLst>
            </p:cNvPr>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sp>
        <p:nvSpPr>
          <p:cNvPr id="24" name="Rectangle 93">
            <a:extLst>
              <a:ext uri="{FF2B5EF4-FFF2-40B4-BE49-F238E27FC236}">
                <a16:creationId xmlns:a16="http://schemas.microsoft.com/office/drawing/2014/main" id="{A982541E-0E2D-FE53-6D12-E3FA1885BA99}"/>
              </a:ext>
            </a:extLst>
          </p:cNvPr>
          <p:cNvSpPr>
            <a:spLocks noChangeArrowheads="1"/>
          </p:cNvSpPr>
          <p:nvPr/>
        </p:nvSpPr>
        <p:spPr bwMode="auto">
          <a:xfrm>
            <a:off x="1775953" y="123301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5" name="Rectangle 93">
            <a:extLst>
              <a:ext uri="{FF2B5EF4-FFF2-40B4-BE49-F238E27FC236}">
                <a16:creationId xmlns:a16="http://schemas.microsoft.com/office/drawing/2014/main" id="{BB28B0F2-0D51-1E4B-7813-787B28A79914}"/>
              </a:ext>
            </a:extLst>
          </p:cNvPr>
          <p:cNvSpPr>
            <a:spLocks noChangeArrowheads="1"/>
          </p:cNvSpPr>
          <p:nvPr/>
        </p:nvSpPr>
        <p:spPr bwMode="auto">
          <a:xfrm>
            <a:off x="695941" y="213302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26" name="Rectangle 93">
            <a:extLst>
              <a:ext uri="{FF2B5EF4-FFF2-40B4-BE49-F238E27FC236}">
                <a16:creationId xmlns:a16="http://schemas.microsoft.com/office/drawing/2014/main" id="{37AEE90B-9290-95EE-6772-2FE08177C8A8}"/>
              </a:ext>
            </a:extLst>
          </p:cNvPr>
          <p:cNvSpPr>
            <a:spLocks noChangeArrowheads="1"/>
          </p:cNvSpPr>
          <p:nvPr/>
        </p:nvSpPr>
        <p:spPr bwMode="auto">
          <a:xfrm>
            <a:off x="2675963" y="213302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cxnSp>
        <p:nvCxnSpPr>
          <p:cNvPr id="72" name="直線コネクタ 71">
            <a:extLst>
              <a:ext uri="{FF2B5EF4-FFF2-40B4-BE49-F238E27FC236}">
                <a16:creationId xmlns:a16="http://schemas.microsoft.com/office/drawing/2014/main" id="{508597D1-6E90-8EFE-203D-FFBE4A5F1905}"/>
              </a:ext>
            </a:extLst>
          </p:cNvPr>
          <p:cNvCxnSpPr>
            <a:cxnSpLocks/>
          </p:cNvCxnSpPr>
          <p:nvPr/>
        </p:nvCxnSpPr>
        <p:spPr bwMode="auto">
          <a:xfrm>
            <a:off x="3935976" y="3338998"/>
            <a:ext cx="7290081" cy="0"/>
          </a:xfrm>
          <a:prstGeom prst="line">
            <a:avLst/>
          </a:prstGeom>
          <a:noFill/>
          <a:ln w="6350" cap="flat" cmpd="sng" algn="ctr">
            <a:solidFill>
              <a:schemeClr val="tx1"/>
            </a:solidFill>
            <a:prstDash val="solid"/>
            <a:round/>
            <a:headEnd type="none" w="med" len="med"/>
            <a:tailEnd type="none" w="med" len="med"/>
          </a:ln>
          <a:effectLst/>
        </p:spPr>
      </p:cxnSp>
      <p:grpSp>
        <p:nvGrpSpPr>
          <p:cNvPr id="3" name="グループ化 2">
            <a:extLst>
              <a:ext uri="{FF2B5EF4-FFF2-40B4-BE49-F238E27FC236}">
                <a16:creationId xmlns:a16="http://schemas.microsoft.com/office/drawing/2014/main" id="{0284423A-28C8-C7FB-41AD-F7F0524A9CF4}"/>
              </a:ext>
            </a:extLst>
          </p:cNvPr>
          <p:cNvGrpSpPr/>
          <p:nvPr/>
        </p:nvGrpSpPr>
        <p:grpSpPr>
          <a:xfrm>
            <a:off x="8256024" y="1178975"/>
            <a:ext cx="2971108" cy="2160023"/>
            <a:chOff x="3935975" y="1178975"/>
            <a:chExt cx="2971108" cy="2160023"/>
          </a:xfrm>
        </p:grpSpPr>
        <p:sp>
          <p:nvSpPr>
            <p:cNvPr id="29" name="正方形/長方形 28">
              <a:extLst>
                <a:ext uri="{FF2B5EF4-FFF2-40B4-BE49-F238E27FC236}">
                  <a16:creationId xmlns:a16="http://schemas.microsoft.com/office/drawing/2014/main" id="{CCDBC65B-1F22-573A-4096-23F0DAFED8A0}"/>
                </a:ext>
              </a:extLst>
            </p:cNvPr>
            <p:cNvSpPr/>
            <p:nvPr/>
          </p:nvSpPr>
          <p:spPr bwMode="auto">
            <a:xfrm>
              <a:off x="5105991" y="1628980"/>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0" name="直線コネクタ 29">
              <a:extLst>
                <a:ext uri="{FF2B5EF4-FFF2-40B4-BE49-F238E27FC236}">
                  <a16:creationId xmlns:a16="http://schemas.microsoft.com/office/drawing/2014/main" id="{6EA4E734-514B-E30D-7B81-106F95E0B8E5}"/>
                </a:ext>
              </a:extLst>
            </p:cNvPr>
            <p:cNvCxnSpPr>
              <a:cxnSpLocks/>
            </p:cNvCxnSpPr>
            <p:nvPr/>
          </p:nvCxnSpPr>
          <p:spPr bwMode="auto">
            <a:xfrm>
              <a:off x="5105991" y="1988985"/>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31" name="直線コネクタ 30">
              <a:extLst>
                <a:ext uri="{FF2B5EF4-FFF2-40B4-BE49-F238E27FC236}">
                  <a16:creationId xmlns:a16="http://schemas.microsoft.com/office/drawing/2014/main" id="{39149881-4C29-C7AE-B479-C94F71A0076A}"/>
                </a:ext>
              </a:extLst>
            </p:cNvPr>
            <p:cNvCxnSpPr>
              <a:cxnSpLocks/>
            </p:cNvCxnSpPr>
            <p:nvPr/>
          </p:nvCxnSpPr>
          <p:spPr bwMode="auto">
            <a:xfrm>
              <a:off x="5105991"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204934BF-E7A2-454F-F9E3-8983EB4AC9D6}"/>
                </a:ext>
              </a:extLst>
            </p:cNvPr>
            <p:cNvCxnSpPr>
              <a:cxnSpLocks/>
            </p:cNvCxnSpPr>
            <p:nvPr/>
          </p:nvCxnSpPr>
          <p:spPr bwMode="auto">
            <a:xfrm>
              <a:off x="5645997"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50E11F97-11A2-11AD-5248-E1382C5B5430}"/>
                </a:ext>
              </a:extLst>
            </p:cNvPr>
            <p:cNvCxnSpPr>
              <a:cxnSpLocks/>
            </p:cNvCxnSpPr>
            <p:nvPr/>
          </p:nvCxnSpPr>
          <p:spPr bwMode="auto">
            <a:xfrm flipV="1">
              <a:off x="5375992" y="1988985"/>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34" name="正方形/長方形 33">
              <a:extLst>
                <a:ext uri="{FF2B5EF4-FFF2-40B4-BE49-F238E27FC236}">
                  <a16:creationId xmlns:a16="http://schemas.microsoft.com/office/drawing/2014/main" id="{1D695172-EE59-E141-A778-ACDBA3609DCD}"/>
                </a:ext>
              </a:extLst>
            </p:cNvPr>
            <p:cNvSpPr/>
            <p:nvPr/>
          </p:nvSpPr>
          <p:spPr bwMode="auto">
            <a:xfrm rot="5400000">
              <a:off x="4520982" y="1763982"/>
              <a:ext cx="180002" cy="135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5" name="直線コネクタ 34">
              <a:extLst>
                <a:ext uri="{FF2B5EF4-FFF2-40B4-BE49-F238E27FC236}">
                  <a16:creationId xmlns:a16="http://schemas.microsoft.com/office/drawing/2014/main" id="{F9A70292-A4FC-658D-A83D-915E2E915F59}"/>
                </a:ext>
              </a:extLst>
            </p:cNvPr>
            <p:cNvCxnSpPr>
              <a:cxnSpLocks/>
            </p:cNvCxnSpPr>
            <p:nvPr/>
          </p:nvCxnSpPr>
          <p:spPr bwMode="auto">
            <a:xfrm>
              <a:off x="5465995"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36" name="直線コネクタ 35">
              <a:extLst>
                <a:ext uri="{FF2B5EF4-FFF2-40B4-BE49-F238E27FC236}">
                  <a16:creationId xmlns:a16="http://schemas.microsoft.com/office/drawing/2014/main" id="{A8309FB5-332C-1A4C-33DA-DEBF66D2C165}"/>
                </a:ext>
              </a:extLst>
            </p:cNvPr>
            <p:cNvCxnSpPr>
              <a:cxnSpLocks/>
            </p:cNvCxnSpPr>
            <p:nvPr/>
          </p:nvCxnSpPr>
          <p:spPr bwMode="auto">
            <a:xfrm>
              <a:off x="3935975"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D0D92D0C-26BF-79F9-9033-12836B31A2BB}"/>
                </a:ext>
              </a:extLst>
            </p:cNvPr>
            <p:cNvCxnSpPr>
              <a:cxnSpLocks/>
            </p:cNvCxnSpPr>
            <p:nvPr/>
          </p:nvCxnSpPr>
          <p:spPr bwMode="auto">
            <a:xfrm>
              <a:off x="3935975"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38" name="正方形/長方形 37">
              <a:extLst>
                <a:ext uri="{FF2B5EF4-FFF2-40B4-BE49-F238E27FC236}">
                  <a16:creationId xmlns:a16="http://schemas.microsoft.com/office/drawing/2014/main" id="{6B71B555-458C-80BF-5C7E-76E87CFD4171}"/>
                </a:ext>
              </a:extLst>
            </p:cNvPr>
            <p:cNvSpPr/>
            <p:nvPr/>
          </p:nvSpPr>
          <p:spPr bwMode="auto">
            <a:xfrm rot="5400000">
              <a:off x="5105989" y="2348989"/>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39" name="グループ化 38">
              <a:extLst>
                <a:ext uri="{FF2B5EF4-FFF2-40B4-BE49-F238E27FC236}">
                  <a16:creationId xmlns:a16="http://schemas.microsoft.com/office/drawing/2014/main" id="{19F7F108-4C9E-C00C-D05D-CF04A5012544}"/>
                </a:ext>
              </a:extLst>
            </p:cNvPr>
            <p:cNvGrpSpPr/>
            <p:nvPr/>
          </p:nvGrpSpPr>
          <p:grpSpPr>
            <a:xfrm>
              <a:off x="5285991" y="2978994"/>
              <a:ext cx="180003" cy="360004"/>
              <a:chOff x="3131985" y="5049018"/>
              <a:chExt cx="180002" cy="437056"/>
            </a:xfrm>
          </p:grpSpPr>
          <p:grpSp>
            <p:nvGrpSpPr>
              <p:cNvPr id="40" name="グループ化 39">
                <a:extLst>
                  <a:ext uri="{FF2B5EF4-FFF2-40B4-BE49-F238E27FC236}">
                    <a16:creationId xmlns:a16="http://schemas.microsoft.com/office/drawing/2014/main" id="{8B975B66-04D8-A97C-A11C-0A952A17D8DC}"/>
                  </a:ext>
                </a:extLst>
              </p:cNvPr>
              <p:cNvGrpSpPr/>
              <p:nvPr/>
            </p:nvGrpSpPr>
            <p:grpSpPr>
              <a:xfrm>
                <a:off x="3131985" y="5139021"/>
                <a:ext cx="180002" cy="254126"/>
                <a:chOff x="3131984" y="5191944"/>
                <a:chExt cx="270003" cy="201854"/>
              </a:xfrm>
            </p:grpSpPr>
            <p:sp>
              <p:nvSpPr>
                <p:cNvPr id="43" name="Freeform 42">
                  <a:extLst>
                    <a:ext uri="{FF2B5EF4-FFF2-40B4-BE49-F238E27FC236}">
                      <a16:creationId xmlns:a16="http://schemas.microsoft.com/office/drawing/2014/main" id="{D274171D-E019-8A77-2A3A-0DE4CFCC505C}"/>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4" name="Freeform 42">
                  <a:extLst>
                    <a:ext uri="{FF2B5EF4-FFF2-40B4-BE49-F238E27FC236}">
                      <a16:creationId xmlns:a16="http://schemas.microsoft.com/office/drawing/2014/main" id="{FD08D539-A0CF-6A99-91EF-5D471287EBEA}"/>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5" name="Freeform 42">
                  <a:extLst>
                    <a:ext uri="{FF2B5EF4-FFF2-40B4-BE49-F238E27FC236}">
                      <a16:creationId xmlns:a16="http://schemas.microsoft.com/office/drawing/2014/main" id="{1257A8B8-3D09-0F81-FFFD-B160AA271408}"/>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6" name="Freeform 42">
                  <a:extLst>
                    <a:ext uri="{FF2B5EF4-FFF2-40B4-BE49-F238E27FC236}">
                      <a16:creationId xmlns:a16="http://schemas.microsoft.com/office/drawing/2014/main" id="{510BA4FF-2DC5-8B68-3EFD-EE91C97937D6}"/>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41" name="直線コネクタ 40">
                <a:extLst>
                  <a:ext uri="{FF2B5EF4-FFF2-40B4-BE49-F238E27FC236}">
                    <a16:creationId xmlns:a16="http://schemas.microsoft.com/office/drawing/2014/main" id="{569021C6-74C0-5A87-56BC-A434CCCC07E3}"/>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F7F66C7B-4D14-6355-806E-83EAFCB4417B}"/>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64" name="正方形/長方形 63">
              <a:extLst>
                <a:ext uri="{FF2B5EF4-FFF2-40B4-BE49-F238E27FC236}">
                  <a16:creationId xmlns:a16="http://schemas.microsoft.com/office/drawing/2014/main" id="{2BCEC655-864E-558D-8966-E389ADDE59A4}"/>
                </a:ext>
              </a:extLst>
            </p:cNvPr>
            <p:cNvSpPr/>
            <p:nvPr/>
          </p:nvSpPr>
          <p:spPr bwMode="auto">
            <a:xfrm>
              <a:off x="5825997" y="126897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en-US" altLang="ja-JP" sz="2400" dirty="0">
                  <a:solidFill>
                    <a:schemeClr val="tx1">
                      <a:lumMod val="75000"/>
                      <a:lumOff val="25000"/>
                    </a:schemeClr>
                  </a:solidFill>
                </a:rPr>
                <a:t>P</a:t>
              </a:r>
              <a:r>
                <a:rPr lang="ja-JP" altLang="en-US" sz="2400" dirty="0">
                  <a:solidFill>
                    <a:schemeClr val="tx1">
                      <a:lumMod val="75000"/>
                      <a:lumOff val="25000"/>
                    </a:schemeClr>
                  </a:solidFill>
                </a:rPr>
                <a:t>タンク（溜）</a:t>
              </a:r>
            </a:p>
          </p:txBody>
        </p:sp>
        <p:sp>
          <p:nvSpPr>
            <p:cNvPr id="65" name="正方形/長方形 64">
              <a:extLst>
                <a:ext uri="{FF2B5EF4-FFF2-40B4-BE49-F238E27FC236}">
                  <a16:creationId xmlns:a16="http://schemas.microsoft.com/office/drawing/2014/main" id="{A2F3BFBF-0935-4BB5-FC3B-3A6C55671A47}"/>
                </a:ext>
              </a:extLst>
            </p:cNvPr>
            <p:cNvSpPr/>
            <p:nvPr/>
          </p:nvSpPr>
          <p:spPr bwMode="auto">
            <a:xfrm rot="5400000" flipH="1">
              <a:off x="5330989" y="2843992"/>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6" name="直線コネクタ 65">
              <a:extLst>
                <a:ext uri="{FF2B5EF4-FFF2-40B4-BE49-F238E27FC236}">
                  <a16:creationId xmlns:a16="http://schemas.microsoft.com/office/drawing/2014/main" id="{EAF9F286-4804-5F59-4418-F09F07853650}"/>
                </a:ext>
              </a:extLst>
            </p:cNvPr>
            <p:cNvCxnSpPr>
              <a:cxnSpLocks/>
            </p:cNvCxnSpPr>
            <p:nvPr/>
          </p:nvCxnSpPr>
          <p:spPr bwMode="auto">
            <a:xfrm flipH="1">
              <a:off x="5465993" y="2708991"/>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67" name="直線コネクタ 66">
              <a:extLst>
                <a:ext uri="{FF2B5EF4-FFF2-40B4-BE49-F238E27FC236}">
                  <a16:creationId xmlns:a16="http://schemas.microsoft.com/office/drawing/2014/main" id="{F35D23E9-DD9D-677C-8F4E-103CBBDB0419}"/>
                </a:ext>
              </a:extLst>
            </p:cNvPr>
            <p:cNvCxnSpPr>
              <a:cxnSpLocks/>
            </p:cNvCxnSpPr>
            <p:nvPr/>
          </p:nvCxnSpPr>
          <p:spPr bwMode="auto">
            <a:xfrm flipH="1">
              <a:off x="5285992" y="2708991"/>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73" name="正方形/長方形 72">
              <a:extLst>
                <a:ext uri="{FF2B5EF4-FFF2-40B4-BE49-F238E27FC236}">
                  <a16:creationId xmlns:a16="http://schemas.microsoft.com/office/drawing/2014/main" id="{A1BB13E8-8E00-79C0-CCAB-B5CE8B8BEF68}"/>
                </a:ext>
              </a:extLst>
            </p:cNvPr>
            <p:cNvSpPr/>
            <p:nvPr/>
          </p:nvSpPr>
          <p:spPr bwMode="auto">
            <a:xfrm>
              <a:off x="5465993"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栓が水の重みで</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降りて水が流れない</a:t>
              </a:r>
            </a:p>
          </p:txBody>
        </p:sp>
        <p:sp>
          <p:nvSpPr>
            <p:cNvPr id="76" name="Rectangle 93">
              <a:extLst>
                <a:ext uri="{FF2B5EF4-FFF2-40B4-BE49-F238E27FC236}">
                  <a16:creationId xmlns:a16="http://schemas.microsoft.com/office/drawing/2014/main" id="{B3A3BB14-76F5-CE51-211D-BD14C6BE3425}"/>
                </a:ext>
              </a:extLst>
            </p:cNvPr>
            <p:cNvSpPr>
              <a:spLocks noChangeArrowheads="1"/>
            </p:cNvSpPr>
            <p:nvPr/>
          </p:nvSpPr>
          <p:spPr bwMode="auto">
            <a:xfrm>
              <a:off x="5195989" y="117897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77" name="Rectangle 93">
              <a:extLst>
                <a:ext uri="{FF2B5EF4-FFF2-40B4-BE49-F238E27FC236}">
                  <a16:creationId xmlns:a16="http://schemas.microsoft.com/office/drawing/2014/main" id="{B77C8F52-FA12-0C78-EE54-984BD04B07C6}"/>
                </a:ext>
              </a:extLst>
            </p:cNvPr>
            <p:cNvSpPr>
              <a:spLocks noChangeArrowheads="1"/>
            </p:cNvSpPr>
            <p:nvPr/>
          </p:nvSpPr>
          <p:spPr bwMode="auto">
            <a:xfrm>
              <a:off x="3935975"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78" name="Rectangle 93">
              <a:extLst>
                <a:ext uri="{FF2B5EF4-FFF2-40B4-BE49-F238E27FC236}">
                  <a16:creationId xmlns:a16="http://schemas.microsoft.com/office/drawing/2014/main" id="{D2D51955-870A-2F98-7580-72F9682F92F8}"/>
                </a:ext>
              </a:extLst>
            </p:cNvPr>
            <p:cNvSpPr>
              <a:spLocks noChangeArrowheads="1"/>
            </p:cNvSpPr>
            <p:nvPr/>
          </p:nvSpPr>
          <p:spPr bwMode="auto">
            <a:xfrm>
              <a:off x="6546004"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grpSp>
      <p:grpSp>
        <p:nvGrpSpPr>
          <p:cNvPr id="4" name="グループ化 3">
            <a:extLst>
              <a:ext uri="{FF2B5EF4-FFF2-40B4-BE49-F238E27FC236}">
                <a16:creationId xmlns:a16="http://schemas.microsoft.com/office/drawing/2014/main" id="{7F1E086E-E19B-0832-098C-75FAC83456B7}"/>
              </a:ext>
            </a:extLst>
          </p:cNvPr>
          <p:cNvGrpSpPr/>
          <p:nvPr/>
        </p:nvGrpSpPr>
        <p:grpSpPr>
          <a:xfrm>
            <a:off x="3935976" y="908972"/>
            <a:ext cx="3240037" cy="2430026"/>
            <a:chOff x="8256023" y="908972"/>
            <a:chExt cx="3240037" cy="2430026"/>
          </a:xfrm>
        </p:grpSpPr>
        <p:cxnSp>
          <p:nvCxnSpPr>
            <p:cNvPr id="47" name="直線コネクタ 46">
              <a:extLst>
                <a:ext uri="{FF2B5EF4-FFF2-40B4-BE49-F238E27FC236}">
                  <a16:creationId xmlns:a16="http://schemas.microsoft.com/office/drawing/2014/main" id="{B4427312-AB51-8750-1A7D-939EA618C87D}"/>
                </a:ext>
              </a:extLst>
            </p:cNvPr>
            <p:cNvCxnSpPr>
              <a:cxnSpLocks/>
            </p:cNvCxnSpPr>
            <p:nvPr/>
          </p:nvCxnSpPr>
          <p:spPr bwMode="auto">
            <a:xfrm>
              <a:off x="9426037" y="1628980"/>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48" name="直線コネクタ 47">
              <a:extLst>
                <a:ext uri="{FF2B5EF4-FFF2-40B4-BE49-F238E27FC236}">
                  <a16:creationId xmlns:a16="http://schemas.microsoft.com/office/drawing/2014/main" id="{6142E68E-286A-07DA-6F0F-D4FD97E30B58}"/>
                </a:ext>
              </a:extLst>
            </p:cNvPr>
            <p:cNvCxnSpPr>
              <a:cxnSpLocks/>
            </p:cNvCxnSpPr>
            <p:nvPr/>
          </p:nvCxnSpPr>
          <p:spPr bwMode="auto">
            <a:xfrm>
              <a:off x="9426037"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49" name="直線コネクタ 48">
              <a:extLst>
                <a:ext uri="{FF2B5EF4-FFF2-40B4-BE49-F238E27FC236}">
                  <a16:creationId xmlns:a16="http://schemas.microsoft.com/office/drawing/2014/main" id="{AA4063C3-0B9E-BF89-79E4-460025E13B95}"/>
                </a:ext>
              </a:extLst>
            </p:cNvPr>
            <p:cNvCxnSpPr>
              <a:cxnSpLocks/>
            </p:cNvCxnSpPr>
            <p:nvPr/>
          </p:nvCxnSpPr>
          <p:spPr bwMode="auto">
            <a:xfrm>
              <a:off x="9966043"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50" name="直線コネクタ 49">
              <a:extLst>
                <a:ext uri="{FF2B5EF4-FFF2-40B4-BE49-F238E27FC236}">
                  <a16:creationId xmlns:a16="http://schemas.microsoft.com/office/drawing/2014/main" id="{0A5CE312-7539-D861-960F-959BCFEAF276}"/>
                </a:ext>
              </a:extLst>
            </p:cNvPr>
            <p:cNvCxnSpPr>
              <a:cxnSpLocks/>
            </p:cNvCxnSpPr>
            <p:nvPr/>
          </p:nvCxnSpPr>
          <p:spPr bwMode="auto">
            <a:xfrm flipV="1">
              <a:off x="9696038" y="1628980"/>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51" name="正方形/長方形 50">
              <a:extLst>
                <a:ext uri="{FF2B5EF4-FFF2-40B4-BE49-F238E27FC236}">
                  <a16:creationId xmlns:a16="http://schemas.microsoft.com/office/drawing/2014/main" id="{13C5594C-4561-DAE6-3E78-9FA0C83A1E94}"/>
                </a:ext>
              </a:extLst>
            </p:cNvPr>
            <p:cNvSpPr/>
            <p:nvPr/>
          </p:nvSpPr>
          <p:spPr bwMode="auto">
            <a:xfrm rot="5400000">
              <a:off x="9606039" y="998973"/>
              <a:ext cx="180002" cy="2880033"/>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2" name="直線コネクタ 51">
              <a:extLst>
                <a:ext uri="{FF2B5EF4-FFF2-40B4-BE49-F238E27FC236}">
                  <a16:creationId xmlns:a16="http://schemas.microsoft.com/office/drawing/2014/main" id="{9B71AC23-6A40-0761-8550-426A37798978}"/>
                </a:ext>
              </a:extLst>
            </p:cNvPr>
            <p:cNvCxnSpPr>
              <a:cxnSpLocks/>
            </p:cNvCxnSpPr>
            <p:nvPr/>
          </p:nvCxnSpPr>
          <p:spPr bwMode="auto">
            <a:xfrm>
              <a:off x="9786043"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53" name="直線コネクタ 52">
              <a:extLst>
                <a:ext uri="{FF2B5EF4-FFF2-40B4-BE49-F238E27FC236}">
                  <a16:creationId xmlns:a16="http://schemas.microsoft.com/office/drawing/2014/main" id="{95BC0AC0-4AEE-DD39-AAC3-87DB5952FD1D}"/>
                </a:ext>
              </a:extLst>
            </p:cNvPr>
            <p:cNvCxnSpPr>
              <a:cxnSpLocks/>
            </p:cNvCxnSpPr>
            <p:nvPr/>
          </p:nvCxnSpPr>
          <p:spPr bwMode="auto">
            <a:xfrm>
              <a:off x="8256023"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54" name="直線コネクタ 53">
              <a:extLst>
                <a:ext uri="{FF2B5EF4-FFF2-40B4-BE49-F238E27FC236}">
                  <a16:creationId xmlns:a16="http://schemas.microsoft.com/office/drawing/2014/main" id="{137FB84C-F465-8AC0-8721-13715BE74039}"/>
                </a:ext>
              </a:extLst>
            </p:cNvPr>
            <p:cNvCxnSpPr>
              <a:cxnSpLocks/>
            </p:cNvCxnSpPr>
            <p:nvPr/>
          </p:nvCxnSpPr>
          <p:spPr bwMode="auto">
            <a:xfrm>
              <a:off x="8256023"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55" name="正方形/長方形 54">
              <a:extLst>
                <a:ext uri="{FF2B5EF4-FFF2-40B4-BE49-F238E27FC236}">
                  <a16:creationId xmlns:a16="http://schemas.microsoft.com/office/drawing/2014/main" id="{9A4A10FC-6B0A-856A-BA8D-0E09857C50F7}"/>
                </a:ext>
              </a:extLst>
            </p:cNvPr>
            <p:cNvSpPr/>
            <p:nvPr/>
          </p:nvSpPr>
          <p:spPr bwMode="auto">
            <a:xfrm rot="5400000">
              <a:off x="9426035" y="1988984"/>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56" name="グループ化 55">
              <a:extLst>
                <a:ext uri="{FF2B5EF4-FFF2-40B4-BE49-F238E27FC236}">
                  <a16:creationId xmlns:a16="http://schemas.microsoft.com/office/drawing/2014/main" id="{C24388D3-3916-A19B-48D0-CD6B900F425A}"/>
                </a:ext>
              </a:extLst>
            </p:cNvPr>
            <p:cNvGrpSpPr/>
            <p:nvPr/>
          </p:nvGrpSpPr>
          <p:grpSpPr>
            <a:xfrm>
              <a:off x="9606039" y="2618989"/>
              <a:ext cx="180003" cy="720009"/>
              <a:chOff x="3131985" y="5049018"/>
              <a:chExt cx="180002" cy="437056"/>
            </a:xfrm>
          </p:grpSpPr>
          <p:grpSp>
            <p:nvGrpSpPr>
              <p:cNvPr id="57" name="グループ化 56">
                <a:extLst>
                  <a:ext uri="{FF2B5EF4-FFF2-40B4-BE49-F238E27FC236}">
                    <a16:creationId xmlns:a16="http://schemas.microsoft.com/office/drawing/2014/main" id="{F1E36575-69DB-9358-8BCD-CF006E9E2F1D}"/>
                  </a:ext>
                </a:extLst>
              </p:cNvPr>
              <p:cNvGrpSpPr/>
              <p:nvPr/>
            </p:nvGrpSpPr>
            <p:grpSpPr>
              <a:xfrm>
                <a:off x="3131985" y="5139021"/>
                <a:ext cx="180002" cy="254126"/>
                <a:chOff x="3131984" y="5191944"/>
                <a:chExt cx="270003" cy="201854"/>
              </a:xfrm>
            </p:grpSpPr>
            <p:sp>
              <p:nvSpPr>
                <p:cNvPr id="60" name="Freeform 42">
                  <a:extLst>
                    <a:ext uri="{FF2B5EF4-FFF2-40B4-BE49-F238E27FC236}">
                      <a16:creationId xmlns:a16="http://schemas.microsoft.com/office/drawing/2014/main" id="{DF69E78E-CC48-047D-A688-5391DB41F15F}"/>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1" name="Freeform 42">
                  <a:extLst>
                    <a:ext uri="{FF2B5EF4-FFF2-40B4-BE49-F238E27FC236}">
                      <a16:creationId xmlns:a16="http://schemas.microsoft.com/office/drawing/2014/main" id="{05CF6532-7872-E168-688E-C43A323061FE}"/>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2" name="Freeform 42">
                  <a:extLst>
                    <a:ext uri="{FF2B5EF4-FFF2-40B4-BE49-F238E27FC236}">
                      <a16:creationId xmlns:a16="http://schemas.microsoft.com/office/drawing/2014/main" id="{0B9403B0-4429-5FC4-8437-1D25375D755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3" name="Freeform 42">
                  <a:extLst>
                    <a:ext uri="{FF2B5EF4-FFF2-40B4-BE49-F238E27FC236}">
                      <a16:creationId xmlns:a16="http://schemas.microsoft.com/office/drawing/2014/main" id="{7357ACFE-D25B-AACD-D1DA-5AD585C405F5}"/>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58" name="直線コネクタ 57">
                <a:extLst>
                  <a:ext uri="{FF2B5EF4-FFF2-40B4-BE49-F238E27FC236}">
                    <a16:creationId xmlns:a16="http://schemas.microsoft.com/office/drawing/2014/main" id="{42473E23-7BFC-6391-7275-1EAB02173C0B}"/>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1191E2FB-7917-5E6E-9E77-04A799EAB434}"/>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68" name="正方形/長方形 67">
              <a:extLst>
                <a:ext uri="{FF2B5EF4-FFF2-40B4-BE49-F238E27FC236}">
                  <a16:creationId xmlns:a16="http://schemas.microsoft.com/office/drawing/2014/main" id="{1E4C18DF-3500-6D90-A479-0C25E5CBAA67}"/>
                </a:ext>
              </a:extLst>
            </p:cNvPr>
            <p:cNvSpPr/>
            <p:nvPr/>
          </p:nvSpPr>
          <p:spPr bwMode="auto">
            <a:xfrm rot="5400000" flipH="1">
              <a:off x="9651037" y="2483987"/>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9" name="直線コネクタ 68">
              <a:extLst>
                <a:ext uri="{FF2B5EF4-FFF2-40B4-BE49-F238E27FC236}">
                  <a16:creationId xmlns:a16="http://schemas.microsoft.com/office/drawing/2014/main" id="{4CDA44F6-CAC1-40E1-424A-C80E0BCF905C}"/>
                </a:ext>
              </a:extLst>
            </p:cNvPr>
            <p:cNvCxnSpPr>
              <a:cxnSpLocks/>
            </p:cNvCxnSpPr>
            <p:nvPr/>
          </p:nvCxnSpPr>
          <p:spPr bwMode="auto">
            <a:xfrm flipH="1">
              <a:off x="9786041" y="2348986"/>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70" name="直線コネクタ 69">
              <a:extLst>
                <a:ext uri="{FF2B5EF4-FFF2-40B4-BE49-F238E27FC236}">
                  <a16:creationId xmlns:a16="http://schemas.microsoft.com/office/drawing/2014/main" id="{7BC06B7C-43DD-4159-40C1-94B9DDD96722}"/>
                </a:ext>
              </a:extLst>
            </p:cNvPr>
            <p:cNvCxnSpPr>
              <a:cxnSpLocks/>
            </p:cNvCxnSpPr>
            <p:nvPr/>
          </p:nvCxnSpPr>
          <p:spPr bwMode="auto">
            <a:xfrm flipH="1">
              <a:off x="9606040" y="2348986"/>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71" name="正方形/長方形 70">
              <a:extLst>
                <a:ext uri="{FF2B5EF4-FFF2-40B4-BE49-F238E27FC236}">
                  <a16:creationId xmlns:a16="http://schemas.microsoft.com/office/drawing/2014/main" id="{31C6E881-D005-E95A-06AC-888B1474BFF2}"/>
                </a:ext>
              </a:extLst>
            </p:cNvPr>
            <p:cNvSpPr/>
            <p:nvPr/>
          </p:nvSpPr>
          <p:spPr bwMode="auto">
            <a:xfrm>
              <a:off x="10776052" y="126897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75000"/>
                      <a:lumOff val="25000"/>
                    </a:schemeClr>
                  </a:solidFill>
                </a:rPr>
                <a:t>P</a:t>
              </a:r>
              <a:r>
                <a:rPr lang="ja-JP" altLang="en-US" sz="2400" dirty="0">
                  <a:solidFill>
                    <a:schemeClr val="tx1">
                      <a:lumMod val="75000"/>
                      <a:lumOff val="25000"/>
                    </a:schemeClr>
                  </a:solidFill>
                </a:rPr>
                <a:t>タンク（空）</a:t>
              </a:r>
            </a:p>
          </p:txBody>
        </p:sp>
        <p:sp>
          <p:nvSpPr>
            <p:cNvPr id="74" name="正方形/長方形 73">
              <a:extLst>
                <a:ext uri="{FF2B5EF4-FFF2-40B4-BE49-F238E27FC236}">
                  <a16:creationId xmlns:a16="http://schemas.microsoft.com/office/drawing/2014/main" id="{153E5256-8545-D483-425A-C91453602599}"/>
                </a:ext>
              </a:extLst>
            </p:cNvPr>
            <p:cNvSpPr/>
            <p:nvPr/>
          </p:nvSpPr>
          <p:spPr bwMode="auto">
            <a:xfrm>
              <a:off x="9786041"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栓がバネで上がって</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水が流れる</a:t>
              </a:r>
            </a:p>
          </p:txBody>
        </p:sp>
        <p:cxnSp>
          <p:nvCxnSpPr>
            <p:cNvPr id="75" name="直線矢印コネクタ 74">
              <a:extLst>
                <a:ext uri="{FF2B5EF4-FFF2-40B4-BE49-F238E27FC236}">
                  <a16:creationId xmlns:a16="http://schemas.microsoft.com/office/drawing/2014/main" id="{58F40963-27F9-BB97-0512-34D17D804B3F}"/>
                </a:ext>
              </a:extLst>
            </p:cNvPr>
            <p:cNvCxnSpPr/>
            <p:nvPr/>
          </p:nvCxnSpPr>
          <p:spPr bwMode="auto">
            <a:xfrm>
              <a:off x="8976032" y="2438989"/>
              <a:ext cx="1530017" cy="0"/>
            </a:xfrm>
            <a:prstGeom prst="straightConnector1">
              <a:avLst/>
            </a:prstGeom>
            <a:noFill/>
            <a:ln w="9525" cap="flat" cmpd="sng" algn="ctr">
              <a:solidFill>
                <a:schemeClr val="tx1"/>
              </a:solidFill>
              <a:prstDash val="solid"/>
              <a:round/>
              <a:headEnd type="none" w="med" len="med"/>
              <a:tailEnd type="triangle"/>
            </a:ln>
            <a:effectLst/>
          </p:spPr>
        </p:cxnSp>
        <p:sp>
          <p:nvSpPr>
            <p:cNvPr id="79" name="Rectangle 93">
              <a:extLst>
                <a:ext uri="{FF2B5EF4-FFF2-40B4-BE49-F238E27FC236}">
                  <a16:creationId xmlns:a16="http://schemas.microsoft.com/office/drawing/2014/main" id="{4E7084FF-CAA4-0921-69D3-D281F5B66A2C}"/>
                </a:ext>
              </a:extLst>
            </p:cNvPr>
            <p:cNvSpPr>
              <a:spLocks noChangeArrowheads="1"/>
            </p:cNvSpPr>
            <p:nvPr/>
          </p:nvSpPr>
          <p:spPr bwMode="auto">
            <a:xfrm>
              <a:off x="9516037" y="908972"/>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80" name="Rectangle 93">
              <a:extLst>
                <a:ext uri="{FF2B5EF4-FFF2-40B4-BE49-F238E27FC236}">
                  <a16:creationId xmlns:a16="http://schemas.microsoft.com/office/drawing/2014/main" id="{B252EA05-6E77-9412-9CDC-BCB9BCFE5536}"/>
                </a:ext>
              </a:extLst>
            </p:cNvPr>
            <p:cNvSpPr>
              <a:spLocks noChangeArrowheads="1"/>
            </p:cNvSpPr>
            <p:nvPr/>
          </p:nvSpPr>
          <p:spPr bwMode="auto">
            <a:xfrm>
              <a:off x="8256023"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81" name="Rectangle 93">
              <a:extLst>
                <a:ext uri="{FF2B5EF4-FFF2-40B4-BE49-F238E27FC236}">
                  <a16:creationId xmlns:a16="http://schemas.microsoft.com/office/drawing/2014/main" id="{658E5531-ECEA-875C-E199-897E23BB9E9F}"/>
                </a:ext>
              </a:extLst>
            </p:cNvPr>
            <p:cNvSpPr>
              <a:spLocks noChangeArrowheads="1"/>
            </p:cNvSpPr>
            <p:nvPr/>
          </p:nvSpPr>
          <p:spPr bwMode="auto">
            <a:xfrm>
              <a:off x="10866052"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grpSp>
      <p:grpSp>
        <p:nvGrpSpPr>
          <p:cNvPr id="82" name="グループ化 81">
            <a:extLst>
              <a:ext uri="{FF2B5EF4-FFF2-40B4-BE49-F238E27FC236}">
                <a16:creationId xmlns:a16="http://schemas.microsoft.com/office/drawing/2014/main" id="{FE1C0997-885A-EC24-8B7B-1426376A56D7}"/>
              </a:ext>
            </a:extLst>
          </p:cNvPr>
          <p:cNvGrpSpPr/>
          <p:nvPr/>
        </p:nvGrpSpPr>
        <p:grpSpPr>
          <a:xfrm>
            <a:off x="1055944" y="4551516"/>
            <a:ext cx="2160240" cy="1487513"/>
            <a:chOff x="5292080" y="5004175"/>
            <a:chExt cx="2160240" cy="1487513"/>
          </a:xfrm>
        </p:grpSpPr>
        <p:cxnSp>
          <p:nvCxnSpPr>
            <p:cNvPr id="83" name="直線コネクタ 82">
              <a:extLst>
                <a:ext uri="{FF2B5EF4-FFF2-40B4-BE49-F238E27FC236}">
                  <a16:creationId xmlns:a16="http://schemas.microsoft.com/office/drawing/2014/main" id="{6639F0B2-FF13-C282-62A3-35B35A581A13}"/>
                </a:ext>
              </a:extLst>
            </p:cNvPr>
            <p:cNvCxnSpPr/>
            <p:nvPr/>
          </p:nvCxnSpPr>
          <p:spPr bwMode="auto">
            <a:xfrm>
              <a:off x="529208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E013385F-2469-BFE1-72D2-AAA6B1D8CAB2}"/>
                </a:ext>
              </a:extLst>
            </p:cNvPr>
            <p:cNvCxnSpPr/>
            <p:nvPr/>
          </p:nvCxnSpPr>
          <p:spPr bwMode="auto">
            <a:xfrm>
              <a:off x="673224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85" name="直線コネクタ 84">
              <a:extLst>
                <a:ext uri="{FF2B5EF4-FFF2-40B4-BE49-F238E27FC236}">
                  <a16:creationId xmlns:a16="http://schemas.microsoft.com/office/drawing/2014/main" id="{5B1AD636-0C6D-4256-1E78-D1C3CA5038ED}"/>
                </a:ext>
              </a:extLst>
            </p:cNvPr>
            <p:cNvCxnSpPr/>
            <p:nvPr/>
          </p:nvCxnSpPr>
          <p:spPr bwMode="auto">
            <a:xfrm>
              <a:off x="6012160" y="55892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86" name="直線コネクタ 85">
              <a:extLst>
                <a:ext uri="{FF2B5EF4-FFF2-40B4-BE49-F238E27FC236}">
                  <a16:creationId xmlns:a16="http://schemas.microsoft.com/office/drawing/2014/main" id="{17704DB8-F9FC-44B5-E81E-C3C189BC9F22}"/>
                </a:ext>
              </a:extLst>
            </p:cNvPr>
            <p:cNvCxnSpPr/>
            <p:nvPr/>
          </p:nvCxnSpPr>
          <p:spPr bwMode="auto">
            <a:xfrm>
              <a:off x="601216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87" name="直線コネクタ 86">
              <a:extLst>
                <a:ext uri="{FF2B5EF4-FFF2-40B4-BE49-F238E27FC236}">
                  <a16:creationId xmlns:a16="http://schemas.microsoft.com/office/drawing/2014/main" id="{74FDF209-1E4D-A1E8-32B5-CAABD19B5F82}"/>
                </a:ext>
              </a:extLst>
            </p:cNvPr>
            <p:cNvCxnSpPr/>
            <p:nvPr/>
          </p:nvCxnSpPr>
          <p:spPr bwMode="auto">
            <a:xfrm>
              <a:off x="673224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88" name="直線コネクタ 87">
              <a:extLst>
                <a:ext uri="{FF2B5EF4-FFF2-40B4-BE49-F238E27FC236}">
                  <a16:creationId xmlns:a16="http://schemas.microsoft.com/office/drawing/2014/main" id="{F850F952-98E2-4265-C1E8-64DC3D019227}"/>
                </a:ext>
              </a:extLst>
            </p:cNvPr>
            <p:cNvCxnSpPr/>
            <p:nvPr/>
          </p:nvCxnSpPr>
          <p:spPr bwMode="auto">
            <a:xfrm>
              <a:off x="6012160" y="5454225"/>
              <a:ext cx="720080" cy="1"/>
            </a:xfrm>
            <a:prstGeom prst="line">
              <a:avLst/>
            </a:prstGeom>
            <a:noFill/>
            <a:ln w="38100" cap="rnd"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3A18A8CB-EA4C-0007-CF34-07FF92268101}"/>
                </a:ext>
              </a:extLst>
            </p:cNvPr>
            <p:cNvCxnSpPr/>
            <p:nvPr/>
          </p:nvCxnSpPr>
          <p:spPr bwMode="auto">
            <a:xfrm>
              <a:off x="6372200" y="5004175"/>
              <a:ext cx="0" cy="450050"/>
            </a:xfrm>
            <a:prstGeom prst="line">
              <a:avLst/>
            </a:prstGeom>
            <a:noFill/>
            <a:ln w="12700" cap="rnd" cmpd="sng" algn="ctr">
              <a:solidFill>
                <a:schemeClr val="tx1"/>
              </a:solidFill>
              <a:prstDash val="solid"/>
              <a:round/>
              <a:headEnd type="none" w="med" len="med"/>
              <a:tailEnd type="none" w="med" len="med"/>
            </a:ln>
            <a:effectLst/>
          </p:spPr>
        </p:cxnSp>
        <p:sp>
          <p:nvSpPr>
            <p:cNvPr id="90" name="正方形/長方形 89">
              <a:extLst>
                <a:ext uri="{FF2B5EF4-FFF2-40B4-BE49-F238E27FC236}">
                  <a16:creationId xmlns:a16="http://schemas.microsoft.com/office/drawing/2014/main" id="{1BA27E86-F23B-98DD-C6B1-F22E2D55086D}"/>
                </a:ext>
              </a:extLst>
            </p:cNvPr>
            <p:cNvSpPr/>
            <p:nvPr/>
          </p:nvSpPr>
          <p:spPr bwMode="auto">
            <a:xfrm>
              <a:off x="5652084" y="6174188"/>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NMOS</a:t>
              </a:r>
              <a:endParaRPr lang="ja-JP" altLang="en-US" dirty="0">
                <a:solidFill>
                  <a:schemeClr val="tx1"/>
                </a:solidFill>
                <a:latin typeface="Times New Roman" pitchFamily="18" charset="0"/>
                <a:ea typeface="HG丸ｺﾞｼｯｸM-PRO" pitchFamily="50" charset="-128"/>
              </a:endParaRPr>
            </a:p>
          </p:txBody>
        </p:sp>
      </p:grpSp>
      <p:sp>
        <p:nvSpPr>
          <p:cNvPr id="91" name="Rectangle 93">
            <a:extLst>
              <a:ext uri="{FF2B5EF4-FFF2-40B4-BE49-F238E27FC236}">
                <a16:creationId xmlns:a16="http://schemas.microsoft.com/office/drawing/2014/main" id="{C4F683AB-3CC8-5D21-AC53-4BA12CFE8D55}"/>
              </a:ext>
            </a:extLst>
          </p:cNvPr>
          <p:cNvSpPr>
            <a:spLocks noChangeArrowheads="1"/>
          </p:cNvSpPr>
          <p:nvPr/>
        </p:nvSpPr>
        <p:spPr bwMode="auto">
          <a:xfrm>
            <a:off x="1775953" y="419151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95" name="Rectangle 93">
            <a:extLst>
              <a:ext uri="{FF2B5EF4-FFF2-40B4-BE49-F238E27FC236}">
                <a16:creationId xmlns:a16="http://schemas.microsoft.com/office/drawing/2014/main" id="{8C0AC077-4BB5-9349-ACBF-23861F878CA4}"/>
              </a:ext>
            </a:extLst>
          </p:cNvPr>
          <p:cNvSpPr>
            <a:spLocks noChangeArrowheads="1"/>
          </p:cNvSpPr>
          <p:nvPr/>
        </p:nvSpPr>
        <p:spPr bwMode="auto">
          <a:xfrm>
            <a:off x="695941" y="509152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97" name="Rectangle 93">
            <a:extLst>
              <a:ext uri="{FF2B5EF4-FFF2-40B4-BE49-F238E27FC236}">
                <a16:creationId xmlns:a16="http://schemas.microsoft.com/office/drawing/2014/main" id="{0567ED03-D045-76F1-FDA0-7DE9AEF94DC8}"/>
              </a:ext>
            </a:extLst>
          </p:cNvPr>
          <p:cNvSpPr>
            <a:spLocks noChangeArrowheads="1"/>
          </p:cNvSpPr>
          <p:nvPr/>
        </p:nvSpPr>
        <p:spPr bwMode="auto">
          <a:xfrm>
            <a:off x="2675963" y="509152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grpSp>
        <p:nvGrpSpPr>
          <p:cNvPr id="5" name="グループ化 4">
            <a:extLst>
              <a:ext uri="{FF2B5EF4-FFF2-40B4-BE49-F238E27FC236}">
                <a16:creationId xmlns:a16="http://schemas.microsoft.com/office/drawing/2014/main" id="{04063C4D-F5A9-3EA7-C9EA-84B3DE5392A9}"/>
              </a:ext>
            </a:extLst>
          </p:cNvPr>
          <p:cNvGrpSpPr/>
          <p:nvPr/>
        </p:nvGrpSpPr>
        <p:grpSpPr>
          <a:xfrm>
            <a:off x="3935976" y="3879005"/>
            <a:ext cx="3240037" cy="2430026"/>
            <a:chOff x="8256023" y="3879005"/>
            <a:chExt cx="3240037" cy="2430026"/>
          </a:xfrm>
        </p:grpSpPr>
        <p:cxnSp>
          <p:nvCxnSpPr>
            <p:cNvPr id="138" name="直線コネクタ 137">
              <a:extLst>
                <a:ext uri="{FF2B5EF4-FFF2-40B4-BE49-F238E27FC236}">
                  <a16:creationId xmlns:a16="http://schemas.microsoft.com/office/drawing/2014/main" id="{3D1BDB27-E911-73E0-10A0-25A7BA915B3A}"/>
                </a:ext>
              </a:extLst>
            </p:cNvPr>
            <p:cNvCxnSpPr>
              <a:cxnSpLocks/>
            </p:cNvCxnSpPr>
            <p:nvPr/>
          </p:nvCxnSpPr>
          <p:spPr bwMode="auto">
            <a:xfrm>
              <a:off x="9426037" y="4599013"/>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E9A89B82-A0B5-8A2E-EB7B-F84A7D1715CE}"/>
                </a:ext>
              </a:extLst>
            </p:cNvPr>
            <p:cNvCxnSpPr>
              <a:cxnSpLocks/>
            </p:cNvCxnSpPr>
            <p:nvPr/>
          </p:nvCxnSpPr>
          <p:spPr bwMode="auto">
            <a:xfrm>
              <a:off x="9426037" y="4149007"/>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06F0BF4F-4BE9-2CDB-9C18-548EAB7730D7}"/>
                </a:ext>
              </a:extLst>
            </p:cNvPr>
            <p:cNvCxnSpPr>
              <a:cxnSpLocks/>
            </p:cNvCxnSpPr>
            <p:nvPr/>
          </p:nvCxnSpPr>
          <p:spPr bwMode="auto">
            <a:xfrm>
              <a:off x="9966043" y="4149007"/>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41" name="直線コネクタ 140">
              <a:extLst>
                <a:ext uri="{FF2B5EF4-FFF2-40B4-BE49-F238E27FC236}">
                  <a16:creationId xmlns:a16="http://schemas.microsoft.com/office/drawing/2014/main" id="{2A711A06-F65D-0F7A-06EF-E9ED85649217}"/>
                </a:ext>
              </a:extLst>
            </p:cNvPr>
            <p:cNvCxnSpPr>
              <a:cxnSpLocks/>
            </p:cNvCxnSpPr>
            <p:nvPr/>
          </p:nvCxnSpPr>
          <p:spPr bwMode="auto">
            <a:xfrm flipV="1">
              <a:off x="9696038" y="4599013"/>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42" name="正方形/長方形 141">
              <a:extLst>
                <a:ext uri="{FF2B5EF4-FFF2-40B4-BE49-F238E27FC236}">
                  <a16:creationId xmlns:a16="http://schemas.microsoft.com/office/drawing/2014/main" id="{E1AF8E8E-DFBC-A1C8-E91C-F5BD4398029D}"/>
                </a:ext>
              </a:extLst>
            </p:cNvPr>
            <p:cNvSpPr/>
            <p:nvPr/>
          </p:nvSpPr>
          <p:spPr bwMode="auto">
            <a:xfrm rot="5400000">
              <a:off x="8841030" y="4734015"/>
              <a:ext cx="180002" cy="135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3" name="直線コネクタ 142">
              <a:extLst>
                <a:ext uri="{FF2B5EF4-FFF2-40B4-BE49-F238E27FC236}">
                  <a16:creationId xmlns:a16="http://schemas.microsoft.com/office/drawing/2014/main" id="{9F3EA5DE-21C2-B9FF-CE51-9D9637C5C226}"/>
                </a:ext>
              </a:extLst>
            </p:cNvPr>
            <p:cNvCxnSpPr>
              <a:cxnSpLocks/>
            </p:cNvCxnSpPr>
            <p:nvPr/>
          </p:nvCxnSpPr>
          <p:spPr bwMode="auto">
            <a:xfrm>
              <a:off x="9786043" y="5319023"/>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44" name="直線コネクタ 143">
              <a:extLst>
                <a:ext uri="{FF2B5EF4-FFF2-40B4-BE49-F238E27FC236}">
                  <a16:creationId xmlns:a16="http://schemas.microsoft.com/office/drawing/2014/main" id="{32CC6C35-DDB5-893A-9560-35D4B6178DA2}"/>
                </a:ext>
              </a:extLst>
            </p:cNvPr>
            <p:cNvCxnSpPr>
              <a:cxnSpLocks/>
            </p:cNvCxnSpPr>
            <p:nvPr/>
          </p:nvCxnSpPr>
          <p:spPr bwMode="auto">
            <a:xfrm>
              <a:off x="8256023" y="5499023"/>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884578CE-614B-D8D9-CB42-EA777C006AEC}"/>
                </a:ext>
              </a:extLst>
            </p:cNvPr>
            <p:cNvCxnSpPr>
              <a:cxnSpLocks/>
            </p:cNvCxnSpPr>
            <p:nvPr/>
          </p:nvCxnSpPr>
          <p:spPr bwMode="auto">
            <a:xfrm>
              <a:off x="8256023" y="5319021"/>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146" name="正方形/長方形 145">
              <a:extLst>
                <a:ext uri="{FF2B5EF4-FFF2-40B4-BE49-F238E27FC236}">
                  <a16:creationId xmlns:a16="http://schemas.microsoft.com/office/drawing/2014/main" id="{0836A2F0-B7EC-6471-BAFB-4930CF9C58E1}"/>
                </a:ext>
              </a:extLst>
            </p:cNvPr>
            <p:cNvSpPr/>
            <p:nvPr/>
          </p:nvSpPr>
          <p:spPr bwMode="auto">
            <a:xfrm rot="5400000">
              <a:off x="9516036" y="5229022"/>
              <a:ext cx="36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47" name="グループ化 146">
              <a:extLst>
                <a:ext uri="{FF2B5EF4-FFF2-40B4-BE49-F238E27FC236}">
                  <a16:creationId xmlns:a16="http://schemas.microsoft.com/office/drawing/2014/main" id="{4DB04772-9190-6B3F-6B84-5293D9EB77C2}"/>
                </a:ext>
              </a:extLst>
            </p:cNvPr>
            <p:cNvGrpSpPr/>
            <p:nvPr/>
          </p:nvGrpSpPr>
          <p:grpSpPr>
            <a:xfrm>
              <a:off x="9606039" y="5589022"/>
              <a:ext cx="180003" cy="720009"/>
              <a:chOff x="3131985" y="5049018"/>
              <a:chExt cx="180002" cy="437056"/>
            </a:xfrm>
          </p:grpSpPr>
          <p:grpSp>
            <p:nvGrpSpPr>
              <p:cNvPr id="148" name="グループ化 147">
                <a:extLst>
                  <a:ext uri="{FF2B5EF4-FFF2-40B4-BE49-F238E27FC236}">
                    <a16:creationId xmlns:a16="http://schemas.microsoft.com/office/drawing/2014/main" id="{8C5923D4-6EDC-5946-AAD3-73B6D9B2C1D4}"/>
                  </a:ext>
                </a:extLst>
              </p:cNvPr>
              <p:cNvGrpSpPr/>
              <p:nvPr/>
            </p:nvGrpSpPr>
            <p:grpSpPr>
              <a:xfrm>
                <a:off x="3131985" y="5139021"/>
                <a:ext cx="180002" cy="254126"/>
                <a:chOff x="3131984" y="5191944"/>
                <a:chExt cx="270003" cy="201854"/>
              </a:xfrm>
            </p:grpSpPr>
            <p:sp>
              <p:nvSpPr>
                <p:cNvPr id="151" name="Freeform 42">
                  <a:extLst>
                    <a:ext uri="{FF2B5EF4-FFF2-40B4-BE49-F238E27FC236}">
                      <a16:creationId xmlns:a16="http://schemas.microsoft.com/office/drawing/2014/main" id="{7172C465-3584-FBD2-B44F-142E95F20F0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2" name="Freeform 42">
                  <a:extLst>
                    <a:ext uri="{FF2B5EF4-FFF2-40B4-BE49-F238E27FC236}">
                      <a16:creationId xmlns:a16="http://schemas.microsoft.com/office/drawing/2014/main" id="{452CBD54-1EBF-0643-8FD3-182145594D35}"/>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3" name="Freeform 42">
                  <a:extLst>
                    <a:ext uri="{FF2B5EF4-FFF2-40B4-BE49-F238E27FC236}">
                      <a16:creationId xmlns:a16="http://schemas.microsoft.com/office/drawing/2014/main" id="{2A1C9113-94B4-70FE-E828-85F9AAA57101}"/>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4" name="Freeform 42">
                  <a:extLst>
                    <a:ext uri="{FF2B5EF4-FFF2-40B4-BE49-F238E27FC236}">
                      <a16:creationId xmlns:a16="http://schemas.microsoft.com/office/drawing/2014/main" id="{31597B0A-42BD-BD2B-6AF6-420A0027A14F}"/>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49" name="直線コネクタ 148">
                <a:extLst>
                  <a:ext uri="{FF2B5EF4-FFF2-40B4-BE49-F238E27FC236}">
                    <a16:creationId xmlns:a16="http://schemas.microsoft.com/office/drawing/2014/main" id="{B62B9CA8-961F-5163-1A73-71AD6FAF5EF3}"/>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18F68D78-8FE5-5990-AA51-F04867913767}"/>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81" name="正方形/長方形 180">
              <a:extLst>
                <a:ext uri="{FF2B5EF4-FFF2-40B4-BE49-F238E27FC236}">
                  <a16:creationId xmlns:a16="http://schemas.microsoft.com/office/drawing/2014/main" id="{311E4025-1AB0-EE3C-0D80-826DB64A6209}"/>
                </a:ext>
              </a:extLst>
            </p:cNvPr>
            <p:cNvSpPr/>
            <p:nvPr/>
          </p:nvSpPr>
          <p:spPr bwMode="auto">
            <a:xfrm rot="5400000" flipH="1">
              <a:off x="9651037" y="5454020"/>
              <a:ext cx="90001"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82" name="直線コネクタ 181">
              <a:extLst>
                <a:ext uri="{FF2B5EF4-FFF2-40B4-BE49-F238E27FC236}">
                  <a16:creationId xmlns:a16="http://schemas.microsoft.com/office/drawing/2014/main" id="{03375B85-EC39-832E-F8AA-ED7D60C1A38A}"/>
                </a:ext>
              </a:extLst>
            </p:cNvPr>
            <p:cNvCxnSpPr>
              <a:cxnSpLocks/>
            </p:cNvCxnSpPr>
            <p:nvPr/>
          </p:nvCxnSpPr>
          <p:spPr bwMode="auto">
            <a:xfrm flipH="1">
              <a:off x="9786041" y="4959017"/>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183" name="直線コネクタ 182">
              <a:extLst>
                <a:ext uri="{FF2B5EF4-FFF2-40B4-BE49-F238E27FC236}">
                  <a16:creationId xmlns:a16="http://schemas.microsoft.com/office/drawing/2014/main" id="{2F951B46-437E-DC17-1DDE-DBFF7EA63FBE}"/>
                </a:ext>
              </a:extLst>
            </p:cNvPr>
            <p:cNvCxnSpPr>
              <a:cxnSpLocks/>
            </p:cNvCxnSpPr>
            <p:nvPr/>
          </p:nvCxnSpPr>
          <p:spPr bwMode="auto">
            <a:xfrm flipH="1">
              <a:off x="9606040" y="4959017"/>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84" name="正方形/長方形 183">
              <a:extLst>
                <a:ext uri="{FF2B5EF4-FFF2-40B4-BE49-F238E27FC236}">
                  <a16:creationId xmlns:a16="http://schemas.microsoft.com/office/drawing/2014/main" id="{E1AF7C07-BA81-67A6-B367-DABF2A86DCBF}"/>
                </a:ext>
              </a:extLst>
            </p:cNvPr>
            <p:cNvSpPr/>
            <p:nvPr/>
          </p:nvSpPr>
          <p:spPr bwMode="auto">
            <a:xfrm>
              <a:off x="10776052" y="423900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75000"/>
                      <a:lumOff val="25000"/>
                    </a:schemeClr>
                  </a:solidFill>
                </a:rPr>
                <a:t>N</a:t>
              </a:r>
              <a:r>
                <a:rPr lang="ja-JP" altLang="en-US" sz="2400" dirty="0">
                  <a:solidFill>
                    <a:schemeClr val="tx1">
                      <a:lumMod val="75000"/>
                      <a:lumOff val="25000"/>
                    </a:schemeClr>
                  </a:solidFill>
                </a:rPr>
                <a:t>タンク（空）</a:t>
              </a:r>
            </a:p>
          </p:txBody>
        </p:sp>
        <p:sp>
          <p:nvSpPr>
            <p:cNvPr id="188" name="正方形/長方形 187">
              <a:extLst>
                <a:ext uri="{FF2B5EF4-FFF2-40B4-BE49-F238E27FC236}">
                  <a16:creationId xmlns:a16="http://schemas.microsoft.com/office/drawing/2014/main" id="{751A9E03-3B36-5CA3-4F28-E8E1A4988DBA}"/>
                </a:ext>
              </a:extLst>
            </p:cNvPr>
            <p:cNvSpPr/>
            <p:nvPr/>
          </p:nvSpPr>
          <p:spPr bwMode="auto">
            <a:xfrm>
              <a:off x="9786041" y="540902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バネで上がって</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栓が閉まる</a:t>
              </a:r>
            </a:p>
          </p:txBody>
        </p:sp>
        <p:sp>
          <p:nvSpPr>
            <p:cNvPr id="207" name="Rectangle 93">
              <a:extLst>
                <a:ext uri="{FF2B5EF4-FFF2-40B4-BE49-F238E27FC236}">
                  <a16:creationId xmlns:a16="http://schemas.microsoft.com/office/drawing/2014/main" id="{8E2A8724-5C45-B554-36AB-22B676778A4B}"/>
                </a:ext>
              </a:extLst>
            </p:cNvPr>
            <p:cNvSpPr>
              <a:spLocks noChangeArrowheads="1"/>
            </p:cNvSpPr>
            <p:nvPr/>
          </p:nvSpPr>
          <p:spPr bwMode="auto">
            <a:xfrm>
              <a:off x="9516037" y="387900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8" name="Rectangle 93">
              <a:extLst>
                <a:ext uri="{FF2B5EF4-FFF2-40B4-BE49-F238E27FC236}">
                  <a16:creationId xmlns:a16="http://schemas.microsoft.com/office/drawing/2014/main" id="{C81E4564-342C-ED27-8E15-7707FA312181}"/>
                </a:ext>
              </a:extLst>
            </p:cNvPr>
            <p:cNvSpPr>
              <a:spLocks noChangeArrowheads="1"/>
            </p:cNvSpPr>
            <p:nvPr/>
          </p:nvSpPr>
          <p:spPr bwMode="auto">
            <a:xfrm>
              <a:off x="8256023" y="4959017"/>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09" name="Rectangle 93">
              <a:extLst>
                <a:ext uri="{FF2B5EF4-FFF2-40B4-BE49-F238E27FC236}">
                  <a16:creationId xmlns:a16="http://schemas.microsoft.com/office/drawing/2014/main" id="{230161D1-3696-354C-BD17-9C8D6687B8F9}"/>
                </a:ext>
              </a:extLst>
            </p:cNvPr>
            <p:cNvSpPr>
              <a:spLocks noChangeArrowheads="1"/>
            </p:cNvSpPr>
            <p:nvPr/>
          </p:nvSpPr>
          <p:spPr bwMode="auto">
            <a:xfrm>
              <a:off x="10866052" y="4959017"/>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99" name="正方形/長方形 98">
              <a:extLst>
                <a:ext uri="{FF2B5EF4-FFF2-40B4-BE49-F238E27FC236}">
                  <a16:creationId xmlns:a16="http://schemas.microsoft.com/office/drawing/2014/main" id="{F2DD7253-EFA9-A63E-4649-A9F5315B4DDD}"/>
                </a:ext>
              </a:extLst>
            </p:cNvPr>
            <p:cNvSpPr/>
            <p:nvPr/>
          </p:nvSpPr>
          <p:spPr bwMode="auto">
            <a:xfrm rot="5400000">
              <a:off x="9606037" y="4779017"/>
              <a:ext cx="180003"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spTree>
    <p:extLst>
      <p:ext uri="{BB962C8B-B14F-4D97-AF65-F5344CB8AC3E}">
        <p14:creationId xmlns:p14="http://schemas.microsoft.com/office/powerpoint/2010/main" val="4276926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正方形/長方形 90">
            <a:extLst>
              <a:ext uri="{FF2B5EF4-FFF2-40B4-BE49-F238E27FC236}">
                <a16:creationId xmlns:a16="http://schemas.microsoft.com/office/drawing/2014/main" id="{FE103B1E-71A5-BEF0-A86C-6DF0F6D42E4A}"/>
              </a:ext>
            </a:extLst>
          </p:cNvPr>
          <p:cNvSpPr/>
          <p:nvPr/>
        </p:nvSpPr>
        <p:spPr bwMode="auto">
          <a:xfrm>
            <a:off x="3395434" y="1178974"/>
            <a:ext cx="180002" cy="315003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1" name="正方形/長方形 60">
            <a:extLst>
              <a:ext uri="{FF2B5EF4-FFF2-40B4-BE49-F238E27FC236}">
                <a16:creationId xmlns:a16="http://schemas.microsoft.com/office/drawing/2014/main" id="{189F94FB-CD47-58D8-508C-7E12F06E82B8}"/>
              </a:ext>
            </a:extLst>
          </p:cNvPr>
          <p:cNvSpPr/>
          <p:nvPr/>
        </p:nvSpPr>
        <p:spPr bwMode="auto">
          <a:xfrm>
            <a:off x="3575435" y="1178975"/>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4B597429-ED9C-17EA-8F06-8F7072BC05A7}"/>
              </a:ext>
            </a:extLst>
          </p:cNvPr>
          <p:cNvSpPr>
            <a:spLocks noGrp="1"/>
          </p:cNvSpPr>
          <p:nvPr>
            <p:ph type="title"/>
          </p:nvPr>
        </p:nvSpPr>
        <p:spPr/>
        <p:txBody>
          <a:bodyPr/>
          <a:lstStyle/>
          <a:p>
            <a:r>
              <a:rPr kumimoji="1" lang="en-US" altLang="ja-JP" dirty="0"/>
              <a:t>P </a:t>
            </a:r>
            <a:r>
              <a:rPr kumimoji="1" lang="ja-JP" altLang="en-US" dirty="0"/>
              <a:t>タンクと  </a:t>
            </a:r>
            <a:r>
              <a:rPr kumimoji="1" lang="en-US" altLang="ja-JP" dirty="0"/>
              <a:t>N</a:t>
            </a:r>
            <a:r>
              <a:rPr kumimoji="1" lang="ja-JP" altLang="en-US" dirty="0"/>
              <a:t>タンクで </a:t>
            </a:r>
            <a:r>
              <a:rPr kumimoji="1" lang="en-US" altLang="ja-JP" dirty="0"/>
              <a:t>NOT </a:t>
            </a:r>
            <a:r>
              <a:rPr kumimoji="1" lang="ja-JP" altLang="en-US" dirty="0"/>
              <a:t>ゲート</a:t>
            </a:r>
            <a:r>
              <a:rPr lang="ja-JP" altLang="en-US" dirty="0"/>
              <a:t>が作れる</a:t>
            </a:r>
            <a:endParaRPr kumimoji="1" lang="en-US" dirty="0"/>
          </a:p>
        </p:txBody>
      </p:sp>
      <p:sp>
        <p:nvSpPr>
          <p:cNvPr id="3" name="テキスト プレースホルダー 2">
            <a:extLst>
              <a:ext uri="{FF2B5EF4-FFF2-40B4-BE49-F238E27FC236}">
                <a16:creationId xmlns:a16="http://schemas.microsoft.com/office/drawing/2014/main" id="{3DEC836E-CCAA-8CF5-38DD-0528D16A2970}"/>
              </a:ext>
            </a:extLst>
          </p:cNvPr>
          <p:cNvSpPr>
            <a:spLocks noGrp="1"/>
          </p:cNvSpPr>
          <p:nvPr>
            <p:ph type="body" sz="quarter" idx="10"/>
          </p:nvPr>
        </p:nvSpPr>
        <p:spPr>
          <a:xfrm>
            <a:off x="965943" y="6039029"/>
            <a:ext cx="9450105" cy="540006"/>
          </a:xfrm>
        </p:spPr>
        <p:txBody>
          <a:bodyPr/>
          <a:lstStyle/>
          <a:p>
            <a:pPr lvl="1"/>
            <a:r>
              <a:rPr kumimoji="1" lang="ja-JP" altLang="en-US" dirty="0"/>
              <a:t>給水口には常に一定の圧力で水が供給されている（</a:t>
            </a:r>
            <a:r>
              <a:rPr kumimoji="1" lang="en-US" altLang="ja-JP" dirty="0"/>
              <a:t>=</a:t>
            </a:r>
            <a:r>
              <a:rPr kumimoji="1" lang="ja-JP" altLang="en-US" dirty="0"/>
              <a:t>電源）</a:t>
            </a:r>
            <a:endParaRPr kumimoji="1" lang="en-US" altLang="ja-JP" dirty="0"/>
          </a:p>
          <a:p>
            <a:pPr lvl="1"/>
            <a:r>
              <a:rPr kumimoji="1" lang="ja-JP" altLang="en-US" dirty="0"/>
              <a:t>入力側の水の有無により，出力側の水の有無が反転 → </a:t>
            </a:r>
            <a:r>
              <a:rPr kumimoji="1" lang="en-US" altLang="ja-JP" dirty="0"/>
              <a:t>NOT </a:t>
            </a:r>
            <a:r>
              <a:rPr kumimoji="1" lang="ja-JP" altLang="en-US" dirty="0"/>
              <a:t>ゲートの動作</a:t>
            </a:r>
            <a:endParaRPr kumimoji="1" lang="en-US" dirty="0"/>
          </a:p>
        </p:txBody>
      </p:sp>
      <p:sp>
        <p:nvSpPr>
          <p:cNvPr id="4" name="正方形/長方形 3">
            <a:extLst>
              <a:ext uri="{FF2B5EF4-FFF2-40B4-BE49-F238E27FC236}">
                <a16:creationId xmlns:a16="http://schemas.microsoft.com/office/drawing/2014/main" id="{F544FA4C-00BA-214A-5907-8ED7A8B470D8}"/>
              </a:ext>
            </a:extLst>
          </p:cNvPr>
          <p:cNvSpPr/>
          <p:nvPr/>
        </p:nvSpPr>
        <p:spPr bwMode="auto">
          <a:xfrm>
            <a:off x="5105454" y="4059007"/>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CA8DD28-BDEA-4217-483B-547B8A4F03E1}"/>
              </a:ext>
            </a:extLst>
          </p:cNvPr>
          <p:cNvCxnSpPr>
            <a:cxnSpLocks/>
          </p:cNvCxnSpPr>
          <p:nvPr/>
        </p:nvCxnSpPr>
        <p:spPr bwMode="auto">
          <a:xfrm>
            <a:off x="5105454" y="4419012"/>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9FF45AE4-8EF4-A14D-6340-03FCA5EDEA87}"/>
              </a:ext>
            </a:extLst>
          </p:cNvPr>
          <p:cNvCxnSpPr>
            <a:cxnSpLocks/>
          </p:cNvCxnSpPr>
          <p:nvPr/>
        </p:nvCxnSpPr>
        <p:spPr bwMode="auto">
          <a:xfrm>
            <a:off x="5105454" y="3969006"/>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0E1209BB-7D84-34D0-606D-4BE912DA4A26}"/>
              </a:ext>
            </a:extLst>
          </p:cNvPr>
          <p:cNvCxnSpPr>
            <a:cxnSpLocks/>
          </p:cNvCxnSpPr>
          <p:nvPr/>
        </p:nvCxnSpPr>
        <p:spPr bwMode="auto">
          <a:xfrm>
            <a:off x="5645460" y="3969006"/>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8" name="直線コネクタ 7">
            <a:extLst>
              <a:ext uri="{FF2B5EF4-FFF2-40B4-BE49-F238E27FC236}">
                <a16:creationId xmlns:a16="http://schemas.microsoft.com/office/drawing/2014/main" id="{9110A407-7179-A860-E9DD-0F4D96E9528D}"/>
              </a:ext>
            </a:extLst>
          </p:cNvPr>
          <p:cNvCxnSpPr>
            <a:cxnSpLocks/>
          </p:cNvCxnSpPr>
          <p:nvPr/>
        </p:nvCxnSpPr>
        <p:spPr bwMode="auto">
          <a:xfrm flipV="1">
            <a:off x="5375455" y="4419012"/>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9" name="正方形/長方形 8">
            <a:extLst>
              <a:ext uri="{FF2B5EF4-FFF2-40B4-BE49-F238E27FC236}">
                <a16:creationId xmlns:a16="http://schemas.microsoft.com/office/drawing/2014/main" id="{D0C4D5BD-FC80-624E-F378-A4EA5C36A7BB}"/>
              </a:ext>
            </a:extLst>
          </p:cNvPr>
          <p:cNvSpPr/>
          <p:nvPr/>
        </p:nvSpPr>
        <p:spPr bwMode="auto">
          <a:xfrm rot="5400000">
            <a:off x="5645456" y="3789006"/>
            <a:ext cx="180002" cy="216002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 name="直線コネクタ 9">
            <a:extLst>
              <a:ext uri="{FF2B5EF4-FFF2-40B4-BE49-F238E27FC236}">
                <a16:creationId xmlns:a16="http://schemas.microsoft.com/office/drawing/2014/main" id="{21FB108E-B80A-7304-E181-A256084CEB5A}"/>
              </a:ext>
            </a:extLst>
          </p:cNvPr>
          <p:cNvCxnSpPr>
            <a:cxnSpLocks/>
          </p:cNvCxnSpPr>
          <p:nvPr/>
        </p:nvCxnSpPr>
        <p:spPr bwMode="auto">
          <a:xfrm>
            <a:off x="5465458" y="4779017"/>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EDAC7A46-7F1E-08E5-39B7-E9756DAAADF2}"/>
              </a:ext>
            </a:extLst>
          </p:cNvPr>
          <p:cNvCxnSpPr>
            <a:cxnSpLocks/>
          </p:cNvCxnSpPr>
          <p:nvPr/>
        </p:nvCxnSpPr>
        <p:spPr bwMode="auto">
          <a:xfrm>
            <a:off x="4655447" y="4959017"/>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E4EEC248-333D-8B1D-3691-F49076842A5A}"/>
              </a:ext>
            </a:extLst>
          </p:cNvPr>
          <p:cNvCxnSpPr>
            <a:cxnSpLocks/>
          </p:cNvCxnSpPr>
          <p:nvPr/>
        </p:nvCxnSpPr>
        <p:spPr bwMode="auto">
          <a:xfrm>
            <a:off x="4655447" y="4779015"/>
            <a:ext cx="630007" cy="0"/>
          </a:xfrm>
          <a:prstGeom prst="line">
            <a:avLst/>
          </a:prstGeom>
          <a:noFill/>
          <a:ln w="19050" cap="flat" cmpd="sng" algn="ctr">
            <a:solidFill>
              <a:schemeClr val="tx1"/>
            </a:solidFill>
            <a:prstDash val="solid"/>
            <a:round/>
            <a:headEnd type="none" w="med" len="med"/>
            <a:tailEnd type="none" w="med" len="med"/>
          </a:ln>
          <a:effectLst/>
        </p:spPr>
      </p:cxnSp>
      <p:sp>
        <p:nvSpPr>
          <p:cNvPr id="13" name="正方形/長方形 12">
            <a:extLst>
              <a:ext uri="{FF2B5EF4-FFF2-40B4-BE49-F238E27FC236}">
                <a16:creationId xmlns:a16="http://schemas.microsoft.com/office/drawing/2014/main" id="{F1A07955-D96B-635D-E33D-F48ED8823A53}"/>
              </a:ext>
            </a:extLst>
          </p:cNvPr>
          <p:cNvSpPr/>
          <p:nvPr/>
        </p:nvSpPr>
        <p:spPr bwMode="auto">
          <a:xfrm rot="5400000">
            <a:off x="5285454" y="4599014"/>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4" name="グループ化 13">
            <a:extLst>
              <a:ext uri="{FF2B5EF4-FFF2-40B4-BE49-F238E27FC236}">
                <a16:creationId xmlns:a16="http://schemas.microsoft.com/office/drawing/2014/main" id="{1A1097E2-63CF-C02F-E881-EA114310949F}"/>
              </a:ext>
            </a:extLst>
          </p:cNvPr>
          <p:cNvGrpSpPr/>
          <p:nvPr/>
        </p:nvGrpSpPr>
        <p:grpSpPr>
          <a:xfrm>
            <a:off x="5285454" y="5409021"/>
            <a:ext cx="180003" cy="360004"/>
            <a:chOff x="3131985" y="5049018"/>
            <a:chExt cx="180002" cy="437056"/>
          </a:xfrm>
        </p:grpSpPr>
        <p:grpSp>
          <p:nvGrpSpPr>
            <p:cNvPr id="15" name="グループ化 14">
              <a:extLst>
                <a:ext uri="{FF2B5EF4-FFF2-40B4-BE49-F238E27FC236}">
                  <a16:creationId xmlns:a16="http://schemas.microsoft.com/office/drawing/2014/main" id="{6A766BE0-31F6-841D-510E-1AF93ED8CEE0}"/>
                </a:ext>
              </a:extLst>
            </p:cNvPr>
            <p:cNvGrpSpPr/>
            <p:nvPr/>
          </p:nvGrpSpPr>
          <p:grpSpPr>
            <a:xfrm>
              <a:off x="3131985" y="5139021"/>
              <a:ext cx="180002" cy="254126"/>
              <a:chOff x="3131984" y="5191944"/>
              <a:chExt cx="270003" cy="201854"/>
            </a:xfrm>
          </p:grpSpPr>
          <p:sp>
            <p:nvSpPr>
              <p:cNvPr id="18" name="Freeform 42">
                <a:extLst>
                  <a:ext uri="{FF2B5EF4-FFF2-40B4-BE49-F238E27FC236}">
                    <a16:creationId xmlns:a16="http://schemas.microsoft.com/office/drawing/2014/main" id="{BFE0788F-0661-7E75-AC7F-F1B8E0D2511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9" name="Freeform 42">
                <a:extLst>
                  <a:ext uri="{FF2B5EF4-FFF2-40B4-BE49-F238E27FC236}">
                    <a16:creationId xmlns:a16="http://schemas.microsoft.com/office/drawing/2014/main" id="{3C9E81BC-7D74-199B-137A-B65138B6CB6C}"/>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0" name="Freeform 42">
                <a:extLst>
                  <a:ext uri="{FF2B5EF4-FFF2-40B4-BE49-F238E27FC236}">
                    <a16:creationId xmlns:a16="http://schemas.microsoft.com/office/drawing/2014/main" id="{D02CC5F9-232B-B46F-BD1B-65BA6613F97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1" name="Freeform 42">
                <a:extLst>
                  <a:ext uri="{FF2B5EF4-FFF2-40B4-BE49-F238E27FC236}">
                    <a16:creationId xmlns:a16="http://schemas.microsoft.com/office/drawing/2014/main" id="{F3F5F700-4B5B-1871-D3E1-E317E5174B50}"/>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6" name="直線コネクタ 15">
              <a:extLst>
                <a:ext uri="{FF2B5EF4-FFF2-40B4-BE49-F238E27FC236}">
                  <a16:creationId xmlns:a16="http://schemas.microsoft.com/office/drawing/2014/main" id="{DEBE7EEE-D4A9-F677-302C-58D07918BE24}"/>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817B8ABC-2556-EF97-059A-25D77D0E1D92}"/>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3" name="正方形/長方形 22">
            <a:extLst>
              <a:ext uri="{FF2B5EF4-FFF2-40B4-BE49-F238E27FC236}">
                <a16:creationId xmlns:a16="http://schemas.microsoft.com/office/drawing/2014/main" id="{5E962D30-BC1A-9CCF-81BD-737F9889DFF7}"/>
              </a:ext>
            </a:extLst>
          </p:cNvPr>
          <p:cNvSpPr/>
          <p:nvPr/>
        </p:nvSpPr>
        <p:spPr bwMode="auto">
          <a:xfrm rot="5400000" flipH="1">
            <a:off x="5150450" y="5094017"/>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4" name="直線コネクタ 23">
            <a:extLst>
              <a:ext uri="{FF2B5EF4-FFF2-40B4-BE49-F238E27FC236}">
                <a16:creationId xmlns:a16="http://schemas.microsoft.com/office/drawing/2014/main" id="{E747155E-616C-B82A-A513-27FF90D45F3E}"/>
              </a:ext>
            </a:extLst>
          </p:cNvPr>
          <p:cNvCxnSpPr>
            <a:cxnSpLocks/>
          </p:cNvCxnSpPr>
          <p:nvPr/>
        </p:nvCxnSpPr>
        <p:spPr bwMode="auto">
          <a:xfrm flipH="1">
            <a:off x="5465454" y="4779014"/>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5" name="直線コネクタ 24">
            <a:extLst>
              <a:ext uri="{FF2B5EF4-FFF2-40B4-BE49-F238E27FC236}">
                <a16:creationId xmlns:a16="http://schemas.microsoft.com/office/drawing/2014/main" id="{61C53AEF-2019-4BE2-F329-438DC5FCD241}"/>
              </a:ext>
            </a:extLst>
          </p:cNvPr>
          <p:cNvCxnSpPr>
            <a:cxnSpLocks/>
          </p:cNvCxnSpPr>
          <p:nvPr/>
        </p:nvCxnSpPr>
        <p:spPr bwMode="auto">
          <a:xfrm flipH="1">
            <a:off x="5285453" y="4779014"/>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26" name="正方形/長方形 25">
            <a:extLst>
              <a:ext uri="{FF2B5EF4-FFF2-40B4-BE49-F238E27FC236}">
                <a16:creationId xmlns:a16="http://schemas.microsoft.com/office/drawing/2014/main" id="{A978CB98-0069-7E7D-A06A-A50B36BDAA6A}"/>
              </a:ext>
            </a:extLst>
          </p:cNvPr>
          <p:cNvSpPr/>
          <p:nvPr/>
        </p:nvSpPr>
        <p:spPr bwMode="auto">
          <a:xfrm>
            <a:off x="5555457" y="486901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en-US" altLang="ja-JP" sz="1600" dirty="0">
                <a:solidFill>
                  <a:schemeClr val="tx1">
                    <a:lumMod val="75000"/>
                    <a:lumOff val="25000"/>
                  </a:schemeClr>
                </a:solidFill>
              </a:rPr>
              <a:t>N</a:t>
            </a:r>
            <a:r>
              <a:rPr lang="ja-JP" altLang="en-US" sz="1600" dirty="0">
                <a:solidFill>
                  <a:schemeClr val="tx1">
                    <a:lumMod val="75000"/>
                    <a:lumOff val="25000"/>
                  </a:schemeClr>
                </a:solidFill>
              </a:rPr>
              <a:t>タンク に溜まると開く → 排水される</a:t>
            </a:r>
          </a:p>
        </p:txBody>
      </p:sp>
      <p:sp>
        <p:nvSpPr>
          <p:cNvPr id="28" name="Rectangle 93">
            <a:extLst>
              <a:ext uri="{FF2B5EF4-FFF2-40B4-BE49-F238E27FC236}">
                <a16:creationId xmlns:a16="http://schemas.microsoft.com/office/drawing/2014/main" id="{A6E1F0A5-637C-4A83-49B3-2F6E01BE7BF4}"/>
              </a:ext>
            </a:extLst>
          </p:cNvPr>
          <p:cNvSpPr>
            <a:spLocks noChangeArrowheads="1"/>
          </p:cNvSpPr>
          <p:nvPr/>
        </p:nvSpPr>
        <p:spPr bwMode="auto">
          <a:xfrm>
            <a:off x="5195990" y="387900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9" name="Rectangle 93">
            <a:extLst>
              <a:ext uri="{FF2B5EF4-FFF2-40B4-BE49-F238E27FC236}">
                <a16:creationId xmlns:a16="http://schemas.microsoft.com/office/drawing/2014/main" id="{C7F9F294-CD79-ED69-3EA7-8D42202ED10D}"/>
              </a:ext>
            </a:extLst>
          </p:cNvPr>
          <p:cNvSpPr>
            <a:spLocks noChangeArrowheads="1"/>
          </p:cNvSpPr>
          <p:nvPr/>
        </p:nvSpPr>
        <p:spPr bwMode="auto">
          <a:xfrm>
            <a:off x="5555457" y="441901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30" name="正方形/長方形 29">
            <a:extLst>
              <a:ext uri="{FF2B5EF4-FFF2-40B4-BE49-F238E27FC236}">
                <a16:creationId xmlns:a16="http://schemas.microsoft.com/office/drawing/2014/main" id="{457735FA-B2AE-E136-2350-5AAAB8D6BFD8}"/>
              </a:ext>
            </a:extLst>
          </p:cNvPr>
          <p:cNvSpPr/>
          <p:nvPr/>
        </p:nvSpPr>
        <p:spPr bwMode="auto">
          <a:xfrm>
            <a:off x="5105454" y="1088974"/>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1" name="直線コネクタ 30">
            <a:extLst>
              <a:ext uri="{FF2B5EF4-FFF2-40B4-BE49-F238E27FC236}">
                <a16:creationId xmlns:a16="http://schemas.microsoft.com/office/drawing/2014/main" id="{EC1BAFBF-F348-E3F0-8DD7-0E191DF4A80A}"/>
              </a:ext>
            </a:extLst>
          </p:cNvPr>
          <p:cNvCxnSpPr>
            <a:cxnSpLocks/>
          </p:cNvCxnSpPr>
          <p:nvPr/>
        </p:nvCxnSpPr>
        <p:spPr bwMode="auto">
          <a:xfrm>
            <a:off x="5105454" y="1448979"/>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5F83FEB7-F168-4AA0-408B-C4EE65EB999B}"/>
              </a:ext>
            </a:extLst>
          </p:cNvPr>
          <p:cNvCxnSpPr>
            <a:cxnSpLocks/>
          </p:cNvCxnSpPr>
          <p:nvPr/>
        </p:nvCxnSpPr>
        <p:spPr bwMode="auto">
          <a:xfrm>
            <a:off x="5105454" y="998973"/>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687F5C2C-BC4F-CC32-6655-CEB790EE9DFC}"/>
              </a:ext>
            </a:extLst>
          </p:cNvPr>
          <p:cNvCxnSpPr>
            <a:cxnSpLocks/>
          </p:cNvCxnSpPr>
          <p:nvPr/>
        </p:nvCxnSpPr>
        <p:spPr bwMode="auto">
          <a:xfrm>
            <a:off x="5645460" y="998973"/>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848E4AC0-DD0A-986F-5ECA-87E203E09E6D}"/>
              </a:ext>
            </a:extLst>
          </p:cNvPr>
          <p:cNvCxnSpPr>
            <a:cxnSpLocks/>
          </p:cNvCxnSpPr>
          <p:nvPr/>
        </p:nvCxnSpPr>
        <p:spPr bwMode="auto">
          <a:xfrm flipV="1">
            <a:off x="5375455" y="1448979"/>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35" name="正方形/長方形 34">
            <a:extLst>
              <a:ext uri="{FF2B5EF4-FFF2-40B4-BE49-F238E27FC236}">
                <a16:creationId xmlns:a16="http://schemas.microsoft.com/office/drawing/2014/main" id="{8EE91B14-87A0-DFC8-D868-F03CE904D370}"/>
              </a:ext>
            </a:extLst>
          </p:cNvPr>
          <p:cNvSpPr/>
          <p:nvPr/>
        </p:nvSpPr>
        <p:spPr bwMode="auto">
          <a:xfrm rot="5400000">
            <a:off x="4880449" y="1583980"/>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6" name="直線コネクタ 35">
            <a:extLst>
              <a:ext uri="{FF2B5EF4-FFF2-40B4-BE49-F238E27FC236}">
                <a16:creationId xmlns:a16="http://schemas.microsoft.com/office/drawing/2014/main" id="{A53B8040-7D9A-D0C8-65EC-B3CC8DEE24A1}"/>
              </a:ext>
            </a:extLst>
          </p:cNvPr>
          <p:cNvCxnSpPr>
            <a:cxnSpLocks/>
          </p:cNvCxnSpPr>
          <p:nvPr/>
        </p:nvCxnSpPr>
        <p:spPr bwMode="auto">
          <a:xfrm>
            <a:off x="5465458" y="1808984"/>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8B8EDD5A-60CD-5C11-370A-7E2BE8A9A936}"/>
              </a:ext>
            </a:extLst>
          </p:cNvPr>
          <p:cNvCxnSpPr>
            <a:cxnSpLocks/>
          </p:cNvCxnSpPr>
          <p:nvPr/>
        </p:nvCxnSpPr>
        <p:spPr bwMode="auto">
          <a:xfrm>
            <a:off x="4655447" y="1988984"/>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B61B936A-6390-88E9-6BDB-4AE884744437}"/>
              </a:ext>
            </a:extLst>
          </p:cNvPr>
          <p:cNvCxnSpPr>
            <a:cxnSpLocks/>
          </p:cNvCxnSpPr>
          <p:nvPr/>
        </p:nvCxnSpPr>
        <p:spPr bwMode="auto">
          <a:xfrm>
            <a:off x="4655447" y="1808982"/>
            <a:ext cx="630007" cy="0"/>
          </a:xfrm>
          <a:prstGeom prst="line">
            <a:avLst/>
          </a:prstGeom>
          <a:noFill/>
          <a:ln w="19050" cap="flat" cmpd="sng" algn="ctr">
            <a:solidFill>
              <a:schemeClr val="tx1"/>
            </a:solidFill>
            <a:prstDash val="solid"/>
            <a:round/>
            <a:headEnd type="none" w="med" len="med"/>
            <a:tailEnd type="none" w="med" len="med"/>
          </a:ln>
          <a:effectLst/>
        </p:spPr>
      </p:cxnSp>
      <p:sp>
        <p:nvSpPr>
          <p:cNvPr id="39" name="正方形/長方形 38">
            <a:extLst>
              <a:ext uri="{FF2B5EF4-FFF2-40B4-BE49-F238E27FC236}">
                <a16:creationId xmlns:a16="http://schemas.microsoft.com/office/drawing/2014/main" id="{064BB3E3-F82A-7244-ED20-211E6F41C563}"/>
              </a:ext>
            </a:extLst>
          </p:cNvPr>
          <p:cNvSpPr/>
          <p:nvPr/>
        </p:nvSpPr>
        <p:spPr bwMode="auto">
          <a:xfrm rot="5400000">
            <a:off x="5105452" y="1808983"/>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40" name="グループ化 39">
            <a:extLst>
              <a:ext uri="{FF2B5EF4-FFF2-40B4-BE49-F238E27FC236}">
                <a16:creationId xmlns:a16="http://schemas.microsoft.com/office/drawing/2014/main" id="{77A1003C-14D8-BD30-6A1A-AABC2E217974}"/>
              </a:ext>
            </a:extLst>
          </p:cNvPr>
          <p:cNvGrpSpPr/>
          <p:nvPr/>
        </p:nvGrpSpPr>
        <p:grpSpPr>
          <a:xfrm>
            <a:off x="5285454" y="2438988"/>
            <a:ext cx="180003" cy="360004"/>
            <a:chOff x="3131985" y="5049018"/>
            <a:chExt cx="180002" cy="437056"/>
          </a:xfrm>
        </p:grpSpPr>
        <p:grpSp>
          <p:nvGrpSpPr>
            <p:cNvPr id="41" name="グループ化 40">
              <a:extLst>
                <a:ext uri="{FF2B5EF4-FFF2-40B4-BE49-F238E27FC236}">
                  <a16:creationId xmlns:a16="http://schemas.microsoft.com/office/drawing/2014/main" id="{319F5EB2-E682-AB62-560B-829DC858CA57}"/>
                </a:ext>
              </a:extLst>
            </p:cNvPr>
            <p:cNvGrpSpPr/>
            <p:nvPr/>
          </p:nvGrpSpPr>
          <p:grpSpPr>
            <a:xfrm>
              <a:off x="3131985" y="5139021"/>
              <a:ext cx="180002" cy="254126"/>
              <a:chOff x="3131984" y="5191944"/>
              <a:chExt cx="270003" cy="201854"/>
            </a:xfrm>
          </p:grpSpPr>
          <p:sp>
            <p:nvSpPr>
              <p:cNvPr id="44" name="Freeform 42">
                <a:extLst>
                  <a:ext uri="{FF2B5EF4-FFF2-40B4-BE49-F238E27FC236}">
                    <a16:creationId xmlns:a16="http://schemas.microsoft.com/office/drawing/2014/main" id="{5AE946A1-4C78-EFCE-DBC3-238A17F3143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5" name="Freeform 42">
                <a:extLst>
                  <a:ext uri="{FF2B5EF4-FFF2-40B4-BE49-F238E27FC236}">
                    <a16:creationId xmlns:a16="http://schemas.microsoft.com/office/drawing/2014/main" id="{99F3755D-6142-F321-7374-79753D2FF3AD}"/>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6" name="Freeform 42">
                <a:extLst>
                  <a:ext uri="{FF2B5EF4-FFF2-40B4-BE49-F238E27FC236}">
                    <a16:creationId xmlns:a16="http://schemas.microsoft.com/office/drawing/2014/main" id="{45F316AD-4A7B-5BB1-2E3D-E2FA4C91BC4D}"/>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7" name="Freeform 42">
                <a:extLst>
                  <a:ext uri="{FF2B5EF4-FFF2-40B4-BE49-F238E27FC236}">
                    <a16:creationId xmlns:a16="http://schemas.microsoft.com/office/drawing/2014/main" id="{D182CF62-B608-15CC-6D7B-31420AF9EC4C}"/>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42" name="直線コネクタ 41">
              <a:extLst>
                <a:ext uri="{FF2B5EF4-FFF2-40B4-BE49-F238E27FC236}">
                  <a16:creationId xmlns:a16="http://schemas.microsoft.com/office/drawing/2014/main" id="{FD7EBF8B-5EF3-F172-D179-27E6355509AD}"/>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9F6024F1-4D05-1891-FC8A-B7EA3FFB926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49" name="正方形/長方形 48">
            <a:extLst>
              <a:ext uri="{FF2B5EF4-FFF2-40B4-BE49-F238E27FC236}">
                <a16:creationId xmlns:a16="http://schemas.microsoft.com/office/drawing/2014/main" id="{89C9F02A-C8EF-A1A2-C04C-913028BD21F7}"/>
              </a:ext>
            </a:extLst>
          </p:cNvPr>
          <p:cNvSpPr/>
          <p:nvPr/>
        </p:nvSpPr>
        <p:spPr bwMode="auto">
          <a:xfrm rot="5400000" flipH="1">
            <a:off x="5330452" y="2303986"/>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0" name="直線コネクタ 49">
            <a:extLst>
              <a:ext uri="{FF2B5EF4-FFF2-40B4-BE49-F238E27FC236}">
                <a16:creationId xmlns:a16="http://schemas.microsoft.com/office/drawing/2014/main" id="{6FBD7FF1-D8BA-F6EB-C6B9-B1BD608D4793}"/>
              </a:ext>
            </a:extLst>
          </p:cNvPr>
          <p:cNvCxnSpPr>
            <a:cxnSpLocks/>
          </p:cNvCxnSpPr>
          <p:nvPr/>
        </p:nvCxnSpPr>
        <p:spPr bwMode="auto">
          <a:xfrm flipH="1">
            <a:off x="5465456" y="2168985"/>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51" name="直線コネクタ 50">
            <a:extLst>
              <a:ext uri="{FF2B5EF4-FFF2-40B4-BE49-F238E27FC236}">
                <a16:creationId xmlns:a16="http://schemas.microsoft.com/office/drawing/2014/main" id="{A6CD5A5A-F97F-6352-0D29-7D71D2D4BBA4}"/>
              </a:ext>
            </a:extLst>
          </p:cNvPr>
          <p:cNvCxnSpPr>
            <a:cxnSpLocks/>
          </p:cNvCxnSpPr>
          <p:nvPr/>
        </p:nvCxnSpPr>
        <p:spPr bwMode="auto">
          <a:xfrm flipH="1">
            <a:off x="5285455" y="2168985"/>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52" name="正方形/長方形 51">
            <a:extLst>
              <a:ext uri="{FF2B5EF4-FFF2-40B4-BE49-F238E27FC236}">
                <a16:creationId xmlns:a16="http://schemas.microsoft.com/office/drawing/2014/main" id="{A13FBC97-65EF-E0B7-B920-63D1368245BA}"/>
              </a:ext>
            </a:extLst>
          </p:cNvPr>
          <p:cNvSpPr/>
          <p:nvPr/>
        </p:nvSpPr>
        <p:spPr bwMode="auto">
          <a:xfrm>
            <a:off x="5735459" y="90897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en-US" altLang="ja-JP" sz="1600" dirty="0">
                <a:solidFill>
                  <a:schemeClr val="tx1">
                    <a:lumMod val="75000"/>
                    <a:lumOff val="25000"/>
                  </a:schemeClr>
                </a:solidFill>
              </a:rPr>
              <a:t>P</a:t>
            </a:r>
            <a:r>
              <a:rPr lang="ja-JP" altLang="en-US" sz="1600" dirty="0">
                <a:solidFill>
                  <a:schemeClr val="tx1">
                    <a:lumMod val="75000"/>
                    <a:lumOff val="25000"/>
                  </a:schemeClr>
                </a:solidFill>
              </a:rPr>
              <a:t>タンク</a:t>
            </a:r>
            <a:r>
              <a:rPr lang="en-US" altLang="ja-JP" sz="1600" dirty="0">
                <a:solidFill>
                  <a:schemeClr val="tx1">
                    <a:lumMod val="75000"/>
                    <a:lumOff val="25000"/>
                  </a:schemeClr>
                </a:solidFill>
              </a:rPr>
              <a:t> </a:t>
            </a:r>
            <a:r>
              <a:rPr lang="ja-JP" altLang="en-US" sz="1600" dirty="0">
                <a:solidFill>
                  <a:schemeClr val="tx1">
                    <a:lumMod val="75000"/>
                    <a:lumOff val="25000"/>
                  </a:schemeClr>
                </a:solidFill>
              </a:rPr>
              <a:t>に溜まると閉まる →</a:t>
            </a:r>
            <a:r>
              <a:rPr lang="en-US" altLang="ja-JP" sz="1600" dirty="0">
                <a:solidFill>
                  <a:schemeClr val="tx1">
                    <a:lumMod val="75000"/>
                    <a:lumOff val="25000"/>
                  </a:schemeClr>
                </a:solidFill>
              </a:rPr>
              <a:t> </a:t>
            </a:r>
            <a:r>
              <a:rPr lang="ja-JP" altLang="en-US" sz="1600" dirty="0">
                <a:solidFill>
                  <a:schemeClr val="tx1">
                    <a:lumMod val="75000"/>
                    <a:lumOff val="25000"/>
                  </a:schemeClr>
                </a:solidFill>
              </a:rPr>
              <a:t>出力への給水が断たれる</a:t>
            </a:r>
          </a:p>
        </p:txBody>
      </p:sp>
      <p:sp>
        <p:nvSpPr>
          <p:cNvPr id="53" name="Rectangle 93">
            <a:extLst>
              <a:ext uri="{FF2B5EF4-FFF2-40B4-BE49-F238E27FC236}">
                <a16:creationId xmlns:a16="http://schemas.microsoft.com/office/drawing/2014/main" id="{A1D33B49-0E0A-5405-D883-E378553FCF9A}"/>
              </a:ext>
            </a:extLst>
          </p:cNvPr>
          <p:cNvSpPr>
            <a:spLocks noChangeArrowheads="1"/>
          </p:cNvSpPr>
          <p:nvPr/>
        </p:nvSpPr>
        <p:spPr bwMode="auto">
          <a:xfrm>
            <a:off x="5195990" y="908972"/>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4" name="Rectangle 93">
            <a:extLst>
              <a:ext uri="{FF2B5EF4-FFF2-40B4-BE49-F238E27FC236}">
                <a16:creationId xmlns:a16="http://schemas.microsoft.com/office/drawing/2014/main" id="{0C82557C-7F05-18D3-6483-D6947F3A2B23}"/>
              </a:ext>
            </a:extLst>
          </p:cNvPr>
          <p:cNvSpPr>
            <a:spLocks noChangeArrowheads="1"/>
          </p:cNvSpPr>
          <p:nvPr/>
        </p:nvSpPr>
        <p:spPr bwMode="auto">
          <a:xfrm>
            <a:off x="4835449"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55" name="Rectangle 93">
            <a:extLst>
              <a:ext uri="{FF2B5EF4-FFF2-40B4-BE49-F238E27FC236}">
                <a16:creationId xmlns:a16="http://schemas.microsoft.com/office/drawing/2014/main" id="{97A6E237-906F-47C5-EEB7-3E7E0782AE01}"/>
              </a:ext>
            </a:extLst>
          </p:cNvPr>
          <p:cNvSpPr>
            <a:spLocks noChangeArrowheads="1"/>
          </p:cNvSpPr>
          <p:nvPr/>
        </p:nvSpPr>
        <p:spPr bwMode="auto">
          <a:xfrm>
            <a:off x="5555457"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56" name="直線コネクタ 55">
            <a:extLst>
              <a:ext uri="{FF2B5EF4-FFF2-40B4-BE49-F238E27FC236}">
                <a16:creationId xmlns:a16="http://schemas.microsoft.com/office/drawing/2014/main" id="{23E0CC98-122A-A055-3218-0415458954E0}"/>
              </a:ext>
            </a:extLst>
          </p:cNvPr>
          <p:cNvCxnSpPr>
            <a:cxnSpLocks/>
          </p:cNvCxnSpPr>
          <p:nvPr/>
        </p:nvCxnSpPr>
        <p:spPr bwMode="auto">
          <a:xfrm>
            <a:off x="3395433" y="1178975"/>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57" name="直線コネクタ 56">
            <a:extLst>
              <a:ext uri="{FF2B5EF4-FFF2-40B4-BE49-F238E27FC236}">
                <a16:creationId xmlns:a16="http://schemas.microsoft.com/office/drawing/2014/main" id="{982814F1-9D3A-BAA5-7F3B-CD32D28714E6}"/>
              </a:ext>
            </a:extLst>
          </p:cNvPr>
          <p:cNvCxnSpPr>
            <a:cxnSpLocks/>
          </p:cNvCxnSpPr>
          <p:nvPr/>
        </p:nvCxnSpPr>
        <p:spPr bwMode="auto">
          <a:xfrm>
            <a:off x="3575435" y="1358977"/>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59" name="直線コネクタ 58">
            <a:extLst>
              <a:ext uri="{FF2B5EF4-FFF2-40B4-BE49-F238E27FC236}">
                <a16:creationId xmlns:a16="http://schemas.microsoft.com/office/drawing/2014/main" id="{425431E0-1C84-EE3C-BE1B-06C01DB66602}"/>
              </a:ext>
            </a:extLst>
          </p:cNvPr>
          <p:cNvCxnSpPr>
            <a:cxnSpLocks/>
          </p:cNvCxnSpPr>
          <p:nvPr/>
        </p:nvCxnSpPr>
        <p:spPr bwMode="auto">
          <a:xfrm flipV="1">
            <a:off x="5105452" y="1358977"/>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A7D99AB1-3420-212E-A301-70EB9BBDA895}"/>
              </a:ext>
            </a:extLst>
          </p:cNvPr>
          <p:cNvCxnSpPr>
            <a:cxnSpLocks/>
          </p:cNvCxnSpPr>
          <p:nvPr/>
        </p:nvCxnSpPr>
        <p:spPr bwMode="auto">
          <a:xfrm>
            <a:off x="5105454" y="4329010"/>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71" name="正方形/長方形 70">
            <a:extLst>
              <a:ext uri="{FF2B5EF4-FFF2-40B4-BE49-F238E27FC236}">
                <a16:creationId xmlns:a16="http://schemas.microsoft.com/office/drawing/2014/main" id="{204CC98B-1457-ED2D-74B1-E4FF5A8A7ED0}"/>
              </a:ext>
            </a:extLst>
          </p:cNvPr>
          <p:cNvSpPr/>
          <p:nvPr/>
        </p:nvSpPr>
        <p:spPr bwMode="auto">
          <a:xfrm>
            <a:off x="3575435" y="4149008"/>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72" name="直線コネクタ 71">
            <a:extLst>
              <a:ext uri="{FF2B5EF4-FFF2-40B4-BE49-F238E27FC236}">
                <a16:creationId xmlns:a16="http://schemas.microsoft.com/office/drawing/2014/main" id="{2E68B43D-79DB-CEE5-868A-F9BF7D942A69}"/>
              </a:ext>
            </a:extLst>
          </p:cNvPr>
          <p:cNvCxnSpPr>
            <a:cxnSpLocks/>
          </p:cNvCxnSpPr>
          <p:nvPr/>
        </p:nvCxnSpPr>
        <p:spPr bwMode="auto">
          <a:xfrm>
            <a:off x="3575435" y="4149008"/>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3D69834B-9540-EA02-A7C6-D9FB23052322}"/>
              </a:ext>
            </a:extLst>
          </p:cNvPr>
          <p:cNvCxnSpPr>
            <a:cxnSpLocks/>
          </p:cNvCxnSpPr>
          <p:nvPr/>
        </p:nvCxnSpPr>
        <p:spPr bwMode="auto">
          <a:xfrm>
            <a:off x="3395433" y="4329010"/>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E680117D-D4BB-51E2-3844-3CCEFAD160B8}"/>
              </a:ext>
            </a:extLst>
          </p:cNvPr>
          <p:cNvCxnSpPr>
            <a:cxnSpLocks/>
          </p:cNvCxnSpPr>
          <p:nvPr/>
        </p:nvCxnSpPr>
        <p:spPr bwMode="auto">
          <a:xfrm>
            <a:off x="6995473" y="3158997"/>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AC0C644D-75DB-9E92-EF30-641AADFFD27B}"/>
              </a:ext>
            </a:extLst>
          </p:cNvPr>
          <p:cNvCxnSpPr>
            <a:cxnSpLocks/>
          </p:cNvCxnSpPr>
          <p:nvPr/>
        </p:nvCxnSpPr>
        <p:spPr bwMode="auto">
          <a:xfrm>
            <a:off x="6995473" y="3338999"/>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1101B623-6579-0836-B0B1-4AD579CDD22A}"/>
              </a:ext>
            </a:extLst>
          </p:cNvPr>
          <p:cNvCxnSpPr>
            <a:cxnSpLocks/>
          </p:cNvCxnSpPr>
          <p:nvPr/>
        </p:nvCxnSpPr>
        <p:spPr bwMode="auto">
          <a:xfrm>
            <a:off x="6815471" y="1988984"/>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26210A10-53C7-DB4C-689D-6137EE5510D5}"/>
              </a:ext>
            </a:extLst>
          </p:cNvPr>
          <p:cNvCxnSpPr>
            <a:cxnSpLocks/>
          </p:cNvCxnSpPr>
          <p:nvPr/>
        </p:nvCxnSpPr>
        <p:spPr bwMode="auto">
          <a:xfrm>
            <a:off x="6996010" y="3338999"/>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7C470485-C42B-82D1-1AA7-5940BF978DED}"/>
              </a:ext>
            </a:extLst>
          </p:cNvPr>
          <p:cNvCxnSpPr>
            <a:cxnSpLocks/>
          </p:cNvCxnSpPr>
          <p:nvPr/>
        </p:nvCxnSpPr>
        <p:spPr bwMode="auto">
          <a:xfrm>
            <a:off x="3575435" y="1358977"/>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CED6976B-13B1-066E-DF3A-20029DA5BA13}"/>
              </a:ext>
            </a:extLst>
          </p:cNvPr>
          <p:cNvCxnSpPr>
            <a:cxnSpLocks/>
          </p:cNvCxnSpPr>
          <p:nvPr/>
        </p:nvCxnSpPr>
        <p:spPr bwMode="auto">
          <a:xfrm>
            <a:off x="3395433" y="1178975"/>
            <a:ext cx="0" cy="1620018"/>
          </a:xfrm>
          <a:prstGeom prst="line">
            <a:avLst/>
          </a:prstGeom>
          <a:noFill/>
          <a:ln w="19050"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2DD57243-B35A-393A-64A4-63154A115AED}"/>
              </a:ext>
            </a:extLst>
          </p:cNvPr>
          <p:cNvCxnSpPr>
            <a:cxnSpLocks/>
          </p:cNvCxnSpPr>
          <p:nvPr/>
        </p:nvCxnSpPr>
        <p:spPr bwMode="auto">
          <a:xfrm>
            <a:off x="3395433" y="2978995"/>
            <a:ext cx="0" cy="1350015"/>
          </a:xfrm>
          <a:prstGeom prst="line">
            <a:avLst/>
          </a:prstGeom>
          <a:noFill/>
          <a:ln w="19050" cap="flat" cmpd="sng" algn="ctr">
            <a:solidFill>
              <a:schemeClr val="tx1"/>
            </a:solidFill>
            <a:prstDash val="solid"/>
            <a:round/>
            <a:headEnd type="none" w="med" len="med"/>
            <a:tailEnd type="none" w="med" len="med"/>
          </a:ln>
          <a:effectLst/>
        </p:spPr>
      </p:cxnSp>
      <p:sp>
        <p:nvSpPr>
          <p:cNvPr id="94" name="正方形/長方形 93">
            <a:extLst>
              <a:ext uri="{FF2B5EF4-FFF2-40B4-BE49-F238E27FC236}">
                <a16:creationId xmlns:a16="http://schemas.microsoft.com/office/drawing/2014/main" id="{7DF2351E-1754-2E16-0918-D906EE7FA2EA}"/>
              </a:ext>
            </a:extLst>
          </p:cNvPr>
          <p:cNvSpPr/>
          <p:nvPr/>
        </p:nvSpPr>
        <p:spPr bwMode="auto">
          <a:xfrm>
            <a:off x="1865416" y="2798993"/>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5" name="直線コネクタ 94">
            <a:extLst>
              <a:ext uri="{FF2B5EF4-FFF2-40B4-BE49-F238E27FC236}">
                <a16:creationId xmlns:a16="http://schemas.microsoft.com/office/drawing/2014/main" id="{7F8EC8BC-79F8-EA8A-3C14-0011C6427DC2}"/>
              </a:ext>
            </a:extLst>
          </p:cNvPr>
          <p:cNvCxnSpPr>
            <a:cxnSpLocks/>
          </p:cNvCxnSpPr>
          <p:nvPr/>
        </p:nvCxnSpPr>
        <p:spPr bwMode="auto">
          <a:xfrm>
            <a:off x="1865416" y="279899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96" name="直線コネクタ 95">
            <a:extLst>
              <a:ext uri="{FF2B5EF4-FFF2-40B4-BE49-F238E27FC236}">
                <a16:creationId xmlns:a16="http://schemas.microsoft.com/office/drawing/2014/main" id="{95ECA90E-09F7-B274-1519-52292E9C54E9}"/>
              </a:ext>
            </a:extLst>
          </p:cNvPr>
          <p:cNvCxnSpPr>
            <a:cxnSpLocks/>
          </p:cNvCxnSpPr>
          <p:nvPr/>
        </p:nvCxnSpPr>
        <p:spPr bwMode="auto">
          <a:xfrm>
            <a:off x="1865416" y="297899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30A39633-03E6-5E7F-9007-43C46784B409}"/>
              </a:ext>
            </a:extLst>
          </p:cNvPr>
          <p:cNvCxnSpPr>
            <a:cxnSpLocks/>
          </p:cNvCxnSpPr>
          <p:nvPr/>
        </p:nvCxnSpPr>
        <p:spPr bwMode="auto">
          <a:xfrm>
            <a:off x="6995473" y="1808982"/>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15" name="直線矢印コネクタ 114">
            <a:extLst>
              <a:ext uri="{FF2B5EF4-FFF2-40B4-BE49-F238E27FC236}">
                <a16:creationId xmlns:a16="http://schemas.microsoft.com/office/drawing/2014/main" id="{1B54ABA9-06F8-2239-CAC1-4C7506F101A1}"/>
              </a:ext>
            </a:extLst>
          </p:cNvPr>
          <p:cNvCxnSpPr>
            <a:cxnSpLocks/>
          </p:cNvCxnSpPr>
          <p:nvPr/>
        </p:nvCxnSpPr>
        <p:spPr bwMode="auto">
          <a:xfrm flipH="1">
            <a:off x="4655447" y="4869016"/>
            <a:ext cx="2070023" cy="0"/>
          </a:xfrm>
          <a:prstGeom prst="straightConnector1">
            <a:avLst/>
          </a:prstGeom>
          <a:noFill/>
          <a:ln w="9525" cap="flat" cmpd="sng" algn="ctr">
            <a:solidFill>
              <a:schemeClr val="tx1"/>
            </a:solidFill>
            <a:prstDash val="solid"/>
            <a:round/>
            <a:headEnd type="none" w="med" len="med"/>
            <a:tailEnd type="triangle"/>
          </a:ln>
          <a:effectLst/>
        </p:spPr>
      </p:cxnSp>
      <p:sp>
        <p:nvSpPr>
          <p:cNvPr id="129" name="Rectangle 93">
            <a:extLst>
              <a:ext uri="{FF2B5EF4-FFF2-40B4-BE49-F238E27FC236}">
                <a16:creationId xmlns:a16="http://schemas.microsoft.com/office/drawing/2014/main" id="{AAC2B2B0-A35B-EC6E-C09F-3AF024D2C5AE}"/>
              </a:ext>
            </a:extLst>
          </p:cNvPr>
          <p:cNvSpPr>
            <a:spLocks noChangeArrowheads="1"/>
          </p:cNvSpPr>
          <p:nvPr/>
        </p:nvSpPr>
        <p:spPr bwMode="auto">
          <a:xfrm>
            <a:off x="4835449" y="441901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30" name="正方形/長方形 129">
            <a:extLst>
              <a:ext uri="{FF2B5EF4-FFF2-40B4-BE49-F238E27FC236}">
                <a16:creationId xmlns:a16="http://schemas.microsoft.com/office/drawing/2014/main" id="{15A3387C-E38C-1590-ABCC-6E1E9F555173}"/>
              </a:ext>
            </a:extLst>
          </p:cNvPr>
          <p:cNvSpPr/>
          <p:nvPr/>
        </p:nvSpPr>
        <p:spPr bwMode="auto">
          <a:xfrm>
            <a:off x="3845438" y="153897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31" name="正方形/長方形 130">
            <a:extLst>
              <a:ext uri="{FF2B5EF4-FFF2-40B4-BE49-F238E27FC236}">
                <a16:creationId xmlns:a16="http://schemas.microsoft.com/office/drawing/2014/main" id="{5BC8114E-7CC1-1E31-27E5-F349BF74BB70}"/>
              </a:ext>
            </a:extLst>
          </p:cNvPr>
          <p:cNvSpPr/>
          <p:nvPr/>
        </p:nvSpPr>
        <p:spPr bwMode="auto">
          <a:xfrm>
            <a:off x="3845438" y="450901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132" name="正方形/長方形 131">
            <a:extLst>
              <a:ext uri="{FF2B5EF4-FFF2-40B4-BE49-F238E27FC236}">
                <a16:creationId xmlns:a16="http://schemas.microsoft.com/office/drawing/2014/main" id="{6CD406D2-14D5-AFD4-A2F2-41A61388AE9A}"/>
              </a:ext>
            </a:extLst>
          </p:cNvPr>
          <p:cNvSpPr/>
          <p:nvPr/>
        </p:nvSpPr>
        <p:spPr bwMode="auto">
          <a:xfrm>
            <a:off x="1775415" y="225898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a:t>
            </a:r>
          </a:p>
        </p:txBody>
      </p:sp>
      <p:sp>
        <p:nvSpPr>
          <p:cNvPr id="133" name="正方形/長方形 132">
            <a:extLst>
              <a:ext uri="{FF2B5EF4-FFF2-40B4-BE49-F238E27FC236}">
                <a16:creationId xmlns:a16="http://schemas.microsoft.com/office/drawing/2014/main" id="{83BEF989-32BA-0D17-0218-8AD8D1D2FF0C}"/>
              </a:ext>
            </a:extLst>
          </p:cNvPr>
          <p:cNvSpPr/>
          <p:nvPr/>
        </p:nvSpPr>
        <p:spPr bwMode="auto">
          <a:xfrm>
            <a:off x="7985484" y="261899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出力</a:t>
            </a:r>
          </a:p>
        </p:txBody>
      </p:sp>
      <p:sp>
        <p:nvSpPr>
          <p:cNvPr id="22" name="正方形/長方形 21">
            <a:extLst>
              <a:ext uri="{FF2B5EF4-FFF2-40B4-BE49-F238E27FC236}">
                <a16:creationId xmlns:a16="http://schemas.microsoft.com/office/drawing/2014/main" id="{CA97F46B-0BD8-2830-46E1-71D796D8100D}"/>
              </a:ext>
            </a:extLst>
          </p:cNvPr>
          <p:cNvSpPr/>
          <p:nvPr/>
        </p:nvSpPr>
        <p:spPr bwMode="auto">
          <a:xfrm>
            <a:off x="1775952" y="297899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水がある</a:t>
            </a:r>
            <a:r>
              <a:rPr lang="en-US" altLang="ja-JP" sz="1600" dirty="0">
                <a:solidFill>
                  <a:schemeClr val="tx1">
                    <a:lumMod val="75000"/>
                    <a:lumOff val="25000"/>
                  </a:schemeClr>
                </a:solidFill>
              </a:rPr>
              <a:t>=1</a:t>
            </a:r>
            <a:endParaRPr lang="ja-JP" altLang="en-US" sz="1600" dirty="0">
              <a:solidFill>
                <a:schemeClr val="tx1">
                  <a:lumMod val="75000"/>
                  <a:lumOff val="25000"/>
                </a:schemeClr>
              </a:solidFill>
            </a:endParaRPr>
          </a:p>
        </p:txBody>
      </p:sp>
      <p:sp>
        <p:nvSpPr>
          <p:cNvPr id="27" name="正方形/長方形 26">
            <a:extLst>
              <a:ext uri="{FF2B5EF4-FFF2-40B4-BE49-F238E27FC236}">
                <a16:creationId xmlns:a16="http://schemas.microsoft.com/office/drawing/2014/main" id="{01B3B152-CC0A-E402-A534-DEC960F0E7FD}"/>
              </a:ext>
            </a:extLst>
          </p:cNvPr>
          <p:cNvSpPr/>
          <p:nvPr/>
        </p:nvSpPr>
        <p:spPr bwMode="auto">
          <a:xfrm>
            <a:off x="7806019" y="333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水がない</a:t>
            </a:r>
            <a:r>
              <a:rPr lang="en-US" altLang="ja-JP" sz="1600" dirty="0">
                <a:solidFill>
                  <a:schemeClr val="tx1">
                    <a:lumMod val="75000"/>
                    <a:lumOff val="25000"/>
                  </a:schemeClr>
                </a:solidFill>
              </a:rPr>
              <a:t>=0</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3359268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正方形/長方形 156">
            <a:extLst>
              <a:ext uri="{FF2B5EF4-FFF2-40B4-BE49-F238E27FC236}">
                <a16:creationId xmlns:a16="http://schemas.microsoft.com/office/drawing/2014/main" id="{76A89134-DD3A-4D79-4436-97726B8D7771}"/>
              </a:ext>
            </a:extLst>
          </p:cNvPr>
          <p:cNvSpPr/>
          <p:nvPr/>
        </p:nvSpPr>
        <p:spPr bwMode="auto">
          <a:xfrm>
            <a:off x="7176012" y="4509012"/>
            <a:ext cx="540006"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56" name="正方形/長方形 155">
            <a:extLst>
              <a:ext uri="{FF2B5EF4-FFF2-40B4-BE49-F238E27FC236}">
                <a16:creationId xmlns:a16="http://schemas.microsoft.com/office/drawing/2014/main" id="{C993C619-F913-C8E7-D258-69AF50B8DBD6}"/>
              </a:ext>
            </a:extLst>
          </p:cNvPr>
          <p:cNvSpPr/>
          <p:nvPr/>
        </p:nvSpPr>
        <p:spPr bwMode="auto">
          <a:xfrm>
            <a:off x="7176012" y="1538980"/>
            <a:ext cx="540006"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1" name="正方形/長方形 90">
            <a:extLst>
              <a:ext uri="{FF2B5EF4-FFF2-40B4-BE49-F238E27FC236}">
                <a16:creationId xmlns:a16="http://schemas.microsoft.com/office/drawing/2014/main" id="{FE103B1E-71A5-BEF0-A86C-6DF0F6D42E4A}"/>
              </a:ext>
            </a:extLst>
          </p:cNvPr>
          <p:cNvSpPr/>
          <p:nvPr/>
        </p:nvSpPr>
        <p:spPr bwMode="auto">
          <a:xfrm>
            <a:off x="3395971" y="1538978"/>
            <a:ext cx="180002" cy="315003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1" name="正方形/長方形 60">
            <a:extLst>
              <a:ext uri="{FF2B5EF4-FFF2-40B4-BE49-F238E27FC236}">
                <a16:creationId xmlns:a16="http://schemas.microsoft.com/office/drawing/2014/main" id="{189F94FB-CD47-58D8-508C-7E12F06E82B8}"/>
              </a:ext>
            </a:extLst>
          </p:cNvPr>
          <p:cNvSpPr/>
          <p:nvPr/>
        </p:nvSpPr>
        <p:spPr bwMode="auto">
          <a:xfrm>
            <a:off x="3575972" y="1538979"/>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4B597429-ED9C-17EA-8F06-8F7072BC05A7}"/>
              </a:ext>
            </a:extLst>
          </p:cNvPr>
          <p:cNvSpPr>
            <a:spLocks noGrp="1"/>
          </p:cNvSpPr>
          <p:nvPr>
            <p:ph type="title"/>
          </p:nvPr>
        </p:nvSpPr>
        <p:spPr>
          <a:xfrm>
            <a:off x="785941" y="0"/>
            <a:ext cx="10776052" cy="908972"/>
          </a:xfrm>
        </p:spPr>
        <p:txBody>
          <a:bodyPr/>
          <a:lstStyle/>
          <a:p>
            <a:r>
              <a:rPr kumimoji="1" lang="ja-JP" altLang="en-US" dirty="0"/>
              <a:t>上側を並列繋ぎ，下側を直列繋ぎにすると </a:t>
            </a:r>
            <a:r>
              <a:rPr kumimoji="1" lang="en-US" altLang="ja-JP" dirty="0"/>
              <a:t>NAND </a:t>
            </a:r>
            <a:r>
              <a:rPr kumimoji="1" lang="ja-JP" altLang="en-US" dirty="0"/>
              <a:t>になる</a:t>
            </a:r>
            <a:endParaRPr kumimoji="1" lang="en-US" dirty="0"/>
          </a:p>
        </p:txBody>
      </p:sp>
      <p:sp>
        <p:nvSpPr>
          <p:cNvPr id="4" name="正方形/長方形 3">
            <a:extLst>
              <a:ext uri="{FF2B5EF4-FFF2-40B4-BE49-F238E27FC236}">
                <a16:creationId xmlns:a16="http://schemas.microsoft.com/office/drawing/2014/main" id="{F544FA4C-00BA-214A-5907-8ED7A8B470D8}"/>
              </a:ext>
            </a:extLst>
          </p:cNvPr>
          <p:cNvSpPr/>
          <p:nvPr/>
        </p:nvSpPr>
        <p:spPr bwMode="auto">
          <a:xfrm>
            <a:off x="5105991" y="4419011"/>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CA8DD28-BDEA-4217-483B-547B8A4F03E1}"/>
              </a:ext>
            </a:extLst>
          </p:cNvPr>
          <p:cNvCxnSpPr>
            <a:cxnSpLocks/>
          </p:cNvCxnSpPr>
          <p:nvPr/>
        </p:nvCxnSpPr>
        <p:spPr bwMode="auto">
          <a:xfrm>
            <a:off x="5105991" y="4779016"/>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9FF45AE4-8EF4-A14D-6340-03FCA5EDEA87}"/>
              </a:ext>
            </a:extLst>
          </p:cNvPr>
          <p:cNvCxnSpPr>
            <a:cxnSpLocks/>
          </p:cNvCxnSpPr>
          <p:nvPr/>
        </p:nvCxnSpPr>
        <p:spPr bwMode="auto">
          <a:xfrm>
            <a:off x="5105991" y="4329010"/>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0E1209BB-7D84-34D0-606D-4BE912DA4A26}"/>
              </a:ext>
            </a:extLst>
          </p:cNvPr>
          <p:cNvCxnSpPr>
            <a:cxnSpLocks/>
          </p:cNvCxnSpPr>
          <p:nvPr/>
        </p:nvCxnSpPr>
        <p:spPr bwMode="auto">
          <a:xfrm>
            <a:off x="5645997" y="4329010"/>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8" name="直線コネクタ 7">
            <a:extLst>
              <a:ext uri="{FF2B5EF4-FFF2-40B4-BE49-F238E27FC236}">
                <a16:creationId xmlns:a16="http://schemas.microsoft.com/office/drawing/2014/main" id="{9110A407-7179-A860-E9DD-0F4D96E9528D}"/>
              </a:ext>
            </a:extLst>
          </p:cNvPr>
          <p:cNvCxnSpPr>
            <a:cxnSpLocks/>
          </p:cNvCxnSpPr>
          <p:nvPr/>
        </p:nvCxnSpPr>
        <p:spPr bwMode="auto">
          <a:xfrm flipV="1">
            <a:off x="5375992" y="4779016"/>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9" name="正方形/長方形 8">
            <a:extLst>
              <a:ext uri="{FF2B5EF4-FFF2-40B4-BE49-F238E27FC236}">
                <a16:creationId xmlns:a16="http://schemas.microsoft.com/office/drawing/2014/main" id="{D0C4D5BD-FC80-624E-F378-A4EA5C36A7BB}"/>
              </a:ext>
            </a:extLst>
          </p:cNvPr>
          <p:cNvSpPr/>
          <p:nvPr/>
        </p:nvSpPr>
        <p:spPr bwMode="auto">
          <a:xfrm rot="5400000">
            <a:off x="6861008" y="2933995"/>
            <a:ext cx="180002" cy="459005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 name="直線コネクタ 9">
            <a:extLst>
              <a:ext uri="{FF2B5EF4-FFF2-40B4-BE49-F238E27FC236}">
                <a16:creationId xmlns:a16="http://schemas.microsoft.com/office/drawing/2014/main" id="{21FB108E-B80A-7304-E181-A256084CEB5A}"/>
              </a:ext>
            </a:extLst>
          </p:cNvPr>
          <p:cNvCxnSpPr>
            <a:cxnSpLocks/>
          </p:cNvCxnSpPr>
          <p:nvPr/>
        </p:nvCxnSpPr>
        <p:spPr bwMode="auto">
          <a:xfrm>
            <a:off x="5465995" y="5139021"/>
            <a:ext cx="3600038"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EDAC7A46-7F1E-08E5-39B7-E9756DAAADF2}"/>
              </a:ext>
            </a:extLst>
          </p:cNvPr>
          <p:cNvCxnSpPr>
            <a:cxnSpLocks/>
          </p:cNvCxnSpPr>
          <p:nvPr/>
        </p:nvCxnSpPr>
        <p:spPr bwMode="auto">
          <a:xfrm>
            <a:off x="4655984" y="5319021"/>
            <a:ext cx="4590051" cy="0"/>
          </a:xfrm>
          <a:prstGeom prst="line">
            <a:avLst/>
          </a:prstGeom>
          <a:noFill/>
          <a:ln w="19050"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E4EEC248-333D-8B1D-3691-F49076842A5A}"/>
              </a:ext>
            </a:extLst>
          </p:cNvPr>
          <p:cNvCxnSpPr>
            <a:cxnSpLocks/>
          </p:cNvCxnSpPr>
          <p:nvPr/>
        </p:nvCxnSpPr>
        <p:spPr bwMode="auto">
          <a:xfrm>
            <a:off x="4655984" y="5139019"/>
            <a:ext cx="630007" cy="0"/>
          </a:xfrm>
          <a:prstGeom prst="line">
            <a:avLst/>
          </a:prstGeom>
          <a:noFill/>
          <a:ln w="19050" cap="flat" cmpd="sng" algn="ctr">
            <a:solidFill>
              <a:schemeClr val="tx1"/>
            </a:solidFill>
            <a:prstDash val="solid"/>
            <a:round/>
            <a:headEnd type="none" w="med" len="med"/>
            <a:tailEnd type="none" w="med" len="med"/>
          </a:ln>
          <a:effectLst/>
        </p:spPr>
      </p:cxnSp>
      <p:sp>
        <p:nvSpPr>
          <p:cNvPr id="13" name="正方形/長方形 12">
            <a:extLst>
              <a:ext uri="{FF2B5EF4-FFF2-40B4-BE49-F238E27FC236}">
                <a16:creationId xmlns:a16="http://schemas.microsoft.com/office/drawing/2014/main" id="{F1A07955-D96B-635D-E33D-F48ED8823A53}"/>
              </a:ext>
            </a:extLst>
          </p:cNvPr>
          <p:cNvSpPr/>
          <p:nvPr/>
        </p:nvSpPr>
        <p:spPr bwMode="auto">
          <a:xfrm rot="5400000">
            <a:off x="5285991" y="4959018"/>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4" name="グループ化 13">
            <a:extLst>
              <a:ext uri="{FF2B5EF4-FFF2-40B4-BE49-F238E27FC236}">
                <a16:creationId xmlns:a16="http://schemas.microsoft.com/office/drawing/2014/main" id="{1A1097E2-63CF-C02F-E881-EA114310949F}"/>
              </a:ext>
            </a:extLst>
          </p:cNvPr>
          <p:cNvGrpSpPr/>
          <p:nvPr/>
        </p:nvGrpSpPr>
        <p:grpSpPr>
          <a:xfrm>
            <a:off x="5285991" y="5769025"/>
            <a:ext cx="180003" cy="360004"/>
            <a:chOff x="3131985" y="5049018"/>
            <a:chExt cx="180002" cy="437056"/>
          </a:xfrm>
        </p:grpSpPr>
        <p:grpSp>
          <p:nvGrpSpPr>
            <p:cNvPr id="15" name="グループ化 14">
              <a:extLst>
                <a:ext uri="{FF2B5EF4-FFF2-40B4-BE49-F238E27FC236}">
                  <a16:creationId xmlns:a16="http://schemas.microsoft.com/office/drawing/2014/main" id="{6A766BE0-31F6-841D-510E-1AF93ED8CEE0}"/>
                </a:ext>
              </a:extLst>
            </p:cNvPr>
            <p:cNvGrpSpPr/>
            <p:nvPr/>
          </p:nvGrpSpPr>
          <p:grpSpPr>
            <a:xfrm>
              <a:off x="3131985" y="5139021"/>
              <a:ext cx="180002" cy="254126"/>
              <a:chOff x="3131984" y="5191944"/>
              <a:chExt cx="270003" cy="201854"/>
            </a:xfrm>
          </p:grpSpPr>
          <p:sp>
            <p:nvSpPr>
              <p:cNvPr id="18" name="Freeform 42">
                <a:extLst>
                  <a:ext uri="{FF2B5EF4-FFF2-40B4-BE49-F238E27FC236}">
                    <a16:creationId xmlns:a16="http://schemas.microsoft.com/office/drawing/2014/main" id="{BFE0788F-0661-7E75-AC7F-F1B8E0D2511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9" name="Freeform 42">
                <a:extLst>
                  <a:ext uri="{FF2B5EF4-FFF2-40B4-BE49-F238E27FC236}">
                    <a16:creationId xmlns:a16="http://schemas.microsoft.com/office/drawing/2014/main" id="{3C9E81BC-7D74-199B-137A-B65138B6CB6C}"/>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0" name="Freeform 42">
                <a:extLst>
                  <a:ext uri="{FF2B5EF4-FFF2-40B4-BE49-F238E27FC236}">
                    <a16:creationId xmlns:a16="http://schemas.microsoft.com/office/drawing/2014/main" id="{D02CC5F9-232B-B46F-BD1B-65BA6613F97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1" name="Freeform 42">
                <a:extLst>
                  <a:ext uri="{FF2B5EF4-FFF2-40B4-BE49-F238E27FC236}">
                    <a16:creationId xmlns:a16="http://schemas.microsoft.com/office/drawing/2014/main" id="{F3F5F700-4B5B-1871-D3E1-E317E5174B50}"/>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6" name="直線コネクタ 15">
              <a:extLst>
                <a:ext uri="{FF2B5EF4-FFF2-40B4-BE49-F238E27FC236}">
                  <a16:creationId xmlns:a16="http://schemas.microsoft.com/office/drawing/2014/main" id="{DEBE7EEE-D4A9-F677-302C-58D07918BE24}"/>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817B8ABC-2556-EF97-059A-25D77D0E1D92}"/>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3" name="正方形/長方形 22">
            <a:extLst>
              <a:ext uri="{FF2B5EF4-FFF2-40B4-BE49-F238E27FC236}">
                <a16:creationId xmlns:a16="http://schemas.microsoft.com/office/drawing/2014/main" id="{5E962D30-BC1A-9CCF-81BD-737F9889DFF7}"/>
              </a:ext>
            </a:extLst>
          </p:cNvPr>
          <p:cNvSpPr/>
          <p:nvPr/>
        </p:nvSpPr>
        <p:spPr bwMode="auto">
          <a:xfrm rot="5400000" flipH="1">
            <a:off x="5150987" y="5454021"/>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4" name="直線コネクタ 23">
            <a:extLst>
              <a:ext uri="{FF2B5EF4-FFF2-40B4-BE49-F238E27FC236}">
                <a16:creationId xmlns:a16="http://schemas.microsoft.com/office/drawing/2014/main" id="{E747155E-616C-B82A-A513-27FF90D45F3E}"/>
              </a:ext>
            </a:extLst>
          </p:cNvPr>
          <p:cNvCxnSpPr>
            <a:cxnSpLocks/>
          </p:cNvCxnSpPr>
          <p:nvPr/>
        </p:nvCxnSpPr>
        <p:spPr bwMode="auto">
          <a:xfrm flipH="1">
            <a:off x="5465991" y="5139018"/>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5" name="直線コネクタ 24">
            <a:extLst>
              <a:ext uri="{FF2B5EF4-FFF2-40B4-BE49-F238E27FC236}">
                <a16:creationId xmlns:a16="http://schemas.microsoft.com/office/drawing/2014/main" id="{61C53AEF-2019-4BE2-F329-438DC5FCD241}"/>
              </a:ext>
            </a:extLst>
          </p:cNvPr>
          <p:cNvCxnSpPr>
            <a:cxnSpLocks/>
          </p:cNvCxnSpPr>
          <p:nvPr/>
        </p:nvCxnSpPr>
        <p:spPr bwMode="auto">
          <a:xfrm flipH="1">
            <a:off x="5285990" y="5139018"/>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28" name="Rectangle 93">
            <a:extLst>
              <a:ext uri="{FF2B5EF4-FFF2-40B4-BE49-F238E27FC236}">
                <a16:creationId xmlns:a16="http://schemas.microsoft.com/office/drawing/2014/main" id="{A6E1F0A5-637C-4A83-49B3-2F6E01BE7BF4}"/>
              </a:ext>
            </a:extLst>
          </p:cNvPr>
          <p:cNvSpPr>
            <a:spLocks noChangeArrowheads="1"/>
          </p:cNvSpPr>
          <p:nvPr/>
        </p:nvSpPr>
        <p:spPr bwMode="auto">
          <a:xfrm>
            <a:off x="5195989" y="3969006"/>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9" name="Rectangle 93">
            <a:extLst>
              <a:ext uri="{FF2B5EF4-FFF2-40B4-BE49-F238E27FC236}">
                <a16:creationId xmlns:a16="http://schemas.microsoft.com/office/drawing/2014/main" id="{C7F9F294-CD79-ED69-3EA7-8D42202ED10D}"/>
              </a:ext>
            </a:extLst>
          </p:cNvPr>
          <p:cNvSpPr>
            <a:spLocks noChangeArrowheads="1"/>
          </p:cNvSpPr>
          <p:nvPr/>
        </p:nvSpPr>
        <p:spPr bwMode="auto">
          <a:xfrm>
            <a:off x="5555994" y="4779015"/>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30" name="正方形/長方形 29">
            <a:extLst>
              <a:ext uri="{FF2B5EF4-FFF2-40B4-BE49-F238E27FC236}">
                <a16:creationId xmlns:a16="http://schemas.microsoft.com/office/drawing/2014/main" id="{457735FA-B2AE-E136-2350-5AAAB8D6BFD8}"/>
              </a:ext>
            </a:extLst>
          </p:cNvPr>
          <p:cNvSpPr/>
          <p:nvPr/>
        </p:nvSpPr>
        <p:spPr bwMode="auto">
          <a:xfrm>
            <a:off x="5105991" y="1448978"/>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1" name="直線コネクタ 30">
            <a:extLst>
              <a:ext uri="{FF2B5EF4-FFF2-40B4-BE49-F238E27FC236}">
                <a16:creationId xmlns:a16="http://schemas.microsoft.com/office/drawing/2014/main" id="{EC1BAFBF-F348-E3F0-8DD7-0E191DF4A80A}"/>
              </a:ext>
            </a:extLst>
          </p:cNvPr>
          <p:cNvCxnSpPr>
            <a:cxnSpLocks/>
          </p:cNvCxnSpPr>
          <p:nvPr/>
        </p:nvCxnSpPr>
        <p:spPr bwMode="auto">
          <a:xfrm>
            <a:off x="5105991" y="1808983"/>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5F83FEB7-F168-4AA0-408B-C4EE65EB999B}"/>
              </a:ext>
            </a:extLst>
          </p:cNvPr>
          <p:cNvCxnSpPr>
            <a:cxnSpLocks/>
          </p:cNvCxnSpPr>
          <p:nvPr/>
        </p:nvCxnSpPr>
        <p:spPr bwMode="auto">
          <a:xfrm>
            <a:off x="5105991" y="1358977"/>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687F5C2C-BC4F-CC32-6655-CEB790EE9DFC}"/>
              </a:ext>
            </a:extLst>
          </p:cNvPr>
          <p:cNvCxnSpPr>
            <a:cxnSpLocks/>
          </p:cNvCxnSpPr>
          <p:nvPr/>
        </p:nvCxnSpPr>
        <p:spPr bwMode="auto">
          <a:xfrm>
            <a:off x="5645997" y="1358977"/>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848E4AC0-DD0A-986F-5ECA-87E203E09E6D}"/>
              </a:ext>
            </a:extLst>
          </p:cNvPr>
          <p:cNvCxnSpPr>
            <a:cxnSpLocks/>
          </p:cNvCxnSpPr>
          <p:nvPr/>
        </p:nvCxnSpPr>
        <p:spPr bwMode="auto">
          <a:xfrm flipV="1">
            <a:off x="5375992" y="1808983"/>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35" name="正方形/長方形 34">
            <a:extLst>
              <a:ext uri="{FF2B5EF4-FFF2-40B4-BE49-F238E27FC236}">
                <a16:creationId xmlns:a16="http://schemas.microsoft.com/office/drawing/2014/main" id="{8EE91B14-87A0-DFC8-D868-F03CE904D370}"/>
              </a:ext>
            </a:extLst>
          </p:cNvPr>
          <p:cNvSpPr/>
          <p:nvPr/>
        </p:nvSpPr>
        <p:spPr bwMode="auto">
          <a:xfrm rot="5400000">
            <a:off x="4880986" y="1943984"/>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6" name="直線コネクタ 35">
            <a:extLst>
              <a:ext uri="{FF2B5EF4-FFF2-40B4-BE49-F238E27FC236}">
                <a16:creationId xmlns:a16="http://schemas.microsoft.com/office/drawing/2014/main" id="{A53B8040-7D9A-D0C8-65EC-B3CC8DEE24A1}"/>
              </a:ext>
            </a:extLst>
          </p:cNvPr>
          <p:cNvCxnSpPr>
            <a:cxnSpLocks/>
          </p:cNvCxnSpPr>
          <p:nvPr/>
        </p:nvCxnSpPr>
        <p:spPr bwMode="auto">
          <a:xfrm>
            <a:off x="5465995" y="2168988"/>
            <a:ext cx="1170011" cy="0"/>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8B8EDD5A-60CD-5C11-370A-7E2BE8A9A936}"/>
              </a:ext>
            </a:extLst>
          </p:cNvPr>
          <p:cNvCxnSpPr>
            <a:cxnSpLocks/>
          </p:cNvCxnSpPr>
          <p:nvPr/>
        </p:nvCxnSpPr>
        <p:spPr bwMode="auto">
          <a:xfrm>
            <a:off x="4655984" y="2348988"/>
            <a:ext cx="1800020" cy="0"/>
          </a:xfrm>
          <a:prstGeom prst="line">
            <a:avLst/>
          </a:prstGeom>
          <a:noFill/>
          <a:ln w="19050"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B61B936A-6390-88E9-6BDB-4AE884744437}"/>
              </a:ext>
            </a:extLst>
          </p:cNvPr>
          <p:cNvCxnSpPr>
            <a:cxnSpLocks/>
          </p:cNvCxnSpPr>
          <p:nvPr/>
        </p:nvCxnSpPr>
        <p:spPr bwMode="auto">
          <a:xfrm>
            <a:off x="4655984" y="2168986"/>
            <a:ext cx="630007" cy="0"/>
          </a:xfrm>
          <a:prstGeom prst="line">
            <a:avLst/>
          </a:prstGeom>
          <a:noFill/>
          <a:ln w="19050" cap="flat" cmpd="sng" algn="ctr">
            <a:solidFill>
              <a:schemeClr val="tx1"/>
            </a:solidFill>
            <a:prstDash val="solid"/>
            <a:round/>
            <a:headEnd type="none" w="med" len="med"/>
            <a:tailEnd type="none" w="med" len="med"/>
          </a:ln>
          <a:effectLst/>
        </p:spPr>
      </p:cxnSp>
      <p:sp>
        <p:nvSpPr>
          <p:cNvPr id="39" name="正方形/長方形 38">
            <a:extLst>
              <a:ext uri="{FF2B5EF4-FFF2-40B4-BE49-F238E27FC236}">
                <a16:creationId xmlns:a16="http://schemas.microsoft.com/office/drawing/2014/main" id="{064BB3E3-F82A-7244-ED20-211E6F41C563}"/>
              </a:ext>
            </a:extLst>
          </p:cNvPr>
          <p:cNvSpPr/>
          <p:nvPr/>
        </p:nvSpPr>
        <p:spPr bwMode="auto">
          <a:xfrm rot="5400000">
            <a:off x="5105989" y="2168987"/>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40" name="グループ化 39">
            <a:extLst>
              <a:ext uri="{FF2B5EF4-FFF2-40B4-BE49-F238E27FC236}">
                <a16:creationId xmlns:a16="http://schemas.microsoft.com/office/drawing/2014/main" id="{77A1003C-14D8-BD30-6A1A-AABC2E217974}"/>
              </a:ext>
            </a:extLst>
          </p:cNvPr>
          <p:cNvGrpSpPr/>
          <p:nvPr/>
        </p:nvGrpSpPr>
        <p:grpSpPr>
          <a:xfrm>
            <a:off x="5285991" y="2798992"/>
            <a:ext cx="180003" cy="360004"/>
            <a:chOff x="3131985" y="5049018"/>
            <a:chExt cx="180002" cy="437056"/>
          </a:xfrm>
        </p:grpSpPr>
        <p:grpSp>
          <p:nvGrpSpPr>
            <p:cNvPr id="41" name="グループ化 40">
              <a:extLst>
                <a:ext uri="{FF2B5EF4-FFF2-40B4-BE49-F238E27FC236}">
                  <a16:creationId xmlns:a16="http://schemas.microsoft.com/office/drawing/2014/main" id="{319F5EB2-E682-AB62-560B-829DC858CA57}"/>
                </a:ext>
              </a:extLst>
            </p:cNvPr>
            <p:cNvGrpSpPr/>
            <p:nvPr/>
          </p:nvGrpSpPr>
          <p:grpSpPr>
            <a:xfrm>
              <a:off x="3131985" y="5139021"/>
              <a:ext cx="180002" cy="254126"/>
              <a:chOff x="3131984" y="5191944"/>
              <a:chExt cx="270003" cy="201854"/>
            </a:xfrm>
          </p:grpSpPr>
          <p:sp>
            <p:nvSpPr>
              <p:cNvPr id="44" name="Freeform 42">
                <a:extLst>
                  <a:ext uri="{FF2B5EF4-FFF2-40B4-BE49-F238E27FC236}">
                    <a16:creationId xmlns:a16="http://schemas.microsoft.com/office/drawing/2014/main" id="{5AE946A1-4C78-EFCE-DBC3-238A17F3143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5" name="Freeform 42">
                <a:extLst>
                  <a:ext uri="{FF2B5EF4-FFF2-40B4-BE49-F238E27FC236}">
                    <a16:creationId xmlns:a16="http://schemas.microsoft.com/office/drawing/2014/main" id="{99F3755D-6142-F321-7374-79753D2FF3AD}"/>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6" name="Freeform 42">
                <a:extLst>
                  <a:ext uri="{FF2B5EF4-FFF2-40B4-BE49-F238E27FC236}">
                    <a16:creationId xmlns:a16="http://schemas.microsoft.com/office/drawing/2014/main" id="{45F316AD-4A7B-5BB1-2E3D-E2FA4C91BC4D}"/>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7" name="Freeform 42">
                <a:extLst>
                  <a:ext uri="{FF2B5EF4-FFF2-40B4-BE49-F238E27FC236}">
                    <a16:creationId xmlns:a16="http://schemas.microsoft.com/office/drawing/2014/main" id="{D182CF62-B608-15CC-6D7B-31420AF9EC4C}"/>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42" name="直線コネクタ 41">
              <a:extLst>
                <a:ext uri="{FF2B5EF4-FFF2-40B4-BE49-F238E27FC236}">
                  <a16:creationId xmlns:a16="http://schemas.microsoft.com/office/drawing/2014/main" id="{FD7EBF8B-5EF3-F172-D179-27E6355509AD}"/>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9F6024F1-4D05-1891-FC8A-B7EA3FFB926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49" name="正方形/長方形 48">
            <a:extLst>
              <a:ext uri="{FF2B5EF4-FFF2-40B4-BE49-F238E27FC236}">
                <a16:creationId xmlns:a16="http://schemas.microsoft.com/office/drawing/2014/main" id="{89C9F02A-C8EF-A1A2-C04C-913028BD21F7}"/>
              </a:ext>
            </a:extLst>
          </p:cNvPr>
          <p:cNvSpPr/>
          <p:nvPr/>
        </p:nvSpPr>
        <p:spPr bwMode="auto">
          <a:xfrm rot="5400000" flipH="1">
            <a:off x="5330989" y="2663990"/>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0" name="直線コネクタ 49">
            <a:extLst>
              <a:ext uri="{FF2B5EF4-FFF2-40B4-BE49-F238E27FC236}">
                <a16:creationId xmlns:a16="http://schemas.microsoft.com/office/drawing/2014/main" id="{6FBD7FF1-D8BA-F6EB-C6B9-B1BD608D4793}"/>
              </a:ext>
            </a:extLst>
          </p:cNvPr>
          <p:cNvCxnSpPr>
            <a:cxnSpLocks/>
          </p:cNvCxnSpPr>
          <p:nvPr/>
        </p:nvCxnSpPr>
        <p:spPr bwMode="auto">
          <a:xfrm flipH="1">
            <a:off x="5465993" y="2528989"/>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51" name="直線コネクタ 50">
            <a:extLst>
              <a:ext uri="{FF2B5EF4-FFF2-40B4-BE49-F238E27FC236}">
                <a16:creationId xmlns:a16="http://schemas.microsoft.com/office/drawing/2014/main" id="{A6CD5A5A-F97F-6352-0D29-7D71D2D4BBA4}"/>
              </a:ext>
            </a:extLst>
          </p:cNvPr>
          <p:cNvCxnSpPr>
            <a:cxnSpLocks/>
          </p:cNvCxnSpPr>
          <p:nvPr/>
        </p:nvCxnSpPr>
        <p:spPr bwMode="auto">
          <a:xfrm flipH="1">
            <a:off x="5285992" y="2528989"/>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53" name="Rectangle 93">
            <a:extLst>
              <a:ext uri="{FF2B5EF4-FFF2-40B4-BE49-F238E27FC236}">
                <a16:creationId xmlns:a16="http://schemas.microsoft.com/office/drawing/2014/main" id="{A1D33B49-0E0A-5405-D883-E378553FCF9A}"/>
              </a:ext>
            </a:extLst>
          </p:cNvPr>
          <p:cNvSpPr>
            <a:spLocks noChangeArrowheads="1"/>
          </p:cNvSpPr>
          <p:nvPr/>
        </p:nvSpPr>
        <p:spPr bwMode="auto">
          <a:xfrm>
            <a:off x="5195989" y="99897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4" name="Rectangle 93">
            <a:extLst>
              <a:ext uri="{FF2B5EF4-FFF2-40B4-BE49-F238E27FC236}">
                <a16:creationId xmlns:a16="http://schemas.microsoft.com/office/drawing/2014/main" id="{0C82557C-7F05-18D3-6483-D6947F3A2B23}"/>
              </a:ext>
            </a:extLst>
          </p:cNvPr>
          <p:cNvSpPr>
            <a:spLocks noChangeArrowheads="1"/>
          </p:cNvSpPr>
          <p:nvPr/>
        </p:nvSpPr>
        <p:spPr bwMode="auto">
          <a:xfrm>
            <a:off x="4835986" y="180898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55" name="Rectangle 93">
            <a:extLst>
              <a:ext uri="{FF2B5EF4-FFF2-40B4-BE49-F238E27FC236}">
                <a16:creationId xmlns:a16="http://schemas.microsoft.com/office/drawing/2014/main" id="{97A6E237-906F-47C5-EEB7-3E7E0782AE01}"/>
              </a:ext>
            </a:extLst>
          </p:cNvPr>
          <p:cNvSpPr>
            <a:spLocks noChangeArrowheads="1"/>
          </p:cNvSpPr>
          <p:nvPr/>
        </p:nvSpPr>
        <p:spPr bwMode="auto">
          <a:xfrm>
            <a:off x="5555994" y="180898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56" name="直線コネクタ 55">
            <a:extLst>
              <a:ext uri="{FF2B5EF4-FFF2-40B4-BE49-F238E27FC236}">
                <a16:creationId xmlns:a16="http://schemas.microsoft.com/office/drawing/2014/main" id="{23E0CC98-122A-A055-3218-0415458954E0}"/>
              </a:ext>
            </a:extLst>
          </p:cNvPr>
          <p:cNvCxnSpPr>
            <a:cxnSpLocks/>
          </p:cNvCxnSpPr>
          <p:nvPr/>
        </p:nvCxnSpPr>
        <p:spPr bwMode="auto">
          <a:xfrm>
            <a:off x="3395970" y="1538979"/>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57" name="直線コネクタ 56">
            <a:extLst>
              <a:ext uri="{FF2B5EF4-FFF2-40B4-BE49-F238E27FC236}">
                <a16:creationId xmlns:a16="http://schemas.microsoft.com/office/drawing/2014/main" id="{982814F1-9D3A-BAA5-7F3B-CD32D28714E6}"/>
              </a:ext>
            </a:extLst>
          </p:cNvPr>
          <p:cNvCxnSpPr>
            <a:cxnSpLocks/>
          </p:cNvCxnSpPr>
          <p:nvPr/>
        </p:nvCxnSpPr>
        <p:spPr bwMode="auto">
          <a:xfrm>
            <a:off x="3575972" y="1718981"/>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59" name="直線コネクタ 58">
            <a:extLst>
              <a:ext uri="{FF2B5EF4-FFF2-40B4-BE49-F238E27FC236}">
                <a16:creationId xmlns:a16="http://schemas.microsoft.com/office/drawing/2014/main" id="{425431E0-1C84-EE3C-BE1B-06C01DB66602}"/>
              </a:ext>
            </a:extLst>
          </p:cNvPr>
          <p:cNvCxnSpPr>
            <a:cxnSpLocks/>
          </p:cNvCxnSpPr>
          <p:nvPr/>
        </p:nvCxnSpPr>
        <p:spPr bwMode="auto">
          <a:xfrm flipV="1">
            <a:off x="5105989" y="1718981"/>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A7D99AB1-3420-212E-A301-70EB9BBDA895}"/>
              </a:ext>
            </a:extLst>
          </p:cNvPr>
          <p:cNvCxnSpPr>
            <a:cxnSpLocks/>
          </p:cNvCxnSpPr>
          <p:nvPr/>
        </p:nvCxnSpPr>
        <p:spPr bwMode="auto">
          <a:xfrm>
            <a:off x="5105991" y="4689014"/>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71" name="正方形/長方形 70">
            <a:extLst>
              <a:ext uri="{FF2B5EF4-FFF2-40B4-BE49-F238E27FC236}">
                <a16:creationId xmlns:a16="http://schemas.microsoft.com/office/drawing/2014/main" id="{204CC98B-1457-ED2D-74B1-E4FF5A8A7ED0}"/>
              </a:ext>
            </a:extLst>
          </p:cNvPr>
          <p:cNvSpPr/>
          <p:nvPr/>
        </p:nvSpPr>
        <p:spPr bwMode="auto">
          <a:xfrm>
            <a:off x="3575972" y="4509012"/>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72" name="直線コネクタ 71">
            <a:extLst>
              <a:ext uri="{FF2B5EF4-FFF2-40B4-BE49-F238E27FC236}">
                <a16:creationId xmlns:a16="http://schemas.microsoft.com/office/drawing/2014/main" id="{2E68B43D-79DB-CEE5-868A-F9BF7D942A69}"/>
              </a:ext>
            </a:extLst>
          </p:cNvPr>
          <p:cNvCxnSpPr>
            <a:cxnSpLocks/>
          </p:cNvCxnSpPr>
          <p:nvPr/>
        </p:nvCxnSpPr>
        <p:spPr bwMode="auto">
          <a:xfrm>
            <a:off x="3575972" y="450901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3D69834B-9540-EA02-A7C6-D9FB23052322}"/>
              </a:ext>
            </a:extLst>
          </p:cNvPr>
          <p:cNvCxnSpPr>
            <a:cxnSpLocks/>
          </p:cNvCxnSpPr>
          <p:nvPr/>
        </p:nvCxnSpPr>
        <p:spPr bwMode="auto">
          <a:xfrm>
            <a:off x="3395970" y="4689014"/>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E680117D-D4BB-51E2-3844-3CCEFAD160B8}"/>
              </a:ext>
            </a:extLst>
          </p:cNvPr>
          <p:cNvCxnSpPr>
            <a:cxnSpLocks/>
          </p:cNvCxnSpPr>
          <p:nvPr/>
        </p:nvCxnSpPr>
        <p:spPr bwMode="auto">
          <a:xfrm>
            <a:off x="9246035" y="3519001"/>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AC0C644D-75DB-9E92-EF30-641AADFFD27B}"/>
              </a:ext>
            </a:extLst>
          </p:cNvPr>
          <p:cNvCxnSpPr>
            <a:cxnSpLocks/>
          </p:cNvCxnSpPr>
          <p:nvPr/>
        </p:nvCxnSpPr>
        <p:spPr bwMode="auto">
          <a:xfrm>
            <a:off x="9246035" y="369900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1101B623-6579-0836-B0B1-4AD579CDD22A}"/>
              </a:ext>
            </a:extLst>
          </p:cNvPr>
          <p:cNvCxnSpPr>
            <a:cxnSpLocks/>
          </p:cNvCxnSpPr>
          <p:nvPr/>
        </p:nvCxnSpPr>
        <p:spPr bwMode="auto">
          <a:xfrm>
            <a:off x="9066033" y="2348988"/>
            <a:ext cx="0" cy="1170013"/>
          </a:xfrm>
          <a:prstGeom prst="line">
            <a:avLst/>
          </a:prstGeom>
          <a:noFill/>
          <a:ln w="19050"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26210A10-53C7-DB4C-689D-6137EE5510D5}"/>
              </a:ext>
            </a:extLst>
          </p:cNvPr>
          <p:cNvCxnSpPr>
            <a:cxnSpLocks/>
          </p:cNvCxnSpPr>
          <p:nvPr/>
        </p:nvCxnSpPr>
        <p:spPr bwMode="auto">
          <a:xfrm>
            <a:off x="9246572" y="3699003"/>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7C470485-C42B-82D1-1AA7-5940BF978DED}"/>
              </a:ext>
            </a:extLst>
          </p:cNvPr>
          <p:cNvCxnSpPr>
            <a:cxnSpLocks/>
          </p:cNvCxnSpPr>
          <p:nvPr/>
        </p:nvCxnSpPr>
        <p:spPr bwMode="auto">
          <a:xfrm>
            <a:off x="3575972" y="1718981"/>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CED6976B-13B1-066E-DF3A-20029DA5BA13}"/>
              </a:ext>
            </a:extLst>
          </p:cNvPr>
          <p:cNvCxnSpPr>
            <a:cxnSpLocks/>
          </p:cNvCxnSpPr>
          <p:nvPr/>
        </p:nvCxnSpPr>
        <p:spPr bwMode="auto">
          <a:xfrm>
            <a:off x="3395970" y="1538979"/>
            <a:ext cx="0" cy="1620018"/>
          </a:xfrm>
          <a:prstGeom prst="line">
            <a:avLst/>
          </a:prstGeom>
          <a:noFill/>
          <a:ln w="19050"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2DD57243-B35A-393A-64A4-63154A115AED}"/>
              </a:ext>
            </a:extLst>
          </p:cNvPr>
          <p:cNvCxnSpPr>
            <a:cxnSpLocks/>
          </p:cNvCxnSpPr>
          <p:nvPr/>
        </p:nvCxnSpPr>
        <p:spPr bwMode="auto">
          <a:xfrm>
            <a:off x="3395970" y="3338999"/>
            <a:ext cx="0" cy="1350015"/>
          </a:xfrm>
          <a:prstGeom prst="line">
            <a:avLst/>
          </a:prstGeom>
          <a:noFill/>
          <a:ln w="19050" cap="flat" cmpd="sng" algn="ctr">
            <a:solidFill>
              <a:schemeClr val="tx1"/>
            </a:solidFill>
            <a:prstDash val="solid"/>
            <a:round/>
            <a:headEnd type="none" w="med" len="med"/>
            <a:tailEnd type="none" w="med" len="med"/>
          </a:ln>
          <a:effectLst/>
        </p:spPr>
      </p:cxnSp>
      <p:sp>
        <p:nvSpPr>
          <p:cNvPr id="94" name="正方形/長方形 93">
            <a:extLst>
              <a:ext uri="{FF2B5EF4-FFF2-40B4-BE49-F238E27FC236}">
                <a16:creationId xmlns:a16="http://schemas.microsoft.com/office/drawing/2014/main" id="{7DF2351E-1754-2E16-0918-D906EE7FA2EA}"/>
              </a:ext>
            </a:extLst>
          </p:cNvPr>
          <p:cNvSpPr/>
          <p:nvPr/>
        </p:nvSpPr>
        <p:spPr bwMode="auto">
          <a:xfrm>
            <a:off x="1865953" y="3158997"/>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5" name="直線コネクタ 94">
            <a:extLst>
              <a:ext uri="{FF2B5EF4-FFF2-40B4-BE49-F238E27FC236}">
                <a16:creationId xmlns:a16="http://schemas.microsoft.com/office/drawing/2014/main" id="{7F8EC8BC-79F8-EA8A-3C14-0011C6427DC2}"/>
              </a:ext>
            </a:extLst>
          </p:cNvPr>
          <p:cNvCxnSpPr>
            <a:cxnSpLocks/>
          </p:cNvCxnSpPr>
          <p:nvPr/>
        </p:nvCxnSpPr>
        <p:spPr bwMode="auto">
          <a:xfrm>
            <a:off x="1865953" y="3158997"/>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96" name="直線コネクタ 95">
            <a:extLst>
              <a:ext uri="{FF2B5EF4-FFF2-40B4-BE49-F238E27FC236}">
                <a16:creationId xmlns:a16="http://schemas.microsoft.com/office/drawing/2014/main" id="{95ECA90E-09F7-B274-1519-52292E9C54E9}"/>
              </a:ext>
            </a:extLst>
          </p:cNvPr>
          <p:cNvCxnSpPr>
            <a:cxnSpLocks/>
          </p:cNvCxnSpPr>
          <p:nvPr/>
        </p:nvCxnSpPr>
        <p:spPr bwMode="auto">
          <a:xfrm>
            <a:off x="1865953" y="3338999"/>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30A39633-03E6-5E7F-9007-43C46784B409}"/>
              </a:ext>
            </a:extLst>
          </p:cNvPr>
          <p:cNvCxnSpPr>
            <a:cxnSpLocks/>
          </p:cNvCxnSpPr>
          <p:nvPr/>
        </p:nvCxnSpPr>
        <p:spPr bwMode="auto">
          <a:xfrm>
            <a:off x="9246035" y="2168986"/>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15" name="直線矢印コネクタ 114">
            <a:extLst>
              <a:ext uri="{FF2B5EF4-FFF2-40B4-BE49-F238E27FC236}">
                <a16:creationId xmlns:a16="http://schemas.microsoft.com/office/drawing/2014/main" id="{1B54ABA9-06F8-2239-CAC1-4C7506F101A1}"/>
              </a:ext>
            </a:extLst>
          </p:cNvPr>
          <p:cNvCxnSpPr>
            <a:cxnSpLocks/>
          </p:cNvCxnSpPr>
          <p:nvPr/>
        </p:nvCxnSpPr>
        <p:spPr bwMode="auto">
          <a:xfrm flipH="1">
            <a:off x="4655984" y="5229020"/>
            <a:ext cx="2070023" cy="0"/>
          </a:xfrm>
          <a:prstGeom prst="straightConnector1">
            <a:avLst/>
          </a:prstGeom>
          <a:noFill/>
          <a:ln w="9525" cap="flat" cmpd="sng" algn="ctr">
            <a:solidFill>
              <a:schemeClr val="tx1"/>
            </a:solidFill>
            <a:prstDash val="solid"/>
            <a:round/>
            <a:headEnd type="none" w="med" len="med"/>
            <a:tailEnd type="triangle"/>
          </a:ln>
          <a:effectLst/>
        </p:spPr>
      </p:cxnSp>
      <p:sp>
        <p:nvSpPr>
          <p:cNvPr id="129" name="Rectangle 93">
            <a:extLst>
              <a:ext uri="{FF2B5EF4-FFF2-40B4-BE49-F238E27FC236}">
                <a16:creationId xmlns:a16="http://schemas.microsoft.com/office/drawing/2014/main" id="{AAC2B2B0-A35B-EC6E-C09F-3AF024D2C5AE}"/>
              </a:ext>
            </a:extLst>
          </p:cNvPr>
          <p:cNvSpPr>
            <a:spLocks noChangeArrowheads="1"/>
          </p:cNvSpPr>
          <p:nvPr/>
        </p:nvSpPr>
        <p:spPr bwMode="auto">
          <a:xfrm>
            <a:off x="4835986" y="4779015"/>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30" name="正方形/長方形 129">
            <a:extLst>
              <a:ext uri="{FF2B5EF4-FFF2-40B4-BE49-F238E27FC236}">
                <a16:creationId xmlns:a16="http://schemas.microsoft.com/office/drawing/2014/main" id="{15A3387C-E38C-1590-ABCC-6E1E9F555173}"/>
              </a:ext>
            </a:extLst>
          </p:cNvPr>
          <p:cNvSpPr/>
          <p:nvPr/>
        </p:nvSpPr>
        <p:spPr bwMode="auto">
          <a:xfrm>
            <a:off x="4385981" y="216898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31" name="正方形/長方形 130">
            <a:extLst>
              <a:ext uri="{FF2B5EF4-FFF2-40B4-BE49-F238E27FC236}">
                <a16:creationId xmlns:a16="http://schemas.microsoft.com/office/drawing/2014/main" id="{5BC8114E-7CC1-1E31-27E5-F349BF74BB70}"/>
              </a:ext>
            </a:extLst>
          </p:cNvPr>
          <p:cNvSpPr/>
          <p:nvPr/>
        </p:nvSpPr>
        <p:spPr bwMode="auto">
          <a:xfrm>
            <a:off x="4385981" y="513901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132" name="正方形/長方形 131">
            <a:extLst>
              <a:ext uri="{FF2B5EF4-FFF2-40B4-BE49-F238E27FC236}">
                <a16:creationId xmlns:a16="http://schemas.microsoft.com/office/drawing/2014/main" id="{6CD406D2-14D5-AFD4-A2F2-41A61388AE9A}"/>
              </a:ext>
            </a:extLst>
          </p:cNvPr>
          <p:cNvSpPr/>
          <p:nvPr/>
        </p:nvSpPr>
        <p:spPr bwMode="auto">
          <a:xfrm>
            <a:off x="1775952" y="261899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 </a:t>
            </a:r>
            <a:r>
              <a:rPr lang="en-US" altLang="ja-JP" sz="1600" dirty="0">
                <a:solidFill>
                  <a:schemeClr val="tx1">
                    <a:lumMod val="75000"/>
                    <a:lumOff val="25000"/>
                  </a:schemeClr>
                </a:solidFill>
              </a:rPr>
              <a:t>A=1</a:t>
            </a:r>
            <a:endParaRPr lang="ja-JP" altLang="en-US" sz="1600" dirty="0">
              <a:solidFill>
                <a:schemeClr val="tx1">
                  <a:lumMod val="75000"/>
                  <a:lumOff val="25000"/>
                </a:schemeClr>
              </a:solidFill>
            </a:endParaRPr>
          </a:p>
        </p:txBody>
      </p:sp>
      <p:sp>
        <p:nvSpPr>
          <p:cNvPr id="133" name="正方形/長方形 132">
            <a:extLst>
              <a:ext uri="{FF2B5EF4-FFF2-40B4-BE49-F238E27FC236}">
                <a16:creationId xmlns:a16="http://schemas.microsoft.com/office/drawing/2014/main" id="{83BEF989-32BA-0D17-0218-8AD8D1D2FF0C}"/>
              </a:ext>
            </a:extLst>
          </p:cNvPr>
          <p:cNvSpPr/>
          <p:nvPr/>
        </p:nvSpPr>
        <p:spPr bwMode="auto">
          <a:xfrm>
            <a:off x="10236046" y="297899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出力</a:t>
            </a:r>
            <a:r>
              <a:rPr lang="en-US" altLang="ja-JP" sz="1600" dirty="0">
                <a:solidFill>
                  <a:schemeClr val="tx1">
                    <a:lumMod val="75000"/>
                    <a:lumOff val="25000"/>
                  </a:schemeClr>
                </a:solidFill>
              </a:rPr>
              <a:t>=0</a:t>
            </a:r>
            <a:endParaRPr lang="ja-JP" altLang="en-US" sz="1600" dirty="0">
              <a:solidFill>
                <a:schemeClr val="tx1">
                  <a:lumMod val="75000"/>
                  <a:lumOff val="25000"/>
                </a:schemeClr>
              </a:solidFill>
            </a:endParaRPr>
          </a:p>
        </p:txBody>
      </p:sp>
      <p:sp>
        <p:nvSpPr>
          <p:cNvPr id="48" name="正方形/長方形 47">
            <a:extLst>
              <a:ext uri="{FF2B5EF4-FFF2-40B4-BE49-F238E27FC236}">
                <a16:creationId xmlns:a16="http://schemas.microsoft.com/office/drawing/2014/main" id="{69EC90FC-D907-C1D2-462C-A076E5D1D5C6}"/>
              </a:ext>
            </a:extLst>
          </p:cNvPr>
          <p:cNvSpPr/>
          <p:nvPr/>
        </p:nvSpPr>
        <p:spPr bwMode="auto">
          <a:xfrm>
            <a:off x="7716020" y="1448978"/>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8" name="直線コネクタ 57">
            <a:extLst>
              <a:ext uri="{FF2B5EF4-FFF2-40B4-BE49-F238E27FC236}">
                <a16:creationId xmlns:a16="http://schemas.microsoft.com/office/drawing/2014/main" id="{7BEA5911-C5DE-CA07-16D7-2B4CF5ECA9CF}"/>
              </a:ext>
            </a:extLst>
          </p:cNvPr>
          <p:cNvCxnSpPr>
            <a:cxnSpLocks/>
          </p:cNvCxnSpPr>
          <p:nvPr/>
        </p:nvCxnSpPr>
        <p:spPr bwMode="auto">
          <a:xfrm>
            <a:off x="7716020" y="1808983"/>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60" name="直線コネクタ 59">
            <a:extLst>
              <a:ext uri="{FF2B5EF4-FFF2-40B4-BE49-F238E27FC236}">
                <a16:creationId xmlns:a16="http://schemas.microsoft.com/office/drawing/2014/main" id="{90B1C0F6-FEDA-0C03-1A52-D0F71662CD43}"/>
              </a:ext>
            </a:extLst>
          </p:cNvPr>
          <p:cNvCxnSpPr>
            <a:cxnSpLocks/>
          </p:cNvCxnSpPr>
          <p:nvPr/>
        </p:nvCxnSpPr>
        <p:spPr bwMode="auto">
          <a:xfrm>
            <a:off x="7716020" y="1358977"/>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62" name="直線コネクタ 61">
            <a:extLst>
              <a:ext uri="{FF2B5EF4-FFF2-40B4-BE49-F238E27FC236}">
                <a16:creationId xmlns:a16="http://schemas.microsoft.com/office/drawing/2014/main" id="{CFF9E9D8-6421-9510-F733-DAF32B0FD68D}"/>
              </a:ext>
            </a:extLst>
          </p:cNvPr>
          <p:cNvCxnSpPr>
            <a:cxnSpLocks/>
          </p:cNvCxnSpPr>
          <p:nvPr/>
        </p:nvCxnSpPr>
        <p:spPr bwMode="auto">
          <a:xfrm>
            <a:off x="8256026" y="1358977"/>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63" name="直線コネクタ 62">
            <a:extLst>
              <a:ext uri="{FF2B5EF4-FFF2-40B4-BE49-F238E27FC236}">
                <a16:creationId xmlns:a16="http://schemas.microsoft.com/office/drawing/2014/main" id="{A328D87A-C4D6-F01A-DC9F-33833344F486}"/>
              </a:ext>
            </a:extLst>
          </p:cNvPr>
          <p:cNvCxnSpPr>
            <a:cxnSpLocks/>
          </p:cNvCxnSpPr>
          <p:nvPr/>
        </p:nvCxnSpPr>
        <p:spPr bwMode="auto">
          <a:xfrm flipV="1">
            <a:off x="7986021" y="1808983"/>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64" name="正方形/長方形 63">
            <a:extLst>
              <a:ext uri="{FF2B5EF4-FFF2-40B4-BE49-F238E27FC236}">
                <a16:creationId xmlns:a16="http://schemas.microsoft.com/office/drawing/2014/main" id="{C28A7CA2-AC66-DF77-050C-6AADF8FD4AA5}"/>
              </a:ext>
            </a:extLst>
          </p:cNvPr>
          <p:cNvSpPr/>
          <p:nvPr/>
        </p:nvSpPr>
        <p:spPr bwMode="auto">
          <a:xfrm rot="5400000">
            <a:off x="7491015" y="1943984"/>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5" name="直線コネクタ 64">
            <a:extLst>
              <a:ext uri="{FF2B5EF4-FFF2-40B4-BE49-F238E27FC236}">
                <a16:creationId xmlns:a16="http://schemas.microsoft.com/office/drawing/2014/main" id="{E90EDEE2-1B48-D6B8-FAEE-722C241DE8DD}"/>
              </a:ext>
            </a:extLst>
          </p:cNvPr>
          <p:cNvCxnSpPr>
            <a:cxnSpLocks/>
          </p:cNvCxnSpPr>
          <p:nvPr/>
        </p:nvCxnSpPr>
        <p:spPr bwMode="auto">
          <a:xfrm>
            <a:off x="8076024" y="2168988"/>
            <a:ext cx="1170011" cy="0"/>
          </a:xfrm>
          <a:prstGeom prst="line">
            <a:avLst/>
          </a:prstGeom>
          <a:noFill/>
          <a:ln w="19050" cap="flat" cmpd="sng" algn="ctr">
            <a:solidFill>
              <a:schemeClr val="tx1"/>
            </a:solidFill>
            <a:prstDash val="solid"/>
            <a:round/>
            <a:headEnd type="none" w="med" len="med"/>
            <a:tailEnd type="none" w="med" len="med"/>
          </a:ln>
          <a:effectLst/>
        </p:spPr>
      </p:cxnSp>
      <p:cxnSp>
        <p:nvCxnSpPr>
          <p:cNvPr id="66" name="直線コネクタ 65">
            <a:extLst>
              <a:ext uri="{FF2B5EF4-FFF2-40B4-BE49-F238E27FC236}">
                <a16:creationId xmlns:a16="http://schemas.microsoft.com/office/drawing/2014/main" id="{CE2486AA-FDE9-B962-8BDC-6BC4128238D8}"/>
              </a:ext>
            </a:extLst>
          </p:cNvPr>
          <p:cNvCxnSpPr>
            <a:cxnSpLocks/>
          </p:cNvCxnSpPr>
          <p:nvPr/>
        </p:nvCxnSpPr>
        <p:spPr bwMode="auto">
          <a:xfrm>
            <a:off x="7266013" y="2348988"/>
            <a:ext cx="1800020" cy="0"/>
          </a:xfrm>
          <a:prstGeom prst="line">
            <a:avLst/>
          </a:prstGeom>
          <a:noFill/>
          <a:ln w="19050" cap="flat" cmpd="sng" algn="ctr">
            <a:solidFill>
              <a:schemeClr val="tx1"/>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54036579-24DA-7082-B822-F29844412562}"/>
              </a:ext>
            </a:extLst>
          </p:cNvPr>
          <p:cNvCxnSpPr>
            <a:cxnSpLocks/>
          </p:cNvCxnSpPr>
          <p:nvPr/>
        </p:nvCxnSpPr>
        <p:spPr bwMode="auto">
          <a:xfrm>
            <a:off x="7266013" y="2168986"/>
            <a:ext cx="630007" cy="0"/>
          </a:xfrm>
          <a:prstGeom prst="line">
            <a:avLst/>
          </a:prstGeom>
          <a:noFill/>
          <a:ln w="19050" cap="flat" cmpd="sng" algn="ctr">
            <a:solidFill>
              <a:schemeClr val="tx1"/>
            </a:solidFill>
            <a:prstDash val="solid"/>
            <a:round/>
            <a:headEnd type="none" w="med" len="med"/>
            <a:tailEnd type="none" w="med" len="med"/>
          </a:ln>
          <a:effectLst/>
        </p:spPr>
      </p:cxnSp>
      <p:sp>
        <p:nvSpPr>
          <p:cNvPr id="69" name="正方形/長方形 68">
            <a:extLst>
              <a:ext uri="{FF2B5EF4-FFF2-40B4-BE49-F238E27FC236}">
                <a16:creationId xmlns:a16="http://schemas.microsoft.com/office/drawing/2014/main" id="{96A18304-7DAE-DA6D-E8DE-DECEFE895351}"/>
              </a:ext>
            </a:extLst>
          </p:cNvPr>
          <p:cNvSpPr/>
          <p:nvPr/>
        </p:nvSpPr>
        <p:spPr bwMode="auto">
          <a:xfrm rot="5400000">
            <a:off x="7716018" y="2168987"/>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70" name="グループ化 69">
            <a:extLst>
              <a:ext uri="{FF2B5EF4-FFF2-40B4-BE49-F238E27FC236}">
                <a16:creationId xmlns:a16="http://schemas.microsoft.com/office/drawing/2014/main" id="{DDF1C8F8-89A6-81F9-58F1-9F1AA27B18B9}"/>
              </a:ext>
            </a:extLst>
          </p:cNvPr>
          <p:cNvGrpSpPr/>
          <p:nvPr/>
        </p:nvGrpSpPr>
        <p:grpSpPr>
          <a:xfrm>
            <a:off x="7896020" y="2798992"/>
            <a:ext cx="180003" cy="360004"/>
            <a:chOff x="3131985" y="5049018"/>
            <a:chExt cx="180002" cy="437056"/>
          </a:xfrm>
        </p:grpSpPr>
        <p:grpSp>
          <p:nvGrpSpPr>
            <p:cNvPr id="74" name="グループ化 73">
              <a:extLst>
                <a:ext uri="{FF2B5EF4-FFF2-40B4-BE49-F238E27FC236}">
                  <a16:creationId xmlns:a16="http://schemas.microsoft.com/office/drawing/2014/main" id="{FC27BF53-15D3-23BE-F78F-394295CB3D11}"/>
                </a:ext>
              </a:extLst>
            </p:cNvPr>
            <p:cNvGrpSpPr/>
            <p:nvPr/>
          </p:nvGrpSpPr>
          <p:grpSpPr>
            <a:xfrm>
              <a:off x="3131985" y="5139021"/>
              <a:ext cx="180002" cy="254126"/>
              <a:chOff x="3131984" y="5191944"/>
              <a:chExt cx="270003" cy="201854"/>
            </a:xfrm>
          </p:grpSpPr>
          <p:sp>
            <p:nvSpPr>
              <p:cNvPr id="80" name="Freeform 42">
                <a:extLst>
                  <a:ext uri="{FF2B5EF4-FFF2-40B4-BE49-F238E27FC236}">
                    <a16:creationId xmlns:a16="http://schemas.microsoft.com/office/drawing/2014/main" id="{0C134794-4E8E-5541-F923-9E67F8A19471}"/>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82" name="Freeform 42">
                <a:extLst>
                  <a:ext uri="{FF2B5EF4-FFF2-40B4-BE49-F238E27FC236}">
                    <a16:creationId xmlns:a16="http://schemas.microsoft.com/office/drawing/2014/main" id="{1AEE4DC2-B663-08C6-A2BF-0D5BBD82CA75}"/>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85" name="Freeform 42">
                <a:extLst>
                  <a:ext uri="{FF2B5EF4-FFF2-40B4-BE49-F238E27FC236}">
                    <a16:creationId xmlns:a16="http://schemas.microsoft.com/office/drawing/2014/main" id="{894CF513-173E-05F0-2D40-E7CD19D19C04}"/>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86" name="Freeform 42">
                <a:extLst>
                  <a:ext uri="{FF2B5EF4-FFF2-40B4-BE49-F238E27FC236}">
                    <a16:creationId xmlns:a16="http://schemas.microsoft.com/office/drawing/2014/main" id="{D50ACB10-6F33-CE4F-6BE2-545D54FB7819}"/>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77" name="直線コネクタ 76">
              <a:extLst>
                <a:ext uri="{FF2B5EF4-FFF2-40B4-BE49-F238E27FC236}">
                  <a16:creationId xmlns:a16="http://schemas.microsoft.com/office/drawing/2014/main" id="{11B6B409-06AC-595E-482D-6FE2E04E69AE}"/>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9CC40566-DA7B-E6CB-E0FF-F486F46B33B7}"/>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87" name="正方形/長方形 86">
            <a:extLst>
              <a:ext uri="{FF2B5EF4-FFF2-40B4-BE49-F238E27FC236}">
                <a16:creationId xmlns:a16="http://schemas.microsoft.com/office/drawing/2014/main" id="{1C161B16-BFC4-2AD3-9E47-40A6C04C453E}"/>
              </a:ext>
            </a:extLst>
          </p:cNvPr>
          <p:cNvSpPr/>
          <p:nvPr/>
        </p:nvSpPr>
        <p:spPr bwMode="auto">
          <a:xfrm rot="5400000" flipH="1">
            <a:off x="7941018" y="2663990"/>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88" name="直線コネクタ 87">
            <a:extLst>
              <a:ext uri="{FF2B5EF4-FFF2-40B4-BE49-F238E27FC236}">
                <a16:creationId xmlns:a16="http://schemas.microsoft.com/office/drawing/2014/main" id="{B8CCC44F-B1FE-93E3-532D-DB511023885C}"/>
              </a:ext>
            </a:extLst>
          </p:cNvPr>
          <p:cNvCxnSpPr>
            <a:cxnSpLocks/>
          </p:cNvCxnSpPr>
          <p:nvPr/>
        </p:nvCxnSpPr>
        <p:spPr bwMode="auto">
          <a:xfrm flipH="1">
            <a:off x="8076022" y="2528989"/>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90" name="直線コネクタ 89">
            <a:extLst>
              <a:ext uri="{FF2B5EF4-FFF2-40B4-BE49-F238E27FC236}">
                <a16:creationId xmlns:a16="http://schemas.microsoft.com/office/drawing/2014/main" id="{B13D5AA0-E450-9060-F4F2-52663D9AFE3D}"/>
              </a:ext>
            </a:extLst>
          </p:cNvPr>
          <p:cNvCxnSpPr>
            <a:cxnSpLocks/>
          </p:cNvCxnSpPr>
          <p:nvPr/>
        </p:nvCxnSpPr>
        <p:spPr bwMode="auto">
          <a:xfrm flipH="1">
            <a:off x="7896021" y="2528989"/>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92" name="Rectangle 93">
            <a:extLst>
              <a:ext uri="{FF2B5EF4-FFF2-40B4-BE49-F238E27FC236}">
                <a16:creationId xmlns:a16="http://schemas.microsoft.com/office/drawing/2014/main" id="{69976656-9F0B-8E09-94F5-98E92A035412}"/>
              </a:ext>
            </a:extLst>
          </p:cNvPr>
          <p:cNvSpPr>
            <a:spLocks noChangeArrowheads="1"/>
          </p:cNvSpPr>
          <p:nvPr/>
        </p:nvSpPr>
        <p:spPr bwMode="auto">
          <a:xfrm>
            <a:off x="7806018" y="99897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93" name="Rectangle 93">
            <a:extLst>
              <a:ext uri="{FF2B5EF4-FFF2-40B4-BE49-F238E27FC236}">
                <a16:creationId xmlns:a16="http://schemas.microsoft.com/office/drawing/2014/main" id="{B8AA8397-F2E2-5655-88F1-FCFBB2F15539}"/>
              </a:ext>
            </a:extLst>
          </p:cNvPr>
          <p:cNvSpPr>
            <a:spLocks noChangeArrowheads="1"/>
          </p:cNvSpPr>
          <p:nvPr/>
        </p:nvSpPr>
        <p:spPr bwMode="auto">
          <a:xfrm>
            <a:off x="7446015" y="180898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97" name="Rectangle 93">
            <a:extLst>
              <a:ext uri="{FF2B5EF4-FFF2-40B4-BE49-F238E27FC236}">
                <a16:creationId xmlns:a16="http://schemas.microsoft.com/office/drawing/2014/main" id="{F38A652D-30AA-718A-DF8E-CFC5C759DC7C}"/>
              </a:ext>
            </a:extLst>
          </p:cNvPr>
          <p:cNvSpPr>
            <a:spLocks noChangeArrowheads="1"/>
          </p:cNvSpPr>
          <p:nvPr/>
        </p:nvSpPr>
        <p:spPr bwMode="auto">
          <a:xfrm>
            <a:off x="8166023" y="180898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98" name="直線コネクタ 97">
            <a:extLst>
              <a:ext uri="{FF2B5EF4-FFF2-40B4-BE49-F238E27FC236}">
                <a16:creationId xmlns:a16="http://schemas.microsoft.com/office/drawing/2014/main" id="{50392FCB-4CDF-DCE9-AC12-F5720F951B0E}"/>
              </a:ext>
            </a:extLst>
          </p:cNvPr>
          <p:cNvCxnSpPr>
            <a:cxnSpLocks/>
          </p:cNvCxnSpPr>
          <p:nvPr/>
        </p:nvCxnSpPr>
        <p:spPr bwMode="auto">
          <a:xfrm flipV="1">
            <a:off x="7716018" y="1718981"/>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100" name="直線コネクタ 99">
            <a:extLst>
              <a:ext uri="{FF2B5EF4-FFF2-40B4-BE49-F238E27FC236}">
                <a16:creationId xmlns:a16="http://schemas.microsoft.com/office/drawing/2014/main" id="{F7799D6A-9011-BC5D-ADC5-3474221EE7A6}"/>
              </a:ext>
            </a:extLst>
          </p:cNvPr>
          <p:cNvCxnSpPr>
            <a:cxnSpLocks/>
          </p:cNvCxnSpPr>
          <p:nvPr/>
        </p:nvCxnSpPr>
        <p:spPr bwMode="auto">
          <a:xfrm>
            <a:off x="7176012" y="1538979"/>
            <a:ext cx="540006" cy="0"/>
          </a:xfrm>
          <a:prstGeom prst="line">
            <a:avLst/>
          </a:prstGeom>
          <a:noFill/>
          <a:ln w="19050" cap="flat" cmpd="sng" algn="ctr">
            <a:solidFill>
              <a:schemeClr val="tx1"/>
            </a:solidFill>
            <a:prstDash val="solid"/>
            <a:round/>
            <a:headEnd type="none" w="med" len="med"/>
            <a:tailEnd type="none" w="med" len="med"/>
          </a:ln>
          <a:effectLst/>
        </p:spPr>
      </p:cxnSp>
      <p:cxnSp>
        <p:nvCxnSpPr>
          <p:cNvPr id="101" name="直線コネクタ 100">
            <a:extLst>
              <a:ext uri="{FF2B5EF4-FFF2-40B4-BE49-F238E27FC236}">
                <a16:creationId xmlns:a16="http://schemas.microsoft.com/office/drawing/2014/main" id="{004ED6F4-61FA-770B-1AE6-E43C0E9A1D48}"/>
              </a:ext>
            </a:extLst>
          </p:cNvPr>
          <p:cNvCxnSpPr>
            <a:cxnSpLocks/>
          </p:cNvCxnSpPr>
          <p:nvPr/>
        </p:nvCxnSpPr>
        <p:spPr bwMode="auto">
          <a:xfrm>
            <a:off x="7176012" y="1718981"/>
            <a:ext cx="540006" cy="0"/>
          </a:xfrm>
          <a:prstGeom prst="line">
            <a:avLst/>
          </a:prstGeom>
          <a:noFill/>
          <a:ln w="19050" cap="flat" cmpd="sng" algn="ctr">
            <a:solidFill>
              <a:schemeClr val="tx1"/>
            </a:solidFill>
            <a:prstDash val="solid"/>
            <a:round/>
            <a:headEnd type="none" w="med" len="med"/>
            <a:tailEnd type="none" w="med" len="med"/>
          </a:ln>
          <a:effectLst/>
        </p:spPr>
      </p:cxnSp>
      <p:cxnSp>
        <p:nvCxnSpPr>
          <p:cNvPr id="104" name="直線コネクタ 103">
            <a:extLst>
              <a:ext uri="{FF2B5EF4-FFF2-40B4-BE49-F238E27FC236}">
                <a16:creationId xmlns:a16="http://schemas.microsoft.com/office/drawing/2014/main" id="{AA7D2957-E8C1-5298-0C74-6F6642CE62F4}"/>
              </a:ext>
            </a:extLst>
          </p:cNvPr>
          <p:cNvCxnSpPr>
            <a:cxnSpLocks/>
          </p:cNvCxnSpPr>
          <p:nvPr/>
        </p:nvCxnSpPr>
        <p:spPr bwMode="auto">
          <a:xfrm>
            <a:off x="6456004" y="2348988"/>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07" name="直線コネクタ 106">
            <a:extLst>
              <a:ext uri="{FF2B5EF4-FFF2-40B4-BE49-F238E27FC236}">
                <a16:creationId xmlns:a16="http://schemas.microsoft.com/office/drawing/2014/main" id="{C205B05A-D845-BD58-9A35-791D66B01FE9}"/>
              </a:ext>
            </a:extLst>
          </p:cNvPr>
          <p:cNvCxnSpPr>
            <a:cxnSpLocks/>
          </p:cNvCxnSpPr>
          <p:nvPr/>
        </p:nvCxnSpPr>
        <p:spPr bwMode="auto">
          <a:xfrm>
            <a:off x="6636006" y="2168986"/>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11" name="直線コネクタ 110">
            <a:extLst>
              <a:ext uri="{FF2B5EF4-FFF2-40B4-BE49-F238E27FC236}">
                <a16:creationId xmlns:a16="http://schemas.microsoft.com/office/drawing/2014/main" id="{9FD0F7DF-0095-EC79-F971-DD928D340B9E}"/>
              </a:ext>
            </a:extLst>
          </p:cNvPr>
          <p:cNvCxnSpPr>
            <a:cxnSpLocks/>
          </p:cNvCxnSpPr>
          <p:nvPr/>
        </p:nvCxnSpPr>
        <p:spPr bwMode="auto">
          <a:xfrm>
            <a:off x="6636006" y="3519001"/>
            <a:ext cx="2430027" cy="0"/>
          </a:xfrm>
          <a:prstGeom prst="line">
            <a:avLst/>
          </a:prstGeom>
          <a:noFill/>
          <a:ln w="19050" cap="flat" cmpd="sng" algn="ctr">
            <a:solidFill>
              <a:schemeClr val="tx1"/>
            </a:solidFill>
            <a:prstDash val="solid"/>
            <a:round/>
            <a:headEnd type="none" w="med" len="med"/>
            <a:tailEnd type="none" w="med" len="med"/>
          </a:ln>
          <a:effectLst/>
        </p:spPr>
      </p:cxnSp>
      <p:cxnSp>
        <p:nvCxnSpPr>
          <p:cNvPr id="117" name="直線コネクタ 116">
            <a:extLst>
              <a:ext uri="{FF2B5EF4-FFF2-40B4-BE49-F238E27FC236}">
                <a16:creationId xmlns:a16="http://schemas.microsoft.com/office/drawing/2014/main" id="{5ACC73F7-5474-71E9-FA64-6320BBC33D1A}"/>
              </a:ext>
            </a:extLst>
          </p:cNvPr>
          <p:cNvCxnSpPr>
            <a:cxnSpLocks/>
          </p:cNvCxnSpPr>
          <p:nvPr/>
        </p:nvCxnSpPr>
        <p:spPr bwMode="auto">
          <a:xfrm>
            <a:off x="6456004" y="3699003"/>
            <a:ext cx="2610029" cy="0"/>
          </a:xfrm>
          <a:prstGeom prst="line">
            <a:avLst/>
          </a:prstGeom>
          <a:noFill/>
          <a:ln w="19050" cap="flat" cmpd="sng" algn="ctr">
            <a:solidFill>
              <a:schemeClr val="tx1"/>
            </a:solidFill>
            <a:prstDash val="solid"/>
            <a:round/>
            <a:headEnd type="none" w="med" len="med"/>
            <a:tailEnd type="none" w="med" len="med"/>
          </a:ln>
          <a:effectLst/>
        </p:spPr>
      </p:cxnSp>
      <p:sp>
        <p:nvSpPr>
          <p:cNvPr id="119" name="正方形/長方形 118">
            <a:extLst>
              <a:ext uri="{FF2B5EF4-FFF2-40B4-BE49-F238E27FC236}">
                <a16:creationId xmlns:a16="http://schemas.microsoft.com/office/drawing/2014/main" id="{A38DC571-D30A-2A65-95CE-F41F1261D0A4}"/>
              </a:ext>
            </a:extLst>
          </p:cNvPr>
          <p:cNvSpPr/>
          <p:nvPr/>
        </p:nvSpPr>
        <p:spPr bwMode="auto">
          <a:xfrm>
            <a:off x="7716020" y="441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20" name="直線コネクタ 119">
            <a:extLst>
              <a:ext uri="{FF2B5EF4-FFF2-40B4-BE49-F238E27FC236}">
                <a16:creationId xmlns:a16="http://schemas.microsoft.com/office/drawing/2014/main" id="{DA7CD373-E15E-AC89-99EB-CC7059BB7F5C}"/>
              </a:ext>
            </a:extLst>
          </p:cNvPr>
          <p:cNvCxnSpPr>
            <a:cxnSpLocks/>
          </p:cNvCxnSpPr>
          <p:nvPr/>
        </p:nvCxnSpPr>
        <p:spPr bwMode="auto">
          <a:xfrm>
            <a:off x="7716020" y="477901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21" name="直線コネクタ 120">
            <a:extLst>
              <a:ext uri="{FF2B5EF4-FFF2-40B4-BE49-F238E27FC236}">
                <a16:creationId xmlns:a16="http://schemas.microsoft.com/office/drawing/2014/main" id="{8545D9F0-CFF6-41F3-860E-94A6B4F4C21C}"/>
              </a:ext>
            </a:extLst>
          </p:cNvPr>
          <p:cNvCxnSpPr>
            <a:cxnSpLocks/>
          </p:cNvCxnSpPr>
          <p:nvPr/>
        </p:nvCxnSpPr>
        <p:spPr bwMode="auto">
          <a:xfrm>
            <a:off x="7716020" y="4329011"/>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122" name="直線コネクタ 121">
            <a:extLst>
              <a:ext uri="{FF2B5EF4-FFF2-40B4-BE49-F238E27FC236}">
                <a16:creationId xmlns:a16="http://schemas.microsoft.com/office/drawing/2014/main" id="{7CE0BCEC-F483-ABD7-216C-75939F3A9A93}"/>
              </a:ext>
            </a:extLst>
          </p:cNvPr>
          <p:cNvCxnSpPr>
            <a:cxnSpLocks/>
          </p:cNvCxnSpPr>
          <p:nvPr/>
        </p:nvCxnSpPr>
        <p:spPr bwMode="auto">
          <a:xfrm>
            <a:off x="8256026" y="432901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23" name="直線コネクタ 122">
            <a:extLst>
              <a:ext uri="{FF2B5EF4-FFF2-40B4-BE49-F238E27FC236}">
                <a16:creationId xmlns:a16="http://schemas.microsoft.com/office/drawing/2014/main" id="{DAECC043-D3E3-9032-1BE6-6117B34C2671}"/>
              </a:ext>
            </a:extLst>
          </p:cNvPr>
          <p:cNvCxnSpPr>
            <a:cxnSpLocks/>
          </p:cNvCxnSpPr>
          <p:nvPr/>
        </p:nvCxnSpPr>
        <p:spPr bwMode="auto">
          <a:xfrm flipV="1">
            <a:off x="7986021" y="477901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24" name="正方形/長方形 123">
            <a:extLst>
              <a:ext uri="{FF2B5EF4-FFF2-40B4-BE49-F238E27FC236}">
                <a16:creationId xmlns:a16="http://schemas.microsoft.com/office/drawing/2014/main" id="{46D2E507-9991-C5AB-66A0-CE9AA281A886}"/>
              </a:ext>
            </a:extLst>
          </p:cNvPr>
          <p:cNvSpPr/>
          <p:nvPr/>
        </p:nvSpPr>
        <p:spPr bwMode="auto">
          <a:xfrm rot="5400000">
            <a:off x="7896020" y="4959019"/>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25" name="グループ化 124">
            <a:extLst>
              <a:ext uri="{FF2B5EF4-FFF2-40B4-BE49-F238E27FC236}">
                <a16:creationId xmlns:a16="http://schemas.microsoft.com/office/drawing/2014/main" id="{D4E6030B-A3F9-36CD-AA45-70E9123B01EA}"/>
              </a:ext>
            </a:extLst>
          </p:cNvPr>
          <p:cNvGrpSpPr/>
          <p:nvPr/>
        </p:nvGrpSpPr>
        <p:grpSpPr>
          <a:xfrm>
            <a:off x="7896020" y="5769026"/>
            <a:ext cx="180003" cy="360004"/>
            <a:chOff x="3131985" y="5049018"/>
            <a:chExt cx="180002" cy="437056"/>
          </a:xfrm>
        </p:grpSpPr>
        <p:grpSp>
          <p:nvGrpSpPr>
            <p:cNvPr id="126" name="グループ化 125">
              <a:extLst>
                <a:ext uri="{FF2B5EF4-FFF2-40B4-BE49-F238E27FC236}">
                  <a16:creationId xmlns:a16="http://schemas.microsoft.com/office/drawing/2014/main" id="{2A140E3A-C670-2654-5083-C801E9AF5E36}"/>
                </a:ext>
              </a:extLst>
            </p:cNvPr>
            <p:cNvGrpSpPr/>
            <p:nvPr/>
          </p:nvGrpSpPr>
          <p:grpSpPr>
            <a:xfrm>
              <a:off x="3131985" y="5139021"/>
              <a:ext cx="180002" cy="254126"/>
              <a:chOff x="3131984" y="5191944"/>
              <a:chExt cx="270003" cy="201854"/>
            </a:xfrm>
          </p:grpSpPr>
          <p:sp>
            <p:nvSpPr>
              <p:cNvPr id="134" name="Freeform 42">
                <a:extLst>
                  <a:ext uri="{FF2B5EF4-FFF2-40B4-BE49-F238E27FC236}">
                    <a16:creationId xmlns:a16="http://schemas.microsoft.com/office/drawing/2014/main" id="{6E04DDDA-2191-E2A3-4AB6-AA3BF728C64B}"/>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35" name="Freeform 42">
                <a:extLst>
                  <a:ext uri="{FF2B5EF4-FFF2-40B4-BE49-F238E27FC236}">
                    <a16:creationId xmlns:a16="http://schemas.microsoft.com/office/drawing/2014/main" id="{01B9294A-FA6D-6C21-113E-E92D06D29BD9}"/>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36" name="Freeform 42">
                <a:extLst>
                  <a:ext uri="{FF2B5EF4-FFF2-40B4-BE49-F238E27FC236}">
                    <a16:creationId xmlns:a16="http://schemas.microsoft.com/office/drawing/2014/main" id="{76B89D80-993C-8E92-2679-6F02E0491D0C}"/>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37" name="Freeform 42">
                <a:extLst>
                  <a:ext uri="{FF2B5EF4-FFF2-40B4-BE49-F238E27FC236}">
                    <a16:creationId xmlns:a16="http://schemas.microsoft.com/office/drawing/2014/main" id="{ACBA568A-7139-7974-C1D6-121FCF803990}"/>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27" name="直線コネクタ 126">
              <a:extLst>
                <a:ext uri="{FF2B5EF4-FFF2-40B4-BE49-F238E27FC236}">
                  <a16:creationId xmlns:a16="http://schemas.microsoft.com/office/drawing/2014/main" id="{A538F731-06F9-94F9-4CC1-E4F4003D3C3B}"/>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B9B92562-73D5-D1DA-2486-23BD2E17C0F0}"/>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38" name="正方形/長方形 137">
            <a:extLst>
              <a:ext uri="{FF2B5EF4-FFF2-40B4-BE49-F238E27FC236}">
                <a16:creationId xmlns:a16="http://schemas.microsoft.com/office/drawing/2014/main" id="{248D208E-7C61-B5D9-A653-31AFE82B119F}"/>
              </a:ext>
            </a:extLst>
          </p:cNvPr>
          <p:cNvSpPr/>
          <p:nvPr/>
        </p:nvSpPr>
        <p:spPr bwMode="auto">
          <a:xfrm rot="5400000" flipH="1">
            <a:off x="7761016" y="5454022"/>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9" name="直線コネクタ 138">
            <a:extLst>
              <a:ext uri="{FF2B5EF4-FFF2-40B4-BE49-F238E27FC236}">
                <a16:creationId xmlns:a16="http://schemas.microsoft.com/office/drawing/2014/main" id="{E6B6EE8B-EA73-8EAD-DA46-15894275FF47}"/>
              </a:ext>
            </a:extLst>
          </p:cNvPr>
          <p:cNvCxnSpPr>
            <a:cxnSpLocks/>
          </p:cNvCxnSpPr>
          <p:nvPr/>
        </p:nvCxnSpPr>
        <p:spPr bwMode="auto">
          <a:xfrm flipH="1">
            <a:off x="8076020" y="5139019"/>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140" name="直線コネクタ 139">
            <a:extLst>
              <a:ext uri="{FF2B5EF4-FFF2-40B4-BE49-F238E27FC236}">
                <a16:creationId xmlns:a16="http://schemas.microsoft.com/office/drawing/2014/main" id="{671D55B2-B2C8-FDD6-1B63-0632BD8E75A3}"/>
              </a:ext>
            </a:extLst>
          </p:cNvPr>
          <p:cNvCxnSpPr>
            <a:cxnSpLocks/>
          </p:cNvCxnSpPr>
          <p:nvPr/>
        </p:nvCxnSpPr>
        <p:spPr bwMode="auto">
          <a:xfrm flipH="1">
            <a:off x="7896019" y="5139019"/>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41" name="Rectangle 93">
            <a:extLst>
              <a:ext uri="{FF2B5EF4-FFF2-40B4-BE49-F238E27FC236}">
                <a16:creationId xmlns:a16="http://schemas.microsoft.com/office/drawing/2014/main" id="{1296AEE3-7AA6-55D3-C929-4E2C8F7840F7}"/>
              </a:ext>
            </a:extLst>
          </p:cNvPr>
          <p:cNvSpPr>
            <a:spLocks noChangeArrowheads="1"/>
          </p:cNvSpPr>
          <p:nvPr/>
        </p:nvSpPr>
        <p:spPr bwMode="auto">
          <a:xfrm>
            <a:off x="7806018" y="3969007"/>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2" name="Rectangle 93">
            <a:extLst>
              <a:ext uri="{FF2B5EF4-FFF2-40B4-BE49-F238E27FC236}">
                <a16:creationId xmlns:a16="http://schemas.microsoft.com/office/drawing/2014/main" id="{D894A0B9-D03E-8A8D-ED9B-0196CEDC8CC4}"/>
              </a:ext>
            </a:extLst>
          </p:cNvPr>
          <p:cNvSpPr>
            <a:spLocks noChangeArrowheads="1"/>
          </p:cNvSpPr>
          <p:nvPr/>
        </p:nvSpPr>
        <p:spPr bwMode="auto">
          <a:xfrm>
            <a:off x="8166023" y="477901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3" name="直線コネクタ 142">
            <a:extLst>
              <a:ext uri="{FF2B5EF4-FFF2-40B4-BE49-F238E27FC236}">
                <a16:creationId xmlns:a16="http://schemas.microsoft.com/office/drawing/2014/main" id="{CB589454-2167-0CA4-3991-0639D349F77E}"/>
              </a:ext>
            </a:extLst>
          </p:cNvPr>
          <p:cNvCxnSpPr>
            <a:cxnSpLocks/>
          </p:cNvCxnSpPr>
          <p:nvPr/>
        </p:nvCxnSpPr>
        <p:spPr bwMode="auto">
          <a:xfrm>
            <a:off x="7716020" y="4689015"/>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144" name="Rectangle 93">
            <a:extLst>
              <a:ext uri="{FF2B5EF4-FFF2-40B4-BE49-F238E27FC236}">
                <a16:creationId xmlns:a16="http://schemas.microsoft.com/office/drawing/2014/main" id="{E7ADBD8C-A96C-90CF-DB0B-C2C3B8F1E1CE}"/>
              </a:ext>
            </a:extLst>
          </p:cNvPr>
          <p:cNvSpPr>
            <a:spLocks noChangeArrowheads="1"/>
          </p:cNvSpPr>
          <p:nvPr/>
        </p:nvSpPr>
        <p:spPr bwMode="auto">
          <a:xfrm>
            <a:off x="7446015" y="477901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147" name="直線コネクタ 146">
            <a:extLst>
              <a:ext uri="{FF2B5EF4-FFF2-40B4-BE49-F238E27FC236}">
                <a16:creationId xmlns:a16="http://schemas.microsoft.com/office/drawing/2014/main" id="{6C0354CD-3818-EF90-8CFF-6C0663412C68}"/>
              </a:ext>
            </a:extLst>
          </p:cNvPr>
          <p:cNvCxnSpPr>
            <a:cxnSpLocks/>
          </p:cNvCxnSpPr>
          <p:nvPr/>
        </p:nvCxnSpPr>
        <p:spPr bwMode="auto">
          <a:xfrm>
            <a:off x="9066033" y="3699003"/>
            <a:ext cx="0" cy="1440016"/>
          </a:xfrm>
          <a:prstGeom prst="line">
            <a:avLst/>
          </a:prstGeom>
          <a:noFill/>
          <a:ln w="19050" cap="flat" cmpd="sng" algn="ctr">
            <a:solidFill>
              <a:schemeClr val="tx1"/>
            </a:solidFill>
            <a:prstDash val="solid"/>
            <a:round/>
            <a:headEnd type="none" w="med" len="med"/>
            <a:tailEnd type="none" w="med" len="med"/>
          </a:ln>
          <a:effectLst/>
        </p:spPr>
      </p:cxnSp>
      <p:sp>
        <p:nvSpPr>
          <p:cNvPr id="151" name="正方形/長方形 150">
            <a:extLst>
              <a:ext uri="{FF2B5EF4-FFF2-40B4-BE49-F238E27FC236}">
                <a16:creationId xmlns:a16="http://schemas.microsoft.com/office/drawing/2014/main" id="{CC2BD827-4475-560F-FD27-0F646AB11B51}"/>
              </a:ext>
            </a:extLst>
          </p:cNvPr>
          <p:cNvSpPr/>
          <p:nvPr/>
        </p:nvSpPr>
        <p:spPr bwMode="auto">
          <a:xfrm>
            <a:off x="7086011" y="216898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52" name="正方形/長方形 151">
            <a:extLst>
              <a:ext uri="{FF2B5EF4-FFF2-40B4-BE49-F238E27FC236}">
                <a16:creationId xmlns:a16="http://schemas.microsoft.com/office/drawing/2014/main" id="{10F190A5-C917-4586-6A29-B9A4E49899F6}"/>
              </a:ext>
            </a:extLst>
          </p:cNvPr>
          <p:cNvSpPr/>
          <p:nvPr/>
        </p:nvSpPr>
        <p:spPr bwMode="auto">
          <a:xfrm>
            <a:off x="6636006" y="998973"/>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 </a:t>
            </a:r>
            <a:r>
              <a:rPr lang="en-US" altLang="ja-JP" sz="1600" dirty="0">
                <a:solidFill>
                  <a:schemeClr val="tx1">
                    <a:lumMod val="75000"/>
                    <a:lumOff val="25000"/>
                  </a:schemeClr>
                </a:solidFill>
              </a:rPr>
              <a:t>B=1</a:t>
            </a:r>
            <a:endParaRPr lang="ja-JP" altLang="en-US" sz="1600" dirty="0">
              <a:solidFill>
                <a:schemeClr val="tx1">
                  <a:lumMod val="75000"/>
                  <a:lumOff val="25000"/>
                </a:schemeClr>
              </a:solidFill>
            </a:endParaRPr>
          </a:p>
        </p:txBody>
      </p:sp>
      <p:cxnSp>
        <p:nvCxnSpPr>
          <p:cNvPr id="153" name="直線コネクタ 152">
            <a:extLst>
              <a:ext uri="{FF2B5EF4-FFF2-40B4-BE49-F238E27FC236}">
                <a16:creationId xmlns:a16="http://schemas.microsoft.com/office/drawing/2014/main" id="{1D5CA563-776F-54D8-CE0C-D50F996E108F}"/>
              </a:ext>
            </a:extLst>
          </p:cNvPr>
          <p:cNvCxnSpPr>
            <a:cxnSpLocks/>
          </p:cNvCxnSpPr>
          <p:nvPr/>
        </p:nvCxnSpPr>
        <p:spPr bwMode="auto">
          <a:xfrm>
            <a:off x="7176012" y="4509012"/>
            <a:ext cx="540006" cy="0"/>
          </a:xfrm>
          <a:prstGeom prst="line">
            <a:avLst/>
          </a:prstGeom>
          <a:noFill/>
          <a:ln w="19050" cap="flat" cmpd="sng" algn="ctr">
            <a:solidFill>
              <a:schemeClr val="tx1"/>
            </a:solidFill>
            <a:prstDash val="solid"/>
            <a:round/>
            <a:headEnd type="none" w="med" len="med"/>
            <a:tailEnd type="none" w="med" len="med"/>
          </a:ln>
          <a:effectLst/>
        </p:spPr>
      </p:cxnSp>
      <p:cxnSp>
        <p:nvCxnSpPr>
          <p:cNvPr id="154" name="直線コネクタ 153">
            <a:extLst>
              <a:ext uri="{FF2B5EF4-FFF2-40B4-BE49-F238E27FC236}">
                <a16:creationId xmlns:a16="http://schemas.microsoft.com/office/drawing/2014/main" id="{7717FE01-E626-9E11-D5E5-BC6D5E06E608}"/>
              </a:ext>
            </a:extLst>
          </p:cNvPr>
          <p:cNvCxnSpPr>
            <a:cxnSpLocks/>
          </p:cNvCxnSpPr>
          <p:nvPr/>
        </p:nvCxnSpPr>
        <p:spPr bwMode="auto">
          <a:xfrm>
            <a:off x="7176012" y="4689014"/>
            <a:ext cx="540006" cy="0"/>
          </a:xfrm>
          <a:prstGeom prst="line">
            <a:avLst/>
          </a:prstGeom>
          <a:noFill/>
          <a:ln w="19050" cap="flat" cmpd="sng" algn="ctr">
            <a:solidFill>
              <a:schemeClr val="tx1"/>
            </a:solidFill>
            <a:prstDash val="solid"/>
            <a:round/>
            <a:headEnd type="none" w="med" len="med"/>
            <a:tailEnd type="none" w="med" len="med"/>
          </a:ln>
          <a:effectLst/>
        </p:spPr>
      </p:cxnSp>
      <p:sp>
        <p:nvSpPr>
          <p:cNvPr id="155" name="正方形/長方形 154">
            <a:extLst>
              <a:ext uri="{FF2B5EF4-FFF2-40B4-BE49-F238E27FC236}">
                <a16:creationId xmlns:a16="http://schemas.microsoft.com/office/drawing/2014/main" id="{17C9C183-1057-5FB5-C12A-BF78AF0B18CA}"/>
              </a:ext>
            </a:extLst>
          </p:cNvPr>
          <p:cNvSpPr/>
          <p:nvPr/>
        </p:nvSpPr>
        <p:spPr bwMode="auto">
          <a:xfrm>
            <a:off x="6636006" y="396900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 </a:t>
            </a:r>
            <a:r>
              <a:rPr lang="en-US" altLang="ja-JP" sz="1600" dirty="0">
                <a:solidFill>
                  <a:schemeClr val="tx1">
                    <a:lumMod val="75000"/>
                    <a:lumOff val="25000"/>
                  </a:schemeClr>
                </a:solidFill>
              </a:rPr>
              <a:t>B=1</a:t>
            </a:r>
            <a:endParaRPr lang="ja-JP" altLang="en-US" sz="1600" dirty="0">
              <a:solidFill>
                <a:schemeClr val="tx1">
                  <a:lumMod val="75000"/>
                  <a:lumOff val="25000"/>
                </a:schemeClr>
              </a:solidFill>
            </a:endParaRPr>
          </a:p>
        </p:txBody>
      </p:sp>
      <p:graphicFrame>
        <p:nvGraphicFramePr>
          <p:cNvPr id="158" name="Group 383">
            <a:extLst>
              <a:ext uri="{FF2B5EF4-FFF2-40B4-BE49-F238E27FC236}">
                <a16:creationId xmlns:a16="http://schemas.microsoft.com/office/drawing/2014/main" id="{4528978F-572C-F3D2-268B-88CC89B3B8D6}"/>
              </a:ext>
            </a:extLst>
          </p:cNvPr>
          <p:cNvGraphicFramePr>
            <a:graphicFrameLocks/>
          </p:cNvGraphicFramePr>
          <p:nvPr/>
        </p:nvGraphicFramePr>
        <p:xfrm>
          <a:off x="335936" y="3519001"/>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2"/>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2"/>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2"/>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9" name="テキスト プレースホルダー 2">
            <a:extLst>
              <a:ext uri="{FF2B5EF4-FFF2-40B4-BE49-F238E27FC236}">
                <a16:creationId xmlns:a16="http://schemas.microsoft.com/office/drawing/2014/main" id="{862908B4-3D94-8FFF-DEE6-9D4EB32DCE89}"/>
              </a:ext>
            </a:extLst>
          </p:cNvPr>
          <p:cNvSpPr>
            <a:spLocks noGrp="1"/>
          </p:cNvSpPr>
          <p:nvPr>
            <p:ph type="body" sz="quarter" idx="10"/>
          </p:nvPr>
        </p:nvSpPr>
        <p:spPr>
          <a:xfrm>
            <a:off x="965943" y="6129030"/>
            <a:ext cx="10800120" cy="540006"/>
          </a:xfrm>
        </p:spPr>
        <p:txBody>
          <a:bodyPr/>
          <a:lstStyle/>
          <a:p>
            <a:r>
              <a:rPr kumimoji="1" lang="ja-JP" altLang="en-US" dirty="0"/>
              <a:t>下側の２つの</a:t>
            </a:r>
            <a:r>
              <a:rPr kumimoji="1" lang="en-US" altLang="ja-JP" dirty="0"/>
              <a:t>N</a:t>
            </a:r>
            <a:r>
              <a:rPr kumimoji="1" lang="ja-JP" altLang="en-US" dirty="0"/>
              <a:t>タンクは，直列に繋がってるので双方溜まった時のみ排水が有効 → </a:t>
            </a:r>
            <a:r>
              <a:rPr kumimoji="1" lang="en-US" altLang="ja-JP" dirty="0"/>
              <a:t>NAND</a:t>
            </a:r>
            <a:endParaRPr kumimoji="1" lang="en-US" dirty="0"/>
          </a:p>
        </p:txBody>
      </p:sp>
    </p:spTree>
    <p:extLst>
      <p:ext uri="{BB962C8B-B14F-4D97-AF65-F5344CB8AC3E}">
        <p14:creationId xmlns:p14="http://schemas.microsoft.com/office/powerpoint/2010/main" val="2738786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a:xfrm>
            <a:off x="695940" y="0"/>
            <a:ext cx="10776052" cy="908972"/>
          </a:xfrm>
        </p:spPr>
        <p:txBody>
          <a:bodyPr/>
          <a:lstStyle/>
          <a:p>
            <a:r>
              <a:rPr lang="ja-JP" altLang="en-US" sz="2800" dirty="0"/>
              <a:t>スイッチで書いた</a:t>
            </a:r>
            <a:r>
              <a:rPr lang="en-US" sz="2800" dirty="0"/>
              <a:t>NAND </a:t>
            </a:r>
            <a:r>
              <a:rPr lang="ja-JP" altLang="en-US" sz="2800" dirty="0"/>
              <a:t>ゲート</a:t>
            </a:r>
            <a:endParaRPr lang="en-US" sz="2800" dirty="0"/>
          </a:p>
        </p:txBody>
      </p:sp>
      <p:sp>
        <p:nvSpPr>
          <p:cNvPr id="275" name="コンテンツ プレースホルダー 274">
            <a:extLst>
              <a:ext uri="{FF2B5EF4-FFF2-40B4-BE49-F238E27FC236}">
                <a16:creationId xmlns:a16="http://schemas.microsoft.com/office/drawing/2014/main" id="{76B0A87F-18D9-248D-84ED-4623A99129B9}"/>
              </a:ext>
            </a:extLst>
          </p:cNvPr>
          <p:cNvSpPr>
            <a:spLocks noGrp="1"/>
          </p:cNvSpPr>
          <p:nvPr>
            <p:ph sz="quarter" idx="11"/>
          </p:nvPr>
        </p:nvSpPr>
        <p:spPr>
          <a:xfrm>
            <a:off x="1775952" y="908973"/>
            <a:ext cx="8280092" cy="630007"/>
          </a:xfrm>
        </p:spPr>
        <p:txBody>
          <a:bodyPr/>
          <a:lstStyle/>
          <a:p>
            <a:r>
              <a:rPr kumimoji="1" lang="ja-JP" altLang="en-US" dirty="0"/>
              <a:t>右のように接続すると</a:t>
            </a:r>
            <a:br>
              <a:rPr kumimoji="1" lang="en-US" altLang="ja-JP" dirty="0"/>
            </a:br>
            <a:r>
              <a:rPr kumimoji="1" lang="en-US" altLang="ja-JP" dirty="0"/>
              <a:t>NAND </a:t>
            </a:r>
            <a:r>
              <a:rPr kumimoji="1" lang="ja-JP" altLang="en-US" dirty="0"/>
              <a:t>ゲートが作れる</a:t>
            </a:r>
            <a:endParaRPr kumimoji="1" lang="en-US" dirty="0"/>
          </a:p>
        </p:txBody>
      </p:sp>
      <p:grpSp>
        <p:nvGrpSpPr>
          <p:cNvPr id="3" name="グループ化 2">
            <a:extLst>
              <a:ext uri="{FF2B5EF4-FFF2-40B4-BE49-F238E27FC236}">
                <a16:creationId xmlns:a16="http://schemas.microsoft.com/office/drawing/2014/main" id="{7562FA3F-4ECA-17A8-8E31-60A8DE7947AF}"/>
              </a:ext>
            </a:extLst>
          </p:cNvPr>
          <p:cNvGrpSpPr/>
          <p:nvPr/>
        </p:nvGrpSpPr>
        <p:grpSpPr>
          <a:xfrm>
            <a:off x="6633345" y="3068996"/>
            <a:ext cx="1531092" cy="1440374"/>
            <a:chOff x="5202007" y="3068996"/>
            <a:chExt cx="1531092" cy="1440374"/>
          </a:xfrm>
        </p:grpSpPr>
        <p:sp>
          <p:nvSpPr>
            <p:cNvPr id="4" name="正方形/長方形 3">
              <a:extLst>
                <a:ext uri="{FF2B5EF4-FFF2-40B4-BE49-F238E27FC236}">
                  <a16:creationId xmlns:a16="http://schemas.microsoft.com/office/drawing/2014/main" id="{5FD184A4-F1FE-A602-4B79-7BAB967EE851}"/>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2" name="円/楕円 69">
              <a:extLst>
                <a:ext uri="{FF2B5EF4-FFF2-40B4-BE49-F238E27FC236}">
                  <a16:creationId xmlns:a16="http://schemas.microsoft.com/office/drawing/2014/main" id="{B4FEF43B-98BF-89EB-5422-D7755B4FC1F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5" name="直線コネクタ 24">
              <a:extLst>
                <a:ext uri="{FF2B5EF4-FFF2-40B4-BE49-F238E27FC236}">
                  <a16:creationId xmlns:a16="http://schemas.microsoft.com/office/drawing/2014/main" id="{1A374BEF-B776-6082-D66D-DE118065FB78}"/>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A1C942F-4A3C-9236-A240-A1D8C15D7D80}"/>
                </a:ext>
              </a:extLst>
            </p:cNvPr>
            <p:cNvCxnSpPr>
              <a:cxnSpLocks/>
              <a:endCxn id="28"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 name="円/楕円 68">
              <a:extLst>
                <a:ext uri="{FF2B5EF4-FFF2-40B4-BE49-F238E27FC236}">
                  <a16:creationId xmlns:a16="http://schemas.microsoft.com/office/drawing/2014/main" id="{D5DC85B3-4070-9F25-1AE8-22553F22378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9" name="直線コネクタ 28">
              <a:extLst>
                <a:ext uri="{FF2B5EF4-FFF2-40B4-BE49-F238E27FC236}">
                  <a16:creationId xmlns:a16="http://schemas.microsoft.com/office/drawing/2014/main" id="{B68ADCDC-8C16-1E21-FB91-A35115ECBD7C}"/>
                </a:ext>
              </a:extLst>
            </p:cNvPr>
            <p:cNvCxnSpPr>
              <a:cxnSpLocks/>
              <a:endCxn id="2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3D28686F-93F2-6EED-98F7-1D93AB9B89CC}"/>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54122819-A7B8-F29E-AC4E-594574190A57}"/>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4" name="Rectangle 93">
              <a:extLst>
                <a:ext uri="{FF2B5EF4-FFF2-40B4-BE49-F238E27FC236}">
                  <a16:creationId xmlns:a16="http://schemas.microsoft.com/office/drawing/2014/main" id="{218D8A4F-F2AF-FE12-D0D5-BBA60D57DB4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45" name="Rectangle 93">
              <a:extLst>
                <a:ext uri="{FF2B5EF4-FFF2-40B4-BE49-F238E27FC236}">
                  <a16:creationId xmlns:a16="http://schemas.microsoft.com/office/drawing/2014/main" id="{12A9C026-3AC1-97F3-0951-F34D0D3823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8" name="直線コネクタ 147">
              <a:extLst>
                <a:ext uri="{FF2B5EF4-FFF2-40B4-BE49-F238E27FC236}">
                  <a16:creationId xmlns:a16="http://schemas.microsoft.com/office/drawing/2014/main" id="{FFE8545A-5BCE-1FE2-4765-60F1BFE22F4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1E62C331-62A0-2A7F-2998-382E0EAAC3A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81" name="グループ化 180">
            <a:extLst>
              <a:ext uri="{FF2B5EF4-FFF2-40B4-BE49-F238E27FC236}">
                <a16:creationId xmlns:a16="http://schemas.microsoft.com/office/drawing/2014/main" id="{78130EE8-B535-1C98-4F69-608823EC70F4}"/>
              </a:ext>
            </a:extLst>
          </p:cNvPr>
          <p:cNvGrpSpPr/>
          <p:nvPr/>
        </p:nvGrpSpPr>
        <p:grpSpPr>
          <a:xfrm>
            <a:off x="6633345" y="4509012"/>
            <a:ext cx="1531092" cy="1440374"/>
            <a:chOff x="5202007" y="3068996"/>
            <a:chExt cx="1531092" cy="1440374"/>
          </a:xfrm>
        </p:grpSpPr>
        <p:sp>
          <p:nvSpPr>
            <p:cNvPr id="182" name="正方形/長方形 181">
              <a:extLst>
                <a:ext uri="{FF2B5EF4-FFF2-40B4-BE49-F238E27FC236}">
                  <a16:creationId xmlns:a16="http://schemas.microsoft.com/office/drawing/2014/main" id="{5D36497F-4C51-62D4-17AA-F8CDEBD39BE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83" name="円/楕円 69">
              <a:extLst>
                <a:ext uri="{FF2B5EF4-FFF2-40B4-BE49-F238E27FC236}">
                  <a16:creationId xmlns:a16="http://schemas.microsoft.com/office/drawing/2014/main" id="{E946A75E-DF12-DA2A-78E1-65F38AD0A93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4" name="直線コネクタ 183">
              <a:extLst>
                <a:ext uri="{FF2B5EF4-FFF2-40B4-BE49-F238E27FC236}">
                  <a16:creationId xmlns:a16="http://schemas.microsoft.com/office/drawing/2014/main" id="{F9A09F99-4D67-BE84-34D2-E9765F1FF45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5C6F4416-0241-4869-42A0-99054C02A6FE}"/>
                </a:ext>
              </a:extLst>
            </p:cNvPr>
            <p:cNvCxnSpPr>
              <a:cxnSpLocks/>
              <a:endCxn id="186"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6" name="円/楕円 68">
              <a:extLst>
                <a:ext uri="{FF2B5EF4-FFF2-40B4-BE49-F238E27FC236}">
                  <a16:creationId xmlns:a16="http://schemas.microsoft.com/office/drawing/2014/main" id="{C4E74ED1-969E-56A5-2DA1-6CBF1A8604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7" name="直線コネクタ 186">
              <a:extLst>
                <a:ext uri="{FF2B5EF4-FFF2-40B4-BE49-F238E27FC236}">
                  <a16:creationId xmlns:a16="http://schemas.microsoft.com/office/drawing/2014/main" id="{7AB187B5-B2F0-3129-225D-03029396FE71}"/>
                </a:ext>
              </a:extLst>
            </p:cNvPr>
            <p:cNvCxnSpPr>
              <a:cxnSpLocks/>
              <a:endCxn id="18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a:extLst>
                <a:ext uri="{FF2B5EF4-FFF2-40B4-BE49-F238E27FC236}">
                  <a16:creationId xmlns:a16="http://schemas.microsoft.com/office/drawing/2014/main" id="{36F01245-84C7-0659-3791-9D851EDB923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9" name="Rectangle 93">
              <a:extLst>
                <a:ext uri="{FF2B5EF4-FFF2-40B4-BE49-F238E27FC236}">
                  <a16:creationId xmlns:a16="http://schemas.microsoft.com/office/drawing/2014/main" id="{3BFAE4A7-8A5C-11A8-C51A-9C2E35F8A94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90" name="Rectangle 93">
              <a:extLst>
                <a:ext uri="{FF2B5EF4-FFF2-40B4-BE49-F238E27FC236}">
                  <a16:creationId xmlns:a16="http://schemas.microsoft.com/office/drawing/2014/main" id="{346AB20E-6F24-C876-4D81-DCA51A179F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91" name="Rectangle 93">
              <a:extLst>
                <a:ext uri="{FF2B5EF4-FFF2-40B4-BE49-F238E27FC236}">
                  <a16:creationId xmlns:a16="http://schemas.microsoft.com/office/drawing/2014/main" id="{BDE45902-F320-7645-5C24-BFAA45A3322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92" name="直線コネクタ 191">
              <a:extLst>
                <a:ext uri="{FF2B5EF4-FFF2-40B4-BE49-F238E27FC236}">
                  <a16:creationId xmlns:a16="http://schemas.microsoft.com/office/drawing/2014/main" id="{8762D339-07BA-4F05-BED0-EE9C25E6D02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CA7D9A00-BC48-0B61-BEEE-5467746B88B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94" name="直線コネクタ 193">
            <a:extLst>
              <a:ext uri="{FF2B5EF4-FFF2-40B4-BE49-F238E27FC236}">
                <a16:creationId xmlns:a16="http://schemas.microsoft.com/office/drawing/2014/main" id="{DB580ECA-4E0D-14E4-1EA3-21AB3CF0B43A}"/>
              </a:ext>
            </a:extLst>
          </p:cNvPr>
          <p:cNvCxnSpPr>
            <a:cxnSpLocks/>
          </p:cNvCxnSpPr>
          <p:nvPr/>
        </p:nvCxnSpPr>
        <p:spPr>
          <a:xfrm flipH="1">
            <a:off x="6723346" y="2708992"/>
            <a:ext cx="3600040"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a:extLst>
              <a:ext uri="{FF2B5EF4-FFF2-40B4-BE49-F238E27FC236}">
                <a16:creationId xmlns:a16="http://schemas.microsoft.com/office/drawing/2014/main" id="{ABB4A216-E134-1BD3-8862-06AE5F457314}"/>
              </a:ext>
            </a:extLst>
          </p:cNvPr>
          <p:cNvCxnSpPr>
            <a:cxnSpLocks/>
          </p:cNvCxnSpPr>
          <p:nvPr/>
        </p:nvCxnSpPr>
        <p:spPr>
          <a:xfrm>
            <a:off x="8163362" y="2708992"/>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03" name="直線コネクタ 202">
            <a:extLst>
              <a:ext uri="{FF2B5EF4-FFF2-40B4-BE49-F238E27FC236}">
                <a16:creationId xmlns:a16="http://schemas.microsoft.com/office/drawing/2014/main" id="{24DFC145-FF1A-5DAD-2768-A7562FD99C2A}"/>
              </a:ext>
            </a:extLst>
          </p:cNvPr>
          <p:cNvCxnSpPr>
            <a:cxnSpLocks/>
          </p:cNvCxnSpPr>
          <p:nvPr/>
        </p:nvCxnSpPr>
        <p:spPr>
          <a:xfrm flipV="1">
            <a:off x="6723346" y="198898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8163362" y="4149008"/>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a:extLst>
              <a:ext uri="{FF2B5EF4-FFF2-40B4-BE49-F238E27FC236}">
                <a16:creationId xmlns:a16="http://schemas.microsoft.com/office/drawing/2014/main" id="{C251C3D6-31B6-C700-8D31-DD5ECEE82AA6}"/>
              </a:ext>
            </a:extLst>
          </p:cNvPr>
          <p:cNvCxnSpPr>
            <a:cxnSpLocks/>
          </p:cNvCxnSpPr>
          <p:nvPr/>
        </p:nvCxnSpPr>
        <p:spPr>
          <a:xfrm flipV="1">
            <a:off x="8163362" y="558902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14E13B00-B2E4-2896-A4E1-0273179C6C0C}"/>
              </a:ext>
            </a:extLst>
          </p:cNvPr>
          <p:cNvCxnSpPr>
            <a:cxnSpLocks/>
          </p:cNvCxnSpPr>
          <p:nvPr/>
        </p:nvCxnSpPr>
        <p:spPr>
          <a:xfrm flipV="1">
            <a:off x="9603378" y="1988984"/>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4833326"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7803359"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6363343" y="360900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6363343" y="513901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5" name="Rectangle 93">
            <a:extLst>
              <a:ext uri="{FF2B5EF4-FFF2-40B4-BE49-F238E27FC236}">
                <a16:creationId xmlns:a16="http://schemas.microsoft.com/office/drawing/2014/main" id="{1B341E87-61B2-97DE-9C1C-40C38CE9E011}"/>
              </a:ext>
            </a:extLst>
          </p:cNvPr>
          <p:cNvSpPr>
            <a:spLocks noChangeArrowheads="1"/>
          </p:cNvSpPr>
          <p:nvPr/>
        </p:nvSpPr>
        <p:spPr bwMode="auto">
          <a:xfrm>
            <a:off x="10323387" y="252899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c</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7803359" y="5859027"/>
            <a:ext cx="450005" cy="900368"/>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6453344" y="458968"/>
            <a:ext cx="450049" cy="810009"/>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pSp>
        <p:nvGrpSpPr>
          <p:cNvPr id="228" name="グループ化 227">
            <a:extLst>
              <a:ext uri="{FF2B5EF4-FFF2-40B4-BE49-F238E27FC236}">
                <a16:creationId xmlns:a16="http://schemas.microsoft.com/office/drawing/2014/main" id="{297597D5-C82D-E38F-DAB7-D0BF7CD400E9}"/>
              </a:ext>
            </a:extLst>
          </p:cNvPr>
          <p:cNvGrpSpPr/>
          <p:nvPr/>
        </p:nvGrpSpPr>
        <p:grpSpPr>
          <a:xfrm>
            <a:off x="9333376" y="458968"/>
            <a:ext cx="450049" cy="810009"/>
            <a:chOff x="7362031" y="2528632"/>
            <a:chExt cx="450049" cy="810009"/>
          </a:xfrm>
        </p:grpSpPr>
        <p:cxnSp>
          <p:nvCxnSpPr>
            <p:cNvPr id="229" name="直線コネクタ 228">
              <a:extLst>
                <a:ext uri="{FF2B5EF4-FFF2-40B4-BE49-F238E27FC236}">
                  <a16:creationId xmlns:a16="http://schemas.microsoft.com/office/drawing/2014/main" id="{ED01009A-6891-4495-E776-F573805580AA}"/>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0D8549A2-8D92-8A6A-C6D4-372E24EFBFAB}"/>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31" name="Rectangle 93">
              <a:extLst>
                <a:ext uri="{FF2B5EF4-FFF2-40B4-BE49-F238E27FC236}">
                  <a16:creationId xmlns:a16="http://schemas.microsoft.com/office/drawing/2014/main" id="{8111FA7D-6202-5497-10C6-7A00D4BD7FDB}"/>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aphicFrame>
        <p:nvGraphicFramePr>
          <p:cNvPr id="232" name="Group 383">
            <a:extLst>
              <a:ext uri="{FF2B5EF4-FFF2-40B4-BE49-F238E27FC236}">
                <a16:creationId xmlns:a16="http://schemas.microsoft.com/office/drawing/2014/main" id="{6AD48ACB-5759-4106-CCBB-3D41C1CA6FCA}"/>
              </a:ext>
            </a:extLst>
          </p:cNvPr>
          <p:cNvGraphicFramePr>
            <a:graphicFrameLocks/>
          </p:cNvGraphicFramePr>
          <p:nvPr/>
        </p:nvGraphicFramePr>
        <p:xfrm>
          <a:off x="2765963" y="3429000"/>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33" name="Line 9">
            <a:extLst>
              <a:ext uri="{FF2B5EF4-FFF2-40B4-BE49-F238E27FC236}">
                <a16:creationId xmlns:a16="http://schemas.microsoft.com/office/drawing/2014/main" id="{7C290A15-73EA-1938-FE29-B1E6F989A659}"/>
              </a:ext>
            </a:extLst>
          </p:cNvPr>
          <p:cNvSpPr>
            <a:spLocks noChangeShapeType="1"/>
          </p:cNvSpPr>
          <p:nvPr/>
        </p:nvSpPr>
        <p:spPr bwMode="auto">
          <a:xfrm>
            <a:off x="2855665" y="25301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4" name="Line 10">
            <a:extLst>
              <a:ext uri="{FF2B5EF4-FFF2-40B4-BE49-F238E27FC236}">
                <a16:creationId xmlns:a16="http://schemas.microsoft.com/office/drawing/2014/main" id="{D30C1346-AA15-54DF-870F-EEF6D6EA322C}"/>
              </a:ext>
            </a:extLst>
          </p:cNvPr>
          <p:cNvSpPr>
            <a:spLocks noChangeShapeType="1"/>
          </p:cNvSpPr>
          <p:nvPr/>
        </p:nvSpPr>
        <p:spPr bwMode="auto">
          <a:xfrm>
            <a:off x="2855665" y="289054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5" name="Line 11">
            <a:extLst>
              <a:ext uri="{FF2B5EF4-FFF2-40B4-BE49-F238E27FC236}">
                <a16:creationId xmlns:a16="http://schemas.microsoft.com/office/drawing/2014/main" id="{C5E86058-9021-644D-EBD2-53F1B678DBC6}"/>
              </a:ext>
            </a:extLst>
          </p:cNvPr>
          <p:cNvSpPr>
            <a:spLocks noChangeShapeType="1"/>
          </p:cNvSpPr>
          <p:nvPr/>
        </p:nvSpPr>
        <p:spPr bwMode="auto">
          <a:xfrm>
            <a:off x="3935976"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6" name="Rectangle 18">
            <a:extLst>
              <a:ext uri="{FF2B5EF4-FFF2-40B4-BE49-F238E27FC236}">
                <a16:creationId xmlns:a16="http://schemas.microsoft.com/office/drawing/2014/main" id="{1A9E5224-72AD-D756-3924-C535C63E6842}"/>
              </a:ext>
            </a:extLst>
          </p:cNvPr>
          <p:cNvSpPr>
            <a:spLocks noChangeArrowheads="1"/>
          </p:cNvSpPr>
          <p:nvPr/>
        </p:nvSpPr>
        <p:spPr bwMode="auto">
          <a:xfrm>
            <a:off x="2495303" y="2350794"/>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237" name="Rectangle 20">
            <a:extLst>
              <a:ext uri="{FF2B5EF4-FFF2-40B4-BE49-F238E27FC236}">
                <a16:creationId xmlns:a16="http://schemas.microsoft.com/office/drawing/2014/main" id="{EFCD0B20-8ED0-0F37-F223-0B41A75A6923}"/>
              </a:ext>
            </a:extLst>
          </p:cNvPr>
          <p:cNvSpPr>
            <a:spLocks noChangeArrowheads="1"/>
          </p:cNvSpPr>
          <p:nvPr/>
        </p:nvSpPr>
        <p:spPr bwMode="auto">
          <a:xfrm>
            <a:off x="2495303" y="2709569"/>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238" name="Rectangle 21">
            <a:extLst>
              <a:ext uri="{FF2B5EF4-FFF2-40B4-BE49-F238E27FC236}">
                <a16:creationId xmlns:a16="http://schemas.microsoft.com/office/drawing/2014/main" id="{D809770E-4485-1EEA-3D22-37AF747BC4B5}"/>
              </a:ext>
            </a:extLst>
          </p:cNvPr>
          <p:cNvSpPr>
            <a:spLocks noChangeArrowheads="1"/>
          </p:cNvSpPr>
          <p:nvPr/>
        </p:nvSpPr>
        <p:spPr bwMode="auto">
          <a:xfrm>
            <a:off x="4562870" y="2440180"/>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c</a:t>
            </a:r>
          </a:p>
        </p:txBody>
      </p:sp>
      <p:grpSp>
        <p:nvGrpSpPr>
          <p:cNvPr id="240" name="グループ化 239">
            <a:extLst>
              <a:ext uri="{FF2B5EF4-FFF2-40B4-BE49-F238E27FC236}">
                <a16:creationId xmlns:a16="http://schemas.microsoft.com/office/drawing/2014/main" id="{64DC05BE-F391-47A1-1C07-B7685C59B819}"/>
              </a:ext>
            </a:extLst>
          </p:cNvPr>
          <p:cNvGrpSpPr/>
          <p:nvPr/>
        </p:nvGrpSpPr>
        <p:grpSpPr>
          <a:xfrm>
            <a:off x="5193329" y="908972"/>
            <a:ext cx="1531092" cy="1440374"/>
            <a:chOff x="5202007" y="2708992"/>
            <a:chExt cx="1531092" cy="1440374"/>
          </a:xfrm>
        </p:grpSpPr>
        <p:grpSp>
          <p:nvGrpSpPr>
            <p:cNvPr id="241" name="グループ化 240">
              <a:extLst>
                <a:ext uri="{FF2B5EF4-FFF2-40B4-BE49-F238E27FC236}">
                  <a16:creationId xmlns:a16="http://schemas.microsoft.com/office/drawing/2014/main" id="{AD4B61D4-B437-6511-33DD-77F967CE31D0}"/>
                </a:ext>
              </a:extLst>
            </p:cNvPr>
            <p:cNvGrpSpPr/>
            <p:nvPr/>
          </p:nvGrpSpPr>
          <p:grpSpPr>
            <a:xfrm>
              <a:off x="5202007" y="2708992"/>
              <a:ext cx="1531092" cy="1440374"/>
              <a:chOff x="5202007" y="3068996"/>
              <a:chExt cx="1531092" cy="1440374"/>
            </a:xfrm>
          </p:grpSpPr>
          <p:sp>
            <p:nvSpPr>
              <p:cNvPr id="243" name="正方形/長方形 242">
                <a:extLst>
                  <a:ext uri="{FF2B5EF4-FFF2-40B4-BE49-F238E27FC236}">
                    <a16:creationId xmlns:a16="http://schemas.microsoft.com/office/drawing/2014/main" id="{86866406-9D63-F792-50B2-E0CD0FFA0846}"/>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44" name="円/楕円 69">
                <a:extLst>
                  <a:ext uri="{FF2B5EF4-FFF2-40B4-BE49-F238E27FC236}">
                    <a16:creationId xmlns:a16="http://schemas.microsoft.com/office/drawing/2014/main" id="{96371EA1-E139-0315-043E-0B4DF5FBA71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5" name="直線コネクタ 244">
                <a:extLst>
                  <a:ext uri="{FF2B5EF4-FFF2-40B4-BE49-F238E27FC236}">
                    <a16:creationId xmlns:a16="http://schemas.microsoft.com/office/drawing/2014/main" id="{38203321-0409-23A6-FD7F-45C1B686EB9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6" name="直線コネクタ 245">
                <a:extLst>
                  <a:ext uri="{FF2B5EF4-FFF2-40B4-BE49-F238E27FC236}">
                    <a16:creationId xmlns:a16="http://schemas.microsoft.com/office/drawing/2014/main" id="{FBA22A40-B145-7319-E97D-68D9B31C874F}"/>
                  </a:ext>
                </a:extLst>
              </p:cNvPr>
              <p:cNvCxnSpPr>
                <a:cxnSpLocks/>
                <a:endCxn id="247"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7" name="円/楕円 68">
                <a:extLst>
                  <a:ext uri="{FF2B5EF4-FFF2-40B4-BE49-F238E27FC236}">
                    <a16:creationId xmlns:a16="http://schemas.microsoft.com/office/drawing/2014/main" id="{5EB7FC80-3AF0-8CBA-FCEA-A1CE2514967E}"/>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8" name="直線コネクタ 247">
                <a:extLst>
                  <a:ext uri="{FF2B5EF4-FFF2-40B4-BE49-F238E27FC236}">
                    <a16:creationId xmlns:a16="http://schemas.microsoft.com/office/drawing/2014/main" id="{B5F4298D-8C76-C8B8-AD6F-46164F808165}"/>
                  </a:ext>
                </a:extLst>
              </p:cNvPr>
              <p:cNvCxnSpPr>
                <a:cxnSpLocks/>
                <a:endCxn id="24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87ED5C31-0306-BF9B-5D07-023857BE8BE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1CC9BD9A-C161-908B-530A-AAE16345FFF4}"/>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51" name="Rectangle 93">
                <a:extLst>
                  <a:ext uri="{FF2B5EF4-FFF2-40B4-BE49-F238E27FC236}">
                    <a16:creationId xmlns:a16="http://schemas.microsoft.com/office/drawing/2014/main" id="{8C152B59-926E-806F-0C67-BF036016E37D}"/>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52" name="Rectangle 93">
                <a:extLst>
                  <a:ext uri="{FF2B5EF4-FFF2-40B4-BE49-F238E27FC236}">
                    <a16:creationId xmlns:a16="http://schemas.microsoft.com/office/drawing/2014/main" id="{C1B3EBB4-0E50-4ED8-B062-DA6931AEE4D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53" name="直線コネクタ 252">
                <a:extLst>
                  <a:ext uri="{FF2B5EF4-FFF2-40B4-BE49-F238E27FC236}">
                    <a16:creationId xmlns:a16="http://schemas.microsoft.com/office/drawing/2014/main" id="{ABCF7961-5A82-18F0-8D24-68C47EFDD14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4" name="直線コネクタ 253">
                <a:extLst>
                  <a:ext uri="{FF2B5EF4-FFF2-40B4-BE49-F238E27FC236}">
                    <a16:creationId xmlns:a16="http://schemas.microsoft.com/office/drawing/2014/main" id="{188713DD-5FE2-D0F7-5EC1-DC2D42665F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42" name="円/楕円 69">
              <a:extLst>
                <a:ext uri="{FF2B5EF4-FFF2-40B4-BE49-F238E27FC236}">
                  <a16:creationId xmlns:a16="http://schemas.microsoft.com/office/drawing/2014/main" id="{933751A7-FF78-01EB-35DF-6EF73A031FBB}"/>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255" name="グループ化 254">
            <a:extLst>
              <a:ext uri="{FF2B5EF4-FFF2-40B4-BE49-F238E27FC236}">
                <a16:creationId xmlns:a16="http://schemas.microsoft.com/office/drawing/2014/main" id="{9F9B0FA8-830C-7FF4-5C26-22017E7397F6}"/>
              </a:ext>
            </a:extLst>
          </p:cNvPr>
          <p:cNvGrpSpPr/>
          <p:nvPr/>
        </p:nvGrpSpPr>
        <p:grpSpPr>
          <a:xfrm>
            <a:off x="8073361" y="908972"/>
            <a:ext cx="1531092" cy="1440374"/>
            <a:chOff x="5202007" y="2708992"/>
            <a:chExt cx="1531092" cy="1440374"/>
          </a:xfrm>
        </p:grpSpPr>
        <p:grpSp>
          <p:nvGrpSpPr>
            <p:cNvPr id="256" name="グループ化 255">
              <a:extLst>
                <a:ext uri="{FF2B5EF4-FFF2-40B4-BE49-F238E27FC236}">
                  <a16:creationId xmlns:a16="http://schemas.microsoft.com/office/drawing/2014/main" id="{68E39442-C29F-1899-B368-C5ECE08904B1}"/>
                </a:ext>
              </a:extLst>
            </p:cNvPr>
            <p:cNvGrpSpPr/>
            <p:nvPr/>
          </p:nvGrpSpPr>
          <p:grpSpPr>
            <a:xfrm>
              <a:off x="5202007" y="2708992"/>
              <a:ext cx="1531092" cy="1440374"/>
              <a:chOff x="5202007" y="3068996"/>
              <a:chExt cx="1531092" cy="1440374"/>
            </a:xfrm>
          </p:grpSpPr>
          <p:sp>
            <p:nvSpPr>
              <p:cNvPr id="258" name="正方形/長方形 257">
                <a:extLst>
                  <a:ext uri="{FF2B5EF4-FFF2-40B4-BE49-F238E27FC236}">
                    <a16:creationId xmlns:a16="http://schemas.microsoft.com/office/drawing/2014/main" id="{F0A0894E-14F7-4EAB-E9F3-5450B47F73F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59" name="円/楕円 69">
                <a:extLst>
                  <a:ext uri="{FF2B5EF4-FFF2-40B4-BE49-F238E27FC236}">
                    <a16:creationId xmlns:a16="http://schemas.microsoft.com/office/drawing/2014/main" id="{9C21C671-151D-3648-3195-97BD7B17EA5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0" name="直線コネクタ 259">
                <a:extLst>
                  <a:ext uri="{FF2B5EF4-FFF2-40B4-BE49-F238E27FC236}">
                    <a16:creationId xmlns:a16="http://schemas.microsoft.com/office/drawing/2014/main" id="{E5ACD0F4-0B92-BB7B-EDE2-34725CE4EBE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1" name="直線コネクタ 260">
                <a:extLst>
                  <a:ext uri="{FF2B5EF4-FFF2-40B4-BE49-F238E27FC236}">
                    <a16:creationId xmlns:a16="http://schemas.microsoft.com/office/drawing/2014/main" id="{F85D2DB9-51BF-812C-989F-D84EF291E638}"/>
                  </a:ext>
                </a:extLst>
              </p:cNvPr>
              <p:cNvCxnSpPr>
                <a:cxnSpLocks/>
                <a:endCxn id="26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2" name="円/楕円 68">
                <a:extLst>
                  <a:ext uri="{FF2B5EF4-FFF2-40B4-BE49-F238E27FC236}">
                    <a16:creationId xmlns:a16="http://schemas.microsoft.com/office/drawing/2014/main" id="{313B59DE-9878-BF57-314D-C173E7F967B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3" name="直線コネクタ 262">
                <a:extLst>
                  <a:ext uri="{FF2B5EF4-FFF2-40B4-BE49-F238E27FC236}">
                    <a16:creationId xmlns:a16="http://schemas.microsoft.com/office/drawing/2014/main" id="{2EA6AA04-78CF-CBC1-8A86-A201FFBFBE03}"/>
                  </a:ext>
                </a:extLst>
              </p:cNvPr>
              <p:cNvCxnSpPr>
                <a:cxnSpLocks/>
                <a:endCxn id="25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4" name="直線コネクタ 263">
                <a:extLst>
                  <a:ext uri="{FF2B5EF4-FFF2-40B4-BE49-F238E27FC236}">
                    <a16:creationId xmlns:a16="http://schemas.microsoft.com/office/drawing/2014/main" id="{3DDF3381-33D2-CA9C-5353-197B8754F644}"/>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5" name="Rectangle 93">
                <a:extLst>
                  <a:ext uri="{FF2B5EF4-FFF2-40B4-BE49-F238E27FC236}">
                    <a16:creationId xmlns:a16="http://schemas.microsoft.com/office/drawing/2014/main" id="{1A5CD5E4-9C26-828A-EE8A-CC6DCAE8431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66" name="Rectangle 93">
                <a:extLst>
                  <a:ext uri="{FF2B5EF4-FFF2-40B4-BE49-F238E27FC236}">
                    <a16:creationId xmlns:a16="http://schemas.microsoft.com/office/drawing/2014/main" id="{8AF29F70-4B0B-1C15-ADC4-EC758570862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67" name="Rectangle 93">
                <a:extLst>
                  <a:ext uri="{FF2B5EF4-FFF2-40B4-BE49-F238E27FC236}">
                    <a16:creationId xmlns:a16="http://schemas.microsoft.com/office/drawing/2014/main" id="{14E6DE1A-8D0D-C6D6-36F7-E02D704775E9}"/>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68" name="直線コネクタ 267">
                <a:extLst>
                  <a:ext uri="{FF2B5EF4-FFF2-40B4-BE49-F238E27FC236}">
                    <a16:creationId xmlns:a16="http://schemas.microsoft.com/office/drawing/2014/main" id="{3BA9A987-30BA-16EE-F80C-0BC772D8BDA7}"/>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9" name="直線コネクタ 268">
                <a:extLst>
                  <a:ext uri="{FF2B5EF4-FFF2-40B4-BE49-F238E27FC236}">
                    <a16:creationId xmlns:a16="http://schemas.microsoft.com/office/drawing/2014/main" id="{A895D64E-4D3F-993F-6C1D-4C451C76A87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57" name="円/楕円 69">
              <a:extLst>
                <a:ext uri="{FF2B5EF4-FFF2-40B4-BE49-F238E27FC236}">
                  <a16:creationId xmlns:a16="http://schemas.microsoft.com/office/drawing/2014/main" id="{D1C2D577-F633-4585-AA57-4F24B38099D4}"/>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pic>
        <p:nvPicPr>
          <p:cNvPr id="271" name="Picture 83" descr="NAND">
            <a:extLst>
              <a:ext uri="{FF2B5EF4-FFF2-40B4-BE49-F238E27FC236}">
                <a16:creationId xmlns:a16="http://schemas.microsoft.com/office/drawing/2014/main" id="{74CA9A92-CCBF-2F74-4E80-87FB436A6EEB}"/>
              </a:ext>
            </a:extLst>
          </p:cNvPr>
          <p:cNvPicPr>
            <a:picLocks noChangeAspect="1" noChangeArrowheads="1"/>
          </p:cNvPicPr>
          <p:nvPr/>
        </p:nvPicPr>
        <p:blipFill>
          <a:blip r:embed="rId2" cstate="print"/>
          <a:srcRect/>
          <a:stretch>
            <a:fillRect/>
          </a:stretch>
        </p:blipFill>
        <p:spPr bwMode="auto">
          <a:xfrm>
            <a:off x="3125967" y="2348989"/>
            <a:ext cx="1079500" cy="720725"/>
          </a:xfrm>
          <a:prstGeom prst="rect">
            <a:avLst/>
          </a:prstGeom>
          <a:noFill/>
        </p:spPr>
      </p:pic>
    </p:spTree>
    <p:extLst>
      <p:ext uri="{BB962C8B-B14F-4D97-AF65-F5344CB8AC3E}">
        <p14:creationId xmlns:p14="http://schemas.microsoft.com/office/powerpoint/2010/main" val="2639299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2D715D8-6E22-AD6D-3FA4-DFFC6E9449E7}"/>
              </a:ext>
            </a:extLst>
          </p:cNvPr>
          <p:cNvSpPr>
            <a:spLocks noGrp="1"/>
          </p:cNvSpPr>
          <p:nvPr>
            <p:ph type="title"/>
          </p:nvPr>
        </p:nvSpPr>
        <p:spPr/>
        <p:txBody>
          <a:bodyPr/>
          <a:lstStyle/>
          <a:p>
            <a:r>
              <a:rPr lang="ja-JP" altLang="en-US" dirty="0"/>
              <a:t>スイッチ的なものがあると </a:t>
            </a:r>
            <a:r>
              <a:rPr lang="en-US" altLang="ja-JP" dirty="0"/>
              <a:t>NAND </a:t>
            </a:r>
            <a:r>
              <a:rPr lang="ja-JP" altLang="en-US" dirty="0"/>
              <a:t>が作れる </a:t>
            </a:r>
            <a:br>
              <a:rPr lang="en-US" altLang="ja-JP" dirty="0"/>
            </a:br>
            <a:r>
              <a:rPr lang="ja-JP" altLang="en-US" dirty="0"/>
              <a:t>→コンピュータが作れる</a:t>
            </a:r>
          </a:p>
        </p:txBody>
      </p:sp>
      <p:sp>
        <p:nvSpPr>
          <p:cNvPr id="6" name="テキスト プレースホルダー 5">
            <a:extLst>
              <a:ext uri="{FF2B5EF4-FFF2-40B4-BE49-F238E27FC236}">
                <a16:creationId xmlns:a16="http://schemas.microsoft.com/office/drawing/2014/main" id="{36FC3B94-C936-B567-0897-A70F859ECD62}"/>
              </a:ext>
            </a:extLst>
          </p:cNvPr>
          <p:cNvSpPr>
            <a:spLocks noGrp="1"/>
          </p:cNvSpPr>
          <p:nvPr>
            <p:ph type="body" sz="quarter" idx="10"/>
          </p:nvPr>
        </p:nvSpPr>
        <p:spPr/>
        <p:txBody>
          <a:bodyPr/>
          <a:lstStyle/>
          <a:p>
            <a:r>
              <a:rPr lang="ja-JP" altLang="en-US" dirty="0"/>
              <a:t>ここまで：</a:t>
            </a:r>
            <a:endParaRPr lang="en-US" altLang="ja-JP" dirty="0"/>
          </a:p>
          <a:p>
            <a:pPr lvl="1"/>
            <a:r>
              <a:rPr lang="ja-JP" altLang="en-US" dirty="0"/>
              <a:t>スイッチ的なものがあると </a:t>
            </a:r>
            <a:r>
              <a:rPr lang="en-US" altLang="ja-JP" dirty="0"/>
              <a:t>NOT </a:t>
            </a:r>
            <a:r>
              <a:rPr lang="ja-JP" altLang="en-US" dirty="0"/>
              <a:t>と </a:t>
            </a:r>
            <a:r>
              <a:rPr lang="en-US" altLang="ja-JP" dirty="0"/>
              <a:t>NAND </a:t>
            </a:r>
            <a:r>
              <a:rPr lang="ja-JP" altLang="en-US" dirty="0"/>
              <a:t>が作れる</a:t>
            </a:r>
            <a:endParaRPr lang="en-US" altLang="ja-JP" dirty="0"/>
          </a:p>
          <a:p>
            <a:r>
              <a:rPr lang="ja-JP" altLang="en-US" dirty="0"/>
              <a:t>なんらかの入力に従って </a:t>
            </a:r>
            <a:r>
              <a:rPr lang="en-US" altLang="ja-JP" dirty="0"/>
              <a:t>ON/OFF </a:t>
            </a:r>
            <a:r>
              <a:rPr lang="ja-JP" altLang="en-US" dirty="0"/>
              <a:t>できるスイッチがあれば，</a:t>
            </a:r>
            <a:br>
              <a:rPr lang="en-US" altLang="ja-JP" dirty="0"/>
            </a:br>
            <a:r>
              <a:rPr lang="ja-JP" altLang="en-US" dirty="0"/>
              <a:t>それでコンピュータが作れる</a:t>
            </a:r>
            <a:endParaRPr lang="en-US" altLang="ja-JP" dirty="0"/>
          </a:p>
        </p:txBody>
      </p:sp>
    </p:spTree>
    <p:extLst>
      <p:ext uri="{BB962C8B-B14F-4D97-AF65-F5344CB8AC3E}">
        <p14:creationId xmlns:p14="http://schemas.microsoft.com/office/powerpoint/2010/main" val="3417152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06586F9-6C36-61A6-23F7-111392D1F063}"/>
              </a:ext>
            </a:extLst>
          </p:cNvPr>
          <p:cNvSpPr>
            <a:spLocks noGrp="1"/>
          </p:cNvSpPr>
          <p:nvPr>
            <p:ph type="title"/>
          </p:nvPr>
        </p:nvSpPr>
        <p:spPr/>
        <p:txBody>
          <a:bodyPr/>
          <a:lstStyle/>
          <a:p>
            <a:r>
              <a:rPr lang="ja-JP" altLang="en-US" dirty="0"/>
              <a:t>スイッチからコンピュータを作る</a:t>
            </a:r>
            <a:endParaRPr lang="en-US" dirty="0"/>
          </a:p>
        </p:txBody>
      </p:sp>
      <p:sp>
        <p:nvSpPr>
          <p:cNvPr id="6" name="コンテンツ プレースホルダー 5">
            <a:extLst>
              <a:ext uri="{FF2B5EF4-FFF2-40B4-BE49-F238E27FC236}">
                <a16:creationId xmlns:a16="http://schemas.microsoft.com/office/drawing/2014/main" id="{C5366AB5-271B-B1D3-AAAD-F3B904C622CE}"/>
              </a:ext>
            </a:extLst>
          </p:cNvPr>
          <p:cNvSpPr>
            <a:spLocks noGrp="1"/>
          </p:cNvSpPr>
          <p:nvPr>
            <p:ph sz="quarter" idx="10"/>
          </p:nvPr>
        </p:nvSpPr>
        <p:spPr>
          <a:xfrm>
            <a:off x="1775952" y="1358977"/>
            <a:ext cx="8640096" cy="5220058"/>
          </a:xfrm>
        </p:spPr>
        <p:txBody>
          <a:bodyPr anchor="t"/>
          <a:lstStyle/>
          <a:p>
            <a:r>
              <a:rPr lang="ja-JP" altLang="en-US" dirty="0"/>
              <a:t>スイッチから </a:t>
            </a:r>
            <a:r>
              <a:rPr lang="en-US" altLang="ja-JP" dirty="0"/>
              <a:t>NOT</a:t>
            </a:r>
            <a:r>
              <a:rPr lang="ja-JP" altLang="en-US" dirty="0"/>
              <a:t>，</a:t>
            </a:r>
            <a:r>
              <a:rPr lang="en-US" altLang="ja-JP" dirty="0"/>
              <a:t>AND</a:t>
            </a:r>
            <a:r>
              <a:rPr lang="ja-JP" altLang="en-US" dirty="0"/>
              <a:t>，</a:t>
            </a:r>
            <a:r>
              <a:rPr lang="en-US" altLang="ja-JP" dirty="0"/>
              <a:t>OR </a:t>
            </a:r>
            <a:r>
              <a:rPr lang="ja-JP" altLang="en-US" dirty="0"/>
              <a:t>を作る手順</a:t>
            </a:r>
            <a:endParaRPr lang="en-US" altLang="ja-JP" dirty="0"/>
          </a:p>
          <a:p>
            <a:pPr marL="817200" lvl="1" indent="-457200">
              <a:buFont typeface="+mj-lt"/>
              <a:buAutoNum type="arabicPeriod"/>
            </a:pPr>
            <a:r>
              <a:rPr lang="ja-JP" altLang="en-US" dirty="0"/>
              <a:t>スイッチを組み合わせて </a:t>
            </a:r>
            <a:r>
              <a:rPr lang="en-US" altLang="ja-JP" dirty="0"/>
              <a:t>NOT </a:t>
            </a:r>
            <a:r>
              <a:rPr lang="ja-JP" altLang="en-US" dirty="0"/>
              <a:t>と </a:t>
            </a:r>
            <a:r>
              <a:rPr lang="en-US" altLang="ja-JP" dirty="0"/>
              <a:t>NAND </a:t>
            </a:r>
            <a:r>
              <a:rPr lang="ja-JP" altLang="en-US" dirty="0"/>
              <a:t>を作る</a:t>
            </a:r>
            <a:endParaRPr lang="en-US" altLang="ja-JP" dirty="0"/>
          </a:p>
          <a:p>
            <a:pPr marL="817200" lvl="1" indent="-457200">
              <a:buFont typeface="+mj-lt"/>
              <a:buAutoNum type="arabicPeriod"/>
            </a:pPr>
            <a:r>
              <a:rPr lang="en-US" dirty="0"/>
              <a:t>NOT </a:t>
            </a:r>
            <a:r>
              <a:rPr lang="ja-JP" altLang="en-US" dirty="0"/>
              <a:t>と </a:t>
            </a:r>
            <a:r>
              <a:rPr lang="en-US" altLang="ja-JP" dirty="0"/>
              <a:t>NAND </a:t>
            </a:r>
            <a:r>
              <a:rPr lang="ja-JP" altLang="en-US" dirty="0"/>
              <a:t>を組み合わせて </a:t>
            </a:r>
            <a:r>
              <a:rPr lang="en-US" altLang="ja-JP" dirty="0"/>
              <a:t>AND </a:t>
            </a:r>
            <a:r>
              <a:rPr lang="ja-JP" altLang="en-US" dirty="0"/>
              <a:t>と </a:t>
            </a:r>
            <a:r>
              <a:rPr lang="en-US" altLang="ja-JP" dirty="0"/>
              <a:t>OR </a:t>
            </a:r>
            <a:r>
              <a:rPr lang="ja-JP" altLang="en-US" dirty="0"/>
              <a:t>を作る</a:t>
            </a:r>
            <a:endParaRPr lang="en-US" altLang="ja-JP" dirty="0"/>
          </a:p>
          <a:p>
            <a:r>
              <a:rPr lang="en-US" altLang="ja-JP" dirty="0"/>
              <a:t>NOT</a:t>
            </a:r>
            <a:r>
              <a:rPr lang="ja-JP" altLang="en-US" dirty="0"/>
              <a:t>，</a:t>
            </a:r>
            <a:r>
              <a:rPr lang="en-US" altLang="ja-JP" dirty="0"/>
              <a:t>AND</a:t>
            </a:r>
            <a:r>
              <a:rPr lang="ja-JP" altLang="en-US" dirty="0"/>
              <a:t>，</a:t>
            </a:r>
            <a:r>
              <a:rPr lang="en-US" altLang="ja-JP" dirty="0"/>
              <a:t>OR </a:t>
            </a:r>
            <a:r>
              <a:rPr lang="ja-JP" altLang="en-US" dirty="0"/>
              <a:t>からコンピュータを作る手順</a:t>
            </a:r>
            <a:endParaRPr lang="en-US" altLang="ja-JP" dirty="0"/>
          </a:p>
          <a:p>
            <a:pPr marL="817200" lvl="1" indent="-457200">
              <a:buFont typeface="+mj-lt"/>
              <a:buAutoNum type="arabicPeriod"/>
            </a:pPr>
            <a:r>
              <a:rPr lang="en-US" altLang="ja-JP" dirty="0"/>
              <a:t>NOT</a:t>
            </a:r>
            <a:r>
              <a:rPr lang="ja-JP" altLang="en-US" dirty="0"/>
              <a:t>，</a:t>
            </a:r>
            <a:r>
              <a:rPr lang="en-US" altLang="ja-JP" dirty="0"/>
              <a:t>AND</a:t>
            </a:r>
            <a:r>
              <a:rPr lang="ja-JP" altLang="en-US" dirty="0"/>
              <a:t>，</a:t>
            </a:r>
            <a:r>
              <a:rPr lang="en-US" altLang="ja-JP" dirty="0"/>
              <a:t>OR </a:t>
            </a:r>
            <a:r>
              <a:rPr lang="ja-JP" altLang="en-US" dirty="0"/>
              <a:t>を使うと任意の論理回路が作れる</a:t>
            </a:r>
            <a:endParaRPr lang="en-US" altLang="ja-JP" dirty="0"/>
          </a:p>
          <a:p>
            <a:pPr marL="817200" lvl="1" indent="-457200">
              <a:buFont typeface="+mj-lt"/>
              <a:buAutoNum type="arabicPeriod"/>
            </a:pPr>
            <a:r>
              <a:rPr lang="ja-JP" altLang="en-US" dirty="0"/>
              <a:t>任意の論理回路を使うと </a:t>
            </a:r>
            <a:r>
              <a:rPr lang="en-US" altLang="ja-JP" dirty="0"/>
              <a:t>CPU </a:t>
            </a:r>
            <a:r>
              <a:rPr lang="ja-JP" altLang="en-US" dirty="0"/>
              <a:t>の部品が作れる</a:t>
            </a:r>
            <a:endParaRPr lang="en-US" altLang="ja-JP" dirty="0"/>
          </a:p>
          <a:p>
            <a:pPr lvl="2"/>
            <a:r>
              <a:rPr lang="en-US" altLang="ja-JP" dirty="0"/>
              <a:t>PC</a:t>
            </a:r>
            <a:r>
              <a:rPr lang="ja-JP" altLang="en-US" dirty="0"/>
              <a:t>，レジスタ，演算器，メモリ･･･</a:t>
            </a:r>
            <a:endParaRPr lang="en-US" altLang="ja-JP" dirty="0"/>
          </a:p>
          <a:p>
            <a:pPr marL="817200" lvl="1" indent="-457200">
              <a:buFont typeface="+mj-lt"/>
              <a:buAutoNum type="arabicPeriod"/>
            </a:pPr>
            <a:r>
              <a:rPr lang="ja-JP" altLang="en-US" dirty="0"/>
              <a:t>それらを組み合わせるとコンピュータができる</a:t>
            </a:r>
            <a:endParaRPr lang="en-US" dirty="0"/>
          </a:p>
        </p:txBody>
      </p:sp>
    </p:spTree>
    <p:extLst>
      <p:ext uri="{BB962C8B-B14F-4D97-AF65-F5344CB8AC3E}">
        <p14:creationId xmlns:p14="http://schemas.microsoft.com/office/powerpoint/2010/main" val="2631460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48D921-750E-E86A-3624-6989799238AC}"/>
              </a:ext>
            </a:extLst>
          </p:cNvPr>
          <p:cNvSpPr>
            <a:spLocks noGrp="1"/>
          </p:cNvSpPr>
          <p:nvPr>
            <p:ph type="title"/>
          </p:nvPr>
        </p:nvSpPr>
        <p:spPr/>
        <p:txBody>
          <a:bodyPr/>
          <a:lstStyle/>
          <a:p>
            <a:r>
              <a:rPr kumimoji="1" lang="ja-JP" altLang="en-US" dirty="0"/>
              <a:t>つまり，</a:t>
            </a:r>
            <a:endParaRPr kumimoji="1" lang="en-US" dirty="0"/>
          </a:p>
        </p:txBody>
      </p:sp>
      <p:sp>
        <p:nvSpPr>
          <p:cNvPr id="3" name="コンテンツ プレースホルダー 2">
            <a:extLst>
              <a:ext uri="{FF2B5EF4-FFF2-40B4-BE49-F238E27FC236}">
                <a16:creationId xmlns:a16="http://schemas.microsoft.com/office/drawing/2014/main" id="{0C9930CE-86B6-FE67-225C-3AFDA19E5E74}"/>
              </a:ext>
            </a:extLst>
          </p:cNvPr>
          <p:cNvSpPr>
            <a:spLocks noGrp="1"/>
          </p:cNvSpPr>
          <p:nvPr>
            <p:ph sz="quarter" idx="10"/>
          </p:nvPr>
        </p:nvSpPr>
        <p:spPr/>
        <p:txBody>
          <a:bodyPr/>
          <a:lstStyle/>
          <a:p>
            <a:r>
              <a:rPr kumimoji="1" lang="ja-JP" altLang="en-US" b="1" dirty="0">
                <a:solidFill>
                  <a:schemeClr val="accent5"/>
                </a:solidFill>
              </a:rPr>
              <a:t>なんらかの入力に従って </a:t>
            </a:r>
            <a:r>
              <a:rPr kumimoji="1" lang="en-US" altLang="ja-JP" b="1" dirty="0">
                <a:solidFill>
                  <a:schemeClr val="accent5"/>
                </a:solidFill>
              </a:rPr>
              <a:t>ON/OFF </a:t>
            </a:r>
            <a:r>
              <a:rPr kumimoji="1" lang="ja-JP" altLang="en-US" b="1" dirty="0">
                <a:solidFill>
                  <a:schemeClr val="accent5"/>
                </a:solidFill>
              </a:rPr>
              <a:t>できるスイッチがあれば，</a:t>
            </a:r>
            <a:br>
              <a:rPr kumimoji="1" lang="en-US" altLang="ja-JP" b="1" dirty="0">
                <a:solidFill>
                  <a:schemeClr val="accent5"/>
                </a:solidFill>
              </a:rPr>
            </a:br>
            <a:r>
              <a:rPr kumimoji="1" lang="ja-JP" altLang="en-US" b="1" dirty="0">
                <a:solidFill>
                  <a:schemeClr val="accent5"/>
                </a:solidFill>
              </a:rPr>
              <a:t>それでコンピュータが作れる</a:t>
            </a:r>
            <a:endParaRPr kumimoji="1" lang="en-US" altLang="ja-JP" b="1" dirty="0">
              <a:solidFill>
                <a:schemeClr val="accent5"/>
              </a:solidFill>
            </a:endParaRPr>
          </a:p>
          <a:p>
            <a:pPr lvl="1"/>
            <a:endParaRPr lang="en-US" b="1" dirty="0">
              <a:solidFill>
                <a:schemeClr val="accent5"/>
              </a:solidFill>
            </a:endParaRPr>
          </a:p>
          <a:p>
            <a:pPr lvl="1"/>
            <a:r>
              <a:rPr kumimoji="1" lang="ja-JP" altLang="en-US" dirty="0"/>
              <a:t>具体的な回路の組み方は，回路の種別ごとに違う事もある</a:t>
            </a:r>
            <a:endParaRPr kumimoji="1" lang="en-US" altLang="ja-JP" dirty="0"/>
          </a:p>
          <a:p>
            <a:pPr lvl="1"/>
            <a:r>
              <a:rPr kumimoji="1" lang="en-US" altLang="ja-JP" dirty="0"/>
              <a:t>NAND </a:t>
            </a:r>
            <a:r>
              <a:rPr kumimoji="1" lang="ja-JP" altLang="en-US" dirty="0"/>
              <a:t>さえ出来ればこっちのもの</a:t>
            </a:r>
            <a:endParaRPr kumimoji="1" lang="en-US" dirty="0"/>
          </a:p>
        </p:txBody>
      </p:sp>
    </p:spTree>
    <p:extLst>
      <p:ext uri="{BB962C8B-B14F-4D97-AF65-F5344CB8AC3E}">
        <p14:creationId xmlns:p14="http://schemas.microsoft.com/office/powerpoint/2010/main" val="3243719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4724B-30AA-344A-14D3-CE865807F5A4}"/>
              </a:ext>
            </a:extLst>
          </p:cNvPr>
          <p:cNvSpPr>
            <a:spLocks noGrp="1"/>
          </p:cNvSpPr>
          <p:nvPr>
            <p:ph type="title"/>
          </p:nvPr>
        </p:nvSpPr>
        <p:spPr/>
        <p:txBody>
          <a:bodyPr/>
          <a:lstStyle/>
          <a:p>
            <a:r>
              <a:rPr kumimoji="1" lang="ja-JP" altLang="en-US" dirty="0"/>
              <a:t>真空管（三極管）</a:t>
            </a:r>
            <a:endParaRPr kumimoji="1" lang="en-US" dirty="0"/>
          </a:p>
        </p:txBody>
      </p:sp>
      <p:sp>
        <p:nvSpPr>
          <p:cNvPr id="3" name="コンテンツ プレースホルダー 2">
            <a:extLst>
              <a:ext uri="{FF2B5EF4-FFF2-40B4-BE49-F238E27FC236}">
                <a16:creationId xmlns:a16="http://schemas.microsoft.com/office/drawing/2014/main" id="{28FDF9AE-FE2C-50D4-5264-356FC112DD77}"/>
              </a:ext>
            </a:extLst>
          </p:cNvPr>
          <p:cNvSpPr>
            <a:spLocks noGrp="1"/>
          </p:cNvSpPr>
          <p:nvPr>
            <p:ph sz="quarter" idx="10"/>
          </p:nvPr>
        </p:nvSpPr>
        <p:spPr>
          <a:xfrm>
            <a:off x="2135956" y="1088974"/>
            <a:ext cx="8280092" cy="900010"/>
          </a:xfrm>
        </p:spPr>
        <p:txBody>
          <a:bodyPr/>
          <a:lstStyle/>
          <a:p>
            <a:r>
              <a:rPr kumimoji="1" lang="ja-JP" altLang="en-US" dirty="0"/>
              <a:t>電球にカソードとグリッド，プレートなどの電極を追加したもの</a:t>
            </a:r>
            <a:endParaRPr kumimoji="1" lang="en-US" dirty="0"/>
          </a:p>
        </p:txBody>
      </p:sp>
      <p:sp>
        <p:nvSpPr>
          <p:cNvPr id="4" name="楕円 3">
            <a:extLst>
              <a:ext uri="{FF2B5EF4-FFF2-40B4-BE49-F238E27FC236}">
                <a16:creationId xmlns:a16="http://schemas.microsoft.com/office/drawing/2014/main" id="{39394E1B-9C93-F0C9-6FF8-BF0858031730}"/>
              </a:ext>
            </a:extLst>
          </p:cNvPr>
          <p:cNvSpPr/>
          <p:nvPr/>
        </p:nvSpPr>
        <p:spPr bwMode="auto">
          <a:xfrm>
            <a:off x="7716019" y="3248998"/>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pic>
        <p:nvPicPr>
          <p:cNvPr id="2050" name="Picture 2" descr="undefined">
            <a:extLst>
              <a:ext uri="{FF2B5EF4-FFF2-40B4-BE49-F238E27FC236}">
                <a16:creationId xmlns:a16="http://schemas.microsoft.com/office/drawing/2014/main" id="{A04C1AAC-4A16-6AAE-A64B-46B562D0686A}"/>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5195991" y="1898984"/>
            <a:ext cx="1142861" cy="3519001"/>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01C2E457-8E8A-88C5-CDFD-C4F42641BAB8}"/>
              </a:ext>
            </a:extLst>
          </p:cNvPr>
          <p:cNvSpPr txBox="1"/>
          <p:nvPr/>
        </p:nvSpPr>
        <p:spPr>
          <a:xfrm>
            <a:off x="2135957" y="5769026"/>
            <a:ext cx="5310059" cy="738664"/>
          </a:xfrm>
          <a:prstGeom prst="rect">
            <a:avLst/>
          </a:prstGeom>
          <a:noFill/>
        </p:spPr>
        <p:txBody>
          <a:bodyPr wrap="square">
            <a:spAutoFit/>
          </a:bodyPr>
          <a:lstStyle/>
          <a:p>
            <a:r>
              <a:rPr lang="ja-JP" altLang="en-US" sz="1400" dirty="0">
                <a:solidFill>
                  <a:schemeClr val="tx1">
                    <a:lumMod val="75000"/>
                    <a:lumOff val="25000"/>
                  </a:schemeClr>
                </a:solidFill>
              </a:rPr>
              <a:t>画像は </a:t>
            </a:r>
            <a:r>
              <a:rPr lang="en-US" altLang="ja-JP"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https://en.wikipedia.org/wiki/Triode</a:t>
            </a:r>
            <a:r>
              <a:rPr lang="en-US" altLang="ja-JP" sz="1400" dirty="0">
                <a:solidFill>
                  <a:schemeClr val="tx1">
                    <a:lumMod val="75000"/>
                    <a:lumOff val="25000"/>
                  </a:schemeClr>
                </a:solidFill>
              </a:rPr>
              <a:t> </a:t>
            </a:r>
            <a:r>
              <a:rPr lang="ja-JP" altLang="en-US" sz="1400" dirty="0">
                <a:solidFill>
                  <a:schemeClr val="tx1">
                    <a:lumMod val="75000"/>
                    <a:lumOff val="25000"/>
                  </a:schemeClr>
                </a:solidFill>
              </a:rPr>
              <a:t>より</a:t>
            </a:r>
            <a:endParaRPr lang="en-US" altLang="ja-JP" sz="1400" dirty="0">
              <a:solidFill>
                <a:schemeClr val="tx1">
                  <a:lumMod val="75000"/>
                  <a:lumOff val="25000"/>
                </a:schemeClr>
              </a:solidFill>
            </a:endParaRPr>
          </a:p>
          <a:p>
            <a:r>
              <a:rPr lang="en-US" altLang="ja-JP" sz="1400" dirty="0">
                <a:solidFill>
                  <a:schemeClr val="tx1">
                    <a:lumMod val="75000"/>
                    <a:lumOff val="25000"/>
                  </a:schemeClr>
                </a:solidFill>
                <a:latin typeface="Arial" panose="020B0604020202020204" pitchFamily="34" charset="0"/>
              </a:rPr>
              <a:t>De Forest </a:t>
            </a:r>
            <a:r>
              <a:rPr lang="en-US" altLang="ja-JP" sz="1400" dirty="0" err="1">
                <a:solidFill>
                  <a:schemeClr val="tx1">
                    <a:lumMod val="75000"/>
                    <a:lumOff val="25000"/>
                  </a:schemeClr>
                </a:solidFill>
                <a:latin typeface="Arial" panose="020B0604020202020204" pitchFamily="34" charset="0"/>
              </a:rPr>
              <a:t>Audion</a:t>
            </a:r>
            <a:r>
              <a:rPr lang="en-US" altLang="ja-JP" sz="1400" dirty="0">
                <a:solidFill>
                  <a:schemeClr val="tx1">
                    <a:lumMod val="75000"/>
                    <a:lumOff val="25000"/>
                  </a:schemeClr>
                </a:solidFill>
                <a:latin typeface="Arial" panose="020B0604020202020204" pitchFamily="34" charset="0"/>
              </a:rPr>
              <a:t> tube </a:t>
            </a:r>
            <a:r>
              <a:rPr lang="ja-JP" altLang="en-US" sz="1400" dirty="0">
                <a:solidFill>
                  <a:schemeClr val="tx1">
                    <a:lumMod val="75000"/>
                    <a:lumOff val="25000"/>
                  </a:schemeClr>
                </a:solidFill>
                <a:latin typeface="Arial" panose="020B0604020202020204" pitchFamily="34" charset="0"/>
              </a:rPr>
              <a:t>と </a:t>
            </a:r>
            <a:r>
              <a:rPr lang="en-US" altLang="ja-JP" sz="1400" dirty="0" err="1">
                <a:solidFill>
                  <a:schemeClr val="tx1">
                    <a:lumMod val="75000"/>
                    <a:lumOff val="25000"/>
                  </a:schemeClr>
                </a:solidFill>
                <a:latin typeface="Arial" panose="020B0604020202020204" pitchFamily="34" charset="0"/>
              </a:rPr>
              <a:t>Lieben</a:t>
            </a:r>
            <a:r>
              <a:rPr lang="en-US" altLang="ja-JP" sz="1400" dirty="0">
                <a:solidFill>
                  <a:schemeClr val="tx1">
                    <a:lumMod val="75000"/>
                    <a:lumOff val="25000"/>
                  </a:schemeClr>
                </a:solidFill>
                <a:latin typeface="Arial" panose="020B0604020202020204" pitchFamily="34" charset="0"/>
              </a:rPr>
              <a:t>-Reisz tube </a:t>
            </a:r>
            <a:br>
              <a:rPr lang="en-US" altLang="ja-JP" sz="1400" dirty="0">
                <a:solidFill>
                  <a:schemeClr val="tx1">
                    <a:lumMod val="75000"/>
                    <a:lumOff val="25000"/>
                  </a:schemeClr>
                </a:solidFill>
                <a:latin typeface="Arial" panose="020B0604020202020204" pitchFamily="34" charset="0"/>
              </a:rPr>
            </a:br>
            <a:r>
              <a:rPr lang="en-US" altLang="ja-JP" sz="1400" dirty="0">
                <a:solidFill>
                  <a:schemeClr val="tx1">
                    <a:lumMod val="75000"/>
                    <a:lumOff val="25000"/>
                  </a:schemeClr>
                </a:solidFill>
                <a:latin typeface="Arial" panose="020B0604020202020204" pitchFamily="34" charset="0"/>
              </a:rPr>
              <a:t>1900 </a:t>
            </a:r>
            <a:r>
              <a:rPr lang="ja-JP" altLang="en-US" sz="1400" dirty="0">
                <a:solidFill>
                  <a:schemeClr val="tx1">
                    <a:lumMod val="75000"/>
                    <a:lumOff val="25000"/>
                  </a:schemeClr>
                </a:solidFill>
                <a:latin typeface="Arial" panose="020B0604020202020204" pitchFamily="34" charset="0"/>
              </a:rPr>
              <a:t>年過ぎの発明</a:t>
            </a:r>
            <a:endParaRPr lang="en-US" altLang="ja-JP" sz="1400" dirty="0">
              <a:solidFill>
                <a:schemeClr val="tx1">
                  <a:lumMod val="75000"/>
                  <a:lumOff val="25000"/>
                </a:schemeClr>
              </a:solidFill>
            </a:endParaRPr>
          </a:p>
        </p:txBody>
      </p:sp>
      <p:cxnSp>
        <p:nvCxnSpPr>
          <p:cNvPr id="8" name="直線コネクタ 7">
            <a:extLst>
              <a:ext uri="{FF2B5EF4-FFF2-40B4-BE49-F238E27FC236}">
                <a16:creationId xmlns:a16="http://schemas.microsoft.com/office/drawing/2014/main" id="{39160491-C71D-5E59-EA26-91D9B52C3CA8}"/>
              </a:ext>
            </a:extLst>
          </p:cNvPr>
          <p:cNvCxnSpPr>
            <a:cxnSpLocks/>
          </p:cNvCxnSpPr>
          <p:nvPr/>
        </p:nvCxnSpPr>
        <p:spPr bwMode="auto">
          <a:xfrm>
            <a:off x="7986021" y="396900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50D41FF3-3967-5CE6-B0FA-9A0E277DE8BF}"/>
              </a:ext>
            </a:extLst>
          </p:cNvPr>
          <p:cNvCxnSpPr>
            <a:cxnSpLocks/>
          </p:cNvCxnSpPr>
          <p:nvPr/>
        </p:nvCxnSpPr>
        <p:spPr bwMode="auto">
          <a:xfrm flipV="1">
            <a:off x="7986021" y="396900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695BE07C-BB2E-B8EA-2E3A-6D5CD30970E1}"/>
              </a:ext>
            </a:extLst>
          </p:cNvPr>
          <p:cNvCxnSpPr>
            <a:cxnSpLocks/>
          </p:cNvCxnSpPr>
          <p:nvPr/>
        </p:nvCxnSpPr>
        <p:spPr bwMode="auto">
          <a:xfrm flipV="1">
            <a:off x="8706029" y="396900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D3BA62D9-6870-E648-798F-F2314D2DD5C4}"/>
              </a:ext>
            </a:extLst>
          </p:cNvPr>
          <p:cNvCxnSpPr>
            <a:cxnSpLocks/>
          </p:cNvCxnSpPr>
          <p:nvPr/>
        </p:nvCxnSpPr>
        <p:spPr bwMode="auto">
          <a:xfrm>
            <a:off x="8616029"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1ED418AF-AD75-ED9D-FFAC-773FB4731659}"/>
              </a:ext>
            </a:extLst>
          </p:cNvPr>
          <p:cNvCxnSpPr>
            <a:cxnSpLocks/>
          </p:cNvCxnSpPr>
          <p:nvPr/>
        </p:nvCxnSpPr>
        <p:spPr bwMode="auto">
          <a:xfrm>
            <a:off x="8436027"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91DFD4F-2A13-12B1-B05D-C79D225A4E31}"/>
              </a:ext>
            </a:extLst>
          </p:cNvPr>
          <p:cNvCxnSpPr>
            <a:cxnSpLocks/>
          </p:cNvCxnSpPr>
          <p:nvPr/>
        </p:nvCxnSpPr>
        <p:spPr bwMode="auto">
          <a:xfrm>
            <a:off x="8256025"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A3EA0A3D-7ACD-D5CF-0571-57FEE70C643E}"/>
              </a:ext>
            </a:extLst>
          </p:cNvPr>
          <p:cNvCxnSpPr>
            <a:cxnSpLocks/>
          </p:cNvCxnSpPr>
          <p:nvPr/>
        </p:nvCxnSpPr>
        <p:spPr bwMode="auto">
          <a:xfrm>
            <a:off x="8076023"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2" name="直線コネクタ 21">
            <a:extLst>
              <a:ext uri="{FF2B5EF4-FFF2-40B4-BE49-F238E27FC236}">
                <a16:creationId xmlns:a16="http://schemas.microsoft.com/office/drawing/2014/main" id="{CDC78133-ED19-9CA4-6BFA-D43BEB7D7DD7}"/>
              </a:ext>
            </a:extLst>
          </p:cNvPr>
          <p:cNvCxnSpPr>
            <a:cxnSpLocks/>
          </p:cNvCxnSpPr>
          <p:nvPr/>
        </p:nvCxnSpPr>
        <p:spPr bwMode="auto">
          <a:xfrm flipV="1">
            <a:off x="8166023" y="405900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5" name="直線コネクタ 24">
            <a:extLst>
              <a:ext uri="{FF2B5EF4-FFF2-40B4-BE49-F238E27FC236}">
                <a16:creationId xmlns:a16="http://schemas.microsoft.com/office/drawing/2014/main" id="{5A7AE018-AA41-D25F-56CB-D1BCD4AEFDD1}"/>
              </a:ext>
            </a:extLst>
          </p:cNvPr>
          <p:cNvCxnSpPr>
            <a:cxnSpLocks/>
          </p:cNvCxnSpPr>
          <p:nvPr/>
        </p:nvCxnSpPr>
        <p:spPr bwMode="auto">
          <a:xfrm>
            <a:off x="8346025" y="405900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8" name="直線コネクタ 27">
            <a:extLst>
              <a:ext uri="{FF2B5EF4-FFF2-40B4-BE49-F238E27FC236}">
                <a16:creationId xmlns:a16="http://schemas.microsoft.com/office/drawing/2014/main" id="{0DEF974A-A3DE-F912-EDB3-B3407C3EB68B}"/>
              </a:ext>
            </a:extLst>
          </p:cNvPr>
          <p:cNvCxnSpPr>
            <a:cxnSpLocks/>
          </p:cNvCxnSpPr>
          <p:nvPr/>
        </p:nvCxnSpPr>
        <p:spPr bwMode="auto">
          <a:xfrm>
            <a:off x="7986021" y="3609002"/>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9" name="直線コネクタ 28">
            <a:extLst>
              <a:ext uri="{FF2B5EF4-FFF2-40B4-BE49-F238E27FC236}">
                <a16:creationId xmlns:a16="http://schemas.microsoft.com/office/drawing/2014/main" id="{E03B0ED5-6CDB-CCEB-D4EC-7B7AC418A7BC}"/>
              </a:ext>
            </a:extLst>
          </p:cNvPr>
          <p:cNvCxnSpPr>
            <a:cxnSpLocks/>
          </p:cNvCxnSpPr>
          <p:nvPr/>
        </p:nvCxnSpPr>
        <p:spPr bwMode="auto">
          <a:xfrm>
            <a:off x="7356014" y="3789004"/>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0" name="直線コネクタ 29">
            <a:extLst>
              <a:ext uri="{FF2B5EF4-FFF2-40B4-BE49-F238E27FC236}">
                <a16:creationId xmlns:a16="http://schemas.microsoft.com/office/drawing/2014/main" id="{2441B73F-667A-C20D-7689-61FC07EA47F8}"/>
              </a:ext>
            </a:extLst>
          </p:cNvPr>
          <p:cNvCxnSpPr>
            <a:cxnSpLocks/>
          </p:cNvCxnSpPr>
          <p:nvPr/>
        </p:nvCxnSpPr>
        <p:spPr bwMode="auto">
          <a:xfrm flipV="1">
            <a:off x="8346025" y="3068996"/>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2" name="直線コネクタ 31">
            <a:extLst>
              <a:ext uri="{FF2B5EF4-FFF2-40B4-BE49-F238E27FC236}">
                <a16:creationId xmlns:a16="http://schemas.microsoft.com/office/drawing/2014/main" id="{D9C688C6-B45D-782B-69F8-70700C4A7D23}"/>
              </a:ext>
            </a:extLst>
          </p:cNvPr>
          <p:cNvCxnSpPr>
            <a:cxnSpLocks/>
          </p:cNvCxnSpPr>
          <p:nvPr/>
        </p:nvCxnSpPr>
        <p:spPr bwMode="auto">
          <a:xfrm flipV="1">
            <a:off x="8166023" y="423900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3" name="直線コネクタ 32">
            <a:extLst>
              <a:ext uri="{FF2B5EF4-FFF2-40B4-BE49-F238E27FC236}">
                <a16:creationId xmlns:a16="http://schemas.microsoft.com/office/drawing/2014/main" id="{F2D20371-79DC-3D61-26E0-131EE3E83AA6}"/>
              </a:ext>
            </a:extLst>
          </p:cNvPr>
          <p:cNvCxnSpPr>
            <a:cxnSpLocks/>
          </p:cNvCxnSpPr>
          <p:nvPr/>
        </p:nvCxnSpPr>
        <p:spPr bwMode="auto">
          <a:xfrm flipV="1">
            <a:off x="8526027" y="423900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5" name="直線コネクタ 34">
            <a:extLst>
              <a:ext uri="{FF2B5EF4-FFF2-40B4-BE49-F238E27FC236}">
                <a16:creationId xmlns:a16="http://schemas.microsoft.com/office/drawing/2014/main" id="{3F722863-93FD-AA45-E9B0-57A3C2B65BD4}"/>
              </a:ext>
            </a:extLst>
          </p:cNvPr>
          <p:cNvCxnSpPr>
            <a:cxnSpLocks/>
          </p:cNvCxnSpPr>
          <p:nvPr/>
        </p:nvCxnSpPr>
        <p:spPr bwMode="auto">
          <a:xfrm flipV="1">
            <a:off x="7986021" y="4059007"/>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37" name="Rectangle 93">
            <a:extLst>
              <a:ext uri="{FF2B5EF4-FFF2-40B4-BE49-F238E27FC236}">
                <a16:creationId xmlns:a16="http://schemas.microsoft.com/office/drawing/2014/main" id="{2F5DC869-19F2-8204-79D7-637DAC24868F}"/>
              </a:ext>
            </a:extLst>
          </p:cNvPr>
          <p:cNvSpPr>
            <a:spLocks noChangeArrowheads="1"/>
          </p:cNvSpPr>
          <p:nvPr/>
        </p:nvSpPr>
        <p:spPr bwMode="auto">
          <a:xfrm>
            <a:off x="8346026" y="279899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38" name="Rectangle 93">
            <a:extLst>
              <a:ext uri="{FF2B5EF4-FFF2-40B4-BE49-F238E27FC236}">
                <a16:creationId xmlns:a16="http://schemas.microsoft.com/office/drawing/2014/main" id="{95155F01-F072-5F10-5E8E-4D8A5BAFCCFD}"/>
              </a:ext>
            </a:extLst>
          </p:cNvPr>
          <p:cNvSpPr>
            <a:spLocks noChangeArrowheads="1"/>
          </p:cNvSpPr>
          <p:nvPr/>
        </p:nvSpPr>
        <p:spPr bwMode="auto">
          <a:xfrm>
            <a:off x="6816009"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39" name="Rectangle 93">
            <a:extLst>
              <a:ext uri="{FF2B5EF4-FFF2-40B4-BE49-F238E27FC236}">
                <a16:creationId xmlns:a16="http://schemas.microsoft.com/office/drawing/2014/main" id="{7EA9552E-EF68-CFCF-D91C-44B02B9B18CE}"/>
              </a:ext>
            </a:extLst>
          </p:cNvPr>
          <p:cNvSpPr>
            <a:spLocks noChangeArrowheads="1"/>
          </p:cNvSpPr>
          <p:nvPr/>
        </p:nvSpPr>
        <p:spPr bwMode="auto">
          <a:xfrm>
            <a:off x="8526028" y="441901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40" name="Rectangle 93">
            <a:extLst>
              <a:ext uri="{FF2B5EF4-FFF2-40B4-BE49-F238E27FC236}">
                <a16:creationId xmlns:a16="http://schemas.microsoft.com/office/drawing/2014/main" id="{21257B0F-A9E1-FB2D-02FA-465265D69E06}"/>
              </a:ext>
            </a:extLst>
          </p:cNvPr>
          <p:cNvSpPr>
            <a:spLocks noChangeArrowheads="1"/>
          </p:cNvSpPr>
          <p:nvPr/>
        </p:nvSpPr>
        <p:spPr bwMode="auto">
          <a:xfrm>
            <a:off x="6996011" y="441901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pic>
        <p:nvPicPr>
          <p:cNvPr id="2052" name="Picture 4" descr="undefined">
            <a:extLst>
              <a:ext uri="{FF2B5EF4-FFF2-40B4-BE49-F238E27FC236}">
                <a16:creationId xmlns:a16="http://schemas.microsoft.com/office/drawing/2014/main" id="{D1F6FCD5-ED27-EF77-37C0-7D5AA6793D94}"/>
              </a:ext>
            </a:extLst>
          </p:cNvPr>
          <p:cNvPicPr>
            <a:picLocks noChangeAspect="1" noChangeArrowheads="1"/>
          </p:cNvPicPr>
          <p:nvPr/>
        </p:nvPicPr>
        <p:blipFill>
          <a:blip r:embed="rId4" cstate="hqprint">
            <a:extLst>
              <a:ext uri="{28A0092B-C50C-407E-A947-70E740481C1C}">
                <a14:useLocalDpi xmlns:a14="http://schemas.microsoft.com/office/drawing/2010/main"/>
              </a:ext>
            </a:extLst>
          </a:blip>
          <a:srcRect/>
          <a:stretch>
            <a:fillRect/>
          </a:stretch>
        </p:blipFill>
        <p:spPr bwMode="auto">
          <a:xfrm>
            <a:off x="2765964" y="3158998"/>
            <a:ext cx="1710019" cy="1172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63395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真空管の動作</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sz="quarter" idx="10"/>
          </p:nvPr>
        </p:nvSpPr>
        <p:spPr>
          <a:xfrm>
            <a:off x="1775952" y="1178976"/>
            <a:ext cx="8280092" cy="5220059"/>
          </a:xfrm>
        </p:spPr>
        <p:txBody>
          <a:bodyPr anchor="t"/>
          <a:lstStyle/>
          <a:p>
            <a:r>
              <a:rPr kumimoji="1" lang="ja-JP" altLang="en-US" dirty="0"/>
              <a:t>動作：</a:t>
            </a:r>
            <a:endParaRPr kumimoji="1" lang="en-US" altLang="ja-JP" dirty="0"/>
          </a:p>
          <a:p>
            <a:pPr marL="817200" lvl="1" indent="-457200">
              <a:buFont typeface="+mj-lt"/>
              <a:buAutoNum type="arabicPeriod"/>
            </a:pPr>
            <a:r>
              <a:rPr lang="en-US" altLang="ja-JP" dirty="0"/>
              <a:t>Plate </a:t>
            </a:r>
            <a:r>
              <a:rPr lang="ja-JP" altLang="en-US" dirty="0"/>
              <a:t>に正の電圧を，</a:t>
            </a:r>
            <a:r>
              <a:rPr lang="en-US" altLang="ja-JP" dirty="0"/>
              <a:t>Cathode </a:t>
            </a:r>
            <a:r>
              <a:rPr lang="ja-JP" altLang="en-US" dirty="0"/>
              <a:t>に負の電圧をかける</a:t>
            </a:r>
            <a:endParaRPr lang="en-US" altLang="ja-JP" dirty="0"/>
          </a:p>
          <a:p>
            <a:pPr marL="817200" lvl="1" indent="-457200">
              <a:buFont typeface="+mj-lt"/>
              <a:buAutoNum type="arabicPeriod"/>
            </a:pPr>
            <a:r>
              <a:rPr kumimoji="1" lang="en-US" altLang="ja-JP" dirty="0"/>
              <a:t>Heater</a:t>
            </a:r>
            <a:r>
              <a:rPr kumimoji="1" lang="ja-JP" altLang="en-US" dirty="0"/>
              <a:t>（電球のフィラメント）に電源を接続</a:t>
            </a:r>
            <a:endParaRPr kumimoji="1" lang="en-US" altLang="ja-JP" dirty="0"/>
          </a:p>
          <a:p>
            <a:pPr marL="817200" lvl="1" indent="-457200">
              <a:buFont typeface="+mj-lt"/>
              <a:buAutoNum type="arabicPeriod"/>
            </a:pPr>
            <a:r>
              <a:rPr kumimoji="1" lang="ja-JP" altLang="en-US" dirty="0"/>
              <a:t>暖められた </a:t>
            </a:r>
            <a:r>
              <a:rPr kumimoji="1" lang="en-US" altLang="ja-JP" dirty="0"/>
              <a:t>Cathode </a:t>
            </a:r>
            <a:r>
              <a:rPr kumimoji="1" lang="ja-JP" altLang="en-US" dirty="0"/>
              <a:t>が電子を放出</a:t>
            </a:r>
            <a:endParaRPr kumimoji="1" lang="en-US" altLang="ja-JP" dirty="0"/>
          </a:p>
          <a:p>
            <a:pPr marL="817200" lvl="1" indent="-457200">
              <a:buFont typeface="+mj-lt"/>
              <a:buAutoNum type="arabicPeriod"/>
            </a:pPr>
            <a:r>
              <a:rPr lang="en-US" altLang="ja-JP" dirty="0"/>
              <a:t>Plate </a:t>
            </a:r>
            <a:r>
              <a:rPr lang="ja-JP" altLang="en-US" dirty="0"/>
              <a:t>に電子が吸い寄せられる</a:t>
            </a:r>
            <a:endParaRPr lang="en-US" altLang="ja-JP" dirty="0"/>
          </a:p>
          <a:p>
            <a:pPr lvl="2"/>
            <a:r>
              <a:rPr kumimoji="1" lang="ja-JP" altLang="en-US" dirty="0"/>
              <a:t>電子が移動する </a:t>
            </a:r>
            <a:r>
              <a:rPr kumimoji="1" lang="en-US" altLang="ja-JP" dirty="0"/>
              <a:t>= </a:t>
            </a:r>
            <a:r>
              <a:rPr kumimoji="1" lang="ja-JP" altLang="en-US" dirty="0"/>
              <a:t>それらの間に電流が流れる</a:t>
            </a:r>
            <a:endParaRPr kumimoji="1" lang="en-US" altLang="ja-JP" dirty="0"/>
          </a:p>
          <a:p>
            <a:r>
              <a:rPr kumimoji="1" lang="ja-JP" altLang="en-US" dirty="0"/>
              <a:t>スイッチング</a:t>
            </a:r>
            <a:endParaRPr kumimoji="1" lang="en-US" altLang="ja-JP" dirty="0"/>
          </a:p>
          <a:p>
            <a:pPr lvl="1"/>
            <a:r>
              <a:rPr kumimoji="1" lang="ja-JP" altLang="en-US" dirty="0"/>
              <a:t>なにもしなければ </a:t>
            </a:r>
            <a:r>
              <a:rPr kumimoji="1" lang="en-US" altLang="ja-JP" dirty="0"/>
              <a:t>Grid </a:t>
            </a:r>
            <a:r>
              <a:rPr kumimoji="1" lang="ja-JP" altLang="en-US" dirty="0"/>
              <a:t>は網なので電子は</a:t>
            </a:r>
            <a:br>
              <a:rPr kumimoji="1" lang="en-US" altLang="ja-JP" dirty="0"/>
            </a:br>
            <a:r>
              <a:rPr kumimoji="1" lang="ja-JP" altLang="en-US" dirty="0"/>
              <a:t>すき間を通過</a:t>
            </a:r>
            <a:endParaRPr kumimoji="1" lang="en-US" altLang="ja-JP" dirty="0"/>
          </a:p>
          <a:p>
            <a:pPr lvl="1"/>
            <a:r>
              <a:rPr kumimoji="1" lang="en-US" altLang="ja-JP" dirty="0"/>
              <a:t>Grid </a:t>
            </a:r>
            <a:r>
              <a:rPr kumimoji="1" lang="ja-JP" altLang="en-US" dirty="0"/>
              <a:t>に負の電圧をかける</a:t>
            </a:r>
            <a:endParaRPr kumimoji="1" lang="en-US" altLang="ja-JP" dirty="0"/>
          </a:p>
          <a:p>
            <a:pPr lvl="1"/>
            <a:r>
              <a:rPr kumimoji="1" lang="ja-JP" altLang="en-US" dirty="0"/>
              <a:t>負同士ではじきあうので，電子が上にいけなくなり電流が </a:t>
            </a:r>
            <a:r>
              <a:rPr kumimoji="1" lang="en-US" altLang="ja-JP" dirty="0"/>
              <a:t>OFF</a:t>
            </a:r>
            <a:endParaRPr kumimoji="1" lang="en-US" dirty="0">
              <a:solidFill>
                <a:schemeClr val="accent5"/>
              </a:solidFill>
            </a:endParaRPr>
          </a:p>
        </p:txBody>
      </p:sp>
      <p:sp>
        <p:nvSpPr>
          <p:cNvPr id="4" name="楕円 3">
            <a:extLst>
              <a:ext uri="{FF2B5EF4-FFF2-40B4-BE49-F238E27FC236}">
                <a16:creationId xmlns:a16="http://schemas.microsoft.com/office/drawing/2014/main" id="{65D0F838-8850-9E51-F8B3-AC2AEE335F96}"/>
              </a:ext>
            </a:extLst>
          </p:cNvPr>
          <p:cNvSpPr/>
          <p:nvPr/>
        </p:nvSpPr>
        <p:spPr bwMode="auto">
          <a:xfrm>
            <a:off x="8616028" y="3609002"/>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A77C0D3-3FEB-4EB8-7A30-D66E2D33C4BD}"/>
              </a:ext>
            </a:extLst>
          </p:cNvPr>
          <p:cNvCxnSpPr>
            <a:cxnSpLocks/>
          </p:cNvCxnSpPr>
          <p:nvPr/>
        </p:nvCxnSpPr>
        <p:spPr bwMode="auto">
          <a:xfrm>
            <a:off x="8886030" y="4329010"/>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6" name="直線コネクタ 5">
            <a:extLst>
              <a:ext uri="{FF2B5EF4-FFF2-40B4-BE49-F238E27FC236}">
                <a16:creationId xmlns:a16="http://schemas.microsoft.com/office/drawing/2014/main" id="{C3976CAB-E9CB-2822-5CC2-E6AD89474D74}"/>
              </a:ext>
            </a:extLst>
          </p:cNvPr>
          <p:cNvCxnSpPr>
            <a:cxnSpLocks/>
          </p:cNvCxnSpPr>
          <p:nvPr/>
        </p:nvCxnSpPr>
        <p:spPr bwMode="auto">
          <a:xfrm flipV="1">
            <a:off x="8886030" y="4329011"/>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7" name="直線コネクタ 6">
            <a:extLst>
              <a:ext uri="{FF2B5EF4-FFF2-40B4-BE49-F238E27FC236}">
                <a16:creationId xmlns:a16="http://schemas.microsoft.com/office/drawing/2014/main" id="{D036E5CD-2325-646E-5170-BC9113EE7538}"/>
              </a:ext>
            </a:extLst>
          </p:cNvPr>
          <p:cNvCxnSpPr>
            <a:cxnSpLocks/>
          </p:cNvCxnSpPr>
          <p:nvPr/>
        </p:nvCxnSpPr>
        <p:spPr bwMode="auto">
          <a:xfrm flipV="1">
            <a:off x="9606038" y="4329011"/>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8" name="直線コネクタ 7">
            <a:extLst>
              <a:ext uri="{FF2B5EF4-FFF2-40B4-BE49-F238E27FC236}">
                <a16:creationId xmlns:a16="http://schemas.microsoft.com/office/drawing/2014/main" id="{1D2F36E7-776A-9669-D12F-D40D6F04AC40}"/>
              </a:ext>
            </a:extLst>
          </p:cNvPr>
          <p:cNvCxnSpPr>
            <a:cxnSpLocks/>
          </p:cNvCxnSpPr>
          <p:nvPr/>
        </p:nvCxnSpPr>
        <p:spPr bwMode="auto">
          <a:xfrm>
            <a:off x="9516038"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9" name="直線コネクタ 8">
            <a:extLst>
              <a:ext uri="{FF2B5EF4-FFF2-40B4-BE49-F238E27FC236}">
                <a16:creationId xmlns:a16="http://schemas.microsoft.com/office/drawing/2014/main" id="{F8680BFB-2777-C484-57A9-3B5C2EEC7E16}"/>
              </a:ext>
            </a:extLst>
          </p:cNvPr>
          <p:cNvCxnSpPr>
            <a:cxnSpLocks/>
          </p:cNvCxnSpPr>
          <p:nvPr/>
        </p:nvCxnSpPr>
        <p:spPr bwMode="auto">
          <a:xfrm>
            <a:off x="9336036"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354DE72C-48BF-5394-28DB-B8363ECE98AD}"/>
              </a:ext>
            </a:extLst>
          </p:cNvPr>
          <p:cNvCxnSpPr>
            <a:cxnSpLocks/>
          </p:cNvCxnSpPr>
          <p:nvPr/>
        </p:nvCxnSpPr>
        <p:spPr bwMode="auto">
          <a:xfrm>
            <a:off x="9156034"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1" name="直線コネクタ 10">
            <a:extLst>
              <a:ext uri="{FF2B5EF4-FFF2-40B4-BE49-F238E27FC236}">
                <a16:creationId xmlns:a16="http://schemas.microsoft.com/office/drawing/2014/main" id="{1B702B6C-DF20-8803-0B75-10B8DB60CFA7}"/>
              </a:ext>
            </a:extLst>
          </p:cNvPr>
          <p:cNvCxnSpPr>
            <a:cxnSpLocks/>
          </p:cNvCxnSpPr>
          <p:nvPr/>
        </p:nvCxnSpPr>
        <p:spPr bwMode="auto">
          <a:xfrm>
            <a:off x="8976032"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2" name="直線コネクタ 11">
            <a:extLst>
              <a:ext uri="{FF2B5EF4-FFF2-40B4-BE49-F238E27FC236}">
                <a16:creationId xmlns:a16="http://schemas.microsoft.com/office/drawing/2014/main" id="{E0DB4673-2E7E-54FD-D7FF-CC1D2CE85577}"/>
              </a:ext>
            </a:extLst>
          </p:cNvPr>
          <p:cNvCxnSpPr>
            <a:cxnSpLocks/>
          </p:cNvCxnSpPr>
          <p:nvPr/>
        </p:nvCxnSpPr>
        <p:spPr bwMode="auto">
          <a:xfrm flipV="1">
            <a:off x="9066032" y="4419011"/>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F2353922-6CB8-7E99-0BB1-ADDCC3CD744F}"/>
              </a:ext>
            </a:extLst>
          </p:cNvPr>
          <p:cNvCxnSpPr>
            <a:cxnSpLocks/>
          </p:cNvCxnSpPr>
          <p:nvPr/>
        </p:nvCxnSpPr>
        <p:spPr bwMode="auto">
          <a:xfrm>
            <a:off x="9246034" y="4419011"/>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A73D3CA2-3F71-2077-CE8B-A251097D53E0}"/>
              </a:ext>
            </a:extLst>
          </p:cNvPr>
          <p:cNvCxnSpPr>
            <a:cxnSpLocks/>
          </p:cNvCxnSpPr>
          <p:nvPr/>
        </p:nvCxnSpPr>
        <p:spPr bwMode="auto">
          <a:xfrm>
            <a:off x="8886030" y="396900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5" name="直線コネクタ 14">
            <a:extLst>
              <a:ext uri="{FF2B5EF4-FFF2-40B4-BE49-F238E27FC236}">
                <a16:creationId xmlns:a16="http://schemas.microsoft.com/office/drawing/2014/main" id="{798F9031-D91B-9D6D-07E2-FC5F73C2033B}"/>
              </a:ext>
            </a:extLst>
          </p:cNvPr>
          <p:cNvCxnSpPr>
            <a:cxnSpLocks/>
          </p:cNvCxnSpPr>
          <p:nvPr/>
        </p:nvCxnSpPr>
        <p:spPr bwMode="auto">
          <a:xfrm>
            <a:off x="8256023" y="4149008"/>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478B4D91-8E99-CB77-6E33-E238A9DB4B47}"/>
              </a:ext>
            </a:extLst>
          </p:cNvPr>
          <p:cNvCxnSpPr>
            <a:cxnSpLocks/>
          </p:cNvCxnSpPr>
          <p:nvPr/>
        </p:nvCxnSpPr>
        <p:spPr bwMode="auto">
          <a:xfrm flipV="1">
            <a:off x="9246034" y="3429000"/>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647A1D0-BDEF-BFB4-0A79-2D56B33528BB}"/>
              </a:ext>
            </a:extLst>
          </p:cNvPr>
          <p:cNvCxnSpPr>
            <a:cxnSpLocks/>
          </p:cNvCxnSpPr>
          <p:nvPr/>
        </p:nvCxnSpPr>
        <p:spPr bwMode="auto">
          <a:xfrm flipV="1">
            <a:off x="9066032" y="4599013"/>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F82C4B8B-8B93-936A-8300-F0E0647CB5C1}"/>
              </a:ext>
            </a:extLst>
          </p:cNvPr>
          <p:cNvCxnSpPr>
            <a:cxnSpLocks/>
          </p:cNvCxnSpPr>
          <p:nvPr/>
        </p:nvCxnSpPr>
        <p:spPr bwMode="auto">
          <a:xfrm flipV="1">
            <a:off x="9426036" y="4599013"/>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9" name="直線コネクタ 18">
            <a:extLst>
              <a:ext uri="{FF2B5EF4-FFF2-40B4-BE49-F238E27FC236}">
                <a16:creationId xmlns:a16="http://schemas.microsoft.com/office/drawing/2014/main" id="{22B15DB4-ABB7-C29C-C640-BE6476F64166}"/>
              </a:ext>
            </a:extLst>
          </p:cNvPr>
          <p:cNvCxnSpPr>
            <a:cxnSpLocks/>
          </p:cNvCxnSpPr>
          <p:nvPr/>
        </p:nvCxnSpPr>
        <p:spPr bwMode="auto">
          <a:xfrm flipV="1">
            <a:off x="8886030" y="4419011"/>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20" name="Rectangle 93">
            <a:extLst>
              <a:ext uri="{FF2B5EF4-FFF2-40B4-BE49-F238E27FC236}">
                <a16:creationId xmlns:a16="http://schemas.microsoft.com/office/drawing/2014/main" id="{32DA5D25-38A0-DAAA-B66B-06A16886F1C7}"/>
              </a:ext>
            </a:extLst>
          </p:cNvPr>
          <p:cNvSpPr>
            <a:spLocks noChangeArrowheads="1"/>
          </p:cNvSpPr>
          <p:nvPr/>
        </p:nvSpPr>
        <p:spPr bwMode="auto">
          <a:xfrm>
            <a:off x="9246035" y="3158997"/>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21" name="Rectangle 93">
            <a:extLst>
              <a:ext uri="{FF2B5EF4-FFF2-40B4-BE49-F238E27FC236}">
                <a16:creationId xmlns:a16="http://schemas.microsoft.com/office/drawing/2014/main" id="{3DC293EC-F468-8704-CE25-043E2B5C124A}"/>
              </a:ext>
            </a:extLst>
          </p:cNvPr>
          <p:cNvSpPr>
            <a:spLocks noChangeArrowheads="1"/>
          </p:cNvSpPr>
          <p:nvPr/>
        </p:nvSpPr>
        <p:spPr bwMode="auto">
          <a:xfrm>
            <a:off x="7716018" y="3789004"/>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22" name="Rectangle 93">
            <a:extLst>
              <a:ext uri="{FF2B5EF4-FFF2-40B4-BE49-F238E27FC236}">
                <a16:creationId xmlns:a16="http://schemas.microsoft.com/office/drawing/2014/main" id="{0770669C-BDC8-FF44-9577-3310FFC591FA}"/>
              </a:ext>
            </a:extLst>
          </p:cNvPr>
          <p:cNvSpPr>
            <a:spLocks noChangeArrowheads="1"/>
          </p:cNvSpPr>
          <p:nvPr/>
        </p:nvSpPr>
        <p:spPr bwMode="auto">
          <a:xfrm>
            <a:off x="9426037" y="477901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23" name="Rectangle 93">
            <a:extLst>
              <a:ext uri="{FF2B5EF4-FFF2-40B4-BE49-F238E27FC236}">
                <a16:creationId xmlns:a16="http://schemas.microsoft.com/office/drawing/2014/main" id="{5F68E55F-49DA-0CDD-8255-03F968360535}"/>
              </a:ext>
            </a:extLst>
          </p:cNvPr>
          <p:cNvSpPr>
            <a:spLocks noChangeArrowheads="1"/>
          </p:cNvSpPr>
          <p:nvPr/>
        </p:nvSpPr>
        <p:spPr bwMode="auto">
          <a:xfrm>
            <a:off x="7896020" y="477901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spTree>
    <p:extLst>
      <p:ext uri="{BB962C8B-B14F-4D97-AF65-F5344CB8AC3E}">
        <p14:creationId xmlns:p14="http://schemas.microsoft.com/office/powerpoint/2010/main" val="2974670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真空管</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sz="quarter" idx="10"/>
          </p:nvPr>
        </p:nvSpPr>
        <p:spPr>
          <a:xfrm>
            <a:off x="1775952" y="908973"/>
            <a:ext cx="8280092" cy="1170013"/>
          </a:xfrm>
        </p:spPr>
        <p:txBody>
          <a:bodyPr anchor="ctr"/>
          <a:lstStyle/>
          <a:p>
            <a:r>
              <a:rPr kumimoji="1" lang="en-US" altLang="ja-JP" dirty="0"/>
              <a:t>Grid </a:t>
            </a:r>
            <a:r>
              <a:rPr kumimoji="1" lang="ja-JP" altLang="en-US" dirty="0"/>
              <a:t>にかける電圧で，</a:t>
            </a:r>
            <a:r>
              <a:rPr kumimoji="1" lang="en-US" altLang="ja-JP" dirty="0"/>
              <a:t>Cathode </a:t>
            </a:r>
            <a:r>
              <a:rPr kumimoji="1" lang="ja-JP" altLang="en-US" dirty="0"/>
              <a:t>と </a:t>
            </a:r>
            <a:r>
              <a:rPr kumimoji="1" lang="en-US" altLang="ja-JP" dirty="0"/>
              <a:t>Plate </a:t>
            </a:r>
            <a:r>
              <a:rPr kumimoji="1" lang="ja-JP" altLang="en-US" dirty="0"/>
              <a:t>を </a:t>
            </a:r>
            <a:r>
              <a:rPr kumimoji="1" lang="en-US" altLang="ja-JP" dirty="0"/>
              <a:t>ON/OFF </a:t>
            </a:r>
            <a:r>
              <a:rPr kumimoji="1" lang="ja-JP" altLang="en-US" dirty="0"/>
              <a:t>できる</a:t>
            </a:r>
            <a:endParaRPr kumimoji="1" lang="en-US" altLang="ja-JP" dirty="0"/>
          </a:p>
          <a:p>
            <a:pPr lvl="1"/>
            <a:r>
              <a:rPr kumimoji="1" lang="ja-JP" altLang="en-US" dirty="0">
                <a:solidFill>
                  <a:schemeClr val="accent5"/>
                </a:solidFill>
              </a:rPr>
              <a:t>つまり，これでもコンピュータが作れる</a:t>
            </a:r>
            <a:endParaRPr kumimoji="1" lang="en-US" dirty="0">
              <a:solidFill>
                <a:schemeClr val="accent5"/>
              </a:solidFill>
            </a:endParaRPr>
          </a:p>
        </p:txBody>
      </p:sp>
      <p:sp>
        <p:nvSpPr>
          <p:cNvPr id="4" name="楕円 3">
            <a:extLst>
              <a:ext uri="{FF2B5EF4-FFF2-40B4-BE49-F238E27FC236}">
                <a16:creationId xmlns:a16="http://schemas.microsoft.com/office/drawing/2014/main" id="{65D0F838-8850-9E51-F8B3-AC2AEE335F96}"/>
              </a:ext>
            </a:extLst>
          </p:cNvPr>
          <p:cNvSpPr/>
          <p:nvPr/>
        </p:nvSpPr>
        <p:spPr bwMode="auto">
          <a:xfrm>
            <a:off x="5105989" y="2348988"/>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A77C0D3-3FEB-4EB8-7A30-D66E2D33C4BD}"/>
              </a:ext>
            </a:extLst>
          </p:cNvPr>
          <p:cNvCxnSpPr>
            <a:cxnSpLocks/>
          </p:cNvCxnSpPr>
          <p:nvPr/>
        </p:nvCxnSpPr>
        <p:spPr bwMode="auto">
          <a:xfrm>
            <a:off x="5375991" y="306899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6" name="直線コネクタ 5">
            <a:extLst>
              <a:ext uri="{FF2B5EF4-FFF2-40B4-BE49-F238E27FC236}">
                <a16:creationId xmlns:a16="http://schemas.microsoft.com/office/drawing/2014/main" id="{C3976CAB-E9CB-2822-5CC2-E6AD89474D74}"/>
              </a:ext>
            </a:extLst>
          </p:cNvPr>
          <p:cNvCxnSpPr>
            <a:cxnSpLocks/>
          </p:cNvCxnSpPr>
          <p:nvPr/>
        </p:nvCxnSpPr>
        <p:spPr bwMode="auto">
          <a:xfrm flipV="1">
            <a:off x="5375991" y="306899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7" name="直線コネクタ 6">
            <a:extLst>
              <a:ext uri="{FF2B5EF4-FFF2-40B4-BE49-F238E27FC236}">
                <a16:creationId xmlns:a16="http://schemas.microsoft.com/office/drawing/2014/main" id="{D036E5CD-2325-646E-5170-BC9113EE7538}"/>
              </a:ext>
            </a:extLst>
          </p:cNvPr>
          <p:cNvCxnSpPr>
            <a:cxnSpLocks/>
          </p:cNvCxnSpPr>
          <p:nvPr/>
        </p:nvCxnSpPr>
        <p:spPr bwMode="auto">
          <a:xfrm flipV="1">
            <a:off x="6095999" y="306899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8" name="直線コネクタ 7">
            <a:extLst>
              <a:ext uri="{FF2B5EF4-FFF2-40B4-BE49-F238E27FC236}">
                <a16:creationId xmlns:a16="http://schemas.microsoft.com/office/drawing/2014/main" id="{1D2F36E7-776A-9669-D12F-D40D6F04AC40}"/>
              </a:ext>
            </a:extLst>
          </p:cNvPr>
          <p:cNvCxnSpPr>
            <a:cxnSpLocks/>
          </p:cNvCxnSpPr>
          <p:nvPr/>
        </p:nvCxnSpPr>
        <p:spPr bwMode="auto">
          <a:xfrm>
            <a:off x="6005999"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9" name="直線コネクタ 8">
            <a:extLst>
              <a:ext uri="{FF2B5EF4-FFF2-40B4-BE49-F238E27FC236}">
                <a16:creationId xmlns:a16="http://schemas.microsoft.com/office/drawing/2014/main" id="{F8680BFB-2777-C484-57A9-3B5C2EEC7E16}"/>
              </a:ext>
            </a:extLst>
          </p:cNvPr>
          <p:cNvCxnSpPr>
            <a:cxnSpLocks/>
          </p:cNvCxnSpPr>
          <p:nvPr/>
        </p:nvCxnSpPr>
        <p:spPr bwMode="auto">
          <a:xfrm>
            <a:off x="5825997"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354DE72C-48BF-5394-28DB-B8363ECE98AD}"/>
              </a:ext>
            </a:extLst>
          </p:cNvPr>
          <p:cNvCxnSpPr>
            <a:cxnSpLocks/>
          </p:cNvCxnSpPr>
          <p:nvPr/>
        </p:nvCxnSpPr>
        <p:spPr bwMode="auto">
          <a:xfrm>
            <a:off x="5645995"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1" name="直線コネクタ 10">
            <a:extLst>
              <a:ext uri="{FF2B5EF4-FFF2-40B4-BE49-F238E27FC236}">
                <a16:creationId xmlns:a16="http://schemas.microsoft.com/office/drawing/2014/main" id="{1B702B6C-DF20-8803-0B75-10B8DB60CFA7}"/>
              </a:ext>
            </a:extLst>
          </p:cNvPr>
          <p:cNvCxnSpPr>
            <a:cxnSpLocks/>
          </p:cNvCxnSpPr>
          <p:nvPr/>
        </p:nvCxnSpPr>
        <p:spPr bwMode="auto">
          <a:xfrm>
            <a:off x="5465993"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2" name="直線コネクタ 11">
            <a:extLst>
              <a:ext uri="{FF2B5EF4-FFF2-40B4-BE49-F238E27FC236}">
                <a16:creationId xmlns:a16="http://schemas.microsoft.com/office/drawing/2014/main" id="{E0DB4673-2E7E-54FD-D7FF-CC1D2CE85577}"/>
              </a:ext>
            </a:extLst>
          </p:cNvPr>
          <p:cNvCxnSpPr>
            <a:cxnSpLocks/>
          </p:cNvCxnSpPr>
          <p:nvPr/>
        </p:nvCxnSpPr>
        <p:spPr bwMode="auto">
          <a:xfrm flipV="1">
            <a:off x="5555993" y="315899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F2353922-6CB8-7E99-0BB1-ADDCC3CD744F}"/>
              </a:ext>
            </a:extLst>
          </p:cNvPr>
          <p:cNvCxnSpPr>
            <a:cxnSpLocks/>
          </p:cNvCxnSpPr>
          <p:nvPr/>
        </p:nvCxnSpPr>
        <p:spPr bwMode="auto">
          <a:xfrm>
            <a:off x="5735995" y="315899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A73D3CA2-3F71-2077-CE8B-A251097D53E0}"/>
              </a:ext>
            </a:extLst>
          </p:cNvPr>
          <p:cNvCxnSpPr>
            <a:cxnSpLocks/>
          </p:cNvCxnSpPr>
          <p:nvPr/>
        </p:nvCxnSpPr>
        <p:spPr bwMode="auto">
          <a:xfrm>
            <a:off x="5375991" y="2708992"/>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5" name="直線コネクタ 14">
            <a:extLst>
              <a:ext uri="{FF2B5EF4-FFF2-40B4-BE49-F238E27FC236}">
                <a16:creationId xmlns:a16="http://schemas.microsoft.com/office/drawing/2014/main" id="{798F9031-D91B-9D6D-07E2-FC5F73C2033B}"/>
              </a:ext>
            </a:extLst>
          </p:cNvPr>
          <p:cNvCxnSpPr>
            <a:cxnSpLocks/>
          </p:cNvCxnSpPr>
          <p:nvPr/>
        </p:nvCxnSpPr>
        <p:spPr bwMode="auto">
          <a:xfrm>
            <a:off x="4745984" y="2888994"/>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478B4D91-8E99-CB77-6E33-E238A9DB4B47}"/>
              </a:ext>
            </a:extLst>
          </p:cNvPr>
          <p:cNvCxnSpPr>
            <a:cxnSpLocks/>
          </p:cNvCxnSpPr>
          <p:nvPr/>
        </p:nvCxnSpPr>
        <p:spPr bwMode="auto">
          <a:xfrm flipV="1">
            <a:off x="5735995" y="2168986"/>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647A1D0-BDEF-BFB4-0A79-2D56B33528BB}"/>
              </a:ext>
            </a:extLst>
          </p:cNvPr>
          <p:cNvCxnSpPr>
            <a:cxnSpLocks/>
          </p:cNvCxnSpPr>
          <p:nvPr/>
        </p:nvCxnSpPr>
        <p:spPr bwMode="auto">
          <a:xfrm flipV="1">
            <a:off x="5555993" y="333899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F82C4B8B-8B93-936A-8300-F0E0647CB5C1}"/>
              </a:ext>
            </a:extLst>
          </p:cNvPr>
          <p:cNvCxnSpPr>
            <a:cxnSpLocks/>
          </p:cNvCxnSpPr>
          <p:nvPr/>
        </p:nvCxnSpPr>
        <p:spPr bwMode="auto">
          <a:xfrm flipV="1">
            <a:off x="5915997" y="333899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9" name="直線コネクタ 18">
            <a:extLst>
              <a:ext uri="{FF2B5EF4-FFF2-40B4-BE49-F238E27FC236}">
                <a16:creationId xmlns:a16="http://schemas.microsoft.com/office/drawing/2014/main" id="{22B15DB4-ABB7-C29C-C640-BE6476F64166}"/>
              </a:ext>
            </a:extLst>
          </p:cNvPr>
          <p:cNvCxnSpPr>
            <a:cxnSpLocks/>
          </p:cNvCxnSpPr>
          <p:nvPr/>
        </p:nvCxnSpPr>
        <p:spPr bwMode="auto">
          <a:xfrm flipV="1">
            <a:off x="5375991" y="3158997"/>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20" name="Rectangle 93">
            <a:extLst>
              <a:ext uri="{FF2B5EF4-FFF2-40B4-BE49-F238E27FC236}">
                <a16:creationId xmlns:a16="http://schemas.microsoft.com/office/drawing/2014/main" id="{32DA5D25-38A0-DAAA-B66B-06A16886F1C7}"/>
              </a:ext>
            </a:extLst>
          </p:cNvPr>
          <p:cNvSpPr>
            <a:spLocks noChangeArrowheads="1"/>
          </p:cNvSpPr>
          <p:nvPr/>
        </p:nvSpPr>
        <p:spPr bwMode="auto">
          <a:xfrm>
            <a:off x="5735996" y="189898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21" name="Rectangle 93">
            <a:extLst>
              <a:ext uri="{FF2B5EF4-FFF2-40B4-BE49-F238E27FC236}">
                <a16:creationId xmlns:a16="http://schemas.microsoft.com/office/drawing/2014/main" id="{3DC293EC-F468-8704-CE25-043E2B5C124A}"/>
              </a:ext>
            </a:extLst>
          </p:cNvPr>
          <p:cNvSpPr>
            <a:spLocks noChangeArrowheads="1"/>
          </p:cNvSpPr>
          <p:nvPr/>
        </p:nvSpPr>
        <p:spPr bwMode="auto">
          <a:xfrm>
            <a:off x="4205979" y="252899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22" name="Rectangle 93">
            <a:extLst>
              <a:ext uri="{FF2B5EF4-FFF2-40B4-BE49-F238E27FC236}">
                <a16:creationId xmlns:a16="http://schemas.microsoft.com/office/drawing/2014/main" id="{0770669C-BDC8-FF44-9577-3310FFC591FA}"/>
              </a:ext>
            </a:extLst>
          </p:cNvPr>
          <p:cNvSpPr>
            <a:spLocks noChangeArrowheads="1"/>
          </p:cNvSpPr>
          <p:nvPr/>
        </p:nvSpPr>
        <p:spPr bwMode="auto">
          <a:xfrm>
            <a:off x="5915998"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23" name="Rectangle 93">
            <a:extLst>
              <a:ext uri="{FF2B5EF4-FFF2-40B4-BE49-F238E27FC236}">
                <a16:creationId xmlns:a16="http://schemas.microsoft.com/office/drawing/2014/main" id="{5F68E55F-49DA-0CDD-8255-03F968360535}"/>
              </a:ext>
            </a:extLst>
          </p:cNvPr>
          <p:cNvSpPr>
            <a:spLocks noChangeArrowheads="1"/>
          </p:cNvSpPr>
          <p:nvPr/>
        </p:nvSpPr>
        <p:spPr bwMode="auto">
          <a:xfrm>
            <a:off x="4385981"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pic>
        <p:nvPicPr>
          <p:cNvPr id="23554" name="Picture 2" descr="undefined">
            <a:extLst>
              <a:ext uri="{FF2B5EF4-FFF2-40B4-BE49-F238E27FC236}">
                <a16:creationId xmlns:a16="http://schemas.microsoft.com/office/drawing/2014/main" id="{D628AE51-4AA4-93B1-4F4A-F4BEEC42BA1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657225" y="4995444"/>
            <a:ext cx="2557293" cy="1846934"/>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undefined">
            <a:extLst>
              <a:ext uri="{FF2B5EF4-FFF2-40B4-BE49-F238E27FC236}">
                <a16:creationId xmlns:a16="http://schemas.microsoft.com/office/drawing/2014/main" id="{1B329A1B-2FFB-DCEA-68ED-78AF9E5A230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726008" y="4995444"/>
            <a:ext cx="1881271" cy="1714576"/>
          </a:xfrm>
          <a:prstGeom prst="rect">
            <a:avLst/>
          </a:prstGeom>
          <a:noFill/>
          <a:extLst>
            <a:ext uri="{909E8E84-426E-40DD-AFC4-6F175D3DCCD1}">
              <a14:hiddenFill xmlns:a14="http://schemas.microsoft.com/office/drawing/2010/main">
                <a:solidFill>
                  <a:srgbClr val="FFFFFF"/>
                </a:solidFill>
              </a14:hiddenFill>
            </a:ext>
          </a:extLst>
        </p:spPr>
      </p:pic>
      <p:sp>
        <p:nvSpPr>
          <p:cNvPr id="26" name="コンテンツ プレースホルダー 2">
            <a:extLst>
              <a:ext uri="{FF2B5EF4-FFF2-40B4-BE49-F238E27FC236}">
                <a16:creationId xmlns:a16="http://schemas.microsoft.com/office/drawing/2014/main" id="{140A2EBF-6519-8661-B9B7-32675DB4CB65}"/>
              </a:ext>
            </a:extLst>
          </p:cNvPr>
          <p:cNvSpPr txBox="1">
            <a:spLocks/>
          </p:cNvSpPr>
          <p:nvPr/>
        </p:nvSpPr>
        <p:spPr bwMode="auto">
          <a:xfrm>
            <a:off x="1775952" y="3789005"/>
            <a:ext cx="8280092" cy="11700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en-US" altLang="ja-JP" kern="0" dirty="0"/>
              <a:t>ENIAC (1945)</a:t>
            </a:r>
          </a:p>
          <a:p>
            <a:pPr lvl="1"/>
            <a:r>
              <a:rPr lang="ja-JP" altLang="en-US" kern="0" dirty="0"/>
              <a:t>世界で最初の汎用コンピュータ</a:t>
            </a:r>
            <a:endParaRPr lang="en-US" altLang="ja-JP" kern="0" dirty="0"/>
          </a:p>
          <a:p>
            <a:pPr lvl="1"/>
            <a:r>
              <a:rPr lang="en-US" kern="0" dirty="0"/>
              <a:t>18,000 </a:t>
            </a:r>
            <a:r>
              <a:rPr lang="ja-JP" altLang="en-US" kern="0" dirty="0"/>
              <a:t>個の真空管で出来ている</a:t>
            </a:r>
            <a:endParaRPr lang="en-US" kern="0" dirty="0"/>
          </a:p>
        </p:txBody>
      </p:sp>
    </p:spTree>
    <p:extLst>
      <p:ext uri="{BB962C8B-B14F-4D97-AF65-F5344CB8AC3E}">
        <p14:creationId xmlns:p14="http://schemas.microsoft.com/office/powerpoint/2010/main" val="1952447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レッドストーン回路</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sz="quarter" idx="10"/>
          </p:nvPr>
        </p:nvSpPr>
        <p:spPr>
          <a:xfrm>
            <a:off x="2135956" y="1358977"/>
            <a:ext cx="8280092" cy="815924"/>
          </a:xfrm>
        </p:spPr>
        <p:txBody>
          <a:bodyPr/>
          <a:lstStyle/>
          <a:p>
            <a:r>
              <a:rPr kumimoji="1" lang="en-US" altLang="ja-JP" dirty="0"/>
              <a:t>Minecraft </a:t>
            </a:r>
            <a:r>
              <a:rPr kumimoji="1" lang="ja-JP" altLang="en-US" dirty="0"/>
              <a:t>というゲームの中で作られている回路</a:t>
            </a:r>
            <a:endParaRPr kumimoji="1" lang="en-US" altLang="ja-JP" dirty="0"/>
          </a:p>
          <a:p>
            <a:pPr lvl="1"/>
            <a:r>
              <a:rPr kumimoji="1" lang="en-US" dirty="0">
                <a:hlinkClick r:id="rId2"/>
              </a:rPr>
              <a:t>https://www.minecraft.net/ja-jp</a:t>
            </a:r>
            <a:r>
              <a:rPr lang="en-US" dirty="0"/>
              <a:t> </a:t>
            </a:r>
          </a:p>
          <a:p>
            <a:pPr lvl="1"/>
            <a:r>
              <a:rPr kumimoji="1" lang="ja-JP" altLang="en-US" dirty="0"/>
              <a:t>もともとは箱庭でブロックをおいて色々つくって遊ぶゲーム</a:t>
            </a:r>
            <a:endParaRPr kumimoji="1" lang="en-US" dirty="0"/>
          </a:p>
        </p:txBody>
      </p:sp>
      <p:pic>
        <p:nvPicPr>
          <p:cNvPr id="6" name="図 5">
            <a:extLst>
              <a:ext uri="{FF2B5EF4-FFF2-40B4-BE49-F238E27FC236}">
                <a16:creationId xmlns:a16="http://schemas.microsoft.com/office/drawing/2014/main" id="{0DA1304B-F56A-088F-D9E3-36337E7278ED}"/>
              </a:ext>
            </a:extLst>
          </p:cNvPr>
          <p:cNvPicPr>
            <a:picLocks noChangeAspect="1"/>
          </p:cNvPicPr>
          <p:nvPr/>
        </p:nvPicPr>
        <p:blipFill>
          <a:blip r:embed="rId3"/>
          <a:stretch>
            <a:fillRect/>
          </a:stretch>
        </p:blipFill>
        <p:spPr>
          <a:xfrm>
            <a:off x="2495960" y="2618992"/>
            <a:ext cx="7265902" cy="4050045"/>
          </a:xfrm>
          <a:prstGeom prst="rect">
            <a:avLst/>
          </a:prstGeom>
        </p:spPr>
      </p:pic>
    </p:spTree>
    <p:extLst>
      <p:ext uri="{BB962C8B-B14F-4D97-AF65-F5344CB8AC3E}">
        <p14:creationId xmlns:p14="http://schemas.microsoft.com/office/powerpoint/2010/main" val="4206772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レッドストーン回路</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sz="quarter" idx="10"/>
          </p:nvPr>
        </p:nvSpPr>
        <p:spPr>
          <a:xfrm>
            <a:off x="2135956" y="1268977"/>
            <a:ext cx="8280092" cy="1445931"/>
          </a:xfrm>
        </p:spPr>
        <p:txBody>
          <a:bodyPr/>
          <a:lstStyle/>
          <a:p>
            <a:r>
              <a:rPr kumimoji="1" lang="ja-JP" altLang="en-US" dirty="0"/>
              <a:t>「レッドストーン」と言うゲーム内の要素を利用</a:t>
            </a:r>
            <a:endParaRPr kumimoji="1" lang="en-US" altLang="ja-JP" dirty="0"/>
          </a:p>
          <a:p>
            <a:pPr lvl="1"/>
            <a:r>
              <a:rPr kumimoji="1" lang="ja-JP" altLang="en-US" dirty="0"/>
              <a:t>有効と無効の状態を持つ</a:t>
            </a:r>
            <a:endParaRPr kumimoji="1" lang="en-US" altLang="ja-JP" dirty="0"/>
          </a:p>
          <a:p>
            <a:pPr lvl="1"/>
            <a:r>
              <a:rPr kumimoji="1" lang="ja-JP" altLang="en-US" dirty="0"/>
              <a:t>スイッチと扉を繋げて，遠くから開けたり閉じたりとかする</a:t>
            </a:r>
            <a:endParaRPr kumimoji="1" lang="en-US" altLang="ja-JP" dirty="0"/>
          </a:p>
          <a:p>
            <a:r>
              <a:rPr kumimoji="1" lang="ja-JP" altLang="en-US" dirty="0">
                <a:solidFill>
                  <a:schemeClr val="accent5"/>
                </a:solidFill>
              </a:rPr>
              <a:t>これも入力で出力を制御出来ていることに誰かが気づいた</a:t>
            </a:r>
            <a:endParaRPr kumimoji="1" lang="en-US" dirty="0">
              <a:solidFill>
                <a:schemeClr val="accent5"/>
              </a:solidFill>
            </a:endParaRPr>
          </a:p>
        </p:txBody>
      </p:sp>
      <p:pic>
        <p:nvPicPr>
          <p:cNvPr id="25602" name="Picture 2">
            <a:extLst>
              <a:ext uri="{FF2B5EF4-FFF2-40B4-BE49-F238E27FC236}">
                <a16:creationId xmlns:a16="http://schemas.microsoft.com/office/drawing/2014/main" id="{B845DFDA-B3A7-755F-8DDB-CF88F6DDCB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5961" y="4239010"/>
            <a:ext cx="3401987" cy="1803171"/>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a:extLst>
              <a:ext uri="{FF2B5EF4-FFF2-40B4-BE49-F238E27FC236}">
                <a16:creationId xmlns:a16="http://schemas.microsoft.com/office/drawing/2014/main" id="{2EAFD79E-6BEF-192B-F0C6-B7A33BC09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6006" y="3248998"/>
            <a:ext cx="3202705" cy="2799046"/>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7F39E439-730E-CADD-4D05-817C28753F45}"/>
              </a:ext>
            </a:extLst>
          </p:cNvPr>
          <p:cNvSpPr txBox="1"/>
          <p:nvPr/>
        </p:nvSpPr>
        <p:spPr>
          <a:xfrm>
            <a:off x="2135957" y="6399033"/>
            <a:ext cx="8010089" cy="369332"/>
          </a:xfrm>
          <a:prstGeom prst="rect">
            <a:avLst/>
          </a:prstGeom>
          <a:noFill/>
        </p:spPr>
        <p:txBody>
          <a:bodyPr wrap="square">
            <a:spAutoFit/>
          </a:bodyPr>
          <a:lstStyle/>
          <a:p>
            <a:r>
              <a:rPr lang="ja-JP" altLang="en-US" dirty="0"/>
              <a:t>画像は </a:t>
            </a:r>
            <a:r>
              <a:rPr lang="en-US" altLang="ja-JP" dirty="0">
                <a:hlinkClick r:id="rId4"/>
              </a:rPr>
              <a:t>https://minecraft.fandom.com/wiki/Redstone_circuits/Logic</a:t>
            </a:r>
            <a:r>
              <a:rPr lang="en-US" altLang="ja-JP" dirty="0"/>
              <a:t> </a:t>
            </a:r>
            <a:r>
              <a:rPr lang="ja-JP" altLang="en-US" dirty="0"/>
              <a:t>より</a:t>
            </a:r>
            <a:endParaRPr lang="en-US" dirty="0"/>
          </a:p>
        </p:txBody>
      </p:sp>
      <p:sp>
        <p:nvSpPr>
          <p:cNvPr id="6" name="Rectangle 93">
            <a:extLst>
              <a:ext uri="{FF2B5EF4-FFF2-40B4-BE49-F238E27FC236}">
                <a16:creationId xmlns:a16="http://schemas.microsoft.com/office/drawing/2014/main" id="{AE324D97-E62A-26EE-CAD0-E6883AEF6EE2}"/>
              </a:ext>
            </a:extLst>
          </p:cNvPr>
          <p:cNvSpPr>
            <a:spLocks noChangeArrowheads="1"/>
          </p:cNvSpPr>
          <p:nvPr/>
        </p:nvSpPr>
        <p:spPr bwMode="auto">
          <a:xfrm>
            <a:off x="2405960"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AND </a:t>
            </a:r>
            <a:r>
              <a:rPr lang="ja-JP" altLang="en-US" dirty="0"/>
              <a:t>ゲート</a:t>
            </a:r>
            <a:endParaRPr lang="en-US" altLang="ja-JP" dirty="0"/>
          </a:p>
          <a:p>
            <a:r>
              <a:rPr lang="ja-JP" altLang="en-US" dirty="0"/>
              <a:t>右のスイッチを２つとも入れると</a:t>
            </a:r>
            <a:endParaRPr lang="en-US" altLang="ja-JP" dirty="0"/>
          </a:p>
          <a:p>
            <a:r>
              <a:rPr lang="ja-JP" altLang="en-US" dirty="0"/>
              <a:t>左側が赤くなる</a:t>
            </a:r>
            <a:endParaRPr lang="en-US" altLang="ja-JP" dirty="0"/>
          </a:p>
        </p:txBody>
      </p:sp>
    </p:spTree>
    <p:extLst>
      <p:ext uri="{BB962C8B-B14F-4D97-AF65-F5344CB8AC3E}">
        <p14:creationId xmlns:p14="http://schemas.microsoft.com/office/powerpoint/2010/main" val="2207305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8AD7D5-B625-30A8-A6FF-8D986E8ABB6F}"/>
              </a:ext>
            </a:extLst>
          </p:cNvPr>
          <p:cNvSpPr>
            <a:spLocks noGrp="1"/>
          </p:cNvSpPr>
          <p:nvPr>
            <p:ph type="title"/>
          </p:nvPr>
        </p:nvSpPr>
        <p:spPr/>
        <p:txBody>
          <a:bodyPr/>
          <a:lstStyle/>
          <a:p>
            <a:r>
              <a:rPr kumimoji="1" lang="ja-JP" altLang="en-US" dirty="0"/>
              <a:t>入力で出力を制御出来ればコンピュータが作れる</a:t>
            </a:r>
            <a:endParaRPr kumimoji="1" lang="en-US" dirty="0"/>
          </a:p>
        </p:txBody>
      </p:sp>
      <p:pic>
        <p:nvPicPr>
          <p:cNvPr id="26626" name="Picture 2">
            <a:extLst>
              <a:ext uri="{FF2B5EF4-FFF2-40B4-BE49-F238E27FC236}">
                <a16:creationId xmlns:a16="http://schemas.microsoft.com/office/drawing/2014/main" id="{0AC7C0F8-03F3-DC95-824D-7E10C6815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5958" y="1448979"/>
            <a:ext cx="6667500" cy="3152775"/>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AB1528C8-0902-0A6A-DD73-52AE1B730BAD}"/>
              </a:ext>
            </a:extLst>
          </p:cNvPr>
          <p:cNvSpPr txBox="1"/>
          <p:nvPr/>
        </p:nvSpPr>
        <p:spPr>
          <a:xfrm>
            <a:off x="2585961" y="5319022"/>
            <a:ext cx="5940066" cy="646331"/>
          </a:xfrm>
          <a:prstGeom prst="rect">
            <a:avLst/>
          </a:prstGeom>
          <a:noFill/>
        </p:spPr>
        <p:txBody>
          <a:bodyPr wrap="square">
            <a:spAutoFit/>
          </a:bodyPr>
          <a:lstStyle/>
          <a:p>
            <a:r>
              <a:rPr lang="ja-JP" altLang="en-US" dirty="0"/>
              <a:t>画像は </a:t>
            </a:r>
            <a:r>
              <a:rPr lang="en-US" altLang="ja-JP" dirty="0">
                <a:hlinkClick r:id="rId3"/>
              </a:rPr>
              <a:t>https://mcpedl.com/raffis-calculator-2-map/</a:t>
            </a:r>
            <a:r>
              <a:rPr lang="en-US" altLang="ja-JP" dirty="0"/>
              <a:t> </a:t>
            </a:r>
            <a:r>
              <a:rPr lang="ja-JP" altLang="en-US" dirty="0"/>
              <a:t>より</a:t>
            </a:r>
            <a:endParaRPr lang="en-US" altLang="ja-JP" dirty="0"/>
          </a:p>
          <a:p>
            <a:r>
              <a:rPr lang="ja-JP" altLang="en-US" dirty="0"/>
              <a:t>四則演算ができる計算機･･･らしい</a:t>
            </a:r>
            <a:endParaRPr lang="en-US" dirty="0"/>
          </a:p>
        </p:txBody>
      </p:sp>
    </p:spTree>
    <p:extLst>
      <p:ext uri="{BB962C8B-B14F-4D97-AF65-F5344CB8AC3E}">
        <p14:creationId xmlns:p14="http://schemas.microsoft.com/office/powerpoint/2010/main" val="1979267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en-US" altLang="ja-JP" dirty="0"/>
              <a:t>CMOS </a:t>
            </a:r>
            <a:r>
              <a:rPr kumimoji="1" lang="ja-JP" altLang="en-US" dirty="0"/>
              <a:t>と水流システムの消費エネルギー</a:t>
            </a:r>
          </a:p>
        </p:txBody>
      </p:sp>
    </p:spTree>
    <p:extLst>
      <p:ext uri="{BB962C8B-B14F-4D97-AF65-F5344CB8AC3E}">
        <p14:creationId xmlns:p14="http://schemas.microsoft.com/office/powerpoint/2010/main" val="32557337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回路におけるスイッチングの消費エネルギー</a:t>
            </a:r>
          </a:p>
        </p:txBody>
      </p:sp>
      <p:sp>
        <p:nvSpPr>
          <p:cNvPr id="3" name="テキスト プレースホルダー 2"/>
          <p:cNvSpPr>
            <a:spLocks noGrp="1"/>
          </p:cNvSpPr>
          <p:nvPr>
            <p:ph type="body" sz="quarter" idx="10"/>
          </p:nvPr>
        </p:nvSpPr>
        <p:spPr>
          <a:xfrm>
            <a:off x="2225957" y="4779323"/>
            <a:ext cx="8262041" cy="1439709"/>
          </a:xfrm>
        </p:spPr>
        <p:txBody>
          <a:bodyPr/>
          <a:lstStyle/>
          <a:p>
            <a:r>
              <a:rPr lang="en-US" altLang="ja-JP" dirty="0">
                <a:solidFill>
                  <a:schemeClr val="accent5"/>
                </a:solidFill>
              </a:rPr>
              <a:t>CMOS </a:t>
            </a:r>
            <a:r>
              <a:rPr lang="ja-JP" altLang="en-US" dirty="0">
                <a:solidFill>
                  <a:schemeClr val="accent5"/>
                </a:solidFill>
              </a:rPr>
              <a:t>回路は，コンデンサに連動したスイッチとみなせる</a:t>
            </a:r>
            <a:br>
              <a:rPr lang="en-US" altLang="ja-JP" dirty="0">
                <a:solidFill>
                  <a:schemeClr val="accent5"/>
                </a:solidFill>
              </a:rPr>
            </a:br>
            <a:r>
              <a:rPr lang="ja-JP" altLang="en-US" dirty="0"/>
              <a:t>（</a:t>
            </a:r>
            <a:r>
              <a:rPr lang="en-US" altLang="ja-JP" dirty="0"/>
              <a:t>MOS </a:t>
            </a:r>
            <a:r>
              <a:rPr lang="ja-JP" altLang="en-US" dirty="0"/>
              <a:t>構造のゲートのところがコンデンサになってる</a:t>
            </a:r>
            <a:endParaRPr lang="en-US" altLang="ja-JP" dirty="0"/>
          </a:p>
          <a:p>
            <a:pPr lvl="1"/>
            <a:r>
              <a:rPr lang="ja-JP" altLang="en-US" dirty="0"/>
              <a:t>コンデンサが充電状態：下のスイッチが</a:t>
            </a:r>
            <a:r>
              <a:rPr lang="en-US" altLang="ja-JP" dirty="0"/>
              <a:t>ON</a:t>
            </a:r>
          </a:p>
          <a:p>
            <a:pPr lvl="1"/>
            <a:r>
              <a:rPr lang="ja-JP" altLang="en-US" dirty="0"/>
              <a:t>コンデンサが放電状態：上のスイッチが</a:t>
            </a:r>
            <a:r>
              <a:rPr lang="en-US" altLang="ja-JP" dirty="0"/>
              <a:t>ON</a:t>
            </a:r>
          </a:p>
          <a:p>
            <a:r>
              <a:rPr lang="ja-JP" altLang="en-US" dirty="0"/>
              <a:t>主に計算で消費されるエネルギー：</a:t>
            </a:r>
            <a:endParaRPr lang="en-US" altLang="ja-JP" dirty="0"/>
          </a:p>
          <a:p>
            <a:pPr lvl="1"/>
            <a:r>
              <a:rPr lang="ja-JP" altLang="en-US" dirty="0">
                <a:solidFill>
                  <a:schemeClr val="accent5"/>
                </a:solidFill>
              </a:rPr>
              <a:t>スイッチを </a:t>
            </a:r>
            <a:r>
              <a:rPr lang="en-US" altLang="ja-JP" dirty="0">
                <a:solidFill>
                  <a:schemeClr val="accent5"/>
                </a:solidFill>
              </a:rPr>
              <a:t>ON/OFF </a:t>
            </a:r>
            <a:r>
              <a:rPr lang="ja-JP" altLang="en-US" dirty="0">
                <a:solidFill>
                  <a:schemeClr val="accent5"/>
                </a:solidFill>
              </a:rPr>
              <a:t>するためのコンデンサへの充放電で消費</a:t>
            </a:r>
            <a:endParaRPr lang="en-US" altLang="ja-JP" dirty="0">
              <a:solidFill>
                <a:schemeClr val="accent5"/>
              </a:solidFill>
            </a:endParaRPr>
          </a:p>
          <a:p>
            <a:pPr lvl="1"/>
            <a:endParaRPr lang="en-US" altLang="ja-JP" dirty="0"/>
          </a:p>
        </p:txBody>
      </p:sp>
      <p:grpSp>
        <p:nvGrpSpPr>
          <p:cNvPr id="214" name="グループ化 213">
            <a:extLst>
              <a:ext uri="{FF2B5EF4-FFF2-40B4-BE49-F238E27FC236}">
                <a16:creationId xmlns:a16="http://schemas.microsoft.com/office/drawing/2014/main" id="{4138FE45-F132-8B96-CFAB-DC4E53E8D20F}"/>
              </a:ext>
            </a:extLst>
          </p:cNvPr>
          <p:cNvGrpSpPr/>
          <p:nvPr/>
        </p:nvGrpSpPr>
        <p:grpSpPr>
          <a:xfrm rot="5400000">
            <a:off x="9882942" y="2265889"/>
            <a:ext cx="67531" cy="337533"/>
            <a:chOff x="3401870" y="728700"/>
            <a:chExt cx="180020" cy="405045"/>
          </a:xfrm>
        </p:grpSpPr>
        <p:cxnSp>
          <p:nvCxnSpPr>
            <p:cNvPr id="216" name="直線コネクタ 215">
              <a:extLst>
                <a:ext uri="{FF2B5EF4-FFF2-40B4-BE49-F238E27FC236}">
                  <a16:creationId xmlns:a16="http://schemas.microsoft.com/office/drawing/2014/main" id="{2344D971-E8D2-B33A-E0EC-C60C729F1422}"/>
                </a:ext>
              </a:extLst>
            </p:cNvPr>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7" name="直線コネクタ 216">
              <a:extLst>
                <a:ext uri="{FF2B5EF4-FFF2-40B4-BE49-F238E27FC236}">
                  <a16:creationId xmlns:a16="http://schemas.microsoft.com/office/drawing/2014/main" id="{4A2ACF78-DD22-1B82-736F-7EFA9A625C1E}"/>
                </a:ext>
              </a:extLst>
            </p:cNvPr>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8" name="直線コネクタ 217">
              <a:extLst>
                <a:ext uri="{FF2B5EF4-FFF2-40B4-BE49-F238E27FC236}">
                  <a16:creationId xmlns:a16="http://schemas.microsoft.com/office/drawing/2014/main" id="{95BC2369-1B8B-E105-7C3C-CA0D9DF55463}"/>
                </a:ext>
              </a:extLst>
            </p:cNvPr>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1" name="直線コネクタ 220">
              <a:extLst>
                <a:ext uri="{FF2B5EF4-FFF2-40B4-BE49-F238E27FC236}">
                  <a16:creationId xmlns:a16="http://schemas.microsoft.com/office/drawing/2014/main" id="{95AB4AE5-80E2-79E3-6D41-973C5A045ED9}"/>
                </a:ext>
              </a:extLst>
            </p:cNvPr>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2" name="直線コネクタ 221">
              <a:extLst>
                <a:ext uri="{FF2B5EF4-FFF2-40B4-BE49-F238E27FC236}">
                  <a16:creationId xmlns:a16="http://schemas.microsoft.com/office/drawing/2014/main" id="{1CAF3471-7138-37B0-55BD-F231B215AF15}"/>
                </a:ext>
              </a:extLst>
            </p:cNvPr>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3" name="直線コネクタ 222">
              <a:extLst>
                <a:ext uri="{FF2B5EF4-FFF2-40B4-BE49-F238E27FC236}">
                  <a16:creationId xmlns:a16="http://schemas.microsoft.com/office/drawing/2014/main" id="{52032321-6285-DD06-62D8-5F8EC4DC7637}"/>
                </a:ext>
              </a:extLst>
            </p:cNvPr>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4" name="直線コネクタ 223">
              <a:extLst>
                <a:ext uri="{FF2B5EF4-FFF2-40B4-BE49-F238E27FC236}">
                  <a16:creationId xmlns:a16="http://schemas.microsoft.com/office/drawing/2014/main" id="{FF34AF2C-A663-62BD-DA70-B2AC227EF82D}"/>
                </a:ext>
              </a:extLst>
            </p:cNvPr>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9" name="直線コネクタ 228">
              <a:extLst>
                <a:ext uri="{FF2B5EF4-FFF2-40B4-BE49-F238E27FC236}">
                  <a16:creationId xmlns:a16="http://schemas.microsoft.com/office/drawing/2014/main" id="{7749C55D-5F99-9DAF-2FD1-1028A491BC1A}"/>
                </a:ext>
              </a:extLst>
            </p:cNvPr>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5" name="直線コネクタ 234">
              <a:extLst>
                <a:ext uri="{FF2B5EF4-FFF2-40B4-BE49-F238E27FC236}">
                  <a16:creationId xmlns:a16="http://schemas.microsoft.com/office/drawing/2014/main" id="{40EA7DEE-4031-D044-6822-92B2F837D793}"/>
                </a:ext>
              </a:extLst>
            </p:cNvPr>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238" name="グループ化 237">
            <a:extLst>
              <a:ext uri="{FF2B5EF4-FFF2-40B4-BE49-F238E27FC236}">
                <a16:creationId xmlns:a16="http://schemas.microsoft.com/office/drawing/2014/main" id="{4BE8AD4E-358E-5B39-51F8-17D80E5A1BE9}"/>
              </a:ext>
            </a:extLst>
          </p:cNvPr>
          <p:cNvGrpSpPr/>
          <p:nvPr/>
        </p:nvGrpSpPr>
        <p:grpSpPr>
          <a:xfrm>
            <a:off x="9184609" y="2708993"/>
            <a:ext cx="270012" cy="450012"/>
            <a:chOff x="5787000" y="1944000"/>
            <a:chExt cx="270012" cy="450012"/>
          </a:xfrm>
        </p:grpSpPr>
        <p:cxnSp>
          <p:nvCxnSpPr>
            <p:cNvPr id="239" name="直線コネクタ 238">
              <a:extLst>
                <a:ext uri="{FF2B5EF4-FFF2-40B4-BE49-F238E27FC236}">
                  <a16:creationId xmlns:a16="http://schemas.microsoft.com/office/drawing/2014/main" id="{3DE128E8-BC46-9AB8-8A84-D7A13B825D34}"/>
                </a:ext>
              </a:extLst>
            </p:cNvPr>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0" name="円/楕円 92">
              <a:extLst>
                <a:ext uri="{FF2B5EF4-FFF2-40B4-BE49-F238E27FC236}">
                  <a16:creationId xmlns:a16="http://schemas.microsoft.com/office/drawing/2014/main" id="{A0C04820-DDD6-09F2-A6FF-5C1AE884DB15}"/>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41" name="円/楕円 93">
              <a:extLst>
                <a:ext uri="{FF2B5EF4-FFF2-40B4-BE49-F238E27FC236}">
                  <a16:creationId xmlns:a16="http://schemas.microsoft.com/office/drawing/2014/main" id="{B4661E23-D377-483F-EF1D-B4A26F504485}"/>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42" name="グループ化 241">
            <a:extLst>
              <a:ext uri="{FF2B5EF4-FFF2-40B4-BE49-F238E27FC236}">
                <a16:creationId xmlns:a16="http://schemas.microsoft.com/office/drawing/2014/main" id="{A28DBAEE-9030-18B9-9739-D9C07801D640}"/>
              </a:ext>
            </a:extLst>
          </p:cNvPr>
          <p:cNvGrpSpPr/>
          <p:nvPr/>
        </p:nvGrpSpPr>
        <p:grpSpPr>
          <a:xfrm>
            <a:off x="9364611" y="1718982"/>
            <a:ext cx="90012" cy="450012"/>
            <a:chOff x="5967000" y="1944000"/>
            <a:chExt cx="90012" cy="450012"/>
          </a:xfrm>
        </p:grpSpPr>
        <p:cxnSp>
          <p:nvCxnSpPr>
            <p:cNvPr id="243" name="直線コネクタ 242">
              <a:extLst>
                <a:ext uri="{FF2B5EF4-FFF2-40B4-BE49-F238E27FC236}">
                  <a16:creationId xmlns:a16="http://schemas.microsoft.com/office/drawing/2014/main" id="{D87A0057-A518-6145-C1E1-34827C7A4C20}"/>
                </a:ext>
              </a:extLst>
            </p:cNvPr>
            <p:cNvCxnSpPr>
              <a:stCxn id="245"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4" name="円/楕円 96">
              <a:extLst>
                <a:ext uri="{FF2B5EF4-FFF2-40B4-BE49-F238E27FC236}">
                  <a16:creationId xmlns:a16="http://schemas.microsoft.com/office/drawing/2014/main" id="{ED154FF6-A2F9-661C-F733-AD79ED0512AD}"/>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45" name="円/楕円 97">
              <a:extLst>
                <a:ext uri="{FF2B5EF4-FFF2-40B4-BE49-F238E27FC236}">
                  <a16:creationId xmlns:a16="http://schemas.microsoft.com/office/drawing/2014/main" id="{69652A70-473A-D5D4-4DEC-8777F01182F5}"/>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46" name="グループ化 152">
            <a:extLst>
              <a:ext uri="{FF2B5EF4-FFF2-40B4-BE49-F238E27FC236}">
                <a16:creationId xmlns:a16="http://schemas.microsoft.com/office/drawing/2014/main" id="{443D5170-9D50-BD1A-5D0E-B9046AEB39D9}"/>
              </a:ext>
            </a:extLst>
          </p:cNvPr>
          <p:cNvGrpSpPr/>
          <p:nvPr/>
        </p:nvGrpSpPr>
        <p:grpSpPr>
          <a:xfrm>
            <a:off x="9291755" y="3429000"/>
            <a:ext cx="180002" cy="90001"/>
            <a:chOff x="3643306" y="4500570"/>
            <a:chExt cx="428628" cy="144464"/>
          </a:xfrm>
        </p:grpSpPr>
        <p:cxnSp>
          <p:nvCxnSpPr>
            <p:cNvPr id="247" name="直線コネクタ 246">
              <a:extLst>
                <a:ext uri="{FF2B5EF4-FFF2-40B4-BE49-F238E27FC236}">
                  <a16:creationId xmlns:a16="http://schemas.microsoft.com/office/drawing/2014/main" id="{C61662E3-2627-8284-3638-5430E43B8EB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48" name="直線コネクタ 247">
              <a:extLst>
                <a:ext uri="{FF2B5EF4-FFF2-40B4-BE49-F238E27FC236}">
                  <a16:creationId xmlns:a16="http://schemas.microsoft.com/office/drawing/2014/main" id="{E0C0BFFC-29D8-F86E-2972-FA6441633D6D}"/>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49" name="直線コネクタ 248">
              <a:extLst>
                <a:ext uri="{FF2B5EF4-FFF2-40B4-BE49-F238E27FC236}">
                  <a16:creationId xmlns:a16="http://schemas.microsoft.com/office/drawing/2014/main" id="{99904DC4-4C9A-F183-C1DD-B89A501637FB}"/>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50" name="直線コネクタ 249">
            <a:extLst>
              <a:ext uri="{FF2B5EF4-FFF2-40B4-BE49-F238E27FC236}">
                <a16:creationId xmlns:a16="http://schemas.microsoft.com/office/drawing/2014/main" id="{B45F574F-2413-4CA9-C0A8-DDF8B59799DF}"/>
              </a:ext>
            </a:extLst>
          </p:cNvPr>
          <p:cNvCxnSpPr/>
          <p:nvPr/>
        </p:nvCxnSpPr>
        <p:spPr>
          <a:xfrm flipV="1">
            <a:off x="9381756" y="3158998"/>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51" name="グループ化 250">
            <a:extLst>
              <a:ext uri="{FF2B5EF4-FFF2-40B4-BE49-F238E27FC236}">
                <a16:creationId xmlns:a16="http://schemas.microsoft.com/office/drawing/2014/main" id="{D9BC83A5-1DF9-A020-A9D6-46E7C6AAFA68}"/>
              </a:ext>
            </a:extLst>
          </p:cNvPr>
          <p:cNvGrpSpPr/>
          <p:nvPr/>
        </p:nvGrpSpPr>
        <p:grpSpPr>
          <a:xfrm>
            <a:off x="9291755" y="1358978"/>
            <a:ext cx="180020" cy="360033"/>
            <a:chOff x="4481992" y="1268760"/>
            <a:chExt cx="180020" cy="360033"/>
          </a:xfrm>
        </p:grpSpPr>
        <p:cxnSp>
          <p:nvCxnSpPr>
            <p:cNvPr id="252" name="直線コネクタ 251">
              <a:extLst>
                <a:ext uri="{FF2B5EF4-FFF2-40B4-BE49-F238E27FC236}">
                  <a16:creationId xmlns:a16="http://schemas.microsoft.com/office/drawing/2014/main" id="{499FD040-4CE1-2FF1-7A31-D85896D0CD0F}"/>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3" name="直線コネクタ 252">
              <a:extLst>
                <a:ext uri="{FF2B5EF4-FFF2-40B4-BE49-F238E27FC236}">
                  <a16:creationId xmlns:a16="http://schemas.microsoft.com/office/drawing/2014/main" id="{500066DF-652C-90AB-E7BF-C4E15C0FDDDB}"/>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54" name="直線コネクタ 253">
            <a:extLst>
              <a:ext uri="{FF2B5EF4-FFF2-40B4-BE49-F238E27FC236}">
                <a16:creationId xmlns:a16="http://schemas.microsoft.com/office/drawing/2014/main" id="{F3EA1980-BEC1-DF05-B977-9787F65A1F4D}"/>
              </a:ext>
            </a:extLst>
          </p:cNvPr>
          <p:cNvCxnSpPr/>
          <p:nvPr/>
        </p:nvCxnSpPr>
        <p:spPr>
          <a:xfrm flipV="1">
            <a:off x="9381756" y="2168987"/>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5" name="直線コネクタ 254">
            <a:extLst>
              <a:ext uri="{FF2B5EF4-FFF2-40B4-BE49-F238E27FC236}">
                <a16:creationId xmlns:a16="http://schemas.microsoft.com/office/drawing/2014/main" id="{C8A97C3B-A04C-7E05-6D25-AF41C1514611}"/>
              </a:ext>
            </a:extLst>
          </p:cNvPr>
          <p:cNvCxnSpPr/>
          <p:nvPr/>
        </p:nvCxnSpPr>
        <p:spPr>
          <a:xfrm flipH="1">
            <a:off x="9381756" y="2438990"/>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256" name="グループ化 255">
            <a:extLst>
              <a:ext uri="{FF2B5EF4-FFF2-40B4-BE49-F238E27FC236}">
                <a16:creationId xmlns:a16="http://schemas.microsoft.com/office/drawing/2014/main" id="{8EFD628E-2952-3604-3FEB-0D801AEA1420}"/>
              </a:ext>
            </a:extLst>
          </p:cNvPr>
          <p:cNvGrpSpPr/>
          <p:nvPr/>
        </p:nvGrpSpPr>
        <p:grpSpPr>
          <a:xfrm rot="10800000">
            <a:off x="8436026" y="2258988"/>
            <a:ext cx="90012" cy="360048"/>
            <a:chOff x="2051664" y="1988808"/>
            <a:chExt cx="90012" cy="360048"/>
          </a:xfrm>
        </p:grpSpPr>
        <p:cxnSp>
          <p:nvCxnSpPr>
            <p:cNvPr id="257" name="直線コネクタ 256">
              <a:extLst>
                <a:ext uri="{FF2B5EF4-FFF2-40B4-BE49-F238E27FC236}">
                  <a16:creationId xmlns:a16="http://schemas.microsoft.com/office/drawing/2014/main" id="{080F79D0-AAF6-C5C7-4395-59E8FCA9B32B}"/>
                </a:ext>
              </a:extLst>
            </p:cNvPr>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8" name="直線コネクタ 257">
              <a:extLst>
                <a:ext uri="{FF2B5EF4-FFF2-40B4-BE49-F238E27FC236}">
                  <a16:creationId xmlns:a16="http://schemas.microsoft.com/office/drawing/2014/main" id="{1CDCD20B-6498-EDBD-101A-1CD451DAD6CF}"/>
                </a:ext>
              </a:extLst>
            </p:cNvPr>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259" name="グループ化 152">
            <a:extLst>
              <a:ext uri="{FF2B5EF4-FFF2-40B4-BE49-F238E27FC236}">
                <a16:creationId xmlns:a16="http://schemas.microsoft.com/office/drawing/2014/main" id="{21CA831F-038C-0B3C-03E8-BF953732331E}"/>
              </a:ext>
            </a:extLst>
          </p:cNvPr>
          <p:cNvGrpSpPr/>
          <p:nvPr/>
        </p:nvGrpSpPr>
        <p:grpSpPr>
          <a:xfrm>
            <a:off x="8706029" y="3429001"/>
            <a:ext cx="180002" cy="90001"/>
            <a:chOff x="3643306" y="4500570"/>
            <a:chExt cx="428628" cy="144464"/>
          </a:xfrm>
        </p:grpSpPr>
        <p:cxnSp>
          <p:nvCxnSpPr>
            <p:cNvPr id="260" name="直線コネクタ 259">
              <a:extLst>
                <a:ext uri="{FF2B5EF4-FFF2-40B4-BE49-F238E27FC236}">
                  <a16:creationId xmlns:a16="http://schemas.microsoft.com/office/drawing/2014/main" id="{5997A6C3-A637-FF4C-DC5D-7F1B92858AE0}"/>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61" name="直線コネクタ 260">
              <a:extLst>
                <a:ext uri="{FF2B5EF4-FFF2-40B4-BE49-F238E27FC236}">
                  <a16:creationId xmlns:a16="http://schemas.microsoft.com/office/drawing/2014/main" id="{E214D065-1B98-516A-8CC8-ADCABC018C93}"/>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62" name="直線コネクタ 261">
              <a:extLst>
                <a:ext uri="{FF2B5EF4-FFF2-40B4-BE49-F238E27FC236}">
                  <a16:creationId xmlns:a16="http://schemas.microsoft.com/office/drawing/2014/main" id="{740DD007-BE3E-B548-2C92-E8399CDDBE03}"/>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263" name="フリーフォーム 115">
            <a:extLst>
              <a:ext uri="{FF2B5EF4-FFF2-40B4-BE49-F238E27FC236}">
                <a16:creationId xmlns:a16="http://schemas.microsoft.com/office/drawing/2014/main" id="{4705686F-3BE7-85FC-E8E8-6A5C6CE8605F}"/>
              </a:ext>
            </a:extLst>
          </p:cNvPr>
          <p:cNvSpPr/>
          <p:nvPr/>
        </p:nvSpPr>
        <p:spPr bwMode="auto">
          <a:xfrm rot="5400000" flipH="1">
            <a:off x="8166022" y="2798993"/>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264" name="直線コネクタ 263">
            <a:extLst>
              <a:ext uri="{FF2B5EF4-FFF2-40B4-BE49-F238E27FC236}">
                <a16:creationId xmlns:a16="http://schemas.microsoft.com/office/drawing/2014/main" id="{B318F468-6168-803F-F8EF-70207D14D222}"/>
              </a:ext>
            </a:extLst>
          </p:cNvPr>
          <p:cNvCxnSpPr/>
          <p:nvPr/>
        </p:nvCxnSpPr>
        <p:spPr>
          <a:xfrm>
            <a:off x="8256024" y="2438990"/>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5" name="直線コネクタ 264">
            <a:extLst>
              <a:ext uri="{FF2B5EF4-FFF2-40B4-BE49-F238E27FC236}">
                <a16:creationId xmlns:a16="http://schemas.microsoft.com/office/drawing/2014/main" id="{D8FBC1A8-15AD-E0C2-7889-8A5AD1DB91AF}"/>
              </a:ext>
            </a:extLst>
          </p:cNvPr>
          <p:cNvCxnSpPr/>
          <p:nvPr/>
        </p:nvCxnSpPr>
        <p:spPr>
          <a:xfrm>
            <a:off x="7716018"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66" name="正方形/長方形 265">
            <a:extLst>
              <a:ext uri="{FF2B5EF4-FFF2-40B4-BE49-F238E27FC236}">
                <a16:creationId xmlns:a16="http://schemas.microsoft.com/office/drawing/2014/main" id="{0310D5FD-9B50-50C0-1786-C0F2D7ADE33B}"/>
              </a:ext>
            </a:extLst>
          </p:cNvPr>
          <p:cNvSpPr/>
          <p:nvPr/>
        </p:nvSpPr>
        <p:spPr bwMode="auto">
          <a:xfrm>
            <a:off x="8526027" y="99897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2000" dirty="0">
                <a:solidFill>
                  <a:schemeClr val="tx1">
                    <a:lumMod val="75000"/>
                    <a:lumOff val="25000"/>
                  </a:schemeClr>
                </a:solidFill>
              </a:rPr>
              <a:t>電源</a:t>
            </a:r>
          </a:p>
        </p:txBody>
      </p:sp>
      <p:cxnSp>
        <p:nvCxnSpPr>
          <p:cNvPr id="267" name="直線コネクタ 266">
            <a:extLst>
              <a:ext uri="{FF2B5EF4-FFF2-40B4-BE49-F238E27FC236}">
                <a16:creationId xmlns:a16="http://schemas.microsoft.com/office/drawing/2014/main" id="{A9AD57C0-8778-6E8F-3F22-A563F7907E4F}"/>
              </a:ext>
            </a:extLst>
          </p:cNvPr>
          <p:cNvCxnSpPr/>
          <p:nvPr/>
        </p:nvCxnSpPr>
        <p:spPr>
          <a:xfrm>
            <a:off x="10084619"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68" name="グループ化 267">
            <a:extLst>
              <a:ext uri="{FF2B5EF4-FFF2-40B4-BE49-F238E27FC236}">
                <a16:creationId xmlns:a16="http://schemas.microsoft.com/office/drawing/2014/main" id="{16C56780-7D35-5D7B-09E5-429CE94A1EE5}"/>
              </a:ext>
            </a:extLst>
          </p:cNvPr>
          <p:cNvGrpSpPr/>
          <p:nvPr/>
        </p:nvGrpSpPr>
        <p:grpSpPr>
          <a:xfrm rot="10800000">
            <a:off x="11316058" y="2258988"/>
            <a:ext cx="90012" cy="360048"/>
            <a:chOff x="2051664" y="1988808"/>
            <a:chExt cx="90012" cy="360048"/>
          </a:xfrm>
        </p:grpSpPr>
        <p:cxnSp>
          <p:nvCxnSpPr>
            <p:cNvPr id="269" name="直線コネクタ 268">
              <a:extLst>
                <a:ext uri="{FF2B5EF4-FFF2-40B4-BE49-F238E27FC236}">
                  <a16:creationId xmlns:a16="http://schemas.microsoft.com/office/drawing/2014/main" id="{E22D757A-D2EE-D171-190C-CBE47181E54E}"/>
                </a:ext>
              </a:extLst>
            </p:cNvPr>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0" name="直線コネクタ 269">
              <a:extLst>
                <a:ext uri="{FF2B5EF4-FFF2-40B4-BE49-F238E27FC236}">
                  <a16:creationId xmlns:a16="http://schemas.microsoft.com/office/drawing/2014/main" id="{FF8B9CDE-AD5D-6999-1BCF-24F33246D53F}"/>
                </a:ext>
              </a:extLst>
            </p:cNvPr>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271" name="グループ化 152">
            <a:extLst>
              <a:ext uri="{FF2B5EF4-FFF2-40B4-BE49-F238E27FC236}">
                <a16:creationId xmlns:a16="http://schemas.microsoft.com/office/drawing/2014/main" id="{6EA351C3-FCCB-F75E-1B1F-507E555136E2}"/>
              </a:ext>
            </a:extLst>
          </p:cNvPr>
          <p:cNvGrpSpPr/>
          <p:nvPr/>
        </p:nvGrpSpPr>
        <p:grpSpPr>
          <a:xfrm>
            <a:off x="11586061" y="3429001"/>
            <a:ext cx="180002" cy="90001"/>
            <a:chOff x="3643306" y="4500570"/>
            <a:chExt cx="428628" cy="144464"/>
          </a:xfrm>
        </p:grpSpPr>
        <p:cxnSp>
          <p:nvCxnSpPr>
            <p:cNvPr id="272" name="直線コネクタ 271">
              <a:extLst>
                <a:ext uri="{FF2B5EF4-FFF2-40B4-BE49-F238E27FC236}">
                  <a16:creationId xmlns:a16="http://schemas.microsoft.com/office/drawing/2014/main" id="{89FA3FE1-720F-04E8-4C56-4FEB1440C8AE}"/>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73" name="直線コネクタ 272">
              <a:extLst>
                <a:ext uri="{FF2B5EF4-FFF2-40B4-BE49-F238E27FC236}">
                  <a16:creationId xmlns:a16="http://schemas.microsoft.com/office/drawing/2014/main" id="{495B62DC-4855-6B26-250C-C7A0EC51CF3C}"/>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74" name="直線コネクタ 273">
              <a:extLst>
                <a:ext uri="{FF2B5EF4-FFF2-40B4-BE49-F238E27FC236}">
                  <a16:creationId xmlns:a16="http://schemas.microsoft.com/office/drawing/2014/main" id="{CFCFE16D-EACB-2D19-7F7B-03CFC47F898E}"/>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275" name="フリーフォーム 155">
            <a:extLst>
              <a:ext uri="{FF2B5EF4-FFF2-40B4-BE49-F238E27FC236}">
                <a16:creationId xmlns:a16="http://schemas.microsoft.com/office/drawing/2014/main" id="{F695B2BA-4E60-9D18-CD38-1016BF21E0BB}"/>
              </a:ext>
            </a:extLst>
          </p:cNvPr>
          <p:cNvSpPr/>
          <p:nvPr/>
        </p:nvSpPr>
        <p:spPr bwMode="auto">
          <a:xfrm rot="5400000" flipH="1">
            <a:off x="11046054" y="2798993"/>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276" name="直線コネクタ 275">
            <a:extLst>
              <a:ext uri="{FF2B5EF4-FFF2-40B4-BE49-F238E27FC236}">
                <a16:creationId xmlns:a16="http://schemas.microsoft.com/office/drawing/2014/main" id="{47B57984-C040-C905-082A-5ECF4793B7EA}"/>
              </a:ext>
            </a:extLst>
          </p:cNvPr>
          <p:cNvCxnSpPr/>
          <p:nvPr/>
        </p:nvCxnSpPr>
        <p:spPr>
          <a:xfrm>
            <a:off x="11136056" y="2438990"/>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7" name="直線コネクタ 276">
            <a:extLst>
              <a:ext uri="{FF2B5EF4-FFF2-40B4-BE49-F238E27FC236}">
                <a16:creationId xmlns:a16="http://schemas.microsoft.com/office/drawing/2014/main" id="{BACD9FFC-92AD-AE7C-D075-4223AF5A301C}"/>
              </a:ext>
            </a:extLst>
          </p:cNvPr>
          <p:cNvCxnSpPr/>
          <p:nvPr/>
        </p:nvCxnSpPr>
        <p:spPr>
          <a:xfrm>
            <a:off x="10596050"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8" name="曲折矢印 160">
            <a:extLst>
              <a:ext uri="{FF2B5EF4-FFF2-40B4-BE49-F238E27FC236}">
                <a16:creationId xmlns:a16="http://schemas.microsoft.com/office/drawing/2014/main" id="{5CF6907F-5BAB-6A46-9EA1-8071FEFCF1EF}"/>
              </a:ext>
            </a:extLst>
          </p:cNvPr>
          <p:cNvSpPr/>
          <p:nvPr/>
        </p:nvSpPr>
        <p:spPr bwMode="auto">
          <a:xfrm rot="10800000" flipH="1">
            <a:off x="9544614" y="1628980"/>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79" name="曲折矢印 171">
            <a:extLst>
              <a:ext uri="{FF2B5EF4-FFF2-40B4-BE49-F238E27FC236}">
                <a16:creationId xmlns:a16="http://schemas.microsoft.com/office/drawing/2014/main" id="{0E1A1E00-36FE-75B6-E0DA-E6EE61A029B2}"/>
              </a:ext>
            </a:extLst>
          </p:cNvPr>
          <p:cNvSpPr/>
          <p:nvPr/>
        </p:nvSpPr>
        <p:spPr bwMode="auto">
          <a:xfrm rot="16200000" flipH="1">
            <a:off x="9859617" y="2213988"/>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nvGrpSpPr>
          <p:cNvPr id="4" name="グループ化 3">
            <a:extLst>
              <a:ext uri="{FF2B5EF4-FFF2-40B4-BE49-F238E27FC236}">
                <a16:creationId xmlns:a16="http://schemas.microsoft.com/office/drawing/2014/main" id="{2E3D043B-8921-48BB-8716-2573B7046D39}"/>
              </a:ext>
            </a:extLst>
          </p:cNvPr>
          <p:cNvGrpSpPr/>
          <p:nvPr/>
        </p:nvGrpSpPr>
        <p:grpSpPr>
          <a:xfrm rot="10800000">
            <a:off x="4385873" y="2618990"/>
            <a:ext cx="270036" cy="360048"/>
            <a:chOff x="1871640" y="1988808"/>
            <a:chExt cx="270036" cy="360048"/>
          </a:xfrm>
        </p:grpSpPr>
        <p:cxnSp>
          <p:nvCxnSpPr>
            <p:cNvPr id="5" name="直線コネクタ 4">
              <a:extLst>
                <a:ext uri="{FF2B5EF4-FFF2-40B4-BE49-F238E27FC236}">
                  <a16:creationId xmlns:a16="http://schemas.microsoft.com/office/drawing/2014/main" id="{E0F7A921-CD99-2AB6-ED46-61313B958459}"/>
                </a:ext>
              </a:extLst>
            </p:cNvPr>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CB21FD5-E8EB-040D-A60C-EC04354FE39F}"/>
                </a:ext>
              </a:extLst>
            </p:cNvPr>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D54486CB-8EBA-841E-23BD-AE07954C7872}"/>
                </a:ext>
              </a:extLst>
            </p:cNvPr>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09BB2687-37D8-E3BE-03A3-4884CEDCC5B2}"/>
                </a:ext>
              </a:extLst>
            </p:cNvPr>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9" name="グループ化 8">
            <a:extLst>
              <a:ext uri="{FF2B5EF4-FFF2-40B4-BE49-F238E27FC236}">
                <a16:creationId xmlns:a16="http://schemas.microsoft.com/office/drawing/2014/main" id="{DBDCF0C7-F179-D3B2-7BC5-013CEEC00B57}"/>
              </a:ext>
            </a:extLst>
          </p:cNvPr>
          <p:cNvGrpSpPr/>
          <p:nvPr/>
        </p:nvGrpSpPr>
        <p:grpSpPr>
          <a:xfrm rot="16200000">
            <a:off x="3839401" y="2265454"/>
            <a:ext cx="726521" cy="353582"/>
            <a:chOff x="2675342" y="2348879"/>
            <a:chExt cx="906547" cy="360041"/>
          </a:xfrm>
        </p:grpSpPr>
        <p:sp>
          <p:nvSpPr>
            <p:cNvPr id="10" name="フリーフォーム 31">
              <a:extLst>
                <a:ext uri="{FF2B5EF4-FFF2-40B4-BE49-F238E27FC236}">
                  <a16:creationId xmlns:a16="http://schemas.microsoft.com/office/drawing/2014/main" id="{D634D1F8-317A-6893-AF62-16B4B575688E}"/>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11" name="フリーフォーム 32">
              <a:extLst>
                <a:ext uri="{FF2B5EF4-FFF2-40B4-BE49-F238E27FC236}">
                  <a16:creationId xmlns:a16="http://schemas.microsoft.com/office/drawing/2014/main" id="{70658170-7B64-E296-26CF-08E78BB025D6}"/>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pic>
        <p:nvPicPr>
          <p:cNvPr id="12" name="Picture 28" descr="NOT">
            <a:extLst>
              <a:ext uri="{FF2B5EF4-FFF2-40B4-BE49-F238E27FC236}">
                <a16:creationId xmlns:a16="http://schemas.microsoft.com/office/drawing/2014/main" id="{56F8A902-1EBF-C846-776E-E971D3ECA278}"/>
              </a:ext>
            </a:extLst>
          </p:cNvPr>
          <p:cNvPicPr>
            <a:picLocks noChangeAspect="1" noChangeArrowheads="1"/>
          </p:cNvPicPr>
          <p:nvPr/>
        </p:nvPicPr>
        <p:blipFill>
          <a:blip r:embed="rId3"/>
          <a:srcRect/>
          <a:stretch>
            <a:fillRect/>
          </a:stretch>
        </p:blipFill>
        <p:spPr bwMode="auto">
          <a:xfrm>
            <a:off x="605938" y="2078985"/>
            <a:ext cx="717550" cy="720725"/>
          </a:xfrm>
          <a:prstGeom prst="rect">
            <a:avLst/>
          </a:prstGeom>
          <a:noFill/>
        </p:spPr>
      </p:pic>
      <p:cxnSp>
        <p:nvCxnSpPr>
          <p:cNvPr id="13" name="直線コネクタ 12">
            <a:extLst>
              <a:ext uri="{FF2B5EF4-FFF2-40B4-BE49-F238E27FC236}">
                <a16:creationId xmlns:a16="http://schemas.microsoft.com/office/drawing/2014/main" id="{F7B18AEC-CEC8-5604-ECBD-140769AF624C}"/>
              </a:ext>
            </a:extLst>
          </p:cNvPr>
          <p:cNvCxnSpPr/>
          <p:nvPr/>
        </p:nvCxnSpPr>
        <p:spPr>
          <a:xfrm flipH="1" flipV="1">
            <a:off x="245935" y="2438988"/>
            <a:ext cx="450293" cy="98"/>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49AFA7FF-0B90-43C4-226A-145C664227BD}"/>
              </a:ext>
            </a:extLst>
          </p:cNvPr>
          <p:cNvCxnSpPr>
            <a:cxnSpLocks/>
          </p:cNvCxnSpPr>
          <p:nvPr/>
        </p:nvCxnSpPr>
        <p:spPr>
          <a:xfrm flipH="1">
            <a:off x="1235946" y="2438988"/>
            <a:ext cx="1170013" cy="0"/>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5" name="グループ化 152">
            <a:extLst>
              <a:ext uri="{FF2B5EF4-FFF2-40B4-BE49-F238E27FC236}">
                <a16:creationId xmlns:a16="http://schemas.microsoft.com/office/drawing/2014/main" id="{405D8347-8633-CA4B-3C66-538D0D309A85}"/>
              </a:ext>
            </a:extLst>
          </p:cNvPr>
          <p:cNvGrpSpPr/>
          <p:nvPr/>
        </p:nvGrpSpPr>
        <p:grpSpPr>
          <a:xfrm>
            <a:off x="4565875" y="3248997"/>
            <a:ext cx="180002" cy="90001"/>
            <a:chOff x="3643306" y="4500570"/>
            <a:chExt cx="428628" cy="144464"/>
          </a:xfrm>
        </p:grpSpPr>
        <p:cxnSp>
          <p:nvCxnSpPr>
            <p:cNvPr id="16" name="直線コネクタ 15">
              <a:extLst>
                <a:ext uri="{FF2B5EF4-FFF2-40B4-BE49-F238E27FC236}">
                  <a16:creationId xmlns:a16="http://schemas.microsoft.com/office/drawing/2014/main" id="{0BB796D2-2963-29CF-E757-DBE7D77DD057}"/>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7" name="直線コネクタ 16">
              <a:extLst>
                <a:ext uri="{FF2B5EF4-FFF2-40B4-BE49-F238E27FC236}">
                  <a16:creationId xmlns:a16="http://schemas.microsoft.com/office/drawing/2014/main" id="{D0453ED8-F825-2591-8EC1-B3DA71D6AAF4}"/>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8" name="直線コネクタ 17">
              <a:extLst>
                <a:ext uri="{FF2B5EF4-FFF2-40B4-BE49-F238E27FC236}">
                  <a16:creationId xmlns:a16="http://schemas.microsoft.com/office/drawing/2014/main" id="{5872F517-7626-9C29-58D0-B99AE29E0439}"/>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9" name="直線コネクタ 18">
            <a:extLst>
              <a:ext uri="{FF2B5EF4-FFF2-40B4-BE49-F238E27FC236}">
                <a16:creationId xmlns:a16="http://schemas.microsoft.com/office/drawing/2014/main" id="{3D88B108-A14B-966A-F8E0-DFB95C963AF6}"/>
              </a:ext>
            </a:extLst>
          </p:cNvPr>
          <p:cNvCxnSpPr/>
          <p:nvPr/>
        </p:nvCxnSpPr>
        <p:spPr>
          <a:xfrm flipV="1">
            <a:off x="4655877" y="2978995"/>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0" name="グループ化 19">
            <a:extLst>
              <a:ext uri="{FF2B5EF4-FFF2-40B4-BE49-F238E27FC236}">
                <a16:creationId xmlns:a16="http://schemas.microsoft.com/office/drawing/2014/main" id="{79C062D5-BC64-DC61-91BC-718CC9E9FDB1}"/>
              </a:ext>
            </a:extLst>
          </p:cNvPr>
          <p:cNvGrpSpPr/>
          <p:nvPr/>
        </p:nvGrpSpPr>
        <p:grpSpPr>
          <a:xfrm rot="10800000">
            <a:off x="4295873" y="1898982"/>
            <a:ext cx="360048" cy="360048"/>
            <a:chOff x="4662012" y="908664"/>
            <a:chExt cx="360048" cy="360048"/>
          </a:xfrm>
        </p:grpSpPr>
        <p:cxnSp>
          <p:nvCxnSpPr>
            <p:cNvPr id="21" name="直線コネクタ 20">
              <a:extLst>
                <a:ext uri="{FF2B5EF4-FFF2-40B4-BE49-F238E27FC236}">
                  <a16:creationId xmlns:a16="http://schemas.microsoft.com/office/drawing/2014/main" id="{503CBE0A-5F33-BB12-2CBA-8240F1DAB348}"/>
                </a:ext>
              </a:extLst>
            </p:cNvPr>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9DD03AD2-AB37-4002-59BA-A58A0B7EBE4A}"/>
                </a:ext>
              </a:extLst>
            </p:cNvPr>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32D830BB-510D-E6E2-B074-5125514AD484}"/>
                </a:ext>
              </a:extLst>
            </p:cNvPr>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9CBFEBD8-EDEF-737B-23C2-4D8C0895FF43}"/>
                </a:ext>
              </a:extLst>
            </p:cNvPr>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5" name="円/楕円 27">
              <a:extLst>
                <a:ext uri="{FF2B5EF4-FFF2-40B4-BE49-F238E27FC236}">
                  <a16:creationId xmlns:a16="http://schemas.microsoft.com/office/drawing/2014/main" id="{30F5F5BA-C966-85B1-43EA-04FE1727A64E}"/>
                </a:ext>
              </a:extLst>
            </p:cNvPr>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6" name="直線コネクタ 25">
            <a:extLst>
              <a:ext uri="{FF2B5EF4-FFF2-40B4-BE49-F238E27FC236}">
                <a16:creationId xmlns:a16="http://schemas.microsoft.com/office/drawing/2014/main" id="{5805063F-2722-FC01-EFB2-7FB5A52A824C}"/>
              </a:ext>
            </a:extLst>
          </p:cNvPr>
          <p:cNvCxnSpPr/>
          <p:nvPr/>
        </p:nvCxnSpPr>
        <p:spPr>
          <a:xfrm flipV="1">
            <a:off x="3485863" y="2438988"/>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27" name="グループ化 26">
            <a:extLst>
              <a:ext uri="{FF2B5EF4-FFF2-40B4-BE49-F238E27FC236}">
                <a16:creationId xmlns:a16="http://schemas.microsoft.com/office/drawing/2014/main" id="{4C79B2F4-8AEE-2DA5-5E2A-991667BDCBC8}"/>
              </a:ext>
            </a:extLst>
          </p:cNvPr>
          <p:cNvGrpSpPr/>
          <p:nvPr/>
        </p:nvGrpSpPr>
        <p:grpSpPr>
          <a:xfrm rot="16200000" flipV="1">
            <a:off x="4610875" y="2303987"/>
            <a:ext cx="360004" cy="270003"/>
            <a:chOff x="2675342" y="2348879"/>
            <a:chExt cx="906547" cy="360041"/>
          </a:xfrm>
        </p:grpSpPr>
        <p:sp>
          <p:nvSpPr>
            <p:cNvPr id="28" name="フリーフォーム 51">
              <a:extLst>
                <a:ext uri="{FF2B5EF4-FFF2-40B4-BE49-F238E27FC236}">
                  <a16:creationId xmlns:a16="http://schemas.microsoft.com/office/drawing/2014/main" id="{D5201598-CF2B-E4CD-A1B5-0267D5540335}"/>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29" name="フリーフォーム 52">
              <a:extLst>
                <a:ext uri="{FF2B5EF4-FFF2-40B4-BE49-F238E27FC236}">
                  <a16:creationId xmlns:a16="http://schemas.microsoft.com/office/drawing/2014/main" id="{48DD9E65-6406-A8F1-E721-BC959647C6E6}"/>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30" name="直線コネクタ 29">
            <a:extLst>
              <a:ext uri="{FF2B5EF4-FFF2-40B4-BE49-F238E27FC236}">
                <a16:creationId xmlns:a16="http://schemas.microsoft.com/office/drawing/2014/main" id="{E56279F9-1BC2-D122-D3AA-BD085D8047CB}"/>
              </a:ext>
            </a:extLst>
          </p:cNvPr>
          <p:cNvCxnSpPr/>
          <p:nvPr/>
        </p:nvCxnSpPr>
        <p:spPr>
          <a:xfrm flipH="1">
            <a:off x="4925879" y="2438988"/>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31" name="グループ化 30">
            <a:extLst>
              <a:ext uri="{FF2B5EF4-FFF2-40B4-BE49-F238E27FC236}">
                <a16:creationId xmlns:a16="http://schemas.microsoft.com/office/drawing/2014/main" id="{B1BF6D1B-52F5-4E3F-8C32-BEFEB2CC2BC5}"/>
              </a:ext>
            </a:extLst>
          </p:cNvPr>
          <p:cNvGrpSpPr/>
          <p:nvPr/>
        </p:nvGrpSpPr>
        <p:grpSpPr>
          <a:xfrm>
            <a:off x="4565875" y="1538979"/>
            <a:ext cx="180020" cy="360033"/>
            <a:chOff x="4481992" y="1268760"/>
            <a:chExt cx="180020" cy="360033"/>
          </a:xfrm>
        </p:grpSpPr>
        <p:cxnSp>
          <p:nvCxnSpPr>
            <p:cNvPr id="32" name="直線コネクタ 31">
              <a:extLst>
                <a:ext uri="{FF2B5EF4-FFF2-40B4-BE49-F238E27FC236}">
                  <a16:creationId xmlns:a16="http://schemas.microsoft.com/office/drawing/2014/main" id="{7B5D43B5-7713-CBE6-4D3C-41FF70B222C7}"/>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635E4920-541B-7EAA-E5E4-5C7C120434BF}"/>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4" name="右矢印 58">
            <a:extLst>
              <a:ext uri="{FF2B5EF4-FFF2-40B4-BE49-F238E27FC236}">
                <a16:creationId xmlns:a16="http://schemas.microsoft.com/office/drawing/2014/main" id="{374CD998-6920-65C4-2B9F-A3A11DD21823}"/>
              </a:ext>
            </a:extLst>
          </p:cNvPr>
          <p:cNvSpPr/>
          <p:nvPr/>
        </p:nvSpPr>
        <p:spPr bwMode="auto">
          <a:xfrm>
            <a:off x="2585961" y="2168986"/>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sp>
        <p:nvSpPr>
          <p:cNvPr id="35" name="右矢印 97">
            <a:extLst>
              <a:ext uri="{FF2B5EF4-FFF2-40B4-BE49-F238E27FC236}">
                <a16:creationId xmlns:a16="http://schemas.microsoft.com/office/drawing/2014/main" id="{C1E1FE4F-358F-B7FE-4641-13352AF10B2B}"/>
              </a:ext>
            </a:extLst>
          </p:cNvPr>
          <p:cNvSpPr/>
          <p:nvPr/>
        </p:nvSpPr>
        <p:spPr bwMode="auto">
          <a:xfrm>
            <a:off x="6816008" y="2168986"/>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pic>
        <p:nvPicPr>
          <p:cNvPr id="36" name="Picture 28" descr="NOT">
            <a:extLst>
              <a:ext uri="{FF2B5EF4-FFF2-40B4-BE49-F238E27FC236}">
                <a16:creationId xmlns:a16="http://schemas.microsoft.com/office/drawing/2014/main" id="{7717F183-FE7F-DFA7-0FD4-2618A38417AC}"/>
              </a:ext>
            </a:extLst>
          </p:cNvPr>
          <p:cNvPicPr>
            <a:picLocks noChangeAspect="1" noChangeArrowheads="1"/>
          </p:cNvPicPr>
          <p:nvPr/>
        </p:nvPicPr>
        <p:blipFill>
          <a:blip r:embed="rId3"/>
          <a:srcRect/>
          <a:stretch>
            <a:fillRect/>
          </a:stretch>
        </p:blipFill>
        <p:spPr bwMode="auto">
          <a:xfrm>
            <a:off x="1505948" y="2078985"/>
            <a:ext cx="717550" cy="720725"/>
          </a:xfrm>
          <a:prstGeom prst="rect">
            <a:avLst/>
          </a:prstGeom>
          <a:noFill/>
        </p:spPr>
      </p:pic>
      <p:grpSp>
        <p:nvGrpSpPr>
          <p:cNvPr id="38" name="グループ化 37">
            <a:extLst>
              <a:ext uri="{FF2B5EF4-FFF2-40B4-BE49-F238E27FC236}">
                <a16:creationId xmlns:a16="http://schemas.microsoft.com/office/drawing/2014/main" id="{7229B79E-20E6-CE3C-C304-4D8E67C61F92}"/>
              </a:ext>
            </a:extLst>
          </p:cNvPr>
          <p:cNvGrpSpPr/>
          <p:nvPr/>
        </p:nvGrpSpPr>
        <p:grpSpPr>
          <a:xfrm rot="10800000">
            <a:off x="5825889" y="2618990"/>
            <a:ext cx="270036" cy="360048"/>
            <a:chOff x="1871640" y="1988808"/>
            <a:chExt cx="270036" cy="360048"/>
          </a:xfrm>
        </p:grpSpPr>
        <p:cxnSp>
          <p:nvCxnSpPr>
            <p:cNvPr id="39" name="直線コネクタ 38">
              <a:extLst>
                <a:ext uri="{FF2B5EF4-FFF2-40B4-BE49-F238E27FC236}">
                  <a16:creationId xmlns:a16="http://schemas.microsoft.com/office/drawing/2014/main" id="{B962978D-5E46-B02A-4866-8377DE41B7B1}"/>
                </a:ext>
              </a:extLst>
            </p:cNvPr>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D1A5A474-81B0-A66B-1407-3DF1D3C654A2}"/>
                </a:ext>
              </a:extLst>
            </p:cNvPr>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86ACF16A-F81C-2F8D-515E-59B3E88D9A5F}"/>
                </a:ext>
              </a:extLst>
            </p:cNvPr>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BCF62F2E-DAB9-B4CE-693C-5F25B03B095B}"/>
                </a:ext>
              </a:extLst>
            </p:cNvPr>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43" name="グループ化 42">
            <a:extLst>
              <a:ext uri="{FF2B5EF4-FFF2-40B4-BE49-F238E27FC236}">
                <a16:creationId xmlns:a16="http://schemas.microsoft.com/office/drawing/2014/main" id="{30EC738D-778A-B88F-B932-4C4954ADDBE9}"/>
              </a:ext>
            </a:extLst>
          </p:cNvPr>
          <p:cNvGrpSpPr/>
          <p:nvPr/>
        </p:nvGrpSpPr>
        <p:grpSpPr>
          <a:xfrm rot="16200000">
            <a:off x="5279417" y="2265454"/>
            <a:ext cx="726521" cy="353582"/>
            <a:chOff x="2675342" y="2348879"/>
            <a:chExt cx="906547" cy="360041"/>
          </a:xfrm>
        </p:grpSpPr>
        <p:sp>
          <p:nvSpPr>
            <p:cNvPr id="44" name="フリーフォーム 31">
              <a:extLst>
                <a:ext uri="{FF2B5EF4-FFF2-40B4-BE49-F238E27FC236}">
                  <a16:creationId xmlns:a16="http://schemas.microsoft.com/office/drawing/2014/main" id="{9028DD98-E6C1-0389-9A4F-769CBF417E9A}"/>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45" name="フリーフォーム 32">
              <a:extLst>
                <a:ext uri="{FF2B5EF4-FFF2-40B4-BE49-F238E27FC236}">
                  <a16:creationId xmlns:a16="http://schemas.microsoft.com/office/drawing/2014/main" id="{520ADF19-FF40-EA81-CBAF-7207B07A3255}"/>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grpSp>
        <p:nvGrpSpPr>
          <p:cNvPr id="46" name="グループ化 152">
            <a:extLst>
              <a:ext uri="{FF2B5EF4-FFF2-40B4-BE49-F238E27FC236}">
                <a16:creationId xmlns:a16="http://schemas.microsoft.com/office/drawing/2014/main" id="{33F258AA-CB87-1CBD-F76D-9F4920F1294A}"/>
              </a:ext>
            </a:extLst>
          </p:cNvPr>
          <p:cNvGrpSpPr/>
          <p:nvPr/>
        </p:nvGrpSpPr>
        <p:grpSpPr>
          <a:xfrm>
            <a:off x="6005891" y="3248997"/>
            <a:ext cx="180002" cy="90001"/>
            <a:chOff x="3643306" y="4500570"/>
            <a:chExt cx="428628" cy="144464"/>
          </a:xfrm>
        </p:grpSpPr>
        <p:cxnSp>
          <p:nvCxnSpPr>
            <p:cNvPr id="47" name="直線コネクタ 46">
              <a:extLst>
                <a:ext uri="{FF2B5EF4-FFF2-40B4-BE49-F238E27FC236}">
                  <a16:creationId xmlns:a16="http://schemas.microsoft.com/office/drawing/2014/main" id="{F4D0B76A-1126-E2B6-0624-5AF53B66718C}"/>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8" name="直線コネクタ 47">
              <a:extLst>
                <a:ext uri="{FF2B5EF4-FFF2-40B4-BE49-F238E27FC236}">
                  <a16:creationId xmlns:a16="http://schemas.microsoft.com/office/drawing/2014/main" id="{2F4BC102-4ACC-5824-BBC9-821B4A1BCFCE}"/>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9" name="直線コネクタ 48">
              <a:extLst>
                <a:ext uri="{FF2B5EF4-FFF2-40B4-BE49-F238E27FC236}">
                  <a16:creationId xmlns:a16="http://schemas.microsoft.com/office/drawing/2014/main" id="{27EAE194-1F40-7037-413B-2ED82088674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50" name="直線コネクタ 49">
            <a:extLst>
              <a:ext uri="{FF2B5EF4-FFF2-40B4-BE49-F238E27FC236}">
                <a16:creationId xmlns:a16="http://schemas.microsoft.com/office/drawing/2014/main" id="{C78BB951-F9E5-B545-52FC-484475358BF2}"/>
              </a:ext>
            </a:extLst>
          </p:cNvPr>
          <p:cNvCxnSpPr/>
          <p:nvPr/>
        </p:nvCxnSpPr>
        <p:spPr>
          <a:xfrm flipV="1">
            <a:off x="6095893" y="2978995"/>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51" name="グループ化 50">
            <a:extLst>
              <a:ext uri="{FF2B5EF4-FFF2-40B4-BE49-F238E27FC236}">
                <a16:creationId xmlns:a16="http://schemas.microsoft.com/office/drawing/2014/main" id="{3F67A68D-80C5-E875-4E54-7A8F18B50567}"/>
              </a:ext>
            </a:extLst>
          </p:cNvPr>
          <p:cNvGrpSpPr/>
          <p:nvPr/>
        </p:nvGrpSpPr>
        <p:grpSpPr>
          <a:xfrm rot="10800000">
            <a:off x="5735889" y="1898982"/>
            <a:ext cx="360048" cy="360048"/>
            <a:chOff x="4662012" y="908664"/>
            <a:chExt cx="360048" cy="360048"/>
          </a:xfrm>
        </p:grpSpPr>
        <p:cxnSp>
          <p:nvCxnSpPr>
            <p:cNvPr id="52" name="直線コネクタ 51">
              <a:extLst>
                <a:ext uri="{FF2B5EF4-FFF2-40B4-BE49-F238E27FC236}">
                  <a16:creationId xmlns:a16="http://schemas.microsoft.com/office/drawing/2014/main" id="{5686F2B3-8708-189F-6DAB-3B0F93FDC0A2}"/>
                </a:ext>
              </a:extLst>
            </p:cNvPr>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8A8E56BF-49DB-BAEA-EBCF-3CC0780DC98C}"/>
                </a:ext>
              </a:extLst>
            </p:cNvPr>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2CCCAF93-C344-BF4C-403D-F444919DA17F}"/>
                </a:ext>
              </a:extLst>
            </p:cNvPr>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E87A4B5-8057-2FCE-DAF8-74F6AFAECDC1}"/>
                </a:ext>
              </a:extLst>
            </p:cNvPr>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56" name="円/楕円 27">
              <a:extLst>
                <a:ext uri="{FF2B5EF4-FFF2-40B4-BE49-F238E27FC236}">
                  <a16:creationId xmlns:a16="http://schemas.microsoft.com/office/drawing/2014/main" id="{86FFF8D3-60ED-7A80-DDCB-4140D51FDBBC}"/>
                </a:ext>
              </a:extLst>
            </p:cNvPr>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57" name="直線コネクタ 56">
            <a:extLst>
              <a:ext uri="{FF2B5EF4-FFF2-40B4-BE49-F238E27FC236}">
                <a16:creationId xmlns:a16="http://schemas.microsoft.com/office/drawing/2014/main" id="{2A98A88F-CE62-44A1-CF4A-EA2ADCAF4591}"/>
              </a:ext>
            </a:extLst>
          </p:cNvPr>
          <p:cNvCxnSpPr/>
          <p:nvPr/>
        </p:nvCxnSpPr>
        <p:spPr>
          <a:xfrm flipV="1">
            <a:off x="4925879" y="2438988"/>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8" name="グループ化 57">
            <a:extLst>
              <a:ext uri="{FF2B5EF4-FFF2-40B4-BE49-F238E27FC236}">
                <a16:creationId xmlns:a16="http://schemas.microsoft.com/office/drawing/2014/main" id="{3B09C89B-AC7A-564E-011D-641D95992366}"/>
              </a:ext>
            </a:extLst>
          </p:cNvPr>
          <p:cNvGrpSpPr/>
          <p:nvPr/>
        </p:nvGrpSpPr>
        <p:grpSpPr>
          <a:xfrm rot="16200000" flipV="1">
            <a:off x="6050891" y="2303987"/>
            <a:ext cx="360004" cy="270003"/>
            <a:chOff x="2675342" y="2348879"/>
            <a:chExt cx="906547" cy="360041"/>
          </a:xfrm>
        </p:grpSpPr>
        <p:sp>
          <p:nvSpPr>
            <p:cNvPr id="59" name="フリーフォーム 51">
              <a:extLst>
                <a:ext uri="{FF2B5EF4-FFF2-40B4-BE49-F238E27FC236}">
                  <a16:creationId xmlns:a16="http://schemas.microsoft.com/office/drawing/2014/main" id="{14F0A00E-8AAA-9805-A4D1-48059CB56AC0}"/>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60" name="フリーフォーム 52">
              <a:extLst>
                <a:ext uri="{FF2B5EF4-FFF2-40B4-BE49-F238E27FC236}">
                  <a16:creationId xmlns:a16="http://schemas.microsoft.com/office/drawing/2014/main" id="{FF1CA129-3445-126D-7B4C-51A02B31344C}"/>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61" name="直線コネクタ 60">
            <a:extLst>
              <a:ext uri="{FF2B5EF4-FFF2-40B4-BE49-F238E27FC236}">
                <a16:creationId xmlns:a16="http://schemas.microsoft.com/office/drawing/2014/main" id="{CD903319-9127-2BFA-2231-D77C6F019C10}"/>
              </a:ext>
            </a:extLst>
          </p:cNvPr>
          <p:cNvCxnSpPr/>
          <p:nvPr/>
        </p:nvCxnSpPr>
        <p:spPr>
          <a:xfrm flipH="1">
            <a:off x="6365895" y="2438988"/>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62" name="グループ化 61">
            <a:extLst>
              <a:ext uri="{FF2B5EF4-FFF2-40B4-BE49-F238E27FC236}">
                <a16:creationId xmlns:a16="http://schemas.microsoft.com/office/drawing/2014/main" id="{45553225-7B77-892E-72DB-C03AEDCBBDE4}"/>
              </a:ext>
            </a:extLst>
          </p:cNvPr>
          <p:cNvGrpSpPr/>
          <p:nvPr/>
        </p:nvGrpSpPr>
        <p:grpSpPr>
          <a:xfrm>
            <a:off x="6005891" y="1538979"/>
            <a:ext cx="180020" cy="360033"/>
            <a:chOff x="4481992" y="1268760"/>
            <a:chExt cx="180020" cy="360033"/>
          </a:xfrm>
        </p:grpSpPr>
        <p:cxnSp>
          <p:nvCxnSpPr>
            <p:cNvPr id="63" name="直線コネクタ 62">
              <a:extLst>
                <a:ext uri="{FF2B5EF4-FFF2-40B4-BE49-F238E27FC236}">
                  <a16:creationId xmlns:a16="http://schemas.microsoft.com/office/drawing/2014/main" id="{F685664C-E527-4A80-6FDA-83AC2277EF20}"/>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2" name="直線コネクタ 191">
              <a:extLst>
                <a:ext uri="{FF2B5EF4-FFF2-40B4-BE49-F238E27FC236}">
                  <a16:creationId xmlns:a16="http://schemas.microsoft.com/office/drawing/2014/main" id="{AC687CAA-FD6A-AECB-7841-910B161A65F0}"/>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93" name="曲折矢印 160">
            <a:extLst>
              <a:ext uri="{FF2B5EF4-FFF2-40B4-BE49-F238E27FC236}">
                <a16:creationId xmlns:a16="http://schemas.microsoft.com/office/drawing/2014/main" id="{B7C6D678-8F9B-A044-0F56-D9920092127E}"/>
              </a:ext>
            </a:extLst>
          </p:cNvPr>
          <p:cNvSpPr/>
          <p:nvPr/>
        </p:nvSpPr>
        <p:spPr bwMode="auto">
          <a:xfrm rot="10800000" flipH="1">
            <a:off x="4835986" y="1538978"/>
            <a:ext cx="630007"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4" name="曲折矢印 171">
            <a:extLst>
              <a:ext uri="{FF2B5EF4-FFF2-40B4-BE49-F238E27FC236}">
                <a16:creationId xmlns:a16="http://schemas.microsoft.com/office/drawing/2014/main" id="{FDEF550E-5638-CDDB-AC89-BCCF067D8B82}"/>
              </a:ext>
            </a:extLst>
          </p:cNvPr>
          <p:cNvSpPr/>
          <p:nvPr/>
        </p:nvSpPr>
        <p:spPr bwMode="auto">
          <a:xfrm rot="16200000" flipH="1">
            <a:off x="4655984" y="2618992"/>
            <a:ext cx="810009" cy="630007"/>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7" name="正方形/長方形 36">
            <a:extLst>
              <a:ext uri="{FF2B5EF4-FFF2-40B4-BE49-F238E27FC236}">
                <a16:creationId xmlns:a16="http://schemas.microsoft.com/office/drawing/2014/main" id="{FA1C8BE8-B588-289F-5270-76C8163A829B}"/>
              </a:ext>
            </a:extLst>
          </p:cNvPr>
          <p:cNvSpPr/>
          <p:nvPr/>
        </p:nvSpPr>
        <p:spPr bwMode="auto">
          <a:xfrm>
            <a:off x="7806019" y="2528990"/>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2000" dirty="0">
                <a:solidFill>
                  <a:schemeClr val="tx1">
                    <a:lumMod val="75000"/>
                    <a:lumOff val="25000"/>
                  </a:schemeClr>
                </a:solidFill>
              </a:rPr>
              <a:t>コンデンサ</a:t>
            </a:r>
          </a:p>
        </p:txBody>
      </p:sp>
    </p:spTree>
    <p:extLst>
      <p:ext uri="{BB962C8B-B14F-4D97-AF65-F5344CB8AC3E}">
        <p14:creationId xmlns:p14="http://schemas.microsoft.com/office/powerpoint/2010/main" val="1511489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20DA14-088E-E4A8-9DF1-D943987ADAE6}"/>
              </a:ext>
            </a:extLst>
          </p:cNvPr>
          <p:cNvSpPr>
            <a:spLocks noGrp="1"/>
          </p:cNvSpPr>
          <p:nvPr>
            <p:ph type="title"/>
          </p:nvPr>
        </p:nvSpPr>
        <p:spPr/>
        <p:txBody>
          <a:bodyPr/>
          <a:lstStyle/>
          <a:p>
            <a:r>
              <a:rPr kumimoji="1" lang="ja-JP" altLang="en-US" dirty="0"/>
              <a:t>これも水流で考える</a:t>
            </a:r>
            <a:endParaRPr kumimoji="1" lang="en-US" dirty="0"/>
          </a:p>
        </p:txBody>
      </p:sp>
      <p:sp>
        <p:nvSpPr>
          <p:cNvPr id="3" name="テキスト プレースホルダー 2">
            <a:extLst>
              <a:ext uri="{FF2B5EF4-FFF2-40B4-BE49-F238E27FC236}">
                <a16:creationId xmlns:a16="http://schemas.microsoft.com/office/drawing/2014/main" id="{890EE345-485C-03AB-4F9D-6EC7336BF1A2}"/>
              </a:ext>
            </a:extLst>
          </p:cNvPr>
          <p:cNvSpPr>
            <a:spLocks noGrp="1"/>
          </p:cNvSpPr>
          <p:nvPr>
            <p:ph type="body" sz="quarter" idx="10"/>
          </p:nvPr>
        </p:nvSpPr>
        <p:spPr>
          <a:xfrm>
            <a:off x="515938" y="1268976"/>
            <a:ext cx="5040056" cy="1620018"/>
          </a:xfrm>
        </p:spPr>
        <p:txBody>
          <a:bodyPr/>
          <a:lstStyle/>
          <a:p>
            <a:r>
              <a:rPr lang="ja-JP" altLang="en-US" dirty="0"/>
              <a:t>電流を流して失われるエネルギー</a:t>
            </a:r>
            <a:endParaRPr lang="en-US" altLang="ja-JP" dirty="0"/>
          </a:p>
          <a:p>
            <a:pPr lvl="1"/>
            <a:r>
              <a:rPr lang="ja-JP" altLang="en-US" dirty="0"/>
              <a:t>コンデンサに溜まる</a:t>
            </a:r>
            <a:br>
              <a:rPr lang="en-US" altLang="ja-JP" dirty="0"/>
            </a:br>
            <a:r>
              <a:rPr lang="ja-JP" altLang="en-US" dirty="0"/>
              <a:t>電荷の量：</a:t>
            </a:r>
            <a:r>
              <a:rPr lang="en-US" altLang="ja-JP" dirty="0"/>
              <a:t>	Q</a:t>
            </a:r>
          </a:p>
          <a:p>
            <a:pPr lvl="1"/>
            <a:r>
              <a:rPr lang="ja-JP" altLang="en-US" dirty="0"/>
              <a:t>電圧：</a:t>
            </a:r>
            <a:r>
              <a:rPr lang="en-US" altLang="ja-JP" dirty="0"/>
              <a:t>	V</a:t>
            </a:r>
          </a:p>
          <a:p>
            <a:pPr lvl="1"/>
            <a:r>
              <a:rPr lang="ja-JP" altLang="en-US" dirty="0"/>
              <a:t>消費エネルギー：</a:t>
            </a:r>
            <a:r>
              <a:rPr lang="en-US" altLang="ja-JP" dirty="0"/>
              <a:t>Q × V</a:t>
            </a:r>
            <a:endParaRPr kumimoji="1" lang="en-US" altLang="ja-JP" dirty="0"/>
          </a:p>
        </p:txBody>
      </p:sp>
      <p:grpSp>
        <p:nvGrpSpPr>
          <p:cNvPr id="280" name="グループ化 279">
            <a:extLst>
              <a:ext uri="{FF2B5EF4-FFF2-40B4-BE49-F238E27FC236}">
                <a16:creationId xmlns:a16="http://schemas.microsoft.com/office/drawing/2014/main" id="{87E8DC6F-0E26-5AA1-1C84-D3C528E58F6D}"/>
              </a:ext>
            </a:extLst>
          </p:cNvPr>
          <p:cNvGrpSpPr/>
          <p:nvPr/>
        </p:nvGrpSpPr>
        <p:grpSpPr>
          <a:xfrm rot="5400000">
            <a:off x="2952866" y="4875918"/>
            <a:ext cx="67531" cy="337533"/>
            <a:chOff x="3401870" y="728700"/>
            <a:chExt cx="180020" cy="405045"/>
          </a:xfrm>
        </p:grpSpPr>
        <p:cxnSp>
          <p:nvCxnSpPr>
            <p:cNvPr id="281" name="直線コネクタ 280">
              <a:extLst>
                <a:ext uri="{FF2B5EF4-FFF2-40B4-BE49-F238E27FC236}">
                  <a16:creationId xmlns:a16="http://schemas.microsoft.com/office/drawing/2014/main" id="{DF7AD983-6064-C52B-288A-AEA968F7945E}"/>
                </a:ext>
              </a:extLst>
            </p:cNvPr>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2" name="直線コネクタ 281">
              <a:extLst>
                <a:ext uri="{FF2B5EF4-FFF2-40B4-BE49-F238E27FC236}">
                  <a16:creationId xmlns:a16="http://schemas.microsoft.com/office/drawing/2014/main" id="{F53F85C4-DD11-47DA-A52D-ACCB5B1A0C64}"/>
                </a:ext>
              </a:extLst>
            </p:cNvPr>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3" name="直線コネクタ 282">
              <a:extLst>
                <a:ext uri="{FF2B5EF4-FFF2-40B4-BE49-F238E27FC236}">
                  <a16:creationId xmlns:a16="http://schemas.microsoft.com/office/drawing/2014/main" id="{4143C739-3F32-CF6B-3160-F3F55691CD25}"/>
                </a:ext>
              </a:extLst>
            </p:cNvPr>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4" name="直線コネクタ 283">
              <a:extLst>
                <a:ext uri="{FF2B5EF4-FFF2-40B4-BE49-F238E27FC236}">
                  <a16:creationId xmlns:a16="http://schemas.microsoft.com/office/drawing/2014/main" id="{37E6B02B-EDC7-ACFD-20BD-01D999F264ED}"/>
                </a:ext>
              </a:extLst>
            </p:cNvPr>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5" name="直線コネクタ 284">
              <a:extLst>
                <a:ext uri="{FF2B5EF4-FFF2-40B4-BE49-F238E27FC236}">
                  <a16:creationId xmlns:a16="http://schemas.microsoft.com/office/drawing/2014/main" id="{B18458F7-DE9C-C9CA-CFAE-D0F61A8B488C}"/>
                </a:ext>
              </a:extLst>
            </p:cNvPr>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6" name="直線コネクタ 285">
              <a:extLst>
                <a:ext uri="{FF2B5EF4-FFF2-40B4-BE49-F238E27FC236}">
                  <a16:creationId xmlns:a16="http://schemas.microsoft.com/office/drawing/2014/main" id="{6423D681-AF69-FA83-9F88-886EBBE5AAB5}"/>
                </a:ext>
              </a:extLst>
            </p:cNvPr>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7" name="直線コネクタ 286">
              <a:extLst>
                <a:ext uri="{FF2B5EF4-FFF2-40B4-BE49-F238E27FC236}">
                  <a16:creationId xmlns:a16="http://schemas.microsoft.com/office/drawing/2014/main" id="{DAF8C162-9238-1283-AF90-D59A1528A454}"/>
                </a:ext>
              </a:extLst>
            </p:cNvPr>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8" name="直線コネクタ 287">
              <a:extLst>
                <a:ext uri="{FF2B5EF4-FFF2-40B4-BE49-F238E27FC236}">
                  <a16:creationId xmlns:a16="http://schemas.microsoft.com/office/drawing/2014/main" id="{C224398F-A115-38BE-FFC4-40BE2170766F}"/>
                </a:ext>
              </a:extLst>
            </p:cNvPr>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9" name="直線コネクタ 288">
              <a:extLst>
                <a:ext uri="{FF2B5EF4-FFF2-40B4-BE49-F238E27FC236}">
                  <a16:creationId xmlns:a16="http://schemas.microsoft.com/office/drawing/2014/main" id="{66F2480F-913F-2BA9-3173-7E2956321836}"/>
                </a:ext>
              </a:extLst>
            </p:cNvPr>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290" name="グループ化 289">
            <a:extLst>
              <a:ext uri="{FF2B5EF4-FFF2-40B4-BE49-F238E27FC236}">
                <a16:creationId xmlns:a16="http://schemas.microsoft.com/office/drawing/2014/main" id="{A9D15278-5ECA-1FE2-752D-70FDC3658919}"/>
              </a:ext>
            </a:extLst>
          </p:cNvPr>
          <p:cNvGrpSpPr/>
          <p:nvPr/>
        </p:nvGrpSpPr>
        <p:grpSpPr>
          <a:xfrm>
            <a:off x="2254533" y="5319022"/>
            <a:ext cx="270012" cy="450012"/>
            <a:chOff x="5787000" y="1944000"/>
            <a:chExt cx="270012" cy="450012"/>
          </a:xfrm>
        </p:grpSpPr>
        <p:cxnSp>
          <p:nvCxnSpPr>
            <p:cNvPr id="291" name="直線コネクタ 290">
              <a:extLst>
                <a:ext uri="{FF2B5EF4-FFF2-40B4-BE49-F238E27FC236}">
                  <a16:creationId xmlns:a16="http://schemas.microsoft.com/office/drawing/2014/main" id="{5C4C3ECF-EC47-5396-8C7A-3045D7BB3F35}"/>
                </a:ext>
              </a:extLst>
            </p:cNvPr>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92" name="円/楕円 92">
              <a:extLst>
                <a:ext uri="{FF2B5EF4-FFF2-40B4-BE49-F238E27FC236}">
                  <a16:creationId xmlns:a16="http://schemas.microsoft.com/office/drawing/2014/main" id="{0BEF045E-7B98-29EF-2E79-5AE46A16A7F9}"/>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93" name="円/楕円 93">
              <a:extLst>
                <a:ext uri="{FF2B5EF4-FFF2-40B4-BE49-F238E27FC236}">
                  <a16:creationId xmlns:a16="http://schemas.microsoft.com/office/drawing/2014/main" id="{6D4AA102-FD31-D78B-51A8-ACCBEB325519}"/>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94" name="グループ化 293">
            <a:extLst>
              <a:ext uri="{FF2B5EF4-FFF2-40B4-BE49-F238E27FC236}">
                <a16:creationId xmlns:a16="http://schemas.microsoft.com/office/drawing/2014/main" id="{AA8D6560-CAC6-AAD5-F707-C974AAE396A8}"/>
              </a:ext>
            </a:extLst>
          </p:cNvPr>
          <p:cNvGrpSpPr/>
          <p:nvPr/>
        </p:nvGrpSpPr>
        <p:grpSpPr>
          <a:xfrm>
            <a:off x="2434535" y="4329011"/>
            <a:ext cx="90012" cy="450012"/>
            <a:chOff x="5967000" y="1944000"/>
            <a:chExt cx="90012" cy="450012"/>
          </a:xfrm>
        </p:grpSpPr>
        <p:cxnSp>
          <p:nvCxnSpPr>
            <p:cNvPr id="295" name="直線コネクタ 294">
              <a:extLst>
                <a:ext uri="{FF2B5EF4-FFF2-40B4-BE49-F238E27FC236}">
                  <a16:creationId xmlns:a16="http://schemas.microsoft.com/office/drawing/2014/main" id="{50AC0D7D-0236-FDE7-4D3C-F3F04D04D22A}"/>
                </a:ext>
              </a:extLst>
            </p:cNvPr>
            <p:cNvCxnSpPr>
              <a:stCxn id="297"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96" name="円/楕円 96">
              <a:extLst>
                <a:ext uri="{FF2B5EF4-FFF2-40B4-BE49-F238E27FC236}">
                  <a16:creationId xmlns:a16="http://schemas.microsoft.com/office/drawing/2014/main" id="{85F2BBD3-C88C-9C1F-745E-4EB1184327F9}"/>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97" name="円/楕円 97">
              <a:extLst>
                <a:ext uri="{FF2B5EF4-FFF2-40B4-BE49-F238E27FC236}">
                  <a16:creationId xmlns:a16="http://schemas.microsoft.com/office/drawing/2014/main" id="{3D16C544-A10C-3448-8EF7-EC1371A07EDE}"/>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98" name="グループ化 152">
            <a:extLst>
              <a:ext uri="{FF2B5EF4-FFF2-40B4-BE49-F238E27FC236}">
                <a16:creationId xmlns:a16="http://schemas.microsoft.com/office/drawing/2014/main" id="{0739F56B-5C3A-54C9-9E14-36FE0224CFC0}"/>
              </a:ext>
            </a:extLst>
          </p:cNvPr>
          <p:cNvGrpSpPr/>
          <p:nvPr/>
        </p:nvGrpSpPr>
        <p:grpSpPr>
          <a:xfrm>
            <a:off x="2361679" y="6039029"/>
            <a:ext cx="180002" cy="90001"/>
            <a:chOff x="3643306" y="4500570"/>
            <a:chExt cx="428628" cy="144464"/>
          </a:xfrm>
        </p:grpSpPr>
        <p:cxnSp>
          <p:nvCxnSpPr>
            <p:cNvPr id="299" name="直線コネクタ 298">
              <a:extLst>
                <a:ext uri="{FF2B5EF4-FFF2-40B4-BE49-F238E27FC236}">
                  <a16:creationId xmlns:a16="http://schemas.microsoft.com/office/drawing/2014/main" id="{EB41CCC5-9CC5-CEE5-C9B0-EB0CD2A1C0EE}"/>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00" name="直線コネクタ 299">
              <a:extLst>
                <a:ext uri="{FF2B5EF4-FFF2-40B4-BE49-F238E27FC236}">
                  <a16:creationId xmlns:a16="http://schemas.microsoft.com/office/drawing/2014/main" id="{092FA289-7A20-5BD0-C842-6AA473A2A55A}"/>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01" name="直線コネクタ 300">
              <a:extLst>
                <a:ext uri="{FF2B5EF4-FFF2-40B4-BE49-F238E27FC236}">
                  <a16:creationId xmlns:a16="http://schemas.microsoft.com/office/drawing/2014/main" id="{84517D28-6AD4-9B7F-B0B3-8D7230DF357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302" name="直線コネクタ 301">
            <a:extLst>
              <a:ext uri="{FF2B5EF4-FFF2-40B4-BE49-F238E27FC236}">
                <a16:creationId xmlns:a16="http://schemas.microsoft.com/office/drawing/2014/main" id="{AA9E3ECD-EDF9-FDBE-83F7-D75CA2565765}"/>
              </a:ext>
            </a:extLst>
          </p:cNvPr>
          <p:cNvCxnSpPr/>
          <p:nvPr/>
        </p:nvCxnSpPr>
        <p:spPr>
          <a:xfrm flipV="1">
            <a:off x="2451680" y="5769027"/>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303" name="グループ化 302">
            <a:extLst>
              <a:ext uri="{FF2B5EF4-FFF2-40B4-BE49-F238E27FC236}">
                <a16:creationId xmlns:a16="http://schemas.microsoft.com/office/drawing/2014/main" id="{15AF2F72-4C77-7745-D183-09408F44659E}"/>
              </a:ext>
            </a:extLst>
          </p:cNvPr>
          <p:cNvGrpSpPr/>
          <p:nvPr/>
        </p:nvGrpSpPr>
        <p:grpSpPr>
          <a:xfrm>
            <a:off x="2361679" y="3969007"/>
            <a:ext cx="180020" cy="360033"/>
            <a:chOff x="4481992" y="1268760"/>
            <a:chExt cx="180020" cy="360033"/>
          </a:xfrm>
        </p:grpSpPr>
        <p:cxnSp>
          <p:nvCxnSpPr>
            <p:cNvPr id="304" name="直線コネクタ 303">
              <a:extLst>
                <a:ext uri="{FF2B5EF4-FFF2-40B4-BE49-F238E27FC236}">
                  <a16:creationId xmlns:a16="http://schemas.microsoft.com/office/drawing/2014/main" id="{357ED39B-76C3-7EB1-FF28-C79A1AC6008F}"/>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5" name="直線コネクタ 304">
              <a:extLst>
                <a:ext uri="{FF2B5EF4-FFF2-40B4-BE49-F238E27FC236}">
                  <a16:creationId xmlns:a16="http://schemas.microsoft.com/office/drawing/2014/main" id="{7D98FA10-EA04-450A-FADA-F9AAD6F79EF0}"/>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06" name="直線コネクタ 305">
            <a:extLst>
              <a:ext uri="{FF2B5EF4-FFF2-40B4-BE49-F238E27FC236}">
                <a16:creationId xmlns:a16="http://schemas.microsoft.com/office/drawing/2014/main" id="{3D75AA5D-6DF6-320B-0B7C-974634C79DED}"/>
              </a:ext>
            </a:extLst>
          </p:cNvPr>
          <p:cNvCxnSpPr/>
          <p:nvPr/>
        </p:nvCxnSpPr>
        <p:spPr>
          <a:xfrm flipV="1">
            <a:off x="2451680" y="4779016"/>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07" name="直線コネクタ 306">
            <a:extLst>
              <a:ext uri="{FF2B5EF4-FFF2-40B4-BE49-F238E27FC236}">
                <a16:creationId xmlns:a16="http://schemas.microsoft.com/office/drawing/2014/main" id="{D4932EC2-5DDE-89AA-1AB4-2D83BB9A922C}"/>
              </a:ext>
            </a:extLst>
          </p:cNvPr>
          <p:cNvCxnSpPr/>
          <p:nvPr/>
        </p:nvCxnSpPr>
        <p:spPr>
          <a:xfrm flipH="1">
            <a:off x="2451680" y="5049019"/>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08" name="直線コネクタ 307">
            <a:extLst>
              <a:ext uri="{FF2B5EF4-FFF2-40B4-BE49-F238E27FC236}">
                <a16:creationId xmlns:a16="http://schemas.microsoft.com/office/drawing/2014/main" id="{4793DF6F-C92A-00A1-4A06-84B12AEE3008}"/>
              </a:ext>
            </a:extLst>
          </p:cNvPr>
          <p:cNvCxnSpPr/>
          <p:nvPr/>
        </p:nvCxnSpPr>
        <p:spPr>
          <a:xfrm>
            <a:off x="3154543" y="5049019"/>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09" name="グループ化 308">
            <a:extLst>
              <a:ext uri="{FF2B5EF4-FFF2-40B4-BE49-F238E27FC236}">
                <a16:creationId xmlns:a16="http://schemas.microsoft.com/office/drawing/2014/main" id="{730E735F-F7AA-63B9-A053-B66F73F798F0}"/>
              </a:ext>
            </a:extLst>
          </p:cNvPr>
          <p:cNvGrpSpPr/>
          <p:nvPr/>
        </p:nvGrpSpPr>
        <p:grpSpPr>
          <a:xfrm rot="10800000">
            <a:off x="4385982" y="4869017"/>
            <a:ext cx="90012" cy="360048"/>
            <a:chOff x="2051664" y="1988808"/>
            <a:chExt cx="90012" cy="360048"/>
          </a:xfrm>
        </p:grpSpPr>
        <p:cxnSp>
          <p:nvCxnSpPr>
            <p:cNvPr id="310" name="直線コネクタ 309">
              <a:extLst>
                <a:ext uri="{FF2B5EF4-FFF2-40B4-BE49-F238E27FC236}">
                  <a16:creationId xmlns:a16="http://schemas.microsoft.com/office/drawing/2014/main" id="{996C040B-55F9-425E-1C38-0D8571FA73EF}"/>
                </a:ext>
              </a:extLst>
            </p:cNvPr>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558BD19C-2B4E-BF39-280F-163671FB853B}"/>
                </a:ext>
              </a:extLst>
            </p:cNvPr>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312" name="グループ化 152">
            <a:extLst>
              <a:ext uri="{FF2B5EF4-FFF2-40B4-BE49-F238E27FC236}">
                <a16:creationId xmlns:a16="http://schemas.microsoft.com/office/drawing/2014/main" id="{2F2EF359-4E98-934C-7FBA-837B38391708}"/>
              </a:ext>
            </a:extLst>
          </p:cNvPr>
          <p:cNvGrpSpPr/>
          <p:nvPr/>
        </p:nvGrpSpPr>
        <p:grpSpPr>
          <a:xfrm>
            <a:off x="4655985" y="6039030"/>
            <a:ext cx="180002" cy="90001"/>
            <a:chOff x="3643306" y="4500570"/>
            <a:chExt cx="428628" cy="144464"/>
          </a:xfrm>
        </p:grpSpPr>
        <p:cxnSp>
          <p:nvCxnSpPr>
            <p:cNvPr id="313" name="直線コネクタ 312">
              <a:extLst>
                <a:ext uri="{FF2B5EF4-FFF2-40B4-BE49-F238E27FC236}">
                  <a16:creationId xmlns:a16="http://schemas.microsoft.com/office/drawing/2014/main" id="{9320B463-434A-1EE3-637C-084FBD59C12C}"/>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14" name="直線コネクタ 313">
              <a:extLst>
                <a:ext uri="{FF2B5EF4-FFF2-40B4-BE49-F238E27FC236}">
                  <a16:creationId xmlns:a16="http://schemas.microsoft.com/office/drawing/2014/main" id="{593CF2E2-0ABE-F3E2-4814-AC2617AB82DE}"/>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15" name="直線コネクタ 314">
              <a:extLst>
                <a:ext uri="{FF2B5EF4-FFF2-40B4-BE49-F238E27FC236}">
                  <a16:creationId xmlns:a16="http://schemas.microsoft.com/office/drawing/2014/main" id="{BD0C2A32-191C-7101-D348-A2B1E425D311}"/>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316" name="フリーフォーム 155">
            <a:extLst>
              <a:ext uri="{FF2B5EF4-FFF2-40B4-BE49-F238E27FC236}">
                <a16:creationId xmlns:a16="http://schemas.microsoft.com/office/drawing/2014/main" id="{DC12DBC4-79C1-2ECC-9CAF-082B2D212B8F}"/>
              </a:ext>
            </a:extLst>
          </p:cNvPr>
          <p:cNvSpPr/>
          <p:nvPr/>
        </p:nvSpPr>
        <p:spPr bwMode="auto">
          <a:xfrm rot="5400000" flipH="1">
            <a:off x="4115978" y="5409022"/>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317" name="直線コネクタ 316">
            <a:extLst>
              <a:ext uri="{FF2B5EF4-FFF2-40B4-BE49-F238E27FC236}">
                <a16:creationId xmlns:a16="http://schemas.microsoft.com/office/drawing/2014/main" id="{7119E46E-DBE0-A4A2-B9A0-336536D0CDC4}"/>
              </a:ext>
            </a:extLst>
          </p:cNvPr>
          <p:cNvCxnSpPr/>
          <p:nvPr/>
        </p:nvCxnSpPr>
        <p:spPr>
          <a:xfrm>
            <a:off x="4205980" y="5049019"/>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8" name="直線コネクタ 317">
            <a:extLst>
              <a:ext uri="{FF2B5EF4-FFF2-40B4-BE49-F238E27FC236}">
                <a16:creationId xmlns:a16="http://schemas.microsoft.com/office/drawing/2014/main" id="{3B48B560-27BD-FCA8-1245-97E2D372FD80}"/>
              </a:ext>
            </a:extLst>
          </p:cNvPr>
          <p:cNvCxnSpPr/>
          <p:nvPr/>
        </p:nvCxnSpPr>
        <p:spPr>
          <a:xfrm>
            <a:off x="3665974" y="5049019"/>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9" name="曲折矢印 160">
            <a:extLst>
              <a:ext uri="{FF2B5EF4-FFF2-40B4-BE49-F238E27FC236}">
                <a16:creationId xmlns:a16="http://schemas.microsoft.com/office/drawing/2014/main" id="{2672CB96-5080-6803-8F74-5863D97CD442}"/>
              </a:ext>
            </a:extLst>
          </p:cNvPr>
          <p:cNvSpPr/>
          <p:nvPr/>
        </p:nvSpPr>
        <p:spPr bwMode="auto">
          <a:xfrm rot="10800000" flipH="1">
            <a:off x="2614538" y="4239009"/>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20" name="曲折矢印 171">
            <a:extLst>
              <a:ext uri="{FF2B5EF4-FFF2-40B4-BE49-F238E27FC236}">
                <a16:creationId xmlns:a16="http://schemas.microsoft.com/office/drawing/2014/main" id="{080DDE31-04F4-F263-2407-846F213FF42F}"/>
              </a:ext>
            </a:extLst>
          </p:cNvPr>
          <p:cNvSpPr/>
          <p:nvPr/>
        </p:nvSpPr>
        <p:spPr bwMode="auto">
          <a:xfrm rot="16200000" flipH="1">
            <a:off x="2929541" y="4824017"/>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21" name="直線矢印コネクタ 320">
            <a:extLst>
              <a:ext uri="{FF2B5EF4-FFF2-40B4-BE49-F238E27FC236}">
                <a16:creationId xmlns:a16="http://schemas.microsoft.com/office/drawing/2014/main" id="{AFEDDBC4-E157-7478-2B43-5766B11C21FD}"/>
              </a:ext>
            </a:extLst>
          </p:cNvPr>
          <p:cNvCxnSpPr>
            <a:cxnSpLocks/>
          </p:cNvCxnSpPr>
          <p:nvPr/>
        </p:nvCxnSpPr>
        <p:spPr bwMode="auto">
          <a:xfrm flipV="1">
            <a:off x="1145945" y="3969006"/>
            <a:ext cx="0" cy="2070023"/>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322" name="正方形/長方形 321">
            <a:extLst>
              <a:ext uri="{FF2B5EF4-FFF2-40B4-BE49-F238E27FC236}">
                <a16:creationId xmlns:a16="http://schemas.microsoft.com/office/drawing/2014/main" id="{D507C77C-D674-7399-3C9B-C86FA48079DA}"/>
              </a:ext>
            </a:extLst>
          </p:cNvPr>
          <p:cNvSpPr/>
          <p:nvPr/>
        </p:nvSpPr>
        <p:spPr bwMode="auto">
          <a:xfrm>
            <a:off x="1145945" y="468901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電圧 </a:t>
            </a:r>
            <a:r>
              <a:rPr lang="en-US" altLang="ja-JP" sz="2400" b="1" dirty="0">
                <a:solidFill>
                  <a:schemeClr val="accent5"/>
                </a:solidFill>
              </a:rPr>
              <a:t>V</a:t>
            </a:r>
            <a:endParaRPr lang="ja-JP" altLang="en-US" sz="2400" b="1" dirty="0">
              <a:solidFill>
                <a:schemeClr val="accent5"/>
              </a:solidFill>
            </a:endParaRPr>
          </a:p>
        </p:txBody>
      </p:sp>
      <p:sp>
        <p:nvSpPr>
          <p:cNvPr id="323" name="テキスト プレースホルダー 2">
            <a:extLst>
              <a:ext uri="{FF2B5EF4-FFF2-40B4-BE49-F238E27FC236}">
                <a16:creationId xmlns:a16="http://schemas.microsoft.com/office/drawing/2014/main" id="{6D99E2F8-FAED-FD94-08E9-ACE839D1F43C}"/>
              </a:ext>
            </a:extLst>
          </p:cNvPr>
          <p:cNvSpPr txBox="1">
            <a:spLocks/>
          </p:cNvSpPr>
          <p:nvPr/>
        </p:nvSpPr>
        <p:spPr bwMode="auto">
          <a:xfrm>
            <a:off x="6005999" y="818971"/>
            <a:ext cx="6120068" cy="25200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solidFill>
                  <a:schemeClr val="accent5"/>
                </a:solidFill>
              </a:rPr>
              <a:t>水を高いところから流すとその分</a:t>
            </a:r>
            <a:br>
              <a:rPr lang="en-US" altLang="ja-JP" kern="0" dirty="0">
                <a:solidFill>
                  <a:schemeClr val="accent5"/>
                </a:solidFill>
              </a:rPr>
            </a:br>
            <a:r>
              <a:rPr lang="ja-JP" altLang="en-US" kern="0" dirty="0">
                <a:solidFill>
                  <a:schemeClr val="accent5"/>
                </a:solidFill>
              </a:rPr>
              <a:t>位置エネルギーが失われる</a:t>
            </a:r>
            <a:endParaRPr lang="en-US" altLang="ja-JP" kern="0" dirty="0">
              <a:solidFill>
                <a:schemeClr val="accent5"/>
              </a:solidFill>
            </a:endParaRPr>
          </a:p>
          <a:p>
            <a:pPr lvl="1"/>
            <a:r>
              <a:rPr lang="ja-JP" altLang="en-US" kern="0" dirty="0"/>
              <a:t>水の総量：</a:t>
            </a:r>
            <a:r>
              <a:rPr lang="en-US" altLang="ja-JP" kern="0" dirty="0"/>
              <a:t>	Q </a:t>
            </a:r>
          </a:p>
          <a:p>
            <a:pPr lvl="1"/>
            <a:r>
              <a:rPr lang="ja-JP" altLang="en-US" kern="0" dirty="0"/>
              <a:t>排水口から給水口高さ：</a:t>
            </a:r>
            <a:r>
              <a:rPr lang="en-US" altLang="ja-JP" kern="0" dirty="0"/>
              <a:t>	V</a:t>
            </a:r>
          </a:p>
          <a:p>
            <a:pPr lvl="1"/>
            <a:r>
              <a:rPr lang="ja-JP" altLang="en-US" kern="0" dirty="0"/>
              <a:t>エネルギー：</a:t>
            </a:r>
            <a:r>
              <a:rPr lang="en-US" altLang="ja-JP" kern="0" dirty="0"/>
              <a:t>		Q × V</a:t>
            </a:r>
          </a:p>
        </p:txBody>
      </p:sp>
      <p:sp>
        <p:nvSpPr>
          <p:cNvPr id="324" name="正方形/長方形 323">
            <a:extLst>
              <a:ext uri="{FF2B5EF4-FFF2-40B4-BE49-F238E27FC236}">
                <a16:creationId xmlns:a16="http://schemas.microsoft.com/office/drawing/2014/main" id="{9C43E815-980B-E3A1-F2DC-9F20C495658F}"/>
              </a:ext>
            </a:extLst>
          </p:cNvPr>
          <p:cNvSpPr/>
          <p:nvPr/>
        </p:nvSpPr>
        <p:spPr bwMode="auto">
          <a:xfrm>
            <a:off x="2855964" y="414900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電荷 </a:t>
            </a:r>
            <a:r>
              <a:rPr lang="en-US" altLang="ja-JP" sz="2400" b="1" dirty="0">
                <a:solidFill>
                  <a:schemeClr val="accent5"/>
                </a:solidFill>
              </a:rPr>
              <a:t>Q</a:t>
            </a:r>
            <a:endParaRPr lang="ja-JP" altLang="en-US" sz="2400" b="1" dirty="0">
              <a:solidFill>
                <a:schemeClr val="accent5"/>
              </a:solidFill>
            </a:endParaRPr>
          </a:p>
        </p:txBody>
      </p:sp>
      <p:sp>
        <p:nvSpPr>
          <p:cNvPr id="195" name="正方形/長方形 194">
            <a:extLst>
              <a:ext uri="{FF2B5EF4-FFF2-40B4-BE49-F238E27FC236}">
                <a16:creationId xmlns:a16="http://schemas.microsoft.com/office/drawing/2014/main" id="{69ADAA46-7843-83CD-E4A6-892F5B114C07}"/>
              </a:ext>
            </a:extLst>
          </p:cNvPr>
          <p:cNvSpPr/>
          <p:nvPr/>
        </p:nvSpPr>
        <p:spPr bwMode="auto">
          <a:xfrm rot="5400000">
            <a:off x="10641050" y="5454021"/>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196" name="正方形/長方形 195">
            <a:extLst>
              <a:ext uri="{FF2B5EF4-FFF2-40B4-BE49-F238E27FC236}">
                <a16:creationId xmlns:a16="http://schemas.microsoft.com/office/drawing/2014/main" id="{B34BB83F-F0B6-237A-AFFB-74726E317C03}"/>
              </a:ext>
            </a:extLst>
          </p:cNvPr>
          <p:cNvSpPr/>
          <p:nvPr/>
        </p:nvSpPr>
        <p:spPr bwMode="auto">
          <a:xfrm rot="5400000">
            <a:off x="9156034" y="4149006"/>
            <a:ext cx="180002" cy="1260014"/>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97" name="正方形/長方形 196">
            <a:extLst>
              <a:ext uri="{FF2B5EF4-FFF2-40B4-BE49-F238E27FC236}">
                <a16:creationId xmlns:a16="http://schemas.microsoft.com/office/drawing/2014/main" id="{F0EC0528-E386-1042-E444-B178F3BA5C06}"/>
              </a:ext>
            </a:extLst>
          </p:cNvPr>
          <p:cNvSpPr/>
          <p:nvPr/>
        </p:nvSpPr>
        <p:spPr bwMode="auto">
          <a:xfrm rot="5400000">
            <a:off x="7716018" y="4779015"/>
            <a:ext cx="162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98" name="正方形/長方形 197">
            <a:extLst>
              <a:ext uri="{FF2B5EF4-FFF2-40B4-BE49-F238E27FC236}">
                <a16:creationId xmlns:a16="http://schemas.microsoft.com/office/drawing/2014/main" id="{A4E60E53-A25F-F374-06FA-D386F8A81515}"/>
              </a:ext>
            </a:extLst>
          </p:cNvPr>
          <p:cNvSpPr/>
          <p:nvPr/>
        </p:nvSpPr>
        <p:spPr bwMode="auto">
          <a:xfrm rot="5400000">
            <a:off x="8121022" y="5364020"/>
            <a:ext cx="180002" cy="810009"/>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99" name="直線コネクタ 198">
            <a:extLst>
              <a:ext uri="{FF2B5EF4-FFF2-40B4-BE49-F238E27FC236}">
                <a16:creationId xmlns:a16="http://schemas.microsoft.com/office/drawing/2014/main" id="{C565A5A1-87A4-D066-3EE7-DC6686F80D68}"/>
              </a:ext>
            </a:extLst>
          </p:cNvPr>
          <p:cNvCxnSpPr>
            <a:cxnSpLocks/>
          </p:cNvCxnSpPr>
          <p:nvPr/>
        </p:nvCxnSpPr>
        <p:spPr bwMode="auto">
          <a:xfrm>
            <a:off x="7086013" y="5679025"/>
            <a:ext cx="1350015" cy="0"/>
          </a:xfrm>
          <a:prstGeom prst="line">
            <a:avLst/>
          </a:prstGeom>
          <a:noFill/>
          <a:ln w="19050" cap="flat" cmpd="sng" algn="ctr">
            <a:solidFill>
              <a:schemeClr val="tx1"/>
            </a:solidFill>
            <a:prstDash val="solid"/>
            <a:round/>
            <a:headEnd type="none" w="med" len="med"/>
            <a:tailEnd type="none" w="med" len="med"/>
          </a:ln>
          <a:effectLst/>
        </p:spPr>
      </p:cxnSp>
      <p:sp>
        <p:nvSpPr>
          <p:cNvPr id="200" name="正方形/長方形 199">
            <a:extLst>
              <a:ext uri="{FF2B5EF4-FFF2-40B4-BE49-F238E27FC236}">
                <a16:creationId xmlns:a16="http://schemas.microsoft.com/office/drawing/2014/main" id="{57198E50-BCCA-E0C6-EF3E-BB6EE2F8D9E3}"/>
              </a:ext>
            </a:extLst>
          </p:cNvPr>
          <p:cNvSpPr/>
          <p:nvPr/>
        </p:nvSpPr>
        <p:spPr bwMode="auto">
          <a:xfrm rot="5400000">
            <a:off x="7761018" y="3203996"/>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01" name="直線コネクタ 200">
            <a:extLst>
              <a:ext uri="{FF2B5EF4-FFF2-40B4-BE49-F238E27FC236}">
                <a16:creationId xmlns:a16="http://schemas.microsoft.com/office/drawing/2014/main" id="{3F4AF910-66B8-752A-E499-D755E2967242}"/>
              </a:ext>
            </a:extLst>
          </p:cNvPr>
          <p:cNvCxnSpPr>
            <a:cxnSpLocks/>
          </p:cNvCxnSpPr>
          <p:nvPr/>
        </p:nvCxnSpPr>
        <p:spPr bwMode="auto">
          <a:xfrm>
            <a:off x="7086011" y="3879004"/>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202" name="直線コネクタ 201">
            <a:extLst>
              <a:ext uri="{FF2B5EF4-FFF2-40B4-BE49-F238E27FC236}">
                <a16:creationId xmlns:a16="http://schemas.microsoft.com/office/drawing/2014/main" id="{AD647D95-3F7E-3D80-2B76-C7DE16A41164}"/>
              </a:ext>
            </a:extLst>
          </p:cNvPr>
          <p:cNvCxnSpPr>
            <a:cxnSpLocks/>
          </p:cNvCxnSpPr>
          <p:nvPr/>
        </p:nvCxnSpPr>
        <p:spPr bwMode="auto">
          <a:xfrm>
            <a:off x="7086011" y="4059006"/>
            <a:ext cx="1350017" cy="0"/>
          </a:xfrm>
          <a:prstGeom prst="line">
            <a:avLst/>
          </a:prstGeom>
          <a:noFill/>
          <a:ln w="19050" cap="flat" cmpd="sng" algn="ctr">
            <a:solidFill>
              <a:schemeClr val="tx1"/>
            </a:solidFill>
            <a:prstDash val="solid"/>
            <a:round/>
            <a:headEnd type="none" w="med" len="med"/>
            <a:tailEnd type="none" w="med" len="med"/>
          </a:ln>
          <a:effectLst/>
        </p:spPr>
      </p:cxnSp>
      <p:cxnSp>
        <p:nvCxnSpPr>
          <p:cNvPr id="203" name="直線コネクタ 202">
            <a:extLst>
              <a:ext uri="{FF2B5EF4-FFF2-40B4-BE49-F238E27FC236}">
                <a16:creationId xmlns:a16="http://schemas.microsoft.com/office/drawing/2014/main" id="{C4198C8C-FB73-B190-9AA7-6FE9090897DB}"/>
              </a:ext>
            </a:extLst>
          </p:cNvPr>
          <p:cNvCxnSpPr>
            <a:cxnSpLocks/>
          </p:cNvCxnSpPr>
          <p:nvPr/>
        </p:nvCxnSpPr>
        <p:spPr bwMode="auto">
          <a:xfrm>
            <a:off x="8436563" y="4059005"/>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204" name="直線コネクタ 203">
            <a:extLst>
              <a:ext uri="{FF2B5EF4-FFF2-40B4-BE49-F238E27FC236}">
                <a16:creationId xmlns:a16="http://schemas.microsoft.com/office/drawing/2014/main" id="{76125E77-0888-3659-C242-5F2E1C86EF2A}"/>
              </a:ext>
            </a:extLst>
          </p:cNvPr>
          <p:cNvCxnSpPr>
            <a:cxnSpLocks/>
          </p:cNvCxnSpPr>
          <p:nvPr/>
        </p:nvCxnSpPr>
        <p:spPr bwMode="auto">
          <a:xfrm>
            <a:off x="8616565" y="4869014"/>
            <a:ext cx="0" cy="990369"/>
          </a:xfrm>
          <a:prstGeom prst="line">
            <a:avLst/>
          </a:prstGeom>
          <a:noFill/>
          <a:ln w="19050" cap="flat" cmpd="sng" algn="ctr">
            <a:solidFill>
              <a:schemeClr val="tx1"/>
            </a:solidFill>
            <a:prstDash val="solid"/>
            <a:round/>
            <a:headEnd type="none" w="med" len="med"/>
            <a:tailEnd type="none" w="med" len="med"/>
          </a:ln>
          <a:effectLst/>
        </p:spPr>
      </p:cxnSp>
      <p:cxnSp>
        <p:nvCxnSpPr>
          <p:cNvPr id="205" name="直線コネクタ 204">
            <a:extLst>
              <a:ext uri="{FF2B5EF4-FFF2-40B4-BE49-F238E27FC236}">
                <a16:creationId xmlns:a16="http://schemas.microsoft.com/office/drawing/2014/main" id="{420AC317-7BA2-0D61-6884-966A2C8B8C20}"/>
              </a:ext>
            </a:extLst>
          </p:cNvPr>
          <p:cNvCxnSpPr>
            <a:cxnSpLocks/>
          </p:cNvCxnSpPr>
          <p:nvPr/>
        </p:nvCxnSpPr>
        <p:spPr bwMode="auto">
          <a:xfrm>
            <a:off x="8616028" y="3879003"/>
            <a:ext cx="0" cy="810009"/>
          </a:xfrm>
          <a:prstGeom prst="line">
            <a:avLst/>
          </a:prstGeom>
          <a:noFill/>
          <a:ln w="19050" cap="flat" cmpd="sng" algn="ctr">
            <a:solidFill>
              <a:schemeClr val="tx1"/>
            </a:solidFill>
            <a:prstDash val="solid"/>
            <a:round/>
            <a:headEnd type="none" w="med" len="med"/>
            <a:tailEnd type="none" w="med" len="med"/>
          </a:ln>
          <a:effectLst/>
        </p:spPr>
      </p:cxnSp>
      <p:cxnSp>
        <p:nvCxnSpPr>
          <p:cNvPr id="206" name="直線コネクタ 205">
            <a:extLst>
              <a:ext uri="{FF2B5EF4-FFF2-40B4-BE49-F238E27FC236}">
                <a16:creationId xmlns:a16="http://schemas.microsoft.com/office/drawing/2014/main" id="{776C10FA-E52C-09B5-32B3-D7965355EEAE}"/>
              </a:ext>
            </a:extLst>
          </p:cNvPr>
          <p:cNvCxnSpPr>
            <a:cxnSpLocks/>
          </p:cNvCxnSpPr>
          <p:nvPr/>
        </p:nvCxnSpPr>
        <p:spPr bwMode="auto">
          <a:xfrm>
            <a:off x="8616028" y="4869014"/>
            <a:ext cx="1260013" cy="0"/>
          </a:xfrm>
          <a:prstGeom prst="line">
            <a:avLst/>
          </a:prstGeom>
          <a:noFill/>
          <a:ln w="19050" cap="flat" cmpd="sng" algn="ctr">
            <a:solidFill>
              <a:schemeClr val="tx1"/>
            </a:solidFill>
            <a:prstDash val="solid"/>
            <a:round/>
            <a:headEnd type="none" w="med" len="med"/>
            <a:tailEnd type="none" w="med" len="med"/>
          </a:ln>
          <a:effectLst/>
        </p:spPr>
      </p:cxnSp>
      <p:cxnSp>
        <p:nvCxnSpPr>
          <p:cNvPr id="207" name="直線コネクタ 206">
            <a:extLst>
              <a:ext uri="{FF2B5EF4-FFF2-40B4-BE49-F238E27FC236}">
                <a16:creationId xmlns:a16="http://schemas.microsoft.com/office/drawing/2014/main" id="{75BF3679-9326-1CD1-29D9-047F978E45D5}"/>
              </a:ext>
            </a:extLst>
          </p:cNvPr>
          <p:cNvCxnSpPr>
            <a:cxnSpLocks/>
          </p:cNvCxnSpPr>
          <p:nvPr/>
        </p:nvCxnSpPr>
        <p:spPr bwMode="auto">
          <a:xfrm>
            <a:off x="8616028" y="4689012"/>
            <a:ext cx="1260013" cy="0"/>
          </a:xfrm>
          <a:prstGeom prst="line">
            <a:avLst/>
          </a:prstGeom>
          <a:noFill/>
          <a:ln w="19050" cap="flat" cmpd="sng" algn="ctr">
            <a:solidFill>
              <a:schemeClr val="tx1"/>
            </a:solidFill>
            <a:prstDash val="solid"/>
            <a:round/>
            <a:headEnd type="none" w="med" len="med"/>
            <a:tailEnd type="none" w="med" len="med"/>
          </a:ln>
          <a:effectLst/>
        </p:spPr>
      </p:cxnSp>
      <p:sp>
        <p:nvSpPr>
          <p:cNvPr id="208" name="正方形/長方形 207">
            <a:extLst>
              <a:ext uri="{FF2B5EF4-FFF2-40B4-BE49-F238E27FC236}">
                <a16:creationId xmlns:a16="http://schemas.microsoft.com/office/drawing/2014/main" id="{A238DBCB-C4BC-BA18-74E5-AA14B1E5DDD3}"/>
              </a:ext>
            </a:extLst>
          </p:cNvPr>
          <p:cNvSpPr/>
          <p:nvPr/>
        </p:nvSpPr>
        <p:spPr bwMode="auto">
          <a:xfrm rot="5400000">
            <a:off x="10056041" y="3519000"/>
            <a:ext cx="180003" cy="90001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09" name="正方形/長方形 208">
            <a:extLst>
              <a:ext uri="{FF2B5EF4-FFF2-40B4-BE49-F238E27FC236}">
                <a16:creationId xmlns:a16="http://schemas.microsoft.com/office/drawing/2014/main" id="{98124E3C-6CE2-AA56-329C-FC7CFE186B5F}"/>
              </a:ext>
            </a:extLst>
          </p:cNvPr>
          <p:cNvSpPr/>
          <p:nvPr/>
        </p:nvSpPr>
        <p:spPr bwMode="auto">
          <a:xfrm rot="5400000">
            <a:off x="10641049" y="3654002"/>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210" name="正方形/長方形 209">
            <a:extLst>
              <a:ext uri="{FF2B5EF4-FFF2-40B4-BE49-F238E27FC236}">
                <a16:creationId xmlns:a16="http://schemas.microsoft.com/office/drawing/2014/main" id="{DAB034C7-29DC-556F-6A14-678D3D4B8208}"/>
              </a:ext>
            </a:extLst>
          </p:cNvPr>
          <p:cNvSpPr/>
          <p:nvPr/>
        </p:nvSpPr>
        <p:spPr bwMode="auto">
          <a:xfrm rot="5400000">
            <a:off x="8796031" y="4779014"/>
            <a:ext cx="1980020"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11" name="正方形/長方形 210">
            <a:extLst>
              <a:ext uri="{FF2B5EF4-FFF2-40B4-BE49-F238E27FC236}">
                <a16:creationId xmlns:a16="http://schemas.microsoft.com/office/drawing/2014/main" id="{BCB41931-84AB-04D7-B021-AC4FE29EDBDA}"/>
              </a:ext>
            </a:extLst>
          </p:cNvPr>
          <p:cNvSpPr/>
          <p:nvPr/>
        </p:nvSpPr>
        <p:spPr bwMode="auto">
          <a:xfrm rot="5400000">
            <a:off x="10146044" y="5409021"/>
            <a:ext cx="180003" cy="720008"/>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12" name="直線コネクタ 211">
            <a:extLst>
              <a:ext uri="{FF2B5EF4-FFF2-40B4-BE49-F238E27FC236}">
                <a16:creationId xmlns:a16="http://schemas.microsoft.com/office/drawing/2014/main" id="{5F88F3A6-F785-7717-0887-B6DA171FF214}"/>
              </a:ext>
            </a:extLst>
          </p:cNvPr>
          <p:cNvCxnSpPr>
            <a:cxnSpLocks/>
          </p:cNvCxnSpPr>
          <p:nvPr/>
        </p:nvCxnSpPr>
        <p:spPr bwMode="auto">
          <a:xfrm>
            <a:off x="9696040" y="3879003"/>
            <a:ext cx="900009" cy="1"/>
          </a:xfrm>
          <a:prstGeom prst="line">
            <a:avLst/>
          </a:prstGeom>
          <a:noFill/>
          <a:ln w="19050" cap="flat" cmpd="sng" algn="ctr">
            <a:solidFill>
              <a:schemeClr val="tx1"/>
            </a:solidFill>
            <a:prstDash val="solid"/>
            <a:round/>
            <a:headEnd type="none" w="med" len="med"/>
            <a:tailEnd type="none" w="med" len="med"/>
          </a:ln>
          <a:effectLst/>
        </p:spPr>
      </p:cxnSp>
      <p:cxnSp>
        <p:nvCxnSpPr>
          <p:cNvPr id="213" name="直線コネクタ 212">
            <a:extLst>
              <a:ext uri="{FF2B5EF4-FFF2-40B4-BE49-F238E27FC236}">
                <a16:creationId xmlns:a16="http://schemas.microsoft.com/office/drawing/2014/main" id="{D76169E5-4312-FA0E-491A-C8755980B1C3}"/>
              </a:ext>
            </a:extLst>
          </p:cNvPr>
          <p:cNvCxnSpPr>
            <a:cxnSpLocks/>
          </p:cNvCxnSpPr>
          <p:nvPr/>
        </p:nvCxnSpPr>
        <p:spPr bwMode="auto">
          <a:xfrm>
            <a:off x="9876042" y="4059005"/>
            <a:ext cx="720007" cy="0"/>
          </a:xfrm>
          <a:prstGeom prst="line">
            <a:avLst/>
          </a:prstGeom>
          <a:noFill/>
          <a:ln w="19050" cap="flat" cmpd="sng" algn="ctr">
            <a:solidFill>
              <a:schemeClr val="tx1"/>
            </a:solidFill>
            <a:prstDash val="solid"/>
            <a:round/>
            <a:headEnd type="none" w="med" len="med"/>
            <a:tailEnd type="none" w="med" len="med"/>
          </a:ln>
          <a:effectLst/>
        </p:spPr>
      </p:cxnSp>
      <p:cxnSp>
        <p:nvCxnSpPr>
          <p:cNvPr id="214" name="直線コネクタ 213">
            <a:extLst>
              <a:ext uri="{FF2B5EF4-FFF2-40B4-BE49-F238E27FC236}">
                <a16:creationId xmlns:a16="http://schemas.microsoft.com/office/drawing/2014/main" id="{92838338-A702-5853-13C4-431777104C04}"/>
              </a:ext>
            </a:extLst>
          </p:cNvPr>
          <p:cNvCxnSpPr>
            <a:cxnSpLocks/>
          </p:cNvCxnSpPr>
          <p:nvPr/>
        </p:nvCxnSpPr>
        <p:spPr bwMode="auto">
          <a:xfrm>
            <a:off x="9876042" y="5679025"/>
            <a:ext cx="720008" cy="0"/>
          </a:xfrm>
          <a:prstGeom prst="line">
            <a:avLst/>
          </a:prstGeom>
          <a:noFill/>
          <a:ln w="19050" cap="flat" cmpd="sng" algn="ctr">
            <a:solidFill>
              <a:schemeClr val="tx1"/>
            </a:solidFill>
            <a:prstDash val="solid"/>
            <a:round/>
            <a:headEnd type="none" w="med" len="med"/>
            <a:tailEnd type="none" w="med" len="med"/>
          </a:ln>
          <a:effectLst/>
        </p:spPr>
      </p:cxnSp>
      <p:cxnSp>
        <p:nvCxnSpPr>
          <p:cNvPr id="216" name="直線コネクタ 215">
            <a:extLst>
              <a:ext uri="{FF2B5EF4-FFF2-40B4-BE49-F238E27FC236}">
                <a16:creationId xmlns:a16="http://schemas.microsoft.com/office/drawing/2014/main" id="{5740E7D0-AD62-B21C-5D3C-99AD82BB3C62}"/>
              </a:ext>
            </a:extLst>
          </p:cNvPr>
          <p:cNvCxnSpPr>
            <a:cxnSpLocks/>
          </p:cNvCxnSpPr>
          <p:nvPr/>
        </p:nvCxnSpPr>
        <p:spPr bwMode="auto">
          <a:xfrm>
            <a:off x="9696040" y="5859028"/>
            <a:ext cx="900010" cy="0"/>
          </a:xfrm>
          <a:prstGeom prst="line">
            <a:avLst/>
          </a:prstGeom>
          <a:noFill/>
          <a:ln w="19050" cap="flat" cmpd="sng" algn="ctr">
            <a:solidFill>
              <a:schemeClr val="tx1"/>
            </a:solidFill>
            <a:prstDash val="solid"/>
            <a:round/>
            <a:headEnd type="none" w="med" len="med"/>
            <a:tailEnd type="none" w="med" len="med"/>
          </a:ln>
          <a:effectLst/>
        </p:spPr>
      </p:cxnSp>
      <p:cxnSp>
        <p:nvCxnSpPr>
          <p:cNvPr id="217" name="直線コネクタ 216">
            <a:extLst>
              <a:ext uri="{FF2B5EF4-FFF2-40B4-BE49-F238E27FC236}">
                <a16:creationId xmlns:a16="http://schemas.microsoft.com/office/drawing/2014/main" id="{41C3B22A-4C91-3384-E1E8-C6BED95BD659}"/>
              </a:ext>
            </a:extLst>
          </p:cNvPr>
          <p:cNvCxnSpPr>
            <a:cxnSpLocks/>
          </p:cNvCxnSpPr>
          <p:nvPr/>
        </p:nvCxnSpPr>
        <p:spPr bwMode="auto">
          <a:xfrm>
            <a:off x="9876580" y="4059005"/>
            <a:ext cx="0" cy="1620375"/>
          </a:xfrm>
          <a:prstGeom prst="line">
            <a:avLst/>
          </a:prstGeom>
          <a:noFill/>
          <a:ln w="19050" cap="flat" cmpd="sng" algn="ctr">
            <a:solidFill>
              <a:schemeClr val="tx1"/>
            </a:solidFill>
            <a:prstDash val="solid"/>
            <a:round/>
            <a:headEnd type="none" w="med" len="med"/>
            <a:tailEnd type="none" w="med" len="med"/>
          </a:ln>
          <a:effectLst/>
        </p:spPr>
      </p:cxnSp>
      <p:cxnSp>
        <p:nvCxnSpPr>
          <p:cNvPr id="218" name="直線コネクタ 217">
            <a:extLst>
              <a:ext uri="{FF2B5EF4-FFF2-40B4-BE49-F238E27FC236}">
                <a16:creationId xmlns:a16="http://schemas.microsoft.com/office/drawing/2014/main" id="{A721DBC9-E621-E602-67EA-8A2A289FA354}"/>
              </a:ext>
            </a:extLst>
          </p:cNvPr>
          <p:cNvCxnSpPr>
            <a:cxnSpLocks/>
          </p:cNvCxnSpPr>
          <p:nvPr/>
        </p:nvCxnSpPr>
        <p:spPr bwMode="auto">
          <a:xfrm>
            <a:off x="9696041" y="3879003"/>
            <a:ext cx="0" cy="810009"/>
          </a:xfrm>
          <a:prstGeom prst="line">
            <a:avLst/>
          </a:prstGeom>
          <a:noFill/>
          <a:ln w="19050" cap="flat" cmpd="sng" algn="ctr">
            <a:solidFill>
              <a:schemeClr val="tx1"/>
            </a:solidFill>
            <a:prstDash val="solid"/>
            <a:round/>
            <a:headEnd type="none" w="med" len="med"/>
            <a:tailEnd type="none" w="med" len="med"/>
          </a:ln>
          <a:effectLst/>
        </p:spPr>
      </p:cxnSp>
      <p:cxnSp>
        <p:nvCxnSpPr>
          <p:cNvPr id="221" name="直線コネクタ 220">
            <a:extLst>
              <a:ext uri="{FF2B5EF4-FFF2-40B4-BE49-F238E27FC236}">
                <a16:creationId xmlns:a16="http://schemas.microsoft.com/office/drawing/2014/main" id="{294EA157-B60E-A2EA-66C9-059A1CB85EF7}"/>
              </a:ext>
            </a:extLst>
          </p:cNvPr>
          <p:cNvCxnSpPr>
            <a:cxnSpLocks/>
          </p:cNvCxnSpPr>
          <p:nvPr/>
        </p:nvCxnSpPr>
        <p:spPr bwMode="auto">
          <a:xfrm>
            <a:off x="9696040" y="4869014"/>
            <a:ext cx="0" cy="990011"/>
          </a:xfrm>
          <a:prstGeom prst="line">
            <a:avLst/>
          </a:prstGeom>
          <a:noFill/>
          <a:ln w="19050" cap="flat" cmpd="sng" algn="ctr">
            <a:solidFill>
              <a:schemeClr val="tx1"/>
            </a:solidFill>
            <a:prstDash val="solid"/>
            <a:round/>
            <a:headEnd type="none" w="med" len="med"/>
            <a:tailEnd type="none" w="med" len="med"/>
          </a:ln>
          <a:effectLst/>
        </p:spPr>
      </p:cxnSp>
      <p:cxnSp>
        <p:nvCxnSpPr>
          <p:cNvPr id="222" name="直線コネクタ 221">
            <a:extLst>
              <a:ext uri="{FF2B5EF4-FFF2-40B4-BE49-F238E27FC236}">
                <a16:creationId xmlns:a16="http://schemas.microsoft.com/office/drawing/2014/main" id="{B5979755-4DFA-247F-AB57-FA62B4847658}"/>
              </a:ext>
            </a:extLst>
          </p:cNvPr>
          <p:cNvCxnSpPr>
            <a:cxnSpLocks/>
          </p:cNvCxnSpPr>
          <p:nvPr/>
        </p:nvCxnSpPr>
        <p:spPr bwMode="auto">
          <a:xfrm>
            <a:off x="10596051" y="414900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223" name="直線コネクタ 222">
            <a:extLst>
              <a:ext uri="{FF2B5EF4-FFF2-40B4-BE49-F238E27FC236}">
                <a16:creationId xmlns:a16="http://schemas.microsoft.com/office/drawing/2014/main" id="{89508F3D-3834-0202-9C62-49A90C98474D}"/>
              </a:ext>
            </a:extLst>
          </p:cNvPr>
          <p:cNvCxnSpPr>
            <a:cxnSpLocks/>
          </p:cNvCxnSpPr>
          <p:nvPr/>
        </p:nvCxnSpPr>
        <p:spPr bwMode="auto">
          <a:xfrm>
            <a:off x="10596051" y="3699001"/>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224" name="直線コネクタ 223">
            <a:extLst>
              <a:ext uri="{FF2B5EF4-FFF2-40B4-BE49-F238E27FC236}">
                <a16:creationId xmlns:a16="http://schemas.microsoft.com/office/drawing/2014/main" id="{5113F590-B548-6949-E3AE-E10A442F2A53}"/>
              </a:ext>
            </a:extLst>
          </p:cNvPr>
          <p:cNvCxnSpPr>
            <a:cxnSpLocks/>
          </p:cNvCxnSpPr>
          <p:nvPr/>
        </p:nvCxnSpPr>
        <p:spPr bwMode="auto">
          <a:xfrm>
            <a:off x="11136057" y="369900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229" name="直線コネクタ 228">
            <a:extLst>
              <a:ext uri="{FF2B5EF4-FFF2-40B4-BE49-F238E27FC236}">
                <a16:creationId xmlns:a16="http://schemas.microsoft.com/office/drawing/2014/main" id="{77832C8D-3BE7-B8E8-6E9E-CBB9376DD179}"/>
              </a:ext>
            </a:extLst>
          </p:cNvPr>
          <p:cNvCxnSpPr>
            <a:cxnSpLocks/>
          </p:cNvCxnSpPr>
          <p:nvPr/>
        </p:nvCxnSpPr>
        <p:spPr bwMode="auto">
          <a:xfrm flipV="1">
            <a:off x="10866052" y="414900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234" name="正方形/長方形 233">
            <a:extLst>
              <a:ext uri="{FF2B5EF4-FFF2-40B4-BE49-F238E27FC236}">
                <a16:creationId xmlns:a16="http://schemas.microsoft.com/office/drawing/2014/main" id="{9940A13E-748C-763E-C03D-029DF097A465}"/>
              </a:ext>
            </a:extLst>
          </p:cNvPr>
          <p:cNvSpPr/>
          <p:nvPr/>
        </p:nvSpPr>
        <p:spPr bwMode="auto">
          <a:xfrm rot="5400000">
            <a:off x="10596049" y="4509011"/>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35" name="正方形/長方形 234">
            <a:extLst>
              <a:ext uri="{FF2B5EF4-FFF2-40B4-BE49-F238E27FC236}">
                <a16:creationId xmlns:a16="http://schemas.microsoft.com/office/drawing/2014/main" id="{167A0D73-6749-FBD3-15C1-E7A7AA6F50B2}"/>
              </a:ext>
            </a:extLst>
          </p:cNvPr>
          <p:cNvSpPr/>
          <p:nvPr/>
        </p:nvSpPr>
        <p:spPr bwMode="auto">
          <a:xfrm rot="5400000" flipH="1">
            <a:off x="10821051" y="5004014"/>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38" name="直線コネクタ 237">
            <a:extLst>
              <a:ext uri="{FF2B5EF4-FFF2-40B4-BE49-F238E27FC236}">
                <a16:creationId xmlns:a16="http://schemas.microsoft.com/office/drawing/2014/main" id="{480AF2F8-AFE1-25B3-D1DC-99571E61C118}"/>
              </a:ext>
            </a:extLst>
          </p:cNvPr>
          <p:cNvCxnSpPr>
            <a:cxnSpLocks/>
          </p:cNvCxnSpPr>
          <p:nvPr/>
        </p:nvCxnSpPr>
        <p:spPr bwMode="auto">
          <a:xfrm flipH="1">
            <a:off x="10956055" y="4869013"/>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39" name="直線コネクタ 238">
            <a:extLst>
              <a:ext uri="{FF2B5EF4-FFF2-40B4-BE49-F238E27FC236}">
                <a16:creationId xmlns:a16="http://schemas.microsoft.com/office/drawing/2014/main" id="{45AF0A52-377B-F5CD-4BFD-2D44D599DD7D}"/>
              </a:ext>
            </a:extLst>
          </p:cNvPr>
          <p:cNvCxnSpPr>
            <a:cxnSpLocks/>
          </p:cNvCxnSpPr>
          <p:nvPr/>
        </p:nvCxnSpPr>
        <p:spPr bwMode="auto">
          <a:xfrm flipH="1">
            <a:off x="10776054" y="4869013"/>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40" name="直線コネクタ 239">
            <a:extLst>
              <a:ext uri="{FF2B5EF4-FFF2-40B4-BE49-F238E27FC236}">
                <a16:creationId xmlns:a16="http://schemas.microsoft.com/office/drawing/2014/main" id="{F4634990-B472-E2D3-8EF6-8A9212C6BBD7}"/>
              </a:ext>
            </a:extLst>
          </p:cNvPr>
          <p:cNvCxnSpPr>
            <a:cxnSpLocks/>
          </p:cNvCxnSpPr>
          <p:nvPr/>
        </p:nvCxnSpPr>
        <p:spPr bwMode="auto">
          <a:xfrm flipV="1">
            <a:off x="10596050" y="4059005"/>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241" name="直線コネクタ 240">
            <a:extLst>
              <a:ext uri="{FF2B5EF4-FFF2-40B4-BE49-F238E27FC236}">
                <a16:creationId xmlns:a16="http://schemas.microsoft.com/office/drawing/2014/main" id="{EE226509-FEC2-FB70-12B9-F6FB26788CFF}"/>
              </a:ext>
            </a:extLst>
          </p:cNvPr>
          <p:cNvCxnSpPr>
            <a:cxnSpLocks/>
          </p:cNvCxnSpPr>
          <p:nvPr/>
        </p:nvCxnSpPr>
        <p:spPr bwMode="auto">
          <a:xfrm>
            <a:off x="10596050" y="594902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242" name="直線コネクタ 241">
            <a:extLst>
              <a:ext uri="{FF2B5EF4-FFF2-40B4-BE49-F238E27FC236}">
                <a16:creationId xmlns:a16="http://schemas.microsoft.com/office/drawing/2014/main" id="{B03EA33C-ED29-8867-1A10-60D4945EBD1E}"/>
              </a:ext>
            </a:extLst>
          </p:cNvPr>
          <p:cNvCxnSpPr>
            <a:cxnSpLocks/>
          </p:cNvCxnSpPr>
          <p:nvPr/>
        </p:nvCxnSpPr>
        <p:spPr bwMode="auto">
          <a:xfrm>
            <a:off x="10596050" y="5499021"/>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243" name="直線コネクタ 242">
            <a:extLst>
              <a:ext uri="{FF2B5EF4-FFF2-40B4-BE49-F238E27FC236}">
                <a16:creationId xmlns:a16="http://schemas.microsoft.com/office/drawing/2014/main" id="{7F83F46C-6666-D15B-CEED-F30504B8B1B9}"/>
              </a:ext>
            </a:extLst>
          </p:cNvPr>
          <p:cNvCxnSpPr>
            <a:cxnSpLocks/>
          </p:cNvCxnSpPr>
          <p:nvPr/>
        </p:nvCxnSpPr>
        <p:spPr bwMode="auto">
          <a:xfrm>
            <a:off x="11136056" y="549902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244" name="直線コネクタ 243">
            <a:extLst>
              <a:ext uri="{FF2B5EF4-FFF2-40B4-BE49-F238E27FC236}">
                <a16:creationId xmlns:a16="http://schemas.microsoft.com/office/drawing/2014/main" id="{0E166CE5-53F0-F5E2-CDEE-B556F5123684}"/>
              </a:ext>
            </a:extLst>
          </p:cNvPr>
          <p:cNvCxnSpPr>
            <a:cxnSpLocks/>
          </p:cNvCxnSpPr>
          <p:nvPr/>
        </p:nvCxnSpPr>
        <p:spPr bwMode="auto">
          <a:xfrm flipV="1">
            <a:off x="10866051" y="594902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245" name="正方形/長方形 244">
            <a:extLst>
              <a:ext uri="{FF2B5EF4-FFF2-40B4-BE49-F238E27FC236}">
                <a16:creationId xmlns:a16="http://schemas.microsoft.com/office/drawing/2014/main" id="{6090911E-9672-3D87-1A81-C49FAFE9B57B}"/>
              </a:ext>
            </a:extLst>
          </p:cNvPr>
          <p:cNvSpPr/>
          <p:nvPr/>
        </p:nvSpPr>
        <p:spPr bwMode="auto">
          <a:xfrm rot="5400000">
            <a:off x="10776050" y="6129029"/>
            <a:ext cx="180002"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46" name="正方形/長方形 245">
            <a:extLst>
              <a:ext uri="{FF2B5EF4-FFF2-40B4-BE49-F238E27FC236}">
                <a16:creationId xmlns:a16="http://schemas.microsoft.com/office/drawing/2014/main" id="{9679E1EB-5C1D-243B-05B4-033977FD0C4E}"/>
              </a:ext>
            </a:extLst>
          </p:cNvPr>
          <p:cNvSpPr/>
          <p:nvPr/>
        </p:nvSpPr>
        <p:spPr bwMode="auto">
          <a:xfrm rot="5400000" flipH="1">
            <a:off x="10641046" y="6624032"/>
            <a:ext cx="450004"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47" name="直線コネクタ 246">
            <a:extLst>
              <a:ext uri="{FF2B5EF4-FFF2-40B4-BE49-F238E27FC236}">
                <a16:creationId xmlns:a16="http://schemas.microsoft.com/office/drawing/2014/main" id="{5014F2C1-D0EB-9C2F-A461-68AE521CE7F9}"/>
              </a:ext>
            </a:extLst>
          </p:cNvPr>
          <p:cNvCxnSpPr>
            <a:cxnSpLocks/>
          </p:cNvCxnSpPr>
          <p:nvPr/>
        </p:nvCxnSpPr>
        <p:spPr bwMode="auto">
          <a:xfrm flipH="1">
            <a:off x="10956050" y="6309029"/>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48" name="直線コネクタ 247">
            <a:extLst>
              <a:ext uri="{FF2B5EF4-FFF2-40B4-BE49-F238E27FC236}">
                <a16:creationId xmlns:a16="http://schemas.microsoft.com/office/drawing/2014/main" id="{3AD0EFEA-883D-4F4D-E672-55EC37B752FE}"/>
              </a:ext>
            </a:extLst>
          </p:cNvPr>
          <p:cNvCxnSpPr>
            <a:cxnSpLocks/>
          </p:cNvCxnSpPr>
          <p:nvPr/>
        </p:nvCxnSpPr>
        <p:spPr bwMode="auto">
          <a:xfrm flipH="1">
            <a:off x="10776049" y="6309029"/>
            <a:ext cx="5"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49" name="直線コネクタ 248">
            <a:extLst>
              <a:ext uri="{FF2B5EF4-FFF2-40B4-BE49-F238E27FC236}">
                <a16:creationId xmlns:a16="http://schemas.microsoft.com/office/drawing/2014/main" id="{B3203003-3B30-FBAF-EFA9-CD27EA9CDBDB}"/>
              </a:ext>
            </a:extLst>
          </p:cNvPr>
          <p:cNvCxnSpPr>
            <a:cxnSpLocks/>
          </p:cNvCxnSpPr>
          <p:nvPr/>
        </p:nvCxnSpPr>
        <p:spPr bwMode="auto">
          <a:xfrm>
            <a:off x="10596050" y="5859025"/>
            <a:ext cx="0" cy="90001"/>
          </a:xfrm>
          <a:prstGeom prst="line">
            <a:avLst/>
          </a:prstGeom>
          <a:noFill/>
          <a:ln w="19050" cap="rnd" cmpd="sng" algn="ctr">
            <a:solidFill>
              <a:schemeClr val="accent5"/>
            </a:solidFill>
            <a:prstDash val="solid"/>
            <a:round/>
            <a:headEnd type="none" w="med" len="med"/>
            <a:tailEnd type="none" w="med" len="med"/>
          </a:ln>
          <a:effectLst/>
        </p:spPr>
      </p:cxnSp>
      <p:cxnSp>
        <p:nvCxnSpPr>
          <p:cNvPr id="250" name="直線コネクタ 249">
            <a:extLst>
              <a:ext uri="{FF2B5EF4-FFF2-40B4-BE49-F238E27FC236}">
                <a16:creationId xmlns:a16="http://schemas.microsoft.com/office/drawing/2014/main" id="{FE0C17FB-4D8E-8084-7A24-9397B1A57498}"/>
              </a:ext>
            </a:extLst>
          </p:cNvPr>
          <p:cNvCxnSpPr>
            <a:cxnSpLocks/>
          </p:cNvCxnSpPr>
          <p:nvPr/>
        </p:nvCxnSpPr>
        <p:spPr bwMode="auto">
          <a:xfrm>
            <a:off x="7086011" y="585902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51" name="直線矢印コネクタ 250">
            <a:extLst>
              <a:ext uri="{FF2B5EF4-FFF2-40B4-BE49-F238E27FC236}">
                <a16:creationId xmlns:a16="http://schemas.microsoft.com/office/drawing/2014/main" id="{10ADA7A1-D94D-B8A3-C47F-2E9FE1757003}"/>
              </a:ext>
            </a:extLst>
          </p:cNvPr>
          <p:cNvCxnSpPr>
            <a:cxnSpLocks/>
          </p:cNvCxnSpPr>
          <p:nvPr/>
        </p:nvCxnSpPr>
        <p:spPr bwMode="auto">
          <a:xfrm flipV="1">
            <a:off x="6816008" y="4149006"/>
            <a:ext cx="0" cy="144001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52" name="正方形/長方形 251">
            <a:extLst>
              <a:ext uri="{FF2B5EF4-FFF2-40B4-BE49-F238E27FC236}">
                <a16:creationId xmlns:a16="http://schemas.microsoft.com/office/drawing/2014/main" id="{0886D4D6-9B7A-D60B-9F1C-13C9CBE26D53}"/>
              </a:ext>
            </a:extLst>
          </p:cNvPr>
          <p:cNvSpPr/>
          <p:nvPr/>
        </p:nvSpPr>
        <p:spPr bwMode="auto">
          <a:xfrm>
            <a:off x="5555994" y="459901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高さ</a:t>
            </a:r>
            <a:r>
              <a:rPr lang="en-US" altLang="ja-JP" sz="2400" b="1" dirty="0">
                <a:solidFill>
                  <a:schemeClr val="accent5"/>
                </a:solidFill>
              </a:rPr>
              <a:t> V </a:t>
            </a:r>
            <a:endParaRPr lang="ja-JP" altLang="en-US" sz="2400" b="1" dirty="0">
              <a:solidFill>
                <a:schemeClr val="accent5"/>
              </a:solidFill>
            </a:endParaRPr>
          </a:p>
        </p:txBody>
      </p:sp>
      <p:sp>
        <p:nvSpPr>
          <p:cNvPr id="253" name="正方形/長方形 252">
            <a:extLst>
              <a:ext uri="{FF2B5EF4-FFF2-40B4-BE49-F238E27FC236}">
                <a16:creationId xmlns:a16="http://schemas.microsoft.com/office/drawing/2014/main" id="{D62E33A1-273E-B9D2-CB3C-8F98EBDDC9AA}"/>
              </a:ext>
            </a:extLst>
          </p:cNvPr>
          <p:cNvSpPr/>
          <p:nvPr/>
        </p:nvSpPr>
        <p:spPr bwMode="auto">
          <a:xfrm rot="5400000">
            <a:off x="7446013" y="3519001"/>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54" name="正方形/長方形 253">
            <a:extLst>
              <a:ext uri="{FF2B5EF4-FFF2-40B4-BE49-F238E27FC236}">
                <a16:creationId xmlns:a16="http://schemas.microsoft.com/office/drawing/2014/main" id="{067BEE8A-DCA7-3EC4-8341-52BC851B82B7}"/>
              </a:ext>
            </a:extLst>
          </p:cNvPr>
          <p:cNvSpPr/>
          <p:nvPr/>
        </p:nvSpPr>
        <p:spPr bwMode="auto">
          <a:xfrm rot="5400000" flipH="1">
            <a:off x="7671015" y="4014004"/>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55" name="直線コネクタ 254">
            <a:extLst>
              <a:ext uri="{FF2B5EF4-FFF2-40B4-BE49-F238E27FC236}">
                <a16:creationId xmlns:a16="http://schemas.microsoft.com/office/drawing/2014/main" id="{C12649F1-784A-54C7-DFD1-C1AEFE3DFA04}"/>
              </a:ext>
            </a:extLst>
          </p:cNvPr>
          <p:cNvCxnSpPr>
            <a:cxnSpLocks/>
          </p:cNvCxnSpPr>
          <p:nvPr/>
        </p:nvCxnSpPr>
        <p:spPr bwMode="auto">
          <a:xfrm flipH="1">
            <a:off x="7806019" y="3879003"/>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56" name="直線コネクタ 255">
            <a:extLst>
              <a:ext uri="{FF2B5EF4-FFF2-40B4-BE49-F238E27FC236}">
                <a16:creationId xmlns:a16="http://schemas.microsoft.com/office/drawing/2014/main" id="{E64EB19C-76C3-7116-DD39-E05422BA5696}"/>
              </a:ext>
            </a:extLst>
          </p:cNvPr>
          <p:cNvCxnSpPr>
            <a:cxnSpLocks/>
          </p:cNvCxnSpPr>
          <p:nvPr/>
        </p:nvCxnSpPr>
        <p:spPr bwMode="auto">
          <a:xfrm flipH="1">
            <a:off x="7626018" y="3879003"/>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57" name="正方形/長方形 256">
            <a:extLst>
              <a:ext uri="{FF2B5EF4-FFF2-40B4-BE49-F238E27FC236}">
                <a16:creationId xmlns:a16="http://schemas.microsoft.com/office/drawing/2014/main" id="{833B8AB7-4C1D-38A8-4AE9-2E8C14B3BE49}"/>
              </a:ext>
            </a:extLst>
          </p:cNvPr>
          <p:cNvSpPr/>
          <p:nvPr/>
        </p:nvSpPr>
        <p:spPr bwMode="auto">
          <a:xfrm rot="5400000">
            <a:off x="7446014" y="5589023"/>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58" name="正方形/長方形 257">
            <a:extLst>
              <a:ext uri="{FF2B5EF4-FFF2-40B4-BE49-F238E27FC236}">
                <a16:creationId xmlns:a16="http://schemas.microsoft.com/office/drawing/2014/main" id="{369DBE60-83BC-65D6-C2C4-968E4B0EB4E6}"/>
              </a:ext>
            </a:extLst>
          </p:cNvPr>
          <p:cNvSpPr/>
          <p:nvPr/>
        </p:nvSpPr>
        <p:spPr bwMode="auto">
          <a:xfrm rot="5400000" flipH="1">
            <a:off x="7671016" y="6084026"/>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59" name="直線コネクタ 258">
            <a:extLst>
              <a:ext uri="{FF2B5EF4-FFF2-40B4-BE49-F238E27FC236}">
                <a16:creationId xmlns:a16="http://schemas.microsoft.com/office/drawing/2014/main" id="{DDF68151-B63C-EC67-E3AE-D35291300DDA}"/>
              </a:ext>
            </a:extLst>
          </p:cNvPr>
          <p:cNvCxnSpPr>
            <a:cxnSpLocks/>
          </p:cNvCxnSpPr>
          <p:nvPr/>
        </p:nvCxnSpPr>
        <p:spPr bwMode="auto">
          <a:xfrm flipH="1">
            <a:off x="7806020" y="5949025"/>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60" name="直線コネクタ 259">
            <a:extLst>
              <a:ext uri="{FF2B5EF4-FFF2-40B4-BE49-F238E27FC236}">
                <a16:creationId xmlns:a16="http://schemas.microsoft.com/office/drawing/2014/main" id="{01B5B3BD-CAD6-8A4B-7EFF-16F971E64CD1}"/>
              </a:ext>
            </a:extLst>
          </p:cNvPr>
          <p:cNvCxnSpPr>
            <a:cxnSpLocks/>
          </p:cNvCxnSpPr>
          <p:nvPr/>
        </p:nvCxnSpPr>
        <p:spPr bwMode="auto">
          <a:xfrm flipH="1">
            <a:off x="7626019" y="5949025"/>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61" name="正方形/長方形 260">
            <a:extLst>
              <a:ext uri="{FF2B5EF4-FFF2-40B4-BE49-F238E27FC236}">
                <a16:creationId xmlns:a16="http://schemas.microsoft.com/office/drawing/2014/main" id="{7B96C343-EB4C-3988-15E2-FE85F43B86F7}"/>
              </a:ext>
            </a:extLst>
          </p:cNvPr>
          <p:cNvSpPr/>
          <p:nvPr/>
        </p:nvSpPr>
        <p:spPr bwMode="auto">
          <a:xfrm>
            <a:off x="6186001" y="333899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給水量 </a:t>
            </a:r>
            <a:r>
              <a:rPr lang="en-US" altLang="ja-JP" sz="2400" b="1" dirty="0">
                <a:solidFill>
                  <a:schemeClr val="accent5"/>
                </a:solidFill>
              </a:rPr>
              <a:t>Q</a:t>
            </a:r>
            <a:endParaRPr lang="ja-JP" altLang="en-US" sz="2400" b="1" dirty="0">
              <a:solidFill>
                <a:schemeClr val="accent5"/>
              </a:solidFill>
            </a:endParaRPr>
          </a:p>
        </p:txBody>
      </p:sp>
      <p:cxnSp>
        <p:nvCxnSpPr>
          <p:cNvPr id="262" name="直線矢印コネクタ 261">
            <a:extLst>
              <a:ext uri="{FF2B5EF4-FFF2-40B4-BE49-F238E27FC236}">
                <a16:creationId xmlns:a16="http://schemas.microsoft.com/office/drawing/2014/main" id="{172F368D-41E1-A131-BA32-B00C09C1569F}"/>
              </a:ext>
            </a:extLst>
          </p:cNvPr>
          <p:cNvCxnSpPr>
            <a:cxnSpLocks/>
          </p:cNvCxnSpPr>
          <p:nvPr/>
        </p:nvCxnSpPr>
        <p:spPr bwMode="auto">
          <a:xfrm>
            <a:off x="6996010" y="3969005"/>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63" name="曲折矢印 160">
            <a:extLst>
              <a:ext uri="{FF2B5EF4-FFF2-40B4-BE49-F238E27FC236}">
                <a16:creationId xmlns:a16="http://schemas.microsoft.com/office/drawing/2014/main" id="{00712136-428D-77BA-3546-B000ACF22785}"/>
              </a:ext>
            </a:extLst>
          </p:cNvPr>
          <p:cNvSpPr/>
          <p:nvPr/>
        </p:nvSpPr>
        <p:spPr bwMode="auto">
          <a:xfrm rot="10800000" flipH="1">
            <a:off x="8436027" y="3879004"/>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4" name="曲折矢印 171">
            <a:extLst>
              <a:ext uri="{FF2B5EF4-FFF2-40B4-BE49-F238E27FC236}">
                <a16:creationId xmlns:a16="http://schemas.microsoft.com/office/drawing/2014/main" id="{35C1A55D-FD56-4E7A-B8F5-2A05DFA72A0F}"/>
              </a:ext>
            </a:extLst>
          </p:cNvPr>
          <p:cNvSpPr/>
          <p:nvPr/>
        </p:nvSpPr>
        <p:spPr bwMode="auto">
          <a:xfrm rot="16200000" flipH="1">
            <a:off x="8751030" y="4464012"/>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438821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863CC-CE9B-3E93-48E3-0B192C02357F}"/>
            </a:ext>
          </a:extLst>
        </p:cNvPr>
        <p:cNvGrpSpPr/>
        <p:nvPr/>
      </p:nvGrpSpPr>
      <p:grpSpPr>
        <a:xfrm>
          <a:off x="0" y="0"/>
          <a:ext cx="0" cy="0"/>
          <a:chOff x="0" y="0"/>
          <a:chExt cx="0" cy="0"/>
        </a:xfrm>
      </p:grpSpPr>
      <p:sp>
        <p:nvSpPr>
          <p:cNvPr id="207" name="正方形/長方形 206">
            <a:extLst>
              <a:ext uri="{FF2B5EF4-FFF2-40B4-BE49-F238E27FC236}">
                <a16:creationId xmlns:a16="http://schemas.microsoft.com/office/drawing/2014/main" id="{DE137149-6541-A4F5-E006-56119604DF38}"/>
              </a:ext>
            </a:extLst>
          </p:cNvPr>
          <p:cNvSpPr/>
          <p:nvPr/>
        </p:nvSpPr>
        <p:spPr bwMode="auto">
          <a:xfrm rot="5400000">
            <a:off x="3980976" y="3744003"/>
            <a:ext cx="2790031"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22B83246-3657-55EF-B4AC-881D8A816531}"/>
              </a:ext>
            </a:extLst>
          </p:cNvPr>
          <p:cNvSpPr>
            <a:spLocks noGrp="1"/>
          </p:cNvSpPr>
          <p:nvPr>
            <p:ph type="title"/>
          </p:nvPr>
        </p:nvSpPr>
        <p:spPr/>
        <p:txBody>
          <a:bodyPr/>
          <a:lstStyle/>
          <a:p>
            <a:r>
              <a:rPr kumimoji="1" lang="en-US" altLang="ja-JP" dirty="0"/>
              <a:t>NOT </a:t>
            </a:r>
            <a:r>
              <a:rPr kumimoji="1" lang="ja-JP" altLang="en-US" dirty="0"/>
              <a:t>ゲートを２段重ねた例：入力が </a:t>
            </a:r>
            <a:r>
              <a:rPr lang="en-US" altLang="ja-JP" dirty="0"/>
              <a:t>0 </a:t>
            </a:r>
            <a:r>
              <a:rPr lang="ja-JP" altLang="en-US" dirty="0"/>
              <a:t>の場合</a:t>
            </a:r>
            <a:endParaRPr kumimoji="1" lang="en-US" dirty="0"/>
          </a:p>
        </p:txBody>
      </p:sp>
      <p:sp>
        <p:nvSpPr>
          <p:cNvPr id="9" name="正方形/長方形 8">
            <a:extLst>
              <a:ext uri="{FF2B5EF4-FFF2-40B4-BE49-F238E27FC236}">
                <a16:creationId xmlns:a16="http://schemas.microsoft.com/office/drawing/2014/main" id="{FF529A63-0251-24C7-AE71-4CA4B54E172A}"/>
              </a:ext>
            </a:extLst>
          </p:cNvPr>
          <p:cNvSpPr/>
          <p:nvPr/>
        </p:nvSpPr>
        <p:spPr bwMode="auto">
          <a:xfrm rot="5400000">
            <a:off x="4610983" y="4554013"/>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 name="直線コネクタ 9">
            <a:extLst>
              <a:ext uri="{FF2B5EF4-FFF2-40B4-BE49-F238E27FC236}">
                <a16:creationId xmlns:a16="http://schemas.microsoft.com/office/drawing/2014/main" id="{6801E9C8-1B71-3E85-9096-C26578649EFA}"/>
              </a:ext>
            </a:extLst>
          </p:cNvPr>
          <p:cNvCxnSpPr>
            <a:cxnSpLocks/>
          </p:cNvCxnSpPr>
          <p:nvPr/>
        </p:nvCxnSpPr>
        <p:spPr bwMode="auto">
          <a:xfrm>
            <a:off x="3935978" y="5229022"/>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3454D706-7DCC-8BCE-B102-75529A82F63D}"/>
              </a:ext>
            </a:extLst>
          </p:cNvPr>
          <p:cNvCxnSpPr>
            <a:cxnSpLocks/>
          </p:cNvCxnSpPr>
          <p:nvPr/>
        </p:nvCxnSpPr>
        <p:spPr bwMode="auto">
          <a:xfrm>
            <a:off x="3125967" y="5409022"/>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88541731-2BF8-6D3C-A1A6-7AB36AEFE226}"/>
              </a:ext>
            </a:extLst>
          </p:cNvPr>
          <p:cNvCxnSpPr>
            <a:cxnSpLocks/>
          </p:cNvCxnSpPr>
          <p:nvPr/>
        </p:nvCxnSpPr>
        <p:spPr bwMode="auto">
          <a:xfrm>
            <a:off x="3125967" y="5229020"/>
            <a:ext cx="630007" cy="0"/>
          </a:xfrm>
          <a:prstGeom prst="line">
            <a:avLst/>
          </a:prstGeom>
          <a:noFill/>
          <a:ln w="19050" cap="flat" cmpd="sng" algn="ctr">
            <a:solidFill>
              <a:schemeClr val="tx1"/>
            </a:solidFill>
            <a:prstDash val="solid"/>
            <a:round/>
            <a:headEnd type="none" w="med" len="med"/>
            <a:tailEnd type="none" w="med" len="med"/>
          </a:ln>
          <a:effectLst/>
        </p:spPr>
      </p:cxnSp>
      <p:sp>
        <p:nvSpPr>
          <p:cNvPr id="35" name="正方形/長方形 34">
            <a:extLst>
              <a:ext uri="{FF2B5EF4-FFF2-40B4-BE49-F238E27FC236}">
                <a16:creationId xmlns:a16="http://schemas.microsoft.com/office/drawing/2014/main" id="{6EF7CBD2-08A9-FC4F-053A-D734D49A8718}"/>
              </a:ext>
            </a:extLst>
          </p:cNvPr>
          <p:cNvSpPr/>
          <p:nvPr/>
        </p:nvSpPr>
        <p:spPr bwMode="auto">
          <a:xfrm rot="5400000">
            <a:off x="4205978" y="1178976"/>
            <a:ext cx="180002" cy="234002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6" name="直線コネクタ 35">
            <a:extLst>
              <a:ext uri="{FF2B5EF4-FFF2-40B4-BE49-F238E27FC236}">
                <a16:creationId xmlns:a16="http://schemas.microsoft.com/office/drawing/2014/main" id="{4F699689-B4A7-F8FA-2285-D5A702A699C4}"/>
              </a:ext>
            </a:extLst>
          </p:cNvPr>
          <p:cNvCxnSpPr>
            <a:cxnSpLocks/>
          </p:cNvCxnSpPr>
          <p:nvPr/>
        </p:nvCxnSpPr>
        <p:spPr bwMode="auto">
          <a:xfrm>
            <a:off x="3935978" y="2258989"/>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265F45C6-E4E7-BB53-1D81-F8121B431855}"/>
              </a:ext>
            </a:extLst>
          </p:cNvPr>
          <p:cNvCxnSpPr>
            <a:cxnSpLocks/>
          </p:cNvCxnSpPr>
          <p:nvPr/>
        </p:nvCxnSpPr>
        <p:spPr bwMode="auto">
          <a:xfrm>
            <a:off x="3125967" y="2438989"/>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D3B26FA9-E257-5405-2D82-B63A25996815}"/>
              </a:ext>
            </a:extLst>
          </p:cNvPr>
          <p:cNvCxnSpPr>
            <a:cxnSpLocks/>
          </p:cNvCxnSpPr>
          <p:nvPr/>
        </p:nvCxnSpPr>
        <p:spPr bwMode="auto">
          <a:xfrm>
            <a:off x="3125967" y="2258987"/>
            <a:ext cx="630007" cy="0"/>
          </a:xfrm>
          <a:prstGeom prst="line">
            <a:avLst/>
          </a:prstGeom>
          <a:noFill/>
          <a:ln w="19050" cap="flat" cmpd="sng" algn="ctr">
            <a:solidFill>
              <a:schemeClr val="tx1"/>
            </a:solidFill>
            <a:prstDash val="solid"/>
            <a:round/>
            <a:headEnd type="none" w="med" len="med"/>
            <a:tailEnd type="none" w="med" len="med"/>
          </a:ln>
          <a:effectLst/>
        </p:spPr>
      </p:cxnSp>
      <p:cxnSp>
        <p:nvCxnSpPr>
          <p:cNvPr id="56" name="直線コネクタ 55">
            <a:extLst>
              <a:ext uri="{FF2B5EF4-FFF2-40B4-BE49-F238E27FC236}">
                <a16:creationId xmlns:a16="http://schemas.microsoft.com/office/drawing/2014/main" id="{9CE3C223-787C-0313-F64B-65289EBF3210}"/>
              </a:ext>
            </a:extLst>
          </p:cNvPr>
          <p:cNvCxnSpPr>
            <a:cxnSpLocks/>
          </p:cNvCxnSpPr>
          <p:nvPr/>
        </p:nvCxnSpPr>
        <p:spPr bwMode="auto">
          <a:xfrm>
            <a:off x="1865953" y="1268976"/>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57" name="直線コネクタ 56">
            <a:extLst>
              <a:ext uri="{FF2B5EF4-FFF2-40B4-BE49-F238E27FC236}">
                <a16:creationId xmlns:a16="http://schemas.microsoft.com/office/drawing/2014/main" id="{B676A5F0-E60B-F6AC-2D21-9AC76E733516}"/>
              </a:ext>
            </a:extLst>
          </p:cNvPr>
          <p:cNvCxnSpPr>
            <a:cxnSpLocks/>
          </p:cNvCxnSpPr>
          <p:nvPr/>
        </p:nvCxnSpPr>
        <p:spPr bwMode="auto">
          <a:xfrm>
            <a:off x="2045955" y="1448978"/>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2" name="直線コネクタ 71">
            <a:extLst>
              <a:ext uri="{FF2B5EF4-FFF2-40B4-BE49-F238E27FC236}">
                <a16:creationId xmlns:a16="http://schemas.microsoft.com/office/drawing/2014/main" id="{A387AFCC-1933-E9FB-AFCA-79070914ECF7}"/>
              </a:ext>
            </a:extLst>
          </p:cNvPr>
          <p:cNvCxnSpPr>
            <a:cxnSpLocks/>
          </p:cNvCxnSpPr>
          <p:nvPr/>
        </p:nvCxnSpPr>
        <p:spPr bwMode="auto">
          <a:xfrm>
            <a:off x="2045955" y="459901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D2166147-2E37-FC5F-D49C-AD8160FE29B6}"/>
              </a:ext>
            </a:extLst>
          </p:cNvPr>
          <p:cNvCxnSpPr>
            <a:cxnSpLocks/>
          </p:cNvCxnSpPr>
          <p:nvPr/>
        </p:nvCxnSpPr>
        <p:spPr bwMode="auto">
          <a:xfrm>
            <a:off x="1865953" y="4779015"/>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538F24C7-1ED8-2C14-8C49-A166C61047CA}"/>
              </a:ext>
            </a:extLst>
          </p:cNvPr>
          <p:cNvCxnSpPr>
            <a:cxnSpLocks/>
          </p:cNvCxnSpPr>
          <p:nvPr/>
        </p:nvCxnSpPr>
        <p:spPr bwMode="auto">
          <a:xfrm>
            <a:off x="5465993" y="360900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CDB96911-4FBD-C501-A608-66F8EC3C174E}"/>
              </a:ext>
            </a:extLst>
          </p:cNvPr>
          <p:cNvCxnSpPr>
            <a:cxnSpLocks/>
          </p:cNvCxnSpPr>
          <p:nvPr/>
        </p:nvCxnSpPr>
        <p:spPr bwMode="auto">
          <a:xfrm>
            <a:off x="5465993" y="378900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998E9F48-6F27-5224-0A65-E8AF10F11CC7}"/>
              </a:ext>
            </a:extLst>
          </p:cNvPr>
          <p:cNvCxnSpPr>
            <a:cxnSpLocks/>
          </p:cNvCxnSpPr>
          <p:nvPr/>
        </p:nvCxnSpPr>
        <p:spPr bwMode="auto">
          <a:xfrm>
            <a:off x="5285991" y="2438989"/>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88BEBE1B-8461-1D37-8500-CF6DBACD1E9A}"/>
              </a:ext>
            </a:extLst>
          </p:cNvPr>
          <p:cNvCxnSpPr>
            <a:cxnSpLocks/>
          </p:cNvCxnSpPr>
          <p:nvPr/>
        </p:nvCxnSpPr>
        <p:spPr bwMode="auto">
          <a:xfrm>
            <a:off x="5466530" y="3789004"/>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BAEAB907-6761-5F5E-0A38-0162A7EE9E1D}"/>
              </a:ext>
            </a:extLst>
          </p:cNvPr>
          <p:cNvCxnSpPr>
            <a:cxnSpLocks/>
          </p:cNvCxnSpPr>
          <p:nvPr/>
        </p:nvCxnSpPr>
        <p:spPr bwMode="auto">
          <a:xfrm>
            <a:off x="2045955" y="1448978"/>
            <a:ext cx="537" cy="3150393"/>
          </a:xfrm>
          <a:prstGeom prst="line">
            <a:avLst/>
          </a:prstGeom>
          <a:noFill/>
          <a:ln w="19050" cap="flat"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D57712E6-EA06-1A60-0B3E-3D8AE6655570}"/>
              </a:ext>
            </a:extLst>
          </p:cNvPr>
          <p:cNvCxnSpPr>
            <a:cxnSpLocks/>
          </p:cNvCxnSpPr>
          <p:nvPr/>
        </p:nvCxnSpPr>
        <p:spPr bwMode="auto">
          <a:xfrm>
            <a:off x="1865953" y="1268976"/>
            <a:ext cx="0" cy="2340026"/>
          </a:xfrm>
          <a:prstGeom prst="line">
            <a:avLst/>
          </a:prstGeom>
          <a:noFill/>
          <a:ln w="19050"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B31C2DCE-D398-E364-ED1E-FE55AB5F1307}"/>
              </a:ext>
            </a:extLst>
          </p:cNvPr>
          <p:cNvCxnSpPr>
            <a:cxnSpLocks/>
          </p:cNvCxnSpPr>
          <p:nvPr/>
        </p:nvCxnSpPr>
        <p:spPr bwMode="auto">
          <a:xfrm>
            <a:off x="1865953" y="3789004"/>
            <a:ext cx="0" cy="990011"/>
          </a:xfrm>
          <a:prstGeom prst="line">
            <a:avLst/>
          </a:prstGeom>
          <a:noFill/>
          <a:ln w="19050" cap="flat" cmpd="sng" algn="ctr">
            <a:solidFill>
              <a:schemeClr val="tx1"/>
            </a:solidFill>
            <a:prstDash val="solid"/>
            <a:round/>
            <a:headEnd type="none" w="med" len="med"/>
            <a:tailEnd type="none" w="med" len="med"/>
          </a:ln>
          <a:effectLst/>
        </p:spPr>
      </p:cxnSp>
      <p:cxnSp>
        <p:nvCxnSpPr>
          <p:cNvPr id="95" name="直線コネクタ 94">
            <a:extLst>
              <a:ext uri="{FF2B5EF4-FFF2-40B4-BE49-F238E27FC236}">
                <a16:creationId xmlns:a16="http://schemas.microsoft.com/office/drawing/2014/main" id="{D3B09BDA-94EB-83D2-BEC8-7A15C413EFBB}"/>
              </a:ext>
            </a:extLst>
          </p:cNvPr>
          <p:cNvCxnSpPr>
            <a:cxnSpLocks/>
          </p:cNvCxnSpPr>
          <p:nvPr/>
        </p:nvCxnSpPr>
        <p:spPr bwMode="auto">
          <a:xfrm>
            <a:off x="335936" y="360900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96" name="直線コネクタ 95">
            <a:extLst>
              <a:ext uri="{FF2B5EF4-FFF2-40B4-BE49-F238E27FC236}">
                <a16:creationId xmlns:a16="http://schemas.microsoft.com/office/drawing/2014/main" id="{F81E7AFE-5529-63D5-39EB-32F95BD32A57}"/>
              </a:ext>
            </a:extLst>
          </p:cNvPr>
          <p:cNvCxnSpPr>
            <a:cxnSpLocks/>
          </p:cNvCxnSpPr>
          <p:nvPr/>
        </p:nvCxnSpPr>
        <p:spPr bwMode="auto">
          <a:xfrm>
            <a:off x="335936" y="378900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41D4C1F9-2194-6531-ADBA-20E0BEABC2DB}"/>
              </a:ext>
            </a:extLst>
          </p:cNvPr>
          <p:cNvCxnSpPr>
            <a:cxnSpLocks/>
          </p:cNvCxnSpPr>
          <p:nvPr/>
        </p:nvCxnSpPr>
        <p:spPr bwMode="auto">
          <a:xfrm>
            <a:off x="5465993" y="2258987"/>
            <a:ext cx="0" cy="1350015"/>
          </a:xfrm>
          <a:prstGeom prst="line">
            <a:avLst/>
          </a:prstGeom>
          <a:noFill/>
          <a:ln w="19050" cap="flat" cmpd="sng" algn="ctr">
            <a:solidFill>
              <a:schemeClr val="tx1"/>
            </a:solidFill>
            <a:prstDash val="solid"/>
            <a:round/>
            <a:headEnd type="none" w="med" len="med"/>
            <a:tailEnd type="none" w="med" len="med"/>
          </a:ln>
          <a:effectLst/>
        </p:spPr>
      </p:cxnSp>
      <p:sp>
        <p:nvSpPr>
          <p:cNvPr id="130" name="正方形/長方形 129">
            <a:extLst>
              <a:ext uri="{FF2B5EF4-FFF2-40B4-BE49-F238E27FC236}">
                <a16:creationId xmlns:a16="http://schemas.microsoft.com/office/drawing/2014/main" id="{67A7EBD1-486E-E290-2C60-7B415E1BC4AF}"/>
              </a:ext>
            </a:extLst>
          </p:cNvPr>
          <p:cNvSpPr/>
          <p:nvPr/>
        </p:nvSpPr>
        <p:spPr bwMode="auto">
          <a:xfrm>
            <a:off x="2315958" y="198898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b="1" dirty="0">
                <a:solidFill>
                  <a:schemeClr val="accent5"/>
                </a:solidFill>
              </a:rPr>
              <a:t>給水口</a:t>
            </a:r>
          </a:p>
        </p:txBody>
      </p:sp>
      <p:sp>
        <p:nvSpPr>
          <p:cNvPr id="131" name="正方形/長方形 130">
            <a:extLst>
              <a:ext uri="{FF2B5EF4-FFF2-40B4-BE49-F238E27FC236}">
                <a16:creationId xmlns:a16="http://schemas.microsoft.com/office/drawing/2014/main" id="{CB2BC859-0DA5-F6B4-BE23-652425CEA1BA}"/>
              </a:ext>
            </a:extLst>
          </p:cNvPr>
          <p:cNvSpPr/>
          <p:nvPr/>
        </p:nvSpPr>
        <p:spPr bwMode="auto">
          <a:xfrm>
            <a:off x="2315958" y="495901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132" name="正方形/長方形 131">
            <a:extLst>
              <a:ext uri="{FF2B5EF4-FFF2-40B4-BE49-F238E27FC236}">
                <a16:creationId xmlns:a16="http://schemas.microsoft.com/office/drawing/2014/main" id="{382BA752-9EC4-AB9F-418B-4CE40198FA66}"/>
              </a:ext>
            </a:extLst>
          </p:cNvPr>
          <p:cNvSpPr/>
          <p:nvPr/>
        </p:nvSpPr>
        <p:spPr bwMode="auto">
          <a:xfrm>
            <a:off x="245935" y="306899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a:t>
            </a:r>
          </a:p>
        </p:txBody>
      </p:sp>
      <p:sp>
        <p:nvSpPr>
          <p:cNvPr id="62" name="正方形/長方形 61">
            <a:extLst>
              <a:ext uri="{FF2B5EF4-FFF2-40B4-BE49-F238E27FC236}">
                <a16:creationId xmlns:a16="http://schemas.microsoft.com/office/drawing/2014/main" id="{C7523370-B6BC-EA4F-21D1-075B7893ECD0}"/>
              </a:ext>
            </a:extLst>
          </p:cNvPr>
          <p:cNvSpPr/>
          <p:nvPr/>
        </p:nvSpPr>
        <p:spPr bwMode="auto">
          <a:xfrm>
            <a:off x="6996010" y="1628980"/>
            <a:ext cx="180002" cy="315003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3" name="正方形/長方形 62">
            <a:extLst>
              <a:ext uri="{FF2B5EF4-FFF2-40B4-BE49-F238E27FC236}">
                <a16:creationId xmlns:a16="http://schemas.microsoft.com/office/drawing/2014/main" id="{9FCBBFD3-4CC0-6F33-EF14-B9659B6EEED0}"/>
              </a:ext>
            </a:extLst>
          </p:cNvPr>
          <p:cNvSpPr/>
          <p:nvPr/>
        </p:nvSpPr>
        <p:spPr bwMode="auto">
          <a:xfrm>
            <a:off x="7176011" y="1628981"/>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4" name="正方形/長方形 63">
            <a:extLst>
              <a:ext uri="{FF2B5EF4-FFF2-40B4-BE49-F238E27FC236}">
                <a16:creationId xmlns:a16="http://schemas.microsoft.com/office/drawing/2014/main" id="{7BD501EA-A578-02B1-F71E-19D3516BE8BC}"/>
              </a:ext>
            </a:extLst>
          </p:cNvPr>
          <p:cNvSpPr/>
          <p:nvPr/>
        </p:nvSpPr>
        <p:spPr bwMode="auto">
          <a:xfrm>
            <a:off x="8706030" y="450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5" name="直線コネクタ 64">
            <a:extLst>
              <a:ext uri="{FF2B5EF4-FFF2-40B4-BE49-F238E27FC236}">
                <a16:creationId xmlns:a16="http://schemas.microsoft.com/office/drawing/2014/main" id="{DE8EC008-136F-C374-4D54-A293AA54353C}"/>
              </a:ext>
            </a:extLst>
          </p:cNvPr>
          <p:cNvCxnSpPr>
            <a:cxnSpLocks/>
          </p:cNvCxnSpPr>
          <p:nvPr/>
        </p:nvCxnSpPr>
        <p:spPr bwMode="auto">
          <a:xfrm>
            <a:off x="8706030" y="486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66" name="直線コネクタ 65">
            <a:extLst>
              <a:ext uri="{FF2B5EF4-FFF2-40B4-BE49-F238E27FC236}">
                <a16:creationId xmlns:a16="http://schemas.microsoft.com/office/drawing/2014/main" id="{15CEEEA3-66B2-C83F-55CD-74E3C7D82996}"/>
              </a:ext>
            </a:extLst>
          </p:cNvPr>
          <p:cNvCxnSpPr>
            <a:cxnSpLocks/>
          </p:cNvCxnSpPr>
          <p:nvPr/>
        </p:nvCxnSpPr>
        <p:spPr bwMode="auto">
          <a:xfrm>
            <a:off x="8706030" y="4419012"/>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1DC8B404-C2BD-2809-575F-89D5E142D200}"/>
              </a:ext>
            </a:extLst>
          </p:cNvPr>
          <p:cNvCxnSpPr>
            <a:cxnSpLocks/>
          </p:cNvCxnSpPr>
          <p:nvPr/>
        </p:nvCxnSpPr>
        <p:spPr bwMode="auto">
          <a:xfrm>
            <a:off x="9246036" y="441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69" name="直線コネクタ 68">
            <a:extLst>
              <a:ext uri="{FF2B5EF4-FFF2-40B4-BE49-F238E27FC236}">
                <a16:creationId xmlns:a16="http://schemas.microsoft.com/office/drawing/2014/main" id="{375BE37F-B1F8-A02F-A90A-D2011B02422A}"/>
              </a:ext>
            </a:extLst>
          </p:cNvPr>
          <p:cNvCxnSpPr>
            <a:cxnSpLocks/>
          </p:cNvCxnSpPr>
          <p:nvPr/>
        </p:nvCxnSpPr>
        <p:spPr bwMode="auto">
          <a:xfrm flipV="1">
            <a:off x="8976031" y="486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70" name="正方形/長方形 69">
            <a:extLst>
              <a:ext uri="{FF2B5EF4-FFF2-40B4-BE49-F238E27FC236}">
                <a16:creationId xmlns:a16="http://schemas.microsoft.com/office/drawing/2014/main" id="{C4D078DC-59C2-8C22-637E-213F74948B46}"/>
              </a:ext>
            </a:extLst>
          </p:cNvPr>
          <p:cNvSpPr/>
          <p:nvPr/>
        </p:nvSpPr>
        <p:spPr bwMode="auto">
          <a:xfrm rot="5400000">
            <a:off x="8796029" y="4689015"/>
            <a:ext cx="180002" cy="126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74" name="直線コネクタ 73">
            <a:extLst>
              <a:ext uri="{FF2B5EF4-FFF2-40B4-BE49-F238E27FC236}">
                <a16:creationId xmlns:a16="http://schemas.microsoft.com/office/drawing/2014/main" id="{00C0E963-C400-BF19-CB01-3301803F9CCC}"/>
              </a:ext>
            </a:extLst>
          </p:cNvPr>
          <p:cNvCxnSpPr>
            <a:cxnSpLocks/>
          </p:cNvCxnSpPr>
          <p:nvPr/>
        </p:nvCxnSpPr>
        <p:spPr bwMode="auto">
          <a:xfrm>
            <a:off x="9066034" y="5229023"/>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77" name="直線コネクタ 76">
            <a:extLst>
              <a:ext uri="{FF2B5EF4-FFF2-40B4-BE49-F238E27FC236}">
                <a16:creationId xmlns:a16="http://schemas.microsoft.com/office/drawing/2014/main" id="{B2527C6F-9281-BF0D-9D99-3F912510DA10}"/>
              </a:ext>
            </a:extLst>
          </p:cNvPr>
          <p:cNvCxnSpPr>
            <a:cxnSpLocks/>
          </p:cNvCxnSpPr>
          <p:nvPr/>
        </p:nvCxnSpPr>
        <p:spPr bwMode="auto">
          <a:xfrm>
            <a:off x="8256023" y="5409023"/>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8F49C2E3-91CD-39A2-6EE2-5349D3D3CE07}"/>
              </a:ext>
            </a:extLst>
          </p:cNvPr>
          <p:cNvCxnSpPr>
            <a:cxnSpLocks/>
          </p:cNvCxnSpPr>
          <p:nvPr/>
        </p:nvCxnSpPr>
        <p:spPr bwMode="auto">
          <a:xfrm>
            <a:off x="8256023" y="5229021"/>
            <a:ext cx="630007" cy="0"/>
          </a:xfrm>
          <a:prstGeom prst="line">
            <a:avLst/>
          </a:prstGeom>
          <a:noFill/>
          <a:ln w="19050" cap="flat" cmpd="sng" algn="ctr">
            <a:solidFill>
              <a:schemeClr val="tx1"/>
            </a:solidFill>
            <a:prstDash val="solid"/>
            <a:round/>
            <a:headEnd type="none" w="med" len="med"/>
            <a:tailEnd type="none" w="med" len="med"/>
          </a:ln>
          <a:effectLst/>
        </p:spPr>
      </p:cxnSp>
      <p:sp>
        <p:nvSpPr>
          <p:cNvPr id="80" name="正方形/長方形 79">
            <a:extLst>
              <a:ext uri="{FF2B5EF4-FFF2-40B4-BE49-F238E27FC236}">
                <a16:creationId xmlns:a16="http://schemas.microsoft.com/office/drawing/2014/main" id="{FC03196C-EB4A-4860-3A59-B670ADB454FA}"/>
              </a:ext>
            </a:extLst>
          </p:cNvPr>
          <p:cNvSpPr/>
          <p:nvPr/>
        </p:nvSpPr>
        <p:spPr bwMode="auto">
          <a:xfrm rot="5400000">
            <a:off x="8886030" y="504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7" name="正方形/長方形 96">
            <a:extLst>
              <a:ext uri="{FF2B5EF4-FFF2-40B4-BE49-F238E27FC236}">
                <a16:creationId xmlns:a16="http://schemas.microsoft.com/office/drawing/2014/main" id="{651DE5B9-3F74-3700-0369-276D88997748}"/>
              </a:ext>
            </a:extLst>
          </p:cNvPr>
          <p:cNvSpPr/>
          <p:nvPr/>
        </p:nvSpPr>
        <p:spPr bwMode="auto">
          <a:xfrm rot="5400000" flipH="1">
            <a:off x="8751026" y="5544023"/>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8" name="直線コネクタ 97">
            <a:extLst>
              <a:ext uri="{FF2B5EF4-FFF2-40B4-BE49-F238E27FC236}">
                <a16:creationId xmlns:a16="http://schemas.microsoft.com/office/drawing/2014/main" id="{6A9ED04C-056C-38CC-2446-E425867AE663}"/>
              </a:ext>
            </a:extLst>
          </p:cNvPr>
          <p:cNvCxnSpPr>
            <a:cxnSpLocks/>
          </p:cNvCxnSpPr>
          <p:nvPr/>
        </p:nvCxnSpPr>
        <p:spPr bwMode="auto">
          <a:xfrm flipH="1">
            <a:off x="9066030" y="5229020"/>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99" name="直線コネクタ 98">
            <a:extLst>
              <a:ext uri="{FF2B5EF4-FFF2-40B4-BE49-F238E27FC236}">
                <a16:creationId xmlns:a16="http://schemas.microsoft.com/office/drawing/2014/main" id="{6BCF06EA-BE06-0A91-B32B-62BD9116BE7C}"/>
              </a:ext>
            </a:extLst>
          </p:cNvPr>
          <p:cNvCxnSpPr>
            <a:cxnSpLocks/>
          </p:cNvCxnSpPr>
          <p:nvPr/>
        </p:nvCxnSpPr>
        <p:spPr bwMode="auto">
          <a:xfrm flipH="1">
            <a:off x="8886029" y="5229020"/>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02" name="正方形/長方形 101">
            <a:extLst>
              <a:ext uri="{FF2B5EF4-FFF2-40B4-BE49-F238E27FC236}">
                <a16:creationId xmlns:a16="http://schemas.microsoft.com/office/drawing/2014/main" id="{6139EDB9-A20B-C92E-1048-7017EC79C4EF}"/>
              </a:ext>
            </a:extLst>
          </p:cNvPr>
          <p:cNvSpPr/>
          <p:nvPr/>
        </p:nvSpPr>
        <p:spPr bwMode="auto">
          <a:xfrm>
            <a:off x="8706030" y="1538980"/>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3" name="直線コネクタ 102">
            <a:extLst>
              <a:ext uri="{FF2B5EF4-FFF2-40B4-BE49-F238E27FC236}">
                <a16:creationId xmlns:a16="http://schemas.microsoft.com/office/drawing/2014/main" id="{6FBA540C-8869-E2B4-F501-DE6138A96BDE}"/>
              </a:ext>
            </a:extLst>
          </p:cNvPr>
          <p:cNvCxnSpPr>
            <a:cxnSpLocks/>
          </p:cNvCxnSpPr>
          <p:nvPr/>
        </p:nvCxnSpPr>
        <p:spPr bwMode="auto">
          <a:xfrm>
            <a:off x="8706030" y="1898985"/>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04" name="直線コネクタ 103">
            <a:extLst>
              <a:ext uri="{FF2B5EF4-FFF2-40B4-BE49-F238E27FC236}">
                <a16:creationId xmlns:a16="http://schemas.microsoft.com/office/drawing/2014/main" id="{056AC4F5-F630-BDBB-0C73-4091EEDECAD6}"/>
              </a:ext>
            </a:extLst>
          </p:cNvPr>
          <p:cNvCxnSpPr>
            <a:cxnSpLocks/>
          </p:cNvCxnSpPr>
          <p:nvPr/>
        </p:nvCxnSpPr>
        <p:spPr bwMode="auto">
          <a:xfrm>
            <a:off x="8706030" y="1448979"/>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106" name="直線コネクタ 105">
            <a:extLst>
              <a:ext uri="{FF2B5EF4-FFF2-40B4-BE49-F238E27FC236}">
                <a16:creationId xmlns:a16="http://schemas.microsoft.com/office/drawing/2014/main" id="{06F1DBC7-97DE-49FE-7C58-3074B4542EDF}"/>
              </a:ext>
            </a:extLst>
          </p:cNvPr>
          <p:cNvCxnSpPr>
            <a:cxnSpLocks/>
          </p:cNvCxnSpPr>
          <p:nvPr/>
        </p:nvCxnSpPr>
        <p:spPr bwMode="auto">
          <a:xfrm>
            <a:off x="9246036" y="144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07" name="直線コネクタ 106">
            <a:extLst>
              <a:ext uri="{FF2B5EF4-FFF2-40B4-BE49-F238E27FC236}">
                <a16:creationId xmlns:a16="http://schemas.microsoft.com/office/drawing/2014/main" id="{297EEFE5-7C96-C418-3C82-83CEF62177F8}"/>
              </a:ext>
            </a:extLst>
          </p:cNvPr>
          <p:cNvCxnSpPr>
            <a:cxnSpLocks/>
          </p:cNvCxnSpPr>
          <p:nvPr/>
        </p:nvCxnSpPr>
        <p:spPr bwMode="auto">
          <a:xfrm flipV="1">
            <a:off x="8976031" y="1898985"/>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08" name="正方形/長方形 107">
            <a:extLst>
              <a:ext uri="{FF2B5EF4-FFF2-40B4-BE49-F238E27FC236}">
                <a16:creationId xmlns:a16="http://schemas.microsoft.com/office/drawing/2014/main" id="{B4360AC0-15E8-7260-FEE9-1C179C798BD8}"/>
              </a:ext>
            </a:extLst>
          </p:cNvPr>
          <p:cNvSpPr/>
          <p:nvPr/>
        </p:nvSpPr>
        <p:spPr bwMode="auto">
          <a:xfrm rot="5400000">
            <a:off x="8481025" y="2033986"/>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9" name="直線コネクタ 108">
            <a:extLst>
              <a:ext uri="{FF2B5EF4-FFF2-40B4-BE49-F238E27FC236}">
                <a16:creationId xmlns:a16="http://schemas.microsoft.com/office/drawing/2014/main" id="{9EAA6BD0-65F5-A3B8-9901-F00B33623889}"/>
              </a:ext>
            </a:extLst>
          </p:cNvPr>
          <p:cNvCxnSpPr>
            <a:cxnSpLocks/>
          </p:cNvCxnSpPr>
          <p:nvPr/>
        </p:nvCxnSpPr>
        <p:spPr bwMode="auto">
          <a:xfrm>
            <a:off x="9066034" y="2258990"/>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0" name="直線コネクタ 109">
            <a:extLst>
              <a:ext uri="{FF2B5EF4-FFF2-40B4-BE49-F238E27FC236}">
                <a16:creationId xmlns:a16="http://schemas.microsoft.com/office/drawing/2014/main" id="{C9864A01-618C-9D9F-0848-B85DFE9414BA}"/>
              </a:ext>
            </a:extLst>
          </p:cNvPr>
          <p:cNvCxnSpPr>
            <a:cxnSpLocks/>
          </p:cNvCxnSpPr>
          <p:nvPr/>
        </p:nvCxnSpPr>
        <p:spPr bwMode="auto">
          <a:xfrm>
            <a:off x="8256023" y="2438990"/>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111" name="直線コネクタ 110">
            <a:extLst>
              <a:ext uri="{FF2B5EF4-FFF2-40B4-BE49-F238E27FC236}">
                <a16:creationId xmlns:a16="http://schemas.microsoft.com/office/drawing/2014/main" id="{B1289701-178D-24B6-0EA3-103B2EB51FAF}"/>
              </a:ext>
            </a:extLst>
          </p:cNvPr>
          <p:cNvCxnSpPr>
            <a:cxnSpLocks/>
          </p:cNvCxnSpPr>
          <p:nvPr/>
        </p:nvCxnSpPr>
        <p:spPr bwMode="auto">
          <a:xfrm>
            <a:off x="8256023" y="2258988"/>
            <a:ext cx="630007" cy="0"/>
          </a:xfrm>
          <a:prstGeom prst="line">
            <a:avLst/>
          </a:prstGeom>
          <a:noFill/>
          <a:ln w="19050" cap="flat" cmpd="sng" algn="ctr">
            <a:solidFill>
              <a:schemeClr val="tx1"/>
            </a:solidFill>
            <a:prstDash val="solid"/>
            <a:round/>
            <a:headEnd type="none" w="med" len="med"/>
            <a:tailEnd type="none" w="med" len="med"/>
          </a:ln>
          <a:effectLst/>
        </p:spPr>
      </p:cxnSp>
      <p:sp>
        <p:nvSpPr>
          <p:cNvPr id="112" name="正方形/長方形 111">
            <a:extLst>
              <a:ext uri="{FF2B5EF4-FFF2-40B4-BE49-F238E27FC236}">
                <a16:creationId xmlns:a16="http://schemas.microsoft.com/office/drawing/2014/main" id="{A9B4DD12-1B2D-9175-136A-71177562751B}"/>
              </a:ext>
            </a:extLst>
          </p:cNvPr>
          <p:cNvSpPr/>
          <p:nvPr/>
        </p:nvSpPr>
        <p:spPr bwMode="auto">
          <a:xfrm rot="5400000">
            <a:off x="8706028" y="2258989"/>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22" name="正方形/長方形 121">
            <a:extLst>
              <a:ext uri="{FF2B5EF4-FFF2-40B4-BE49-F238E27FC236}">
                <a16:creationId xmlns:a16="http://schemas.microsoft.com/office/drawing/2014/main" id="{F3967332-3FDF-A741-0716-3145E63D1C05}"/>
              </a:ext>
            </a:extLst>
          </p:cNvPr>
          <p:cNvSpPr/>
          <p:nvPr/>
        </p:nvSpPr>
        <p:spPr bwMode="auto">
          <a:xfrm rot="5400000" flipH="1">
            <a:off x="8931028" y="2753992"/>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23" name="直線コネクタ 122">
            <a:extLst>
              <a:ext uri="{FF2B5EF4-FFF2-40B4-BE49-F238E27FC236}">
                <a16:creationId xmlns:a16="http://schemas.microsoft.com/office/drawing/2014/main" id="{11A9BA0C-99AA-5449-39CF-D982BB676438}"/>
              </a:ext>
            </a:extLst>
          </p:cNvPr>
          <p:cNvCxnSpPr>
            <a:cxnSpLocks/>
          </p:cNvCxnSpPr>
          <p:nvPr/>
        </p:nvCxnSpPr>
        <p:spPr bwMode="auto">
          <a:xfrm flipH="1">
            <a:off x="9066032" y="2618991"/>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24" name="直線コネクタ 123">
            <a:extLst>
              <a:ext uri="{FF2B5EF4-FFF2-40B4-BE49-F238E27FC236}">
                <a16:creationId xmlns:a16="http://schemas.microsoft.com/office/drawing/2014/main" id="{8BB09BA4-45C1-94C7-1EA8-5DB64EE6D78E}"/>
              </a:ext>
            </a:extLst>
          </p:cNvPr>
          <p:cNvCxnSpPr>
            <a:cxnSpLocks/>
          </p:cNvCxnSpPr>
          <p:nvPr/>
        </p:nvCxnSpPr>
        <p:spPr bwMode="auto">
          <a:xfrm flipH="1">
            <a:off x="8886031" y="2618991"/>
            <a:ext cx="5"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28" name="直線コネクタ 127">
            <a:extLst>
              <a:ext uri="{FF2B5EF4-FFF2-40B4-BE49-F238E27FC236}">
                <a16:creationId xmlns:a16="http://schemas.microsoft.com/office/drawing/2014/main" id="{9CE5EB65-E59C-EE65-B2B1-650EFBD778CB}"/>
              </a:ext>
            </a:extLst>
          </p:cNvPr>
          <p:cNvCxnSpPr>
            <a:cxnSpLocks/>
          </p:cNvCxnSpPr>
          <p:nvPr/>
        </p:nvCxnSpPr>
        <p:spPr bwMode="auto">
          <a:xfrm>
            <a:off x="6996009" y="1628981"/>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34" name="直線コネクタ 133">
            <a:extLst>
              <a:ext uri="{FF2B5EF4-FFF2-40B4-BE49-F238E27FC236}">
                <a16:creationId xmlns:a16="http://schemas.microsoft.com/office/drawing/2014/main" id="{6B5E5816-2762-D7E5-E91F-E870FA408E6C}"/>
              </a:ext>
            </a:extLst>
          </p:cNvPr>
          <p:cNvCxnSpPr>
            <a:cxnSpLocks/>
          </p:cNvCxnSpPr>
          <p:nvPr/>
        </p:nvCxnSpPr>
        <p:spPr bwMode="auto">
          <a:xfrm>
            <a:off x="7176011" y="180898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35" name="直線コネクタ 134">
            <a:extLst>
              <a:ext uri="{FF2B5EF4-FFF2-40B4-BE49-F238E27FC236}">
                <a16:creationId xmlns:a16="http://schemas.microsoft.com/office/drawing/2014/main" id="{1740B023-8028-8517-1FED-D025AD99AF31}"/>
              </a:ext>
            </a:extLst>
          </p:cNvPr>
          <p:cNvCxnSpPr>
            <a:cxnSpLocks/>
          </p:cNvCxnSpPr>
          <p:nvPr/>
        </p:nvCxnSpPr>
        <p:spPr bwMode="auto">
          <a:xfrm flipV="1">
            <a:off x="8706028" y="1808983"/>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136" name="直線コネクタ 135">
            <a:extLst>
              <a:ext uri="{FF2B5EF4-FFF2-40B4-BE49-F238E27FC236}">
                <a16:creationId xmlns:a16="http://schemas.microsoft.com/office/drawing/2014/main" id="{FC65C831-E944-0B2D-C0DF-8E55806E792F}"/>
              </a:ext>
            </a:extLst>
          </p:cNvPr>
          <p:cNvCxnSpPr>
            <a:cxnSpLocks/>
          </p:cNvCxnSpPr>
          <p:nvPr/>
        </p:nvCxnSpPr>
        <p:spPr bwMode="auto">
          <a:xfrm>
            <a:off x="8706030" y="4779016"/>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137" name="正方形/長方形 136">
            <a:extLst>
              <a:ext uri="{FF2B5EF4-FFF2-40B4-BE49-F238E27FC236}">
                <a16:creationId xmlns:a16="http://schemas.microsoft.com/office/drawing/2014/main" id="{FB57F4DF-DE9B-7BC5-5959-E838DC8E3618}"/>
              </a:ext>
            </a:extLst>
          </p:cNvPr>
          <p:cNvSpPr/>
          <p:nvPr/>
        </p:nvSpPr>
        <p:spPr bwMode="auto">
          <a:xfrm>
            <a:off x="7176011" y="4599014"/>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8" name="直線コネクタ 137">
            <a:extLst>
              <a:ext uri="{FF2B5EF4-FFF2-40B4-BE49-F238E27FC236}">
                <a16:creationId xmlns:a16="http://schemas.microsoft.com/office/drawing/2014/main" id="{4AC726A8-5F55-4363-0AF7-617C064FE0F0}"/>
              </a:ext>
            </a:extLst>
          </p:cNvPr>
          <p:cNvCxnSpPr>
            <a:cxnSpLocks/>
          </p:cNvCxnSpPr>
          <p:nvPr/>
        </p:nvCxnSpPr>
        <p:spPr bwMode="auto">
          <a:xfrm>
            <a:off x="7176011" y="459901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EB82784B-D142-70D0-D93F-8FB77309A892}"/>
              </a:ext>
            </a:extLst>
          </p:cNvPr>
          <p:cNvCxnSpPr>
            <a:cxnSpLocks/>
          </p:cNvCxnSpPr>
          <p:nvPr/>
        </p:nvCxnSpPr>
        <p:spPr bwMode="auto">
          <a:xfrm>
            <a:off x="6996009" y="4779016"/>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34FFEC2B-2DEF-B6F9-51ED-84467780D0BF}"/>
              </a:ext>
            </a:extLst>
          </p:cNvPr>
          <p:cNvCxnSpPr>
            <a:cxnSpLocks/>
          </p:cNvCxnSpPr>
          <p:nvPr/>
        </p:nvCxnSpPr>
        <p:spPr bwMode="auto">
          <a:xfrm>
            <a:off x="10596049" y="360900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41" name="直線コネクタ 140">
            <a:extLst>
              <a:ext uri="{FF2B5EF4-FFF2-40B4-BE49-F238E27FC236}">
                <a16:creationId xmlns:a16="http://schemas.microsoft.com/office/drawing/2014/main" id="{4AFEF921-8515-66E2-A802-5FFDAC2EBD0E}"/>
              </a:ext>
            </a:extLst>
          </p:cNvPr>
          <p:cNvCxnSpPr>
            <a:cxnSpLocks/>
          </p:cNvCxnSpPr>
          <p:nvPr/>
        </p:nvCxnSpPr>
        <p:spPr bwMode="auto">
          <a:xfrm>
            <a:off x="10596049" y="378900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42" name="直線コネクタ 141">
            <a:extLst>
              <a:ext uri="{FF2B5EF4-FFF2-40B4-BE49-F238E27FC236}">
                <a16:creationId xmlns:a16="http://schemas.microsoft.com/office/drawing/2014/main" id="{2D0BBF34-28F9-33D5-7CDA-1E1C48959B13}"/>
              </a:ext>
            </a:extLst>
          </p:cNvPr>
          <p:cNvCxnSpPr>
            <a:cxnSpLocks/>
          </p:cNvCxnSpPr>
          <p:nvPr/>
        </p:nvCxnSpPr>
        <p:spPr bwMode="auto">
          <a:xfrm>
            <a:off x="10416047" y="2438990"/>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143" name="直線コネクタ 142">
            <a:extLst>
              <a:ext uri="{FF2B5EF4-FFF2-40B4-BE49-F238E27FC236}">
                <a16:creationId xmlns:a16="http://schemas.microsoft.com/office/drawing/2014/main" id="{848C65A6-D44B-4061-4B77-A20DA7A024E3}"/>
              </a:ext>
            </a:extLst>
          </p:cNvPr>
          <p:cNvCxnSpPr>
            <a:cxnSpLocks/>
          </p:cNvCxnSpPr>
          <p:nvPr/>
        </p:nvCxnSpPr>
        <p:spPr bwMode="auto">
          <a:xfrm>
            <a:off x="10596586" y="3789005"/>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144" name="直線コネクタ 143">
            <a:extLst>
              <a:ext uri="{FF2B5EF4-FFF2-40B4-BE49-F238E27FC236}">
                <a16:creationId xmlns:a16="http://schemas.microsoft.com/office/drawing/2014/main" id="{F4077C46-5FE1-DB2A-27FD-E1BB2D2D4C4E}"/>
              </a:ext>
            </a:extLst>
          </p:cNvPr>
          <p:cNvCxnSpPr>
            <a:cxnSpLocks/>
          </p:cNvCxnSpPr>
          <p:nvPr/>
        </p:nvCxnSpPr>
        <p:spPr bwMode="auto">
          <a:xfrm>
            <a:off x="7176011" y="1808983"/>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EE74C84B-AB24-FF27-F6ED-BA016CB0F1AF}"/>
              </a:ext>
            </a:extLst>
          </p:cNvPr>
          <p:cNvCxnSpPr>
            <a:cxnSpLocks/>
          </p:cNvCxnSpPr>
          <p:nvPr/>
        </p:nvCxnSpPr>
        <p:spPr bwMode="auto">
          <a:xfrm>
            <a:off x="6996009" y="1628981"/>
            <a:ext cx="0" cy="1980022"/>
          </a:xfrm>
          <a:prstGeom prst="line">
            <a:avLst/>
          </a:prstGeom>
          <a:noFill/>
          <a:ln w="19050" cap="flat" cmpd="sng" algn="ctr">
            <a:solidFill>
              <a:schemeClr val="tx1"/>
            </a:solidFill>
            <a:prstDash val="solid"/>
            <a:round/>
            <a:headEnd type="none" w="med" len="med"/>
            <a:tailEnd type="none" w="med" len="med"/>
          </a:ln>
          <a:effectLst/>
        </p:spPr>
      </p:cxnSp>
      <p:cxnSp>
        <p:nvCxnSpPr>
          <p:cNvPr id="146" name="直線コネクタ 145">
            <a:extLst>
              <a:ext uri="{FF2B5EF4-FFF2-40B4-BE49-F238E27FC236}">
                <a16:creationId xmlns:a16="http://schemas.microsoft.com/office/drawing/2014/main" id="{9D45B06E-B024-7A2C-FA1F-5B76F617AFC1}"/>
              </a:ext>
            </a:extLst>
          </p:cNvPr>
          <p:cNvCxnSpPr>
            <a:cxnSpLocks/>
          </p:cNvCxnSpPr>
          <p:nvPr/>
        </p:nvCxnSpPr>
        <p:spPr bwMode="auto">
          <a:xfrm>
            <a:off x="6996009" y="3789005"/>
            <a:ext cx="0" cy="990011"/>
          </a:xfrm>
          <a:prstGeom prst="line">
            <a:avLst/>
          </a:prstGeom>
          <a:noFill/>
          <a:ln w="19050" cap="flat" cmpd="sng" algn="ctr">
            <a:solidFill>
              <a:schemeClr val="tx1"/>
            </a:solidFill>
            <a:prstDash val="solid"/>
            <a:round/>
            <a:headEnd type="none" w="med" len="med"/>
            <a:tailEnd type="none" w="med" len="med"/>
          </a:ln>
          <a:effectLst/>
        </p:spPr>
      </p:cxnSp>
      <p:sp>
        <p:nvSpPr>
          <p:cNvPr id="147" name="正方形/長方形 146">
            <a:extLst>
              <a:ext uri="{FF2B5EF4-FFF2-40B4-BE49-F238E27FC236}">
                <a16:creationId xmlns:a16="http://schemas.microsoft.com/office/drawing/2014/main" id="{8EE28A6C-402D-F105-D3BF-0FA3D99313F6}"/>
              </a:ext>
            </a:extLst>
          </p:cNvPr>
          <p:cNvSpPr/>
          <p:nvPr/>
        </p:nvSpPr>
        <p:spPr bwMode="auto">
          <a:xfrm>
            <a:off x="5465992" y="3609003"/>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8" name="直線コネクタ 147">
            <a:extLst>
              <a:ext uri="{FF2B5EF4-FFF2-40B4-BE49-F238E27FC236}">
                <a16:creationId xmlns:a16="http://schemas.microsoft.com/office/drawing/2014/main" id="{F7ECF9FC-624C-523D-BD79-2C27097B32C6}"/>
              </a:ext>
            </a:extLst>
          </p:cNvPr>
          <p:cNvCxnSpPr>
            <a:cxnSpLocks/>
          </p:cNvCxnSpPr>
          <p:nvPr/>
        </p:nvCxnSpPr>
        <p:spPr bwMode="auto">
          <a:xfrm>
            <a:off x="5465992" y="360900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49" name="直線コネクタ 148">
            <a:extLst>
              <a:ext uri="{FF2B5EF4-FFF2-40B4-BE49-F238E27FC236}">
                <a16:creationId xmlns:a16="http://schemas.microsoft.com/office/drawing/2014/main" id="{F40E8A0F-C3A2-B7BE-AF0C-A5AA388483B6}"/>
              </a:ext>
            </a:extLst>
          </p:cNvPr>
          <p:cNvCxnSpPr>
            <a:cxnSpLocks/>
          </p:cNvCxnSpPr>
          <p:nvPr/>
        </p:nvCxnSpPr>
        <p:spPr bwMode="auto">
          <a:xfrm>
            <a:off x="5465992" y="378900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50" name="直線コネクタ 149">
            <a:extLst>
              <a:ext uri="{FF2B5EF4-FFF2-40B4-BE49-F238E27FC236}">
                <a16:creationId xmlns:a16="http://schemas.microsoft.com/office/drawing/2014/main" id="{D0C66F1E-8043-A077-B853-1AF78C5A0E88}"/>
              </a:ext>
            </a:extLst>
          </p:cNvPr>
          <p:cNvCxnSpPr>
            <a:cxnSpLocks/>
          </p:cNvCxnSpPr>
          <p:nvPr/>
        </p:nvCxnSpPr>
        <p:spPr bwMode="auto">
          <a:xfrm>
            <a:off x="10596049" y="2258988"/>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51" name="直線矢印コネクタ 150">
            <a:extLst>
              <a:ext uri="{FF2B5EF4-FFF2-40B4-BE49-F238E27FC236}">
                <a16:creationId xmlns:a16="http://schemas.microsoft.com/office/drawing/2014/main" id="{2139DE83-E4A6-7055-AE2C-1BB903B1E242}"/>
              </a:ext>
            </a:extLst>
          </p:cNvPr>
          <p:cNvCxnSpPr>
            <a:cxnSpLocks/>
          </p:cNvCxnSpPr>
          <p:nvPr/>
        </p:nvCxnSpPr>
        <p:spPr bwMode="auto">
          <a:xfrm flipH="1">
            <a:off x="8256023" y="5319022"/>
            <a:ext cx="2070023" cy="0"/>
          </a:xfrm>
          <a:prstGeom prst="straightConnector1">
            <a:avLst/>
          </a:prstGeom>
          <a:noFill/>
          <a:ln w="9525" cap="flat" cmpd="sng" algn="ctr">
            <a:solidFill>
              <a:schemeClr val="tx1"/>
            </a:solidFill>
            <a:prstDash val="solid"/>
            <a:round/>
            <a:headEnd type="none" w="med" len="med"/>
            <a:tailEnd type="triangle"/>
          </a:ln>
          <a:effectLst/>
        </p:spPr>
      </p:cxnSp>
      <p:sp>
        <p:nvSpPr>
          <p:cNvPr id="153" name="正方形/長方形 152">
            <a:extLst>
              <a:ext uri="{FF2B5EF4-FFF2-40B4-BE49-F238E27FC236}">
                <a16:creationId xmlns:a16="http://schemas.microsoft.com/office/drawing/2014/main" id="{E36B1CC6-DB5F-9875-9E6B-327FDB0021CA}"/>
              </a:ext>
            </a:extLst>
          </p:cNvPr>
          <p:cNvSpPr/>
          <p:nvPr/>
        </p:nvSpPr>
        <p:spPr bwMode="auto">
          <a:xfrm>
            <a:off x="7446014" y="198898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54" name="正方形/長方形 153">
            <a:extLst>
              <a:ext uri="{FF2B5EF4-FFF2-40B4-BE49-F238E27FC236}">
                <a16:creationId xmlns:a16="http://schemas.microsoft.com/office/drawing/2014/main" id="{C7F40FC4-8139-7DF0-2135-C61A858099F4}"/>
              </a:ext>
            </a:extLst>
          </p:cNvPr>
          <p:cNvSpPr/>
          <p:nvPr/>
        </p:nvSpPr>
        <p:spPr bwMode="auto">
          <a:xfrm>
            <a:off x="7446014" y="495901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156" name="正方形/長方形 155">
            <a:extLst>
              <a:ext uri="{FF2B5EF4-FFF2-40B4-BE49-F238E27FC236}">
                <a16:creationId xmlns:a16="http://schemas.microsoft.com/office/drawing/2014/main" id="{46D3CB83-ACBC-B664-0D9C-F2A799D37BA5}"/>
              </a:ext>
            </a:extLst>
          </p:cNvPr>
          <p:cNvSpPr/>
          <p:nvPr/>
        </p:nvSpPr>
        <p:spPr bwMode="auto">
          <a:xfrm>
            <a:off x="11586060" y="306899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出力</a:t>
            </a:r>
          </a:p>
        </p:txBody>
      </p:sp>
      <p:cxnSp>
        <p:nvCxnSpPr>
          <p:cNvPr id="157" name="直線コネクタ 156">
            <a:extLst>
              <a:ext uri="{FF2B5EF4-FFF2-40B4-BE49-F238E27FC236}">
                <a16:creationId xmlns:a16="http://schemas.microsoft.com/office/drawing/2014/main" id="{0B008365-4CB0-B93A-47FE-333107C45E2F}"/>
              </a:ext>
            </a:extLst>
          </p:cNvPr>
          <p:cNvCxnSpPr>
            <a:cxnSpLocks/>
          </p:cNvCxnSpPr>
          <p:nvPr/>
        </p:nvCxnSpPr>
        <p:spPr bwMode="auto">
          <a:xfrm>
            <a:off x="3575973" y="1538980"/>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58" name="直線コネクタ 157">
            <a:extLst>
              <a:ext uri="{FF2B5EF4-FFF2-40B4-BE49-F238E27FC236}">
                <a16:creationId xmlns:a16="http://schemas.microsoft.com/office/drawing/2014/main" id="{89057A0A-A450-A9CC-8AE1-F183A9B363F7}"/>
              </a:ext>
            </a:extLst>
          </p:cNvPr>
          <p:cNvCxnSpPr>
            <a:cxnSpLocks/>
          </p:cNvCxnSpPr>
          <p:nvPr/>
        </p:nvCxnSpPr>
        <p:spPr bwMode="auto">
          <a:xfrm>
            <a:off x="3575973" y="1088974"/>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159" name="直線コネクタ 158">
            <a:extLst>
              <a:ext uri="{FF2B5EF4-FFF2-40B4-BE49-F238E27FC236}">
                <a16:creationId xmlns:a16="http://schemas.microsoft.com/office/drawing/2014/main" id="{C2C82C22-B720-274A-E840-5059E441081B}"/>
              </a:ext>
            </a:extLst>
          </p:cNvPr>
          <p:cNvCxnSpPr>
            <a:cxnSpLocks/>
          </p:cNvCxnSpPr>
          <p:nvPr/>
        </p:nvCxnSpPr>
        <p:spPr bwMode="auto">
          <a:xfrm>
            <a:off x="4115979" y="108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60" name="直線コネクタ 159">
            <a:extLst>
              <a:ext uri="{FF2B5EF4-FFF2-40B4-BE49-F238E27FC236}">
                <a16:creationId xmlns:a16="http://schemas.microsoft.com/office/drawing/2014/main" id="{177F647A-05AA-58CA-CDEB-C4967697EC7E}"/>
              </a:ext>
            </a:extLst>
          </p:cNvPr>
          <p:cNvCxnSpPr>
            <a:cxnSpLocks/>
          </p:cNvCxnSpPr>
          <p:nvPr/>
        </p:nvCxnSpPr>
        <p:spPr bwMode="auto">
          <a:xfrm flipV="1">
            <a:off x="3845974" y="1538980"/>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61" name="正方形/長方形 160">
            <a:extLst>
              <a:ext uri="{FF2B5EF4-FFF2-40B4-BE49-F238E27FC236}">
                <a16:creationId xmlns:a16="http://schemas.microsoft.com/office/drawing/2014/main" id="{89E3CD4A-96BF-5542-E488-186C63394586}"/>
              </a:ext>
            </a:extLst>
          </p:cNvPr>
          <p:cNvSpPr/>
          <p:nvPr/>
        </p:nvSpPr>
        <p:spPr bwMode="auto">
          <a:xfrm rot="5400000">
            <a:off x="3575971" y="1898984"/>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70" name="正方形/長方形 169">
            <a:extLst>
              <a:ext uri="{FF2B5EF4-FFF2-40B4-BE49-F238E27FC236}">
                <a16:creationId xmlns:a16="http://schemas.microsoft.com/office/drawing/2014/main" id="{2157D0C8-1446-373B-2F9B-797DD1246946}"/>
              </a:ext>
            </a:extLst>
          </p:cNvPr>
          <p:cNvSpPr/>
          <p:nvPr/>
        </p:nvSpPr>
        <p:spPr bwMode="auto">
          <a:xfrm rot="5400000" flipH="1">
            <a:off x="3800973" y="2393987"/>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71" name="直線コネクタ 170">
            <a:extLst>
              <a:ext uri="{FF2B5EF4-FFF2-40B4-BE49-F238E27FC236}">
                <a16:creationId xmlns:a16="http://schemas.microsoft.com/office/drawing/2014/main" id="{F722A0DF-C361-1A92-89C3-82EDE2808D4D}"/>
              </a:ext>
            </a:extLst>
          </p:cNvPr>
          <p:cNvCxnSpPr>
            <a:cxnSpLocks/>
          </p:cNvCxnSpPr>
          <p:nvPr/>
        </p:nvCxnSpPr>
        <p:spPr bwMode="auto">
          <a:xfrm flipH="1">
            <a:off x="3935977" y="2258986"/>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72" name="直線コネクタ 171">
            <a:extLst>
              <a:ext uri="{FF2B5EF4-FFF2-40B4-BE49-F238E27FC236}">
                <a16:creationId xmlns:a16="http://schemas.microsoft.com/office/drawing/2014/main" id="{92D10056-BD0C-17B1-1462-40E31AB931B2}"/>
              </a:ext>
            </a:extLst>
          </p:cNvPr>
          <p:cNvCxnSpPr>
            <a:cxnSpLocks/>
          </p:cNvCxnSpPr>
          <p:nvPr/>
        </p:nvCxnSpPr>
        <p:spPr bwMode="auto">
          <a:xfrm flipH="1">
            <a:off x="3755976" y="2258986"/>
            <a:ext cx="5"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76" name="直線コネクタ 175">
            <a:extLst>
              <a:ext uri="{FF2B5EF4-FFF2-40B4-BE49-F238E27FC236}">
                <a16:creationId xmlns:a16="http://schemas.microsoft.com/office/drawing/2014/main" id="{CEA37F1D-6E7E-6B18-9F24-FB0EEAC91FDF}"/>
              </a:ext>
            </a:extLst>
          </p:cNvPr>
          <p:cNvCxnSpPr>
            <a:cxnSpLocks/>
          </p:cNvCxnSpPr>
          <p:nvPr/>
        </p:nvCxnSpPr>
        <p:spPr bwMode="auto">
          <a:xfrm flipV="1">
            <a:off x="3575972" y="1448978"/>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191" name="直線コネクタ 190">
            <a:extLst>
              <a:ext uri="{FF2B5EF4-FFF2-40B4-BE49-F238E27FC236}">
                <a16:creationId xmlns:a16="http://schemas.microsoft.com/office/drawing/2014/main" id="{0BFF226B-7D8E-4CEB-7C47-6C0436B8481F}"/>
              </a:ext>
            </a:extLst>
          </p:cNvPr>
          <p:cNvCxnSpPr>
            <a:cxnSpLocks/>
          </p:cNvCxnSpPr>
          <p:nvPr/>
        </p:nvCxnSpPr>
        <p:spPr bwMode="auto">
          <a:xfrm>
            <a:off x="3575973" y="486901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92" name="直線コネクタ 191">
            <a:extLst>
              <a:ext uri="{FF2B5EF4-FFF2-40B4-BE49-F238E27FC236}">
                <a16:creationId xmlns:a16="http://schemas.microsoft.com/office/drawing/2014/main" id="{490237C9-0AF9-5109-BC71-E88DF4E2AF73}"/>
              </a:ext>
            </a:extLst>
          </p:cNvPr>
          <p:cNvCxnSpPr>
            <a:cxnSpLocks/>
          </p:cNvCxnSpPr>
          <p:nvPr/>
        </p:nvCxnSpPr>
        <p:spPr bwMode="auto">
          <a:xfrm>
            <a:off x="3575973" y="441901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93" name="直線コネクタ 192">
            <a:extLst>
              <a:ext uri="{FF2B5EF4-FFF2-40B4-BE49-F238E27FC236}">
                <a16:creationId xmlns:a16="http://schemas.microsoft.com/office/drawing/2014/main" id="{E5FE8871-1215-3ED1-BD07-1D5CB1D1AB60}"/>
              </a:ext>
            </a:extLst>
          </p:cNvPr>
          <p:cNvCxnSpPr>
            <a:cxnSpLocks/>
          </p:cNvCxnSpPr>
          <p:nvPr/>
        </p:nvCxnSpPr>
        <p:spPr bwMode="auto">
          <a:xfrm>
            <a:off x="4115979" y="441901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94" name="直線コネクタ 193">
            <a:extLst>
              <a:ext uri="{FF2B5EF4-FFF2-40B4-BE49-F238E27FC236}">
                <a16:creationId xmlns:a16="http://schemas.microsoft.com/office/drawing/2014/main" id="{3EFB5AA7-6497-48E0-EFC1-4423FFCBC596}"/>
              </a:ext>
            </a:extLst>
          </p:cNvPr>
          <p:cNvCxnSpPr>
            <a:cxnSpLocks/>
          </p:cNvCxnSpPr>
          <p:nvPr/>
        </p:nvCxnSpPr>
        <p:spPr bwMode="auto">
          <a:xfrm flipV="1">
            <a:off x="3845974" y="486901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95" name="正方形/長方形 194">
            <a:extLst>
              <a:ext uri="{FF2B5EF4-FFF2-40B4-BE49-F238E27FC236}">
                <a16:creationId xmlns:a16="http://schemas.microsoft.com/office/drawing/2014/main" id="{2DE49817-AD59-06BB-5C03-E07BD7505FB5}"/>
              </a:ext>
            </a:extLst>
          </p:cNvPr>
          <p:cNvSpPr/>
          <p:nvPr/>
        </p:nvSpPr>
        <p:spPr bwMode="auto">
          <a:xfrm rot="5400000">
            <a:off x="3575971" y="5229021"/>
            <a:ext cx="540006"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04" name="正方形/長方形 203">
            <a:extLst>
              <a:ext uri="{FF2B5EF4-FFF2-40B4-BE49-F238E27FC236}">
                <a16:creationId xmlns:a16="http://schemas.microsoft.com/office/drawing/2014/main" id="{391242E0-3255-857E-635D-CA77281C0605}"/>
              </a:ext>
            </a:extLst>
          </p:cNvPr>
          <p:cNvSpPr/>
          <p:nvPr/>
        </p:nvSpPr>
        <p:spPr bwMode="auto">
          <a:xfrm rot="5400000" flipH="1">
            <a:off x="3800973" y="5724024"/>
            <a:ext cx="90001"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05" name="直線コネクタ 204">
            <a:extLst>
              <a:ext uri="{FF2B5EF4-FFF2-40B4-BE49-F238E27FC236}">
                <a16:creationId xmlns:a16="http://schemas.microsoft.com/office/drawing/2014/main" id="{4735A8D5-CDC4-990D-FD6B-931D6ED6958F}"/>
              </a:ext>
            </a:extLst>
          </p:cNvPr>
          <p:cNvCxnSpPr>
            <a:cxnSpLocks/>
          </p:cNvCxnSpPr>
          <p:nvPr/>
        </p:nvCxnSpPr>
        <p:spPr bwMode="auto">
          <a:xfrm flipH="1">
            <a:off x="3935977" y="5589023"/>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06" name="直線コネクタ 205">
            <a:extLst>
              <a:ext uri="{FF2B5EF4-FFF2-40B4-BE49-F238E27FC236}">
                <a16:creationId xmlns:a16="http://schemas.microsoft.com/office/drawing/2014/main" id="{1BEA30E5-FB49-E2A0-22A7-09F739825CD5}"/>
              </a:ext>
            </a:extLst>
          </p:cNvPr>
          <p:cNvCxnSpPr>
            <a:cxnSpLocks/>
          </p:cNvCxnSpPr>
          <p:nvPr/>
        </p:nvCxnSpPr>
        <p:spPr bwMode="auto">
          <a:xfrm flipH="1">
            <a:off x="3755976" y="5589023"/>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208" name="テキスト プレースホルダー 2">
            <a:extLst>
              <a:ext uri="{FF2B5EF4-FFF2-40B4-BE49-F238E27FC236}">
                <a16:creationId xmlns:a16="http://schemas.microsoft.com/office/drawing/2014/main" id="{4BFAA9A8-AE9F-787A-9051-7EA8322EE72C}"/>
              </a:ext>
            </a:extLst>
          </p:cNvPr>
          <p:cNvSpPr>
            <a:spLocks noGrp="1"/>
          </p:cNvSpPr>
          <p:nvPr>
            <p:ph type="body" sz="quarter" idx="10"/>
          </p:nvPr>
        </p:nvSpPr>
        <p:spPr>
          <a:xfrm>
            <a:off x="1775952" y="6219031"/>
            <a:ext cx="8640096" cy="540006"/>
          </a:xfrm>
        </p:spPr>
        <p:txBody>
          <a:bodyPr/>
          <a:lstStyle/>
          <a:p>
            <a:r>
              <a:rPr kumimoji="1" lang="ja-JP" altLang="en-US" dirty="0"/>
              <a:t>左上の給水口から，右側２つのタンクに給水される</a:t>
            </a:r>
            <a:endParaRPr kumimoji="1" lang="en-US" dirty="0"/>
          </a:p>
        </p:txBody>
      </p:sp>
      <p:cxnSp>
        <p:nvCxnSpPr>
          <p:cNvPr id="4" name="直線矢印コネクタ 3">
            <a:extLst>
              <a:ext uri="{FF2B5EF4-FFF2-40B4-BE49-F238E27FC236}">
                <a16:creationId xmlns:a16="http://schemas.microsoft.com/office/drawing/2014/main" id="{FAC5F183-3454-3734-9C37-365BB52AB95E}"/>
              </a:ext>
            </a:extLst>
          </p:cNvPr>
          <p:cNvCxnSpPr>
            <a:stCxn id="35" idx="2"/>
          </p:cNvCxnSpPr>
          <p:nvPr/>
        </p:nvCxnSpPr>
        <p:spPr bwMode="auto">
          <a:xfrm flipV="1">
            <a:off x="3125966" y="2348988"/>
            <a:ext cx="2070024" cy="1"/>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706104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863CC-CE9B-3E93-48E3-0B192C02357F}"/>
            </a:ext>
          </a:extLst>
        </p:cNvPr>
        <p:cNvGrpSpPr/>
        <p:nvPr/>
      </p:nvGrpSpPr>
      <p:grpSpPr>
        <a:xfrm>
          <a:off x="0" y="0"/>
          <a:ext cx="0" cy="0"/>
          <a:chOff x="0" y="0"/>
          <a:chExt cx="0" cy="0"/>
        </a:xfrm>
      </p:grpSpPr>
      <p:sp>
        <p:nvSpPr>
          <p:cNvPr id="93" name="正方形/長方形 92">
            <a:extLst>
              <a:ext uri="{FF2B5EF4-FFF2-40B4-BE49-F238E27FC236}">
                <a16:creationId xmlns:a16="http://schemas.microsoft.com/office/drawing/2014/main" id="{4E283F26-7C86-F0E2-6AA8-E406058F96DA}"/>
              </a:ext>
            </a:extLst>
          </p:cNvPr>
          <p:cNvSpPr/>
          <p:nvPr/>
        </p:nvSpPr>
        <p:spPr bwMode="auto">
          <a:xfrm rot="5400000">
            <a:off x="4610983" y="4554013"/>
            <a:ext cx="180003" cy="1530017"/>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71" name="正方形/長方形 70">
            <a:extLst>
              <a:ext uri="{FF2B5EF4-FFF2-40B4-BE49-F238E27FC236}">
                <a16:creationId xmlns:a16="http://schemas.microsoft.com/office/drawing/2014/main" id="{7ECBDB55-38A9-DB06-F0E1-73D15E2BE7F1}"/>
              </a:ext>
            </a:extLst>
          </p:cNvPr>
          <p:cNvSpPr/>
          <p:nvPr/>
        </p:nvSpPr>
        <p:spPr bwMode="auto">
          <a:xfrm rot="5400000">
            <a:off x="3980976" y="3744003"/>
            <a:ext cx="2790031" cy="180002"/>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2" name="正方形/長方形 81">
            <a:extLst>
              <a:ext uri="{FF2B5EF4-FFF2-40B4-BE49-F238E27FC236}">
                <a16:creationId xmlns:a16="http://schemas.microsoft.com/office/drawing/2014/main" id="{6F17E911-A386-4A66-11B9-159AD9734331}"/>
              </a:ext>
            </a:extLst>
          </p:cNvPr>
          <p:cNvSpPr/>
          <p:nvPr/>
        </p:nvSpPr>
        <p:spPr bwMode="auto">
          <a:xfrm rot="5400000">
            <a:off x="4610982" y="1583981"/>
            <a:ext cx="180003" cy="1530017"/>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5" name="正方形/長方形 84">
            <a:extLst>
              <a:ext uri="{FF2B5EF4-FFF2-40B4-BE49-F238E27FC236}">
                <a16:creationId xmlns:a16="http://schemas.microsoft.com/office/drawing/2014/main" id="{4A7BF82E-29E5-293E-98E5-6A090E8E1C95}"/>
              </a:ext>
            </a:extLst>
          </p:cNvPr>
          <p:cNvSpPr/>
          <p:nvPr/>
        </p:nvSpPr>
        <p:spPr bwMode="auto">
          <a:xfrm rot="5400000">
            <a:off x="6050999" y="2933995"/>
            <a:ext cx="180003" cy="1530017"/>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6" name="正方形/長方形 85">
            <a:extLst>
              <a:ext uri="{FF2B5EF4-FFF2-40B4-BE49-F238E27FC236}">
                <a16:creationId xmlns:a16="http://schemas.microsoft.com/office/drawing/2014/main" id="{AF1010E9-8AD7-0C98-28F2-10967507CA38}"/>
              </a:ext>
            </a:extLst>
          </p:cNvPr>
          <p:cNvSpPr/>
          <p:nvPr/>
        </p:nvSpPr>
        <p:spPr bwMode="auto">
          <a:xfrm rot="5400000">
            <a:off x="7491014" y="503968"/>
            <a:ext cx="180003" cy="1710019"/>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7" name="正方形/長方形 86">
            <a:extLst>
              <a:ext uri="{FF2B5EF4-FFF2-40B4-BE49-F238E27FC236}">
                <a16:creationId xmlns:a16="http://schemas.microsoft.com/office/drawing/2014/main" id="{78ECDAEA-D526-997D-1466-24EB390216A7}"/>
              </a:ext>
            </a:extLst>
          </p:cNvPr>
          <p:cNvSpPr/>
          <p:nvPr/>
        </p:nvSpPr>
        <p:spPr bwMode="auto">
          <a:xfrm rot="5400000">
            <a:off x="8481026" y="1043974"/>
            <a:ext cx="450005" cy="540006"/>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8" name="正方形/長方形 87">
            <a:extLst>
              <a:ext uri="{FF2B5EF4-FFF2-40B4-BE49-F238E27FC236}">
                <a16:creationId xmlns:a16="http://schemas.microsoft.com/office/drawing/2014/main" id="{0DB13B0E-8E85-B01F-C016-B3B5F54C3204}"/>
              </a:ext>
            </a:extLst>
          </p:cNvPr>
          <p:cNvSpPr/>
          <p:nvPr/>
        </p:nvSpPr>
        <p:spPr bwMode="auto">
          <a:xfrm rot="5400000">
            <a:off x="5735996" y="2438989"/>
            <a:ext cx="2160024" cy="180002"/>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0" name="正方形/長方形 89">
            <a:extLst>
              <a:ext uri="{FF2B5EF4-FFF2-40B4-BE49-F238E27FC236}">
                <a16:creationId xmlns:a16="http://schemas.microsoft.com/office/drawing/2014/main" id="{773D4F5F-1350-1905-4A54-FE34F77785D0}"/>
              </a:ext>
            </a:extLst>
          </p:cNvPr>
          <p:cNvSpPr/>
          <p:nvPr/>
        </p:nvSpPr>
        <p:spPr bwMode="auto">
          <a:xfrm rot="5400000">
            <a:off x="6321002" y="4194008"/>
            <a:ext cx="990011" cy="180002"/>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1" name="正方形/長方形 90">
            <a:extLst>
              <a:ext uri="{FF2B5EF4-FFF2-40B4-BE49-F238E27FC236}">
                <a16:creationId xmlns:a16="http://schemas.microsoft.com/office/drawing/2014/main" id="{E0BA2384-2DB2-06CC-74C8-F8D8183D44E2}"/>
              </a:ext>
            </a:extLst>
          </p:cNvPr>
          <p:cNvSpPr/>
          <p:nvPr/>
        </p:nvSpPr>
        <p:spPr bwMode="auto">
          <a:xfrm rot="5400000">
            <a:off x="7581015" y="3924007"/>
            <a:ext cx="180003" cy="1530017"/>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2" name="正方形/長方形 91">
            <a:extLst>
              <a:ext uri="{FF2B5EF4-FFF2-40B4-BE49-F238E27FC236}">
                <a16:creationId xmlns:a16="http://schemas.microsoft.com/office/drawing/2014/main" id="{BAE21499-EA5D-0BF6-9DA4-9E2A7C6D58F5}"/>
              </a:ext>
            </a:extLst>
          </p:cNvPr>
          <p:cNvSpPr/>
          <p:nvPr/>
        </p:nvSpPr>
        <p:spPr bwMode="auto">
          <a:xfrm rot="5400000">
            <a:off x="8526027" y="4419011"/>
            <a:ext cx="360004" cy="540006"/>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22B83246-3657-55EF-B4AC-881D8A816531}"/>
              </a:ext>
            </a:extLst>
          </p:cNvPr>
          <p:cNvSpPr>
            <a:spLocks noGrp="1"/>
          </p:cNvSpPr>
          <p:nvPr>
            <p:ph type="title"/>
          </p:nvPr>
        </p:nvSpPr>
        <p:spPr>
          <a:xfrm>
            <a:off x="875942" y="0"/>
            <a:ext cx="11316058" cy="908972"/>
          </a:xfrm>
        </p:spPr>
        <p:txBody>
          <a:bodyPr/>
          <a:lstStyle/>
          <a:p>
            <a:r>
              <a:rPr kumimoji="1" lang="ja-JP" altLang="en-US" sz="2400" dirty="0"/>
              <a:t>入力が </a:t>
            </a:r>
            <a:r>
              <a:rPr lang="en-US" altLang="ja-JP" sz="2400" dirty="0"/>
              <a:t>0 </a:t>
            </a:r>
            <a:r>
              <a:rPr lang="ja-JP" altLang="en-US" sz="2400" dirty="0"/>
              <a:t>→ </a:t>
            </a:r>
            <a:r>
              <a:rPr lang="en-US" altLang="ja-JP" sz="2400" dirty="0"/>
              <a:t>1 </a:t>
            </a:r>
            <a:r>
              <a:rPr lang="ja-JP" altLang="en-US" sz="2400" dirty="0"/>
              <a:t>に遷移すると，</a:t>
            </a:r>
            <a:br>
              <a:rPr lang="en-US" altLang="ja-JP" sz="2400" dirty="0"/>
            </a:br>
            <a:r>
              <a:rPr lang="ja-JP" altLang="en-US" sz="2400" dirty="0"/>
              <a:t>中央と右側タンクの水（斜線部分）が排水される</a:t>
            </a:r>
            <a:endParaRPr kumimoji="1" lang="en-US" sz="2400" dirty="0"/>
          </a:p>
        </p:txBody>
      </p:sp>
      <p:cxnSp>
        <p:nvCxnSpPr>
          <p:cNvPr id="75" name="直線コネクタ 74">
            <a:extLst>
              <a:ext uri="{FF2B5EF4-FFF2-40B4-BE49-F238E27FC236}">
                <a16:creationId xmlns:a16="http://schemas.microsoft.com/office/drawing/2014/main" id="{538F24C7-1ED8-2C14-8C49-A166C61047CA}"/>
              </a:ext>
            </a:extLst>
          </p:cNvPr>
          <p:cNvCxnSpPr>
            <a:cxnSpLocks/>
          </p:cNvCxnSpPr>
          <p:nvPr/>
        </p:nvCxnSpPr>
        <p:spPr bwMode="auto">
          <a:xfrm>
            <a:off x="335400" y="3609001"/>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CDB96911-4FBD-C501-A608-66F8EC3C174E}"/>
              </a:ext>
            </a:extLst>
          </p:cNvPr>
          <p:cNvCxnSpPr>
            <a:cxnSpLocks/>
          </p:cNvCxnSpPr>
          <p:nvPr/>
        </p:nvCxnSpPr>
        <p:spPr bwMode="auto">
          <a:xfrm>
            <a:off x="335400" y="3789003"/>
            <a:ext cx="1530017" cy="0"/>
          </a:xfrm>
          <a:prstGeom prst="line">
            <a:avLst/>
          </a:prstGeom>
          <a:noFill/>
          <a:ln w="19050" cap="flat" cmpd="sng" algn="ctr">
            <a:solidFill>
              <a:schemeClr val="tx1"/>
            </a:solidFill>
            <a:prstDash val="solid"/>
            <a:round/>
            <a:headEnd type="none" w="med" len="med"/>
            <a:tailEnd type="none" w="med" len="med"/>
          </a:ln>
          <a:effectLst/>
        </p:spPr>
      </p:cxnSp>
      <p:sp>
        <p:nvSpPr>
          <p:cNvPr id="62" name="正方形/長方形 61">
            <a:extLst>
              <a:ext uri="{FF2B5EF4-FFF2-40B4-BE49-F238E27FC236}">
                <a16:creationId xmlns:a16="http://schemas.microsoft.com/office/drawing/2014/main" id="{C7523370-B6BC-EA4F-21D1-075B7893ECD0}"/>
              </a:ext>
            </a:extLst>
          </p:cNvPr>
          <p:cNvSpPr/>
          <p:nvPr/>
        </p:nvSpPr>
        <p:spPr bwMode="auto">
          <a:xfrm>
            <a:off x="1865417" y="1628979"/>
            <a:ext cx="180002" cy="315003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3" name="正方形/長方形 62">
            <a:extLst>
              <a:ext uri="{FF2B5EF4-FFF2-40B4-BE49-F238E27FC236}">
                <a16:creationId xmlns:a16="http://schemas.microsoft.com/office/drawing/2014/main" id="{9FCBBFD3-4CC0-6F33-EF14-B9659B6EEED0}"/>
              </a:ext>
            </a:extLst>
          </p:cNvPr>
          <p:cNvSpPr/>
          <p:nvPr/>
        </p:nvSpPr>
        <p:spPr bwMode="auto">
          <a:xfrm>
            <a:off x="2045418" y="1628980"/>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4" name="正方形/長方形 63">
            <a:extLst>
              <a:ext uri="{FF2B5EF4-FFF2-40B4-BE49-F238E27FC236}">
                <a16:creationId xmlns:a16="http://schemas.microsoft.com/office/drawing/2014/main" id="{7BD501EA-A578-02B1-F71E-19D3516BE8BC}"/>
              </a:ext>
            </a:extLst>
          </p:cNvPr>
          <p:cNvSpPr/>
          <p:nvPr/>
        </p:nvSpPr>
        <p:spPr bwMode="auto">
          <a:xfrm>
            <a:off x="3575437" y="450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5" name="直線コネクタ 64">
            <a:extLst>
              <a:ext uri="{FF2B5EF4-FFF2-40B4-BE49-F238E27FC236}">
                <a16:creationId xmlns:a16="http://schemas.microsoft.com/office/drawing/2014/main" id="{DE8EC008-136F-C374-4D54-A293AA54353C}"/>
              </a:ext>
            </a:extLst>
          </p:cNvPr>
          <p:cNvCxnSpPr>
            <a:cxnSpLocks/>
          </p:cNvCxnSpPr>
          <p:nvPr/>
        </p:nvCxnSpPr>
        <p:spPr bwMode="auto">
          <a:xfrm>
            <a:off x="3575437" y="486901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66" name="直線コネクタ 65">
            <a:extLst>
              <a:ext uri="{FF2B5EF4-FFF2-40B4-BE49-F238E27FC236}">
                <a16:creationId xmlns:a16="http://schemas.microsoft.com/office/drawing/2014/main" id="{15CEEEA3-66B2-C83F-55CD-74E3C7D82996}"/>
              </a:ext>
            </a:extLst>
          </p:cNvPr>
          <p:cNvCxnSpPr>
            <a:cxnSpLocks/>
          </p:cNvCxnSpPr>
          <p:nvPr/>
        </p:nvCxnSpPr>
        <p:spPr bwMode="auto">
          <a:xfrm>
            <a:off x="3575437" y="4419011"/>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1DC8B404-C2BD-2809-575F-89D5E142D200}"/>
              </a:ext>
            </a:extLst>
          </p:cNvPr>
          <p:cNvCxnSpPr>
            <a:cxnSpLocks/>
          </p:cNvCxnSpPr>
          <p:nvPr/>
        </p:nvCxnSpPr>
        <p:spPr bwMode="auto">
          <a:xfrm>
            <a:off x="4115443" y="441901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69" name="直線コネクタ 68">
            <a:extLst>
              <a:ext uri="{FF2B5EF4-FFF2-40B4-BE49-F238E27FC236}">
                <a16:creationId xmlns:a16="http://schemas.microsoft.com/office/drawing/2014/main" id="{375BE37F-B1F8-A02F-A90A-D2011B02422A}"/>
              </a:ext>
            </a:extLst>
          </p:cNvPr>
          <p:cNvCxnSpPr>
            <a:cxnSpLocks/>
          </p:cNvCxnSpPr>
          <p:nvPr/>
        </p:nvCxnSpPr>
        <p:spPr bwMode="auto">
          <a:xfrm flipV="1">
            <a:off x="3845438" y="486901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70" name="正方形/長方形 69">
            <a:extLst>
              <a:ext uri="{FF2B5EF4-FFF2-40B4-BE49-F238E27FC236}">
                <a16:creationId xmlns:a16="http://schemas.microsoft.com/office/drawing/2014/main" id="{C4D078DC-59C2-8C22-637E-213F74948B46}"/>
              </a:ext>
            </a:extLst>
          </p:cNvPr>
          <p:cNvSpPr/>
          <p:nvPr/>
        </p:nvSpPr>
        <p:spPr bwMode="auto">
          <a:xfrm rot="5400000">
            <a:off x="3665436" y="4689014"/>
            <a:ext cx="180002" cy="1260015"/>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74" name="直線コネクタ 73">
            <a:extLst>
              <a:ext uri="{FF2B5EF4-FFF2-40B4-BE49-F238E27FC236}">
                <a16:creationId xmlns:a16="http://schemas.microsoft.com/office/drawing/2014/main" id="{00C0E963-C400-BF19-CB01-3301803F9CCC}"/>
              </a:ext>
            </a:extLst>
          </p:cNvPr>
          <p:cNvCxnSpPr>
            <a:cxnSpLocks/>
          </p:cNvCxnSpPr>
          <p:nvPr/>
        </p:nvCxnSpPr>
        <p:spPr bwMode="auto">
          <a:xfrm>
            <a:off x="3935441" y="5229022"/>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77" name="直線コネクタ 76">
            <a:extLst>
              <a:ext uri="{FF2B5EF4-FFF2-40B4-BE49-F238E27FC236}">
                <a16:creationId xmlns:a16="http://schemas.microsoft.com/office/drawing/2014/main" id="{B2527C6F-9281-BF0D-9D99-3F912510DA10}"/>
              </a:ext>
            </a:extLst>
          </p:cNvPr>
          <p:cNvCxnSpPr>
            <a:cxnSpLocks/>
          </p:cNvCxnSpPr>
          <p:nvPr/>
        </p:nvCxnSpPr>
        <p:spPr bwMode="auto">
          <a:xfrm>
            <a:off x="3125430" y="5409022"/>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8F49C2E3-91CD-39A2-6EE2-5349D3D3CE07}"/>
              </a:ext>
            </a:extLst>
          </p:cNvPr>
          <p:cNvCxnSpPr>
            <a:cxnSpLocks/>
          </p:cNvCxnSpPr>
          <p:nvPr/>
        </p:nvCxnSpPr>
        <p:spPr bwMode="auto">
          <a:xfrm>
            <a:off x="3125430" y="5229020"/>
            <a:ext cx="630007" cy="0"/>
          </a:xfrm>
          <a:prstGeom prst="line">
            <a:avLst/>
          </a:prstGeom>
          <a:noFill/>
          <a:ln w="19050" cap="flat" cmpd="sng" algn="ctr">
            <a:solidFill>
              <a:schemeClr val="tx1"/>
            </a:solidFill>
            <a:prstDash val="solid"/>
            <a:round/>
            <a:headEnd type="none" w="med" len="med"/>
            <a:tailEnd type="none" w="med" len="med"/>
          </a:ln>
          <a:effectLst/>
        </p:spPr>
      </p:cxnSp>
      <p:sp>
        <p:nvSpPr>
          <p:cNvPr id="80" name="正方形/長方形 79">
            <a:extLst>
              <a:ext uri="{FF2B5EF4-FFF2-40B4-BE49-F238E27FC236}">
                <a16:creationId xmlns:a16="http://schemas.microsoft.com/office/drawing/2014/main" id="{FC03196C-EB4A-4860-3A59-B670ADB454FA}"/>
              </a:ext>
            </a:extLst>
          </p:cNvPr>
          <p:cNvSpPr/>
          <p:nvPr/>
        </p:nvSpPr>
        <p:spPr bwMode="auto">
          <a:xfrm rot="5400000">
            <a:off x="3755437" y="5049019"/>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7" name="正方形/長方形 96">
            <a:extLst>
              <a:ext uri="{FF2B5EF4-FFF2-40B4-BE49-F238E27FC236}">
                <a16:creationId xmlns:a16="http://schemas.microsoft.com/office/drawing/2014/main" id="{651DE5B9-3F74-3700-0369-276D88997748}"/>
              </a:ext>
            </a:extLst>
          </p:cNvPr>
          <p:cNvSpPr/>
          <p:nvPr/>
        </p:nvSpPr>
        <p:spPr bwMode="auto">
          <a:xfrm rot="5400000" flipH="1">
            <a:off x="3620433" y="5544022"/>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8" name="直線コネクタ 97">
            <a:extLst>
              <a:ext uri="{FF2B5EF4-FFF2-40B4-BE49-F238E27FC236}">
                <a16:creationId xmlns:a16="http://schemas.microsoft.com/office/drawing/2014/main" id="{6A9ED04C-056C-38CC-2446-E425867AE663}"/>
              </a:ext>
            </a:extLst>
          </p:cNvPr>
          <p:cNvCxnSpPr>
            <a:cxnSpLocks/>
          </p:cNvCxnSpPr>
          <p:nvPr/>
        </p:nvCxnSpPr>
        <p:spPr bwMode="auto">
          <a:xfrm flipH="1">
            <a:off x="3935437" y="5229019"/>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99" name="直線コネクタ 98">
            <a:extLst>
              <a:ext uri="{FF2B5EF4-FFF2-40B4-BE49-F238E27FC236}">
                <a16:creationId xmlns:a16="http://schemas.microsoft.com/office/drawing/2014/main" id="{6BCF06EA-BE06-0A91-B32B-62BD9116BE7C}"/>
              </a:ext>
            </a:extLst>
          </p:cNvPr>
          <p:cNvCxnSpPr>
            <a:cxnSpLocks/>
          </p:cNvCxnSpPr>
          <p:nvPr/>
        </p:nvCxnSpPr>
        <p:spPr bwMode="auto">
          <a:xfrm flipH="1">
            <a:off x="3755436" y="5229019"/>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00" name="Rectangle 93">
            <a:extLst>
              <a:ext uri="{FF2B5EF4-FFF2-40B4-BE49-F238E27FC236}">
                <a16:creationId xmlns:a16="http://schemas.microsoft.com/office/drawing/2014/main" id="{F8BF790B-A217-9F53-396E-4004115C241B}"/>
              </a:ext>
            </a:extLst>
          </p:cNvPr>
          <p:cNvSpPr>
            <a:spLocks noChangeArrowheads="1"/>
          </p:cNvSpPr>
          <p:nvPr/>
        </p:nvSpPr>
        <p:spPr bwMode="auto">
          <a:xfrm>
            <a:off x="3665435" y="4059007"/>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02" name="正方形/長方形 101">
            <a:extLst>
              <a:ext uri="{FF2B5EF4-FFF2-40B4-BE49-F238E27FC236}">
                <a16:creationId xmlns:a16="http://schemas.microsoft.com/office/drawing/2014/main" id="{6139EDB9-A20B-C92E-1048-7017EC79C4EF}"/>
              </a:ext>
            </a:extLst>
          </p:cNvPr>
          <p:cNvSpPr/>
          <p:nvPr/>
        </p:nvSpPr>
        <p:spPr bwMode="auto">
          <a:xfrm>
            <a:off x="3575437" y="1538979"/>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3" name="直線コネクタ 102">
            <a:extLst>
              <a:ext uri="{FF2B5EF4-FFF2-40B4-BE49-F238E27FC236}">
                <a16:creationId xmlns:a16="http://schemas.microsoft.com/office/drawing/2014/main" id="{6FBA540C-8869-E2B4-F501-DE6138A96BDE}"/>
              </a:ext>
            </a:extLst>
          </p:cNvPr>
          <p:cNvCxnSpPr>
            <a:cxnSpLocks/>
          </p:cNvCxnSpPr>
          <p:nvPr/>
        </p:nvCxnSpPr>
        <p:spPr bwMode="auto">
          <a:xfrm>
            <a:off x="3575437" y="1898984"/>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04" name="直線コネクタ 103">
            <a:extLst>
              <a:ext uri="{FF2B5EF4-FFF2-40B4-BE49-F238E27FC236}">
                <a16:creationId xmlns:a16="http://schemas.microsoft.com/office/drawing/2014/main" id="{056AC4F5-F630-BDBB-0C73-4091EEDECAD6}"/>
              </a:ext>
            </a:extLst>
          </p:cNvPr>
          <p:cNvCxnSpPr>
            <a:cxnSpLocks/>
          </p:cNvCxnSpPr>
          <p:nvPr/>
        </p:nvCxnSpPr>
        <p:spPr bwMode="auto">
          <a:xfrm>
            <a:off x="3575437" y="1448978"/>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106" name="直線コネクタ 105">
            <a:extLst>
              <a:ext uri="{FF2B5EF4-FFF2-40B4-BE49-F238E27FC236}">
                <a16:creationId xmlns:a16="http://schemas.microsoft.com/office/drawing/2014/main" id="{06F1DBC7-97DE-49FE-7C58-3074B4542EDF}"/>
              </a:ext>
            </a:extLst>
          </p:cNvPr>
          <p:cNvCxnSpPr>
            <a:cxnSpLocks/>
          </p:cNvCxnSpPr>
          <p:nvPr/>
        </p:nvCxnSpPr>
        <p:spPr bwMode="auto">
          <a:xfrm>
            <a:off x="4115443" y="1448978"/>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07" name="直線コネクタ 106">
            <a:extLst>
              <a:ext uri="{FF2B5EF4-FFF2-40B4-BE49-F238E27FC236}">
                <a16:creationId xmlns:a16="http://schemas.microsoft.com/office/drawing/2014/main" id="{297EEFE5-7C96-C418-3C82-83CEF62177F8}"/>
              </a:ext>
            </a:extLst>
          </p:cNvPr>
          <p:cNvCxnSpPr>
            <a:cxnSpLocks/>
          </p:cNvCxnSpPr>
          <p:nvPr/>
        </p:nvCxnSpPr>
        <p:spPr bwMode="auto">
          <a:xfrm flipV="1">
            <a:off x="3845438" y="1898984"/>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08" name="正方形/長方形 107">
            <a:extLst>
              <a:ext uri="{FF2B5EF4-FFF2-40B4-BE49-F238E27FC236}">
                <a16:creationId xmlns:a16="http://schemas.microsoft.com/office/drawing/2014/main" id="{B4360AC0-15E8-7260-FEE9-1C179C798BD8}"/>
              </a:ext>
            </a:extLst>
          </p:cNvPr>
          <p:cNvSpPr/>
          <p:nvPr/>
        </p:nvSpPr>
        <p:spPr bwMode="auto">
          <a:xfrm rot="5400000">
            <a:off x="3350432" y="2033985"/>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9" name="直線コネクタ 108">
            <a:extLst>
              <a:ext uri="{FF2B5EF4-FFF2-40B4-BE49-F238E27FC236}">
                <a16:creationId xmlns:a16="http://schemas.microsoft.com/office/drawing/2014/main" id="{9EAA6BD0-65F5-A3B8-9901-F00B33623889}"/>
              </a:ext>
            </a:extLst>
          </p:cNvPr>
          <p:cNvCxnSpPr>
            <a:cxnSpLocks/>
          </p:cNvCxnSpPr>
          <p:nvPr/>
        </p:nvCxnSpPr>
        <p:spPr bwMode="auto">
          <a:xfrm>
            <a:off x="3935441" y="2258989"/>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0" name="直線コネクタ 109">
            <a:extLst>
              <a:ext uri="{FF2B5EF4-FFF2-40B4-BE49-F238E27FC236}">
                <a16:creationId xmlns:a16="http://schemas.microsoft.com/office/drawing/2014/main" id="{C9864A01-618C-9D9F-0848-B85DFE9414BA}"/>
              </a:ext>
            </a:extLst>
          </p:cNvPr>
          <p:cNvCxnSpPr>
            <a:cxnSpLocks/>
          </p:cNvCxnSpPr>
          <p:nvPr/>
        </p:nvCxnSpPr>
        <p:spPr bwMode="auto">
          <a:xfrm>
            <a:off x="3125430" y="2438989"/>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111" name="直線コネクタ 110">
            <a:extLst>
              <a:ext uri="{FF2B5EF4-FFF2-40B4-BE49-F238E27FC236}">
                <a16:creationId xmlns:a16="http://schemas.microsoft.com/office/drawing/2014/main" id="{B1289701-178D-24B6-0EA3-103B2EB51FAF}"/>
              </a:ext>
            </a:extLst>
          </p:cNvPr>
          <p:cNvCxnSpPr>
            <a:cxnSpLocks/>
          </p:cNvCxnSpPr>
          <p:nvPr/>
        </p:nvCxnSpPr>
        <p:spPr bwMode="auto">
          <a:xfrm>
            <a:off x="3125430" y="2258987"/>
            <a:ext cx="630007" cy="0"/>
          </a:xfrm>
          <a:prstGeom prst="line">
            <a:avLst/>
          </a:prstGeom>
          <a:noFill/>
          <a:ln w="19050" cap="flat" cmpd="sng" algn="ctr">
            <a:solidFill>
              <a:schemeClr val="tx1"/>
            </a:solidFill>
            <a:prstDash val="solid"/>
            <a:round/>
            <a:headEnd type="none" w="med" len="med"/>
            <a:tailEnd type="none" w="med" len="med"/>
          </a:ln>
          <a:effectLst/>
        </p:spPr>
      </p:cxnSp>
      <p:sp>
        <p:nvSpPr>
          <p:cNvPr id="112" name="正方形/長方形 111">
            <a:extLst>
              <a:ext uri="{FF2B5EF4-FFF2-40B4-BE49-F238E27FC236}">
                <a16:creationId xmlns:a16="http://schemas.microsoft.com/office/drawing/2014/main" id="{A9B4DD12-1B2D-9175-136A-71177562751B}"/>
              </a:ext>
            </a:extLst>
          </p:cNvPr>
          <p:cNvSpPr/>
          <p:nvPr/>
        </p:nvSpPr>
        <p:spPr bwMode="auto">
          <a:xfrm rot="5400000">
            <a:off x="3575435" y="2258988"/>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22" name="正方形/長方形 121">
            <a:extLst>
              <a:ext uri="{FF2B5EF4-FFF2-40B4-BE49-F238E27FC236}">
                <a16:creationId xmlns:a16="http://schemas.microsoft.com/office/drawing/2014/main" id="{F3967332-3FDF-A741-0716-3145E63D1C05}"/>
              </a:ext>
            </a:extLst>
          </p:cNvPr>
          <p:cNvSpPr/>
          <p:nvPr/>
        </p:nvSpPr>
        <p:spPr bwMode="auto">
          <a:xfrm rot="5400000" flipH="1">
            <a:off x="3800435" y="2753991"/>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23" name="直線コネクタ 122">
            <a:extLst>
              <a:ext uri="{FF2B5EF4-FFF2-40B4-BE49-F238E27FC236}">
                <a16:creationId xmlns:a16="http://schemas.microsoft.com/office/drawing/2014/main" id="{11A9BA0C-99AA-5449-39CF-D982BB676438}"/>
              </a:ext>
            </a:extLst>
          </p:cNvPr>
          <p:cNvCxnSpPr>
            <a:cxnSpLocks/>
          </p:cNvCxnSpPr>
          <p:nvPr/>
        </p:nvCxnSpPr>
        <p:spPr bwMode="auto">
          <a:xfrm flipH="1">
            <a:off x="3935439" y="2618990"/>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24" name="直線コネクタ 123">
            <a:extLst>
              <a:ext uri="{FF2B5EF4-FFF2-40B4-BE49-F238E27FC236}">
                <a16:creationId xmlns:a16="http://schemas.microsoft.com/office/drawing/2014/main" id="{8BB09BA4-45C1-94C7-1EA8-5DB64EE6D78E}"/>
              </a:ext>
            </a:extLst>
          </p:cNvPr>
          <p:cNvCxnSpPr>
            <a:cxnSpLocks/>
          </p:cNvCxnSpPr>
          <p:nvPr/>
        </p:nvCxnSpPr>
        <p:spPr bwMode="auto">
          <a:xfrm flipH="1">
            <a:off x="3755438" y="2618990"/>
            <a:ext cx="5"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28" name="直線コネクタ 127">
            <a:extLst>
              <a:ext uri="{FF2B5EF4-FFF2-40B4-BE49-F238E27FC236}">
                <a16:creationId xmlns:a16="http://schemas.microsoft.com/office/drawing/2014/main" id="{9CE5EB65-E59C-EE65-B2B1-650EFBD778CB}"/>
              </a:ext>
            </a:extLst>
          </p:cNvPr>
          <p:cNvCxnSpPr>
            <a:cxnSpLocks/>
          </p:cNvCxnSpPr>
          <p:nvPr/>
        </p:nvCxnSpPr>
        <p:spPr bwMode="auto">
          <a:xfrm>
            <a:off x="1865416" y="1628980"/>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34" name="直線コネクタ 133">
            <a:extLst>
              <a:ext uri="{FF2B5EF4-FFF2-40B4-BE49-F238E27FC236}">
                <a16:creationId xmlns:a16="http://schemas.microsoft.com/office/drawing/2014/main" id="{6B5E5816-2762-D7E5-E91F-E870FA408E6C}"/>
              </a:ext>
            </a:extLst>
          </p:cNvPr>
          <p:cNvCxnSpPr>
            <a:cxnSpLocks/>
          </p:cNvCxnSpPr>
          <p:nvPr/>
        </p:nvCxnSpPr>
        <p:spPr bwMode="auto">
          <a:xfrm>
            <a:off x="2045418" y="180898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35" name="直線コネクタ 134">
            <a:extLst>
              <a:ext uri="{FF2B5EF4-FFF2-40B4-BE49-F238E27FC236}">
                <a16:creationId xmlns:a16="http://schemas.microsoft.com/office/drawing/2014/main" id="{1740B023-8028-8517-1FED-D025AD99AF31}"/>
              </a:ext>
            </a:extLst>
          </p:cNvPr>
          <p:cNvCxnSpPr>
            <a:cxnSpLocks/>
          </p:cNvCxnSpPr>
          <p:nvPr/>
        </p:nvCxnSpPr>
        <p:spPr bwMode="auto">
          <a:xfrm flipV="1">
            <a:off x="3575435" y="1808982"/>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136" name="直線コネクタ 135">
            <a:extLst>
              <a:ext uri="{FF2B5EF4-FFF2-40B4-BE49-F238E27FC236}">
                <a16:creationId xmlns:a16="http://schemas.microsoft.com/office/drawing/2014/main" id="{FC65C831-E944-0B2D-C0DF-8E55806E792F}"/>
              </a:ext>
            </a:extLst>
          </p:cNvPr>
          <p:cNvCxnSpPr>
            <a:cxnSpLocks/>
          </p:cNvCxnSpPr>
          <p:nvPr/>
        </p:nvCxnSpPr>
        <p:spPr bwMode="auto">
          <a:xfrm>
            <a:off x="3575437" y="4779015"/>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137" name="正方形/長方形 136">
            <a:extLst>
              <a:ext uri="{FF2B5EF4-FFF2-40B4-BE49-F238E27FC236}">
                <a16:creationId xmlns:a16="http://schemas.microsoft.com/office/drawing/2014/main" id="{FB57F4DF-DE9B-7BC5-5959-E838DC8E3618}"/>
              </a:ext>
            </a:extLst>
          </p:cNvPr>
          <p:cNvSpPr/>
          <p:nvPr/>
        </p:nvSpPr>
        <p:spPr bwMode="auto">
          <a:xfrm>
            <a:off x="2045418" y="4599013"/>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8" name="直線コネクタ 137">
            <a:extLst>
              <a:ext uri="{FF2B5EF4-FFF2-40B4-BE49-F238E27FC236}">
                <a16:creationId xmlns:a16="http://schemas.microsoft.com/office/drawing/2014/main" id="{4AC726A8-5F55-4363-0AF7-617C064FE0F0}"/>
              </a:ext>
            </a:extLst>
          </p:cNvPr>
          <p:cNvCxnSpPr>
            <a:cxnSpLocks/>
          </p:cNvCxnSpPr>
          <p:nvPr/>
        </p:nvCxnSpPr>
        <p:spPr bwMode="auto">
          <a:xfrm>
            <a:off x="2045418" y="459901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EB82784B-D142-70D0-D93F-8FB77309A892}"/>
              </a:ext>
            </a:extLst>
          </p:cNvPr>
          <p:cNvCxnSpPr>
            <a:cxnSpLocks/>
          </p:cNvCxnSpPr>
          <p:nvPr/>
        </p:nvCxnSpPr>
        <p:spPr bwMode="auto">
          <a:xfrm>
            <a:off x="1865416" y="4779015"/>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34FFEC2B-2DEF-B6F9-51ED-84467780D0BF}"/>
              </a:ext>
            </a:extLst>
          </p:cNvPr>
          <p:cNvCxnSpPr>
            <a:cxnSpLocks/>
          </p:cNvCxnSpPr>
          <p:nvPr/>
        </p:nvCxnSpPr>
        <p:spPr bwMode="auto">
          <a:xfrm>
            <a:off x="5465456" y="3609002"/>
            <a:ext cx="1260551" cy="0"/>
          </a:xfrm>
          <a:prstGeom prst="line">
            <a:avLst/>
          </a:prstGeom>
          <a:noFill/>
          <a:ln w="19050" cap="flat" cmpd="sng" algn="ctr">
            <a:solidFill>
              <a:schemeClr val="tx1"/>
            </a:solidFill>
            <a:prstDash val="solid"/>
            <a:round/>
            <a:headEnd type="none" w="med" len="med"/>
            <a:tailEnd type="none" w="med" len="med"/>
          </a:ln>
          <a:effectLst/>
        </p:spPr>
      </p:cxnSp>
      <p:cxnSp>
        <p:nvCxnSpPr>
          <p:cNvPr id="141" name="直線コネクタ 140">
            <a:extLst>
              <a:ext uri="{FF2B5EF4-FFF2-40B4-BE49-F238E27FC236}">
                <a16:creationId xmlns:a16="http://schemas.microsoft.com/office/drawing/2014/main" id="{4AFEF921-8515-66E2-A802-5FFDAC2EBD0E}"/>
              </a:ext>
            </a:extLst>
          </p:cNvPr>
          <p:cNvCxnSpPr>
            <a:cxnSpLocks/>
          </p:cNvCxnSpPr>
          <p:nvPr/>
        </p:nvCxnSpPr>
        <p:spPr bwMode="auto">
          <a:xfrm>
            <a:off x="5465456" y="3789004"/>
            <a:ext cx="1260551" cy="0"/>
          </a:xfrm>
          <a:prstGeom prst="line">
            <a:avLst/>
          </a:prstGeom>
          <a:noFill/>
          <a:ln w="19050" cap="flat" cmpd="sng" algn="ctr">
            <a:solidFill>
              <a:schemeClr val="tx1"/>
            </a:solidFill>
            <a:prstDash val="solid"/>
            <a:round/>
            <a:headEnd type="none" w="med" len="med"/>
            <a:tailEnd type="none" w="med" len="med"/>
          </a:ln>
          <a:effectLst/>
        </p:spPr>
      </p:cxnSp>
      <p:cxnSp>
        <p:nvCxnSpPr>
          <p:cNvPr id="142" name="直線コネクタ 141">
            <a:extLst>
              <a:ext uri="{FF2B5EF4-FFF2-40B4-BE49-F238E27FC236}">
                <a16:creationId xmlns:a16="http://schemas.microsoft.com/office/drawing/2014/main" id="{2D0BBF34-28F9-33D5-7CDA-1E1C48959B13}"/>
              </a:ext>
            </a:extLst>
          </p:cNvPr>
          <p:cNvCxnSpPr>
            <a:cxnSpLocks/>
          </p:cNvCxnSpPr>
          <p:nvPr/>
        </p:nvCxnSpPr>
        <p:spPr bwMode="auto">
          <a:xfrm>
            <a:off x="5285454" y="2438989"/>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143" name="直線コネクタ 142">
            <a:extLst>
              <a:ext uri="{FF2B5EF4-FFF2-40B4-BE49-F238E27FC236}">
                <a16:creationId xmlns:a16="http://schemas.microsoft.com/office/drawing/2014/main" id="{848C65A6-D44B-4061-4B77-A20DA7A024E3}"/>
              </a:ext>
            </a:extLst>
          </p:cNvPr>
          <p:cNvCxnSpPr>
            <a:cxnSpLocks/>
          </p:cNvCxnSpPr>
          <p:nvPr/>
        </p:nvCxnSpPr>
        <p:spPr bwMode="auto">
          <a:xfrm>
            <a:off x="5465993" y="3789004"/>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144" name="直線コネクタ 143">
            <a:extLst>
              <a:ext uri="{FF2B5EF4-FFF2-40B4-BE49-F238E27FC236}">
                <a16:creationId xmlns:a16="http://schemas.microsoft.com/office/drawing/2014/main" id="{F4077C46-5FE1-DB2A-27FD-E1BB2D2D4C4E}"/>
              </a:ext>
            </a:extLst>
          </p:cNvPr>
          <p:cNvCxnSpPr>
            <a:cxnSpLocks/>
          </p:cNvCxnSpPr>
          <p:nvPr/>
        </p:nvCxnSpPr>
        <p:spPr bwMode="auto">
          <a:xfrm>
            <a:off x="2045418" y="1808982"/>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EE74C84B-AB24-FF27-F6ED-BA016CB0F1AF}"/>
              </a:ext>
            </a:extLst>
          </p:cNvPr>
          <p:cNvCxnSpPr>
            <a:cxnSpLocks/>
          </p:cNvCxnSpPr>
          <p:nvPr/>
        </p:nvCxnSpPr>
        <p:spPr bwMode="auto">
          <a:xfrm>
            <a:off x="1865416" y="1628980"/>
            <a:ext cx="0" cy="1980022"/>
          </a:xfrm>
          <a:prstGeom prst="line">
            <a:avLst/>
          </a:prstGeom>
          <a:noFill/>
          <a:ln w="19050" cap="flat" cmpd="sng" algn="ctr">
            <a:solidFill>
              <a:schemeClr val="tx1"/>
            </a:solidFill>
            <a:prstDash val="solid"/>
            <a:round/>
            <a:headEnd type="none" w="med" len="med"/>
            <a:tailEnd type="none" w="med" len="med"/>
          </a:ln>
          <a:effectLst/>
        </p:spPr>
      </p:cxnSp>
      <p:cxnSp>
        <p:nvCxnSpPr>
          <p:cNvPr id="146" name="直線コネクタ 145">
            <a:extLst>
              <a:ext uri="{FF2B5EF4-FFF2-40B4-BE49-F238E27FC236}">
                <a16:creationId xmlns:a16="http://schemas.microsoft.com/office/drawing/2014/main" id="{9D45B06E-B024-7A2C-FA1F-5B76F617AFC1}"/>
              </a:ext>
            </a:extLst>
          </p:cNvPr>
          <p:cNvCxnSpPr>
            <a:cxnSpLocks/>
          </p:cNvCxnSpPr>
          <p:nvPr/>
        </p:nvCxnSpPr>
        <p:spPr bwMode="auto">
          <a:xfrm>
            <a:off x="1865416" y="3789004"/>
            <a:ext cx="0" cy="990011"/>
          </a:xfrm>
          <a:prstGeom prst="line">
            <a:avLst/>
          </a:prstGeom>
          <a:noFill/>
          <a:ln w="19050" cap="flat" cmpd="sng" algn="ctr">
            <a:solidFill>
              <a:schemeClr val="tx1"/>
            </a:solidFill>
            <a:prstDash val="solid"/>
            <a:round/>
            <a:headEnd type="none" w="med" len="med"/>
            <a:tailEnd type="none" w="med" len="med"/>
          </a:ln>
          <a:effectLst/>
        </p:spPr>
      </p:cxnSp>
      <p:sp>
        <p:nvSpPr>
          <p:cNvPr id="147" name="正方形/長方形 146">
            <a:extLst>
              <a:ext uri="{FF2B5EF4-FFF2-40B4-BE49-F238E27FC236}">
                <a16:creationId xmlns:a16="http://schemas.microsoft.com/office/drawing/2014/main" id="{8EE28A6C-402D-F105-D3BF-0FA3D99313F6}"/>
              </a:ext>
            </a:extLst>
          </p:cNvPr>
          <p:cNvSpPr/>
          <p:nvPr/>
        </p:nvSpPr>
        <p:spPr bwMode="auto">
          <a:xfrm>
            <a:off x="335399" y="3609002"/>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8" name="直線コネクタ 147">
            <a:extLst>
              <a:ext uri="{FF2B5EF4-FFF2-40B4-BE49-F238E27FC236}">
                <a16:creationId xmlns:a16="http://schemas.microsoft.com/office/drawing/2014/main" id="{F7ECF9FC-624C-523D-BD79-2C27097B32C6}"/>
              </a:ext>
            </a:extLst>
          </p:cNvPr>
          <p:cNvCxnSpPr>
            <a:cxnSpLocks/>
          </p:cNvCxnSpPr>
          <p:nvPr/>
        </p:nvCxnSpPr>
        <p:spPr bwMode="auto">
          <a:xfrm>
            <a:off x="335399" y="360900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49" name="直線コネクタ 148">
            <a:extLst>
              <a:ext uri="{FF2B5EF4-FFF2-40B4-BE49-F238E27FC236}">
                <a16:creationId xmlns:a16="http://schemas.microsoft.com/office/drawing/2014/main" id="{F40E8A0F-C3A2-B7BE-AF0C-A5AA388483B6}"/>
              </a:ext>
            </a:extLst>
          </p:cNvPr>
          <p:cNvCxnSpPr>
            <a:cxnSpLocks/>
          </p:cNvCxnSpPr>
          <p:nvPr/>
        </p:nvCxnSpPr>
        <p:spPr bwMode="auto">
          <a:xfrm>
            <a:off x="335399" y="378900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50" name="直線コネクタ 149">
            <a:extLst>
              <a:ext uri="{FF2B5EF4-FFF2-40B4-BE49-F238E27FC236}">
                <a16:creationId xmlns:a16="http://schemas.microsoft.com/office/drawing/2014/main" id="{D0C66F1E-8043-A077-B853-1AF78C5A0E88}"/>
              </a:ext>
            </a:extLst>
          </p:cNvPr>
          <p:cNvCxnSpPr>
            <a:cxnSpLocks/>
          </p:cNvCxnSpPr>
          <p:nvPr/>
        </p:nvCxnSpPr>
        <p:spPr bwMode="auto">
          <a:xfrm>
            <a:off x="5465456" y="2258987"/>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51" name="直線矢印コネクタ 150">
            <a:extLst>
              <a:ext uri="{FF2B5EF4-FFF2-40B4-BE49-F238E27FC236}">
                <a16:creationId xmlns:a16="http://schemas.microsoft.com/office/drawing/2014/main" id="{2139DE83-E4A6-7055-AE2C-1BB903B1E242}"/>
              </a:ext>
            </a:extLst>
          </p:cNvPr>
          <p:cNvCxnSpPr>
            <a:cxnSpLocks/>
          </p:cNvCxnSpPr>
          <p:nvPr/>
        </p:nvCxnSpPr>
        <p:spPr bwMode="auto">
          <a:xfrm flipH="1">
            <a:off x="3125430" y="5319021"/>
            <a:ext cx="2070023"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53" name="正方形/長方形 152">
            <a:extLst>
              <a:ext uri="{FF2B5EF4-FFF2-40B4-BE49-F238E27FC236}">
                <a16:creationId xmlns:a16="http://schemas.microsoft.com/office/drawing/2014/main" id="{E36B1CC6-DB5F-9875-9E6B-327FDB0021CA}"/>
              </a:ext>
            </a:extLst>
          </p:cNvPr>
          <p:cNvSpPr/>
          <p:nvPr/>
        </p:nvSpPr>
        <p:spPr bwMode="auto">
          <a:xfrm>
            <a:off x="2315421" y="198898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54" name="正方形/長方形 153">
            <a:extLst>
              <a:ext uri="{FF2B5EF4-FFF2-40B4-BE49-F238E27FC236}">
                <a16:creationId xmlns:a16="http://schemas.microsoft.com/office/drawing/2014/main" id="{C7F40FC4-8139-7DF0-2135-C61A858099F4}"/>
              </a:ext>
            </a:extLst>
          </p:cNvPr>
          <p:cNvSpPr/>
          <p:nvPr/>
        </p:nvSpPr>
        <p:spPr bwMode="auto">
          <a:xfrm>
            <a:off x="2315421" y="495901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b="1" dirty="0">
                <a:solidFill>
                  <a:schemeClr val="accent5"/>
                </a:solidFill>
              </a:rPr>
              <a:t>排水口</a:t>
            </a:r>
          </a:p>
        </p:txBody>
      </p:sp>
      <p:sp>
        <p:nvSpPr>
          <p:cNvPr id="208" name="テキスト プレースホルダー 2">
            <a:extLst>
              <a:ext uri="{FF2B5EF4-FFF2-40B4-BE49-F238E27FC236}">
                <a16:creationId xmlns:a16="http://schemas.microsoft.com/office/drawing/2014/main" id="{4BFAA9A8-AE9F-787A-9051-7EA8322EE72C}"/>
              </a:ext>
            </a:extLst>
          </p:cNvPr>
          <p:cNvSpPr>
            <a:spLocks noGrp="1"/>
          </p:cNvSpPr>
          <p:nvPr>
            <p:ph type="body" sz="quarter" idx="10"/>
          </p:nvPr>
        </p:nvSpPr>
        <p:spPr>
          <a:xfrm>
            <a:off x="1775952" y="6219031"/>
            <a:ext cx="8640096" cy="540006"/>
          </a:xfrm>
        </p:spPr>
        <p:txBody>
          <a:bodyPr/>
          <a:lstStyle/>
          <a:p>
            <a:r>
              <a:rPr kumimoji="1" lang="ja-JP" altLang="en-US" dirty="0"/>
              <a:t>入力に水がくると，右側の２つのタンクにあった水が排水される</a:t>
            </a:r>
            <a:endParaRPr kumimoji="1" lang="en-US" dirty="0"/>
          </a:p>
        </p:txBody>
      </p:sp>
      <p:sp>
        <p:nvSpPr>
          <p:cNvPr id="3" name="正方形/長方形 2">
            <a:extLst>
              <a:ext uri="{FF2B5EF4-FFF2-40B4-BE49-F238E27FC236}">
                <a16:creationId xmlns:a16="http://schemas.microsoft.com/office/drawing/2014/main" id="{7DC0A775-F348-D936-0346-4A08EF1CA4C7}"/>
              </a:ext>
            </a:extLst>
          </p:cNvPr>
          <p:cNvSpPr/>
          <p:nvPr/>
        </p:nvSpPr>
        <p:spPr bwMode="auto">
          <a:xfrm rot="5400000">
            <a:off x="8841031" y="3744002"/>
            <a:ext cx="2790031"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1EF12C25-48CE-C713-31A2-EB31FEE3FEA7}"/>
              </a:ext>
            </a:extLst>
          </p:cNvPr>
          <p:cNvSpPr/>
          <p:nvPr/>
        </p:nvSpPr>
        <p:spPr bwMode="auto">
          <a:xfrm rot="5400000">
            <a:off x="9471038" y="4554012"/>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FA56CCAC-514D-905B-3A18-FE6257DE7DE0}"/>
              </a:ext>
            </a:extLst>
          </p:cNvPr>
          <p:cNvCxnSpPr>
            <a:cxnSpLocks/>
          </p:cNvCxnSpPr>
          <p:nvPr/>
        </p:nvCxnSpPr>
        <p:spPr bwMode="auto">
          <a:xfrm>
            <a:off x="8796033" y="5229021"/>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DFB9D26E-EDB2-C325-CBF8-6A583D50E597}"/>
              </a:ext>
            </a:extLst>
          </p:cNvPr>
          <p:cNvCxnSpPr>
            <a:cxnSpLocks/>
          </p:cNvCxnSpPr>
          <p:nvPr/>
        </p:nvCxnSpPr>
        <p:spPr bwMode="auto">
          <a:xfrm>
            <a:off x="7986022" y="5409021"/>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D7F91EA4-8C3B-70F8-FD0B-48A1C13EAEAD}"/>
              </a:ext>
            </a:extLst>
          </p:cNvPr>
          <p:cNvCxnSpPr>
            <a:cxnSpLocks/>
          </p:cNvCxnSpPr>
          <p:nvPr/>
        </p:nvCxnSpPr>
        <p:spPr bwMode="auto">
          <a:xfrm>
            <a:off x="7986022" y="5229019"/>
            <a:ext cx="630007" cy="0"/>
          </a:xfrm>
          <a:prstGeom prst="line">
            <a:avLst/>
          </a:prstGeom>
          <a:noFill/>
          <a:ln w="19050" cap="flat" cmpd="sng" algn="ctr">
            <a:solidFill>
              <a:schemeClr val="tx1"/>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27B531E0-BAC1-AC51-C15B-6215AD5C7401}"/>
              </a:ext>
            </a:extLst>
          </p:cNvPr>
          <p:cNvSpPr/>
          <p:nvPr/>
        </p:nvSpPr>
        <p:spPr bwMode="auto">
          <a:xfrm rot="5400000">
            <a:off x="9066033" y="1178975"/>
            <a:ext cx="180002" cy="234002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 name="直線コネクタ 12">
            <a:extLst>
              <a:ext uri="{FF2B5EF4-FFF2-40B4-BE49-F238E27FC236}">
                <a16:creationId xmlns:a16="http://schemas.microsoft.com/office/drawing/2014/main" id="{4CBA9336-5DC6-AA1F-8E95-8084AD8B7490}"/>
              </a:ext>
            </a:extLst>
          </p:cNvPr>
          <p:cNvCxnSpPr>
            <a:cxnSpLocks/>
          </p:cNvCxnSpPr>
          <p:nvPr/>
        </p:nvCxnSpPr>
        <p:spPr bwMode="auto">
          <a:xfrm>
            <a:off x="8796033" y="2258988"/>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4" name="直線コネクタ 13">
            <a:extLst>
              <a:ext uri="{FF2B5EF4-FFF2-40B4-BE49-F238E27FC236}">
                <a16:creationId xmlns:a16="http://schemas.microsoft.com/office/drawing/2014/main" id="{C8865F76-4F58-166F-F897-D5F59A80DDCD}"/>
              </a:ext>
            </a:extLst>
          </p:cNvPr>
          <p:cNvCxnSpPr>
            <a:cxnSpLocks/>
          </p:cNvCxnSpPr>
          <p:nvPr/>
        </p:nvCxnSpPr>
        <p:spPr bwMode="auto">
          <a:xfrm>
            <a:off x="7986022" y="2438988"/>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74DE750E-C6E9-615D-7120-9D90BF3DECEF}"/>
              </a:ext>
            </a:extLst>
          </p:cNvPr>
          <p:cNvCxnSpPr>
            <a:cxnSpLocks/>
          </p:cNvCxnSpPr>
          <p:nvPr/>
        </p:nvCxnSpPr>
        <p:spPr bwMode="auto">
          <a:xfrm>
            <a:off x="7986022" y="2258986"/>
            <a:ext cx="630007" cy="0"/>
          </a:xfrm>
          <a:prstGeom prst="line">
            <a:avLst/>
          </a:prstGeom>
          <a:noFill/>
          <a:ln w="19050" cap="flat" cmpd="sng" algn="ctr">
            <a:solidFill>
              <a:schemeClr val="tx1"/>
            </a:solidFill>
            <a:prstDash val="solid"/>
            <a:round/>
            <a:headEnd type="none" w="med" len="med"/>
            <a:tailEnd type="none" w="med" len="med"/>
          </a:ln>
          <a:effectLst/>
        </p:spPr>
      </p:cxnSp>
      <p:cxnSp>
        <p:nvCxnSpPr>
          <p:cNvPr id="16" name="直線コネクタ 15">
            <a:extLst>
              <a:ext uri="{FF2B5EF4-FFF2-40B4-BE49-F238E27FC236}">
                <a16:creationId xmlns:a16="http://schemas.microsoft.com/office/drawing/2014/main" id="{FF11F036-BF66-AD4A-1C42-4CB3C1855A35}"/>
              </a:ext>
            </a:extLst>
          </p:cNvPr>
          <p:cNvCxnSpPr>
            <a:cxnSpLocks/>
          </p:cNvCxnSpPr>
          <p:nvPr/>
        </p:nvCxnSpPr>
        <p:spPr bwMode="auto">
          <a:xfrm>
            <a:off x="6726008" y="1268975"/>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7" name="直線コネクタ 16">
            <a:extLst>
              <a:ext uri="{FF2B5EF4-FFF2-40B4-BE49-F238E27FC236}">
                <a16:creationId xmlns:a16="http://schemas.microsoft.com/office/drawing/2014/main" id="{F8A726E7-1657-5D35-61A2-362149EF28F0}"/>
              </a:ext>
            </a:extLst>
          </p:cNvPr>
          <p:cNvCxnSpPr>
            <a:cxnSpLocks/>
          </p:cNvCxnSpPr>
          <p:nvPr/>
        </p:nvCxnSpPr>
        <p:spPr bwMode="auto">
          <a:xfrm>
            <a:off x="6906010" y="1448977"/>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8" name="直線コネクタ 17">
            <a:extLst>
              <a:ext uri="{FF2B5EF4-FFF2-40B4-BE49-F238E27FC236}">
                <a16:creationId xmlns:a16="http://schemas.microsoft.com/office/drawing/2014/main" id="{544808C0-FC53-807F-0598-4D6AF71EBAE8}"/>
              </a:ext>
            </a:extLst>
          </p:cNvPr>
          <p:cNvCxnSpPr>
            <a:cxnSpLocks/>
          </p:cNvCxnSpPr>
          <p:nvPr/>
        </p:nvCxnSpPr>
        <p:spPr bwMode="auto">
          <a:xfrm>
            <a:off x="6906010" y="459901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9" name="直線コネクタ 18">
            <a:extLst>
              <a:ext uri="{FF2B5EF4-FFF2-40B4-BE49-F238E27FC236}">
                <a16:creationId xmlns:a16="http://schemas.microsoft.com/office/drawing/2014/main" id="{9C89EB8A-3B65-F6C5-31A4-DF47FEDD2D20}"/>
              </a:ext>
            </a:extLst>
          </p:cNvPr>
          <p:cNvCxnSpPr>
            <a:cxnSpLocks/>
          </p:cNvCxnSpPr>
          <p:nvPr/>
        </p:nvCxnSpPr>
        <p:spPr bwMode="auto">
          <a:xfrm>
            <a:off x="6726008" y="4779014"/>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E3AEC9E3-D3A8-55B5-C4DD-49B7DD96BF07}"/>
              </a:ext>
            </a:extLst>
          </p:cNvPr>
          <p:cNvCxnSpPr>
            <a:cxnSpLocks/>
          </p:cNvCxnSpPr>
          <p:nvPr/>
        </p:nvCxnSpPr>
        <p:spPr bwMode="auto">
          <a:xfrm>
            <a:off x="10326048" y="3609001"/>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192D27AC-10A3-4BC4-9479-E0939C96B82B}"/>
              </a:ext>
            </a:extLst>
          </p:cNvPr>
          <p:cNvCxnSpPr>
            <a:cxnSpLocks/>
          </p:cNvCxnSpPr>
          <p:nvPr/>
        </p:nvCxnSpPr>
        <p:spPr bwMode="auto">
          <a:xfrm>
            <a:off x="10326048" y="378900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2" name="直線コネクタ 21">
            <a:extLst>
              <a:ext uri="{FF2B5EF4-FFF2-40B4-BE49-F238E27FC236}">
                <a16:creationId xmlns:a16="http://schemas.microsoft.com/office/drawing/2014/main" id="{7869455C-AA31-C1A0-B097-465AD0683311}"/>
              </a:ext>
            </a:extLst>
          </p:cNvPr>
          <p:cNvCxnSpPr>
            <a:cxnSpLocks/>
          </p:cNvCxnSpPr>
          <p:nvPr/>
        </p:nvCxnSpPr>
        <p:spPr bwMode="auto">
          <a:xfrm>
            <a:off x="10146046" y="2438988"/>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349F2D05-4CFF-97C2-C53E-BE97B69011FD}"/>
              </a:ext>
            </a:extLst>
          </p:cNvPr>
          <p:cNvCxnSpPr>
            <a:cxnSpLocks/>
          </p:cNvCxnSpPr>
          <p:nvPr/>
        </p:nvCxnSpPr>
        <p:spPr bwMode="auto">
          <a:xfrm>
            <a:off x="10326585" y="3789003"/>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24" name="直線コネクタ 23">
            <a:extLst>
              <a:ext uri="{FF2B5EF4-FFF2-40B4-BE49-F238E27FC236}">
                <a16:creationId xmlns:a16="http://schemas.microsoft.com/office/drawing/2014/main" id="{0265AA71-D121-27A0-667A-FDE8A9FB0AD2}"/>
              </a:ext>
            </a:extLst>
          </p:cNvPr>
          <p:cNvCxnSpPr>
            <a:cxnSpLocks/>
          </p:cNvCxnSpPr>
          <p:nvPr/>
        </p:nvCxnSpPr>
        <p:spPr bwMode="auto">
          <a:xfrm>
            <a:off x="6906010" y="1448977"/>
            <a:ext cx="537" cy="3150393"/>
          </a:xfrm>
          <a:prstGeom prst="line">
            <a:avLst/>
          </a:prstGeom>
          <a:noFill/>
          <a:ln w="19050" cap="flat" cmpd="sng" algn="ctr">
            <a:solidFill>
              <a:schemeClr val="tx1"/>
            </a:solidFill>
            <a:prstDash val="solid"/>
            <a:round/>
            <a:headEnd type="none" w="med" len="med"/>
            <a:tailEnd type="none" w="med" len="med"/>
          </a:ln>
          <a:effectLst/>
        </p:spPr>
      </p:cxnSp>
      <p:cxnSp>
        <p:nvCxnSpPr>
          <p:cNvPr id="25" name="直線コネクタ 24">
            <a:extLst>
              <a:ext uri="{FF2B5EF4-FFF2-40B4-BE49-F238E27FC236}">
                <a16:creationId xmlns:a16="http://schemas.microsoft.com/office/drawing/2014/main" id="{A34A4665-CA60-DBE8-622B-3BDB9C92194F}"/>
              </a:ext>
            </a:extLst>
          </p:cNvPr>
          <p:cNvCxnSpPr>
            <a:cxnSpLocks/>
          </p:cNvCxnSpPr>
          <p:nvPr/>
        </p:nvCxnSpPr>
        <p:spPr bwMode="auto">
          <a:xfrm>
            <a:off x="6726008" y="1268975"/>
            <a:ext cx="0" cy="2340026"/>
          </a:xfrm>
          <a:prstGeom prst="line">
            <a:avLst/>
          </a:prstGeom>
          <a:noFill/>
          <a:ln w="19050" cap="flat" cmpd="sng" algn="ctr">
            <a:solidFill>
              <a:schemeClr val="tx1"/>
            </a:solidFill>
            <a:prstDash val="solid"/>
            <a:round/>
            <a:headEnd type="none" w="med" len="med"/>
            <a:tailEnd type="none" w="med" len="med"/>
          </a:ln>
          <a:effectLst/>
        </p:spPr>
      </p:cxnSp>
      <p:cxnSp>
        <p:nvCxnSpPr>
          <p:cNvPr id="26" name="直線コネクタ 25">
            <a:extLst>
              <a:ext uri="{FF2B5EF4-FFF2-40B4-BE49-F238E27FC236}">
                <a16:creationId xmlns:a16="http://schemas.microsoft.com/office/drawing/2014/main" id="{1656EDA9-9E3E-05A9-B7AC-4BE3ED744F3D}"/>
              </a:ext>
            </a:extLst>
          </p:cNvPr>
          <p:cNvCxnSpPr>
            <a:cxnSpLocks/>
          </p:cNvCxnSpPr>
          <p:nvPr/>
        </p:nvCxnSpPr>
        <p:spPr bwMode="auto">
          <a:xfrm>
            <a:off x="6726008" y="3789003"/>
            <a:ext cx="0" cy="990011"/>
          </a:xfrm>
          <a:prstGeom prst="line">
            <a:avLst/>
          </a:prstGeom>
          <a:noFill/>
          <a:ln w="19050" cap="flat" cmpd="sng" algn="ctr">
            <a:solidFill>
              <a:schemeClr val="tx1"/>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06792026-86F8-92CA-F80B-8682A6AB8B18}"/>
              </a:ext>
            </a:extLst>
          </p:cNvPr>
          <p:cNvCxnSpPr>
            <a:cxnSpLocks/>
          </p:cNvCxnSpPr>
          <p:nvPr/>
        </p:nvCxnSpPr>
        <p:spPr bwMode="auto">
          <a:xfrm>
            <a:off x="10326048" y="2258986"/>
            <a:ext cx="0" cy="1350015"/>
          </a:xfrm>
          <a:prstGeom prst="line">
            <a:avLst/>
          </a:prstGeom>
          <a:noFill/>
          <a:ln w="19050" cap="flat" cmpd="sng" algn="ctr">
            <a:solidFill>
              <a:schemeClr val="tx1"/>
            </a:solidFill>
            <a:prstDash val="solid"/>
            <a:round/>
            <a:headEnd type="none" w="med" len="med"/>
            <a:tailEnd type="none" w="med" len="med"/>
          </a:ln>
          <a:effectLst/>
        </p:spPr>
      </p:cxnSp>
      <p:sp>
        <p:nvSpPr>
          <p:cNvPr id="30" name="正方形/長方形 29">
            <a:extLst>
              <a:ext uri="{FF2B5EF4-FFF2-40B4-BE49-F238E27FC236}">
                <a16:creationId xmlns:a16="http://schemas.microsoft.com/office/drawing/2014/main" id="{7242A8BF-9B8D-39E2-83F6-B0DA77BF6496}"/>
              </a:ext>
            </a:extLst>
          </p:cNvPr>
          <p:cNvSpPr/>
          <p:nvPr/>
        </p:nvSpPr>
        <p:spPr bwMode="auto">
          <a:xfrm>
            <a:off x="7176013" y="1988983"/>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31" name="正方形/長方形 30">
            <a:extLst>
              <a:ext uri="{FF2B5EF4-FFF2-40B4-BE49-F238E27FC236}">
                <a16:creationId xmlns:a16="http://schemas.microsoft.com/office/drawing/2014/main" id="{63EFB157-9977-65E2-0F31-4A34E4BE2852}"/>
              </a:ext>
            </a:extLst>
          </p:cNvPr>
          <p:cNvSpPr/>
          <p:nvPr/>
        </p:nvSpPr>
        <p:spPr bwMode="auto">
          <a:xfrm>
            <a:off x="7176013" y="495901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39" name="正方形/長方形 38">
            <a:extLst>
              <a:ext uri="{FF2B5EF4-FFF2-40B4-BE49-F238E27FC236}">
                <a16:creationId xmlns:a16="http://schemas.microsoft.com/office/drawing/2014/main" id="{D27DC778-E49C-859C-3303-F0BF93FF87F3}"/>
              </a:ext>
            </a:extLst>
          </p:cNvPr>
          <p:cNvSpPr/>
          <p:nvPr/>
        </p:nvSpPr>
        <p:spPr bwMode="auto">
          <a:xfrm>
            <a:off x="10326047" y="3609002"/>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40" name="直線コネクタ 39">
            <a:extLst>
              <a:ext uri="{FF2B5EF4-FFF2-40B4-BE49-F238E27FC236}">
                <a16:creationId xmlns:a16="http://schemas.microsoft.com/office/drawing/2014/main" id="{8628AACC-51D5-79D5-6D6E-2704AA6BB9D6}"/>
              </a:ext>
            </a:extLst>
          </p:cNvPr>
          <p:cNvCxnSpPr>
            <a:cxnSpLocks/>
          </p:cNvCxnSpPr>
          <p:nvPr/>
        </p:nvCxnSpPr>
        <p:spPr bwMode="auto">
          <a:xfrm>
            <a:off x="10326047" y="360900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41" name="直線コネクタ 40">
            <a:extLst>
              <a:ext uri="{FF2B5EF4-FFF2-40B4-BE49-F238E27FC236}">
                <a16:creationId xmlns:a16="http://schemas.microsoft.com/office/drawing/2014/main" id="{7677FBE4-FA25-F26A-FF19-D3A5AA6100EF}"/>
              </a:ext>
            </a:extLst>
          </p:cNvPr>
          <p:cNvCxnSpPr>
            <a:cxnSpLocks/>
          </p:cNvCxnSpPr>
          <p:nvPr/>
        </p:nvCxnSpPr>
        <p:spPr bwMode="auto">
          <a:xfrm>
            <a:off x="10326047" y="378900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42" name="直線コネクタ 41">
            <a:extLst>
              <a:ext uri="{FF2B5EF4-FFF2-40B4-BE49-F238E27FC236}">
                <a16:creationId xmlns:a16="http://schemas.microsoft.com/office/drawing/2014/main" id="{2033671D-7EF5-E525-7EEB-B656C889260F}"/>
              </a:ext>
            </a:extLst>
          </p:cNvPr>
          <p:cNvCxnSpPr>
            <a:cxnSpLocks/>
          </p:cNvCxnSpPr>
          <p:nvPr/>
        </p:nvCxnSpPr>
        <p:spPr bwMode="auto">
          <a:xfrm>
            <a:off x="8436028" y="1538979"/>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43" name="直線コネクタ 42">
            <a:extLst>
              <a:ext uri="{FF2B5EF4-FFF2-40B4-BE49-F238E27FC236}">
                <a16:creationId xmlns:a16="http://schemas.microsoft.com/office/drawing/2014/main" id="{A9EFC27F-B563-F0ED-3EA2-9A82842334AB}"/>
              </a:ext>
            </a:extLst>
          </p:cNvPr>
          <p:cNvCxnSpPr>
            <a:cxnSpLocks/>
          </p:cNvCxnSpPr>
          <p:nvPr/>
        </p:nvCxnSpPr>
        <p:spPr bwMode="auto">
          <a:xfrm>
            <a:off x="8436028" y="1088973"/>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44" name="直線コネクタ 43">
            <a:extLst>
              <a:ext uri="{FF2B5EF4-FFF2-40B4-BE49-F238E27FC236}">
                <a16:creationId xmlns:a16="http://schemas.microsoft.com/office/drawing/2014/main" id="{6546D748-9E75-354E-5F63-06753DDE5C28}"/>
              </a:ext>
            </a:extLst>
          </p:cNvPr>
          <p:cNvCxnSpPr>
            <a:cxnSpLocks/>
          </p:cNvCxnSpPr>
          <p:nvPr/>
        </p:nvCxnSpPr>
        <p:spPr bwMode="auto">
          <a:xfrm>
            <a:off x="8976034" y="1088973"/>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45" name="直線コネクタ 44">
            <a:extLst>
              <a:ext uri="{FF2B5EF4-FFF2-40B4-BE49-F238E27FC236}">
                <a16:creationId xmlns:a16="http://schemas.microsoft.com/office/drawing/2014/main" id="{2660974F-037D-4E56-A2AA-F4F1911EA248}"/>
              </a:ext>
            </a:extLst>
          </p:cNvPr>
          <p:cNvCxnSpPr>
            <a:cxnSpLocks/>
          </p:cNvCxnSpPr>
          <p:nvPr/>
        </p:nvCxnSpPr>
        <p:spPr bwMode="auto">
          <a:xfrm flipV="1">
            <a:off x="8706029" y="1538979"/>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46" name="正方形/長方形 45">
            <a:extLst>
              <a:ext uri="{FF2B5EF4-FFF2-40B4-BE49-F238E27FC236}">
                <a16:creationId xmlns:a16="http://schemas.microsoft.com/office/drawing/2014/main" id="{BE1194CF-179F-54D1-11D2-6306DC7599BC}"/>
              </a:ext>
            </a:extLst>
          </p:cNvPr>
          <p:cNvSpPr/>
          <p:nvPr/>
        </p:nvSpPr>
        <p:spPr bwMode="auto">
          <a:xfrm rot="5400000">
            <a:off x="8436026" y="1898983"/>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3CE61028-5AF8-DF51-522A-51B4DA0594E1}"/>
              </a:ext>
            </a:extLst>
          </p:cNvPr>
          <p:cNvSpPr/>
          <p:nvPr/>
        </p:nvSpPr>
        <p:spPr bwMode="auto">
          <a:xfrm rot="5400000" flipH="1">
            <a:off x="8661028" y="2393986"/>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48" name="直線コネクタ 47">
            <a:extLst>
              <a:ext uri="{FF2B5EF4-FFF2-40B4-BE49-F238E27FC236}">
                <a16:creationId xmlns:a16="http://schemas.microsoft.com/office/drawing/2014/main" id="{2325891A-DBB9-0615-5A86-1B100C3B3BE8}"/>
              </a:ext>
            </a:extLst>
          </p:cNvPr>
          <p:cNvCxnSpPr>
            <a:cxnSpLocks/>
          </p:cNvCxnSpPr>
          <p:nvPr/>
        </p:nvCxnSpPr>
        <p:spPr bwMode="auto">
          <a:xfrm flipH="1">
            <a:off x="8796032" y="2258985"/>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49" name="直線コネクタ 48">
            <a:extLst>
              <a:ext uri="{FF2B5EF4-FFF2-40B4-BE49-F238E27FC236}">
                <a16:creationId xmlns:a16="http://schemas.microsoft.com/office/drawing/2014/main" id="{049B156E-C156-0CF9-F6AC-11A681144538}"/>
              </a:ext>
            </a:extLst>
          </p:cNvPr>
          <p:cNvCxnSpPr>
            <a:cxnSpLocks/>
          </p:cNvCxnSpPr>
          <p:nvPr/>
        </p:nvCxnSpPr>
        <p:spPr bwMode="auto">
          <a:xfrm flipH="1">
            <a:off x="8616031" y="2258985"/>
            <a:ext cx="5"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50" name="直線コネクタ 49">
            <a:extLst>
              <a:ext uri="{FF2B5EF4-FFF2-40B4-BE49-F238E27FC236}">
                <a16:creationId xmlns:a16="http://schemas.microsoft.com/office/drawing/2014/main" id="{B090AFCA-A6DC-519C-43AD-4E8224C007CA}"/>
              </a:ext>
            </a:extLst>
          </p:cNvPr>
          <p:cNvCxnSpPr>
            <a:cxnSpLocks/>
          </p:cNvCxnSpPr>
          <p:nvPr/>
        </p:nvCxnSpPr>
        <p:spPr bwMode="auto">
          <a:xfrm flipV="1">
            <a:off x="8436027" y="1448977"/>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51" name="直線コネクタ 50">
            <a:extLst>
              <a:ext uri="{FF2B5EF4-FFF2-40B4-BE49-F238E27FC236}">
                <a16:creationId xmlns:a16="http://schemas.microsoft.com/office/drawing/2014/main" id="{2C6355A6-246C-94CE-3BE1-BB1DA503A803}"/>
              </a:ext>
            </a:extLst>
          </p:cNvPr>
          <p:cNvCxnSpPr>
            <a:cxnSpLocks/>
          </p:cNvCxnSpPr>
          <p:nvPr/>
        </p:nvCxnSpPr>
        <p:spPr bwMode="auto">
          <a:xfrm>
            <a:off x="8436028" y="4869016"/>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52" name="直線コネクタ 51">
            <a:extLst>
              <a:ext uri="{FF2B5EF4-FFF2-40B4-BE49-F238E27FC236}">
                <a16:creationId xmlns:a16="http://schemas.microsoft.com/office/drawing/2014/main" id="{5511F77E-6251-FA23-5E11-40D55DF32985}"/>
              </a:ext>
            </a:extLst>
          </p:cNvPr>
          <p:cNvCxnSpPr>
            <a:cxnSpLocks/>
          </p:cNvCxnSpPr>
          <p:nvPr/>
        </p:nvCxnSpPr>
        <p:spPr bwMode="auto">
          <a:xfrm>
            <a:off x="8436028" y="4419010"/>
            <a:ext cx="0" cy="180003"/>
          </a:xfrm>
          <a:prstGeom prst="line">
            <a:avLst/>
          </a:prstGeom>
          <a:noFill/>
          <a:ln w="19050" cap="rnd" cmpd="sng" algn="ctr">
            <a:solidFill>
              <a:schemeClr val="accent5"/>
            </a:solidFill>
            <a:prstDash val="solid"/>
            <a:round/>
            <a:headEnd type="none" w="med" len="med"/>
            <a:tailEnd type="none" w="med" len="med"/>
          </a:ln>
          <a:effectLst/>
        </p:spPr>
      </p:cxnSp>
      <p:cxnSp>
        <p:nvCxnSpPr>
          <p:cNvPr id="53" name="直線コネクタ 52">
            <a:extLst>
              <a:ext uri="{FF2B5EF4-FFF2-40B4-BE49-F238E27FC236}">
                <a16:creationId xmlns:a16="http://schemas.microsoft.com/office/drawing/2014/main" id="{AC932ACB-8F48-3945-0F58-9DA3E8A3115C}"/>
              </a:ext>
            </a:extLst>
          </p:cNvPr>
          <p:cNvCxnSpPr>
            <a:cxnSpLocks/>
          </p:cNvCxnSpPr>
          <p:nvPr/>
        </p:nvCxnSpPr>
        <p:spPr bwMode="auto">
          <a:xfrm>
            <a:off x="8976034" y="4419010"/>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54" name="直線コネクタ 53">
            <a:extLst>
              <a:ext uri="{FF2B5EF4-FFF2-40B4-BE49-F238E27FC236}">
                <a16:creationId xmlns:a16="http://schemas.microsoft.com/office/drawing/2014/main" id="{849717F3-0EB0-589C-C401-11A59C01E657}"/>
              </a:ext>
            </a:extLst>
          </p:cNvPr>
          <p:cNvCxnSpPr>
            <a:cxnSpLocks/>
          </p:cNvCxnSpPr>
          <p:nvPr/>
        </p:nvCxnSpPr>
        <p:spPr bwMode="auto">
          <a:xfrm flipV="1">
            <a:off x="8706029" y="4869016"/>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55" name="正方形/長方形 54">
            <a:extLst>
              <a:ext uri="{FF2B5EF4-FFF2-40B4-BE49-F238E27FC236}">
                <a16:creationId xmlns:a16="http://schemas.microsoft.com/office/drawing/2014/main" id="{4347113B-D775-7BEC-F77D-4199458B82B8}"/>
              </a:ext>
            </a:extLst>
          </p:cNvPr>
          <p:cNvSpPr/>
          <p:nvPr/>
        </p:nvSpPr>
        <p:spPr bwMode="auto">
          <a:xfrm rot="5400000">
            <a:off x="8436026" y="5229020"/>
            <a:ext cx="540006"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58" name="正方形/長方形 57">
            <a:extLst>
              <a:ext uri="{FF2B5EF4-FFF2-40B4-BE49-F238E27FC236}">
                <a16:creationId xmlns:a16="http://schemas.microsoft.com/office/drawing/2014/main" id="{D4FE4716-61EB-EFD2-DFBE-B890C336471D}"/>
              </a:ext>
            </a:extLst>
          </p:cNvPr>
          <p:cNvSpPr/>
          <p:nvPr/>
        </p:nvSpPr>
        <p:spPr bwMode="auto">
          <a:xfrm rot="5400000" flipH="1">
            <a:off x="8661028" y="5724023"/>
            <a:ext cx="90001"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9" name="直線コネクタ 58">
            <a:extLst>
              <a:ext uri="{FF2B5EF4-FFF2-40B4-BE49-F238E27FC236}">
                <a16:creationId xmlns:a16="http://schemas.microsoft.com/office/drawing/2014/main" id="{A4431BD9-98A8-9661-1BE5-3BF30475DEC3}"/>
              </a:ext>
            </a:extLst>
          </p:cNvPr>
          <p:cNvCxnSpPr>
            <a:cxnSpLocks/>
          </p:cNvCxnSpPr>
          <p:nvPr/>
        </p:nvCxnSpPr>
        <p:spPr bwMode="auto">
          <a:xfrm flipH="1">
            <a:off x="8796032" y="5589022"/>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60" name="直線コネクタ 59">
            <a:extLst>
              <a:ext uri="{FF2B5EF4-FFF2-40B4-BE49-F238E27FC236}">
                <a16:creationId xmlns:a16="http://schemas.microsoft.com/office/drawing/2014/main" id="{1E8ADB05-BA53-6699-AF98-BE876C4722F6}"/>
              </a:ext>
            </a:extLst>
          </p:cNvPr>
          <p:cNvCxnSpPr>
            <a:cxnSpLocks/>
          </p:cNvCxnSpPr>
          <p:nvPr/>
        </p:nvCxnSpPr>
        <p:spPr bwMode="auto">
          <a:xfrm flipH="1">
            <a:off x="8616031" y="5589022"/>
            <a:ext cx="5"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114" name="直線コネクタ 113">
            <a:extLst>
              <a:ext uri="{FF2B5EF4-FFF2-40B4-BE49-F238E27FC236}">
                <a16:creationId xmlns:a16="http://schemas.microsoft.com/office/drawing/2014/main" id="{D4A5DEC7-FC6D-FBE8-FFEE-0824BFC201FE}"/>
              </a:ext>
            </a:extLst>
          </p:cNvPr>
          <p:cNvCxnSpPr>
            <a:cxnSpLocks/>
          </p:cNvCxnSpPr>
          <p:nvPr/>
        </p:nvCxnSpPr>
        <p:spPr bwMode="auto">
          <a:xfrm>
            <a:off x="8436026" y="4779015"/>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9" name="正方形/長方形 8">
            <a:extLst>
              <a:ext uri="{FF2B5EF4-FFF2-40B4-BE49-F238E27FC236}">
                <a16:creationId xmlns:a16="http://schemas.microsoft.com/office/drawing/2014/main" id="{DC886F3B-34F1-08CC-E6DB-BC2C103DAD76}"/>
              </a:ext>
            </a:extLst>
          </p:cNvPr>
          <p:cNvSpPr/>
          <p:nvPr/>
        </p:nvSpPr>
        <p:spPr bwMode="auto">
          <a:xfrm>
            <a:off x="245935" y="306899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a:t>
            </a:r>
          </a:p>
        </p:txBody>
      </p:sp>
    </p:spTree>
    <p:extLst>
      <p:ext uri="{BB962C8B-B14F-4D97-AF65-F5344CB8AC3E}">
        <p14:creationId xmlns:p14="http://schemas.microsoft.com/office/powerpoint/2010/main" val="31193010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正方形/長方形 233">
            <a:extLst>
              <a:ext uri="{FF2B5EF4-FFF2-40B4-BE49-F238E27FC236}">
                <a16:creationId xmlns:a16="http://schemas.microsoft.com/office/drawing/2014/main" id="{B3F3082E-9922-1DD6-6D50-55D8068F3043}"/>
              </a:ext>
            </a:extLst>
          </p:cNvPr>
          <p:cNvSpPr/>
          <p:nvPr/>
        </p:nvSpPr>
        <p:spPr bwMode="auto">
          <a:xfrm rot="5400000">
            <a:off x="10461048" y="4734015"/>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34" name="正方形/長方形 33">
            <a:extLst>
              <a:ext uri="{FF2B5EF4-FFF2-40B4-BE49-F238E27FC236}">
                <a16:creationId xmlns:a16="http://schemas.microsoft.com/office/drawing/2014/main" id="{F53AD23F-CD7D-280B-4713-C7F269B16FCD}"/>
              </a:ext>
            </a:extLst>
          </p:cNvPr>
          <p:cNvSpPr/>
          <p:nvPr/>
        </p:nvSpPr>
        <p:spPr bwMode="auto">
          <a:xfrm rot="5400000">
            <a:off x="8976031" y="2798992"/>
            <a:ext cx="180002" cy="1260014"/>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9920DA14-088E-E4A8-9DF1-D943987ADAE6}"/>
              </a:ext>
            </a:extLst>
          </p:cNvPr>
          <p:cNvSpPr>
            <a:spLocks noGrp="1"/>
          </p:cNvSpPr>
          <p:nvPr>
            <p:ph type="title"/>
          </p:nvPr>
        </p:nvSpPr>
        <p:spPr/>
        <p:txBody>
          <a:bodyPr/>
          <a:lstStyle/>
          <a:p>
            <a:r>
              <a:rPr kumimoji="1" lang="ja-JP" altLang="en-US" dirty="0"/>
              <a:t>つまり，スイッチの切り替えが起きると・・・</a:t>
            </a:r>
            <a:endParaRPr kumimoji="1" lang="en-US" dirty="0"/>
          </a:p>
        </p:txBody>
      </p:sp>
      <p:sp>
        <p:nvSpPr>
          <p:cNvPr id="3" name="テキスト プレースホルダー 2">
            <a:extLst>
              <a:ext uri="{FF2B5EF4-FFF2-40B4-BE49-F238E27FC236}">
                <a16:creationId xmlns:a16="http://schemas.microsoft.com/office/drawing/2014/main" id="{890EE345-485C-03AB-4F9D-6EC7336BF1A2}"/>
              </a:ext>
            </a:extLst>
          </p:cNvPr>
          <p:cNvSpPr>
            <a:spLocks noGrp="1"/>
          </p:cNvSpPr>
          <p:nvPr>
            <p:ph type="body" sz="quarter" idx="10"/>
          </p:nvPr>
        </p:nvSpPr>
        <p:spPr>
          <a:xfrm>
            <a:off x="515937" y="1088974"/>
            <a:ext cx="6210070" cy="5490061"/>
          </a:xfrm>
        </p:spPr>
        <p:txBody>
          <a:bodyPr/>
          <a:lstStyle/>
          <a:p>
            <a:r>
              <a:rPr kumimoji="1" lang="ja-JP" altLang="en-US" dirty="0"/>
              <a:t>スイッチングが起きると・・・</a:t>
            </a:r>
            <a:endParaRPr kumimoji="1" lang="en-US" altLang="ja-JP" dirty="0"/>
          </a:p>
          <a:p>
            <a:pPr lvl="1"/>
            <a:r>
              <a:rPr kumimoji="1" lang="ja-JP" altLang="en-US" dirty="0"/>
              <a:t>高さ </a:t>
            </a:r>
            <a:r>
              <a:rPr kumimoji="1" lang="en-US" altLang="ja-JP" dirty="0"/>
              <a:t>V </a:t>
            </a:r>
            <a:r>
              <a:rPr kumimoji="1" lang="ja-JP" altLang="en-US" dirty="0"/>
              <a:t>の給水源から水量 </a:t>
            </a:r>
            <a:r>
              <a:rPr kumimoji="1" lang="en-US" altLang="ja-JP" dirty="0"/>
              <a:t>Q </a:t>
            </a:r>
            <a:r>
              <a:rPr kumimoji="1" lang="ja-JP" altLang="en-US" dirty="0"/>
              <a:t>が供給</a:t>
            </a:r>
            <a:endParaRPr kumimoji="1" lang="en-US" altLang="ja-JP" dirty="0"/>
          </a:p>
          <a:p>
            <a:pPr lvl="1"/>
            <a:r>
              <a:rPr kumimoji="1" lang="ja-JP" altLang="en-US" dirty="0"/>
              <a:t>総量 </a:t>
            </a:r>
            <a:r>
              <a:rPr kumimoji="1" lang="en-US" altLang="ja-JP" dirty="0"/>
              <a:t>Q </a:t>
            </a:r>
            <a:r>
              <a:rPr kumimoji="1" lang="ja-JP" altLang="en-US" dirty="0"/>
              <a:t>の水がタンクとパイプに入って抜ける</a:t>
            </a:r>
            <a:endParaRPr kumimoji="1" lang="en-US" altLang="ja-JP" dirty="0"/>
          </a:p>
          <a:p>
            <a:r>
              <a:rPr lang="ja-JP" altLang="en-US" dirty="0">
                <a:solidFill>
                  <a:schemeClr val="accent5"/>
                </a:solidFill>
              </a:rPr>
              <a:t>入力の変化に伴い，水の出し入れが</a:t>
            </a:r>
            <a:br>
              <a:rPr lang="en-US" altLang="ja-JP" dirty="0">
                <a:solidFill>
                  <a:schemeClr val="accent5"/>
                </a:solidFill>
              </a:rPr>
            </a:br>
            <a:r>
              <a:rPr lang="ja-JP" altLang="en-US" dirty="0">
                <a:solidFill>
                  <a:schemeClr val="accent5"/>
                </a:solidFill>
              </a:rPr>
              <a:t>生じるとエネルギーが消費される</a:t>
            </a:r>
            <a:endParaRPr lang="en-US" altLang="ja-JP" dirty="0">
              <a:solidFill>
                <a:schemeClr val="accent5"/>
              </a:solidFill>
            </a:endParaRPr>
          </a:p>
          <a:p>
            <a:pPr lvl="1"/>
            <a:r>
              <a:rPr lang="ja-JP" altLang="en-US" dirty="0"/>
              <a:t>電荷が電源から </a:t>
            </a:r>
            <a:r>
              <a:rPr lang="en-US" altLang="ja-JP" dirty="0"/>
              <a:t>GND </a:t>
            </a:r>
            <a:r>
              <a:rPr lang="ja-JP" altLang="en-US" dirty="0"/>
              <a:t>に流れるのも同じ</a:t>
            </a:r>
            <a:endParaRPr kumimoji="1" lang="en-US" altLang="ja-JP" dirty="0"/>
          </a:p>
          <a:p>
            <a:r>
              <a:rPr kumimoji="1" lang="ja-JP" altLang="en-US" dirty="0">
                <a:solidFill>
                  <a:schemeClr val="accent5"/>
                </a:solidFill>
              </a:rPr>
              <a:t>水を高いところから流すとその分</a:t>
            </a:r>
            <a:br>
              <a:rPr kumimoji="1" lang="en-US" altLang="ja-JP" dirty="0">
                <a:solidFill>
                  <a:schemeClr val="accent5"/>
                </a:solidFill>
              </a:rPr>
            </a:br>
            <a:r>
              <a:rPr kumimoji="1" lang="ja-JP" altLang="en-US" dirty="0">
                <a:solidFill>
                  <a:schemeClr val="accent5"/>
                </a:solidFill>
              </a:rPr>
              <a:t>位置エネルギーが失われる</a:t>
            </a:r>
            <a:endParaRPr kumimoji="1" lang="en-US" altLang="ja-JP" dirty="0">
              <a:solidFill>
                <a:schemeClr val="accent5"/>
              </a:solidFill>
            </a:endParaRPr>
          </a:p>
          <a:p>
            <a:pPr lvl="1"/>
            <a:r>
              <a:rPr kumimoji="1" lang="ja-JP" altLang="en-US" dirty="0"/>
              <a:t>タンクにたまった水の総量：</a:t>
            </a:r>
            <a:r>
              <a:rPr kumimoji="1" lang="en-US" altLang="ja-JP" dirty="0"/>
              <a:t>	Q </a:t>
            </a:r>
          </a:p>
          <a:p>
            <a:pPr lvl="1"/>
            <a:r>
              <a:rPr kumimoji="1" lang="ja-JP" altLang="en-US" dirty="0"/>
              <a:t>排水</a:t>
            </a:r>
            <a:r>
              <a:rPr lang="ja-JP" altLang="en-US" dirty="0"/>
              <a:t>口</a:t>
            </a:r>
            <a:r>
              <a:rPr kumimoji="1" lang="ja-JP" altLang="en-US" dirty="0"/>
              <a:t>から給水口高さ：</a:t>
            </a:r>
            <a:r>
              <a:rPr kumimoji="1" lang="en-US" altLang="ja-JP" dirty="0"/>
              <a:t>		V</a:t>
            </a:r>
          </a:p>
          <a:p>
            <a:pPr lvl="1"/>
            <a:r>
              <a:rPr kumimoji="1" lang="ja-JP" altLang="en-US" dirty="0"/>
              <a:t>エネルギー：</a:t>
            </a:r>
            <a:r>
              <a:rPr kumimoji="1" lang="en-US" altLang="ja-JP" dirty="0"/>
              <a:t>			Q × V</a:t>
            </a:r>
          </a:p>
        </p:txBody>
      </p:sp>
      <p:sp>
        <p:nvSpPr>
          <p:cNvPr id="4" name="正方形/長方形 3">
            <a:extLst>
              <a:ext uri="{FF2B5EF4-FFF2-40B4-BE49-F238E27FC236}">
                <a16:creationId xmlns:a16="http://schemas.microsoft.com/office/drawing/2014/main" id="{27CA8DD0-859F-78F6-62E0-E27694E1A9F2}"/>
              </a:ext>
            </a:extLst>
          </p:cNvPr>
          <p:cNvSpPr/>
          <p:nvPr/>
        </p:nvSpPr>
        <p:spPr bwMode="auto">
          <a:xfrm rot="5400000">
            <a:off x="6771008" y="3294000"/>
            <a:ext cx="3150033"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A2CD0000-5518-5419-524D-597D08B2BF19}"/>
              </a:ext>
            </a:extLst>
          </p:cNvPr>
          <p:cNvSpPr/>
          <p:nvPr/>
        </p:nvSpPr>
        <p:spPr bwMode="auto">
          <a:xfrm rot="5400000">
            <a:off x="7941020" y="4644014"/>
            <a:ext cx="180002" cy="810009"/>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 name="直線コネクタ 5">
            <a:extLst>
              <a:ext uri="{FF2B5EF4-FFF2-40B4-BE49-F238E27FC236}">
                <a16:creationId xmlns:a16="http://schemas.microsoft.com/office/drawing/2014/main" id="{C24EF3B2-D55B-AC66-4BD9-E28B003094EF}"/>
              </a:ext>
            </a:extLst>
          </p:cNvPr>
          <p:cNvCxnSpPr>
            <a:cxnSpLocks/>
          </p:cNvCxnSpPr>
          <p:nvPr/>
        </p:nvCxnSpPr>
        <p:spPr bwMode="auto">
          <a:xfrm>
            <a:off x="6906011" y="4959019"/>
            <a:ext cx="1350015" cy="0"/>
          </a:xfrm>
          <a:prstGeom prst="line">
            <a:avLst/>
          </a:prstGeom>
          <a:noFill/>
          <a:ln w="19050" cap="flat" cmpd="sng" algn="ctr">
            <a:solidFill>
              <a:schemeClr val="tx1"/>
            </a:solidFill>
            <a:prstDash val="solid"/>
            <a:round/>
            <a:headEnd type="none" w="med" len="med"/>
            <a:tailEnd type="none" w="med" len="med"/>
          </a:ln>
          <a:effectLst/>
        </p:spPr>
      </p:cxnSp>
      <p:sp>
        <p:nvSpPr>
          <p:cNvPr id="9" name="正方形/長方形 8">
            <a:extLst>
              <a:ext uri="{FF2B5EF4-FFF2-40B4-BE49-F238E27FC236}">
                <a16:creationId xmlns:a16="http://schemas.microsoft.com/office/drawing/2014/main" id="{D0537EB4-C86D-1E33-585F-37719BBC8AAF}"/>
              </a:ext>
            </a:extLst>
          </p:cNvPr>
          <p:cNvSpPr/>
          <p:nvPr/>
        </p:nvSpPr>
        <p:spPr bwMode="auto">
          <a:xfrm rot="5400000">
            <a:off x="7581016" y="953972"/>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 name="直線コネクタ 9">
            <a:extLst>
              <a:ext uri="{FF2B5EF4-FFF2-40B4-BE49-F238E27FC236}">
                <a16:creationId xmlns:a16="http://schemas.microsoft.com/office/drawing/2014/main" id="{374FCD48-E7A7-80F3-3ACE-A7C41A9308D3}"/>
              </a:ext>
            </a:extLst>
          </p:cNvPr>
          <p:cNvCxnSpPr>
            <a:cxnSpLocks/>
          </p:cNvCxnSpPr>
          <p:nvPr/>
        </p:nvCxnSpPr>
        <p:spPr bwMode="auto">
          <a:xfrm>
            <a:off x="6906009" y="1628980"/>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EF7B9461-F6EF-F57F-53EA-461201555B16}"/>
              </a:ext>
            </a:extLst>
          </p:cNvPr>
          <p:cNvCxnSpPr>
            <a:cxnSpLocks/>
          </p:cNvCxnSpPr>
          <p:nvPr/>
        </p:nvCxnSpPr>
        <p:spPr bwMode="auto">
          <a:xfrm>
            <a:off x="6906009" y="1808982"/>
            <a:ext cx="1350017" cy="0"/>
          </a:xfrm>
          <a:prstGeom prst="line">
            <a:avLst/>
          </a:prstGeom>
          <a:noFill/>
          <a:ln w="19050" cap="flat" cmpd="sng" algn="ctr">
            <a:solidFill>
              <a:schemeClr val="tx1"/>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39C6673B-CD44-4EB3-177E-208100E91647}"/>
              </a:ext>
            </a:extLst>
          </p:cNvPr>
          <p:cNvCxnSpPr>
            <a:cxnSpLocks/>
          </p:cNvCxnSpPr>
          <p:nvPr/>
        </p:nvCxnSpPr>
        <p:spPr bwMode="auto">
          <a:xfrm>
            <a:off x="8256561" y="1808982"/>
            <a:ext cx="0" cy="3150393"/>
          </a:xfrm>
          <a:prstGeom prst="line">
            <a:avLst/>
          </a:prstGeom>
          <a:noFill/>
          <a:ln w="19050" cap="flat" cmpd="sng" algn="ctr">
            <a:solidFill>
              <a:schemeClr val="tx1"/>
            </a:solidFill>
            <a:prstDash val="solid"/>
            <a:round/>
            <a:headEnd type="none" w="med" len="med"/>
            <a:tailEnd type="none" w="med" len="med"/>
          </a:ln>
          <a:effectLst/>
        </p:spPr>
      </p:cxnSp>
      <p:cxnSp>
        <p:nvCxnSpPr>
          <p:cNvPr id="14" name="直線コネクタ 13">
            <a:extLst>
              <a:ext uri="{FF2B5EF4-FFF2-40B4-BE49-F238E27FC236}">
                <a16:creationId xmlns:a16="http://schemas.microsoft.com/office/drawing/2014/main" id="{87FB89EA-E28D-B248-FFFB-C5138E2EF2BE}"/>
              </a:ext>
            </a:extLst>
          </p:cNvPr>
          <p:cNvCxnSpPr>
            <a:cxnSpLocks/>
          </p:cNvCxnSpPr>
          <p:nvPr/>
        </p:nvCxnSpPr>
        <p:spPr bwMode="auto">
          <a:xfrm>
            <a:off x="8436563" y="3519001"/>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02D70DA7-9442-91A6-9126-49CE9C7F6366}"/>
              </a:ext>
            </a:extLst>
          </p:cNvPr>
          <p:cNvCxnSpPr>
            <a:cxnSpLocks/>
          </p:cNvCxnSpPr>
          <p:nvPr/>
        </p:nvCxnSpPr>
        <p:spPr bwMode="auto">
          <a:xfrm>
            <a:off x="8436026" y="1628980"/>
            <a:ext cx="0" cy="1710019"/>
          </a:xfrm>
          <a:prstGeom prst="line">
            <a:avLst/>
          </a:prstGeom>
          <a:noFill/>
          <a:ln w="19050" cap="flat" cmpd="sng" algn="ctr">
            <a:solidFill>
              <a:schemeClr val="tx1"/>
            </a:solidFill>
            <a:prstDash val="solid"/>
            <a:round/>
            <a:headEnd type="none" w="med" len="med"/>
            <a:tailEnd type="none" w="med" len="med"/>
          </a:ln>
          <a:effectLst/>
        </p:spPr>
      </p:cxnSp>
      <p:cxnSp>
        <p:nvCxnSpPr>
          <p:cNvPr id="30" name="直線コネクタ 29">
            <a:extLst>
              <a:ext uri="{FF2B5EF4-FFF2-40B4-BE49-F238E27FC236}">
                <a16:creationId xmlns:a16="http://schemas.microsoft.com/office/drawing/2014/main" id="{98793B44-65A2-F9F8-CB11-2BA2BEC51046}"/>
              </a:ext>
            </a:extLst>
          </p:cNvPr>
          <p:cNvCxnSpPr>
            <a:cxnSpLocks/>
          </p:cNvCxnSpPr>
          <p:nvPr/>
        </p:nvCxnSpPr>
        <p:spPr bwMode="auto">
          <a:xfrm>
            <a:off x="8436025" y="3519000"/>
            <a:ext cx="1260013" cy="0"/>
          </a:xfrm>
          <a:prstGeom prst="line">
            <a:avLst/>
          </a:prstGeom>
          <a:noFill/>
          <a:ln w="19050" cap="flat" cmpd="sng" algn="ctr">
            <a:solidFill>
              <a:schemeClr val="tx1"/>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911E405F-22B2-6238-ABEB-845CDB1F5BC7}"/>
              </a:ext>
            </a:extLst>
          </p:cNvPr>
          <p:cNvCxnSpPr>
            <a:cxnSpLocks/>
          </p:cNvCxnSpPr>
          <p:nvPr/>
        </p:nvCxnSpPr>
        <p:spPr bwMode="auto">
          <a:xfrm>
            <a:off x="8436025" y="3338998"/>
            <a:ext cx="1260013" cy="0"/>
          </a:xfrm>
          <a:prstGeom prst="line">
            <a:avLst/>
          </a:prstGeom>
          <a:noFill/>
          <a:ln w="19050" cap="flat" cmpd="sng" algn="ctr">
            <a:solidFill>
              <a:schemeClr val="tx1"/>
            </a:solidFill>
            <a:prstDash val="solid"/>
            <a:round/>
            <a:headEnd type="none" w="med" len="med"/>
            <a:tailEnd type="none" w="med" len="med"/>
          </a:ln>
          <a:effectLst/>
        </p:spPr>
      </p:cxnSp>
      <p:sp>
        <p:nvSpPr>
          <p:cNvPr id="17" name="正方形/長方形 16">
            <a:extLst>
              <a:ext uri="{FF2B5EF4-FFF2-40B4-BE49-F238E27FC236}">
                <a16:creationId xmlns:a16="http://schemas.microsoft.com/office/drawing/2014/main" id="{B6E9C2DA-12EC-4F2F-EB22-F3E2EADA9E3F}"/>
              </a:ext>
            </a:extLst>
          </p:cNvPr>
          <p:cNvSpPr/>
          <p:nvPr/>
        </p:nvSpPr>
        <p:spPr bwMode="auto">
          <a:xfrm rot="5400000">
            <a:off x="9876040" y="1268976"/>
            <a:ext cx="180003" cy="90001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937538F-948B-694E-1161-BCBE74D07855}"/>
              </a:ext>
            </a:extLst>
          </p:cNvPr>
          <p:cNvSpPr/>
          <p:nvPr/>
        </p:nvSpPr>
        <p:spPr bwMode="auto">
          <a:xfrm rot="5400000">
            <a:off x="10461048" y="1403978"/>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19" name="正方形/長方形 18">
            <a:extLst>
              <a:ext uri="{FF2B5EF4-FFF2-40B4-BE49-F238E27FC236}">
                <a16:creationId xmlns:a16="http://schemas.microsoft.com/office/drawing/2014/main" id="{C469AF16-318F-2134-408E-DEDC59540ACE}"/>
              </a:ext>
            </a:extLst>
          </p:cNvPr>
          <p:cNvSpPr/>
          <p:nvPr/>
        </p:nvSpPr>
        <p:spPr bwMode="auto">
          <a:xfrm rot="5400000">
            <a:off x="7941020" y="3383999"/>
            <a:ext cx="333003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7929699B-8C82-CD5A-3261-DC382BC0CA0E}"/>
              </a:ext>
            </a:extLst>
          </p:cNvPr>
          <p:cNvSpPr/>
          <p:nvPr/>
        </p:nvSpPr>
        <p:spPr bwMode="auto">
          <a:xfrm rot="5400000">
            <a:off x="9966042" y="4689015"/>
            <a:ext cx="180003" cy="720008"/>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5" name="直線コネクタ 24">
            <a:extLst>
              <a:ext uri="{FF2B5EF4-FFF2-40B4-BE49-F238E27FC236}">
                <a16:creationId xmlns:a16="http://schemas.microsoft.com/office/drawing/2014/main" id="{6286D723-92E7-6963-E1A3-B859882C2DB9}"/>
              </a:ext>
            </a:extLst>
          </p:cNvPr>
          <p:cNvCxnSpPr>
            <a:cxnSpLocks/>
          </p:cNvCxnSpPr>
          <p:nvPr/>
        </p:nvCxnSpPr>
        <p:spPr bwMode="auto">
          <a:xfrm>
            <a:off x="9516039" y="1628979"/>
            <a:ext cx="900009" cy="1"/>
          </a:xfrm>
          <a:prstGeom prst="line">
            <a:avLst/>
          </a:prstGeom>
          <a:noFill/>
          <a:ln w="19050" cap="flat" cmpd="sng" algn="ctr">
            <a:solidFill>
              <a:schemeClr val="tx1"/>
            </a:solidFill>
            <a:prstDash val="solid"/>
            <a:round/>
            <a:headEnd type="none" w="med" len="med"/>
            <a:tailEnd type="none" w="med" len="med"/>
          </a:ln>
          <a:effectLst/>
        </p:spPr>
      </p:cxnSp>
      <p:cxnSp>
        <p:nvCxnSpPr>
          <p:cNvPr id="26" name="直線コネクタ 25">
            <a:extLst>
              <a:ext uri="{FF2B5EF4-FFF2-40B4-BE49-F238E27FC236}">
                <a16:creationId xmlns:a16="http://schemas.microsoft.com/office/drawing/2014/main" id="{3D92774A-1D00-93EF-6816-3549CD56763B}"/>
              </a:ext>
            </a:extLst>
          </p:cNvPr>
          <p:cNvCxnSpPr>
            <a:cxnSpLocks/>
          </p:cNvCxnSpPr>
          <p:nvPr/>
        </p:nvCxnSpPr>
        <p:spPr bwMode="auto">
          <a:xfrm>
            <a:off x="9696041" y="1808981"/>
            <a:ext cx="720007" cy="0"/>
          </a:xfrm>
          <a:prstGeom prst="line">
            <a:avLst/>
          </a:prstGeom>
          <a:noFill/>
          <a:ln w="19050" cap="flat" cmpd="sng" algn="ctr">
            <a:solidFill>
              <a:schemeClr val="tx1"/>
            </a:solidFill>
            <a:prstDash val="solid"/>
            <a:round/>
            <a:headEnd type="none" w="med" len="med"/>
            <a:tailEnd type="none" w="med" len="med"/>
          </a:ln>
          <a:effectLst/>
        </p:spPr>
      </p:cxnSp>
      <p:cxnSp>
        <p:nvCxnSpPr>
          <p:cNvPr id="27" name="直線コネクタ 26">
            <a:extLst>
              <a:ext uri="{FF2B5EF4-FFF2-40B4-BE49-F238E27FC236}">
                <a16:creationId xmlns:a16="http://schemas.microsoft.com/office/drawing/2014/main" id="{6FD33837-ABB3-3340-ADB6-34F13255C959}"/>
              </a:ext>
            </a:extLst>
          </p:cNvPr>
          <p:cNvCxnSpPr>
            <a:cxnSpLocks/>
          </p:cNvCxnSpPr>
          <p:nvPr/>
        </p:nvCxnSpPr>
        <p:spPr bwMode="auto">
          <a:xfrm>
            <a:off x="9696040" y="4959019"/>
            <a:ext cx="720008" cy="0"/>
          </a:xfrm>
          <a:prstGeom prst="line">
            <a:avLst/>
          </a:prstGeom>
          <a:noFill/>
          <a:ln w="19050" cap="flat" cmpd="sng" algn="ctr">
            <a:solidFill>
              <a:schemeClr val="tx1"/>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BDA61227-CF51-4567-2FE0-8EBD13B8E3C8}"/>
              </a:ext>
            </a:extLst>
          </p:cNvPr>
          <p:cNvCxnSpPr>
            <a:cxnSpLocks/>
          </p:cNvCxnSpPr>
          <p:nvPr/>
        </p:nvCxnSpPr>
        <p:spPr bwMode="auto">
          <a:xfrm>
            <a:off x="9516038" y="5139022"/>
            <a:ext cx="900010" cy="0"/>
          </a:xfrm>
          <a:prstGeom prst="line">
            <a:avLst/>
          </a:prstGeom>
          <a:noFill/>
          <a:ln w="19050" cap="flat" cmpd="sng" algn="ctr">
            <a:solidFill>
              <a:schemeClr val="tx1"/>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57CBCA4E-9A0C-AAC1-BAF0-33050D73F8A5}"/>
              </a:ext>
            </a:extLst>
          </p:cNvPr>
          <p:cNvCxnSpPr>
            <a:cxnSpLocks/>
          </p:cNvCxnSpPr>
          <p:nvPr/>
        </p:nvCxnSpPr>
        <p:spPr bwMode="auto">
          <a:xfrm>
            <a:off x="9696041" y="1808981"/>
            <a:ext cx="537" cy="3150393"/>
          </a:xfrm>
          <a:prstGeom prst="line">
            <a:avLst/>
          </a:prstGeom>
          <a:noFill/>
          <a:ln w="19050" cap="flat" cmpd="sng" algn="ctr">
            <a:solidFill>
              <a:schemeClr val="tx1"/>
            </a:solidFill>
            <a:prstDash val="solid"/>
            <a:round/>
            <a:headEnd type="none" w="med" len="med"/>
            <a:tailEnd type="none" w="med" len="med"/>
          </a:ln>
          <a:effectLst/>
        </p:spPr>
      </p:cxnSp>
      <p:cxnSp>
        <p:nvCxnSpPr>
          <p:cNvPr id="31" name="直線コネクタ 30">
            <a:extLst>
              <a:ext uri="{FF2B5EF4-FFF2-40B4-BE49-F238E27FC236}">
                <a16:creationId xmlns:a16="http://schemas.microsoft.com/office/drawing/2014/main" id="{6FFE099D-B29C-348F-EC38-44DB51C31560}"/>
              </a:ext>
            </a:extLst>
          </p:cNvPr>
          <p:cNvCxnSpPr>
            <a:cxnSpLocks/>
          </p:cNvCxnSpPr>
          <p:nvPr/>
        </p:nvCxnSpPr>
        <p:spPr bwMode="auto">
          <a:xfrm>
            <a:off x="9516039" y="1628979"/>
            <a:ext cx="0" cy="1710020"/>
          </a:xfrm>
          <a:prstGeom prst="line">
            <a:avLst/>
          </a:prstGeom>
          <a:noFill/>
          <a:ln w="19050" cap="flat" cmpd="sng" algn="ctr">
            <a:solidFill>
              <a:schemeClr val="tx1"/>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8FE196B2-9F9B-4332-7333-9B07D4988213}"/>
              </a:ext>
            </a:extLst>
          </p:cNvPr>
          <p:cNvCxnSpPr>
            <a:cxnSpLocks/>
          </p:cNvCxnSpPr>
          <p:nvPr/>
        </p:nvCxnSpPr>
        <p:spPr bwMode="auto">
          <a:xfrm>
            <a:off x="9516038" y="3519001"/>
            <a:ext cx="0" cy="1620018"/>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C0409F30-16C6-F16C-3581-CD8989D4C9A4}"/>
              </a:ext>
            </a:extLst>
          </p:cNvPr>
          <p:cNvCxnSpPr>
            <a:cxnSpLocks/>
          </p:cNvCxnSpPr>
          <p:nvPr/>
        </p:nvCxnSpPr>
        <p:spPr bwMode="auto">
          <a:xfrm>
            <a:off x="10416050" y="1898983"/>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69BFBF7E-7361-8A0F-CB84-F600271E408D}"/>
              </a:ext>
            </a:extLst>
          </p:cNvPr>
          <p:cNvCxnSpPr>
            <a:cxnSpLocks/>
          </p:cNvCxnSpPr>
          <p:nvPr/>
        </p:nvCxnSpPr>
        <p:spPr bwMode="auto">
          <a:xfrm>
            <a:off x="10416050" y="1448977"/>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39" name="直線コネクタ 38">
            <a:extLst>
              <a:ext uri="{FF2B5EF4-FFF2-40B4-BE49-F238E27FC236}">
                <a16:creationId xmlns:a16="http://schemas.microsoft.com/office/drawing/2014/main" id="{E4175443-CE7D-65E6-F6CB-1684DF12FF4B}"/>
              </a:ext>
            </a:extLst>
          </p:cNvPr>
          <p:cNvCxnSpPr>
            <a:cxnSpLocks/>
          </p:cNvCxnSpPr>
          <p:nvPr/>
        </p:nvCxnSpPr>
        <p:spPr bwMode="auto">
          <a:xfrm>
            <a:off x="10956056" y="1448977"/>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28B1DCE6-A895-677A-08AA-6ABC071ACA5C}"/>
              </a:ext>
            </a:extLst>
          </p:cNvPr>
          <p:cNvCxnSpPr>
            <a:cxnSpLocks/>
          </p:cNvCxnSpPr>
          <p:nvPr/>
        </p:nvCxnSpPr>
        <p:spPr bwMode="auto">
          <a:xfrm flipV="1">
            <a:off x="10686051" y="1898983"/>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41" name="正方形/長方形 40">
            <a:extLst>
              <a:ext uri="{FF2B5EF4-FFF2-40B4-BE49-F238E27FC236}">
                <a16:creationId xmlns:a16="http://schemas.microsoft.com/office/drawing/2014/main" id="{B4317BAB-B5A1-EA94-01B5-5030FCBDEC47}"/>
              </a:ext>
            </a:extLst>
          </p:cNvPr>
          <p:cNvSpPr/>
          <p:nvPr/>
        </p:nvSpPr>
        <p:spPr bwMode="auto">
          <a:xfrm rot="5400000">
            <a:off x="10416048" y="2258987"/>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BE2461B0-6CB9-9B81-DFDC-8820BB2940BE}"/>
              </a:ext>
            </a:extLst>
          </p:cNvPr>
          <p:cNvSpPr/>
          <p:nvPr/>
        </p:nvSpPr>
        <p:spPr bwMode="auto">
          <a:xfrm rot="5400000" flipH="1">
            <a:off x="10641050" y="2753990"/>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43" name="直線コネクタ 42">
            <a:extLst>
              <a:ext uri="{FF2B5EF4-FFF2-40B4-BE49-F238E27FC236}">
                <a16:creationId xmlns:a16="http://schemas.microsoft.com/office/drawing/2014/main" id="{5F87F2D1-29D3-301C-9CC9-D9349AD5B209}"/>
              </a:ext>
            </a:extLst>
          </p:cNvPr>
          <p:cNvCxnSpPr>
            <a:cxnSpLocks/>
          </p:cNvCxnSpPr>
          <p:nvPr/>
        </p:nvCxnSpPr>
        <p:spPr bwMode="auto">
          <a:xfrm flipH="1">
            <a:off x="10776054" y="2618989"/>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44" name="直線コネクタ 43">
            <a:extLst>
              <a:ext uri="{FF2B5EF4-FFF2-40B4-BE49-F238E27FC236}">
                <a16:creationId xmlns:a16="http://schemas.microsoft.com/office/drawing/2014/main" id="{A03C9579-42F7-5CF8-BA16-BD8F817AB1FF}"/>
              </a:ext>
            </a:extLst>
          </p:cNvPr>
          <p:cNvCxnSpPr>
            <a:cxnSpLocks/>
          </p:cNvCxnSpPr>
          <p:nvPr/>
        </p:nvCxnSpPr>
        <p:spPr bwMode="auto">
          <a:xfrm flipH="1">
            <a:off x="10596053" y="2618989"/>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45" name="直線コネクタ 44">
            <a:extLst>
              <a:ext uri="{FF2B5EF4-FFF2-40B4-BE49-F238E27FC236}">
                <a16:creationId xmlns:a16="http://schemas.microsoft.com/office/drawing/2014/main" id="{63829541-51CB-EBBA-0CBB-A15DF6D27C0C}"/>
              </a:ext>
            </a:extLst>
          </p:cNvPr>
          <p:cNvCxnSpPr>
            <a:cxnSpLocks/>
          </p:cNvCxnSpPr>
          <p:nvPr/>
        </p:nvCxnSpPr>
        <p:spPr bwMode="auto">
          <a:xfrm flipV="1">
            <a:off x="10416049" y="1808981"/>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202" name="直線コネクタ 201">
            <a:extLst>
              <a:ext uri="{FF2B5EF4-FFF2-40B4-BE49-F238E27FC236}">
                <a16:creationId xmlns:a16="http://schemas.microsoft.com/office/drawing/2014/main" id="{8FBB7A99-954B-7624-ABC0-DF97B2E7DAD3}"/>
              </a:ext>
            </a:extLst>
          </p:cNvPr>
          <p:cNvCxnSpPr>
            <a:cxnSpLocks/>
          </p:cNvCxnSpPr>
          <p:nvPr/>
        </p:nvCxnSpPr>
        <p:spPr bwMode="auto">
          <a:xfrm>
            <a:off x="10416048" y="5229021"/>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203" name="直線コネクタ 202">
            <a:extLst>
              <a:ext uri="{FF2B5EF4-FFF2-40B4-BE49-F238E27FC236}">
                <a16:creationId xmlns:a16="http://schemas.microsoft.com/office/drawing/2014/main" id="{1C7AF6C4-0D7D-7D3B-BB5E-14E183EA253E}"/>
              </a:ext>
            </a:extLst>
          </p:cNvPr>
          <p:cNvCxnSpPr>
            <a:cxnSpLocks/>
          </p:cNvCxnSpPr>
          <p:nvPr/>
        </p:nvCxnSpPr>
        <p:spPr bwMode="auto">
          <a:xfrm>
            <a:off x="10416048" y="4779015"/>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204" name="直線コネクタ 203">
            <a:extLst>
              <a:ext uri="{FF2B5EF4-FFF2-40B4-BE49-F238E27FC236}">
                <a16:creationId xmlns:a16="http://schemas.microsoft.com/office/drawing/2014/main" id="{2A985DDA-C8BC-7EEF-15B5-04AD36FC759F}"/>
              </a:ext>
            </a:extLst>
          </p:cNvPr>
          <p:cNvCxnSpPr>
            <a:cxnSpLocks/>
          </p:cNvCxnSpPr>
          <p:nvPr/>
        </p:nvCxnSpPr>
        <p:spPr bwMode="auto">
          <a:xfrm>
            <a:off x="10956054" y="4779015"/>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205" name="直線コネクタ 204">
            <a:extLst>
              <a:ext uri="{FF2B5EF4-FFF2-40B4-BE49-F238E27FC236}">
                <a16:creationId xmlns:a16="http://schemas.microsoft.com/office/drawing/2014/main" id="{5BB2D490-EEA9-4155-590C-A802F7983645}"/>
              </a:ext>
            </a:extLst>
          </p:cNvPr>
          <p:cNvCxnSpPr>
            <a:cxnSpLocks/>
          </p:cNvCxnSpPr>
          <p:nvPr/>
        </p:nvCxnSpPr>
        <p:spPr bwMode="auto">
          <a:xfrm flipV="1">
            <a:off x="10686049" y="5229021"/>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206" name="正方形/長方形 205">
            <a:extLst>
              <a:ext uri="{FF2B5EF4-FFF2-40B4-BE49-F238E27FC236}">
                <a16:creationId xmlns:a16="http://schemas.microsoft.com/office/drawing/2014/main" id="{32968234-2E2D-4230-10D9-15EBA8CDE6F2}"/>
              </a:ext>
            </a:extLst>
          </p:cNvPr>
          <p:cNvSpPr/>
          <p:nvPr/>
        </p:nvSpPr>
        <p:spPr bwMode="auto">
          <a:xfrm rot="5400000">
            <a:off x="10596048" y="5409023"/>
            <a:ext cx="180002"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07" name="正方形/長方形 206">
            <a:extLst>
              <a:ext uri="{FF2B5EF4-FFF2-40B4-BE49-F238E27FC236}">
                <a16:creationId xmlns:a16="http://schemas.microsoft.com/office/drawing/2014/main" id="{7A8637ED-1D3B-8791-B677-1804EFFAE811}"/>
              </a:ext>
            </a:extLst>
          </p:cNvPr>
          <p:cNvSpPr/>
          <p:nvPr/>
        </p:nvSpPr>
        <p:spPr bwMode="auto">
          <a:xfrm rot="5400000" flipH="1">
            <a:off x="10461044" y="5904026"/>
            <a:ext cx="450004"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08" name="直線コネクタ 207">
            <a:extLst>
              <a:ext uri="{FF2B5EF4-FFF2-40B4-BE49-F238E27FC236}">
                <a16:creationId xmlns:a16="http://schemas.microsoft.com/office/drawing/2014/main" id="{3A596151-8EFD-90EF-2916-C31AD9BC3864}"/>
              </a:ext>
            </a:extLst>
          </p:cNvPr>
          <p:cNvCxnSpPr>
            <a:cxnSpLocks/>
          </p:cNvCxnSpPr>
          <p:nvPr/>
        </p:nvCxnSpPr>
        <p:spPr bwMode="auto">
          <a:xfrm flipH="1">
            <a:off x="10776048" y="5589023"/>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10" name="直線コネクタ 209">
            <a:extLst>
              <a:ext uri="{FF2B5EF4-FFF2-40B4-BE49-F238E27FC236}">
                <a16:creationId xmlns:a16="http://schemas.microsoft.com/office/drawing/2014/main" id="{10B456A2-2271-0B2B-E322-C87D0291CE42}"/>
              </a:ext>
            </a:extLst>
          </p:cNvPr>
          <p:cNvCxnSpPr>
            <a:cxnSpLocks/>
          </p:cNvCxnSpPr>
          <p:nvPr/>
        </p:nvCxnSpPr>
        <p:spPr bwMode="auto">
          <a:xfrm flipH="1">
            <a:off x="10596047" y="5589023"/>
            <a:ext cx="5"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11" name="直線コネクタ 210">
            <a:extLst>
              <a:ext uri="{FF2B5EF4-FFF2-40B4-BE49-F238E27FC236}">
                <a16:creationId xmlns:a16="http://schemas.microsoft.com/office/drawing/2014/main" id="{B1B00B70-B73B-63DF-E08B-CF17C27613CC}"/>
              </a:ext>
            </a:extLst>
          </p:cNvPr>
          <p:cNvCxnSpPr>
            <a:cxnSpLocks/>
          </p:cNvCxnSpPr>
          <p:nvPr/>
        </p:nvCxnSpPr>
        <p:spPr bwMode="auto">
          <a:xfrm>
            <a:off x="10416048" y="5139019"/>
            <a:ext cx="0" cy="90001"/>
          </a:xfrm>
          <a:prstGeom prst="line">
            <a:avLst/>
          </a:prstGeom>
          <a:noFill/>
          <a:ln w="19050" cap="rnd" cmpd="sng" algn="ctr">
            <a:solidFill>
              <a:schemeClr val="accent5"/>
            </a:solidFill>
            <a:prstDash val="solid"/>
            <a:round/>
            <a:headEnd type="none" w="med" len="med"/>
            <a:tailEnd type="none" w="med" len="med"/>
          </a:ln>
          <a:effectLst/>
        </p:spPr>
      </p:cxnSp>
      <p:cxnSp>
        <p:nvCxnSpPr>
          <p:cNvPr id="215" name="直線コネクタ 214">
            <a:extLst>
              <a:ext uri="{FF2B5EF4-FFF2-40B4-BE49-F238E27FC236}">
                <a16:creationId xmlns:a16="http://schemas.microsoft.com/office/drawing/2014/main" id="{09625A50-6A35-278F-73F5-4635ECCAF1CE}"/>
              </a:ext>
            </a:extLst>
          </p:cNvPr>
          <p:cNvCxnSpPr>
            <a:cxnSpLocks/>
          </p:cNvCxnSpPr>
          <p:nvPr/>
        </p:nvCxnSpPr>
        <p:spPr bwMode="auto">
          <a:xfrm>
            <a:off x="6906009" y="5139019"/>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19" name="直線矢印コネクタ 218">
            <a:extLst>
              <a:ext uri="{FF2B5EF4-FFF2-40B4-BE49-F238E27FC236}">
                <a16:creationId xmlns:a16="http://schemas.microsoft.com/office/drawing/2014/main" id="{74881F6C-CEE1-87E3-18E4-E3154CA5B670}"/>
              </a:ext>
            </a:extLst>
          </p:cNvPr>
          <p:cNvCxnSpPr>
            <a:cxnSpLocks/>
          </p:cNvCxnSpPr>
          <p:nvPr/>
        </p:nvCxnSpPr>
        <p:spPr bwMode="auto">
          <a:xfrm flipV="1">
            <a:off x="6636006" y="1808982"/>
            <a:ext cx="0" cy="3060034"/>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20" name="正方形/長方形 219">
            <a:extLst>
              <a:ext uri="{FF2B5EF4-FFF2-40B4-BE49-F238E27FC236}">
                <a16:creationId xmlns:a16="http://schemas.microsoft.com/office/drawing/2014/main" id="{B83396CD-2DD7-59AC-3743-9B3A2F965CDD}"/>
              </a:ext>
            </a:extLst>
          </p:cNvPr>
          <p:cNvSpPr/>
          <p:nvPr/>
        </p:nvSpPr>
        <p:spPr bwMode="auto">
          <a:xfrm>
            <a:off x="6636006" y="306899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高さ</a:t>
            </a:r>
            <a:r>
              <a:rPr lang="en-US" altLang="ja-JP" sz="2400" b="1" dirty="0">
                <a:solidFill>
                  <a:schemeClr val="accent5"/>
                </a:solidFill>
              </a:rPr>
              <a:t> V </a:t>
            </a:r>
            <a:endParaRPr lang="ja-JP" altLang="en-US" sz="2400" b="1" dirty="0">
              <a:solidFill>
                <a:schemeClr val="accent5"/>
              </a:solidFill>
            </a:endParaRPr>
          </a:p>
        </p:txBody>
      </p:sp>
      <p:sp>
        <p:nvSpPr>
          <p:cNvPr id="225" name="正方形/長方形 224">
            <a:extLst>
              <a:ext uri="{FF2B5EF4-FFF2-40B4-BE49-F238E27FC236}">
                <a16:creationId xmlns:a16="http://schemas.microsoft.com/office/drawing/2014/main" id="{C4C6B40E-C1F5-1F40-2370-F913BD969163}"/>
              </a:ext>
            </a:extLst>
          </p:cNvPr>
          <p:cNvSpPr/>
          <p:nvPr/>
        </p:nvSpPr>
        <p:spPr bwMode="auto">
          <a:xfrm rot="5400000">
            <a:off x="7266011" y="1268977"/>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26" name="正方形/長方形 225">
            <a:extLst>
              <a:ext uri="{FF2B5EF4-FFF2-40B4-BE49-F238E27FC236}">
                <a16:creationId xmlns:a16="http://schemas.microsoft.com/office/drawing/2014/main" id="{55AF84A9-239B-FFAC-2C8C-CD5CE5869C5F}"/>
              </a:ext>
            </a:extLst>
          </p:cNvPr>
          <p:cNvSpPr/>
          <p:nvPr/>
        </p:nvSpPr>
        <p:spPr bwMode="auto">
          <a:xfrm rot="5400000" flipH="1">
            <a:off x="7491013" y="1763980"/>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27" name="直線コネクタ 226">
            <a:extLst>
              <a:ext uri="{FF2B5EF4-FFF2-40B4-BE49-F238E27FC236}">
                <a16:creationId xmlns:a16="http://schemas.microsoft.com/office/drawing/2014/main" id="{5024C3EF-F04A-3D53-7043-D66701D686E3}"/>
              </a:ext>
            </a:extLst>
          </p:cNvPr>
          <p:cNvCxnSpPr>
            <a:cxnSpLocks/>
          </p:cNvCxnSpPr>
          <p:nvPr/>
        </p:nvCxnSpPr>
        <p:spPr bwMode="auto">
          <a:xfrm flipH="1">
            <a:off x="7626017" y="1628979"/>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28" name="直線コネクタ 227">
            <a:extLst>
              <a:ext uri="{FF2B5EF4-FFF2-40B4-BE49-F238E27FC236}">
                <a16:creationId xmlns:a16="http://schemas.microsoft.com/office/drawing/2014/main" id="{3D8CD2F4-E317-2C3B-7571-5C620A866A2C}"/>
              </a:ext>
            </a:extLst>
          </p:cNvPr>
          <p:cNvCxnSpPr>
            <a:cxnSpLocks/>
          </p:cNvCxnSpPr>
          <p:nvPr/>
        </p:nvCxnSpPr>
        <p:spPr bwMode="auto">
          <a:xfrm flipH="1">
            <a:off x="7446016" y="1628979"/>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30" name="正方形/長方形 229">
            <a:extLst>
              <a:ext uri="{FF2B5EF4-FFF2-40B4-BE49-F238E27FC236}">
                <a16:creationId xmlns:a16="http://schemas.microsoft.com/office/drawing/2014/main" id="{7A2C1D6A-81FB-72B9-9519-8A982FA23148}"/>
              </a:ext>
            </a:extLst>
          </p:cNvPr>
          <p:cNvSpPr/>
          <p:nvPr/>
        </p:nvSpPr>
        <p:spPr bwMode="auto">
          <a:xfrm rot="5400000">
            <a:off x="7266012" y="4869017"/>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31" name="正方形/長方形 230">
            <a:extLst>
              <a:ext uri="{FF2B5EF4-FFF2-40B4-BE49-F238E27FC236}">
                <a16:creationId xmlns:a16="http://schemas.microsoft.com/office/drawing/2014/main" id="{DEA7C9D5-E261-DC66-AD57-13900CC895BD}"/>
              </a:ext>
            </a:extLst>
          </p:cNvPr>
          <p:cNvSpPr/>
          <p:nvPr/>
        </p:nvSpPr>
        <p:spPr bwMode="auto">
          <a:xfrm rot="5400000" flipH="1">
            <a:off x="7491014" y="5364020"/>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32" name="直線コネクタ 231">
            <a:extLst>
              <a:ext uri="{FF2B5EF4-FFF2-40B4-BE49-F238E27FC236}">
                <a16:creationId xmlns:a16="http://schemas.microsoft.com/office/drawing/2014/main" id="{773FC1A8-ED85-009E-21A8-B0685E2FDF00}"/>
              </a:ext>
            </a:extLst>
          </p:cNvPr>
          <p:cNvCxnSpPr>
            <a:cxnSpLocks/>
          </p:cNvCxnSpPr>
          <p:nvPr/>
        </p:nvCxnSpPr>
        <p:spPr bwMode="auto">
          <a:xfrm flipH="1">
            <a:off x="7626018" y="5229019"/>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33" name="直線コネクタ 232">
            <a:extLst>
              <a:ext uri="{FF2B5EF4-FFF2-40B4-BE49-F238E27FC236}">
                <a16:creationId xmlns:a16="http://schemas.microsoft.com/office/drawing/2014/main" id="{E3BD5A4A-7781-1036-16C3-DE68FB9AA560}"/>
              </a:ext>
            </a:extLst>
          </p:cNvPr>
          <p:cNvCxnSpPr>
            <a:cxnSpLocks/>
          </p:cNvCxnSpPr>
          <p:nvPr/>
        </p:nvCxnSpPr>
        <p:spPr bwMode="auto">
          <a:xfrm flipH="1">
            <a:off x="7446017" y="5229019"/>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36" name="正方形/長方形 235">
            <a:extLst>
              <a:ext uri="{FF2B5EF4-FFF2-40B4-BE49-F238E27FC236}">
                <a16:creationId xmlns:a16="http://schemas.microsoft.com/office/drawing/2014/main" id="{99F1DECC-5A52-3E37-C906-11104C8D4ECE}"/>
              </a:ext>
            </a:extLst>
          </p:cNvPr>
          <p:cNvSpPr/>
          <p:nvPr/>
        </p:nvSpPr>
        <p:spPr bwMode="auto">
          <a:xfrm>
            <a:off x="8346025" y="306899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水量 </a:t>
            </a:r>
            <a:r>
              <a:rPr lang="en-US" altLang="ja-JP" sz="2400" b="1" dirty="0">
                <a:solidFill>
                  <a:schemeClr val="accent5"/>
                </a:solidFill>
              </a:rPr>
              <a:t>Q</a:t>
            </a:r>
            <a:endParaRPr lang="ja-JP" altLang="en-US" sz="2400" b="1" dirty="0">
              <a:solidFill>
                <a:schemeClr val="accent5"/>
              </a:solidFill>
            </a:endParaRPr>
          </a:p>
        </p:txBody>
      </p:sp>
      <p:cxnSp>
        <p:nvCxnSpPr>
          <p:cNvPr id="237" name="直線矢印コネクタ 236">
            <a:extLst>
              <a:ext uri="{FF2B5EF4-FFF2-40B4-BE49-F238E27FC236}">
                <a16:creationId xmlns:a16="http://schemas.microsoft.com/office/drawing/2014/main" id="{7BC1AA68-8B26-BAEB-BF78-948166F2226B}"/>
              </a:ext>
            </a:extLst>
          </p:cNvPr>
          <p:cNvCxnSpPr>
            <a:cxnSpLocks/>
          </p:cNvCxnSpPr>
          <p:nvPr/>
        </p:nvCxnSpPr>
        <p:spPr bwMode="auto">
          <a:xfrm>
            <a:off x="6816008" y="1718981"/>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40773574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65943" y="31490"/>
            <a:ext cx="10776052" cy="908972"/>
          </a:xfrm>
        </p:spPr>
        <p:txBody>
          <a:bodyPr/>
          <a:lstStyle/>
          <a:p>
            <a:r>
              <a:rPr lang="ja-JP" altLang="en-US" dirty="0"/>
              <a:t>補足：スイッチの </a:t>
            </a:r>
            <a:r>
              <a:rPr lang="en-US" altLang="ja-JP" dirty="0"/>
              <a:t>ON/OFF </a:t>
            </a:r>
            <a:r>
              <a:rPr lang="ja-JP" altLang="en-US" dirty="0"/>
              <a:t>以外による消費エネルギー</a:t>
            </a:r>
            <a:endParaRPr kumimoji="1" lang="ja-JP" altLang="en-US" dirty="0"/>
          </a:p>
        </p:txBody>
      </p:sp>
      <p:sp>
        <p:nvSpPr>
          <p:cNvPr id="3" name="テキスト プレースホルダー 2"/>
          <p:cNvSpPr>
            <a:spLocks noGrp="1"/>
          </p:cNvSpPr>
          <p:nvPr>
            <p:ph type="body" sz="quarter" idx="10"/>
          </p:nvPr>
        </p:nvSpPr>
        <p:spPr>
          <a:xfrm>
            <a:off x="1775951" y="1088974"/>
            <a:ext cx="9630107" cy="5490061"/>
          </a:xfrm>
        </p:spPr>
        <p:txBody>
          <a:bodyPr/>
          <a:lstStyle/>
          <a:p>
            <a:r>
              <a:rPr lang="ja-JP" altLang="en-US" dirty="0"/>
              <a:t>その他に，リーク電流と呼ばれるものもある</a:t>
            </a:r>
            <a:endParaRPr lang="en-US" altLang="ja-JP" dirty="0"/>
          </a:p>
          <a:p>
            <a:pPr lvl="1"/>
            <a:r>
              <a:rPr lang="ja-JP" altLang="en-US" dirty="0"/>
              <a:t>トランジスタを </a:t>
            </a:r>
            <a:r>
              <a:rPr lang="en-US" altLang="ja-JP" dirty="0"/>
              <a:t>OFF </a:t>
            </a:r>
            <a:r>
              <a:rPr lang="ja-JP" altLang="en-US" dirty="0"/>
              <a:t>にしていても，流れ続けてしまう電流</a:t>
            </a:r>
            <a:endParaRPr lang="en-US" altLang="ja-JP" dirty="0"/>
          </a:p>
          <a:p>
            <a:r>
              <a:rPr lang="ja-JP" altLang="en-US" dirty="0"/>
              <a:t>分類：</a:t>
            </a:r>
            <a:endParaRPr lang="en-US" altLang="ja-JP" dirty="0"/>
          </a:p>
          <a:p>
            <a:pPr lvl="1"/>
            <a:r>
              <a:rPr lang="ja-JP" altLang="en-US" dirty="0"/>
              <a:t>充放電によるもの：動的（</a:t>
            </a:r>
            <a:r>
              <a:rPr lang="en-US" altLang="ja-JP" dirty="0"/>
              <a:t>dynamic</a:t>
            </a:r>
            <a:r>
              <a:rPr lang="ja-JP" altLang="en-US" dirty="0"/>
              <a:t>）消費電力</a:t>
            </a:r>
            <a:endParaRPr lang="en-US" altLang="ja-JP" dirty="0"/>
          </a:p>
          <a:p>
            <a:pPr lvl="1"/>
            <a:r>
              <a:rPr lang="ja-JP" altLang="en-US" dirty="0"/>
              <a:t>リークによるもの：静的（</a:t>
            </a:r>
            <a:r>
              <a:rPr lang="en-US" altLang="ja-JP" dirty="0"/>
              <a:t>static</a:t>
            </a:r>
            <a:r>
              <a:rPr lang="ja-JP" altLang="en-US" dirty="0"/>
              <a:t>）消費電力</a:t>
            </a:r>
            <a:endParaRPr lang="en-US" altLang="ja-JP" dirty="0"/>
          </a:p>
          <a:p>
            <a:r>
              <a:rPr kumimoji="1" lang="ja-JP" altLang="en-US" dirty="0"/>
              <a:t>リークは，栓が完璧ではないのでチロチロ水が漏れているイメージ</a:t>
            </a:r>
            <a:endParaRPr kumimoji="1" lang="en-US" altLang="ja-JP" dirty="0"/>
          </a:p>
        </p:txBody>
      </p:sp>
    </p:spTree>
    <p:extLst>
      <p:ext uri="{BB962C8B-B14F-4D97-AF65-F5344CB8AC3E}">
        <p14:creationId xmlns:p14="http://schemas.microsoft.com/office/powerpoint/2010/main" val="2574529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E4C17-1332-7F96-5503-74AABD5E0787}"/>
              </a:ext>
            </a:extLst>
          </p:cNvPr>
          <p:cNvSpPr>
            <a:spLocks noGrp="1"/>
          </p:cNvSpPr>
          <p:nvPr>
            <p:ph type="title"/>
          </p:nvPr>
        </p:nvSpPr>
        <p:spPr>
          <a:xfrm>
            <a:off x="875942" y="0"/>
            <a:ext cx="11316058" cy="908972"/>
          </a:xfrm>
        </p:spPr>
        <p:txBody>
          <a:bodyPr/>
          <a:lstStyle/>
          <a:p>
            <a:r>
              <a:rPr kumimoji="1" lang="ja-JP" altLang="en-US" dirty="0"/>
              <a:t>水流システムのアナロジー</a:t>
            </a:r>
            <a:r>
              <a:rPr lang="ja-JP" altLang="en-US" dirty="0"/>
              <a:t>から説明できること</a:t>
            </a:r>
            <a:endParaRPr kumimoji="1" lang="en-US" dirty="0"/>
          </a:p>
        </p:txBody>
      </p:sp>
      <p:sp>
        <p:nvSpPr>
          <p:cNvPr id="3" name="テキスト プレースホルダー 2">
            <a:extLst>
              <a:ext uri="{FF2B5EF4-FFF2-40B4-BE49-F238E27FC236}">
                <a16:creationId xmlns:a16="http://schemas.microsoft.com/office/drawing/2014/main" id="{69D014C6-E436-4CBB-7774-0F62FCB3EA4A}"/>
              </a:ext>
            </a:extLst>
          </p:cNvPr>
          <p:cNvSpPr>
            <a:spLocks noGrp="1"/>
          </p:cNvSpPr>
          <p:nvPr>
            <p:ph type="body" sz="quarter" idx="10"/>
          </p:nvPr>
        </p:nvSpPr>
        <p:spPr>
          <a:xfrm>
            <a:off x="965943" y="1088974"/>
            <a:ext cx="10530117" cy="5490061"/>
          </a:xfrm>
        </p:spPr>
        <p:txBody>
          <a:bodyPr/>
          <a:lstStyle/>
          <a:p>
            <a:r>
              <a:rPr kumimoji="1" lang="ja-JP" altLang="en-US" dirty="0"/>
              <a:t>消費エネルギー：</a:t>
            </a:r>
            <a:endParaRPr kumimoji="1" lang="en-US" altLang="ja-JP" dirty="0"/>
          </a:p>
          <a:p>
            <a:pPr lvl="1"/>
            <a:r>
              <a:rPr kumimoji="1" lang="ja-JP" altLang="en-US" dirty="0"/>
              <a:t>回路：全 </a:t>
            </a:r>
            <a:r>
              <a:rPr kumimoji="1" lang="en-US" altLang="ja-JP" dirty="0"/>
              <a:t>PMOS/NMOS </a:t>
            </a:r>
            <a:r>
              <a:rPr kumimoji="1" lang="ja-JP" altLang="en-US" dirty="0"/>
              <a:t>のコンデンサに溜まる電荷量 </a:t>
            </a:r>
            <a:r>
              <a:rPr kumimoji="1" lang="en-US" altLang="ja-JP" dirty="0"/>
              <a:t>Q </a:t>
            </a:r>
            <a:r>
              <a:rPr kumimoji="1" lang="ja-JP" altLang="en-US" dirty="0"/>
              <a:t>と，電圧 </a:t>
            </a:r>
            <a:r>
              <a:rPr kumimoji="1" lang="en-US" altLang="ja-JP" dirty="0"/>
              <a:t>V </a:t>
            </a:r>
            <a:r>
              <a:rPr kumimoji="1" lang="ja-JP" altLang="en-US" dirty="0"/>
              <a:t>によって決まる</a:t>
            </a:r>
            <a:endParaRPr kumimoji="1" lang="en-US" altLang="ja-JP" dirty="0"/>
          </a:p>
          <a:p>
            <a:pPr lvl="1"/>
            <a:r>
              <a:rPr kumimoji="1" lang="ja-JP" altLang="en-US" dirty="0"/>
              <a:t>水流：全タンクにたまる総水量 </a:t>
            </a:r>
            <a:r>
              <a:rPr kumimoji="1" lang="en-US" altLang="ja-JP" dirty="0"/>
              <a:t>Q </a:t>
            </a:r>
            <a:r>
              <a:rPr kumimoji="1" lang="ja-JP" altLang="en-US" dirty="0"/>
              <a:t>と，高さ </a:t>
            </a:r>
            <a:r>
              <a:rPr kumimoji="1" lang="en-US" altLang="ja-JP" dirty="0"/>
              <a:t>V </a:t>
            </a:r>
            <a:r>
              <a:rPr kumimoji="1" lang="ja-JP" altLang="en-US" dirty="0"/>
              <a:t>によって決まる</a:t>
            </a:r>
            <a:endParaRPr kumimoji="1" lang="en-US" altLang="ja-JP" dirty="0"/>
          </a:p>
          <a:p>
            <a:r>
              <a:rPr kumimoji="1" lang="ja-JP" altLang="en-US" dirty="0">
                <a:solidFill>
                  <a:schemeClr val="accent5"/>
                </a:solidFill>
              </a:rPr>
              <a:t>回路量に比例して</a:t>
            </a:r>
            <a:r>
              <a:rPr lang="ja-JP" altLang="en-US" dirty="0">
                <a:solidFill>
                  <a:schemeClr val="accent5"/>
                </a:solidFill>
              </a:rPr>
              <a:t>消費エネルギーは増える：</a:t>
            </a:r>
            <a:endParaRPr lang="en-US" altLang="ja-JP" dirty="0">
              <a:solidFill>
                <a:schemeClr val="accent5"/>
              </a:solidFill>
            </a:endParaRPr>
          </a:p>
          <a:p>
            <a:pPr lvl="1"/>
            <a:r>
              <a:rPr lang="ja-JP" altLang="en-US" dirty="0"/>
              <a:t>水流：</a:t>
            </a:r>
            <a:r>
              <a:rPr kumimoji="1" lang="ja-JP" altLang="en-US" dirty="0"/>
              <a:t>全タンクに溜まる総水量は</a:t>
            </a:r>
            <a:r>
              <a:rPr lang="ja-JP" altLang="en-US" dirty="0"/>
              <a:t>タンクの数に</a:t>
            </a:r>
            <a:r>
              <a:rPr kumimoji="1" lang="ja-JP" altLang="en-US" dirty="0"/>
              <a:t>比例する</a:t>
            </a:r>
            <a:endParaRPr kumimoji="1" lang="en-US" altLang="ja-JP" dirty="0"/>
          </a:p>
          <a:p>
            <a:r>
              <a:rPr kumimoji="1" lang="ja-JP" altLang="en-US" dirty="0">
                <a:solidFill>
                  <a:schemeClr val="accent5"/>
                </a:solidFill>
              </a:rPr>
              <a:t>配線も電力を消費する：</a:t>
            </a:r>
            <a:endParaRPr kumimoji="1" lang="en-US" altLang="ja-JP" dirty="0">
              <a:solidFill>
                <a:schemeClr val="accent5"/>
              </a:solidFill>
            </a:endParaRPr>
          </a:p>
          <a:p>
            <a:pPr lvl="1"/>
            <a:r>
              <a:rPr kumimoji="1" lang="ja-JP" altLang="en-US" dirty="0"/>
              <a:t>回路：配線が持つ寄生容量に充放電が起きる</a:t>
            </a:r>
            <a:endParaRPr kumimoji="1" lang="en-US" altLang="ja-JP" dirty="0"/>
          </a:p>
          <a:p>
            <a:pPr lvl="1"/>
            <a:r>
              <a:rPr lang="ja-JP" altLang="en-US" dirty="0"/>
              <a:t>水流</a:t>
            </a:r>
            <a:r>
              <a:rPr kumimoji="1" lang="ja-JP" altLang="en-US" dirty="0"/>
              <a:t>：パイプにも水は多少溜まる</a:t>
            </a:r>
            <a:endParaRPr kumimoji="1" lang="en-US" altLang="ja-JP" dirty="0"/>
          </a:p>
          <a:p>
            <a:r>
              <a:rPr kumimoji="1" lang="ja-JP" altLang="en-US" dirty="0">
                <a:solidFill>
                  <a:schemeClr val="accent5"/>
                </a:solidFill>
              </a:rPr>
              <a:t>半導体化が微細化すると電力や速度も向上する：</a:t>
            </a:r>
            <a:endParaRPr kumimoji="1" lang="en-US" altLang="ja-JP" dirty="0">
              <a:solidFill>
                <a:schemeClr val="accent5"/>
              </a:solidFill>
            </a:endParaRPr>
          </a:p>
          <a:p>
            <a:pPr lvl="1"/>
            <a:r>
              <a:rPr kumimoji="1" lang="ja-JP" altLang="en-US" dirty="0"/>
              <a:t>回路：コンデンサに電荷をためる量と時間が減る</a:t>
            </a:r>
            <a:endParaRPr kumimoji="1" lang="en-US" altLang="ja-JP" dirty="0"/>
          </a:p>
          <a:p>
            <a:pPr lvl="1"/>
            <a:r>
              <a:rPr lang="ja-JP" altLang="en-US" dirty="0"/>
              <a:t>水流：タンクが小さくなるので，水が貯まる時間と量が減る</a:t>
            </a:r>
            <a:endParaRPr kumimoji="1" lang="en-US" dirty="0"/>
          </a:p>
        </p:txBody>
      </p:sp>
    </p:spTree>
    <p:extLst>
      <p:ext uri="{BB962C8B-B14F-4D97-AF65-F5344CB8AC3E}">
        <p14:creationId xmlns:p14="http://schemas.microsoft.com/office/powerpoint/2010/main" val="2137917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A1D90B-43EC-144E-99F4-72CD7C5ED95B}"/>
              </a:ext>
            </a:extLst>
          </p:cNvPr>
          <p:cNvSpPr>
            <a:spLocks noGrp="1"/>
          </p:cNvSpPr>
          <p:nvPr>
            <p:ph type="title"/>
          </p:nvPr>
        </p:nvSpPr>
        <p:spPr>
          <a:xfrm>
            <a:off x="785941" y="0"/>
            <a:ext cx="10776052" cy="908972"/>
          </a:xfrm>
        </p:spPr>
        <p:txBody>
          <a:bodyPr/>
          <a:lstStyle/>
          <a:p>
            <a:r>
              <a:rPr kumimoji="1" lang="ja-JP" altLang="en-US" sz="2800" dirty="0"/>
              <a:t>これらの話は，基本的には半導体技術が進んで</a:t>
            </a:r>
            <a:r>
              <a:rPr lang="ja-JP" altLang="en-US" sz="2800" dirty="0"/>
              <a:t>も変わらない</a:t>
            </a:r>
            <a:br>
              <a:rPr kumimoji="1" lang="en-US" altLang="ja-JP" sz="2800" dirty="0"/>
            </a:br>
            <a:r>
              <a:rPr lang="ja-JP" altLang="en-US" sz="1100" dirty="0"/>
              <a:t>図 は </a:t>
            </a:r>
            <a:r>
              <a:rPr lang="en-US" altLang="ja-JP" sz="1100" dirty="0"/>
              <a:t>IEEE INTERNATIONAL ROADMAP FOR DEVICES AND SYSTEMS (IRDS) EXECUTIVE SUMMARY 2022  </a:t>
            </a:r>
            <a:r>
              <a:rPr lang="ja-JP" altLang="en-US" sz="1100" dirty="0"/>
              <a:t>より</a:t>
            </a:r>
            <a:endParaRPr kumimoji="1" lang="en-US" sz="2800" dirty="0"/>
          </a:p>
        </p:txBody>
      </p:sp>
      <p:pic>
        <p:nvPicPr>
          <p:cNvPr id="5" name="図 4">
            <a:extLst>
              <a:ext uri="{FF2B5EF4-FFF2-40B4-BE49-F238E27FC236}">
                <a16:creationId xmlns:a16="http://schemas.microsoft.com/office/drawing/2014/main" id="{4C308B1C-D100-891D-CBA5-10F9E7D2FA93}"/>
              </a:ext>
            </a:extLst>
          </p:cNvPr>
          <p:cNvPicPr>
            <a:picLocks noChangeAspect="1"/>
          </p:cNvPicPr>
          <p:nvPr/>
        </p:nvPicPr>
        <p:blipFill>
          <a:blip r:embed="rId2"/>
          <a:stretch>
            <a:fillRect/>
          </a:stretch>
        </p:blipFill>
        <p:spPr>
          <a:xfrm>
            <a:off x="155934" y="1088974"/>
            <a:ext cx="7920089" cy="5523707"/>
          </a:xfrm>
          <a:prstGeom prst="rect">
            <a:avLst/>
          </a:prstGeom>
        </p:spPr>
      </p:pic>
      <p:sp>
        <p:nvSpPr>
          <p:cNvPr id="3" name="テキスト プレースホルダー 2">
            <a:extLst>
              <a:ext uri="{FF2B5EF4-FFF2-40B4-BE49-F238E27FC236}">
                <a16:creationId xmlns:a16="http://schemas.microsoft.com/office/drawing/2014/main" id="{16AF6E77-DA7A-6BB1-F075-2F86984BE0B7}"/>
              </a:ext>
            </a:extLst>
          </p:cNvPr>
          <p:cNvSpPr>
            <a:spLocks noGrp="1"/>
          </p:cNvSpPr>
          <p:nvPr>
            <p:ph type="body" sz="quarter" idx="10"/>
          </p:nvPr>
        </p:nvSpPr>
        <p:spPr>
          <a:xfrm>
            <a:off x="7176012" y="1268976"/>
            <a:ext cx="4680052" cy="5220058"/>
          </a:xfrm>
        </p:spPr>
        <p:txBody>
          <a:bodyPr/>
          <a:lstStyle/>
          <a:p>
            <a:pPr lvl="1"/>
            <a:r>
              <a:rPr kumimoji="1" lang="en-US" altLang="ja-JP" dirty="0"/>
              <a:t>CMOS </a:t>
            </a:r>
            <a:r>
              <a:rPr kumimoji="1" lang="ja-JP" altLang="en-US" dirty="0"/>
              <a:t>の作り方は今後色々変わっていく</a:t>
            </a:r>
            <a:endParaRPr kumimoji="1" lang="en-US" altLang="ja-JP" dirty="0"/>
          </a:p>
          <a:p>
            <a:pPr lvl="2"/>
            <a:r>
              <a:rPr kumimoji="1" lang="ja-JP" altLang="en-US" dirty="0"/>
              <a:t>色々な</a:t>
            </a:r>
            <a:r>
              <a:rPr kumimoji="1" lang="en-US" altLang="ja-JP" dirty="0"/>
              <a:t>3</a:t>
            </a:r>
            <a:r>
              <a:rPr kumimoji="1" lang="ja-JP" altLang="en-US" dirty="0"/>
              <a:t>次元構造が導入される予定</a:t>
            </a:r>
            <a:endParaRPr kumimoji="1" lang="en-US" altLang="ja-JP" dirty="0"/>
          </a:p>
          <a:p>
            <a:pPr lvl="2"/>
            <a:r>
              <a:rPr kumimoji="1" lang="ja-JP" altLang="en-US" dirty="0"/>
              <a:t>チップ上にトランジスタを</a:t>
            </a:r>
            <a:br>
              <a:rPr kumimoji="1" lang="en-US" altLang="ja-JP" dirty="0"/>
            </a:br>
            <a:r>
              <a:rPr kumimoji="1" lang="ja-JP" altLang="en-US" dirty="0"/>
              <a:t>積み上げる事で数を増やす</a:t>
            </a:r>
            <a:endParaRPr kumimoji="1" lang="en-US" altLang="ja-JP" dirty="0"/>
          </a:p>
          <a:p>
            <a:pPr lvl="2"/>
            <a:endParaRPr kumimoji="1" lang="en-US" altLang="ja-JP" dirty="0"/>
          </a:p>
          <a:p>
            <a:pPr lvl="1"/>
            <a:r>
              <a:rPr kumimoji="1" lang="ja-JP" altLang="en-US" dirty="0"/>
              <a:t>作りが変わっても，電力や速度の考え方は</a:t>
            </a:r>
            <a:r>
              <a:rPr lang="ja-JP" altLang="en-US" dirty="0"/>
              <a:t>基本的に変わらない</a:t>
            </a:r>
            <a:endParaRPr kumimoji="1" lang="en-US" altLang="ja-JP" dirty="0"/>
          </a:p>
        </p:txBody>
      </p:sp>
      <p:sp>
        <p:nvSpPr>
          <p:cNvPr id="4" name="四角形: 角を丸くする 3">
            <a:extLst>
              <a:ext uri="{FF2B5EF4-FFF2-40B4-BE49-F238E27FC236}">
                <a16:creationId xmlns:a16="http://schemas.microsoft.com/office/drawing/2014/main" id="{FB320AE2-9E78-F341-9661-2BC6DCA19625}"/>
              </a:ext>
            </a:extLst>
          </p:cNvPr>
          <p:cNvSpPr/>
          <p:nvPr/>
        </p:nvSpPr>
        <p:spPr bwMode="auto">
          <a:xfrm>
            <a:off x="3665973" y="3158997"/>
            <a:ext cx="900010" cy="720008"/>
          </a:xfrm>
          <a:prstGeom prst="roundRect">
            <a:avLst/>
          </a:prstGeom>
          <a:no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 name="四角形: 角を丸くする 5">
            <a:extLst>
              <a:ext uri="{FF2B5EF4-FFF2-40B4-BE49-F238E27FC236}">
                <a16:creationId xmlns:a16="http://schemas.microsoft.com/office/drawing/2014/main" id="{012E4ACD-F35B-7B94-FDD6-38D05FDD71BE}"/>
              </a:ext>
            </a:extLst>
          </p:cNvPr>
          <p:cNvSpPr/>
          <p:nvPr/>
        </p:nvSpPr>
        <p:spPr bwMode="auto">
          <a:xfrm>
            <a:off x="3755973" y="1448978"/>
            <a:ext cx="810009" cy="180002"/>
          </a:xfrm>
          <a:prstGeom prst="roundRect">
            <a:avLst/>
          </a:prstGeom>
          <a:no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9BB6CF00-7DA0-0E21-E214-B1F3DC062DDA}"/>
              </a:ext>
            </a:extLst>
          </p:cNvPr>
          <p:cNvSpPr/>
          <p:nvPr/>
        </p:nvSpPr>
        <p:spPr bwMode="auto">
          <a:xfrm>
            <a:off x="3665973" y="81897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400" b="1" dirty="0">
                <a:solidFill>
                  <a:schemeClr val="accent6"/>
                </a:solidFill>
              </a:rPr>
              <a:t>モデル名</a:t>
            </a:r>
          </a:p>
        </p:txBody>
      </p:sp>
      <p:sp>
        <p:nvSpPr>
          <p:cNvPr id="8" name="正方形/長方形 7">
            <a:extLst>
              <a:ext uri="{FF2B5EF4-FFF2-40B4-BE49-F238E27FC236}">
                <a16:creationId xmlns:a16="http://schemas.microsoft.com/office/drawing/2014/main" id="{109A4469-97BA-D251-B51B-FDF8FBE0F648}"/>
              </a:ext>
            </a:extLst>
          </p:cNvPr>
          <p:cNvSpPr/>
          <p:nvPr/>
        </p:nvSpPr>
        <p:spPr bwMode="auto">
          <a:xfrm>
            <a:off x="3485971" y="270899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400" b="1" dirty="0">
                <a:solidFill>
                  <a:schemeClr val="accent6"/>
                </a:solidFill>
              </a:rPr>
              <a:t>実際のサイズ</a:t>
            </a:r>
          </a:p>
        </p:txBody>
      </p:sp>
    </p:spTree>
    <p:extLst>
      <p:ext uri="{BB962C8B-B14F-4D97-AF65-F5344CB8AC3E}">
        <p14:creationId xmlns:p14="http://schemas.microsoft.com/office/powerpoint/2010/main" val="3112527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701F75B-B5F5-F7B4-D8F7-D434BD0C472C}"/>
              </a:ext>
            </a:extLst>
          </p:cNvPr>
          <p:cNvPicPr>
            <a:picLocks noChangeAspect="1"/>
          </p:cNvPicPr>
          <p:nvPr/>
        </p:nvPicPr>
        <p:blipFill>
          <a:blip r:embed="rId2"/>
          <a:stretch>
            <a:fillRect/>
          </a:stretch>
        </p:blipFill>
        <p:spPr>
          <a:xfrm>
            <a:off x="7356014" y="3699003"/>
            <a:ext cx="4877334" cy="3240036"/>
          </a:xfrm>
          <a:prstGeom prst="rect">
            <a:avLst/>
          </a:prstGeom>
        </p:spPr>
      </p:pic>
      <p:sp>
        <p:nvSpPr>
          <p:cNvPr id="2" name="タイトル 1">
            <a:extLst>
              <a:ext uri="{FF2B5EF4-FFF2-40B4-BE49-F238E27FC236}">
                <a16:creationId xmlns:a16="http://schemas.microsoft.com/office/drawing/2014/main" id="{FBBF5C81-8953-E4A0-0683-120CF701405B}"/>
              </a:ext>
            </a:extLst>
          </p:cNvPr>
          <p:cNvSpPr>
            <a:spLocks noGrp="1"/>
          </p:cNvSpPr>
          <p:nvPr>
            <p:ph type="title"/>
          </p:nvPr>
        </p:nvSpPr>
        <p:spPr>
          <a:xfrm>
            <a:off x="605939" y="0"/>
            <a:ext cx="11316058" cy="908972"/>
          </a:xfrm>
        </p:spPr>
        <p:txBody>
          <a:bodyPr/>
          <a:lstStyle/>
          <a:p>
            <a:r>
              <a:rPr kumimoji="1" lang="ja-JP" altLang="en-US" sz="2800" dirty="0"/>
              <a:t>（余談１）微細化による半導体世代の「定義の進化」</a:t>
            </a:r>
            <a:endParaRPr lang="en-US" sz="900" dirty="0"/>
          </a:p>
        </p:txBody>
      </p:sp>
      <p:sp>
        <p:nvSpPr>
          <p:cNvPr id="3" name="テキスト プレースホルダー 2">
            <a:extLst>
              <a:ext uri="{FF2B5EF4-FFF2-40B4-BE49-F238E27FC236}">
                <a16:creationId xmlns:a16="http://schemas.microsoft.com/office/drawing/2014/main" id="{BD81CC1E-B612-B3CF-B27B-D152558671E1}"/>
              </a:ext>
            </a:extLst>
          </p:cNvPr>
          <p:cNvSpPr>
            <a:spLocks noGrp="1"/>
          </p:cNvSpPr>
          <p:nvPr>
            <p:ph type="body" sz="quarter" idx="10"/>
          </p:nvPr>
        </p:nvSpPr>
        <p:spPr>
          <a:xfrm>
            <a:off x="425937" y="1088974"/>
            <a:ext cx="11160124" cy="5220057"/>
          </a:xfrm>
        </p:spPr>
        <p:txBody>
          <a:bodyPr anchor="t"/>
          <a:lstStyle/>
          <a:p>
            <a:r>
              <a:rPr kumimoji="1" lang="ja-JP" altLang="en-US" dirty="0"/>
              <a:t>半導体の世代を表す「</a:t>
            </a:r>
            <a:r>
              <a:rPr lang="en-US" altLang="ja-JP" dirty="0"/>
              <a:t>2nm</a:t>
            </a:r>
            <a:r>
              <a:rPr kumimoji="1" lang="ja-JP" altLang="en-US" dirty="0"/>
              <a:t>」などの言葉は「進化」してきた</a:t>
            </a:r>
            <a:endParaRPr kumimoji="1" lang="en-US" altLang="ja-JP" dirty="0"/>
          </a:p>
          <a:p>
            <a:pPr lvl="1"/>
            <a:r>
              <a:rPr lang="ja-JP" altLang="en-US" dirty="0"/>
              <a:t>最初はちゃんと物理サイズを表していた</a:t>
            </a:r>
            <a:endParaRPr lang="en-US" altLang="ja-JP" dirty="0"/>
          </a:p>
          <a:p>
            <a:pPr lvl="1"/>
            <a:r>
              <a:rPr lang="ja-JP" altLang="en-US" dirty="0"/>
              <a:t>いろいろあって，</a:t>
            </a:r>
            <a:r>
              <a:rPr kumimoji="1" lang="ja-JP" altLang="en-US" dirty="0"/>
              <a:t>前の世代</a:t>
            </a:r>
            <a:r>
              <a:rPr lang="ja-JP" altLang="en-US" dirty="0"/>
              <a:t>の数字</a:t>
            </a:r>
            <a:r>
              <a:rPr kumimoji="1" lang="ja-JP" altLang="en-US" dirty="0"/>
              <a:t>に</a:t>
            </a:r>
            <a:r>
              <a:rPr lang="ja-JP" altLang="en-US" dirty="0"/>
              <a:t>単に </a:t>
            </a:r>
            <a:r>
              <a:rPr lang="en-US" altLang="ja-JP" dirty="0"/>
              <a:t>0.7 </a:t>
            </a:r>
            <a:r>
              <a:rPr lang="ja-JP" altLang="en-US" dirty="0"/>
              <a:t>をかけたものになった</a:t>
            </a:r>
            <a:endParaRPr lang="en-US" altLang="ja-JP" dirty="0"/>
          </a:p>
          <a:p>
            <a:pPr lvl="2"/>
            <a:r>
              <a:rPr lang="ja-JP" altLang="en-US" dirty="0"/>
              <a:t>世代の数字が予定通り進まないと格好がつかないため</a:t>
            </a:r>
            <a:endParaRPr lang="en-US" altLang="ja-JP" dirty="0"/>
          </a:p>
          <a:p>
            <a:pPr lvl="2"/>
            <a:r>
              <a:rPr lang="ja-JP" altLang="en-US" dirty="0"/>
              <a:t>注意深く見ると企業は「</a:t>
            </a:r>
            <a:r>
              <a:rPr lang="en-US" altLang="ja-JP" dirty="0"/>
              <a:t>2nm</a:t>
            </a:r>
            <a:r>
              <a:rPr lang="ja-JP" altLang="en-US" dirty="0"/>
              <a:t>」とは言わず「</a:t>
            </a:r>
            <a:r>
              <a:rPr lang="en-US" altLang="ja-JP" dirty="0"/>
              <a:t>2N</a:t>
            </a:r>
            <a:r>
              <a:rPr lang="ja-JP" altLang="en-US" dirty="0"/>
              <a:t>」「２ナノ世代」等と表記している</a:t>
            </a:r>
            <a:endParaRPr lang="en-US" altLang="ja-JP" dirty="0"/>
          </a:p>
          <a:p>
            <a:r>
              <a:rPr lang="ja-JP" altLang="en-US" dirty="0"/>
              <a:t>「現在の半導体は </a:t>
            </a:r>
            <a:r>
              <a:rPr lang="en-US" altLang="ja-JP" dirty="0"/>
              <a:t>2nm </a:t>
            </a:r>
            <a:r>
              <a:rPr lang="ja-JP" altLang="en-US" dirty="0"/>
              <a:t>程度のサイズであり，これは原子数個分で～」のような表現</a:t>
            </a:r>
            <a:endParaRPr lang="en-US" altLang="ja-JP" dirty="0"/>
          </a:p>
          <a:p>
            <a:pPr lvl="1"/>
            <a:r>
              <a:rPr lang="ja-JP" altLang="en-US" dirty="0">
                <a:solidFill>
                  <a:schemeClr val="accent5"/>
                </a:solidFill>
              </a:rPr>
              <a:t>「</a:t>
            </a:r>
            <a:r>
              <a:rPr lang="en-US" altLang="ja-JP" dirty="0">
                <a:solidFill>
                  <a:schemeClr val="accent5"/>
                </a:solidFill>
              </a:rPr>
              <a:t>2nm </a:t>
            </a:r>
            <a:r>
              <a:rPr lang="ja-JP" altLang="en-US" dirty="0">
                <a:solidFill>
                  <a:schemeClr val="accent5"/>
                </a:solidFill>
              </a:rPr>
              <a:t>の半導体」は，実際には別にどこも </a:t>
            </a:r>
            <a:r>
              <a:rPr lang="en-US" altLang="ja-JP" dirty="0">
                <a:solidFill>
                  <a:schemeClr val="accent5"/>
                </a:solidFill>
              </a:rPr>
              <a:t>2nm </a:t>
            </a:r>
            <a:r>
              <a:rPr lang="ja-JP" altLang="en-US" dirty="0">
                <a:solidFill>
                  <a:schemeClr val="accent5"/>
                </a:solidFill>
              </a:rPr>
              <a:t>ではない</a:t>
            </a:r>
            <a:endParaRPr lang="en-US" altLang="ja-JP" dirty="0">
              <a:solidFill>
                <a:schemeClr val="accent5"/>
              </a:solidFill>
            </a:endParaRPr>
          </a:p>
          <a:p>
            <a:pPr lvl="2"/>
            <a:r>
              <a:rPr lang="ja-JP" altLang="en-US" dirty="0"/>
              <a:t>ただのモデルナンバーなので，そこまで縮んでない</a:t>
            </a:r>
            <a:endParaRPr lang="en-US" altLang="ja-JP" dirty="0"/>
          </a:p>
          <a:p>
            <a:pPr lvl="1"/>
            <a:r>
              <a:rPr lang="ja-JP" altLang="en-US" dirty="0"/>
              <a:t>物理的にはまだ </a:t>
            </a:r>
            <a:r>
              <a:rPr lang="en-US" altLang="ja-JP" dirty="0"/>
              <a:t>14nm </a:t>
            </a:r>
            <a:r>
              <a:rPr lang="ja-JP" altLang="en-US" dirty="0"/>
              <a:t>ぐらい</a:t>
            </a:r>
            <a:endParaRPr lang="en-US" altLang="ja-JP" dirty="0"/>
          </a:p>
          <a:p>
            <a:pPr lvl="2"/>
            <a:r>
              <a:rPr lang="ja-JP" altLang="en-US" dirty="0"/>
              <a:t>原子サイズの限界まではまだある程度余地がある</a:t>
            </a:r>
            <a:endParaRPr lang="en-US" altLang="ja-JP" dirty="0"/>
          </a:p>
          <a:p>
            <a:pPr marL="0" indent="0">
              <a:buNone/>
            </a:pPr>
            <a:r>
              <a:rPr lang="ja-JP" altLang="en-US" sz="1400" dirty="0"/>
              <a:t>図と説明は </a:t>
            </a:r>
            <a:r>
              <a:rPr lang="en-US" altLang="ja-JP" sz="1400" dirty="0"/>
              <a:t>IEEE INTERNATIONAL ROADMAP FOR DEVICES AND SYSTEMS (IRDS) </a:t>
            </a:r>
            <a:br>
              <a:rPr lang="en-US" altLang="ja-JP" sz="1400" dirty="0"/>
            </a:br>
            <a:r>
              <a:rPr lang="en-US" altLang="ja-JP" sz="1400" dirty="0"/>
              <a:t>EXECUTIVE SUMMARY 2022 </a:t>
            </a:r>
            <a:r>
              <a:rPr lang="ja-JP" altLang="en-US" sz="1400" dirty="0"/>
              <a:t>より．以下は日本語版．</a:t>
            </a:r>
            <a:br>
              <a:rPr lang="en-US" altLang="ja-JP" sz="1400" dirty="0"/>
            </a:br>
            <a:r>
              <a:rPr lang="en-US" sz="1400" dirty="0">
                <a:hlinkClick r:id="rId3"/>
              </a:rPr>
              <a:t>https://irds.ieee.org/images/files/pdf/2022/2022IRDS_ExecutiveSummary_JP.pdf</a:t>
            </a:r>
            <a:endParaRPr kumimoji="1" lang="en-US" sz="1400" dirty="0"/>
          </a:p>
        </p:txBody>
      </p:sp>
    </p:spTree>
    <p:extLst>
      <p:ext uri="{BB962C8B-B14F-4D97-AF65-F5344CB8AC3E}">
        <p14:creationId xmlns:p14="http://schemas.microsoft.com/office/powerpoint/2010/main" val="7121504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（余談２）クロックによる消費エネルギー</a:t>
            </a:r>
          </a:p>
        </p:txBody>
      </p:sp>
      <p:sp>
        <p:nvSpPr>
          <p:cNvPr id="3" name="テキスト プレースホルダー 2"/>
          <p:cNvSpPr>
            <a:spLocks noGrp="1"/>
          </p:cNvSpPr>
          <p:nvPr>
            <p:ph type="body" sz="quarter" idx="10"/>
          </p:nvPr>
        </p:nvSpPr>
        <p:spPr>
          <a:xfrm>
            <a:off x="1775952" y="1088975"/>
            <a:ext cx="8532044" cy="5219751"/>
          </a:xfrm>
        </p:spPr>
        <p:txBody>
          <a:bodyPr/>
          <a:lstStyle/>
          <a:p>
            <a:r>
              <a:rPr lang="ja-JP" altLang="en-US" dirty="0"/>
              <a:t>クロック信号：</a:t>
            </a:r>
            <a:endParaRPr lang="en-US" altLang="ja-JP" dirty="0"/>
          </a:p>
          <a:p>
            <a:pPr lvl="1"/>
            <a:r>
              <a:rPr lang="ja-JP" altLang="en-US" dirty="0"/>
              <a:t>回路の動作の同期をとるための信号で，回路全体に配られる</a:t>
            </a:r>
            <a:endParaRPr lang="en-US" altLang="ja-JP" dirty="0"/>
          </a:p>
          <a:p>
            <a:pPr lvl="1"/>
            <a:r>
              <a:rPr kumimoji="1" lang="ja-JP" altLang="en-US" dirty="0"/>
              <a:t>したがって，クロック供給のための配線は長大</a:t>
            </a:r>
            <a:endParaRPr kumimoji="1" lang="en-US" altLang="ja-JP" dirty="0"/>
          </a:p>
          <a:p>
            <a:pPr lvl="2"/>
            <a:r>
              <a:rPr lang="ja-JP" altLang="en-US" dirty="0"/>
              <a:t>配線も寄生コンデンサを作るので，そこで充放電が起きる</a:t>
            </a:r>
            <a:endParaRPr kumimoji="1" lang="en-US" altLang="ja-JP" dirty="0"/>
          </a:p>
          <a:p>
            <a:r>
              <a:rPr kumimoji="1" lang="ja-JP" altLang="en-US" dirty="0"/>
              <a:t>クロック信号線では，配線の総延長がすごいことになる</a:t>
            </a:r>
            <a:endParaRPr kumimoji="1" lang="en-US" altLang="ja-JP" dirty="0"/>
          </a:p>
          <a:p>
            <a:pPr lvl="1"/>
            <a:r>
              <a:rPr lang="ja-JP" altLang="en-US" dirty="0"/>
              <a:t>すべての部分がが単一のクロック発信源まで接続されている</a:t>
            </a:r>
            <a:endParaRPr lang="en-US" altLang="ja-JP" dirty="0"/>
          </a:p>
          <a:p>
            <a:pPr lvl="1"/>
            <a:r>
              <a:rPr lang="ja-JP" altLang="en-US" dirty="0"/>
              <a:t>クロック発信源から各部まで配線長が等しくなるように配置</a:t>
            </a:r>
            <a:endParaRPr lang="en-US" altLang="ja-JP" dirty="0"/>
          </a:p>
          <a:p>
            <a:r>
              <a:rPr lang="ja-JP" altLang="en-US" dirty="0">
                <a:solidFill>
                  <a:schemeClr val="accent5"/>
                </a:solidFill>
              </a:rPr>
              <a:t>ただ同期を取るためだけに，チップ内の電力の数割が消費されている</a:t>
            </a:r>
            <a:endParaRPr lang="en-US" altLang="ja-JP" dirty="0">
              <a:solidFill>
                <a:schemeClr val="accent5"/>
              </a:solidFill>
            </a:endParaRPr>
          </a:p>
          <a:p>
            <a:pPr lvl="1"/>
            <a:r>
              <a:rPr lang="ja-JP" altLang="en-US" dirty="0"/>
              <a:t>クロック信号線全体に電荷を入れて抜くを繰り返している</a:t>
            </a:r>
            <a:endParaRPr lang="en-US" altLang="ja-JP" dirty="0"/>
          </a:p>
        </p:txBody>
      </p:sp>
    </p:spTree>
    <p:extLst>
      <p:ext uri="{BB962C8B-B14F-4D97-AF65-F5344CB8AC3E}">
        <p14:creationId xmlns:p14="http://schemas.microsoft.com/office/powerpoint/2010/main" val="31978230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クロックの配線方法の例：</a:t>
            </a:r>
            <a:r>
              <a:rPr kumimoji="1" lang="en-US" altLang="ja-JP" dirty="0"/>
              <a:t>H-TREE</a:t>
            </a:r>
            <a:endParaRPr kumimoji="1" lang="ja-JP" altLang="en-US" dirty="0"/>
          </a:p>
        </p:txBody>
      </p:sp>
      <p:cxnSp>
        <p:nvCxnSpPr>
          <p:cNvPr id="6" name="直線コネクタ 5"/>
          <p:cNvCxnSpPr/>
          <p:nvPr/>
        </p:nvCxnSpPr>
        <p:spPr bwMode="auto">
          <a:xfrm>
            <a:off x="4655984" y="1628980"/>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8" name="直線コネクタ 7"/>
          <p:cNvCxnSpPr/>
          <p:nvPr/>
        </p:nvCxnSpPr>
        <p:spPr bwMode="auto">
          <a:xfrm>
            <a:off x="5375992" y="1628980"/>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9" name="直線コネクタ 8"/>
          <p:cNvCxnSpPr/>
          <p:nvPr/>
        </p:nvCxnSpPr>
        <p:spPr bwMode="auto">
          <a:xfrm>
            <a:off x="4655984" y="1988984"/>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12" name="直線コネクタ 11"/>
          <p:cNvCxnSpPr/>
          <p:nvPr/>
        </p:nvCxnSpPr>
        <p:spPr bwMode="auto">
          <a:xfrm>
            <a:off x="6096000" y="1628980"/>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13" name="直線コネクタ 12"/>
          <p:cNvCxnSpPr/>
          <p:nvPr/>
        </p:nvCxnSpPr>
        <p:spPr bwMode="auto">
          <a:xfrm>
            <a:off x="6816008" y="1628980"/>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14" name="直線コネクタ 13"/>
          <p:cNvCxnSpPr/>
          <p:nvPr/>
        </p:nvCxnSpPr>
        <p:spPr bwMode="auto">
          <a:xfrm>
            <a:off x="6096000" y="1988984"/>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15" name="直線コネクタ 14"/>
          <p:cNvCxnSpPr/>
          <p:nvPr/>
        </p:nvCxnSpPr>
        <p:spPr bwMode="auto">
          <a:xfrm>
            <a:off x="5015988" y="1988984"/>
            <a:ext cx="0" cy="1080012"/>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18" name="直線コネクタ 17"/>
          <p:cNvCxnSpPr/>
          <p:nvPr/>
        </p:nvCxnSpPr>
        <p:spPr bwMode="auto">
          <a:xfrm>
            <a:off x="4655984" y="2708992"/>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19" name="直線コネクタ 18"/>
          <p:cNvCxnSpPr/>
          <p:nvPr/>
        </p:nvCxnSpPr>
        <p:spPr bwMode="auto">
          <a:xfrm>
            <a:off x="5375992" y="2708992"/>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20" name="直線コネクタ 19"/>
          <p:cNvCxnSpPr/>
          <p:nvPr/>
        </p:nvCxnSpPr>
        <p:spPr bwMode="auto">
          <a:xfrm>
            <a:off x="4655984" y="3068996"/>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21" name="直線コネクタ 20"/>
          <p:cNvCxnSpPr/>
          <p:nvPr/>
        </p:nvCxnSpPr>
        <p:spPr bwMode="auto">
          <a:xfrm>
            <a:off x="6096000" y="2708992"/>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22" name="直線コネクタ 21"/>
          <p:cNvCxnSpPr/>
          <p:nvPr/>
        </p:nvCxnSpPr>
        <p:spPr bwMode="auto">
          <a:xfrm>
            <a:off x="6816008" y="2708992"/>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23" name="直線コネクタ 22"/>
          <p:cNvCxnSpPr/>
          <p:nvPr/>
        </p:nvCxnSpPr>
        <p:spPr bwMode="auto">
          <a:xfrm>
            <a:off x="6096000" y="3068996"/>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24" name="直線コネクタ 23"/>
          <p:cNvCxnSpPr/>
          <p:nvPr/>
        </p:nvCxnSpPr>
        <p:spPr bwMode="auto">
          <a:xfrm>
            <a:off x="6456004" y="1988984"/>
            <a:ext cx="0" cy="1080012"/>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25" name="直線コネクタ 24"/>
          <p:cNvCxnSpPr/>
          <p:nvPr/>
        </p:nvCxnSpPr>
        <p:spPr bwMode="auto">
          <a:xfrm>
            <a:off x="5015988" y="2528991"/>
            <a:ext cx="1440016" cy="1"/>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28" name="直線コネクタ 27"/>
          <p:cNvCxnSpPr/>
          <p:nvPr/>
        </p:nvCxnSpPr>
        <p:spPr bwMode="auto">
          <a:xfrm flipV="1">
            <a:off x="5735996" y="2528992"/>
            <a:ext cx="0" cy="1260013"/>
          </a:xfrm>
          <a:prstGeom prst="line">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31" name="テキスト プレースホルダー 2"/>
          <p:cNvSpPr txBox="1">
            <a:spLocks/>
          </p:cNvSpPr>
          <p:nvPr/>
        </p:nvSpPr>
        <p:spPr bwMode="auto">
          <a:xfrm>
            <a:off x="2135956" y="3609003"/>
            <a:ext cx="7920088" cy="297003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1800" kern="0" dirty="0"/>
              <a:t>H-TREE</a:t>
            </a:r>
          </a:p>
          <a:p>
            <a:pPr lvl="1"/>
            <a:r>
              <a:rPr lang="ja-JP" altLang="en-US" sz="1800" kern="0" dirty="0"/>
              <a:t>クロック発信源から各ノードへの配線長が全て等しくなる</a:t>
            </a:r>
            <a:endParaRPr lang="en-US" altLang="ja-JP" sz="1800" kern="0" dirty="0"/>
          </a:p>
          <a:p>
            <a:pPr lvl="1"/>
            <a:r>
              <a:rPr lang="ja-JP" altLang="en-US" sz="1800" kern="0" dirty="0"/>
              <a:t>しかしその分，物理的に近いノードであっても遠回りになる</a:t>
            </a:r>
          </a:p>
        </p:txBody>
      </p:sp>
      <p:sp>
        <p:nvSpPr>
          <p:cNvPr id="26" name="正方形/長方形 25"/>
          <p:cNvSpPr/>
          <p:nvPr/>
        </p:nvSpPr>
        <p:spPr bwMode="auto">
          <a:xfrm>
            <a:off x="5375992" y="369900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クロック発信源</a:t>
            </a:r>
          </a:p>
        </p:txBody>
      </p:sp>
      <p:sp>
        <p:nvSpPr>
          <p:cNvPr id="27" name="正方形/長方形 26"/>
          <p:cNvSpPr/>
          <p:nvPr/>
        </p:nvSpPr>
        <p:spPr bwMode="auto">
          <a:xfrm>
            <a:off x="6996010" y="126897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ノード</a:t>
            </a:r>
          </a:p>
        </p:txBody>
      </p:sp>
    </p:spTree>
    <p:extLst>
      <p:ext uri="{BB962C8B-B14F-4D97-AF65-F5344CB8AC3E}">
        <p14:creationId xmlns:p14="http://schemas.microsoft.com/office/powerpoint/2010/main" val="68810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H-TREE </a:t>
            </a:r>
            <a:r>
              <a:rPr kumimoji="1" lang="ja-JP" altLang="en-US" dirty="0"/>
              <a:t>による配線の例：</a:t>
            </a:r>
            <a:r>
              <a:rPr kumimoji="1" lang="en-US" altLang="ja-JP" dirty="0"/>
              <a:t>IBM Power PC</a:t>
            </a:r>
            <a:endParaRPr kumimoji="1" lang="ja-JP" altLang="en-US" dirty="0"/>
          </a:p>
        </p:txBody>
      </p:sp>
      <p:pic>
        <p:nvPicPr>
          <p:cNvPr id="4" name="図 3"/>
          <p:cNvPicPr>
            <a:picLocks noChangeAspect="1"/>
          </p:cNvPicPr>
          <p:nvPr/>
        </p:nvPicPr>
        <p:blipFill>
          <a:blip r:embed="rId2"/>
          <a:stretch>
            <a:fillRect/>
          </a:stretch>
        </p:blipFill>
        <p:spPr>
          <a:xfrm>
            <a:off x="6096000" y="1268977"/>
            <a:ext cx="4423254" cy="4216015"/>
          </a:xfrm>
          <a:prstGeom prst="rect">
            <a:avLst/>
          </a:prstGeom>
        </p:spPr>
      </p:pic>
      <p:sp>
        <p:nvSpPr>
          <p:cNvPr id="3" name="テキスト プレースホルダー 2"/>
          <p:cNvSpPr>
            <a:spLocks noGrp="1"/>
          </p:cNvSpPr>
          <p:nvPr>
            <p:ph type="body" sz="quarter" idx="10"/>
          </p:nvPr>
        </p:nvSpPr>
        <p:spPr>
          <a:xfrm>
            <a:off x="2045955" y="5589024"/>
            <a:ext cx="8280092" cy="989704"/>
          </a:xfrm>
        </p:spPr>
        <p:txBody>
          <a:bodyPr/>
          <a:lstStyle/>
          <a:p>
            <a:r>
              <a:rPr lang="en-US" altLang="ja-JP" sz="1400" dirty="0"/>
              <a:t>P. </a:t>
            </a:r>
            <a:r>
              <a:rPr lang="en-US" altLang="ja-JP" sz="1400" dirty="0" err="1"/>
              <a:t>Hofstee</a:t>
            </a:r>
            <a:r>
              <a:rPr lang="en-US" altLang="ja-JP" sz="1400" dirty="0"/>
              <a:t>, N. Aoki, D. </a:t>
            </a:r>
            <a:r>
              <a:rPr lang="en-US" altLang="ja-JP" sz="1400" dirty="0" err="1"/>
              <a:t>Boerstler</a:t>
            </a:r>
            <a:r>
              <a:rPr lang="en-US" altLang="ja-JP" sz="1400" dirty="0"/>
              <a:t>, P. Coulman1 , S. </a:t>
            </a:r>
            <a:r>
              <a:rPr lang="en-US" altLang="ja-JP" sz="1400" dirty="0" err="1"/>
              <a:t>Dhong</a:t>
            </a:r>
            <a:r>
              <a:rPr lang="en-US" altLang="ja-JP" sz="1400" dirty="0"/>
              <a:t>, B. </a:t>
            </a:r>
            <a:r>
              <a:rPr lang="en-US" altLang="ja-JP" sz="1400" dirty="0" err="1"/>
              <a:t>Flachs</a:t>
            </a:r>
            <a:r>
              <a:rPr lang="en-US" altLang="ja-JP" sz="1400" dirty="0"/>
              <a:t>, N. Kojima, O. Kwon, K. Lee, D. Meltzer2 , K. </a:t>
            </a:r>
            <a:r>
              <a:rPr lang="en-US" altLang="ja-JP" sz="1400" dirty="0" err="1"/>
              <a:t>Nowka</a:t>
            </a:r>
            <a:r>
              <a:rPr lang="en-US" altLang="ja-JP" sz="1400" dirty="0"/>
              <a:t>, J. Park, J. Peter, S. </a:t>
            </a:r>
            <a:r>
              <a:rPr lang="en-US" altLang="ja-JP" sz="1400" dirty="0" err="1"/>
              <a:t>Posluszny</a:t>
            </a:r>
            <a:r>
              <a:rPr lang="en-US" altLang="ja-JP" sz="1400" dirty="0"/>
              <a:t>, M. Shapiro3 , J. Silberman2 , O. Takahashi, B. Weinberger, MP 5.4 A 1GHz Single-Issue 64b PowerPC Processor, ISSCC 2000 </a:t>
            </a:r>
            <a:r>
              <a:rPr lang="ja-JP" altLang="en-US" sz="1400" dirty="0"/>
              <a:t>より</a:t>
            </a:r>
          </a:p>
        </p:txBody>
      </p:sp>
      <p:pic>
        <p:nvPicPr>
          <p:cNvPr id="32" name="図 31"/>
          <p:cNvPicPr>
            <a:picLocks noChangeAspect="1"/>
          </p:cNvPicPr>
          <p:nvPr/>
        </p:nvPicPr>
        <p:blipFill>
          <a:blip r:embed="rId3"/>
          <a:stretch>
            <a:fillRect/>
          </a:stretch>
        </p:blipFill>
        <p:spPr>
          <a:xfrm>
            <a:off x="1775953" y="1358977"/>
            <a:ext cx="4186559" cy="3969006"/>
          </a:xfrm>
          <a:prstGeom prst="rect">
            <a:avLst/>
          </a:prstGeom>
        </p:spPr>
      </p:pic>
      <p:sp>
        <p:nvSpPr>
          <p:cNvPr id="33" name="円/楕円 32"/>
          <p:cNvSpPr/>
          <p:nvPr/>
        </p:nvSpPr>
        <p:spPr bwMode="auto">
          <a:xfrm>
            <a:off x="4738236" y="3135750"/>
            <a:ext cx="360004" cy="360004"/>
          </a:xfrm>
          <a:prstGeom prst="ellipse">
            <a:avLst/>
          </a:prstGeom>
          <a:noFill/>
          <a:ln w="38100">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6335242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7537CC82-2BC8-B7B0-EC58-B08271291404}"/>
              </a:ext>
            </a:extLst>
          </p:cNvPr>
          <p:cNvPicPr>
            <a:picLocks noChangeAspect="1"/>
          </p:cNvPicPr>
          <p:nvPr/>
        </p:nvPicPr>
        <p:blipFill>
          <a:blip r:embed="rId2"/>
          <a:stretch>
            <a:fillRect/>
          </a:stretch>
        </p:blipFill>
        <p:spPr>
          <a:xfrm>
            <a:off x="1145945" y="1088974"/>
            <a:ext cx="4317122" cy="5499023"/>
          </a:xfrm>
          <a:prstGeom prst="rect">
            <a:avLst/>
          </a:prstGeom>
        </p:spPr>
      </p:pic>
      <p:sp>
        <p:nvSpPr>
          <p:cNvPr id="2" name="タイトル 1">
            <a:extLst>
              <a:ext uri="{FF2B5EF4-FFF2-40B4-BE49-F238E27FC236}">
                <a16:creationId xmlns:a16="http://schemas.microsoft.com/office/drawing/2014/main" id="{61D6035B-7C9D-FCD1-DDAD-0D6207ED766B}"/>
              </a:ext>
            </a:extLst>
          </p:cNvPr>
          <p:cNvSpPr>
            <a:spLocks noGrp="1"/>
          </p:cNvSpPr>
          <p:nvPr>
            <p:ph type="title"/>
          </p:nvPr>
        </p:nvSpPr>
        <p:spPr/>
        <p:txBody>
          <a:bodyPr/>
          <a:lstStyle/>
          <a:p>
            <a:r>
              <a:rPr lang="ja-JP" altLang="en-US" sz="1400" dirty="0"/>
              <a:t>図は以下より：</a:t>
            </a:r>
            <a:br>
              <a:rPr lang="en-US" altLang="ja-JP" sz="1400" dirty="0"/>
            </a:br>
            <a:r>
              <a:rPr lang="en-US" altLang="ja-JP" sz="1400" dirty="0"/>
              <a:t>KIM, </a:t>
            </a:r>
            <a:r>
              <a:rPr lang="en-US" altLang="ja-JP" sz="1400" dirty="0" err="1"/>
              <a:t>Youngchan</a:t>
            </a:r>
            <a:r>
              <a:rPr lang="en-US" altLang="ja-JP" sz="1400" dirty="0"/>
              <a:t>; KIM, </a:t>
            </a:r>
            <a:r>
              <a:rPr lang="en-US" altLang="ja-JP" sz="1400" dirty="0" err="1"/>
              <a:t>Taewhan</a:t>
            </a:r>
            <a:r>
              <a:rPr lang="en-US" altLang="ja-JP" sz="1400" dirty="0"/>
              <a:t>. Algorithm for synthesis and exploration of clock spines. In: 2017 22nd Asia and South Pacific Design Automation Conference (ASP-DAC). IEEE, 2017. p. 263-268.</a:t>
            </a:r>
            <a:endParaRPr lang="ja-JP" altLang="en-US" sz="1400" dirty="0"/>
          </a:p>
        </p:txBody>
      </p:sp>
      <p:sp>
        <p:nvSpPr>
          <p:cNvPr id="3" name="テキスト プレースホルダー 2">
            <a:extLst>
              <a:ext uri="{FF2B5EF4-FFF2-40B4-BE49-F238E27FC236}">
                <a16:creationId xmlns:a16="http://schemas.microsoft.com/office/drawing/2014/main" id="{FDC93799-2B1B-000D-02F1-0CE6A22CD4EA}"/>
              </a:ext>
            </a:extLst>
          </p:cNvPr>
          <p:cNvSpPr>
            <a:spLocks noGrp="1"/>
          </p:cNvSpPr>
          <p:nvPr>
            <p:ph type="body" sz="quarter" idx="10"/>
          </p:nvPr>
        </p:nvSpPr>
        <p:spPr>
          <a:xfrm>
            <a:off x="5015988" y="1088975"/>
            <a:ext cx="6660073" cy="5219751"/>
          </a:xfrm>
        </p:spPr>
        <p:txBody>
          <a:bodyPr/>
          <a:lstStyle/>
          <a:p>
            <a:pPr lvl="1"/>
            <a:r>
              <a:rPr kumimoji="1" lang="en-US" altLang="ja-JP" dirty="0"/>
              <a:t>skew </a:t>
            </a:r>
            <a:r>
              <a:rPr kumimoji="1" lang="ja-JP" altLang="en-US" dirty="0"/>
              <a:t>を無くすためには，クロックネットワーク全体で電圧のズレがなければ良い</a:t>
            </a:r>
            <a:br>
              <a:rPr kumimoji="1" lang="en-US" altLang="ja-JP" dirty="0"/>
            </a:br>
            <a:endParaRPr lang="en-US" altLang="ja-JP" dirty="0"/>
          </a:p>
          <a:p>
            <a:pPr lvl="1"/>
            <a:r>
              <a:rPr kumimoji="1" lang="en-US" altLang="ja-JP" dirty="0"/>
              <a:t>clock grid</a:t>
            </a:r>
            <a:r>
              <a:rPr kumimoji="1" lang="ja-JP" altLang="en-US" dirty="0"/>
              <a:t>：メッシュ状の配線を使う</a:t>
            </a:r>
            <a:endParaRPr kumimoji="1" lang="en-US" altLang="ja-JP" dirty="0"/>
          </a:p>
          <a:p>
            <a:pPr lvl="2"/>
            <a:r>
              <a:rPr kumimoji="1" lang="ja-JP" altLang="en-US" dirty="0"/>
              <a:t>ノード同士を密に縦横で繋いでやれば電位差が生まれにくい</a:t>
            </a:r>
            <a:endParaRPr kumimoji="1" lang="en-US" altLang="ja-JP" dirty="0"/>
          </a:p>
          <a:p>
            <a:pPr lvl="1"/>
            <a:r>
              <a:rPr kumimoji="1" lang="en-US" altLang="ja-JP" dirty="0"/>
              <a:t>clock spine</a:t>
            </a:r>
            <a:r>
              <a:rPr kumimoji="1" lang="ja-JP" altLang="en-US" dirty="0"/>
              <a:t>：太い配線を幹にして，そこから配る</a:t>
            </a:r>
            <a:endParaRPr kumimoji="1" lang="en-US" altLang="ja-JP" dirty="0"/>
          </a:p>
          <a:p>
            <a:pPr lvl="2"/>
            <a:r>
              <a:rPr kumimoji="1" lang="ja-JP" altLang="en-US" dirty="0"/>
              <a:t>太い線の中では差が生まれにくいので，そこから配る</a:t>
            </a:r>
          </a:p>
          <a:p>
            <a:endParaRPr kumimoji="1" lang="ja-JP" altLang="en-US" dirty="0"/>
          </a:p>
        </p:txBody>
      </p:sp>
    </p:spTree>
    <p:extLst>
      <p:ext uri="{BB962C8B-B14F-4D97-AF65-F5344CB8AC3E}">
        <p14:creationId xmlns:p14="http://schemas.microsoft.com/office/powerpoint/2010/main" val="1182008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B55D76-6708-E7D7-8C67-1DE5DC157F50}"/>
              </a:ext>
            </a:extLst>
          </p:cNvPr>
          <p:cNvSpPr>
            <a:spLocks noGrp="1"/>
          </p:cNvSpPr>
          <p:nvPr>
            <p:ph type="title"/>
          </p:nvPr>
        </p:nvSpPr>
        <p:spPr>
          <a:xfrm>
            <a:off x="695940" y="0"/>
            <a:ext cx="10776052" cy="908972"/>
          </a:xfrm>
        </p:spPr>
        <p:txBody>
          <a:bodyPr/>
          <a:lstStyle/>
          <a:p>
            <a:r>
              <a:rPr kumimoji="1" lang="ja-JP" altLang="en-US" dirty="0"/>
              <a:t>ここまでのまとめ</a:t>
            </a:r>
            <a:endParaRPr kumimoji="1" lang="en-US" dirty="0"/>
          </a:p>
        </p:txBody>
      </p:sp>
      <p:sp>
        <p:nvSpPr>
          <p:cNvPr id="3" name="テキスト プレースホルダー 2">
            <a:extLst>
              <a:ext uri="{FF2B5EF4-FFF2-40B4-BE49-F238E27FC236}">
                <a16:creationId xmlns:a16="http://schemas.microsoft.com/office/drawing/2014/main" id="{B026702E-314F-60DC-73EB-AA33B2B4153C}"/>
              </a:ext>
            </a:extLst>
          </p:cNvPr>
          <p:cNvSpPr>
            <a:spLocks noGrp="1"/>
          </p:cNvSpPr>
          <p:nvPr>
            <p:ph type="body" sz="quarter" idx="10"/>
          </p:nvPr>
        </p:nvSpPr>
        <p:spPr>
          <a:xfrm>
            <a:off x="605939" y="1088974"/>
            <a:ext cx="6120068" cy="5490061"/>
          </a:xfrm>
        </p:spPr>
        <p:txBody>
          <a:bodyPr/>
          <a:lstStyle/>
          <a:p>
            <a:r>
              <a:rPr kumimoji="1" lang="en-US" altLang="ja-JP" dirty="0"/>
              <a:t>CMOS </a:t>
            </a:r>
            <a:r>
              <a:rPr kumimoji="1" lang="ja-JP" altLang="en-US" dirty="0"/>
              <a:t>半導体の消費電力：</a:t>
            </a:r>
            <a:endParaRPr kumimoji="1" lang="en-US" altLang="ja-JP" dirty="0"/>
          </a:p>
          <a:p>
            <a:pPr lvl="1"/>
            <a:r>
              <a:rPr kumimoji="1" lang="ja-JP" altLang="en-US" dirty="0"/>
              <a:t>電荷の充放電と電圧により主に決まる</a:t>
            </a:r>
            <a:endParaRPr kumimoji="1" lang="en-US" altLang="ja-JP" dirty="0"/>
          </a:p>
          <a:p>
            <a:pPr lvl="1"/>
            <a:r>
              <a:rPr kumimoji="1" lang="ja-JP" altLang="en-US" dirty="0"/>
              <a:t>システムに流した水の量と高さのイメージ</a:t>
            </a:r>
            <a:endParaRPr kumimoji="1" lang="en-US" altLang="ja-JP" dirty="0"/>
          </a:p>
          <a:p>
            <a:r>
              <a:rPr kumimoji="1" lang="ja-JP" altLang="en-US" dirty="0">
                <a:solidFill>
                  <a:schemeClr val="accent5"/>
                </a:solidFill>
              </a:rPr>
              <a:t>消費電力は回路の大きさに比例する</a:t>
            </a:r>
            <a:endParaRPr kumimoji="1" lang="en-US" altLang="ja-JP" dirty="0">
              <a:solidFill>
                <a:schemeClr val="accent5"/>
              </a:solidFill>
            </a:endParaRPr>
          </a:p>
          <a:p>
            <a:pPr lvl="1"/>
            <a:r>
              <a:rPr kumimoji="1" lang="ja-JP" altLang="en-US" dirty="0"/>
              <a:t>充放電される電荷の量は，回路の量に比例</a:t>
            </a:r>
            <a:endParaRPr kumimoji="1" lang="en-US" altLang="ja-JP" dirty="0"/>
          </a:p>
          <a:p>
            <a:pPr lvl="1"/>
            <a:r>
              <a:rPr kumimoji="1" lang="ja-JP" altLang="en-US" dirty="0"/>
              <a:t>水タンクの総数や総量が大きくなるイメージ</a:t>
            </a:r>
            <a:endParaRPr kumimoji="1" lang="en-US" altLang="ja-JP" dirty="0"/>
          </a:p>
          <a:p>
            <a:r>
              <a:rPr lang="ja-JP" altLang="en-US" dirty="0">
                <a:solidFill>
                  <a:schemeClr val="accent5"/>
                </a:solidFill>
              </a:rPr>
              <a:t>消費電力は</a:t>
            </a:r>
            <a:r>
              <a:rPr kumimoji="1" lang="ja-JP" altLang="en-US" dirty="0">
                <a:solidFill>
                  <a:schemeClr val="accent5"/>
                </a:solidFill>
              </a:rPr>
              <a:t>動作周波数にも比例する</a:t>
            </a:r>
            <a:endParaRPr kumimoji="1" lang="en-US" altLang="ja-JP" dirty="0">
              <a:solidFill>
                <a:schemeClr val="accent5"/>
              </a:solidFill>
            </a:endParaRPr>
          </a:p>
          <a:p>
            <a:pPr lvl="1"/>
            <a:r>
              <a:rPr kumimoji="1" lang="ja-JP" altLang="en-US" dirty="0"/>
              <a:t>充放電回数が比例するから</a:t>
            </a:r>
            <a:endParaRPr kumimoji="1" lang="en-US" altLang="ja-JP" dirty="0"/>
          </a:p>
          <a:p>
            <a:pPr lvl="1"/>
            <a:r>
              <a:rPr kumimoji="1" lang="ja-JP" altLang="en-US" dirty="0"/>
              <a:t>水を入れて抜く回数が増えるとエネルギーが増えるイメージ</a:t>
            </a:r>
            <a:endParaRPr kumimoji="1" lang="en-US" dirty="0"/>
          </a:p>
        </p:txBody>
      </p:sp>
      <p:cxnSp>
        <p:nvCxnSpPr>
          <p:cNvPr id="8" name="直線コネクタ 7">
            <a:extLst>
              <a:ext uri="{FF2B5EF4-FFF2-40B4-BE49-F238E27FC236}">
                <a16:creationId xmlns:a16="http://schemas.microsoft.com/office/drawing/2014/main" id="{30E6E544-4393-ABA4-7DC8-A4E66F25823F}"/>
              </a:ext>
            </a:extLst>
          </p:cNvPr>
          <p:cNvCxnSpPr>
            <a:cxnSpLocks/>
          </p:cNvCxnSpPr>
          <p:nvPr/>
        </p:nvCxnSpPr>
        <p:spPr bwMode="auto">
          <a:xfrm>
            <a:off x="8526027" y="1178976"/>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F5E0D6DC-7F17-6B17-A6D4-8BC8F1785594}"/>
              </a:ext>
            </a:extLst>
          </p:cNvPr>
          <p:cNvCxnSpPr>
            <a:cxnSpLocks/>
          </p:cNvCxnSpPr>
          <p:nvPr/>
        </p:nvCxnSpPr>
        <p:spPr bwMode="auto">
          <a:xfrm>
            <a:off x="8526027" y="3338999"/>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2" name="直線矢印コネクタ 11">
            <a:extLst>
              <a:ext uri="{FF2B5EF4-FFF2-40B4-BE49-F238E27FC236}">
                <a16:creationId xmlns:a16="http://schemas.microsoft.com/office/drawing/2014/main" id="{41CD512D-333A-D225-3422-5E8021F9A5DF}"/>
              </a:ext>
            </a:extLst>
          </p:cNvPr>
          <p:cNvCxnSpPr>
            <a:cxnSpLocks/>
          </p:cNvCxnSpPr>
          <p:nvPr/>
        </p:nvCxnSpPr>
        <p:spPr bwMode="auto">
          <a:xfrm flipV="1">
            <a:off x="8256024" y="1178975"/>
            <a:ext cx="0" cy="2160024"/>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3" name="正方形/長方形 12">
            <a:extLst>
              <a:ext uri="{FF2B5EF4-FFF2-40B4-BE49-F238E27FC236}">
                <a16:creationId xmlns:a16="http://schemas.microsoft.com/office/drawing/2014/main" id="{2EF5C402-C42C-991D-330F-D9E8F0A69973}"/>
              </a:ext>
            </a:extLst>
          </p:cNvPr>
          <p:cNvSpPr/>
          <p:nvPr/>
        </p:nvSpPr>
        <p:spPr bwMode="auto">
          <a:xfrm>
            <a:off x="7176012" y="180898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電圧</a:t>
            </a:r>
            <a:r>
              <a:rPr lang="en-US" altLang="ja-JP" sz="2400" b="1" dirty="0">
                <a:solidFill>
                  <a:schemeClr val="accent5"/>
                </a:solidFill>
              </a:rPr>
              <a:t> V </a:t>
            </a:r>
            <a:endParaRPr lang="ja-JP" altLang="en-US" sz="2400" b="1" dirty="0">
              <a:solidFill>
                <a:schemeClr val="accent5"/>
              </a:solidFill>
            </a:endParaRPr>
          </a:p>
        </p:txBody>
      </p:sp>
      <p:sp>
        <p:nvSpPr>
          <p:cNvPr id="22" name="正方形/長方形 21">
            <a:extLst>
              <a:ext uri="{FF2B5EF4-FFF2-40B4-BE49-F238E27FC236}">
                <a16:creationId xmlns:a16="http://schemas.microsoft.com/office/drawing/2014/main" id="{AB43645C-2723-9AEF-69C6-430B83237913}"/>
              </a:ext>
            </a:extLst>
          </p:cNvPr>
          <p:cNvSpPr/>
          <p:nvPr/>
        </p:nvSpPr>
        <p:spPr bwMode="auto">
          <a:xfrm>
            <a:off x="8886031" y="117897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電荷 </a:t>
            </a:r>
            <a:r>
              <a:rPr lang="en-US" altLang="ja-JP" sz="2400" b="1" dirty="0">
                <a:solidFill>
                  <a:schemeClr val="accent5"/>
                </a:solidFill>
              </a:rPr>
              <a:t>Q</a:t>
            </a:r>
            <a:endParaRPr lang="ja-JP" altLang="en-US" sz="2400" b="1" dirty="0">
              <a:solidFill>
                <a:schemeClr val="accent5"/>
              </a:solidFill>
            </a:endParaRPr>
          </a:p>
        </p:txBody>
      </p:sp>
      <p:cxnSp>
        <p:nvCxnSpPr>
          <p:cNvPr id="23" name="直線矢印コネクタ 22">
            <a:extLst>
              <a:ext uri="{FF2B5EF4-FFF2-40B4-BE49-F238E27FC236}">
                <a16:creationId xmlns:a16="http://schemas.microsoft.com/office/drawing/2014/main" id="{91F3AC5E-3B27-0832-0C18-849BB37EC5CC}"/>
              </a:ext>
            </a:extLst>
          </p:cNvPr>
          <p:cNvCxnSpPr>
            <a:cxnSpLocks/>
          </p:cNvCxnSpPr>
          <p:nvPr/>
        </p:nvCxnSpPr>
        <p:spPr bwMode="auto">
          <a:xfrm>
            <a:off x="9336036" y="1268976"/>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4" name="直線コネクタ 23">
            <a:extLst>
              <a:ext uri="{FF2B5EF4-FFF2-40B4-BE49-F238E27FC236}">
                <a16:creationId xmlns:a16="http://schemas.microsoft.com/office/drawing/2014/main" id="{219D2EA2-C0C1-5368-0761-5774CF8F144F}"/>
              </a:ext>
            </a:extLst>
          </p:cNvPr>
          <p:cNvCxnSpPr>
            <a:cxnSpLocks/>
          </p:cNvCxnSpPr>
          <p:nvPr/>
        </p:nvCxnSpPr>
        <p:spPr bwMode="auto">
          <a:xfrm>
            <a:off x="10056044" y="1178975"/>
            <a:ext cx="0" cy="630007"/>
          </a:xfrm>
          <a:prstGeom prst="line">
            <a:avLst/>
          </a:prstGeom>
          <a:noFill/>
          <a:ln w="19050" cap="flat" cmpd="sng" algn="ctr">
            <a:solidFill>
              <a:schemeClr val="tx1"/>
            </a:solidFill>
            <a:prstDash val="solid"/>
            <a:round/>
            <a:headEnd type="none" w="med" len="med"/>
            <a:tailEnd type="none" w="med" len="med"/>
          </a:ln>
          <a:effectLst/>
        </p:spPr>
      </p:cxnSp>
      <p:sp>
        <p:nvSpPr>
          <p:cNvPr id="25" name="正方形/長方形 24">
            <a:extLst>
              <a:ext uri="{FF2B5EF4-FFF2-40B4-BE49-F238E27FC236}">
                <a16:creationId xmlns:a16="http://schemas.microsoft.com/office/drawing/2014/main" id="{53E5A006-A943-EFF1-586B-590222F64348}"/>
              </a:ext>
            </a:extLst>
          </p:cNvPr>
          <p:cNvSpPr/>
          <p:nvPr/>
        </p:nvSpPr>
        <p:spPr bwMode="auto">
          <a:xfrm>
            <a:off x="8166023" y="63896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電源</a:t>
            </a:r>
          </a:p>
        </p:txBody>
      </p:sp>
      <p:sp>
        <p:nvSpPr>
          <p:cNvPr id="26" name="正方形/長方形 25">
            <a:extLst>
              <a:ext uri="{FF2B5EF4-FFF2-40B4-BE49-F238E27FC236}">
                <a16:creationId xmlns:a16="http://schemas.microsoft.com/office/drawing/2014/main" id="{21B265DE-86CF-25D0-E99A-7E9EDABCF893}"/>
              </a:ext>
            </a:extLst>
          </p:cNvPr>
          <p:cNvSpPr/>
          <p:nvPr/>
        </p:nvSpPr>
        <p:spPr bwMode="auto">
          <a:xfrm>
            <a:off x="8256024" y="333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グラウンド</a:t>
            </a:r>
          </a:p>
        </p:txBody>
      </p:sp>
      <p:cxnSp>
        <p:nvCxnSpPr>
          <p:cNvPr id="30" name="直線コネクタ 29">
            <a:extLst>
              <a:ext uri="{FF2B5EF4-FFF2-40B4-BE49-F238E27FC236}">
                <a16:creationId xmlns:a16="http://schemas.microsoft.com/office/drawing/2014/main" id="{7A1B647F-B03C-86CD-902E-41E0C3FC1DBC}"/>
              </a:ext>
            </a:extLst>
          </p:cNvPr>
          <p:cNvCxnSpPr>
            <a:cxnSpLocks/>
          </p:cNvCxnSpPr>
          <p:nvPr/>
        </p:nvCxnSpPr>
        <p:spPr bwMode="auto">
          <a:xfrm>
            <a:off x="10056044" y="2798993"/>
            <a:ext cx="0" cy="540006"/>
          </a:xfrm>
          <a:prstGeom prst="line">
            <a:avLst/>
          </a:prstGeom>
          <a:noFill/>
          <a:ln w="19050" cap="flat" cmpd="sng" algn="ctr">
            <a:solidFill>
              <a:schemeClr val="tx1"/>
            </a:solidFill>
            <a:prstDash val="solid"/>
            <a:round/>
            <a:headEnd type="none" w="med" len="med"/>
            <a:tailEnd type="none" w="med" len="med"/>
          </a:ln>
          <a:effectLst/>
        </p:spPr>
      </p:cxnSp>
      <p:sp>
        <p:nvSpPr>
          <p:cNvPr id="35" name="正方形/長方形 34">
            <a:extLst>
              <a:ext uri="{FF2B5EF4-FFF2-40B4-BE49-F238E27FC236}">
                <a16:creationId xmlns:a16="http://schemas.microsoft.com/office/drawing/2014/main" id="{23B739AC-F5D5-8FEE-FB96-0AF0A93FA4F4}"/>
              </a:ext>
            </a:extLst>
          </p:cNvPr>
          <p:cNvSpPr/>
          <p:nvPr/>
        </p:nvSpPr>
        <p:spPr bwMode="auto">
          <a:xfrm>
            <a:off x="8976033" y="1808982"/>
            <a:ext cx="2160023"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　　　　　　半導体</a:t>
            </a:r>
            <a:endParaRPr kumimoji="1" lang="en-US" altLang="ja-JP" dirty="0">
              <a:solidFill>
                <a:schemeClr val="tx1">
                  <a:lumMod val="75000"/>
                  <a:lumOff val="25000"/>
                </a:schemeClr>
              </a:solidFill>
              <a:latin typeface="+mn-ea"/>
            </a:endParaRPr>
          </a:p>
          <a:p>
            <a:pPr algn="ctr"/>
            <a:r>
              <a:rPr kumimoji="1" lang="ja-JP" altLang="en-US" dirty="0">
                <a:solidFill>
                  <a:schemeClr val="tx1">
                    <a:lumMod val="75000"/>
                    <a:lumOff val="25000"/>
                  </a:schemeClr>
                </a:solidFill>
                <a:latin typeface="+mn-ea"/>
              </a:rPr>
              <a:t>　　　　　　　回路</a:t>
            </a:r>
            <a:endParaRPr lang="en-US" dirty="0">
              <a:solidFill>
                <a:schemeClr val="tx1">
                  <a:lumMod val="75000"/>
                  <a:lumOff val="25000"/>
                </a:schemeClr>
              </a:solidFill>
              <a:latin typeface="+mn-ea"/>
            </a:endParaRPr>
          </a:p>
          <a:p>
            <a:pPr algn="ctr"/>
            <a:endParaRPr kumimoji="1" lang="en-US" dirty="0">
              <a:solidFill>
                <a:schemeClr val="tx1">
                  <a:lumMod val="75000"/>
                  <a:lumOff val="25000"/>
                </a:schemeClr>
              </a:solidFill>
              <a:latin typeface="+mn-ea"/>
            </a:endParaRPr>
          </a:p>
        </p:txBody>
      </p:sp>
      <p:sp>
        <p:nvSpPr>
          <p:cNvPr id="110" name="正方形/長方形 109">
            <a:extLst>
              <a:ext uri="{FF2B5EF4-FFF2-40B4-BE49-F238E27FC236}">
                <a16:creationId xmlns:a16="http://schemas.microsoft.com/office/drawing/2014/main" id="{F7837E33-4930-66F3-17FC-E8A8C2B9BC4C}"/>
              </a:ext>
            </a:extLst>
          </p:cNvPr>
          <p:cNvSpPr/>
          <p:nvPr/>
        </p:nvSpPr>
        <p:spPr bwMode="auto">
          <a:xfrm rot="5400000">
            <a:off x="9786042" y="6129031"/>
            <a:ext cx="360002"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11" name="正方形/長方形 110">
            <a:extLst>
              <a:ext uri="{FF2B5EF4-FFF2-40B4-BE49-F238E27FC236}">
                <a16:creationId xmlns:a16="http://schemas.microsoft.com/office/drawing/2014/main" id="{4EE53477-B6B0-6C55-B266-54F55A62C5BA}"/>
              </a:ext>
            </a:extLst>
          </p:cNvPr>
          <p:cNvSpPr/>
          <p:nvPr/>
        </p:nvSpPr>
        <p:spPr bwMode="auto">
          <a:xfrm rot="5400000">
            <a:off x="9561038" y="6084028"/>
            <a:ext cx="180002" cy="810009"/>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12" name="直線コネクタ 111">
            <a:extLst>
              <a:ext uri="{FF2B5EF4-FFF2-40B4-BE49-F238E27FC236}">
                <a16:creationId xmlns:a16="http://schemas.microsoft.com/office/drawing/2014/main" id="{4796900C-886C-AB66-89BB-D51B530569EA}"/>
              </a:ext>
            </a:extLst>
          </p:cNvPr>
          <p:cNvCxnSpPr>
            <a:cxnSpLocks/>
          </p:cNvCxnSpPr>
          <p:nvPr/>
        </p:nvCxnSpPr>
        <p:spPr bwMode="auto">
          <a:xfrm>
            <a:off x="8526029" y="6399033"/>
            <a:ext cx="1350015" cy="0"/>
          </a:xfrm>
          <a:prstGeom prst="line">
            <a:avLst/>
          </a:prstGeom>
          <a:noFill/>
          <a:ln w="19050" cap="flat" cmpd="sng" algn="ctr">
            <a:solidFill>
              <a:schemeClr val="tx1"/>
            </a:solidFill>
            <a:prstDash val="solid"/>
            <a:round/>
            <a:headEnd type="none" w="med" len="med"/>
            <a:tailEnd type="none" w="med" len="med"/>
          </a:ln>
          <a:effectLst/>
        </p:spPr>
      </p:cxnSp>
      <p:sp>
        <p:nvSpPr>
          <p:cNvPr id="113" name="正方形/長方形 112">
            <a:extLst>
              <a:ext uri="{FF2B5EF4-FFF2-40B4-BE49-F238E27FC236}">
                <a16:creationId xmlns:a16="http://schemas.microsoft.com/office/drawing/2014/main" id="{7A0404E9-43AE-5F2C-A2B6-50FB1684A0CA}"/>
              </a:ext>
            </a:extLst>
          </p:cNvPr>
          <p:cNvSpPr/>
          <p:nvPr/>
        </p:nvSpPr>
        <p:spPr bwMode="auto">
          <a:xfrm rot="5400000">
            <a:off x="9201034" y="3744004"/>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14" name="直線コネクタ 113">
            <a:extLst>
              <a:ext uri="{FF2B5EF4-FFF2-40B4-BE49-F238E27FC236}">
                <a16:creationId xmlns:a16="http://schemas.microsoft.com/office/drawing/2014/main" id="{E9AB5606-932A-879D-D84B-E8D06DBF47B8}"/>
              </a:ext>
            </a:extLst>
          </p:cNvPr>
          <p:cNvCxnSpPr>
            <a:cxnSpLocks/>
          </p:cNvCxnSpPr>
          <p:nvPr/>
        </p:nvCxnSpPr>
        <p:spPr bwMode="auto">
          <a:xfrm>
            <a:off x="8526027" y="4419012"/>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5" name="直線コネクタ 114">
            <a:extLst>
              <a:ext uri="{FF2B5EF4-FFF2-40B4-BE49-F238E27FC236}">
                <a16:creationId xmlns:a16="http://schemas.microsoft.com/office/drawing/2014/main" id="{66CFD292-C536-FD5B-3FC4-24523DF7DD51}"/>
              </a:ext>
            </a:extLst>
          </p:cNvPr>
          <p:cNvCxnSpPr>
            <a:cxnSpLocks/>
          </p:cNvCxnSpPr>
          <p:nvPr/>
        </p:nvCxnSpPr>
        <p:spPr bwMode="auto">
          <a:xfrm>
            <a:off x="8526027" y="4599014"/>
            <a:ext cx="1350017" cy="0"/>
          </a:xfrm>
          <a:prstGeom prst="line">
            <a:avLst/>
          </a:prstGeom>
          <a:noFill/>
          <a:ln w="19050" cap="flat" cmpd="sng" algn="ctr">
            <a:solidFill>
              <a:schemeClr val="tx1"/>
            </a:solidFill>
            <a:prstDash val="solid"/>
            <a:round/>
            <a:headEnd type="none" w="med" len="med"/>
            <a:tailEnd type="none" w="med" len="med"/>
          </a:ln>
          <a:effectLst/>
        </p:spPr>
      </p:cxnSp>
      <p:cxnSp>
        <p:nvCxnSpPr>
          <p:cNvPr id="116" name="直線コネクタ 115">
            <a:extLst>
              <a:ext uri="{FF2B5EF4-FFF2-40B4-BE49-F238E27FC236}">
                <a16:creationId xmlns:a16="http://schemas.microsoft.com/office/drawing/2014/main" id="{3871155B-44CF-9993-C3F5-CAAEC9F10D52}"/>
              </a:ext>
            </a:extLst>
          </p:cNvPr>
          <p:cNvCxnSpPr>
            <a:cxnSpLocks/>
          </p:cNvCxnSpPr>
          <p:nvPr/>
        </p:nvCxnSpPr>
        <p:spPr bwMode="auto">
          <a:xfrm>
            <a:off x="9876042" y="6039029"/>
            <a:ext cx="0" cy="360004"/>
          </a:xfrm>
          <a:prstGeom prst="line">
            <a:avLst/>
          </a:prstGeom>
          <a:noFill/>
          <a:ln w="19050" cap="flat" cmpd="sng" algn="ctr">
            <a:solidFill>
              <a:schemeClr val="tx1"/>
            </a:solidFill>
            <a:prstDash val="solid"/>
            <a:round/>
            <a:headEnd type="none" w="med" len="med"/>
            <a:tailEnd type="none" w="med" len="med"/>
          </a:ln>
          <a:effectLst/>
        </p:spPr>
      </p:cxnSp>
      <p:cxnSp>
        <p:nvCxnSpPr>
          <p:cNvPr id="117" name="直線コネクタ 116">
            <a:extLst>
              <a:ext uri="{FF2B5EF4-FFF2-40B4-BE49-F238E27FC236}">
                <a16:creationId xmlns:a16="http://schemas.microsoft.com/office/drawing/2014/main" id="{8ECA438F-C829-6C95-F3F5-709838CFF4D6}"/>
              </a:ext>
            </a:extLst>
          </p:cNvPr>
          <p:cNvCxnSpPr>
            <a:cxnSpLocks/>
          </p:cNvCxnSpPr>
          <p:nvPr/>
        </p:nvCxnSpPr>
        <p:spPr bwMode="auto">
          <a:xfrm>
            <a:off x="8526027" y="657903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18" name="直線矢印コネクタ 117">
            <a:extLst>
              <a:ext uri="{FF2B5EF4-FFF2-40B4-BE49-F238E27FC236}">
                <a16:creationId xmlns:a16="http://schemas.microsoft.com/office/drawing/2014/main" id="{961E61BA-3A9C-73F5-837A-8A7BDB4EEB71}"/>
              </a:ext>
            </a:extLst>
          </p:cNvPr>
          <p:cNvCxnSpPr>
            <a:cxnSpLocks/>
          </p:cNvCxnSpPr>
          <p:nvPr/>
        </p:nvCxnSpPr>
        <p:spPr bwMode="auto">
          <a:xfrm flipV="1">
            <a:off x="8256024" y="4419011"/>
            <a:ext cx="0" cy="2160024"/>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19" name="正方形/長方形 118">
            <a:extLst>
              <a:ext uri="{FF2B5EF4-FFF2-40B4-BE49-F238E27FC236}">
                <a16:creationId xmlns:a16="http://schemas.microsoft.com/office/drawing/2014/main" id="{727C0BA7-CA0C-7EF9-13B4-24B77596AC8C}"/>
              </a:ext>
            </a:extLst>
          </p:cNvPr>
          <p:cNvSpPr/>
          <p:nvPr/>
        </p:nvSpPr>
        <p:spPr bwMode="auto">
          <a:xfrm>
            <a:off x="7176012" y="504901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高さ</a:t>
            </a:r>
            <a:r>
              <a:rPr lang="en-US" altLang="ja-JP" sz="2400" b="1" dirty="0">
                <a:solidFill>
                  <a:schemeClr val="accent5"/>
                </a:solidFill>
              </a:rPr>
              <a:t> V </a:t>
            </a:r>
            <a:endParaRPr lang="ja-JP" altLang="en-US" sz="2400" b="1" dirty="0">
              <a:solidFill>
                <a:schemeClr val="accent5"/>
              </a:solidFill>
            </a:endParaRPr>
          </a:p>
        </p:txBody>
      </p:sp>
      <p:sp>
        <p:nvSpPr>
          <p:cNvPr id="120" name="正方形/長方形 119">
            <a:extLst>
              <a:ext uri="{FF2B5EF4-FFF2-40B4-BE49-F238E27FC236}">
                <a16:creationId xmlns:a16="http://schemas.microsoft.com/office/drawing/2014/main" id="{14270878-46E5-5AAF-B417-8CDDD8359365}"/>
              </a:ext>
            </a:extLst>
          </p:cNvPr>
          <p:cNvSpPr/>
          <p:nvPr/>
        </p:nvSpPr>
        <p:spPr bwMode="auto">
          <a:xfrm>
            <a:off x="8976032" y="387900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給水量 </a:t>
            </a:r>
            <a:r>
              <a:rPr lang="en-US" altLang="ja-JP" sz="2400" b="1" dirty="0">
                <a:solidFill>
                  <a:schemeClr val="accent5"/>
                </a:solidFill>
              </a:rPr>
              <a:t>Q</a:t>
            </a:r>
            <a:endParaRPr lang="ja-JP" altLang="en-US" sz="2400" b="1" dirty="0">
              <a:solidFill>
                <a:schemeClr val="accent5"/>
              </a:solidFill>
            </a:endParaRPr>
          </a:p>
        </p:txBody>
      </p:sp>
      <p:cxnSp>
        <p:nvCxnSpPr>
          <p:cNvPr id="121" name="直線矢印コネクタ 120">
            <a:extLst>
              <a:ext uri="{FF2B5EF4-FFF2-40B4-BE49-F238E27FC236}">
                <a16:creationId xmlns:a16="http://schemas.microsoft.com/office/drawing/2014/main" id="{39B8B331-1677-3E45-BA05-036CCBF620AF}"/>
              </a:ext>
            </a:extLst>
          </p:cNvPr>
          <p:cNvCxnSpPr>
            <a:cxnSpLocks/>
          </p:cNvCxnSpPr>
          <p:nvPr/>
        </p:nvCxnSpPr>
        <p:spPr bwMode="auto">
          <a:xfrm>
            <a:off x="9336036" y="4509012"/>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22" name="直線コネクタ 121">
            <a:extLst>
              <a:ext uri="{FF2B5EF4-FFF2-40B4-BE49-F238E27FC236}">
                <a16:creationId xmlns:a16="http://schemas.microsoft.com/office/drawing/2014/main" id="{6FB7E1A6-9333-3582-FBCD-AE36E0EB8E62}"/>
              </a:ext>
            </a:extLst>
          </p:cNvPr>
          <p:cNvCxnSpPr>
            <a:cxnSpLocks/>
          </p:cNvCxnSpPr>
          <p:nvPr/>
        </p:nvCxnSpPr>
        <p:spPr bwMode="auto">
          <a:xfrm>
            <a:off x="10056044" y="4419011"/>
            <a:ext cx="0" cy="630007"/>
          </a:xfrm>
          <a:prstGeom prst="line">
            <a:avLst/>
          </a:prstGeom>
          <a:noFill/>
          <a:ln w="19050" cap="flat" cmpd="sng" algn="ctr">
            <a:solidFill>
              <a:schemeClr val="tx1"/>
            </a:solidFill>
            <a:prstDash val="solid"/>
            <a:round/>
            <a:headEnd type="none" w="med" len="med"/>
            <a:tailEnd type="none" w="med" len="med"/>
          </a:ln>
          <a:effectLst/>
        </p:spPr>
      </p:cxnSp>
      <p:sp>
        <p:nvSpPr>
          <p:cNvPr id="123" name="正方形/長方形 122">
            <a:extLst>
              <a:ext uri="{FF2B5EF4-FFF2-40B4-BE49-F238E27FC236}">
                <a16:creationId xmlns:a16="http://schemas.microsoft.com/office/drawing/2014/main" id="{C177DF3F-FC82-4E24-218C-92F63C6ADABB}"/>
              </a:ext>
            </a:extLst>
          </p:cNvPr>
          <p:cNvSpPr/>
          <p:nvPr/>
        </p:nvSpPr>
        <p:spPr bwMode="auto">
          <a:xfrm>
            <a:off x="8256024" y="387900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24" name="正方形/長方形 123">
            <a:extLst>
              <a:ext uri="{FF2B5EF4-FFF2-40B4-BE49-F238E27FC236}">
                <a16:creationId xmlns:a16="http://schemas.microsoft.com/office/drawing/2014/main" id="{AE8EE357-5AFE-61D7-424E-F938FA36E792}"/>
              </a:ext>
            </a:extLst>
          </p:cNvPr>
          <p:cNvSpPr/>
          <p:nvPr/>
        </p:nvSpPr>
        <p:spPr bwMode="auto">
          <a:xfrm>
            <a:off x="8256024" y="6399033"/>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cxnSp>
        <p:nvCxnSpPr>
          <p:cNvPr id="125" name="直線コネクタ 124">
            <a:extLst>
              <a:ext uri="{FF2B5EF4-FFF2-40B4-BE49-F238E27FC236}">
                <a16:creationId xmlns:a16="http://schemas.microsoft.com/office/drawing/2014/main" id="{B54BA289-E8B9-DAC1-AB09-35BA643D99CA}"/>
              </a:ext>
            </a:extLst>
          </p:cNvPr>
          <p:cNvCxnSpPr>
            <a:cxnSpLocks/>
          </p:cNvCxnSpPr>
          <p:nvPr/>
        </p:nvCxnSpPr>
        <p:spPr bwMode="auto">
          <a:xfrm>
            <a:off x="10056044" y="6039029"/>
            <a:ext cx="0" cy="540006"/>
          </a:xfrm>
          <a:prstGeom prst="line">
            <a:avLst/>
          </a:prstGeom>
          <a:noFill/>
          <a:ln w="19050" cap="flat" cmpd="sng" algn="ctr">
            <a:solidFill>
              <a:schemeClr val="tx1"/>
            </a:solidFill>
            <a:prstDash val="solid"/>
            <a:round/>
            <a:headEnd type="none" w="med" len="med"/>
            <a:tailEnd type="none" w="med" len="med"/>
          </a:ln>
          <a:effectLst/>
        </p:spPr>
      </p:cxnSp>
      <p:cxnSp>
        <p:nvCxnSpPr>
          <p:cNvPr id="126" name="直線コネクタ 125">
            <a:extLst>
              <a:ext uri="{FF2B5EF4-FFF2-40B4-BE49-F238E27FC236}">
                <a16:creationId xmlns:a16="http://schemas.microsoft.com/office/drawing/2014/main" id="{19FE9476-F164-971D-8C13-369D8A4635A4}"/>
              </a:ext>
            </a:extLst>
          </p:cNvPr>
          <p:cNvCxnSpPr>
            <a:cxnSpLocks/>
          </p:cNvCxnSpPr>
          <p:nvPr/>
        </p:nvCxnSpPr>
        <p:spPr bwMode="auto">
          <a:xfrm>
            <a:off x="9876042" y="4599013"/>
            <a:ext cx="0" cy="450005"/>
          </a:xfrm>
          <a:prstGeom prst="line">
            <a:avLst/>
          </a:prstGeom>
          <a:noFill/>
          <a:ln w="19050" cap="flat" cmpd="sng" algn="ctr">
            <a:solidFill>
              <a:schemeClr val="tx1"/>
            </a:solidFill>
            <a:prstDash val="solid"/>
            <a:round/>
            <a:headEnd type="none" w="med" len="med"/>
            <a:tailEnd type="none" w="med" len="med"/>
          </a:ln>
          <a:effectLst/>
        </p:spPr>
      </p:cxnSp>
      <p:sp>
        <p:nvSpPr>
          <p:cNvPr id="127" name="正方形/長方形 126">
            <a:extLst>
              <a:ext uri="{FF2B5EF4-FFF2-40B4-BE49-F238E27FC236}">
                <a16:creationId xmlns:a16="http://schemas.microsoft.com/office/drawing/2014/main" id="{2B182211-396A-98C5-78D6-4983754DC4CA}"/>
              </a:ext>
            </a:extLst>
          </p:cNvPr>
          <p:cNvSpPr/>
          <p:nvPr/>
        </p:nvSpPr>
        <p:spPr bwMode="auto">
          <a:xfrm>
            <a:off x="8886031" y="5049018"/>
            <a:ext cx="2160023"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　　　　　　　装置</a:t>
            </a:r>
            <a:br>
              <a:rPr kumimoji="1" lang="en-US" altLang="ja-JP" dirty="0">
                <a:solidFill>
                  <a:schemeClr val="tx1">
                    <a:lumMod val="75000"/>
                    <a:lumOff val="25000"/>
                  </a:schemeClr>
                </a:solidFill>
                <a:latin typeface="+mn-ea"/>
              </a:rPr>
            </a:br>
            <a:endParaRPr lang="en-US" dirty="0">
              <a:solidFill>
                <a:schemeClr val="tx1">
                  <a:lumMod val="75000"/>
                  <a:lumOff val="25000"/>
                </a:schemeClr>
              </a:solidFill>
              <a:latin typeface="+mn-ea"/>
            </a:endParaRPr>
          </a:p>
          <a:p>
            <a:pPr algn="ctr"/>
            <a:endParaRPr kumimoji="1" lang="en-US" dirty="0">
              <a:solidFill>
                <a:schemeClr val="tx1">
                  <a:lumMod val="75000"/>
                  <a:lumOff val="25000"/>
                </a:schemeClr>
              </a:solidFill>
              <a:latin typeface="+mn-ea"/>
            </a:endParaRPr>
          </a:p>
        </p:txBody>
      </p:sp>
      <p:grpSp>
        <p:nvGrpSpPr>
          <p:cNvPr id="128" name="グループ化 127">
            <a:extLst>
              <a:ext uri="{FF2B5EF4-FFF2-40B4-BE49-F238E27FC236}">
                <a16:creationId xmlns:a16="http://schemas.microsoft.com/office/drawing/2014/main" id="{C968AAD1-AB19-7B01-F7B9-EBBBDB462A2B}"/>
              </a:ext>
            </a:extLst>
          </p:cNvPr>
          <p:cNvGrpSpPr/>
          <p:nvPr/>
        </p:nvGrpSpPr>
        <p:grpSpPr>
          <a:xfrm>
            <a:off x="9606039" y="5679025"/>
            <a:ext cx="180002" cy="270004"/>
            <a:chOff x="9426037" y="4509012"/>
            <a:chExt cx="540006" cy="810010"/>
          </a:xfrm>
        </p:grpSpPr>
        <p:sp>
          <p:nvSpPr>
            <p:cNvPr id="129" name="正方形/長方形 128">
              <a:extLst>
                <a:ext uri="{FF2B5EF4-FFF2-40B4-BE49-F238E27FC236}">
                  <a16:creationId xmlns:a16="http://schemas.microsoft.com/office/drawing/2014/main" id="{001333DA-ED04-DD84-8BD9-941DE7EB7FEB}"/>
                </a:ext>
              </a:extLst>
            </p:cNvPr>
            <p:cNvSpPr/>
            <p:nvPr/>
          </p:nvSpPr>
          <p:spPr bwMode="auto">
            <a:xfrm>
              <a:off x="9426037" y="459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0" name="直線コネクタ 129">
              <a:extLst>
                <a:ext uri="{FF2B5EF4-FFF2-40B4-BE49-F238E27FC236}">
                  <a16:creationId xmlns:a16="http://schemas.microsoft.com/office/drawing/2014/main" id="{406DA4E5-E12A-7CAE-11C9-A0E25B0A7C26}"/>
                </a:ext>
              </a:extLst>
            </p:cNvPr>
            <p:cNvCxnSpPr>
              <a:cxnSpLocks/>
            </p:cNvCxnSpPr>
            <p:nvPr/>
          </p:nvCxnSpPr>
          <p:spPr bwMode="auto">
            <a:xfrm>
              <a:off x="9426037" y="495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31" name="直線コネクタ 130">
              <a:extLst>
                <a:ext uri="{FF2B5EF4-FFF2-40B4-BE49-F238E27FC236}">
                  <a16:creationId xmlns:a16="http://schemas.microsoft.com/office/drawing/2014/main" id="{7764A9C2-6019-C8C4-26A0-4B4E157299ED}"/>
                </a:ext>
              </a:extLst>
            </p:cNvPr>
            <p:cNvCxnSpPr>
              <a:cxnSpLocks/>
            </p:cNvCxnSpPr>
            <p:nvPr/>
          </p:nvCxnSpPr>
          <p:spPr bwMode="auto">
            <a:xfrm>
              <a:off x="9426037" y="4509012"/>
              <a:ext cx="0" cy="450005"/>
            </a:xfrm>
            <a:prstGeom prst="line">
              <a:avLst/>
            </a:prstGeom>
            <a:noFill/>
            <a:ln w="19050" cap="rnd" cmpd="sng" algn="ctr">
              <a:solidFill>
                <a:schemeClr val="accent5"/>
              </a:solidFill>
              <a:prstDash val="solid"/>
              <a:round/>
              <a:headEnd type="none" w="med" len="med"/>
              <a:tailEnd type="none" w="med" len="med"/>
            </a:ln>
            <a:effectLst/>
          </p:spPr>
        </p:cxnSp>
        <p:cxnSp>
          <p:nvCxnSpPr>
            <p:cNvPr id="132" name="直線コネクタ 131">
              <a:extLst>
                <a:ext uri="{FF2B5EF4-FFF2-40B4-BE49-F238E27FC236}">
                  <a16:creationId xmlns:a16="http://schemas.microsoft.com/office/drawing/2014/main" id="{8F65F003-A751-C0E9-0F96-CB46C31BC91B}"/>
                </a:ext>
              </a:extLst>
            </p:cNvPr>
            <p:cNvCxnSpPr>
              <a:cxnSpLocks/>
            </p:cNvCxnSpPr>
            <p:nvPr/>
          </p:nvCxnSpPr>
          <p:spPr bwMode="auto">
            <a:xfrm>
              <a:off x="9966043"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33" name="直線コネクタ 132">
              <a:extLst>
                <a:ext uri="{FF2B5EF4-FFF2-40B4-BE49-F238E27FC236}">
                  <a16:creationId xmlns:a16="http://schemas.microsoft.com/office/drawing/2014/main" id="{D1B8098B-188A-63A7-AE0B-FE448E37779E}"/>
                </a:ext>
              </a:extLst>
            </p:cNvPr>
            <p:cNvCxnSpPr>
              <a:cxnSpLocks/>
            </p:cNvCxnSpPr>
            <p:nvPr/>
          </p:nvCxnSpPr>
          <p:spPr bwMode="auto">
            <a:xfrm flipV="1">
              <a:off x="9696038" y="495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34" name="正方形/長方形 133">
              <a:extLst>
                <a:ext uri="{FF2B5EF4-FFF2-40B4-BE49-F238E27FC236}">
                  <a16:creationId xmlns:a16="http://schemas.microsoft.com/office/drawing/2014/main" id="{E23EDE77-F890-C525-91D6-B6FB064D9E21}"/>
                </a:ext>
              </a:extLst>
            </p:cNvPr>
            <p:cNvSpPr/>
            <p:nvPr/>
          </p:nvSpPr>
          <p:spPr bwMode="auto">
            <a:xfrm rot="5400000">
              <a:off x="9606037" y="513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35" name="グループ化 134">
            <a:extLst>
              <a:ext uri="{FF2B5EF4-FFF2-40B4-BE49-F238E27FC236}">
                <a16:creationId xmlns:a16="http://schemas.microsoft.com/office/drawing/2014/main" id="{082DC44C-8E1E-8130-BD1F-E3145560B4A6}"/>
              </a:ext>
            </a:extLst>
          </p:cNvPr>
          <p:cNvGrpSpPr/>
          <p:nvPr/>
        </p:nvGrpSpPr>
        <p:grpSpPr>
          <a:xfrm>
            <a:off x="9246035" y="5139019"/>
            <a:ext cx="180004" cy="270005"/>
            <a:chOff x="8256026" y="4419011"/>
            <a:chExt cx="540006" cy="810011"/>
          </a:xfrm>
        </p:grpSpPr>
        <p:sp>
          <p:nvSpPr>
            <p:cNvPr id="136" name="正方形/長方形 135">
              <a:extLst>
                <a:ext uri="{FF2B5EF4-FFF2-40B4-BE49-F238E27FC236}">
                  <a16:creationId xmlns:a16="http://schemas.microsoft.com/office/drawing/2014/main" id="{9324E2F7-66E7-157D-16A9-E1ADC13CDC5E}"/>
                </a:ext>
              </a:extLst>
            </p:cNvPr>
            <p:cNvSpPr/>
            <p:nvPr/>
          </p:nvSpPr>
          <p:spPr bwMode="auto">
            <a:xfrm>
              <a:off x="8256026" y="450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7" name="直線コネクタ 136">
              <a:extLst>
                <a:ext uri="{FF2B5EF4-FFF2-40B4-BE49-F238E27FC236}">
                  <a16:creationId xmlns:a16="http://schemas.microsoft.com/office/drawing/2014/main" id="{88FA87FF-8A7B-05C8-DAF1-AA0077D5D49C}"/>
                </a:ext>
              </a:extLst>
            </p:cNvPr>
            <p:cNvCxnSpPr>
              <a:cxnSpLocks/>
            </p:cNvCxnSpPr>
            <p:nvPr/>
          </p:nvCxnSpPr>
          <p:spPr bwMode="auto">
            <a:xfrm>
              <a:off x="8256026" y="486901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38" name="直線コネクタ 137">
              <a:extLst>
                <a:ext uri="{FF2B5EF4-FFF2-40B4-BE49-F238E27FC236}">
                  <a16:creationId xmlns:a16="http://schemas.microsoft.com/office/drawing/2014/main" id="{B82537B3-53C2-6F94-E5B7-050B634FF38C}"/>
                </a:ext>
              </a:extLst>
            </p:cNvPr>
            <p:cNvCxnSpPr>
              <a:cxnSpLocks/>
            </p:cNvCxnSpPr>
            <p:nvPr/>
          </p:nvCxnSpPr>
          <p:spPr bwMode="auto">
            <a:xfrm>
              <a:off x="8256026" y="4419011"/>
              <a:ext cx="0" cy="450005"/>
            </a:xfrm>
            <a:prstGeom prst="line">
              <a:avLst/>
            </a:prstGeom>
            <a:noFill/>
            <a:ln w="19050" cap="rnd" cmpd="sng" algn="ctr">
              <a:solidFill>
                <a:schemeClr val="accent6"/>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192C6989-4D02-D566-A6AB-39EC39EF0AF0}"/>
                </a:ext>
              </a:extLst>
            </p:cNvPr>
            <p:cNvCxnSpPr>
              <a:cxnSpLocks/>
            </p:cNvCxnSpPr>
            <p:nvPr/>
          </p:nvCxnSpPr>
          <p:spPr bwMode="auto">
            <a:xfrm>
              <a:off x="8796032" y="441901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FFB82CAD-AE27-04E0-CCB8-2FAEA5F03EF9}"/>
                </a:ext>
              </a:extLst>
            </p:cNvPr>
            <p:cNvCxnSpPr>
              <a:cxnSpLocks/>
            </p:cNvCxnSpPr>
            <p:nvPr/>
          </p:nvCxnSpPr>
          <p:spPr bwMode="auto">
            <a:xfrm flipV="1">
              <a:off x="8526027" y="486901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41" name="正方形/長方形 140">
              <a:extLst>
                <a:ext uri="{FF2B5EF4-FFF2-40B4-BE49-F238E27FC236}">
                  <a16:creationId xmlns:a16="http://schemas.microsoft.com/office/drawing/2014/main" id="{2FD548B0-EE4E-CB0B-BD1B-4D8336A8F369}"/>
                </a:ext>
              </a:extLst>
            </p:cNvPr>
            <p:cNvSpPr/>
            <p:nvPr/>
          </p:nvSpPr>
          <p:spPr bwMode="auto">
            <a:xfrm rot="5400000">
              <a:off x="8436025" y="5049020"/>
              <a:ext cx="180003"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42" name="グループ化 141">
            <a:extLst>
              <a:ext uri="{FF2B5EF4-FFF2-40B4-BE49-F238E27FC236}">
                <a16:creationId xmlns:a16="http://schemas.microsoft.com/office/drawing/2014/main" id="{402418D7-476F-8AEE-20F5-7C7B0A7DA36C}"/>
              </a:ext>
            </a:extLst>
          </p:cNvPr>
          <p:cNvGrpSpPr/>
          <p:nvPr/>
        </p:nvGrpSpPr>
        <p:grpSpPr>
          <a:xfrm>
            <a:off x="9246035" y="5679025"/>
            <a:ext cx="180002" cy="270004"/>
            <a:chOff x="9426037" y="4509012"/>
            <a:chExt cx="540006" cy="810010"/>
          </a:xfrm>
        </p:grpSpPr>
        <p:sp>
          <p:nvSpPr>
            <p:cNvPr id="143" name="正方形/長方形 142">
              <a:extLst>
                <a:ext uri="{FF2B5EF4-FFF2-40B4-BE49-F238E27FC236}">
                  <a16:creationId xmlns:a16="http://schemas.microsoft.com/office/drawing/2014/main" id="{C5E2A8A8-F703-600A-A890-022AB8A7D9CB}"/>
                </a:ext>
              </a:extLst>
            </p:cNvPr>
            <p:cNvSpPr/>
            <p:nvPr/>
          </p:nvSpPr>
          <p:spPr bwMode="auto">
            <a:xfrm>
              <a:off x="9426037" y="459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4" name="直線コネクタ 143">
              <a:extLst>
                <a:ext uri="{FF2B5EF4-FFF2-40B4-BE49-F238E27FC236}">
                  <a16:creationId xmlns:a16="http://schemas.microsoft.com/office/drawing/2014/main" id="{3F73FA10-F093-FF09-E2CA-EA9C974F3CB6}"/>
                </a:ext>
              </a:extLst>
            </p:cNvPr>
            <p:cNvCxnSpPr>
              <a:cxnSpLocks/>
            </p:cNvCxnSpPr>
            <p:nvPr/>
          </p:nvCxnSpPr>
          <p:spPr bwMode="auto">
            <a:xfrm>
              <a:off x="9426037" y="495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09513382-1316-6912-449E-0A17C2FBCAB1}"/>
                </a:ext>
              </a:extLst>
            </p:cNvPr>
            <p:cNvCxnSpPr>
              <a:cxnSpLocks/>
            </p:cNvCxnSpPr>
            <p:nvPr/>
          </p:nvCxnSpPr>
          <p:spPr bwMode="auto">
            <a:xfrm>
              <a:off x="9426037" y="4509012"/>
              <a:ext cx="0" cy="450005"/>
            </a:xfrm>
            <a:prstGeom prst="line">
              <a:avLst/>
            </a:prstGeom>
            <a:noFill/>
            <a:ln w="19050" cap="rnd" cmpd="sng" algn="ctr">
              <a:solidFill>
                <a:schemeClr val="accent5"/>
              </a:solidFill>
              <a:prstDash val="solid"/>
              <a:round/>
              <a:headEnd type="none" w="med" len="med"/>
              <a:tailEnd type="none" w="med" len="med"/>
            </a:ln>
            <a:effectLst/>
          </p:spPr>
        </p:cxnSp>
        <p:cxnSp>
          <p:nvCxnSpPr>
            <p:cNvPr id="146" name="直線コネクタ 145">
              <a:extLst>
                <a:ext uri="{FF2B5EF4-FFF2-40B4-BE49-F238E27FC236}">
                  <a16:creationId xmlns:a16="http://schemas.microsoft.com/office/drawing/2014/main" id="{1585DD7F-B698-8F10-2441-1FFDB036F5C5}"/>
                </a:ext>
              </a:extLst>
            </p:cNvPr>
            <p:cNvCxnSpPr>
              <a:cxnSpLocks/>
            </p:cNvCxnSpPr>
            <p:nvPr/>
          </p:nvCxnSpPr>
          <p:spPr bwMode="auto">
            <a:xfrm>
              <a:off x="9966043"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47" name="直線コネクタ 146">
              <a:extLst>
                <a:ext uri="{FF2B5EF4-FFF2-40B4-BE49-F238E27FC236}">
                  <a16:creationId xmlns:a16="http://schemas.microsoft.com/office/drawing/2014/main" id="{FEB140FE-E1E9-2500-BB0A-0843BFDA8DFB}"/>
                </a:ext>
              </a:extLst>
            </p:cNvPr>
            <p:cNvCxnSpPr>
              <a:cxnSpLocks/>
            </p:cNvCxnSpPr>
            <p:nvPr/>
          </p:nvCxnSpPr>
          <p:spPr bwMode="auto">
            <a:xfrm flipV="1">
              <a:off x="9696038" y="495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48" name="正方形/長方形 147">
              <a:extLst>
                <a:ext uri="{FF2B5EF4-FFF2-40B4-BE49-F238E27FC236}">
                  <a16:creationId xmlns:a16="http://schemas.microsoft.com/office/drawing/2014/main" id="{1264E268-A9B6-03A4-E88F-70DD9B32C5B9}"/>
                </a:ext>
              </a:extLst>
            </p:cNvPr>
            <p:cNvSpPr/>
            <p:nvPr/>
          </p:nvSpPr>
          <p:spPr bwMode="auto">
            <a:xfrm rot="5400000">
              <a:off x="9606037" y="513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49" name="グループ化 148">
            <a:extLst>
              <a:ext uri="{FF2B5EF4-FFF2-40B4-BE49-F238E27FC236}">
                <a16:creationId xmlns:a16="http://schemas.microsoft.com/office/drawing/2014/main" id="{59C0690C-8BB1-D15D-0420-98172F83293D}"/>
              </a:ext>
            </a:extLst>
          </p:cNvPr>
          <p:cNvGrpSpPr/>
          <p:nvPr/>
        </p:nvGrpSpPr>
        <p:grpSpPr>
          <a:xfrm>
            <a:off x="9606039" y="5139019"/>
            <a:ext cx="180004" cy="270005"/>
            <a:chOff x="8256026" y="4419011"/>
            <a:chExt cx="540006" cy="810011"/>
          </a:xfrm>
        </p:grpSpPr>
        <p:sp>
          <p:nvSpPr>
            <p:cNvPr id="150" name="正方形/長方形 149">
              <a:extLst>
                <a:ext uri="{FF2B5EF4-FFF2-40B4-BE49-F238E27FC236}">
                  <a16:creationId xmlns:a16="http://schemas.microsoft.com/office/drawing/2014/main" id="{15151AFC-A8B4-B6B0-36E8-DA084FE7CC07}"/>
                </a:ext>
              </a:extLst>
            </p:cNvPr>
            <p:cNvSpPr/>
            <p:nvPr/>
          </p:nvSpPr>
          <p:spPr bwMode="auto">
            <a:xfrm>
              <a:off x="8256026" y="450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51" name="直線コネクタ 150">
              <a:extLst>
                <a:ext uri="{FF2B5EF4-FFF2-40B4-BE49-F238E27FC236}">
                  <a16:creationId xmlns:a16="http://schemas.microsoft.com/office/drawing/2014/main" id="{FBDB57E0-C3B6-0FF9-9EC0-69C6EDCEF271}"/>
                </a:ext>
              </a:extLst>
            </p:cNvPr>
            <p:cNvCxnSpPr>
              <a:cxnSpLocks/>
            </p:cNvCxnSpPr>
            <p:nvPr/>
          </p:nvCxnSpPr>
          <p:spPr bwMode="auto">
            <a:xfrm>
              <a:off x="8256026" y="486901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52" name="直線コネクタ 151">
              <a:extLst>
                <a:ext uri="{FF2B5EF4-FFF2-40B4-BE49-F238E27FC236}">
                  <a16:creationId xmlns:a16="http://schemas.microsoft.com/office/drawing/2014/main" id="{FCAD8F7F-E49B-9B65-1FD6-AA1D4A2800B9}"/>
                </a:ext>
              </a:extLst>
            </p:cNvPr>
            <p:cNvCxnSpPr>
              <a:cxnSpLocks/>
            </p:cNvCxnSpPr>
            <p:nvPr/>
          </p:nvCxnSpPr>
          <p:spPr bwMode="auto">
            <a:xfrm>
              <a:off x="8256026" y="4419011"/>
              <a:ext cx="0" cy="450005"/>
            </a:xfrm>
            <a:prstGeom prst="line">
              <a:avLst/>
            </a:prstGeom>
            <a:noFill/>
            <a:ln w="19050" cap="rnd" cmpd="sng" algn="ctr">
              <a:solidFill>
                <a:schemeClr val="accent6"/>
              </a:solidFill>
              <a:prstDash val="solid"/>
              <a:round/>
              <a:headEnd type="none" w="med" len="med"/>
              <a:tailEnd type="none" w="med" len="med"/>
            </a:ln>
            <a:effectLst/>
          </p:spPr>
        </p:cxnSp>
        <p:cxnSp>
          <p:nvCxnSpPr>
            <p:cNvPr id="153" name="直線コネクタ 152">
              <a:extLst>
                <a:ext uri="{FF2B5EF4-FFF2-40B4-BE49-F238E27FC236}">
                  <a16:creationId xmlns:a16="http://schemas.microsoft.com/office/drawing/2014/main" id="{B22A8AC0-0007-47BA-6537-D617CAFF127D}"/>
                </a:ext>
              </a:extLst>
            </p:cNvPr>
            <p:cNvCxnSpPr>
              <a:cxnSpLocks/>
            </p:cNvCxnSpPr>
            <p:nvPr/>
          </p:nvCxnSpPr>
          <p:spPr bwMode="auto">
            <a:xfrm>
              <a:off x="8796032" y="441901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54" name="直線コネクタ 153">
              <a:extLst>
                <a:ext uri="{FF2B5EF4-FFF2-40B4-BE49-F238E27FC236}">
                  <a16:creationId xmlns:a16="http://schemas.microsoft.com/office/drawing/2014/main" id="{B131A1F0-2F2A-DA51-39BE-BE7F1373F661}"/>
                </a:ext>
              </a:extLst>
            </p:cNvPr>
            <p:cNvCxnSpPr>
              <a:cxnSpLocks/>
            </p:cNvCxnSpPr>
            <p:nvPr/>
          </p:nvCxnSpPr>
          <p:spPr bwMode="auto">
            <a:xfrm flipV="1">
              <a:off x="8526027" y="486901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55" name="正方形/長方形 154">
              <a:extLst>
                <a:ext uri="{FF2B5EF4-FFF2-40B4-BE49-F238E27FC236}">
                  <a16:creationId xmlns:a16="http://schemas.microsoft.com/office/drawing/2014/main" id="{E752DF7A-67E7-A333-9628-6D9E13003923}"/>
                </a:ext>
              </a:extLst>
            </p:cNvPr>
            <p:cNvSpPr/>
            <p:nvPr/>
          </p:nvSpPr>
          <p:spPr bwMode="auto">
            <a:xfrm rot="5400000">
              <a:off x="8436025" y="5049020"/>
              <a:ext cx="180003"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56" name="グループ化 155">
            <a:extLst>
              <a:ext uri="{FF2B5EF4-FFF2-40B4-BE49-F238E27FC236}">
                <a16:creationId xmlns:a16="http://schemas.microsoft.com/office/drawing/2014/main" id="{EFE67227-6EC5-3A7B-D430-8B12CD9142AB}"/>
              </a:ext>
            </a:extLst>
          </p:cNvPr>
          <p:cNvGrpSpPr/>
          <p:nvPr/>
        </p:nvGrpSpPr>
        <p:grpSpPr>
          <a:xfrm>
            <a:off x="9966043" y="5139019"/>
            <a:ext cx="180004" cy="270005"/>
            <a:chOff x="8256026" y="4419011"/>
            <a:chExt cx="540006" cy="810011"/>
          </a:xfrm>
        </p:grpSpPr>
        <p:sp>
          <p:nvSpPr>
            <p:cNvPr id="157" name="正方形/長方形 156">
              <a:extLst>
                <a:ext uri="{FF2B5EF4-FFF2-40B4-BE49-F238E27FC236}">
                  <a16:creationId xmlns:a16="http://schemas.microsoft.com/office/drawing/2014/main" id="{BAD0F831-8928-6EA4-5A09-B8A3EA83964B}"/>
                </a:ext>
              </a:extLst>
            </p:cNvPr>
            <p:cNvSpPr/>
            <p:nvPr/>
          </p:nvSpPr>
          <p:spPr bwMode="auto">
            <a:xfrm>
              <a:off x="8256026" y="450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58" name="直線コネクタ 157">
              <a:extLst>
                <a:ext uri="{FF2B5EF4-FFF2-40B4-BE49-F238E27FC236}">
                  <a16:creationId xmlns:a16="http://schemas.microsoft.com/office/drawing/2014/main" id="{809DB969-2A4D-0F50-3294-DD639AFB02C9}"/>
                </a:ext>
              </a:extLst>
            </p:cNvPr>
            <p:cNvCxnSpPr>
              <a:cxnSpLocks/>
            </p:cNvCxnSpPr>
            <p:nvPr/>
          </p:nvCxnSpPr>
          <p:spPr bwMode="auto">
            <a:xfrm>
              <a:off x="8256026" y="486901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59" name="直線コネクタ 158">
              <a:extLst>
                <a:ext uri="{FF2B5EF4-FFF2-40B4-BE49-F238E27FC236}">
                  <a16:creationId xmlns:a16="http://schemas.microsoft.com/office/drawing/2014/main" id="{43D3D104-28EA-614F-C3D4-72D329B989D6}"/>
                </a:ext>
              </a:extLst>
            </p:cNvPr>
            <p:cNvCxnSpPr>
              <a:cxnSpLocks/>
            </p:cNvCxnSpPr>
            <p:nvPr/>
          </p:nvCxnSpPr>
          <p:spPr bwMode="auto">
            <a:xfrm>
              <a:off x="8256026" y="4419011"/>
              <a:ext cx="0" cy="450005"/>
            </a:xfrm>
            <a:prstGeom prst="line">
              <a:avLst/>
            </a:prstGeom>
            <a:noFill/>
            <a:ln w="19050" cap="rnd" cmpd="sng" algn="ctr">
              <a:solidFill>
                <a:schemeClr val="accent6"/>
              </a:solidFill>
              <a:prstDash val="solid"/>
              <a:round/>
              <a:headEnd type="none" w="med" len="med"/>
              <a:tailEnd type="none" w="med" len="med"/>
            </a:ln>
            <a:effectLst/>
          </p:spPr>
        </p:cxnSp>
        <p:cxnSp>
          <p:nvCxnSpPr>
            <p:cNvPr id="160" name="直線コネクタ 159">
              <a:extLst>
                <a:ext uri="{FF2B5EF4-FFF2-40B4-BE49-F238E27FC236}">
                  <a16:creationId xmlns:a16="http://schemas.microsoft.com/office/drawing/2014/main" id="{8F5118BC-7EE4-17CA-4A0D-627F924FC0B6}"/>
                </a:ext>
              </a:extLst>
            </p:cNvPr>
            <p:cNvCxnSpPr>
              <a:cxnSpLocks/>
            </p:cNvCxnSpPr>
            <p:nvPr/>
          </p:nvCxnSpPr>
          <p:spPr bwMode="auto">
            <a:xfrm>
              <a:off x="8796032" y="441901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61" name="直線コネクタ 160">
              <a:extLst>
                <a:ext uri="{FF2B5EF4-FFF2-40B4-BE49-F238E27FC236}">
                  <a16:creationId xmlns:a16="http://schemas.microsoft.com/office/drawing/2014/main" id="{659E4B58-0566-4ADA-593B-D19029AB8BBD}"/>
                </a:ext>
              </a:extLst>
            </p:cNvPr>
            <p:cNvCxnSpPr>
              <a:cxnSpLocks/>
            </p:cNvCxnSpPr>
            <p:nvPr/>
          </p:nvCxnSpPr>
          <p:spPr bwMode="auto">
            <a:xfrm flipV="1">
              <a:off x="8526027" y="486901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62" name="正方形/長方形 161">
              <a:extLst>
                <a:ext uri="{FF2B5EF4-FFF2-40B4-BE49-F238E27FC236}">
                  <a16:creationId xmlns:a16="http://schemas.microsoft.com/office/drawing/2014/main" id="{73711477-564D-7BFA-A652-21AC442B142E}"/>
                </a:ext>
              </a:extLst>
            </p:cNvPr>
            <p:cNvSpPr/>
            <p:nvPr/>
          </p:nvSpPr>
          <p:spPr bwMode="auto">
            <a:xfrm rot="5400000">
              <a:off x="8436025" y="5049020"/>
              <a:ext cx="180003"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63" name="グループ化 162">
            <a:extLst>
              <a:ext uri="{FF2B5EF4-FFF2-40B4-BE49-F238E27FC236}">
                <a16:creationId xmlns:a16="http://schemas.microsoft.com/office/drawing/2014/main" id="{37B2EF0F-A1D7-7B16-CCF6-39D14AA85011}"/>
              </a:ext>
            </a:extLst>
          </p:cNvPr>
          <p:cNvGrpSpPr/>
          <p:nvPr/>
        </p:nvGrpSpPr>
        <p:grpSpPr>
          <a:xfrm>
            <a:off x="9966043" y="5679025"/>
            <a:ext cx="180002" cy="270004"/>
            <a:chOff x="9426037" y="4509012"/>
            <a:chExt cx="540006" cy="810010"/>
          </a:xfrm>
        </p:grpSpPr>
        <p:sp>
          <p:nvSpPr>
            <p:cNvPr id="164" name="正方形/長方形 163">
              <a:extLst>
                <a:ext uri="{FF2B5EF4-FFF2-40B4-BE49-F238E27FC236}">
                  <a16:creationId xmlns:a16="http://schemas.microsoft.com/office/drawing/2014/main" id="{CB5CDFE0-237A-C554-7D4E-9E32A9696282}"/>
                </a:ext>
              </a:extLst>
            </p:cNvPr>
            <p:cNvSpPr/>
            <p:nvPr/>
          </p:nvSpPr>
          <p:spPr bwMode="auto">
            <a:xfrm>
              <a:off x="9426037" y="459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65" name="直線コネクタ 164">
              <a:extLst>
                <a:ext uri="{FF2B5EF4-FFF2-40B4-BE49-F238E27FC236}">
                  <a16:creationId xmlns:a16="http://schemas.microsoft.com/office/drawing/2014/main" id="{A877C5E9-3FB0-9C9F-0F97-476AE2DB93AD}"/>
                </a:ext>
              </a:extLst>
            </p:cNvPr>
            <p:cNvCxnSpPr>
              <a:cxnSpLocks/>
            </p:cNvCxnSpPr>
            <p:nvPr/>
          </p:nvCxnSpPr>
          <p:spPr bwMode="auto">
            <a:xfrm>
              <a:off x="9426037" y="495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66" name="直線コネクタ 165">
              <a:extLst>
                <a:ext uri="{FF2B5EF4-FFF2-40B4-BE49-F238E27FC236}">
                  <a16:creationId xmlns:a16="http://schemas.microsoft.com/office/drawing/2014/main" id="{2477A2F1-60E9-5658-5546-327BB95C9193}"/>
                </a:ext>
              </a:extLst>
            </p:cNvPr>
            <p:cNvCxnSpPr>
              <a:cxnSpLocks/>
            </p:cNvCxnSpPr>
            <p:nvPr/>
          </p:nvCxnSpPr>
          <p:spPr bwMode="auto">
            <a:xfrm>
              <a:off x="9426037" y="4509012"/>
              <a:ext cx="0" cy="450005"/>
            </a:xfrm>
            <a:prstGeom prst="line">
              <a:avLst/>
            </a:prstGeom>
            <a:noFill/>
            <a:ln w="19050" cap="rnd" cmpd="sng" algn="ctr">
              <a:solidFill>
                <a:schemeClr val="accent5"/>
              </a:solidFill>
              <a:prstDash val="solid"/>
              <a:round/>
              <a:headEnd type="none" w="med" len="med"/>
              <a:tailEnd type="none" w="med" len="med"/>
            </a:ln>
            <a:effectLst/>
          </p:spPr>
        </p:cxnSp>
        <p:cxnSp>
          <p:nvCxnSpPr>
            <p:cNvPr id="167" name="直線コネクタ 166">
              <a:extLst>
                <a:ext uri="{FF2B5EF4-FFF2-40B4-BE49-F238E27FC236}">
                  <a16:creationId xmlns:a16="http://schemas.microsoft.com/office/drawing/2014/main" id="{C0E9F0C1-5540-914B-FD4A-35CC3986C734}"/>
                </a:ext>
              </a:extLst>
            </p:cNvPr>
            <p:cNvCxnSpPr>
              <a:cxnSpLocks/>
            </p:cNvCxnSpPr>
            <p:nvPr/>
          </p:nvCxnSpPr>
          <p:spPr bwMode="auto">
            <a:xfrm>
              <a:off x="9966043"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68" name="直線コネクタ 167">
              <a:extLst>
                <a:ext uri="{FF2B5EF4-FFF2-40B4-BE49-F238E27FC236}">
                  <a16:creationId xmlns:a16="http://schemas.microsoft.com/office/drawing/2014/main" id="{215746FE-6D9C-39D6-C518-F8137EC7BD1D}"/>
                </a:ext>
              </a:extLst>
            </p:cNvPr>
            <p:cNvCxnSpPr>
              <a:cxnSpLocks/>
            </p:cNvCxnSpPr>
            <p:nvPr/>
          </p:nvCxnSpPr>
          <p:spPr bwMode="auto">
            <a:xfrm flipV="1">
              <a:off x="9696038" y="495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69" name="正方形/長方形 168">
              <a:extLst>
                <a:ext uri="{FF2B5EF4-FFF2-40B4-BE49-F238E27FC236}">
                  <a16:creationId xmlns:a16="http://schemas.microsoft.com/office/drawing/2014/main" id="{057E6884-432E-AA4A-9A6F-45F68D753DD1}"/>
                </a:ext>
              </a:extLst>
            </p:cNvPr>
            <p:cNvSpPr/>
            <p:nvPr/>
          </p:nvSpPr>
          <p:spPr bwMode="auto">
            <a:xfrm rot="5400000">
              <a:off x="9606037" y="513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70" name="グループ化 169">
            <a:extLst>
              <a:ext uri="{FF2B5EF4-FFF2-40B4-BE49-F238E27FC236}">
                <a16:creationId xmlns:a16="http://schemas.microsoft.com/office/drawing/2014/main" id="{20592618-E63A-5352-BE83-AE1544C69693}"/>
              </a:ext>
            </a:extLst>
          </p:cNvPr>
          <p:cNvGrpSpPr/>
          <p:nvPr/>
        </p:nvGrpSpPr>
        <p:grpSpPr>
          <a:xfrm>
            <a:off x="9156035" y="1898983"/>
            <a:ext cx="540222" cy="315100"/>
            <a:chOff x="5292080" y="3203975"/>
            <a:chExt cx="2160240" cy="945106"/>
          </a:xfrm>
        </p:grpSpPr>
        <p:cxnSp>
          <p:nvCxnSpPr>
            <p:cNvPr id="171" name="直線コネクタ 170">
              <a:extLst>
                <a:ext uri="{FF2B5EF4-FFF2-40B4-BE49-F238E27FC236}">
                  <a16:creationId xmlns:a16="http://schemas.microsoft.com/office/drawing/2014/main" id="{22C6AB3B-D082-F645-D0A8-E02B127E0E2C}"/>
                </a:ext>
              </a:extLst>
            </p:cNvPr>
            <p:cNvCxnSpPr/>
            <p:nvPr/>
          </p:nvCxnSpPr>
          <p:spPr bwMode="auto">
            <a:xfrm>
              <a:off x="6372200" y="3203975"/>
              <a:ext cx="0" cy="356394"/>
            </a:xfrm>
            <a:prstGeom prst="line">
              <a:avLst/>
            </a:prstGeom>
            <a:noFill/>
            <a:ln w="12700" cap="rnd" cmpd="sng" algn="ctr">
              <a:solidFill>
                <a:schemeClr val="accent6"/>
              </a:solidFill>
              <a:prstDash val="solid"/>
              <a:round/>
              <a:headEnd type="none" w="med" len="med"/>
              <a:tailEnd type="none" w="med" len="med"/>
            </a:ln>
            <a:effectLst/>
          </p:spPr>
        </p:cxnSp>
        <p:cxnSp>
          <p:nvCxnSpPr>
            <p:cNvPr id="172" name="直線コネクタ 171">
              <a:extLst>
                <a:ext uri="{FF2B5EF4-FFF2-40B4-BE49-F238E27FC236}">
                  <a16:creationId xmlns:a16="http://schemas.microsoft.com/office/drawing/2014/main" id="{BF69A64C-4C7A-DC72-F0F0-AE91266B0777}"/>
                </a:ext>
              </a:extLst>
            </p:cNvPr>
            <p:cNvCxnSpPr/>
            <p:nvPr/>
          </p:nvCxnSpPr>
          <p:spPr bwMode="auto">
            <a:xfrm>
              <a:off x="5292080" y="4149080"/>
              <a:ext cx="720080" cy="1"/>
            </a:xfrm>
            <a:prstGeom prst="line">
              <a:avLst/>
            </a:prstGeom>
            <a:noFill/>
            <a:ln w="12700" cap="rnd" cmpd="sng" algn="ctr">
              <a:solidFill>
                <a:schemeClr val="accent6"/>
              </a:solidFill>
              <a:prstDash val="solid"/>
              <a:round/>
              <a:headEnd type="none" w="med" len="med"/>
              <a:tailEnd type="none" w="med" len="med"/>
            </a:ln>
            <a:effectLst/>
          </p:spPr>
        </p:cxnSp>
        <p:cxnSp>
          <p:nvCxnSpPr>
            <p:cNvPr id="173" name="直線コネクタ 172">
              <a:extLst>
                <a:ext uri="{FF2B5EF4-FFF2-40B4-BE49-F238E27FC236}">
                  <a16:creationId xmlns:a16="http://schemas.microsoft.com/office/drawing/2014/main" id="{820B928E-C79C-68B9-484D-00522D3BDB76}"/>
                </a:ext>
              </a:extLst>
            </p:cNvPr>
            <p:cNvCxnSpPr/>
            <p:nvPr/>
          </p:nvCxnSpPr>
          <p:spPr bwMode="auto">
            <a:xfrm>
              <a:off x="6732240" y="4149080"/>
              <a:ext cx="720080" cy="0"/>
            </a:xfrm>
            <a:prstGeom prst="line">
              <a:avLst/>
            </a:prstGeom>
            <a:noFill/>
            <a:ln w="12700" cap="rnd" cmpd="sng" algn="ctr">
              <a:solidFill>
                <a:schemeClr val="accent6"/>
              </a:solidFill>
              <a:prstDash val="solid"/>
              <a:round/>
              <a:headEnd type="none" w="med" len="med"/>
              <a:tailEnd type="none" w="med" len="med"/>
            </a:ln>
            <a:effectLst/>
          </p:spPr>
        </p:cxnSp>
        <p:cxnSp>
          <p:nvCxnSpPr>
            <p:cNvPr id="174" name="直線コネクタ 173">
              <a:extLst>
                <a:ext uri="{FF2B5EF4-FFF2-40B4-BE49-F238E27FC236}">
                  <a16:creationId xmlns:a16="http://schemas.microsoft.com/office/drawing/2014/main" id="{9BAD0865-1C0F-6C11-0F68-B012CD8C0274}"/>
                </a:ext>
              </a:extLst>
            </p:cNvPr>
            <p:cNvCxnSpPr/>
            <p:nvPr/>
          </p:nvCxnSpPr>
          <p:spPr bwMode="auto">
            <a:xfrm>
              <a:off x="6012160" y="3789040"/>
              <a:ext cx="720080" cy="0"/>
            </a:xfrm>
            <a:prstGeom prst="line">
              <a:avLst/>
            </a:prstGeom>
            <a:noFill/>
            <a:ln w="38100" cap="rnd" cmpd="sng" algn="ctr">
              <a:solidFill>
                <a:schemeClr val="accent6"/>
              </a:solidFill>
              <a:prstDash val="solid"/>
              <a:round/>
              <a:headEnd type="none" w="med" len="med"/>
              <a:tailEnd type="none" w="med" len="med"/>
            </a:ln>
            <a:effectLst/>
          </p:spPr>
        </p:cxnSp>
        <p:cxnSp>
          <p:nvCxnSpPr>
            <p:cNvPr id="175" name="直線コネクタ 174">
              <a:extLst>
                <a:ext uri="{FF2B5EF4-FFF2-40B4-BE49-F238E27FC236}">
                  <a16:creationId xmlns:a16="http://schemas.microsoft.com/office/drawing/2014/main" id="{564741F5-8222-B3E3-FC7D-F946F9387BF3}"/>
                </a:ext>
              </a:extLst>
            </p:cNvPr>
            <p:cNvCxnSpPr/>
            <p:nvPr/>
          </p:nvCxnSpPr>
          <p:spPr bwMode="auto">
            <a:xfrm>
              <a:off x="6012160" y="3789040"/>
              <a:ext cx="0" cy="360040"/>
            </a:xfrm>
            <a:prstGeom prst="line">
              <a:avLst/>
            </a:prstGeom>
            <a:noFill/>
            <a:ln w="38100" cap="rnd" cmpd="sng" algn="ctr">
              <a:solidFill>
                <a:schemeClr val="accent6"/>
              </a:solidFill>
              <a:prstDash val="solid"/>
              <a:round/>
              <a:headEnd type="none" w="med" len="med"/>
              <a:tailEnd type="none" w="med" len="med"/>
            </a:ln>
            <a:effectLst/>
          </p:spPr>
        </p:cxnSp>
        <p:cxnSp>
          <p:nvCxnSpPr>
            <p:cNvPr id="176" name="直線コネクタ 175">
              <a:extLst>
                <a:ext uri="{FF2B5EF4-FFF2-40B4-BE49-F238E27FC236}">
                  <a16:creationId xmlns:a16="http://schemas.microsoft.com/office/drawing/2014/main" id="{D6464D9C-4242-8821-4080-971495C22CE1}"/>
                </a:ext>
              </a:extLst>
            </p:cNvPr>
            <p:cNvCxnSpPr/>
            <p:nvPr/>
          </p:nvCxnSpPr>
          <p:spPr bwMode="auto">
            <a:xfrm>
              <a:off x="6732240" y="3789040"/>
              <a:ext cx="0" cy="360040"/>
            </a:xfrm>
            <a:prstGeom prst="line">
              <a:avLst/>
            </a:prstGeom>
            <a:noFill/>
            <a:ln w="38100" cap="rnd" cmpd="sng" algn="ctr">
              <a:solidFill>
                <a:schemeClr val="accent6"/>
              </a:solidFill>
              <a:prstDash val="solid"/>
              <a:round/>
              <a:headEnd type="none" w="med" len="med"/>
              <a:tailEnd type="none" w="med" len="med"/>
            </a:ln>
            <a:effectLst/>
          </p:spPr>
        </p:cxnSp>
        <p:cxnSp>
          <p:nvCxnSpPr>
            <p:cNvPr id="177" name="直線コネクタ 176">
              <a:extLst>
                <a:ext uri="{FF2B5EF4-FFF2-40B4-BE49-F238E27FC236}">
                  <a16:creationId xmlns:a16="http://schemas.microsoft.com/office/drawing/2014/main" id="{9912D576-DD70-DB01-30B5-6869A5B50B3E}"/>
                </a:ext>
              </a:extLst>
            </p:cNvPr>
            <p:cNvCxnSpPr/>
            <p:nvPr/>
          </p:nvCxnSpPr>
          <p:spPr bwMode="auto">
            <a:xfrm>
              <a:off x="6012160" y="3654025"/>
              <a:ext cx="720080" cy="0"/>
            </a:xfrm>
            <a:prstGeom prst="line">
              <a:avLst/>
            </a:prstGeom>
            <a:noFill/>
            <a:ln w="38100" cap="rnd" cmpd="sng" algn="ctr">
              <a:solidFill>
                <a:schemeClr val="accent6"/>
              </a:solidFill>
              <a:prstDash val="solid"/>
              <a:round/>
              <a:headEnd type="none" w="med" len="med"/>
              <a:tailEnd type="none" w="med" len="med"/>
            </a:ln>
            <a:effectLst/>
          </p:spPr>
        </p:cxnSp>
        <p:sp useBgFill="1">
          <p:nvSpPr>
            <p:cNvPr id="178" name="円/楕円 13">
              <a:extLst>
                <a:ext uri="{FF2B5EF4-FFF2-40B4-BE49-F238E27FC236}">
                  <a16:creationId xmlns:a16="http://schemas.microsoft.com/office/drawing/2014/main" id="{67B21084-C6EB-C2E4-7E07-D6B2DF93273E}"/>
                </a:ext>
              </a:extLst>
            </p:cNvPr>
            <p:cNvSpPr/>
            <p:nvPr/>
          </p:nvSpPr>
          <p:spPr bwMode="auto">
            <a:xfrm>
              <a:off x="6304693" y="3519010"/>
              <a:ext cx="135015" cy="132239"/>
            </a:xfrm>
            <a:prstGeom prst="ellipse">
              <a:avLst/>
            </a:prstGeom>
            <a:ln w="381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grpSp>
      <p:grpSp>
        <p:nvGrpSpPr>
          <p:cNvPr id="180" name="グループ化 179">
            <a:extLst>
              <a:ext uri="{FF2B5EF4-FFF2-40B4-BE49-F238E27FC236}">
                <a16:creationId xmlns:a16="http://schemas.microsoft.com/office/drawing/2014/main" id="{23ECAA7E-EF3B-5464-4787-821F54A76B49}"/>
              </a:ext>
            </a:extLst>
          </p:cNvPr>
          <p:cNvGrpSpPr/>
          <p:nvPr/>
        </p:nvGrpSpPr>
        <p:grpSpPr>
          <a:xfrm>
            <a:off x="9156035" y="2348988"/>
            <a:ext cx="540222" cy="315099"/>
            <a:chOff x="5292080" y="5004175"/>
            <a:chExt cx="2160240" cy="945105"/>
          </a:xfrm>
        </p:grpSpPr>
        <p:cxnSp>
          <p:nvCxnSpPr>
            <p:cNvPr id="181" name="直線コネクタ 180">
              <a:extLst>
                <a:ext uri="{FF2B5EF4-FFF2-40B4-BE49-F238E27FC236}">
                  <a16:creationId xmlns:a16="http://schemas.microsoft.com/office/drawing/2014/main" id="{60ADCECE-3CE9-DDAE-8675-A401CD3D1E1E}"/>
                </a:ext>
              </a:extLst>
            </p:cNvPr>
            <p:cNvCxnSpPr/>
            <p:nvPr/>
          </p:nvCxnSpPr>
          <p:spPr bwMode="auto">
            <a:xfrm>
              <a:off x="529208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182" name="直線コネクタ 181">
              <a:extLst>
                <a:ext uri="{FF2B5EF4-FFF2-40B4-BE49-F238E27FC236}">
                  <a16:creationId xmlns:a16="http://schemas.microsoft.com/office/drawing/2014/main" id="{23A5ECB5-F320-5827-CB5E-960F513B363B}"/>
                </a:ext>
              </a:extLst>
            </p:cNvPr>
            <p:cNvCxnSpPr/>
            <p:nvPr/>
          </p:nvCxnSpPr>
          <p:spPr bwMode="auto">
            <a:xfrm>
              <a:off x="673224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183" name="直線コネクタ 182">
              <a:extLst>
                <a:ext uri="{FF2B5EF4-FFF2-40B4-BE49-F238E27FC236}">
                  <a16:creationId xmlns:a16="http://schemas.microsoft.com/office/drawing/2014/main" id="{F8FAA4E2-35A0-7F8B-D07D-C9D1864E4300}"/>
                </a:ext>
              </a:extLst>
            </p:cNvPr>
            <p:cNvCxnSpPr/>
            <p:nvPr/>
          </p:nvCxnSpPr>
          <p:spPr bwMode="auto">
            <a:xfrm>
              <a:off x="6012160" y="5589240"/>
              <a:ext cx="720080" cy="0"/>
            </a:xfrm>
            <a:prstGeom prst="line">
              <a:avLst/>
            </a:prstGeom>
            <a:noFill/>
            <a:ln w="38100" cap="rnd" cmpd="sng" algn="ctr">
              <a:solidFill>
                <a:schemeClr val="accent5"/>
              </a:solidFill>
              <a:prstDash val="solid"/>
              <a:round/>
              <a:headEnd type="none" w="med" len="med"/>
              <a:tailEnd type="none" w="med" len="med"/>
            </a:ln>
            <a:effectLst/>
          </p:spPr>
        </p:cxnSp>
        <p:cxnSp>
          <p:nvCxnSpPr>
            <p:cNvPr id="184" name="直線コネクタ 183">
              <a:extLst>
                <a:ext uri="{FF2B5EF4-FFF2-40B4-BE49-F238E27FC236}">
                  <a16:creationId xmlns:a16="http://schemas.microsoft.com/office/drawing/2014/main" id="{98C47023-0D96-6DD3-4108-2773B23DF809}"/>
                </a:ext>
              </a:extLst>
            </p:cNvPr>
            <p:cNvCxnSpPr/>
            <p:nvPr/>
          </p:nvCxnSpPr>
          <p:spPr bwMode="auto">
            <a:xfrm>
              <a:off x="601216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185" name="直線コネクタ 184">
              <a:extLst>
                <a:ext uri="{FF2B5EF4-FFF2-40B4-BE49-F238E27FC236}">
                  <a16:creationId xmlns:a16="http://schemas.microsoft.com/office/drawing/2014/main" id="{D88261F2-5CD8-3D30-BF89-0864E9A6E53C}"/>
                </a:ext>
              </a:extLst>
            </p:cNvPr>
            <p:cNvCxnSpPr/>
            <p:nvPr/>
          </p:nvCxnSpPr>
          <p:spPr bwMode="auto">
            <a:xfrm>
              <a:off x="673224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186" name="直線コネクタ 185">
              <a:extLst>
                <a:ext uri="{FF2B5EF4-FFF2-40B4-BE49-F238E27FC236}">
                  <a16:creationId xmlns:a16="http://schemas.microsoft.com/office/drawing/2014/main" id="{60A65D3A-56E7-CF43-0C32-AC6856A2EB82}"/>
                </a:ext>
              </a:extLst>
            </p:cNvPr>
            <p:cNvCxnSpPr/>
            <p:nvPr/>
          </p:nvCxnSpPr>
          <p:spPr bwMode="auto">
            <a:xfrm>
              <a:off x="6012160" y="5454225"/>
              <a:ext cx="720080" cy="1"/>
            </a:xfrm>
            <a:prstGeom prst="line">
              <a:avLst/>
            </a:prstGeom>
            <a:noFill/>
            <a:ln w="38100" cap="rnd" cmpd="sng" algn="ctr">
              <a:solidFill>
                <a:schemeClr val="accent5"/>
              </a:solidFill>
              <a:prstDash val="solid"/>
              <a:round/>
              <a:headEnd type="none" w="med" len="med"/>
              <a:tailEnd type="none" w="med" len="med"/>
            </a:ln>
            <a:effectLst/>
          </p:spPr>
        </p:cxnSp>
        <p:cxnSp>
          <p:nvCxnSpPr>
            <p:cNvPr id="187" name="直線コネクタ 186">
              <a:extLst>
                <a:ext uri="{FF2B5EF4-FFF2-40B4-BE49-F238E27FC236}">
                  <a16:creationId xmlns:a16="http://schemas.microsoft.com/office/drawing/2014/main" id="{35FCAE67-F8F9-BCA8-8DDF-D98004939E5A}"/>
                </a:ext>
              </a:extLst>
            </p:cNvPr>
            <p:cNvCxnSpPr/>
            <p:nvPr/>
          </p:nvCxnSpPr>
          <p:spPr bwMode="auto">
            <a:xfrm>
              <a:off x="6372200" y="5004175"/>
              <a:ext cx="0" cy="450050"/>
            </a:xfrm>
            <a:prstGeom prst="line">
              <a:avLst/>
            </a:prstGeom>
            <a:noFill/>
            <a:ln w="12700" cap="rnd" cmpd="sng" algn="ctr">
              <a:solidFill>
                <a:schemeClr val="accent5"/>
              </a:solidFill>
              <a:prstDash val="solid"/>
              <a:round/>
              <a:headEnd type="none" w="med" len="med"/>
              <a:tailEnd type="none" w="med" len="med"/>
            </a:ln>
            <a:effectLst/>
          </p:spPr>
        </p:cxnSp>
      </p:grpSp>
      <p:grpSp>
        <p:nvGrpSpPr>
          <p:cNvPr id="195" name="グループ化 194">
            <a:extLst>
              <a:ext uri="{FF2B5EF4-FFF2-40B4-BE49-F238E27FC236}">
                <a16:creationId xmlns:a16="http://schemas.microsoft.com/office/drawing/2014/main" id="{D7CD393F-11E8-AA7A-4F9E-B6D9AD03AA8E}"/>
              </a:ext>
            </a:extLst>
          </p:cNvPr>
          <p:cNvGrpSpPr/>
          <p:nvPr/>
        </p:nvGrpSpPr>
        <p:grpSpPr>
          <a:xfrm>
            <a:off x="9786042" y="2348988"/>
            <a:ext cx="540222" cy="315099"/>
            <a:chOff x="5292080" y="5004175"/>
            <a:chExt cx="2160240" cy="945105"/>
          </a:xfrm>
        </p:grpSpPr>
        <p:cxnSp>
          <p:nvCxnSpPr>
            <p:cNvPr id="196" name="直線コネクタ 195">
              <a:extLst>
                <a:ext uri="{FF2B5EF4-FFF2-40B4-BE49-F238E27FC236}">
                  <a16:creationId xmlns:a16="http://schemas.microsoft.com/office/drawing/2014/main" id="{11E1BEE9-0BBD-265F-42E3-BE351D0CEA52}"/>
                </a:ext>
              </a:extLst>
            </p:cNvPr>
            <p:cNvCxnSpPr/>
            <p:nvPr/>
          </p:nvCxnSpPr>
          <p:spPr bwMode="auto">
            <a:xfrm>
              <a:off x="529208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197" name="直線コネクタ 196">
              <a:extLst>
                <a:ext uri="{FF2B5EF4-FFF2-40B4-BE49-F238E27FC236}">
                  <a16:creationId xmlns:a16="http://schemas.microsoft.com/office/drawing/2014/main" id="{6C138095-F140-8ACD-7E95-EA832D32B504}"/>
                </a:ext>
              </a:extLst>
            </p:cNvPr>
            <p:cNvCxnSpPr/>
            <p:nvPr/>
          </p:nvCxnSpPr>
          <p:spPr bwMode="auto">
            <a:xfrm>
              <a:off x="673224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198" name="直線コネクタ 197">
              <a:extLst>
                <a:ext uri="{FF2B5EF4-FFF2-40B4-BE49-F238E27FC236}">
                  <a16:creationId xmlns:a16="http://schemas.microsoft.com/office/drawing/2014/main" id="{092AC21D-23B6-83DD-D5AC-3C1C06BBB699}"/>
                </a:ext>
              </a:extLst>
            </p:cNvPr>
            <p:cNvCxnSpPr/>
            <p:nvPr/>
          </p:nvCxnSpPr>
          <p:spPr bwMode="auto">
            <a:xfrm>
              <a:off x="6012160" y="5589240"/>
              <a:ext cx="720080" cy="0"/>
            </a:xfrm>
            <a:prstGeom prst="line">
              <a:avLst/>
            </a:prstGeom>
            <a:noFill/>
            <a:ln w="38100" cap="rnd" cmpd="sng" algn="ctr">
              <a:solidFill>
                <a:schemeClr val="accent5"/>
              </a:solidFill>
              <a:prstDash val="solid"/>
              <a:round/>
              <a:headEnd type="none" w="med" len="med"/>
              <a:tailEnd type="none" w="med" len="med"/>
            </a:ln>
            <a:effectLst/>
          </p:spPr>
        </p:cxnSp>
        <p:cxnSp>
          <p:nvCxnSpPr>
            <p:cNvPr id="199" name="直線コネクタ 198">
              <a:extLst>
                <a:ext uri="{FF2B5EF4-FFF2-40B4-BE49-F238E27FC236}">
                  <a16:creationId xmlns:a16="http://schemas.microsoft.com/office/drawing/2014/main" id="{99E4E855-A351-5261-D9CC-827F869DDA83}"/>
                </a:ext>
              </a:extLst>
            </p:cNvPr>
            <p:cNvCxnSpPr/>
            <p:nvPr/>
          </p:nvCxnSpPr>
          <p:spPr bwMode="auto">
            <a:xfrm>
              <a:off x="601216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200" name="直線コネクタ 199">
              <a:extLst>
                <a:ext uri="{FF2B5EF4-FFF2-40B4-BE49-F238E27FC236}">
                  <a16:creationId xmlns:a16="http://schemas.microsoft.com/office/drawing/2014/main" id="{A5CD81A1-5997-D290-21C2-922E6911716D}"/>
                </a:ext>
              </a:extLst>
            </p:cNvPr>
            <p:cNvCxnSpPr/>
            <p:nvPr/>
          </p:nvCxnSpPr>
          <p:spPr bwMode="auto">
            <a:xfrm>
              <a:off x="673224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201" name="直線コネクタ 200">
              <a:extLst>
                <a:ext uri="{FF2B5EF4-FFF2-40B4-BE49-F238E27FC236}">
                  <a16:creationId xmlns:a16="http://schemas.microsoft.com/office/drawing/2014/main" id="{E90CEFA9-3D88-E35F-30A0-441B2E2181CC}"/>
                </a:ext>
              </a:extLst>
            </p:cNvPr>
            <p:cNvCxnSpPr/>
            <p:nvPr/>
          </p:nvCxnSpPr>
          <p:spPr bwMode="auto">
            <a:xfrm>
              <a:off x="6012160" y="5454225"/>
              <a:ext cx="720080" cy="1"/>
            </a:xfrm>
            <a:prstGeom prst="line">
              <a:avLst/>
            </a:prstGeom>
            <a:noFill/>
            <a:ln w="38100" cap="rnd" cmpd="sng" algn="ctr">
              <a:solidFill>
                <a:schemeClr val="accent5"/>
              </a:solidFill>
              <a:prstDash val="solid"/>
              <a:round/>
              <a:headEnd type="none" w="med" len="med"/>
              <a:tailEnd type="none" w="med" len="med"/>
            </a:ln>
            <a:effectLst/>
          </p:spPr>
        </p:cxnSp>
        <p:cxnSp>
          <p:nvCxnSpPr>
            <p:cNvPr id="202" name="直線コネクタ 201">
              <a:extLst>
                <a:ext uri="{FF2B5EF4-FFF2-40B4-BE49-F238E27FC236}">
                  <a16:creationId xmlns:a16="http://schemas.microsoft.com/office/drawing/2014/main" id="{A44661B3-D31B-8705-D30B-6083FB32D4DD}"/>
                </a:ext>
              </a:extLst>
            </p:cNvPr>
            <p:cNvCxnSpPr/>
            <p:nvPr/>
          </p:nvCxnSpPr>
          <p:spPr bwMode="auto">
            <a:xfrm>
              <a:off x="6372200" y="5004175"/>
              <a:ext cx="0" cy="450050"/>
            </a:xfrm>
            <a:prstGeom prst="line">
              <a:avLst/>
            </a:prstGeom>
            <a:noFill/>
            <a:ln w="12700" cap="rnd" cmpd="sng" algn="ctr">
              <a:solidFill>
                <a:schemeClr val="accent5"/>
              </a:solidFill>
              <a:prstDash val="solid"/>
              <a:round/>
              <a:headEnd type="none" w="med" len="med"/>
              <a:tailEnd type="none" w="med" len="med"/>
            </a:ln>
            <a:effectLst/>
          </p:spPr>
        </p:cxnSp>
      </p:grpSp>
      <p:grpSp>
        <p:nvGrpSpPr>
          <p:cNvPr id="203" name="グループ化 202">
            <a:extLst>
              <a:ext uri="{FF2B5EF4-FFF2-40B4-BE49-F238E27FC236}">
                <a16:creationId xmlns:a16="http://schemas.microsoft.com/office/drawing/2014/main" id="{4D58435C-8CD9-A451-5183-C6AB3F167CF1}"/>
              </a:ext>
            </a:extLst>
          </p:cNvPr>
          <p:cNvGrpSpPr/>
          <p:nvPr/>
        </p:nvGrpSpPr>
        <p:grpSpPr>
          <a:xfrm>
            <a:off x="10416049" y="2348988"/>
            <a:ext cx="540222" cy="315099"/>
            <a:chOff x="5292080" y="5004175"/>
            <a:chExt cx="2160240" cy="945105"/>
          </a:xfrm>
        </p:grpSpPr>
        <p:cxnSp>
          <p:nvCxnSpPr>
            <p:cNvPr id="204" name="直線コネクタ 203">
              <a:extLst>
                <a:ext uri="{FF2B5EF4-FFF2-40B4-BE49-F238E27FC236}">
                  <a16:creationId xmlns:a16="http://schemas.microsoft.com/office/drawing/2014/main" id="{84B54C85-7DD0-B376-AC2C-06E912BF5646}"/>
                </a:ext>
              </a:extLst>
            </p:cNvPr>
            <p:cNvCxnSpPr/>
            <p:nvPr/>
          </p:nvCxnSpPr>
          <p:spPr bwMode="auto">
            <a:xfrm>
              <a:off x="529208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205" name="直線コネクタ 204">
              <a:extLst>
                <a:ext uri="{FF2B5EF4-FFF2-40B4-BE49-F238E27FC236}">
                  <a16:creationId xmlns:a16="http://schemas.microsoft.com/office/drawing/2014/main" id="{A2351C56-0D18-4CC8-0991-4AAF8E909BE0}"/>
                </a:ext>
              </a:extLst>
            </p:cNvPr>
            <p:cNvCxnSpPr/>
            <p:nvPr/>
          </p:nvCxnSpPr>
          <p:spPr bwMode="auto">
            <a:xfrm>
              <a:off x="673224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206" name="直線コネクタ 205">
              <a:extLst>
                <a:ext uri="{FF2B5EF4-FFF2-40B4-BE49-F238E27FC236}">
                  <a16:creationId xmlns:a16="http://schemas.microsoft.com/office/drawing/2014/main" id="{6596B93D-C212-3C79-8D37-757ADB976263}"/>
                </a:ext>
              </a:extLst>
            </p:cNvPr>
            <p:cNvCxnSpPr/>
            <p:nvPr/>
          </p:nvCxnSpPr>
          <p:spPr bwMode="auto">
            <a:xfrm>
              <a:off x="6012160" y="5589240"/>
              <a:ext cx="720080" cy="0"/>
            </a:xfrm>
            <a:prstGeom prst="line">
              <a:avLst/>
            </a:prstGeom>
            <a:noFill/>
            <a:ln w="38100" cap="rnd" cmpd="sng" algn="ctr">
              <a:solidFill>
                <a:schemeClr val="accent5"/>
              </a:solidFill>
              <a:prstDash val="solid"/>
              <a:round/>
              <a:headEnd type="none" w="med" len="med"/>
              <a:tailEnd type="none" w="med" len="med"/>
            </a:ln>
            <a:effectLst/>
          </p:spPr>
        </p:cxnSp>
        <p:cxnSp>
          <p:nvCxnSpPr>
            <p:cNvPr id="207" name="直線コネクタ 206">
              <a:extLst>
                <a:ext uri="{FF2B5EF4-FFF2-40B4-BE49-F238E27FC236}">
                  <a16:creationId xmlns:a16="http://schemas.microsoft.com/office/drawing/2014/main" id="{7F0C2ECD-9A91-9BE6-6EC6-0B680BC4316E}"/>
                </a:ext>
              </a:extLst>
            </p:cNvPr>
            <p:cNvCxnSpPr/>
            <p:nvPr/>
          </p:nvCxnSpPr>
          <p:spPr bwMode="auto">
            <a:xfrm>
              <a:off x="601216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208" name="直線コネクタ 207">
              <a:extLst>
                <a:ext uri="{FF2B5EF4-FFF2-40B4-BE49-F238E27FC236}">
                  <a16:creationId xmlns:a16="http://schemas.microsoft.com/office/drawing/2014/main" id="{9D614CE7-1F2E-4A85-C8C7-7ED8778899C2}"/>
                </a:ext>
              </a:extLst>
            </p:cNvPr>
            <p:cNvCxnSpPr/>
            <p:nvPr/>
          </p:nvCxnSpPr>
          <p:spPr bwMode="auto">
            <a:xfrm>
              <a:off x="673224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209" name="直線コネクタ 208">
              <a:extLst>
                <a:ext uri="{FF2B5EF4-FFF2-40B4-BE49-F238E27FC236}">
                  <a16:creationId xmlns:a16="http://schemas.microsoft.com/office/drawing/2014/main" id="{EB849C76-06D4-C6AD-6A3F-88FDC4EC62D4}"/>
                </a:ext>
              </a:extLst>
            </p:cNvPr>
            <p:cNvCxnSpPr/>
            <p:nvPr/>
          </p:nvCxnSpPr>
          <p:spPr bwMode="auto">
            <a:xfrm>
              <a:off x="6012160" y="5454225"/>
              <a:ext cx="720080" cy="1"/>
            </a:xfrm>
            <a:prstGeom prst="line">
              <a:avLst/>
            </a:prstGeom>
            <a:noFill/>
            <a:ln w="38100" cap="rnd" cmpd="sng" algn="ctr">
              <a:solidFill>
                <a:schemeClr val="accent5"/>
              </a:solidFill>
              <a:prstDash val="solid"/>
              <a:round/>
              <a:headEnd type="none" w="med" len="med"/>
              <a:tailEnd type="none" w="med" len="med"/>
            </a:ln>
            <a:effectLst/>
          </p:spPr>
        </p:cxnSp>
        <p:cxnSp>
          <p:nvCxnSpPr>
            <p:cNvPr id="210" name="直線コネクタ 209">
              <a:extLst>
                <a:ext uri="{FF2B5EF4-FFF2-40B4-BE49-F238E27FC236}">
                  <a16:creationId xmlns:a16="http://schemas.microsoft.com/office/drawing/2014/main" id="{EA1BA32E-F5A0-17B7-4DDC-CCE106FEE9BF}"/>
                </a:ext>
              </a:extLst>
            </p:cNvPr>
            <p:cNvCxnSpPr/>
            <p:nvPr/>
          </p:nvCxnSpPr>
          <p:spPr bwMode="auto">
            <a:xfrm>
              <a:off x="6372200" y="5004175"/>
              <a:ext cx="0" cy="450050"/>
            </a:xfrm>
            <a:prstGeom prst="line">
              <a:avLst/>
            </a:prstGeom>
            <a:noFill/>
            <a:ln w="12700" cap="rnd" cmpd="sng" algn="ctr">
              <a:solidFill>
                <a:schemeClr val="accent5"/>
              </a:solidFill>
              <a:prstDash val="solid"/>
              <a:round/>
              <a:headEnd type="none" w="med" len="med"/>
              <a:tailEnd type="none" w="med" len="med"/>
            </a:ln>
            <a:effectLst/>
          </p:spPr>
        </p:cxnSp>
      </p:grpSp>
      <p:grpSp>
        <p:nvGrpSpPr>
          <p:cNvPr id="211" name="グループ化 210">
            <a:extLst>
              <a:ext uri="{FF2B5EF4-FFF2-40B4-BE49-F238E27FC236}">
                <a16:creationId xmlns:a16="http://schemas.microsoft.com/office/drawing/2014/main" id="{A38D5276-D19B-6B12-3D1D-6704273FCB7D}"/>
              </a:ext>
            </a:extLst>
          </p:cNvPr>
          <p:cNvGrpSpPr/>
          <p:nvPr/>
        </p:nvGrpSpPr>
        <p:grpSpPr>
          <a:xfrm>
            <a:off x="9786042" y="1898983"/>
            <a:ext cx="540222" cy="315100"/>
            <a:chOff x="5292080" y="3203975"/>
            <a:chExt cx="2160240" cy="945106"/>
          </a:xfrm>
        </p:grpSpPr>
        <p:cxnSp>
          <p:nvCxnSpPr>
            <p:cNvPr id="212" name="直線コネクタ 211">
              <a:extLst>
                <a:ext uri="{FF2B5EF4-FFF2-40B4-BE49-F238E27FC236}">
                  <a16:creationId xmlns:a16="http://schemas.microsoft.com/office/drawing/2014/main" id="{14700C68-6A95-BC2D-B2A1-D945E1E9B3E4}"/>
                </a:ext>
              </a:extLst>
            </p:cNvPr>
            <p:cNvCxnSpPr/>
            <p:nvPr/>
          </p:nvCxnSpPr>
          <p:spPr bwMode="auto">
            <a:xfrm>
              <a:off x="6372200" y="3203975"/>
              <a:ext cx="0" cy="356394"/>
            </a:xfrm>
            <a:prstGeom prst="line">
              <a:avLst/>
            </a:prstGeom>
            <a:noFill/>
            <a:ln w="12700" cap="rnd" cmpd="sng" algn="ctr">
              <a:solidFill>
                <a:schemeClr val="accent6"/>
              </a:solidFill>
              <a:prstDash val="solid"/>
              <a:round/>
              <a:headEnd type="none" w="med" len="med"/>
              <a:tailEnd type="none" w="med" len="med"/>
            </a:ln>
            <a:effectLst/>
          </p:spPr>
        </p:cxnSp>
        <p:cxnSp>
          <p:nvCxnSpPr>
            <p:cNvPr id="213" name="直線コネクタ 212">
              <a:extLst>
                <a:ext uri="{FF2B5EF4-FFF2-40B4-BE49-F238E27FC236}">
                  <a16:creationId xmlns:a16="http://schemas.microsoft.com/office/drawing/2014/main" id="{9F2C7633-3678-1815-422B-F44CD412665A}"/>
                </a:ext>
              </a:extLst>
            </p:cNvPr>
            <p:cNvCxnSpPr/>
            <p:nvPr/>
          </p:nvCxnSpPr>
          <p:spPr bwMode="auto">
            <a:xfrm>
              <a:off x="5292080" y="4149080"/>
              <a:ext cx="720080" cy="1"/>
            </a:xfrm>
            <a:prstGeom prst="line">
              <a:avLst/>
            </a:prstGeom>
            <a:noFill/>
            <a:ln w="12700" cap="rnd" cmpd="sng" algn="ctr">
              <a:solidFill>
                <a:schemeClr val="accent6"/>
              </a:solidFill>
              <a:prstDash val="solid"/>
              <a:round/>
              <a:headEnd type="none" w="med" len="med"/>
              <a:tailEnd type="none" w="med" len="med"/>
            </a:ln>
            <a:effectLst/>
          </p:spPr>
        </p:cxnSp>
        <p:cxnSp>
          <p:nvCxnSpPr>
            <p:cNvPr id="214" name="直線コネクタ 213">
              <a:extLst>
                <a:ext uri="{FF2B5EF4-FFF2-40B4-BE49-F238E27FC236}">
                  <a16:creationId xmlns:a16="http://schemas.microsoft.com/office/drawing/2014/main" id="{25A96306-2D03-B2EA-DCEC-5746F23BF7A4}"/>
                </a:ext>
              </a:extLst>
            </p:cNvPr>
            <p:cNvCxnSpPr/>
            <p:nvPr/>
          </p:nvCxnSpPr>
          <p:spPr bwMode="auto">
            <a:xfrm>
              <a:off x="6732240" y="4149080"/>
              <a:ext cx="720080" cy="0"/>
            </a:xfrm>
            <a:prstGeom prst="line">
              <a:avLst/>
            </a:prstGeom>
            <a:noFill/>
            <a:ln w="12700" cap="rnd" cmpd="sng" algn="ctr">
              <a:solidFill>
                <a:schemeClr val="accent6"/>
              </a:solidFill>
              <a:prstDash val="solid"/>
              <a:round/>
              <a:headEnd type="none" w="med" len="med"/>
              <a:tailEnd type="none" w="med" len="med"/>
            </a:ln>
            <a:effectLst/>
          </p:spPr>
        </p:cxnSp>
        <p:cxnSp>
          <p:nvCxnSpPr>
            <p:cNvPr id="215" name="直線コネクタ 214">
              <a:extLst>
                <a:ext uri="{FF2B5EF4-FFF2-40B4-BE49-F238E27FC236}">
                  <a16:creationId xmlns:a16="http://schemas.microsoft.com/office/drawing/2014/main" id="{972FEFC9-C3D5-1E7E-4800-21F61D577F05}"/>
                </a:ext>
              </a:extLst>
            </p:cNvPr>
            <p:cNvCxnSpPr/>
            <p:nvPr/>
          </p:nvCxnSpPr>
          <p:spPr bwMode="auto">
            <a:xfrm>
              <a:off x="6012160" y="3789040"/>
              <a:ext cx="720080" cy="0"/>
            </a:xfrm>
            <a:prstGeom prst="line">
              <a:avLst/>
            </a:prstGeom>
            <a:noFill/>
            <a:ln w="38100" cap="rnd" cmpd="sng" algn="ctr">
              <a:solidFill>
                <a:schemeClr val="accent6"/>
              </a:solidFill>
              <a:prstDash val="solid"/>
              <a:round/>
              <a:headEnd type="none" w="med" len="med"/>
              <a:tailEnd type="none" w="med" len="med"/>
            </a:ln>
            <a:effectLst/>
          </p:spPr>
        </p:cxnSp>
        <p:cxnSp>
          <p:nvCxnSpPr>
            <p:cNvPr id="216" name="直線コネクタ 215">
              <a:extLst>
                <a:ext uri="{FF2B5EF4-FFF2-40B4-BE49-F238E27FC236}">
                  <a16:creationId xmlns:a16="http://schemas.microsoft.com/office/drawing/2014/main" id="{79F2DF4D-ED06-1F19-BCA5-96494A4E40D2}"/>
                </a:ext>
              </a:extLst>
            </p:cNvPr>
            <p:cNvCxnSpPr/>
            <p:nvPr/>
          </p:nvCxnSpPr>
          <p:spPr bwMode="auto">
            <a:xfrm>
              <a:off x="6012160" y="3789040"/>
              <a:ext cx="0" cy="360040"/>
            </a:xfrm>
            <a:prstGeom prst="line">
              <a:avLst/>
            </a:prstGeom>
            <a:noFill/>
            <a:ln w="38100" cap="rnd" cmpd="sng" algn="ctr">
              <a:solidFill>
                <a:schemeClr val="accent6"/>
              </a:solidFill>
              <a:prstDash val="solid"/>
              <a:round/>
              <a:headEnd type="none" w="med" len="med"/>
              <a:tailEnd type="none" w="med" len="med"/>
            </a:ln>
            <a:effectLst/>
          </p:spPr>
        </p:cxnSp>
        <p:cxnSp>
          <p:nvCxnSpPr>
            <p:cNvPr id="217" name="直線コネクタ 216">
              <a:extLst>
                <a:ext uri="{FF2B5EF4-FFF2-40B4-BE49-F238E27FC236}">
                  <a16:creationId xmlns:a16="http://schemas.microsoft.com/office/drawing/2014/main" id="{13C4DEDC-CC91-E765-372B-FAEE9761B4F8}"/>
                </a:ext>
              </a:extLst>
            </p:cNvPr>
            <p:cNvCxnSpPr/>
            <p:nvPr/>
          </p:nvCxnSpPr>
          <p:spPr bwMode="auto">
            <a:xfrm>
              <a:off x="6732240" y="3789040"/>
              <a:ext cx="0" cy="360040"/>
            </a:xfrm>
            <a:prstGeom prst="line">
              <a:avLst/>
            </a:prstGeom>
            <a:noFill/>
            <a:ln w="38100" cap="rnd" cmpd="sng" algn="ctr">
              <a:solidFill>
                <a:schemeClr val="accent6"/>
              </a:solidFill>
              <a:prstDash val="solid"/>
              <a:round/>
              <a:headEnd type="none" w="med" len="med"/>
              <a:tailEnd type="none" w="med" len="med"/>
            </a:ln>
            <a:effectLst/>
          </p:spPr>
        </p:cxnSp>
        <p:cxnSp>
          <p:nvCxnSpPr>
            <p:cNvPr id="218" name="直線コネクタ 217">
              <a:extLst>
                <a:ext uri="{FF2B5EF4-FFF2-40B4-BE49-F238E27FC236}">
                  <a16:creationId xmlns:a16="http://schemas.microsoft.com/office/drawing/2014/main" id="{B476BB6C-96DD-3DC4-0EBC-C5CCB53FDADF}"/>
                </a:ext>
              </a:extLst>
            </p:cNvPr>
            <p:cNvCxnSpPr/>
            <p:nvPr/>
          </p:nvCxnSpPr>
          <p:spPr bwMode="auto">
            <a:xfrm>
              <a:off x="6012160" y="3654025"/>
              <a:ext cx="720080" cy="0"/>
            </a:xfrm>
            <a:prstGeom prst="line">
              <a:avLst/>
            </a:prstGeom>
            <a:noFill/>
            <a:ln w="38100" cap="rnd" cmpd="sng" algn="ctr">
              <a:solidFill>
                <a:schemeClr val="accent6"/>
              </a:solidFill>
              <a:prstDash val="solid"/>
              <a:round/>
              <a:headEnd type="none" w="med" len="med"/>
              <a:tailEnd type="none" w="med" len="med"/>
            </a:ln>
            <a:effectLst/>
          </p:spPr>
        </p:cxnSp>
        <p:sp useBgFill="1">
          <p:nvSpPr>
            <p:cNvPr id="219" name="円/楕円 13">
              <a:extLst>
                <a:ext uri="{FF2B5EF4-FFF2-40B4-BE49-F238E27FC236}">
                  <a16:creationId xmlns:a16="http://schemas.microsoft.com/office/drawing/2014/main" id="{5A4320EF-CCA8-AEDD-A23C-7B36530DE280}"/>
                </a:ext>
              </a:extLst>
            </p:cNvPr>
            <p:cNvSpPr/>
            <p:nvPr/>
          </p:nvSpPr>
          <p:spPr bwMode="auto">
            <a:xfrm>
              <a:off x="6304693" y="3519010"/>
              <a:ext cx="135015" cy="132239"/>
            </a:xfrm>
            <a:prstGeom prst="ellipse">
              <a:avLst/>
            </a:prstGeom>
            <a:ln w="381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grpSp>
    </p:spTree>
    <p:extLst>
      <p:ext uri="{BB962C8B-B14F-4D97-AF65-F5344CB8AC3E}">
        <p14:creationId xmlns:p14="http://schemas.microsoft.com/office/powerpoint/2010/main" val="3366171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ゲート</a:t>
            </a:r>
            <a:r>
              <a:rPr lang="ja-JP" altLang="en-US" dirty="0"/>
              <a:t>の遅延の実体</a:t>
            </a:r>
            <a:endParaRPr kumimoji="1" lang="ja-JP" altLang="en-US" dirty="0"/>
          </a:p>
        </p:txBody>
      </p:sp>
      <p:sp>
        <p:nvSpPr>
          <p:cNvPr id="3" name="テキスト プレースホルダー 2"/>
          <p:cNvSpPr>
            <a:spLocks noGrp="1"/>
          </p:cNvSpPr>
          <p:nvPr>
            <p:ph type="body" sz="quarter" idx="10"/>
          </p:nvPr>
        </p:nvSpPr>
        <p:spPr>
          <a:xfrm>
            <a:off x="2225959" y="4779325"/>
            <a:ext cx="8262041" cy="1439709"/>
          </a:xfrm>
        </p:spPr>
        <p:txBody>
          <a:bodyPr/>
          <a:lstStyle/>
          <a:p>
            <a:r>
              <a:rPr lang="ja-JP" altLang="en-US" dirty="0"/>
              <a:t>遅延：コンデンサの充放電にかかる時間</a:t>
            </a:r>
            <a:endParaRPr lang="en-US" altLang="ja-JP" dirty="0"/>
          </a:p>
          <a:p>
            <a:pPr marL="817200" lvl="1" indent="-457200">
              <a:buFont typeface="+mj-lt"/>
              <a:buAutoNum type="arabicPeriod"/>
            </a:pPr>
            <a:r>
              <a:rPr lang="ja-JP" altLang="en-US" dirty="0"/>
              <a:t>あるゲートのスイッチが切り替わる</a:t>
            </a:r>
            <a:endParaRPr lang="en-US" altLang="ja-JP" dirty="0"/>
          </a:p>
          <a:p>
            <a:pPr marL="817200" lvl="1" indent="-457200">
              <a:buFont typeface="+mj-lt"/>
              <a:buAutoNum type="arabicPeriod"/>
            </a:pPr>
            <a:r>
              <a:rPr lang="ja-JP" altLang="en-US" dirty="0"/>
              <a:t>次の段のゲートへの充放電が開始</a:t>
            </a:r>
            <a:endParaRPr lang="en-US" altLang="ja-JP" dirty="0"/>
          </a:p>
          <a:p>
            <a:pPr marL="817200" lvl="1" indent="-457200">
              <a:buFont typeface="+mj-lt"/>
              <a:buAutoNum type="arabicPeriod"/>
            </a:pPr>
            <a:r>
              <a:rPr lang="ja-JP" altLang="en-US" dirty="0"/>
              <a:t>次の段のスイッチが切り替わる</a:t>
            </a:r>
            <a:endParaRPr lang="en-US" altLang="ja-JP" dirty="0"/>
          </a:p>
          <a:p>
            <a:pPr marL="817200" lvl="1" indent="-457200">
              <a:buFont typeface="+mj-lt"/>
              <a:buAutoNum type="arabicPeriod"/>
            </a:pPr>
            <a:r>
              <a:rPr lang="ja-JP" altLang="en-US" dirty="0"/>
              <a:t>･･･</a:t>
            </a:r>
            <a:endParaRPr lang="en-US" altLang="ja-JP" dirty="0"/>
          </a:p>
          <a:p>
            <a:pPr lvl="1"/>
            <a:endParaRPr lang="en-US" altLang="ja-JP" dirty="0"/>
          </a:p>
        </p:txBody>
      </p:sp>
      <p:grpSp>
        <p:nvGrpSpPr>
          <p:cNvPr id="4" name="グループ化 3"/>
          <p:cNvGrpSpPr/>
          <p:nvPr/>
        </p:nvGrpSpPr>
        <p:grpSpPr>
          <a:xfrm rot="5400000">
            <a:off x="4634312" y="2535894"/>
            <a:ext cx="67531" cy="337533"/>
            <a:chOff x="3401870" y="728700"/>
            <a:chExt cx="180020" cy="405045"/>
          </a:xfrm>
        </p:grpSpPr>
        <p:cxnSp>
          <p:nvCxnSpPr>
            <p:cNvPr id="5" name="直線コネクタ 4"/>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66" name="グループ化 65"/>
          <p:cNvGrpSpPr/>
          <p:nvPr/>
        </p:nvGrpSpPr>
        <p:grpSpPr>
          <a:xfrm>
            <a:off x="3935976" y="2978995"/>
            <a:ext cx="270012" cy="450012"/>
            <a:chOff x="5787000" y="1944000"/>
            <a:chExt cx="270012" cy="450012"/>
          </a:xfrm>
        </p:grpSpPr>
        <p:cxnSp>
          <p:nvCxnSpPr>
            <p:cNvPr id="61" name="直線コネクタ 60"/>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0" name="円/楕円 59"/>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63" name="円/楕円 62"/>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67" name="グループ化 66"/>
          <p:cNvGrpSpPr/>
          <p:nvPr/>
        </p:nvGrpSpPr>
        <p:grpSpPr>
          <a:xfrm>
            <a:off x="4115978" y="1988984"/>
            <a:ext cx="90012" cy="450012"/>
            <a:chOff x="5967000" y="1944000"/>
            <a:chExt cx="90012" cy="450012"/>
          </a:xfrm>
        </p:grpSpPr>
        <p:cxnSp>
          <p:nvCxnSpPr>
            <p:cNvPr id="68" name="直線コネクタ 67"/>
            <p:cNvCxnSpPr>
              <a:stCxn id="70"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69" name="円/楕円 68"/>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70" name="円/楕円 69"/>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72" name="グループ化 152"/>
          <p:cNvGrpSpPr/>
          <p:nvPr/>
        </p:nvGrpSpPr>
        <p:grpSpPr>
          <a:xfrm>
            <a:off x="4043122" y="3699005"/>
            <a:ext cx="180002" cy="90001"/>
            <a:chOff x="3643306" y="4500570"/>
            <a:chExt cx="428628" cy="144464"/>
          </a:xfrm>
        </p:grpSpPr>
        <p:cxnSp>
          <p:nvCxnSpPr>
            <p:cNvPr id="73" name="直線コネクタ 7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4" name="直線コネクタ 7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75" name="直線コネクタ 7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76" name="直線コネクタ 75"/>
          <p:cNvCxnSpPr/>
          <p:nvPr/>
        </p:nvCxnSpPr>
        <p:spPr>
          <a:xfrm flipV="1">
            <a:off x="4133126" y="3429003"/>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77" name="グループ化 76"/>
          <p:cNvGrpSpPr/>
          <p:nvPr/>
        </p:nvGrpSpPr>
        <p:grpSpPr>
          <a:xfrm>
            <a:off x="4043122" y="1628983"/>
            <a:ext cx="180020" cy="360033"/>
            <a:chOff x="4481992" y="1268760"/>
            <a:chExt cx="180020" cy="360033"/>
          </a:xfrm>
        </p:grpSpPr>
        <p:cxnSp>
          <p:nvCxnSpPr>
            <p:cNvPr id="78" name="直線コネクタ 77"/>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80" name="直線コネクタ 79"/>
          <p:cNvCxnSpPr/>
          <p:nvPr/>
        </p:nvCxnSpPr>
        <p:spPr>
          <a:xfrm flipV="1">
            <a:off x="4133126" y="2438989"/>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flipH="1">
            <a:off x="4133123" y="2708992"/>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87" name="グループ化 86"/>
          <p:cNvGrpSpPr/>
          <p:nvPr/>
        </p:nvGrpSpPr>
        <p:grpSpPr>
          <a:xfrm rot="10800000">
            <a:off x="3187393" y="2528990"/>
            <a:ext cx="90012" cy="360048"/>
            <a:chOff x="2051664" y="1988808"/>
            <a:chExt cx="90012" cy="360048"/>
          </a:xfrm>
        </p:grpSpPr>
        <p:cxnSp>
          <p:nvCxnSpPr>
            <p:cNvPr id="89" name="直線コネクタ 88"/>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92" name="グループ化 152"/>
          <p:cNvGrpSpPr/>
          <p:nvPr/>
        </p:nvGrpSpPr>
        <p:grpSpPr>
          <a:xfrm>
            <a:off x="3457396" y="3699006"/>
            <a:ext cx="180002" cy="90001"/>
            <a:chOff x="3643306" y="4500570"/>
            <a:chExt cx="428628" cy="144464"/>
          </a:xfrm>
        </p:grpSpPr>
        <p:cxnSp>
          <p:nvCxnSpPr>
            <p:cNvPr id="93" name="直線コネクタ 92"/>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4" name="直線コネクタ 93"/>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95" name="直線コネクタ 94"/>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96" name="フリーフォーム 95"/>
          <p:cNvSpPr/>
          <p:nvPr/>
        </p:nvSpPr>
        <p:spPr bwMode="auto">
          <a:xfrm rot="5400000" flipH="1">
            <a:off x="2917392" y="3068998"/>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97" name="直線コネクタ 96"/>
          <p:cNvCxnSpPr/>
          <p:nvPr/>
        </p:nvCxnSpPr>
        <p:spPr>
          <a:xfrm>
            <a:off x="3007391" y="2708992"/>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0" name="直線コネクタ 99"/>
          <p:cNvCxnSpPr/>
          <p:nvPr/>
        </p:nvCxnSpPr>
        <p:spPr>
          <a:xfrm>
            <a:off x="2467385" y="2708992"/>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4" name="正方形/長方形 83"/>
          <p:cNvSpPr/>
          <p:nvPr/>
        </p:nvSpPr>
        <p:spPr bwMode="auto">
          <a:xfrm>
            <a:off x="3277394" y="126897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電源</a:t>
            </a:r>
          </a:p>
        </p:txBody>
      </p:sp>
      <p:cxnSp>
        <p:nvCxnSpPr>
          <p:cNvPr id="85" name="直線コネクタ 84"/>
          <p:cNvCxnSpPr/>
          <p:nvPr/>
        </p:nvCxnSpPr>
        <p:spPr>
          <a:xfrm>
            <a:off x="4835986" y="2708992"/>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88" name="グループ化 87"/>
          <p:cNvGrpSpPr/>
          <p:nvPr/>
        </p:nvGrpSpPr>
        <p:grpSpPr>
          <a:xfrm rot="5400000">
            <a:off x="7514344" y="2535894"/>
            <a:ext cx="67531" cy="337533"/>
            <a:chOff x="3401870" y="728700"/>
            <a:chExt cx="180020" cy="405045"/>
          </a:xfrm>
        </p:grpSpPr>
        <p:cxnSp>
          <p:nvCxnSpPr>
            <p:cNvPr id="90" name="直線コネクタ 89"/>
            <p:cNvCxnSpPr/>
            <p:nvPr/>
          </p:nvCxnSpPr>
          <p:spPr>
            <a:xfrm>
              <a:off x="3401870" y="773705"/>
              <a:ext cx="180020" cy="45005"/>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flipV="1">
              <a:off x="3401870" y="818710"/>
              <a:ext cx="180020" cy="45006"/>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1" name="直線コネクタ 100"/>
            <p:cNvCxnSpPr/>
            <p:nvPr/>
          </p:nvCxnSpPr>
          <p:spPr>
            <a:xfrm>
              <a:off x="3401870" y="863715"/>
              <a:ext cx="180020" cy="45005"/>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2" name="直線コネクタ 101"/>
            <p:cNvCxnSpPr/>
            <p:nvPr/>
          </p:nvCxnSpPr>
          <p:spPr>
            <a:xfrm flipV="1">
              <a:off x="3401870" y="908720"/>
              <a:ext cx="180020" cy="45006"/>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3" name="直線コネクタ 102"/>
            <p:cNvCxnSpPr/>
            <p:nvPr/>
          </p:nvCxnSpPr>
          <p:spPr>
            <a:xfrm>
              <a:off x="3401870" y="953725"/>
              <a:ext cx="180020" cy="45005"/>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4" name="直線コネクタ 103"/>
            <p:cNvCxnSpPr/>
            <p:nvPr/>
          </p:nvCxnSpPr>
          <p:spPr>
            <a:xfrm flipV="1">
              <a:off x="3401870" y="998730"/>
              <a:ext cx="180020" cy="45006"/>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a:off x="3401870" y="1043735"/>
              <a:ext cx="180020" cy="45005"/>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flipV="1">
              <a:off x="3491880" y="1088741"/>
              <a:ext cx="90010" cy="45004"/>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07" name="直線コネクタ 106"/>
            <p:cNvCxnSpPr/>
            <p:nvPr/>
          </p:nvCxnSpPr>
          <p:spPr>
            <a:xfrm flipV="1">
              <a:off x="3401870" y="728700"/>
              <a:ext cx="90010" cy="45006"/>
            </a:xfrm>
            <a:prstGeom prst="line">
              <a:avLst/>
            </a:prstGeom>
            <a:ln w="2857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08" name="グループ化 107"/>
          <p:cNvGrpSpPr/>
          <p:nvPr/>
        </p:nvGrpSpPr>
        <p:grpSpPr>
          <a:xfrm>
            <a:off x="6787433" y="1988984"/>
            <a:ext cx="270012" cy="450012"/>
            <a:chOff x="5787000" y="1944000"/>
            <a:chExt cx="270012" cy="450012"/>
          </a:xfrm>
        </p:grpSpPr>
        <p:cxnSp>
          <p:nvCxnSpPr>
            <p:cNvPr id="109" name="直線コネクタ 108"/>
            <p:cNvCxnSpPr/>
            <p:nvPr/>
          </p:nvCxnSpPr>
          <p:spPr>
            <a:xfrm>
              <a:off x="5787000" y="1989000"/>
              <a:ext cx="225004" cy="360003"/>
            </a:xfrm>
            <a:prstGeom prst="line">
              <a:avLst/>
            </a:prstGeom>
            <a:ln w="38100"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10" name="円/楕円 109"/>
            <p:cNvSpPr/>
            <p:nvPr/>
          </p:nvSpPr>
          <p:spPr>
            <a:xfrm rot="16200000" flipH="1">
              <a:off x="5967000" y="230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111" name="円/楕円 110"/>
            <p:cNvSpPr/>
            <p:nvPr/>
          </p:nvSpPr>
          <p:spPr>
            <a:xfrm rot="16200000" flipH="1">
              <a:off x="5967000" y="194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112" name="グループ化 111"/>
          <p:cNvGrpSpPr/>
          <p:nvPr/>
        </p:nvGrpSpPr>
        <p:grpSpPr>
          <a:xfrm>
            <a:off x="6967435" y="2978995"/>
            <a:ext cx="90012" cy="450012"/>
            <a:chOff x="5967000" y="1944000"/>
            <a:chExt cx="90012" cy="450012"/>
          </a:xfrm>
        </p:grpSpPr>
        <p:cxnSp>
          <p:nvCxnSpPr>
            <p:cNvPr id="113" name="直線コネクタ 112"/>
            <p:cNvCxnSpPr>
              <a:stCxn id="115" idx="0"/>
            </p:cNvCxnSpPr>
            <p:nvPr/>
          </p:nvCxnSpPr>
          <p:spPr>
            <a:xfrm>
              <a:off x="5967000" y="1989006"/>
              <a:ext cx="45004" cy="359997"/>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14" name="円/楕円 113"/>
            <p:cNvSpPr/>
            <p:nvPr/>
          </p:nvSpPr>
          <p:spPr>
            <a:xfrm rot="16200000" flipH="1">
              <a:off x="5967000" y="230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sp>
          <p:nvSpPr>
            <p:cNvPr id="115" name="円/楕円 114"/>
            <p:cNvSpPr/>
            <p:nvPr/>
          </p:nvSpPr>
          <p:spPr>
            <a:xfrm rot="16200000" flipH="1">
              <a:off x="5967000" y="1944000"/>
              <a:ext cx="90012" cy="90012"/>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116" name="グループ化 152"/>
          <p:cNvGrpSpPr/>
          <p:nvPr/>
        </p:nvGrpSpPr>
        <p:grpSpPr>
          <a:xfrm>
            <a:off x="6923154" y="3699005"/>
            <a:ext cx="180002" cy="90001"/>
            <a:chOff x="3643306" y="4500570"/>
            <a:chExt cx="428628" cy="144464"/>
          </a:xfrm>
        </p:grpSpPr>
        <p:cxnSp>
          <p:nvCxnSpPr>
            <p:cNvPr id="117" name="直線コネクタ 116"/>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18" name="直線コネクタ 117"/>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19" name="直線コネクタ 118"/>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20" name="直線コネクタ 119"/>
          <p:cNvCxnSpPr/>
          <p:nvPr/>
        </p:nvCxnSpPr>
        <p:spPr>
          <a:xfrm flipV="1">
            <a:off x="7013158" y="3429003"/>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21" name="グループ化 120"/>
          <p:cNvGrpSpPr/>
          <p:nvPr/>
        </p:nvGrpSpPr>
        <p:grpSpPr>
          <a:xfrm>
            <a:off x="6923154" y="1628983"/>
            <a:ext cx="180020" cy="360033"/>
            <a:chOff x="4481992" y="1268760"/>
            <a:chExt cx="180020" cy="360033"/>
          </a:xfrm>
        </p:grpSpPr>
        <p:cxnSp>
          <p:nvCxnSpPr>
            <p:cNvPr id="122" name="直線コネクタ 121"/>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3" name="直線コネクタ 122"/>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4" name="直線コネクタ 123"/>
          <p:cNvCxnSpPr/>
          <p:nvPr/>
        </p:nvCxnSpPr>
        <p:spPr>
          <a:xfrm flipV="1">
            <a:off x="7013158" y="2438989"/>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5" name="直線コネクタ 124"/>
          <p:cNvCxnSpPr/>
          <p:nvPr/>
        </p:nvCxnSpPr>
        <p:spPr>
          <a:xfrm flipH="1">
            <a:off x="7013155" y="2708992"/>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126" name="グループ化 125"/>
          <p:cNvGrpSpPr/>
          <p:nvPr/>
        </p:nvGrpSpPr>
        <p:grpSpPr>
          <a:xfrm rot="10800000">
            <a:off x="6067425" y="2528990"/>
            <a:ext cx="90012" cy="360048"/>
            <a:chOff x="2051664" y="1988808"/>
            <a:chExt cx="90012" cy="360048"/>
          </a:xfrm>
        </p:grpSpPr>
        <p:cxnSp>
          <p:nvCxnSpPr>
            <p:cNvPr id="127" name="直線コネクタ 126"/>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8" name="直線コネクタ 127"/>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29" name="グループ化 152"/>
          <p:cNvGrpSpPr/>
          <p:nvPr/>
        </p:nvGrpSpPr>
        <p:grpSpPr>
          <a:xfrm>
            <a:off x="6337428" y="3699006"/>
            <a:ext cx="180002" cy="90001"/>
            <a:chOff x="3643306" y="4500570"/>
            <a:chExt cx="428628" cy="144464"/>
          </a:xfrm>
        </p:grpSpPr>
        <p:cxnSp>
          <p:nvCxnSpPr>
            <p:cNvPr id="130" name="直線コネクタ 129"/>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31" name="直線コネクタ 130"/>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32" name="直線コネクタ 131"/>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133" name="フリーフォーム 132"/>
          <p:cNvSpPr/>
          <p:nvPr/>
        </p:nvSpPr>
        <p:spPr bwMode="auto">
          <a:xfrm rot="5400000" flipH="1">
            <a:off x="5797424" y="3068998"/>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134" name="直線コネクタ 133"/>
          <p:cNvCxnSpPr/>
          <p:nvPr/>
        </p:nvCxnSpPr>
        <p:spPr>
          <a:xfrm>
            <a:off x="5887423" y="2708992"/>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a:off x="5347417" y="2708992"/>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7" name="正方形/長方形 136"/>
          <p:cNvSpPr/>
          <p:nvPr/>
        </p:nvSpPr>
        <p:spPr bwMode="auto">
          <a:xfrm>
            <a:off x="6157426" y="126897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電源</a:t>
            </a:r>
          </a:p>
        </p:txBody>
      </p:sp>
      <p:cxnSp>
        <p:nvCxnSpPr>
          <p:cNvPr id="138" name="直線コネクタ 137"/>
          <p:cNvCxnSpPr/>
          <p:nvPr/>
        </p:nvCxnSpPr>
        <p:spPr>
          <a:xfrm>
            <a:off x="7716018" y="2708992"/>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9" name="曲折矢印 138"/>
          <p:cNvSpPr/>
          <p:nvPr/>
        </p:nvSpPr>
        <p:spPr bwMode="auto">
          <a:xfrm rot="10800000" flipH="1">
            <a:off x="4295981" y="1898982"/>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40" name="グループ化 139"/>
          <p:cNvGrpSpPr/>
          <p:nvPr/>
        </p:nvGrpSpPr>
        <p:grpSpPr>
          <a:xfrm rot="10800000">
            <a:off x="8976033" y="2528991"/>
            <a:ext cx="90012" cy="360048"/>
            <a:chOff x="2051664" y="1988808"/>
            <a:chExt cx="90012" cy="360048"/>
          </a:xfrm>
        </p:grpSpPr>
        <p:cxnSp>
          <p:nvCxnSpPr>
            <p:cNvPr id="141" name="直線コネクタ 140"/>
            <p:cNvCxnSpPr/>
            <p:nvPr/>
          </p:nvCxnSpPr>
          <p:spPr>
            <a:xfrm flipH="1">
              <a:off x="2051664" y="1988808"/>
              <a:ext cx="0" cy="360048"/>
            </a:xfrm>
            <a:prstGeom prst="line">
              <a:avLst/>
            </a:prstGeom>
            <a:ln w="5715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p:cNvCxnSpPr/>
            <p:nvPr/>
          </p:nvCxnSpPr>
          <p:spPr>
            <a:xfrm flipH="1">
              <a:off x="2141676" y="1988808"/>
              <a:ext cx="0" cy="360048"/>
            </a:xfrm>
            <a:prstGeom prst="line">
              <a:avLst/>
            </a:prstGeom>
            <a:ln w="57150" cap="rnd">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43" name="グループ化 152"/>
          <p:cNvGrpSpPr/>
          <p:nvPr/>
        </p:nvGrpSpPr>
        <p:grpSpPr>
          <a:xfrm>
            <a:off x="9246036" y="3699007"/>
            <a:ext cx="180002" cy="90001"/>
            <a:chOff x="3643306" y="4500570"/>
            <a:chExt cx="428628" cy="144464"/>
          </a:xfrm>
        </p:grpSpPr>
        <p:cxnSp>
          <p:nvCxnSpPr>
            <p:cNvPr id="144" name="直線コネクタ 143"/>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45" name="直線コネクタ 144"/>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46" name="直線コネクタ 145"/>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147" name="フリーフォーム 146"/>
          <p:cNvSpPr/>
          <p:nvPr/>
        </p:nvSpPr>
        <p:spPr bwMode="auto">
          <a:xfrm rot="5400000" flipH="1">
            <a:off x="8706032" y="3068999"/>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latin typeface="Arial Narrow" pitchFamily="34" charset="0"/>
              <a:ea typeface="メイリオ" pitchFamily="50" charset="-128"/>
            </a:endParaRPr>
          </a:p>
        </p:txBody>
      </p:sp>
      <p:cxnSp>
        <p:nvCxnSpPr>
          <p:cNvPr id="148" name="直線コネクタ 147"/>
          <p:cNvCxnSpPr/>
          <p:nvPr/>
        </p:nvCxnSpPr>
        <p:spPr>
          <a:xfrm>
            <a:off x="8796031" y="2708993"/>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a:off x="8256025" y="2708993"/>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50" name="曲折矢印 149"/>
          <p:cNvSpPr/>
          <p:nvPr/>
        </p:nvSpPr>
        <p:spPr bwMode="auto">
          <a:xfrm rot="16200000" flipH="1">
            <a:off x="7581019" y="2393989"/>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800663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実際には</a:t>
            </a:r>
          </a:p>
        </p:txBody>
      </p:sp>
      <p:sp>
        <p:nvSpPr>
          <p:cNvPr id="3" name="テキスト プレースホルダー 2"/>
          <p:cNvSpPr>
            <a:spLocks noGrp="1"/>
          </p:cNvSpPr>
          <p:nvPr>
            <p:ph type="body" sz="quarter" idx="10"/>
          </p:nvPr>
        </p:nvSpPr>
        <p:spPr/>
        <p:txBody>
          <a:bodyPr/>
          <a:lstStyle/>
          <a:p>
            <a:r>
              <a:rPr kumimoji="1" lang="ja-JP" altLang="en-US" dirty="0"/>
              <a:t>寄生容量：</a:t>
            </a:r>
            <a:endParaRPr kumimoji="1" lang="en-US" altLang="ja-JP" dirty="0"/>
          </a:p>
          <a:p>
            <a:pPr lvl="1"/>
            <a:r>
              <a:rPr kumimoji="1" lang="ja-JP" altLang="en-US" dirty="0"/>
              <a:t>トランジスタのゲート部分以外にも，あらゆる場所にコンデンサができてしまう</a:t>
            </a:r>
            <a:endParaRPr kumimoji="1" lang="en-US" altLang="ja-JP" dirty="0"/>
          </a:p>
          <a:p>
            <a:pPr lvl="1"/>
            <a:r>
              <a:rPr kumimoji="1" lang="ja-JP" altLang="en-US" dirty="0"/>
              <a:t>なにか導体が不導体をはさんで並べばコンデンサになる</a:t>
            </a:r>
            <a:endParaRPr kumimoji="1" lang="en-US" altLang="ja-JP" dirty="0"/>
          </a:p>
          <a:p>
            <a:r>
              <a:rPr kumimoji="1" lang="ja-JP" altLang="en-US" dirty="0"/>
              <a:t>寄生容量への充放電にも時間がとられる</a:t>
            </a:r>
            <a:endParaRPr kumimoji="1" lang="en-US" altLang="ja-JP" dirty="0"/>
          </a:p>
          <a:p>
            <a:pPr lvl="1"/>
            <a:r>
              <a:rPr kumimoji="1" lang="ja-JP" altLang="en-US" dirty="0"/>
              <a:t>通常はトランジスタのゲートがメイン</a:t>
            </a:r>
            <a:endParaRPr kumimoji="1" lang="en-US" altLang="ja-JP" dirty="0"/>
          </a:p>
          <a:p>
            <a:pPr lvl="1"/>
            <a:r>
              <a:rPr lang="ja-JP" altLang="en-US" dirty="0"/>
              <a:t>長い配線では，配線間にできてしまうコンデンサの影響も大きい</a:t>
            </a:r>
            <a:endParaRPr kumimoji="1" lang="ja-JP" altLang="en-US" dirty="0"/>
          </a:p>
        </p:txBody>
      </p:sp>
    </p:spTree>
    <p:extLst>
      <p:ext uri="{BB962C8B-B14F-4D97-AF65-F5344CB8AC3E}">
        <p14:creationId xmlns:p14="http://schemas.microsoft.com/office/powerpoint/2010/main" val="41976994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遅延の違い</a:t>
            </a:r>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1955954" y="2978998"/>
                <a:ext cx="8280092" cy="539699"/>
              </a:xfrm>
            </p:spPr>
            <p:txBody>
              <a:bodyPr/>
              <a:lstStyle/>
              <a:p>
                <a:r>
                  <a:rPr kumimoji="1" lang="ja-JP" altLang="en-US" dirty="0"/>
                  <a:t>左側の </a:t>
                </a:r>
                <a:r>
                  <a:rPr kumimoji="1" lang="en-US" altLang="ja-JP" dirty="0"/>
                  <a:t>D-FF </a:t>
                </a:r>
                <a:r>
                  <a:rPr kumimoji="1" lang="ja-JP" altLang="en-US" dirty="0"/>
                  <a:t>から何個もゲートを経て右の </a:t>
                </a:r>
                <a:r>
                  <a:rPr kumimoji="1" lang="en-US" altLang="ja-JP" dirty="0"/>
                  <a:t>D-FF </a:t>
                </a:r>
                <a:r>
                  <a:rPr kumimoji="1" lang="ja-JP" altLang="en-US" dirty="0"/>
                  <a:t>に接続（遅い）</a:t>
                </a:r>
                <a:endParaRPr kumimoji="1" lang="en-US" altLang="ja-JP" dirty="0"/>
              </a:p>
              <a:p>
                <a:pPr lvl="1"/>
                <a14:m>
                  <m:oMath xmlns:m="http://schemas.openxmlformats.org/officeDocument/2006/math">
                    <m:r>
                      <a:rPr lang="en-US" altLang="ja-JP" i="1" dirty="0">
                        <a:latin typeface="Cambria Math" panose="02040503050406030204" pitchFamily="18" charset="0"/>
                      </a:rPr>
                      <m:t>𝑞</m:t>
                    </m:r>
                    <m:r>
                      <a:rPr lang="en-US" altLang="ja-JP" i="1" dirty="0">
                        <a:latin typeface="Cambria Math" panose="02040503050406030204" pitchFamily="18" charset="0"/>
                      </a:rPr>
                      <m:t> </m:t>
                    </m:r>
                  </m:oMath>
                </a14:m>
                <a:r>
                  <a:rPr lang="ja-JP" altLang="en-US" dirty="0"/>
                  <a:t>が切り替わると，</a:t>
                </a:r>
                <a:endParaRPr lang="en-US" altLang="ja-JP" dirty="0"/>
              </a:p>
              <a:p>
                <a:pPr lvl="1"/>
                <a:r>
                  <a:rPr lang="ja-JP" altLang="en-US" dirty="0"/>
                  <a:t>各ゲートのスイッチ（充放電）が順々に行われて，</a:t>
                </a:r>
                <a:endParaRPr lang="en-US" altLang="ja-JP" dirty="0"/>
              </a:p>
              <a:p>
                <a:pPr lvl="1"/>
                <a:r>
                  <a:rPr kumimoji="1" lang="ja-JP" altLang="en-US" dirty="0"/>
                  <a:t>右側の </a:t>
                </a:r>
                <a14:m>
                  <m:oMath xmlns:m="http://schemas.openxmlformats.org/officeDocument/2006/math">
                    <m:r>
                      <a:rPr kumimoji="1" lang="en-US" altLang="ja-JP" i="1" dirty="0" smtClean="0">
                        <a:latin typeface="Cambria Math" panose="02040503050406030204" pitchFamily="18" charset="0"/>
                      </a:rPr>
                      <m:t>𝑑</m:t>
                    </m:r>
                  </m:oMath>
                </a14:m>
                <a:r>
                  <a:rPr kumimoji="1" lang="en-US" altLang="ja-JP" dirty="0"/>
                  <a:t> </a:t>
                </a:r>
                <a:r>
                  <a:rPr kumimoji="1" lang="ja-JP" altLang="en-US" dirty="0"/>
                  <a:t>に伝わる</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1955954" y="2978998"/>
                <a:ext cx="8280092" cy="539699"/>
              </a:xfrm>
              <a:blipFill>
                <a:blip r:embed="rId2"/>
                <a:stretch>
                  <a:fillRect l="-663" t="-113636" b="-128409"/>
                </a:stretch>
              </a:blipFill>
            </p:spPr>
            <p:txBody>
              <a:bodyPr/>
              <a:lstStyle/>
              <a:p>
                <a:r>
                  <a:rPr lang="ja-JP" altLang="en-US">
                    <a:noFill/>
                  </a:rPr>
                  <a:t> </a:t>
                </a:r>
              </a:p>
            </p:txBody>
          </p:sp>
        </mc:Fallback>
      </mc:AlternateContent>
      <p:grpSp>
        <p:nvGrpSpPr>
          <p:cNvPr id="4" name="グループ化 3"/>
          <p:cNvGrpSpPr/>
          <p:nvPr/>
        </p:nvGrpSpPr>
        <p:grpSpPr>
          <a:xfrm>
            <a:off x="3125970" y="1268976"/>
            <a:ext cx="990011" cy="720008"/>
            <a:chOff x="6369707" y="1718772"/>
            <a:chExt cx="1441450" cy="1085855"/>
          </a:xfrm>
        </p:grpSpPr>
        <p:sp>
          <p:nvSpPr>
            <p:cNvPr id="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7"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8"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11"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sp>
        <p:nvSpPr>
          <p:cNvPr id="21" name="Line 9"/>
          <p:cNvSpPr>
            <a:spLocks noChangeShapeType="1"/>
          </p:cNvSpPr>
          <p:nvPr/>
        </p:nvSpPr>
        <p:spPr bwMode="auto">
          <a:xfrm>
            <a:off x="4025980" y="180898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2" name="Line 9"/>
          <p:cNvSpPr>
            <a:spLocks noChangeShapeType="1"/>
          </p:cNvSpPr>
          <p:nvPr/>
        </p:nvSpPr>
        <p:spPr bwMode="auto">
          <a:xfrm>
            <a:off x="4115981" y="468901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23" name="Picture 30" descr="NOT"/>
          <p:cNvPicPr>
            <a:picLocks noChangeAspect="1" noChangeArrowheads="1"/>
          </p:cNvPicPr>
          <p:nvPr/>
        </p:nvPicPr>
        <p:blipFill>
          <a:blip r:embed="rId3" cstate="print"/>
          <a:srcRect/>
          <a:stretch>
            <a:fillRect/>
          </a:stretch>
        </p:blipFill>
        <p:spPr bwMode="auto">
          <a:xfrm rot="10800000" flipH="1">
            <a:off x="4385981" y="4329013"/>
            <a:ext cx="717550" cy="720725"/>
          </a:xfrm>
          <a:prstGeom prst="rect">
            <a:avLst/>
          </a:prstGeom>
          <a:noFill/>
        </p:spPr>
      </p:pic>
      <p:grpSp>
        <p:nvGrpSpPr>
          <p:cNvPr id="32" name="グループ化 31"/>
          <p:cNvGrpSpPr/>
          <p:nvPr/>
        </p:nvGrpSpPr>
        <p:grpSpPr>
          <a:xfrm>
            <a:off x="3125970" y="4509012"/>
            <a:ext cx="990011" cy="720008"/>
            <a:chOff x="6369707" y="1718772"/>
            <a:chExt cx="1441450" cy="1085855"/>
          </a:xfrm>
        </p:grpSpPr>
        <p:sp>
          <p:nvSpPr>
            <p:cNvPr id="33"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34"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35"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36"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37"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38"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39"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grpSp>
        <p:nvGrpSpPr>
          <p:cNvPr id="40" name="グループ化 39"/>
          <p:cNvGrpSpPr/>
          <p:nvPr/>
        </p:nvGrpSpPr>
        <p:grpSpPr>
          <a:xfrm>
            <a:off x="7536019" y="1448978"/>
            <a:ext cx="990011" cy="720008"/>
            <a:chOff x="6369707" y="1718772"/>
            <a:chExt cx="1441450" cy="1085855"/>
          </a:xfrm>
        </p:grpSpPr>
        <p:sp>
          <p:nvSpPr>
            <p:cNvPr id="41"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42"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43"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44"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45"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46"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47"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grpSp>
        <p:nvGrpSpPr>
          <p:cNvPr id="56" name="グループ化 55"/>
          <p:cNvGrpSpPr/>
          <p:nvPr/>
        </p:nvGrpSpPr>
        <p:grpSpPr>
          <a:xfrm>
            <a:off x="7626020" y="4509012"/>
            <a:ext cx="990011" cy="720008"/>
            <a:chOff x="6369707" y="1718772"/>
            <a:chExt cx="1441450" cy="1085855"/>
          </a:xfrm>
        </p:grpSpPr>
        <p:sp>
          <p:nvSpPr>
            <p:cNvPr id="57"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58"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59"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60"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61"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62"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63"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sp>
        <p:nvSpPr>
          <p:cNvPr id="65" name="Line 9"/>
          <p:cNvSpPr>
            <a:spLocks noChangeShapeType="1"/>
          </p:cNvSpPr>
          <p:nvPr/>
        </p:nvSpPr>
        <p:spPr bwMode="auto">
          <a:xfrm>
            <a:off x="5015991" y="4689014"/>
            <a:ext cx="2610029"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6" name="Line 9"/>
          <p:cNvSpPr>
            <a:spLocks noChangeShapeType="1"/>
          </p:cNvSpPr>
          <p:nvPr/>
        </p:nvSpPr>
        <p:spPr bwMode="auto">
          <a:xfrm>
            <a:off x="4115981" y="1448978"/>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7" name="Line 9"/>
          <p:cNvSpPr>
            <a:spLocks noChangeShapeType="1"/>
          </p:cNvSpPr>
          <p:nvPr/>
        </p:nvSpPr>
        <p:spPr bwMode="auto">
          <a:xfrm>
            <a:off x="5015991" y="162898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12" name="Picture 83" descr="NAND"/>
          <p:cNvPicPr>
            <a:picLocks noChangeAspect="1" noChangeArrowheads="1"/>
          </p:cNvPicPr>
          <p:nvPr/>
        </p:nvPicPr>
        <p:blipFill>
          <a:blip r:embed="rId4" cstate="print"/>
          <a:srcRect/>
          <a:stretch>
            <a:fillRect/>
          </a:stretch>
        </p:blipFill>
        <p:spPr bwMode="auto">
          <a:xfrm>
            <a:off x="4295980" y="1268979"/>
            <a:ext cx="1079500" cy="720725"/>
          </a:xfrm>
          <a:prstGeom prst="rect">
            <a:avLst/>
          </a:prstGeom>
          <a:noFill/>
        </p:spPr>
      </p:pic>
      <p:sp>
        <p:nvSpPr>
          <p:cNvPr id="68" name="Line 9"/>
          <p:cNvSpPr>
            <a:spLocks noChangeShapeType="1"/>
          </p:cNvSpPr>
          <p:nvPr/>
        </p:nvSpPr>
        <p:spPr bwMode="auto">
          <a:xfrm>
            <a:off x="5015991" y="198898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70" name="Line 9"/>
          <p:cNvSpPr>
            <a:spLocks noChangeShapeType="1"/>
          </p:cNvSpPr>
          <p:nvPr/>
        </p:nvSpPr>
        <p:spPr bwMode="auto">
          <a:xfrm>
            <a:off x="6096003" y="180898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71" name="Picture 7" descr="OR"/>
          <p:cNvPicPr>
            <a:picLocks noChangeAspect="1" noChangeArrowheads="1"/>
          </p:cNvPicPr>
          <p:nvPr/>
        </p:nvPicPr>
        <p:blipFill>
          <a:blip r:embed="rId5" cstate="print"/>
          <a:srcRect/>
          <a:stretch>
            <a:fillRect/>
          </a:stretch>
        </p:blipFill>
        <p:spPr bwMode="auto">
          <a:xfrm>
            <a:off x="5285991" y="1448978"/>
            <a:ext cx="1079500" cy="717550"/>
          </a:xfrm>
          <a:prstGeom prst="rect">
            <a:avLst/>
          </a:prstGeom>
          <a:noFill/>
        </p:spPr>
      </p:pic>
      <p:sp>
        <p:nvSpPr>
          <p:cNvPr id="73" name="Line 9"/>
          <p:cNvSpPr>
            <a:spLocks noChangeShapeType="1"/>
          </p:cNvSpPr>
          <p:nvPr/>
        </p:nvSpPr>
        <p:spPr bwMode="auto">
          <a:xfrm>
            <a:off x="7176015" y="1628980"/>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pic>
        <p:nvPicPr>
          <p:cNvPr id="72" name="Picture 6" descr="AND"/>
          <p:cNvPicPr>
            <a:picLocks noChangeAspect="1" noChangeArrowheads="1"/>
          </p:cNvPicPr>
          <p:nvPr/>
        </p:nvPicPr>
        <p:blipFill>
          <a:blip r:embed="rId6" cstate="print"/>
          <a:srcRect/>
          <a:stretch>
            <a:fillRect/>
          </a:stretch>
        </p:blipFill>
        <p:spPr bwMode="auto">
          <a:xfrm>
            <a:off x="6456004" y="1268979"/>
            <a:ext cx="1079500" cy="720725"/>
          </a:xfrm>
          <a:prstGeom prst="rect">
            <a:avLst/>
          </a:prstGeom>
          <a:noFill/>
        </p:spPr>
      </p:pic>
      <p:sp>
        <p:nvSpPr>
          <p:cNvPr id="74" name="Line 9"/>
          <p:cNvSpPr>
            <a:spLocks noChangeShapeType="1"/>
          </p:cNvSpPr>
          <p:nvPr/>
        </p:nvSpPr>
        <p:spPr bwMode="auto">
          <a:xfrm>
            <a:off x="6096003" y="1448978"/>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mc:AlternateContent xmlns:mc="http://schemas.openxmlformats.org/markup-compatibility/2006">
        <mc:Choice xmlns:a14="http://schemas.microsoft.com/office/drawing/2010/main" Requires="a14">
          <p:sp>
            <p:nvSpPr>
              <p:cNvPr id="75" name="テキスト プレースホルダー 2"/>
              <p:cNvSpPr txBox="1">
                <a:spLocks/>
              </p:cNvSpPr>
              <p:nvPr/>
            </p:nvSpPr>
            <p:spPr bwMode="auto">
              <a:xfrm>
                <a:off x="1955954" y="5769029"/>
                <a:ext cx="8280092" cy="5396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 </a:t>
                </a:r>
                <a:r>
                  <a:rPr lang="en-US" altLang="ja-JP" kern="0" dirty="0"/>
                  <a:t>D-FF </a:t>
                </a:r>
                <a:r>
                  <a:rPr lang="ja-JP" altLang="en-US" kern="0" dirty="0"/>
                  <a:t>から１つのゲートだけを経て右の </a:t>
                </a:r>
                <a:r>
                  <a:rPr lang="en-US" altLang="ja-JP" kern="0" dirty="0"/>
                  <a:t>D-FF </a:t>
                </a:r>
                <a:r>
                  <a:rPr lang="ja-JP" altLang="en-US" kern="0" dirty="0"/>
                  <a:t>に接続</a:t>
                </a:r>
                <a:r>
                  <a:rPr lang="ja-JP" altLang="en-US" dirty="0"/>
                  <a:t>（速い）</a:t>
                </a:r>
                <a:endParaRPr lang="en-US" altLang="ja-JP" kern="0" dirty="0"/>
              </a:p>
              <a:p>
                <a:pPr lvl="1"/>
                <a14:m>
                  <m:oMath xmlns:m="http://schemas.openxmlformats.org/officeDocument/2006/math">
                    <m:r>
                      <a:rPr lang="en-US" altLang="ja-JP" i="1" kern="0" dirty="0">
                        <a:latin typeface="Cambria Math" panose="02040503050406030204" pitchFamily="18" charset="0"/>
                      </a:rPr>
                      <m:t>𝑞</m:t>
                    </m:r>
                    <m:r>
                      <a:rPr lang="en-US" altLang="ja-JP" i="1" kern="0" dirty="0">
                        <a:latin typeface="Cambria Math" panose="02040503050406030204" pitchFamily="18" charset="0"/>
                      </a:rPr>
                      <m:t> </m:t>
                    </m:r>
                  </m:oMath>
                </a14:m>
                <a:r>
                  <a:rPr lang="ja-JP" altLang="en-US" kern="0" dirty="0"/>
                  <a:t>が切り替わると，１回だけスイッチ（充放電）が行われて，</a:t>
                </a:r>
                <a:endParaRPr lang="en-US" altLang="ja-JP" kern="0" dirty="0"/>
              </a:p>
              <a:p>
                <a:pPr lvl="1"/>
                <a:r>
                  <a:rPr lang="ja-JP" altLang="en-US" kern="0" dirty="0"/>
                  <a:t>右側の </a:t>
                </a:r>
                <a14:m>
                  <m:oMath xmlns:m="http://schemas.openxmlformats.org/officeDocument/2006/math">
                    <m:r>
                      <a:rPr lang="en-US" altLang="ja-JP" i="1" kern="0" dirty="0">
                        <a:latin typeface="Cambria Math" panose="02040503050406030204" pitchFamily="18" charset="0"/>
                      </a:rPr>
                      <m:t>𝑑</m:t>
                    </m:r>
                  </m:oMath>
                </a14:m>
                <a:r>
                  <a:rPr lang="en-US" altLang="ja-JP" kern="0" dirty="0"/>
                  <a:t> </a:t>
                </a:r>
                <a:r>
                  <a:rPr lang="ja-JP" altLang="en-US" kern="0" dirty="0"/>
                  <a:t>に伝わる</a:t>
                </a:r>
              </a:p>
            </p:txBody>
          </p:sp>
        </mc:Choice>
        <mc:Fallback>
          <p:sp>
            <p:nvSpPr>
              <p:cNvPr id="75" name="テキスト プレースホルダー 2"/>
              <p:cNvSpPr txBox="1">
                <a:spLocks noRot="1" noChangeAspect="1" noMove="1" noResize="1" noEditPoints="1" noAdjustHandles="1" noChangeArrowheads="1" noChangeShapeType="1" noTextEdit="1"/>
              </p:cNvSpPr>
              <p:nvPr/>
            </p:nvSpPr>
            <p:spPr bwMode="auto">
              <a:xfrm>
                <a:off x="1955954" y="5769029"/>
                <a:ext cx="8280092" cy="539699"/>
              </a:xfrm>
              <a:prstGeom prst="rect">
                <a:avLst/>
              </a:prstGeom>
              <a:blipFill>
                <a:blip r:embed="rId7"/>
                <a:stretch>
                  <a:fillRect l="-663" t="-74157" r="-295" b="-96629"/>
                </a:stretch>
              </a:blipFill>
              <a:ln w="9525">
                <a:noFill/>
                <a:miter lim="800000"/>
                <a:headEnd/>
                <a:tailEnd/>
              </a:ln>
              <a:effectLst/>
            </p:spPr>
            <p:txBody>
              <a:bodyPr/>
              <a:lstStyle/>
              <a:p>
                <a:r>
                  <a:rPr lang="ja-JP" altLang="en-US">
                    <a:noFill/>
                  </a:rPr>
                  <a:t> </a:t>
                </a:r>
              </a:p>
            </p:txBody>
          </p:sp>
        </mc:Fallback>
      </mc:AlternateContent>
    </p:spTree>
    <p:extLst>
      <p:ext uri="{BB962C8B-B14F-4D97-AF65-F5344CB8AC3E}">
        <p14:creationId xmlns:p14="http://schemas.microsoft.com/office/powerpoint/2010/main" val="23902977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a:t>
            </a:r>
            <a:r>
              <a:rPr kumimoji="1" lang="en-US" altLang="ja-JP" dirty="0"/>
              <a:t>DVFS (Dynamic Voltage Frequency Scaling)</a:t>
            </a:r>
            <a:endParaRPr kumimoji="1" lang="ja-JP" altLang="en-US" dirty="0"/>
          </a:p>
        </p:txBody>
      </p:sp>
      <p:sp>
        <p:nvSpPr>
          <p:cNvPr id="3" name="テキスト プレースホルダー 2"/>
          <p:cNvSpPr>
            <a:spLocks noGrp="1"/>
          </p:cNvSpPr>
          <p:nvPr>
            <p:ph type="body" sz="quarter" idx="10"/>
          </p:nvPr>
        </p:nvSpPr>
        <p:spPr>
          <a:xfrm>
            <a:off x="2135956" y="5499023"/>
            <a:ext cx="8280092" cy="809702"/>
          </a:xfrm>
        </p:spPr>
        <p:txBody>
          <a:bodyPr/>
          <a:lstStyle/>
          <a:p>
            <a:r>
              <a:rPr kumimoji="1" lang="en-US" altLang="ja-JP" dirty="0"/>
              <a:t>CPU </a:t>
            </a:r>
            <a:r>
              <a:rPr kumimoji="1" lang="ja-JP" altLang="en-US" dirty="0"/>
              <a:t>は通常，負荷に応じて動作周波数を変えている</a:t>
            </a:r>
            <a:endParaRPr kumimoji="1" lang="en-US" altLang="ja-JP" dirty="0"/>
          </a:p>
          <a:p>
            <a:pPr lvl="1"/>
            <a:r>
              <a:rPr kumimoji="1" lang="ja-JP" altLang="en-US" dirty="0"/>
              <a:t>消費電力削減のため</a:t>
            </a:r>
            <a:endParaRPr kumimoji="1" lang="en-US" altLang="ja-JP" dirty="0"/>
          </a:p>
          <a:p>
            <a:pPr lvl="1"/>
            <a:r>
              <a:rPr kumimoji="1" lang="ja-JP" altLang="en-US" dirty="0">
                <a:solidFill>
                  <a:schemeClr val="accent5"/>
                </a:solidFill>
              </a:rPr>
              <a:t>この時，電圧も同時に操作している</a:t>
            </a:r>
          </a:p>
        </p:txBody>
      </p:sp>
      <p:pic>
        <p:nvPicPr>
          <p:cNvPr id="4" name="図 3"/>
          <p:cNvPicPr>
            <a:picLocks noChangeAspect="1"/>
          </p:cNvPicPr>
          <p:nvPr/>
        </p:nvPicPr>
        <p:blipFill>
          <a:blip r:embed="rId2"/>
          <a:stretch>
            <a:fillRect/>
          </a:stretch>
        </p:blipFill>
        <p:spPr>
          <a:xfrm>
            <a:off x="2045955" y="1178978"/>
            <a:ext cx="3698802" cy="3870043"/>
          </a:xfrm>
          <a:prstGeom prst="rect">
            <a:avLst/>
          </a:prstGeom>
        </p:spPr>
      </p:pic>
      <p:pic>
        <p:nvPicPr>
          <p:cNvPr id="5" name="図 4"/>
          <p:cNvPicPr>
            <a:picLocks noChangeAspect="1"/>
          </p:cNvPicPr>
          <p:nvPr/>
        </p:nvPicPr>
        <p:blipFill>
          <a:blip r:embed="rId3"/>
          <a:stretch>
            <a:fillRect/>
          </a:stretch>
        </p:blipFill>
        <p:spPr>
          <a:xfrm>
            <a:off x="6276002" y="1178978"/>
            <a:ext cx="3780042" cy="3933287"/>
          </a:xfrm>
          <a:prstGeom prst="rect">
            <a:avLst/>
          </a:prstGeom>
        </p:spPr>
      </p:pic>
      <p:sp>
        <p:nvSpPr>
          <p:cNvPr id="6" name="円/楕円 5"/>
          <p:cNvSpPr/>
          <p:nvPr/>
        </p:nvSpPr>
        <p:spPr bwMode="auto">
          <a:xfrm>
            <a:off x="2495963" y="3519001"/>
            <a:ext cx="990011" cy="540006"/>
          </a:xfrm>
          <a:prstGeom prst="ellipse">
            <a:avLst/>
          </a:prstGeom>
          <a:noFill/>
          <a:ln w="31750">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円/楕円 6"/>
          <p:cNvSpPr/>
          <p:nvPr/>
        </p:nvSpPr>
        <p:spPr bwMode="auto">
          <a:xfrm>
            <a:off x="6816011" y="3519001"/>
            <a:ext cx="990011" cy="540006"/>
          </a:xfrm>
          <a:prstGeom prst="ellipse">
            <a:avLst/>
          </a:prstGeom>
          <a:noFill/>
          <a:ln w="31750">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210871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電圧と遅延</a:t>
            </a:r>
          </a:p>
        </p:txBody>
      </p:sp>
      <p:sp>
        <p:nvSpPr>
          <p:cNvPr id="3" name="テキスト プレースホルダー 2"/>
          <p:cNvSpPr>
            <a:spLocks noGrp="1"/>
          </p:cNvSpPr>
          <p:nvPr>
            <p:ph type="body" sz="quarter" idx="10"/>
          </p:nvPr>
        </p:nvSpPr>
        <p:spPr>
          <a:xfrm>
            <a:off x="2135956" y="4779018"/>
            <a:ext cx="8280092" cy="1079705"/>
          </a:xfrm>
        </p:spPr>
        <p:txBody>
          <a:bodyPr/>
          <a:lstStyle/>
          <a:p>
            <a:r>
              <a:rPr lang="en-US" altLang="ja-JP" dirty="0"/>
              <a:t>Gate </a:t>
            </a:r>
            <a:r>
              <a:rPr lang="ja-JP" altLang="en-US" dirty="0"/>
              <a:t>にかける電圧を上げると，より高速に動作する</a:t>
            </a:r>
            <a:endParaRPr lang="en-US" altLang="ja-JP" dirty="0"/>
          </a:p>
          <a:p>
            <a:pPr lvl="1"/>
            <a:r>
              <a:rPr kumimoji="1" lang="ja-JP" altLang="en-US" dirty="0"/>
              <a:t>よりたくさん電子が上に集まる</a:t>
            </a:r>
            <a:endParaRPr kumimoji="1" lang="en-US" altLang="ja-JP" dirty="0"/>
          </a:p>
          <a:p>
            <a:pPr lvl="1"/>
            <a:r>
              <a:rPr kumimoji="1" lang="ja-JP" altLang="en-US" dirty="0"/>
              <a:t>チャネルが厚くなり，電流が流れやすくなる</a:t>
            </a:r>
            <a:endParaRPr kumimoji="1" lang="en-US" altLang="ja-JP" dirty="0"/>
          </a:p>
          <a:p>
            <a:pPr lvl="1"/>
            <a:r>
              <a:rPr kumimoji="1" lang="ja-JP" altLang="en-US" dirty="0"/>
              <a:t>次段のコンデンサの充放電が速くなる</a:t>
            </a:r>
          </a:p>
        </p:txBody>
      </p:sp>
      <p:sp>
        <p:nvSpPr>
          <p:cNvPr id="4" name="Freeform 9"/>
          <p:cNvSpPr>
            <a:spLocks/>
          </p:cNvSpPr>
          <p:nvPr/>
        </p:nvSpPr>
        <p:spPr bwMode="auto">
          <a:xfrm>
            <a:off x="5736184" y="1268877"/>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 name="正方形/長方形 4"/>
          <p:cNvSpPr/>
          <p:nvPr/>
        </p:nvSpPr>
        <p:spPr bwMode="auto">
          <a:xfrm>
            <a:off x="4655984" y="1988984"/>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t" anchorCtr="0" compatLnSpc="1">
            <a:prstTxWarp prst="textNoShape">
              <a:avLst/>
            </a:prstTxWarp>
          </a:bodyPr>
          <a:lstStyle/>
          <a:p>
            <a:pPr algn="ctr" fontAlgn="base">
              <a:spcBef>
                <a:spcPct val="0"/>
              </a:spcBef>
              <a:spcAft>
                <a:spcPct val="0"/>
              </a:spcAft>
            </a:pPr>
            <a:endParaRPr lang="ja-JP" altLang="en-US" dirty="0">
              <a:solidFill>
                <a:schemeClr val="tx1"/>
              </a:solidFill>
            </a:endParaRPr>
          </a:p>
        </p:txBody>
      </p:sp>
      <p:sp>
        <p:nvSpPr>
          <p:cNvPr id="6" name="Rectangle 8"/>
          <p:cNvSpPr>
            <a:spLocks noChangeArrowheads="1"/>
          </p:cNvSpPr>
          <p:nvPr/>
        </p:nvSpPr>
        <p:spPr bwMode="auto">
          <a:xfrm>
            <a:off x="4656017" y="2258691"/>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7" name="Freeform 6"/>
          <p:cNvSpPr>
            <a:spLocks/>
          </p:cNvSpPr>
          <p:nvPr/>
        </p:nvSpPr>
        <p:spPr bwMode="auto">
          <a:xfrm>
            <a:off x="4656017" y="2258694"/>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8" name="Freeform 7"/>
          <p:cNvSpPr>
            <a:spLocks/>
          </p:cNvSpPr>
          <p:nvPr/>
        </p:nvSpPr>
        <p:spPr bwMode="auto">
          <a:xfrm flipH="1">
            <a:off x="6816605" y="2258694"/>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9" name="Line 10"/>
          <p:cNvSpPr>
            <a:spLocks noChangeShapeType="1"/>
          </p:cNvSpPr>
          <p:nvPr/>
        </p:nvSpPr>
        <p:spPr bwMode="auto">
          <a:xfrm>
            <a:off x="4655987" y="1988984"/>
            <a:ext cx="2879725" cy="0"/>
          </a:xfrm>
          <a:prstGeom prst="line">
            <a:avLst/>
          </a:prstGeom>
          <a:noFill/>
          <a:ln w="19050">
            <a:solidFill>
              <a:schemeClr val="tx1"/>
            </a:solidFill>
            <a:round/>
            <a:headEnd/>
            <a:tailEnd/>
          </a:ln>
          <a:effectLst/>
        </p:spPr>
        <p:txBody>
          <a:bodyPr/>
          <a:lstStyle/>
          <a:p>
            <a:endParaRPr lang="ja-JP" altLang="en-US"/>
          </a:p>
        </p:txBody>
      </p:sp>
      <p:sp>
        <p:nvSpPr>
          <p:cNvPr id="10" name="Line 11"/>
          <p:cNvSpPr>
            <a:spLocks noChangeShapeType="1"/>
          </p:cNvSpPr>
          <p:nvPr/>
        </p:nvSpPr>
        <p:spPr bwMode="auto">
          <a:xfrm>
            <a:off x="4656017" y="3698553"/>
            <a:ext cx="2879725" cy="0"/>
          </a:xfrm>
          <a:prstGeom prst="line">
            <a:avLst/>
          </a:prstGeom>
          <a:noFill/>
          <a:ln w="19050">
            <a:solidFill>
              <a:schemeClr val="tx1"/>
            </a:solidFill>
            <a:round/>
            <a:headEnd/>
            <a:tailEnd/>
          </a:ln>
          <a:effectLst/>
        </p:spPr>
        <p:txBody>
          <a:bodyPr/>
          <a:lstStyle/>
          <a:p>
            <a:endParaRPr lang="ja-JP" altLang="en-US"/>
          </a:p>
        </p:txBody>
      </p:sp>
      <p:sp>
        <p:nvSpPr>
          <p:cNvPr id="11" name="Rectangle 12"/>
          <p:cNvSpPr>
            <a:spLocks noChangeArrowheads="1"/>
          </p:cNvSpPr>
          <p:nvPr/>
        </p:nvSpPr>
        <p:spPr bwMode="auto">
          <a:xfrm>
            <a:off x="4656017" y="2439669"/>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12" name="Rectangle 15"/>
          <p:cNvSpPr>
            <a:spLocks noChangeArrowheads="1"/>
          </p:cNvSpPr>
          <p:nvPr/>
        </p:nvSpPr>
        <p:spPr bwMode="auto">
          <a:xfrm>
            <a:off x="7176967" y="2439669"/>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13" name="Rectangle 16"/>
          <p:cNvSpPr>
            <a:spLocks noChangeArrowheads="1"/>
          </p:cNvSpPr>
          <p:nvPr/>
        </p:nvSpPr>
        <p:spPr bwMode="auto">
          <a:xfrm>
            <a:off x="5917161" y="1448264"/>
            <a:ext cx="360363" cy="358775"/>
          </a:xfrm>
          <a:prstGeom prst="rect">
            <a:avLst/>
          </a:prstGeom>
          <a:noFill/>
          <a:ln w="9525">
            <a:noFill/>
            <a:miter lim="800000"/>
            <a:headEnd/>
            <a:tailEnd/>
          </a:ln>
          <a:effectLst/>
        </p:spPr>
        <p:txBody>
          <a:bodyPr wrap="none" anchor="ctr"/>
          <a:lstStyle/>
          <a:p>
            <a:pPr algn="ctr"/>
            <a:r>
              <a:rPr lang="en-US" altLang="ja-JP"/>
              <a:t>G</a:t>
            </a:r>
          </a:p>
        </p:txBody>
      </p:sp>
      <p:cxnSp>
        <p:nvCxnSpPr>
          <p:cNvPr id="14" name="直線矢印コネクタ 13"/>
          <p:cNvCxnSpPr/>
          <p:nvPr/>
        </p:nvCxnSpPr>
        <p:spPr bwMode="auto">
          <a:xfrm>
            <a:off x="5736128" y="2619068"/>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15" name="直線矢印コネクタ 14"/>
          <p:cNvCxnSpPr/>
          <p:nvPr/>
        </p:nvCxnSpPr>
        <p:spPr bwMode="auto">
          <a:xfrm>
            <a:off x="6096176" y="2619068"/>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16" name="直線矢印コネクタ 15"/>
          <p:cNvCxnSpPr/>
          <p:nvPr/>
        </p:nvCxnSpPr>
        <p:spPr bwMode="auto">
          <a:xfrm>
            <a:off x="6456224" y="2619068"/>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grpSp>
        <p:nvGrpSpPr>
          <p:cNvPr id="17" name="グループ化 16"/>
          <p:cNvGrpSpPr/>
          <p:nvPr/>
        </p:nvGrpSpPr>
        <p:grpSpPr>
          <a:xfrm>
            <a:off x="5646617" y="2888931"/>
            <a:ext cx="900113" cy="180975"/>
            <a:chOff x="1962150" y="5499100"/>
            <a:chExt cx="900113" cy="180975"/>
          </a:xfrm>
        </p:grpSpPr>
        <p:grpSp>
          <p:nvGrpSpPr>
            <p:cNvPr id="18" name="Group 19"/>
            <p:cNvGrpSpPr>
              <a:grpSpLocks/>
            </p:cNvGrpSpPr>
            <p:nvPr/>
          </p:nvGrpSpPr>
          <p:grpSpPr bwMode="auto">
            <a:xfrm>
              <a:off x="1962150" y="5499100"/>
              <a:ext cx="180975" cy="180975"/>
              <a:chOff x="2823" y="3464"/>
              <a:chExt cx="114" cy="114"/>
            </a:xfrm>
          </p:grpSpPr>
          <p:sp>
            <p:nvSpPr>
              <p:cNvPr id="25" name="Oval 17"/>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6" name="Line 18"/>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19" name="Group 20"/>
            <p:cNvGrpSpPr>
              <a:grpSpLocks/>
            </p:cNvGrpSpPr>
            <p:nvPr/>
          </p:nvGrpSpPr>
          <p:grpSpPr bwMode="auto">
            <a:xfrm>
              <a:off x="2322513" y="5499100"/>
              <a:ext cx="180975" cy="180975"/>
              <a:chOff x="2823" y="3464"/>
              <a:chExt cx="114" cy="114"/>
            </a:xfrm>
          </p:grpSpPr>
          <p:sp>
            <p:nvSpPr>
              <p:cNvPr id="23" name="Oval 21"/>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4" name="Line 22"/>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20" name="Group 23"/>
            <p:cNvGrpSpPr>
              <a:grpSpLocks/>
            </p:cNvGrpSpPr>
            <p:nvPr/>
          </p:nvGrpSpPr>
          <p:grpSpPr bwMode="auto">
            <a:xfrm>
              <a:off x="2681288" y="5499100"/>
              <a:ext cx="180975" cy="180975"/>
              <a:chOff x="2823" y="3464"/>
              <a:chExt cx="114" cy="114"/>
            </a:xfrm>
          </p:grpSpPr>
          <p:sp>
            <p:nvSpPr>
              <p:cNvPr id="21" name="Oval 24"/>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2" name="Line 25"/>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spTree>
    <p:extLst>
      <p:ext uri="{BB962C8B-B14F-4D97-AF65-F5344CB8AC3E}">
        <p14:creationId xmlns:p14="http://schemas.microsoft.com/office/powerpoint/2010/main" val="425306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7.40741E-7 L 0 -0.05255 " pathEditMode="relative" rAng="0" ptsTypes="AA">
                                      <p:cBhvr>
                                        <p:cTn id="6" dur="2000" fill="hold"/>
                                        <p:tgtEl>
                                          <p:spTgt spid="17"/>
                                        </p:tgtEl>
                                        <p:attrNameLst>
                                          <p:attrName>ppt_x</p:attrName>
                                          <p:attrName>ppt_y</p:attrName>
                                        </p:attrNameLst>
                                      </p:cBhvr>
                                      <p:rCtr x="0" y="-26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DVFS: Dynamic Voltage Frequency Scaling</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6" y="1358978"/>
                <a:ext cx="8280092" cy="4949748"/>
              </a:xfrm>
            </p:spPr>
            <p:txBody>
              <a:bodyPr/>
              <a:lstStyle/>
              <a:p>
                <a:endParaRPr lang="en-US" altLang="ja-JP" dirty="0"/>
              </a:p>
              <a:p>
                <a:r>
                  <a:rPr lang="ja-JP" altLang="en-US" dirty="0"/>
                  <a:t>電圧と周波数の組を用意しておき，これを切り替える</a:t>
                </a:r>
                <a:endParaRPr lang="en-US" altLang="ja-JP" dirty="0"/>
              </a:p>
              <a:p>
                <a:pPr lvl="1"/>
                <a:r>
                  <a:rPr lang="ja-JP" altLang="en-US" dirty="0"/>
                  <a:t>高速：高周波数（低遅延）で動かすために，電圧を上げる</a:t>
                </a:r>
                <a:endParaRPr lang="en-US" altLang="ja-JP" dirty="0"/>
              </a:p>
              <a:p>
                <a:pPr lvl="1"/>
                <a:r>
                  <a:rPr lang="ja-JP" altLang="en-US" dirty="0"/>
                  <a:t>低速：低周波数（高遅延）でよいので，電圧を下げる</a:t>
                </a:r>
                <a:endParaRPr lang="en-US" altLang="ja-JP" dirty="0"/>
              </a:p>
              <a:p>
                <a:r>
                  <a:rPr lang="ja-JP" altLang="en-US" dirty="0"/>
                  <a:t>電圧を下げると，すごく消費電力が減る</a:t>
                </a:r>
                <a:endParaRPr lang="en-US" altLang="ja-JP" dirty="0"/>
              </a:p>
              <a:p>
                <a:pPr lvl="1"/>
                <a:r>
                  <a:rPr lang="ja-JP" altLang="en-US" dirty="0"/>
                  <a:t>消費エネルギーは</a:t>
                </a:r>
                <a:r>
                  <a:rPr lang="ja-JP" altLang="en-US" dirty="0">
                    <a:solidFill>
                      <a:schemeClr val="accent5"/>
                    </a:solidFill>
                  </a:rPr>
                  <a:t>電圧の２乗に比例</a:t>
                </a:r>
                <a14:m>
                  <m:oMath xmlns:m="http://schemas.openxmlformats.org/officeDocument/2006/math">
                    <m:r>
                      <a:rPr lang="ja-JP" altLang="en-US" i="1" dirty="0">
                        <a:latin typeface="Cambria Math" panose="02040503050406030204" pitchFamily="18" charset="0"/>
                      </a:rPr>
                      <m:t>：</m:t>
                    </m:r>
                    <m:r>
                      <a:rPr lang="en-US" altLang="ja-JP" i="1" dirty="0">
                        <a:latin typeface="Cambria Math" panose="02040503050406030204" pitchFamily="18" charset="0"/>
                      </a:rPr>
                      <m:t>𝐸</m:t>
                    </m:r>
                    <m:r>
                      <a:rPr lang="en-US" altLang="ja-JP" i="1" dirty="0">
                        <a:latin typeface="Cambria Math" panose="02040503050406030204" pitchFamily="18" charset="0"/>
                      </a:rPr>
                      <m:t>= </m:t>
                    </m:r>
                    <m:r>
                      <a:rPr lang="en-US" altLang="ja-JP" i="1" dirty="0">
                        <a:latin typeface="Cambria Math" panose="02040503050406030204" pitchFamily="18" charset="0"/>
                      </a:rPr>
                      <m:t>𝐶</m:t>
                    </m:r>
                    <m:sSup>
                      <m:sSupPr>
                        <m:ctrlPr>
                          <a:rPr lang="en-US" altLang="ja-JP" i="1" dirty="0">
                            <a:latin typeface="Cambria Math" panose="02040503050406030204" pitchFamily="18" charset="0"/>
                          </a:rPr>
                        </m:ctrlPr>
                      </m:sSupPr>
                      <m:e>
                        <m:r>
                          <a:rPr lang="en-US" altLang="ja-JP" i="1" dirty="0">
                            <a:latin typeface="Cambria Math" panose="02040503050406030204" pitchFamily="18" charset="0"/>
                          </a:rPr>
                          <m:t>𝑉</m:t>
                        </m:r>
                      </m:e>
                      <m:sup>
                        <m:r>
                          <a:rPr lang="en-US" altLang="ja-JP" i="1" dirty="0">
                            <a:latin typeface="Cambria Math" panose="02040503050406030204" pitchFamily="18" charset="0"/>
                          </a:rPr>
                          <m:t>2</m:t>
                        </m:r>
                      </m:sup>
                    </m:sSup>
                  </m:oMath>
                </a14:m>
                <a:endParaRPr kumimoji="1" lang="en-US" altLang="ja-JP" dirty="0"/>
              </a:p>
              <a:p>
                <a:r>
                  <a:rPr kumimoji="1" lang="ja-JP" altLang="en-US" dirty="0"/>
                  <a:t>低周波数にすると</a:t>
                </a:r>
                <a:r>
                  <a:rPr kumimoji="1" lang="ja-JP" altLang="en-US" dirty="0">
                    <a:solidFill>
                      <a:schemeClr val="accent5"/>
                    </a:solidFill>
                  </a:rPr>
                  <a:t>充放電の回数自体（</a:t>
                </a:r>
                <a:r>
                  <a:rPr kumimoji="1" lang="en-US" altLang="ja-JP" dirty="0">
                    <a:solidFill>
                      <a:schemeClr val="accent5"/>
                    </a:solidFill>
                  </a:rPr>
                  <a:t>=</a:t>
                </a:r>
                <a:r>
                  <a:rPr kumimoji="1" lang="ja-JP" altLang="en-US" dirty="0">
                    <a:solidFill>
                      <a:schemeClr val="accent5"/>
                    </a:solidFill>
                  </a:rPr>
                  <a:t>周波数）</a:t>
                </a:r>
                <a:r>
                  <a:rPr kumimoji="1" lang="ja-JP" altLang="en-US" dirty="0"/>
                  <a:t>も減る</a:t>
                </a:r>
                <a:endParaRPr kumimoji="1" lang="en-US" altLang="ja-JP" dirty="0"/>
              </a:p>
              <a:p>
                <a:pPr lvl="1"/>
                <a:r>
                  <a:rPr kumimoji="1" lang="ja-JP" altLang="en-US" dirty="0"/>
                  <a:t>結果として，</a:t>
                </a:r>
                <a:r>
                  <a:rPr kumimoji="1" lang="en-US" altLang="ja-JP" dirty="0"/>
                  <a:t>3</a:t>
                </a:r>
                <a:r>
                  <a:rPr kumimoji="1" lang="ja-JP" altLang="en-US" dirty="0"/>
                  <a:t>乗のオーダーで電力が削減できる</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6" y="1358978"/>
                <a:ext cx="8280092" cy="4949748"/>
              </a:xfrm>
              <a:blipFill>
                <a:blip r:embed="rId2"/>
                <a:stretch>
                  <a:fillRect l="-66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12695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r>
              <a:rPr lang="ja-JP" altLang="en-US" dirty="0"/>
              <a:t>目的：これらの具体的なイメージを持つ</a:t>
            </a:r>
            <a:endParaRPr lang="en-US" altLang="ja-JP" dirty="0"/>
          </a:p>
          <a:p>
            <a:pPr lvl="1"/>
            <a:r>
              <a:rPr lang="en-US" altLang="ja-JP" dirty="0"/>
              <a:t>CPU </a:t>
            </a:r>
            <a:r>
              <a:rPr lang="ja-JP" altLang="en-US" dirty="0"/>
              <a:t>の論理的な動作と，それを実現する物理的な回路の繋がり</a:t>
            </a:r>
            <a:endParaRPr lang="en-US" altLang="ja-JP" dirty="0"/>
          </a:p>
          <a:p>
            <a:pPr lvl="1"/>
            <a:r>
              <a:rPr lang="ja-JP" altLang="en-US" dirty="0"/>
              <a:t>それら論理回路の遅延</a:t>
            </a:r>
            <a:endParaRPr lang="en-US" altLang="ja-JP" dirty="0"/>
          </a:p>
          <a:p>
            <a:r>
              <a:rPr lang="ja-JP" altLang="en-US" dirty="0"/>
              <a:t>論理回路の復習から始めて，遅延が何できまるのかまで</a:t>
            </a:r>
            <a:r>
              <a:rPr lang="ja-JP" altLang="en-US" dirty="0" err="1"/>
              <a:t>を</a:t>
            </a:r>
            <a:r>
              <a:rPr lang="ja-JP" altLang="en-US" dirty="0"/>
              <a:t>説明</a:t>
            </a:r>
          </a:p>
          <a:p>
            <a:pPr lvl="1"/>
            <a:r>
              <a:rPr lang="ja-JP" altLang="en-US" dirty="0"/>
              <a:t>論理回路と，その設計</a:t>
            </a:r>
            <a:endParaRPr lang="en-US" altLang="ja-JP" dirty="0"/>
          </a:p>
          <a:p>
            <a:pPr lvl="1"/>
            <a:r>
              <a:rPr lang="en-US" altLang="ja-JP" dirty="0"/>
              <a:t>CMOS </a:t>
            </a:r>
            <a:r>
              <a:rPr lang="ja-JP" altLang="en-US" dirty="0"/>
              <a:t>による実現</a:t>
            </a:r>
            <a:endParaRPr lang="en-US" altLang="ja-JP" dirty="0"/>
          </a:p>
          <a:p>
            <a:pPr lvl="1"/>
            <a:r>
              <a:rPr lang="ja-JP" altLang="en-US" dirty="0"/>
              <a:t>遅延</a:t>
            </a:r>
            <a:endParaRPr kumimoji="1" lang="en-US" altLang="ja-JP" dirty="0"/>
          </a:p>
          <a:p>
            <a:r>
              <a:rPr lang="ja-JP" altLang="en-US" sz="1400" dirty="0"/>
              <a:t>この講義資料では（ていうか，今後の資料も結構），一部，五島先生の「ディジタル回路」の講義資料の図を使用しています</a:t>
            </a:r>
          </a:p>
        </p:txBody>
      </p:sp>
    </p:spTree>
    <p:extLst>
      <p:ext uri="{BB962C8B-B14F-4D97-AF65-F5344CB8AC3E}">
        <p14:creationId xmlns:p14="http://schemas.microsoft.com/office/powerpoint/2010/main" val="1550797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の出席の締め切りは来週の講義開始までに設定してあります</a:t>
            </a:r>
            <a:endParaRPr lang="en-US" altLang="ja-JP" dirty="0">
              <a:solidFill>
                <a:schemeClr val="accent5"/>
              </a:solidFill>
            </a:endParaRPr>
          </a:p>
          <a:p>
            <a:pPr lvl="1"/>
            <a:r>
              <a:rPr lang="ja-JP" altLang="en-US" dirty="0"/>
              <a:t>仕様上「遅刻」表示になりますが，特に減点等しません</a:t>
            </a:r>
            <a:endParaRPr lang="en-US" altLang="ja-JP" dirty="0"/>
          </a:p>
          <a:p>
            <a:pPr lvl="1"/>
            <a:r>
              <a:rPr lang="ja-JP" altLang="en-US" dirty="0"/>
              <a:t>来週の講義開始までは感想や質問などを受け付けます</a:t>
            </a:r>
          </a:p>
        </p:txBody>
      </p:sp>
    </p:spTree>
    <p:extLst>
      <p:ext uri="{BB962C8B-B14F-4D97-AF65-F5344CB8AC3E}">
        <p14:creationId xmlns:p14="http://schemas.microsoft.com/office/powerpoint/2010/main" val="1502560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552D11-C43C-0906-1EF0-568D546E957F}"/>
              </a:ext>
            </a:extLst>
          </p:cNvPr>
          <p:cNvSpPr>
            <a:spLocks noGrp="1"/>
          </p:cNvSpPr>
          <p:nvPr>
            <p:ph type="title"/>
          </p:nvPr>
        </p:nvSpPr>
        <p:spPr/>
        <p:txBody>
          <a:bodyPr/>
          <a:lstStyle/>
          <a:p>
            <a:r>
              <a:rPr kumimoji="1" lang="ja-JP" altLang="en-US" dirty="0"/>
              <a:t>出欠について</a:t>
            </a:r>
          </a:p>
        </p:txBody>
      </p:sp>
      <p:sp>
        <p:nvSpPr>
          <p:cNvPr id="3" name="テキスト プレースホルダー 2">
            <a:extLst>
              <a:ext uri="{FF2B5EF4-FFF2-40B4-BE49-F238E27FC236}">
                <a16:creationId xmlns:a16="http://schemas.microsoft.com/office/drawing/2014/main" id="{2E8735C7-EB66-23D1-A34E-849B2B1232FA}"/>
              </a:ext>
            </a:extLst>
          </p:cNvPr>
          <p:cNvSpPr>
            <a:spLocks noGrp="1"/>
          </p:cNvSpPr>
          <p:nvPr>
            <p:ph type="body" sz="quarter" idx="10"/>
          </p:nvPr>
        </p:nvSpPr>
        <p:spPr/>
        <p:txBody>
          <a:bodyPr/>
          <a:lstStyle/>
          <a:p>
            <a:r>
              <a:rPr kumimoji="1" lang="ja-JP" altLang="en-US" dirty="0"/>
              <a:t>来週から本当に現地で出欠をとります</a:t>
            </a:r>
          </a:p>
        </p:txBody>
      </p:sp>
    </p:spTree>
    <p:extLst>
      <p:ext uri="{BB962C8B-B14F-4D97-AF65-F5344CB8AC3E}">
        <p14:creationId xmlns:p14="http://schemas.microsoft.com/office/powerpoint/2010/main" val="876129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45BA461-EB4B-6344-0363-EBCE1294355D}"/>
              </a:ext>
            </a:extLst>
          </p:cNvPr>
          <p:cNvSpPr>
            <a:spLocks noGrp="1"/>
          </p:cNvSpPr>
          <p:nvPr>
            <p:ph type="ctrTitle"/>
          </p:nvPr>
        </p:nvSpPr>
        <p:spPr>
          <a:xfrm>
            <a:off x="2225957" y="2078985"/>
            <a:ext cx="7920088" cy="540006"/>
          </a:xfrm>
        </p:spPr>
        <p:txBody>
          <a:bodyPr/>
          <a:lstStyle/>
          <a:p>
            <a:r>
              <a:rPr lang="ja-JP" altLang="en-US" dirty="0"/>
              <a:t>質問や感想</a:t>
            </a:r>
            <a:endParaRPr lang="en-US" dirty="0"/>
          </a:p>
        </p:txBody>
      </p:sp>
      <p:sp>
        <p:nvSpPr>
          <p:cNvPr id="5" name="字幕 4">
            <a:extLst>
              <a:ext uri="{FF2B5EF4-FFF2-40B4-BE49-F238E27FC236}">
                <a16:creationId xmlns:a16="http://schemas.microsoft.com/office/drawing/2014/main" id="{ED090A9F-2FB3-DADA-E31B-D2E1712125A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117258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8776D-7170-4539-B970-B5BB9417A76B}"/>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2835230B-C58C-4BB2-8A46-D9962042F7C6}"/>
              </a:ext>
            </a:extLst>
          </p:cNvPr>
          <p:cNvSpPr>
            <a:spLocks noGrp="1"/>
          </p:cNvSpPr>
          <p:nvPr>
            <p:ph type="body" sz="quarter" idx="10"/>
          </p:nvPr>
        </p:nvSpPr>
        <p:spPr/>
        <p:txBody>
          <a:bodyPr/>
          <a:lstStyle/>
          <a:p>
            <a:r>
              <a:rPr lang="ja-JP" altLang="en-US" dirty="0"/>
              <a:t>今日は</a:t>
            </a:r>
            <a:r>
              <a:rPr lang="en-US" altLang="ja-JP" dirty="0"/>
              <a:t>CPU</a:t>
            </a:r>
            <a:r>
              <a:rPr lang="ja-JP" altLang="en-US" dirty="0"/>
              <a:t>関連の話がありましたが、今まで僕が勝手に思ってるものと結構違っていたところにびっくりしています。特に</a:t>
            </a:r>
            <a:r>
              <a:rPr lang="en-US" altLang="ja-JP" dirty="0"/>
              <a:t>C</a:t>
            </a:r>
            <a:r>
              <a:rPr lang="ja-JP" altLang="en-US" dirty="0"/>
              <a:t>言語との関連性の話について、昔計算物理学という授業を受けていたときに、「</a:t>
            </a:r>
            <a:r>
              <a:rPr lang="en-US" altLang="ja-JP" dirty="0"/>
              <a:t>C</a:t>
            </a:r>
            <a:r>
              <a:rPr lang="ja-JP" altLang="en-US" dirty="0"/>
              <a:t>言語や</a:t>
            </a:r>
            <a:r>
              <a:rPr lang="en-US" altLang="ja-JP" dirty="0"/>
              <a:t>Fortran</a:t>
            </a:r>
            <a:r>
              <a:rPr lang="ja-JP" altLang="en-US" dirty="0"/>
              <a:t>は、コードを書くのは大変だが計算がすっきりしているから計算屋さんは好んで使う」という教授の話を思い出す。</a:t>
            </a:r>
          </a:p>
          <a:p>
            <a:r>
              <a:rPr lang="ja-JP" altLang="en-US" dirty="0"/>
              <a:t>僕自身は天体物理など</a:t>
            </a:r>
            <a:r>
              <a:rPr lang="en-US" altLang="ja-JP" dirty="0"/>
              <a:t>(</a:t>
            </a:r>
            <a:r>
              <a:rPr lang="ja-JP" altLang="en-US" dirty="0"/>
              <a:t>前回コメント紹介では天文台の方の話も結構共感でした</a:t>
            </a:r>
            <a:r>
              <a:rPr lang="en-US" altLang="ja-JP" dirty="0"/>
              <a:t>)</a:t>
            </a:r>
            <a:r>
              <a:rPr lang="ja-JP" altLang="en-US" dirty="0"/>
              <a:t>を数値シミュレーションで再現して物理を議論する研究をしています。僕の場合、</a:t>
            </a:r>
            <a:r>
              <a:rPr lang="en-US" altLang="ja-JP" dirty="0"/>
              <a:t>N</a:t>
            </a:r>
            <a:r>
              <a:rPr lang="ja-JP" altLang="en-US" dirty="0"/>
              <a:t>体問題というよりも流体計算をやることが多く、そこで</a:t>
            </a:r>
            <a:r>
              <a:rPr lang="en-US" altLang="ja-JP" dirty="0"/>
              <a:t>GPU</a:t>
            </a:r>
            <a:r>
              <a:rPr lang="ja-JP" altLang="en-US" dirty="0"/>
              <a:t>を用いた並列計算のコードを開発したいと思い出すこの授業をとりました。業界既存のコードは基本的に</a:t>
            </a:r>
            <a:r>
              <a:rPr lang="en-US" altLang="ja-JP" dirty="0"/>
              <a:t>CPU</a:t>
            </a:r>
            <a:r>
              <a:rPr lang="ja-JP" altLang="en-US" dirty="0"/>
              <a:t>を用いるので、そこは時代に合わせた</a:t>
            </a:r>
            <a:r>
              <a:rPr lang="en-US" altLang="ja-JP" dirty="0"/>
              <a:t>GPU</a:t>
            </a:r>
            <a:r>
              <a:rPr lang="ja-JP" altLang="en-US" dirty="0"/>
              <a:t>計算をやってみたいという背景があります。</a:t>
            </a:r>
          </a:p>
          <a:p>
            <a:r>
              <a:rPr lang="ja-JP" altLang="en-US" dirty="0"/>
              <a:t>この授業の過去スライドではコード書く話はあまりないのですが、コードと計算機の相性を知るためにもこの授業を頑張って行こうかなと思っています。</a:t>
            </a:r>
            <a:endParaRPr kumimoji="1" lang="ja-JP" altLang="en-US" dirty="0"/>
          </a:p>
        </p:txBody>
      </p:sp>
    </p:spTree>
    <p:extLst>
      <p:ext uri="{BB962C8B-B14F-4D97-AF65-F5344CB8AC3E}">
        <p14:creationId xmlns:p14="http://schemas.microsoft.com/office/powerpoint/2010/main" val="3405092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463D-62EB-ABDA-D381-BF7EC552C4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9139D5-63D4-6342-0C23-E75D5094BD7E}"/>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CFE8DB7F-09E9-F6CA-1908-FAAE8D333DEF}"/>
              </a:ext>
            </a:extLst>
          </p:cNvPr>
          <p:cNvSpPr>
            <a:spLocks noGrp="1"/>
          </p:cNvSpPr>
          <p:nvPr>
            <p:ph type="body" sz="quarter" idx="10"/>
          </p:nvPr>
        </p:nvSpPr>
        <p:spPr/>
        <p:txBody>
          <a:bodyPr/>
          <a:lstStyle/>
          <a:p>
            <a:r>
              <a:rPr lang="ja-JP" altLang="en-US" dirty="0"/>
              <a:t>僕は専用ハードウェアの設計を専門としている研究室に所属していますが．そこにも最終的には</a:t>
            </a:r>
            <a:r>
              <a:rPr lang="en-US" altLang="ja-JP" dirty="0"/>
              <a:t>RISC-V</a:t>
            </a:r>
            <a:r>
              <a:rPr lang="ja-JP" altLang="en-US" dirty="0"/>
              <a:t>を乗せるので．非常に親近感のある講義でした．</a:t>
            </a:r>
            <a:r>
              <a:rPr lang="en-US" altLang="ja-JP" dirty="0"/>
              <a:t>RISC-V</a:t>
            </a:r>
            <a:r>
              <a:rPr lang="ja-JP" altLang="en-US" dirty="0"/>
              <a:t>の実際の実装例も，聞いたことある企業で</a:t>
            </a:r>
            <a:r>
              <a:rPr lang="en-US" altLang="ja-JP" dirty="0"/>
              <a:t>RISC-V</a:t>
            </a:r>
            <a:r>
              <a:rPr lang="ja-JP" altLang="en-US" dirty="0"/>
              <a:t>の勢いを感じました．</a:t>
            </a:r>
            <a:endParaRPr kumimoji="1" lang="ja-JP" altLang="en-US" dirty="0"/>
          </a:p>
        </p:txBody>
      </p:sp>
    </p:spTree>
    <p:extLst>
      <p:ext uri="{BB962C8B-B14F-4D97-AF65-F5344CB8AC3E}">
        <p14:creationId xmlns:p14="http://schemas.microsoft.com/office/powerpoint/2010/main" val="2519692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3F4E5-CD50-E43B-3085-D7AEA01936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7FB125-A08E-6518-47DB-7043A598AE40}"/>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6389B3C2-AEDC-BA71-9C05-5C0D277BB1C8}"/>
              </a:ext>
            </a:extLst>
          </p:cNvPr>
          <p:cNvSpPr>
            <a:spLocks noGrp="1"/>
          </p:cNvSpPr>
          <p:nvPr>
            <p:ph type="body" sz="quarter" idx="10"/>
          </p:nvPr>
        </p:nvSpPr>
        <p:spPr/>
        <p:txBody>
          <a:bodyPr/>
          <a:lstStyle/>
          <a:p>
            <a:r>
              <a:rPr lang="ja-JP" altLang="en-US" dirty="0"/>
              <a:t>最近</a:t>
            </a:r>
            <a:r>
              <a:rPr lang="en-US" altLang="ja-JP" dirty="0"/>
              <a:t>x86</a:t>
            </a:r>
            <a:r>
              <a:rPr lang="ja-JP" altLang="en-US" dirty="0"/>
              <a:t>基板のカスタム</a:t>
            </a:r>
            <a:r>
              <a:rPr lang="en-US" altLang="ja-JP" dirty="0"/>
              <a:t>OS</a:t>
            </a:r>
            <a:r>
              <a:rPr lang="ja-JP" altLang="en-US" dirty="0"/>
              <a:t>を趣味で作っていて、授業で</a:t>
            </a:r>
            <a:r>
              <a:rPr lang="en-US" altLang="ja-JP" dirty="0"/>
              <a:t>x86</a:t>
            </a:r>
            <a:r>
              <a:rPr lang="ja-JP" altLang="en-US" dirty="0"/>
              <a:t>でなんか挙げるとまずいと言われてびっくりしました。ですが、それは命令セットの話ですよね、自分のは</a:t>
            </a:r>
            <a:r>
              <a:rPr lang="en-US" altLang="ja-JP" dirty="0"/>
              <a:t>QEMU</a:t>
            </a:r>
            <a:r>
              <a:rPr lang="ja-JP" altLang="en-US" dirty="0"/>
              <a:t>で動かしているので多分大丈夫だと思います。</a:t>
            </a:r>
            <a:endParaRPr kumimoji="1" lang="ja-JP" altLang="en-US" dirty="0"/>
          </a:p>
        </p:txBody>
      </p:sp>
    </p:spTree>
    <p:extLst>
      <p:ext uri="{BB962C8B-B14F-4D97-AF65-F5344CB8AC3E}">
        <p14:creationId xmlns:p14="http://schemas.microsoft.com/office/powerpoint/2010/main" val="1562647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2E952-C333-F037-F648-B14D7E7F24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63F707-9B75-09A2-058C-B3BA38A1DFA6}"/>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603A069F-0EE6-CFD3-8186-B6D92F099535}"/>
              </a:ext>
            </a:extLst>
          </p:cNvPr>
          <p:cNvSpPr>
            <a:spLocks noGrp="1"/>
          </p:cNvSpPr>
          <p:nvPr>
            <p:ph type="body" sz="quarter" idx="10"/>
          </p:nvPr>
        </p:nvSpPr>
        <p:spPr/>
        <p:txBody>
          <a:bodyPr/>
          <a:lstStyle/>
          <a:p>
            <a:r>
              <a:rPr lang="ja-JP" altLang="en-US" dirty="0"/>
              <a:t>ちなみに、研究室の研修で</a:t>
            </a:r>
            <a:r>
              <a:rPr lang="en-US" altLang="ja-JP" dirty="0"/>
              <a:t>RISC-V</a:t>
            </a:r>
            <a:r>
              <a:rPr lang="ja-JP" altLang="en-US" dirty="0"/>
              <a:t>の設計をさせているとおっしゃいましたが、どこまで作っているのか気になります。（ファウンドリーレベル？）</a:t>
            </a:r>
            <a:endParaRPr kumimoji="1" lang="ja-JP" altLang="en-US" dirty="0"/>
          </a:p>
        </p:txBody>
      </p:sp>
    </p:spTree>
    <p:extLst>
      <p:ext uri="{BB962C8B-B14F-4D97-AF65-F5344CB8AC3E}">
        <p14:creationId xmlns:p14="http://schemas.microsoft.com/office/powerpoint/2010/main" val="1305248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5E7CB-52FD-33C5-42CB-CAC8B01D36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BDD8EC-BFF0-132E-F29B-9E8518EAE948}"/>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38D2EDBF-02A4-9236-C2B1-F223CF56B4C1}"/>
              </a:ext>
            </a:extLst>
          </p:cNvPr>
          <p:cNvSpPr>
            <a:spLocks noGrp="1"/>
          </p:cNvSpPr>
          <p:nvPr>
            <p:ph type="body" sz="quarter" idx="10"/>
          </p:nvPr>
        </p:nvSpPr>
        <p:spPr/>
        <p:txBody>
          <a:bodyPr/>
          <a:lstStyle/>
          <a:p>
            <a:r>
              <a:rPr lang="en-US" altLang="ja-JP" dirty="0"/>
              <a:t>RISC-V</a:t>
            </a:r>
            <a:r>
              <a:rPr lang="ja-JP" altLang="en-US" dirty="0"/>
              <a:t>では浮動小数点や乗除算も必須部分には含まれずに拡張になっているということが直感的には意外でしたが、確かに設計としてはそれが良いのかなと思いました。</a:t>
            </a:r>
          </a:p>
          <a:p>
            <a:endParaRPr kumimoji="1" lang="ja-JP" altLang="en-US" dirty="0"/>
          </a:p>
        </p:txBody>
      </p:sp>
    </p:spTree>
    <p:extLst>
      <p:ext uri="{BB962C8B-B14F-4D97-AF65-F5344CB8AC3E}">
        <p14:creationId xmlns:p14="http://schemas.microsoft.com/office/powerpoint/2010/main" val="35994755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003E0-28F9-1E27-1792-24920A4F88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25A6B9-3D17-ED54-4E7F-5C7FBFF7DC0F}"/>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0FD0E16E-8DCD-97AE-1541-D7F6FE0C8F24}"/>
              </a:ext>
            </a:extLst>
          </p:cNvPr>
          <p:cNvSpPr>
            <a:spLocks noGrp="1"/>
          </p:cNvSpPr>
          <p:nvPr>
            <p:ph type="body" sz="quarter" idx="10"/>
          </p:nvPr>
        </p:nvSpPr>
        <p:spPr/>
        <p:txBody>
          <a:bodyPr/>
          <a:lstStyle/>
          <a:p>
            <a:r>
              <a:rPr lang="ja-JP" altLang="en-US" dirty="0"/>
              <a:t>以前学んだ</a:t>
            </a:r>
            <a:r>
              <a:rPr lang="en-US" altLang="ja-JP" dirty="0"/>
              <a:t>RISC-V</a:t>
            </a:r>
            <a:r>
              <a:rPr lang="ja-JP" altLang="en-US" dirty="0"/>
              <a:t>の立ち位置がよくわかって面白かった。 </a:t>
            </a:r>
            <a:r>
              <a:rPr lang="en-US" altLang="ja-JP" dirty="0"/>
              <a:t>x86</a:t>
            </a:r>
            <a:r>
              <a:rPr lang="ja-JP" altLang="en-US" dirty="0"/>
              <a:t>や</a:t>
            </a:r>
            <a:r>
              <a:rPr lang="en-US" altLang="ja-JP" dirty="0"/>
              <a:t>Arm</a:t>
            </a:r>
            <a:r>
              <a:rPr lang="ja-JP" altLang="en-US" dirty="0"/>
              <a:t>が権威主義的・保守的で</a:t>
            </a:r>
            <a:r>
              <a:rPr lang="en-US" altLang="ja-JP" dirty="0"/>
              <a:t>RISC-V</a:t>
            </a:r>
            <a:r>
              <a:rPr lang="ja-JP" altLang="en-US" dirty="0"/>
              <a:t>がオープンソース志向であることは、</a:t>
            </a:r>
            <a:r>
              <a:rPr lang="en-US" altLang="ja-JP" dirty="0"/>
              <a:t>OS</a:t>
            </a:r>
            <a:r>
              <a:rPr lang="ja-JP" altLang="en-US" dirty="0"/>
              <a:t>における</a:t>
            </a:r>
            <a:r>
              <a:rPr lang="en-US" altLang="ja-JP" dirty="0"/>
              <a:t>Windows, MacOS</a:t>
            </a:r>
            <a:r>
              <a:rPr lang="ja-JP" altLang="en-US" dirty="0"/>
              <a:t>と</a:t>
            </a:r>
            <a:r>
              <a:rPr lang="en-US" altLang="ja-JP" dirty="0"/>
              <a:t>Linux</a:t>
            </a:r>
            <a:r>
              <a:rPr lang="ja-JP" altLang="en-US" dirty="0"/>
              <a:t>の違いのようなものなのだと思った。</a:t>
            </a:r>
            <a:endParaRPr kumimoji="1" lang="ja-JP" altLang="en-US" dirty="0"/>
          </a:p>
        </p:txBody>
      </p:sp>
    </p:spTree>
    <p:extLst>
      <p:ext uri="{BB962C8B-B14F-4D97-AF65-F5344CB8AC3E}">
        <p14:creationId xmlns:p14="http://schemas.microsoft.com/office/powerpoint/2010/main" val="3068680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0257F-139D-9320-EB2B-A40AEED683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3D65C6-A8B9-96D5-428B-C2E92B574556}"/>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98EB5DF4-DD58-6293-0B93-FF39F5AEED7F}"/>
              </a:ext>
            </a:extLst>
          </p:cNvPr>
          <p:cNvSpPr>
            <a:spLocks noGrp="1"/>
          </p:cNvSpPr>
          <p:nvPr>
            <p:ph type="body" sz="quarter" idx="10"/>
          </p:nvPr>
        </p:nvSpPr>
        <p:spPr/>
        <p:txBody>
          <a:bodyPr/>
          <a:lstStyle/>
          <a:p>
            <a:r>
              <a:rPr lang="en-US" altLang="ja-JP" dirty="0"/>
              <a:t>RISC V 32I</a:t>
            </a:r>
            <a:r>
              <a:rPr lang="ja-JP" altLang="en-US" dirty="0"/>
              <a:t>の</a:t>
            </a:r>
            <a:r>
              <a:rPr lang="en-US" altLang="ja-JP" dirty="0"/>
              <a:t>CPU</a:t>
            </a:r>
            <a:r>
              <a:rPr lang="ja-JP" altLang="en-US" dirty="0"/>
              <a:t>を設計したことがあるが、あれだけの命令でとても</a:t>
            </a:r>
            <a:r>
              <a:rPr lang="en-US" altLang="ja-JP" dirty="0"/>
              <a:t>OS</a:t>
            </a:r>
            <a:r>
              <a:rPr lang="ja-JP" altLang="en-US" dirty="0"/>
              <a:t>などを動かすことはできないように感じたので必須の命令セットがどのような基準で設定されているのかが気になった。</a:t>
            </a:r>
          </a:p>
          <a:p>
            <a:endParaRPr kumimoji="1" lang="ja-JP" altLang="en-US" dirty="0"/>
          </a:p>
        </p:txBody>
      </p:sp>
    </p:spTree>
    <p:extLst>
      <p:ext uri="{BB962C8B-B14F-4D97-AF65-F5344CB8AC3E}">
        <p14:creationId xmlns:p14="http://schemas.microsoft.com/office/powerpoint/2010/main" val="33815491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C95BA-216F-EDB6-82FC-8FF8D70F86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BB5E54-82A5-EFB6-A9A9-831149C13AE8}"/>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447F8D7A-1788-6EA2-4718-4CB2E9196A5D}"/>
              </a:ext>
            </a:extLst>
          </p:cNvPr>
          <p:cNvSpPr>
            <a:spLocks noGrp="1"/>
          </p:cNvSpPr>
          <p:nvPr>
            <p:ph type="body" sz="quarter" idx="10"/>
          </p:nvPr>
        </p:nvSpPr>
        <p:spPr/>
        <p:txBody>
          <a:bodyPr/>
          <a:lstStyle/>
          <a:p>
            <a:r>
              <a:rPr lang="ja-JP" altLang="en-US" dirty="0"/>
              <a:t>機械系＞知能機械＞創造情報なので、コンピューターアーキテクチャに関しては自分の興味で調べた以外は詳しくないです。ロボットと</a:t>
            </a:r>
            <a:r>
              <a:rPr lang="en-US" altLang="ja-JP" dirty="0"/>
              <a:t>AI</a:t>
            </a:r>
            <a:r>
              <a:rPr lang="ja-JP" altLang="en-US" dirty="0"/>
              <a:t>の研究していて最近研究インターンなどで</a:t>
            </a:r>
            <a:r>
              <a:rPr lang="en-US" altLang="ja-JP" dirty="0"/>
              <a:t>CUDA</a:t>
            </a:r>
            <a:r>
              <a:rPr lang="ja-JP" altLang="en-US" dirty="0"/>
              <a:t>カーネルやハードレベルでの最適化が必要そうなところが出てきたのでここで学んだ知見を活かせたらいいと思います。</a:t>
            </a:r>
          </a:p>
          <a:p>
            <a:endParaRPr kumimoji="1" lang="ja-JP" altLang="en-US" dirty="0"/>
          </a:p>
        </p:txBody>
      </p:sp>
    </p:spTree>
    <p:extLst>
      <p:ext uri="{BB962C8B-B14F-4D97-AF65-F5344CB8AC3E}">
        <p14:creationId xmlns:p14="http://schemas.microsoft.com/office/powerpoint/2010/main" val="38534330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7D663-C2A6-08C8-5569-676F9FF8D3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7A0950-18FF-165D-147F-D656D562D223}"/>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D0B21365-8029-B9CB-652B-118DD4F028A0}"/>
              </a:ext>
            </a:extLst>
          </p:cNvPr>
          <p:cNvSpPr>
            <a:spLocks noGrp="1"/>
          </p:cNvSpPr>
          <p:nvPr>
            <p:ph type="body" sz="quarter" idx="10"/>
          </p:nvPr>
        </p:nvSpPr>
        <p:spPr/>
        <p:txBody>
          <a:bodyPr/>
          <a:lstStyle/>
          <a:p>
            <a:r>
              <a:rPr lang="ja-JP" altLang="en-US" dirty="0"/>
              <a:t>学部時代の実験で</a:t>
            </a:r>
            <a:r>
              <a:rPr lang="en-US" altLang="ja-JP" dirty="0"/>
              <a:t>RISC-V</a:t>
            </a:r>
            <a:r>
              <a:rPr lang="ja-JP" altLang="en-US" dirty="0"/>
              <a:t>のプロセッサを作ったのですが、その頃から意味不明だと思っていた命令の</a:t>
            </a:r>
            <a:r>
              <a:rPr lang="en-US" altLang="ja-JP" dirty="0"/>
              <a:t>bit</a:t>
            </a:r>
            <a:r>
              <a:rPr lang="ja-JP" altLang="en-US" dirty="0"/>
              <a:t>配置の謎が少し解けたのが面白かったです。</a:t>
            </a:r>
            <a:r>
              <a:rPr lang="en-US" altLang="ja-JP" dirty="0"/>
              <a:t>(</a:t>
            </a:r>
            <a:r>
              <a:rPr lang="ja-JP" altLang="en-US" dirty="0"/>
              <a:t>命令ごとに即値の配置がぐちゃぐちゃなのが一番の謎だったので、割愛されてしまったのは残念でしたが</a:t>
            </a:r>
            <a:r>
              <a:rPr lang="en-US" altLang="ja-JP" dirty="0"/>
              <a:t>...)</a:t>
            </a:r>
          </a:p>
          <a:p>
            <a:endParaRPr kumimoji="1" lang="ja-JP" altLang="en-US" dirty="0"/>
          </a:p>
        </p:txBody>
      </p:sp>
    </p:spTree>
    <p:extLst>
      <p:ext uri="{BB962C8B-B14F-4D97-AF65-F5344CB8AC3E}">
        <p14:creationId xmlns:p14="http://schemas.microsoft.com/office/powerpoint/2010/main" val="2594912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5A406-0FA3-F168-9AE3-7747D2966D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50EFE8-7733-2728-EA64-C7D2DF272372}"/>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5C66D312-BCB2-AC32-E6C3-6CA864CE1C8A}"/>
              </a:ext>
            </a:extLst>
          </p:cNvPr>
          <p:cNvSpPr>
            <a:spLocks noGrp="1"/>
          </p:cNvSpPr>
          <p:nvPr>
            <p:ph type="body" sz="quarter" idx="10"/>
          </p:nvPr>
        </p:nvSpPr>
        <p:spPr/>
        <p:txBody>
          <a:bodyPr/>
          <a:lstStyle/>
          <a:p>
            <a:r>
              <a:rPr lang="en-US" altLang="ja-JP" dirty="0"/>
              <a:t>C</a:t>
            </a:r>
            <a:r>
              <a:rPr lang="ja-JP" altLang="en-US" dirty="0"/>
              <a:t>拡張で使用空間が</a:t>
            </a:r>
            <a:r>
              <a:rPr lang="en-US" altLang="ja-JP" dirty="0"/>
              <a:t>75%</a:t>
            </a:r>
            <a:r>
              <a:rPr lang="ja-JP" altLang="en-US" dirty="0"/>
              <a:t>減るというのはそれはそうだが，</a:t>
            </a:r>
            <a:r>
              <a:rPr lang="en-US" altLang="ja-JP" dirty="0"/>
              <a:t>C</a:t>
            </a:r>
            <a:r>
              <a:rPr lang="ja-JP" altLang="en-US" dirty="0"/>
              <a:t>拡張を外してまで今すぐ入れたい命令があるのか気になった。</a:t>
            </a:r>
          </a:p>
          <a:p>
            <a:endParaRPr kumimoji="1" lang="ja-JP" altLang="en-US" dirty="0"/>
          </a:p>
        </p:txBody>
      </p:sp>
    </p:spTree>
    <p:extLst>
      <p:ext uri="{BB962C8B-B14F-4D97-AF65-F5344CB8AC3E}">
        <p14:creationId xmlns:p14="http://schemas.microsoft.com/office/powerpoint/2010/main" val="42514714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F1FF3-3B97-3781-6B71-DEEA0186B1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01A88C-3B9E-32BC-7EB6-4E4A47395CA7}"/>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BE2BBA39-825B-FCDD-3C41-4D7BB2D57165}"/>
              </a:ext>
            </a:extLst>
          </p:cNvPr>
          <p:cNvSpPr>
            <a:spLocks noGrp="1"/>
          </p:cNvSpPr>
          <p:nvPr>
            <p:ph type="body" sz="quarter" idx="10"/>
          </p:nvPr>
        </p:nvSpPr>
        <p:spPr/>
        <p:txBody>
          <a:bodyPr/>
          <a:lstStyle/>
          <a:p>
            <a:r>
              <a:rPr lang="en-US" altLang="ja-JP" dirty="0"/>
              <a:t>【</a:t>
            </a:r>
            <a:r>
              <a:rPr lang="ja-JP" altLang="en-US" dirty="0"/>
              <a:t>質問</a:t>
            </a:r>
            <a:r>
              <a:rPr lang="en-US" altLang="ja-JP" dirty="0"/>
              <a:t>】</a:t>
            </a:r>
            <a:r>
              <a:rPr lang="ja-JP" altLang="en-US" dirty="0"/>
              <a:t>今後</a:t>
            </a:r>
            <a:r>
              <a:rPr lang="en-US" altLang="ja-JP" dirty="0"/>
              <a:t>RISC-V</a:t>
            </a:r>
            <a:r>
              <a:rPr lang="ja-JP" altLang="en-US" dirty="0"/>
              <a:t>を活用して開発する場合に役立つと思われる、推薦図書または参照資料はありますか。講義の後半部に、</a:t>
            </a:r>
            <a:r>
              <a:rPr lang="en-US" altLang="ja-JP" dirty="0"/>
              <a:t>『RISC-V </a:t>
            </a:r>
            <a:r>
              <a:rPr lang="ja-JP" altLang="en-US" dirty="0"/>
              <a:t>原典：オープンアーキテクチャのススメ</a:t>
            </a:r>
            <a:r>
              <a:rPr lang="en-US" altLang="ja-JP" dirty="0"/>
              <a:t>』</a:t>
            </a:r>
            <a:r>
              <a:rPr lang="ja-JP" altLang="en-US" dirty="0"/>
              <a:t>の写真があったかと思いますが、この本と</a:t>
            </a:r>
            <a:r>
              <a:rPr lang="en-US" altLang="ja-JP" dirty="0"/>
              <a:t>RISC-V </a:t>
            </a:r>
            <a:r>
              <a:rPr lang="ja-JP" altLang="en-US" dirty="0"/>
              <a:t>公式の仕様書以外に有益なソースがあればご教示いただきたいです。</a:t>
            </a:r>
            <a:endParaRPr kumimoji="1" lang="ja-JP" altLang="en-US" dirty="0"/>
          </a:p>
        </p:txBody>
      </p:sp>
    </p:spTree>
    <p:extLst>
      <p:ext uri="{BB962C8B-B14F-4D97-AF65-F5344CB8AC3E}">
        <p14:creationId xmlns:p14="http://schemas.microsoft.com/office/powerpoint/2010/main" val="24480576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57948-71F2-A9E2-26AD-14329F3AE7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9DCECC-800F-C666-D415-3895B1581C27}"/>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FBB1B425-7873-F556-86D5-37AAF63E0947}"/>
              </a:ext>
            </a:extLst>
          </p:cNvPr>
          <p:cNvSpPr>
            <a:spLocks noGrp="1"/>
          </p:cNvSpPr>
          <p:nvPr>
            <p:ph type="body" sz="quarter" idx="10"/>
          </p:nvPr>
        </p:nvSpPr>
        <p:spPr/>
        <p:txBody>
          <a:bodyPr/>
          <a:lstStyle/>
          <a:p>
            <a:r>
              <a:rPr lang="en-US" altLang="ja-JP" dirty="0"/>
              <a:t>RISC-V</a:t>
            </a:r>
            <a:r>
              <a:rPr lang="ja-JP" altLang="en-US" dirty="0"/>
              <a:t>の使用を決めた人</a:t>
            </a:r>
            <a:r>
              <a:rPr lang="en-US" altLang="ja-JP" dirty="0"/>
              <a:t>(Andrew Waterman)</a:t>
            </a:r>
            <a:r>
              <a:rPr lang="ja-JP" altLang="en-US" dirty="0"/>
              <a:t>の博論が</a:t>
            </a:r>
            <a:r>
              <a:rPr lang="en-US" altLang="ja-JP" dirty="0"/>
              <a:t>2016</a:t>
            </a:r>
            <a:r>
              <a:rPr lang="ja-JP" altLang="en-US" dirty="0"/>
              <a:t>年に提出されているとのことで、意外と最近だなと感じた。</a:t>
            </a:r>
            <a:endParaRPr kumimoji="1" lang="ja-JP" altLang="en-US" dirty="0"/>
          </a:p>
        </p:txBody>
      </p:sp>
    </p:spTree>
    <p:extLst>
      <p:ext uri="{BB962C8B-B14F-4D97-AF65-F5344CB8AC3E}">
        <p14:creationId xmlns:p14="http://schemas.microsoft.com/office/powerpoint/2010/main" val="2545177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46EE2-C06C-A56A-C0C6-E797B4844A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59FB2C-E111-E56E-E5CF-5C480AC2366F}"/>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38FC9397-15D3-642B-3F19-5C4174ECE129}"/>
              </a:ext>
            </a:extLst>
          </p:cNvPr>
          <p:cNvSpPr>
            <a:spLocks noGrp="1"/>
          </p:cNvSpPr>
          <p:nvPr>
            <p:ph type="body" sz="quarter" idx="10"/>
          </p:nvPr>
        </p:nvSpPr>
        <p:spPr/>
        <p:txBody>
          <a:bodyPr/>
          <a:lstStyle/>
          <a:p>
            <a:r>
              <a:rPr lang="ja-JP" altLang="en-US" dirty="0"/>
              <a:t>私は専門が情報科学系ではなく、独学でコンピュータ・アーキテクチャについて勉強していました。</a:t>
            </a:r>
            <a:r>
              <a:rPr lang="en-US" altLang="ja-JP" dirty="0"/>
              <a:t>(</a:t>
            </a:r>
            <a:r>
              <a:rPr lang="ja-JP" altLang="en-US" dirty="0"/>
              <a:t>ゲーム </a:t>
            </a:r>
            <a:r>
              <a:rPr lang="en-US" altLang="ja-JP" dirty="0"/>
              <a:t>""Turing Complete""</a:t>
            </a:r>
            <a:r>
              <a:rPr lang="ja-JP" altLang="en-US" dirty="0"/>
              <a:t>で</a:t>
            </a:r>
            <a:r>
              <a:rPr lang="en-US" altLang="ja-JP" dirty="0"/>
              <a:t>CPU</a:t>
            </a:r>
            <a:r>
              <a:rPr lang="ja-JP" altLang="en-US" dirty="0"/>
              <a:t>を作るなど</a:t>
            </a:r>
            <a:r>
              <a:rPr lang="en-US" altLang="ja-JP" dirty="0"/>
              <a:t>......)</a:t>
            </a:r>
            <a:r>
              <a:rPr lang="ja-JP" altLang="en-US" dirty="0"/>
              <a:t>今回の復習講義は、自分の認識が情報科学の人たちとそこまで大きくはずれていないようで良かったと感じられました。</a:t>
            </a:r>
            <a:endParaRPr kumimoji="1" lang="ja-JP" altLang="en-US" dirty="0"/>
          </a:p>
        </p:txBody>
      </p:sp>
    </p:spTree>
    <p:extLst>
      <p:ext uri="{BB962C8B-B14F-4D97-AF65-F5344CB8AC3E}">
        <p14:creationId xmlns:p14="http://schemas.microsoft.com/office/powerpoint/2010/main" val="872779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8509-4388-306D-429B-B2FCBA484D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4C5968-C615-53D0-23C5-2F5C9E73064C}"/>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D1D129D1-A16F-549E-2B2A-DCAD66F47A20}"/>
              </a:ext>
            </a:extLst>
          </p:cNvPr>
          <p:cNvSpPr>
            <a:spLocks noGrp="1"/>
          </p:cNvSpPr>
          <p:nvPr>
            <p:ph type="body" sz="quarter" idx="10"/>
          </p:nvPr>
        </p:nvSpPr>
        <p:spPr/>
        <p:txBody>
          <a:bodyPr/>
          <a:lstStyle/>
          <a:p>
            <a:endParaRPr kumimoji="1" lang="ja-JP" altLang="en-US" dirty="0"/>
          </a:p>
        </p:txBody>
      </p:sp>
    </p:spTree>
    <p:extLst>
      <p:ext uri="{BB962C8B-B14F-4D97-AF65-F5344CB8AC3E}">
        <p14:creationId xmlns:p14="http://schemas.microsoft.com/office/powerpoint/2010/main" val="854530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74418-A9C5-5257-39D6-067538DA2E9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1D8FA6-34D0-87EA-C4D7-40365684F397}"/>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D82094C7-6947-3BFD-ECA8-6124CA09BE74}"/>
              </a:ext>
            </a:extLst>
          </p:cNvPr>
          <p:cNvSpPr>
            <a:spLocks noGrp="1"/>
          </p:cNvSpPr>
          <p:nvPr>
            <p:ph type="body" sz="quarter" idx="10"/>
          </p:nvPr>
        </p:nvSpPr>
        <p:spPr/>
        <p:txBody>
          <a:bodyPr/>
          <a:lstStyle/>
          <a:p>
            <a:endParaRPr kumimoji="1" lang="ja-JP" altLang="en-US" dirty="0"/>
          </a:p>
        </p:txBody>
      </p:sp>
    </p:spTree>
    <p:extLst>
      <p:ext uri="{BB962C8B-B14F-4D97-AF65-F5344CB8AC3E}">
        <p14:creationId xmlns:p14="http://schemas.microsoft.com/office/powerpoint/2010/main" val="2592616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1FF6C-73BD-2734-FF52-0E27328884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FAAE34-D9E7-E348-C39C-751A83AEEF21}"/>
              </a:ext>
            </a:extLst>
          </p:cNvPr>
          <p:cNvSpPr>
            <a:spLocks noGrp="1"/>
          </p:cNvSpPr>
          <p:nvPr>
            <p:ph type="title"/>
          </p:nvPr>
        </p:nvSpPr>
        <p:spPr/>
        <p:txBody>
          <a:bodyPr/>
          <a:lstStyle/>
          <a:p>
            <a:r>
              <a:rPr lang="ja-JP" altLang="en-US" dirty="0"/>
              <a:t>質問と回答とか</a:t>
            </a:r>
            <a:endParaRPr kumimoji="1" lang="ja-JP" altLang="en-US" dirty="0"/>
          </a:p>
        </p:txBody>
      </p:sp>
      <p:sp>
        <p:nvSpPr>
          <p:cNvPr id="3" name="テキスト プレースホルダー 2">
            <a:extLst>
              <a:ext uri="{FF2B5EF4-FFF2-40B4-BE49-F238E27FC236}">
                <a16:creationId xmlns:a16="http://schemas.microsoft.com/office/drawing/2014/main" id="{1D6531E9-EC4C-CBDD-1116-920A58377AAA}"/>
              </a:ext>
            </a:extLst>
          </p:cNvPr>
          <p:cNvSpPr>
            <a:spLocks noGrp="1"/>
          </p:cNvSpPr>
          <p:nvPr>
            <p:ph type="body" sz="quarter" idx="10"/>
          </p:nvPr>
        </p:nvSpPr>
        <p:spPr/>
        <p:txBody>
          <a:bodyPr/>
          <a:lstStyle/>
          <a:p>
            <a:endParaRPr kumimoji="1" lang="ja-JP" altLang="en-US" dirty="0"/>
          </a:p>
        </p:txBody>
      </p:sp>
    </p:spTree>
    <p:extLst>
      <p:ext uri="{BB962C8B-B14F-4D97-AF65-F5344CB8AC3E}">
        <p14:creationId xmlns:p14="http://schemas.microsoft.com/office/powerpoint/2010/main" val="4528888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aco-shioya-01</Template>
  <TotalTime>55176</TotalTime>
  <Words>7138</Words>
  <Application>Microsoft Office PowerPoint</Application>
  <PresentationFormat>ワイド画面</PresentationFormat>
  <Paragraphs>1225</Paragraphs>
  <Slides>103</Slides>
  <Notes>13</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103</vt:i4>
      </vt:variant>
    </vt:vector>
  </HeadingPairs>
  <TitlesOfParts>
    <vt:vector size="116" baseType="lpstr">
      <vt:lpstr>HG丸ｺﾞｼｯｸM-PRO</vt:lpstr>
      <vt:lpstr>MeiryoKe_PGothic</vt:lpstr>
      <vt:lpstr>ＭＳ Ｐゴシック</vt:lpstr>
      <vt:lpstr>メイリオ</vt:lpstr>
      <vt:lpstr>Arial</vt:lpstr>
      <vt:lpstr>Arial Narrow</vt:lpstr>
      <vt:lpstr>Calibri</vt:lpstr>
      <vt:lpstr>Cambria Math</vt:lpstr>
      <vt:lpstr>Consolas</vt:lpstr>
      <vt:lpstr>Segoe UI</vt:lpstr>
      <vt:lpstr>Times New Roman</vt:lpstr>
      <vt:lpstr>Wingdings</vt:lpstr>
      <vt:lpstr>cerulean</vt:lpstr>
      <vt:lpstr>先進計算機構成論 02</vt:lpstr>
      <vt:lpstr>導入：工場のラインを考える</vt:lpstr>
      <vt:lpstr>導入：工場のラインを考える</vt:lpstr>
      <vt:lpstr>遅延に対する疑問</vt:lpstr>
      <vt:lpstr>回路に対する疑問</vt:lpstr>
      <vt:lpstr>今日の内容：</vt:lpstr>
      <vt:lpstr>回路と遅延</vt:lpstr>
      <vt:lpstr>情報の各分野の階層</vt:lpstr>
      <vt:lpstr>情報の各分野の階層</vt:lpstr>
      <vt:lpstr>論理回路</vt:lpstr>
      <vt:lpstr>組み合わせ回路と順序回路</vt:lpstr>
      <vt:lpstr>組み合わせ回路の例：2入力論理ゲート</vt:lpstr>
      <vt:lpstr>完全性（Completeness，完備性）</vt:lpstr>
      <vt:lpstr>真理値表による表現と，積和標準系による回路</vt:lpstr>
      <vt:lpstr>回路の例：RISC-V の AND/OR/XOR 命令の演算</vt:lpstr>
      <vt:lpstr>制御の例：RISC-V の AND/OR/XOR 命令</vt:lpstr>
      <vt:lpstr>制御の例：RISC-V の AND/OR/XOR 命令</vt:lpstr>
      <vt:lpstr>マルチプレクサ：複数入力から1つを選ぶ回路</vt:lpstr>
      <vt:lpstr>選択信号を出すための論理関数</vt:lpstr>
      <vt:lpstr>回路の生成のまとめ</vt:lpstr>
      <vt:lpstr>回路の生成のまとめ</vt:lpstr>
      <vt:lpstr>組み合わせ回路と順序回路</vt:lpstr>
      <vt:lpstr>順序回路</vt:lpstr>
      <vt:lpstr>CPU の PC 部分</vt:lpstr>
      <vt:lpstr>記憶素子の例：D-FF（Flip Flop）</vt:lpstr>
      <vt:lpstr>D-FF の動作</vt:lpstr>
      <vt:lpstr>メモリやレジスタ・ファイル</vt:lpstr>
      <vt:lpstr>記憶素子の原理</vt:lpstr>
      <vt:lpstr>D-FF の実装</vt:lpstr>
      <vt:lpstr>D-FF の実現例</vt:lpstr>
      <vt:lpstr>順序回路のまとめ</vt:lpstr>
      <vt:lpstr>実際の回路生成</vt:lpstr>
      <vt:lpstr>実際の回路生成</vt:lpstr>
      <vt:lpstr>スタンダード・セル</vt:lpstr>
      <vt:lpstr>フルカスタム・レイアウト</vt:lpstr>
      <vt:lpstr>3次元的な構造を考えながら，設計</vt:lpstr>
      <vt:lpstr>実際の設計データ</vt:lpstr>
      <vt:lpstr>実際の例：IBM POWER8 のチップ写真</vt:lpstr>
      <vt:lpstr>Zen5 のチップ写真 Fritzchens Fritz, https://www.flickr.com/photos/130561288@N04/albums/72177720320942793/with/54045630362 より</vt:lpstr>
      <vt:lpstr>回路の設計のまとめ</vt:lpstr>
      <vt:lpstr>論理回路の実現方法と，電力効率や遅延</vt:lpstr>
      <vt:lpstr>現代のコンピュータの速度</vt:lpstr>
      <vt:lpstr>消費電力や効率</vt:lpstr>
      <vt:lpstr>論理ゲートの構成</vt:lpstr>
      <vt:lpstr>MOS FET</vt:lpstr>
      <vt:lpstr>MOS には NMOS と PMOS の２つがある</vt:lpstr>
      <vt:lpstr>入力で ON/OFF が切り替わるスイッチと考える事ができる</vt:lpstr>
      <vt:lpstr>だがしかし</vt:lpstr>
      <vt:lpstr>水の流れで例えることにする</vt:lpstr>
      <vt:lpstr>タンクは２種類ある（PMOS と NMOS に相当） タンクに水が溜まっている時に，流れるか遮断されるかが逆になっている</vt:lpstr>
      <vt:lpstr>P タンクと  Nタンクで NOT ゲートが作れる</vt:lpstr>
      <vt:lpstr>上側を並列繋ぎ，下側を直列繋ぎにすると NAND になる</vt:lpstr>
      <vt:lpstr>スイッチで書いたNAND ゲート</vt:lpstr>
      <vt:lpstr>スイッチ的なものがあると NAND が作れる  →コンピュータが作れる</vt:lpstr>
      <vt:lpstr>スイッチからコンピュータを作る</vt:lpstr>
      <vt:lpstr>つまり，</vt:lpstr>
      <vt:lpstr>真空管（三極管）</vt:lpstr>
      <vt:lpstr>真空管の動作</vt:lpstr>
      <vt:lpstr>真空管</vt:lpstr>
      <vt:lpstr>レッドストーン回路</vt:lpstr>
      <vt:lpstr>レッドストーン回路</vt:lpstr>
      <vt:lpstr>入力で出力を制御出来ればコンピュータが作れる</vt:lpstr>
      <vt:lpstr>CMOS と水流システムの消費エネルギー</vt:lpstr>
      <vt:lpstr>CMOS 回路におけるスイッチングの消費エネルギー</vt:lpstr>
      <vt:lpstr>これも水流で考える</vt:lpstr>
      <vt:lpstr>NOT ゲートを２段重ねた例：入力が 0 の場合</vt:lpstr>
      <vt:lpstr>入力が 0 → 1 に遷移すると， 中央と右側タンクの水（斜線部分）が排水される</vt:lpstr>
      <vt:lpstr>つまり，スイッチの切り替えが起きると・・・</vt:lpstr>
      <vt:lpstr>補足：スイッチの ON/OFF 以外による消費エネルギー</vt:lpstr>
      <vt:lpstr>水流システムのアナロジーから説明できること</vt:lpstr>
      <vt:lpstr>これらの話は，基本的には半導体技術が進んでも変わらない 図 は IEEE INTERNATIONAL ROADMAP FOR DEVICES AND SYSTEMS (IRDS) EXECUTIVE SUMMARY 2022  より</vt:lpstr>
      <vt:lpstr>（余談１）微細化による半導体世代の「定義の進化」</vt:lpstr>
      <vt:lpstr>（余談２）クロックによる消費エネルギー</vt:lpstr>
      <vt:lpstr>クロックの配線方法の例：H-TREE</vt:lpstr>
      <vt:lpstr>H-TREE による配線の例：IBM Power PC</vt:lpstr>
      <vt:lpstr>図は以下より： KIM, Youngchan; KIM, Taewhan. Algorithm for synthesis and exploration of clock spines. In: 2017 22nd Asia and South Pacific Design Automation Conference (ASP-DAC). IEEE, 2017. p. 263-268.</vt:lpstr>
      <vt:lpstr>ここまでのまとめ</vt:lpstr>
      <vt:lpstr>CMOS ゲートの遅延の実体</vt:lpstr>
      <vt:lpstr>実際には</vt:lpstr>
      <vt:lpstr>遅延の違い</vt:lpstr>
      <vt:lpstr>余談：DVFS (Dynamic Voltage Frequency Scaling)</vt:lpstr>
      <vt:lpstr>電圧と遅延</vt:lpstr>
      <vt:lpstr>DVFS: Dynamic Voltage Frequency Scaling</vt:lpstr>
      <vt:lpstr>まとめ</vt:lpstr>
      <vt:lpstr>出欠と感想</vt:lpstr>
      <vt:lpstr>出欠について</vt:lpstr>
      <vt:lpstr>質問や感想</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lpstr>質問と回答とか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10398</cp:revision>
  <cp:lastPrinted>2014-12-10T13:40:48Z</cp:lastPrinted>
  <dcterms:created xsi:type="dcterms:W3CDTF">2014-11-17T10:53:59Z</dcterms:created>
  <dcterms:modified xsi:type="dcterms:W3CDTF">2026-05-11T05:51:14Z</dcterms:modified>
</cp:coreProperties>
</file>