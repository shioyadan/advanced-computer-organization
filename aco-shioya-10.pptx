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1"/>
  </p:sldMasterIdLst>
  <p:notesMasterIdLst>
    <p:notesMasterId r:id="rId84"/>
  </p:notesMasterIdLst>
  <p:sldIdLst>
    <p:sldId id="440" r:id="rId2"/>
    <p:sldId id="518" r:id="rId3"/>
    <p:sldId id="573" r:id="rId4"/>
    <p:sldId id="576" r:id="rId5"/>
    <p:sldId id="577" r:id="rId6"/>
    <p:sldId id="578" r:id="rId7"/>
    <p:sldId id="579" r:id="rId8"/>
    <p:sldId id="580" r:id="rId9"/>
    <p:sldId id="582" r:id="rId10"/>
    <p:sldId id="583" r:id="rId11"/>
    <p:sldId id="589" r:id="rId12"/>
    <p:sldId id="593" r:id="rId13"/>
    <p:sldId id="586" r:id="rId14"/>
    <p:sldId id="585" r:id="rId15"/>
    <p:sldId id="587" r:id="rId16"/>
    <p:sldId id="588" r:id="rId17"/>
    <p:sldId id="592" r:id="rId18"/>
    <p:sldId id="591" r:id="rId19"/>
    <p:sldId id="584" r:id="rId20"/>
    <p:sldId id="590" r:id="rId21"/>
    <p:sldId id="594" r:id="rId22"/>
    <p:sldId id="595" r:id="rId23"/>
    <p:sldId id="596" r:id="rId24"/>
    <p:sldId id="597" r:id="rId25"/>
    <p:sldId id="598" r:id="rId26"/>
    <p:sldId id="600" r:id="rId27"/>
    <p:sldId id="602" r:id="rId28"/>
    <p:sldId id="601" r:id="rId29"/>
    <p:sldId id="603" r:id="rId30"/>
    <p:sldId id="605" r:id="rId31"/>
    <p:sldId id="604" r:id="rId32"/>
    <p:sldId id="606" r:id="rId33"/>
    <p:sldId id="607" r:id="rId34"/>
    <p:sldId id="609" r:id="rId35"/>
    <p:sldId id="608" r:id="rId36"/>
    <p:sldId id="610" r:id="rId37"/>
    <p:sldId id="615" r:id="rId38"/>
    <p:sldId id="612" r:id="rId39"/>
    <p:sldId id="611" r:id="rId40"/>
    <p:sldId id="619" r:id="rId41"/>
    <p:sldId id="613" r:id="rId42"/>
    <p:sldId id="614" r:id="rId43"/>
    <p:sldId id="617" r:id="rId44"/>
    <p:sldId id="618" r:id="rId45"/>
    <p:sldId id="620" r:id="rId46"/>
    <p:sldId id="621" r:id="rId47"/>
    <p:sldId id="622" r:id="rId48"/>
    <p:sldId id="623" r:id="rId49"/>
    <p:sldId id="626" r:id="rId50"/>
    <p:sldId id="627" r:id="rId51"/>
    <p:sldId id="625" r:id="rId52"/>
    <p:sldId id="628" r:id="rId53"/>
    <p:sldId id="654" r:id="rId54"/>
    <p:sldId id="653" r:id="rId55"/>
    <p:sldId id="631" r:id="rId56"/>
    <p:sldId id="668" r:id="rId57"/>
    <p:sldId id="689" r:id="rId58"/>
    <p:sldId id="854" r:id="rId59"/>
    <p:sldId id="855" r:id="rId60"/>
    <p:sldId id="714" r:id="rId61"/>
    <p:sldId id="725" r:id="rId62"/>
    <p:sldId id="856" r:id="rId63"/>
    <p:sldId id="857" r:id="rId64"/>
    <p:sldId id="858" r:id="rId65"/>
    <p:sldId id="859" r:id="rId66"/>
    <p:sldId id="860" r:id="rId67"/>
    <p:sldId id="861" r:id="rId68"/>
    <p:sldId id="862" r:id="rId69"/>
    <p:sldId id="863" r:id="rId70"/>
    <p:sldId id="864" r:id="rId71"/>
    <p:sldId id="865" r:id="rId72"/>
    <p:sldId id="866" r:id="rId73"/>
    <p:sldId id="867" r:id="rId74"/>
    <p:sldId id="868" r:id="rId75"/>
    <p:sldId id="869" r:id="rId76"/>
    <p:sldId id="870" r:id="rId77"/>
    <p:sldId id="871" r:id="rId78"/>
    <p:sldId id="872" r:id="rId79"/>
    <p:sldId id="873" r:id="rId80"/>
    <p:sldId id="874" r:id="rId81"/>
    <p:sldId id="875" r:id="rId82"/>
    <p:sldId id="876" r:id="rId8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33FF"/>
    <a:srgbClr val="FF9900"/>
    <a:srgbClr val="009999"/>
    <a:srgbClr val="4E4EF6"/>
    <a:srgbClr val="006699"/>
    <a:srgbClr val="FFFFFF"/>
    <a:srgbClr val="31869D"/>
    <a:srgbClr val="4444E8"/>
    <a:srgbClr val="5555FF"/>
    <a:srgbClr val="414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ABFCF23-3B69-468F-B69F-88F6DE6A72F2}" styleName="中間スタイル 1 - アクセント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00" autoAdjust="0"/>
    <p:restoredTop sz="96862" autoAdjust="0"/>
  </p:normalViewPr>
  <p:slideViewPr>
    <p:cSldViewPr>
      <p:cViewPr varScale="1">
        <p:scale>
          <a:sx n="161" d="100"/>
          <a:sy n="161" d="100"/>
        </p:scale>
        <p:origin x="360" y="88"/>
      </p:cViewPr>
      <p:guideLst>
        <p:guide orient="horz" pos="2160"/>
        <p:guide pos="3840"/>
      </p:guideLst>
    </p:cSldViewPr>
  </p:slideViewPr>
  <p:outlineViewPr>
    <p:cViewPr>
      <p:scale>
        <a:sx n="33" d="100"/>
        <a:sy n="33" d="100"/>
      </p:scale>
      <p:origin x="0" y="-22210"/>
    </p:cViewPr>
  </p:outlineViewPr>
  <p:notesTextViewPr>
    <p:cViewPr>
      <p:scale>
        <a:sx n="100" d="100"/>
        <a:sy n="100" d="100"/>
      </p:scale>
      <p:origin x="0" y="0"/>
    </p:cViewPr>
  </p:notesTextViewPr>
  <p:notesViewPr>
    <p:cSldViewPr>
      <p:cViewPr varScale="1">
        <p:scale>
          <a:sx n="65" d="100"/>
          <a:sy n="65" d="100"/>
        </p:scale>
        <p:origin x="2386" y="62"/>
      </p:cViewPr>
      <p:guideLst/>
    </p:cSldViewPr>
  </p:notes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E53D4-1A7B-4FFE-8A95-4265B045F058}" type="datetimeFigureOut">
              <a:rPr kumimoji="1" lang="ja-JP" altLang="en-US" smtClean="0"/>
              <a:t>2026/7/16</a:t>
            </a:fld>
            <a:endParaRPr kumimoji="1" lang="ja-JP" altLang="en-US"/>
          </a:p>
        </p:txBody>
      </p:sp>
      <p:sp>
        <p:nvSpPr>
          <p:cNvPr id="4" name="スライド イメージ プレースホルダー 3"/>
          <p:cNvSpPr>
            <a:spLocks noGrp="1" noRot="1" noChangeAspect="1"/>
          </p:cNvSpPr>
          <p:nvPr>
            <p:ph type="sldImg" idx="2"/>
          </p:nvPr>
        </p:nvSpPr>
        <p:spPr>
          <a:xfrm>
            <a:off x="-50800" y="161925"/>
            <a:ext cx="6959600" cy="39147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A5F4D4-1F28-49A5-8AEE-E46B08553EC4}" type="slidenum">
              <a:rPr kumimoji="1" lang="ja-JP" altLang="en-US" smtClean="0"/>
              <a:t>‹#›</a:t>
            </a:fld>
            <a:endParaRPr kumimoji="1" lang="ja-JP" altLang="en-US"/>
          </a:p>
        </p:txBody>
      </p:sp>
    </p:spTree>
    <p:extLst>
      <p:ext uri="{BB962C8B-B14F-4D97-AF65-F5344CB8AC3E}">
        <p14:creationId xmlns:p14="http://schemas.microsoft.com/office/powerpoint/2010/main" val="169212330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1</a:t>
            </a:fld>
            <a:endParaRPr kumimoji="1" lang="ja-JP" altLang="en-US"/>
          </a:p>
        </p:txBody>
      </p:sp>
    </p:spTree>
    <p:extLst>
      <p:ext uri="{BB962C8B-B14F-4D97-AF65-F5344CB8AC3E}">
        <p14:creationId xmlns:p14="http://schemas.microsoft.com/office/powerpoint/2010/main" val="3548328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18</a:t>
            </a:fld>
            <a:endParaRPr kumimoji="1" lang="ja-JP" altLang="en-US"/>
          </a:p>
        </p:txBody>
      </p:sp>
    </p:spTree>
    <p:extLst>
      <p:ext uri="{BB962C8B-B14F-4D97-AF65-F5344CB8AC3E}">
        <p14:creationId xmlns:p14="http://schemas.microsoft.com/office/powerpoint/2010/main" val="4187608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35943" y="278965"/>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255957" y="4149008"/>
            <a:ext cx="9600107" cy="1440017"/>
          </a:xfrm>
        </p:spPr>
        <p:txBody>
          <a:bodyPr anchor="b"/>
          <a:lstStyle>
            <a:lvl1pPr marL="0" indent="0" algn="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sp>
        <p:nvSpPr>
          <p:cNvPr id="5" name="正方形/長方形 4"/>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6" name="直線コネクタ 5"/>
          <p:cNvCxnSpPr>
            <a:cxnSpLocks/>
          </p:cNvCxnSpPr>
          <p:nvPr/>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2" name="正方形/長方形 1">
            <a:extLst>
              <a:ext uri="{FF2B5EF4-FFF2-40B4-BE49-F238E27FC236}">
                <a16:creationId xmlns:a16="http://schemas.microsoft.com/office/drawing/2014/main" id="{813827C5-4275-31A2-853D-AD2CF14BBA98}"/>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3" name="直線コネクタ 2">
            <a:extLst>
              <a:ext uri="{FF2B5EF4-FFF2-40B4-BE49-F238E27FC236}">
                <a16:creationId xmlns:a16="http://schemas.microsoft.com/office/drawing/2014/main" id="{7B0AFE8A-4F74-BD8B-20D9-616B7AE7DADC}"/>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4" name="正方形/長方形 3">
            <a:extLst>
              <a:ext uri="{FF2B5EF4-FFF2-40B4-BE49-F238E27FC236}">
                <a16:creationId xmlns:a16="http://schemas.microsoft.com/office/drawing/2014/main" id="{11CAED90-8BCF-EEF7-7551-9410E8F2C2C7}"/>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7" name="直線コネクタ 6">
            <a:extLst>
              <a:ext uri="{FF2B5EF4-FFF2-40B4-BE49-F238E27FC236}">
                <a16:creationId xmlns:a16="http://schemas.microsoft.com/office/drawing/2014/main" id="{AA6324B9-77F8-EC31-6C3B-5D9B58641456}"/>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8" name="正方形/長方形 7">
            <a:extLst>
              <a:ext uri="{FF2B5EF4-FFF2-40B4-BE49-F238E27FC236}">
                <a16:creationId xmlns:a16="http://schemas.microsoft.com/office/drawing/2014/main" id="{7F3D3427-5051-5379-015F-3E42D5A44B63}"/>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9" name="直線コネクタ 8">
            <a:extLst>
              <a:ext uri="{FF2B5EF4-FFF2-40B4-BE49-F238E27FC236}">
                <a16:creationId xmlns:a16="http://schemas.microsoft.com/office/drawing/2014/main" id="{AED9C875-ACB9-9A82-3D2E-F8FE4B2ACA89}"/>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0" name="正方形/長方形 9">
            <a:extLst>
              <a:ext uri="{FF2B5EF4-FFF2-40B4-BE49-F238E27FC236}">
                <a16:creationId xmlns:a16="http://schemas.microsoft.com/office/drawing/2014/main" id="{3BFBD119-9076-BF7C-BD08-925CA913FF2C}"/>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1" name="直線コネクタ 10">
            <a:extLst>
              <a:ext uri="{FF2B5EF4-FFF2-40B4-BE49-F238E27FC236}">
                <a16:creationId xmlns:a16="http://schemas.microsoft.com/office/drawing/2014/main" id="{DD8AB707-DF2C-A333-49BD-B518A1D16921}"/>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2" name="正方形/長方形 11">
            <a:extLst>
              <a:ext uri="{FF2B5EF4-FFF2-40B4-BE49-F238E27FC236}">
                <a16:creationId xmlns:a16="http://schemas.microsoft.com/office/drawing/2014/main" id="{F35DEA87-3111-62FA-4EC7-0AD84F069EAF}"/>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3" name="直線コネクタ 12">
            <a:extLst>
              <a:ext uri="{FF2B5EF4-FFF2-40B4-BE49-F238E27FC236}">
                <a16:creationId xmlns:a16="http://schemas.microsoft.com/office/drawing/2014/main" id="{85E03A68-7ED4-41E0-532F-2B44665BCBCA}"/>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4" name="正方形/長方形 13">
            <a:extLst>
              <a:ext uri="{FF2B5EF4-FFF2-40B4-BE49-F238E27FC236}">
                <a16:creationId xmlns:a16="http://schemas.microsoft.com/office/drawing/2014/main" id="{4A24F767-FA26-C866-507F-01791519F368}"/>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5" name="直線コネクタ 14">
            <a:extLst>
              <a:ext uri="{FF2B5EF4-FFF2-40B4-BE49-F238E27FC236}">
                <a16:creationId xmlns:a16="http://schemas.microsoft.com/office/drawing/2014/main" id="{38E68845-EB2D-EE38-5889-988B24D97BDB}"/>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6" name="正方形/長方形 15">
            <a:extLst>
              <a:ext uri="{FF2B5EF4-FFF2-40B4-BE49-F238E27FC236}">
                <a16:creationId xmlns:a16="http://schemas.microsoft.com/office/drawing/2014/main" id="{47F277F3-AE92-5D11-0D1E-467B017A25A7}"/>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7" name="直線コネクタ 16">
            <a:extLst>
              <a:ext uri="{FF2B5EF4-FFF2-40B4-BE49-F238E27FC236}">
                <a16:creationId xmlns:a16="http://schemas.microsoft.com/office/drawing/2014/main" id="{2805FD21-9F7D-18C8-080F-5B5500934327}"/>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8" name="正方形/長方形 17">
            <a:extLst>
              <a:ext uri="{FF2B5EF4-FFF2-40B4-BE49-F238E27FC236}">
                <a16:creationId xmlns:a16="http://schemas.microsoft.com/office/drawing/2014/main" id="{6B4ABD85-BC66-BB01-C141-099CEF24BE5C}"/>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9" name="直線コネクタ 18">
            <a:extLst>
              <a:ext uri="{FF2B5EF4-FFF2-40B4-BE49-F238E27FC236}">
                <a16:creationId xmlns:a16="http://schemas.microsoft.com/office/drawing/2014/main" id="{857B707E-B4ED-CD2A-AC8B-D3ED99482C8B}"/>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20" name="正方形/長方形 19">
            <a:extLst>
              <a:ext uri="{FF2B5EF4-FFF2-40B4-BE49-F238E27FC236}">
                <a16:creationId xmlns:a16="http://schemas.microsoft.com/office/drawing/2014/main" id="{F8400455-5534-3FB8-8688-9FE6A86589F9}"/>
              </a:ext>
            </a:extLst>
          </p:cNvPr>
          <p:cNvSpPr/>
          <p:nvPr userDrawn="1"/>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22" name="直線コネクタ 21">
            <a:extLst>
              <a:ext uri="{FF2B5EF4-FFF2-40B4-BE49-F238E27FC236}">
                <a16:creationId xmlns:a16="http://schemas.microsoft.com/office/drawing/2014/main" id="{D508046A-85A6-8148-3C91-3DC149F98CCE}"/>
              </a:ext>
            </a:extLst>
          </p:cNvPr>
          <p:cNvCxnSpPr/>
          <p:nvPr userDrawn="1"/>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707030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8730097" cy="5219751"/>
          </a:xfrm>
        </p:spPr>
        <p:txBody>
          <a:bodyPr/>
          <a:lstStyle>
            <a:lvl2pPr>
              <a:buClr>
                <a:schemeClr val="accent5">
                  <a:lumMod val="60000"/>
                  <a:lumOff val="40000"/>
                </a:schemeClr>
              </a:buClr>
              <a:defRPr/>
            </a:lvl2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2" name="Rectangle 20">
            <a:extLst>
              <a:ext uri="{FF2B5EF4-FFF2-40B4-BE49-F238E27FC236}">
                <a16:creationId xmlns:a16="http://schemas.microsoft.com/office/drawing/2014/main" id="{7D04F621-C209-E75B-F5AE-4EC68827B138}"/>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3" name="Rectangle 20">
            <a:extLst>
              <a:ext uri="{FF2B5EF4-FFF2-40B4-BE49-F238E27FC236}">
                <a16:creationId xmlns:a16="http://schemas.microsoft.com/office/drawing/2014/main" id="{C404F010-FD53-825B-58ED-3AB5C6FF9F3B}"/>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4" name="Rectangle 20">
            <a:extLst>
              <a:ext uri="{FF2B5EF4-FFF2-40B4-BE49-F238E27FC236}">
                <a16:creationId xmlns:a16="http://schemas.microsoft.com/office/drawing/2014/main" id="{09277AEF-3306-EB14-319D-C9936A20E391}"/>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7" name="Rectangle 20">
            <a:extLst>
              <a:ext uri="{FF2B5EF4-FFF2-40B4-BE49-F238E27FC236}">
                <a16:creationId xmlns:a16="http://schemas.microsoft.com/office/drawing/2014/main" id="{5F8EB56A-100F-AF7A-C776-9434171D2CF6}"/>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9" name="Rectangle 20">
            <a:extLst>
              <a:ext uri="{FF2B5EF4-FFF2-40B4-BE49-F238E27FC236}">
                <a16:creationId xmlns:a16="http://schemas.microsoft.com/office/drawing/2014/main" id="{21464E23-801D-B360-03E1-8AB3FB913351}"/>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0" name="Rectangle 20">
            <a:extLst>
              <a:ext uri="{FF2B5EF4-FFF2-40B4-BE49-F238E27FC236}">
                <a16:creationId xmlns:a16="http://schemas.microsoft.com/office/drawing/2014/main" id="{81270656-CD82-6EA3-336A-BF27E9713A0A}"/>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1" name="Rectangle 20">
            <a:extLst>
              <a:ext uri="{FF2B5EF4-FFF2-40B4-BE49-F238E27FC236}">
                <a16:creationId xmlns:a16="http://schemas.microsoft.com/office/drawing/2014/main" id="{8B74BD12-FE4A-7592-F482-564B7CB45DC4}"/>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3" name="Rectangle 20">
            <a:extLst>
              <a:ext uri="{FF2B5EF4-FFF2-40B4-BE49-F238E27FC236}">
                <a16:creationId xmlns:a16="http://schemas.microsoft.com/office/drawing/2014/main" id="{4AE287FC-9A2D-646E-63FD-F371B5A6F195}"/>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4" name="Rectangle 20">
            <a:extLst>
              <a:ext uri="{FF2B5EF4-FFF2-40B4-BE49-F238E27FC236}">
                <a16:creationId xmlns:a16="http://schemas.microsoft.com/office/drawing/2014/main" id="{E7AF9F85-CDD9-52A4-827F-C8D650548BF6}"/>
              </a:ext>
            </a:extLst>
          </p:cNvPr>
          <p:cNvSpPr txBox="1">
            <a:spLocks noChangeArrowheads="1"/>
          </p:cNvSpPr>
          <p:nvPr userDrawn="1"/>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27759415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5"/>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1325947" y="2078985"/>
            <a:ext cx="9600107" cy="990011"/>
          </a:xfrm>
        </p:spPr>
        <p:txBody>
          <a:bodyPr anchor="b"/>
          <a:lstStyle>
            <a:lvl1pPr algn="ctr">
              <a:defRPr sz="3200" b="0"/>
            </a:lvl1pPr>
          </a:lstStyle>
          <a:p>
            <a:r>
              <a:rPr kumimoji="1" lang="ja-JP" altLang="en-US"/>
              <a:t>マスター タイトルの書式設定</a:t>
            </a:r>
            <a:endParaRPr kumimoji="1" lang="ja-JP" altLang="en-US" dirty="0"/>
          </a:p>
        </p:txBody>
      </p:sp>
      <p:cxnSp>
        <p:nvCxnSpPr>
          <p:cNvPr id="5" name="直線コネクタ 4">
            <a:extLst>
              <a:ext uri="{FF2B5EF4-FFF2-40B4-BE49-F238E27FC236}">
                <a16:creationId xmlns:a16="http://schemas.microsoft.com/office/drawing/2014/main" id="{7A61BF30-B8F3-19FE-7662-81071F95A583}"/>
              </a:ext>
            </a:extLst>
          </p:cNvPr>
          <p:cNvCxnSpPr>
            <a:cxnSpLocks/>
          </p:cNvCxnSpPr>
          <p:nvPr/>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cxnSp>
        <p:nvCxnSpPr>
          <p:cNvPr id="4" name="直線コネクタ 3">
            <a:extLst>
              <a:ext uri="{FF2B5EF4-FFF2-40B4-BE49-F238E27FC236}">
                <a16:creationId xmlns:a16="http://schemas.microsoft.com/office/drawing/2014/main" id="{FEED4F64-63EC-5B59-5A8E-2F8A8960B629}"/>
              </a:ext>
            </a:extLst>
          </p:cNvPr>
          <p:cNvCxnSpPr/>
          <p:nvPr userDrawn="1"/>
        </p:nvCxnSpPr>
        <p:spPr bwMode="auto">
          <a:xfrm flipV="1">
            <a:off x="815941" y="2618992"/>
            <a:ext cx="8160091" cy="1"/>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2245862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pPr/>
              <a:t>‹#›</a:t>
            </a:fld>
            <a:endParaRPr kumimoji="1" lang="ja-JP" altLang="en-US" dirty="0"/>
          </a:p>
        </p:txBody>
      </p:sp>
      <p:sp>
        <p:nvSpPr>
          <p:cNvPr id="5" name="タイトル 4"/>
          <p:cNvSpPr>
            <a:spLocks noGrp="1"/>
          </p:cNvSpPr>
          <p:nvPr>
            <p:ph type="title"/>
          </p:nvPr>
        </p:nvSpPr>
        <p:spPr/>
        <p:txBody>
          <a:bodyPr/>
          <a:lstStyle>
            <a:lvl1pPr>
              <a:defRPr>
                <a:solidFill>
                  <a:schemeClr val="bg1"/>
                </a:solidFill>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3533770183"/>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1_セクションタイトル">
    <p:bg>
      <p:bgPr>
        <a:solidFill>
          <a:schemeClr val="bg1"/>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tx1">
                    <a:lumMod val="75000"/>
                    <a:lumOff val="25000"/>
                  </a:schemeClr>
                </a:solidFill>
              </a:defRPr>
            </a:lvl1pPr>
          </a:lstStyle>
          <a:p>
            <a:fld id="{D2D8002D-B5B0-4BAC-B1F6-782DDCCE6D9C}" type="slidenum">
              <a:rPr kumimoji="1" lang="ja-JP" altLang="en-US" smtClean="0"/>
              <a:pPr/>
              <a:t>‹#›</a:t>
            </a:fld>
            <a:endParaRPr kumimoji="1" lang="ja-JP" altLang="en-US" dirty="0"/>
          </a:p>
        </p:txBody>
      </p:sp>
    </p:spTree>
    <p:extLst>
      <p:ext uri="{BB962C8B-B14F-4D97-AF65-F5344CB8AC3E}">
        <p14:creationId xmlns:p14="http://schemas.microsoft.com/office/powerpoint/2010/main" val="2450445099"/>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2" y="1088975"/>
            <a:ext cx="10080112"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22" name="Rectangle 2"/>
          <p:cNvSpPr>
            <a:spLocks noGrp="1" noChangeArrowheads="1"/>
          </p:cNvSpPr>
          <p:nvPr>
            <p:ph type="title"/>
          </p:nvPr>
        </p:nvSpPr>
        <p:spPr bwMode="auto">
          <a:xfrm>
            <a:off x="575939" y="0"/>
            <a:ext cx="11616061"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pPr/>
              <a:t>‹#›</a:t>
            </a:fld>
            <a:endParaRPr kumimoji="1" lang="ja-JP" altLang="en-US" dirty="0"/>
          </a:p>
        </p:txBody>
      </p:sp>
      <p:sp>
        <p:nvSpPr>
          <p:cNvPr id="6" name="正方形/長方形 5"/>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3" name="正方形/長方形 2">
            <a:extLst>
              <a:ext uri="{FF2B5EF4-FFF2-40B4-BE49-F238E27FC236}">
                <a16:creationId xmlns:a16="http://schemas.microsoft.com/office/drawing/2014/main" id="{20B7F19E-FA20-B8CB-C604-8C1C29606C6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4" name="正方形/長方形 3">
            <a:extLst>
              <a:ext uri="{FF2B5EF4-FFF2-40B4-BE49-F238E27FC236}">
                <a16:creationId xmlns:a16="http://schemas.microsoft.com/office/drawing/2014/main" id="{725FB03B-A980-D697-F9FB-906D55B002FA}"/>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5" name="正方形/長方形 4">
            <a:extLst>
              <a:ext uri="{FF2B5EF4-FFF2-40B4-BE49-F238E27FC236}">
                <a16:creationId xmlns:a16="http://schemas.microsoft.com/office/drawing/2014/main" id="{2D5F1A73-A3EB-E252-17CF-30B89F3C7AE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7" name="正方形/長方形 6">
            <a:extLst>
              <a:ext uri="{FF2B5EF4-FFF2-40B4-BE49-F238E27FC236}">
                <a16:creationId xmlns:a16="http://schemas.microsoft.com/office/drawing/2014/main" id="{95778E54-A5E7-1B8D-DD56-A347FE5638C8}"/>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8" name="正方形/長方形 7">
            <a:extLst>
              <a:ext uri="{FF2B5EF4-FFF2-40B4-BE49-F238E27FC236}">
                <a16:creationId xmlns:a16="http://schemas.microsoft.com/office/drawing/2014/main" id="{0CA006FA-2EAF-700F-1F1E-1AD9A8AD1F46}"/>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9" name="正方形/長方形 8">
            <a:extLst>
              <a:ext uri="{FF2B5EF4-FFF2-40B4-BE49-F238E27FC236}">
                <a16:creationId xmlns:a16="http://schemas.microsoft.com/office/drawing/2014/main" id="{47ED5B20-1F5A-CCD9-B341-F10DC8DB9BD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10" name="正方形/長方形 9">
            <a:extLst>
              <a:ext uri="{FF2B5EF4-FFF2-40B4-BE49-F238E27FC236}">
                <a16:creationId xmlns:a16="http://schemas.microsoft.com/office/drawing/2014/main" id="{513A4EA7-B0C7-F2FA-C2FF-AF0641317DDD}"/>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11" name="正方形/長方形 10">
            <a:extLst>
              <a:ext uri="{FF2B5EF4-FFF2-40B4-BE49-F238E27FC236}">
                <a16:creationId xmlns:a16="http://schemas.microsoft.com/office/drawing/2014/main" id="{2C3F1916-7D9A-A0C8-BED1-38D0AECBED5E}"/>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12" name="正方形/長方形 11">
            <a:extLst>
              <a:ext uri="{FF2B5EF4-FFF2-40B4-BE49-F238E27FC236}">
                <a16:creationId xmlns:a16="http://schemas.microsoft.com/office/drawing/2014/main" id="{EB5D4E55-CE56-35D2-D34D-FFB09A883B6C}"/>
              </a:ext>
            </a:extLst>
          </p:cNvPr>
          <p:cNvSpPr/>
          <p:nvPr userDrawn="1"/>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329239814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Lst>
  <p:hf hdr="0" ftr="0" dt="0"/>
  <p:txStyles>
    <p:titleStyle>
      <a:lvl1pPr algn="l" rtl="0" eaLnBrk="1" fontAlgn="base" hangingPunct="1">
        <a:spcBef>
          <a:spcPct val="0"/>
        </a:spcBef>
        <a:spcAft>
          <a:spcPct val="0"/>
        </a:spcAft>
        <a:defRPr kumimoji="1" sz="28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5">
            <a:lumMod val="60000"/>
            <a:lumOff val="40000"/>
          </a:schemeClr>
        </a:buClr>
        <a:buSzPct val="9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5">
            <a:lumMod val="60000"/>
            <a:lumOff val="40000"/>
          </a:schemeClr>
        </a:buClr>
        <a:buSzPct val="70000"/>
        <a:buFont typeface="Segoe UI" panose="020B0502040204020203" pitchFamily="34" charset="0"/>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chemeClr val="accent5">
            <a:lumMod val="60000"/>
            <a:lumOff val="40000"/>
          </a:schemeClr>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docs.google.com/spreadsheets/d/1A5wiTbVyNkzVSa2MsHZda4akAyXFkD6Q8c_4IGprq7A/edit?usp=sharing"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865953" y="1988985"/>
            <a:ext cx="8460094" cy="630007"/>
          </a:xfrm>
        </p:spPr>
        <p:txBody>
          <a:bodyPr/>
          <a:lstStyle/>
          <a:p>
            <a:r>
              <a:rPr lang="ja-JP" altLang="en-US" sz="2800" dirty="0"/>
              <a:t>先進計算機構成論 </a:t>
            </a:r>
            <a:r>
              <a:rPr lang="en-US" altLang="ja-JP" sz="2800" dirty="0"/>
              <a:t>10</a:t>
            </a:r>
            <a:endParaRPr lang="ja-JP" altLang="en-US" sz="2800" dirty="0"/>
          </a:p>
        </p:txBody>
      </p:sp>
      <p:sp>
        <p:nvSpPr>
          <p:cNvPr id="6" name="サブタイトル 2"/>
          <p:cNvSpPr txBox="1">
            <a:spLocks/>
          </p:cNvSpPr>
          <p:nvPr/>
        </p:nvSpPr>
        <p:spPr bwMode="auto">
          <a:xfrm>
            <a:off x="2405960" y="3699003"/>
            <a:ext cx="7650085" cy="5400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marL="0" indent="0" algn="r" rtl="0" eaLnBrk="1" fontAlgn="base" hangingPunct="1">
              <a:lnSpc>
                <a:spcPct val="150000"/>
              </a:lnSpc>
              <a:spcBef>
                <a:spcPts val="0"/>
              </a:spcBef>
              <a:spcAft>
                <a:spcPts val="0"/>
              </a:spcAft>
              <a:buClr>
                <a:schemeClr val="accent5"/>
              </a:buClr>
              <a:buFont typeface="Wingdings" pitchFamily="2" charset="2"/>
              <a:buNone/>
              <a:tabLst>
                <a:tab pos="2057400" algn="l"/>
              </a:tabLst>
              <a:defRPr kumimoji="1" sz="2000">
                <a:solidFill>
                  <a:schemeClr val="bg1"/>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a:lnSpc>
                <a:spcPct val="100000"/>
              </a:lnSpc>
            </a:pPr>
            <a:r>
              <a:rPr lang="ja-JP" altLang="en-US" kern="0" dirty="0"/>
              <a:t>東京大学大学院 情報理工学系研究科 創造情報学専攻</a:t>
            </a:r>
            <a:endParaRPr lang="en-US" altLang="ja-JP" kern="0" dirty="0"/>
          </a:p>
          <a:p>
            <a:pPr>
              <a:lnSpc>
                <a:spcPct val="100000"/>
              </a:lnSpc>
            </a:pPr>
            <a:r>
              <a:rPr lang="ja-JP" altLang="en-US" kern="0" dirty="0"/>
              <a:t>塩谷 亮太 </a:t>
            </a:r>
            <a:endParaRPr lang="en-US" altLang="ja-JP" kern="0" dirty="0"/>
          </a:p>
          <a:p>
            <a:pPr>
              <a:lnSpc>
                <a:spcPct val="100000"/>
              </a:lnSpc>
            </a:pPr>
            <a:r>
              <a:rPr lang="en-US" altLang="ja-JP" kern="0" dirty="0"/>
              <a:t>shioya@ci.i.u-tokyo.ac.jp</a:t>
            </a:r>
            <a:endParaRPr lang="ja-JP" altLang="en-US" kern="0" dirty="0"/>
          </a:p>
        </p:txBody>
      </p:sp>
    </p:spTree>
    <p:extLst>
      <p:ext uri="{BB962C8B-B14F-4D97-AF65-F5344CB8AC3E}">
        <p14:creationId xmlns:p14="http://schemas.microsoft.com/office/powerpoint/2010/main" val="101780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前回の内容</a:t>
            </a:r>
          </a:p>
        </p:txBody>
      </p:sp>
      <p:sp>
        <p:nvSpPr>
          <p:cNvPr id="3" name="テキスト プレースホルダー 2"/>
          <p:cNvSpPr>
            <a:spLocks noGrp="1"/>
          </p:cNvSpPr>
          <p:nvPr>
            <p:ph type="body" sz="quarter" idx="10"/>
          </p:nvPr>
        </p:nvSpPr>
        <p:spPr/>
        <p:txBody>
          <a:bodyPr/>
          <a:lstStyle/>
          <a:p>
            <a:r>
              <a:rPr lang="ja-JP" altLang="en-US" dirty="0"/>
              <a:t>動的スケジューリングの詳細</a:t>
            </a:r>
            <a:endParaRPr lang="en-US" altLang="ja-JP" dirty="0"/>
          </a:p>
          <a:p>
            <a:pPr lvl="1"/>
            <a:endParaRPr lang="ja-JP" altLang="en-US" dirty="0"/>
          </a:p>
        </p:txBody>
      </p:sp>
    </p:spTree>
    <p:extLst>
      <p:ext uri="{BB962C8B-B14F-4D97-AF65-F5344CB8AC3E}">
        <p14:creationId xmlns:p14="http://schemas.microsoft.com/office/powerpoint/2010/main" val="28645315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今回の内容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動的スケジューリングの詳細続き</a:t>
            </a:r>
            <a:endParaRPr lang="en-US" altLang="ja-JP" dirty="0"/>
          </a:p>
          <a:p>
            <a:pPr marL="817200" lvl="1" indent="-457200">
              <a:buFont typeface="+mj-lt"/>
              <a:buAutoNum type="arabicPeriod"/>
            </a:pPr>
            <a:r>
              <a:rPr lang="ja-JP" altLang="en-US" dirty="0"/>
              <a:t>例外への対応</a:t>
            </a:r>
            <a:endParaRPr lang="en-US" altLang="ja-JP" dirty="0"/>
          </a:p>
          <a:p>
            <a:pPr marL="817200" lvl="1" indent="-457200">
              <a:buFont typeface="+mj-lt"/>
              <a:buAutoNum type="arabicPeriod"/>
            </a:pPr>
            <a:r>
              <a:rPr lang="ja-JP" altLang="en-US" dirty="0"/>
              <a:t>ロード・ストアへの対応</a:t>
            </a:r>
            <a:endParaRPr lang="en-US" altLang="ja-JP" dirty="0"/>
          </a:p>
        </p:txBody>
      </p:sp>
    </p:spTree>
    <p:extLst>
      <p:ext uri="{BB962C8B-B14F-4D97-AF65-F5344CB8AC3E}">
        <p14:creationId xmlns:p14="http://schemas.microsoft.com/office/powerpoint/2010/main" val="19119084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前回までの動的スケジューリングの説明</a:t>
            </a:r>
            <a:endParaRPr kumimoji="1" lang="ja-JP" altLang="en-US" dirty="0"/>
          </a:p>
        </p:txBody>
      </p:sp>
      <p:sp>
        <p:nvSpPr>
          <p:cNvPr id="3" name="テキスト プレースホルダー 2"/>
          <p:cNvSpPr>
            <a:spLocks noGrp="1"/>
          </p:cNvSpPr>
          <p:nvPr>
            <p:ph type="body" sz="quarter" idx="10"/>
          </p:nvPr>
        </p:nvSpPr>
        <p:spPr/>
        <p:txBody>
          <a:bodyPr/>
          <a:lstStyle/>
          <a:p>
            <a:r>
              <a:rPr lang="ja-JP" altLang="en-US" dirty="0"/>
              <a:t>モチベーション：</a:t>
            </a:r>
            <a:br>
              <a:rPr lang="en-US" altLang="ja-JP" dirty="0"/>
            </a:br>
            <a:r>
              <a:rPr lang="en-US" altLang="ja-JP" dirty="0"/>
              <a:t>in-order </a:t>
            </a:r>
            <a:r>
              <a:rPr lang="ja-JP" altLang="en-US" dirty="0"/>
              <a:t>発行</a:t>
            </a:r>
            <a:r>
              <a:rPr lang="en-US" altLang="ja-JP" dirty="0"/>
              <a:t>/ out-of-order </a:t>
            </a:r>
            <a:r>
              <a:rPr lang="ja-JP" altLang="en-US" dirty="0"/>
              <a:t>完了による，下記をなんとかしたい</a:t>
            </a:r>
            <a:endParaRPr lang="en-US" altLang="ja-JP" dirty="0"/>
          </a:p>
          <a:p>
            <a:pPr marL="817200" lvl="1" indent="-457200">
              <a:buFont typeface="+mj-lt"/>
              <a:buAutoNum type="arabicPeriod"/>
            </a:pPr>
            <a:r>
              <a:rPr lang="ja-JP" altLang="en-US" dirty="0"/>
              <a:t>出力依存（</a:t>
            </a:r>
            <a:r>
              <a:rPr lang="en-US" altLang="ja-JP" dirty="0"/>
              <a:t>WAW</a:t>
            </a:r>
            <a:r>
              <a:rPr lang="ja-JP" altLang="en-US" dirty="0"/>
              <a:t>）があると止まってしまう</a:t>
            </a:r>
            <a:endParaRPr lang="en-US" altLang="ja-JP" dirty="0"/>
          </a:p>
          <a:p>
            <a:pPr marL="817200" lvl="1" indent="-457200">
              <a:buFont typeface="+mj-lt"/>
              <a:buAutoNum type="arabicPeriod"/>
            </a:pPr>
            <a:r>
              <a:rPr lang="ja-JP" altLang="en-US" dirty="0"/>
              <a:t>依存がある命令があるとそこで</a:t>
            </a:r>
            <a:br>
              <a:rPr lang="en-US" altLang="ja-JP" dirty="0"/>
            </a:br>
            <a:r>
              <a:rPr lang="ja-JP" altLang="en-US" dirty="0"/>
              <a:t>パイプラインが完全に止まってしまう</a:t>
            </a:r>
            <a:endParaRPr lang="en-US" altLang="ja-JP" dirty="0"/>
          </a:p>
          <a:p>
            <a:r>
              <a:rPr kumimoji="1" lang="ja-JP" altLang="en-US" dirty="0"/>
              <a:t>動的スケジューリング</a:t>
            </a:r>
            <a:endParaRPr kumimoji="1" lang="en-US" altLang="ja-JP" dirty="0"/>
          </a:p>
          <a:p>
            <a:pPr marL="817200" lvl="1" indent="-457200">
              <a:buFont typeface="+mj-lt"/>
              <a:buAutoNum type="arabicPeriod"/>
            </a:pPr>
            <a:r>
              <a:rPr kumimoji="1" lang="ja-JP" altLang="en-US" dirty="0"/>
              <a:t>レジスタ・リネームにより偽の依存を取り除く</a:t>
            </a:r>
            <a:endParaRPr kumimoji="1" lang="en-US" altLang="ja-JP" dirty="0"/>
          </a:p>
          <a:p>
            <a:pPr marL="817200" lvl="1" indent="-457200">
              <a:buFont typeface="+mj-lt"/>
              <a:buAutoNum type="arabicPeriod"/>
            </a:pPr>
            <a:r>
              <a:rPr lang="ja-JP" altLang="en-US" dirty="0"/>
              <a:t>プログラム順ではなく，</a:t>
            </a:r>
            <a:r>
              <a:rPr kumimoji="1" lang="ja-JP" altLang="en-US" dirty="0"/>
              <a:t>真に依存が満たされた順に命令を発行</a:t>
            </a:r>
          </a:p>
        </p:txBody>
      </p:sp>
    </p:spTree>
    <p:extLst>
      <p:ext uri="{BB962C8B-B14F-4D97-AF65-F5344CB8AC3E}">
        <p14:creationId xmlns:p14="http://schemas.microsoft.com/office/powerpoint/2010/main" val="3770254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レジスタ・リネーム（復習）</a:t>
            </a:r>
          </a:p>
        </p:txBody>
      </p:sp>
      <p:sp>
        <p:nvSpPr>
          <p:cNvPr id="3" name="テキスト プレースホルダー 2"/>
          <p:cNvSpPr>
            <a:spLocks noGrp="1"/>
          </p:cNvSpPr>
          <p:nvPr>
            <p:ph type="body" sz="quarter" idx="10"/>
          </p:nvPr>
        </p:nvSpPr>
        <p:spPr>
          <a:xfrm>
            <a:off x="2135956" y="1358978"/>
            <a:ext cx="8280092" cy="3150035"/>
          </a:xfrm>
        </p:spPr>
        <p:txBody>
          <a:bodyPr/>
          <a:lstStyle/>
          <a:p>
            <a:r>
              <a:rPr kumimoji="1" lang="ja-JP" altLang="en-US" dirty="0"/>
              <a:t>目的：出力依存と逆依存を取り除く</a:t>
            </a:r>
            <a:endParaRPr kumimoji="1" lang="en-US" altLang="ja-JP" dirty="0"/>
          </a:p>
          <a:p>
            <a:pPr lvl="1"/>
            <a:r>
              <a:rPr kumimoji="1" lang="ja-JP" altLang="en-US" dirty="0"/>
              <a:t>真の依存にのみ従って発行を行う</a:t>
            </a:r>
            <a:endParaRPr kumimoji="1" lang="en-US" altLang="ja-JP" dirty="0"/>
          </a:p>
          <a:p>
            <a:r>
              <a:rPr lang="ja-JP" altLang="en-US" dirty="0"/>
              <a:t>方針：レジスタの名前を付け替える</a:t>
            </a:r>
            <a:endParaRPr lang="en-US" altLang="ja-JP" dirty="0"/>
          </a:p>
          <a:p>
            <a:pPr lvl="1"/>
            <a:r>
              <a:rPr kumimoji="1" lang="ja-JP" altLang="en-US" dirty="0"/>
              <a:t>偽の依存の原因 </a:t>
            </a:r>
            <a:r>
              <a:rPr kumimoji="1" lang="en-US" altLang="ja-JP" dirty="0"/>
              <a:t>= </a:t>
            </a:r>
            <a:r>
              <a:rPr kumimoji="1" lang="ja-JP" altLang="en-US" dirty="0"/>
              <a:t>同じレジスタの使い回し</a:t>
            </a:r>
            <a:endParaRPr kumimoji="1" lang="en-US" altLang="ja-JP" dirty="0"/>
          </a:p>
          <a:p>
            <a:r>
              <a:rPr kumimoji="1" lang="ja-JP" altLang="en-US" dirty="0"/>
              <a:t>各命令のディスティネーションに専用のレジスタを与える</a:t>
            </a:r>
            <a:endParaRPr kumimoji="1" lang="en-US" altLang="ja-JP" dirty="0"/>
          </a:p>
          <a:p>
            <a:pPr lvl="1"/>
            <a:r>
              <a:rPr kumimoji="1" lang="ja-JP" altLang="en-US" dirty="0"/>
              <a:t>レジスタ番号がかぶらないので，</a:t>
            </a:r>
            <a:br>
              <a:rPr kumimoji="1" lang="en-US" altLang="ja-JP" dirty="0"/>
            </a:br>
            <a:r>
              <a:rPr kumimoji="1" lang="ja-JP" altLang="en-US" dirty="0"/>
              <a:t>他の命令との間で</a:t>
            </a:r>
            <a:r>
              <a:rPr lang="ja-JP" altLang="en-US" dirty="0"/>
              <a:t>出力依存や逆依存は生じなくなる</a:t>
            </a:r>
            <a:endParaRPr lang="en-US" altLang="ja-JP" dirty="0"/>
          </a:p>
          <a:p>
            <a:pPr lvl="2"/>
            <a:endParaRPr lang="en-US" altLang="ja-JP" dirty="0"/>
          </a:p>
        </p:txBody>
      </p:sp>
      <p:sp>
        <p:nvSpPr>
          <p:cNvPr id="4" name="正方形/長方形 3"/>
          <p:cNvSpPr/>
          <p:nvPr/>
        </p:nvSpPr>
        <p:spPr bwMode="auto">
          <a:xfrm>
            <a:off x="3935976" y="468901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I1: </a:t>
            </a:r>
            <a:r>
              <a:rPr lang="en-US" altLang="ja-JP" sz="1600" dirty="0" err="1">
                <a:latin typeface="Consolas" panose="020B0609020204030204" pitchFamily="49" charset="0"/>
              </a:rPr>
              <a:t>mul</a:t>
            </a:r>
            <a:r>
              <a:rPr lang="en-US" altLang="ja-JP" sz="1600" dirty="0">
                <a:latin typeface="Consolas" panose="020B0609020204030204" pitchFamily="49" charset="0"/>
              </a:rPr>
              <a:t> </a:t>
            </a:r>
            <a:r>
              <a:rPr lang="en-US" altLang="ja-JP" sz="1600" b="1" dirty="0">
                <a:solidFill>
                  <a:schemeClr val="accent4"/>
                </a:solidFill>
                <a:latin typeface="Consolas" panose="020B0609020204030204" pitchFamily="49" charset="0"/>
              </a:rPr>
              <a:t>x3</a:t>
            </a:r>
            <a:r>
              <a:rPr lang="ja-JP" altLang="en-US" sz="1600" dirty="0">
                <a:latin typeface="Consolas" panose="020B0609020204030204" pitchFamily="49" charset="0"/>
              </a:rPr>
              <a:t>←</a:t>
            </a:r>
            <a:r>
              <a:rPr lang="en-US" altLang="ja-JP" sz="1600" dirty="0">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5" name="正方形/長方形 4"/>
          <p:cNvSpPr/>
          <p:nvPr/>
        </p:nvSpPr>
        <p:spPr bwMode="auto">
          <a:xfrm>
            <a:off x="3935976" y="513901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I2: add </a:t>
            </a:r>
            <a:r>
              <a:rPr lang="en-US" altLang="ja-JP" sz="1600" b="1" dirty="0">
                <a:solidFill>
                  <a:schemeClr val="accent4"/>
                </a:solidFill>
                <a:latin typeface="Consolas" panose="020B0609020204030204" pitchFamily="49" charset="0"/>
              </a:rPr>
              <a:t>x3</a:t>
            </a:r>
            <a:r>
              <a:rPr lang="ja-JP" altLang="en-US" sz="1600" dirty="0">
                <a:latin typeface="Consolas" panose="020B0609020204030204" pitchFamily="49" charset="0"/>
              </a:rPr>
              <a:t>←</a:t>
            </a:r>
            <a:r>
              <a:rPr lang="en-US" altLang="ja-JP" sz="1600" b="1" dirty="0">
                <a:solidFill>
                  <a:schemeClr val="accent5"/>
                </a:solidFill>
                <a:latin typeface="Consolas" panose="020B0609020204030204" pitchFamily="49" charset="0"/>
              </a:rPr>
              <a:t>x1</a:t>
            </a:r>
            <a:r>
              <a:rPr lang="en-US" altLang="ja-JP" sz="1600" dirty="0">
                <a:latin typeface="Consolas" panose="020B0609020204030204" pitchFamily="49" charset="0"/>
              </a:rPr>
              <a:t>+1</a:t>
            </a:r>
            <a:endParaRPr lang="ja-JP" altLang="en-US" sz="1600" dirty="0"/>
          </a:p>
        </p:txBody>
      </p:sp>
      <p:sp>
        <p:nvSpPr>
          <p:cNvPr id="6" name="正方形/長方形 5"/>
          <p:cNvSpPr/>
          <p:nvPr/>
        </p:nvSpPr>
        <p:spPr bwMode="auto">
          <a:xfrm>
            <a:off x="3935976" y="558902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I3: sub </a:t>
            </a:r>
            <a:r>
              <a:rPr lang="en-US" altLang="ja-JP" sz="1600" b="1" dirty="0">
                <a:solidFill>
                  <a:schemeClr val="accent5"/>
                </a:solidFill>
                <a:latin typeface="Consolas" panose="020B0609020204030204" pitchFamily="49" charset="0"/>
              </a:rPr>
              <a:t>x1</a:t>
            </a:r>
            <a:r>
              <a:rPr lang="ja-JP" altLang="en-US" sz="1600" dirty="0">
                <a:latin typeface="Consolas" panose="020B0609020204030204" pitchFamily="49" charset="0"/>
              </a:rPr>
              <a:t>←</a:t>
            </a:r>
            <a:r>
              <a:rPr lang="en-US" altLang="ja-JP" sz="1600" dirty="0">
                <a:latin typeface="Consolas" panose="020B0609020204030204" pitchFamily="49" charset="0"/>
              </a:rPr>
              <a:t>x5-1</a:t>
            </a:r>
            <a:endParaRPr lang="ja-JP" altLang="en-US" sz="1600" dirty="0"/>
          </a:p>
        </p:txBody>
      </p:sp>
      <p:sp>
        <p:nvSpPr>
          <p:cNvPr id="7" name="正方形/長方形 6"/>
          <p:cNvSpPr/>
          <p:nvPr/>
        </p:nvSpPr>
        <p:spPr bwMode="auto">
          <a:xfrm>
            <a:off x="3935976" y="603902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I4: and </a:t>
            </a:r>
            <a:r>
              <a:rPr lang="en-US" altLang="ja-JP" sz="1600" dirty="0">
                <a:solidFill>
                  <a:schemeClr val="tx1">
                    <a:lumMod val="75000"/>
                    <a:lumOff val="25000"/>
                  </a:schemeClr>
                </a:solidFill>
                <a:latin typeface="Consolas" panose="020B0609020204030204" pitchFamily="49" charset="0"/>
              </a:rPr>
              <a:t>x6</a:t>
            </a:r>
            <a:r>
              <a:rPr lang="ja-JP" altLang="en-US" sz="1600" dirty="0">
                <a:latin typeface="Consolas" panose="020B0609020204030204" pitchFamily="49" charset="0"/>
              </a:rPr>
              <a:t>←</a:t>
            </a:r>
            <a:r>
              <a:rPr lang="en-US" altLang="ja-JP" sz="1600" dirty="0">
                <a:latin typeface="Consolas" panose="020B0609020204030204" pitchFamily="49" charset="0"/>
              </a:rPr>
              <a:t>x7&amp;1</a:t>
            </a:r>
            <a:endParaRPr lang="ja-JP" altLang="en-US" sz="1600" dirty="0"/>
          </a:p>
        </p:txBody>
      </p:sp>
      <p:sp>
        <p:nvSpPr>
          <p:cNvPr id="8" name="右矢印 7"/>
          <p:cNvSpPr/>
          <p:nvPr/>
        </p:nvSpPr>
        <p:spPr bwMode="auto">
          <a:xfrm>
            <a:off x="5195990" y="5229021"/>
            <a:ext cx="720008" cy="630007"/>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 name="正方形/長方形 8"/>
          <p:cNvSpPr/>
          <p:nvPr/>
        </p:nvSpPr>
        <p:spPr bwMode="auto">
          <a:xfrm>
            <a:off x="7626017" y="468901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I1: </a:t>
            </a:r>
            <a:r>
              <a:rPr lang="en-US" altLang="ja-JP" sz="1600" dirty="0" err="1">
                <a:solidFill>
                  <a:schemeClr val="tx1">
                    <a:lumMod val="75000"/>
                    <a:lumOff val="25000"/>
                  </a:schemeClr>
                </a:solidFill>
                <a:latin typeface="Consolas" panose="020B0609020204030204" pitchFamily="49" charset="0"/>
              </a:rPr>
              <a:t>mul</a:t>
            </a:r>
            <a:r>
              <a:rPr lang="en-US" altLang="ja-JP" sz="1600" dirty="0">
                <a:solidFill>
                  <a:schemeClr val="tx1">
                    <a:lumMod val="75000"/>
                    <a:lumOff val="25000"/>
                  </a:schemeClr>
                </a:solidFill>
                <a:latin typeface="Consolas" panose="020B0609020204030204" pitchFamily="49" charset="0"/>
              </a:rPr>
              <a:t> </a:t>
            </a:r>
            <a:r>
              <a:rPr lang="en-US" altLang="ja-JP" sz="1600" b="1" dirty="0">
                <a:solidFill>
                  <a:schemeClr val="accent4"/>
                </a:solidFill>
                <a:latin typeface="Consolas" panose="020B0609020204030204" pitchFamily="49" charset="0"/>
              </a:rPr>
              <a:t>p20</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p12*4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10" name="正方形/長方形 9"/>
          <p:cNvSpPr/>
          <p:nvPr/>
        </p:nvSpPr>
        <p:spPr bwMode="auto">
          <a:xfrm>
            <a:off x="7626017" y="513901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add </a:t>
            </a:r>
            <a:r>
              <a:rPr lang="en-US" altLang="ja-JP" sz="1600" b="1" dirty="0">
                <a:solidFill>
                  <a:schemeClr val="accent4"/>
                </a:solidFill>
                <a:latin typeface="Consolas" panose="020B0609020204030204" pitchFamily="49" charset="0"/>
              </a:rPr>
              <a:t>p21</a:t>
            </a:r>
            <a:r>
              <a:rPr lang="ja-JP" altLang="en-US" sz="1600" dirty="0">
                <a:solidFill>
                  <a:schemeClr val="tx1">
                    <a:lumMod val="75000"/>
                    <a:lumOff val="25000"/>
                  </a:schemeClr>
                </a:solidFill>
                <a:latin typeface="Consolas" panose="020B0609020204030204" pitchFamily="49" charset="0"/>
              </a:rPr>
              <a:t>←</a:t>
            </a:r>
            <a:r>
              <a:rPr lang="en-US" altLang="ja-JP" sz="1600" b="1" dirty="0">
                <a:solidFill>
                  <a:schemeClr val="accent5"/>
                </a:solidFill>
                <a:latin typeface="Consolas" panose="020B0609020204030204" pitchFamily="49" charset="0"/>
              </a:rPr>
              <a:t>p11</a:t>
            </a:r>
            <a:r>
              <a:rPr lang="en-US" altLang="ja-JP" sz="1600" dirty="0">
                <a:solidFill>
                  <a:schemeClr val="tx1">
                    <a:lumMod val="75000"/>
                    <a:lumOff val="25000"/>
                  </a:schemeClr>
                </a:solidFill>
                <a:latin typeface="Consolas" panose="020B0609020204030204" pitchFamily="49" charset="0"/>
              </a:rPr>
              <a:t>+1</a:t>
            </a:r>
            <a:endParaRPr lang="ja-JP" altLang="en-US" sz="1600" dirty="0">
              <a:solidFill>
                <a:schemeClr val="tx1">
                  <a:lumMod val="75000"/>
                  <a:lumOff val="25000"/>
                </a:schemeClr>
              </a:solidFill>
            </a:endParaRPr>
          </a:p>
        </p:txBody>
      </p:sp>
      <p:sp>
        <p:nvSpPr>
          <p:cNvPr id="11" name="正方形/長方形 10"/>
          <p:cNvSpPr/>
          <p:nvPr/>
        </p:nvSpPr>
        <p:spPr bwMode="auto">
          <a:xfrm>
            <a:off x="7626017" y="558902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I3: sub </a:t>
            </a:r>
            <a:r>
              <a:rPr lang="en-US" altLang="ja-JP" sz="1600" b="1" dirty="0">
                <a:solidFill>
                  <a:schemeClr val="accent5"/>
                </a:solidFill>
                <a:latin typeface="Consolas" panose="020B0609020204030204" pitchFamily="49" charset="0"/>
              </a:rPr>
              <a:t>p22</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p15-1</a:t>
            </a:r>
            <a:endParaRPr lang="ja-JP" altLang="en-US" sz="1600" dirty="0">
              <a:solidFill>
                <a:schemeClr val="tx1">
                  <a:lumMod val="75000"/>
                  <a:lumOff val="25000"/>
                </a:schemeClr>
              </a:solidFill>
            </a:endParaRPr>
          </a:p>
        </p:txBody>
      </p:sp>
      <p:sp>
        <p:nvSpPr>
          <p:cNvPr id="12" name="正方形/長方形 11"/>
          <p:cNvSpPr/>
          <p:nvPr/>
        </p:nvSpPr>
        <p:spPr bwMode="auto">
          <a:xfrm>
            <a:off x="7626017" y="603902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I4: and </a:t>
            </a:r>
            <a:r>
              <a:rPr lang="en-US" altLang="ja-JP" sz="1600" b="1" dirty="0">
                <a:solidFill>
                  <a:schemeClr val="tx1">
                    <a:lumMod val="75000"/>
                    <a:lumOff val="25000"/>
                  </a:schemeClr>
                </a:solidFill>
                <a:latin typeface="Consolas" panose="020B0609020204030204" pitchFamily="49" charset="0"/>
              </a:rPr>
              <a:t>p23</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p17&amp;1</a:t>
            </a:r>
            <a:endParaRPr lang="ja-JP" altLang="en-US" sz="1600" dirty="0">
              <a:solidFill>
                <a:schemeClr val="tx1">
                  <a:lumMod val="75000"/>
                  <a:lumOff val="25000"/>
                </a:schemeClr>
              </a:solidFill>
            </a:endParaRPr>
          </a:p>
        </p:txBody>
      </p:sp>
    </p:spTree>
    <p:extLst>
      <p:ext uri="{BB962C8B-B14F-4D97-AF65-F5344CB8AC3E}">
        <p14:creationId xmlns:p14="http://schemas.microsoft.com/office/powerpoint/2010/main" val="37182455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レジスタ・リネーム（復習）</a:t>
            </a:r>
          </a:p>
        </p:txBody>
      </p:sp>
      <p:sp>
        <p:nvSpPr>
          <p:cNvPr id="3" name="テキスト プレースホルダー 2"/>
          <p:cNvSpPr>
            <a:spLocks noGrp="1"/>
          </p:cNvSpPr>
          <p:nvPr>
            <p:ph type="body" sz="quarter" idx="10"/>
          </p:nvPr>
        </p:nvSpPr>
        <p:spPr>
          <a:xfrm>
            <a:off x="2135956" y="1088975"/>
            <a:ext cx="8280092" cy="3150035"/>
          </a:xfrm>
        </p:spPr>
        <p:txBody>
          <a:bodyPr/>
          <a:lstStyle/>
          <a:p>
            <a:r>
              <a:rPr kumimoji="1" lang="ja-JP" altLang="en-US" dirty="0"/>
              <a:t>論理レジスタ：</a:t>
            </a:r>
            <a:endParaRPr kumimoji="1" lang="en-US" altLang="ja-JP" dirty="0"/>
          </a:p>
          <a:p>
            <a:pPr lvl="1"/>
            <a:r>
              <a:rPr lang="ja-JP" altLang="en-US" dirty="0"/>
              <a:t>命令セットで定義されているレジスタ</a:t>
            </a:r>
            <a:endParaRPr lang="en-US" altLang="ja-JP" dirty="0"/>
          </a:p>
          <a:p>
            <a:pPr lvl="1"/>
            <a:r>
              <a:rPr lang="ja-JP" altLang="en-US" dirty="0"/>
              <a:t>プログラマから見える</a:t>
            </a:r>
            <a:endParaRPr lang="en-US" altLang="ja-JP" dirty="0"/>
          </a:p>
          <a:p>
            <a:r>
              <a:rPr lang="ja-JP" altLang="en-US" dirty="0"/>
              <a:t>物理レジスタ：</a:t>
            </a:r>
            <a:endParaRPr lang="en-US" altLang="ja-JP" dirty="0"/>
          </a:p>
          <a:p>
            <a:pPr lvl="1"/>
            <a:r>
              <a:rPr lang="ja-JP" altLang="en-US" dirty="0"/>
              <a:t>レジスタ・リネームによって割り当てられる内部のレジスタ</a:t>
            </a:r>
            <a:endParaRPr lang="en-US" altLang="ja-JP" dirty="0"/>
          </a:p>
          <a:p>
            <a:pPr lvl="1"/>
            <a:r>
              <a:rPr lang="ja-JP" altLang="en-US" dirty="0"/>
              <a:t>通常論理レジスタの数倍程度の数を用意する</a:t>
            </a:r>
            <a:endParaRPr lang="en-US" altLang="ja-JP" dirty="0"/>
          </a:p>
          <a:p>
            <a:pPr lvl="1"/>
            <a:r>
              <a:rPr lang="ja-JP" altLang="en-US" dirty="0"/>
              <a:t>プログラマからは見えない</a:t>
            </a:r>
            <a:endParaRPr lang="en-US" altLang="ja-JP" dirty="0"/>
          </a:p>
        </p:txBody>
      </p:sp>
      <p:sp>
        <p:nvSpPr>
          <p:cNvPr id="4" name="正方形/長方形 3"/>
          <p:cNvSpPr/>
          <p:nvPr/>
        </p:nvSpPr>
        <p:spPr bwMode="auto">
          <a:xfrm>
            <a:off x="3935976" y="468901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I1: </a:t>
            </a:r>
            <a:r>
              <a:rPr lang="en-US" altLang="ja-JP" sz="1600" dirty="0" err="1">
                <a:latin typeface="Consolas" panose="020B0609020204030204" pitchFamily="49" charset="0"/>
              </a:rPr>
              <a:t>mul</a:t>
            </a:r>
            <a:r>
              <a:rPr lang="en-US" altLang="ja-JP" sz="1600" dirty="0">
                <a:latin typeface="Consolas" panose="020B0609020204030204" pitchFamily="49" charset="0"/>
              </a:rPr>
              <a:t> </a:t>
            </a:r>
            <a:r>
              <a:rPr lang="en-US" altLang="ja-JP" sz="1600" b="1" dirty="0">
                <a:solidFill>
                  <a:schemeClr val="accent4"/>
                </a:solidFill>
                <a:latin typeface="Consolas" panose="020B0609020204030204" pitchFamily="49" charset="0"/>
              </a:rPr>
              <a:t>x3</a:t>
            </a:r>
            <a:r>
              <a:rPr lang="ja-JP" altLang="en-US" sz="1600" dirty="0">
                <a:latin typeface="Consolas" panose="020B0609020204030204" pitchFamily="49" charset="0"/>
              </a:rPr>
              <a:t>←</a:t>
            </a:r>
            <a:r>
              <a:rPr lang="en-US" altLang="ja-JP" sz="1600" dirty="0">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5" name="正方形/長方形 4"/>
          <p:cNvSpPr/>
          <p:nvPr/>
        </p:nvSpPr>
        <p:spPr bwMode="auto">
          <a:xfrm>
            <a:off x="3935976" y="513901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I2: add </a:t>
            </a:r>
            <a:r>
              <a:rPr lang="en-US" altLang="ja-JP" sz="1600" b="1" dirty="0">
                <a:solidFill>
                  <a:schemeClr val="accent4"/>
                </a:solidFill>
                <a:latin typeface="Consolas" panose="020B0609020204030204" pitchFamily="49" charset="0"/>
              </a:rPr>
              <a:t>x3</a:t>
            </a:r>
            <a:r>
              <a:rPr lang="ja-JP" altLang="en-US" sz="1600" dirty="0">
                <a:latin typeface="Consolas" panose="020B0609020204030204" pitchFamily="49" charset="0"/>
              </a:rPr>
              <a:t>←</a:t>
            </a:r>
            <a:r>
              <a:rPr lang="en-US" altLang="ja-JP" sz="1600" b="1" dirty="0">
                <a:solidFill>
                  <a:schemeClr val="accent5"/>
                </a:solidFill>
                <a:latin typeface="Consolas" panose="020B0609020204030204" pitchFamily="49" charset="0"/>
              </a:rPr>
              <a:t>x1</a:t>
            </a:r>
            <a:r>
              <a:rPr lang="en-US" altLang="ja-JP" sz="1600" dirty="0">
                <a:latin typeface="Consolas" panose="020B0609020204030204" pitchFamily="49" charset="0"/>
              </a:rPr>
              <a:t>+1</a:t>
            </a:r>
            <a:endParaRPr lang="ja-JP" altLang="en-US" sz="1600" dirty="0"/>
          </a:p>
        </p:txBody>
      </p:sp>
      <p:sp>
        <p:nvSpPr>
          <p:cNvPr id="6" name="正方形/長方形 5"/>
          <p:cNvSpPr/>
          <p:nvPr/>
        </p:nvSpPr>
        <p:spPr bwMode="auto">
          <a:xfrm>
            <a:off x="3935976" y="558902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I3: sub </a:t>
            </a:r>
            <a:r>
              <a:rPr lang="en-US" altLang="ja-JP" sz="1600" b="1" dirty="0">
                <a:solidFill>
                  <a:schemeClr val="accent5"/>
                </a:solidFill>
                <a:latin typeface="Consolas" panose="020B0609020204030204" pitchFamily="49" charset="0"/>
              </a:rPr>
              <a:t>x1</a:t>
            </a:r>
            <a:r>
              <a:rPr lang="ja-JP" altLang="en-US" sz="1600" dirty="0">
                <a:latin typeface="Consolas" panose="020B0609020204030204" pitchFamily="49" charset="0"/>
              </a:rPr>
              <a:t>←</a:t>
            </a:r>
            <a:r>
              <a:rPr lang="en-US" altLang="ja-JP" sz="1600" dirty="0">
                <a:latin typeface="Consolas" panose="020B0609020204030204" pitchFamily="49" charset="0"/>
              </a:rPr>
              <a:t>x5-1</a:t>
            </a:r>
            <a:endParaRPr lang="ja-JP" altLang="en-US" sz="1600" dirty="0"/>
          </a:p>
        </p:txBody>
      </p:sp>
      <p:sp>
        <p:nvSpPr>
          <p:cNvPr id="7" name="正方形/長方形 6"/>
          <p:cNvSpPr/>
          <p:nvPr/>
        </p:nvSpPr>
        <p:spPr bwMode="auto">
          <a:xfrm>
            <a:off x="3935976" y="603902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I4: and </a:t>
            </a:r>
            <a:r>
              <a:rPr lang="en-US" altLang="ja-JP" sz="1600" dirty="0">
                <a:solidFill>
                  <a:schemeClr val="tx1">
                    <a:lumMod val="75000"/>
                    <a:lumOff val="25000"/>
                  </a:schemeClr>
                </a:solidFill>
                <a:latin typeface="Consolas" panose="020B0609020204030204" pitchFamily="49" charset="0"/>
              </a:rPr>
              <a:t>x6</a:t>
            </a:r>
            <a:r>
              <a:rPr lang="ja-JP" altLang="en-US" sz="1600" dirty="0">
                <a:latin typeface="Consolas" panose="020B0609020204030204" pitchFamily="49" charset="0"/>
              </a:rPr>
              <a:t>←</a:t>
            </a:r>
            <a:r>
              <a:rPr lang="en-US" altLang="ja-JP" sz="1600" dirty="0">
                <a:latin typeface="Consolas" panose="020B0609020204030204" pitchFamily="49" charset="0"/>
              </a:rPr>
              <a:t>x7&amp;1</a:t>
            </a:r>
            <a:endParaRPr lang="ja-JP" altLang="en-US" sz="1600" dirty="0"/>
          </a:p>
        </p:txBody>
      </p:sp>
      <p:sp>
        <p:nvSpPr>
          <p:cNvPr id="8" name="右矢印 7"/>
          <p:cNvSpPr/>
          <p:nvPr/>
        </p:nvSpPr>
        <p:spPr bwMode="auto">
          <a:xfrm>
            <a:off x="5195990" y="5229021"/>
            <a:ext cx="720008" cy="630007"/>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 name="正方形/長方形 8"/>
          <p:cNvSpPr/>
          <p:nvPr/>
        </p:nvSpPr>
        <p:spPr bwMode="auto">
          <a:xfrm>
            <a:off x="7626017" y="468901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I1: </a:t>
            </a:r>
            <a:r>
              <a:rPr lang="en-US" altLang="ja-JP" sz="1600" dirty="0" err="1">
                <a:solidFill>
                  <a:schemeClr val="tx1">
                    <a:lumMod val="75000"/>
                    <a:lumOff val="25000"/>
                  </a:schemeClr>
                </a:solidFill>
                <a:latin typeface="Consolas" panose="020B0609020204030204" pitchFamily="49" charset="0"/>
              </a:rPr>
              <a:t>mul</a:t>
            </a:r>
            <a:r>
              <a:rPr lang="en-US" altLang="ja-JP" sz="1600" dirty="0">
                <a:solidFill>
                  <a:schemeClr val="tx1">
                    <a:lumMod val="75000"/>
                    <a:lumOff val="25000"/>
                  </a:schemeClr>
                </a:solidFill>
                <a:latin typeface="Consolas" panose="020B0609020204030204" pitchFamily="49" charset="0"/>
              </a:rPr>
              <a:t> </a:t>
            </a:r>
            <a:r>
              <a:rPr lang="en-US" altLang="ja-JP" sz="1600" b="1" dirty="0">
                <a:solidFill>
                  <a:schemeClr val="accent6"/>
                </a:solidFill>
                <a:latin typeface="Consolas" panose="020B0609020204030204" pitchFamily="49" charset="0"/>
              </a:rPr>
              <a:t>p20</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p12*4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10" name="正方形/長方形 9"/>
          <p:cNvSpPr/>
          <p:nvPr/>
        </p:nvSpPr>
        <p:spPr bwMode="auto">
          <a:xfrm>
            <a:off x="7626017" y="513901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add </a:t>
            </a:r>
            <a:r>
              <a:rPr lang="en-US" altLang="ja-JP" sz="1600" b="1" dirty="0">
                <a:solidFill>
                  <a:schemeClr val="accent6"/>
                </a:solidFill>
                <a:latin typeface="Consolas" panose="020B0609020204030204" pitchFamily="49" charset="0"/>
              </a:rPr>
              <a:t>p21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x11+1</a:t>
            </a:r>
            <a:endParaRPr lang="ja-JP" altLang="en-US" sz="1600" dirty="0">
              <a:solidFill>
                <a:schemeClr val="tx1">
                  <a:lumMod val="75000"/>
                  <a:lumOff val="25000"/>
                </a:schemeClr>
              </a:solidFill>
            </a:endParaRPr>
          </a:p>
        </p:txBody>
      </p:sp>
      <p:sp>
        <p:nvSpPr>
          <p:cNvPr id="11" name="正方形/長方形 10"/>
          <p:cNvSpPr/>
          <p:nvPr/>
        </p:nvSpPr>
        <p:spPr bwMode="auto">
          <a:xfrm>
            <a:off x="7626017" y="558902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I3: sub </a:t>
            </a:r>
            <a:r>
              <a:rPr lang="en-US" altLang="ja-JP" sz="1600" b="1" dirty="0">
                <a:solidFill>
                  <a:schemeClr val="accent6"/>
                </a:solidFill>
                <a:latin typeface="Consolas" panose="020B0609020204030204" pitchFamily="49" charset="0"/>
              </a:rPr>
              <a:t>p22</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p15-1</a:t>
            </a:r>
            <a:endParaRPr lang="ja-JP" altLang="en-US" sz="1600" dirty="0">
              <a:solidFill>
                <a:schemeClr val="tx1">
                  <a:lumMod val="75000"/>
                  <a:lumOff val="25000"/>
                </a:schemeClr>
              </a:solidFill>
            </a:endParaRPr>
          </a:p>
        </p:txBody>
      </p:sp>
      <p:sp>
        <p:nvSpPr>
          <p:cNvPr id="12" name="正方形/長方形 11"/>
          <p:cNvSpPr/>
          <p:nvPr/>
        </p:nvSpPr>
        <p:spPr bwMode="auto">
          <a:xfrm>
            <a:off x="7626017" y="603902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I4: and </a:t>
            </a:r>
            <a:r>
              <a:rPr lang="en-US" altLang="ja-JP" sz="1600" b="1" dirty="0">
                <a:solidFill>
                  <a:schemeClr val="accent6"/>
                </a:solidFill>
                <a:latin typeface="Consolas" panose="020B0609020204030204" pitchFamily="49" charset="0"/>
              </a:rPr>
              <a:t>p23</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p17&amp;1</a:t>
            </a:r>
            <a:endParaRPr lang="ja-JP" altLang="en-US" sz="1600" dirty="0">
              <a:solidFill>
                <a:schemeClr val="tx1">
                  <a:lumMod val="75000"/>
                  <a:lumOff val="25000"/>
                </a:schemeClr>
              </a:solidFill>
            </a:endParaRPr>
          </a:p>
        </p:txBody>
      </p:sp>
    </p:spTree>
    <p:extLst>
      <p:ext uri="{BB962C8B-B14F-4D97-AF65-F5344CB8AC3E}">
        <p14:creationId xmlns:p14="http://schemas.microsoft.com/office/powerpoint/2010/main" val="15237418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out-of-order </a:t>
            </a:r>
            <a:r>
              <a:rPr lang="ja-JP" altLang="en-US" dirty="0"/>
              <a:t>発行を行う </a:t>
            </a:r>
            <a:r>
              <a:rPr lang="en-US" altLang="ja-JP" dirty="0"/>
              <a:t>CPU </a:t>
            </a:r>
            <a:r>
              <a:rPr lang="ja-JP" altLang="en-US" dirty="0"/>
              <a:t>の構造（復習）</a:t>
            </a:r>
            <a:endParaRPr lang="ja-JP" altLang="en-US" sz="2000" dirty="0"/>
          </a:p>
        </p:txBody>
      </p:sp>
      <p:sp>
        <p:nvSpPr>
          <p:cNvPr id="3" name="テキスト プレースホルダー 2"/>
          <p:cNvSpPr>
            <a:spLocks noGrp="1"/>
          </p:cNvSpPr>
          <p:nvPr>
            <p:ph type="body" sz="quarter" idx="10"/>
          </p:nvPr>
        </p:nvSpPr>
        <p:spPr>
          <a:xfrm>
            <a:off x="2135956" y="5589331"/>
            <a:ext cx="8280092" cy="629700"/>
          </a:xfrm>
        </p:spPr>
        <p:txBody>
          <a:bodyPr/>
          <a:lstStyle/>
          <a:p>
            <a:r>
              <a:rPr lang="ja-JP" altLang="en-US" dirty="0"/>
              <a:t>発行キューによって前後に分離された構造を持つ</a:t>
            </a:r>
            <a:endParaRPr kumimoji="1" lang="en-US" altLang="ja-JP" dirty="0"/>
          </a:p>
          <a:p>
            <a:pPr marL="817200" lvl="1" indent="-457200">
              <a:buFont typeface="+mj-lt"/>
              <a:buAutoNum type="arabicPeriod"/>
            </a:pPr>
            <a:r>
              <a:rPr kumimoji="1" lang="ja-JP" altLang="en-US" dirty="0"/>
              <a:t>フロントエンド：</a:t>
            </a:r>
            <a:r>
              <a:rPr kumimoji="1" lang="en-US" altLang="ja-JP" dirty="0"/>
              <a:t>	</a:t>
            </a:r>
            <a:r>
              <a:rPr kumimoji="1" lang="ja-JP" altLang="en-US" dirty="0"/>
              <a:t>命令をフェッチ，リネーム</a:t>
            </a:r>
            <a:endParaRPr kumimoji="1" lang="en-US" altLang="ja-JP" dirty="0"/>
          </a:p>
          <a:p>
            <a:pPr marL="817200" lvl="1" indent="-457200">
              <a:buFont typeface="+mj-lt"/>
              <a:buAutoNum type="arabicPeriod"/>
            </a:pPr>
            <a:r>
              <a:rPr kumimoji="1" lang="ja-JP" altLang="en-US" dirty="0">
                <a:solidFill>
                  <a:schemeClr val="accent5"/>
                </a:solidFill>
              </a:rPr>
              <a:t>発行キュー：</a:t>
            </a:r>
            <a:r>
              <a:rPr kumimoji="1" lang="en-US" altLang="ja-JP" dirty="0">
                <a:solidFill>
                  <a:schemeClr val="accent5"/>
                </a:solidFill>
              </a:rPr>
              <a:t>		</a:t>
            </a:r>
            <a:r>
              <a:rPr kumimoji="1" lang="ja-JP" altLang="en-US" dirty="0">
                <a:solidFill>
                  <a:schemeClr val="accent5"/>
                </a:solidFill>
              </a:rPr>
              <a:t>発行待ち命令の待ち合わせのバッファ</a:t>
            </a:r>
            <a:endParaRPr kumimoji="1" lang="en-US" altLang="ja-JP" dirty="0">
              <a:solidFill>
                <a:schemeClr val="accent5"/>
              </a:solidFill>
            </a:endParaRPr>
          </a:p>
          <a:p>
            <a:pPr marL="817200" lvl="1" indent="-457200">
              <a:buFont typeface="+mj-lt"/>
              <a:buAutoNum type="arabicPeriod"/>
            </a:pPr>
            <a:r>
              <a:rPr kumimoji="1" lang="ja-JP" altLang="en-US" dirty="0"/>
              <a:t>バックエンド：</a:t>
            </a:r>
            <a:r>
              <a:rPr kumimoji="1" lang="en-US" altLang="ja-JP" dirty="0"/>
              <a:t>		</a:t>
            </a:r>
            <a:r>
              <a:rPr kumimoji="1" lang="ja-JP" altLang="en-US" dirty="0"/>
              <a:t>命令を実行</a:t>
            </a:r>
          </a:p>
        </p:txBody>
      </p:sp>
      <p:grpSp>
        <p:nvGrpSpPr>
          <p:cNvPr id="4" name="グループ化 3"/>
          <p:cNvGrpSpPr/>
          <p:nvPr/>
        </p:nvGrpSpPr>
        <p:grpSpPr>
          <a:xfrm>
            <a:off x="2945965" y="3248998"/>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5916142" y="3248998"/>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7356302" y="3248998"/>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8796462" y="3248998"/>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907805" y="238445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5877982" y="2384455"/>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7320029" y="2403039"/>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8760189" y="2403039"/>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2" name="Freeform 25"/>
          <p:cNvSpPr>
            <a:spLocks/>
          </p:cNvSpPr>
          <p:nvPr/>
        </p:nvSpPr>
        <p:spPr bwMode="auto">
          <a:xfrm>
            <a:off x="6096000" y="1088974"/>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レジスタ・ファイル</a:t>
            </a:r>
          </a:p>
        </p:txBody>
      </p:sp>
      <p:sp>
        <p:nvSpPr>
          <p:cNvPr id="23" name="AutoShape 5"/>
          <p:cNvSpPr>
            <a:spLocks noChangeArrowheads="1"/>
          </p:cNvSpPr>
          <p:nvPr/>
        </p:nvSpPr>
        <p:spPr bwMode="auto">
          <a:xfrm rot="-5400000">
            <a:off x="7716180" y="1773050"/>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ALU</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24" name="グループ化 23"/>
          <p:cNvGrpSpPr/>
          <p:nvPr/>
        </p:nvGrpSpPr>
        <p:grpSpPr>
          <a:xfrm>
            <a:off x="6384032" y="1809054"/>
            <a:ext cx="1008112" cy="432048"/>
            <a:chOff x="3563888" y="2708920"/>
            <a:chExt cx="1296144" cy="432048"/>
          </a:xfrm>
        </p:grpSpPr>
        <p:sp>
          <p:nvSpPr>
            <p:cNvPr id="25" name="Freeform 9"/>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6" name="Freeform 10"/>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27" name="Freeform 8"/>
          <p:cNvSpPr>
            <a:spLocks/>
          </p:cNvSpPr>
          <p:nvPr/>
        </p:nvSpPr>
        <p:spPr bwMode="auto">
          <a:xfrm>
            <a:off x="8832304" y="1809054"/>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4" name="正方形/長方形 33"/>
          <p:cNvSpPr/>
          <p:nvPr/>
        </p:nvSpPr>
        <p:spPr bwMode="auto">
          <a:xfrm>
            <a:off x="4655984" y="2348989"/>
            <a:ext cx="1080012" cy="2430027"/>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発行キュー</a:t>
            </a:r>
          </a:p>
        </p:txBody>
      </p:sp>
      <p:sp>
        <p:nvSpPr>
          <p:cNvPr id="35" name="正方形/長方形 34"/>
          <p:cNvSpPr/>
          <p:nvPr/>
        </p:nvSpPr>
        <p:spPr bwMode="auto">
          <a:xfrm>
            <a:off x="1955955" y="189898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命令メモリ</a:t>
            </a:r>
          </a:p>
        </p:txBody>
      </p:sp>
      <p:sp>
        <p:nvSpPr>
          <p:cNvPr id="36" name="正方形/長方形 35"/>
          <p:cNvSpPr/>
          <p:nvPr/>
        </p:nvSpPr>
        <p:spPr bwMode="auto">
          <a:xfrm>
            <a:off x="1685951" y="2438990"/>
            <a:ext cx="1152128" cy="1710019"/>
          </a:xfrm>
          <a:prstGeom prst="rect">
            <a:avLst/>
          </a:prstGeom>
          <a:ln>
            <a:headEnd/>
            <a:tailEnd type="non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r>
              <a:rPr lang="en-US" altLang="ja-JP" sz="2000" dirty="0">
                <a:solidFill>
                  <a:schemeClr val="bg1"/>
                </a:solidFill>
                <a:latin typeface="Arial Narrow" panose="020B0606020202030204" pitchFamily="34" charset="0"/>
              </a:rPr>
              <a:t>b=a+1</a:t>
            </a:r>
          </a:p>
          <a:p>
            <a:pPr>
              <a:lnSpc>
                <a:spcPct val="80000"/>
              </a:lnSpc>
            </a:pPr>
            <a:r>
              <a:rPr lang="en-US" altLang="ja-JP" sz="2000" dirty="0">
                <a:solidFill>
                  <a:schemeClr val="bg1"/>
                </a:solidFill>
                <a:latin typeface="Arial Narrow" panose="020B0606020202030204" pitchFamily="34" charset="0"/>
              </a:rPr>
              <a:t>c=b-1</a:t>
            </a:r>
          </a:p>
          <a:p>
            <a:pPr>
              <a:lnSpc>
                <a:spcPct val="80000"/>
              </a:lnSpc>
            </a:pPr>
            <a:r>
              <a:rPr lang="en-US" altLang="ja-JP" sz="2000" dirty="0">
                <a:solidFill>
                  <a:schemeClr val="bg1"/>
                </a:solidFill>
                <a:latin typeface="Arial Narrow" panose="020B0606020202030204" pitchFamily="34" charset="0"/>
              </a:rPr>
              <a:t>d=c+2</a:t>
            </a:r>
          </a:p>
          <a:p>
            <a:pPr>
              <a:lnSpc>
                <a:spcPct val="80000"/>
              </a:lnSpc>
            </a:pPr>
            <a:r>
              <a:rPr lang="en-US" altLang="ja-JP" sz="2000" dirty="0">
                <a:solidFill>
                  <a:schemeClr val="bg1"/>
                </a:solidFill>
                <a:latin typeface="Arial Narrow" panose="020B0606020202030204" pitchFamily="34" charset="0"/>
              </a:rPr>
              <a:t>e=…</a:t>
            </a:r>
          </a:p>
          <a:p>
            <a:pPr>
              <a:lnSpc>
                <a:spcPct val="80000"/>
              </a:lnSpc>
            </a:pPr>
            <a:r>
              <a:rPr lang="en-US" altLang="ja-JP" sz="2000" dirty="0">
                <a:solidFill>
                  <a:schemeClr val="bg1"/>
                </a:solidFill>
                <a:latin typeface="Arial Narrow" panose="020B0606020202030204" pitchFamily="34" charset="0"/>
              </a:rPr>
              <a:t>…</a:t>
            </a:r>
            <a:endParaRPr lang="ja-JP" altLang="en-US" sz="2000" dirty="0">
              <a:solidFill>
                <a:schemeClr val="bg1"/>
              </a:solidFill>
              <a:latin typeface="Arial Narrow" panose="020B0606020202030204" pitchFamily="34" charset="0"/>
            </a:endParaRPr>
          </a:p>
        </p:txBody>
      </p:sp>
      <p:cxnSp>
        <p:nvCxnSpPr>
          <p:cNvPr id="37" name="直線矢印コネクタ 36"/>
          <p:cNvCxnSpPr/>
          <p:nvPr/>
        </p:nvCxnSpPr>
        <p:spPr bwMode="auto">
          <a:xfrm flipH="1">
            <a:off x="1685952" y="4329010"/>
            <a:ext cx="2790030"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38" name="角丸四角形吹き出し 37"/>
          <p:cNvSpPr/>
          <p:nvPr/>
        </p:nvSpPr>
        <p:spPr bwMode="auto">
          <a:xfrm>
            <a:off x="2315958" y="441901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フロントエンド</a:t>
            </a:r>
          </a:p>
        </p:txBody>
      </p:sp>
      <p:cxnSp>
        <p:nvCxnSpPr>
          <p:cNvPr id="40" name="直線矢印コネクタ 39"/>
          <p:cNvCxnSpPr/>
          <p:nvPr/>
        </p:nvCxnSpPr>
        <p:spPr bwMode="auto">
          <a:xfrm flipH="1">
            <a:off x="5915999" y="4329010"/>
            <a:ext cx="4410049"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41" name="角丸四角形吹き出し 40"/>
          <p:cNvSpPr/>
          <p:nvPr/>
        </p:nvSpPr>
        <p:spPr bwMode="auto">
          <a:xfrm>
            <a:off x="7356014" y="441901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バックエンド</a:t>
            </a:r>
          </a:p>
        </p:txBody>
      </p:sp>
      <p:sp>
        <p:nvSpPr>
          <p:cNvPr id="43" name="正方形/長方形 42"/>
          <p:cNvSpPr/>
          <p:nvPr/>
        </p:nvSpPr>
        <p:spPr>
          <a:xfrm>
            <a:off x="4745986" y="1538979"/>
            <a:ext cx="865983" cy="738664"/>
          </a:xfrm>
          <a:prstGeom prst="rect">
            <a:avLst/>
          </a:prstGeom>
        </p:spPr>
        <p:txBody>
          <a:bodyPr wrap="square">
            <a:spAutoFit/>
          </a:bodyPr>
          <a:lstStyle/>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Tree>
    <p:extLst>
      <p:ext uri="{BB962C8B-B14F-4D97-AF65-F5344CB8AC3E}">
        <p14:creationId xmlns:p14="http://schemas.microsoft.com/office/powerpoint/2010/main" val="3232629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大ざっぱな動作（復習）</a:t>
            </a:r>
            <a:endParaRPr kumimoji="1" lang="ja-JP" altLang="en-US" dirty="0"/>
          </a:p>
        </p:txBody>
      </p:sp>
      <p:sp>
        <p:nvSpPr>
          <p:cNvPr id="3" name="テキスト プレースホルダー 2"/>
          <p:cNvSpPr>
            <a:spLocks noGrp="1"/>
          </p:cNvSpPr>
          <p:nvPr>
            <p:ph type="body" sz="quarter" idx="10"/>
          </p:nvPr>
        </p:nvSpPr>
        <p:spPr>
          <a:xfrm>
            <a:off x="2135956" y="5319021"/>
            <a:ext cx="8280092" cy="629700"/>
          </a:xfrm>
        </p:spPr>
        <p:txBody>
          <a:bodyPr/>
          <a:lstStyle/>
          <a:p>
            <a:pPr marL="817200" lvl="1" indent="-457200">
              <a:buFont typeface="+mj-lt"/>
              <a:buAutoNum type="arabicPeriod"/>
            </a:pPr>
            <a:r>
              <a:rPr kumimoji="1" lang="ja-JP" altLang="en-US" dirty="0"/>
              <a:t>フロントエンドで命令を順にフェッチしてリネーム</a:t>
            </a:r>
            <a:endParaRPr kumimoji="1" lang="en-US" altLang="ja-JP" dirty="0"/>
          </a:p>
          <a:p>
            <a:pPr marL="817200" lvl="1" indent="-457200">
              <a:buFont typeface="+mj-lt"/>
              <a:buAutoNum type="arabicPeriod"/>
            </a:pPr>
            <a:r>
              <a:rPr kumimoji="1" lang="ja-JP" altLang="en-US" dirty="0"/>
              <a:t>発行キューにディスパッチ</a:t>
            </a:r>
            <a:endParaRPr kumimoji="1" lang="en-US" altLang="ja-JP" dirty="0"/>
          </a:p>
          <a:p>
            <a:pPr marL="817200" lvl="1" indent="-457200">
              <a:buFont typeface="+mj-lt"/>
              <a:buAutoNum type="arabicPeriod"/>
            </a:pPr>
            <a:r>
              <a:rPr kumimoji="1" lang="ja-JP" altLang="en-US" dirty="0"/>
              <a:t>発行可能なものから順にバックエンドに命令を発行</a:t>
            </a:r>
            <a:endParaRPr kumimoji="1" lang="en-US" altLang="ja-JP" dirty="0"/>
          </a:p>
          <a:p>
            <a:pPr marL="817200" lvl="1" indent="-457200">
              <a:buFont typeface="+mj-lt"/>
              <a:buAutoNum type="arabicPeriod"/>
            </a:pPr>
            <a:r>
              <a:rPr kumimoji="1" lang="ja-JP" altLang="en-US" dirty="0"/>
              <a:t>レジスタを読んで演算器で実行し書き戻す</a:t>
            </a:r>
          </a:p>
        </p:txBody>
      </p:sp>
      <p:grpSp>
        <p:nvGrpSpPr>
          <p:cNvPr id="4" name="グループ化 3"/>
          <p:cNvGrpSpPr/>
          <p:nvPr/>
        </p:nvGrpSpPr>
        <p:grpSpPr>
          <a:xfrm>
            <a:off x="2495960" y="2798993"/>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5466137" y="2798993"/>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6906297" y="2798993"/>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8346457" y="2798993"/>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457800" y="1934450"/>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5427977" y="1934450"/>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6870024" y="1953034"/>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8310184" y="1953034"/>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4" name="正方形/長方形 33"/>
          <p:cNvSpPr/>
          <p:nvPr/>
        </p:nvSpPr>
        <p:spPr bwMode="auto">
          <a:xfrm>
            <a:off x="4205979" y="2438990"/>
            <a:ext cx="1080012" cy="135001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発行キュー</a:t>
            </a:r>
          </a:p>
        </p:txBody>
      </p:sp>
      <p:cxnSp>
        <p:nvCxnSpPr>
          <p:cNvPr id="37" name="直線矢印コネクタ 36"/>
          <p:cNvCxnSpPr/>
          <p:nvPr/>
        </p:nvCxnSpPr>
        <p:spPr bwMode="auto">
          <a:xfrm flipH="1">
            <a:off x="2495961" y="3536360"/>
            <a:ext cx="1530017"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38" name="角丸四角形吹き出し 37"/>
          <p:cNvSpPr/>
          <p:nvPr/>
        </p:nvSpPr>
        <p:spPr bwMode="auto">
          <a:xfrm>
            <a:off x="2405959" y="362636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フロントエンド</a:t>
            </a:r>
          </a:p>
        </p:txBody>
      </p:sp>
      <p:cxnSp>
        <p:nvCxnSpPr>
          <p:cNvPr id="40" name="直線矢印コネクタ 39"/>
          <p:cNvCxnSpPr/>
          <p:nvPr/>
        </p:nvCxnSpPr>
        <p:spPr bwMode="auto">
          <a:xfrm flipH="1">
            <a:off x="5465994" y="3536360"/>
            <a:ext cx="4410049"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41" name="角丸四角形吹き出し 40"/>
          <p:cNvSpPr/>
          <p:nvPr/>
        </p:nvSpPr>
        <p:spPr bwMode="auto">
          <a:xfrm>
            <a:off x="6906009" y="362636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バックエンド</a:t>
            </a:r>
          </a:p>
        </p:txBody>
      </p:sp>
      <p:sp>
        <p:nvSpPr>
          <p:cNvPr id="43" name="正方形/長方形 42"/>
          <p:cNvSpPr/>
          <p:nvPr/>
        </p:nvSpPr>
        <p:spPr>
          <a:xfrm>
            <a:off x="4295981" y="1628980"/>
            <a:ext cx="865983" cy="738664"/>
          </a:xfrm>
          <a:prstGeom prst="rect">
            <a:avLst/>
          </a:prstGeom>
        </p:spPr>
        <p:txBody>
          <a:bodyPr wrap="square">
            <a:spAutoFit/>
          </a:bodyPr>
          <a:lstStyle/>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Tree>
    <p:extLst>
      <p:ext uri="{BB962C8B-B14F-4D97-AF65-F5344CB8AC3E}">
        <p14:creationId xmlns:p14="http://schemas.microsoft.com/office/powerpoint/2010/main" val="40391426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今回の内容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動的スケジューリングの詳細</a:t>
            </a:r>
            <a:endParaRPr lang="en-US" altLang="ja-JP" dirty="0"/>
          </a:p>
          <a:p>
            <a:pPr marL="817200" lvl="1" indent="-457200">
              <a:buFont typeface="+mj-lt"/>
              <a:buAutoNum type="arabicPeriod"/>
            </a:pPr>
            <a:r>
              <a:rPr lang="ja-JP" altLang="en-US" b="1" dirty="0"/>
              <a:t>例外への対応</a:t>
            </a:r>
            <a:endParaRPr lang="en-US" altLang="ja-JP" b="1" dirty="0"/>
          </a:p>
          <a:p>
            <a:pPr marL="817200" lvl="1" indent="-457200">
              <a:buFont typeface="+mj-lt"/>
              <a:buAutoNum type="arabicPeriod"/>
            </a:pPr>
            <a:r>
              <a:rPr lang="ja-JP" altLang="en-US" dirty="0"/>
              <a:t>ロード・ストアへの対応</a:t>
            </a:r>
          </a:p>
        </p:txBody>
      </p:sp>
    </p:spTree>
    <p:extLst>
      <p:ext uri="{BB962C8B-B14F-4D97-AF65-F5344CB8AC3E}">
        <p14:creationId xmlns:p14="http://schemas.microsoft.com/office/powerpoint/2010/main" val="2075798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例外</a:t>
            </a:r>
          </a:p>
        </p:txBody>
      </p:sp>
      <p:sp>
        <p:nvSpPr>
          <p:cNvPr id="3" name="テキスト プレースホルダー 2"/>
          <p:cNvSpPr>
            <a:spLocks noGrp="1"/>
          </p:cNvSpPr>
          <p:nvPr>
            <p:ph type="body" sz="quarter" idx="10"/>
          </p:nvPr>
        </p:nvSpPr>
        <p:spPr/>
        <p:txBody>
          <a:bodyPr/>
          <a:lstStyle/>
          <a:p>
            <a:r>
              <a:rPr lang="ja-JP" altLang="en-US" dirty="0"/>
              <a:t>制御フロー：</a:t>
            </a:r>
            <a:endParaRPr lang="en-US" altLang="ja-JP" dirty="0"/>
          </a:p>
          <a:p>
            <a:pPr lvl="1"/>
            <a:r>
              <a:rPr lang="ja-JP" altLang="en-US" dirty="0"/>
              <a:t>命令がどのように実行されていくか</a:t>
            </a:r>
            <a:br>
              <a:rPr lang="en-US" altLang="ja-JP" dirty="0"/>
            </a:br>
            <a:r>
              <a:rPr lang="en-US" altLang="ja-JP" dirty="0"/>
              <a:t>= PC </a:t>
            </a:r>
            <a:r>
              <a:rPr lang="ja-JP" altLang="en-US" dirty="0"/>
              <a:t>がどのように変化するか の流れ</a:t>
            </a:r>
            <a:endParaRPr lang="en-US" altLang="ja-JP" dirty="0"/>
          </a:p>
          <a:p>
            <a:pPr lvl="1"/>
            <a:r>
              <a:rPr lang="ja-JP" altLang="en-US" dirty="0"/>
              <a:t>通常は </a:t>
            </a:r>
            <a:r>
              <a:rPr lang="en-US" altLang="ja-JP" dirty="0"/>
              <a:t>+4 </a:t>
            </a:r>
            <a:r>
              <a:rPr lang="ja-JP" altLang="en-US" dirty="0"/>
              <a:t>されていき，分岐によってたまに離れたところに飛ぶ</a:t>
            </a:r>
            <a:endParaRPr lang="en-US" altLang="ja-JP" dirty="0"/>
          </a:p>
          <a:p>
            <a:pPr lvl="2"/>
            <a:r>
              <a:rPr lang="ja-JP" altLang="en-US" dirty="0"/>
              <a:t>（命令サイズが４バイト固定の場合）</a:t>
            </a:r>
            <a:endParaRPr lang="en-US" altLang="ja-JP" dirty="0"/>
          </a:p>
          <a:p>
            <a:r>
              <a:rPr kumimoji="1" lang="ja-JP" altLang="en-US" dirty="0"/>
              <a:t>「例外」とは，例外的な制御フローのこと</a:t>
            </a:r>
            <a:endParaRPr kumimoji="1" lang="en-US" altLang="ja-JP" dirty="0"/>
          </a:p>
          <a:p>
            <a:pPr lvl="1"/>
            <a:r>
              <a:rPr kumimoji="1" lang="ja-JP" altLang="en-US" dirty="0"/>
              <a:t>例外イベントが起きると，あらかじめ設定された場所に </a:t>
            </a:r>
            <a:r>
              <a:rPr kumimoji="1" lang="en-US" altLang="ja-JP" dirty="0"/>
              <a:t>PC </a:t>
            </a:r>
            <a:r>
              <a:rPr kumimoji="1" lang="ja-JP" altLang="en-US" dirty="0"/>
              <a:t>が飛ぶ</a:t>
            </a:r>
            <a:endParaRPr kumimoji="1" lang="en-US" altLang="ja-JP" dirty="0"/>
          </a:p>
        </p:txBody>
      </p:sp>
    </p:spTree>
    <p:extLst>
      <p:ext uri="{BB962C8B-B14F-4D97-AF65-F5344CB8AC3E}">
        <p14:creationId xmlns:p14="http://schemas.microsoft.com/office/powerpoint/2010/main" val="42589074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ソフトウェア例外とハードウェア例外</a:t>
            </a:r>
          </a:p>
        </p:txBody>
      </p:sp>
      <p:sp>
        <p:nvSpPr>
          <p:cNvPr id="3" name="テキスト プレースホルダー 2"/>
          <p:cNvSpPr>
            <a:spLocks noGrp="1"/>
          </p:cNvSpPr>
          <p:nvPr>
            <p:ph type="body" sz="quarter" idx="10"/>
          </p:nvPr>
        </p:nvSpPr>
        <p:spPr/>
        <p:txBody>
          <a:bodyPr/>
          <a:lstStyle/>
          <a:p>
            <a:r>
              <a:rPr kumimoji="1" lang="ja-JP" altLang="en-US" dirty="0"/>
              <a:t>「例外（</a:t>
            </a:r>
            <a:r>
              <a:rPr kumimoji="1" lang="en-US" altLang="ja-JP" dirty="0"/>
              <a:t>exception</a:t>
            </a:r>
            <a:r>
              <a:rPr kumimoji="1" lang="ja-JP" altLang="en-US" dirty="0"/>
              <a:t>）」がさすもの：</a:t>
            </a:r>
            <a:br>
              <a:rPr kumimoji="1" lang="en-US" altLang="ja-JP" dirty="0"/>
            </a:br>
            <a:endParaRPr kumimoji="1" lang="en-US" altLang="ja-JP" dirty="0"/>
          </a:p>
          <a:p>
            <a:pPr marL="817200" lvl="1" indent="-457200">
              <a:buFont typeface="+mj-lt"/>
              <a:buAutoNum type="arabicPeriod"/>
            </a:pPr>
            <a:r>
              <a:rPr kumimoji="1" lang="ja-JP" altLang="en-US" dirty="0"/>
              <a:t>ソフトウェアの例外</a:t>
            </a:r>
            <a:endParaRPr kumimoji="1" lang="en-US" altLang="ja-JP" dirty="0"/>
          </a:p>
          <a:p>
            <a:pPr lvl="2"/>
            <a:r>
              <a:rPr lang="en-US" altLang="ja-JP" dirty="0">
                <a:latin typeface="Consolas" panose="020B0609020204030204" pitchFamily="49" charset="0"/>
              </a:rPr>
              <a:t>try {...</a:t>
            </a:r>
            <a:r>
              <a:rPr kumimoji="1" lang="en-US" altLang="ja-JP" dirty="0">
                <a:latin typeface="Consolas" panose="020B0609020204030204" pitchFamily="49" charset="0"/>
              </a:rPr>
              <a:t>}</a:t>
            </a:r>
            <a:br>
              <a:rPr kumimoji="1" lang="en-US" altLang="ja-JP" dirty="0">
                <a:latin typeface="Consolas" panose="020B0609020204030204" pitchFamily="49" charset="0"/>
              </a:rPr>
            </a:br>
            <a:r>
              <a:rPr kumimoji="1" lang="en-US" altLang="ja-JP" dirty="0">
                <a:latin typeface="Consolas" panose="020B0609020204030204" pitchFamily="49" charset="0"/>
              </a:rPr>
              <a:t>catch {...}</a:t>
            </a:r>
            <a:br>
              <a:rPr kumimoji="1" lang="en-US" altLang="ja-JP" dirty="0">
                <a:latin typeface="Consolas" panose="020B0609020204030204" pitchFamily="49" charset="0"/>
              </a:rPr>
            </a:br>
            <a:endParaRPr kumimoji="1" lang="en-US" altLang="ja-JP" dirty="0">
              <a:latin typeface="Consolas" panose="020B0609020204030204" pitchFamily="49" charset="0"/>
            </a:endParaRPr>
          </a:p>
          <a:p>
            <a:pPr marL="817200" lvl="1" indent="-457200">
              <a:buFont typeface="+mj-lt"/>
              <a:buAutoNum type="arabicPeriod"/>
            </a:pPr>
            <a:r>
              <a:rPr kumimoji="1" lang="ja-JP" altLang="en-US" dirty="0">
                <a:latin typeface="Consolas" panose="020B0609020204030204" pitchFamily="49" charset="0"/>
              </a:rPr>
              <a:t>ハードウェアの例外</a:t>
            </a:r>
            <a:endParaRPr kumimoji="1" lang="en-US" altLang="ja-JP" dirty="0">
              <a:latin typeface="Consolas" panose="020B0609020204030204" pitchFamily="49" charset="0"/>
            </a:endParaRPr>
          </a:p>
          <a:p>
            <a:pPr lvl="2"/>
            <a:r>
              <a:rPr kumimoji="1" lang="ja-JP" altLang="en-US" dirty="0">
                <a:latin typeface="Consolas" panose="020B0609020204030204" pitchFamily="49" charset="0"/>
              </a:rPr>
              <a:t>ゼロ除算</a:t>
            </a:r>
            <a:endParaRPr kumimoji="1" lang="en-US" altLang="ja-JP" dirty="0">
              <a:latin typeface="Consolas" panose="020B0609020204030204" pitchFamily="49" charset="0"/>
            </a:endParaRPr>
          </a:p>
          <a:p>
            <a:pPr lvl="2"/>
            <a:r>
              <a:rPr kumimoji="1" lang="ja-JP" altLang="en-US" dirty="0">
                <a:latin typeface="Consolas" panose="020B0609020204030204" pitchFamily="49" charset="0"/>
              </a:rPr>
              <a:t>メモリ・アクセス違反</a:t>
            </a:r>
            <a:endParaRPr kumimoji="1" lang="en-US" altLang="ja-JP" dirty="0">
              <a:latin typeface="Consolas" panose="020B0609020204030204" pitchFamily="49" charset="0"/>
            </a:endParaRPr>
          </a:p>
          <a:p>
            <a:r>
              <a:rPr kumimoji="1" lang="ja-JP" altLang="en-US" dirty="0">
                <a:solidFill>
                  <a:schemeClr val="accent5"/>
                </a:solidFill>
              </a:rPr>
              <a:t>今回の講義では例外と言ったら，ハード例外をさすことに</a:t>
            </a:r>
          </a:p>
        </p:txBody>
      </p:sp>
    </p:spTree>
    <p:extLst>
      <p:ext uri="{BB962C8B-B14F-4D97-AF65-F5344CB8AC3E}">
        <p14:creationId xmlns:p14="http://schemas.microsoft.com/office/powerpoint/2010/main" val="8036589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例外ハンドラ：</a:t>
            </a:r>
            <a:endParaRPr kumimoji="1" lang="ja-JP" altLang="en-US" dirty="0"/>
          </a:p>
        </p:txBody>
      </p:sp>
      <p:sp>
        <p:nvSpPr>
          <p:cNvPr id="3" name="テキスト プレースホルダー 2"/>
          <p:cNvSpPr>
            <a:spLocks noGrp="1"/>
          </p:cNvSpPr>
          <p:nvPr>
            <p:ph type="body" sz="quarter" idx="10"/>
          </p:nvPr>
        </p:nvSpPr>
        <p:spPr/>
        <p:txBody>
          <a:bodyPr/>
          <a:lstStyle/>
          <a:p>
            <a:r>
              <a:rPr lang="ja-JP" altLang="en-US" dirty="0"/>
              <a:t>例外ハンドラ：</a:t>
            </a:r>
            <a:endParaRPr lang="en-US" altLang="ja-JP" dirty="0"/>
          </a:p>
          <a:p>
            <a:pPr lvl="1"/>
            <a:r>
              <a:rPr lang="ja-JP" altLang="en-US" dirty="0"/>
              <a:t>特別なレジスタに，例外発生時の飛び先アドレスを登録しておく</a:t>
            </a:r>
            <a:endParaRPr lang="en-US" altLang="ja-JP" dirty="0"/>
          </a:p>
          <a:p>
            <a:pPr lvl="2"/>
            <a:r>
              <a:rPr lang="ja-JP" altLang="en-US" dirty="0"/>
              <a:t>例外が起きると強制的にそのアドレスに分岐してくる</a:t>
            </a:r>
            <a:endParaRPr lang="en-US" altLang="ja-JP" dirty="0"/>
          </a:p>
          <a:p>
            <a:pPr lvl="1"/>
            <a:r>
              <a:rPr lang="ja-JP" altLang="en-US" dirty="0"/>
              <a:t>そこに例外への対応コード（例外ハンドラ）を用意しておく</a:t>
            </a:r>
            <a:endParaRPr kumimoji="1" lang="ja-JP" altLang="en-US" dirty="0"/>
          </a:p>
        </p:txBody>
      </p:sp>
    </p:spTree>
    <p:extLst>
      <p:ext uri="{BB962C8B-B14F-4D97-AF65-F5344CB8AC3E}">
        <p14:creationId xmlns:p14="http://schemas.microsoft.com/office/powerpoint/2010/main" val="34363543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例外ハンドラ：</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例外ハンドラの中身</a:t>
            </a:r>
            <a:endParaRPr kumimoji="1" lang="en-US" altLang="ja-JP" dirty="0"/>
          </a:p>
          <a:p>
            <a:pPr marL="817200" lvl="1" indent="-457200">
              <a:buFont typeface="+mj-lt"/>
              <a:buAutoNum type="arabicPeriod"/>
            </a:pPr>
            <a:r>
              <a:rPr kumimoji="1" lang="ja-JP" altLang="en-US" dirty="0"/>
              <a:t>回復不能な場合</a:t>
            </a:r>
            <a:endParaRPr kumimoji="1" lang="en-US" altLang="ja-JP" dirty="0"/>
          </a:p>
          <a:p>
            <a:pPr lvl="2"/>
            <a:r>
              <a:rPr lang="ja-JP" altLang="en-US" dirty="0"/>
              <a:t>ゼロ除算，</a:t>
            </a:r>
            <a:r>
              <a:rPr lang="en-US" altLang="ja-JP" dirty="0"/>
              <a:t>NULL </a:t>
            </a:r>
            <a:r>
              <a:rPr lang="ja-JP" altLang="en-US" dirty="0"/>
              <a:t>ポインタ・アクセスなど</a:t>
            </a:r>
            <a:endParaRPr lang="en-US" altLang="ja-JP" dirty="0"/>
          </a:p>
          <a:p>
            <a:pPr lvl="2"/>
            <a:r>
              <a:rPr kumimoji="1" lang="ja-JP" altLang="en-US" dirty="0"/>
              <a:t>プログラムの実行を終了させて，エラー・メッセージを表示</a:t>
            </a:r>
            <a:endParaRPr kumimoji="1" lang="en-US" altLang="ja-JP" dirty="0"/>
          </a:p>
          <a:p>
            <a:pPr lvl="3"/>
            <a:r>
              <a:rPr kumimoji="1" lang="ja-JP" altLang="en-US" dirty="0"/>
              <a:t>「一般保護違反」「</a:t>
            </a:r>
            <a:r>
              <a:rPr kumimoji="1" lang="en-US" altLang="ja-JP" dirty="0"/>
              <a:t>Segmentation fault</a:t>
            </a:r>
            <a:r>
              <a:rPr kumimoji="1" lang="ja-JP" altLang="en-US" dirty="0"/>
              <a:t>」</a:t>
            </a:r>
            <a:endParaRPr kumimoji="1" lang="en-US" altLang="ja-JP" dirty="0"/>
          </a:p>
          <a:p>
            <a:pPr lvl="2"/>
            <a:endParaRPr kumimoji="1" lang="en-US" altLang="ja-JP" dirty="0"/>
          </a:p>
          <a:p>
            <a:pPr marL="817200" lvl="1" indent="-457200">
              <a:buFont typeface="+mj-lt"/>
              <a:buAutoNum type="arabicPeriod"/>
            </a:pPr>
            <a:r>
              <a:rPr kumimoji="1" lang="ja-JP" altLang="en-US" dirty="0"/>
              <a:t>回復可能な場合</a:t>
            </a:r>
            <a:endParaRPr kumimoji="1" lang="en-US" altLang="ja-JP" dirty="0"/>
          </a:p>
          <a:p>
            <a:pPr lvl="2"/>
            <a:r>
              <a:rPr lang="ja-JP" altLang="en-US" dirty="0"/>
              <a:t>スワップアウトされたメモリへのアクセスなど</a:t>
            </a:r>
            <a:endParaRPr kumimoji="1" lang="en-US" altLang="ja-JP" dirty="0"/>
          </a:p>
          <a:p>
            <a:pPr lvl="2"/>
            <a:r>
              <a:rPr kumimoji="1" lang="ja-JP" altLang="en-US" dirty="0"/>
              <a:t>スワップからのデータの読み出しなどを行ってから，</a:t>
            </a:r>
            <a:br>
              <a:rPr kumimoji="1" lang="en-US" altLang="ja-JP" dirty="0"/>
            </a:br>
            <a:r>
              <a:rPr kumimoji="1" lang="ja-JP" altLang="en-US" dirty="0"/>
              <a:t>元の命令を再実行</a:t>
            </a:r>
          </a:p>
        </p:txBody>
      </p:sp>
    </p:spTree>
    <p:extLst>
      <p:ext uri="{BB962C8B-B14F-4D97-AF65-F5344CB8AC3E}">
        <p14:creationId xmlns:p14="http://schemas.microsoft.com/office/powerpoint/2010/main" val="33662042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例外の例１</a:t>
            </a:r>
            <a:br>
              <a:rPr kumimoji="1" lang="en-US" altLang="ja-JP" dirty="0"/>
            </a:br>
            <a:r>
              <a:rPr lang="ja-JP" altLang="en-US" sz="1600" dirty="0"/>
              <a:t>（注：実際の </a:t>
            </a:r>
            <a:r>
              <a:rPr lang="en-US" altLang="ja-JP" sz="1600" dirty="0"/>
              <a:t>RISC-V </a:t>
            </a:r>
            <a:r>
              <a:rPr lang="ja-JP" altLang="en-US" sz="1600" dirty="0"/>
              <a:t>ではゼロ除算例外は存在しない）</a:t>
            </a:r>
          </a:p>
        </p:txBody>
      </p:sp>
      <p:sp>
        <p:nvSpPr>
          <p:cNvPr id="3" name="テキスト プレースホルダー 2"/>
          <p:cNvSpPr>
            <a:spLocks noGrp="1"/>
          </p:cNvSpPr>
          <p:nvPr>
            <p:ph type="body" sz="quarter" idx="10"/>
          </p:nvPr>
        </p:nvSpPr>
        <p:spPr/>
        <p:txBody>
          <a:bodyPr/>
          <a:lstStyle/>
          <a:p>
            <a:r>
              <a:rPr kumimoji="1" lang="ja-JP" altLang="en-US" dirty="0"/>
              <a:t>ゼロ除算例外の場合：</a:t>
            </a:r>
            <a:br>
              <a:rPr kumimoji="1" lang="en-US" altLang="ja-JP" dirty="0"/>
            </a:br>
            <a:br>
              <a:rPr kumimoji="1" lang="en-US" altLang="ja-JP" dirty="0"/>
            </a:br>
            <a:r>
              <a:rPr lang="en-US" altLang="ja-JP" dirty="0">
                <a:latin typeface="Consolas" panose="020B0609020204030204" pitchFamily="49" charset="0"/>
              </a:rPr>
              <a:t>    </a:t>
            </a:r>
            <a:r>
              <a:rPr lang="en-US" altLang="ja-JP" dirty="0" err="1">
                <a:latin typeface="Consolas" panose="020B0609020204030204" pitchFamily="49" charset="0"/>
              </a:rPr>
              <a:t>csrw</a:t>
            </a:r>
            <a:r>
              <a:rPr lang="en-US" altLang="ja-JP" dirty="0">
                <a:latin typeface="Consolas" panose="020B0609020204030204" pitchFamily="49" charset="0"/>
              </a:rPr>
              <a:t> </a:t>
            </a:r>
            <a:r>
              <a:rPr lang="en-US" altLang="ja-JP" dirty="0" err="1">
                <a:latin typeface="Consolas" panose="020B0609020204030204" pitchFamily="49" charset="0"/>
              </a:rPr>
              <a:t>mtvec</a:t>
            </a:r>
            <a:r>
              <a:rPr lang="en-US" altLang="ja-JP" dirty="0">
                <a:latin typeface="Consolas" panose="020B0609020204030204" pitchFamily="49" charset="0"/>
              </a:rPr>
              <a:t>, </a:t>
            </a:r>
            <a:r>
              <a:rPr lang="en-US" altLang="ja-JP" dirty="0">
                <a:solidFill>
                  <a:schemeClr val="accent5"/>
                </a:solidFill>
                <a:latin typeface="Consolas" panose="020B0609020204030204" pitchFamily="49" charset="0"/>
              </a:rPr>
              <a:t>HANDLER</a:t>
            </a:r>
            <a:r>
              <a:rPr lang="en-US" altLang="ja-JP" dirty="0">
                <a:latin typeface="Consolas" panose="020B0609020204030204" pitchFamily="49" charset="0"/>
              </a:rPr>
              <a:t>   </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例外ハンドラを設定</a:t>
            </a:r>
            <a:br>
              <a:rPr lang="en-US" altLang="ja-JP" dirty="0">
                <a:latin typeface="Consolas" panose="020B0609020204030204" pitchFamily="49" charset="0"/>
              </a:rPr>
            </a:br>
            <a:r>
              <a:rPr lang="en-US" altLang="ja-JP" dirty="0">
                <a:latin typeface="Consolas" panose="020B0609020204030204" pitchFamily="49" charset="0"/>
              </a:rPr>
              <a:t>    ...</a:t>
            </a:r>
            <a:br>
              <a:rPr lang="en-US" altLang="ja-JP" dirty="0">
                <a:latin typeface="Consolas" panose="020B0609020204030204" pitchFamily="49" charset="0"/>
              </a:rPr>
            </a:br>
            <a:r>
              <a:rPr lang="en-US" altLang="ja-JP" dirty="0">
                <a:latin typeface="Consolas" panose="020B0609020204030204" pitchFamily="49" charset="0"/>
              </a:rPr>
              <a:t>    div x1 </a:t>
            </a:r>
            <a:r>
              <a:rPr lang="ja-JP" altLang="en-US" dirty="0">
                <a:latin typeface="Consolas" panose="020B0609020204030204" pitchFamily="49" charset="0"/>
              </a:rPr>
              <a:t>←</a:t>
            </a:r>
            <a:r>
              <a:rPr lang="en-US" altLang="ja-JP" dirty="0">
                <a:latin typeface="Consolas" panose="020B0609020204030204" pitchFamily="49" charset="0"/>
              </a:rPr>
              <a:t> x2 / 0       </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ゼロ除算実行</a:t>
            </a:r>
            <a:br>
              <a:rPr lang="en-US" altLang="ja-JP" dirty="0">
                <a:latin typeface="Consolas" panose="020B0609020204030204" pitchFamily="49" charset="0"/>
              </a:rPr>
            </a:br>
            <a:r>
              <a:rPr lang="en-US" altLang="ja-JP" dirty="0">
                <a:latin typeface="Consolas" panose="020B0609020204030204" pitchFamily="49" charset="0"/>
              </a:rPr>
              <a:t>    ...</a:t>
            </a:r>
            <a:br>
              <a:rPr lang="en-US" altLang="ja-JP" dirty="0">
                <a:latin typeface="Consolas" panose="020B0609020204030204" pitchFamily="49" charset="0"/>
              </a:rPr>
            </a:br>
            <a:br>
              <a:rPr lang="en-US" altLang="ja-JP" dirty="0">
                <a:latin typeface="Consolas" panose="020B0609020204030204" pitchFamily="49" charset="0"/>
              </a:rPr>
            </a:br>
            <a:r>
              <a:rPr lang="en-US" altLang="ja-JP" dirty="0">
                <a:latin typeface="Consolas" panose="020B0609020204030204" pitchFamily="49" charset="0"/>
              </a:rPr>
              <a:t>    </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ゼロ除算が起きると，ここに飛ばされる</a:t>
            </a:r>
            <a:br>
              <a:rPr lang="en-US" altLang="ja-JP" dirty="0">
                <a:solidFill>
                  <a:schemeClr val="accent3">
                    <a:lumMod val="75000"/>
                  </a:schemeClr>
                </a:solidFill>
                <a:latin typeface="Consolas" panose="020B0609020204030204" pitchFamily="49" charset="0"/>
              </a:rPr>
            </a:br>
            <a:r>
              <a:rPr lang="en-US" altLang="ja-JP" dirty="0">
                <a:solidFill>
                  <a:schemeClr val="accent3">
                    <a:lumMod val="75000"/>
                  </a:schemeClr>
                </a:solidFill>
                <a:latin typeface="Consolas" panose="020B0609020204030204" pitchFamily="49" charset="0"/>
              </a:rPr>
              <a:t>    // OS </a:t>
            </a:r>
            <a:r>
              <a:rPr lang="ja-JP" altLang="en-US" dirty="0">
                <a:solidFill>
                  <a:schemeClr val="accent3">
                    <a:lumMod val="75000"/>
                  </a:schemeClr>
                </a:solidFill>
                <a:latin typeface="Consolas" panose="020B0609020204030204" pitchFamily="49" charset="0"/>
              </a:rPr>
              <a:t>が用意した例外ハンドラよって必要な処置が行われる</a:t>
            </a:r>
            <a:br>
              <a:rPr lang="en-US" altLang="ja-JP" dirty="0">
                <a:solidFill>
                  <a:schemeClr val="accent3">
                    <a:lumMod val="75000"/>
                  </a:schemeClr>
                </a:solidFill>
                <a:latin typeface="Consolas" panose="020B0609020204030204" pitchFamily="49" charset="0"/>
              </a:rPr>
            </a:br>
            <a:r>
              <a:rPr lang="en-US" altLang="ja-JP" dirty="0">
                <a:solidFill>
                  <a:schemeClr val="accent3">
                    <a:lumMod val="75000"/>
                  </a:schemeClr>
                </a:solidFill>
                <a:latin typeface="Consolas" panose="020B0609020204030204" pitchFamily="49" charset="0"/>
              </a:rPr>
              <a:t>    // </a:t>
            </a:r>
            <a:r>
              <a:rPr lang="ja-JP" altLang="en-US" dirty="0">
                <a:solidFill>
                  <a:schemeClr val="accent3">
                    <a:lumMod val="75000"/>
                  </a:schemeClr>
                </a:solidFill>
                <a:latin typeface="Consolas" panose="020B0609020204030204" pitchFamily="49" charset="0"/>
              </a:rPr>
              <a:t>（この場合はエラーを表示してプログラムを落とす）</a:t>
            </a:r>
            <a:br>
              <a:rPr lang="en-US" altLang="ja-JP" dirty="0">
                <a:latin typeface="Consolas" panose="020B0609020204030204" pitchFamily="49" charset="0"/>
              </a:rPr>
            </a:br>
            <a:r>
              <a:rPr lang="en-US" altLang="ja-JP" dirty="0">
                <a:solidFill>
                  <a:schemeClr val="accent5"/>
                </a:solidFill>
                <a:latin typeface="Consolas" panose="020B0609020204030204" pitchFamily="49" charset="0"/>
              </a:rPr>
              <a:t>HANDLER</a:t>
            </a:r>
            <a:r>
              <a:rPr lang="en-US" altLang="ja-JP" dirty="0">
                <a:latin typeface="Consolas" panose="020B0609020204030204" pitchFamily="49" charset="0"/>
              </a:rPr>
              <a:t>:         </a:t>
            </a:r>
            <a:r>
              <a:rPr lang="en-US" altLang="ja-JP" dirty="0">
                <a:solidFill>
                  <a:schemeClr val="accent3">
                    <a:lumMod val="75000"/>
                  </a:schemeClr>
                </a:solidFill>
                <a:latin typeface="Consolas" panose="020B0609020204030204" pitchFamily="49" charset="0"/>
              </a:rPr>
              <a:t>    </a:t>
            </a:r>
            <a:br>
              <a:rPr lang="en-US" altLang="ja-JP" dirty="0">
                <a:solidFill>
                  <a:schemeClr val="accent3">
                    <a:lumMod val="75000"/>
                  </a:schemeClr>
                </a:solidFill>
                <a:latin typeface="Consolas" panose="020B0609020204030204" pitchFamily="49" charset="0"/>
              </a:rPr>
            </a:br>
            <a:r>
              <a:rPr lang="en-US" altLang="ja-JP" dirty="0">
                <a:solidFill>
                  <a:schemeClr val="accent3">
                    <a:lumMod val="75000"/>
                  </a:schemeClr>
                </a:solidFill>
                <a:latin typeface="Consolas" panose="020B0609020204030204" pitchFamily="49" charset="0"/>
              </a:rPr>
              <a:t>    </a:t>
            </a:r>
            <a:r>
              <a:rPr lang="en-US" altLang="ja-JP" dirty="0">
                <a:latin typeface="Consolas" panose="020B0609020204030204" pitchFamily="49" charset="0"/>
              </a:rPr>
              <a:t>call PRINT_ERROR_MSG</a:t>
            </a:r>
            <a:br>
              <a:rPr lang="en-US" altLang="ja-JP" dirty="0">
                <a:latin typeface="Consolas" panose="020B0609020204030204" pitchFamily="49" charset="0"/>
              </a:rPr>
            </a:br>
            <a:r>
              <a:rPr lang="en-US" altLang="ja-JP" dirty="0">
                <a:latin typeface="Consolas" panose="020B0609020204030204" pitchFamily="49" charset="0"/>
              </a:rPr>
              <a:t>    call EXIT</a:t>
            </a:r>
            <a:br>
              <a:rPr lang="en-US" altLang="ja-JP" dirty="0">
                <a:latin typeface="Consolas" panose="020B0609020204030204" pitchFamily="49" charset="0"/>
              </a:rPr>
            </a:br>
            <a:r>
              <a:rPr lang="en-US" altLang="ja-JP" dirty="0">
                <a:solidFill>
                  <a:schemeClr val="accent3">
                    <a:lumMod val="75000"/>
                  </a:schemeClr>
                </a:solidFill>
                <a:latin typeface="Consolas" panose="020B0609020204030204" pitchFamily="49" charset="0"/>
              </a:rPr>
              <a:t>                      </a:t>
            </a:r>
            <a:endParaRPr kumimoji="1" lang="ja-JP" altLang="en-US" dirty="0">
              <a:solidFill>
                <a:schemeClr val="accent3">
                  <a:lumMod val="75000"/>
                </a:schemeClr>
              </a:solidFill>
              <a:latin typeface="Consolas" panose="020B0609020204030204" pitchFamily="49" charset="0"/>
            </a:endParaRPr>
          </a:p>
        </p:txBody>
      </p:sp>
    </p:spTree>
    <p:extLst>
      <p:ext uri="{BB962C8B-B14F-4D97-AF65-F5344CB8AC3E}">
        <p14:creationId xmlns:p14="http://schemas.microsoft.com/office/powerpoint/2010/main" val="28256575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例外の例２</a:t>
            </a:r>
          </a:p>
        </p:txBody>
      </p:sp>
      <p:sp>
        <p:nvSpPr>
          <p:cNvPr id="3" name="テキスト プレースホルダー 2"/>
          <p:cNvSpPr>
            <a:spLocks noGrp="1"/>
          </p:cNvSpPr>
          <p:nvPr>
            <p:ph type="body" sz="quarter" idx="10"/>
          </p:nvPr>
        </p:nvSpPr>
        <p:spPr/>
        <p:txBody>
          <a:bodyPr/>
          <a:lstStyle/>
          <a:p>
            <a:r>
              <a:rPr kumimoji="1" lang="ja-JP" altLang="en-US" dirty="0"/>
              <a:t>スワップからの回復</a:t>
            </a:r>
            <a:br>
              <a:rPr kumimoji="1" lang="en-US" altLang="ja-JP" dirty="0"/>
            </a:br>
            <a:r>
              <a:rPr lang="en-US" altLang="ja-JP" dirty="0">
                <a:latin typeface="Consolas" panose="020B0609020204030204" pitchFamily="49" charset="0"/>
              </a:rPr>
              <a:t>    ...</a:t>
            </a:r>
            <a:br>
              <a:rPr kumimoji="1" lang="en-US" altLang="ja-JP" dirty="0"/>
            </a:br>
            <a:r>
              <a:rPr lang="en-US" altLang="ja-JP" dirty="0">
                <a:latin typeface="Consolas" panose="020B0609020204030204" pitchFamily="49" charset="0"/>
              </a:rPr>
              <a:t>    </a:t>
            </a:r>
            <a:r>
              <a:rPr lang="en-US" altLang="ja-JP" dirty="0" err="1">
                <a:latin typeface="Consolas" panose="020B0609020204030204" pitchFamily="49" charset="0"/>
              </a:rPr>
              <a:t>ld</a:t>
            </a:r>
            <a:r>
              <a:rPr lang="en-US" altLang="ja-JP" dirty="0">
                <a:latin typeface="Consolas" panose="020B0609020204030204" pitchFamily="49" charset="0"/>
              </a:rPr>
              <a:t> x1 </a:t>
            </a:r>
            <a:r>
              <a:rPr lang="ja-JP" altLang="en-US" dirty="0">
                <a:latin typeface="Consolas" panose="020B0609020204030204" pitchFamily="49" charset="0"/>
              </a:rPr>
              <a:t>←</a:t>
            </a:r>
            <a:r>
              <a:rPr lang="en-US" altLang="ja-JP" dirty="0">
                <a:latin typeface="Consolas" panose="020B0609020204030204" pitchFamily="49" charset="0"/>
              </a:rPr>
              <a:t> [x2]       </a:t>
            </a:r>
            <a:r>
              <a:rPr lang="en-US" altLang="ja-JP" dirty="0">
                <a:solidFill>
                  <a:schemeClr val="accent3">
                    <a:lumMod val="75000"/>
                  </a:schemeClr>
                </a:solidFill>
                <a:latin typeface="Consolas" panose="020B0609020204030204" pitchFamily="49" charset="0"/>
              </a:rPr>
              <a:t>// x2 </a:t>
            </a:r>
            <a:r>
              <a:rPr lang="ja-JP" altLang="en-US" dirty="0">
                <a:solidFill>
                  <a:schemeClr val="accent3">
                    <a:lumMod val="75000"/>
                  </a:schemeClr>
                </a:solidFill>
                <a:latin typeface="Consolas" panose="020B0609020204030204" pitchFamily="49" charset="0"/>
              </a:rPr>
              <a:t>のアドレスのデータは</a:t>
            </a:r>
            <a:br>
              <a:rPr lang="en-US" altLang="ja-JP" dirty="0">
                <a:latin typeface="Consolas" panose="020B0609020204030204" pitchFamily="49" charset="0"/>
              </a:rPr>
            </a:br>
            <a:r>
              <a:rPr lang="en-US" altLang="ja-JP" dirty="0">
                <a:latin typeface="Consolas" panose="020B0609020204030204" pitchFamily="49" charset="0"/>
              </a:rPr>
              <a:t>    ...                </a:t>
            </a:r>
            <a:r>
              <a:rPr lang="en-US" altLang="ja-JP" dirty="0">
                <a:solidFill>
                  <a:schemeClr val="accent3">
                    <a:lumMod val="75000"/>
                  </a:schemeClr>
                </a:solidFill>
                <a:latin typeface="Consolas" panose="020B0609020204030204" pitchFamily="49" charset="0"/>
              </a:rPr>
              <a:t>//</a:t>
            </a:r>
            <a:r>
              <a:rPr lang="en-US" altLang="ja-JP" dirty="0">
                <a:latin typeface="Consolas" panose="020B0609020204030204" pitchFamily="49" charset="0"/>
              </a:rPr>
              <a:t> </a:t>
            </a:r>
            <a:r>
              <a:rPr lang="ja-JP" altLang="en-US" dirty="0">
                <a:solidFill>
                  <a:schemeClr val="accent3">
                    <a:lumMod val="75000"/>
                  </a:schemeClr>
                </a:solidFill>
                <a:latin typeface="Consolas" panose="020B0609020204030204" pitchFamily="49" charset="0"/>
              </a:rPr>
              <a:t>メモリ不足により</a:t>
            </a:r>
            <a:br>
              <a:rPr lang="en-US" altLang="ja-JP" dirty="0">
                <a:solidFill>
                  <a:schemeClr val="accent3">
                    <a:lumMod val="75000"/>
                  </a:schemeClr>
                </a:solidFill>
                <a:latin typeface="Consolas" panose="020B0609020204030204" pitchFamily="49" charset="0"/>
              </a:rPr>
            </a:br>
            <a:r>
              <a:rPr lang="ja-JP" altLang="en-US" dirty="0">
                <a:solidFill>
                  <a:schemeClr val="accent3">
                    <a:lumMod val="75000"/>
                  </a:schemeClr>
                </a:solidFill>
                <a:latin typeface="Consolas" panose="020B0609020204030204" pitchFamily="49" charset="0"/>
              </a:rPr>
              <a:t>                       </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現在スワップされて </a:t>
            </a:r>
            <a:r>
              <a:rPr lang="en-US" altLang="ja-JP" dirty="0">
                <a:solidFill>
                  <a:schemeClr val="accent3">
                    <a:lumMod val="75000"/>
                  </a:schemeClr>
                </a:solidFill>
                <a:latin typeface="Consolas" panose="020B0609020204030204" pitchFamily="49" charset="0"/>
              </a:rPr>
              <a:t>HDD </a:t>
            </a:r>
            <a:r>
              <a:rPr lang="ja-JP" altLang="en-US" dirty="0">
                <a:solidFill>
                  <a:schemeClr val="accent3">
                    <a:lumMod val="75000"/>
                  </a:schemeClr>
                </a:solidFill>
                <a:latin typeface="Consolas" panose="020B0609020204030204" pitchFamily="49" charset="0"/>
              </a:rPr>
              <a:t>にある</a:t>
            </a:r>
            <a:br>
              <a:rPr lang="en-US" altLang="ja-JP" dirty="0">
                <a:latin typeface="Consolas" panose="020B0609020204030204" pitchFamily="49" charset="0"/>
              </a:rPr>
            </a:br>
            <a:br>
              <a:rPr lang="en-US" altLang="ja-JP" dirty="0">
                <a:latin typeface="Consolas" panose="020B0609020204030204" pitchFamily="49" charset="0"/>
              </a:rPr>
            </a:br>
            <a:r>
              <a:rPr lang="en-US" altLang="ja-JP" dirty="0">
                <a:latin typeface="Consolas" panose="020B0609020204030204" pitchFamily="49" charset="0"/>
              </a:rPr>
              <a:t>    </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スワップ領域へのアクセスが起きると，ここに飛ばされる</a:t>
            </a:r>
            <a:br>
              <a:rPr lang="en-US" altLang="ja-JP" dirty="0">
                <a:solidFill>
                  <a:schemeClr val="accent3">
                    <a:lumMod val="75000"/>
                  </a:schemeClr>
                </a:solidFill>
                <a:latin typeface="Consolas" panose="020B0609020204030204" pitchFamily="49" charset="0"/>
              </a:rPr>
            </a:br>
            <a:r>
              <a:rPr lang="en-US" altLang="ja-JP" dirty="0">
                <a:solidFill>
                  <a:schemeClr val="accent3">
                    <a:lumMod val="75000"/>
                  </a:schemeClr>
                </a:solidFill>
                <a:latin typeface="Consolas" panose="020B0609020204030204" pitchFamily="49" charset="0"/>
              </a:rPr>
              <a:t>    // OS </a:t>
            </a:r>
            <a:r>
              <a:rPr lang="ja-JP" altLang="en-US" dirty="0">
                <a:solidFill>
                  <a:schemeClr val="accent3">
                    <a:lumMod val="75000"/>
                  </a:schemeClr>
                </a:solidFill>
                <a:latin typeface="Consolas" panose="020B0609020204030204" pitchFamily="49" charset="0"/>
              </a:rPr>
              <a:t>が用意した例外ハンドラよって必要な処置が行われる</a:t>
            </a:r>
            <a:br>
              <a:rPr lang="en-US" altLang="ja-JP" dirty="0">
                <a:solidFill>
                  <a:schemeClr val="accent3">
                    <a:lumMod val="75000"/>
                  </a:schemeClr>
                </a:solidFill>
                <a:latin typeface="Consolas" panose="020B0609020204030204" pitchFamily="49" charset="0"/>
              </a:rPr>
            </a:br>
            <a:r>
              <a:rPr lang="en-US" altLang="ja-JP" dirty="0">
                <a:solidFill>
                  <a:schemeClr val="accent3">
                    <a:lumMod val="75000"/>
                  </a:schemeClr>
                </a:solidFill>
                <a:latin typeface="Consolas" panose="020B0609020204030204" pitchFamily="49" charset="0"/>
              </a:rPr>
              <a:t>    // </a:t>
            </a:r>
            <a:r>
              <a:rPr lang="ja-JP" altLang="en-US" dirty="0">
                <a:solidFill>
                  <a:schemeClr val="accent3">
                    <a:lumMod val="75000"/>
                  </a:schemeClr>
                </a:solidFill>
                <a:latin typeface="Consolas" panose="020B0609020204030204" pitchFamily="49" charset="0"/>
              </a:rPr>
              <a:t>（この場合は </a:t>
            </a:r>
            <a:r>
              <a:rPr lang="en-US" altLang="ja-JP" dirty="0">
                <a:solidFill>
                  <a:schemeClr val="accent3">
                    <a:lumMod val="75000"/>
                  </a:schemeClr>
                </a:solidFill>
                <a:latin typeface="Consolas" panose="020B0609020204030204" pitchFamily="49" charset="0"/>
              </a:rPr>
              <a:t>HDD </a:t>
            </a:r>
            <a:r>
              <a:rPr lang="ja-JP" altLang="en-US" dirty="0">
                <a:solidFill>
                  <a:schemeClr val="accent3">
                    <a:lumMod val="75000"/>
                  </a:schemeClr>
                </a:solidFill>
                <a:latin typeface="Consolas" panose="020B0609020204030204" pitchFamily="49" charset="0"/>
              </a:rPr>
              <a:t>から必要なデータを呼んでくる）</a:t>
            </a:r>
            <a:br>
              <a:rPr lang="en-US" altLang="ja-JP" dirty="0">
                <a:latin typeface="Consolas" panose="020B0609020204030204" pitchFamily="49" charset="0"/>
              </a:rPr>
            </a:br>
            <a:r>
              <a:rPr lang="en-US" altLang="ja-JP" dirty="0">
                <a:solidFill>
                  <a:schemeClr val="accent5"/>
                </a:solidFill>
                <a:latin typeface="Consolas" panose="020B0609020204030204" pitchFamily="49" charset="0"/>
              </a:rPr>
              <a:t>HANDLER</a:t>
            </a:r>
            <a:r>
              <a:rPr lang="en-US" altLang="ja-JP" dirty="0">
                <a:latin typeface="Consolas" panose="020B0609020204030204" pitchFamily="49" charset="0"/>
              </a:rPr>
              <a:t>:         </a:t>
            </a:r>
            <a:r>
              <a:rPr lang="en-US" altLang="ja-JP" dirty="0">
                <a:solidFill>
                  <a:schemeClr val="accent3">
                    <a:lumMod val="75000"/>
                  </a:schemeClr>
                </a:solidFill>
                <a:latin typeface="Consolas" panose="020B0609020204030204" pitchFamily="49" charset="0"/>
              </a:rPr>
              <a:t>    </a:t>
            </a:r>
            <a:br>
              <a:rPr lang="en-US" altLang="ja-JP" dirty="0">
                <a:solidFill>
                  <a:schemeClr val="accent3">
                    <a:lumMod val="75000"/>
                  </a:schemeClr>
                </a:solidFill>
                <a:latin typeface="Consolas" panose="020B0609020204030204" pitchFamily="49" charset="0"/>
              </a:rPr>
            </a:br>
            <a:r>
              <a:rPr lang="en-US" altLang="ja-JP" dirty="0">
                <a:solidFill>
                  <a:schemeClr val="accent3">
                    <a:lumMod val="75000"/>
                  </a:schemeClr>
                </a:solidFill>
                <a:latin typeface="Consolas" panose="020B0609020204030204" pitchFamily="49" charset="0"/>
              </a:rPr>
              <a:t>    </a:t>
            </a:r>
            <a:r>
              <a:rPr lang="en-US" altLang="ja-JP" dirty="0">
                <a:latin typeface="Consolas" panose="020B0609020204030204" pitchFamily="49" charset="0"/>
              </a:rPr>
              <a:t>call RECOVER_SWAP</a:t>
            </a:r>
            <a:br>
              <a:rPr lang="en-US" altLang="ja-JP" dirty="0">
                <a:solidFill>
                  <a:schemeClr val="accent3">
                    <a:lumMod val="75000"/>
                  </a:schemeClr>
                </a:solidFill>
                <a:latin typeface="Consolas" panose="020B0609020204030204" pitchFamily="49" charset="0"/>
              </a:rPr>
            </a:br>
            <a:r>
              <a:rPr lang="en-US" altLang="ja-JP" dirty="0">
                <a:solidFill>
                  <a:schemeClr val="accent3">
                    <a:lumMod val="75000"/>
                  </a:schemeClr>
                </a:solidFill>
                <a:latin typeface="Consolas" panose="020B0609020204030204" pitchFamily="49" charset="0"/>
              </a:rPr>
              <a:t>    </a:t>
            </a:r>
            <a:r>
              <a:rPr lang="en-US" altLang="ja-JP" dirty="0" err="1">
                <a:latin typeface="Consolas" panose="020B0609020204030204" pitchFamily="49" charset="0"/>
              </a:rPr>
              <a:t>mret</a:t>
            </a:r>
            <a:r>
              <a:rPr lang="en-US" altLang="ja-JP" dirty="0">
                <a:latin typeface="Consolas" panose="020B0609020204030204" pitchFamily="49" charset="0"/>
              </a:rPr>
              <a:t> </a:t>
            </a:r>
            <a:r>
              <a:rPr lang="en-US" altLang="ja-JP" dirty="0">
                <a:solidFill>
                  <a:schemeClr val="accent3">
                    <a:lumMod val="75000"/>
                  </a:schemeClr>
                </a:solidFill>
                <a:latin typeface="Consolas" panose="020B0609020204030204" pitchFamily="49" charset="0"/>
              </a:rPr>
              <a:t>// </a:t>
            </a:r>
            <a:r>
              <a:rPr lang="en-US" altLang="ja-JP" dirty="0" err="1">
                <a:solidFill>
                  <a:schemeClr val="accent3">
                    <a:lumMod val="75000"/>
                  </a:schemeClr>
                </a:solidFill>
                <a:latin typeface="Consolas" panose="020B0609020204030204" pitchFamily="49" charset="0"/>
              </a:rPr>
              <a:t>ld</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に戻ってやり直す</a:t>
            </a:r>
            <a:endParaRPr kumimoji="1" lang="ja-JP" altLang="en-US" dirty="0">
              <a:solidFill>
                <a:schemeClr val="accent3">
                  <a:lumMod val="75000"/>
                </a:schemeClr>
              </a:solidFill>
              <a:latin typeface="Consolas" panose="020B0609020204030204" pitchFamily="49" charset="0"/>
            </a:endParaRPr>
          </a:p>
        </p:txBody>
      </p:sp>
    </p:spTree>
    <p:extLst>
      <p:ext uri="{BB962C8B-B14F-4D97-AF65-F5344CB8AC3E}">
        <p14:creationId xmlns:p14="http://schemas.microsoft.com/office/powerpoint/2010/main" val="8918095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例外の例３</a:t>
            </a:r>
          </a:p>
        </p:txBody>
      </p:sp>
      <p:sp>
        <p:nvSpPr>
          <p:cNvPr id="3" name="テキスト プレースホルダー 2"/>
          <p:cNvSpPr>
            <a:spLocks noGrp="1"/>
          </p:cNvSpPr>
          <p:nvPr>
            <p:ph type="body" sz="quarter" idx="10"/>
          </p:nvPr>
        </p:nvSpPr>
        <p:spPr>
          <a:xfrm>
            <a:off x="2135956" y="1088975"/>
            <a:ext cx="8532044" cy="5219751"/>
          </a:xfrm>
        </p:spPr>
        <p:txBody>
          <a:bodyPr/>
          <a:lstStyle/>
          <a:p>
            <a:r>
              <a:rPr kumimoji="1" lang="ja-JP" altLang="en-US" dirty="0"/>
              <a:t>ブレーク・ポイントの実装</a:t>
            </a:r>
            <a:endParaRPr kumimoji="1" lang="en-US" altLang="ja-JP" dirty="0"/>
          </a:p>
          <a:p>
            <a:pPr lvl="1"/>
            <a:r>
              <a:rPr kumimoji="1" lang="ja-JP" altLang="en-US" dirty="0">
                <a:latin typeface="Consolas" panose="020B0609020204030204" pitchFamily="49" charset="0"/>
              </a:rPr>
              <a:t>デバッガのブレーク・ポイント機能も例外を使って実装される</a:t>
            </a:r>
            <a:endParaRPr kumimoji="1" lang="en-US" altLang="ja-JP" dirty="0">
              <a:latin typeface="Consolas" panose="020B0609020204030204" pitchFamily="49" charset="0"/>
            </a:endParaRPr>
          </a:p>
          <a:p>
            <a:r>
              <a:rPr lang="ja-JP" altLang="en-US" dirty="0">
                <a:latin typeface="Consolas" panose="020B0609020204030204" pitchFamily="49" charset="0"/>
              </a:rPr>
              <a:t>たとえば，</a:t>
            </a:r>
            <a:r>
              <a:rPr lang="en-US" altLang="ja-JP" dirty="0">
                <a:latin typeface="Consolas" panose="020B0609020204030204" pitchFamily="49" charset="0"/>
              </a:rPr>
              <a:t>C </a:t>
            </a:r>
            <a:r>
              <a:rPr lang="ja-JP" altLang="en-US" dirty="0">
                <a:latin typeface="Consolas" panose="020B0609020204030204" pitchFamily="49" charset="0"/>
              </a:rPr>
              <a:t>言語の加算の文を考える</a:t>
            </a:r>
            <a:endParaRPr lang="en-US" altLang="ja-JP" dirty="0">
              <a:latin typeface="Consolas" panose="020B0609020204030204" pitchFamily="49" charset="0"/>
            </a:endParaRPr>
          </a:p>
          <a:p>
            <a:pPr marL="817200" lvl="1" indent="-457200">
              <a:buFont typeface="+mj-lt"/>
              <a:buAutoNum type="arabicPeriod"/>
            </a:pPr>
            <a:r>
              <a:rPr lang="ja-JP" altLang="en-US" dirty="0">
                <a:latin typeface="Consolas" panose="020B0609020204030204" pitchFamily="49" charset="0"/>
              </a:rPr>
              <a:t>その文に対応するコンパイル結果の </a:t>
            </a:r>
            <a:r>
              <a:rPr lang="en-US" altLang="ja-JP" dirty="0">
                <a:latin typeface="Consolas" panose="020B0609020204030204" pitchFamily="49" charset="0"/>
              </a:rPr>
              <a:t>add </a:t>
            </a:r>
            <a:r>
              <a:rPr lang="ja-JP" altLang="en-US" dirty="0">
                <a:latin typeface="Consolas" panose="020B0609020204030204" pitchFamily="49" charset="0"/>
              </a:rPr>
              <a:t>命令がどこかにある</a:t>
            </a:r>
            <a:br>
              <a:rPr lang="en-US" altLang="ja-JP" dirty="0">
                <a:latin typeface="Consolas" panose="020B0609020204030204" pitchFamily="49" charset="0"/>
              </a:rPr>
            </a:br>
            <a:r>
              <a:rPr lang="ja-JP" altLang="en-US" dirty="0">
                <a:latin typeface="Consolas" panose="020B0609020204030204" pitchFamily="49" charset="0"/>
              </a:rPr>
              <a:t>（</a:t>
            </a:r>
            <a:r>
              <a:rPr lang="en-US" altLang="ja-JP" dirty="0" err="1">
                <a:latin typeface="Consolas" panose="020B0609020204030204" pitchFamily="49" charset="0"/>
              </a:rPr>
              <a:t>gcc</a:t>
            </a:r>
            <a:r>
              <a:rPr lang="en-US" altLang="ja-JP" dirty="0">
                <a:latin typeface="Consolas" panose="020B0609020204030204" pitchFamily="49" charset="0"/>
              </a:rPr>
              <a:t> </a:t>
            </a:r>
            <a:r>
              <a:rPr lang="ja-JP" altLang="en-US" dirty="0">
                <a:latin typeface="Consolas" panose="020B0609020204030204" pitchFamily="49" charset="0"/>
              </a:rPr>
              <a:t>なら </a:t>
            </a:r>
            <a:r>
              <a:rPr lang="en-US" altLang="ja-JP" dirty="0">
                <a:latin typeface="Consolas" panose="020B0609020204030204" pitchFamily="49" charset="0"/>
              </a:rPr>
              <a:t>-g </a:t>
            </a:r>
            <a:r>
              <a:rPr lang="ja-JP" altLang="en-US" dirty="0">
                <a:latin typeface="Consolas" panose="020B0609020204030204" pitchFamily="49" charset="0"/>
              </a:rPr>
              <a:t>をつけると両者の対応がバイナリに埋め込まれる</a:t>
            </a:r>
            <a:br>
              <a:rPr lang="en-US" altLang="ja-JP" dirty="0">
                <a:latin typeface="Consolas" panose="020B0609020204030204" pitchFamily="49" charset="0"/>
              </a:rPr>
            </a:br>
            <a:r>
              <a:rPr lang="en-US" altLang="ja-JP" dirty="0" err="1">
                <a:latin typeface="Consolas" panose="020B0609020204030204" pitchFamily="49" charset="0"/>
              </a:rPr>
              <a:t>i</a:t>
            </a:r>
            <a:r>
              <a:rPr lang="en-US" altLang="ja-JP" dirty="0">
                <a:latin typeface="Consolas" panose="020B0609020204030204" pitchFamily="49" charset="0"/>
              </a:rPr>
              <a:t> = </a:t>
            </a:r>
            <a:r>
              <a:rPr lang="en-US" altLang="ja-JP" dirty="0" err="1">
                <a:latin typeface="Consolas" panose="020B0609020204030204" pitchFamily="49" charset="0"/>
              </a:rPr>
              <a:t>i</a:t>
            </a:r>
            <a:r>
              <a:rPr lang="en-US" altLang="ja-JP" dirty="0">
                <a:latin typeface="Consolas" panose="020B0609020204030204" pitchFamily="49" charset="0"/>
              </a:rPr>
              <a:t> + 1;  </a:t>
            </a:r>
            <a:r>
              <a:rPr lang="ja-JP" altLang="en-US" dirty="0">
                <a:latin typeface="Consolas" panose="020B0609020204030204" pitchFamily="49" charset="0"/>
              </a:rPr>
              <a:t>→  </a:t>
            </a:r>
            <a:r>
              <a:rPr lang="en-US" altLang="ja-JP" dirty="0">
                <a:latin typeface="Consolas" panose="020B0609020204030204" pitchFamily="49" charset="0"/>
              </a:rPr>
              <a:t>add x1, x1, 1</a:t>
            </a:r>
            <a:br>
              <a:rPr lang="en-US" altLang="ja-JP" dirty="0">
                <a:latin typeface="Consolas" panose="020B0609020204030204" pitchFamily="49" charset="0"/>
              </a:rPr>
            </a:br>
            <a:endParaRPr lang="en-US" altLang="ja-JP" dirty="0">
              <a:latin typeface="Consolas" panose="020B0609020204030204" pitchFamily="49" charset="0"/>
            </a:endParaRPr>
          </a:p>
          <a:p>
            <a:pPr marL="817200" lvl="1" indent="-457200">
              <a:buFont typeface="+mj-lt"/>
              <a:buAutoNum type="arabicPeriod"/>
            </a:pPr>
            <a:r>
              <a:rPr kumimoji="1" lang="ja-JP" altLang="en-US" dirty="0">
                <a:latin typeface="Consolas" panose="020B0609020204030204" pitchFamily="49" charset="0"/>
              </a:rPr>
              <a:t>この </a:t>
            </a:r>
            <a:r>
              <a:rPr kumimoji="1" lang="en-US" altLang="ja-JP" dirty="0">
                <a:latin typeface="Consolas" panose="020B0609020204030204" pitchFamily="49" charset="0"/>
              </a:rPr>
              <a:t>add </a:t>
            </a:r>
            <a:r>
              <a:rPr kumimoji="1" lang="ja-JP" altLang="en-US" dirty="0">
                <a:latin typeface="Consolas" panose="020B0609020204030204" pitchFamily="49" charset="0"/>
              </a:rPr>
              <a:t>命令を一時的に例外を発生させる命令に書き換える</a:t>
            </a:r>
            <a:br>
              <a:rPr kumimoji="1" lang="en-US" altLang="ja-JP" dirty="0">
                <a:latin typeface="Consolas" panose="020B0609020204030204" pitchFamily="49" charset="0"/>
              </a:rPr>
            </a:br>
            <a:r>
              <a:rPr lang="en-US" altLang="ja-JP" dirty="0">
                <a:latin typeface="Consolas" panose="020B0609020204030204" pitchFamily="49" charset="0"/>
              </a:rPr>
              <a:t>add x1, x1, 1 </a:t>
            </a:r>
            <a:r>
              <a:rPr lang="ja-JP" altLang="en-US" dirty="0">
                <a:latin typeface="Consolas" panose="020B0609020204030204" pitchFamily="49" charset="0"/>
              </a:rPr>
              <a:t>→ </a:t>
            </a:r>
            <a:r>
              <a:rPr lang="en-US" altLang="ja-JP" dirty="0" err="1">
                <a:latin typeface="Consolas" panose="020B0609020204030204" pitchFamily="49" charset="0"/>
              </a:rPr>
              <a:t>ebreak</a:t>
            </a:r>
            <a:br>
              <a:rPr lang="en-US" altLang="ja-JP" dirty="0">
                <a:latin typeface="Consolas" panose="020B0609020204030204" pitchFamily="49" charset="0"/>
              </a:rPr>
            </a:br>
            <a:endParaRPr lang="en-US" altLang="ja-JP" dirty="0">
              <a:latin typeface="Consolas" panose="020B0609020204030204" pitchFamily="49" charset="0"/>
            </a:endParaRPr>
          </a:p>
          <a:p>
            <a:pPr marL="817200" lvl="1" indent="-457200">
              <a:buFont typeface="+mj-lt"/>
              <a:buAutoNum type="arabicPeriod"/>
            </a:pPr>
            <a:r>
              <a:rPr kumimoji="1" lang="en-US" altLang="ja-JP" dirty="0" err="1">
                <a:latin typeface="Consolas" panose="020B0609020204030204" pitchFamily="49" charset="0"/>
              </a:rPr>
              <a:t>ebreak</a:t>
            </a:r>
            <a:r>
              <a:rPr kumimoji="1" lang="en-US" altLang="ja-JP" dirty="0">
                <a:latin typeface="Consolas" panose="020B0609020204030204" pitchFamily="49" charset="0"/>
              </a:rPr>
              <a:t> </a:t>
            </a:r>
            <a:r>
              <a:rPr kumimoji="1" lang="ja-JP" altLang="en-US" dirty="0">
                <a:latin typeface="Consolas" panose="020B0609020204030204" pitchFamily="49" charset="0"/>
              </a:rPr>
              <a:t>命令が実行されると例外ハンドラに飛ぶ</a:t>
            </a:r>
            <a:endParaRPr kumimoji="1" lang="en-US" altLang="ja-JP" dirty="0">
              <a:latin typeface="Consolas" panose="020B0609020204030204" pitchFamily="49" charset="0"/>
            </a:endParaRPr>
          </a:p>
          <a:p>
            <a:pPr lvl="2"/>
            <a:r>
              <a:rPr kumimoji="1" lang="ja-JP" altLang="en-US" dirty="0">
                <a:latin typeface="Consolas" panose="020B0609020204030204" pitchFamily="49" charset="0"/>
              </a:rPr>
              <a:t>デバッガにブレーク・ポイントに到達したことを通知</a:t>
            </a:r>
            <a:endParaRPr kumimoji="1" lang="en-US" altLang="ja-JP" dirty="0">
              <a:latin typeface="Consolas" panose="020B0609020204030204" pitchFamily="49" charset="0"/>
            </a:endParaRPr>
          </a:p>
          <a:p>
            <a:pPr lvl="2"/>
            <a:r>
              <a:rPr kumimoji="1" lang="ja-JP" altLang="en-US" dirty="0">
                <a:latin typeface="Consolas" panose="020B0609020204030204" pitchFamily="49" charset="0"/>
              </a:rPr>
              <a:t>命令実行毎にブレーク・ポイントを見張る必要がなく高速</a:t>
            </a:r>
          </a:p>
        </p:txBody>
      </p:sp>
    </p:spTree>
    <p:extLst>
      <p:ext uri="{BB962C8B-B14F-4D97-AF65-F5344CB8AC3E}">
        <p14:creationId xmlns:p14="http://schemas.microsoft.com/office/powerpoint/2010/main" val="26316871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例外への対応：単純なパイプラインの場合</a:t>
            </a:r>
          </a:p>
        </p:txBody>
      </p:sp>
      <p:sp>
        <p:nvSpPr>
          <p:cNvPr id="3" name="テキスト プレースホルダー 2"/>
          <p:cNvSpPr>
            <a:spLocks noGrp="1"/>
          </p:cNvSpPr>
          <p:nvPr>
            <p:ph type="body" sz="quarter" idx="10"/>
          </p:nvPr>
        </p:nvSpPr>
        <p:spPr>
          <a:xfrm>
            <a:off x="2135956" y="1088975"/>
            <a:ext cx="8280092" cy="2070023"/>
          </a:xfrm>
        </p:spPr>
        <p:txBody>
          <a:bodyPr/>
          <a:lstStyle/>
          <a:p>
            <a:r>
              <a:rPr lang="ja-JP" altLang="en-US" dirty="0"/>
              <a:t>本質的には分岐予測ミス時の対処と同じ</a:t>
            </a:r>
            <a:endParaRPr lang="en-US" altLang="ja-JP" dirty="0"/>
          </a:p>
          <a:p>
            <a:pPr lvl="1"/>
            <a:r>
              <a:rPr kumimoji="1" lang="ja-JP" altLang="en-US" dirty="0">
                <a:latin typeface="Consolas" panose="020B0609020204030204" pitchFamily="49" charset="0"/>
              </a:rPr>
              <a:t>例外を起こした命令以降を取り消し</a:t>
            </a:r>
            <a:endParaRPr kumimoji="1" lang="en-US" altLang="ja-JP" dirty="0">
              <a:latin typeface="Consolas" panose="020B0609020204030204" pitchFamily="49" charset="0"/>
            </a:endParaRPr>
          </a:p>
          <a:p>
            <a:pPr lvl="1"/>
            <a:r>
              <a:rPr kumimoji="1" lang="en-US" altLang="ja-JP" dirty="0">
                <a:latin typeface="Consolas" panose="020B0609020204030204" pitchFamily="49" charset="0"/>
              </a:rPr>
              <a:t>PC </a:t>
            </a:r>
            <a:r>
              <a:rPr kumimoji="1" lang="ja-JP" altLang="en-US" dirty="0">
                <a:latin typeface="Consolas" panose="020B0609020204030204" pitchFamily="49" charset="0"/>
              </a:rPr>
              <a:t>を例外ハンドラに設定して，やりなおす</a:t>
            </a:r>
          </a:p>
        </p:txBody>
      </p:sp>
      <p:grpSp>
        <p:nvGrpSpPr>
          <p:cNvPr id="32" name="グループ化 31"/>
          <p:cNvGrpSpPr/>
          <p:nvPr/>
        </p:nvGrpSpPr>
        <p:grpSpPr>
          <a:xfrm>
            <a:off x="3305969" y="5229020"/>
            <a:ext cx="1562400" cy="576064"/>
            <a:chOff x="971600" y="5445224"/>
            <a:chExt cx="7200800" cy="576064"/>
          </a:xfrm>
        </p:grpSpPr>
        <p:sp>
          <p:nvSpPr>
            <p:cNvPr id="34" name="平行四辺形 3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746129" y="5229020"/>
            <a:ext cx="1562400" cy="576064"/>
            <a:chOff x="971600" y="5445224"/>
            <a:chExt cx="7200800" cy="576064"/>
          </a:xfrm>
        </p:grpSpPr>
        <p:sp>
          <p:nvSpPr>
            <p:cNvPr id="39" name="平行四辺形 38"/>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0" name="平行四辺形 39"/>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41" name="グループ化 40"/>
          <p:cNvGrpSpPr/>
          <p:nvPr/>
        </p:nvGrpSpPr>
        <p:grpSpPr>
          <a:xfrm>
            <a:off x="6186289" y="5229020"/>
            <a:ext cx="1562400" cy="576064"/>
            <a:chOff x="971600" y="5445224"/>
            <a:chExt cx="7200800" cy="576064"/>
          </a:xfrm>
        </p:grpSpPr>
        <p:sp>
          <p:nvSpPr>
            <p:cNvPr id="42" name="平行四辺形 41"/>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3" name="平行四辺形 42"/>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44" name="グループ化 43"/>
          <p:cNvGrpSpPr/>
          <p:nvPr/>
        </p:nvGrpSpPr>
        <p:grpSpPr>
          <a:xfrm>
            <a:off x="7626449" y="5229020"/>
            <a:ext cx="1584176" cy="576064"/>
            <a:chOff x="971600" y="5445224"/>
            <a:chExt cx="7200800" cy="576064"/>
          </a:xfrm>
        </p:grpSpPr>
        <p:sp>
          <p:nvSpPr>
            <p:cNvPr id="45" name="平行四辺形 44"/>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6" name="平行四辺形 45"/>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47" name="正方形/長方形 46"/>
          <p:cNvSpPr/>
          <p:nvPr/>
        </p:nvSpPr>
        <p:spPr>
          <a:xfrm>
            <a:off x="3267809" y="4364477"/>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8" name="正方形/長方形 47"/>
          <p:cNvSpPr/>
          <p:nvPr/>
        </p:nvSpPr>
        <p:spPr>
          <a:xfrm>
            <a:off x="4707969" y="4364477"/>
            <a:ext cx="129803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ｶﾞｯ</a:t>
            </a:r>
            <a:b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6150016" y="4383061"/>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0" name="正方形/長方形 49"/>
          <p:cNvSpPr/>
          <p:nvPr/>
        </p:nvSpPr>
        <p:spPr>
          <a:xfrm>
            <a:off x="7590176" y="4383061"/>
            <a:ext cx="1385857"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ﾇﾙﾎﾟ</a:t>
            </a:r>
            <a:b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cxnSp>
        <p:nvCxnSpPr>
          <p:cNvPr id="51" name="直線矢印コネクタ 50"/>
          <p:cNvCxnSpPr/>
          <p:nvPr/>
        </p:nvCxnSpPr>
        <p:spPr bwMode="auto">
          <a:xfrm>
            <a:off x="3305969" y="6039029"/>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52" name="角丸四角形 51"/>
          <p:cNvSpPr/>
          <p:nvPr/>
        </p:nvSpPr>
        <p:spPr bwMode="auto">
          <a:xfrm>
            <a:off x="8076022" y="5049018"/>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t>
            </a:r>
            <a:r>
              <a:rPr lang="en-US" altLang="ja-JP" dirty="0" err="1">
                <a:latin typeface="Arial Narrow" panose="020B0606020202030204" pitchFamily="34" charset="0"/>
              </a:rPr>
              <a:t>ptr</a:t>
            </a:r>
            <a:endParaRPr lang="ja-JP" altLang="en-US" dirty="0">
              <a:latin typeface="Arial Narrow" panose="020B0606020202030204" pitchFamily="34" charset="0"/>
            </a:endParaRPr>
          </a:p>
        </p:txBody>
      </p:sp>
      <p:sp>
        <p:nvSpPr>
          <p:cNvPr id="53" name="正方形/長方形 52"/>
          <p:cNvSpPr/>
          <p:nvPr/>
        </p:nvSpPr>
        <p:spPr bwMode="auto">
          <a:xfrm>
            <a:off x="1775952" y="4509013"/>
            <a:ext cx="1440016"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sz="2400" dirty="0" err="1">
                <a:solidFill>
                  <a:schemeClr val="bg1"/>
                </a:solidFill>
                <a:latin typeface="Arial Narrow" panose="020B0606020202030204" pitchFamily="34" charset="0"/>
              </a:rPr>
              <a:t>ptr</a:t>
            </a:r>
            <a:r>
              <a:rPr lang="en-US" altLang="ja-JP" sz="2400" dirty="0">
                <a:solidFill>
                  <a:schemeClr val="bg1"/>
                </a:solidFill>
                <a:latin typeface="Arial Narrow" panose="020B0606020202030204" pitchFamily="34" charset="0"/>
              </a:rPr>
              <a:t> = NULL;</a:t>
            </a:r>
          </a:p>
          <a:p>
            <a:pPr>
              <a:lnSpc>
                <a:spcPct val="80000"/>
              </a:lnSpc>
            </a:pPr>
            <a:r>
              <a:rPr lang="en-US" altLang="ja-JP" sz="2400" dirty="0">
                <a:solidFill>
                  <a:schemeClr val="bg1"/>
                </a:solidFill>
                <a:latin typeface="Arial Narrow" panose="020B0606020202030204" pitchFamily="34" charset="0"/>
              </a:rPr>
              <a:t>*</a:t>
            </a:r>
            <a:r>
              <a:rPr lang="en-US" altLang="ja-JP" sz="2400" dirty="0" err="1">
                <a:solidFill>
                  <a:schemeClr val="bg1"/>
                </a:solidFill>
                <a:latin typeface="Arial Narrow" panose="020B0606020202030204" pitchFamily="34" charset="0"/>
              </a:rPr>
              <a:t>ptr</a:t>
            </a:r>
            <a:r>
              <a:rPr lang="en-US" altLang="ja-JP" sz="2400" dirty="0">
                <a:solidFill>
                  <a:schemeClr val="bg1"/>
                </a:solidFill>
                <a:latin typeface="Arial Narrow" panose="020B0606020202030204" pitchFamily="34" charset="0"/>
              </a:rPr>
              <a:t> = 0;</a:t>
            </a:r>
          </a:p>
          <a:p>
            <a:pPr>
              <a:lnSpc>
                <a:spcPct val="80000"/>
              </a:lnSpc>
            </a:pPr>
            <a:r>
              <a:rPr lang="en-US" altLang="ja-JP" sz="2400" dirty="0">
                <a:solidFill>
                  <a:schemeClr val="bg1"/>
                </a:solidFill>
                <a:latin typeface="Arial Narrow" panose="020B0606020202030204" pitchFamily="34" charset="0"/>
              </a:rPr>
              <a:t>a=a+1</a:t>
            </a:r>
          </a:p>
          <a:p>
            <a:pPr>
              <a:lnSpc>
                <a:spcPct val="80000"/>
              </a:lnSpc>
            </a:pPr>
            <a:br>
              <a:rPr lang="en-US" altLang="ja-JP" sz="2000" dirty="0">
                <a:solidFill>
                  <a:schemeClr val="bg1"/>
                </a:solidFill>
                <a:latin typeface="Arial Narrow" panose="020B0606020202030204" pitchFamily="34" charset="0"/>
              </a:rPr>
            </a:br>
            <a:br>
              <a:rPr lang="en-US" altLang="ja-JP" sz="2000" dirty="0">
                <a:solidFill>
                  <a:schemeClr val="bg1"/>
                </a:solidFill>
                <a:latin typeface="Arial Narrow" panose="020B0606020202030204" pitchFamily="34" charset="0"/>
              </a:rPr>
            </a:br>
            <a:r>
              <a:rPr lang="en-US" altLang="ja-JP" sz="2000" dirty="0">
                <a:solidFill>
                  <a:schemeClr val="bg1"/>
                </a:solidFill>
                <a:latin typeface="Arial Narrow" panose="020B0606020202030204" pitchFamily="34" charset="0"/>
              </a:rPr>
              <a:t>HANDLER:</a:t>
            </a:r>
            <a:r>
              <a:rPr lang="ja-JP" altLang="en-US" sz="2000" dirty="0">
                <a:solidFill>
                  <a:schemeClr val="bg1"/>
                </a:solidFill>
                <a:latin typeface="Arial Narrow" panose="020B0606020202030204" pitchFamily="34" charset="0"/>
              </a:rPr>
              <a:t>  </a:t>
            </a:r>
          </a:p>
        </p:txBody>
      </p:sp>
      <p:sp>
        <p:nvSpPr>
          <p:cNvPr id="54" name="正方形/長方形 53"/>
          <p:cNvSpPr/>
          <p:nvPr/>
        </p:nvSpPr>
        <p:spPr bwMode="auto">
          <a:xfrm>
            <a:off x="2135957" y="405900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65000"/>
                    <a:lumOff val="35000"/>
                  </a:schemeClr>
                </a:solidFill>
              </a:rPr>
              <a:t>プログラム</a:t>
            </a:r>
          </a:p>
        </p:txBody>
      </p:sp>
      <p:sp>
        <p:nvSpPr>
          <p:cNvPr id="55" name="角丸四角形 54"/>
          <p:cNvSpPr/>
          <p:nvPr/>
        </p:nvSpPr>
        <p:spPr bwMode="auto">
          <a:xfrm>
            <a:off x="6636006" y="5049018"/>
            <a:ext cx="720008"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a=a-1</a:t>
            </a:r>
            <a:endParaRPr lang="ja-JP" altLang="en-US" dirty="0">
              <a:latin typeface="Arial Narrow" panose="020B0606020202030204" pitchFamily="34" charset="0"/>
            </a:endParaRPr>
          </a:p>
        </p:txBody>
      </p:sp>
      <p:sp>
        <p:nvSpPr>
          <p:cNvPr id="56" name="角丸四角形吹き出し 55"/>
          <p:cNvSpPr/>
          <p:nvPr/>
        </p:nvSpPr>
        <p:spPr bwMode="auto">
          <a:xfrm>
            <a:off x="3575972" y="3429000"/>
            <a:ext cx="2160024" cy="612648"/>
          </a:xfrm>
          <a:prstGeom prst="wedgeRoundRectCallout">
            <a:avLst>
              <a:gd name="adj1" fmla="val -38140"/>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例外ハンドラから</a:t>
            </a:r>
            <a:br>
              <a:rPr lang="en-US" altLang="ja-JP" dirty="0">
                <a:solidFill>
                  <a:schemeClr val="tx1">
                    <a:lumMod val="65000"/>
                    <a:lumOff val="35000"/>
                  </a:schemeClr>
                </a:solidFill>
                <a:latin typeface="Arial Narrow" panose="020B0606020202030204" pitchFamily="34" charset="0"/>
              </a:rPr>
            </a:br>
            <a:r>
              <a:rPr lang="ja-JP" altLang="en-US" dirty="0">
                <a:solidFill>
                  <a:schemeClr val="tx1">
                    <a:lumMod val="65000"/>
                    <a:lumOff val="35000"/>
                  </a:schemeClr>
                </a:solidFill>
                <a:latin typeface="Arial Narrow" panose="020B0606020202030204" pitchFamily="34" charset="0"/>
              </a:rPr>
              <a:t>やりなおしやな！</a:t>
            </a:r>
          </a:p>
        </p:txBody>
      </p:sp>
      <p:sp>
        <p:nvSpPr>
          <p:cNvPr id="57" name="角丸四角形吹き出し 56"/>
          <p:cNvSpPr/>
          <p:nvPr/>
        </p:nvSpPr>
        <p:spPr bwMode="auto">
          <a:xfrm>
            <a:off x="8256024" y="3429000"/>
            <a:ext cx="1980022" cy="612648"/>
          </a:xfrm>
          <a:prstGeom prst="wedgeRoundRectCallout">
            <a:avLst>
              <a:gd name="adj1" fmla="val -43365"/>
              <a:gd name="adj2" fmla="val 134720"/>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メモリ保護違反</a:t>
            </a:r>
            <a:br>
              <a:rPr lang="en-US" altLang="ja-JP" dirty="0">
                <a:solidFill>
                  <a:schemeClr val="tx1">
                    <a:lumMod val="65000"/>
                    <a:lumOff val="35000"/>
                  </a:schemeClr>
                </a:solidFill>
                <a:latin typeface="Arial Narrow" panose="020B0606020202030204" pitchFamily="34" charset="0"/>
              </a:rPr>
            </a:br>
            <a:r>
              <a:rPr lang="ja-JP" altLang="en-US" dirty="0" err="1">
                <a:solidFill>
                  <a:schemeClr val="tx1">
                    <a:lumMod val="65000"/>
                    <a:lumOff val="35000"/>
                  </a:schemeClr>
                </a:solidFill>
                <a:latin typeface="Arial Narrow" panose="020B0606020202030204" pitchFamily="34" charset="0"/>
              </a:rPr>
              <a:t>じゃん</a:t>
            </a:r>
            <a:r>
              <a:rPr lang="en-US" altLang="ja-JP" dirty="0">
                <a:solidFill>
                  <a:schemeClr val="tx1">
                    <a:lumMod val="65000"/>
                    <a:lumOff val="35000"/>
                  </a:schemeClr>
                </a:solidFill>
                <a:latin typeface="Arial Narrow" panose="020B0606020202030204" pitchFamily="34" charset="0"/>
              </a:rPr>
              <a:t>…</a:t>
            </a:r>
            <a:endParaRPr lang="ja-JP" altLang="en-US" dirty="0">
              <a:solidFill>
                <a:schemeClr val="tx1">
                  <a:lumMod val="65000"/>
                  <a:lumOff val="35000"/>
                </a:schemeClr>
              </a:solidFill>
              <a:latin typeface="Arial Narrow" panose="020B0606020202030204" pitchFamily="34" charset="0"/>
            </a:endParaRPr>
          </a:p>
        </p:txBody>
      </p:sp>
      <p:sp>
        <p:nvSpPr>
          <p:cNvPr id="58" name="角丸四角形 57"/>
          <p:cNvSpPr/>
          <p:nvPr/>
        </p:nvSpPr>
        <p:spPr bwMode="auto">
          <a:xfrm>
            <a:off x="5195990" y="5049018"/>
            <a:ext cx="720008"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59" name="角丸四角形 58"/>
          <p:cNvSpPr/>
          <p:nvPr/>
        </p:nvSpPr>
        <p:spPr bwMode="auto">
          <a:xfrm>
            <a:off x="3755974" y="5049018"/>
            <a:ext cx="720008"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Tree>
    <p:extLst>
      <p:ext uri="{BB962C8B-B14F-4D97-AF65-F5344CB8AC3E}">
        <p14:creationId xmlns:p14="http://schemas.microsoft.com/office/powerpoint/2010/main" val="5513070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55"/>
                                        </p:tgtEl>
                                      </p:cBhvr>
                                    </p:animEffect>
                                    <p:anim calcmode="lin" valueType="num">
                                      <p:cBhvr>
                                        <p:cTn id="7" dur="1000"/>
                                        <p:tgtEl>
                                          <p:spTgt spid="55"/>
                                        </p:tgtEl>
                                        <p:attrNameLst>
                                          <p:attrName>ppt_x</p:attrName>
                                        </p:attrNameLst>
                                      </p:cBhvr>
                                      <p:tavLst>
                                        <p:tav tm="0">
                                          <p:val>
                                            <p:strVal val="ppt_x"/>
                                          </p:val>
                                        </p:tav>
                                        <p:tav tm="100000">
                                          <p:val>
                                            <p:strVal val="ppt_x"/>
                                          </p:val>
                                        </p:tav>
                                      </p:tavLst>
                                    </p:anim>
                                    <p:anim calcmode="lin" valueType="num">
                                      <p:cBhvr>
                                        <p:cTn id="8" dur="1000"/>
                                        <p:tgtEl>
                                          <p:spTgt spid="55"/>
                                        </p:tgtEl>
                                        <p:attrNameLst>
                                          <p:attrName>ppt_y</p:attrName>
                                        </p:attrNameLst>
                                      </p:cBhvr>
                                      <p:tavLst>
                                        <p:tav tm="0">
                                          <p:val>
                                            <p:strVal val="ppt_y"/>
                                          </p:val>
                                        </p:tav>
                                        <p:tav tm="100000">
                                          <p:val>
                                            <p:strVal val="ppt_y+.1"/>
                                          </p:val>
                                        </p:tav>
                                      </p:tavLst>
                                    </p:anim>
                                    <p:set>
                                      <p:cBhvr>
                                        <p:cTn id="9" dur="1" fill="hold">
                                          <p:stCondLst>
                                            <p:cond delay="999"/>
                                          </p:stCondLst>
                                        </p:cTn>
                                        <p:tgtEl>
                                          <p:spTgt spid="55"/>
                                        </p:tgtEl>
                                        <p:attrNameLst>
                                          <p:attrName>style.visibility</p:attrName>
                                        </p:attrNameLst>
                                      </p:cBhvr>
                                      <p:to>
                                        <p:strVal val="hidden"/>
                                      </p:to>
                                    </p:set>
                                  </p:childTnLst>
                                </p:cTn>
                              </p:par>
                              <p:par>
                                <p:cTn id="10" presetID="42" presetClass="exit" presetSubtype="0" fill="hold" grpId="0" nodeType="withEffect">
                                  <p:stCondLst>
                                    <p:cond delay="0"/>
                                  </p:stCondLst>
                                  <p:childTnLst>
                                    <p:animEffect transition="out" filter="fade">
                                      <p:cBhvr>
                                        <p:cTn id="11" dur="1000"/>
                                        <p:tgtEl>
                                          <p:spTgt spid="58"/>
                                        </p:tgtEl>
                                      </p:cBhvr>
                                    </p:animEffect>
                                    <p:anim calcmode="lin" valueType="num">
                                      <p:cBhvr>
                                        <p:cTn id="12" dur="1000"/>
                                        <p:tgtEl>
                                          <p:spTgt spid="58"/>
                                        </p:tgtEl>
                                        <p:attrNameLst>
                                          <p:attrName>ppt_x</p:attrName>
                                        </p:attrNameLst>
                                      </p:cBhvr>
                                      <p:tavLst>
                                        <p:tav tm="0">
                                          <p:val>
                                            <p:strVal val="ppt_x"/>
                                          </p:val>
                                        </p:tav>
                                        <p:tav tm="100000">
                                          <p:val>
                                            <p:strVal val="ppt_x"/>
                                          </p:val>
                                        </p:tav>
                                      </p:tavLst>
                                    </p:anim>
                                    <p:anim calcmode="lin" valueType="num">
                                      <p:cBhvr>
                                        <p:cTn id="13" dur="1000"/>
                                        <p:tgtEl>
                                          <p:spTgt spid="58"/>
                                        </p:tgtEl>
                                        <p:attrNameLst>
                                          <p:attrName>ppt_y</p:attrName>
                                        </p:attrNameLst>
                                      </p:cBhvr>
                                      <p:tavLst>
                                        <p:tav tm="0">
                                          <p:val>
                                            <p:strVal val="ppt_y"/>
                                          </p:val>
                                        </p:tav>
                                        <p:tav tm="100000">
                                          <p:val>
                                            <p:strVal val="ppt_y+.1"/>
                                          </p:val>
                                        </p:tav>
                                      </p:tavLst>
                                    </p:anim>
                                    <p:set>
                                      <p:cBhvr>
                                        <p:cTn id="14" dur="1" fill="hold">
                                          <p:stCondLst>
                                            <p:cond delay="999"/>
                                          </p:stCondLst>
                                        </p:cTn>
                                        <p:tgtEl>
                                          <p:spTgt spid="58"/>
                                        </p:tgtEl>
                                        <p:attrNameLst>
                                          <p:attrName>style.visibility</p:attrName>
                                        </p:attrNameLst>
                                      </p:cBhvr>
                                      <p:to>
                                        <p:strVal val="hidden"/>
                                      </p:to>
                                    </p:set>
                                  </p:childTnLst>
                                </p:cTn>
                              </p:par>
                              <p:par>
                                <p:cTn id="15" presetID="42" presetClass="exit" presetSubtype="0" fill="hold" grpId="0" nodeType="withEffect">
                                  <p:stCondLst>
                                    <p:cond delay="0"/>
                                  </p:stCondLst>
                                  <p:childTnLst>
                                    <p:animEffect transition="out" filter="fade">
                                      <p:cBhvr>
                                        <p:cTn id="16" dur="1000"/>
                                        <p:tgtEl>
                                          <p:spTgt spid="59"/>
                                        </p:tgtEl>
                                      </p:cBhvr>
                                    </p:animEffect>
                                    <p:anim calcmode="lin" valueType="num">
                                      <p:cBhvr>
                                        <p:cTn id="17" dur="1000"/>
                                        <p:tgtEl>
                                          <p:spTgt spid="59"/>
                                        </p:tgtEl>
                                        <p:attrNameLst>
                                          <p:attrName>ppt_x</p:attrName>
                                        </p:attrNameLst>
                                      </p:cBhvr>
                                      <p:tavLst>
                                        <p:tav tm="0">
                                          <p:val>
                                            <p:strVal val="ppt_x"/>
                                          </p:val>
                                        </p:tav>
                                        <p:tav tm="100000">
                                          <p:val>
                                            <p:strVal val="ppt_x"/>
                                          </p:val>
                                        </p:tav>
                                      </p:tavLst>
                                    </p:anim>
                                    <p:anim calcmode="lin" valueType="num">
                                      <p:cBhvr>
                                        <p:cTn id="18" dur="1000"/>
                                        <p:tgtEl>
                                          <p:spTgt spid="59"/>
                                        </p:tgtEl>
                                        <p:attrNameLst>
                                          <p:attrName>ppt_y</p:attrName>
                                        </p:attrNameLst>
                                      </p:cBhvr>
                                      <p:tavLst>
                                        <p:tav tm="0">
                                          <p:val>
                                            <p:strVal val="ppt_y"/>
                                          </p:val>
                                        </p:tav>
                                        <p:tav tm="100000">
                                          <p:val>
                                            <p:strVal val="ppt_y+.1"/>
                                          </p:val>
                                        </p:tav>
                                      </p:tavLst>
                                    </p:anim>
                                    <p:set>
                                      <p:cBhvr>
                                        <p:cTn id="19" dur="1" fill="hold">
                                          <p:stCondLst>
                                            <p:cond delay="999"/>
                                          </p:stCondLst>
                                        </p:cTn>
                                        <p:tgtEl>
                                          <p:spTgt spid="5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8" grpId="0" animBg="1"/>
      <p:bldP spid="5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2405959" y="2438989"/>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3846119" y="2438989"/>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5286279" y="2438989"/>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6996010" y="1718981"/>
            <a:ext cx="2610029"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2367799" y="1574446"/>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3807959" y="1574446"/>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250005" y="1593030"/>
            <a:ext cx="1476002"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IS</a:t>
            </a:r>
            <a:b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356014" y="908972"/>
            <a:ext cx="1260014"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EX</a:t>
            </a:r>
            <a:b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en-US" altLang="ja-JP" dirty="0"/>
              <a:t>in-order </a:t>
            </a:r>
            <a:r>
              <a:rPr lang="ja-JP" altLang="en-US" dirty="0"/>
              <a:t>発行</a:t>
            </a:r>
            <a:r>
              <a:rPr lang="en-US" altLang="ja-JP" dirty="0"/>
              <a:t>/out-of-order </a:t>
            </a:r>
            <a:r>
              <a:rPr lang="ja-JP" altLang="en-US" dirty="0"/>
              <a:t>完了の場合</a:t>
            </a:r>
            <a:endParaRPr kumimoji="1" lang="ja-JP" altLang="en-US" dirty="0"/>
          </a:p>
        </p:txBody>
      </p:sp>
      <p:sp>
        <p:nvSpPr>
          <p:cNvPr id="58" name="コンテンツ プレースホルダー 57"/>
          <p:cNvSpPr>
            <a:spLocks noGrp="1"/>
          </p:cNvSpPr>
          <p:nvPr>
            <p:ph type="body" sz="quarter" idx="10"/>
          </p:nvPr>
        </p:nvSpPr>
        <p:spPr>
          <a:xfrm>
            <a:off x="1865953" y="4509013"/>
            <a:ext cx="8640096" cy="1999168"/>
          </a:xfrm>
          <a:prstGeom prst="rect">
            <a:avLst/>
          </a:prstGeom>
        </p:spPr>
        <p:txBody>
          <a:bodyPr/>
          <a:lstStyle/>
          <a:p>
            <a:r>
              <a:rPr lang="en-US" altLang="ja-JP"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IS</a:t>
            </a:r>
            <a:r>
              <a:rPr lang="ja-JP" altLang="en-US"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（発行）</a:t>
            </a:r>
            <a:r>
              <a:rPr lang="en-US" altLang="ja-JP"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dirty="0">
                <a:latin typeface="Consolas" panose="020B0609020204030204" pitchFamily="49" charset="0"/>
              </a:rPr>
              <a:t>までは左側からプログラム順に命令が流れてく</a:t>
            </a:r>
            <a:endParaRPr lang="en-US" altLang="ja-JP" dirty="0">
              <a:latin typeface="Consolas" panose="020B0609020204030204" pitchFamily="49" charset="0"/>
            </a:endParaRPr>
          </a:p>
          <a:p>
            <a:pPr lvl="1"/>
            <a:r>
              <a:rPr lang="el-GR" altLang="ja-JP"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dirty="0"/>
              <a:t>`  </a:t>
            </a:r>
            <a:r>
              <a:rPr lang="el-GR" altLang="ja-JP"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EX</a:t>
            </a:r>
            <a:r>
              <a:rPr lang="ja-JP" altLang="en-US"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（実行）</a:t>
            </a:r>
            <a:r>
              <a:rPr lang="en-US" altLang="ja-JP"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dirty="0">
                <a:latin typeface="Consolas" panose="020B0609020204030204" pitchFamily="49" charset="0"/>
              </a:rPr>
              <a:t>は開始地点は同じだが，終わるまでの長さが違う</a:t>
            </a:r>
            <a:endParaRPr lang="en-US" altLang="ja-JP" dirty="0">
              <a:latin typeface="Consolas" panose="020B0609020204030204" pitchFamily="49" charset="0"/>
            </a:endParaRPr>
          </a:p>
          <a:p>
            <a:pPr lvl="1"/>
            <a:r>
              <a:rPr lang="ja-JP" altLang="en-US" dirty="0">
                <a:latin typeface="Consolas" panose="020B0609020204030204" pitchFamily="49" charset="0"/>
              </a:rPr>
              <a:t>論理演算は１サイクルでおわるが，乗算は時間がかかる</a:t>
            </a:r>
            <a:r>
              <a:rPr lang="en-US" altLang="ja-JP" dirty="0">
                <a:latin typeface="Consolas" panose="020B0609020204030204" pitchFamily="49" charset="0"/>
              </a:rPr>
              <a:t>… </a:t>
            </a:r>
            <a:r>
              <a:rPr lang="ja-JP" altLang="en-US" dirty="0">
                <a:latin typeface="Consolas" panose="020B0609020204030204" pitchFamily="49" charset="0"/>
              </a:rPr>
              <a:t>など</a:t>
            </a:r>
            <a:endParaRPr lang="en-US" altLang="ja-JP" dirty="0">
              <a:latin typeface="Consolas" panose="020B0609020204030204" pitchFamily="49" charset="0"/>
            </a:endParaRPr>
          </a:p>
          <a:p>
            <a:r>
              <a:rPr lang="en-US" altLang="ja-JP" dirty="0"/>
              <a:t>EX </a:t>
            </a:r>
            <a:r>
              <a:rPr lang="ja-JP" altLang="en-US" dirty="0"/>
              <a:t>の先頭で例外の検出を行えば，左側を全て消すだけで良い</a:t>
            </a:r>
            <a:endParaRPr lang="en-US" altLang="ja-JP" dirty="0"/>
          </a:p>
          <a:p>
            <a:pPr lvl="1"/>
            <a:r>
              <a:rPr lang="ja-JP" altLang="en-US" dirty="0"/>
              <a:t>ここを通過した命令は実行が確定される</a:t>
            </a:r>
            <a:endParaRPr lang="en-US" altLang="ja-JP" dirty="0"/>
          </a:p>
          <a:p>
            <a:pPr lvl="1"/>
            <a:r>
              <a:rPr lang="en-US" altLang="ja-JP" dirty="0"/>
              <a:t>EX</a:t>
            </a:r>
            <a:r>
              <a:rPr lang="ja-JP" altLang="en-US" dirty="0"/>
              <a:t> 先頭より後ろでは例外が発生してはならない</a:t>
            </a:r>
            <a:endParaRPr lang="en-US" altLang="ja-JP" dirty="0"/>
          </a:p>
        </p:txBody>
      </p:sp>
      <p:cxnSp>
        <p:nvCxnSpPr>
          <p:cNvPr id="67" name="直線矢印コネクタ 66"/>
          <p:cNvCxnSpPr/>
          <p:nvPr/>
        </p:nvCxnSpPr>
        <p:spPr bwMode="auto">
          <a:xfrm>
            <a:off x="2405960" y="3879005"/>
            <a:ext cx="8010089"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grpSp>
        <p:nvGrpSpPr>
          <p:cNvPr id="32" name="グループ化 31"/>
          <p:cNvGrpSpPr/>
          <p:nvPr/>
        </p:nvGrpSpPr>
        <p:grpSpPr>
          <a:xfrm>
            <a:off x="6906010" y="2438989"/>
            <a:ext cx="3870043" cy="576064"/>
            <a:chOff x="971600" y="5445224"/>
            <a:chExt cx="7200800" cy="576064"/>
          </a:xfrm>
        </p:grpSpPr>
        <p:sp>
          <p:nvSpPr>
            <p:cNvPr id="33" name="平行四辺形 32"/>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9" name="平行四辺形 38"/>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ja-JP" altLang="en-US" dirty="0"/>
                <a:t>終わるまでの長さが違う</a:t>
              </a:r>
            </a:p>
          </p:txBody>
        </p:sp>
      </p:grpSp>
      <p:grpSp>
        <p:nvGrpSpPr>
          <p:cNvPr id="40" name="グループ化 39"/>
          <p:cNvGrpSpPr/>
          <p:nvPr/>
        </p:nvGrpSpPr>
        <p:grpSpPr>
          <a:xfrm>
            <a:off x="6906009" y="3158997"/>
            <a:ext cx="1584176" cy="576064"/>
            <a:chOff x="971600" y="5445224"/>
            <a:chExt cx="7200800" cy="576064"/>
          </a:xfrm>
        </p:grpSpPr>
        <p:sp>
          <p:nvSpPr>
            <p:cNvPr id="41" name="平行四辺形 40"/>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2" name="平行四辺形 4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43" name="角丸四角形 42"/>
          <p:cNvSpPr/>
          <p:nvPr/>
        </p:nvSpPr>
        <p:spPr bwMode="auto">
          <a:xfrm>
            <a:off x="5735996" y="2348988"/>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a:t>
            </a:r>
          </a:p>
        </p:txBody>
      </p:sp>
      <p:sp>
        <p:nvSpPr>
          <p:cNvPr id="44" name="角丸四角形 43"/>
          <p:cNvSpPr/>
          <p:nvPr/>
        </p:nvSpPr>
        <p:spPr bwMode="auto">
          <a:xfrm>
            <a:off x="4385981" y="2348988"/>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a:t>
            </a:r>
          </a:p>
        </p:txBody>
      </p:sp>
      <p:sp>
        <p:nvSpPr>
          <p:cNvPr id="45" name="角丸四角形 44"/>
          <p:cNvSpPr/>
          <p:nvPr/>
        </p:nvSpPr>
        <p:spPr bwMode="auto">
          <a:xfrm>
            <a:off x="3035966" y="2348988"/>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a:t>
            </a:r>
          </a:p>
        </p:txBody>
      </p:sp>
      <p:sp>
        <p:nvSpPr>
          <p:cNvPr id="6" name="角丸四角形 5"/>
          <p:cNvSpPr/>
          <p:nvPr/>
        </p:nvSpPr>
        <p:spPr bwMode="auto">
          <a:xfrm>
            <a:off x="6816008" y="1538979"/>
            <a:ext cx="900010" cy="2520028"/>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6" name="正方形/長方形 45"/>
          <p:cNvSpPr/>
          <p:nvPr/>
        </p:nvSpPr>
        <p:spPr bwMode="auto">
          <a:xfrm>
            <a:off x="5555994" y="108897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ja-JP" altLang="en-US" sz="1600" dirty="0">
                <a:solidFill>
                  <a:schemeClr val="tx1">
                    <a:lumMod val="75000"/>
                    <a:lumOff val="25000"/>
                  </a:schemeClr>
                </a:solidFill>
              </a:rPr>
              <a:t>このタイミングで</a:t>
            </a:r>
            <a:endParaRPr lang="en-US" altLang="ja-JP" sz="1600" dirty="0">
              <a:solidFill>
                <a:schemeClr val="tx1">
                  <a:lumMod val="75000"/>
                  <a:lumOff val="25000"/>
                </a:schemeClr>
              </a:solidFill>
            </a:endParaRPr>
          </a:p>
          <a:p>
            <a:r>
              <a:rPr lang="ja-JP" altLang="en-US" sz="1600" dirty="0">
                <a:solidFill>
                  <a:schemeClr val="tx1">
                    <a:lumMod val="75000"/>
                    <a:lumOff val="25000"/>
                  </a:schemeClr>
                </a:solidFill>
              </a:rPr>
              <a:t>例外をチェック</a:t>
            </a:r>
          </a:p>
        </p:txBody>
      </p:sp>
    </p:spTree>
    <p:extLst>
      <p:ext uri="{BB962C8B-B14F-4D97-AF65-F5344CB8AC3E}">
        <p14:creationId xmlns:p14="http://schemas.microsoft.com/office/powerpoint/2010/main" val="31279574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in-order </a:t>
            </a:r>
            <a:r>
              <a:rPr lang="ja-JP" altLang="en-US" dirty="0"/>
              <a:t>発行</a:t>
            </a:r>
            <a:r>
              <a:rPr lang="en-US" altLang="ja-JP" dirty="0"/>
              <a:t>/out-of-order </a:t>
            </a:r>
            <a:r>
              <a:rPr lang="ja-JP" altLang="en-US" dirty="0"/>
              <a:t>完了の場合</a:t>
            </a:r>
            <a:endParaRPr kumimoji="1" lang="ja-JP" altLang="en-US" dirty="0"/>
          </a:p>
        </p:txBody>
      </p:sp>
      <p:sp>
        <p:nvSpPr>
          <p:cNvPr id="3" name="テキスト プレースホルダー 2"/>
          <p:cNvSpPr>
            <a:spLocks noGrp="1"/>
          </p:cNvSpPr>
          <p:nvPr>
            <p:ph type="body" sz="quarter" idx="10"/>
          </p:nvPr>
        </p:nvSpPr>
        <p:spPr>
          <a:xfrm>
            <a:off x="2135956" y="1538980"/>
            <a:ext cx="8280092" cy="2070023"/>
          </a:xfrm>
        </p:spPr>
        <p:txBody>
          <a:bodyPr/>
          <a:lstStyle/>
          <a:p>
            <a:r>
              <a:rPr lang="en-US" altLang="ja-JP" dirty="0"/>
              <a:t>in-order </a:t>
            </a:r>
            <a:r>
              <a:rPr lang="ja-JP" altLang="en-US" dirty="0"/>
              <a:t>発行</a:t>
            </a:r>
            <a:r>
              <a:rPr lang="en-US" altLang="ja-JP" dirty="0"/>
              <a:t>/out-of-order </a:t>
            </a:r>
            <a:r>
              <a:rPr lang="ja-JP" altLang="en-US" dirty="0"/>
              <a:t>完了の場合</a:t>
            </a:r>
            <a:endParaRPr lang="en-US" altLang="ja-JP" dirty="0"/>
          </a:p>
          <a:p>
            <a:pPr lvl="1"/>
            <a:r>
              <a:rPr kumimoji="1" lang="ja-JP" altLang="en-US" dirty="0"/>
              <a:t>発行は </a:t>
            </a:r>
            <a:r>
              <a:rPr kumimoji="1" lang="en-US" altLang="ja-JP" dirty="0"/>
              <a:t>i</a:t>
            </a:r>
            <a:r>
              <a:rPr lang="en-US" altLang="ja-JP" dirty="0"/>
              <a:t>n-order </a:t>
            </a:r>
            <a:r>
              <a:rPr lang="ja-JP" altLang="en-US" dirty="0"/>
              <a:t>なので，実行（</a:t>
            </a:r>
            <a:r>
              <a:rPr lang="en-US" altLang="ja-JP" dirty="0"/>
              <a:t>EX</a:t>
            </a:r>
            <a:r>
              <a:rPr lang="ja-JP" altLang="en-US" dirty="0"/>
              <a:t>）の開始も </a:t>
            </a:r>
            <a:r>
              <a:rPr lang="en-US" altLang="ja-JP" dirty="0"/>
              <a:t>in-order</a:t>
            </a:r>
            <a:endParaRPr kumimoji="1" lang="en-US" altLang="ja-JP" dirty="0"/>
          </a:p>
          <a:p>
            <a:pPr lvl="1"/>
            <a:r>
              <a:rPr kumimoji="1" lang="ja-JP" altLang="en-US" dirty="0"/>
              <a:t>単純にパイプライン上流を消せば良い</a:t>
            </a:r>
            <a:endParaRPr kumimoji="1" lang="en-US" altLang="ja-JP" dirty="0"/>
          </a:p>
          <a:p>
            <a:r>
              <a:rPr lang="en-US" altLang="ja-JP" dirty="0">
                <a:latin typeface="Consolas" panose="020B0609020204030204" pitchFamily="49" charset="0"/>
              </a:rPr>
              <a:t>I2 </a:t>
            </a:r>
            <a:r>
              <a:rPr lang="ja-JP" altLang="en-US" dirty="0">
                <a:latin typeface="Consolas" panose="020B0609020204030204" pitchFamily="49" charset="0"/>
              </a:rPr>
              <a:t>で例外が発生した場合，</a:t>
            </a:r>
            <a:r>
              <a:rPr lang="en-US" altLang="ja-JP" dirty="0">
                <a:latin typeface="Consolas" panose="020B0609020204030204" pitchFamily="49" charset="0"/>
              </a:rPr>
              <a:t>I3 </a:t>
            </a:r>
            <a:r>
              <a:rPr lang="ja-JP" altLang="en-US" dirty="0">
                <a:latin typeface="Consolas" panose="020B0609020204030204" pitchFamily="49" charset="0"/>
              </a:rPr>
              <a:t>と </a:t>
            </a:r>
            <a:r>
              <a:rPr lang="en-US" altLang="ja-JP" dirty="0">
                <a:latin typeface="Consolas" panose="020B0609020204030204" pitchFamily="49" charset="0"/>
              </a:rPr>
              <a:t>I4 </a:t>
            </a:r>
            <a:r>
              <a:rPr lang="ja-JP" altLang="en-US" dirty="0">
                <a:latin typeface="Consolas" panose="020B0609020204030204" pitchFamily="49" charset="0"/>
              </a:rPr>
              <a:t>を取り消す</a:t>
            </a:r>
            <a:endParaRPr lang="en-US" altLang="ja-JP" dirty="0">
              <a:latin typeface="Consolas" panose="020B0609020204030204" pitchFamily="49" charset="0"/>
            </a:endParaRPr>
          </a:p>
          <a:p>
            <a:pPr lvl="1"/>
            <a:r>
              <a:rPr lang="ja-JP" altLang="en-US" dirty="0">
                <a:latin typeface="Consolas" panose="020B0609020204030204" pitchFamily="49" charset="0"/>
              </a:rPr>
              <a:t>分岐予測ミス時のフラッシュと同じ</a:t>
            </a:r>
            <a:endParaRPr kumimoji="1" lang="ja-JP" altLang="en-US" dirty="0">
              <a:latin typeface="Consolas" panose="020B0609020204030204" pitchFamily="49" charset="0"/>
            </a:endParaRPr>
          </a:p>
        </p:txBody>
      </p:sp>
      <p:cxnSp>
        <p:nvCxnSpPr>
          <p:cNvPr id="4" name="直線コネクタ 3"/>
          <p:cNvCxnSpPr>
            <a:endCxn id="9" idx="1"/>
          </p:cNvCxnSpPr>
          <p:nvPr/>
        </p:nvCxnSpPr>
        <p:spPr bwMode="auto">
          <a:xfrm flipV="1">
            <a:off x="4115979" y="5139017"/>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4115978" y="4689014"/>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4655984"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5105989" y="4509012"/>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a:t>ID</a:t>
            </a:r>
          </a:p>
        </p:txBody>
      </p:sp>
      <p:sp>
        <p:nvSpPr>
          <p:cNvPr id="8" name="Rectangle 71"/>
          <p:cNvSpPr>
            <a:spLocks noChangeArrowheads="1"/>
          </p:cNvSpPr>
          <p:nvPr/>
        </p:nvSpPr>
        <p:spPr bwMode="auto">
          <a:xfrm>
            <a:off x="6006003" y="4509012"/>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EX</a:t>
            </a:r>
          </a:p>
        </p:txBody>
      </p:sp>
      <p:sp>
        <p:nvSpPr>
          <p:cNvPr id="9" name="Rectangle 69"/>
          <p:cNvSpPr>
            <a:spLocks noChangeArrowheads="1"/>
          </p:cNvSpPr>
          <p:nvPr/>
        </p:nvSpPr>
        <p:spPr bwMode="auto">
          <a:xfrm>
            <a:off x="510598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0" name="Rectangle 70"/>
          <p:cNvSpPr>
            <a:spLocks noChangeArrowheads="1"/>
          </p:cNvSpPr>
          <p:nvPr/>
        </p:nvSpPr>
        <p:spPr bwMode="auto">
          <a:xfrm>
            <a:off x="5555998" y="4959017"/>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ID</a:t>
            </a:r>
          </a:p>
        </p:txBody>
      </p:sp>
      <p:sp>
        <p:nvSpPr>
          <p:cNvPr id="11" name="Rectangle 71"/>
          <p:cNvSpPr>
            <a:spLocks noChangeArrowheads="1"/>
          </p:cNvSpPr>
          <p:nvPr/>
        </p:nvSpPr>
        <p:spPr bwMode="auto">
          <a:xfrm>
            <a:off x="6456008" y="4959017"/>
            <a:ext cx="360000" cy="360000"/>
          </a:xfrm>
          <a:prstGeom prst="rect">
            <a:avLst/>
          </a:prstGeom>
          <a:ln w="57150">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EX</a:t>
            </a:r>
          </a:p>
        </p:txBody>
      </p:sp>
      <p:sp>
        <p:nvSpPr>
          <p:cNvPr id="12" name="Rectangle 73"/>
          <p:cNvSpPr>
            <a:spLocks noChangeArrowheads="1"/>
          </p:cNvSpPr>
          <p:nvPr/>
        </p:nvSpPr>
        <p:spPr bwMode="auto">
          <a:xfrm>
            <a:off x="6906013" y="4959017"/>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3" name="Rectangle 69"/>
          <p:cNvSpPr>
            <a:spLocks noChangeArrowheads="1"/>
          </p:cNvSpPr>
          <p:nvPr/>
        </p:nvSpPr>
        <p:spPr bwMode="auto">
          <a:xfrm>
            <a:off x="5555998" y="540902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4" name="Rectangle 70"/>
          <p:cNvSpPr>
            <a:spLocks noChangeArrowheads="1"/>
          </p:cNvSpPr>
          <p:nvPr/>
        </p:nvSpPr>
        <p:spPr bwMode="auto">
          <a:xfrm>
            <a:off x="6005999" y="5409022"/>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a:t>ID</a:t>
            </a:r>
          </a:p>
        </p:txBody>
      </p:sp>
      <p:cxnSp>
        <p:nvCxnSpPr>
          <p:cNvPr id="17" name="直線コネクタ 16"/>
          <p:cNvCxnSpPr>
            <a:endCxn id="13" idx="1"/>
          </p:cNvCxnSpPr>
          <p:nvPr/>
        </p:nvCxnSpPr>
        <p:spPr bwMode="auto">
          <a:xfrm flipV="1">
            <a:off x="4115978" y="5589022"/>
            <a:ext cx="1440020" cy="2"/>
          </a:xfrm>
          <a:prstGeom prst="line">
            <a:avLst/>
          </a:prstGeom>
          <a:noFill/>
          <a:ln w="9525" cap="flat" cmpd="sng" algn="ctr">
            <a:solidFill>
              <a:schemeClr val="tx1"/>
            </a:solidFill>
            <a:prstDash val="dash"/>
            <a:round/>
            <a:headEnd type="none" w="med" len="med"/>
            <a:tailEnd type="none" w="med" len="med"/>
          </a:ln>
          <a:effectLst/>
        </p:spPr>
      </p:cxnSp>
      <p:sp>
        <p:nvSpPr>
          <p:cNvPr id="18" name="Rectangle 73"/>
          <p:cNvSpPr>
            <a:spLocks noChangeArrowheads="1"/>
          </p:cNvSpPr>
          <p:nvPr/>
        </p:nvSpPr>
        <p:spPr bwMode="auto">
          <a:xfrm>
            <a:off x="7806023" y="4509012"/>
            <a:ext cx="360000" cy="360000"/>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lIns="93600" tIns="46800" rIns="93600" bIns="46800" anchor="ctr"/>
          <a:lstStyle/>
          <a:p>
            <a:pPr algn="ctr"/>
            <a:r>
              <a:rPr lang="en-US" altLang="ja-JP" sz="1600" dirty="0"/>
              <a:t>WB</a:t>
            </a:r>
          </a:p>
        </p:txBody>
      </p:sp>
      <p:sp>
        <p:nvSpPr>
          <p:cNvPr id="19" name="Rectangle 71"/>
          <p:cNvSpPr>
            <a:spLocks noChangeArrowheads="1"/>
          </p:cNvSpPr>
          <p:nvPr/>
        </p:nvSpPr>
        <p:spPr bwMode="auto">
          <a:xfrm>
            <a:off x="6456008" y="4509012"/>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EX</a:t>
            </a:r>
          </a:p>
        </p:txBody>
      </p:sp>
      <p:sp>
        <p:nvSpPr>
          <p:cNvPr id="20" name="Rectangle 71"/>
          <p:cNvSpPr>
            <a:spLocks noChangeArrowheads="1"/>
          </p:cNvSpPr>
          <p:nvPr/>
        </p:nvSpPr>
        <p:spPr bwMode="auto">
          <a:xfrm>
            <a:off x="6906013" y="4509012"/>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EX</a:t>
            </a:r>
          </a:p>
        </p:txBody>
      </p:sp>
      <p:sp>
        <p:nvSpPr>
          <p:cNvPr id="21" name="Rectangle 71"/>
          <p:cNvSpPr>
            <a:spLocks noChangeArrowheads="1"/>
          </p:cNvSpPr>
          <p:nvPr/>
        </p:nvSpPr>
        <p:spPr bwMode="auto">
          <a:xfrm>
            <a:off x="7356018" y="4509012"/>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EX</a:t>
            </a:r>
          </a:p>
        </p:txBody>
      </p:sp>
      <p:sp>
        <p:nvSpPr>
          <p:cNvPr id="22" name="Rectangle 70"/>
          <p:cNvSpPr>
            <a:spLocks noChangeArrowheads="1"/>
          </p:cNvSpPr>
          <p:nvPr/>
        </p:nvSpPr>
        <p:spPr bwMode="auto">
          <a:xfrm>
            <a:off x="5555994" y="4509012"/>
            <a:ext cx="360000" cy="360000"/>
          </a:xfrm>
          <a:prstGeom prst="rect">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r>
              <a:rPr lang="en-US" altLang="ja-JP" sz="1600" dirty="0"/>
              <a:t>IS</a:t>
            </a:r>
          </a:p>
        </p:txBody>
      </p:sp>
      <p:sp>
        <p:nvSpPr>
          <p:cNvPr id="23" name="Rectangle 70"/>
          <p:cNvSpPr>
            <a:spLocks noChangeArrowheads="1"/>
          </p:cNvSpPr>
          <p:nvPr/>
        </p:nvSpPr>
        <p:spPr bwMode="auto">
          <a:xfrm>
            <a:off x="6005999" y="4959017"/>
            <a:ext cx="360000" cy="360000"/>
          </a:xfrm>
          <a:prstGeom prst="rect">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r>
              <a:rPr lang="en-US" altLang="ja-JP" sz="1600" dirty="0"/>
              <a:t>IS</a:t>
            </a:r>
          </a:p>
        </p:txBody>
      </p:sp>
      <p:sp>
        <p:nvSpPr>
          <p:cNvPr id="24" name="Rectangle 70"/>
          <p:cNvSpPr>
            <a:spLocks noChangeArrowheads="1"/>
          </p:cNvSpPr>
          <p:nvPr/>
        </p:nvSpPr>
        <p:spPr bwMode="auto">
          <a:xfrm>
            <a:off x="6456004" y="5409022"/>
            <a:ext cx="360000" cy="360000"/>
          </a:xfrm>
          <a:prstGeom prst="rect">
            <a:avLst/>
          </a:prstGeom>
          <a:ln>
            <a:headEnd/>
            <a:tailEnd type="none" w="med" len="lg"/>
          </a:ln>
        </p:spPr>
        <p:style>
          <a:lnRef idx="2">
            <a:schemeClr val="dk1"/>
          </a:lnRef>
          <a:fillRef idx="1">
            <a:schemeClr val="lt1"/>
          </a:fillRef>
          <a:effectRef idx="0">
            <a:schemeClr val="dk1"/>
          </a:effectRef>
          <a:fontRef idx="minor">
            <a:schemeClr val="dk1"/>
          </a:fontRef>
        </p:style>
        <p:txBody>
          <a:bodyPr wrap="none" lIns="93600" tIns="46800" rIns="93600" bIns="46800" anchor="ctr"/>
          <a:lstStyle/>
          <a:p>
            <a:pPr algn="ctr"/>
            <a:endParaRPr lang="en-US" altLang="ja-JP" sz="1600" dirty="0"/>
          </a:p>
        </p:txBody>
      </p:sp>
      <p:sp>
        <p:nvSpPr>
          <p:cNvPr id="26" name="正方形/長方形 25"/>
          <p:cNvSpPr/>
          <p:nvPr/>
        </p:nvSpPr>
        <p:spPr bwMode="auto">
          <a:xfrm>
            <a:off x="3395970" y="450901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I1: add</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27" name="正方形/長方形 26"/>
          <p:cNvSpPr/>
          <p:nvPr/>
        </p:nvSpPr>
        <p:spPr bwMode="auto">
          <a:xfrm>
            <a:off x="3395970" y="495901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a:t>
            </a:r>
            <a:r>
              <a:rPr lang="en-US" altLang="ja-JP" sz="1600" dirty="0" err="1">
                <a:solidFill>
                  <a:schemeClr val="tx1">
                    <a:lumMod val="75000"/>
                    <a:lumOff val="25000"/>
                  </a:schemeClr>
                </a:solidFill>
                <a:latin typeface="Consolas" panose="020B0609020204030204" pitchFamily="49" charset="0"/>
              </a:rPr>
              <a:t>ld</a:t>
            </a:r>
            <a:endParaRPr lang="ja-JP" altLang="en-US" sz="1600" dirty="0">
              <a:solidFill>
                <a:schemeClr val="tx1">
                  <a:lumMod val="75000"/>
                  <a:lumOff val="25000"/>
                </a:schemeClr>
              </a:solidFill>
            </a:endParaRPr>
          </a:p>
        </p:txBody>
      </p:sp>
      <p:sp>
        <p:nvSpPr>
          <p:cNvPr id="28" name="正方形/長方形 27"/>
          <p:cNvSpPr/>
          <p:nvPr/>
        </p:nvSpPr>
        <p:spPr bwMode="auto">
          <a:xfrm>
            <a:off x="3395970" y="540902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I3:  </a:t>
            </a:r>
            <a:r>
              <a:rPr lang="en-US" altLang="ja-JP" sz="1600" dirty="0" err="1">
                <a:solidFill>
                  <a:schemeClr val="tx1">
                    <a:lumMod val="75000"/>
                    <a:lumOff val="25000"/>
                  </a:schemeClr>
                </a:solidFill>
                <a:latin typeface="Consolas" panose="020B0609020204030204" pitchFamily="49" charset="0"/>
              </a:rPr>
              <a:t>ld</a:t>
            </a:r>
            <a:endParaRPr lang="ja-JP" altLang="en-US" sz="1600" dirty="0">
              <a:solidFill>
                <a:schemeClr val="tx1">
                  <a:lumMod val="75000"/>
                  <a:lumOff val="25000"/>
                </a:schemeClr>
              </a:solidFill>
            </a:endParaRPr>
          </a:p>
        </p:txBody>
      </p:sp>
      <p:sp>
        <p:nvSpPr>
          <p:cNvPr id="29" name="Rectangle 69"/>
          <p:cNvSpPr>
            <a:spLocks noChangeArrowheads="1"/>
          </p:cNvSpPr>
          <p:nvPr/>
        </p:nvSpPr>
        <p:spPr bwMode="auto">
          <a:xfrm>
            <a:off x="6005999" y="585902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30" name="Rectangle 70"/>
          <p:cNvSpPr>
            <a:spLocks noChangeArrowheads="1"/>
          </p:cNvSpPr>
          <p:nvPr/>
        </p:nvSpPr>
        <p:spPr bwMode="auto">
          <a:xfrm>
            <a:off x="6456000" y="5859027"/>
            <a:ext cx="360000" cy="360000"/>
          </a:xfrm>
          <a:prstGeom prst="rect">
            <a:avLst/>
          </a:prstGeom>
          <a:ln>
            <a:headEnd/>
            <a:tailEnd type="none" w="med" len="lg"/>
          </a:ln>
        </p:spPr>
        <p:style>
          <a:lnRef idx="2">
            <a:schemeClr val="dk1"/>
          </a:lnRef>
          <a:fillRef idx="1">
            <a:schemeClr val="lt1"/>
          </a:fillRef>
          <a:effectRef idx="0">
            <a:schemeClr val="dk1"/>
          </a:effectRef>
          <a:fontRef idx="minor">
            <a:schemeClr val="dk1"/>
          </a:fontRef>
        </p:style>
        <p:txBody>
          <a:bodyPr wrap="none" lIns="93600" tIns="46800" rIns="93600" bIns="46800" anchor="ctr"/>
          <a:lstStyle/>
          <a:p>
            <a:pPr algn="ctr"/>
            <a:endParaRPr lang="en-US" altLang="ja-JP" sz="1600" dirty="0"/>
          </a:p>
        </p:txBody>
      </p:sp>
      <p:cxnSp>
        <p:nvCxnSpPr>
          <p:cNvPr id="33" name="直線コネクタ 32"/>
          <p:cNvCxnSpPr>
            <a:stCxn id="35" idx="3"/>
            <a:endCxn id="29" idx="1"/>
          </p:cNvCxnSpPr>
          <p:nvPr/>
        </p:nvCxnSpPr>
        <p:spPr bwMode="auto">
          <a:xfrm flipV="1">
            <a:off x="4115979" y="6039027"/>
            <a:ext cx="1890021" cy="2"/>
          </a:xfrm>
          <a:prstGeom prst="line">
            <a:avLst/>
          </a:prstGeom>
          <a:noFill/>
          <a:ln w="9525" cap="flat" cmpd="sng" algn="ctr">
            <a:solidFill>
              <a:schemeClr val="tx1"/>
            </a:solidFill>
            <a:prstDash val="dash"/>
            <a:round/>
            <a:headEnd type="none" w="med" len="med"/>
            <a:tailEnd type="none" w="med" len="med"/>
          </a:ln>
          <a:effectLst/>
        </p:spPr>
      </p:cxnSp>
      <p:sp>
        <p:nvSpPr>
          <p:cNvPr id="35" name="正方形/長方形 34"/>
          <p:cNvSpPr/>
          <p:nvPr/>
        </p:nvSpPr>
        <p:spPr bwMode="auto">
          <a:xfrm>
            <a:off x="3395970" y="585902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I4: and</a:t>
            </a:r>
            <a:endParaRPr lang="ja-JP" altLang="en-US" sz="1600" dirty="0">
              <a:solidFill>
                <a:schemeClr val="tx1">
                  <a:lumMod val="75000"/>
                  <a:lumOff val="25000"/>
                </a:schemeClr>
              </a:solidFill>
            </a:endParaRPr>
          </a:p>
        </p:txBody>
      </p:sp>
      <p:sp>
        <p:nvSpPr>
          <p:cNvPr id="36" name="下矢印 35"/>
          <p:cNvSpPr/>
          <p:nvPr/>
        </p:nvSpPr>
        <p:spPr bwMode="auto">
          <a:xfrm>
            <a:off x="7086012" y="5499023"/>
            <a:ext cx="630007" cy="1080012"/>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フラッシュ</a:t>
            </a:r>
          </a:p>
        </p:txBody>
      </p:sp>
    </p:spTree>
    <p:extLst>
      <p:ext uri="{BB962C8B-B14F-4D97-AF65-F5344CB8AC3E}">
        <p14:creationId xmlns:p14="http://schemas.microsoft.com/office/powerpoint/2010/main" val="36254741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out-of-order </a:t>
            </a:r>
            <a:r>
              <a:rPr kumimoji="1" lang="ja-JP" altLang="en-US" dirty="0"/>
              <a:t>発行</a:t>
            </a:r>
            <a:r>
              <a:rPr kumimoji="1" lang="en-US" altLang="ja-JP" dirty="0"/>
              <a:t>/out-of-order </a:t>
            </a:r>
            <a:r>
              <a:rPr kumimoji="1" lang="ja-JP" altLang="en-US" dirty="0"/>
              <a:t>完了の場合</a:t>
            </a:r>
          </a:p>
        </p:txBody>
      </p:sp>
      <p:sp>
        <p:nvSpPr>
          <p:cNvPr id="4" name="テキスト プレースホルダー 3"/>
          <p:cNvSpPr>
            <a:spLocks noGrp="1"/>
          </p:cNvSpPr>
          <p:nvPr>
            <p:ph type="body" sz="quarter" idx="10"/>
          </p:nvPr>
        </p:nvSpPr>
        <p:spPr>
          <a:xfrm>
            <a:off x="2135956" y="1088975"/>
            <a:ext cx="8280092" cy="3600039"/>
          </a:xfrm>
        </p:spPr>
        <p:txBody>
          <a:bodyPr/>
          <a:lstStyle/>
          <a:p>
            <a:r>
              <a:rPr kumimoji="1" lang="ja-JP" altLang="en-US" dirty="0"/>
              <a:t>命令の実行順序はプログラム順とは無関係</a:t>
            </a:r>
            <a:endParaRPr kumimoji="1" lang="en-US" altLang="ja-JP" dirty="0"/>
          </a:p>
          <a:p>
            <a:pPr lvl="1"/>
            <a:r>
              <a:rPr lang="ja-JP" altLang="en-US" dirty="0">
                <a:latin typeface="Consolas" panose="020B0609020204030204" pitchFamily="49" charset="0"/>
              </a:rPr>
              <a:t>下の場合，</a:t>
            </a:r>
            <a:r>
              <a:rPr lang="en-US" altLang="ja-JP" dirty="0">
                <a:latin typeface="Consolas" panose="020B0609020204030204" pitchFamily="49" charset="0"/>
              </a:rPr>
              <a:t>I1 </a:t>
            </a:r>
            <a:r>
              <a:rPr lang="ja-JP" altLang="en-US" dirty="0">
                <a:latin typeface="Consolas" panose="020B0609020204030204" pitchFamily="49" charset="0"/>
              </a:rPr>
              <a:t>→ </a:t>
            </a:r>
            <a:r>
              <a:rPr lang="en-US" altLang="ja-JP" dirty="0">
                <a:latin typeface="Consolas" panose="020B0609020204030204" pitchFamily="49" charset="0"/>
              </a:rPr>
              <a:t>I3 </a:t>
            </a:r>
            <a:r>
              <a:rPr lang="ja-JP" altLang="en-US" dirty="0">
                <a:latin typeface="Consolas" panose="020B0609020204030204" pitchFamily="49" charset="0"/>
              </a:rPr>
              <a:t>→ </a:t>
            </a:r>
            <a:r>
              <a:rPr lang="en-US" altLang="ja-JP" dirty="0">
                <a:latin typeface="Consolas" panose="020B0609020204030204" pitchFamily="49" charset="0"/>
              </a:rPr>
              <a:t>I2 </a:t>
            </a:r>
            <a:r>
              <a:rPr lang="ja-JP" altLang="en-US" dirty="0">
                <a:latin typeface="Consolas" panose="020B0609020204030204" pitchFamily="49" charset="0"/>
              </a:rPr>
              <a:t>の順で実行</a:t>
            </a:r>
            <a:endParaRPr lang="en-US" altLang="ja-JP" dirty="0">
              <a:latin typeface="Consolas" panose="020B0609020204030204" pitchFamily="49" charset="0"/>
            </a:endParaRPr>
          </a:p>
          <a:p>
            <a:r>
              <a:rPr lang="en-US" altLang="ja-JP" dirty="0">
                <a:latin typeface="Consolas" panose="020B0609020204030204" pitchFamily="49" charset="0"/>
              </a:rPr>
              <a:t>I2 </a:t>
            </a:r>
            <a:r>
              <a:rPr lang="ja-JP" altLang="en-US" dirty="0">
                <a:latin typeface="Consolas" panose="020B0609020204030204" pitchFamily="49" charset="0"/>
              </a:rPr>
              <a:t>と </a:t>
            </a:r>
            <a:r>
              <a:rPr lang="en-US" altLang="ja-JP" dirty="0">
                <a:latin typeface="Consolas" panose="020B0609020204030204" pitchFamily="49" charset="0"/>
              </a:rPr>
              <a:t>I3 </a:t>
            </a:r>
            <a:r>
              <a:rPr lang="ja-JP" altLang="en-US" dirty="0">
                <a:latin typeface="Consolas" panose="020B0609020204030204" pitchFamily="49" charset="0"/>
              </a:rPr>
              <a:t>がそれぞれ例外を発生させた場合，どうなるのか？</a:t>
            </a:r>
            <a:endParaRPr lang="en-US" altLang="ja-JP" dirty="0">
              <a:latin typeface="Consolas" panose="020B0609020204030204" pitchFamily="49" charset="0"/>
            </a:endParaRPr>
          </a:p>
          <a:p>
            <a:pPr lvl="1"/>
            <a:r>
              <a:rPr kumimoji="1" lang="en-US" altLang="ja-JP" dirty="0">
                <a:latin typeface="Consolas" panose="020B0609020204030204" pitchFamily="49" charset="0"/>
              </a:rPr>
              <a:t>I2 </a:t>
            </a:r>
            <a:r>
              <a:rPr kumimoji="1" lang="ja-JP" altLang="en-US" dirty="0">
                <a:latin typeface="Consolas" panose="020B0609020204030204" pitchFamily="49" charset="0"/>
              </a:rPr>
              <a:t>で例外ハンドラに飛ぶべき</a:t>
            </a:r>
            <a:endParaRPr kumimoji="1" lang="en-US" altLang="ja-JP" dirty="0">
              <a:latin typeface="Consolas" panose="020B0609020204030204" pitchFamily="49" charset="0"/>
            </a:endParaRPr>
          </a:p>
          <a:p>
            <a:pPr lvl="1"/>
            <a:r>
              <a:rPr kumimoji="1" lang="ja-JP" altLang="en-US" dirty="0"/>
              <a:t>しかしそれは </a:t>
            </a:r>
            <a:r>
              <a:rPr lang="en-US" altLang="ja-JP" dirty="0">
                <a:latin typeface="Consolas" panose="020B0609020204030204" pitchFamily="49" charset="0"/>
              </a:rPr>
              <a:t>I3 </a:t>
            </a:r>
            <a:r>
              <a:rPr lang="ja-JP" altLang="en-US" dirty="0">
                <a:latin typeface="Consolas" panose="020B0609020204030204" pitchFamily="49" charset="0"/>
              </a:rPr>
              <a:t>実行のタイミングではわからない</a:t>
            </a:r>
            <a:endParaRPr lang="en-US" altLang="ja-JP" dirty="0">
              <a:latin typeface="Consolas" panose="020B0609020204030204" pitchFamily="49" charset="0"/>
            </a:endParaRPr>
          </a:p>
          <a:p>
            <a:pPr lvl="1"/>
            <a:r>
              <a:rPr kumimoji="1" lang="ja-JP" altLang="en-US" dirty="0"/>
              <a:t>プログラム順に実行したときと同じ結果になる必要がある</a:t>
            </a:r>
          </a:p>
        </p:txBody>
      </p:sp>
      <p:cxnSp>
        <p:nvCxnSpPr>
          <p:cNvPr id="5" name="直線コネクタ 4"/>
          <p:cNvCxnSpPr>
            <a:endCxn id="10" idx="1"/>
          </p:cNvCxnSpPr>
          <p:nvPr/>
        </p:nvCxnSpPr>
        <p:spPr bwMode="auto">
          <a:xfrm flipV="1">
            <a:off x="4295977" y="5679025"/>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6" name="直線コネクタ 5"/>
          <p:cNvCxnSpPr/>
          <p:nvPr/>
        </p:nvCxnSpPr>
        <p:spPr bwMode="auto">
          <a:xfrm>
            <a:off x="4295976" y="5229022"/>
            <a:ext cx="720080" cy="0"/>
          </a:xfrm>
          <a:prstGeom prst="line">
            <a:avLst/>
          </a:prstGeom>
          <a:noFill/>
          <a:ln w="9525" cap="flat" cmpd="sng" algn="ctr">
            <a:solidFill>
              <a:schemeClr val="tx1"/>
            </a:solidFill>
            <a:prstDash val="dash"/>
            <a:round/>
            <a:headEnd type="none" w="med" len="med"/>
            <a:tailEnd type="none" w="med" len="med"/>
          </a:ln>
          <a:effectLst/>
        </p:spPr>
      </p:cxnSp>
      <p:sp>
        <p:nvSpPr>
          <p:cNvPr id="7" name="Rectangle 69"/>
          <p:cNvSpPr>
            <a:spLocks noChangeArrowheads="1"/>
          </p:cNvSpPr>
          <p:nvPr/>
        </p:nvSpPr>
        <p:spPr bwMode="auto">
          <a:xfrm>
            <a:off x="4835982" y="504902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8" name="Rectangle 70"/>
          <p:cNvSpPr>
            <a:spLocks noChangeArrowheads="1"/>
          </p:cNvSpPr>
          <p:nvPr/>
        </p:nvSpPr>
        <p:spPr bwMode="auto">
          <a:xfrm>
            <a:off x="5285987" y="5049020"/>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a:t>ID</a:t>
            </a:r>
          </a:p>
        </p:txBody>
      </p:sp>
      <p:sp>
        <p:nvSpPr>
          <p:cNvPr id="9" name="Rectangle 71"/>
          <p:cNvSpPr>
            <a:spLocks noChangeArrowheads="1"/>
          </p:cNvSpPr>
          <p:nvPr/>
        </p:nvSpPr>
        <p:spPr bwMode="auto">
          <a:xfrm>
            <a:off x="6186001" y="5049020"/>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EX</a:t>
            </a:r>
          </a:p>
        </p:txBody>
      </p:sp>
      <p:sp>
        <p:nvSpPr>
          <p:cNvPr id="10" name="Rectangle 69"/>
          <p:cNvSpPr>
            <a:spLocks noChangeArrowheads="1"/>
          </p:cNvSpPr>
          <p:nvPr/>
        </p:nvSpPr>
        <p:spPr bwMode="auto">
          <a:xfrm>
            <a:off x="5285987" y="549902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1" name="Rectangle 70"/>
          <p:cNvSpPr>
            <a:spLocks noChangeArrowheads="1"/>
          </p:cNvSpPr>
          <p:nvPr/>
        </p:nvSpPr>
        <p:spPr bwMode="auto">
          <a:xfrm>
            <a:off x="5735996" y="5499025"/>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ID</a:t>
            </a:r>
          </a:p>
        </p:txBody>
      </p:sp>
      <p:sp>
        <p:nvSpPr>
          <p:cNvPr id="12" name="Rectangle 71"/>
          <p:cNvSpPr>
            <a:spLocks noChangeArrowheads="1"/>
          </p:cNvSpPr>
          <p:nvPr/>
        </p:nvSpPr>
        <p:spPr bwMode="auto">
          <a:xfrm>
            <a:off x="7986021" y="5499025"/>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a:t>EX</a:t>
            </a:r>
          </a:p>
        </p:txBody>
      </p:sp>
      <p:sp>
        <p:nvSpPr>
          <p:cNvPr id="13" name="Rectangle 73"/>
          <p:cNvSpPr>
            <a:spLocks noChangeArrowheads="1"/>
          </p:cNvSpPr>
          <p:nvPr/>
        </p:nvSpPr>
        <p:spPr bwMode="auto">
          <a:xfrm>
            <a:off x="8436026" y="5499025"/>
            <a:ext cx="360000" cy="360000"/>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lIns="93600" tIns="46800" rIns="93600" bIns="46800" anchor="ctr"/>
          <a:lstStyle/>
          <a:p>
            <a:pPr algn="ctr"/>
            <a:r>
              <a:rPr lang="en-US" altLang="ja-JP" sz="1600" dirty="0"/>
              <a:t>WB</a:t>
            </a:r>
          </a:p>
        </p:txBody>
      </p:sp>
      <p:sp>
        <p:nvSpPr>
          <p:cNvPr id="14" name="Rectangle 69"/>
          <p:cNvSpPr>
            <a:spLocks noChangeArrowheads="1"/>
          </p:cNvSpPr>
          <p:nvPr/>
        </p:nvSpPr>
        <p:spPr bwMode="auto">
          <a:xfrm>
            <a:off x="5735996" y="594903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5" name="Rectangle 70"/>
          <p:cNvSpPr>
            <a:spLocks noChangeArrowheads="1"/>
          </p:cNvSpPr>
          <p:nvPr/>
        </p:nvSpPr>
        <p:spPr bwMode="auto">
          <a:xfrm>
            <a:off x="6185997" y="5949028"/>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a:t>ID</a:t>
            </a:r>
          </a:p>
        </p:txBody>
      </p:sp>
      <p:sp>
        <p:nvSpPr>
          <p:cNvPr id="16" name="Rectangle 71"/>
          <p:cNvSpPr>
            <a:spLocks noChangeArrowheads="1"/>
          </p:cNvSpPr>
          <p:nvPr/>
        </p:nvSpPr>
        <p:spPr bwMode="auto">
          <a:xfrm>
            <a:off x="7086011" y="5949028"/>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a:t>EX</a:t>
            </a:r>
          </a:p>
        </p:txBody>
      </p:sp>
      <p:sp>
        <p:nvSpPr>
          <p:cNvPr id="17" name="Rectangle 73"/>
          <p:cNvSpPr>
            <a:spLocks noChangeArrowheads="1"/>
          </p:cNvSpPr>
          <p:nvPr/>
        </p:nvSpPr>
        <p:spPr bwMode="auto">
          <a:xfrm>
            <a:off x="7536016" y="5949028"/>
            <a:ext cx="360000" cy="360000"/>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lIns="93600" tIns="46800" rIns="93600" bIns="46800" anchor="ctr"/>
          <a:lstStyle/>
          <a:p>
            <a:pPr algn="ctr"/>
            <a:r>
              <a:rPr lang="en-US" altLang="ja-JP" sz="1600" dirty="0"/>
              <a:t>WB</a:t>
            </a:r>
          </a:p>
        </p:txBody>
      </p:sp>
      <p:cxnSp>
        <p:nvCxnSpPr>
          <p:cNvPr id="18" name="直線コネクタ 17"/>
          <p:cNvCxnSpPr>
            <a:endCxn id="14" idx="1"/>
          </p:cNvCxnSpPr>
          <p:nvPr/>
        </p:nvCxnSpPr>
        <p:spPr bwMode="auto">
          <a:xfrm flipV="1">
            <a:off x="4295976" y="6129030"/>
            <a:ext cx="1440020" cy="2"/>
          </a:xfrm>
          <a:prstGeom prst="line">
            <a:avLst/>
          </a:prstGeom>
          <a:noFill/>
          <a:ln w="9525" cap="flat" cmpd="sng" algn="ctr">
            <a:solidFill>
              <a:schemeClr val="tx1"/>
            </a:solidFill>
            <a:prstDash val="dash"/>
            <a:round/>
            <a:headEnd type="none" w="med" len="med"/>
            <a:tailEnd type="none" w="med" len="med"/>
          </a:ln>
          <a:effectLst/>
        </p:spPr>
      </p:cxnSp>
      <p:sp>
        <p:nvSpPr>
          <p:cNvPr id="19" name="Rectangle 73"/>
          <p:cNvSpPr>
            <a:spLocks noChangeArrowheads="1"/>
          </p:cNvSpPr>
          <p:nvPr/>
        </p:nvSpPr>
        <p:spPr bwMode="auto">
          <a:xfrm>
            <a:off x="7986021" y="5049020"/>
            <a:ext cx="360000" cy="360000"/>
          </a:xfrm>
          <a:prstGeom prst="rect">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wrap="none" lIns="93600" tIns="46800" rIns="93600" bIns="46800" anchor="ctr"/>
          <a:lstStyle/>
          <a:p>
            <a:pPr algn="ctr"/>
            <a:r>
              <a:rPr lang="en-US" altLang="ja-JP" sz="1600" dirty="0"/>
              <a:t>WB</a:t>
            </a:r>
          </a:p>
        </p:txBody>
      </p:sp>
      <p:sp>
        <p:nvSpPr>
          <p:cNvPr id="20" name="Rectangle 71"/>
          <p:cNvSpPr>
            <a:spLocks noChangeArrowheads="1"/>
          </p:cNvSpPr>
          <p:nvPr/>
        </p:nvSpPr>
        <p:spPr bwMode="auto">
          <a:xfrm>
            <a:off x="6636006" y="5049020"/>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EX</a:t>
            </a:r>
          </a:p>
        </p:txBody>
      </p:sp>
      <p:sp>
        <p:nvSpPr>
          <p:cNvPr id="21" name="Rectangle 71"/>
          <p:cNvSpPr>
            <a:spLocks noChangeArrowheads="1"/>
          </p:cNvSpPr>
          <p:nvPr/>
        </p:nvSpPr>
        <p:spPr bwMode="auto">
          <a:xfrm>
            <a:off x="7086011" y="5049020"/>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EX</a:t>
            </a:r>
          </a:p>
        </p:txBody>
      </p:sp>
      <p:sp>
        <p:nvSpPr>
          <p:cNvPr id="22" name="Rectangle 71"/>
          <p:cNvSpPr>
            <a:spLocks noChangeArrowheads="1"/>
          </p:cNvSpPr>
          <p:nvPr/>
        </p:nvSpPr>
        <p:spPr bwMode="auto">
          <a:xfrm>
            <a:off x="7536016" y="5049020"/>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EX</a:t>
            </a:r>
          </a:p>
        </p:txBody>
      </p:sp>
      <p:sp>
        <p:nvSpPr>
          <p:cNvPr id="23" name="Rectangle 70"/>
          <p:cNvSpPr>
            <a:spLocks noChangeArrowheads="1"/>
          </p:cNvSpPr>
          <p:nvPr/>
        </p:nvSpPr>
        <p:spPr bwMode="auto">
          <a:xfrm>
            <a:off x="5735992" y="5049020"/>
            <a:ext cx="360000" cy="360000"/>
          </a:xfrm>
          <a:prstGeom prst="rect">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r>
              <a:rPr lang="en-US" altLang="ja-JP" sz="1600" dirty="0"/>
              <a:t>IS</a:t>
            </a:r>
          </a:p>
        </p:txBody>
      </p:sp>
      <p:sp>
        <p:nvSpPr>
          <p:cNvPr id="24" name="Rectangle 70"/>
          <p:cNvSpPr>
            <a:spLocks noChangeArrowheads="1"/>
          </p:cNvSpPr>
          <p:nvPr/>
        </p:nvSpPr>
        <p:spPr bwMode="auto">
          <a:xfrm>
            <a:off x="7536012" y="5499025"/>
            <a:ext cx="360000" cy="360000"/>
          </a:xfrm>
          <a:prstGeom prst="rect">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r>
              <a:rPr lang="en-US" altLang="ja-JP" sz="1600" dirty="0"/>
              <a:t>IS</a:t>
            </a:r>
          </a:p>
        </p:txBody>
      </p:sp>
      <p:sp>
        <p:nvSpPr>
          <p:cNvPr id="25" name="Rectangle 70"/>
          <p:cNvSpPr>
            <a:spLocks noChangeArrowheads="1"/>
          </p:cNvSpPr>
          <p:nvPr/>
        </p:nvSpPr>
        <p:spPr bwMode="auto">
          <a:xfrm>
            <a:off x="6636002" y="5949028"/>
            <a:ext cx="360000" cy="360000"/>
          </a:xfrm>
          <a:prstGeom prst="rect">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r>
              <a:rPr lang="en-US" altLang="ja-JP" sz="1600" dirty="0"/>
              <a:t>IS</a:t>
            </a:r>
          </a:p>
        </p:txBody>
      </p:sp>
      <p:sp>
        <p:nvSpPr>
          <p:cNvPr id="26" name="Rectangle 73"/>
          <p:cNvSpPr>
            <a:spLocks noChangeArrowheads="1"/>
          </p:cNvSpPr>
          <p:nvPr/>
        </p:nvSpPr>
        <p:spPr bwMode="auto">
          <a:xfrm>
            <a:off x="6186001" y="5499025"/>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7" name="Rectangle 73"/>
          <p:cNvSpPr>
            <a:spLocks noChangeArrowheads="1"/>
          </p:cNvSpPr>
          <p:nvPr/>
        </p:nvSpPr>
        <p:spPr bwMode="auto">
          <a:xfrm>
            <a:off x="6636006" y="5499025"/>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8" name="Rectangle 73"/>
          <p:cNvSpPr>
            <a:spLocks noChangeArrowheads="1"/>
          </p:cNvSpPr>
          <p:nvPr/>
        </p:nvSpPr>
        <p:spPr bwMode="auto">
          <a:xfrm>
            <a:off x="7086011" y="5499025"/>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9" name="正方形/長方形 28"/>
          <p:cNvSpPr/>
          <p:nvPr/>
        </p:nvSpPr>
        <p:spPr bwMode="auto">
          <a:xfrm>
            <a:off x="3575968" y="504902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I1: </a:t>
            </a:r>
            <a:r>
              <a:rPr lang="en-US" altLang="ja-JP" sz="1600" dirty="0" err="1">
                <a:solidFill>
                  <a:schemeClr val="tx1">
                    <a:lumMod val="75000"/>
                    <a:lumOff val="25000"/>
                  </a:schemeClr>
                </a:solidFill>
                <a:latin typeface="Consolas" panose="020B0609020204030204" pitchFamily="49" charset="0"/>
              </a:rPr>
              <a:t>ld</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30" name="正方形/長方形 29"/>
          <p:cNvSpPr/>
          <p:nvPr/>
        </p:nvSpPr>
        <p:spPr bwMode="auto">
          <a:xfrm>
            <a:off x="3575968" y="5499025"/>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a:t>
            </a:r>
            <a:r>
              <a:rPr lang="en-US" altLang="ja-JP" sz="1600" dirty="0" err="1">
                <a:solidFill>
                  <a:schemeClr val="tx1">
                    <a:lumMod val="75000"/>
                    <a:lumOff val="25000"/>
                  </a:schemeClr>
                </a:solidFill>
                <a:latin typeface="Consolas" panose="020B0609020204030204" pitchFamily="49" charset="0"/>
              </a:rPr>
              <a:t>ld</a:t>
            </a:r>
            <a:endParaRPr lang="ja-JP" altLang="en-US" sz="1600" dirty="0">
              <a:solidFill>
                <a:schemeClr val="tx1">
                  <a:lumMod val="75000"/>
                  <a:lumOff val="25000"/>
                </a:schemeClr>
              </a:solidFill>
            </a:endParaRPr>
          </a:p>
        </p:txBody>
      </p:sp>
      <p:sp>
        <p:nvSpPr>
          <p:cNvPr id="31" name="正方形/長方形 30"/>
          <p:cNvSpPr/>
          <p:nvPr/>
        </p:nvSpPr>
        <p:spPr bwMode="auto">
          <a:xfrm>
            <a:off x="3575968" y="594903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I3: </a:t>
            </a:r>
            <a:r>
              <a:rPr lang="en-US" altLang="ja-JP" sz="1600" dirty="0" err="1">
                <a:solidFill>
                  <a:schemeClr val="tx1">
                    <a:lumMod val="75000"/>
                    <a:lumOff val="25000"/>
                  </a:schemeClr>
                </a:solidFill>
                <a:latin typeface="Consolas" panose="020B0609020204030204" pitchFamily="49" charset="0"/>
              </a:rPr>
              <a:t>ld</a:t>
            </a:r>
            <a:endParaRPr lang="ja-JP" altLang="en-US" sz="1600" dirty="0">
              <a:solidFill>
                <a:schemeClr val="tx1">
                  <a:lumMod val="75000"/>
                  <a:lumOff val="25000"/>
                </a:schemeClr>
              </a:solidFill>
            </a:endParaRPr>
          </a:p>
        </p:txBody>
      </p:sp>
    </p:spTree>
    <p:extLst>
      <p:ext uri="{BB962C8B-B14F-4D97-AF65-F5344CB8AC3E}">
        <p14:creationId xmlns:p14="http://schemas.microsoft.com/office/powerpoint/2010/main" val="38306827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リオーダ・バッファ（</a:t>
            </a:r>
            <a:r>
              <a:rPr kumimoji="1" lang="en-US" altLang="ja-JP" dirty="0"/>
              <a:t>ROB: re-order buffer</a:t>
            </a:r>
            <a:r>
              <a:rPr kumimoji="1" lang="ja-JP" altLang="en-US" dirty="0"/>
              <a:t>）</a:t>
            </a:r>
          </a:p>
        </p:txBody>
      </p:sp>
      <p:sp>
        <p:nvSpPr>
          <p:cNvPr id="3" name="テキスト プレースホルダー 2"/>
          <p:cNvSpPr>
            <a:spLocks noGrp="1"/>
          </p:cNvSpPr>
          <p:nvPr>
            <p:ph type="body" sz="quarter" idx="10"/>
          </p:nvPr>
        </p:nvSpPr>
        <p:spPr>
          <a:xfrm>
            <a:off x="2135956" y="4779016"/>
            <a:ext cx="8280092" cy="1439709"/>
          </a:xfrm>
        </p:spPr>
        <p:txBody>
          <a:bodyPr/>
          <a:lstStyle/>
          <a:p>
            <a:r>
              <a:rPr kumimoji="1" lang="ja-JP" altLang="en-US" dirty="0"/>
              <a:t>バックエンドの後ろにリオーダ・バッファ（</a:t>
            </a:r>
            <a:r>
              <a:rPr kumimoji="1" lang="en-US" altLang="ja-JP" dirty="0"/>
              <a:t>ROB</a:t>
            </a:r>
            <a:r>
              <a:rPr kumimoji="1" lang="ja-JP" altLang="en-US" dirty="0"/>
              <a:t>）を追加</a:t>
            </a:r>
            <a:endParaRPr kumimoji="1" lang="en-US" altLang="ja-JP" dirty="0"/>
          </a:p>
          <a:p>
            <a:pPr lvl="1"/>
            <a:r>
              <a:rPr lang="ja-JP" altLang="en-US" dirty="0"/>
              <a:t>バックエンドで完了した命令は </a:t>
            </a:r>
            <a:r>
              <a:rPr lang="en-US" altLang="ja-JP" dirty="0"/>
              <a:t>ROB </a:t>
            </a:r>
            <a:r>
              <a:rPr lang="ja-JP" altLang="en-US" dirty="0" err="1"/>
              <a:t>に完</a:t>
            </a:r>
            <a:r>
              <a:rPr lang="ja-JP" altLang="en-US" dirty="0"/>
              <a:t>了した印をつけていく</a:t>
            </a:r>
            <a:endParaRPr lang="en-US" altLang="ja-JP" dirty="0"/>
          </a:p>
          <a:p>
            <a:pPr lvl="1"/>
            <a:r>
              <a:rPr kumimoji="1" lang="ja-JP" altLang="en-US" dirty="0"/>
              <a:t>コミット・パイプで </a:t>
            </a:r>
            <a:r>
              <a:rPr kumimoji="1" lang="en-US" altLang="ja-JP" dirty="0"/>
              <a:t>in-order </a:t>
            </a:r>
            <a:r>
              <a:rPr kumimoji="1" lang="ja-JP" altLang="en-US" dirty="0"/>
              <a:t>に印を読み出し，例外を反映</a:t>
            </a:r>
            <a:endParaRPr kumimoji="1" lang="en-US" altLang="ja-JP" dirty="0"/>
          </a:p>
          <a:p>
            <a:pPr lvl="1"/>
            <a:r>
              <a:rPr lang="ja-JP" altLang="en-US" dirty="0"/>
              <a:t>（上記のバックエンド</a:t>
            </a:r>
            <a:r>
              <a:rPr lang="en-US" altLang="ja-JP" dirty="0"/>
              <a:t>/</a:t>
            </a:r>
            <a:r>
              <a:rPr lang="ja-JP" altLang="en-US" dirty="0"/>
              <a:t>コミット・パイプをそれぞれ</a:t>
            </a:r>
            <a:br>
              <a:rPr lang="en-US" altLang="ja-JP" dirty="0"/>
            </a:br>
            <a:r>
              <a:rPr lang="ja-JP" altLang="en-US" dirty="0"/>
              <a:t>　実行コア</a:t>
            </a:r>
            <a:r>
              <a:rPr lang="en-US" altLang="ja-JP" dirty="0"/>
              <a:t>/</a:t>
            </a:r>
            <a:r>
              <a:rPr lang="ja-JP" altLang="en-US" dirty="0"/>
              <a:t>バックエンド と呼ぶ文献もある）</a:t>
            </a:r>
            <a:endParaRPr kumimoji="1" lang="en-US" altLang="ja-JP" dirty="0"/>
          </a:p>
          <a:p>
            <a:r>
              <a:rPr kumimoji="1" lang="ja-JP" altLang="en-US" dirty="0">
                <a:solidFill>
                  <a:schemeClr val="accent5"/>
                </a:solidFill>
              </a:rPr>
              <a:t>コミット（</a:t>
            </a:r>
            <a:r>
              <a:rPr kumimoji="1" lang="en-US" altLang="ja-JP" dirty="0">
                <a:solidFill>
                  <a:schemeClr val="accent5"/>
                </a:solidFill>
              </a:rPr>
              <a:t>commit</a:t>
            </a:r>
            <a:r>
              <a:rPr kumimoji="1" lang="ja-JP" altLang="en-US" dirty="0">
                <a:solidFill>
                  <a:schemeClr val="accent5"/>
                </a:solidFill>
              </a:rPr>
              <a:t>）：実行を確定させる操作</a:t>
            </a:r>
            <a:endParaRPr kumimoji="1" lang="en-US" altLang="ja-JP" dirty="0">
              <a:solidFill>
                <a:schemeClr val="accent5"/>
              </a:solidFill>
            </a:endParaRPr>
          </a:p>
          <a:p>
            <a:pPr lvl="1"/>
            <a:endParaRPr kumimoji="1" lang="ja-JP" altLang="en-US" dirty="0"/>
          </a:p>
        </p:txBody>
      </p:sp>
      <p:grpSp>
        <p:nvGrpSpPr>
          <p:cNvPr id="4" name="グループ化 3"/>
          <p:cNvGrpSpPr/>
          <p:nvPr/>
        </p:nvGrpSpPr>
        <p:grpSpPr>
          <a:xfrm>
            <a:off x="1955954" y="2348988"/>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4385981" y="2348988"/>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5826141" y="2348988"/>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8346025" y="2348988"/>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1917794" y="148444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4347821" y="1484445"/>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5789868" y="1503029"/>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8796031" y="1538979"/>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0" name="正方形/長方形 19"/>
          <p:cNvSpPr/>
          <p:nvPr/>
        </p:nvSpPr>
        <p:spPr bwMode="auto">
          <a:xfrm>
            <a:off x="3665973" y="1988985"/>
            <a:ext cx="630007" cy="135001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vert"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発行キュー</a:t>
            </a:r>
          </a:p>
        </p:txBody>
      </p:sp>
      <p:cxnSp>
        <p:nvCxnSpPr>
          <p:cNvPr id="21" name="直線矢印コネクタ 20"/>
          <p:cNvCxnSpPr/>
          <p:nvPr/>
        </p:nvCxnSpPr>
        <p:spPr bwMode="auto">
          <a:xfrm flipH="1">
            <a:off x="1955955" y="3086355"/>
            <a:ext cx="1530017"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22" name="角丸四角形吹き出し 21"/>
          <p:cNvSpPr/>
          <p:nvPr/>
        </p:nvSpPr>
        <p:spPr bwMode="auto">
          <a:xfrm>
            <a:off x="1865953" y="3176357"/>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フロントエンド</a:t>
            </a:r>
            <a:endParaRPr lang="en-US" altLang="ja-JP" dirty="0">
              <a:solidFill>
                <a:schemeClr val="accent5"/>
              </a:solidFill>
              <a:latin typeface="Arial Narrow" panose="020B0606020202030204" pitchFamily="34" charset="0"/>
            </a:endParaRPr>
          </a:p>
          <a:p>
            <a:r>
              <a:rPr lang="en-US" altLang="ja-JP" dirty="0">
                <a:solidFill>
                  <a:schemeClr val="accent5"/>
                </a:solidFill>
              </a:rPr>
              <a:t>in-order</a:t>
            </a:r>
            <a:endParaRPr lang="ja-JP" altLang="en-US" dirty="0">
              <a:solidFill>
                <a:schemeClr val="accent5"/>
              </a:solidFill>
            </a:endParaRPr>
          </a:p>
        </p:txBody>
      </p:sp>
      <p:cxnSp>
        <p:nvCxnSpPr>
          <p:cNvPr id="23" name="直線矢印コネクタ 22"/>
          <p:cNvCxnSpPr/>
          <p:nvPr/>
        </p:nvCxnSpPr>
        <p:spPr bwMode="auto">
          <a:xfrm flipH="1">
            <a:off x="4385839" y="3068997"/>
            <a:ext cx="2880175" cy="17359"/>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24" name="角丸四角形吹き出し 23"/>
          <p:cNvSpPr/>
          <p:nvPr/>
        </p:nvSpPr>
        <p:spPr bwMode="auto">
          <a:xfrm>
            <a:off x="4925843" y="3158998"/>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accent5"/>
                </a:solidFill>
              </a:rPr>
              <a:t>バックエンド</a:t>
            </a:r>
            <a:br>
              <a:rPr lang="en-US" altLang="ja-JP" dirty="0">
                <a:solidFill>
                  <a:schemeClr val="accent5"/>
                </a:solidFill>
              </a:rPr>
            </a:br>
            <a:r>
              <a:rPr lang="en-US" altLang="ja-JP" dirty="0">
                <a:solidFill>
                  <a:schemeClr val="accent5"/>
                </a:solidFill>
              </a:rPr>
              <a:t>out-of-order</a:t>
            </a:r>
            <a:endParaRPr lang="ja-JP" altLang="en-US" dirty="0">
              <a:solidFill>
                <a:schemeClr val="accent5"/>
              </a:solidFill>
            </a:endParaRPr>
          </a:p>
        </p:txBody>
      </p:sp>
      <p:sp>
        <p:nvSpPr>
          <p:cNvPr id="25" name="正方形/長方形 24"/>
          <p:cNvSpPr/>
          <p:nvPr/>
        </p:nvSpPr>
        <p:spPr>
          <a:xfrm>
            <a:off x="3575973" y="1268976"/>
            <a:ext cx="865983" cy="738664"/>
          </a:xfrm>
          <a:prstGeom prst="rect">
            <a:avLst/>
          </a:prstGeom>
        </p:spPr>
        <p:txBody>
          <a:bodyPr wrap="square">
            <a:spAutoFit/>
          </a:bodyPr>
          <a:lstStyle/>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9" name="正方形/長方形 28"/>
          <p:cNvSpPr/>
          <p:nvPr/>
        </p:nvSpPr>
        <p:spPr>
          <a:xfrm>
            <a:off x="7446016" y="1268976"/>
            <a:ext cx="937991" cy="738664"/>
          </a:xfrm>
          <a:prstGeom prst="rect">
            <a:avLst/>
          </a:prstGeom>
        </p:spPr>
        <p:txBody>
          <a:bodyPr wrap="square">
            <a:spAutoFit/>
          </a:bodyPr>
          <a:lstStyle/>
          <a:p>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l-GR"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1" name="正方形/長方形 30"/>
          <p:cNvSpPr/>
          <p:nvPr/>
        </p:nvSpPr>
        <p:spPr bwMode="auto">
          <a:xfrm>
            <a:off x="7536017" y="1988985"/>
            <a:ext cx="630007"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6"/>
                </a:solidFill>
                <a:latin typeface="+mn-ea"/>
              </a:rPr>
              <a:t>ROB</a:t>
            </a:r>
            <a:endParaRPr lang="ja-JP" altLang="en-US" b="1" dirty="0">
              <a:solidFill>
                <a:schemeClr val="accent6"/>
              </a:solidFill>
              <a:latin typeface="+mn-ea"/>
            </a:endParaRPr>
          </a:p>
        </p:txBody>
      </p:sp>
      <p:cxnSp>
        <p:nvCxnSpPr>
          <p:cNvPr id="32" name="直線矢印コネクタ 31"/>
          <p:cNvCxnSpPr/>
          <p:nvPr/>
        </p:nvCxnSpPr>
        <p:spPr bwMode="auto">
          <a:xfrm flipH="1">
            <a:off x="8346028" y="3068997"/>
            <a:ext cx="1710017" cy="17359"/>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33" name="角丸四角形吹き出し 32"/>
          <p:cNvSpPr/>
          <p:nvPr/>
        </p:nvSpPr>
        <p:spPr bwMode="auto">
          <a:xfrm>
            <a:off x="8256024" y="3158998"/>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accent5"/>
                </a:solidFill>
              </a:rPr>
              <a:t>コミット・パイプ</a:t>
            </a:r>
            <a:br>
              <a:rPr lang="en-US" altLang="ja-JP" dirty="0">
                <a:solidFill>
                  <a:schemeClr val="accent5"/>
                </a:solidFill>
              </a:rPr>
            </a:br>
            <a:r>
              <a:rPr lang="en-US" altLang="ja-JP" dirty="0">
                <a:solidFill>
                  <a:schemeClr val="accent5"/>
                </a:solidFill>
              </a:rPr>
              <a:t>in-order</a:t>
            </a:r>
            <a:endParaRPr lang="ja-JP" altLang="en-US" dirty="0">
              <a:solidFill>
                <a:schemeClr val="accent5"/>
              </a:solidFill>
            </a:endParaRPr>
          </a:p>
        </p:txBody>
      </p:sp>
      <p:sp>
        <p:nvSpPr>
          <p:cNvPr id="35" name="角丸四角形 34"/>
          <p:cNvSpPr/>
          <p:nvPr/>
        </p:nvSpPr>
        <p:spPr bwMode="auto">
          <a:xfrm>
            <a:off x="6276002" y="2168986"/>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Consolas" panose="020B0609020204030204" pitchFamily="49" charset="0"/>
              </a:rPr>
              <a:t>I1</a:t>
            </a:r>
            <a:endParaRPr lang="ja-JP" altLang="en-US" dirty="0">
              <a:latin typeface="Consolas" panose="020B0609020204030204" pitchFamily="49" charset="0"/>
            </a:endParaRPr>
          </a:p>
        </p:txBody>
      </p:sp>
      <p:sp>
        <p:nvSpPr>
          <p:cNvPr id="36" name="角丸四角形 35"/>
          <p:cNvSpPr/>
          <p:nvPr/>
        </p:nvSpPr>
        <p:spPr bwMode="auto">
          <a:xfrm>
            <a:off x="4925987" y="2168986"/>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Consolas" panose="020B0609020204030204" pitchFamily="49" charset="0"/>
              </a:rPr>
              <a:t>I3</a:t>
            </a:r>
            <a:endParaRPr lang="ja-JP" altLang="en-US" dirty="0">
              <a:latin typeface="Consolas" panose="020B0609020204030204" pitchFamily="49" charset="0"/>
            </a:endParaRPr>
          </a:p>
        </p:txBody>
      </p:sp>
      <p:sp>
        <p:nvSpPr>
          <p:cNvPr id="37" name="角丸四角形 36"/>
          <p:cNvSpPr/>
          <p:nvPr/>
        </p:nvSpPr>
        <p:spPr bwMode="auto">
          <a:xfrm>
            <a:off x="3665973" y="2438989"/>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Consolas" panose="020B0609020204030204" pitchFamily="49" charset="0"/>
              </a:rPr>
              <a:t>I2</a:t>
            </a:r>
            <a:endParaRPr lang="ja-JP" altLang="en-US" dirty="0">
              <a:latin typeface="Consolas" panose="020B0609020204030204" pitchFamily="49" charset="0"/>
            </a:endParaRPr>
          </a:p>
        </p:txBody>
      </p:sp>
    </p:spTree>
    <p:extLst>
      <p:ext uri="{BB962C8B-B14F-4D97-AF65-F5344CB8AC3E}">
        <p14:creationId xmlns:p14="http://schemas.microsoft.com/office/powerpoint/2010/main" val="40502021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ROB </a:t>
            </a:r>
            <a:r>
              <a:rPr kumimoji="1" lang="ja-JP" altLang="en-US" dirty="0"/>
              <a:t>の中身</a:t>
            </a:r>
          </a:p>
        </p:txBody>
      </p:sp>
      <p:sp>
        <p:nvSpPr>
          <p:cNvPr id="3" name="テキスト プレースホルダー 2"/>
          <p:cNvSpPr>
            <a:spLocks noGrp="1"/>
          </p:cNvSpPr>
          <p:nvPr>
            <p:ph type="body" sz="quarter" idx="10"/>
          </p:nvPr>
        </p:nvSpPr>
        <p:spPr/>
        <p:txBody>
          <a:bodyPr/>
          <a:lstStyle/>
          <a:p>
            <a:r>
              <a:rPr kumimoji="1" lang="en-US" altLang="ja-JP" dirty="0"/>
              <a:t>ROB</a:t>
            </a:r>
            <a:r>
              <a:rPr kumimoji="1" lang="ja-JP" altLang="en-US" dirty="0"/>
              <a:t>：</a:t>
            </a:r>
            <a:endParaRPr kumimoji="1" lang="en-US" altLang="ja-JP" dirty="0"/>
          </a:p>
          <a:p>
            <a:pPr lvl="1"/>
            <a:r>
              <a:rPr kumimoji="1" lang="ja-JP" altLang="en-US" dirty="0"/>
              <a:t>プログラム順にエントリが確保される </a:t>
            </a:r>
            <a:r>
              <a:rPr kumimoji="1" lang="en-US" altLang="ja-JP" dirty="0"/>
              <a:t>FIFO</a:t>
            </a:r>
          </a:p>
          <a:p>
            <a:r>
              <a:rPr kumimoji="1" lang="ja-JP" altLang="en-US" dirty="0"/>
              <a:t>内部にあるフィールド</a:t>
            </a:r>
            <a:endParaRPr kumimoji="1" lang="en-US" altLang="ja-JP" dirty="0"/>
          </a:p>
          <a:p>
            <a:pPr marL="817200" lvl="1" indent="-457200">
              <a:buFont typeface="+mj-lt"/>
              <a:buAutoNum type="arabicPeriod"/>
            </a:pPr>
            <a:r>
              <a:rPr lang="ja-JP" altLang="en-US" dirty="0"/>
              <a:t>完了フラグ</a:t>
            </a:r>
            <a:endParaRPr lang="en-US" altLang="ja-JP" dirty="0"/>
          </a:p>
          <a:p>
            <a:pPr lvl="2"/>
            <a:r>
              <a:rPr lang="ja-JP" altLang="en-US" dirty="0"/>
              <a:t>完了した命令は１を書き込む</a:t>
            </a:r>
            <a:endParaRPr lang="en-US" altLang="ja-JP" dirty="0"/>
          </a:p>
          <a:p>
            <a:pPr marL="817200" lvl="1" indent="-457200">
              <a:buFont typeface="+mj-lt"/>
              <a:buAutoNum type="arabicPeriod"/>
            </a:pPr>
            <a:r>
              <a:rPr kumimoji="1" lang="ja-JP" altLang="en-US" dirty="0"/>
              <a:t>例外コード</a:t>
            </a:r>
            <a:endParaRPr kumimoji="1" lang="en-US" altLang="ja-JP" dirty="0"/>
          </a:p>
          <a:p>
            <a:pPr lvl="2"/>
            <a:r>
              <a:rPr kumimoji="1" lang="ja-JP" altLang="en-US" dirty="0"/>
              <a:t>例外を発生させた場合は，その種類を書く</a:t>
            </a:r>
            <a:endParaRPr kumimoji="1" lang="en-US" altLang="ja-JP" dirty="0"/>
          </a:p>
          <a:p>
            <a:pPr marL="817200" lvl="1" indent="-457200">
              <a:buFont typeface="+mj-lt"/>
              <a:buAutoNum type="arabicPeriod"/>
            </a:pPr>
            <a:r>
              <a:rPr kumimoji="1" lang="ja-JP" altLang="en-US" dirty="0"/>
              <a:t>その命令の</a:t>
            </a:r>
            <a:r>
              <a:rPr kumimoji="1" lang="en-US" altLang="ja-JP" dirty="0"/>
              <a:t>PC or </a:t>
            </a:r>
            <a:r>
              <a:rPr kumimoji="1" lang="ja-JP" altLang="en-US" dirty="0"/>
              <a:t>分岐先ターゲット</a:t>
            </a:r>
            <a:endParaRPr kumimoji="1" lang="en-US" altLang="ja-JP" dirty="0"/>
          </a:p>
          <a:p>
            <a:pPr lvl="2"/>
            <a:r>
              <a:rPr lang="ja-JP" altLang="en-US" dirty="0"/>
              <a:t>どっちを入れるかは例外の種類次第</a:t>
            </a:r>
            <a:endParaRPr kumimoji="1" lang="ja-JP" altLang="en-US" dirty="0"/>
          </a:p>
        </p:txBody>
      </p:sp>
    </p:spTree>
    <p:extLst>
      <p:ext uri="{BB962C8B-B14F-4D97-AF65-F5344CB8AC3E}">
        <p14:creationId xmlns:p14="http://schemas.microsoft.com/office/powerpoint/2010/main" val="10033050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ROB </a:t>
            </a:r>
            <a:r>
              <a:rPr kumimoji="1" lang="ja-JP" altLang="en-US" dirty="0"/>
              <a:t>の動作（１）</a:t>
            </a:r>
          </a:p>
        </p:txBody>
      </p:sp>
      <p:sp>
        <p:nvSpPr>
          <p:cNvPr id="3" name="テキスト プレースホルダー 2"/>
          <p:cNvSpPr>
            <a:spLocks noGrp="1"/>
          </p:cNvSpPr>
          <p:nvPr>
            <p:ph type="body" sz="quarter" idx="10"/>
          </p:nvPr>
        </p:nvSpPr>
        <p:spPr>
          <a:xfrm>
            <a:off x="2135956" y="4869017"/>
            <a:ext cx="8280092" cy="1439709"/>
          </a:xfrm>
        </p:spPr>
        <p:txBody>
          <a:bodyPr/>
          <a:lstStyle/>
          <a:p>
            <a:r>
              <a:rPr kumimoji="1" lang="ja-JP" altLang="en-US" dirty="0"/>
              <a:t>バックエンド側</a:t>
            </a:r>
            <a:endParaRPr kumimoji="1" lang="en-US" altLang="ja-JP" dirty="0"/>
          </a:p>
          <a:p>
            <a:pPr lvl="1"/>
            <a:r>
              <a:rPr lang="ja-JP" altLang="en-US" dirty="0"/>
              <a:t>各命令はプログラム順に </a:t>
            </a:r>
            <a:r>
              <a:rPr kumimoji="1" lang="en-US" altLang="ja-JP" dirty="0"/>
              <a:t>ROB </a:t>
            </a:r>
            <a:r>
              <a:rPr kumimoji="1" lang="ja-JP" altLang="en-US" dirty="0"/>
              <a:t>のエントリを確保</a:t>
            </a:r>
            <a:endParaRPr kumimoji="1" lang="en-US" altLang="ja-JP" dirty="0"/>
          </a:p>
          <a:p>
            <a:pPr lvl="1"/>
            <a:r>
              <a:rPr kumimoji="1" lang="ja-JP" altLang="en-US" dirty="0"/>
              <a:t>バックエンドで完了した命令は </a:t>
            </a:r>
            <a:r>
              <a:rPr kumimoji="1" lang="en-US" altLang="ja-JP" dirty="0"/>
              <a:t>out-of-order </a:t>
            </a:r>
            <a:r>
              <a:rPr kumimoji="1" lang="ja-JP" altLang="en-US" dirty="0"/>
              <a:t>に </a:t>
            </a:r>
            <a:r>
              <a:rPr kumimoji="1" lang="en-US" altLang="ja-JP" dirty="0"/>
              <a:t>ROB </a:t>
            </a:r>
            <a:r>
              <a:rPr kumimoji="1" lang="ja-JP" altLang="en-US" dirty="0"/>
              <a:t>に書き込む</a:t>
            </a:r>
            <a:endParaRPr kumimoji="1" lang="en-US" altLang="ja-JP" dirty="0"/>
          </a:p>
          <a:p>
            <a:r>
              <a:rPr kumimoji="1" lang="ja-JP" altLang="en-US" dirty="0"/>
              <a:t>コミット・パイプ側</a:t>
            </a:r>
            <a:endParaRPr kumimoji="1" lang="en-US" altLang="ja-JP" dirty="0"/>
          </a:p>
          <a:p>
            <a:pPr lvl="1"/>
            <a:r>
              <a:rPr lang="en-US" altLang="ja-JP" dirty="0"/>
              <a:t>in-order </a:t>
            </a:r>
            <a:r>
              <a:rPr lang="ja-JP" altLang="en-US" dirty="0"/>
              <a:t>に「ここまで完了した」部分を監視</a:t>
            </a:r>
            <a:endParaRPr kumimoji="1" lang="ja-JP" altLang="en-US" dirty="0"/>
          </a:p>
        </p:txBody>
      </p:sp>
      <p:grpSp>
        <p:nvGrpSpPr>
          <p:cNvPr id="4" name="グループ化 3"/>
          <p:cNvGrpSpPr/>
          <p:nvPr/>
        </p:nvGrpSpPr>
        <p:grpSpPr>
          <a:xfrm>
            <a:off x="2315958" y="3176356"/>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8076022" y="3158997"/>
            <a:ext cx="1584176"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 name="正方形/長方形 9"/>
          <p:cNvSpPr/>
          <p:nvPr/>
        </p:nvSpPr>
        <p:spPr>
          <a:xfrm>
            <a:off x="2279685" y="233039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1" name="正方形/長方形 10"/>
          <p:cNvSpPr/>
          <p:nvPr/>
        </p:nvSpPr>
        <p:spPr>
          <a:xfrm>
            <a:off x="8526028" y="234898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2" name="正方形/長方形 11"/>
          <p:cNvSpPr/>
          <p:nvPr/>
        </p:nvSpPr>
        <p:spPr>
          <a:xfrm>
            <a:off x="5645996" y="818971"/>
            <a:ext cx="937991" cy="738664"/>
          </a:xfrm>
          <a:prstGeom prst="rect">
            <a:avLst/>
          </a:prstGeom>
        </p:spPr>
        <p:txBody>
          <a:bodyPr wrap="square">
            <a:spAutoFit/>
          </a:bodyPr>
          <a:lstStyle/>
          <a:p>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l-GR"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4655984" y="2168986"/>
            <a:ext cx="2879888" cy="252002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 name="角丸四角形吹き出し 14"/>
          <p:cNvSpPr/>
          <p:nvPr/>
        </p:nvSpPr>
        <p:spPr bwMode="auto">
          <a:xfrm>
            <a:off x="7986021"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コミット・パイプ</a:t>
            </a:r>
            <a:endParaRPr lang="ja-JP" altLang="en-US" dirty="0">
              <a:solidFill>
                <a:schemeClr val="accent5"/>
              </a:solidFill>
            </a:endParaRPr>
          </a:p>
        </p:txBody>
      </p:sp>
      <p:sp>
        <p:nvSpPr>
          <p:cNvPr id="16" name="角丸四角形 15"/>
          <p:cNvSpPr/>
          <p:nvPr/>
        </p:nvSpPr>
        <p:spPr bwMode="auto">
          <a:xfrm>
            <a:off x="2765819" y="2996354"/>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Consolas" panose="020B0609020204030204" pitchFamily="49" charset="0"/>
              </a:rPr>
              <a:t>I1</a:t>
            </a:r>
            <a:endParaRPr lang="ja-JP" altLang="en-US" dirty="0">
              <a:latin typeface="Consolas" panose="020B0609020204030204" pitchFamily="49" charset="0"/>
            </a:endParaRPr>
          </a:p>
        </p:txBody>
      </p:sp>
      <p:sp>
        <p:nvSpPr>
          <p:cNvPr id="18" name="角丸四角形吹き出し 17"/>
          <p:cNvSpPr/>
          <p:nvPr/>
        </p:nvSpPr>
        <p:spPr bwMode="auto">
          <a:xfrm>
            <a:off x="2315958" y="3806364"/>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バックエンド</a:t>
            </a:r>
          </a:p>
        </p:txBody>
      </p:sp>
      <p:sp>
        <p:nvSpPr>
          <p:cNvPr id="19" name="正方形/長方形 18"/>
          <p:cNvSpPr/>
          <p:nvPr/>
        </p:nvSpPr>
        <p:spPr bwMode="auto">
          <a:xfrm>
            <a:off x="4655984" y="216898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0" name="正方形/長方形 19"/>
          <p:cNvSpPr/>
          <p:nvPr/>
        </p:nvSpPr>
        <p:spPr bwMode="auto">
          <a:xfrm>
            <a:off x="5375992" y="216898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1" name="正方形/長方形 20"/>
          <p:cNvSpPr/>
          <p:nvPr/>
        </p:nvSpPr>
        <p:spPr bwMode="auto">
          <a:xfrm>
            <a:off x="6096000" y="2168986"/>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2" name="正方形/長方形 21"/>
          <p:cNvSpPr/>
          <p:nvPr/>
        </p:nvSpPr>
        <p:spPr bwMode="auto">
          <a:xfrm>
            <a:off x="4565984"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完了</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フラグ</a:t>
            </a:r>
          </a:p>
        </p:txBody>
      </p:sp>
      <p:sp>
        <p:nvSpPr>
          <p:cNvPr id="23" name="正方形/長方形 22"/>
          <p:cNvSpPr/>
          <p:nvPr/>
        </p:nvSpPr>
        <p:spPr bwMode="auto">
          <a:xfrm>
            <a:off x="5285992"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例外</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コード</a:t>
            </a:r>
          </a:p>
        </p:txBody>
      </p:sp>
      <p:sp>
        <p:nvSpPr>
          <p:cNvPr id="24" name="正方形/長方形 23"/>
          <p:cNvSpPr/>
          <p:nvPr/>
        </p:nvSpPr>
        <p:spPr bwMode="auto">
          <a:xfrm>
            <a:off x="6096001"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br>
              <a:rPr lang="en-US" altLang="ja-JP" sz="1600" dirty="0">
                <a:solidFill>
                  <a:schemeClr val="tx1">
                    <a:lumMod val="75000"/>
                    <a:lumOff val="25000"/>
                  </a:schemeClr>
                </a:solidFill>
                <a:latin typeface="+mn-ea"/>
              </a:rPr>
            </a:b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25" name="正方形/長方形 24"/>
          <p:cNvSpPr/>
          <p:nvPr/>
        </p:nvSpPr>
        <p:spPr bwMode="auto">
          <a:xfrm>
            <a:off x="4655984" y="252899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0</a:t>
            </a:r>
            <a:endParaRPr lang="ja-JP" altLang="en-US" dirty="0">
              <a:solidFill>
                <a:schemeClr val="tx1">
                  <a:lumMod val="75000"/>
                  <a:lumOff val="25000"/>
                </a:schemeClr>
              </a:solidFill>
              <a:latin typeface="+mn-ea"/>
            </a:endParaRPr>
          </a:p>
        </p:txBody>
      </p:sp>
      <p:sp>
        <p:nvSpPr>
          <p:cNvPr id="26" name="正方形/長方形 25"/>
          <p:cNvSpPr/>
          <p:nvPr/>
        </p:nvSpPr>
        <p:spPr bwMode="auto">
          <a:xfrm>
            <a:off x="5375992" y="252899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7" name="正方形/長方形 26"/>
          <p:cNvSpPr/>
          <p:nvPr/>
        </p:nvSpPr>
        <p:spPr bwMode="auto">
          <a:xfrm>
            <a:off x="6096000" y="2528990"/>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8" name="正方形/長方形 27"/>
          <p:cNvSpPr/>
          <p:nvPr/>
        </p:nvSpPr>
        <p:spPr bwMode="auto">
          <a:xfrm>
            <a:off x="4655984" y="2888994"/>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0</a:t>
            </a:r>
            <a:endParaRPr lang="ja-JP" altLang="en-US" dirty="0">
              <a:solidFill>
                <a:schemeClr val="tx1">
                  <a:lumMod val="75000"/>
                  <a:lumOff val="25000"/>
                </a:schemeClr>
              </a:solidFill>
              <a:latin typeface="+mn-ea"/>
            </a:endParaRPr>
          </a:p>
        </p:txBody>
      </p:sp>
      <p:sp>
        <p:nvSpPr>
          <p:cNvPr id="29" name="正方形/長方形 28"/>
          <p:cNvSpPr/>
          <p:nvPr/>
        </p:nvSpPr>
        <p:spPr bwMode="auto">
          <a:xfrm>
            <a:off x="5375992" y="2888994"/>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0" name="正方形/長方形 29"/>
          <p:cNvSpPr/>
          <p:nvPr/>
        </p:nvSpPr>
        <p:spPr bwMode="auto">
          <a:xfrm>
            <a:off x="6096000" y="2888994"/>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1" name="正方形/長方形 30"/>
          <p:cNvSpPr/>
          <p:nvPr/>
        </p:nvSpPr>
        <p:spPr bwMode="auto">
          <a:xfrm>
            <a:off x="4655984" y="3248998"/>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0</a:t>
            </a:r>
            <a:endParaRPr lang="ja-JP" altLang="en-US" dirty="0">
              <a:solidFill>
                <a:schemeClr val="tx1">
                  <a:lumMod val="75000"/>
                  <a:lumOff val="25000"/>
                </a:schemeClr>
              </a:solidFill>
              <a:latin typeface="+mn-ea"/>
            </a:endParaRPr>
          </a:p>
        </p:txBody>
      </p:sp>
      <p:sp>
        <p:nvSpPr>
          <p:cNvPr id="32" name="正方形/長方形 31"/>
          <p:cNvSpPr/>
          <p:nvPr/>
        </p:nvSpPr>
        <p:spPr bwMode="auto">
          <a:xfrm>
            <a:off x="5375992" y="3248998"/>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3" name="正方形/長方形 32"/>
          <p:cNvSpPr/>
          <p:nvPr/>
        </p:nvSpPr>
        <p:spPr bwMode="auto">
          <a:xfrm>
            <a:off x="6096000" y="3248998"/>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4" name="正方形/長方形 33"/>
          <p:cNvSpPr/>
          <p:nvPr/>
        </p:nvSpPr>
        <p:spPr bwMode="auto">
          <a:xfrm>
            <a:off x="4655984" y="3609002"/>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5" name="正方形/長方形 34"/>
          <p:cNvSpPr/>
          <p:nvPr/>
        </p:nvSpPr>
        <p:spPr bwMode="auto">
          <a:xfrm>
            <a:off x="5375992" y="3609002"/>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6" name="正方形/長方形 35"/>
          <p:cNvSpPr/>
          <p:nvPr/>
        </p:nvSpPr>
        <p:spPr bwMode="auto">
          <a:xfrm>
            <a:off x="6096000" y="3609002"/>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7" name="正方形/長方形 36"/>
          <p:cNvSpPr/>
          <p:nvPr/>
        </p:nvSpPr>
        <p:spPr bwMode="auto">
          <a:xfrm>
            <a:off x="4655984" y="396900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8" name="正方形/長方形 37"/>
          <p:cNvSpPr/>
          <p:nvPr/>
        </p:nvSpPr>
        <p:spPr bwMode="auto">
          <a:xfrm>
            <a:off x="5375992" y="396900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9" name="正方形/長方形 38"/>
          <p:cNvSpPr/>
          <p:nvPr/>
        </p:nvSpPr>
        <p:spPr bwMode="auto">
          <a:xfrm>
            <a:off x="6096000" y="3969006"/>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0" name="正方形/長方形 39"/>
          <p:cNvSpPr/>
          <p:nvPr/>
        </p:nvSpPr>
        <p:spPr bwMode="auto">
          <a:xfrm>
            <a:off x="4655984" y="432901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1" name="正方形/長方形 40"/>
          <p:cNvSpPr/>
          <p:nvPr/>
        </p:nvSpPr>
        <p:spPr bwMode="auto">
          <a:xfrm>
            <a:off x="5375992" y="432901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2" name="正方形/長方形 41"/>
          <p:cNvSpPr/>
          <p:nvPr/>
        </p:nvSpPr>
        <p:spPr bwMode="auto">
          <a:xfrm>
            <a:off x="6096000" y="4329010"/>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3" name="正方形/長方形 42"/>
          <p:cNvSpPr/>
          <p:nvPr/>
        </p:nvSpPr>
        <p:spPr bwMode="auto">
          <a:xfrm>
            <a:off x="4205980" y="252899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accent6"/>
                </a:solidFill>
                <a:latin typeface="Consolas" panose="020B0609020204030204" pitchFamily="49" charset="0"/>
              </a:rPr>
              <a:t>I1</a:t>
            </a:r>
            <a:endParaRPr lang="ja-JP" altLang="en-US" sz="1600" b="1" dirty="0">
              <a:solidFill>
                <a:schemeClr val="accent6"/>
              </a:solidFill>
              <a:latin typeface="+mn-ea"/>
            </a:endParaRPr>
          </a:p>
        </p:txBody>
      </p:sp>
      <p:sp>
        <p:nvSpPr>
          <p:cNvPr id="44" name="正方形/長方形 43"/>
          <p:cNvSpPr/>
          <p:nvPr/>
        </p:nvSpPr>
        <p:spPr bwMode="auto">
          <a:xfrm>
            <a:off x="4205980" y="288899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accent6"/>
                </a:solidFill>
                <a:latin typeface="Consolas" panose="020B0609020204030204" pitchFamily="49" charset="0"/>
              </a:rPr>
              <a:t>I2</a:t>
            </a:r>
            <a:endParaRPr lang="ja-JP" altLang="en-US" sz="1600" b="1" dirty="0">
              <a:solidFill>
                <a:schemeClr val="accent6"/>
              </a:solidFill>
              <a:latin typeface="+mn-ea"/>
            </a:endParaRPr>
          </a:p>
        </p:txBody>
      </p:sp>
      <p:sp>
        <p:nvSpPr>
          <p:cNvPr id="45" name="正方形/長方形 44"/>
          <p:cNvSpPr/>
          <p:nvPr/>
        </p:nvSpPr>
        <p:spPr bwMode="auto">
          <a:xfrm>
            <a:off x="4205980" y="324899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accent6"/>
                </a:solidFill>
                <a:latin typeface="Consolas" panose="020B0609020204030204" pitchFamily="49" charset="0"/>
              </a:rPr>
              <a:t>I3</a:t>
            </a:r>
            <a:endParaRPr lang="ja-JP" altLang="en-US" sz="1600" b="1" dirty="0">
              <a:solidFill>
                <a:schemeClr val="accent6"/>
              </a:solidFill>
              <a:latin typeface="+mn-ea"/>
            </a:endParaRPr>
          </a:p>
        </p:txBody>
      </p:sp>
      <p:sp>
        <p:nvSpPr>
          <p:cNvPr id="46" name="右矢印 45"/>
          <p:cNvSpPr/>
          <p:nvPr/>
        </p:nvSpPr>
        <p:spPr bwMode="auto">
          <a:xfrm rot="10800000" flipV="1">
            <a:off x="7626017" y="2078985"/>
            <a:ext cx="900010" cy="540006"/>
          </a:xfrm>
          <a:prstGeom prst="rightArrow">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監視</a:t>
            </a:r>
          </a:p>
        </p:txBody>
      </p:sp>
      <p:sp>
        <p:nvSpPr>
          <p:cNvPr id="47" name="正方形/長方形 46">
            <a:extLst>
              <a:ext uri="{FF2B5EF4-FFF2-40B4-BE49-F238E27FC236}">
                <a16:creationId xmlns:a16="http://schemas.microsoft.com/office/drawing/2014/main" id="{1CC4A9BC-E3D7-4A56-A4F1-5B666DB32459}"/>
              </a:ext>
            </a:extLst>
          </p:cNvPr>
          <p:cNvSpPr/>
          <p:nvPr/>
        </p:nvSpPr>
        <p:spPr bwMode="auto">
          <a:xfrm>
            <a:off x="3035967" y="2258987"/>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accent6"/>
                </a:solidFill>
                <a:latin typeface="+mn-ea"/>
              </a:rPr>
              <a:t>プログラム順</a:t>
            </a:r>
          </a:p>
        </p:txBody>
      </p:sp>
    </p:spTree>
    <p:extLst>
      <p:ext uri="{BB962C8B-B14F-4D97-AF65-F5344CB8AC3E}">
        <p14:creationId xmlns:p14="http://schemas.microsoft.com/office/powerpoint/2010/main" val="31066292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ROB </a:t>
            </a:r>
            <a:r>
              <a:rPr kumimoji="1" lang="ja-JP" altLang="en-US" dirty="0"/>
              <a:t>の動作（２）</a:t>
            </a:r>
          </a:p>
        </p:txBody>
      </p:sp>
      <p:sp>
        <p:nvSpPr>
          <p:cNvPr id="3" name="テキスト プレースホルダー 2"/>
          <p:cNvSpPr>
            <a:spLocks noGrp="1"/>
          </p:cNvSpPr>
          <p:nvPr>
            <p:ph type="body" sz="quarter" idx="10"/>
          </p:nvPr>
        </p:nvSpPr>
        <p:spPr>
          <a:xfrm>
            <a:off x="2135956" y="4869017"/>
            <a:ext cx="8280092" cy="1439709"/>
          </a:xfrm>
        </p:spPr>
        <p:txBody>
          <a:bodyPr/>
          <a:lstStyle/>
          <a:p>
            <a:r>
              <a:rPr kumimoji="1" lang="en-US" altLang="ja-JP" dirty="0">
                <a:latin typeface="Consolas" panose="020B0609020204030204" pitchFamily="49" charset="0"/>
              </a:rPr>
              <a:t>I1 </a:t>
            </a:r>
            <a:r>
              <a:rPr kumimoji="1" lang="ja-JP" altLang="en-US" dirty="0" err="1">
                <a:latin typeface="Consolas" panose="020B0609020204030204" pitchFamily="49" charset="0"/>
              </a:rPr>
              <a:t>が完</a:t>
            </a:r>
            <a:r>
              <a:rPr kumimoji="1" lang="ja-JP" altLang="en-US" dirty="0">
                <a:latin typeface="Consolas" panose="020B0609020204030204" pitchFamily="49" charset="0"/>
              </a:rPr>
              <a:t>了したので，</a:t>
            </a:r>
            <a:r>
              <a:rPr kumimoji="1" lang="en-US" altLang="ja-JP" dirty="0">
                <a:latin typeface="Consolas" panose="020B0609020204030204" pitchFamily="49" charset="0"/>
              </a:rPr>
              <a:t>ROB </a:t>
            </a:r>
            <a:r>
              <a:rPr kumimoji="1" lang="ja-JP" altLang="en-US" dirty="0">
                <a:latin typeface="Consolas" panose="020B0609020204030204" pitchFamily="49" charset="0"/>
              </a:rPr>
              <a:t>に書き込みを行う</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正常完了したので，完了フラグに１を書く</a:t>
            </a:r>
            <a:endParaRPr kumimoji="1" lang="en-US" altLang="ja-JP" dirty="0">
              <a:latin typeface="Consolas" panose="020B0609020204030204" pitchFamily="49" charset="0"/>
            </a:endParaRPr>
          </a:p>
          <a:p>
            <a:pPr lvl="1"/>
            <a:endParaRPr kumimoji="1" lang="ja-JP" altLang="en-US" dirty="0">
              <a:latin typeface="Consolas" panose="020B0609020204030204" pitchFamily="49" charset="0"/>
            </a:endParaRPr>
          </a:p>
        </p:txBody>
      </p:sp>
      <p:grpSp>
        <p:nvGrpSpPr>
          <p:cNvPr id="4" name="グループ化 3"/>
          <p:cNvGrpSpPr/>
          <p:nvPr/>
        </p:nvGrpSpPr>
        <p:grpSpPr>
          <a:xfrm>
            <a:off x="2315958" y="3176356"/>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8076022" y="3158997"/>
            <a:ext cx="1584176"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 name="正方形/長方形 9"/>
          <p:cNvSpPr/>
          <p:nvPr/>
        </p:nvSpPr>
        <p:spPr>
          <a:xfrm>
            <a:off x="2279685" y="233039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1" name="正方形/長方形 10"/>
          <p:cNvSpPr/>
          <p:nvPr/>
        </p:nvSpPr>
        <p:spPr>
          <a:xfrm>
            <a:off x="8526028" y="234898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2" name="正方形/長方形 11"/>
          <p:cNvSpPr/>
          <p:nvPr/>
        </p:nvSpPr>
        <p:spPr>
          <a:xfrm>
            <a:off x="5645996" y="818971"/>
            <a:ext cx="937991" cy="738664"/>
          </a:xfrm>
          <a:prstGeom prst="rect">
            <a:avLst/>
          </a:prstGeom>
        </p:spPr>
        <p:txBody>
          <a:bodyPr wrap="square">
            <a:spAutoFit/>
          </a:bodyPr>
          <a:lstStyle/>
          <a:p>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l-GR"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4655984" y="2168986"/>
            <a:ext cx="2879888" cy="252002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 name="角丸四角形吹き出し 14"/>
          <p:cNvSpPr/>
          <p:nvPr/>
        </p:nvSpPr>
        <p:spPr bwMode="auto">
          <a:xfrm>
            <a:off x="7986021"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コミット・パイプ</a:t>
            </a:r>
            <a:endParaRPr lang="ja-JP" altLang="en-US" dirty="0">
              <a:solidFill>
                <a:schemeClr val="accent5"/>
              </a:solidFill>
            </a:endParaRPr>
          </a:p>
        </p:txBody>
      </p:sp>
      <p:sp>
        <p:nvSpPr>
          <p:cNvPr id="16" name="角丸四角形 15"/>
          <p:cNvSpPr/>
          <p:nvPr/>
        </p:nvSpPr>
        <p:spPr bwMode="auto">
          <a:xfrm>
            <a:off x="2765819" y="2996354"/>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Consolas" panose="020B0609020204030204" pitchFamily="49" charset="0"/>
              </a:rPr>
              <a:t>I1</a:t>
            </a:r>
            <a:endParaRPr lang="ja-JP" altLang="en-US" dirty="0">
              <a:latin typeface="Consolas" panose="020B0609020204030204" pitchFamily="49" charset="0"/>
            </a:endParaRPr>
          </a:p>
        </p:txBody>
      </p:sp>
      <p:sp>
        <p:nvSpPr>
          <p:cNvPr id="18" name="角丸四角形吹き出し 17"/>
          <p:cNvSpPr/>
          <p:nvPr/>
        </p:nvSpPr>
        <p:spPr bwMode="auto">
          <a:xfrm>
            <a:off x="2315958" y="3806364"/>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バックエンド</a:t>
            </a:r>
          </a:p>
        </p:txBody>
      </p:sp>
      <p:sp>
        <p:nvSpPr>
          <p:cNvPr id="19" name="正方形/長方形 18"/>
          <p:cNvSpPr/>
          <p:nvPr/>
        </p:nvSpPr>
        <p:spPr bwMode="auto">
          <a:xfrm>
            <a:off x="4655984" y="216898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0" name="正方形/長方形 19"/>
          <p:cNvSpPr/>
          <p:nvPr/>
        </p:nvSpPr>
        <p:spPr bwMode="auto">
          <a:xfrm>
            <a:off x="5375992" y="216898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1" name="正方形/長方形 20"/>
          <p:cNvSpPr/>
          <p:nvPr/>
        </p:nvSpPr>
        <p:spPr bwMode="auto">
          <a:xfrm>
            <a:off x="6096000" y="2168986"/>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2" name="正方形/長方形 21"/>
          <p:cNvSpPr/>
          <p:nvPr/>
        </p:nvSpPr>
        <p:spPr bwMode="auto">
          <a:xfrm>
            <a:off x="4565984"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完了</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フラグ</a:t>
            </a:r>
          </a:p>
        </p:txBody>
      </p:sp>
      <p:sp>
        <p:nvSpPr>
          <p:cNvPr id="23" name="正方形/長方形 22"/>
          <p:cNvSpPr/>
          <p:nvPr/>
        </p:nvSpPr>
        <p:spPr bwMode="auto">
          <a:xfrm>
            <a:off x="5285992"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例外</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コード</a:t>
            </a:r>
          </a:p>
        </p:txBody>
      </p:sp>
      <p:sp>
        <p:nvSpPr>
          <p:cNvPr id="24" name="正方形/長方形 23"/>
          <p:cNvSpPr/>
          <p:nvPr/>
        </p:nvSpPr>
        <p:spPr bwMode="auto">
          <a:xfrm>
            <a:off x="6096001"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br>
              <a:rPr lang="en-US" altLang="ja-JP" sz="1600" dirty="0">
                <a:solidFill>
                  <a:schemeClr val="tx1">
                    <a:lumMod val="75000"/>
                    <a:lumOff val="25000"/>
                  </a:schemeClr>
                </a:solidFill>
                <a:latin typeface="+mn-ea"/>
              </a:rPr>
            </a:b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25" name="正方形/長方形 24"/>
          <p:cNvSpPr/>
          <p:nvPr/>
        </p:nvSpPr>
        <p:spPr bwMode="auto">
          <a:xfrm>
            <a:off x="4655984" y="252899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6"/>
                </a:solidFill>
                <a:latin typeface="+mn-ea"/>
              </a:rPr>
              <a:t>1</a:t>
            </a:r>
            <a:endParaRPr lang="ja-JP" altLang="en-US" b="1" dirty="0">
              <a:solidFill>
                <a:schemeClr val="accent6"/>
              </a:solidFill>
              <a:latin typeface="+mn-ea"/>
            </a:endParaRPr>
          </a:p>
        </p:txBody>
      </p:sp>
      <p:sp>
        <p:nvSpPr>
          <p:cNvPr id="26" name="正方形/長方形 25"/>
          <p:cNvSpPr/>
          <p:nvPr/>
        </p:nvSpPr>
        <p:spPr bwMode="auto">
          <a:xfrm>
            <a:off x="5375992" y="252899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7" name="正方形/長方形 26"/>
          <p:cNvSpPr/>
          <p:nvPr/>
        </p:nvSpPr>
        <p:spPr bwMode="auto">
          <a:xfrm>
            <a:off x="6096000" y="2528990"/>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8" name="正方形/長方形 27"/>
          <p:cNvSpPr/>
          <p:nvPr/>
        </p:nvSpPr>
        <p:spPr bwMode="auto">
          <a:xfrm>
            <a:off x="4655984" y="2888994"/>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0</a:t>
            </a:r>
            <a:endParaRPr lang="ja-JP" altLang="en-US" dirty="0">
              <a:solidFill>
                <a:schemeClr val="tx1">
                  <a:lumMod val="75000"/>
                  <a:lumOff val="25000"/>
                </a:schemeClr>
              </a:solidFill>
              <a:latin typeface="+mn-ea"/>
            </a:endParaRPr>
          </a:p>
        </p:txBody>
      </p:sp>
      <p:sp>
        <p:nvSpPr>
          <p:cNvPr id="29" name="正方形/長方形 28"/>
          <p:cNvSpPr/>
          <p:nvPr/>
        </p:nvSpPr>
        <p:spPr bwMode="auto">
          <a:xfrm>
            <a:off x="5375992" y="2888994"/>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0" name="正方形/長方形 29"/>
          <p:cNvSpPr/>
          <p:nvPr/>
        </p:nvSpPr>
        <p:spPr bwMode="auto">
          <a:xfrm>
            <a:off x="6096000" y="2888994"/>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1" name="正方形/長方形 30"/>
          <p:cNvSpPr/>
          <p:nvPr/>
        </p:nvSpPr>
        <p:spPr bwMode="auto">
          <a:xfrm>
            <a:off x="4655984" y="3248998"/>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0</a:t>
            </a:r>
            <a:endParaRPr lang="ja-JP" altLang="en-US" dirty="0">
              <a:solidFill>
                <a:schemeClr val="tx1">
                  <a:lumMod val="75000"/>
                  <a:lumOff val="25000"/>
                </a:schemeClr>
              </a:solidFill>
              <a:latin typeface="+mn-ea"/>
            </a:endParaRPr>
          </a:p>
        </p:txBody>
      </p:sp>
      <p:sp>
        <p:nvSpPr>
          <p:cNvPr id="32" name="正方形/長方形 31"/>
          <p:cNvSpPr/>
          <p:nvPr/>
        </p:nvSpPr>
        <p:spPr bwMode="auto">
          <a:xfrm>
            <a:off x="5375992" y="3248998"/>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3" name="正方形/長方形 32"/>
          <p:cNvSpPr/>
          <p:nvPr/>
        </p:nvSpPr>
        <p:spPr bwMode="auto">
          <a:xfrm>
            <a:off x="6096000" y="3248998"/>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4" name="正方形/長方形 33"/>
          <p:cNvSpPr/>
          <p:nvPr/>
        </p:nvSpPr>
        <p:spPr bwMode="auto">
          <a:xfrm>
            <a:off x="4655984" y="3609002"/>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5" name="正方形/長方形 34"/>
          <p:cNvSpPr/>
          <p:nvPr/>
        </p:nvSpPr>
        <p:spPr bwMode="auto">
          <a:xfrm>
            <a:off x="5375992" y="3609002"/>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6" name="正方形/長方形 35"/>
          <p:cNvSpPr/>
          <p:nvPr/>
        </p:nvSpPr>
        <p:spPr bwMode="auto">
          <a:xfrm>
            <a:off x="6096000" y="3609002"/>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7" name="正方形/長方形 36"/>
          <p:cNvSpPr/>
          <p:nvPr/>
        </p:nvSpPr>
        <p:spPr bwMode="auto">
          <a:xfrm>
            <a:off x="4655984" y="396900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8" name="正方形/長方形 37"/>
          <p:cNvSpPr/>
          <p:nvPr/>
        </p:nvSpPr>
        <p:spPr bwMode="auto">
          <a:xfrm>
            <a:off x="5375992" y="396900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9" name="正方形/長方形 38"/>
          <p:cNvSpPr/>
          <p:nvPr/>
        </p:nvSpPr>
        <p:spPr bwMode="auto">
          <a:xfrm>
            <a:off x="6096000" y="3969006"/>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0" name="正方形/長方形 39"/>
          <p:cNvSpPr/>
          <p:nvPr/>
        </p:nvSpPr>
        <p:spPr bwMode="auto">
          <a:xfrm>
            <a:off x="4655984" y="432901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1" name="正方形/長方形 40"/>
          <p:cNvSpPr/>
          <p:nvPr/>
        </p:nvSpPr>
        <p:spPr bwMode="auto">
          <a:xfrm>
            <a:off x="5375992" y="432901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2" name="正方形/長方形 41"/>
          <p:cNvSpPr/>
          <p:nvPr/>
        </p:nvSpPr>
        <p:spPr bwMode="auto">
          <a:xfrm>
            <a:off x="6096000" y="4329010"/>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3" name="正方形/長方形 42"/>
          <p:cNvSpPr/>
          <p:nvPr/>
        </p:nvSpPr>
        <p:spPr bwMode="auto">
          <a:xfrm>
            <a:off x="4205980" y="252899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6"/>
                </a:solidFill>
                <a:latin typeface="Consolas" panose="020B0609020204030204" pitchFamily="49" charset="0"/>
              </a:rPr>
              <a:t>I1</a:t>
            </a:r>
            <a:endParaRPr lang="ja-JP" altLang="en-US" sz="1600" dirty="0">
              <a:solidFill>
                <a:schemeClr val="accent6"/>
              </a:solidFill>
              <a:latin typeface="+mn-ea"/>
            </a:endParaRPr>
          </a:p>
        </p:txBody>
      </p:sp>
      <p:sp>
        <p:nvSpPr>
          <p:cNvPr id="44" name="正方形/長方形 43"/>
          <p:cNvSpPr/>
          <p:nvPr/>
        </p:nvSpPr>
        <p:spPr bwMode="auto">
          <a:xfrm>
            <a:off x="4205980" y="288899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6"/>
                </a:solidFill>
                <a:latin typeface="Consolas" panose="020B0609020204030204" pitchFamily="49" charset="0"/>
              </a:rPr>
              <a:t>I2</a:t>
            </a:r>
            <a:endParaRPr lang="ja-JP" altLang="en-US" sz="1600" dirty="0">
              <a:solidFill>
                <a:schemeClr val="accent6"/>
              </a:solidFill>
              <a:latin typeface="+mn-ea"/>
            </a:endParaRPr>
          </a:p>
        </p:txBody>
      </p:sp>
      <p:sp>
        <p:nvSpPr>
          <p:cNvPr id="45" name="正方形/長方形 44"/>
          <p:cNvSpPr/>
          <p:nvPr/>
        </p:nvSpPr>
        <p:spPr bwMode="auto">
          <a:xfrm>
            <a:off x="4205980" y="324899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6"/>
                </a:solidFill>
                <a:latin typeface="Consolas" panose="020B0609020204030204" pitchFamily="49" charset="0"/>
              </a:rPr>
              <a:t>I3</a:t>
            </a:r>
            <a:endParaRPr lang="ja-JP" altLang="en-US" sz="1600" dirty="0">
              <a:solidFill>
                <a:schemeClr val="accent6"/>
              </a:solidFill>
              <a:latin typeface="+mn-ea"/>
            </a:endParaRPr>
          </a:p>
        </p:txBody>
      </p:sp>
      <p:sp>
        <p:nvSpPr>
          <p:cNvPr id="46" name="右矢印 45"/>
          <p:cNvSpPr/>
          <p:nvPr/>
        </p:nvSpPr>
        <p:spPr bwMode="auto">
          <a:xfrm rot="10800000" flipV="1">
            <a:off x="7626017" y="2078985"/>
            <a:ext cx="900010" cy="540006"/>
          </a:xfrm>
          <a:prstGeom prst="rightArrow">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監視</a:t>
            </a:r>
          </a:p>
        </p:txBody>
      </p:sp>
    </p:spTree>
    <p:extLst>
      <p:ext uri="{BB962C8B-B14F-4D97-AF65-F5344CB8AC3E}">
        <p14:creationId xmlns:p14="http://schemas.microsoft.com/office/powerpoint/2010/main" val="17469346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ROB </a:t>
            </a:r>
            <a:r>
              <a:rPr kumimoji="1" lang="ja-JP" altLang="en-US" dirty="0"/>
              <a:t>の動作（３）</a:t>
            </a:r>
          </a:p>
        </p:txBody>
      </p:sp>
      <p:sp>
        <p:nvSpPr>
          <p:cNvPr id="3" name="テキスト プレースホルダー 2"/>
          <p:cNvSpPr>
            <a:spLocks noGrp="1"/>
          </p:cNvSpPr>
          <p:nvPr>
            <p:ph type="body" sz="quarter" idx="10"/>
          </p:nvPr>
        </p:nvSpPr>
        <p:spPr>
          <a:xfrm>
            <a:off x="2135956" y="5049019"/>
            <a:ext cx="8280092" cy="1439709"/>
          </a:xfrm>
        </p:spPr>
        <p:txBody>
          <a:bodyPr/>
          <a:lstStyle/>
          <a:p>
            <a:r>
              <a:rPr kumimoji="1" lang="en-US" altLang="ja-JP" dirty="0">
                <a:latin typeface="Consolas" panose="020B0609020204030204" pitchFamily="49" charset="0"/>
              </a:rPr>
              <a:t>I3 </a:t>
            </a:r>
            <a:r>
              <a:rPr kumimoji="1" lang="ja-JP" altLang="en-US" dirty="0" err="1">
                <a:latin typeface="Consolas" panose="020B0609020204030204" pitchFamily="49" charset="0"/>
              </a:rPr>
              <a:t>が完</a:t>
            </a:r>
            <a:r>
              <a:rPr kumimoji="1" lang="ja-JP" altLang="en-US" dirty="0">
                <a:latin typeface="Consolas" panose="020B0609020204030204" pitchFamily="49" charset="0"/>
              </a:rPr>
              <a:t>了したので，</a:t>
            </a:r>
            <a:r>
              <a:rPr kumimoji="1" lang="en-US" altLang="ja-JP" dirty="0">
                <a:latin typeface="Consolas" panose="020B0609020204030204" pitchFamily="49" charset="0"/>
              </a:rPr>
              <a:t>ROB </a:t>
            </a:r>
            <a:r>
              <a:rPr kumimoji="1" lang="ja-JP" altLang="en-US" dirty="0">
                <a:latin typeface="Consolas" panose="020B0609020204030204" pitchFamily="49" charset="0"/>
              </a:rPr>
              <a:t>に書き込みを行う</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完了フラグに１を書く</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例外を発生させていたので，その種類と自分の </a:t>
            </a:r>
            <a:r>
              <a:rPr kumimoji="1" lang="en-US" altLang="ja-JP" dirty="0">
                <a:latin typeface="Consolas" panose="020B0609020204030204" pitchFamily="49" charset="0"/>
              </a:rPr>
              <a:t>PC </a:t>
            </a:r>
            <a:r>
              <a:rPr kumimoji="1" lang="ja-JP" altLang="en-US" dirty="0">
                <a:latin typeface="Consolas" panose="020B0609020204030204" pitchFamily="49" charset="0"/>
              </a:rPr>
              <a:t>も書く</a:t>
            </a:r>
            <a:endParaRPr kumimoji="1" lang="en-US" altLang="ja-JP" dirty="0">
              <a:latin typeface="Consolas" panose="020B0609020204030204" pitchFamily="49" charset="0"/>
            </a:endParaRPr>
          </a:p>
          <a:p>
            <a:pPr lvl="1"/>
            <a:endParaRPr kumimoji="1" lang="ja-JP" altLang="en-US" dirty="0">
              <a:latin typeface="Consolas" panose="020B0609020204030204" pitchFamily="49" charset="0"/>
            </a:endParaRPr>
          </a:p>
        </p:txBody>
      </p:sp>
      <p:grpSp>
        <p:nvGrpSpPr>
          <p:cNvPr id="4" name="グループ化 3"/>
          <p:cNvGrpSpPr/>
          <p:nvPr/>
        </p:nvGrpSpPr>
        <p:grpSpPr>
          <a:xfrm>
            <a:off x="2315958" y="3176356"/>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8076022" y="3158997"/>
            <a:ext cx="1584176"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 name="正方形/長方形 9"/>
          <p:cNvSpPr/>
          <p:nvPr/>
        </p:nvSpPr>
        <p:spPr>
          <a:xfrm>
            <a:off x="2279684" y="2330397"/>
            <a:ext cx="1326004"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ﾚｲｶﾞｲﾈ</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1" name="正方形/長方形 10"/>
          <p:cNvSpPr/>
          <p:nvPr/>
        </p:nvSpPr>
        <p:spPr>
          <a:xfrm>
            <a:off x="8526028" y="234898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2" name="正方形/長方形 11"/>
          <p:cNvSpPr/>
          <p:nvPr/>
        </p:nvSpPr>
        <p:spPr>
          <a:xfrm>
            <a:off x="5645996" y="818971"/>
            <a:ext cx="937991" cy="738664"/>
          </a:xfrm>
          <a:prstGeom prst="rect">
            <a:avLst/>
          </a:prstGeom>
        </p:spPr>
        <p:txBody>
          <a:bodyPr wrap="square">
            <a:spAutoFit/>
          </a:bodyPr>
          <a:lstStyle/>
          <a:p>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l-GR"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4655984" y="2168986"/>
            <a:ext cx="2879888" cy="252002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 name="角丸四角形吹き出し 14"/>
          <p:cNvSpPr/>
          <p:nvPr/>
        </p:nvSpPr>
        <p:spPr bwMode="auto">
          <a:xfrm>
            <a:off x="7986021"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コミット・パイプ</a:t>
            </a:r>
            <a:endParaRPr lang="ja-JP" altLang="en-US" dirty="0">
              <a:solidFill>
                <a:schemeClr val="accent5"/>
              </a:solidFill>
            </a:endParaRPr>
          </a:p>
        </p:txBody>
      </p:sp>
      <p:sp>
        <p:nvSpPr>
          <p:cNvPr id="16" name="角丸四角形 15"/>
          <p:cNvSpPr/>
          <p:nvPr/>
        </p:nvSpPr>
        <p:spPr bwMode="auto">
          <a:xfrm>
            <a:off x="2765819" y="2996354"/>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Consolas" panose="020B0609020204030204" pitchFamily="49" charset="0"/>
              </a:rPr>
              <a:t>I3</a:t>
            </a:r>
            <a:endParaRPr lang="ja-JP" altLang="en-US" dirty="0">
              <a:latin typeface="Consolas" panose="020B0609020204030204" pitchFamily="49" charset="0"/>
            </a:endParaRPr>
          </a:p>
        </p:txBody>
      </p:sp>
      <p:sp>
        <p:nvSpPr>
          <p:cNvPr id="18" name="角丸四角形吹き出し 17"/>
          <p:cNvSpPr/>
          <p:nvPr/>
        </p:nvSpPr>
        <p:spPr bwMode="auto">
          <a:xfrm>
            <a:off x="2315958" y="3806364"/>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バックエンド</a:t>
            </a:r>
          </a:p>
        </p:txBody>
      </p:sp>
      <p:sp>
        <p:nvSpPr>
          <p:cNvPr id="19" name="正方形/長方形 18"/>
          <p:cNvSpPr/>
          <p:nvPr/>
        </p:nvSpPr>
        <p:spPr bwMode="auto">
          <a:xfrm>
            <a:off x="4655984" y="216898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0" name="正方形/長方形 19"/>
          <p:cNvSpPr/>
          <p:nvPr/>
        </p:nvSpPr>
        <p:spPr bwMode="auto">
          <a:xfrm>
            <a:off x="5375992" y="216898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1" name="正方形/長方形 20"/>
          <p:cNvSpPr/>
          <p:nvPr/>
        </p:nvSpPr>
        <p:spPr bwMode="auto">
          <a:xfrm>
            <a:off x="6096000" y="2168986"/>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2" name="正方形/長方形 21"/>
          <p:cNvSpPr/>
          <p:nvPr/>
        </p:nvSpPr>
        <p:spPr bwMode="auto">
          <a:xfrm>
            <a:off x="4565984"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完了</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フラグ</a:t>
            </a:r>
          </a:p>
        </p:txBody>
      </p:sp>
      <p:sp>
        <p:nvSpPr>
          <p:cNvPr id="23" name="正方形/長方形 22"/>
          <p:cNvSpPr/>
          <p:nvPr/>
        </p:nvSpPr>
        <p:spPr bwMode="auto">
          <a:xfrm>
            <a:off x="5285992"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例外</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コード</a:t>
            </a:r>
          </a:p>
        </p:txBody>
      </p:sp>
      <p:sp>
        <p:nvSpPr>
          <p:cNvPr id="24" name="正方形/長方形 23"/>
          <p:cNvSpPr/>
          <p:nvPr/>
        </p:nvSpPr>
        <p:spPr bwMode="auto">
          <a:xfrm>
            <a:off x="6096001"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br>
              <a:rPr lang="en-US" altLang="ja-JP" sz="1600" dirty="0">
                <a:solidFill>
                  <a:schemeClr val="tx1">
                    <a:lumMod val="75000"/>
                    <a:lumOff val="25000"/>
                  </a:schemeClr>
                </a:solidFill>
                <a:latin typeface="+mn-ea"/>
              </a:rPr>
            </a:b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25" name="正方形/長方形 24"/>
          <p:cNvSpPr/>
          <p:nvPr/>
        </p:nvSpPr>
        <p:spPr bwMode="auto">
          <a:xfrm>
            <a:off x="4655984" y="252899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1</a:t>
            </a:r>
            <a:endParaRPr lang="ja-JP" altLang="en-US" dirty="0">
              <a:solidFill>
                <a:schemeClr val="tx1">
                  <a:lumMod val="75000"/>
                  <a:lumOff val="25000"/>
                </a:schemeClr>
              </a:solidFill>
              <a:latin typeface="+mn-ea"/>
            </a:endParaRPr>
          </a:p>
        </p:txBody>
      </p:sp>
      <p:sp>
        <p:nvSpPr>
          <p:cNvPr id="26" name="正方形/長方形 25"/>
          <p:cNvSpPr/>
          <p:nvPr/>
        </p:nvSpPr>
        <p:spPr bwMode="auto">
          <a:xfrm>
            <a:off x="5375992" y="252899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7" name="正方形/長方形 26"/>
          <p:cNvSpPr/>
          <p:nvPr/>
        </p:nvSpPr>
        <p:spPr bwMode="auto">
          <a:xfrm>
            <a:off x="6096000" y="2528990"/>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8" name="正方形/長方形 27"/>
          <p:cNvSpPr/>
          <p:nvPr/>
        </p:nvSpPr>
        <p:spPr bwMode="auto">
          <a:xfrm>
            <a:off x="4655984" y="2888994"/>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0</a:t>
            </a:r>
            <a:endParaRPr lang="ja-JP" altLang="en-US" dirty="0">
              <a:solidFill>
                <a:schemeClr val="tx1">
                  <a:lumMod val="75000"/>
                  <a:lumOff val="25000"/>
                </a:schemeClr>
              </a:solidFill>
              <a:latin typeface="+mn-ea"/>
            </a:endParaRPr>
          </a:p>
        </p:txBody>
      </p:sp>
      <p:sp>
        <p:nvSpPr>
          <p:cNvPr id="29" name="正方形/長方形 28"/>
          <p:cNvSpPr/>
          <p:nvPr/>
        </p:nvSpPr>
        <p:spPr bwMode="auto">
          <a:xfrm>
            <a:off x="5375992" y="2888994"/>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0" name="正方形/長方形 29"/>
          <p:cNvSpPr/>
          <p:nvPr/>
        </p:nvSpPr>
        <p:spPr bwMode="auto">
          <a:xfrm>
            <a:off x="6096000" y="2888994"/>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1" name="正方形/長方形 30"/>
          <p:cNvSpPr/>
          <p:nvPr/>
        </p:nvSpPr>
        <p:spPr bwMode="auto">
          <a:xfrm>
            <a:off x="4655984" y="3248998"/>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b="1" dirty="0">
                <a:solidFill>
                  <a:schemeClr val="accent6"/>
                </a:solidFill>
                <a:latin typeface="+mn-ea"/>
              </a:rPr>
              <a:t>１</a:t>
            </a:r>
          </a:p>
        </p:txBody>
      </p:sp>
      <p:sp>
        <p:nvSpPr>
          <p:cNvPr id="32" name="正方形/長方形 31"/>
          <p:cNvSpPr/>
          <p:nvPr/>
        </p:nvSpPr>
        <p:spPr bwMode="auto">
          <a:xfrm>
            <a:off x="5375992" y="3248998"/>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b="1" dirty="0">
                <a:solidFill>
                  <a:schemeClr val="accent6"/>
                </a:solidFill>
                <a:latin typeface="+mn-ea"/>
              </a:rPr>
              <a:t>メモリ</a:t>
            </a:r>
            <a:br>
              <a:rPr lang="en-US" altLang="ja-JP" sz="1100" b="1" dirty="0">
                <a:solidFill>
                  <a:schemeClr val="accent6"/>
                </a:solidFill>
                <a:latin typeface="+mn-ea"/>
              </a:rPr>
            </a:br>
            <a:r>
              <a:rPr lang="ja-JP" altLang="en-US" sz="1100" b="1" dirty="0">
                <a:solidFill>
                  <a:schemeClr val="accent6"/>
                </a:solidFill>
                <a:latin typeface="+mn-ea"/>
              </a:rPr>
              <a:t>保護違反</a:t>
            </a:r>
          </a:p>
        </p:txBody>
      </p:sp>
      <p:sp>
        <p:nvSpPr>
          <p:cNvPr id="33" name="正方形/長方形 32"/>
          <p:cNvSpPr/>
          <p:nvPr/>
        </p:nvSpPr>
        <p:spPr bwMode="auto">
          <a:xfrm>
            <a:off x="6096000" y="3248998"/>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accent6"/>
                </a:solidFill>
                <a:latin typeface="+mn-ea"/>
              </a:rPr>
              <a:t>I3 </a:t>
            </a:r>
            <a:r>
              <a:rPr lang="ja-JP" altLang="en-US" sz="1400" b="1" dirty="0">
                <a:solidFill>
                  <a:schemeClr val="accent6"/>
                </a:solidFill>
                <a:latin typeface="+mn-ea"/>
              </a:rPr>
              <a:t>の </a:t>
            </a:r>
            <a:r>
              <a:rPr lang="en-US" altLang="ja-JP" sz="1400" b="1" dirty="0">
                <a:solidFill>
                  <a:schemeClr val="accent6"/>
                </a:solidFill>
                <a:latin typeface="+mn-ea"/>
              </a:rPr>
              <a:t>PC</a:t>
            </a:r>
            <a:endParaRPr lang="ja-JP" altLang="en-US" sz="1400" b="1" dirty="0">
              <a:solidFill>
                <a:schemeClr val="accent6"/>
              </a:solidFill>
              <a:latin typeface="+mn-ea"/>
            </a:endParaRPr>
          </a:p>
        </p:txBody>
      </p:sp>
      <p:sp>
        <p:nvSpPr>
          <p:cNvPr id="34" name="正方形/長方形 33"/>
          <p:cNvSpPr/>
          <p:nvPr/>
        </p:nvSpPr>
        <p:spPr bwMode="auto">
          <a:xfrm>
            <a:off x="4655984" y="3609002"/>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5" name="正方形/長方形 34"/>
          <p:cNvSpPr/>
          <p:nvPr/>
        </p:nvSpPr>
        <p:spPr bwMode="auto">
          <a:xfrm>
            <a:off x="5375992" y="3609002"/>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6" name="正方形/長方形 35"/>
          <p:cNvSpPr/>
          <p:nvPr/>
        </p:nvSpPr>
        <p:spPr bwMode="auto">
          <a:xfrm>
            <a:off x="6096000" y="3609002"/>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7" name="正方形/長方形 36"/>
          <p:cNvSpPr/>
          <p:nvPr/>
        </p:nvSpPr>
        <p:spPr bwMode="auto">
          <a:xfrm>
            <a:off x="4655984" y="396900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8" name="正方形/長方形 37"/>
          <p:cNvSpPr/>
          <p:nvPr/>
        </p:nvSpPr>
        <p:spPr bwMode="auto">
          <a:xfrm>
            <a:off x="5375992" y="396900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9" name="正方形/長方形 38"/>
          <p:cNvSpPr/>
          <p:nvPr/>
        </p:nvSpPr>
        <p:spPr bwMode="auto">
          <a:xfrm>
            <a:off x="6096000" y="3969006"/>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0" name="正方形/長方形 39"/>
          <p:cNvSpPr/>
          <p:nvPr/>
        </p:nvSpPr>
        <p:spPr bwMode="auto">
          <a:xfrm>
            <a:off x="4655984" y="432901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1" name="正方形/長方形 40"/>
          <p:cNvSpPr/>
          <p:nvPr/>
        </p:nvSpPr>
        <p:spPr bwMode="auto">
          <a:xfrm>
            <a:off x="5375992" y="432901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2" name="正方形/長方形 41"/>
          <p:cNvSpPr/>
          <p:nvPr/>
        </p:nvSpPr>
        <p:spPr bwMode="auto">
          <a:xfrm>
            <a:off x="6096000" y="4329010"/>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3" name="正方形/長方形 42"/>
          <p:cNvSpPr/>
          <p:nvPr/>
        </p:nvSpPr>
        <p:spPr bwMode="auto">
          <a:xfrm>
            <a:off x="4205980" y="252899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6"/>
                </a:solidFill>
                <a:latin typeface="Consolas" panose="020B0609020204030204" pitchFamily="49" charset="0"/>
              </a:rPr>
              <a:t>I1</a:t>
            </a:r>
            <a:endParaRPr lang="ja-JP" altLang="en-US" sz="1600" dirty="0">
              <a:solidFill>
                <a:schemeClr val="accent6"/>
              </a:solidFill>
              <a:latin typeface="+mn-ea"/>
            </a:endParaRPr>
          </a:p>
        </p:txBody>
      </p:sp>
      <p:sp>
        <p:nvSpPr>
          <p:cNvPr id="44" name="正方形/長方形 43"/>
          <p:cNvSpPr/>
          <p:nvPr/>
        </p:nvSpPr>
        <p:spPr bwMode="auto">
          <a:xfrm>
            <a:off x="4205980" y="288899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6"/>
                </a:solidFill>
                <a:latin typeface="Consolas" panose="020B0609020204030204" pitchFamily="49" charset="0"/>
              </a:rPr>
              <a:t>I2</a:t>
            </a:r>
            <a:endParaRPr lang="ja-JP" altLang="en-US" sz="1600" dirty="0">
              <a:solidFill>
                <a:schemeClr val="accent6"/>
              </a:solidFill>
              <a:latin typeface="+mn-ea"/>
            </a:endParaRPr>
          </a:p>
        </p:txBody>
      </p:sp>
      <p:sp>
        <p:nvSpPr>
          <p:cNvPr id="45" name="正方形/長方形 44"/>
          <p:cNvSpPr/>
          <p:nvPr/>
        </p:nvSpPr>
        <p:spPr bwMode="auto">
          <a:xfrm>
            <a:off x="4205980" y="324899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6"/>
                </a:solidFill>
                <a:latin typeface="Consolas" panose="020B0609020204030204" pitchFamily="49" charset="0"/>
              </a:rPr>
              <a:t>I3</a:t>
            </a:r>
            <a:endParaRPr lang="ja-JP" altLang="en-US" sz="1600" dirty="0">
              <a:solidFill>
                <a:schemeClr val="accent6"/>
              </a:solidFill>
              <a:latin typeface="+mn-ea"/>
            </a:endParaRPr>
          </a:p>
        </p:txBody>
      </p:sp>
      <p:sp>
        <p:nvSpPr>
          <p:cNvPr id="46" name="右矢印 45"/>
          <p:cNvSpPr/>
          <p:nvPr/>
        </p:nvSpPr>
        <p:spPr bwMode="auto">
          <a:xfrm rot="10800000" flipV="1">
            <a:off x="7626017" y="2078985"/>
            <a:ext cx="900010" cy="540006"/>
          </a:xfrm>
          <a:prstGeom prst="rightArrow">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監視</a:t>
            </a:r>
          </a:p>
        </p:txBody>
      </p:sp>
    </p:spTree>
    <p:extLst>
      <p:ext uri="{BB962C8B-B14F-4D97-AF65-F5344CB8AC3E}">
        <p14:creationId xmlns:p14="http://schemas.microsoft.com/office/powerpoint/2010/main" val="30519983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ROB </a:t>
            </a:r>
            <a:r>
              <a:rPr kumimoji="1" lang="ja-JP" altLang="en-US" dirty="0"/>
              <a:t>の動作（４）</a:t>
            </a:r>
          </a:p>
        </p:txBody>
      </p:sp>
      <p:sp>
        <p:nvSpPr>
          <p:cNvPr id="3" name="テキスト プレースホルダー 2"/>
          <p:cNvSpPr>
            <a:spLocks noGrp="1"/>
          </p:cNvSpPr>
          <p:nvPr>
            <p:ph type="body" sz="quarter" idx="10"/>
          </p:nvPr>
        </p:nvSpPr>
        <p:spPr>
          <a:xfrm>
            <a:off x="2135956" y="5049019"/>
            <a:ext cx="8280092" cy="1439709"/>
          </a:xfrm>
        </p:spPr>
        <p:txBody>
          <a:bodyPr/>
          <a:lstStyle/>
          <a:p>
            <a:r>
              <a:rPr kumimoji="1" lang="ja-JP" altLang="en-US" dirty="0">
                <a:latin typeface="Consolas" panose="020B0609020204030204" pitchFamily="49" charset="0"/>
              </a:rPr>
              <a:t>コミット・パイプの監視ポイントが </a:t>
            </a:r>
            <a:r>
              <a:rPr kumimoji="1" lang="en-US" altLang="ja-JP" dirty="0">
                <a:latin typeface="Consolas" panose="020B0609020204030204" pitchFamily="49" charset="0"/>
              </a:rPr>
              <a:t>I1 </a:t>
            </a:r>
            <a:r>
              <a:rPr kumimoji="1" lang="ja-JP" altLang="en-US" dirty="0">
                <a:latin typeface="Consolas" panose="020B0609020204030204" pitchFamily="49" charset="0"/>
              </a:rPr>
              <a:t>に移動してきた</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直前の命令のコミットが終わった</a:t>
            </a:r>
            <a:endParaRPr kumimoji="1" lang="en-US" altLang="ja-JP" dirty="0">
              <a:latin typeface="Consolas" panose="020B0609020204030204" pitchFamily="49" charset="0"/>
            </a:endParaRPr>
          </a:p>
          <a:p>
            <a:pPr lvl="1"/>
            <a:r>
              <a:rPr lang="en-US" altLang="ja-JP" dirty="0">
                <a:latin typeface="Consolas" panose="020B0609020204030204" pitchFamily="49" charset="0"/>
              </a:rPr>
              <a:t>I1 </a:t>
            </a:r>
            <a:r>
              <a:rPr lang="ja-JP" altLang="en-US" dirty="0">
                <a:latin typeface="Consolas" panose="020B0609020204030204" pitchFamily="49" charset="0"/>
              </a:rPr>
              <a:t>の完了フラグが１であるため，</a:t>
            </a:r>
            <a:r>
              <a:rPr lang="en-US" altLang="ja-JP" dirty="0">
                <a:latin typeface="Consolas" panose="020B0609020204030204" pitchFamily="49" charset="0"/>
              </a:rPr>
              <a:t>I1 </a:t>
            </a:r>
            <a:r>
              <a:rPr lang="ja-JP" altLang="en-US" dirty="0">
                <a:latin typeface="Consolas" panose="020B0609020204030204" pitchFamily="49" charset="0"/>
              </a:rPr>
              <a:t>をコミット</a:t>
            </a:r>
            <a:endParaRPr lang="en-US" altLang="ja-JP" dirty="0">
              <a:latin typeface="Consolas" panose="020B0609020204030204" pitchFamily="49" charset="0"/>
            </a:endParaRPr>
          </a:p>
          <a:p>
            <a:pPr lvl="1"/>
            <a:r>
              <a:rPr lang="ja-JP" altLang="en-US" dirty="0">
                <a:latin typeface="Consolas" panose="020B0609020204030204" pitchFamily="49" charset="0"/>
              </a:rPr>
              <a:t>コミット・パイプ</a:t>
            </a:r>
            <a:r>
              <a:rPr kumimoji="1" lang="ja-JP" altLang="en-US" dirty="0">
                <a:latin typeface="Consolas" panose="020B0609020204030204" pitchFamily="49" charset="0"/>
              </a:rPr>
              <a:t>はバックエンドとは独立して並列に動作</a:t>
            </a:r>
          </a:p>
        </p:txBody>
      </p:sp>
      <p:grpSp>
        <p:nvGrpSpPr>
          <p:cNvPr id="4" name="グループ化 3"/>
          <p:cNvGrpSpPr/>
          <p:nvPr/>
        </p:nvGrpSpPr>
        <p:grpSpPr>
          <a:xfrm>
            <a:off x="2315958" y="3176356"/>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8076022" y="3158997"/>
            <a:ext cx="1584176"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 name="正方形/長方形 9"/>
          <p:cNvSpPr/>
          <p:nvPr/>
        </p:nvSpPr>
        <p:spPr>
          <a:xfrm>
            <a:off x="2279685" y="233039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1" name="正方形/長方形 10"/>
          <p:cNvSpPr/>
          <p:nvPr/>
        </p:nvSpPr>
        <p:spPr>
          <a:xfrm>
            <a:off x="8526028" y="234898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2" name="正方形/長方形 11"/>
          <p:cNvSpPr/>
          <p:nvPr/>
        </p:nvSpPr>
        <p:spPr>
          <a:xfrm>
            <a:off x="5645996" y="818971"/>
            <a:ext cx="937991" cy="738664"/>
          </a:xfrm>
          <a:prstGeom prst="rect">
            <a:avLst/>
          </a:prstGeom>
        </p:spPr>
        <p:txBody>
          <a:bodyPr wrap="square">
            <a:spAutoFit/>
          </a:bodyPr>
          <a:lstStyle/>
          <a:p>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l-GR"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4655984" y="2168986"/>
            <a:ext cx="2879888" cy="252002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 name="角丸四角形吹き出し 14"/>
          <p:cNvSpPr/>
          <p:nvPr/>
        </p:nvSpPr>
        <p:spPr bwMode="auto">
          <a:xfrm>
            <a:off x="7986021"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コミット・パイプ</a:t>
            </a:r>
            <a:endParaRPr lang="ja-JP" altLang="en-US" dirty="0">
              <a:solidFill>
                <a:schemeClr val="accent5"/>
              </a:solidFill>
            </a:endParaRPr>
          </a:p>
        </p:txBody>
      </p:sp>
      <p:sp>
        <p:nvSpPr>
          <p:cNvPr id="16" name="角丸四角形 15"/>
          <p:cNvSpPr/>
          <p:nvPr/>
        </p:nvSpPr>
        <p:spPr bwMode="auto">
          <a:xfrm>
            <a:off x="2765819" y="2996354"/>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Consolas" panose="020B0609020204030204" pitchFamily="49" charset="0"/>
              </a:rPr>
              <a:t>I3</a:t>
            </a:r>
            <a:endParaRPr lang="ja-JP" altLang="en-US" dirty="0">
              <a:latin typeface="Consolas" panose="020B0609020204030204" pitchFamily="49" charset="0"/>
            </a:endParaRPr>
          </a:p>
        </p:txBody>
      </p:sp>
      <p:sp>
        <p:nvSpPr>
          <p:cNvPr id="18" name="角丸四角形吹き出し 17"/>
          <p:cNvSpPr/>
          <p:nvPr/>
        </p:nvSpPr>
        <p:spPr bwMode="auto">
          <a:xfrm>
            <a:off x="2315958" y="3806364"/>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バックエンド</a:t>
            </a:r>
          </a:p>
        </p:txBody>
      </p:sp>
      <p:sp>
        <p:nvSpPr>
          <p:cNvPr id="19" name="正方形/長方形 18"/>
          <p:cNvSpPr/>
          <p:nvPr/>
        </p:nvSpPr>
        <p:spPr bwMode="auto">
          <a:xfrm>
            <a:off x="4655984" y="216898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0" name="正方形/長方形 19"/>
          <p:cNvSpPr/>
          <p:nvPr/>
        </p:nvSpPr>
        <p:spPr bwMode="auto">
          <a:xfrm>
            <a:off x="5375992" y="216898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1" name="正方形/長方形 20"/>
          <p:cNvSpPr/>
          <p:nvPr/>
        </p:nvSpPr>
        <p:spPr bwMode="auto">
          <a:xfrm>
            <a:off x="6096000" y="2168986"/>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2" name="正方形/長方形 21"/>
          <p:cNvSpPr/>
          <p:nvPr/>
        </p:nvSpPr>
        <p:spPr bwMode="auto">
          <a:xfrm>
            <a:off x="4565984"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完了</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フラグ</a:t>
            </a:r>
          </a:p>
        </p:txBody>
      </p:sp>
      <p:sp>
        <p:nvSpPr>
          <p:cNvPr id="23" name="正方形/長方形 22"/>
          <p:cNvSpPr/>
          <p:nvPr/>
        </p:nvSpPr>
        <p:spPr bwMode="auto">
          <a:xfrm>
            <a:off x="5285992"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例外</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コード</a:t>
            </a:r>
          </a:p>
        </p:txBody>
      </p:sp>
      <p:sp>
        <p:nvSpPr>
          <p:cNvPr id="24" name="正方形/長方形 23"/>
          <p:cNvSpPr/>
          <p:nvPr/>
        </p:nvSpPr>
        <p:spPr bwMode="auto">
          <a:xfrm>
            <a:off x="6096001"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br>
              <a:rPr lang="en-US" altLang="ja-JP" sz="1600" dirty="0">
                <a:solidFill>
                  <a:schemeClr val="tx1">
                    <a:lumMod val="75000"/>
                    <a:lumOff val="25000"/>
                  </a:schemeClr>
                </a:solidFill>
                <a:latin typeface="+mn-ea"/>
              </a:rPr>
            </a:b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25" name="正方形/長方形 24"/>
          <p:cNvSpPr/>
          <p:nvPr/>
        </p:nvSpPr>
        <p:spPr bwMode="auto">
          <a:xfrm>
            <a:off x="4655984" y="252899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1</a:t>
            </a:r>
            <a:endParaRPr lang="ja-JP" altLang="en-US" dirty="0">
              <a:solidFill>
                <a:schemeClr val="tx1">
                  <a:lumMod val="75000"/>
                  <a:lumOff val="25000"/>
                </a:schemeClr>
              </a:solidFill>
              <a:latin typeface="+mn-ea"/>
            </a:endParaRPr>
          </a:p>
        </p:txBody>
      </p:sp>
      <p:sp>
        <p:nvSpPr>
          <p:cNvPr id="26" name="正方形/長方形 25"/>
          <p:cNvSpPr/>
          <p:nvPr/>
        </p:nvSpPr>
        <p:spPr bwMode="auto">
          <a:xfrm>
            <a:off x="5375992" y="252899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7" name="正方形/長方形 26"/>
          <p:cNvSpPr/>
          <p:nvPr/>
        </p:nvSpPr>
        <p:spPr bwMode="auto">
          <a:xfrm>
            <a:off x="6096000" y="2528990"/>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8" name="正方形/長方形 27"/>
          <p:cNvSpPr/>
          <p:nvPr/>
        </p:nvSpPr>
        <p:spPr bwMode="auto">
          <a:xfrm>
            <a:off x="4655984" y="2888994"/>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0</a:t>
            </a:r>
            <a:endParaRPr lang="ja-JP" altLang="en-US" dirty="0">
              <a:solidFill>
                <a:schemeClr val="tx1">
                  <a:lumMod val="75000"/>
                  <a:lumOff val="25000"/>
                </a:schemeClr>
              </a:solidFill>
              <a:latin typeface="+mn-ea"/>
            </a:endParaRPr>
          </a:p>
        </p:txBody>
      </p:sp>
      <p:sp>
        <p:nvSpPr>
          <p:cNvPr id="29" name="正方形/長方形 28"/>
          <p:cNvSpPr/>
          <p:nvPr/>
        </p:nvSpPr>
        <p:spPr bwMode="auto">
          <a:xfrm>
            <a:off x="5375992" y="2888994"/>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0" name="正方形/長方形 29"/>
          <p:cNvSpPr/>
          <p:nvPr/>
        </p:nvSpPr>
        <p:spPr bwMode="auto">
          <a:xfrm>
            <a:off x="6096000" y="2888994"/>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1" name="正方形/長方形 30"/>
          <p:cNvSpPr/>
          <p:nvPr/>
        </p:nvSpPr>
        <p:spPr bwMode="auto">
          <a:xfrm>
            <a:off x="4655984" y="3248998"/>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１</a:t>
            </a:r>
          </a:p>
        </p:txBody>
      </p:sp>
      <p:sp>
        <p:nvSpPr>
          <p:cNvPr id="32" name="正方形/長方形 31"/>
          <p:cNvSpPr/>
          <p:nvPr/>
        </p:nvSpPr>
        <p:spPr bwMode="auto">
          <a:xfrm>
            <a:off x="5375992" y="3248998"/>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メモリ</a:t>
            </a:r>
            <a:br>
              <a:rPr lang="en-US" altLang="ja-JP" sz="1100" dirty="0">
                <a:solidFill>
                  <a:schemeClr val="tx1">
                    <a:lumMod val="75000"/>
                    <a:lumOff val="25000"/>
                  </a:schemeClr>
                </a:solidFill>
                <a:latin typeface="+mn-ea"/>
              </a:rPr>
            </a:br>
            <a:r>
              <a:rPr lang="ja-JP" altLang="en-US" sz="1100" dirty="0">
                <a:solidFill>
                  <a:schemeClr val="tx1">
                    <a:lumMod val="75000"/>
                    <a:lumOff val="25000"/>
                  </a:schemeClr>
                </a:solidFill>
                <a:latin typeface="+mn-ea"/>
              </a:rPr>
              <a:t>保護違反</a:t>
            </a:r>
          </a:p>
        </p:txBody>
      </p:sp>
      <p:sp>
        <p:nvSpPr>
          <p:cNvPr id="33" name="正方形/長方形 32"/>
          <p:cNvSpPr/>
          <p:nvPr/>
        </p:nvSpPr>
        <p:spPr bwMode="auto">
          <a:xfrm>
            <a:off x="6096000" y="3248998"/>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I3 </a:t>
            </a:r>
            <a:r>
              <a:rPr lang="ja-JP" altLang="en-US" sz="1600" dirty="0">
                <a:solidFill>
                  <a:schemeClr val="tx1">
                    <a:lumMod val="75000"/>
                    <a:lumOff val="25000"/>
                  </a:schemeClr>
                </a:solidFill>
                <a:latin typeface="+mn-ea"/>
              </a:rPr>
              <a:t>の</a:t>
            </a: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34" name="正方形/長方形 33"/>
          <p:cNvSpPr/>
          <p:nvPr/>
        </p:nvSpPr>
        <p:spPr bwMode="auto">
          <a:xfrm>
            <a:off x="4655984" y="3609002"/>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5" name="正方形/長方形 34"/>
          <p:cNvSpPr/>
          <p:nvPr/>
        </p:nvSpPr>
        <p:spPr bwMode="auto">
          <a:xfrm>
            <a:off x="5375992" y="3609002"/>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6" name="正方形/長方形 35"/>
          <p:cNvSpPr/>
          <p:nvPr/>
        </p:nvSpPr>
        <p:spPr bwMode="auto">
          <a:xfrm>
            <a:off x="6096000" y="3609002"/>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7" name="正方形/長方形 36"/>
          <p:cNvSpPr/>
          <p:nvPr/>
        </p:nvSpPr>
        <p:spPr bwMode="auto">
          <a:xfrm>
            <a:off x="4655984" y="396900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8" name="正方形/長方形 37"/>
          <p:cNvSpPr/>
          <p:nvPr/>
        </p:nvSpPr>
        <p:spPr bwMode="auto">
          <a:xfrm>
            <a:off x="5375992" y="396900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9" name="正方形/長方形 38"/>
          <p:cNvSpPr/>
          <p:nvPr/>
        </p:nvSpPr>
        <p:spPr bwMode="auto">
          <a:xfrm>
            <a:off x="6096000" y="3969006"/>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0" name="正方形/長方形 39"/>
          <p:cNvSpPr/>
          <p:nvPr/>
        </p:nvSpPr>
        <p:spPr bwMode="auto">
          <a:xfrm>
            <a:off x="4655984" y="432901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1" name="正方形/長方形 40"/>
          <p:cNvSpPr/>
          <p:nvPr/>
        </p:nvSpPr>
        <p:spPr bwMode="auto">
          <a:xfrm>
            <a:off x="5375992" y="432901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2" name="正方形/長方形 41"/>
          <p:cNvSpPr/>
          <p:nvPr/>
        </p:nvSpPr>
        <p:spPr bwMode="auto">
          <a:xfrm>
            <a:off x="6096000" y="4329010"/>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3" name="正方形/長方形 42"/>
          <p:cNvSpPr/>
          <p:nvPr/>
        </p:nvSpPr>
        <p:spPr bwMode="auto">
          <a:xfrm>
            <a:off x="4205980" y="252899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6"/>
                </a:solidFill>
                <a:latin typeface="Consolas" panose="020B0609020204030204" pitchFamily="49" charset="0"/>
              </a:rPr>
              <a:t>I1</a:t>
            </a:r>
            <a:endParaRPr lang="ja-JP" altLang="en-US" sz="1600" dirty="0">
              <a:solidFill>
                <a:schemeClr val="accent6"/>
              </a:solidFill>
              <a:latin typeface="+mn-ea"/>
            </a:endParaRPr>
          </a:p>
        </p:txBody>
      </p:sp>
      <p:sp>
        <p:nvSpPr>
          <p:cNvPr id="44" name="正方形/長方形 43"/>
          <p:cNvSpPr/>
          <p:nvPr/>
        </p:nvSpPr>
        <p:spPr bwMode="auto">
          <a:xfrm>
            <a:off x="4205980" y="288899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6"/>
                </a:solidFill>
                <a:latin typeface="Consolas" panose="020B0609020204030204" pitchFamily="49" charset="0"/>
              </a:rPr>
              <a:t>I2</a:t>
            </a:r>
            <a:endParaRPr lang="ja-JP" altLang="en-US" sz="1600" dirty="0">
              <a:solidFill>
                <a:schemeClr val="accent6"/>
              </a:solidFill>
              <a:latin typeface="+mn-ea"/>
            </a:endParaRPr>
          </a:p>
        </p:txBody>
      </p:sp>
      <p:sp>
        <p:nvSpPr>
          <p:cNvPr id="45" name="正方形/長方形 44"/>
          <p:cNvSpPr/>
          <p:nvPr/>
        </p:nvSpPr>
        <p:spPr bwMode="auto">
          <a:xfrm>
            <a:off x="4205980" y="324899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6"/>
                </a:solidFill>
                <a:latin typeface="Consolas" panose="020B0609020204030204" pitchFamily="49" charset="0"/>
              </a:rPr>
              <a:t>I3</a:t>
            </a:r>
            <a:endParaRPr lang="ja-JP" altLang="en-US" sz="1600" dirty="0">
              <a:solidFill>
                <a:schemeClr val="accent6"/>
              </a:solidFill>
              <a:latin typeface="+mn-ea"/>
            </a:endParaRPr>
          </a:p>
        </p:txBody>
      </p:sp>
      <p:sp>
        <p:nvSpPr>
          <p:cNvPr id="46" name="右矢印 45"/>
          <p:cNvSpPr/>
          <p:nvPr/>
        </p:nvSpPr>
        <p:spPr bwMode="auto">
          <a:xfrm rot="10800000" flipV="1">
            <a:off x="7626017" y="2438989"/>
            <a:ext cx="900010" cy="540006"/>
          </a:xfrm>
          <a:prstGeom prst="rightArrow">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監視</a:t>
            </a:r>
          </a:p>
        </p:txBody>
      </p:sp>
      <p:sp>
        <p:nvSpPr>
          <p:cNvPr id="47" name="角丸四角形 46"/>
          <p:cNvSpPr/>
          <p:nvPr/>
        </p:nvSpPr>
        <p:spPr bwMode="auto">
          <a:xfrm>
            <a:off x="8616028" y="2978995"/>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Consolas" panose="020B0609020204030204" pitchFamily="49" charset="0"/>
              </a:rPr>
              <a:t>I1</a:t>
            </a:r>
            <a:endParaRPr lang="ja-JP" altLang="en-US" dirty="0">
              <a:latin typeface="Consolas" panose="020B0609020204030204" pitchFamily="49" charset="0"/>
            </a:endParaRPr>
          </a:p>
        </p:txBody>
      </p:sp>
    </p:spTree>
    <p:extLst>
      <p:ext uri="{BB962C8B-B14F-4D97-AF65-F5344CB8AC3E}">
        <p14:creationId xmlns:p14="http://schemas.microsoft.com/office/powerpoint/2010/main" val="3233941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ROB </a:t>
            </a:r>
            <a:r>
              <a:rPr kumimoji="1" lang="ja-JP" altLang="en-US" dirty="0"/>
              <a:t>の動作（５）</a:t>
            </a:r>
          </a:p>
        </p:txBody>
      </p:sp>
      <p:sp>
        <p:nvSpPr>
          <p:cNvPr id="3" name="テキスト プレースホルダー 2"/>
          <p:cNvSpPr>
            <a:spLocks noGrp="1"/>
          </p:cNvSpPr>
          <p:nvPr>
            <p:ph type="body" sz="quarter" idx="10"/>
          </p:nvPr>
        </p:nvSpPr>
        <p:spPr>
          <a:xfrm>
            <a:off x="2135956" y="5049019"/>
            <a:ext cx="8280092" cy="1439709"/>
          </a:xfrm>
        </p:spPr>
        <p:txBody>
          <a:bodyPr/>
          <a:lstStyle/>
          <a:p>
            <a:r>
              <a:rPr kumimoji="1" lang="ja-JP" altLang="en-US" dirty="0">
                <a:latin typeface="Consolas" panose="020B0609020204030204" pitchFamily="49" charset="0"/>
              </a:rPr>
              <a:t>コミット・パイプの監視ポイントが </a:t>
            </a:r>
            <a:r>
              <a:rPr kumimoji="1" lang="en-US" altLang="ja-JP" dirty="0">
                <a:latin typeface="Consolas" panose="020B0609020204030204" pitchFamily="49" charset="0"/>
              </a:rPr>
              <a:t>I2 </a:t>
            </a:r>
            <a:r>
              <a:rPr kumimoji="1" lang="ja-JP" altLang="en-US" dirty="0">
                <a:latin typeface="Consolas" panose="020B0609020204030204" pitchFamily="49" charset="0"/>
              </a:rPr>
              <a:t>に移動</a:t>
            </a:r>
            <a:endParaRPr kumimoji="1" lang="en-US" altLang="ja-JP" dirty="0">
              <a:latin typeface="Consolas" panose="020B0609020204030204" pitchFamily="49" charset="0"/>
            </a:endParaRPr>
          </a:p>
          <a:p>
            <a:pPr lvl="1"/>
            <a:r>
              <a:rPr lang="en-US" altLang="ja-JP" dirty="0">
                <a:latin typeface="Consolas" panose="020B0609020204030204" pitchFamily="49" charset="0"/>
              </a:rPr>
              <a:t>I2 </a:t>
            </a:r>
            <a:r>
              <a:rPr lang="ja-JP" altLang="en-US" dirty="0">
                <a:latin typeface="Consolas" panose="020B0609020204030204" pitchFamily="49" charset="0"/>
              </a:rPr>
              <a:t>の完了フラグはまだ </a:t>
            </a:r>
            <a:r>
              <a:rPr lang="en-US" altLang="ja-JP" dirty="0">
                <a:latin typeface="Consolas" panose="020B0609020204030204" pitchFamily="49" charset="0"/>
              </a:rPr>
              <a:t>0 </a:t>
            </a:r>
            <a:r>
              <a:rPr lang="ja-JP" altLang="en-US" dirty="0" err="1">
                <a:latin typeface="Consolas" panose="020B0609020204030204" pitchFamily="49" charset="0"/>
              </a:rPr>
              <a:t>なので</a:t>
            </a:r>
            <a:r>
              <a:rPr lang="ja-JP" altLang="en-US" dirty="0">
                <a:latin typeface="Consolas" panose="020B0609020204030204" pitchFamily="49" charset="0"/>
              </a:rPr>
              <a:t>コミットはしない</a:t>
            </a:r>
            <a:endParaRPr kumimoji="1" lang="en-US" altLang="ja-JP" dirty="0">
              <a:latin typeface="Consolas" panose="020B0609020204030204" pitchFamily="49" charset="0"/>
            </a:endParaRPr>
          </a:p>
          <a:p>
            <a:pPr lvl="1"/>
            <a:endParaRPr kumimoji="1" lang="en-US" altLang="ja-JP" dirty="0">
              <a:latin typeface="Consolas" panose="020B0609020204030204" pitchFamily="49" charset="0"/>
            </a:endParaRPr>
          </a:p>
        </p:txBody>
      </p:sp>
      <p:grpSp>
        <p:nvGrpSpPr>
          <p:cNvPr id="4" name="グループ化 3"/>
          <p:cNvGrpSpPr/>
          <p:nvPr/>
        </p:nvGrpSpPr>
        <p:grpSpPr>
          <a:xfrm>
            <a:off x="2315958" y="3176356"/>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8076022" y="3158997"/>
            <a:ext cx="1584176"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 name="正方形/長方形 9"/>
          <p:cNvSpPr/>
          <p:nvPr/>
        </p:nvSpPr>
        <p:spPr>
          <a:xfrm>
            <a:off x="2279685" y="233039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1" name="正方形/長方形 10"/>
          <p:cNvSpPr/>
          <p:nvPr/>
        </p:nvSpPr>
        <p:spPr>
          <a:xfrm>
            <a:off x="8526028" y="234898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2" name="正方形/長方形 11"/>
          <p:cNvSpPr/>
          <p:nvPr/>
        </p:nvSpPr>
        <p:spPr>
          <a:xfrm>
            <a:off x="5645996" y="818971"/>
            <a:ext cx="937991" cy="738664"/>
          </a:xfrm>
          <a:prstGeom prst="rect">
            <a:avLst/>
          </a:prstGeom>
        </p:spPr>
        <p:txBody>
          <a:bodyPr wrap="square">
            <a:spAutoFit/>
          </a:bodyPr>
          <a:lstStyle/>
          <a:p>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l-GR"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4655984" y="2168986"/>
            <a:ext cx="2879888" cy="252002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 name="角丸四角形吹き出し 14"/>
          <p:cNvSpPr/>
          <p:nvPr/>
        </p:nvSpPr>
        <p:spPr bwMode="auto">
          <a:xfrm>
            <a:off x="7986021"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コミット・パイプ</a:t>
            </a:r>
            <a:endParaRPr lang="ja-JP" altLang="en-US" dirty="0">
              <a:solidFill>
                <a:schemeClr val="accent5"/>
              </a:solidFill>
            </a:endParaRPr>
          </a:p>
        </p:txBody>
      </p:sp>
      <p:sp>
        <p:nvSpPr>
          <p:cNvPr id="18" name="角丸四角形吹き出し 17"/>
          <p:cNvSpPr/>
          <p:nvPr/>
        </p:nvSpPr>
        <p:spPr bwMode="auto">
          <a:xfrm>
            <a:off x="2315958" y="3806364"/>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バックエンド</a:t>
            </a:r>
          </a:p>
        </p:txBody>
      </p:sp>
      <p:sp>
        <p:nvSpPr>
          <p:cNvPr id="19" name="正方形/長方形 18"/>
          <p:cNvSpPr/>
          <p:nvPr/>
        </p:nvSpPr>
        <p:spPr bwMode="auto">
          <a:xfrm>
            <a:off x="4655984" y="216898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0" name="正方形/長方形 19"/>
          <p:cNvSpPr/>
          <p:nvPr/>
        </p:nvSpPr>
        <p:spPr bwMode="auto">
          <a:xfrm>
            <a:off x="5375992" y="216898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1" name="正方形/長方形 20"/>
          <p:cNvSpPr/>
          <p:nvPr/>
        </p:nvSpPr>
        <p:spPr bwMode="auto">
          <a:xfrm>
            <a:off x="6096000" y="2168986"/>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2" name="正方形/長方形 21"/>
          <p:cNvSpPr/>
          <p:nvPr/>
        </p:nvSpPr>
        <p:spPr bwMode="auto">
          <a:xfrm>
            <a:off x="4565984"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完了</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フラグ</a:t>
            </a:r>
          </a:p>
        </p:txBody>
      </p:sp>
      <p:sp>
        <p:nvSpPr>
          <p:cNvPr id="23" name="正方形/長方形 22"/>
          <p:cNvSpPr/>
          <p:nvPr/>
        </p:nvSpPr>
        <p:spPr bwMode="auto">
          <a:xfrm>
            <a:off x="5285992"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例外</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コード</a:t>
            </a:r>
          </a:p>
        </p:txBody>
      </p:sp>
      <p:sp>
        <p:nvSpPr>
          <p:cNvPr id="24" name="正方形/長方形 23"/>
          <p:cNvSpPr/>
          <p:nvPr/>
        </p:nvSpPr>
        <p:spPr bwMode="auto">
          <a:xfrm>
            <a:off x="6096001"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br>
              <a:rPr lang="en-US" altLang="ja-JP" sz="1600" dirty="0">
                <a:solidFill>
                  <a:schemeClr val="tx1">
                    <a:lumMod val="75000"/>
                    <a:lumOff val="25000"/>
                  </a:schemeClr>
                </a:solidFill>
                <a:latin typeface="+mn-ea"/>
              </a:rPr>
            </a:b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25" name="正方形/長方形 24"/>
          <p:cNvSpPr/>
          <p:nvPr/>
        </p:nvSpPr>
        <p:spPr bwMode="auto">
          <a:xfrm>
            <a:off x="4655984" y="252899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1</a:t>
            </a:r>
            <a:endParaRPr lang="ja-JP" altLang="en-US" dirty="0">
              <a:solidFill>
                <a:schemeClr val="tx1">
                  <a:lumMod val="75000"/>
                  <a:lumOff val="25000"/>
                </a:schemeClr>
              </a:solidFill>
              <a:latin typeface="+mn-ea"/>
            </a:endParaRPr>
          </a:p>
        </p:txBody>
      </p:sp>
      <p:sp>
        <p:nvSpPr>
          <p:cNvPr id="26" name="正方形/長方形 25"/>
          <p:cNvSpPr/>
          <p:nvPr/>
        </p:nvSpPr>
        <p:spPr bwMode="auto">
          <a:xfrm>
            <a:off x="5375992" y="252899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7" name="正方形/長方形 26"/>
          <p:cNvSpPr/>
          <p:nvPr/>
        </p:nvSpPr>
        <p:spPr bwMode="auto">
          <a:xfrm>
            <a:off x="6096000" y="2528990"/>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0" name="正方形/長方形 29"/>
          <p:cNvSpPr/>
          <p:nvPr/>
        </p:nvSpPr>
        <p:spPr bwMode="auto">
          <a:xfrm>
            <a:off x="6096000" y="2888994"/>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1" name="正方形/長方形 30"/>
          <p:cNvSpPr/>
          <p:nvPr/>
        </p:nvSpPr>
        <p:spPr bwMode="auto">
          <a:xfrm>
            <a:off x="4655984" y="3248998"/>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１</a:t>
            </a:r>
          </a:p>
        </p:txBody>
      </p:sp>
      <p:sp>
        <p:nvSpPr>
          <p:cNvPr id="32" name="正方形/長方形 31"/>
          <p:cNvSpPr/>
          <p:nvPr/>
        </p:nvSpPr>
        <p:spPr bwMode="auto">
          <a:xfrm>
            <a:off x="5375992" y="3248998"/>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メモリ</a:t>
            </a:r>
            <a:br>
              <a:rPr lang="en-US" altLang="ja-JP" sz="1100" dirty="0">
                <a:solidFill>
                  <a:schemeClr val="tx1">
                    <a:lumMod val="75000"/>
                    <a:lumOff val="25000"/>
                  </a:schemeClr>
                </a:solidFill>
                <a:latin typeface="+mn-ea"/>
              </a:rPr>
            </a:br>
            <a:r>
              <a:rPr lang="ja-JP" altLang="en-US" sz="1100" dirty="0">
                <a:solidFill>
                  <a:schemeClr val="tx1">
                    <a:lumMod val="75000"/>
                    <a:lumOff val="25000"/>
                  </a:schemeClr>
                </a:solidFill>
                <a:latin typeface="+mn-ea"/>
              </a:rPr>
              <a:t>保護違反</a:t>
            </a:r>
          </a:p>
        </p:txBody>
      </p:sp>
      <p:sp>
        <p:nvSpPr>
          <p:cNvPr id="33" name="正方形/長方形 32"/>
          <p:cNvSpPr/>
          <p:nvPr/>
        </p:nvSpPr>
        <p:spPr bwMode="auto">
          <a:xfrm>
            <a:off x="6096000" y="3248998"/>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I3 </a:t>
            </a:r>
            <a:r>
              <a:rPr lang="ja-JP" altLang="en-US" sz="1400" dirty="0">
                <a:solidFill>
                  <a:schemeClr val="tx1">
                    <a:lumMod val="75000"/>
                    <a:lumOff val="25000"/>
                  </a:schemeClr>
                </a:solidFill>
                <a:latin typeface="+mn-ea"/>
              </a:rPr>
              <a:t>の</a:t>
            </a:r>
            <a:r>
              <a:rPr lang="en-US" altLang="ja-JP" sz="1400" dirty="0">
                <a:solidFill>
                  <a:schemeClr val="tx1">
                    <a:lumMod val="75000"/>
                    <a:lumOff val="25000"/>
                  </a:schemeClr>
                </a:solidFill>
                <a:latin typeface="+mn-ea"/>
              </a:rPr>
              <a:t>PC</a:t>
            </a:r>
            <a:endParaRPr lang="ja-JP" altLang="en-US" sz="1400" dirty="0">
              <a:solidFill>
                <a:schemeClr val="tx1">
                  <a:lumMod val="75000"/>
                  <a:lumOff val="25000"/>
                </a:schemeClr>
              </a:solidFill>
              <a:latin typeface="+mn-ea"/>
            </a:endParaRPr>
          </a:p>
        </p:txBody>
      </p:sp>
      <p:sp>
        <p:nvSpPr>
          <p:cNvPr id="34" name="正方形/長方形 33"/>
          <p:cNvSpPr/>
          <p:nvPr/>
        </p:nvSpPr>
        <p:spPr bwMode="auto">
          <a:xfrm>
            <a:off x="4655984" y="3609002"/>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5" name="正方形/長方形 34"/>
          <p:cNvSpPr/>
          <p:nvPr/>
        </p:nvSpPr>
        <p:spPr bwMode="auto">
          <a:xfrm>
            <a:off x="5375992" y="3609002"/>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6" name="正方形/長方形 35"/>
          <p:cNvSpPr/>
          <p:nvPr/>
        </p:nvSpPr>
        <p:spPr bwMode="auto">
          <a:xfrm>
            <a:off x="6096000" y="3609002"/>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7" name="正方形/長方形 36"/>
          <p:cNvSpPr/>
          <p:nvPr/>
        </p:nvSpPr>
        <p:spPr bwMode="auto">
          <a:xfrm>
            <a:off x="4655984" y="396900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8" name="正方形/長方形 37"/>
          <p:cNvSpPr/>
          <p:nvPr/>
        </p:nvSpPr>
        <p:spPr bwMode="auto">
          <a:xfrm>
            <a:off x="5375992" y="396900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9" name="正方形/長方形 38"/>
          <p:cNvSpPr/>
          <p:nvPr/>
        </p:nvSpPr>
        <p:spPr bwMode="auto">
          <a:xfrm>
            <a:off x="6096000" y="3969006"/>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0" name="正方形/長方形 39"/>
          <p:cNvSpPr/>
          <p:nvPr/>
        </p:nvSpPr>
        <p:spPr bwMode="auto">
          <a:xfrm>
            <a:off x="4655984" y="432901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1" name="正方形/長方形 40"/>
          <p:cNvSpPr/>
          <p:nvPr/>
        </p:nvSpPr>
        <p:spPr bwMode="auto">
          <a:xfrm>
            <a:off x="5375992" y="432901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2" name="正方形/長方形 41"/>
          <p:cNvSpPr/>
          <p:nvPr/>
        </p:nvSpPr>
        <p:spPr bwMode="auto">
          <a:xfrm>
            <a:off x="6096000" y="4329010"/>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3" name="正方形/長方形 42"/>
          <p:cNvSpPr/>
          <p:nvPr/>
        </p:nvSpPr>
        <p:spPr bwMode="auto">
          <a:xfrm>
            <a:off x="4205980" y="252899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6"/>
                </a:solidFill>
                <a:latin typeface="Consolas" panose="020B0609020204030204" pitchFamily="49" charset="0"/>
              </a:rPr>
              <a:t>I1</a:t>
            </a:r>
            <a:endParaRPr lang="ja-JP" altLang="en-US" sz="1600" dirty="0">
              <a:solidFill>
                <a:schemeClr val="accent6"/>
              </a:solidFill>
              <a:latin typeface="+mn-ea"/>
            </a:endParaRPr>
          </a:p>
        </p:txBody>
      </p:sp>
      <p:sp>
        <p:nvSpPr>
          <p:cNvPr id="44" name="正方形/長方形 43"/>
          <p:cNvSpPr/>
          <p:nvPr/>
        </p:nvSpPr>
        <p:spPr bwMode="auto">
          <a:xfrm>
            <a:off x="4205980" y="288899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6"/>
                </a:solidFill>
                <a:latin typeface="Consolas" panose="020B0609020204030204" pitchFamily="49" charset="0"/>
              </a:rPr>
              <a:t>I2</a:t>
            </a:r>
            <a:endParaRPr lang="ja-JP" altLang="en-US" sz="1600" dirty="0">
              <a:solidFill>
                <a:schemeClr val="accent6"/>
              </a:solidFill>
              <a:latin typeface="+mn-ea"/>
            </a:endParaRPr>
          </a:p>
        </p:txBody>
      </p:sp>
      <p:sp>
        <p:nvSpPr>
          <p:cNvPr id="45" name="正方形/長方形 44"/>
          <p:cNvSpPr/>
          <p:nvPr/>
        </p:nvSpPr>
        <p:spPr bwMode="auto">
          <a:xfrm>
            <a:off x="4205980" y="324899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6"/>
                </a:solidFill>
                <a:latin typeface="Consolas" panose="020B0609020204030204" pitchFamily="49" charset="0"/>
              </a:rPr>
              <a:t>I3</a:t>
            </a:r>
            <a:endParaRPr lang="ja-JP" altLang="en-US" sz="1600" dirty="0">
              <a:solidFill>
                <a:schemeClr val="accent6"/>
              </a:solidFill>
              <a:latin typeface="+mn-ea"/>
            </a:endParaRPr>
          </a:p>
        </p:txBody>
      </p:sp>
      <p:sp>
        <p:nvSpPr>
          <p:cNvPr id="46" name="右矢印 45"/>
          <p:cNvSpPr/>
          <p:nvPr/>
        </p:nvSpPr>
        <p:spPr bwMode="auto">
          <a:xfrm rot="10800000" flipV="1">
            <a:off x="7626017" y="2798993"/>
            <a:ext cx="900010" cy="540006"/>
          </a:xfrm>
          <a:prstGeom prst="rightArrow">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監視</a:t>
            </a:r>
          </a:p>
        </p:txBody>
      </p:sp>
      <p:sp>
        <p:nvSpPr>
          <p:cNvPr id="47" name="正方形/長方形 46"/>
          <p:cNvSpPr/>
          <p:nvPr/>
        </p:nvSpPr>
        <p:spPr bwMode="auto">
          <a:xfrm>
            <a:off x="4655984" y="2888994"/>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0</a:t>
            </a:r>
            <a:endParaRPr lang="ja-JP" altLang="en-US" dirty="0">
              <a:solidFill>
                <a:schemeClr val="tx1">
                  <a:lumMod val="75000"/>
                  <a:lumOff val="25000"/>
                </a:schemeClr>
              </a:solidFill>
              <a:latin typeface="+mn-ea"/>
            </a:endParaRPr>
          </a:p>
        </p:txBody>
      </p:sp>
      <p:sp>
        <p:nvSpPr>
          <p:cNvPr id="49" name="正方形/長方形 48"/>
          <p:cNvSpPr/>
          <p:nvPr/>
        </p:nvSpPr>
        <p:spPr bwMode="auto">
          <a:xfrm>
            <a:off x="5375992" y="2888994"/>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27454361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ROB </a:t>
            </a:r>
            <a:r>
              <a:rPr kumimoji="1" lang="ja-JP" altLang="en-US" dirty="0"/>
              <a:t>の動作（５）</a:t>
            </a:r>
          </a:p>
        </p:txBody>
      </p:sp>
      <p:sp>
        <p:nvSpPr>
          <p:cNvPr id="3" name="テキスト プレースホルダー 2"/>
          <p:cNvSpPr>
            <a:spLocks noGrp="1"/>
          </p:cNvSpPr>
          <p:nvPr>
            <p:ph type="body" sz="quarter" idx="10"/>
          </p:nvPr>
        </p:nvSpPr>
        <p:spPr>
          <a:xfrm>
            <a:off x="2135956" y="5049019"/>
            <a:ext cx="8280092" cy="1439709"/>
          </a:xfrm>
        </p:spPr>
        <p:txBody>
          <a:bodyPr/>
          <a:lstStyle/>
          <a:p>
            <a:r>
              <a:rPr kumimoji="1" lang="en-US" altLang="ja-JP" dirty="0">
                <a:latin typeface="Consolas" panose="020B0609020204030204" pitchFamily="49" charset="0"/>
              </a:rPr>
              <a:t>I2 </a:t>
            </a:r>
            <a:r>
              <a:rPr kumimoji="1" lang="ja-JP" altLang="en-US" dirty="0">
                <a:latin typeface="Consolas" panose="020B0609020204030204" pitchFamily="49" charset="0"/>
              </a:rPr>
              <a:t>が完了</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例外を発生させていたので，それを </a:t>
            </a:r>
            <a:r>
              <a:rPr kumimoji="1" lang="en-US" altLang="ja-JP" dirty="0">
                <a:latin typeface="Consolas" panose="020B0609020204030204" pitchFamily="49" charset="0"/>
              </a:rPr>
              <a:t>ROB </a:t>
            </a:r>
            <a:r>
              <a:rPr kumimoji="1" lang="ja-JP" altLang="en-US" dirty="0">
                <a:latin typeface="Consolas" panose="020B0609020204030204" pitchFamily="49" charset="0"/>
              </a:rPr>
              <a:t>に書き込む</a:t>
            </a:r>
            <a:endParaRPr kumimoji="1" lang="en-US" altLang="ja-JP" dirty="0">
              <a:latin typeface="Consolas" panose="020B0609020204030204" pitchFamily="49" charset="0"/>
            </a:endParaRPr>
          </a:p>
        </p:txBody>
      </p:sp>
      <p:grpSp>
        <p:nvGrpSpPr>
          <p:cNvPr id="4" name="グループ化 3"/>
          <p:cNvGrpSpPr/>
          <p:nvPr/>
        </p:nvGrpSpPr>
        <p:grpSpPr>
          <a:xfrm>
            <a:off x="2315958" y="3176356"/>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8076022" y="3158997"/>
            <a:ext cx="1584176"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 name="正方形/長方形 9"/>
          <p:cNvSpPr/>
          <p:nvPr/>
        </p:nvSpPr>
        <p:spPr>
          <a:xfrm>
            <a:off x="2279685" y="233039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1" name="正方形/長方形 10"/>
          <p:cNvSpPr/>
          <p:nvPr/>
        </p:nvSpPr>
        <p:spPr>
          <a:xfrm>
            <a:off x="8526028" y="234898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2" name="正方形/長方形 11"/>
          <p:cNvSpPr/>
          <p:nvPr/>
        </p:nvSpPr>
        <p:spPr>
          <a:xfrm>
            <a:off x="5645996" y="818971"/>
            <a:ext cx="937991" cy="738664"/>
          </a:xfrm>
          <a:prstGeom prst="rect">
            <a:avLst/>
          </a:prstGeom>
        </p:spPr>
        <p:txBody>
          <a:bodyPr wrap="square">
            <a:spAutoFit/>
          </a:bodyPr>
          <a:lstStyle/>
          <a:p>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l-GR"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4655984" y="2168986"/>
            <a:ext cx="2879888" cy="252002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 name="角丸四角形吹き出し 14"/>
          <p:cNvSpPr/>
          <p:nvPr/>
        </p:nvSpPr>
        <p:spPr bwMode="auto">
          <a:xfrm>
            <a:off x="7986021"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コミット・パイプ</a:t>
            </a:r>
            <a:endParaRPr lang="ja-JP" altLang="en-US" dirty="0">
              <a:solidFill>
                <a:schemeClr val="accent5"/>
              </a:solidFill>
            </a:endParaRPr>
          </a:p>
        </p:txBody>
      </p:sp>
      <p:sp>
        <p:nvSpPr>
          <p:cNvPr id="18" name="角丸四角形吹き出し 17"/>
          <p:cNvSpPr/>
          <p:nvPr/>
        </p:nvSpPr>
        <p:spPr bwMode="auto">
          <a:xfrm>
            <a:off x="2315958" y="3806364"/>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バックエンド</a:t>
            </a:r>
          </a:p>
        </p:txBody>
      </p:sp>
      <p:sp>
        <p:nvSpPr>
          <p:cNvPr id="19" name="正方形/長方形 18"/>
          <p:cNvSpPr/>
          <p:nvPr/>
        </p:nvSpPr>
        <p:spPr bwMode="auto">
          <a:xfrm>
            <a:off x="4655984" y="216898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0" name="正方形/長方形 19"/>
          <p:cNvSpPr/>
          <p:nvPr/>
        </p:nvSpPr>
        <p:spPr bwMode="auto">
          <a:xfrm>
            <a:off x="5375992" y="216898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1" name="正方形/長方形 20"/>
          <p:cNvSpPr/>
          <p:nvPr/>
        </p:nvSpPr>
        <p:spPr bwMode="auto">
          <a:xfrm>
            <a:off x="6096000" y="2168986"/>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2" name="正方形/長方形 21"/>
          <p:cNvSpPr/>
          <p:nvPr/>
        </p:nvSpPr>
        <p:spPr bwMode="auto">
          <a:xfrm>
            <a:off x="4565984"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完了</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フラグ</a:t>
            </a:r>
          </a:p>
        </p:txBody>
      </p:sp>
      <p:sp>
        <p:nvSpPr>
          <p:cNvPr id="23" name="正方形/長方形 22"/>
          <p:cNvSpPr/>
          <p:nvPr/>
        </p:nvSpPr>
        <p:spPr bwMode="auto">
          <a:xfrm>
            <a:off x="5285992"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例外</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コード</a:t>
            </a:r>
          </a:p>
        </p:txBody>
      </p:sp>
      <p:sp>
        <p:nvSpPr>
          <p:cNvPr id="24" name="正方形/長方形 23"/>
          <p:cNvSpPr/>
          <p:nvPr/>
        </p:nvSpPr>
        <p:spPr bwMode="auto">
          <a:xfrm>
            <a:off x="6096001"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br>
              <a:rPr lang="en-US" altLang="ja-JP" sz="1600" dirty="0">
                <a:solidFill>
                  <a:schemeClr val="tx1">
                    <a:lumMod val="75000"/>
                    <a:lumOff val="25000"/>
                  </a:schemeClr>
                </a:solidFill>
                <a:latin typeface="+mn-ea"/>
              </a:rPr>
            </a:b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25" name="正方形/長方形 24"/>
          <p:cNvSpPr/>
          <p:nvPr/>
        </p:nvSpPr>
        <p:spPr bwMode="auto">
          <a:xfrm>
            <a:off x="4655984" y="252899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1</a:t>
            </a:r>
            <a:endParaRPr lang="ja-JP" altLang="en-US" dirty="0">
              <a:solidFill>
                <a:schemeClr val="tx1">
                  <a:lumMod val="75000"/>
                  <a:lumOff val="25000"/>
                </a:schemeClr>
              </a:solidFill>
              <a:latin typeface="+mn-ea"/>
            </a:endParaRPr>
          </a:p>
        </p:txBody>
      </p:sp>
      <p:sp>
        <p:nvSpPr>
          <p:cNvPr id="26" name="正方形/長方形 25"/>
          <p:cNvSpPr/>
          <p:nvPr/>
        </p:nvSpPr>
        <p:spPr bwMode="auto">
          <a:xfrm>
            <a:off x="5375992" y="252899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7" name="正方形/長方形 26"/>
          <p:cNvSpPr/>
          <p:nvPr/>
        </p:nvSpPr>
        <p:spPr bwMode="auto">
          <a:xfrm>
            <a:off x="6096000" y="2528990"/>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8" name="正方形/長方形 27"/>
          <p:cNvSpPr/>
          <p:nvPr/>
        </p:nvSpPr>
        <p:spPr bwMode="auto">
          <a:xfrm>
            <a:off x="4655984" y="2888994"/>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6"/>
                </a:solidFill>
                <a:latin typeface="+mn-ea"/>
              </a:rPr>
              <a:t>1</a:t>
            </a:r>
            <a:endParaRPr lang="ja-JP" altLang="en-US" b="1" dirty="0">
              <a:solidFill>
                <a:schemeClr val="accent6"/>
              </a:solidFill>
              <a:latin typeface="+mn-ea"/>
            </a:endParaRPr>
          </a:p>
        </p:txBody>
      </p:sp>
      <p:sp>
        <p:nvSpPr>
          <p:cNvPr id="29" name="正方形/長方形 28"/>
          <p:cNvSpPr/>
          <p:nvPr/>
        </p:nvSpPr>
        <p:spPr bwMode="auto">
          <a:xfrm>
            <a:off x="5375992" y="2888994"/>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b="1" dirty="0">
                <a:solidFill>
                  <a:schemeClr val="accent6"/>
                </a:solidFill>
                <a:latin typeface="+mn-ea"/>
              </a:rPr>
              <a:t>メモリ</a:t>
            </a:r>
            <a:endParaRPr lang="en-US" altLang="ja-JP" sz="1100" b="1" dirty="0">
              <a:solidFill>
                <a:schemeClr val="accent6"/>
              </a:solidFill>
              <a:latin typeface="+mn-ea"/>
            </a:endParaRPr>
          </a:p>
          <a:p>
            <a:pPr algn="ctr"/>
            <a:r>
              <a:rPr lang="ja-JP" altLang="en-US" sz="1100" b="1" dirty="0">
                <a:solidFill>
                  <a:schemeClr val="accent6"/>
                </a:solidFill>
                <a:latin typeface="+mn-ea"/>
              </a:rPr>
              <a:t>保護違反</a:t>
            </a:r>
          </a:p>
        </p:txBody>
      </p:sp>
      <p:sp>
        <p:nvSpPr>
          <p:cNvPr id="30" name="正方形/長方形 29"/>
          <p:cNvSpPr/>
          <p:nvPr/>
        </p:nvSpPr>
        <p:spPr bwMode="auto">
          <a:xfrm>
            <a:off x="6096000" y="2888994"/>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accent6"/>
                </a:solidFill>
                <a:latin typeface="+mn-ea"/>
              </a:rPr>
              <a:t>I2 </a:t>
            </a:r>
            <a:r>
              <a:rPr lang="ja-JP" altLang="en-US" sz="1400" b="1" dirty="0">
                <a:solidFill>
                  <a:schemeClr val="accent6"/>
                </a:solidFill>
                <a:latin typeface="+mn-ea"/>
              </a:rPr>
              <a:t>の</a:t>
            </a:r>
            <a:r>
              <a:rPr lang="en-US" altLang="ja-JP" sz="1400" b="1" dirty="0">
                <a:solidFill>
                  <a:schemeClr val="accent6"/>
                </a:solidFill>
                <a:latin typeface="+mn-ea"/>
              </a:rPr>
              <a:t>PC</a:t>
            </a:r>
            <a:endParaRPr lang="ja-JP" altLang="en-US" sz="1400" b="1" dirty="0">
              <a:solidFill>
                <a:schemeClr val="accent6"/>
              </a:solidFill>
              <a:latin typeface="+mn-ea"/>
            </a:endParaRPr>
          </a:p>
        </p:txBody>
      </p:sp>
      <p:sp>
        <p:nvSpPr>
          <p:cNvPr id="31" name="正方形/長方形 30"/>
          <p:cNvSpPr/>
          <p:nvPr/>
        </p:nvSpPr>
        <p:spPr bwMode="auto">
          <a:xfrm>
            <a:off x="4655984" y="3248998"/>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１</a:t>
            </a:r>
          </a:p>
        </p:txBody>
      </p:sp>
      <p:sp>
        <p:nvSpPr>
          <p:cNvPr id="32" name="正方形/長方形 31"/>
          <p:cNvSpPr/>
          <p:nvPr/>
        </p:nvSpPr>
        <p:spPr bwMode="auto">
          <a:xfrm>
            <a:off x="5375992" y="3248998"/>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メモリ</a:t>
            </a:r>
            <a:br>
              <a:rPr lang="en-US" altLang="ja-JP" sz="1100" dirty="0">
                <a:solidFill>
                  <a:schemeClr val="tx1">
                    <a:lumMod val="75000"/>
                    <a:lumOff val="25000"/>
                  </a:schemeClr>
                </a:solidFill>
                <a:latin typeface="+mn-ea"/>
              </a:rPr>
            </a:br>
            <a:r>
              <a:rPr lang="ja-JP" altLang="en-US" sz="1100" dirty="0">
                <a:solidFill>
                  <a:schemeClr val="tx1">
                    <a:lumMod val="75000"/>
                    <a:lumOff val="25000"/>
                  </a:schemeClr>
                </a:solidFill>
                <a:latin typeface="+mn-ea"/>
              </a:rPr>
              <a:t>保護違反</a:t>
            </a:r>
          </a:p>
        </p:txBody>
      </p:sp>
      <p:sp>
        <p:nvSpPr>
          <p:cNvPr id="33" name="正方形/長方形 32"/>
          <p:cNvSpPr/>
          <p:nvPr/>
        </p:nvSpPr>
        <p:spPr bwMode="auto">
          <a:xfrm>
            <a:off x="6096000" y="3248998"/>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I3 </a:t>
            </a:r>
            <a:r>
              <a:rPr lang="ja-JP" altLang="en-US" sz="1400" dirty="0">
                <a:solidFill>
                  <a:schemeClr val="tx1">
                    <a:lumMod val="75000"/>
                    <a:lumOff val="25000"/>
                  </a:schemeClr>
                </a:solidFill>
                <a:latin typeface="+mn-ea"/>
              </a:rPr>
              <a:t>の</a:t>
            </a:r>
            <a:r>
              <a:rPr lang="en-US" altLang="ja-JP" sz="1400" dirty="0">
                <a:solidFill>
                  <a:schemeClr val="tx1">
                    <a:lumMod val="75000"/>
                    <a:lumOff val="25000"/>
                  </a:schemeClr>
                </a:solidFill>
                <a:latin typeface="+mn-ea"/>
              </a:rPr>
              <a:t>PC</a:t>
            </a:r>
            <a:endParaRPr lang="ja-JP" altLang="en-US" sz="1400" dirty="0">
              <a:solidFill>
                <a:schemeClr val="tx1">
                  <a:lumMod val="75000"/>
                  <a:lumOff val="25000"/>
                </a:schemeClr>
              </a:solidFill>
              <a:latin typeface="+mn-ea"/>
            </a:endParaRPr>
          </a:p>
        </p:txBody>
      </p:sp>
      <p:sp>
        <p:nvSpPr>
          <p:cNvPr id="34" name="正方形/長方形 33"/>
          <p:cNvSpPr/>
          <p:nvPr/>
        </p:nvSpPr>
        <p:spPr bwMode="auto">
          <a:xfrm>
            <a:off x="4655984" y="3609002"/>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5" name="正方形/長方形 34"/>
          <p:cNvSpPr/>
          <p:nvPr/>
        </p:nvSpPr>
        <p:spPr bwMode="auto">
          <a:xfrm>
            <a:off x="5375992" y="3609002"/>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6" name="正方形/長方形 35"/>
          <p:cNvSpPr/>
          <p:nvPr/>
        </p:nvSpPr>
        <p:spPr bwMode="auto">
          <a:xfrm>
            <a:off x="6096000" y="3609002"/>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7" name="正方形/長方形 36"/>
          <p:cNvSpPr/>
          <p:nvPr/>
        </p:nvSpPr>
        <p:spPr bwMode="auto">
          <a:xfrm>
            <a:off x="4655984" y="396900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8" name="正方形/長方形 37"/>
          <p:cNvSpPr/>
          <p:nvPr/>
        </p:nvSpPr>
        <p:spPr bwMode="auto">
          <a:xfrm>
            <a:off x="5375992" y="396900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9" name="正方形/長方形 38"/>
          <p:cNvSpPr/>
          <p:nvPr/>
        </p:nvSpPr>
        <p:spPr bwMode="auto">
          <a:xfrm>
            <a:off x="6096000" y="3969006"/>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0" name="正方形/長方形 39"/>
          <p:cNvSpPr/>
          <p:nvPr/>
        </p:nvSpPr>
        <p:spPr bwMode="auto">
          <a:xfrm>
            <a:off x="4655984" y="432901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1" name="正方形/長方形 40"/>
          <p:cNvSpPr/>
          <p:nvPr/>
        </p:nvSpPr>
        <p:spPr bwMode="auto">
          <a:xfrm>
            <a:off x="5375992" y="432901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2" name="正方形/長方形 41"/>
          <p:cNvSpPr/>
          <p:nvPr/>
        </p:nvSpPr>
        <p:spPr bwMode="auto">
          <a:xfrm>
            <a:off x="6096000" y="4329010"/>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3" name="正方形/長方形 42"/>
          <p:cNvSpPr/>
          <p:nvPr/>
        </p:nvSpPr>
        <p:spPr bwMode="auto">
          <a:xfrm>
            <a:off x="4205980" y="252899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6"/>
                </a:solidFill>
                <a:latin typeface="Consolas" panose="020B0609020204030204" pitchFamily="49" charset="0"/>
              </a:rPr>
              <a:t>I1</a:t>
            </a:r>
            <a:endParaRPr lang="ja-JP" altLang="en-US" sz="1600" dirty="0">
              <a:solidFill>
                <a:schemeClr val="accent6"/>
              </a:solidFill>
              <a:latin typeface="+mn-ea"/>
            </a:endParaRPr>
          </a:p>
        </p:txBody>
      </p:sp>
      <p:sp>
        <p:nvSpPr>
          <p:cNvPr id="44" name="正方形/長方形 43"/>
          <p:cNvSpPr/>
          <p:nvPr/>
        </p:nvSpPr>
        <p:spPr bwMode="auto">
          <a:xfrm>
            <a:off x="4205980" y="288899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6"/>
                </a:solidFill>
                <a:latin typeface="Consolas" panose="020B0609020204030204" pitchFamily="49" charset="0"/>
              </a:rPr>
              <a:t>I2</a:t>
            </a:r>
            <a:endParaRPr lang="ja-JP" altLang="en-US" sz="1600" dirty="0">
              <a:solidFill>
                <a:schemeClr val="accent6"/>
              </a:solidFill>
              <a:latin typeface="+mn-ea"/>
            </a:endParaRPr>
          </a:p>
        </p:txBody>
      </p:sp>
      <p:sp>
        <p:nvSpPr>
          <p:cNvPr id="45" name="正方形/長方形 44"/>
          <p:cNvSpPr/>
          <p:nvPr/>
        </p:nvSpPr>
        <p:spPr bwMode="auto">
          <a:xfrm>
            <a:off x="4205980" y="324899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6"/>
                </a:solidFill>
                <a:latin typeface="Consolas" panose="020B0609020204030204" pitchFamily="49" charset="0"/>
              </a:rPr>
              <a:t>I3</a:t>
            </a:r>
            <a:endParaRPr lang="ja-JP" altLang="en-US" sz="1600" dirty="0">
              <a:solidFill>
                <a:schemeClr val="accent6"/>
              </a:solidFill>
              <a:latin typeface="+mn-ea"/>
            </a:endParaRPr>
          </a:p>
        </p:txBody>
      </p:sp>
      <p:sp>
        <p:nvSpPr>
          <p:cNvPr id="46" name="右矢印 45"/>
          <p:cNvSpPr/>
          <p:nvPr/>
        </p:nvSpPr>
        <p:spPr bwMode="auto">
          <a:xfrm rot="10800000" flipV="1">
            <a:off x="7626017" y="2798993"/>
            <a:ext cx="900010" cy="540006"/>
          </a:xfrm>
          <a:prstGeom prst="rightArrow">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監視</a:t>
            </a:r>
          </a:p>
        </p:txBody>
      </p:sp>
      <p:sp>
        <p:nvSpPr>
          <p:cNvPr id="48" name="角丸四角形 47"/>
          <p:cNvSpPr/>
          <p:nvPr/>
        </p:nvSpPr>
        <p:spPr bwMode="auto">
          <a:xfrm>
            <a:off x="2765819" y="2996354"/>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Consolas" panose="020B0609020204030204" pitchFamily="49" charset="0"/>
              </a:rPr>
              <a:t>I2</a:t>
            </a:r>
            <a:endParaRPr lang="ja-JP" altLang="en-US" dirty="0">
              <a:latin typeface="Consolas" panose="020B0609020204030204" pitchFamily="49" charset="0"/>
            </a:endParaRPr>
          </a:p>
        </p:txBody>
      </p:sp>
    </p:spTree>
    <p:extLst>
      <p:ext uri="{BB962C8B-B14F-4D97-AF65-F5344CB8AC3E}">
        <p14:creationId xmlns:p14="http://schemas.microsoft.com/office/powerpoint/2010/main" val="38735110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ROB </a:t>
            </a:r>
            <a:r>
              <a:rPr kumimoji="1" lang="ja-JP" altLang="en-US" dirty="0"/>
              <a:t>の動作（６）</a:t>
            </a:r>
          </a:p>
        </p:txBody>
      </p:sp>
      <p:sp>
        <p:nvSpPr>
          <p:cNvPr id="3" name="テキスト プレースホルダー 2"/>
          <p:cNvSpPr>
            <a:spLocks noGrp="1"/>
          </p:cNvSpPr>
          <p:nvPr>
            <p:ph type="body" sz="quarter" idx="10"/>
          </p:nvPr>
        </p:nvSpPr>
        <p:spPr>
          <a:xfrm>
            <a:off x="2135956" y="5049019"/>
            <a:ext cx="8280092" cy="1439709"/>
          </a:xfrm>
        </p:spPr>
        <p:txBody>
          <a:bodyPr/>
          <a:lstStyle/>
          <a:p>
            <a:r>
              <a:rPr kumimoji="1" lang="ja-JP" altLang="en-US" dirty="0">
                <a:latin typeface="Consolas" panose="020B0609020204030204" pitchFamily="49" charset="0"/>
              </a:rPr>
              <a:t>監視対象の </a:t>
            </a:r>
            <a:r>
              <a:rPr kumimoji="1" lang="en-US" altLang="ja-JP" dirty="0">
                <a:latin typeface="Consolas" panose="020B0609020204030204" pitchFamily="49" charset="0"/>
              </a:rPr>
              <a:t>I2 </a:t>
            </a:r>
            <a:r>
              <a:rPr kumimoji="1" lang="ja-JP" altLang="en-US" dirty="0">
                <a:latin typeface="Consolas" panose="020B0609020204030204" pitchFamily="49" charset="0"/>
              </a:rPr>
              <a:t>のエントリが完了</a:t>
            </a:r>
            <a:r>
              <a:rPr lang="ja-JP" altLang="en-US" dirty="0">
                <a:latin typeface="Consolas" panose="020B0609020204030204" pitchFamily="49" charset="0"/>
              </a:rPr>
              <a:t>している</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例外コードが記録されているので例外の処理を行う</a:t>
            </a:r>
            <a:endParaRPr kumimoji="1" lang="en-US" altLang="ja-JP" dirty="0">
              <a:latin typeface="Consolas" panose="020B0609020204030204" pitchFamily="49" charset="0"/>
            </a:endParaRPr>
          </a:p>
          <a:p>
            <a:pPr lvl="2"/>
            <a:r>
              <a:rPr kumimoji="1" lang="en-US" altLang="ja-JP" dirty="0">
                <a:latin typeface="Consolas" panose="020B0609020204030204" pitchFamily="49" charset="0"/>
              </a:rPr>
              <a:t>PC </a:t>
            </a:r>
            <a:r>
              <a:rPr kumimoji="1" lang="ja-JP" altLang="en-US" dirty="0">
                <a:latin typeface="Consolas" panose="020B0609020204030204" pitchFamily="49" charset="0"/>
              </a:rPr>
              <a:t>を例外ハンドラのアドレスに書き換え</a:t>
            </a:r>
            <a:endParaRPr kumimoji="1" lang="en-US" altLang="ja-JP" dirty="0">
              <a:latin typeface="Consolas" panose="020B0609020204030204" pitchFamily="49" charset="0"/>
            </a:endParaRPr>
          </a:p>
          <a:p>
            <a:pPr lvl="2"/>
            <a:r>
              <a:rPr kumimoji="1" lang="ja-JP" altLang="en-US" dirty="0">
                <a:latin typeface="Consolas" panose="020B0609020204030204" pitchFamily="49" charset="0"/>
              </a:rPr>
              <a:t>後で戻ってこれるように </a:t>
            </a:r>
            <a:r>
              <a:rPr kumimoji="1" lang="en-US" altLang="ja-JP" dirty="0">
                <a:latin typeface="Consolas" panose="020B0609020204030204" pitchFamily="49" charset="0"/>
              </a:rPr>
              <a:t>I2 </a:t>
            </a:r>
            <a:r>
              <a:rPr kumimoji="1" lang="ja-JP" altLang="en-US" dirty="0">
                <a:latin typeface="Consolas" panose="020B0609020204030204" pitchFamily="49" charset="0"/>
              </a:rPr>
              <a:t>の </a:t>
            </a:r>
            <a:r>
              <a:rPr kumimoji="1" lang="en-US" altLang="ja-JP" dirty="0">
                <a:latin typeface="Consolas" panose="020B0609020204030204" pitchFamily="49" charset="0"/>
              </a:rPr>
              <a:t>PC </a:t>
            </a:r>
            <a:r>
              <a:rPr kumimoji="1" lang="ja-JP" altLang="en-US" dirty="0">
                <a:latin typeface="Consolas" panose="020B0609020204030204" pitchFamily="49" charset="0"/>
              </a:rPr>
              <a:t>を特別なレジスタに保存</a:t>
            </a:r>
            <a:endParaRPr kumimoji="1" lang="en-US" altLang="ja-JP" dirty="0">
              <a:latin typeface="Consolas" panose="020B0609020204030204" pitchFamily="49" charset="0"/>
            </a:endParaRPr>
          </a:p>
          <a:p>
            <a:pPr lvl="1"/>
            <a:r>
              <a:rPr kumimoji="1" lang="en-US" altLang="ja-JP" dirty="0">
                <a:latin typeface="Consolas" panose="020B0609020204030204" pitchFamily="49" charset="0"/>
              </a:rPr>
              <a:t>I3 </a:t>
            </a:r>
            <a:r>
              <a:rPr kumimoji="1" lang="ja-JP" altLang="en-US" dirty="0">
                <a:latin typeface="Consolas" panose="020B0609020204030204" pitchFamily="49" charset="0"/>
              </a:rPr>
              <a:t>以降を全部取り消し</a:t>
            </a:r>
            <a:endParaRPr kumimoji="1" lang="en-US" altLang="ja-JP" dirty="0">
              <a:latin typeface="Consolas" panose="020B0609020204030204" pitchFamily="49" charset="0"/>
            </a:endParaRPr>
          </a:p>
        </p:txBody>
      </p:sp>
      <p:grpSp>
        <p:nvGrpSpPr>
          <p:cNvPr id="4" name="グループ化 3"/>
          <p:cNvGrpSpPr/>
          <p:nvPr/>
        </p:nvGrpSpPr>
        <p:grpSpPr>
          <a:xfrm>
            <a:off x="2315958" y="3176356"/>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8076022" y="3158997"/>
            <a:ext cx="1584176"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 name="正方形/長方形 9"/>
          <p:cNvSpPr/>
          <p:nvPr/>
        </p:nvSpPr>
        <p:spPr>
          <a:xfrm>
            <a:off x="2279685" y="233039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1" name="正方形/長方形 10"/>
          <p:cNvSpPr/>
          <p:nvPr/>
        </p:nvSpPr>
        <p:spPr>
          <a:xfrm>
            <a:off x="8526028" y="234898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2" name="正方形/長方形 11"/>
          <p:cNvSpPr/>
          <p:nvPr/>
        </p:nvSpPr>
        <p:spPr>
          <a:xfrm>
            <a:off x="5645996" y="818971"/>
            <a:ext cx="937991" cy="738664"/>
          </a:xfrm>
          <a:prstGeom prst="rect">
            <a:avLst/>
          </a:prstGeom>
        </p:spPr>
        <p:txBody>
          <a:bodyPr wrap="square">
            <a:spAutoFit/>
          </a:bodyPr>
          <a:lstStyle/>
          <a:p>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l-GR"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4655984" y="2168986"/>
            <a:ext cx="2879888" cy="252002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 name="角丸四角形吹き出し 14"/>
          <p:cNvSpPr/>
          <p:nvPr/>
        </p:nvSpPr>
        <p:spPr bwMode="auto">
          <a:xfrm>
            <a:off x="7986021"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コミット・パイプ</a:t>
            </a:r>
            <a:endParaRPr lang="ja-JP" altLang="en-US" dirty="0">
              <a:solidFill>
                <a:schemeClr val="accent5"/>
              </a:solidFill>
            </a:endParaRPr>
          </a:p>
        </p:txBody>
      </p:sp>
      <p:sp>
        <p:nvSpPr>
          <p:cNvPr id="18" name="角丸四角形吹き出し 17"/>
          <p:cNvSpPr/>
          <p:nvPr/>
        </p:nvSpPr>
        <p:spPr bwMode="auto">
          <a:xfrm>
            <a:off x="2315958" y="3806364"/>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バックエンド</a:t>
            </a:r>
          </a:p>
        </p:txBody>
      </p:sp>
      <p:sp>
        <p:nvSpPr>
          <p:cNvPr id="19" name="正方形/長方形 18"/>
          <p:cNvSpPr/>
          <p:nvPr/>
        </p:nvSpPr>
        <p:spPr bwMode="auto">
          <a:xfrm>
            <a:off x="4655984" y="216898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0" name="正方形/長方形 19"/>
          <p:cNvSpPr/>
          <p:nvPr/>
        </p:nvSpPr>
        <p:spPr bwMode="auto">
          <a:xfrm>
            <a:off x="5375992" y="216898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1" name="正方形/長方形 20"/>
          <p:cNvSpPr/>
          <p:nvPr/>
        </p:nvSpPr>
        <p:spPr bwMode="auto">
          <a:xfrm>
            <a:off x="6096000" y="2168986"/>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2" name="正方形/長方形 21"/>
          <p:cNvSpPr/>
          <p:nvPr/>
        </p:nvSpPr>
        <p:spPr bwMode="auto">
          <a:xfrm>
            <a:off x="4565984"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完了</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フラグ</a:t>
            </a:r>
          </a:p>
        </p:txBody>
      </p:sp>
      <p:sp>
        <p:nvSpPr>
          <p:cNvPr id="23" name="正方形/長方形 22"/>
          <p:cNvSpPr/>
          <p:nvPr/>
        </p:nvSpPr>
        <p:spPr bwMode="auto">
          <a:xfrm>
            <a:off x="5285992"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例外</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コード</a:t>
            </a:r>
          </a:p>
        </p:txBody>
      </p:sp>
      <p:sp>
        <p:nvSpPr>
          <p:cNvPr id="24" name="正方形/長方形 23"/>
          <p:cNvSpPr/>
          <p:nvPr/>
        </p:nvSpPr>
        <p:spPr bwMode="auto">
          <a:xfrm>
            <a:off x="6096001"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br>
              <a:rPr lang="en-US" altLang="ja-JP" sz="1600" dirty="0">
                <a:solidFill>
                  <a:schemeClr val="tx1">
                    <a:lumMod val="75000"/>
                    <a:lumOff val="25000"/>
                  </a:schemeClr>
                </a:solidFill>
                <a:latin typeface="+mn-ea"/>
              </a:rPr>
            </a:b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25" name="正方形/長方形 24"/>
          <p:cNvSpPr/>
          <p:nvPr/>
        </p:nvSpPr>
        <p:spPr bwMode="auto">
          <a:xfrm>
            <a:off x="4655984" y="252899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1</a:t>
            </a:r>
            <a:endParaRPr lang="ja-JP" altLang="en-US" dirty="0">
              <a:solidFill>
                <a:schemeClr val="tx1">
                  <a:lumMod val="75000"/>
                  <a:lumOff val="25000"/>
                </a:schemeClr>
              </a:solidFill>
              <a:latin typeface="+mn-ea"/>
            </a:endParaRPr>
          </a:p>
        </p:txBody>
      </p:sp>
      <p:sp>
        <p:nvSpPr>
          <p:cNvPr id="26" name="正方形/長方形 25"/>
          <p:cNvSpPr/>
          <p:nvPr/>
        </p:nvSpPr>
        <p:spPr bwMode="auto">
          <a:xfrm>
            <a:off x="5375992" y="252899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7" name="正方形/長方形 26"/>
          <p:cNvSpPr/>
          <p:nvPr/>
        </p:nvSpPr>
        <p:spPr bwMode="auto">
          <a:xfrm>
            <a:off x="6096000" y="2528990"/>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8" name="正方形/長方形 27"/>
          <p:cNvSpPr/>
          <p:nvPr/>
        </p:nvSpPr>
        <p:spPr bwMode="auto">
          <a:xfrm>
            <a:off x="4655984" y="2888994"/>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6"/>
                </a:solidFill>
                <a:latin typeface="+mn-ea"/>
              </a:rPr>
              <a:t>1</a:t>
            </a:r>
            <a:endParaRPr lang="ja-JP" altLang="en-US" b="1" dirty="0">
              <a:solidFill>
                <a:schemeClr val="accent6"/>
              </a:solidFill>
              <a:latin typeface="+mn-ea"/>
            </a:endParaRPr>
          </a:p>
        </p:txBody>
      </p:sp>
      <p:sp>
        <p:nvSpPr>
          <p:cNvPr id="29" name="正方形/長方形 28"/>
          <p:cNvSpPr/>
          <p:nvPr/>
        </p:nvSpPr>
        <p:spPr bwMode="auto">
          <a:xfrm>
            <a:off x="5375992" y="2888994"/>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b="1" dirty="0">
                <a:solidFill>
                  <a:schemeClr val="accent6"/>
                </a:solidFill>
                <a:latin typeface="+mn-ea"/>
              </a:rPr>
              <a:t>メモリ</a:t>
            </a:r>
            <a:endParaRPr lang="en-US" altLang="ja-JP" sz="1100" b="1" dirty="0">
              <a:solidFill>
                <a:schemeClr val="accent6"/>
              </a:solidFill>
              <a:latin typeface="+mn-ea"/>
            </a:endParaRPr>
          </a:p>
          <a:p>
            <a:pPr algn="ctr"/>
            <a:r>
              <a:rPr lang="ja-JP" altLang="en-US" sz="1100" b="1" dirty="0">
                <a:solidFill>
                  <a:schemeClr val="accent6"/>
                </a:solidFill>
                <a:latin typeface="+mn-ea"/>
              </a:rPr>
              <a:t>保護違反</a:t>
            </a:r>
          </a:p>
        </p:txBody>
      </p:sp>
      <p:sp>
        <p:nvSpPr>
          <p:cNvPr id="30" name="正方形/長方形 29"/>
          <p:cNvSpPr/>
          <p:nvPr/>
        </p:nvSpPr>
        <p:spPr bwMode="auto">
          <a:xfrm>
            <a:off x="6096000" y="2888994"/>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accent6"/>
                </a:solidFill>
                <a:latin typeface="+mn-ea"/>
              </a:rPr>
              <a:t>I2 </a:t>
            </a:r>
            <a:r>
              <a:rPr lang="ja-JP" altLang="en-US" sz="1400" b="1" dirty="0">
                <a:solidFill>
                  <a:schemeClr val="accent6"/>
                </a:solidFill>
                <a:latin typeface="+mn-ea"/>
              </a:rPr>
              <a:t>の</a:t>
            </a:r>
            <a:r>
              <a:rPr lang="en-US" altLang="ja-JP" sz="1400" b="1" dirty="0">
                <a:solidFill>
                  <a:schemeClr val="accent6"/>
                </a:solidFill>
                <a:latin typeface="+mn-ea"/>
              </a:rPr>
              <a:t>PC</a:t>
            </a:r>
            <a:endParaRPr lang="ja-JP" altLang="en-US" sz="1400" b="1" dirty="0">
              <a:solidFill>
                <a:schemeClr val="accent6"/>
              </a:solidFill>
              <a:latin typeface="+mn-ea"/>
            </a:endParaRPr>
          </a:p>
        </p:txBody>
      </p:sp>
      <p:sp>
        <p:nvSpPr>
          <p:cNvPr id="31" name="正方形/長方形 30"/>
          <p:cNvSpPr/>
          <p:nvPr/>
        </p:nvSpPr>
        <p:spPr bwMode="auto">
          <a:xfrm>
            <a:off x="4655984" y="3248998"/>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１</a:t>
            </a:r>
          </a:p>
        </p:txBody>
      </p:sp>
      <p:sp>
        <p:nvSpPr>
          <p:cNvPr id="32" name="正方形/長方形 31"/>
          <p:cNvSpPr/>
          <p:nvPr/>
        </p:nvSpPr>
        <p:spPr bwMode="auto">
          <a:xfrm>
            <a:off x="5375992" y="3248998"/>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メモリ</a:t>
            </a:r>
            <a:br>
              <a:rPr lang="en-US" altLang="ja-JP" sz="1100" dirty="0">
                <a:solidFill>
                  <a:schemeClr val="tx1">
                    <a:lumMod val="75000"/>
                    <a:lumOff val="25000"/>
                  </a:schemeClr>
                </a:solidFill>
                <a:latin typeface="+mn-ea"/>
              </a:rPr>
            </a:br>
            <a:r>
              <a:rPr lang="ja-JP" altLang="en-US" sz="1100" dirty="0">
                <a:solidFill>
                  <a:schemeClr val="tx1">
                    <a:lumMod val="75000"/>
                    <a:lumOff val="25000"/>
                  </a:schemeClr>
                </a:solidFill>
                <a:latin typeface="+mn-ea"/>
              </a:rPr>
              <a:t>保護違反</a:t>
            </a:r>
          </a:p>
        </p:txBody>
      </p:sp>
      <p:sp>
        <p:nvSpPr>
          <p:cNvPr id="33" name="正方形/長方形 32"/>
          <p:cNvSpPr/>
          <p:nvPr/>
        </p:nvSpPr>
        <p:spPr bwMode="auto">
          <a:xfrm>
            <a:off x="6096000" y="3248998"/>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4" name="正方形/長方形 33"/>
          <p:cNvSpPr/>
          <p:nvPr/>
        </p:nvSpPr>
        <p:spPr bwMode="auto">
          <a:xfrm>
            <a:off x="4655984" y="3609002"/>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5" name="正方形/長方形 34"/>
          <p:cNvSpPr/>
          <p:nvPr/>
        </p:nvSpPr>
        <p:spPr bwMode="auto">
          <a:xfrm>
            <a:off x="5375992" y="3609002"/>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6" name="正方形/長方形 35"/>
          <p:cNvSpPr/>
          <p:nvPr/>
        </p:nvSpPr>
        <p:spPr bwMode="auto">
          <a:xfrm>
            <a:off x="6096000" y="3609002"/>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7" name="正方形/長方形 36"/>
          <p:cNvSpPr/>
          <p:nvPr/>
        </p:nvSpPr>
        <p:spPr bwMode="auto">
          <a:xfrm>
            <a:off x="4655984" y="396900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8" name="正方形/長方形 37"/>
          <p:cNvSpPr/>
          <p:nvPr/>
        </p:nvSpPr>
        <p:spPr bwMode="auto">
          <a:xfrm>
            <a:off x="5375992" y="3969006"/>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39" name="正方形/長方形 38"/>
          <p:cNvSpPr/>
          <p:nvPr/>
        </p:nvSpPr>
        <p:spPr bwMode="auto">
          <a:xfrm>
            <a:off x="6096000" y="3969006"/>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0" name="正方形/長方形 39"/>
          <p:cNvSpPr/>
          <p:nvPr/>
        </p:nvSpPr>
        <p:spPr bwMode="auto">
          <a:xfrm>
            <a:off x="4655984" y="432901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1" name="正方形/長方形 40"/>
          <p:cNvSpPr/>
          <p:nvPr/>
        </p:nvSpPr>
        <p:spPr bwMode="auto">
          <a:xfrm>
            <a:off x="5375992" y="4329010"/>
            <a:ext cx="720008"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2" name="正方形/長方形 41"/>
          <p:cNvSpPr/>
          <p:nvPr/>
        </p:nvSpPr>
        <p:spPr bwMode="auto">
          <a:xfrm>
            <a:off x="6096000" y="4329010"/>
            <a:ext cx="1440016" cy="360004"/>
          </a:xfrm>
          <a:prstGeom prst="rect">
            <a:avLst/>
          </a:prstGeom>
          <a:noFill/>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3" name="正方形/長方形 42"/>
          <p:cNvSpPr/>
          <p:nvPr/>
        </p:nvSpPr>
        <p:spPr bwMode="auto">
          <a:xfrm>
            <a:off x="4205980" y="252899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6"/>
                </a:solidFill>
                <a:latin typeface="Consolas" panose="020B0609020204030204" pitchFamily="49" charset="0"/>
              </a:rPr>
              <a:t>I1</a:t>
            </a:r>
            <a:endParaRPr lang="ja-JP" altLang="en-US" sz="1600" dirty="0">
              <a:solidFill>
                <a:schemeClr val="accent6"/>
              </a:solidFill>
              <a:latin typeface="+mn-ea"/>
            </a:endParaRPr>
          </a:p>
        </p:txBody>
      </p:sp>
      <p:sp>
        <p:nvSpPr>
          <p:cNvPr id="44" name="正方形/長方形 43"/>
          <p:cNvSpPr/>
          <p:nvPr/>
        </p:nvSpPr>
        <p:spPr bwMode="auto">
          <a:xfrm>
            <a:off x="4205980" y="288899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6"/>
                </a:solidFill>
                <a:latin typeface="Consolas" panose="020B0609020204030204" pitchFamily="49" charset="0"/>
              </a:rPr>
              <a:t>I2</a:t>
            </a:r>
            <a:endParaRPr lang="ja-JP" altLang="en-US" sz="1600" dirty="0">
              <a:solidFill>
                <a:schemeClr val="accent6"/>
              </a:solidFill>
              <a:latin typeface="+mn-ea"/>
            </a:endParaRPr>
          </a:p>
        </p:txBody>
      </p:sp>
      <p:sp>
        <p:nvSpPr>
          <p:cNvPr id="45" name="正方形/長方形 44"/>
          <p:cNvSpPr/>
          <p:nvPr/>
        </p:nvSpPr>
        <p:spPr bwMode="auto">
          <a:xfrm>
            <a:off x="4205980" y="324899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6"/>
                </a:solidFill>
                <a:latin typeface="Consolas" panose="020B0609020204030204" pitchFamily="49" charset="0"/>
              </a:rPr>
              <a:t>I3</a:t>
            </a:r>
            <a:endParaRPr lang="ja-JP" altLang="en-US" sz="1600" dirty="0">
              <a:solidFill>
                <a:schemeClr val="accent6"/>
              </a:solidFill>
              <a:latin typeface="+mn-ea"/>
            </a:endParaRPr>
          </a:p>
        </p:txBody>
      </p:sp>
      <p:sp>
        <p:nvSpPr>
          <p:cNvPr id="46" name="右矢印 45"/>
          <p:cNvSpPr/>
          <p:nvPr/>
        </p:nvSpPr>
        <p:spPr bwMode="auto">
          <a:xfrm rot="10800000" flipV="1">
            <a:off x="7626017" y="2798993"/>
            <a:ext cx="900010" cy="540006"/>
          </a:xfrm>
          <a:prstGeom prst="rightArrow">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監視</a:t>
            </a:r>
          </a:p>
        </p:txBody>
      </p:sp>
    </p:spTree>
    <p:extLst>
      <p:ext uri="{BB962C8B-B14F-4D97-AF65-F5344CB8AC3E}">
        <p14:creationId xmlns:p14="http://schemas.microsoft.com/office/powerpoint/2010/main" val="7836768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分岐予測ミスへの対処</a:t>
            </a:r>
          </a:p>
        </p:txBody>
      </p:sp>
      <p:sp>
        <p:nvSpPr>
          <p:cNvPr id="3" name="テキスト プレースホルダー 2"/>
          <p:cNvSpPr>
            <a:spLocks noGrp="1"/>
          </p:cNvSpPr>
          <p:nvPr>
            <p:ph type="body" sz="quarter" idx="10"/>
          </p:nvPr>
        </p:nvSpPr>
        <p:spPr/>
        <p:txBody>
          <a:bodyPr/>
          <a:lstStyle/>
          <a:p>
            <a:r>
              <a:rPr lang="ja-JP" altLang="en-US" dirty="0"/>
              <a:t>分岐予測ミスもこれと同様に回復可能</a:t>
            </a:r>
            <a:endParaRPr lang="en-US" altLang="ja-JP" dirty="0"/>
          </a:p>
          <a:p>
            <a:pPr lvl="1"/>
            <a:r>
              <a:rPr lang="en-US" altLang="ja-JP" dirty="0"/>
              <a:t>ROB </a:t>
            </a:r>
            <a:r>
              <a:rPr lang="ja-JP" altLang="en-US" dirty="0"/>
              <a:t>に分岐予測がミスであったことと，</a:t>
            </a:r>
            <a:r>
              <a:rPr lang="ja-JP" altLang="en-US" dirty="0">
                <a:solidFill>
                  <a:schemeClr val="accent5"/>
                </a:solidFill>
              </a:rPr>
              <a:t>正しい飛び先</a:t>
            </a:r>
            <a:r>
              <a:rPr lang="ja-JP" altLang="en-US" dirty="0"/>
              <a:t>を格納</a:t>
            </a:r>
            <a:endParaRPr lang="en-US" altLang="ja-JP" dirty="0"/>
          </a:p>
          <a:p>
            <a:pPr lvl="2"/>
            <a:r>
              <a:rPr lang="ja-JP" altLang="en-US" dirty="0"/>
              <a:t>メモリ保護違反では，その命令の </a:t>
            </a:r>
            <a:r>
              <a:rPr lang="en-US" altLang="ja-JP" dirty="0"/>
              <a:t>PC </a:t>
            </a:r>
            <a:r>
              <a:rPr lang="ja-JP" altLang="en-US" dirty="0"/>
              <a:t>を格納していた</a:t>
            </a:r>
          </a:p>
          <a:p>
            <a:pPr lvl="1"/>
            <a:r>
              <a:rPr kumimoji="1" lang="ja-JP" altLang="en-US" dirty="0"/>
              <a:t>「予測がミスであった」という例外コードを書く</a:t>
            </a:r>
            <a:endParaRPr kumimoji="1" lang="en-US" altLang="ja-JP" dirty="0"/>
          </a:p>
          <a:p>
            <a:pPr lvl="1"/>
            <a:r>
              <a:rPr lang="ja-JP" altLang="en-US" dirty="0"/>
              <a:t>コミット・パイプで </a:t>
            </a:r>
            <a:r>
              <a:rPr lang="en-US" altLang="ja-JP" dirty="0"/>
              <a:t>PC </a:t>
            </a:r>
            <a:r>
              <a:rPr lang="ja-JP" altLang="en-US" dirty="0"/>
              <a:t>を正しい飛び先に更新</a:t>
            </a:r>
            <a:endParaRPr lang="en-US" altLang="ja-JP" dirty="0"/>
          </a:p>
          <a:p>
            <a:r>
              <a:rPr kumimoji="1" lang="ja-JP" altLang="en-US" dirty="0"/>
              <a:t>コミット時までまってから回復だと遅いため，</a:t>
            </a:r>
            <a:br>
              <a:rPr kumimoji="1" lang="en-US" altLang="ja-JP" dirty="0"/>
            </a:br>
            <a:r>
              <a:rPr kumimoji="1" lang="ja-JP" altLang="en-US" dirty="0"/>
              <a:t>命令の完了時に </a:t>
            </a:r>
            <a:r>
              <a:rPr kumimoji="1" lang="en-US" altLang="ja-JP" dirty="0"/>
              <a:t>out-of-order </a:t>
            </a:r>
            <a:r>
              <a:rPr kumimoji="1" lang="ja-JP" altLang="en-US" dirty="0"/>
              <a:t>に回復を行うこともある</a:t>
            </a:r>
            <a:endParaRPr kumimoji="1" lang="en-US" altLang="ja-JP" dirty="0"/>
          </a:p>
          <a:p>
            <a:pPr lvl="1"/>
            <a:r>
              <a:rPr kumimoji="1" lang="ja-JP" altLang="en-US" dirty="0"/>
              <a:t>すべての予測ミスの回復を行えば，最終的に辻褄はあう</a:t>
            </a:r>
          </a:p>
        </p:txBody>
      </p:sp>
    </p:spTree>
    <p:extLst>
      <p:ext uri="{BB962C8B-B14F-4D97-AF65-F5344CB8AC3E}">
        <p14:creationId xmlns:p14="http://schemas.microsoft.com/office/powerpoint/2010/main" val="1501775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ROB </a:t>
            </a:r>
            <a:r>
              <a:rPr kumimoji="1" lang="ja-JP" altLang="en-US" dirty="0"/>
              <a:t>のまとめ</a:t>
            </a:r>
          </a:p>
        </p:txBody>
      </p:sp>
      <p:sp>
        <p:nvSpPr>
          <p:cNvPr id="3" name="テキスト プレースホルダー 2"/>
          <p:cNvSpPr>
            <a:spLocks noGrp="1"/>
          </p:cNvSpPr>
          <p:nvPr>
            <p:ph type="body" sz="quarter" idx="10"/>
          </p:nvPr>
        </p:nvSpPr>
        <p:spPr>
          <a:xfrm>
            <a:off x="2135956" y="4059315"/>
            <a:ext cx="8280092" cy="2339719"/>
          </a:xfrm>
        </p:spPr>
        <p:txBody>
          <a:bodyPr/>
          <a:lstStyle/>
          <a:p>
            <a:r>
              <a:rPr kumimoji="1" lang="en-US" altLang="ja-JP" dirty="0"/>
              <a:t>ROB </a:t>
            </a:r>
            <a:r>
              <a:rPr kumimoji="1" lang="ja-JP" altLang="en-US" dirty="0"/>
              <a:t>の動作</a:t>
            </a:r>
            <a:endParaRPr kumimoji="1" lang="en-US" altLang="ja-JP" dirty="0"/>
          </a:p>
          <a:p>
            <a:pPr lvl="1"/>
            <a:r>
              <a:rPr kumimoji="1" lang="ja-JP" altLang="en-US" dirty="0"/>
              <a:t>バックエンドから </a:t>
            </a:r>
            <a:r>
              <a:rPr kumimoji="1" lang="en-US" altLang="ja-JP" dirty="0"/>
              <a:t>out-of-order </a:t>
            </a:r>
            <a:r>
              <a:rPr kumimoji="1" lang="ja-JP" altLang="en-US" dirty="0"/>
              <a:t>に完了状態を書き込み</a:t>
            </a:r>
            <a:endParaRPr kumimoji="1" lang="en-US" altLang="ja-JP" dirty="0"/>
          </a:p>
          <a:p>
            <a:pPr lvl="1"/>
            <a:r>
              <a:rPr kumimoji="1" lang="ja-JP" altLang="en-US" dirty="0"/>
              <a:t>コミット・パイプで </a:t>
            </a:r>
            <a:r>
              <a:rPr kumimoji="1" lang="en-US" altLang="ja-JP" dirty="0"/>
              <a:t>in-order </a:t>
            </a:r>
            <a:r>
              <a:rPr kumimoji="1" lang="ja-JP" altLang="en-US" dirty="0"/>
              <a:t>に読み出す</a:t>
            </a:r>
            <a:endParaRPr kumimoji="1" lang="en-US" altLang="ja-JP" dirty="0"/>
          </a:p>
          <a:p>
            <a:pPr lvl="2"/>
            <a:r>
              <a:rPr kumimoji="1" lang="ja-JP" altLang="en-US" dirty="0"/>
              <a:t>元のプログラム順に実行したときの状態を再現</a:t>
            </a:r>
          </a:p>
        </p:txBody>
      </p:sp>
      <p:grpSp>
        <p:nvGrpSpPr>
          <p:cNvPr id="4" name="グループ化 3"/>
          <p:cNvGrpSpPr/>
          <p:nvPr/>
        </p:nvGrpSpPr>
        <p:grpSpPr>
          <a:xfrm>
            <a:off x="1955954" y="2348988"/>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4385981" y="2348988"/>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5826141" y="2348988"/>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8346025" y="2348988"/>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1917794" y="148444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4347821" y="1484445"/>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5789868" y="1503029"/>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8796031" y="1538979"/>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0" name="正方形/長方形 19"/>
          <p:cNvSpPr/>
          <p:nvPr/>
        </p:nvSpPr>
        <p:spPr bwMode="auto">
          <a:xfrm>
            <a:off x="3665973" y="1988985"/>
            <a:ext cx="630007" cy="135001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vert"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発行キュー</a:t>
            </a:r>
          </a:p>
        </p:txBody>
      </p:sp>
      <p:cxnSp>
        <p:nvCxnSpPr>
          <p:cNvPr id="21" name="直線矢印コネクタ 20"/>
          <p:cNvCxnSpPr/>
          <p:nvPr/>
        </p:nvCxnSpPr>
        <p:spPr bwMode="auto">
          <a:xfrm flipH="1">
            <a:off x="1955955" y="3086355"/>
            <a:ext cx="1530017" cy="0"/>
          </a:xfrm>
          <a:prstGeom prst="straightConnector1">
            <a:avLst/>
          </a:prstGeom>
          <a:ln>
            <a:solidFill>
              <a:schemeClr val="tx1">
                <a:lumMod val="75000"/>
                <a:lumOff val="25000"/>
              </a:schemeClr>
            </a:solidFill>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22" name="角丸四角形吹き出し 21"/>
          <p:cNvSpPr/>
          <p:nvPr/>
        </p:nvSpPr>
        <p:spPr bwMode="auto">
          <a:xfrm>
            <a:off x="1865953" y="3176357"/>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latin typeface="Arial Narrow" panose="020B0606020202030204" pitchFamily="34" charset="0"/>
              </a:rPr>
              <a:t>フロントエンド</a:t>
            </a:r>
            <a:endParaRPr lang="en-US" altLang="ja-JP" dirty="0">
              <a:solidFill>
                <a:schemeClr val="tx1">
                  <a:lumMod val="75000"/>
                  <a:lumOff val="25000"/>
                </a:schemeClr>
              </a:solidFill>
              <a:latin typeface="Arial Narrow" panose="020B0606020202030204" pitchFamily="34" charset="0"/>
            </a:endParaRPr>
          </a:p>
          <a:p>
            <a:r>
              <a:rPr lang="en-US" altLang="ja-JP" dirty="0">
                <a:solidFill>
                  <a:schemeClr val="tx1">
                    <a:lumMod val="75000"/>
                    <a:lumOff val="25000"/>
                  </a:schemeClr>
                </a:solidFill>
              </a:rPr>
              <a:t>in-order</a:t>
            </a:r>
            <a:endParaRPr lang="ja-JP" altLang="en-US" dirty="0">
              <a:solidFill>
                <a:schemeClr val="tx1">
                  <a:lumMod val="75000"/>
                  <a:lumOff val="25000"/>
                </a:schemeClr>
              </a:solidFill>
            </a:endParaRPr>
          </a:p>
        </p:txBody>
      </p:sp>
      <p:cxnSp>
        <p:nvCxnSpPr>
          <p:cNvPr id="23" name="直線矢印コネクタ 22"/>
          <p:cNvCxnSpPr/>
          <p:nvPr/>
        </p:nvCxnSpPr>
        <p:spPr bwMode="auto">
          <a:xfrm flipH="1">
            <a:off x="4385839" y="3068997"/>
            <a:ext cx="2880175" cy="17359"/>
          </a:xfrm>
          <a:prstGeom prst="straightConnector1">
            <a:avLst/>
          </a:prstGeom>
          <a:ln>
            <a:solidFill>
              <a:schemeClr val="tx1">
                <a:lumMod val="75000"/>
                <a:lumOff val="25000"/>
              </a:schemeClr>
            </a:solidFill>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24" name="角丸四角形吹き出し 23"/>
          <p:cNvSpPr/>
          <p:nvPr/>
        </p:nvSpPr>
        <p:spPr bwMode="auto">
          <a:xfrm>
            <a:off x="4925843" y="3158998"/>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バックエンド</a:t>
            </a:r>
            <a:br>
              <a:rPr lang="en-US" altLang="ja-JP" dirty="0">
                <a:solidFill>
                  <a:schemeClr val="tx1">
                    <a:lumMod val="75000"/>
                    <a:lumOff val="25000"/>
                  </a:schemeClr>
                </a:solidFill>
              </a:rPr>
            </a:br>
            <a:r>
              <a:rPr lang="en-US" altLang="ja-JP" dirty="0">
                <a:solidFill>
                  <a:schemeClr val="tx1">
                    <a:lumMod val="75000"/>
                    <a:lumOff val="25000"/>
                  </a:schemeClr>
                </a:solidFill>
              </a:rPr>
              <a:t>out-of-order</a:t>
            </a:r>
            <a:endParaRPr lang="ja-JP" altLang="en-US" dirty="0">
              <a:solidFill>
                <a:schemeClr val="tx1">
                  <a:lumMod val="75000"/>
                  <a:lumOff val="25000"/>
                </a:schemeClr>
              </a:solidFill>
            </a:endParaRPr>
          </a:p>
        </p:txBody>
      </p:sp>
      <p:sp>
        <p:nvSpPr>
          <p:cNvPr id="25" name="正方形/長方形 24"/>
          <p:cNvSpPr/>
          <p:nvPr/>
        </p:nvSpPr>
        <p:spPr>
          <a:xfrm>
            <a:off x="3575973" y="1268976"/>
            <a:ext cx="865983" cy="738664"/>
          </a:xfrm>
          <a:prstGeom prst="rect">
            <a:avLst/>
          </a:prstGeom>
        </p:spPr>
        <p:txBody>
          <a:bodyPr wrap="square">
            <a:spAutoFit/>
          </a:bodyPr>
          <a:lstStyle/>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6" name="正方形/長方形 25"/>
          <p:cNvSpPr/>
          <p:nvPr/>
        </p:nvSpPr>
        <p:spPr>
          <a:xfrm>
            <a:off x="7446016" y="1268976"/>
            <a:ext cx="937991" cy="738664"/>
          </a:xfrm>
          <a:prstGeom prst="rect">
            <a:avLst/>
          </a:prstGeom>
        </p:spPr>
        <p:txBody>
          <a:bodyPr wrap="square">
            <a:spAutoFit/>
          </a:bodyPr>
          <a:lstStyle/>
          <a:p>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l-GR"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7" name="正方形/長方形 26"/>
          <p:cNvSpPr/>
          <p:nvPr/>
        </p:nvSpPr>
        <p:spPr bwMode="auto">
          <a:xfrm>
            <a:off x="7536017" y="1988985"/>
            <a:ext cx="630007"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ROB</a:t>
            </a:r>
            <a:endParaRPr lang="ja-JP" altLang="en-US" dirty="0">
              <a:solidFill>
                <a:schemeClr val="tx1">
                  <a:lumMod val="75000"/>
                  <a:lumOff val="25000"/>
                </a:schemeClr>
              </a:solidFill>
              <a:latin typeface="+mn-ea"/>
            </a:endParaRPr>
          </a:p>
        </p:txBody>
      </p:sp>
      <p:cxnSp>
        <p:nvCxnSpPr>
          <p:cNvPr id="28" name="直線矢印コネクタ 27"/>
          <p:cNvCxnSpPr/>
          <p:nvPr/>
        </p:nvCxnSpPr>
        <p:spPr bwMode="auto">
          <a:xfrm flipH="1">
            <a:off x="8346028" y="3068997"/>
            <a:ext cx="1710017" cy="17359"/>
          </a:xfrm>
          <a:prstGeom prst="straightConnector1">
            <a:avLst/>
          </a:prstGeom>
          <a:ln>
            <a:solidFill>
              <a:schemeClr val="tx1">
                <a:lumMod val="75000"/>
                <a:lumOff val="25000"/>
              </a:schemeClr>
            </a:solidFill>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29" name="角丸四角形吹き出し 28"/>
          <p:cNvSpPr/>
          <p:nvPr/>
        </p:nvSpPr>
        <p:spPr bwMode="auto">
          <a:xfrm>
            <a:off x="8256024" y="3158998"/>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コミット・パイプ</a:t>
            </a:r>
            <a:br>
              <a:rPr lang="en-US" altLang="ja-JP" dirty="0">
                <a:solidFill>
                  <a:schemeClr val="tx1">
                    <a:lumMod val="75000"/>
                    <a:lumOff val="25000"/>
                  </a:schemeClr>
                </a:solidFill>
              </a:rPr>
            </a:br>
            <a:r>
              <a:rPr lang="en-US" altLang="ja-JP" dirty="0">
                <a:solidFill>
                  <a:schemeClr val="tx1">
                    <a:lumMod val="75000"/>
                    <a:lumOff val="25000"/>
                  </a:schemeClr>
                </a:solidFill>
              </a:rPr>
              <a:t>in-order</a:t>
            </a:r>
            <a:endParaRPr lang="ja-JP" altLang="en-US" dirty="0">
              <a:solidFill>
                <a:schemeClr val="tx1">
                  <a:lumMod val="75000"/>
                  <a:lumOff val="25000"/>
                </a:schemeClr>
              </a:solidFill>
            </a:endParaRPr>
          </a:p>
        </p:txBody>
      </p:sp>
    </p:spTree>
    <p:extLst>
      <p:ext uri="{BB962C8B-B14F-4D97-AF65-F5344CB8AC3E}">
        <p14:creationId xmlns:p14="http://schemas.microsoft.com/office/powerpoint/2010/main" val="19423388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今回の内容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動的スケジューリングの詳細</a:t>
            </a:r>
            <a:endParaRPr lang="en-US" altLang="ja-JP" dirty="0"/>
          </a:p>
          <a:p>
            <a:pPr marL="817200" lvl="1" indent="-457200">
              <a:buFont typeface="+mj-lt"/>
              <a:buAutoNum type="arabicPeriod"/>
            </a:pPr>
            <a:r>
              <a:rPr lang="ja-JP" altLang="en-US" dirty="0"/>
              <a:t>例外への対応</a:t>
            </a:r>
            <a:endParaRPr lang="en-US" altLang="ja-JP" dirty="0"/>
          </a:p>
          <a:p>
            <a:pPr marL="817200" lvl="1" indent="-457200">
              <a:buFont typeface="+mj-lt"/>
              <a:buAutoNum type="arabicPeriod"/>
            </a:pPr>
            <a:r>
              <a:rPr lang="ja-JP" altLang="en-US" b="1" dirty="0"/>
              <a:t>ロード・ストアへの対応</a:t>
            </a:r>
            <a:endParaRPr lang="en-US" altLang="ja-JP" b="1" dirty="0"/>
          </a:p>
        </p:txBody>
      </p:sp>
    </p:spTree>
    <p:extLst>
      <p:ext uri="{BB962C8B-B14F-4D97-AF65-F5344CB8AC3E}">
        <p14:creationId xmlns:p14="http://schemas.microsoft.com/office/powerpoint/2010/main" val="16052447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ロード・ストアへの対応</a:t>
            </a:r>
          </a:p>
        </p:txBody>
      </p:sp>
      <p:sp>
        <p:nvSpPr>
          <p:cNvPr id="3" name="テキスト プレースホルダー 2"/>
          <p:cNvSpPr>
            <a:spLocks noGrp="1"/>
          </p:cNvSpPr>
          <p:nvPr>
            <p:ph type="body" sz="quarter" idx="10"/>
          </p:nvPr>
        </p:nvSpPr>
        <p:spPr/>
        <p:txBody>
          <a:bodyPr/>
          <a:lstStyle/>
          <a:p>
            <a:r>
              <a:rPr kumimoji="1" lang="ja-JP" altLang="en-US" dirty="0"/>
              <a:t>命令の発行が </a:t>
            </a:r>
            <a:r>
              <a:rPr kumimoji="1" lang="en-US" altLang="ja-JP" dirty="0"/>
              <a:t>out-of-order </a:t>
            </a:r>
          </a:p>
          <a:p>
            <a:pPr lvl="1"/>
            <a:r>
              <a:rPr kumimoji="1" lang="ja-JP" altLang="en-US" dirty="0"/>
              <a:t>発行の順序はレジスタによる真の依存のみを守る</a:t>
            </a:r>
            <a:endParaRPr kumimoji="1" lang="en-US" altLang="ja-JP" dirty="0"/>
          </a:p>
          <a:p>
            <a:pPr lvl="1"/>
            <a:r>
              <a:rPr kumimoji="1" lang="ja-JP" altLang="en-US" dirty="0"/>
              <a:t>ロードやストアのアクセス先アドレスは関知しない</a:t>
            </a:r>
            <a:br>
              <a:rPr kumimoji="1" lang="en-US" altLang="ja-JP" dirty="0"/>
            </a:br>
            <a:r>
              <a:rPr kumimoji="1" lang="en-US" altLang="ja-JP" dirty="0"/>
              <a:t>= </a:t>
            </a:r>
            <a:r>
              <a:rPr kumimoji="1" lang="ja-JP" altLang="en-US" dirty="0"/>
              <a:t>実行の正しさが保たれない場合がある</a:t>
            </a:r>
          </a:p>
        </p:txBody>
      </p:sp>
    </p:spTree>
    <p:extLst>
      <p:ext uri="{BB962C8B-B14F-4D97-AF65-F5344CB8AC3E}">
        <p14:creationId xmlns:p14="http://schemas.microsoft.com/office/powerpoint/2010/main" val="24997227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実行結果がおかしくなる例</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ストア→ロード間の順序の違反</a:t>
            </a:r>
            <a:endParaRPr lang="en-US" altLang="ja-JP" dirty="0"/>
          </a:p>
          <a:p>
            <a:pPr lvl="1"/>
            <a:r>
              <a:rPr lang="ja-JP" altLang="en-US" dirty="0"/>
              <a:t>同じアドレスに対するストアとロードの順序が変わる場合</a:t>
            </a:r>
            <a:endParaRPr lang="en-US" altLang="ja-JP" dirty="0"/>
          </a:p>
          <a:p>
            <a:pPr lvl="1"/>
            <a:r>
              <a:rPr lang="en-US" altLang="ja-JP" dirty="0">
                <a:latin typeface="Consolas" panose="020B0609020204030204" pitchFamily="49" charset="0"/>
              </a:rPr>
              <a:t>I2</a:t>
            </a:r>
            <a:r>
              <a:rPr lang="ja-JP" altLang="en-US" dirty="0">
                <a:latin typeface="Consolas" panose="020B0609020204030204" pitchFamily="49" charset="0"/>
              </a:rPr>
              <a:t>→</a:t>
            </a:r>
            <a:r>
              <a:rPr lang="en-US" altLang="ja-JP" dirty="0">
                <a:latin typeface="Consolas" panose="020B0609020204030204" pitchFamily="49" charset="0"/>
              </a:rPr>
              <a:t>I1 </a:t>
            </a:r>
            <a:r>
              <a:rPr lang="ja-JP" altLang="en-US" dirty="0">
                <a:latin typeface="Consolas" panose="020B0609020204030204" pitchFamily="49" charset="0"/>
              </a:rPr>
              <a:t>の順で発行されると，</a:t>
            </a:r>
            <a:r>
              <a:rPr lang="en-US" altLang="ja-JP" dirty="0">
                <a:latin typeface="Consolas" panose="020B0609020204030204" pitchFamily="49" charset="0"/>
              </a:rPr>
              <a:t>x1 </a:t>
            </a:r>
            <a:r>
              <a:rPr lang="ja-JP" altLang="en-US" dirty="0">
                <a:latin typeface="Consolas" panose="020B0609020204030204" pitchFamily="49" charset="0"/>
              </a:rPr>
              <a:t>が書かれる前の値が </a:t>
            </a:r>
            <a:r>
              <a:rPr lang="en-US" altLang="ja-JP" dirty="0">
                <a:latin typeface="Consolas" panose="020B0609020204030204" pitchFamily="49" charset="0"/>
              </a:rPr>
              <a:t>x2 </a:t>
            </a:r>
            <a:r>
              <a:rPr lang="ja-JP" altLang="en-US" dirty="0">
                <a:latin typeface="Consolas" panose="020B0609020204030204" pitchFamily="49" charset="0"/>
              </a:rPr>
              <a:t>に</a:t>
            </a:r>
            <a:endParaRPr lang="en-US" altLang="ja-JP" dirty="0"/>
          </a:p>
          <a:p>
            <a:pPr marL="720000" lvl="2" indent="0">
              <a:buNone/>
            </a:pPr>
            <a:r>
              <a:rPr lang="en-US" altLang="ja-JP" dirty="0">
                <a:latin typeface="Consolas" panose="020B0609020204030204" pitchFamily="49" charset="0"/>
              </a:rPr>
              <a:t>I1: </a:t>
            </a:r>
            <a:r>
              <a:rPr lang="en-US" altLang="ja-JP" dirty="0" err="1">
                <a:solidFill>
                  <a:schemeClr val="accent5"/>
                </a:solidFill>
                <a:latin typeface="Consolas" panose="020B0609020204030204" pitchFamily="49" charset="0"/>
              </a:rPr>
              <a:t>sw</a:t>
            </a:r>
            <a:r>
              <a:rPr lang="en-US" altLang="ja-JP" dirty="0">
                <a:latin typeface="Consolas" panose="020B0609020204030204" pitchFamily="49" charset="0"/>
              </a:rPr>
              <a:t> x1</a:t>
            </a:r>
            <a:r>
              <a:rPr lang="ja-JP" altLang="en-US" dirty="0">
                <a:latin typeface="Consolas" panose="020B0609020204030204" pitchFamily="49" charset="0"/>
              </a:rPr>
              <a:t>→</a:t>
            </a:r>
            <a:r>
              <a:rPr lang="en-US" altLang="ja-JP" dirty="0">
                <a:latin typeface="Consolas" panose="020B0609020204030204" pitchFamily="49" charset="0"/>
              </a:rPr>
              <a:t>(</a:t>
            </a:r>
            <a:r>
              <a:rPr lang="en-US" altLang="ja-JP" dirty="0">
                <a:solidFill>
                  <a:schemeClr val="accent5"/>
                </a:solidFill>
                <a:latin typeface="Consolas" panose="020B0609020204030204" pitchFamily="49" charset="0"/>
              </a:rPr>
              <a:t>0x1000</a:t>
            </a:r>
            <a:r>
              <a:rPr lang="en-US" altLang="ja-JP" dirty="0">
                <a:latin typeface="Consolas" panose="020B0609020204030204" pitchFamily="49" charset="0"/>
              </a:rPr>
              <a:t>)</a:t>
            </a:r>
          </a:p>
          <a:p>
            <a:pPr marL="720000" lvl="2" indent="0">
              <a:buNone/>
            </a:pPr>
            <a:r>
              <a:rPr lang="en-US" altLang="ja-JP" dirty="0">
                <a:latin typeface="Consolas" panose="020B0609020204030204" pitchFamily="49" charset="0"/>
              </a:rPr>
              <a:t>I2: </a:t>
            </a:r>
            <a:r>
              <a:rPr lang="en-US" altLang="ja-JP" dirty="0" err="1">
                <a:solidFill>
                  <a:schemeClr val="accent5"/>
                </a:solidFill>
                <a:latin typeface="Consolas" panose="020B0609020204030204" pitchFamily="49" charset="0"/>
              </a:rPr>
              <a:t>lw</a:t>
            </a:r>
            <a:r>
              <a:rPr lang="en-US" altLang="ja-JP" dirty="0">
                <a:latin typeface="Consolas" panose="020B0609020204030204" pitchFamily="49" charset="0"/>
              </a:rPr>
              <a:t> x2</a:t>
            </a:r>
            <a:r>
              <a:rPr lang="ja-JP" altLang="en-US" dirty="0">
                <a:latin typeface="Consolas" panose="020B0609020204030204" pitchFamily="49" charset="0"/>
              </a:rPr>
              <a:t>←</a:t>
            </a:r>
            <a:r>
              <a:rPr lang="en-US" altLang="ja-JP" dirty="0">
                <a:latin typeface="Consolas" panose="020B0609020204030204" pitchFamily="49" charset="0"/>
              </a:rPr>
              <a:t>(</a:t>
            </a:r>
            <a:r>
              <a:rPr lang="en-US" altLang="ja-JP" dirty="0">
                <a:solidFill>
                  <a:schemeClr val="accent5"/>
                </a:solidFill>
                <a:latin typeface="Consolas" panose="020B0609020204030204" pitchFamily="49" charset="0"/>
              </a:rPr>
              <a:t>0x1000</a:t>
            </a:r>
            <a:r>
              <a:rPr lang="en-US" altLang="ja-JP" dirty="0">
                <a:latin typeface="Consolas" panose="020B0609020204030204" pitchFamily="49" charset="0"/>
              </a:rPr>
              <a:t>)</a:t>
            </a:r>
          </a:p>
          <a:p>
            <a:pPr marL="457200" indent="-457200">
              <a:buFont typeface="+mj-lt"/>
              <a:buAutoNum type="arabicPeriod"/>
            </a:pPr>
            <a:r>
              <a:rPr lang="ja-JP" altLang="en-US" dirty="0"/>
              <a:t>ロード→ストア間の順序の違反</a:t>
            </a:r>
            <a:endParaRPr lang="en-US" altLang="ja-JP" dirty="0"/>
          </a:p>
          <a:p>
            <a:pPr lvl="1"/>
            <a:r>
              <a:rPr lang="ja-JP" altLang="en-US" dirty="0"/>
              <a:t>同じアドレスに対するロードとストアの順序が変わる場合</a:t>
            </a:r>
            <a:endParaRPr lang="en-US" altLang="ja-JP" dirty="0"/>
          </a:p>
          <a:p>
            <a:pPr lvl="1"/>
            <a:r>
              <a:rPr lang="en-US" altLang="ja-JP" dirty="0">
                <a:latin typeface="Consolas" panose="020B0609020204030204" pitchFamily="49" charset="0"/>
              </a:rPr>
              <a:t>I2</a:t>
            </a:r>
            <a:r>
              <a:rPr lang="ja-JP" altLang="en-US" dirty="0">
                <a:latin typeface="Consolas" panose="020B0609020204030204" pitchFamily="49" charset="0"/>
              </a:rPr>
              <a:t>→</a:t>
            </a:r>
            <a:r>
              <a:rPr lang="en-US" altLang="ja-JP" dirty="0">
                <a:latin typeface="Consolas" panose="020B0609020204030204" pitchFamily="49" charset="0"/>
              </a:rPr>
              <a:t>I1 </a:t>
            </a:r>
            <a:r>
              <a:rPr lang="ja-JP" altLang="en-US" dirty="0">
                <a:latin typeface="Consolas" panose="020B0609020204030204" pitchFamily="49" charset="0"/>
              </a:rPr>
              <a:t>の順で発行されると，</a:t>
            </a:r>
            <a:r>
              <a:rPr lang="en-US" altLang="ja-JP" dirty="0">
                <a:latin typeface="Consolas" panose="020B0609020204030204" pitchFamily="49" charset="0"/>
              </a:rPr>
              <a:t>x1 </a:t>
            </a:r>
            <a:r>
              <a:rPr lang="ja-JP" altLang="en-US" dirty="0">
                <a:latin typeface="Consolas" panose="020B0609020204030204" pitchFamily="49" charset="0"/>
              </a:rPr>
              <a:t>が書かれた後の値が </a:t>
            </a:r>
            <a:r>
              <a:rPr lang="en-US" altLang="ja-JP" dirty="0">
                <a:latin typeface="Consolas" panose="020B0609020204030204" pitchFamily="49" charset="0"/>
              </a:rPr>
              <a:t>x2 </a:t>
            </a:r>
            <a:r>
              <a:rPr lang="ja-JP" altLang="en-US" dirty="0">
                <a:latin typeface="Consolas" panose="020B0609020204030204" pitchFamily="49" charset="0"/>
              </a:rPr>
              <a:t>に</a:t>
            </a:r>
            <a:endParaRPr lang="en-US" altLang="ja-JP" dirty="0"/>
          </a:p>
          <a:p>
            <a:pPr marL="720000" lvl="2" indent="0">
              <a:buNone/>
            </a:pPr>
            <a:r>
              <a:rPr lang="en-US" altLang="ja-JP" dirty="0">
                <a:latin typeface="Consolas" panose="020B0609020204030204" pitchFamily="49" charset="0"/>
              </a:rPr>
              <a:t>I1: </a:t>
            </a:r>
            <a:r>
              <a:rPr lang="en-US" altLang="ja-JP" dirty="0" err="1">
                <a:solidFill>
                  <a:schemeClr val="accent5"/>
                </a:solidFill>
                <a:latin typeface="Consolas" panose="020B0609020204030204" pitchFamily="49" charset="0"/>
              </a:rPr>
              <a:t>lw</a:t>
            </a:r>
            <a:r>
              <a:rPr lang="en-US" altLang="ja-JP" dirty="0">
                <a:latin typeface="Consolas" panose="020B0609020204030204" pitchFamily="49" charset="0"/>
              </a:rPr>
              <a:t> x2</a:t>
            </a:r>
            <a:r>
              <a:rPr lang="ja-JP" altLang="en-US" dirty="0">
                <a:latin typeface="Consolas" panose="020B0609020204030204" pitchFamily="49" charset="0"/>
              </a:rPr>
              <a:t>←</a:t>
            </a:r>
            <a:r>
              <a:rPr lang="en-US" altLang="ja-JP" dirty="0">
                <a:latin typeface="Consolas" panose="020B0609020204030204" pitchFamily="49" charset="0"/>
              </a:rPr>
              <a:t>(</a:t>
            </a:r>
            <a:r>
              <a:rPr lang="en-US" altLang="ja-JP" dirty="0">
                <a:solidFill>
                  <a:schemeClr val="accent5"/>
                </a:solidFill>
                <a:latin typeface="Consolas" panose="020B0609020204030204" pitchFamily="49" charset="0"/>
              </a:rPr>
              <a:t>0x1000</a:t>
            </a:r>
            <a:r>
              <a:rPr lang="en-US" altLang="ja-JP" dirty="0">
                <a:latin typeface="Consolas" panose="020B0609020204030204" pitchFamily="49" charset="0"/>
              </a:rPr>
              <a:t>)</a:t>
            </a:r>
          </a:p>
          <a:p>
            <a:pPr marL="720000" lvl="2" indent="0">
              <a:buNone/>
            </a:pPr>
            <a:r>
              <a:rPr lang="en-US" altLang="ja-JP" dirty="0">
                <a:latin typeface="Consolas" panose="020B0609020204030204" pitchFamily="49" charset="0"/>
              </a:rPr>
              <a:t>I2: </a:t>
            </a:r>
            <a:r>
              <a:rPr lang="en-US" altLang="ja-JP" dirty="0" err="1">
                <a:solidFill>
                  <a:schemeClr val="accent5"/>
                </a:solidFill>
                <a:latin typeface="Consolas" panose="020B0609020204030204" pitchFamily="49" charset="0"/>
              </a:rPr>
              <a:t>sw</a:t>
            </a:r>
            <a:r>
              <a:rPr lang="en-US" altLang="ja-JP" dirty="0">
                <a:latin typeface="Consolas" panose="020B0609020204030204" pitchFamily="49" charset="0"/>
              </a:rPr>
              <a:t> x1</a:t>
            </a:r>
            <a:r>
              <a:rPr lang="ja-JP" altLang="en-US" dirty="0">
                <a:latin typeface="Consolas" panose="020B0609020204030204" pitchFamily="49" charset="0"/>
              </a:rPr>
              <a:t>→</a:t>
            </a:r>
            <a:r>
              <a:rPr lang="en-US" altLang="ja-JP" dirty="0">
                <a:latin typeface="Consolas" panose="020B0609020204030204" pitchFamily="49" charset="0"/>
              </a:rPr>
              <a:t>(</a:t>
            </a:r>
            <a:r>
              <a:rPr lang="en-US" altLang="ja-JP" dirty="0">
                <a:solidFill>
                  <a:schemeClr val="accent5"/>
                </a:solidFill>
                <a:latin typeface="Consolas" panose="020B0609020204030204" pitchFamily="49" charset="0"/>
              </a:rPr>
              <a:t>0x1000</a:t>
            </a:r>
            <a:r>
              <a:rPr lang="en-US" altLang="ja-JP" dirty="0">
                <a:latin typeface="Consolas" panose="020B0609020204030204" pitchFamily="49" charset="0"/>
              </a:rPr>
              <a:t>)</a:t>
            </a:r>
          </a:p>
          <a:p>
            <a:endParaRPr kumimoji="1" lang="ja-JP" altLang="en-US" dirty="0"/>
          </a:p>
        </p:txBody>
      </p:sp>
    </p:spTree>
    <p:extLst>
      <p:ext uri="{BB962C8B-B14F-4D97-AF65-F5344CB8AC3E}">
        <p14:creationId xmlns:p14="http://schemas.microsoft.com/office/powerpoint/2010/main" val="30151937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実行結果がおかしくなる例</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startAt="3"/>
            </a:pPr>
            <a:r>
              <a:rPr kumimoji="1" lang="ja-JP" altLang="en-US" dirty="0"/>
              <a:t>ストア間の順序の違反</a:t>
            </a:r>
            <a:endParaRPr kumimoji="1" lang="en-US" altLang="ja-JP" dirty="0"/>
          </a:p>
          <a:p>
            <a:pPr lvl="1"/>
            <a:r>
              <a:rPr lang="ja-JP" altLang="en-US" dirty="0">
                <a:latin typeface="Consolas" panose="020B0609020204030204" pitchFamily="49" charset="0"/>
              </a:rPr>
              <a:t>同じアドレスに対する複数のストアの順序が変わる場合</a:t>
            </a:r>
            <a:endParaRPr lang="en-US" altLang="ja-JP" dirty="0">
              <a:latin typeface="Consolas" panose="020B0609020204030204" pitchFamily="49" charset="0"/>
            </a:endParaRPr>
          </a:p>
          <a:p>
            <a:pPr lvl="1"/>
            <a:r>
              <a:rPr lang="en-US" altLang="ja-JP" dirty="0">
                <a:latin typeface="Consolas" panose="020B0609020204030204" pitchFamily="49" charset="0"/>
              </a:rPr>
              <a:t>I2</a:t>
            </a:r>
            <a:r>
              <a:rPr lang="ja-JP" altLang="en-US" dirty="0">
                <a:latin typeface="Consolas" panose="020B0609020204030204" pitchFamily="49" charset="0"/>
              </a:rPr>
              <a:t>→</a:t>
            </a:r>
            <a:r>
              <a:rPr lang="en-US" altLang="ja-JP" dirty="0">
                <a:latin typeface="Consolas" panose="020B0609020204030204" pitchFamily="49" charset="0"/>
              </a:rPr>
              <a:t>I1 </a:t>
            </a:r>
            <a:r>
              <a:rPr lang="ja-JP" altLang="en-US" dirty="0">
                <a:latin typeface="Consolas" panose="020B0609020204030204" pitchFamily="49" charset="0"/>
              </a:rPr>
              <a:t>の順で発行されると，アドレス </a:t>
            </a:r>
            <a:r>
              <a:rPr lang="en-US" altLang="ja-JP" dirty="0">
                <a:latin typeface="Consolas" panose="020B0609020204030204" pitchFamily="49" charset="0"/>
              </a:rPr>
              <a:t>0x1000 </a:t>
            </a:r>
            <a:r>
              <a:rPr lang="ja-JP" altLang="en-US" dirty="0">
                <a:latin typeface="Consolas" panose="020B0609020204030204" pitchFamily="49" charset="0"/>
              </a:rPr>
              <a:t>に </a:t>
            </a:r>
            <a:r>
              <a:rPr lang="en-US" altLang="ja-JP" dirty="0">
                <a:latin typeface="Consolas" panose="020B0609020204030204" pitchFamily="49" charset="0"/>
              </a:rPr>
              <a:t>x1 </a:t>
            </a:r>
            <a:r>
              <a:rPr lang="ja-JP" altLang="en-US" dirty="0">
                <a:latin typeface="Consolas" panose="020B0609020204030204" pitchFamily="49" charset="0"/>
              </a:rPr>
              <a:t>が残る</a:t>
            </a:r>
            <a:endParaRPr kumimoji="1" lang="en-US" altLang="ja-JP" dirty="0"/>
          </a:p>
          <a:p>
            <a:pPr marL="720000" lvl="2" indent="0">
              <a:buNone/>
            </a:pPr>
            <a:r>
              <a:rPr lang="en-US" altLang="ja-JP" dirty="0">
                <a:latin typeface="Consolas" panose="020B0609020204030204" pitchFamily="49" charset="0"/>
              </a:rPr>
              <a:t>I1: </a:t>
            </a:r>
            <a:r>
              <a:rPr lang="en-US" altLang="ja-JP" dirty="0" err="1">
                <a:latin typeface="Consolas" panose="020B0609020204030204" pitchFamily="49" charset="0"/>
              </a:rPr>
              <a:t>sw</a:t>
            </a:r>
            <a:r>
              <a:rPr lang="en-US" altLang="ja-JP" dirty="0">
                <a:latin typeface="Consolas" panose="020B0609020204030204" pitchFamily="49" charset="0"/>
              </a:rPr>
              <a:t> </a:t>
            </a:r>
            <a:r>
              <a:rPr lang="en-US" altLang="ja-JP"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a:t>
            </a:r>
            <a:r>
              <a:rPr lang="en-US" altLang="ja-JP" dirty="0">
                <a:solidFill>
                  <a:schemeClr val="accent5"/>
                </a:solidFill>
                <a:latin typeface="Consolas" panose="020B0609020204030204" pitchFamily="49" charset="0"/>
              </a:rPr>
              <a:t>0x1000</a:t>
            </a:r>
            <a:r>
              <a:rPr lang="en-US" altLang="ja-JP" dirty="0">
                <a:latin typeface="Consolas" panose="020B0609020204030204" pitchFamily="49" charset="0"/>
              </a:rPr>
              <a:t>)</a:t>
            </a:r>
          </a:p>
          <a:p>
            <a:pPr marL="720000" lvl="2" indent="0">
              <a:buNone/>
            </a:pPr>
            <a:r>
              <a:rPr lang="en-US" altLang="ja-JP" dirty="0">
                <a:latin typeface="Consolas" panose="020B0609020204030204" pitchFamily="49" charset="0"/>
              </a:rPr>
              <a:t>I2: </a:t>
            </a:r>
            <a:r>
              <a:rPr lang="en-US" altLang="ja-JP" dirty="0" err="1">
                <a:latin typeface="Consolas" panose="020B0609020204030204" pitchFamily="49" charset="0"/>
              </a:rPr>
              <a:t>sw</a:t>
            </a:r>
            <a:r>
              <a:rPr lang="en-US" altLang="ja-JP" dirty="0">
                <a:latin typeface="Consolas" panose="020B0609020204030204" pitchFamily="49" charset="0"/>
              </a:rPr>
              <a:t> </a:t>
            </a:r>
            <a:r>
              <a:rPr lang="en-US" altLang="ja-JP" dirty="0">
                <a:solidFill>
                  <a:schemeClr val="accent5"/>
                </a:solidFill>
                <a:latin typeface="Consolas" panose="020B0609020204030204" pitchFamily="49" charset="0"/>
              </a:rPr>
              <a:t>x2</a:t>
            </a:r>
            <a:r>
              <a:rPr lang="ja-JP" altLang="en-US" dirty="0">
                <a:latin typeface="Consolas" panose="020B0609020204030204" pitchFamily="49" charset="0"/>
              </a:rPr>
              <a:t>→</a:t>
            </a:r>
            <a:r>
              <a:rPr lang="en-US" altLang="ja-JP" dirty="0">
                <a:latin typeface="Consolas" panose="020B0609020204030204" pitchFamily="49" charset="0"/>
              </a:rPr>
              <a:t>(</a:t>
            </a:r>
            <a:r>
              <a:rPr lang="en-US" altLang="ja-JP" dirty="0">
                <a:solidFill>
                  <a:schemeClr val="accent5"/>
                </a:solidFill>
                <a:latin typeface="Consolas" panose="020B0609020204030204" pitchFamily="49" charset="0"/>
              </a:rPr>
              <a:t>0x1000</a:t>
            </a:r>
            <a:r>
              <a:rPr lang="en-US" altLang="ja-JP" dirty="0">
                <a:latin typeface="Consolas" panose="020B0609020204030204" pitchFamily="49" charset="0"/>
              </a:rPr>
              <a:t>)</a:t>
            </a:r>
          </a:p>
          <a:p>
            <a:endParaRPr kumimoji="1" lang="ja-JP" altLang="en-US" dirty="0"/>
          </a:p>
        </p:txBody>
      </p:sp>
    </p:spTree>
    <p:extLst>
      <p:ext uri="{BB962C8B-B14F-4D97-AF65-F5344CB8AC3E}">
        <p14:creationId xmlns:p14="http://schemas.microsoft.com/office/powerpoint/2010/main" val="14058890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ロード・ストア・キュー（</a:t>
            </a:r>
            <a:r>
              <a:rPr kumimoji="1" lang="en-US" altLang="ja-JP" dirty="0"/>
              <a:t>LSQ: Load Store Queue</a:t>
            </a:r>
            <a:r>
              <a:rPr kumimoji="1" lang="ja-JP" altLang="en-US" dirty="0"/>
              <a:t>）</a:t>
            </a:r>
          </a:p>
        </p:txBody>
      </p:sp>
      <p:sp>
        <p:nvSpPr>
          <p:cNvPr id="3" name="テキスト プレースホルダー 2"/>
          <p:cNvSpPr>
            <a:spLocks noGrp="1"/>
          </p:cNvSpPr>
          <p:nvPr>
            <p:ph type="body" sz="quarter" idx="10"/>
          </p:nvPr>
        </p:nvSpPr>
        <p:spPr>
          <a:xfrm>
            <a:off x="2135956" y="4689321"/>
            <a:ext cx="8280092" cy="1709712"/>
          </a:xfrm>
        </p:spPr>
        <p:txBody>
          <a:bodyPr/>
          <a:lstStyle/>
          <a:p>
            <a:r>
              <a:rPr lang="en-US" altLang="ja-JP" dirty="0"/>
              <a:t>LSQ</a:t>
            </a:r>
            <a:r>
              <a:rPr lang="ja-JP" altLang="en-US" dirty="0"/>
              <a:t>：</a:t>
            </a:r>
            <a:endParaRPr lang="en-US" altLang="ja-JP" dirty="0"/>
          </a:p>
          <a:p>
            <a:pPr lvl="1"/>
            <a:r>
              <a:rPr kumimoji="1" lang="ja-JP" altLang="en-US" dirty="0"/>
              <a:t>ロードやストアの実行結果を完了時に書き込むバッファ</a:t>
            </a:r>
            <a:endParaRPr kumimoji="1" lang="en-US" altLang="ja-JP" dirty="0"/>
          </a:p>
          <a:p>
            <a:pPr lvl="1"/>
            <a:r>
              <a:rPr kumimoji="1" lang="ja-JP" altLang="en-US" dirty="0"/>
              <a:t>バックエンドとコミット・パイプ（とメモリ）の間にある</a:t>
            </a:r>
          </a:p>
        </p:txBody>
      </p:sp>
      <p:grpSp>
        <p:nvGrpSpPr>
          <p:cNvPr id="4" name="グループ化 3"/>
          <p:cNvGrpSpPr/>
          <p:nvPr/>
        </p:nvGrpSpPr>
        <p:grpSpPr>
          <a:xfrm>
            <a:off x="1955954" y="2348988"/>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4385981" y="2348988"/>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5826141" y="2348988"/>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8346025" y="2348988"/>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1917794" y="148444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4347821" y="1484445"/>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5789868" y="1503029"/>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8796031" y="1538979"/>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0" name="正方形/長方形 19"/>
          <p:cNvSpPr/>
          <p:nvPr/>
        </p:nvSpPr>
        <p:spPr bwMode="auto">
          <a:xfrm>
            <a:off x="3665973" y="1988985"/>
            <a:ext cx="630007" cy="135001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vert"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発行キュー</a:t>
            </a:r>
          </a:p>
        </p:txBody>
      </p:sp>
      <p:cxnSp>
        <p:nvCxnSpPr>
          <p:cNvPr id="21" name="直線矢印コネクタ 20"/>
          <p:cNvCxnSpPr/>
          <p:nvPr/>
        </p:nvCxnSpPr>
        <p:spPr bwMode="auto">
          <a:xfrm flipH="1">
            <a:off x="1955955" y="3086355"/>
            <a:ext cx="1530017" cy="0"/>
          </a:xfrm>
          <a:prstGeom prst="straightConnector1">
            <a:avLst/>
          </a:prstGeom>
          <a:ln>
            <a:solidFill>
              <a:schemeClr val="tx1">
                <a:lumMod val="75000"/>
                <a:lumOff val="25000"/>
              </a:schemeClr>
            </a:solidFill>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22" name="角丸四角形吹き出し 21"/>
          <p:cNvSpPr/>
          <p:nvPr/>
        </p:nvSpPr>
        <p:spPr bwMode="auto">
          <a:xfrm>
            <a:off x="1865953" y="3176357"/>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latin typeface="Arial Narrow" panose="020B0606020202030204" pitchFamily="34" charset="0"/>
              </a:rPr>
              <a:t>フロントエンド</a:t>
            </a:r>
            <a:endParaRPr lang="en-US" altLang="ja-JP" dirty="0">
              <a:solidFill>
                <a:schemeClr val="tx1">
                  <a:lumMod val="75000"/>
                  <a:lumOff val="25000"/>
                </a:schemeClr>
              </a:solidFill>
              <a:latin typeface="Arial Narrow" panose="020B0606020202030204" pitchFamily="34" charset="0"/>
            </a:endParaRPr>
          </a:p>
          <a:p>
            <a:r>
              <a:rPr lang="en-US" altLang="ja-JP" dirty="0">
                <a:solidFill>
                  <a:schemeClr val="tx1">
                    <a:lumMod val="75000"/>
                    <a:lumOff val="25000"/>
                  </a:schemeClr>
                </a:solidFill>
              </a:rPr>
              <a:t>in-order</a:t>
            </a:r>
            <a:endParaRPr lang="ja-JP" altLang="en-US" dirty="0">
              <a:solidFill>
                <a:schemeClr val="tx1">
                  <a:lumMod val="75000"/>
                  <a:lumOff val="25000"/>
                </a:schemeClr>
              </a:solidFill>
            </a:endParaRPr>
          </a:p>
        </p:txBody>
      </p:sp>
      <p:cxnSp>
        <p:nvCxnSpPr>
          <p:cNvPr id="23" name="直線矢印コネクタ 22"/>
          <p:cNvCxnSpPr/>
          <p:nvPr/>
        </p:nvCxnSpPr>
        <p:spPr bwMode="auto">
          <a:xfrm flipH="1">
            <a:off x="4385839" y="3068997"/>
            <a:ext cx="2880175" cy="17359"/>
          </a:xfrm>
          <a:prstGeom prst="straightConnector1">
            <a:avLst/>
          </a:prstGeom>
          <a:ln>
            <a:solidFill>
              <a:schemeClr val="tx1">
                <a:lumMod val="75000"/>
                <a:lumOff val="25000"/>
              </a:schemeClr>
            </a:solidFill>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24" name="角丸四角形吹き出し 23"/>
          <p:cNvSpPr/>
          <p:nvPr/>
        </p:nvSpPr>
        <p:spPr bwMode="auto">
          <a:xfrm>
            <a:off x="4925843" y="3158998"/>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バックエンド</a:t>
            </a:r>
            <a:br>
              <a:rPr lang="en-US" altLang="ja-JP" dirty="0">
                <a:solidFill>
                  <a:schemeClr val="tx1">
                    <a:lumMod val="75000"/>
                    <a:lumOff val="25000"/>
                  </a:schemeClr>
                </a:solidFill>
              </a:rPr>
            </a:br>
            <a:r>
              <a:rPr lang="en-US" altLang="ja-JP" dirty="0">
                <a:solidFill>
                  <a:schemeClr val="tx1">
                    <a:lumMod val="75000"/>
                    <a:lumOff val="25000"/>
                  </a:schemeClr>
                </a:solidFill>
              </a:rPr>
              <a:t>out-of-order</a:t>
            </a:r>
            <a:endParaRPr lang="ja-JP" altLang="en-US" dirty="0">
              <a:solidFill>
                <a:schemeClr val="tx1">
                  <a:lumMod val="75000"/>
                  <a:lumOff val="25000"/>
                </a:schemeClr>
              </a:solidFill>
            </a:endParaRPr>
          </a:p>
        </p:txBody>
      </p:sp>
      <p:sp>
        <p:nvSpPr>
          <p:cNvPr id="25" name="正方形/長方形 24"/>
          <p:cNvSpPr/>
          <p:nvPr/>
        </p:nvSpPr>
        <p:spPr>
          <a:xfrm>
            <a:off x="3575973" y="1268976"/>
            <a:ext cx="865983" cy="738664"/>
          </a:xfrm>
          <a:prstGeom prst="rect">
            <a:avLst/>
          </a:prstGeom>
        </p:spPr>
        <p:txBody>
          <a:bodyPr wrap="square">
            <a:spAutoFit/>
          </a:bodyPr>
          <a:lstStyle/>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6" name="正方形/長方形 25"/>
          <p:cNvSpPr/>
          <p:nvPr/>
        </p:nvSpPr>
        <p:spPr>
          <a:xfrm>
            <a:off x="7446016" y="818971"/>
            <a:ext cx="937991" cy="738664"/>
          </a:xfrm>
          <a:prstGeom prst="rect">
            <a:avLst/>
          </a:prstGeom>
        </p:spPr>
        <p:txBody>
          <a:bodyPr wrap="square">
            <a:spAutoFit/>
          </a:bodyPr>
          <a:lstStyle/>
          <a:p>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l-GR"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6">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7" name="正方形/長方形 26"/>
          <p:cNvSpPr/>
          <p:nvPr/>
        </p:nvSpPr>
        <p:spPr bwMode="auto">
          <a:xfrm>
            <a:off x="7536017" y="1538980"/>
            <a:ext cx="630007" cy="1080012"/>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ROB</a:t>
            </a:r>
            <a:endParaRPr lang="ja-JP" altLang="en-US" dirty="0">
              <a:solidFill>
                <a:schemeClr val="tx1">
                  <a:lumMod val="75000"/>
                  <a:lumOff val="25000"/>
                </a:schemeClr>
              </a:solidFill>
              <a:latin typeface="+mn-ea"/>
            </a:endParaRPr>
          </a:p>
        </p:txBody>
      </p:sp>
      <p:cxnSp>
        <p:nvCxnSpPr>
          <p:cNvPr id="28" name="直線矢印コネクタ 27"/>
          <p:cNvCxnSpPr/>
          <p:nvPr/>
        </p:nvCxnSpPr>
        <p:spPr bwMode="auto">
          <a:xfrm flipH="1">
            <a:off x="8346028" y="3068997"/>
            <a:ext cx="1710017" cy="17359"/>
          </a:xfrm>
          <a:prstGeom prst="straightConnector1">
            <a:avLst/>
          </a:prstGeom>
          <a:ln>
            <a:solidFill>
              <a:schemeClr val="tx1">
                <a:lumMod val="75000"/>
                <a:lumOff val="25000"/>
              </a:schemeClr>
            </a:solidFill>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29" name="角丸四角形吹き出し 28"/>
          <p:cNvSpPr/>
          <p:nvPr/>
        </p:nvSpPr>
        <p:spPr bwMode="auto">
          <a:xfrm>
            <a:off x="8256024" y="3158998"/>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コミット・パイプ</a:t>
            </a:r>
            <a:br>
              <a:rPr lang="en-US" altLang="ja-JP" dirty="0">
                <a:solidFill>
                  <a:schemeClr val="tx1">
                    <a:lumMod val="75000"/>
                    <a:lumOff val="25000"/>
                  </a:schemeClr>
                </a:solidFill>
              </a:rPr>
            </a:br>
            <a:r>
              <a:rPr lang="en-US" altLang="ja-JP" dirty="0">
                <a:solidFill>
                  <a:schemeClr val="tx1">
                    <a:lumMod val="75000"/>
                    <a:lumOff val="25000"/>
                  </a:schemeClr>
                </a:solidFill>
              </a:rPr>
              <a:t>in-order</a:t>
            </a:r>
            <a:endParaRPr lang="ja-JP" altLang="en-US" dirty="0">
              <a:solidFill>
                <a:schemeClr val="tx1">
                  <a:lumMod val="75000"/>
                  <a:lumOff val="25000"/>
                </a:schemeClr>
              </a:solidFill>
            </a:endParaRPr>
          </a:p>
        </p:txBody>
      </p:sp>
      <p:sp>
        <p:nvSpPr>
          <p:cNvPr id="30" name="正方形/長方形 29"/>
          <p:cNvSpPr/>
          <p:nvPr/>
        </p:nvSpPr>
        <p:spPr bwMode="auto">
          <a:xfrm>
            <a:off x="7536017" y="2798993"/>
            <a:ext cx="630007" cy="1080012"/>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algn="ctr"/>
            <a:r>
              <a:rPr lang="ja-JP" altLang="en-US" b="1" dirty="0">
                <a:solidFill>
                  <a:schemeClr val="accent1"/>
                </a:solidFill>
                <a:latin typeface="+mn-ea"/>
              </a:rPr>
              <a:t>ＬＳＱ</a:t>
            </a:r>
          </a:p>
        </p:txBody>
      </p:sp>
      <p:sp>
        <p:nvSpPr>
          <p:cNvPr id="31" name="正方形/長方形 30"/>
          <p:cNvSpPr/>
          <p:nvPr/>
        </p:nvSpPr>
        <p:spPr>
          <a:xfrm>
            <a:off x="7408035" y="3879005"/>
            <a:ext cx="937991"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az-Cyrl-AZ"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az-Cyrl-AZ"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az-Cyrl-AZ"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Tree>
    <p:extLst>
      <p:ext uri="{BB962C8B-B14F-4D97-AF65-F5344CB8AC3E}">
        <p14:creationId xmlns:p14="http://schemas.microsoft.com/office/powerpoint/2010/main" val="24347476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LSQ </a:t>
            </a:r>
            <a:r>
              <a:rPr kumimoji="1" lang="ja-JP" altLang="en-US" dirty="0"/>
              <a:t>の役割</a:t>
            </a:r>
          </a:p>
        </p:txBody>
      </p:sp>
      <p:sp>
        <p:nvSpPr>
          <p:cNvPr id="3" name="テキスト プレースホルダー 2"/>
          <p:cNvSpPr>
            <a:spLocks noGrp="1"/>
          </p:cNvSpPr>
          <p:nvPr>
            <p:ph type="body" sz="quarter" idx="10"/>
          </p:nvPr>
        </p:nvSpPr>
        <p:spPr>
          <a:xfrm>
            <a:off x="1775952" y="1088975"/>
            <a:ext cx="8640096" cy="5219751"/>
          </a:xfrm>
        </p:spPr>
        <p:txBody>
          <a:bodyPr/>
          <a:lstStyle/>
          <a:p>
            <a:pPr marL="457200" indent="-457200">
              <a:buFont typeface="+mj-lt"/>
              <a:buAutoNum type="arabicPeriod"/>
            </a:pPr>
            <a:r>
              <a:rPr lang="ja-JP" altLang="en-US" dirty="0"/>
              <a:t>ストアの整列</a:t>
            </a:r>
            <a:endParaRPr lang="en-US" altLang="ja-JP" dirty="0"/>
          </a:p>
          <a:p>
            <a:pPr lvl="1"/>
            <a:r>
              <a:rPr lang="ja-JP" altLang="en-US" dirty="0"/>
              <a:t>複数のストアのデータを保持し，プログラム順にメモリに書き込む</a:t>
            </a:r>
            <a:endParaRPr lang="en-US" altLang="ja-JP" dirty="0"/>
          </a:p>
          <a:p>
            <a:pPr lvl="1"/>
            <a:r>
              <a:rPr lang="ja-JP" altLang="en-US" dirty="0"/>
              <a:t>ストアからロードへのフォワーディング</a:t>
            </a:r>
            <a:endParaRPr lang="en-US" altLang="ja-JP" dirty="0"/>
          </a:p>
          <a:p>
            <a:pPr marL="457200" indent="-457200">
              <a:buFont typeface="+mj-lt"/>
              <a:buAutoNum type="arabicPeriod"/>
            </a:pPr>
            <a:r>
              <a:rPr lang="ja-JP" altLang="en-US" dirty="0"/>
              <a:t>順序違反の検出</a:t>
            </a:r>
          </a:p>
          <a:p>
            <a:pPr lvl="1"/>
            <a:r>
              <a:rPr kumimoji="1" lang="ja-JP" altLang="en-US" dirty="0"/>
              <a:t>プログラムの意味が保たれない順序でアクセスがあった場合に，</a:t>
            </a:r>
            <a:br>
              <a:rPr kumimoji="1" lang="en-US" altLang="ja-JP" dirty="0"/>
            </a:br>
            <a:r>
              <a:rPr kumimoji="1" lang="ja-JP" altLang="en-US" dirty="0"/>
              <a:t>それを検出</a:t>
            </a:r>
            <a:endParaRPr kumimoji="1" lang="en-US" altLang="ja-JP" dirty="0"/>
          </a:p>
          <a:p>
            <a:pPr lvl="1"/>
            <a:r>
              <a:rPr kumimoji="1" lang="ja-JP" altLang="en-US" dirty="0"/>
              <a:t>検出時は分岐予測時と同様にフラッシュしてやりなおす</a:t>
            </a:r>
          </a:p>
        </p:txBody>
      </p:sp>
    </p:spTree>
    <p:extLst>
      <p:ext uri="{BB962C8B-B14F-4D97-AF65-F5344CB8AC3E}">
        <p14:creationId xmlns:p14="http://schemas.microsoft.com/office/powerpoint/2010/main" val="35108402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LSQ </a:t>
            </a:r>
            <a:r>
              <a:rPr kumimoji="1" lang="ja-JP" altLang="en-US" dirty="0"/>
              <a:t>の内容</a:t>
            </a:r>
          </a:p>
        </p:txBody>
      </p:sp>
      <p:sp>
        <p:nvSpPr>
          <p:cNvPr id="3" name="テキスト プレースホルダー 2"/>
          <p:cNvSpPr>
            <a:spLocks noGrp="1"/>
          </p:cNvSpPr>
          <p:nvPr>
            <p:ph type="body" sz="quarter" idx="10"/>
          </p:nvPr>
        </p:nvSpPr>
        <p:spPr/>
        <p:txBody>
          <a:bodyPr/>
          <a:lstStyle/>
          <a:p>
            <a:r>
              <a:rPr lang="en-US" altLang="ja-JP" dirty="0"/>
              <a:t>LSQ</a:t>
            </a:r>
            <a:r>
              <a:rPr lang="ja-JP" altLang="en-US" dirty="0"/>
              <a:t>：</a:t>
            </a:r>
            <a:endParaRPr lang="en-US" altLang="ja-JP" dirty="0"/>
          </a:p>
          <a:p>
            <a:pPr lvl="1"/>
            <a:r>
              <a:rPr lang="ja-JP" altLang="en-US" dirty="0"/>
              <a:t>プログラム順にエントリが確保される </a:t>
            </a:r>
            <a:r>
              <a:rPr lang="en-US" altLang="ja-JP" dirty="0"/>
              <a:t>FIFO</a:t>
            </a:r>
          </a:p>
          <a:p>
            <a:pPr lvl="1"/>
            <a:r>
              <a:rPr lang="en-US" altLang="ja-JP" dirty="0"/>
              <a:t>ROB </a:t>
            </a:r>
            <a:r>
              <a:rPr lang="ja-JP" altLang="en-US" dirty="0"/>
              <a:t>と違い，ロードとストアにのみ割り当てられる</a:t>
            </a:r>
            <a:endParaRPr lang="en-US" altLang="ja-JP" dirty="0"/>
          </a:p>
          <a:p>
            <a:pPr lvl="2"/>
            <a:r>
              <a:rPr lang="ja-JP" altLang="en-US" dirty="0"/>
              <a:t>ロードとストアのために </a:t>
            </a:r>
            <a:r>
              <a:rPr lang="en-US" altLang="ja-JP" dirty="0"/>
              <a:t>ROB </a:t>
            </a:r>
            <a:r>
              <a:rPr lang="ja-JP" altLang="en-US" dirty="0"/>
              <a:t>を拡張したものとも言える</a:t>
            </a:r>
            <a:endParaRPr lang="en-US" altLang="ja-JP" dirty="0"/>
          </a:p>
          <a:p>
            <a:r>
              <a:rPr lang="ja-JP" altLang="en-US" dirty="0"/>
              <a:t>内部にあるフィールド：</a:t>
            </a:r>
            <a:endParaRPr lang="en-US" altLang="ja-JP" dirty="0"/>
          </a:p>
          <a:p>
            <a:pPr marL="817200" lvl="1" indent="-457200">
              <a:buFont typeface="+mj-lt"/>
              <a:buAutoNum type="arabicPeriod"/>
            </a:pPr>
            <a:r>
              <a:rPr lang="ja-JP" altLang="en-US" dirty="0"/>
              <a:t>完了フラグ：</a:t>
            </a:r>
            <a:endParaRPr lang="en-US" altLang="ja-JP" dirty="0"/>
          </a:p>
          <a:p>
            <a:pPr lvl="2"/>
            <a:r>
              <a:rPr lang="ja-JP" altLang="en-US" dirty="0"/>
              <a:t>完了した命令は１を書き込む</a:t>
            </a:r>
            <a:endParaRPr lang="en-US" altLang="ja-JP" dirty="0"/>
          </a:p>
          <a:p>
            <a:pPr marL="817200" lvl="1" indent="-457200">
              <a:buFont typeface="+mj-lt"/>
              <a:buAutoNum type="arabicPeriod"/>
            </a:pPr>
            <a:r>
              <a:rPr lang="ja-JP" altLang="en-US" dirty="0"/>
              <a:t>ロード </a:t>
            </a:r>
            <a:r>
              <a:rPr lang="en-US" altLang="ja-JP" dirty="0"/>
              <a:t>or </a:t>
            </a:r>
            <a:r>
              <a:rPr lang="ja-JP" altLang="en-US" dirty="0"/>
              <a:t>ストア識別のフラグ</a:t>
            </a:r>
            <a:endParaRPr lang="en-US" altLang="ja-JP" dirty="0"/>
          </a:p>
          <a:p>
            <a:pPr marL="817200" lvl="1" indent="-457200">
              <a:buFont typeface="+mj-lt"/>
              <a:buAutoNum type="arabicPeriod"/>
            </a:pPr>
            <a:r>
              <a:rPr lang="ja-JP" altLang="en-US" dirty="0"/>
              <a:t>アドレス</a:t>
            </a:r>
            <a:endParaRPr lang="en-US" altLang="ja-JP" dirty="0"/>
          </a:p>
          <a:p>
            <a:pPr marL="817200" lvl="1" indent="-457200">
              <a:buFont typeface="+mj-lt"/>
              <a:buAutoNum type="arabicPeriod"/>
            </a:pPr>
            <a:r>
              <a:rPr lang="ja-JP" altLang="en-US" dirty="0"/>
              <a:t>データ</a:t>
            </a:r>
            <a:endParaRPr lang="en-US" altLang="ja-JP" dirty="0"/>
          </a:p>
        </p:txBody>
      </p:sp>
    </p:spTree>
    <p:extLst>
      <p:ext uri="{BB962C8B-B14F-4D97-AF65-F5344CB8AC3E}">
        <p14:creationId xmlns:p14="http://schemas.microsoft.com/office/powerpoint/2010/main" val="36427687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LSQ </a:t>
            </a:r>
            <a:r>
              <a:rPr lang="ja-JP" altLang="en-US" dirty="0"/>
              <a:t>の動作</a:t>
            </a:r>
            <a:endParaRPr kumimoji="1" lang="ja-JP" altLang="en-US" dirty="0"/>
          </a:p>
        </p:txBody>
      </p:sp>
      <p:sp>
        <p:nvSpPr>
          <p:cNvPr id="3" name="テキスト プレースホルダー 2"/>
          <p:cNvSpPr>
            <a:spLocks noGrp="1"/>
          </p:cNvSpPr>
          <p:nvPr>
            <p:ph type="body" sz="quarter" idx="10"/>
          </p:nvPr>
        </p:nvSpPr>
        <p:spPr>
          <a:xfrm>
            <a:off x="2135956" y="5229021"/>
            <a:ext cx="8280092" cy="899703"/>
          </a:xfrm>
        </p:spPr>
        <p:txBody>
          <a:bodyPr/>
          <a:lstStyle/>
          <a:p>
            <a:r>
              <a:rPr lang="ja-JP" altLang="en-US" dirty="0"/>
              <a:t>バックエンド側</a:t>
            </a:r>
            <a:endParaRPr lang="en-US" altLang="ja-JP" dirty="0"/>
          </a:p>
          <a:p>
            <a:pPr lvl="1"/>
            <a:r>
              <a:rPr lang="en-US" altLang="ja-JP" dirty="0"/>
              <a:t>LSQ </a:t>
            </a:r>
            <a:r>
              <a:rPr lang="ja-JP" altLang="en-US" dirty="0"/>
              <a:t>に </a:t>
            </a:r>
            <a:r>
              <a:rPr lang="en-US" altLang="ja-JP" dirty="0"/>
              <a:t>in-order </a:t>
            </a:r>
            <a:r>
              <a:rPr lang="ja-JP" altLang="en-US" dirty="0"/>
              <a:t>に命令ごとにエントリを確保</a:t>
            </a:r>
            <a:endParaRPr lang="en-US" altLang="ja-JP" dirty="0"/>
          </a:p>
          <a:p>
            <a:pPr lvl="1"/>
            <a:r>
              <a:rPr lang="ja-JP" altLang="en-US" dirty="0"/>
              <a:t>バックエンドで完了した命令は </a:t>
            </a:r>
            <a:r>
              <a:rPr lang="en-US" altLang="ja-JP" dirty="0"/>
              <a:t>out-of-order </a:t>
            </a:r>
            <a:r>
              <a:rPr lang="ja-JP" altLang="en-US" dirty="0"/>
              <a:t>に書き込みを行う</a:t>
            </a:r>
            <a:endParaRPr lang="en-US" altLang="ja-JP" dirty="0"/>
          </a:p>
          <a:p>
            <a:r>
              <a:rPr lang="ja-JP" altLang="en-US" dirty="0"/>
              <a:t>コミット・パイプ側</a:t>
            </a:r>
            <a:endParaRPr lang="en-US" altLang="ja-JP" dirty="0"/>
          </a:p>
          <a:p>
            <a:pPr lvl="1"/>
            <a:r>
              <a:rPr lang="en-US" altLang="ja-JP" dirty="0"/>
              <a:t>in-order </a:t>
            </a:r>
            <a:r>
              <a:rPr lang="ja-JP" altLang="en-US" dirty="0"/>
              <a:t>に「ここまで完了した」部分を監視</a:t>
            </a:r>
            <a:endParaRPr kumimoji="1" lang="ja-JP" altLang="en-US" dirty="0"/>
          </a:p>
        </p:txBody>
      </p:sp>
      <p:grpSp>
        <p:nvGrpSpPr>
          <p:cNvPr id="4" name="グループ化 3"/>
          <p:cNvGrpSpPr/>
          <p:nvPr/>
        </p:nvGrpSpPr>
        <p:grpSpPr>
          <a:xfrm>
            <a:off x="2315958" y="3176356"/>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8076022" y="3158997"/>
            <a:ext cx="1584176"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 name="正方形/長方形 9"/>
          <p:cNvSpPr/>
          <p:nvPr/>
        </p:nvSpPr>
        <p:spPr>
          <a:xfrm>
            <a:off x="2279685" y="233039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1" name="正方形/長方形 10"/>
          <p:cNvSpPr/>
          <p:nvPr/>
        </p:nvSpPr>
        <p:spPr>
          <a:xfrm>
            <a:off x="8526028" y="234898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4655984" y="2168986"/>
            <a:ext cx="2879888" cy="2520028"/>
          </a:xfrm>
          <a:prstGeom prst="rect">
            <a:avLst/>
          </a:prstGeom>
          <a:ln>
            <a:solidFill>
              <a:schemeClr val="accent1"/>
            </a:solidFill>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 name="角丸四角形吹き出し 13"/>
          <p:cNvSpPr/>
          <p:nvPr/>
        </p:nvSpPr>
        <p:spPr bwMode="auto">
          <a:xfrm>
            <a:off x="7986021"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コミット・パイプ</a:t>
            </a:r>
            <a:endParaRPr lang="ja-JP" altLang="en-US" dirty="0">
              <a:solidFill>
                <a:schemeClr val="accent5"/>
              </a:solidFill>
            </a:endParaRPr>
          </a:p>
        </p:txBody>
      </p:sp>
      <p:sp>
        <p:nvSpPr>
          <p:cNvPr id="15" name="角丸四角形吹き出し 14"/>
          <p:cNvSpPr/>
          <p:nvPr/>
        </p:nvSpPr>
        <p:spPr bwMode="auto">
          <a:xfrm>
            <a:off x="2315958" y="3806364"/>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バックエンド</a:t>
            </a:r>
          </a:p>
        </p:txBody>
      </p:sp>
      <p:sp>
        <p:nvSpPr>
          <p:cNvPr id="16" name="正方形/長方形 15"/>
          <p:cNvSpPr/>
          <p:nvPr/>
        </p:nvSpPr>
        <p:spPr bwMode="auto">
          <a:xfrm>
            <a:off x="4655984"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7" name="正方形/長方形 16"/>
          <p:cNvSpPr/>
          <p:nvPr/>
        </p:nvSpPr>
        <p:spPr bwMode="auto">
          <a:xfrm>
            <a:off x="5375992"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8" name="正方形/長方形 17"/>
          <p:cNvSpPr/>
          <p:nvPr/>
        </p:nvSpPr>
        <p:spPr bwMode="auto">
          <a:xfrm>
            <a:off x="6816008"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9" name="正方形/長方形 18"/>
          <p:cNvSpPr/>
          <p:nvPr/>
        </p:nvSpPr>
        <p:spPr bwMode="auto">
          <a:xfrm>
            <a:off x="4565984"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完了</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フラグ</a:t>
            </a:r>
          </a:p>
        </p:txBody>
      </p:sp>
      <p:sp>
        <p:nvSpPr>
          <p:cNvPr id="20" name="正方形/長方形 19"/>
          <p:cNvSpPr/>
          <p:nvPr/>
        </p:nvSpPr>
        <p:spPr bwMode="auto">
          <a:xfrm>
            <a:off x="5285992"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LD/ST</a:t>
            </a:r>
            <a:endParaRPr lang="ja-JP" altLang="en-US" sz="1600" dirty="0">
              <a:solidFill>
                <a:schemeClr val="tx1">
                  <a:lumMod val="75000"/>
                  <a:lumOff val="25000"/>
                </a:schemeClr>
              </a:solidFill>
              <a:latin typeface="+mn-ea"/>
            </a:endParaRPr>
          </a:p>
        </p:txBody>
      </p:sp>
      <p:sp>
        <p:nvSpPr>
          <p:cNvPr id="21" name="正方形/長方形 20"/>
          <p:cNvSpPr/>
          <p:nvPr/>
        </p:nvSpPr>
        <p:spPr bwMode="auto">
          <a:xfrm>
            <a:off x="6096001"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err="1">
                <a:solidFill>
                  <a:schemeClr val="tx1">
                    <a:lumMod val="75000"/>
                    <a:lumOff val="25000"/>
                  </a:schemeClr>
                </a:solidFill>
                <a:latin typeface="+mn-ea"/>
              </a:rPr>
              <a:t>Addr</a:t>
            </a: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22" name="正方形/長方形 21"/>
          <p:cNvSpPr/>
          <p:nvPr/>
        </p:nvSpPr>
        <p:spPr bwMode="auto">
          <a:xfrm>
            <a:off x="4655984"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3" name="正方形/長方形 22"/>
          <p:cNvSpPr/>
          <p:nvPr/>
        </p:nvSpPr>
        <p:spPr bwMode="auto">
          <a:xfrm>
            <a:off x="5375992"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4" name="正方形/長方形 23"/>
          <p:cNvSpPr/>
          <p:nvPr/>
        </p:nvSpPr>
        <p:spPr bwMode="auto">
          <a:xfrm>
            <a:off x="6816008"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0" name="正方形/長方形 39"/>
          <p:cNvSpPr/>
          <p:nvPr/>
        </p:nvSpPr>
        <p:spPr bwMode="auto">
          <a:xfrm>
            <a:off x="4205980" y="252899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I1</a:t>
            </a:r>
            <a:endParaRPr lang="ja-JP" altLang="en-US" sz="1600" dirty="0">
              <a:solidFill>
                <a:schemeClr val="accent1"/>
              </a:solidFill>
              <a:latin typeface="+mn-ea"/>
            </a:endParaRPr>
          </a:p>
        </p:txBody>
      </p:sp>
      <p:sp>
        <p:nvSpPr>
          <p:cNvPr id="41" name="正方形/長方形 40"/>
          <p:cNvSpPr/>
          <p:nvPr/>
        </p:nvSpPr>
        <p:spPr bwMode="auto">
          <a:xfrm>
            <a:off x="4205980" y="288899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I2</a:t>
            </a:r>
            <a:endParaRPr lang="ja-JP" altLang="en-US" sz="1600" dirty="0">
              <a:solidFill>
                <a:schemeClr val="accent1"/>
              </a:solidFill>
              <a:latin typeface="+mn-ea"/>
            </a:endParaRPr>
          </a:p>
        </p:txBody>
      </p:sp>
      <p:sp>
        <p:nvSpPr>
          <p:cNvPr id="42" name="正方形/長方形 41"/>
          <p:cNvSpPr/>
          <p:nvPr/>
        </p:nvSpPr>
        <p:spPr bwMode="auto">
          <a:xfrm>
            <a:off x="4205980" y="324899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I3</a:t>
            </a:r>
            <a:endParaRPr lang="ja-JP" altLang="en-US" sz="1600" dirty="0">
              <a:solidFill>
                <a:schemeClr val="accent1"/>
              </a:solidFill>
              <a:latin typeface="+mn-ea"/>
            </a:endParaRPr>
          </a:p>
        </p:txBody>
      </p:sp>
      <p:sp>
        <p:nvSpPr>
          <p:cNvPr id="43" name="右矢印 42"/>
          <p:cNvSpPr/>
          <p:nvPr/>
        </p:nvSpPr>
        <p:spPr bwMode="auto">
          <a:xfrm rot="10800000" flipV="1">
            <a:off x="7626017" y="2798993"/>
            <a:ext cx="900010" cy="540006"/>
          </a:xfrm>
          <a:prstGeom prst="rightArrow">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監視</a:t>
            </a:r>
          </a:p>
        </p:txBody>
      </p:sp>
      <p:sp>
        <p:nvSpPr>
          <p:cNvPr id="45" name="正方形/長方形 44"/>
          <p:cNvSpPr/>
          <p:nvPr/>
        </p:nvSpPr>
        <p:spPr bwMode="auto">
          <a:xfrm>
            <a:off x="6096000"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7" name="正方形/長方形 46"/>
          <p:cNvSpPr/>
          <p:nvPr/>
        </p:nvSpPr>
        <p:spPr bwMode="auto">
          <a:xfrm>
            <a:off x="6816009"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Data</a:t>
            </a:r>
            <a:endParaRPr lang="ja-JP" altLang="en-US" sz="1600" dirty="0">
              <a:solidFill>
                <a:schemeClr val="tx1">
                  <a:lumMod val="75000"/>
                  <a:lumOff val="25000"/>
                </a:schemeClr>
              </a:solidFill>
              <a:latin typeface="+mn-ea"/>
            </a:endParaRPr>
          </a:p>
        </p:txBody>
      </p:sp>
      <p:sp>
        <p:nvSpPr>
          <p:cNvPr id="48" name="正方形/長方形 47"/>
          <p:cNvSpPr/>
          <p:nvPr/>
        </p:nvSpPr>
        <p:spPr bwMode="auto">
          <a:xfrm>
            <a:off x="6096000"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9" name="正方形/長方形 48"/>
          <p:cNvSpPr/>
          <p:nvPr/>
        </p:nvSpPr>
        <p:spPr bwMode="auto">
          <a:xfrm>
            <a:off x="4655984"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0" name="正方形/長方形 49"/>
          <p:cNvSpPr/>
          <p:nvPr/>
        </p:nvSpPr>
        <p:spPr bwMode="auto">
          <a:xfrm>
            <a:off x="5375992"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1" name="正方形/長方形 50"/>
          <p:cNvSpPr/>
          <p:nvPr/>
        </p:nvSpPr>
        <p:spPr bwMode="auto">
          <a:xfrm>
            <a:off x="6816008"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2" name="正方形/長方形 51"/>
          <p:cNvSpPr/>
          <p:nvPr/>
        </p:nvSpPr>
        <p:spPr bwMode="auto">
          <a:xfrm>
            <a:off x="6096000"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3" name="正方形/長方形 52"/>
          <p:cNvSpPr/>
          <p:nvPr/>
        </p:nvSpPr>
        <p:spPr bwMode="auto">
          <a:xfrm>
            <a:off x="4655984"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4" name="正方形/長方形 53"/>
          <p:cNvSpPr/>
          <p:nvPr/>
        </p:nvSpPr>
        <p:spPr bwMode="auto">
          <a:xfrm>
            <a:off x="5375992"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5" name="正方形/長方形 54"/>
          <p:cNvSpPr/>
          <p:nvPr/>
        </p:nvSpPr>
        <p:spPr bwMode="auto">
          <a:xfrm>
            <a:off x="6816008"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6" name="正方形/長方形 55"/>
          <p:cNvSpPr/>
          <p:nvPr/>
        </p:nvSpPr>
        <p:spPr bwMode="auto">
          <a:xfrm>
            <a:off x="6096000"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7" name="正方形/長方形 56"/>
          <p:cNvSpPr/>
          <p:nvPr/>
        </p:nvSpPr>
        <p:spPr bwMode="auto">
          <a:xfrm>
            <a:off x="4655984"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8" name="正方形/長方形 57"/>
          <p:cNvSpPr/>
          <p:nvPr/>
        </p:nvSpPr>
        <p:spPr bwMode="auto">
          <a:xfrm>
            <a:off x="5375992"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9" name="正方形/長方形 58"/>
          <p:cNvSpPr/>
          <p:nvPr/>
        </p:nvSpPr>
        <p:spPr bwMode="auto">
          <a:xfrm>
            <a:off x="6816008"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0" name="正方形/長方形 59"/>
          <p:cNvSpPr/>
          <p:nvPr/>
        </p:nvSpPr>
        <p:spPr bwMode="auto">
          <a:xfrm>
            <a:off x="6096000"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1" name="正方形/長方形 60"/>
          <p:cNvSpPr/>
          <p:nvPr/>
        </p:nvSpPr>
        <p:spPr bwMode="auto">
          <a:xfrm>
            <a:off x="4655984"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2" name="正方形/長方形 61"/>
          <p:cNvSpPr/>
          <p:nvPr/>
        </p:nvSpPr>
        <p:spPr bwMode="auto">
          <a:xfrm>
            <a:off x="5375992"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3" name="正方形/長方形 62"/>
          <p:cNvSpPr/>
          <p:nvPr/>
        </p:nvSpPr>
        <p:spPr bwMode="auto">
          <a:xfrm>
            <a:off x="6816008"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4" name="正方形/長方形 63"/>
          <p:cNvSpPr/>
          <p:nvPr/>
        </p:nvSpPr>
        <p:spPr bwMode="auto">
          <a:xfrm>
            <a:off x="6096000"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5" name="正方形/長方形 64"/>
          <p:cNvSpPr/>
          <p:nvPr/>
        </p:nvSpPr>
        <p:spPr bwMode="auto">
          <a:xfrm>
            <a:off x="4655984"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6" name="正方形/長方形 65"/>
          <p:cNvSpPr/>
          <p:nvPr/>
        </p:nvSpPr>
        <p:spPr bwMode="auto">
          <a:xfrm>
            <a:off x="5375992"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7" name="正方形/長方形 66"/>
          <p:cNvSpPr/>
          <p:nvPr/>
        </p:nvSpPr>
        <p:spPr bwMode="auto">
          <a:xfrm>
            <a:off x="6816008"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8" name="正方形/長方形 67"/>
          <p:cNvSpPr/>
          <p:nvPr/>
        </p:nvSpPr>
        <p:spPr bwMode="auto">
          <a:xfrm>
            <a:off x="6096000"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9" name="正方形/長方形 68"/>
          <p:cNvSpPr/>
          <p:nvPr/>
        </p:nvSpPr>
        <p:spPr bwMode="auto">
          <a:xfrm>
            <a:off x="4655984" y="818971"/>
            <a:ext cx="2880032"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メモリ</a:t>
            </a:r>
          </a:p>
        </p:txBody>
      </p:sp>
      <p:sp>
        <p:nvSpPr>
          <p:cNvPr id="70" name="曲折矢印 69"/>
          <p:cNvSpPr/>
          <p:nvPr/>
        </p:nvSpPr>
        <p:spPr bwMode="auto">
          <a:xfrm flipH="1">
            <a:off x="7716017" y="818972"/>
            <a:ext cx="1260013" cy="1350015"/>
          </a:xfrm>
          <a:prstGeom prst="bentArrow">
            <a:avLst>
              <a:gd name="adj1" fmla="val 20870"/>
              <a:gd name="adj2" fmla="val 25000"/>
              <a:gd name="adj3" fmla="val 23230"/>
              <a:gd name="adj4" fmla="val 43750"/>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書き込み</a:t>
            </a:r>
          </a:p>
        </p:txBody>
      </p:sp>
      <p:sp>
        <p:nvSpPr>
          <p:cNvPr id="71" name="曲折矢印 70"/>
          <p:cNvSpPr/>
          <p:nvPr/>
        </p:nvSpPr>
        <p:spPr bwMode="auto">
          <a:xfrm rot="16200000" flipH="1">
            <a:off x="2990967" y="953973"/>
            <a:ext cx="1260013" cy="1350015"/>
          </a:xfrm>
          <a:prstGeom prst="bentArrow">
            <a:avLst>
              <a:gd name="adj1" fmla="val 20870"/>
              <a:gd name="adj2" fmla="val 25000"/>
              <a:gd name="adj3" fmla="val 23230"/>
              <a:gd name="adj4" fmla="val 43750"/>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読み出し</a:t>
            </a:r>
          </a:p>
        </p:txBody>
      </p:sp>
    </p:spTree>
    <p:extLst>
      <p:ext uri="{BB962C8B-B14F-4D97-AF65-F5344CB8AC3E}">
        <p14:creationId xmlns:p14="http://schemas.microsoft.com/office/powerpoint/2010/main" val="8751966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動作例を使った説明</a:t>
            </a:r>
            <a:endParaRPr kumimoji="1" lang="ja-JP" altLang="en-US" dirty="0"/>
          </a:p>
        </p:txBody>
      </p:sp>
      <p:sp>
        <p:nvSpPr>
          <p:cNvPr id="3" name="テキスト プレースホルダー 2"/>
          <p:cNvSpPr>
            <a:spLocks noGrp="1"/>
          </p:cNvSpPr>
          <p:nvPr>
            <p:ph type="body" sz="quarter" idx="10"/>
          </p:nvPr>
        </p:nvSpPr>
        <p:spPr>
          <a:xfrm>
            <a:off x="2135956" y="5229021"/>
            <a:ext cx="8280092" cy="899703"/>
          </a:xfrm>
        </p:spPr>
        <p:txBody>
          <a:bodyPr/>
          <a:lstStyle/>
          <a:p>
            <a:r>
              <a:rPr kumimoji="1" lang="en-US" altLang="ja-JP" dirty="0">
                <a:latin typeface="Consolas" panose="020B0609020204030204" pitchFamily="49" charset="0"/>
              </a:rPr>
              <a:t>I1,I2,I3 </a:t>
            </a:r>
            <a:r>
              <a:rPr kumimoji="1" lang="ja-JP" altLang="en-US" dirty="0">
                <a:latin typeface="Consolas" panose="020B0609020204030204" pitchFamily="49" charset="0"/>
              </a:rPr>
              <a:t>は同じアドレス </a:t>
            </a:r>
            <a:r>
              <a:rPr kumimoji="1" lang="en-US" altLang="ja-JP" dirty="0">
                <a:latin typeface="Consolas" panose="020B0609020204030204" pitchFamily="49" charset="0"/>
              </a:rPr>
              <a:t>0x100 </a:t>
            </a:r>
            <a:r>
              <a:rPr kumimoji="1" lang="ja-JP" altLang="en-US" dirty="0">
                <a:latin typeface="Consolas" panose="020B0609020204030204" pitchFamily="49" charset="0"/>
              </a:rPr>
              <a:t>に対してアクセスを行う命令</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以下の動作を順に説明</a:t>
            </a:r>
            <a:endParaRPr kumimoji="1" lang="en-US" altLang="ja-JP" dirty="0">
              <a:latin typeface="Consolas" panose="020B0609020204030204" pitchFamily="49" charset="0"/>
            </a:endParaRPr>
          </a:p>
          <a:p>
            <a:pPr marL="1177200" lvl="2" indent="-457200">
              <a:buFont typeface="+mj-lt"/>
              <a:buAutoNum type="arabicPeriod"/>
            </a:pPr>
            <a:r>
              <a:rPr kumimoji="1" lang="ja-JP" altLang="en-US" dirty="0">
                <a:latin typeface="Consolas" panose="020B0609020204030204" pitchFamily="49" charset="0"/>
              </a:rPr>
              <a:t>ストアの整列</a:t>
            </a:r>
            <a:endParaRPr kumimoji="1" lang="en-US" altLang="ja-JP" dirty="0">
              <a:latin typeface="Consolas" panose="020B0609020204030204" pitchFamily="49" charset="0"/>
            </a:endParaRPr>
          </a:p>
          <a:p>
            <a:pPr marL="1177200" lvl="2" indent="-457200">
              <a:buFont typeface="+mj-lt"/>
              <a:buAutoNum type="arabicPeriod"/>
            </a:pPr>
            <a:r>
              <a:rPr kumimoji="1" lang="ja-JP" altLang="en-US" dirty="0">
                <a:latin typeface="Consolas" panose="020B0609020204030204" pitchFamily="49" charset="0"/>
              </a:rPr>
              <a:t>順序違反の検出</a:t>
            </a:r>
          </a:p>
        </p:txBody>
      </p:sp>
      <p:grpSp>
        <p:nvGrpSpPr>
          <p:cNvPr id="4" name="グループ化 3"/>
          <p:cNvGrpSpPr/>
          <p:nvPr/>
        </p:nvGrpSpPr>
        <p:grpSpPr>
          <a:xfrm>
            <a:off x="2315958" y="3176356"/>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8076022" y="3158997"/>
            <a:ext cx="1584176"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 name="正方形/長方形 9"/>
          <p:cNvSpPr/>
          <p:nvPr/>
        </p:nvSpPr>
        <p:spPr>
          <a:xfrm>
            <a:off x="2279685" y="233039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1" name="正方形/長方形 10"/>
          <p:cNvSpPr/>
          <p:nvPr/>
        </p:nvSpPr>
        <p:spPr>
          <a:xfrm>
            <a:off x="8526028" y="234898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4655984" y="2168986"/>
            <a:ext cx="2879888" cy="2520028"/>
          </a:xfrm>
          <a:prstGeom prst="rect">
            <a:avLst/>
          </a:prstGeom>
          <a:ln>
            <a:solidFill>
              <a:schemeClr val="accent1"/>
            </a:solidFill>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 name="角丸四角形吹き出し 13"/>
          <p:cNvSpPr/>
          <p:nvPr/>
        </p:nvSpPr>
        <p:spPr bwMode="auto">
          <a:xfrm>
            <a:off x="7986021"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コミット・パイプ</a:t>
            </a:r>
            <a:endParaRPr lang="ja-JP" altLang="en-US" dirty="0">
              <a:solidFill>
                <a:schemeClr val="accent5"/>
              </a:solidFill>
            </a:endParaRPr>
          </a:p>
        </p:txBody>
      </p:sp>
      <p:sp>
        <p:nvSpPr>
          <p:cNvPr id="15" name="角丸四角形吹き出し 14"/>
          <p:cNvSpPr/>
          <p:nvPr/>
        </p:nvSpPr>
        <p:spPr bwMode="auto">
          <a:xfrm>
            <a:off x="2315958" y="3806364"/>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バックエンド</a:t>
            </a:r>
          </a:p>
        </p:txBody>
      </p:sp>
      <p:sp>
        <p:nvSpPr>
          <p:cNvPr id="16" name="正方形/長方形 15"/>
          <p:cNvSpPr/>
          <p:nvPr/>
        </p:nvSpPr>
        <p:spPr bwMode="auto">
          <a:xfrm>
            <a:off x="4655984"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7" name="正方形/長方形 16"/>
          <p:cNvSpPr/>
          <p:nvPr/>
        </p:nvSpPr>
        <p:spPr bwMode="auto">
          <a:xfrm>
            <a:off x="5375992"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8" name="正方形/長方形 17"/>
          <p:cNvSpPr/>
          <p:nvPr/>
        </p:nvSpPr>
        <p:spPr bwMode="auto">
          <a:xfrm>
            <a:off x="6816008"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9" name="正方形/長方形 18"/>
          <p:cNvSpPr/>
          <p:nvPr/>
        </p:nvSpPr>
        <p:spPr bwMode="auto">
          <a:xfrm>
            <a:off x="4565984"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完了</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フラグ</a:t>
            </a:r>
          </a:p>
        </p:txBody>
      </p:sp>
      <p:sp>
        <p:nvSpPr>
          <p:cNvPr id="20" name="正方形/長方形 19"/>
          <p:cNvSpPr/>
          <p:nvPr/>
        </p:nvSpPr>
        <p:spPr bwMode="auto">
          <a:xfrm>
            <a:off x="5285992"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LD/ST</a:t>
            </a:r>
            <a:endParaRPr lang="ja-JP" altLang="en-US" sz="1600" dirty="0">
              <a:solidFill>
                <a:schemeClr val="tx1">
                  <a:lumMod val="75000"/>
                  <a:lumOff val="25000"/>
                </a:schemeClr>
              </a:solidFill>
              <a:latin typeface="+mn-ea"/>
            </a:endParaRPr>
          </a:p>
        </p:txBody>
      </p:sp>
      <p:sp>
        <p:nvSpPr>
          <p:cNvPr id="21" name="正方形/長方形 20"/>
          <p:cNvSpPr/>
          <p:nvPr/>
        </p:nvSpPr>
        <p:spPr bwMode="auto">
          <a:xfrm>
            <a:off x="6096001"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err="1">
                <a:solidFill>
                  <a:schemeClr val="tx1">
                    <a:lumMod val="75000"/>
                    <a:lumOff val="25000"/>
                  </a:schemeClr>
                </a:solidFill>
                <a:latin typeface="+mn-ea"/>
              </a:rPr>
              <a:t>Addr</a:t>
            </a: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22" name="正方形/長方形 21"/>
          <p:cNvSpPr/>
          <p:nvPr/>
        </p:nvSpPr>
        <p:spPr bwMode="auto">
          <a:xfrm>
            <a:off x="4655984"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3" name="正方形/長方形 22"/>
          <p:cNvSpPr/>
          <p:nvPr/>
        </p:nvSpPr>
        <p:spPr bwMode="auto">
          <a:xfrm>
            <a:off x="5375992"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4" name="正方形/長方形 23"/>
          <p:cNvSpPr/>
          <p:nvPr/>
        </p:nvSpPr>
        <p:spPr bwMode="auto">
          <a:xfrm>
            <a:off x="6816008"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0" name="正方形/長方形 39"/>
          <p:cNvSpPr/>
          <p:nvPr/>
        </p:nvSpPr>
        <p:spPr bwMode="auto">
          <a:xfrm>
            <a:off x="4205980" y="252899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accent1"/>
                </a:solidFill>
                <a:latin typeface="Consolas" panose="020B0609020204030204" pitchFamily="49" charset="0"/>
              </a:rPr>
              <a:t>I1</a:t>
            </a:r>
            <a:endParaRPr lang="ja-JP" altLang="en-US" sz="1600" b="1" dirty="0">
              <a:solidFill>
                <a:schemeClr val="accent1"/>
              </a:solidFill>
              <a:latin typeface="+mn-ea"/>
            </a:endParaRPr>
          </a:p>
        </p:txBody>
      </p:sp>
      <p:sp>
        <p:nvSpPr>
          <p:cNvPr id="41" name="正方形/長方形 40"/>
          <p:cNvSpPr/>
          <p:nvPr/>
        </p:nvSpPr>
        <p:spPr bwMode="auto">
          <a:xfrm>
            <a:off x="4205980" y="288899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accent1"/>
                </a:solidFill>
                <a:latin typeface="Consolas" panose="020B0609020204030204" pitchFamily="49" charset="0"/>
              </a:rPr>
              <a:t>I2</a:t>
            </a:r>
            <a:endParaRPr lang="ja-JP" altLang="en-US" sz="1600" b="1" dirty="0">
              <a:solidFill>
                <a:schemeClr val="accent1"/>
              </a:solidFill>
              <a:latin typeface="+mn-ea"/>
            </a:endParaRPr>
          </a:p>
        </p:txBody>
      </p:sp>
      <p:sp>
        <p:nvSpPr>
          <p:cNvPr id="42" name="正方形/長方形 41"/>
          <p:cNvSpPr/>
          <p:nvPr/>
        </p:nvSpPr>
        <p:spPr bwMode="auto">
          <a:xfrm>
            <a:off x="4205980" y="324899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accent1"/>
                </a:solidFill>
                <a:latin typeface="Consolas" panose="020B0609020204030204" pitchFamily="49" charset="0"/>
              </a:rPr>
              <a:t>I3</a:t>
            </a:r>
            <a:endParaRPr lang="ja-JP" altLang="en-US" sz="1600" b="1" dirty="0">
              <a:solidFill>
                <a:schemeClr val="accent1"/>
              </a:solidFill>
              <a:latin typeface="+mn-ea"/>
            </a:endParaRPr>
          </a:p>
        </p:txBody>
      </p:sp>
      <p:sp>
        <p:nvSpPr>
          <p:cNvPr id="43" name="右矢印 42"/>
          <p:cNvSpPr/>
          <p:nvPr/>
        </p:nvSpPr>
        <p:spPr bwMode="auto">
          <a:xfrm rot="10800000" flipV="1">
            <a:off x="7626017" y="2798993"/>
            <a:ext cx="900010" cy="540006"/>
          </a:xfrm>
          <a:prstGeom prst="rightArrow">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監視</a:t>
            </a:r>
          </a:p>
        </p:txBody>
      </p:sp>
      <p:sp>
        <p:nvSpPr>
          <p:cNvPr id="45" name="正方形/長方形 44"/>
          <p:cNvSpPr/>
          <p:nvPr/>
        </p:nvSpPr>
        <p:spPr bwMode="auto">
          <a:xfrm>
            <a:off x="6096000"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7" name="正方形/長方形 46"/>
          <p:cNvSpPr/>
          <p:nvPr/>
        </p:nvSpPr>
        <p:spPr bwMode="auto">
          <a:xfrm>
            <a:off x="6816009"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Data</a:t>
            </a:r>
            <a:endParaRPr lang="ja-JP" altLang="en-US" sz="1600" dirty="0">
              <a:solidFill>
                <a:schemeClr val="tx1">
                  <a:lumMod val="75000"/>
                  <a:lumOff val="25000"/>
                </a:schemeClr>
              </a:solidFill>
              <a:latin typeface="+mn-ea"/>
            </a:endParaRPr>
          </a:p>
        </p:txBody>
      </p:sp>
      <p:sp>
        <p:nvSpPr>
          <p:cNvPr id="48" name="正方形/長方形 47"/>
          <p:cNvSpPr/>
          <p:nvPr/>
        </p:nvSpPr>
        <p:spPr bwMode="auto">
          <a:xfrm>
            <a:off x="6096000"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9" name="正方形/長方形 48"/>
          <p:cNvSpPr/>
          <p:nvPr/>
        </p:nvSpPr>
        <p:spPr bwMode="auto">
          <a:xfrm>
            <a:off x="4655984"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0" name="正方形/長方形 49"/>
          <p:cNvSpPr/>
          <p:nvPr/>
        </p:nvSpPr>
        <p:spPr bwMode="auto">
          <a:xfrm>
            <a:off x="5375992"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1" name="正方形/長方形 50"/>
          <p:cNvSpPr/>
          <p:nvPr/>
        </p:nvSpPr>
        <p:spPr bwMode="auto">
          <a:xfrm>
            <a:off x="6816008"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2" name="正方形/長方形 51"/>
          <p:cNvSpPr/>
          <p:nvPr/>
        </p:nvSpPr>
        <p:spPr bwMode="auto">
          <a:xfrm>
            <a:off x="6096000"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3" name="正方形/長方形 52"/>
          <p:cNvSpPr/>
          <p:nvPr/>
        </p:nvSpPr>
        <p:spPr bwMode="auto">
          <a:xfrm>
            <a:off x="4655984"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4" name="正方形/長方形 53"/>
          <p:cNvSpPr/>
          <p:nvPr/>
        </p:nvSpPr>
        <p:spPr bwMode="auto">
          <a:xfrm>
            <a:off x="5375992"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5" name="正方形/長方形 54"/>
          <p:cNvSpPr/>
          <p:nvPr/>
        </p:nvSpPr>
        <p:spPr bwMode="auto">
          <a:xfrm>
            <a:off x="6816008"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6" name="正方形/長方形 55"/>
          <p:cNvSpPr/>
          <p:nvPr/>
        </p:nvSpPr>
        <p:spPr bwMode="auto">
          <a:xfrm>
            <a:off x="6096000"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7" name="正方形/長方形 56"/>
          <p:cNvSpPr/>
          <p:nvPr/>
        </p:nvSpPr>
        <p:spPr bwMode="auto">
          <a:xfrm>
            <a:off x="4655984"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8" name="正方形/長方形 57"/>
          <p:cNvSpPr/>
          <p:nvPr/>
        </p:nvSpPr>
        <p:spPr bwMode="auto">
          <a:xfrm>
            <a:off x="5375992"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9" name="正方形/長方形 58"/>
          <p:cNvSpPr/>
          <p:nvPr/>
        </p:nvSpPr>
        <p:spPr bwMode="auto">
          <a:xfrm>
            <a:off x="6816008"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0" name="正方形/長方形 59"/>
          <p:cNvSpPr/>
          <p:nvPr/>
        </p:nvSpPr>
        <p:spPr bwMode="auto">
          <a:xfrm>
            <a:off x="6096000"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1" name="正方形/長方形 60"/>
          <p:cNvSpPr/>
          <p:nvPr/>
        </p:nvSpPr>
        <p:spPr bwMode="auto">
          <a:xfrm>
            <a:off x="4655984"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2" name="正方形/長方形 61"/>
          <p:cNvSpPr/>
          <p:nvPr/>
        </p:nvSpPr>
        <p:spPr bwMode="auto">
          <a:xfrm>
            <a:off x="5375992"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3" name="正方形/長方形 62"/>
          <p:cNvSpPr/>
          <p:nvPr/>
        </p:nvSpPr>
        <p:spPr bwMode="auto">
          <a:xfrm>
            <a:off x="6816008"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4" name="正方形/長方形 63"/>
          <p:cNvSpPr/>
          <p:nvPr/>
        </p:nvSpPr>
        <p:spPr bwMode="auto">
          <a:xfrm>
            <a:off x="6096000"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5" name="正方形/長方形 64"/>
          <p:cNvSpPr/>
          <p:nvPr/>
        </p:nvSpPr>
        <p:spPr bwMode="auto">
          <a:xfrm>
            <a:off x="4655984"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6" name="正方形/長方形 65"/>
          <p:cNvSpPr/>
          <p:nvPr/>
        </p:nvSpPr>
        <p:spPr bwMode="auto">
          <a:xfrm>
            <a:off x="5375992"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7" name="正方形/長方形 66"/>
          <p:cNvSpPr/>
          <p:nvPr/>
        </p:nvSpPr>
        <p:spPr bwMode="auto">
          <a:xfrm>
            <a:off x="6816008"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8" name="正方形/長方形 67"/>
          <p:cNvSpPr/>
          <p:nvPr/>
        </p:nvSpPr>
        <p:spPr bwMode="auto">
          <a:xfrm>
            <a:off x="6096000"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9" name="正方形/長方形 68"/>
          <p:cNvSpPr/>
          <p:nvPr/>
        </p:nvSpPr>
        <p:spPr bwMode="auto">
          <a:xfrm>
            <a:off x="4655984" y="818971"/>
            <a:ext cx="2880032"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メモリ</a:t>
            </a:r>
          </a:p>
        </p:txBody>
      </p:sp>
    </p:spTree>
    <p:extLst>
      <p:ext uri="{BB962C8B-B14F-4D97-AF65-F5344CB8AC3E}">
        <p14:creationId xmlns:p14="http://schemas.microsoft.com/office/powerpoint/2010/main" val="2698680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ストアの整列（１）</a:t>
            </a:r>
          </a:p>
        </p:txBody>
      </p:sp>
      <p:sp>
        <p:nvSpPr>
          <p:cNvPr id="3" name="テキスト プレースホルダー 2"/>
          <p:cNvSpPr>
            <a:spLocks noGrp="1"/>
          </p:cNvSpPr>
          <p:nvPr>
            <p:ph type="body" sz="quarter" idx="10"/>
          </p:nvPr>
        </p:nvSpPr>
        <p:spPr>
          <a:xfrm>
            <a:off x="2135956" y="5229021"/>
            <a:ext cx="8280092" cy="899703"/>
          </a:xfrm>
        </p:spPr>
        <p:txBody>
          <a:bodyPr/>
          <a:lstStyle/>
          <a:p>
            <a:r>
              <a:rPr lang="ja-JP" altLang="en-US" dirty="0"/>
              <a:t>ストア実行時</a:t>
            </a:r>
            <a:endParaRPr lang="en-US" altLang="ja-JP" dirty="0"/>
          </a:p>
          <a:p>
            <a:pPr lvl="1"/>
            <a:r>
              <a:rPr lang="ja-JP" altLang="en-US" dirty="0"/>
              <a:t>バックエンドから </a:t>
            </a:r>
            <a:r>
              <a:rPr lang="en-US" altLang="ja-JP" dirty="0"/>
              <a:t>LSQ </a:t>
            </a:r>
            <a:r>
              <a:rPr lang="ja-JP" altLang="en-US" dirty="0"/>
              <a:t>にアドレスとデータを書き込む</a:t>
            </a:r>
            <a:endParaRPr lang="en-US" altLang="ja-JP" dirty="0"/>
          </a:p>
          <a:p>
            <a:pPr lvl="1"/>
            <a:r>
              <a:rPr lang="ja-JP" altLang="en-US" dirty="0">
                <a:solidFill>
                  <a:schemeClr val="accent5"/>
                </a:solidFill>
              </a:rPr>
              <a:t>バックエンドからはメモリには書き込まない</a:t>
            </a:r>
            <a:endParaRPr lang="en-US" altLang="ja-JP" dirty="0">
              <a:solidFill>
                <a:schemeClr val="accent5"/>
              </a:solidFill>
            </a:endParaRPr>
          </a:p>
          <a:p>
            <a:r>
              <a:rPr lang="en-US" altLang="ja-JP" dirty="0">
                <a:latin typeface="Consolas" panose="020B0609020204030204" pitchFamily="49" charset="0"/>
              </a:rPr>
              <a:t>I1:SW x1</a:t>
            </a:r>
            <a:r>
              <a:rPr lang="ja-JP" altLang="en-US" dirty="0">
                <a:latin typeface="Consolas" panose="020B0609020204030204" pitchFamily="49" charset="0"/>
              </a:rPr>
              <a:t>→</a:t>
            </a:r>
            <a:r>
              <a:rPr lang="en-US" altLang="ja-JP" dirty="0">
                <a:latin typeface="Consolas" panose="020B0609020204030204" pitchFamily="49" charset="0"/>
              </a:rPr>
              <a:t>(0x100) </a:t>
            </a:r>
            <a:r>
              <a:rPr lang="ja-JP" altLang="en-US" dirty="0">
                <a:latin typeface="Consolas" panose="020B0609020204030204" pitchFamily="49" charset="0"/>
              </a:rPr>
              <a:t>が完了</a:t>
            </a:r>
            <a:endParaRPr lang="en-US" altLang="ja-JP" dirty="0"/>
          </a:p>
        </p:txBody>
      </p:sp>
      <p:grpSp>
        <p:nvGrpSpPr>
          <p:cNvPr id="4" name="グループ化 3"/>
          <p:cNvGrpSpPr/>
          <p:nvPr/>
        </p:nvGrpSpPr>
        <p:grpSpPr>
          <a:xfrm>
            <a:off x="2315958" y="3176356"/>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8076022" y="3158997"/>
            <a:ext cx="1584176"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 name="正方形/長方形 9"/>
          <p:cNvSpPr/>
          <p:nvPr/>
        </p:nvSpPr>
        <p:spPr>
          <a:xfrm>
            <a:off x="2279685" y="233039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1" name="正方形/長方形 10"/>
          <p:cNvSpPr/>
          <p:nvPr/>
        </p:nvSpPr>
        <p:spPr>
          <a:xfrm>
            <a:off x="8526028" y="234898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4655984" y="2168986"/>
            <a:ext cx="2879888" cy="2520028"/>
          </a:xfrm>
          <a:prstGeom prst="rect">
            <a:avLst/>
          </a:prstGeom>
          <a:ln>
            <a:solidFill>
              <a:schemeClr val="accent1"/>
            </a:solidFill>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 name="角丸四角形吹き出し 13"/>
          <p:cNvSpPr/>
          <p:nvPr/>
        </p:nvSpPr>
        <p:spPr bwMode="auto">
          <a:xfrm>
            <a:off x="7986021"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コミット・パイプ</a:t>
            </a:r>
            <a:endParaRPr lang="ja-JP" altLang="en-US" dirty="0">
              <a:solidFill>
                <a:schemeClr val="accent5"/>
              </a:solidFill>
            </a:endParaRPr>
          </a:p>
        </p:txBody>
      </p:sp>
      <p:sp>
        <p:nvSpPr>
          <p:cNvPr id="15" name="角丸四角形吹き出し 14"/>
          <p:cNvSpPr/>
          <p:nvPr/>
        </p:nvSpPr>
        <p:spPr bwMode="auto">
          <a:xfrm>
            <a:off x="2315958" y="3806364"/>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バックエンド</a:t>
            </a:r>
          </a:p>
        </p:txBody>
      </p:sp>
      <p:sp>
        <p:nvSpPr>
          <p:cNvPr id="16" name="正方形/長方形 15"/>
          <p:cNvSpPr/>
          <p:nvPr/>
        </p:nvSpPr>
        <p:spPr bwMode="auto">
          <a:xfrm>
            <a:off x="4655984"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7" name="正方形/長方形 16"/>
          <p:cNvSpPr/>
          <p:nvPr/>
        </p:nvSpPr>
        <p:spPr bwMode="auto">
          <a:xfrm>
            <a:off x="5375992"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8" name="正方形/長方形 17"/>
          <p:cNvSpPr/>
          <p:nvPr/>
        </p:nvSpPr>
        <p:spPr bwMode="auto">
          <a:xfrm>
            <a:off x="6816008"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9" name="正方形/長方形 18"/>
          <p:cNvSpPr/>
          <p:nvPr/>
        </p:nvSpPr>
        <p:spPr bwMode="auto">
          <a:xfrm>
            <a:off x="4565984"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完了</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フラグ</a:t>
            </a:r>
          </a:p>
        </p:txBody>
      </p:sp>
      <p:sp>
        <p:nvSpPr>
          <p:cNvPr id="20" name="正方形/長方形 19"/>
          <p:cNvSpPr/>
          <p:nvPr/>
        </p:nvSpPr>
        <p:spPr bwMode="auto">
          <a:xfrm>
            <a:off x="5285992"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LD/ST</a:t>
            </a:r>
            <a:endParaRPr lang="ja-JP" altLang="en-US" sz="1600" dirty="0">
              <a:solidFill>
                <a:schemeClr val="tx1">
                  <a:lumMod val="75000"/>
                  <a:lumOff val="25000"/>
                </a:schemeClr>
              </a:solidFill>
              <a:latin typeface="+mn-ea"/>
            </a:endParaRPr>
          </a:p>
        </p:txBody>
      </p:sp>
      <p:sp>
        <p:nvSpPr>
          <p:cNvPr id="21" name="正方形/長方形 20"/>
          <p:cNvSpPr/>
          <p:nvPr/>
        </p:nvSpPr>
        <p:spPr bwMode="auto">
          <a:xfrm>
            <a:off x="6096001"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err="1">
                <a:solidFill>
                  <a:schemeClr val="tx1">
                    <a:lumMod val="75000"/>
                    <a:lumOff val="25000"/>
                  </a:schemeClr>
                </a:solidFill>
                <a:latin typeface="+mn-ea"/>
              </a:rPr>
              <a:t>Addr</a:t>
            </a: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22" name="正方形/長方形 21"/>
          <p:cNvSpPr/>
          <p:nvPr/>
        </p:nvSpPr>
        <p:spPr bwMode="auto">
          <a:xfrm>
            <a:off x="4655984"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1</a:t>
            </a:r>
            <a:endParaRPr lang="ja-JP" altLang="en-US" b="1" dirty="0">
              <a:solidFill>
                <a:schemeClr val="accent1"/>
              </a:solidFill>
              <a:latin typeface="+mn-ea"/>
            </a:endParaRPr>
          </a:p>
        </p:txBody>
      </p:sp>
      <p:sp>
        <p:nvSpPr>
          <p:cNvPr id="23" name="正方形/長方形 22"/>
          <p:cNvSpPr/>
          <p:nvPr/>
        </p:nvSpPr>
        <p:spPr bwMode="auto">
          <a:xfrm>
            <a:off x="5375992"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ST</a:t>
            </a:r>
            <a:endParaRPr lang="ja-JP" altLang="en-US" b="1" dirty="0">
              <a:solidFill>
                <a:schemeClr val="accent1"/>
              </a:solidFill>
              <a:latin typeface="+mn-ea"/>
            </a:endParaRPr>
          </a:p>
        </p:txBody>
      </p:sp>
      <p:sp>
        <p:nvSpPr>
          <p:cNvPr id="24" name="正方形/長方形 23"/>
          <p:cNvSpPr/>
          <p:nvPr/>
        </p:nvSpPr>
        <p:spPr bwMode="auto">
          <a:xfrm>
            <a:off x="6816008"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accent1"/>
                </a:solidFill>
                <a:latin typeface="+mn-ea"/>
              </a:rPr>
              <a:t>0x123</a:t>
            </a:r>
            <a:endParaRPr lang="ja-JP" altLang="en-US" sz="1400" b="1" dirty="0">
              <a:solidFill>
                <a:schemeClr val="accent1"/>
              </a:solidFill>
              <a:latin typeface="+mn-ea"/>
            </a:endParaRPr>
          </a:p>
        </p:txBody>
      </p:sp>
      <p:sp>
        <p:nvSpPr>
          <p:cNvPr id="40" name="正方形/長方形 39"/>
          <p:cNvSpPr/>
          <p:nvPr/>
        </p:nvSpPr>
        <p:spPr bwMode="auto">
          <a:xfrm>
            <a:off x="4205980" y="252899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I1</a:t>
            </a:r>
            <a:endParaRPr lang="ja-JP" altLang="en-US" sz="1600" dirty="0">
              <a:solidFill>
                <a:schemeClr val="accent1"/>
              </a:solidFill>
              <a:latin typeface="+mn-ea"/>
            </a:endParaRPr>
          </a:p>
        </p:txBody>
      </p:sp>
      <p:sp>
        <p:nvSpPr>
          <p:cNvPr id="41" name="正方形/長方形 40"/>
          <p:cNvSpPr/>
          <p:nvPr/>
        </p:nvSpPr>
        <p:spPr bwMode="auto">
          <a:xfrm>
            <a:off x="4205980" y="288899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I2</a:t>
            </a:r>
            <a:endParaRPr lang="ja-JP" altLang="en-US" sz="1600" dirty="0">
              <a:solidFill>
                <a:schemeClr val="accent1"/>
              </a:solidFill>
              <a:latin typeface="+mn-ea"/>
            </a:endParaRPr>
          </a:p>
        </p:txBody>
      </p:sp>
      <p:sp>
        <p:nvSpPr>
          <p:cNvPr id="42" name="正方形/長方形 41"/>
          <p:cNvSpPr/>
          <p:nvPr/>
        </p:nvSpPr>
        <p:spPr bwMode="auto">
          <a:xfrm>
            <a:off x="4205980" y="324899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I3</a:t>
            </a:r>
            <a:endParaRPr lang="ja-JP" altLang="en-US" sz="1600" dirty="0">
              <a:solidFill>
                <a:schemeClr val="accent1"/>
              </a:solidFill>
              <a:latin typeface="+mn-ea"/>
            </a:endParaRPr>
          </a:p>
        </p:txBody>
      </p:sp>
      <p:sp>
        <p:nvSpPr>
          <p:cNvPr id="43" name="右矢印 42"/>
          <p:cNvSpPr/>
          <p:nvPr/>
        </p:nvSpPr>
        <p:spPr bwMode="auto">
          <a:xfrm rot="10800000" flipV="1">
            <a:off x="7626017" y="2078985"/>
            <a:ext cx="900010" cy="540006"/>
          </a:xfrm>
          <a:prstGeom prst="rightArrow">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監視</a:t>
            </a:r>
          </a:p>
        </p:txBody>
      </p:sp>
      <p:sp>
        <p:nvSpPr>
          <p:cNvPr id="45" name="正方形/長方形 44"/>
          <p:cNvSpPr/>
          <p:nvPr/>
        </p:nvSpPr>
        <p:spPr bwMode="auto">
          <a:xfrm>
            <a:off x="6096000"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7" name="正方形/長方形 46"/>
          <p:cNvSpPr/>
          <p:nvPr/>
        </p:nvSpPr>
        <p:spPr bwMode="auto">
          <a:xfrm>
            <a:off x="6816009"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Data</a:t>
            </a:r>
            <a:endParaRPr lang="ja-JP" altLang="en-US" sz="1600" dirty="0">
              <a:solidFill>
                <a:schemeClr val="tx1">
                  <a:lumMod val="75000"/>
                  <a:lumOff val="25000"/>
                </a:schemeClr>
              </a:solidFill>
              <a:latin typeface="+mn-ea"/>
            </a:endParaRPr>
          </a:p>
        </p:txBody>
      </p:sp>
      <p:sp>
        <p:nvSpPr>
          <p:cNvPr id="48" name="正方形/長方形 47"/>
          <p:cNvSpPr/>
          <p:nvPr/>
        </p:nvSpPr>
        <p:spPr bwMode="auto">
          <a:xfrm>
            <a:off x="6096000"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accent1"/>
                </a:solidFill>
                <a:latin typeface="+mn-ea"/>
              </a:rPr>
              <a:t>0x100</a:t>
            </a:r>
            <a:endParaRPr lang="ja-JP" altLang="en-US" sz="1400" b="1" dirty="0">
              <a:solidFill>
                <a:schemeClr val="accent1"/>
              </a:solidFill>
              <a:latin typeface="+mn-ea"/>
            </a:endParaRPr>
          </a:p>
        </p:txBody>
      </p:sp>
      <p:sp>
        <p:nvSpPr>
          <p:cNvPr id="49" name="正方形/長方形 48"/>
          <p:cNvSpPr/>
          <p:nvPr/>
        </p:nvSpPr>
        <p:spPr bwMode="auto">
          <a:xfrm>
            <a:off x="4655984"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0" name="正方形/長方形 49"/>
          <p:cNvSpPr/>
          <p:nvPr/>
        </p:nvSpPr>
        <p:spPr bwMode="auto">
          <a:xfrm>
            <a:off x="5375992"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1" name="正方形/長方形 50"/>
          <p:cNvSpPr/>
          <p:nvPr/>
        </p:nvSpPr>
        <p:spPr bwMode="auto">
          <a:xfrm>
            <a:off x="6816008"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2" name="正方形/長方形 51"/>
          <p:cNvSpPr/>
          <p:nvPr/>
        </p:nvSpPr>
        <p:spPr bwMode="auto">
          <a:xfrm>
            <a:off x="6096000"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3" name="正方形/長方形 52"/>
          <p:cNvSpPr/>
          <p:nvPr/>
        </p:nvSpPr>
        <p:spPr bwMode="auto">
          <a:xfrm>
            <a:off x="4655984"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4" name="正方形/長方形 53"/>
          <p:cNvSpPr/>
          <p:nvPr/>
        </p:nvSpPr>
        <p:spPr bwMode="auto">
          <a:xfrm>
            <a:off x="5375992"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5" name="正方形/長方形 54"/>
          <p:cNvSpPr/>
          <p:nvPr/>
        </p:nvSpPr>
        <p:spPr bwMode="auto">
          <a:xfrm>
            <a:off x="6816008"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6" name="正方形/長方形 55"/>
          <p:cNvSpPr/>
          <p:nvPr/>
        </p:nvSpPr>
        <p:spPr bwMode="auto">
          <a:xfrm>
            <a:off x="6096000"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7" name="正方形/長方形 56"/>
          <p:cNvSpPr/>
          <p:nvPr/>
        </p:nvSpPr>
        <p:spPr bwMode="auto">
          <a:xfrm>
            <a:off x="4655984"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8" name="正方形/長方形 57"/>
          <p:cNvSpPr/>
          <p:nvPr/>
        </p:nvSpPr>
        <p:spPr bwMode="auto">
          <a:xfrm>
            <a:off x="5375992"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9" name="正方形/長方形 58"/>
          <p:cNvSpPr/>
          <p:nvPr/>
        </p:nvSpPr>
        <p:spPr bwMode="auto">
          <a:xfrm>
            <a:off x="6816008"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0" name="正方形/長方形 59"/>
          <p:cNvSpPr/>
          <p:nvPr/>
        </p:nvSpPr>
        <p:spPr bwMode="auto">
          <a:xfrm>
            <a:off x="6096000"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1" name="正方形/長方形 60"/>
          <p:cNvSpPr/>
          <p:nvPr/>
        </p:nvSpPr>
        <p:spPr bwMode="auto">
          <a:xfrm>
            <a:off x="4655984"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2" name="正方形/長方形 61"/>
          <p:cNvSpPr/>
          <p:nvPr/>
        </p:nvSpPr>
        <p:spPr bwMode="auto">
          <a:xfrm>
            <a:off x="5375992"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3" name="正方形/長方形 62"/>
          <p:cNvSpPr/>
          <p:nvPr/>
        </p:nvSpPr>
        <p:spPr bwMode="auto">
          <a:xfrm>
            <a:off x="6816008"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4" name="正方形/長方形 63"/>
          <p:cNvSpPr/>
          <p:nvPr/>
        </p:nvSpPr>
        <p:spPr bwMode="auto">
          <a:xfrm>
            <a:off x="6096000"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5" name="正方形/長方形 64"/>
          <p:cNvSpPr/>
          <p:nvPr/>
        </p:nvSpPr>
        <p:spPr bwMode="auto">
          <a:xfrm>
            <a:off x="4655984"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6" name="正方形/長方形 65"/>
          <p:cNvSpPr/>
          <p:nvPr/>
        </p:nvSpPr>
        <p:spPr bwMode="auto">
          <a:xfrm>
            <a:off x="5375992"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7" name="正方形/長方形 66"/>
          <p:cNvSpPr/>
          <p:nvPr/>
        </p:nvSpPr>
        <p:spPr bwMode="auto">
          <a:xfrm>
            <a:off x="6816008"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8" name="正方形/長方形 67"/>
          <p:cNvSpPr/>
          <p:nvPr/>
        </p:nvSpPr>
        <p:spPr bwMode="auto">
          <a:xfrm>
            <a:off x="6096000"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9" name="正方形/長方形 68"/>
          <p:cNvSpPr/>
          <p:nvPr/>
        </p:nvSpPr>
        <p:spPr bwMode="auto">
          <a:xfrm>
            <a:off x="4655984" y="818971"/>
            <a:ext cx="2880032"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メモリ</a:t>
            </a:r>
          </a:p>
        </p:txBody>
      </p:sp>
      <p:sp>
        <p:nvSpPr>
          <p:cNvPr id="72" name="角丸四角形 71"/>
          <p:cNvSpPr/>
          <p:nvPr/>
        </p:nvSpPr>
        <p:spPr bwMode="auto">
          <a:xfrm>
            <a:off x="2765819" y="2996354"/>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Consolas" panose="020B0609020204030204" pitchFamily="49" charset="0"/>
              </a:rPr>
              <a:t>I1</a:t>
            </a:r>
            <a:endParaRPr lang="ja-JP" altLang="en-US" dirty="0">
              <a:latin typeface="Consolas" panose="020B0609020204030204" pitchFamily="49" charset="0"/>
            </a:endParaRPr>
          </a:p>
        </p:txBody>
      </p:sp>
    </p:spTree>
    <p:extLst>
      <p:ext uri="{BB962C8B-B14F-4D97-AF65-F5344CB8AC3E}">
        <p14:creationId xmlns:p14="http://schemas.microsoft.com/office/powerpoint/2010/main" val="14896128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ストアの整列</a:t>
            </a:r>
            <a:r>
              <a:rPr kumimoji="1" lang="ja-JP" altLang="en-US" dirty="0"/>
              <a:t>（２）</a:t>
            </a:r>
          </a:p>
        </p:txBody>
      </p:sp>
      <p:sp>
        <p:nvSpPr>
          <p:cNvPr id="3" name="テキスト プレースホルダー 2"/>
          <p:cNvSpPr>
            <a:spLocks noGrp="1"/>
          </p:cNvSpPr>
          <p:nvPr>
            <p:ph type="body" sz="quarter" idx="10"/>
          </p:nvPr>
        </p:nvSpPr>
        <p:spPr>
          <a:xfrm>
            <a:off x="2135956" y="5229021"/>
            <a:ext cx="8280092" cy="899703"/>
          </a:xfrm>
        </p:spPr>
        <p:txBody>
          <a:bodyPr/>
          <a:lstStyle/>
          <a:p>
            <a:r>
              <a:rPr lang="en-US" altLang="ja-JP" dirty="0">
                <a:latin typeface="Consolas" panose="020B0609020204030204" pitchFamily="49" charset="0"/>
              </a:rPr>
              <a:t>I3:SW x2</a:t>
            </a:r>
            <a:r>
              <a:rPr lang="ja-JP" altLang="en-US" dirty="0">
                <a:latin typeface="Consolas" panose="020B0609020204030204" pitchFamily="49" charset="0"/>
              </a:rPr>
              <a:t>→</a:t>
            </a:r>
            <a:r>
              <a:rPr lang="en-US" altLang="ja-JP" dirty="0">
                <a:latin typeface="Consolas" panose="020B0609020204030204" pitchFamily="49" charset="0"/>
              </a:rPr>
              <a:t>(0x100) </a:t>
            </a:r>
            <a:r>
              <a:rPr lang="ja-JP" altLang="en-US" dirty="0">
                <a:latin typeface="Consolas" panose="020B0609020204030204" pitchFamily="49" charset="0"/>
              </a:rPr>
              <a:t>が完了</a:t>
            </a:r>
            <a:endParaRPr lang="en-US" altLang="ja-JP" dirty="0">
              <a:latin typeface="Consolas" panose="020B0609020204030204" pitchFamily="49" charset="0"/>
            </a:endParaRPr>
          </a:p>
          <a:p>
            <a:pPr lvl="1"/>
            <a:r>
              <a:rPr lang="ja-JP" altLang="en-US" dirty="0"/>
              <a:t>対応するエントリに同様に書き込む</a:t>
            </a:r>
            <a:endParaRPr lang="en-US" altLang="ja-JP" dirty="0"/>
          </a:p>
        </p:txBody>
      </p:sp>
      <p:grpSp>
        <p:nvGrpSpPr>
          <p:cNvPr id="4" name="グループ化 3"/>
          <p:cNvGrpSpPr/>
          <p:nvPr/>
        </p:nvGrpSpPr>
        <p:grpSpPr>
          <a:xfrm>
            <a:off x="2315958" y="3176356"/>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8076022" y="3158997"/>
            <a:ext cx="1584176"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 name="正方形/長方形 9"/>
          <p:cNvSpPr/>
          <p:nvPr/>
        </p:nvSpPr>
        <p:spPr>
          <a:xfrm>
            <a:off x="2279685" y="233039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1" name="正方形/長方形 10"/>
          <p:cNvSpPr/>
          <p:nvPr/>
        </p:nvSpPr>
        <p:spPr>
          <a:xfrm>
            <a:off x="8526028" y="234898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4655984" y="2168986"/>
            <a:ext cx="2879888" cy="2520028"/>
          </a:xfrm>
          <a:prstGeom prst="rect">
            <a:avLst/>
          </a:prstGeom>
          <a:ln>
            <a:solidFill>
              <a:schemeClr val="accent1"/>
            </a:solidFill>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 name="角丸四角形吹き出し 13"/>
          <p:cNvSpPr/>
          <p:nvPr/>
        </p:nvSpPr>
        <p:spPr bwMode="auto">
          <a:xfrm>
            <a:off x="7986021"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コミット・パイプ</a:t>
            </a:r>
            <a:endParaRPr lang="ja-JP" altLang="en-US" dirty="0">
              <a:solidFill>
                <a:schemeClr val="accent5"/>
              </a:solidFill>
            </a:endParaRPr>
          </a:p>
        </p:txBody>
      </p:sp>
      <p:sp>
        <p:nvSpPr>
          <p:cNvPr id="15" name="角丸四角形吹き出し 14"/>
          <p:cNvSpPr/>
          <p:nvPr/>
        </p:nvSpPr>
        <p:spPr bwMode="auto">
          <a:xfrm>
            <a:off x="2315958" y="3806364"/>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バックエンド</a:t>
            </a:r>
          </a:p>
        </p:txBody>
      </p:sp>
      <p:sp>
        <p:nvSpPr>
          <p:cNvPr id="16" name="正方形/長方形 15"/>
          <p:cNvSpPr/>
          <p:nvPr/>
        </p:nvSpPr>
        <p:spPr bwMode="auto">
          <a:xfrm>
            <a:off x="4655984"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7" name="正方形/長方形 16"/>
          <p:cNvSpPr/>
          <p:nvPr/>
        </p:nvSpPr>
        <p:spPr bwMode="auto">
          <a:xfrm>
            <a:off x="5375992"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8" name="正方形/長方形 17"/>
          <p:cNvSpPr/>
          <p:nvPr/>
        </p:nvSpPr>
        <p:spPr bwMode="auto">
          <a:xfrm>
            <a:off x="6816008"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9" name="正方形/長方形 18"/>
          <p:cNvSpPr/>
          <p:nvPr/>
        </p:nvSpPr>
        <p:spPr bwMode="auto">
          <a:xfrm>
            <a:off x="4565984"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完了</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フラグ</a:t>
            </a:r>
          </a:p>
        </p:txBody>
      </p:sp>
      <p:sp>
        <p:nvSpPr>
          <p:cNvPr id="20" name="正方形/長方形 19"/>
          <p:cNvSpPr/>
          <p:nvPr/>
        </p:nvSpPr>
        <p:spPr bwMode="auto">
          <a:xfrm>
            <a:off x="5285992"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LD/ST</a:t>
            </a:r>
            <a:endParaRPr lang="ja-JP" altLang="en-US" sz="1600" dirty="0">
              <a:solidFill>
                <a:schemeClr val="tx1">
                  <a:lumMod val="75000"/>
                  <a:lumOff val="25000"/>
                </a:schemeClr>
              </a:solidFill>
              <a:latin typeface="+mn-ea"/>
            </a:endParaRPr>
          </a:p>
        </p:txBody>
      </p:sp>
      <p:sp>
        <p:nvSpPr>
          <p:cNvPr id="21" name="正方形/長方形 20"/>
          <p:cNvSpPr/>
          <p:nvPr/>
        </p:nvSpPr>
        <p:spPr bwMode="auto">
          <a:xfrm>
            <a:off x="6096001"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err="1">
                <a:solidFill>
                  <a:schemeClr val="tx1">
                    <a:lumMod val="75000"/>
                    <a:lumOff val="25000"/>
                  </a:schemeClr>
                </a:solidFill>
                <a:latin typeface="+mn-ea"/>
              </a:rPr>
              <a:t>Addr</a:t>
            </a: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22" name="正方形/長方形 21"/>
          <p:cNvSpPr/>
          <p:nvPr/>
        </p:nvSpPr>
        <p:spPr bwMode="auto">
          <a:xfrm>
            <a:off x="4655984"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1</a:t>
            </a:r>
            <a:endParaRPr lang="ja-JP" altLang="en-US" dirty="0">
              <a:solidFill>
                <a:schemeClr val="tx1">
                  <a:lumMod val="75000"/>
                  <a:lumOff val="25000"/>
                </a:schemeClr>
              </a:solidFill>
              <a:latin typeface="+mn-ea"/>
            </a:endParaRPr>
          </a:p>
        </p:txBody>
      </p:sp>
      <p:sp>
        <p:nvSpPr>
          <p:cNvPr id="23" name="正方形/長方形 22"/>
          <p:cNvSpPr/>
          <p:nvPr/>
        </p:nvSpPr>
        <p:spPr bwMode="auto">
          <a:xfrm>
            <a:off x="5375992"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ST</a:t>
            </a:r>
            <a:endParaRPr lang="ja-JP" altLang="en-US" dirty="0">
              <a:solidFill>
                <a:schemeClr val="tx1">
                  <a:lumMod val="75000"/>
                  <a:lumOff val="25000"/>
                </a:schemeClr>
              </a:solidFill>
              <a:latin typeface="+mn-ea"/>
            </a:endParaRPr>
          </a:p>
        </p:txBody>
      </p:sp>
      <p:sp>
        <p:nvSpPr>
          <p:cNvPr id="24" name="正方形/長方形 23"/>
          <p:cNvSpPr/>
          <p:nvPr/>
        </p:nvSpPr>
        <p:spPr bwMode="auto">
          <a:xfrm>
            <a:off x="6816008"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0x123</a:t>
            </a:r>
            <a:endParaRPr lang="ja-JP" altLang="en-US" sz="1400" dirty="0">
              <a:solidFill>
                <a:schemeClr val="tx1">
                  <a:lumMod val="75000"/>
                  <a:lumOff val="25000"/>
                </a:schemeClr>
              </a:solidFill>
              <a:latin typeface="+mn-ea"/>
            </a:endParaRPr>
          </a:p>
        </p:txBody>
      </p:sp>
      <p:sp>
        <p:nvSpPr>
          <p:cNvPr id="40" name="正方形/長方形 39"/>
          <p:cNvSpPr/>
          <p:nvPr/>
        </p:nvSpPr>
        <p:spPr bwMode="auto">
          <a:xfrm>
            <a:off x="4205980" y="252899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I1</a:t>
            </a:r>
            <a:endParaRPr lang="ja-JP" altLang="en-US" sz="1600" dirty="0">
              <a:solidFill>
                <a:schemeClr val="accent1"/>
              </a:solidFill>
              <a:latin typeface="+mn-ea"/>
            </a:endParaRPr>
          </a:p>
        </p:txBody>
      </p:sp>
      <p:sp>
        <p:nvSpPr>
          <p:cNvPr id="41" name="正方形/長方形 40"/>
          <p:cNvSpPr/>
          <p:nvPr/>
        </p:nvSpPr>
        <p:spPr bwMode="auto">
          <a:xfrm>
            <a:off x="4205980" y="288899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I2</a:t>
            </a:r>
            <a:endParaRPr lang="ja-JP" altLang="en-US" sz="1600" dirty="0">
              <a:solidFill>
                <a:schemeClr val="accent1"/>
              </a:solidFill>
              <a:latin typeface="+mn-ea"/>
            </a:endParaRPr>
          </a:p>
        </p:txBody>
      </p:sp>
      <p:sp>
        <p:nvSpPr>
          <p:cNvPr id="42" name="正方形/長方形 41"/>
          <p:cNvSpPr/>
          <p:nvPr/>
        </p:nvSpPr>
        <p:spPr bwMode="auto">
          <a:xfrm>
            <a:off x="4205980" y="324899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I3</a:t>
            </a:r>
            <a:endParaRPr lang="ja-JP" altLang="en-US" sz="1600" dirty="0">
              <a:solidFill>
                <a:schemeClr val="accent1"/>
              </a:solidFill>
              <a:latin typeface="+mn-ea"/>
            </a:endParaRPr>
          </a:p>
        </p:txBody>
      </p:sp>
      <p:sp>
        <p:nvSpPr>
          <p:cNvPr id="43" name="右矢印 42"/>
          <p:cNvSpPr/>
          <p:nvPr/>
        </p:nvSpPr>
        <p:spPr bwMode="auto">
          <a:xfrm rot="10800000" flipV="1">
            <a:off x="7626017" y="2078985"/>
            <a:ext cx="900010" cy="540006"/>
          </a:xfrm>
          <a:prstGeom prst="rightArrow">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監視</a:t>
            </a:r>
          </a:p>
        </p:txBody>
      </p:sp>
      <p:sp>
        <p:nvSpPr>
          <p:cNvPr id="45" name="正方形/長方形 44"/>
          <p:cNvSpPr/>
          <p:nvPr/>
        </p:nvSpPr>
        <p:spPr bwMode="auto">
          <a:xfrm>
            <a:off x="6096000"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7" name="正方形/長方形 46"/>
          <p:cNvSpPr/>
          <p:nvPr/>
        </p:nvSpPr>
        <p:spPr bwMode="auto">
          <a:xfrm>
            <a:off x="6816009"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Data</a:t>
            </a:r>
            <a:endParaRPr lang="ja-JP" altLang="en-US" sz="1600" dirty="0">
              <a:solidFill>
                <a:schemeClr val="tx1">
                  <a:lumMod val="75000"/>
                  <a:lumOff val="25000"/>
                </a:schemeClr>
              </a:solidFill>
              <a:latin typeface="+mn-ea"/>
            </a:endParaRPr>
          </a:p>
        </p:txBody>
      </p:sp>
      <p:sp>
        <p:nvSpPr>
          <p:cNvPr id="48" name="正方形/長方形 47"/>
          <p:cNvSpPr/>
          <p:nvPr/>
        </p:nvSpPr>
        <p:spPr bwMode="auto">
          <a:xfrm>
            <a:off x="6096000"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0x100</a:t>
            </a:r>
            <a:endParaRPr lang="ja-JP" altLang="en-US" sz="1400" dirty="0">
              <a:solidFill>
                <a:schemeClr val="tx1">
                  <a:lumMod val="75000"/>
                  <a:lumOff val="25000"/>
                </a:schemeClr>
              </a:solidFill>
              <a:latin typeface="+mn-ea"/>
            </a:endParaRPr>
          </a:p>
        </p:txBody>
      </p:sp>
      <p:sp>
        <p:nvSpPr>
          <p:cNvPr id="49" name="正方形/長方形 48"/>
          <p:cNvSpPr/>
          <p:nvPr/>
        </p:nvSpPr>
        <p:spPr bwMode="auto">
          <a:xfrm>
            <a:off x="4655984"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0</a:t>
            </a:r>
            <a:endParaRPr lang="ja-JP" altLang="en-US" dirty="0">
              <a:solidFill>
                <a:schemeClr val="tx1">
                  <a:lumMod val="75000"/>
                  <a:lumOff val="25000"/>
                </a:schemeClr>
              </a:solidFill>
              <a:latin typeface="+mn-ea"/>
            </a:endParaRPr>
          </a:p>
        </p:txBody>
      </p:sp>
      <p:sp>
        <p:nvSpPr>
          <p:cNvPr id="50" name="正方形/長方形 49"/>
          <p:cNvSpPr/>
          <p:nvPr/>
        </p:nvSpPr>
        <p:spPr bwMode="auto">
          <a:xfrm>
            <a:off x="5375992"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1" name="正方形/長方形 50"/>
          <p:cNvSpPr/>
          <p:nvPr/>
        </p:nvSpPr>
        <p:spPr bwMode="auto">
          <a:xfrm>
            <a:off x="6816008"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2" name="正方形/長方形 51"/>
          <p:cNvSpPr/>
          <p:nvPr/>
        </p:nvSpPr>
        <p:spPr bwMode="auto">
          <a:xfrm>
            <a:off x="6096000"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7" name="正方形/長方形 56"/>
          <p:cNvSpPr/>
          <p:nvPr/>
        </p:nvSpPr>
        <p:spPr bwMode="auto">
          <a:xfrm>
            <a:off x="4655984"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8" name="正方形/長方形 57"/>
          <p:cNvSpPr/>
          <p:nvPr/>
        </p:nvSpPr>
        <p:spPr bwMode="auto">
          <a:xfrm>
            <a:off x="5375992"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9" name="正方形/長方形 58"/>
          <p:cNvSpPr/>
          <p:nvPr/>
        </p:nvSpPr>
        <p:spPr bwMode="auto">
          <a:xfrm>
            <a:off x="6816008"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0" name="正方形/長方形 59"/>
          <p:cNvSpPr/>
          <p:nvPr/>
        </p:nvSpPr>
        <p:spPr bwMode="auto">
          <a:xfrm>
            <a:off x="6096000"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1" name="正方形/長方形 60"/>
          <p:cNvSpPr/>
          <p:nvPr/>
        </p:nvSpPr>
        <p:spPr bwMode="auto">
          <a:xfrm>
            <a:off x="4655984"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2" name="正方形/長方形 61"/>
          <p:cNvSpPr/>
          <p:nvPr/>
        </p:nvSpPr>
        <p:spPr bwMode="auto">
          <a:xfrm>
            <a:off x="5375992"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3" name="正方形/長方形 62"/>
          <p:cNvSpPr/>
          <p:nvPr/>
        </p:nvSpPr>
        <p:spPr bwMode="auto">
          <a:xfrm>
            <a:off x="6816008"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4" name="正方形/長方形 63"/>
          <p:cNvSpPr/>
          <p:nvPr/>
        </p:nvSpPr>
        <p:spPr bwMode="auto">
          <a:xfrm>
            <a:off x="6096000"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5" name="正方形/長方形 64"/>
          <p:cNvSpPr/>
          <p:nvPr/>
        </p:nvSpPr>
        <p:spPr bwMode="auto">
          <a:xfrm>
            <a:off x="4655984"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6" name="正方形/長方形 65"/>
          <p:cNvSpPr/>
          <p:nvPr/>
        </p:nvSpPr>
        <p:spPr bwMode="auto">
          <a:xfrm>
            <a:off x="5375992"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7" name="正方形/長方形 66"/>
          <p:cNvSpPr/>
          <p:nvPr/>
        </p:nvSpPr>
        <p:spPr bwMode="auto">
          <a:xfrm>
            <a:off x="6816008"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8" name="正方形/長方形 67"/>
          <p:cNvSpPr/>
          <p:nvPr/>
        </p:nvSpPr>
        <p:spPr bwMode="auto">
          <a:xfrm>
            <a:off x="6096000"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9" name="正方形/長方形 68"/>
          <p:cNvSpPr/>
          <p:nvPr/>
        </p:nvSpPr>
        <p:spPr bwMode="auto">
          <a:xfrm>
            <a:off x="4655984" y="818971"/>
            <a:ext cx="2880032"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メモリ</a:t>
            </a:r>
          </a:p>
        </p:txBody>
      </p:sp>
      <p:sp>
        <p:nvSpPr>
          <p:cNvPr id="72" name="角丸四角形 71"/>
          <p:cNvSpPr/>
          <p:nvPr/>
        </p:nvSpPr>
        <p:spPr bwMode="auto">
          <a:xfrm>
            <a:off x="2765819" y="2996354"/>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Consolas" panose="020B0609020204030204" pitchFamily="49" charset="0"/>
              </a:rPr>
              <a:t>I3</a:t>
            </a:r>
            <a:endParaRPr lang="ja-JP" altLang="en-US" dirty="0">
              <a:latin typeface="Consolas" panose="020B0609020204030204" pitchFamily="49" charset="0"/>
            </a:endParaRPr>
          </a:p>
        </p:txBody>
      </p:sp>
      <p:sp>
        <p:nvSpPr>
          <p:cNvPr id="70" name="正方形/長方形 69"/>
          <p:cNvSpPr/>
          <p:nvPr/>
        </p:nvSpPr>
        <p:spPr bwMode="auto">
          <a:xfrm>
            <a:off x="4655984"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1</a:t>
            </a:r>
            <a:endParaRPr lang="ja-JP" altLang="en-US" b="1" dirty="0">
              <a:solidFill>
                <a:schemeClr val="accent1"/>
              </a:solidFill>
              <a:latin typeface="+mn-ea"/>
            </a:endParaRPr>
          </a:p>
        </p:txBody>
      </p:sp>
      <p:sp>
        <p:nvSpPr>
          <p:cNvPr id="71" name="正方形/長方形 70"/>
          <p:cNvSpPr/>
          <p:nvPr/>
        </p:nvSpPr>
        <p:spPr bwMode="auto">
          <a:xfrm>
            <a:off x="5375992"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ST</a:t>
            </a:r>
            <a:endParaRPr lang="ja-JP" altLang="en-US" b="1" dirty="0">
              <a:solidFill>
                <a:schemeClr val="accent1"/>
              </a:solidFill>
              <a:latin typeface="+mn-ea"/>
            </a:endParaRPr>
          </a:p>
        </p:txBody>
      </p:sp>
      <p:sp>
        <p:nvSpPr>
          <p:cNvPr id="73" name="正方形/長方形 72"/>
          <p:cNvSpPr/>
          <p:nvPr/>
        </p:nvSpPr>
        <p:spPr bwMode="auto">
          <a:xfrm>
            <a:off x="6816008"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accent1"/>
                </a:solidFill>
                <a:latin typeface="+mn-ea"/>
              </a:rPr>
              <a:t>0x456</a:t>
            </a:r>
            <a:endParaRPr lang="ja-JP" altLang="en-US" sz="1400" b="1" dirty="0">
              <a:solidFill>
                <a:schemeClr val="accent1"/>
              </a:solidFill>
              <a:latin typeface="+mn-ea"/>
            </a:endParaRPr>
          </a:p>
        </p:txBody>
      </p:sp>
      <p:sp>
        <p:nvSpPr>
          <p:cNvPr id="74" name="正方形/長方形 73"/>
          <p:cNvSpPr/>
          <p:nvPr/>
        </p:nvSpPr>
        <p:spPr bwMode="auto">
          <a:xfrm>
            <a:off x="6096000"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accent1"/>
                </a:solidFill>
                <a:latin typeface="+mn-ea"/>
              </a:rPr>
              <a:t>0x100</a:t>
            </a:r>
            <a:endParaRPr lang="ja-JP" altLang="en-US" sz="1400" b="1" dirty="0">
              <a:solidFill>
                <a:schemeClr val="accent1"/>
              </a:solidFill>
              <a:latin typeface="+mn-ea"/>
            </a:endParaRPr>
          </a:p>
        </p:txBody>
      </p:sp>
    </p:spTree>
    <p:extLst>
      <p:ext uri="{BB962C8B-B14F-4D97-AF65-F5344CB8AC3E}">
        <p14:creationId xmlns:p14="http://schemas.microsoft.com/office/powerpoint/2010/main" val="21255437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ストアの整列</a:t>
            </a:r>
            <a:r>
              <a:rPr kumimoji="1" lang="ja-JP" altLang="en-US" dirty="0"/>
              <a:t>（３）</a:t>
            </a:r>
          </a:p>
        </p:txBody>
      </p:sp>
      <p:sp>
        <p:nvSpPr>
          <p:cNvPr id="3" name="テキスト プレースホルダー 2"/>
          <p:cNvSpPr>
            <a:spLocks noGrp="1"/>
          </p:cNvSpPr>
          <p:nvPr>
            <p:ph type="body" sz="quarter" idx="10"/>
          </p:nvPr>
        </p:nvSpPr>
        <p:spPr>
          <a:xfrm>
            <a:off x="2135956" y="5319022"/>
            <a:ext cx="8280092" cy="899703"/>
          </a:xfrm>
        </p:spPr>
        <p:txBody>
          <a:bodyPr/>
          <a:lstStyle/>
          <a:p>
            <a:r>
              <a:rPr lang="ja-JP" altLang="en-US" dirty="0">
                <a:latin typeface="Consolas" panose="020B0609020204030204" pitchFamily="49" charset="0"/>
              </a:rPr>
              <a:t>監視対象が </a:t>
            </a:r>
            <a:r>
              <a:rPr lang="en-US" altLang="ja-JP" dirty="0">
                <a:latin typeface="Consolas" panose="020B0609020204030204" pitchFamily="49" charset="0"/>
              </a:rPr>
              <a:t>I1 </a:t>
            </a:r>
            <a:r>
              <a:rPr lang="ja-JP" altLang="en-US" dirty="0">
                <a:latin typeface="Consolas" panose="020B0609020204030204" pitchFamily="49" charset="0"/>
              </a:rPr>
              <a:t>に移り，完了していることを検出</a:t>
            </a:r>
            <a:endParaRPr lang="en-US" altLang="ja-JP" dirty="0">
              <a:latin typeface="Consolas" panose="020B0609020204030204" pitchFamily="49" charset="0"/>
            </a:endParaRPr>
          </a:p>
          <a:p>
            <a:pPr lvl="1"/>
            <a:r>
              <a:rPr lang="ja-JP" altLang="en-US" dirty="0">
                <a:latin typeface="Consolas" panose="020B0609020204030204" pitchFamily="49" charset="0"/>
              </a:rPr>
              <a:t>コミット・パイプからメモリにデータを書き込む</a:t>
            </a:r>
            <a:endParaRPr lang="en-US" altLang="ja-JP" dirty="0">
              <a:latin typeface="Consolas" panose="020B0609020204030204" pitchFamily="49" charset="0"/>
            </a:endParaRPr>
          </a:p>
          <a:p>
            <a:r>
              <a:rPr lang="ja-JP" altLang="en-US" dirty="0">
                <a:latin typeface="Consolas" panose="020B0609020204030204" pitchFamily="49" charset="0"/>
              </a:rPr>
              <a:t>監視ポイントがプログラム順に下に移動していく </a:t>
            </a:r>
            <a:r>
              <a:rPr lang="en-US" altLang="ja-JP" dirty="0">
                <a:latin typeface="Consolas" panose="020B0609020204030204" pitchFamily="49" charset="0"/>
              </a:rPr>
              <a:t>= </a:t>
            </a:r>
            <a:r>
              <a:rPr lang="ja-JP" altLang="en-US" dirty="0">
                <a:solidFill>
                  <a:schemeClr val="accent5"/>
                </a:solidFill>
                <a:latin typeface="Consolas" panose="020B0609020204030204" pitchFamily="49" charset="0"/>
              </a:rPr>
              <a:t>ストアの整列</a:t>
            </a:r>
            <a:endParaRPr lang="en-US" altLang="ja-JP" dirty="0">
              <a:solidFill>
                <a:schemeClr val="accent5"/>
              </a:solidFill>
              <a:latin typeface="Consolas" panose="020B0609020204030204" pitchFamily="49" charset="0"/>
            </a:endParaRPr>
          </a:p>
          <a:p>
            <a:pPr lvl="1"/>
            <a:r>
              <a:rPr lang="ja-JP" altLang="en-US" dirty="0">
                <a:latin typeface="Consolas" panose="020B0609020204030204" pitchFamily="49" charset="0"/>
              </a:rPr>
              <a:t>元のプログラム順でメモリに対してデータが書き込まれる</a:t>
            </a:r>
            <a:endParaRPr lang="en-US" altLang="ja-JP" dirty="0">
              <a:latin typeface="Consolas" panose="020B0609020204030204" pitchFamily="49" charset="0"/>
            </a:endParaRPr>
          </a:p>
        </p:txBody>
      </p:sp>
      <p:grpSp>
        <p:nvGrpSpPr>
          <p:cNvPr id="4" name="グループ化 3"/>
          <p:cNvGrpSpPr/>
          <p:nvPr/>
        </p:nvGrpSpPr>
        <p:grpSpPr>
          <a:xfrm>
            <a:off x="2315958" y="3176356"/>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8076022" y="3158997"/>
            <a:ext cx="1584176"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 name="正方形/長方形 9"/>
          <p:cNvSpPr/>
          <p:nvPr/>
        </p:nvSpPr>
        <p:spPr>
          <a:xfrm>
            <a:off x="2279685" y="233039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1" name="正方形/長方形 10"/>
          <p:cNvSpPr/>
          <p:nvPr/>
        </p:nvSpPr>
        <p:spPr>
          <a:xfrm>
            <a:off x="8526028" y="234898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4655984" y="2168986"/>
            <a:ext cx="2879888" cy="2520028"/>
          </a:xfrm>
          <a:prstGeom prst="rect">
            <a:avLst/>
          </a:prstGeom>
          <a:ln>
            <a:solidFill>
              <a:schemeClr val="accent1"/>
            </a:solidFill>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 name="角丸四角形吹き出し 13"/>
          <p:cNvSpPr/>
          <p:nvPr/>
        </p:nvSpPr>
        <p:spPr bwMode="auto">
          <a:xfrm>
            <a:off x="7986021"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コミット・パイプ</a:t>
            </a:r>
            <a:endParaRPr lang="ja-JP" altLang="en-US" dirty="0">
              <a:solidFill>
                <a:schemeClr val="accent5"/>
              </a:solidFill>
            </a:endParaRPr>
          </a:p>
        </p:txBody>
      </p:sp>
      <p:sp>
        <p:nvSpPr>
          <p:cNvPr id="15" name="角丸四角形吹き出し 14"/>
          <p:cNvSpPr/>
          <p:nvPr/>
        </p:nvSpPr>
        <p:spPr bwMode="auto">
          <a:xfrm>
            <a:off x="2315958" y="3806364"/>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バックエンド</a:t>
            </a:r>
          </a:p>
        </p:txBody>
      </p:sp>
      <p:sp>
        <p:nvSpPr>
          <p:cNvPr id="16" name="正方形/長方形 15"/>
          <p:cNvSpPr/>
          <p:nvPr/>
        </p:nvSpPr>
        <p:spPr bwMode="auto">
          <a:xfrm>
            <a:off x="4655984"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7" name="正方形/長方形 16"/>
          <p:cNvSpPr/>
          <p:nvPr/>
        </p:nvSpPr>
        <p:spPr bwMode="auto">
          <a:xfrm>
            <a:off x="5375992"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8" name="正方形/長方形 17"/>
          <p:cNvSpPr/>
          <p:nvPr/>
        </p:nvSpPr>
        <p:spPr bwMode="auto">
          <a:xfrm>
            <a:off x="6816008"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9" name="正方形/長方形 18"/>
          <p:cNvSpPr/>
          <p:nvPr/>
        </p:nvSpPr>
        <p:spPr bwMode="auto">
          <a:xfrm>
            <a:off x="4565984"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完了</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フラグ</a:t>
            </a:r>
          </a:p>
        </p:txBody>
      </p:sp>
      <p:sp>
        <p:nvSpPr>
          <p:cNvPr id="20" name="正方形/長方形 19"/>
          <p:cNvSpPr/>
          <p:nvPr/>
        </p:nvSpPr>
        <p:spPr bwMode="auto">
          <a:xfrm>
            <a:off x="5285992"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LD/ST</a:t>
            </a:r>
            <a:endParaRPr lang="ja-JP" altLang="en-US" sz="1600" dirty="0">
              <a:solidFill>
                <a:schemeClr val="tx1">
                  <a:lumMod val="75000"/>
                  <a:lumOff val="25000"/>
                </a:schemeClr>
              </a:solidFill>
              <a:latin typeface="+mn-ea"/>
            </a:endParaRPr>
          </a:p>
        </p:txBody>
      </p:sp>
      <p:sp>
        <p:nvSpPr>
          <p:cNvPr id="21" name="正方形/長方形 20"/>
          <p:cNvSpPr/>
          <p:nvPr/>
        </p:nvSpPr>
        <p:spPr bwMode="auto">
          <a:xfrm>
            <a:off x="6096001"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err="1">
                <a:solidFill>
                  <a:schemeClr val="tx1">
                    <a:lumMod val="75000"/>
                    <a:lumOff val="25000"/>
                  </a:schemeClr>
                </a:solidFill>
                <a:latin typeface="+mn-ea"/>
              </a:rPr>
              <a:t>Addr</a:t>
            </a: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22" name="正方形/長方形 21"/>
          <p:cNvSpPr/>
          <p:nvPr/>
        </p:nvSpPr>
        <p:spPr bwMode="auto">
          <a:xfrm>
            <a:off x="4655984"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1</a:t>
            </a:r>
            <a:endParaRPr lang="ja-JP" altLang="en-US" b="1" dirty="0">
              <a:solidFill>
                <a:schemeClr val="accent1"/>
              </a:solidFill>
              <a:latin typeface="+mn-ea"/>
            </a:endParaRPr>
          </a:p>
        </p:txBody>
      </p:sp>
      <p:sp>
        <p:nvSpPr>
          <p:cNvPr id="23" name="正方形/長方形 22"/>
          <p:cNvSpPr/>
          <p:nvPr/>
        </p:nvSpPr>
        <p:spPr bwMode="auto">
          <a:xfrm>
            <a:off x="5375992"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ST</a:t>
            </a:r>
            <a:endParaRPr lang="ja-JP" altLang="en-US" b="1" dirty="0">
              <a:solidFill>
                <a:schemeClr val="accent1"/>
              </a:solidFill>
              <a:latin typeface="+mn-ea"/>
            </a:endParaRPr>
          </a:p>
        </p:txBody>
      </p:sp>
      <p:sp>
        <p:nvSpPr>
          <p:cNvPr id="24" name="正方形/長方形 23"/>
          <p:cNvSpPr/>
          <p:nvPr/>
        </p:nvSpPr>
        <p:spPr bwMode="auto">
          <a:xfrm>
            <a:off x="6816008"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accent1"/>
                </a:solidFill>
                <a:latin typeface="+mn-ea"/>
              </a:rPr>
              <a:t>0x123</a:t>
            </a:r>
            <a:endParaRPr lang="ja-JP" altLang="en-US" sz="1400" b="1" dirty="0">
              <a:solidFill>
                <a:schemeClr val="accent1"/>
              </a:solidFill>
              <a:latin typeface="+mn-ea"/>
            </a:endParaRPr>
          </a:p>
        </p:txBody>
      </p:sp>
      <p:sp>
        <p:nvSpPr>
          <p:cNvPr id="40" name="正方形/長方形 39"/>
          <p:cNvSpPr/>
          <p:nvPr/>
        </p:nvSpPr>
        <p:spPr bwMode="auto">
          <a:xfrm>
            <a:off x="4205980" y="252899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I1</a:t>
            </a:r>
            <a:endParaRPr lang="ja-JP" altLang="en-US" sz="1600" dirty="0">
              <a:solidFill>
                <a:schemeClr val="accent1"/>
              </a:solidFill>
              <a:latin typeface="+mn-ea"/>
            </a:endParaRPr>
          </a:p>
        </p:txBody>
      </p:sp>
      <p:sp>
        <p:nvSpPr>
          <p:cNvPr id="41" name="正方形/長方形 40"/>
          <p:cNvSpPr/>
          <p:nvPr/>
        </p:nvSpPr>
        <p:spPr bwMode="auto">
          <a:xfrm>
            <a:off x="4205980" y="288899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I2</a:t>
            </a:r>
            <a:endParaRPr lang="ja-JP" altLang="en-US" sz="1600" dirty="0">
              <a:solidFill>
                <a:schemeClr val="accent1"/>
              </a:solidFill>
              <a:latin typeface="+mn-ea"/>
            </a:endParaRPr>
          </a:p>
        </p:txBody>
      </p:sp>
      <p:sp>
        <p:nvSpPr>
          <p:cNvPr id="42" name="正方形/長方形 41"/>
          <p:cNvSpPr/>
          <p:nvPr/>
        </p:nvSpPr>
        <p:spPr bwMode="auto">
          <a:xfrm>
            <a:off x="4205980" y="324899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I3</a:t>
            </a:r>
            <a:endParaRPr lang="ja-JP" altLang="en-US" sz="1600" dirty="0">
              <a:solidFill>
                <a:schemeClr val="accent1"/>
              </a:solidFill>
              <a:latin typeface="+mn-ea"/>
            </a:endParaRPr>
          </a:p>
        </p:txBody>
      </p:sp>
      <p:sp>
        <p:nvSpPr>
          <p:cNvPr id="43" name="右矢印 42"/>
          <p:cNvSpPr/>
          <p:nvPr/>
        </p:nvSpPr>
        <p:spPr bwMode="auto">
          <a:xfrm rot="10800000" flipV="1">
            <a:off x="7626017" y="2438989"/>
            <a:ext cx="900010" cy="540006"/>
          </a:xfrm>
          <a:prstGeom prst="rightArrow">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監視</a:t>
            </a:r>
          </a:p>
        </p:txBody>
      </p:sp>
      <p:sp>
        <p:nvSpPr>
          <p:cNvPr id="45" name="正方形/長方形 44"/>
          <p:cNvSpPr/>
          <p:nvPr/>
        </p:nvSpPr>
        <p:spPr bwMode="auto">
          <a:xfrm>
            <a:off x="6096000"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7" name="正方形/長方形 46"/>
          <p:cNvSpPr/>
          <p:nvPr/>
        </p:nvSpPr>
        <p:spPr bwMode="auto">
          <a:xfrm>
            <a:off x="6816009"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Data</a:t>
            </a:r>
            <a:endParaRPr lang="ja-JP" altLang="en-US" sz="1600" dirty="0">
              <a:solidFill>
                <a:schemeClr val="tx1">
                  <a:lumMod val="75000"/>
                  <a:lumOff val="25000"/>
                </a:schemeClr>
              </a:solidFill>
              <a:latin typeface="+mn-ea"/>
            </a:endParaRPr>
          </a:p>
        </p:txBody>
      </p:sp>
      <p:sp>
        <p:nvSpPr>
          <p:cNvPr id="48" name="正方形/長方形 47"/>
          <p:cNvSpPr/>
          <p:nvPr/>
        </p:nvSpPr>
        <p:spPr bwMode="auto">
          <a:xfrm>
            <a:off x="6096000"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accent1"/>
                </a:solidFill>
                <a:latin typeface="+mn-ea"/>
              </a:rPr>
              <a:t>0x100</a:t>
            </a:r>
            <a:endParaRPr lang="ja-JP" altLang="en-US" sz="1400" b="1" dirty="0">
              <a:solidFill>
                <a:schemeClr val="accent1"/>
              </a:solidFill>
              <a:latin typeface="+mn-ea"/>
            </a:endParaRPr>
          </a:p>
        </p:txBody>
      </p:sp>
      <p:sp>
        <p:nvSpPr>
          <p:cNvPr id="49" name="正方形/長方形 48"/>
          <p:cNvSpPr/>
          <p:nvPr/>
        </p:nvSpPr>
        <p:spPr bwMode="auto">
          <a:xfrm>
            <a:off x="4655984"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0" name="正方形/長方形 49"/>
          <p:cNvSpPr/>
          <p:nvPr/>
        </p:nvSpPr>
        <p:spPr bwMode="auto">
          <a:xfrm>
            <a:off x="5375992"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1" name="正方形/長方形 50"/>
          <p:cNvSpPr/>
          <p:nvPr/>
        </p:nvSpPr>
        <p:spPr bwMode="auto">
          <a:xfrm>
            <a:off x="6816008"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2" name="正方形/長方形 51"/>
          <p:cNvSpPr/>
          <p:nvPr/>
        </p:nvSpPr>
        <p:spPr bwMode="auto">
          <a:xfrm>
            <a:off x="6096000"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7" name="正方形/長方形 56"/>
          <p:cNvSpPr/>
          <p:nvPr/>
        </p:nvSpPr>
        <p:spPr bwMode="auto">
          <a:xfrm>
            <a:off x="4655984"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8" name="正方形/長方形 57"/>
          <p:cNvSpPr/>
          <p:nvPr/>
        </p:nvSpPr>
        <p:spPr bwMode="auto">
          <a:xfrm>
            <a:off x="5375992"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9" name="正方形/長方形 58"/>
          <p:cNvSpPr/>
          <p:nvPr/>
        </p:nvSpPr>
        <p:spPr bwMode="auto">
          <a:xfrm>
            <a:off x="6816008"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0" name="正方形/長方形 59"/>
          <p:cNvSpPr/>
          <p:nvPr/>
        </p:nvSpPr>
        <p:spPr bwMode="auto">
          <a:xfrm>
            <a:off x="6096000"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1" name="正方形/長方形 60"/>
          <p:cNvSpPr/>
          <p:nvPr/>
        </p:nvSpPr>
        <p:spPr bwMode="auto">
          <a:xfrm>
            <a:off x="4655984"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2" name="正方形/長方形 61"/>
          <p:cNvSpPr/>
          <p:nvPr/>
        </p:nvSpPr>
        <p:spPr bwMode="auto">
          <a:xfrm>
            <a:off x="5375992"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3" name="正方形/長方形 62"/>
          <p:cNvSpPr/>
          <p:nvPr/>
        </p:nvSpPr>
        <p:spPr bwMode="auto">
          <a:xfrm>
            <a:off x="6816008"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4" name="正方形/長方形 63"/>
          <p:cNvSpPr/>
          <p:nvPr/>
        </p:nvSpPr>
        <p:spPr bwMode="auto">
          <a:xfrm>
            <a:off x="6096000"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5" name="正方形/長方形 64"/>
          <p:cNvSpPr/>
          <p:nvPr/>
        </p:nvSpPr>
        <p:spPr bwMode="auto">
          <a:xfrm>
            <a:off x="4655984"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6" name="正方形/長方形 65"/>
          <p:cNvSpPr/>
          <p:nvPr/>
        </p:nvSpPr>
        <p:spPr bwMode="auto">
          <a:xfrm>
            <a:off x="5375992"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7" name="正方形/長方形 66"/>
          <p:cNvSpPr/>
          <p:nvPr/>
        </p:nvSpPr>
        <p:spPr bwMode="auto">
          <a:xfrm>
            <a:off x="6816008"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8" name="正方形/長方形 67"/>
          <p:cNvSpPr/>
          <p:nvPr/>
        </p:nvSpPr>
        <p:spPr bwMode="auto">
          <a:xfrm>
            <a:off x="6096000"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9" name="正方形/長方形 68"/>
          <p:cNvSpPr/>
          <p:nvPr/>
        </p:nvSpPr>
        <p:spPr bwMode="auto">
          <a:xfrm>
            <a:off x="4655984" y="818971"/>
            <a:ext cx="2880032"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メモリ</a:t>
            </a:r>
          </a:p>
        </p:txBody>
      </p:sp>
      <p:sp>
        <p:nvSpPr>
          <p:cNvPr id="72" name="角丸四角形 71"/>
          <p:cNvSpPr/>
          <p:nvPr/>
        </p:nvSpPr>
        <p:spPr bwMode="auto">
          <a:xfrm>
            <a:off x="8616028" y="2978995"/>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Consolas" panose="020B0609020204030204" pitchFamily="49" charset="0"/>
              </a:rPr>
              <a:t>I1</a:t>
            </a:r>
            <a:endParaRPr lang="ja-JP" altLang="en-US" dirty="0">
              <a:latin typeface="Consolas" panose="020B0609020204030204" pitchFamily="49" charset="0"/>
            </a:endParaRPr>
          </a:p>
        </p:txBody>
      </p:sp>
      <p:sp>
        <p:nvSpPr>
          <p:cNvPr id="70" name="曲折矢印 69"/>
          <p:cNvSpPr/>
          <p:nvPr/>
        </p:nvSpPr>
        <p:spPr bwMode="auto">
          <a:xfrm flipH="1">
            <a:off x="7716017" y="818972"/>
            <a:ext cx="1260013" cy="1350015"/>
          </a:xfrm>
          <a:prstGeom prst="bentArrow">
            <a:avLst>
              <a:gd name="adj1" fmla="val 20870"/>
              <a:gd name="adj2" fmla="val 25000"/>
              <a:gd name="adj3" fmla="val 23230"/>
              <a:gd name="adj4" fmla="val 43750"/>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書き込み</a:t>
            </a:r>
          </a:p>
        </p:txBody>
      </p:sp>
      <p:sp>
        <p:nvSpPr>
          <p:cNvPr id="71" name="正方形/長方形 70"/>
          <p:cNvSpPr/>
          <p:nvPr/>
        </p:nvSpPr>
        <p:spPr bwMode="auto">
          <a:xfrm>
            <a:off x="4655984"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1</a:t>
            </a:r>
            <a:endParaRPr lang="ja-JP" altLang="en-US" dirty="0">
              <a:solidFill>
                <a:schemeClr val="tx1">
                  <a:lumMod val="75000"/>
                  <a:lumOff val="25000"/>
                </a:schemeClr>
              </a:solidFill>
              <a:latin typeface="+mn-ea"/>
            </a:endParaRPr>
          </a:p>
        </p:txBody>
      </p:sp>
      <p:sp>
        <p:nvSpPr>
          <p:cNvPr id="73" name="正方形/長方形 72"/>
          <p:cNvSpPr/>
          <p:nvPr/>
        </p:nvSpPr>
        <p:spPr bwMode="auto">
          <a:xfrm>
            <a:off x="5375992"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ST</a:t>
            </a:r>
            <a:endParaRPr lang="ja-JP" altLang="en-US" dirty="0">
              <a:solidFill>
                <a:schemeClr val="tx1">
                  <a:lumMod val="75000"/>
                  <a:lumOff val="25000"/>
                </a:schemeClr>
              </a:solidFill>
              <a:latin typeface="+mn-ea"/>
            </a:endParaRPr>
          </a:p>
        </p:txBody>
      </p:sp>
      <p:sp>
        <p:nvSpPr>
          <p:cNvPr id="74" name="正方形/長方形 73"/>
          <p:cNvSpPr/>
          <p:nvPr/>
        </p:nvSpPr>
        <p:spPr bwMode="auto">
          <a:xfrm>
            <a:off x="6816008"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0x456</a:t>
            </a:r>
            <a:endParaRPr lang="ja-JP" altLang="en-US" sz="1400" dirty="0">
              <a:solidFill>
                <a:schemeClr val="tx1">
                  <a:lumMod val="75000"/>
                  <a:lumOff val="25000"/>
                </a:schemeClr>
              </a:solidFill>
              <a:latin typeface="+mn-ea"/>
            </a:endParaRPr>
          </a:p>
        </p:txBody>
      </p:sp>
      <p:sp>
        <p:nvSpPr>
          <p:cNvPr id="75" name="正方形/長方形 74"/>
          <p:cNvSpPr/>
          <p:nvPr/>
        </p:nvSpPr>
        <p:spPr bwMode="auto">
          <a:xfrm>
            <a:off x="6096000"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0x100</a:t>
            </a:r>
            <a:endParaRPr lang="ja-JP" altLang="en-US" sz="1400" dirty="0">
              <a:solidFill>
                <a:schemeClr val="tx1">
                  <a:lumMod val="75000"/>
                  <a:lumOff val="25000"/>
                </a:schemeClr>
              </a:solidFill>
              <a:latin typeface="+mn-ea"/>
            </a:endParaRPr>
          </a:p>
        </p:txBody>
      </p:sp>
    </p:spTree>
    <p:extLst>
      <p:ext uri="{BB962C8B-B14F-4D97-AF65-F5344CB8AC3E}">
        <p14:creationId xmlns:p14="http://schemas.microsoft.com/office/powerpoint/2010/main" val="30263218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ストアの整列</a:t>
            </a:r>
            <a:r>
              <a:rPr kumimoji="1" lang="ja-JP" altLang="en-US" dirty="0"/>
              <a:t>（４）</a:t>
            </a:r>
          </a:p>
        </p:txBody>
      </p:sp>
      <p:sp>
        <p:nvSpPr>
          <p:cNvPr id="3" name="テキスト プレースホルダー 2"/>
          <p:cNvSpPr>
            <a:spLocks noGrp="1"/>
          </p:cNvSpPr>
          <p:nvPr>
            <p:ph type="body" sz="quarter" idx="10"/>
          </p:nvPr>
        </p:nvSpPr>
        <p:spPr>
          <a:xfrm>
            <a:off x="2135956" y="5139020"/>
            <a:ext cx="8280092" cy="899703"/>
          </a:xfrm>
        </p:spPr>
        <p:txBody>
          <a:bodyPr/>
          <a:lstStyle/>
          <a:p>
            <a:r>
              <a:rPr lang="ja-JP" altLang="en-US" dirty="0">
                <a:latin typeface="Consolas" panose="020B0609020204030204" pitchFamily="49" charset="0"/>
              </a:rPr>
              <a:t>ロードの実行時</a:t>
            </a:r>
            <a:endParaRPr lang="en-US" altLang="ja-JP" dirty="0">
              <a:latin typeface="Consolas" panose="020B0609020204030204" pitchFamily="49" charset="0"/>
            </a:endParaRPr>
          </a:p>
          <a:p>
            <a:pPr lvl="1"/>
            <a:r>
              <a:rPr lang="en-US" altLang="ja-JP" dirty="0">
                <a:latin typeface="Consolas" panose="020B0609020204030204" pitchFamily="49" charset="0"/>
              </a:rPr>
              <a:t>LSQ </a:t>
            </a:r>
            <a:r>
              <a:rPr lang="ja-JP" altLang="en-US" dirty="0" err="1">
                <a:latin typeface="Consolas" panose="020B0609020204030204" pitchFamily="49" charset="0"/>
              </a:rPr>
              <a:t>とメ</a:t>
            </a:r>
            <a:r>
              <a:rPr lang="ja-JP" altLang="en-US" dirty="0">
                <a:latin typeface="Consolas" panose="020B0609020204030204" pitchFamily="49" charset="0"/>
              </a:rPr>
              <a:t>モリの双方にアクセス</a:t>
            </a:r>
            <a:endParaRPr lang="en-US" altLang="ja-JP" dirty="0">
              <a:latin typeface="Consolas" panose="020B0609020204030204" pitchFamily="49" charset="0"/>
            </a:endParaRPr>
          </a:p>
          <a:p>
            <a:r>
              <a:rPr lang="en-US" altLang="ja-JP" dirty="0">
                <a:latin typeface="Consolas" panose="020B0609020204030204" pitchFamily="49" charset="0"/>
              </a:rPr>
              <a:t>LSQ </a:t>
            </a:r>
            <a:r>
              <a:rPr lang="ja-JP" altLang="en-US" dirty="0">
                <a:latin typeface="Consolas" panose="020B0609020204030204" pitchFamily="49" charset="0"/>
              </a:rPr>
              <a:t>の自身のエントリより前の部分をアドレスで検索</a:t>
            </a:r>
            <a:endParaRPr lang="en-US" altLang="ja-JP" dirty="0">
              <a:latin typeface="Consolas" panose="020B0609020204030204" pitchFamily="49" charset="0"/>
            </a:endParaRPr>
          </a:p>
          <a:p>
            <a:pPr lvl="1"/>
            <a:r>
              <a:rPr lang="ja-JP" altLang="en-US" dirty="0">
                <a:latin typeface="Consolas" panose="020B0609020204030204" pitchFamily="49" charset="0"/>
              </a:rPr>
              <a:t>ヒットした場合，そこにあるストアの値を読み出して使う</a:t>
            </a:r>
            <a:endParaRPr lang="en-US" altLang="ja-JP" dirty="0">
              <a:latin typeface="Consolas" panose="020B0609020204030204" pitchFamily="49" charset="0"/>
            </a:endParaRPr>
          </a:p>
          <a:p>
            <a:pPr lvl="1"/>
            <a:r>
              <a:rPr lang="ja-JP" altLang="en-US" dirty="0">
                <a:latin typeface="Consolas" panose="020B0609020204030204" pitchFamily="49" charset="0"/>
              </a:rPr>
              <a:t>ヒットしなかった場合，メモリからとれた値を使う</a:t>
            </a:r>
            <a:endParaRPr lang="en-US" altLang="ja-JP" dirty="0">
              <a:latin typeface="Consolas" panose="020B0609020204030204" pitchFamily="49" charset="0"/>
            </a:endParaRPr>
          </a:p>
        </p:txBody>
      </p:sp>
      <p:grpSp>
        <p:nvGrpSpPr>
          <p:cNvPr id="4" name="グループ化 3"/>
          <p:cNvGrpSpPr/>
          <p:nvPr/>
        </p:nvGrpSpPr>
        <p:grpSpPr>
          <a:xfrm>
            <a:off x="2315958" y="3176356"/>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8076022" y="3158997"/>
            <a:ext cx="1584176"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 name="正方形/長方形 9"/>
          <p:cNvSpPr/>
          <p:nvPr/>
        </p:nvSpPr>
        <p:spPr>
          <a:xfrm>
            <a:off x="2279685" y="233039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1" name="正方形/長方形 10"/>
          <p:cNvSpPr/>
          <p:nvPr/>
        </p:nvSpPr>
        <p:spPr>
          <a:xfrm>
            <a:off x="8526028" y="234898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4655984" y="2168986"/>
            <a:ext cx="2879888" cy="2520028"/>
          </a:xfrm>
          <a:prstGeom prst="rect">
            <a:avLst/>
          </a:prstGeom>
          <a:ln>
            <a:solidFill>
              <a:schemeClr val="accent1"/>
            </a:solidFill>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 name="角丸四角形吹き出し 13"/>
          <p:cNvSpPr/>
          <p:nvPr/>
        </p:nvSpPr>
        <p:spPr bwMode="auto">
          <a:xfrm>
            <a:off x="7986021"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コミット・パイプ</a:t>
            </a:r>
            <a:endParaRPr lang="ja-JP" altLang="en-US" dirty="0">
              <a:solidFill>
                <a:schemeClr val="accent5"/>
              </a:solidFill>
            </a:endParaRPr>
          </a:p>
        </p:txBody>
      </p:sp>
      <p:sp>
        <p:nvSpPr>
          <p:cNvPr id="15" name="角丸四角形吹き出し 14"/>
          <p:cNvSpPr/>
          <p:nvPr/>
        </p:nvSpPr>
        <p:spPr bwMode="auto">
          <a:xfrm>
            <a:off x="2315958" y="3806364"/>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バックエンド</a:t>
            </a:r>
          </a:p>
        </p:txBody>
      </p:sp>
      <p:sp>
        <p:nvSpPr>
          <p:cNvPr id="16" name="正方形/長方形 15"/>
          <p:cNvSpPr/>
          <p:nvPr/>
        </p:nvSpPr>
        <p:spPr bwMode="auto">
          <a:xfrm>
            <a:off x="4655984"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7" name="正方形/長方形 16"/>
          <p:cNvSpPr/>
          <p:nvPr/>
        </p:nvSpPr>
        <p:spPr bwMode="auto">
          <a:xfrm>
            <a:off x="5375992"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8" name="正方形/長方形 17"/>
          <p:cNvSpPr/>
          <p:nvPr/>
        </p:nvSpPr>
        <p:spPr bwMode="auto">
          <a:xfrm>
            <a:off x="6816008"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9" name="正方形/長方形 18"/>
          <p:cNvSpPr/>
          <p:nvPr/>
        </p:nvSpPr>
        <p:spPr bwMode="auto">
          <a:xfrm>
            <a:off x="4565984"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完了</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フラグ</a:t>
            </a:r>
          </a:p>
        </p:txBody>
      </p:sp>
      <p:sp>
        <p:nvSpPr>
          <p:cNvPr id="20" name="正方形/長方形 19"/>
          <p:cNvSpPr/>
          <p:nvPr/>
        </p:nvSpPr>
        <p:spPr bwMode="auto">
          <a:xfrm>
            <a:off x="5285992"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LD/ST</a:t>
            </a:r>
            <a:endParaRPr lang="ja-JP" altLang="en-US" sz="1600" dirty="0">
              <a:solidFill>
                <a:schemeClr val="tx1">
                  <a:lumMod val="75000"/>
                  <a:lumOff val="25000"/>
                </a:schemeClr>
              </a:solidFill>
              <a:latin typeface="+mn-ea"/>
            </a:endParaRPr>
          </a:p>
        </p:txBody>
      </p:sp>
      <p:sp>
        <p:nvSpPr>
          <p:cNvPr id="21" name="正方形/長方形 20"/>
          <p:cNvSpPr/>
          <p:nvPr/>
        </p:nvSpPr>
        <p:spPr bwMode="auto">
          <a:xfrm>
            <a:off x="6096001"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err="1">
                <a:solidFill>
                  <a:schemeClr val="tx1">
                    <a:lumMod val="75000"/>
                    <a:lumOff val="25000"/>
                  </a:schemeClr>
                </a:solidFill>
                <a:latin typeface="+mn-ea"/>
              </a:rPr>
              <a:t>Addr</a:t>
            </a: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22" name="正方形/長方形 21"/>
          <p:cNvSpPr/>
          <p:nvPr/>
        </p:nvSpPr>
        <p:spPr bwMode="auto">
          <a:xfrm>
            <a:off x="4655984"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1</a:t>
            </a:r>
            <a:endParaRPr lang="ja-JP" altLang="en-US" dirty="0">
              <a:solidFill>
                <a:schemeClr val="tx1">
                  <a:lumMod val="75000"/>
                  <a:lumOff val="25000"/>
                </a:schemeClr>
              </a:solidFill>
              <a:latin typeface="+mn-ea"/>
            </a:endParaRPr>
          </a:p>
        </p:txBody>
      </p:sp>
      <p:sp>
        <p:nvSpPr>
          <p:cNvPr id="23" name="正方形/長方形 22"/>
          <p:cNvSpPr/>
          <p:nvPr/>
        </p:nvSpPr>
        <p:spPr bwMode="auto">
          <a:xfrm>
            <a:off x="5375992"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ST</a:t>
            </a:r>
            <a:endParaRPr lang="ja-JP" altLang="en-US" dirty="0">
              <a:solidFill>
                <a:schemeClr val="tx1">
                  <a:lumMod val="75000"/>
                  <a:lumOff val="25000"/>
                </a:schemeClr>
              </a:solidFill>
              <a:latin typeface="+mn-ea"/>
            </a:endParaRPr>
          </a:p>
        </p:txBody>
      </p:sp>
      <p:sp>
        <p:nvSpPr>
          <p:cNvPr id="24" name="正方形/長方形 23"/>
          <p:cNvSpPr/>
          <p:nvPr/>
        </p:nvSpPr>
        <p:spPr bwMode="auto">
          <a:xfrm>
            <a:off x="6816008"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accent2"/>
                </a:solidFill>
                <a:latin typeface="+mn-ea"/>
              </a:rPr>
              <a:t>0x123</a:t>
            </a:r>
            <a:endParaRPr lang="ja-JP" altLang="en-US" sz="1400" b="1" dirty="0">
              <a:solidFill>
                <a:schemeClr val="accent2"/>
              </a:solidFill>
              <a:latin typeface="+mn-ea"/>
            </a:endParaRPr>
          </a:p>
        </p:txBody>
      </p:sp>
      <p:sp>
        <p:nvSpPr>
          <p:cNvPr id="40" name="正方形/長方形 39"/>
          <p:cNvSpPr/>
          <p:nvPr/>
        </p:nvSpPr>
        <p:spPr bwMode="auto">
          <a:xfrm>
            <a:off x="4205980" y="252899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I1</a:t>
            </a:r>
            <a:endParaRPr lang="ja-JP" altLang="en-US" sz="1600" dirty="0">
              <a:solidFill>
                <a:schemeClr val="accent1"/>
              </a:solidFill>
              <a:latin typeface="+mn-ea"/>
            </a:endParaRPr>
          </a:p>
        </p:txBody>
      </p:sp>
      <p:sp>
        <p:nvSpPr>
          <p:cNvPr id="41" name="正方形/長方形 40"/>
          <p:cNvSpPr/>
          <p:nvPr/>
        </p:nvSpPr>
        <p:spPr bwMode="auto">
          <a:xfrm>
            <a:off x="4205980" y="288899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I2</a:t>
            </a:r>
            <a:endParaRPr lang="ja-JP" altLang="en-US" sz="1600" dirty="0">
              <a:solidFill>
                <a:schemeClr val="accent1"/>
              </a:solidFill>
              <a:latin typeface="+mn-ea"/>
            </a:endParaRPr>
          </a:p>
        </p:txBody>
      </p:sp>
      <p:sp>
        <p:nvSpPr>
          <p:cNvPr id="42" name="正方形/長方形 41"/>
          <p:cNvSpPr/>
          <p:nvPr/>
        </p:nvSpPr>
        <p:spPr bwMode="auto">
          <a:xfrm>
            <a:off x="4205980" y="324899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I3</a:t>
            </a:r>
            <a:endParaRPr lang="ja-JP" altLang="en-US" sz="1600" dirty="0">
              <a:solidFill>
                <a:schemeClr val="accent1"/>
              </a:solidFill>
              <a:latin typeface="+mn-ea"/>
            </a:endParaRPr>
          </a:p>
        </p:txBody>
      </p:sp>
      <p:sp>
        <p:nvSpPr>
          <p:cNvPr id="43" name="右矢印 42"/>
          <p:cNvSpPr/>
          <p:nvPr/>
        </p:nvSpPr>
        <p:spPr bwMode="auto">
          <a:xfrm rot="10800000" flipV="1">
            <a:off x="7626017" y="2438989"/>
            <a:ext cx="900010" cy="540006"/>
          </a:xfrm>
          <a:prstGeom prst="rightArrow">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監視</a:t>
            </a:r>
          </a:p>
        </p:txBody>
      </p:sp>
      <p:sp>
        <p:nvSpPr>
          <p:cNvPr id="45" name="正方形/長方形 44"/>
          <p:cNvSpPr/>
          <p:nvPr/>
        </p:nvSpPr>
        <p:spPr bwMode="auto">
          <a:xfrm>
            <a:off x="6096000"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7" name="正方形/長方形 46"/>
          <p:cNvSpPr/>
          <p:nvPr/>
        </p:nvSpPr>
        <p:spPr bwMode="auto">
          <a:xfrm>
            <a:off x="6816009"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Data</a:t>
            </a:r>
            <a:endParaRPr lang="ja-JP" altLang="en-US" sz="1600" dirty="0">
              <a:solidFill>
                <a:schemeClr val="tx1">
                  <a:lumMod val="75000"/>
                  <a:lumOff val="25000"/>
                </a:schemeClr>
              </a:solidFill>
              <a:latin typeface="+mn-ea"/>
            </a:endParaRPr>
          </a:p>
        </p:txBody>
      </p:sp>
      <p:sp>
        <p:nvSpPr>
          <p:cNvPr id="48" name="正方形/長方形 47"/>
          <p:cNvSpPr/>
          <p:nvPr/>
        </p:nvSpPr>
        <p:spPr bwMode="auto">
          <a:xfrm>
            <a:off x="6096000"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0x100</a:t>
            </a:r>
            <a:endParaRPr lang="ja-JP" altLang="en-US" sz="1400" dirty="0">
              <a:solidFill>
                <a:schemeClr val="tx1">
                  <a:lumMod val="75000"/>
                  <a:lumOff val="25000"/>
                </a:schemeClr>
              </a:solidFill>
              <a:latin typeface="+mn-ea"/>
            </a:endParaRPr>
          </a:p>
        </p:txBody>
      </p:sp>
      <p:sp>
        <p:nvSpPr>
          <p:cNvPr id="49" name="正方形/長方形 48"/>
          <p:cNvSpPr/>
          <p:nvPr/>
        </p:nvSpPr>
        <p:spPr bwMode="auto">
          <a:xfrm>
            <a:off x="4655984"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1</a:t>
            </a:r>
            <a:endParaRPr lang="ja-JP" altLang="en-US" b="1" dirty="0">
              <a:solidFill>
                <a:schemeClr val="accent1"/>
              </a:solidFill>
              <a:latin typeface="+mn-ea"/>
            </a:endParaRPr>
          </a:p>
        </p:txBody>
      </p:sp>
      <p:sp>
        <p:nvSpPr>
          <p:cNvPr id="50" name="正方形/長方形 49"/>
          <p:cNvSpPr/>
          <p:nvPr/>
        </p:nvSpPr>
        <p:spPr bwMode="auto">
          <a:xfrm>
            <a:off x="5375992"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LD</a:t>
            </a:r>
            <a:endParaRPr lang="ja-JP" altLang="en-US" b="1" dirty="0">
              <a:solidFill>
                <a:schemeClr val="accent1"/>
              </a:solidFill>
              <a:latin typeface="+mn-ea"/>
            </a:endParaRPr>
          </a:p>
        </p:txBody>
      </p:sp>
      <p:sp>
        <p:nvSpPr>
          <p:cNvPr id="51" name="正方形/長方形 50"/>
          <p:cNvSpPr/>
          <p:nvPr/>
        </p:nvSpPr>
        <p:spPr bwMode="auto">
          <a:xfrm>
            <a:off x="6816008"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a:t>
            </a:r>
            <a:endParaRPr lang="ja-JP" altLang="en-US" b="1" dirty="0">
              <a:solidFill>
                <a:schemeClr val="accent1"/>
              </a:solidFill>
              <a:latin typeface="+mn-ea"/>
            </a:endParaRPr>
          </a:p>
        </p:txBody>
      </p:sp>
      <p:sp>
        <p:nvSpPr>
          <p:cNvPr id="52" name="正方形/長方形 51"/>
          <p:cNvSpPr/>
          <p:nvPr/>
        </p:nvSpPr>
        <p:spPr bwMode="auto">
          <a:xfrm>
            <a:off x="6096000"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accent1"/>
                </a:solidFill>
                <a:latin typeface="+mn-ea"/>
              </a:rPr>
              <a:t>0x100</a:t>
            </a:r>
            <a:endParaRPr lang="ja-JP" altLang="en-US" sz="1400" b="1" dirty="0">
              <a:solidFill>
                <a:schemeClr val="accent1"/>
              </a:solidFill>
              <a:latin typeface="+mn-ea"/>
            </a:endParaRPr>
          </a:p>
        </p:txBody>
      </p:sp>
      <p:sp>
        <p:nvSpPr>
          <p:cNvPr id="57" name="正方形/長方形 56"/>
          <p:cNvSpPr/>
          <p:nvPr/>
        </p:nvSpPr>
        <p:spPr bwMode="auto">
          <a:xfrm>
            <a:off x="4655984"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8" name="正方形/長方形 57"/>
          <p:cNvSpPr/>
          <p:nvPr/>
        </p:nvSpPr>
        <p:spPr bwMode="auto">
          <a:xfrm>
            <a:off x="5375992"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9" name="正方形/長方形 58"/>
          <p:cNvSpPr/>
          <p:nvPr/>
        </p:nvSpPr>
        <p:spPr bwMode="auto">
          <a:xfrm>
            <a:off x="6816008"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0" name="正方形/長方形 59"/>
          <p:cNvSpPr/>
          <p:nvPr/>
        </p:nvSpPr>
        <p:spPr bwMode="auto">
          <a:xfrm>
            <a:off x="6096000"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1" name="正方形/長方形 60"/>
          <p:cNvSpPr/>
          <p:nvPr/>
        </p:nvSpPr>
        <p:spPr bwMode="auto">
          <a:xfrm>
            <a:off x="4655984"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2" name="正方形/長方形 61"/>
          <p:cNvSpPr/>
          <p:nvPr/>
        </p:nvSpPr>
        <p:spPr bwMode="auto">
          <a:xfrm>
            <a:off x="5375992"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3" name="正方形/長方形 62"/>
          <p:cNvSpPr/>
          <p:nvPr/>
        </p:nvSpPr>
        <p:spPr bwMode="auto">
          <a:xfrm>
            <a:off x="6816008"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4" name="正方形/長方形 63"/>
          <p:cNvSpPr/>
          <p:nvPr/>
        </p:nvSpPr>
        <p:spPr bwMode="auto">
          <a:xfrm>
            <a:off x="6096000"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5" name="正方形/長方形 64"/>
          <p:cNvSpPr/>
          <p:nvPr/>
        </p:nvSpPr>
        <p:spPr bwMode="auto">
          <a:xfrm>
            <a:off x="4655984"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6" name="正方形/長方形 65"/>
          <p:cNvSpPr/>
          <p:nvPr/>
        </p:nvSpPr>
        <p:spPr bwMode="auto">
          <a:xfrm>
            <a:off x="5375992"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7" name="正方形/長方形 66"/>
          <p:cNvSpPr/>
          <p:nvPr/>
        </p:nvSpPr>
        <p:spPr bwMode="auto">
          <a:xfrm>
            <a:off x="6816008"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8" name="正方形/長方形 67"/>
          <p:cNvSpPr/>
          <p:nvPr/>
        </p:nvSpPr>
        <p:spPr bwMode="auto">
          <a:xfrm>
            <a:off x="6096000"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9" name="正方形/長方形 68"/>
          <p:cNvSpPr/>
          <p:nvPr/>
        </p:nvSpPr>
        <p:spPr bwMode="auto">
          <a:xfrm>
            <a:off x="4655984" y="818971"/>
            <a:ext cx="2880032"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メモリ</a:t>
            </a:r>
          </a:p>
        </p:txBody>
      </p:sp>
      <p:sp>
        <p:nvSpPr>
          <p:cNvPr id="71" name="角丸四角形 70"/>
          <p:cNvSpPr/>
          <p:nvPr/>
        </p:nvSpPr>
        <p:spPr bwMode="auto">
          <a:xfrm>
            <a:off x="2855964" y="3068996"/>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Consolas" panose="020B0609020204030204" pitchFamily="49" charset="0"/>
              </a:rPr>
              <a:t>I2</a:t>
            </a:r>
            <a:endParaRPr lang="ja-JP" altLang="en-US" dirty="0">
              <a:latin typeface="Consolas" panose="020B0609020204030204" pitchFamily="49" charset="0"/>
            </a:endParaRPr>
          </a:p>
        </p:txBody>
      </p:sp>
      <p:sp>
        <p:nvSpPr>
          <p:cNvPr id="73" name="正方形/長方形 72"/>
          <p:cNvSpPr/>
          <p:nvPr/>
        </p:nvSpPr>
        <p:spPr bwMode="auto">
          <a:xfrm>
            <a:off x="4655984"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1</a:t>
            </a:r>
            <a:endParaRPr lang="ja-JP" altLang="en-US" dirty="0">
              <a:solidFill>
                <a:schemeClr val="tx1">
                  <a:lumMod val="75000"/>
                  <a:lumOff val="25000"/>
                </a:schemeClr>
              </a:solidFill>
              <a:latin typeface="+mn-ea"/>
            </a:endParaRPr>
          </a:p>
        </p:txBody>
      </p:sp>
      <p:sp>
        <p:nvSpPr>
          <p:cNvPr id="74" name="正方形/長方形 73"/>
          <p:cNvSpPr/>
          <p:nvPr/>
        </p:nvSpPr>
        <p:spPr bwMode="auto">
          <a:xfrm>
            <a:off x="5375992"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ST</a:t>
            </a:r>
            <a:endParaRPr lang="ja-JP" altLang="en-US" dirty="0">
              <a:solidFill>
                <a:schemeClr val="tx1">
                  <a:lumMod val="75000"/>
                  <a:lumOff val="25000"/>
                </a:schemeClr>
              </a:solidFill>
              <a:latin typeface="+mn-ea"/>
            </a:endParaRPr>
          </a:p>
        </p:txBody>
      </p:sp>
      <p:sp>
        <p:nvSpPr>
          <p:cNvPr id="75" name="正方形/長方形 74"/>
          <p:cNvSpPr/>
          <p:nvPr/>
        </p:nvSpPr>
        <p:spPr bwMode="auto">
          <a:xfrm>
            <a:off x="6816008"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0x456</a:t>
            </a:r>
            <a:endParaRPr lang="ja-JP" altLang="en-US" sz="1400" dirty="0">
              <a:solidFill>
                <a:schemeClr val="tx1">
                  <a:lumMod val="75000"/>
                  <a:lumOff val="25000"/>
                </a:schemeClr>
              </a:solidFill>
              <a:latin typeface="+mn-ea"/>
            </a:endParaRPr>
          </a:p>
        </p:txBody>
      </p:sp>
      <p:sp>
        <p:nvSpPr>
          <p:cNvPr id="76" name="正方形/長方形 75"/>
          <p:cNvSpPr/>
          <p:nvPr/>
        </p:nvSpPr>
        <p:spPr bwMode="auto">
          <a:xfrm>
            <a:off x="6096000"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0x100</a:t>
            </a:r>
            <a:endParaRPr lang="ja-JP" altLang="en-US" sz="1400" dirty="0">
              <a:solidFill>
                <a:schemeClr val="tx1">
                  <a:lumMod val="75000"/>
                  <a:lumOff val="25000"/>
                </a:schemeClr>
              </a:solidFill>
              <a:latin typeface="+mn-ea"/>
            </a:endParaRPr>
          </a:p>
        </p:txBody>
      </p:sp>
      <p:sp>
        <p:nvSpPr>
          <p:cNvPr id="77" name="曲折矢印 76"/>
          <p:cNvSpPr/>
          <p:nvPr/>
        </p:nvSpPr>
        <p:spPr bwMode="auto">
          <a:xfrm rot="16200000" flipH="1">
            <a:off x="2990967" y="953973"/>
            <a:ext cx="1260013" cy="1350015"/>
          </a:xfrm>
          <a:prstGeom prst="bentArrow">
            <a:avLst>
              <a:gd name="adj1" fmla="val 20870"/>
              <a:gd name="adj2" fmla="val 25000"/>
              <a:gd name="adj3" fmla="val 23230"/>
              <a:gd name="adj4" fmla="val 43750"/>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読み出し</a:t>
            </a:r>
          </a:p>
        </p:txBody>
      </p:sp>
      <p:sp>
        <p:nvSpPr>
          <p:cNvPr id="25" name="左矢印 24"/>
          <p:cNvSpPr/>
          <p:nvPr/>
        </p:nvSpPr>
        <p:spPr bwMode="auto">
          <a:xfrm>
            <a:off x="4115979" y="2348988"/>
            <a:ext cx="2610029" cy="540006"/>
          </a:xfrm>
          <a:prstGeom prst="leftArrow">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読み出し</a:t>
            </a:r>
          </a:p>
        </p:txBody>
      </p:sp>
      <p:sp>
        <p:nvSpPr>
          <p:cNvPr id="12" name="上矢印 11"/>
          <p:cNvSpPr/>
          <p:nvPr/>
        </p:nvSpPr>
        <p:spPr bwMode="auto">
          <a:xfrm>
            <a:off x="6186001" y="1988985"/>
            <a:ext cx="540006" cy="900011"/>
          </a:xfrm>
          <a:prstGeom prst="upArrow">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検索</a:t>
            </a:r>
          </a:p>
        </p:txBody>
      </p:sp>
    </p:spTree>
    <p:extLst>
      <p:ext uri="{BB962C8B-B14F-4D97-AF65-F5344CB8AC3E}">
        <p14:creationId xmlns:p14="http://schemas.microsoft.com/office/powerpoint/2010/main" val="3372501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動作例を使った説明</a:t>
            </a:r>
            <a:endParaRPr kumimoji="1" lang="ja-JP" altLang="en-US" dirty="0"/>
          </a:p>
        </p:txBody>
      </p:sp>
      <p:sp>
        <p:nvSpPr>
          <p:cNvPr id="3" name="テキスト プレースホルダー 2"/>
          <p:cNvSpPr>
            <a:spLocks noGrp="1"/>
          </p:cNvSpPr>
          <p:nvPr>
            <p:ph type="body" sz="quarter" idx="10"/>
          </p:nvPr>
        </p:nvSpPr>
        <p:spPr>
          <a:xfrm>
            <a:off x="2135956" y="5229021"/>
            <a:ext cx="8280092" cy="899703"/>
          </a:xfrm>
        </p:spPr>
        <p:txBody>
          <a:bodyPr/>
          <a:lstStyle/>
          <a:p>
            <a:r>
              <a:rPr kumimoji="1" lang="en-US" altLang="ja-JP" dirty="0">
                <a:latin typeface="Consolas" panose="020B0609020204030204" pitchFamily="49" charset="0"/>
              </a:rPr>
              <a:t>I1,I2,I3 </a:t>
            </a:r>
            <a:r>
              <a:rPr kumimoji="1" lang="ja-JP" altLang="en-US" dirty="0">
                <a:latin typeface="Consolas" panose="020B0609020204030204" pitchFamily="49" charset="0"/>
              </a:rPr>
              <a:t>は同じアドレス </a:t>
            </a:r>
            <a:r>
              <a:rPr kumimoji="1" lang="en-US" altLang="ja-JP" dirty="0">
                <a:latin typeface="Consolas" panose="020B0609020204030204" pitchFamily="49" charset="0"/>
              </a:rPr>
              <a:t>0x100 </a:t>
            </a:r>
            <a:r>
              <a:rPr kumimoji="1" lang="ja-JP" altLang="en-US" dirty="0">
                <a:latin typeface="Consolas" panose="020B0609020204030204" pitchFamily="49" charset="0"/>
              </a:rPr>
              <a:t>に対してアクセスを行う命令</a:t>
            </a:r>
            <a:endParaRPr kumimoji="1" lang="en-US" altLang="ja-JP" dirty="0">
              <a:latin typeface="Consolas" panose="020B0609020204030204" pitchFamily="49" charset="0"/>
            </a:endParaRPr>
          </a:p>
          <a:p>
            <a:pPr marL="817200" lvl="1" indent="-457200">
              <a:buFont typeface="+mj-lt"/>
              <a:buAutoNum type="arabicPeriod"/>
            </a:pPr>
            <a:r>
              <a:rPr kumimoji="1" lang="ja-JP" altLang="en-US" dirty="0">
                <a:latin typeface="Consolas" panose="020B0609020204030204" pitchFamily="49" charset="0"/>
              </a:rPr>
              <a:t>ストアの整列</a:t>
            </a:r>
            <a:endParaRPr kumimoji="1" lang="en-US" altLang="ja-JP" dirty="0">
              <a:latin typeface="Consolas" panose="020B0609020204030204" pitchFamily="49" charset="0"/>
            </a:endParaRPr>
          </a:p>
          <a:p>
            <a:pPr marL="817200" lvl="1" indent="-457200">
              <a:buFont typeface="+mj-lt"/>
              <a:buAutoNum type="arabicPeriod"/>
            </a:pPr>
            <a:r>
              <a:rPr kumimoji="1" lang="ja-JP" altLang="en-US" b="1" dirty="0">
                <a:latin typeface="Consolas" panose="020B0609020204030204" pitchFamily="49" charset="0"/>
              </a:rPr>
              <a:t>順序違反の検出</a:t>
            </a:r>
          </a:p>
        </p:txBody>
      </p:sp>
      <p:grpSp>
        <p:nvGrpSpPr>
          <p:cNvPr id="4" name="グループ化 3"/>
          <p:cNvGrpSpPr/>
          <p:nvPr/>
        </p:nvGrpSpPr>
        <p:grpSpPr>
          <a:xfrm>
            <a:off x="2315958" y="3176356"/>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8076022" y="3158997"/>
            <a:ext cx="1584176"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 name="正方形/長方形 9"/>
          <p:cNvSpPr/>
          <p:nvPr/>
        </p:nvSpPr>
        <p:spPr>
          <a:xfrm>
            <a:off x="2279685" y="233039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1" name="正方形/長方形 10"/>
          <p:cNvSpPr/>
          <p:nvPr/>
        </p:nvSpPr>
        <p:spPr>
          <a:xfrm>
            <a:off x="8526028" y="234898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4655984" y="2168986"/>
            <a:ext cx="2879888" cy="2520028"/>
          </a:xfrm>
          <a:prstGeom prst="rect">
            <a:avLst/>
          </a:prstGeom>
          <a:ln>
            <a:solidFill>
              <a:schemeClr val="accent1"/>
            </a:solidFill>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 name="角丸四角形吹き出し 13"/>
          <p:cNvSpPr/>
          <p:nvPr/>
        </p:nvSpPr>
        <p:spPr bwMode="auto">
          <a:xfrm>
            <a:off x="7986021"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コミット・パイプ</a:t>
            </a:r>
            <a:endParaRPr lang="ja-JP" altLang="en-US" dirty="0">
              <a:solidFill>
                <a:schemeClr val="accent5"/>
              </a:solidFill>
            </a:endParaRPr>
          </a:p>
        </p:txBody>
      </p:sp>
      <p:sp>
        <p:nvSpPr>
          <p:cNvPr id="15" name="角丸四角形吹き出し 14"/>
          <p:cNvSpPr/>
          <p:nvPr/>
        </p:nvSpPr>
        <p:spPr bwMode="auto">
          <a:xfrm>
            <a:off x="2315958" y="3806364"/>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バックエンド</a:t>
            </a:r>
          </a:p>
        </p:txBody>
      </p:sp>
      <p:sp>
        <p:nvSpPr>
          <p:cNvPr id="16" name="正方形/長方形 15"/>
          <p:cNvSpPr/>
          <p:nvPr/>
        </p:nvSpPr>
        <p:spPr bwMode="auto">
          <a:xfrm>
            <a:off x="4655984"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7" name="正方形/長方形 16"/>
          <p:cNvSpPr/>
          <p:nvPr/>
        </p:nvSpPr>
        <p:spPr bwMode="auto">
          <a:xfrm>
            <a:off x="5375992"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8" name="正方形/長方形 17"/>
          <p:cNvSpPr/>
          <p:nvPr/>
        </p:nvSpPr>
        <p:spPr bwMode="auto">
          <a:xfrm>
            <a:off x="6816008"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9" name="正方形/長方形 18"/>
          <p:cNvSpPr/>
          <p:nvPr/>
        </p:nvSpPr>
        <p:spPr bwMode="auto">
          <a:xfrm>
            <a:off x="4565984"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完了</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フラグ</a:t>
            </a:r>
          </a:p>
        </p:txBody>
      </p:sp>
      <p:sp>
        <p:nvSpPr>
          <p:cNvPr id="20" name="正方形/長方形 19"/>
          <p:cNvSpPr/>
          <p:nvPr/>
        </p:nvSpPr>
        <p:spPr bwMode="auto">
          <a:xfrm>
            <a:off x="5285992"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LD/ST</a:t>
            </a:r>
            <a:endParaRPr lang="ja-JP" altLang="en-US" sz="1600" dirty="0">
              <a:solidFill>
                <a:schemeClr val="tx1">
                  <a:lumMod val="75000"/>
                  <a:lumOff val="25000"/>
                </a:schemeClr>
              </a:solidFill>
              <a:latin typeface="+mn-ea"/>
            </a:endParaRPr>
          </a:p>
        </p:txBody>
      </p:sp>
      <p:sp>
        <p:nvSpPr>
          <p:cNvPr id="21" name="正方形/長方形 20"/>
          <p:cNvSpPr/>
          <p:nvPr/>
        </p:nvSpPr>
        <p:spPr bwMode="auto">
          <a:xfrm>
            <a:off x="6096001"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err="1">
                <a:solidFill>
                  <a:schemeClr val="tx1">
                    <a:lumMod val="75000"/>
                    <a:lumOff val="25000"/>
                  </a:schemeClr>
                </a:solidFill>
                <a:latin typeface="+mn-ea"/>
              </a:rPr>
              <a:t>Addr</a:t>
            </a: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22" name="正方形/長方形 21"/>
          <p:cNvSpPr/>
          <p:nvPr/>
        </p:nvSpPr>
        <p:spPr bwMode="auto">
          <a:xfrm>
            <a:off x="4655984"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3" name="正方形/長方形 22"/>
          <p:cNvSpPr/>
          <p:nvPr/>
        </p:nvSpPr>
        <p:spPr bwMode="auto">
          <a:xfrm>
            <a:off x="5375992"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4" name="正方形/長方形 23"/>
          <p:cNvSpPr/>
          <p:nvPr/>
        </p:nvSpPr>
        <p:spPr bwMode="auto">
          <a:xfrm>
            <a:off x="6816008"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0" name="正方形/長方形 39"/>
          <p:cNvSpPr/>
          <p:nvPr/>
        </p:nvSpPr>
        <p:spPr bwMode="auto">
          <a:xfrm>
            <a:off x="4205980" y="252899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I1</a:t>
            </a:r>
            <a:endParaRPr lang="ja-JP" altLang="en-US" sz="1600" dirty="0">
              <a:solidFill>
                <a:schemeClr val="accent1"/>
              </a:solidFill>
              <a:latin typeface="+mn-ea"/>
            </a:endParaRPr>
          </a:p>
        </p:txBody>
      </p:sp>
      <p:sp>
        <p:nvSpPr>
          <p:cNvPr id="41" name="正方形/長方形 40"/>
          <p:cNvSpPr/>
          <p:nvPr/>
        </p:nvSpPr>
        <p:spPr bwMode="auto">
          <a:xfrm>
            <a:off x="4205980" y="288899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I2</a:t>
            </a:r>
            <a:endParaRPr lang="ja-JP" altLang="en-US" sz="1600" dirty="0">
              <a:solidFill>
                <a:schemeClr val="accent1"/>
              </a:solidFill>
              <a:latin typeface="+mn-ea"/>
            </a:endParaRPr>
          </a:p>
        </p:txBody>
      </p:sp>
      <p:sp>
        <p:nvSpPr>
          <p:cNvPr id="42" name="正方形/長方形 41"/>
          <p:cNvSpPr/>
          <p:nvPr/>
        </p:nvSpPr>
        <p:spPr bwMode="auto">
          <a:xfrm>
            <a:off x="4205980" y="324899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I3</a:t>
            </a:r>
            <a:endParaRPr lang="ja-JP" altLang="en-US" sz="1600" dirty="0">
              <a:solidFill>
                <a:schemeClr val="accent1"/>
              </a:solidFill>
              <a:latin typeface="+mn-ea"/>
            </a:endParaRPr>
          </a:p>
        </p:txBody>
      </p:sp>
      <p:sp>
        <p:nvSpPr>
          <p:cNvPr id="43" name="右矢印 42"/>
          <p:cNvSpPr/>
          <p:nvPr/>
        </p:nvSpPr>
        <p:spPr bwMode="auto">
          <a:xfrm rot="10800000" flipV="1">
            <a:off x="7626017" y="2798993"/>
            <a:ext cx="900010" cy="540006"/>
          </a:xfrm>
          <a:prstGeom prst="rightArrow">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監視</a:t>
            </a:r>
          </a:p>
        </p:txBody>
      </p:sp>
      <p:sp>
        <p:nvSpPr>
          <p:cNvPr id="45" name="正方形/長方形 44"/>
          <p:cNvSpPr/>
          <p:nvPr/>
        </p:nvSpPr>
        <p:spPr bwMode="auto">
          <a:xfrm>
            <a:off x="6096000"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7" name="正方形/長方形 46"/>
          <p:cNvSpPr/>
          <p:nvPr/>
        </p:nvSpPr>
        <p:spPr bwMode="auto">
          <a:xfrm>
            <a:off x="6816009"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Data</a:t>
            </a:r>
            <a:endParaRPr lang="ja-JP" altLang="en-US" sz="1600" dirty="0">
              <a:solidFill>
                <a:schemeClr val="tx1">
                  <a:lumMod val="75000"/>
                  <a:lumOff val="25000"/>
                </a:schemeClr>
              </a:solidFill>
              <a:latin typeface="+mn-ea"/>
            </a:endParaRPr>
          </a:p>
        </p:txBody>
      </p:sp>
      <p:sp>
        <p:nvSpPr>
          <p:cNvPr id="48" name="正方形/長方形 47"/>
          <p:cNvSpPr/>
          <p:nvPr/>
        </p:nvSpPr>
        <p:spPr bwMode="auto">
          <a:xfrm>
            <a:off x="6096000"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9" name="正方形/長方形 48"/>
          <p:cNvSpPr/>
          <p:nvPr/>
        </p:nvSpPr>
        <p:spPr bwMode="auto">
          <a:xfrm>
            <a:off x="4655984"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0" name="正方形/長方形 49"/>
          <p:cNvSpPr/>
          <p:nvPr/>
        </p:nvSpPr>
        <p:spPr bwMode="auto">
          <a:xfrm>
            <a:off x="5375992"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1" name="正方形/長方形 50"/>
          <p:cNvSpPr/>
          <p:nvPr/>
        </p:nvSpPr>
        <p:spPr bwMode="auto">
          <a:xfrm>
            <a:off x="6816008"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2" name="正方形/長方形 51"/>
          <p:cNvSpPr/>
          <p:nvPr/>
        </p:nvSpPr>
        <p:spPr bwMode="auto">
          <a:xfrm>
            <a:off x="6096000"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3" name="正方形/長方形 52"/>
          <p:cNvSpPr/>
          <p:nvPr/>
        </p:nvSpPr>
        <p:spPr bwMode="auto">
          <a:xfrm>
            <a:off x="4655984"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4" name="正方形/長方形 53"/>
          <p:cNvSpPr/>
          <p:nvPr/>
        </p:nvSpPr>
        <p:spPr bwMode="auto">
          <a:xfrm>
            <a:off x="5375992"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5" name="正方形/長方形 54"/>
          <p:cNvSpPr/>
          <p:nvPr/>
        </p:nvSpPr>
        <p:spPr bwMode="auto">
          <a:xfrm>
            <a:off x="6816008"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6" name="正方形/長方形 55"/>
          <p:cNvSpPr/>
          <p:nvPr/>
        </p:nvSpPr>
        <p:spPr bwMode="auto">
          <a:xfrm>
            <a:off x="6096000"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7" name="正方形/長方形 56"/>
          <p:cNvSpPr/>
          <p:nvPr/>
        </p:nvSpPr>
        <p:spPr bwMode="auto">
          <a:xfrm>
            <a:off x="4655984"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8" name="正方形/長方形 57"/>
          <p:cNvSpPr/>
          <p:nvPr/>
        </p:nvSpPr>
        <p:spPr bwMode="auto">
          <a:xfrm>
            <a:off x="5375992"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9" name="正方形/長方形 58"/>
          <p:cNvSpPr/>
          <p:nvPr/>
        </p:nvSpPr>
        <p:spPr bwMode="auto">
          <a:xfrm>
            <a:off x="6816008"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0" name="正方形/長方形 59"/>
          <p:cNvSpPr/>
          <p:nvPr/>
        </p:nvSpPr>
        <p:spPr bwMode="auto">
          <a:xfrm>
            <a:off x="6096000"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1" name="正方形/長方形 60"/>
          <p:cNvSpPr/>
          <p:nvPr/>
        </p:nvSpPr>
        <p:spPr bwMode="auto">
          <a:xfrm>
            <a:off x="4655984"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2" name="正方形/長方形 61"/>
          <p:cNvSpPr/>
          <p:nvPr/>
        </p:nvSpPr>
        <p:spPr bwMode="auto">
          <a:xfrm>
            <a:off x="5375992"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3" name="正方形/長方形 62"/>
          <p:cNvSpPr/>
          <p:nvPr/>
        </p:nvSpPr>
        <p:spPr bwMode="auto">
          <a:xfrm>
            <a:off x="6816008"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4" name="正方形/長方形 63"/>
          <p:cNvSpPr/>
          <p:nvPr/>
        </p:nvSpPr>
        <p:spPr bwMode="auto">
          <a:xfrm>
            <a:off x="6096000"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5" name="正方形/長方形 64"/>
          <p:cNvSpPr/>
          <p:nvPr/>
        </p:nvSpPr>
        <p:spPr bwMode="auto">
          <a:xfrm>
            <a:off x="4655984"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6" name="正方形/長方形 65"/>
          <p:cNvSpPr/>
          <p:nvPr/>
        </p:nvSpPr>
        <p:spPr bwMode="auto">
          <a:xfrm>
            <a:off x="5375992"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7" name="正方形/長方形 66"/>
          <p:cNvSpPr/>
          <p:nvPr/>
        </p:nvSpPr>
        <p:spPr bwMode="auto">
          <a:xfrm>
            <a:off x="6816008"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8" name="正方形/長方形 67"/>
          <p:cNvSpPr/>
          <p:nvPr/>
        </p:nvSpPr>
        <p:spPr bwMode="auto">
          <a:xfrm>
            <a:off x="6096000"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9" name="正方形/長方形 68"/>
          <p:cNvSpPr/>
          <p:nvPr/>
        </p:nvSpPr>
        <p:spPr bwMode="auto">
          <a:xfrm>
            <a:off x="4655984" y="818971"/>
            <a:ext cx="2880032"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メモリ</a:t>
            </a:r>
          </a:p>
        </p:txBody>
      </p:sp>
    </p:spTree>
    <p:extLst>
      <p:ext uri="{BB962C8B-B14F-4D97-AF65-F5344CB8AC3E}">
        <p14:creationId xmlns:p14="http://schemas.microsoft.com/office/powerpoint/2010/main" val="5036890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順序違反の検出（１）</a:t>
            </a:r>
          </a:p>
        </p:txBody>
      </p:sp>
      <p:sp>
        <p:nvSpPr>
          <p:cNvPr id="3" name="テキスト プレースホルダー 2"/>
          <p:cNvSpPr>
            <a:spLocks noGrp="1"/>
          </p:cNvSpPr>
          <p:nvPr>
            <p:ph type="body" sz="quarter" idx="10"/>
          </p:nvPr>
        </p:nvSpPr>
        <p:spPr>
          <a:xfrm>
            <a:off x="2135956" y="5139020"/>
            <a:ext cx="8280092" cy="899703"/>
          </a:xfrm>
        </p:spPr>
        <p:txBody>
          <a:bodyPr/>
          <a:lstStyle/>
          <a:p>
            <a:r>
              <a:rPr lang="ja-JP" altLang="en-US" dirty="0">
                <a:latin typeface="Consolas" panose="020B0609020204030204" pitchFamily="49" charset="0"/>
              </a:rPr>
              <a:t>ロードの完了時</a:t>
            </a:r>
            <a:endParaRPr lang="en-US" altLang="ja-JP" dirty="0">
              <a:latin typeface="Consolas" panose="020B0609020204030204" pitchFamily="49" charset="0"/>
            </a:endParaRPr>
          </a:p>
          <a:p>
            <a:pPr lvl="1"/>
            <a:r>
              <a:rPr lang="en-US" altLang="ja-JP" dirty="0">
                <a:latin typeface="Consolas" panose="020B0609020204030204" pitchFamily="49" charset="0"/>
              </a:rPr>
              <a:t>LSQ </a:t>
            </a:r>
            <a:r>
              <a:rPr lang="ja-JP" altLang="en-US" dirty="0">
                <a:latin typeface="Consolas" panose="020B0609020204030204" pitchFamily="49" charset="0"/>
              </a:rPr>
              <a:t>に完了フラグやアドレスを書き込む</a:t>
            </a:r>
            <a:endParaRPr lang="en-US" altLang="ja-JP" dirty="0">
              <a:latin typeface="Consolas" panose="020B0609020204030204" pitchFamily="49" charset="0"/>
            </a:endParaRPr>
          </a:p>
          <a:p>
            <a:r>
              <a:rPr lang="ja-JP" altLang="en-US" dirty="0">
                <a:latin typeface="Consolas" panose="020B0609020204030204" pitchFamily="49" charset="0"/>
              </a:rPr>
              <a:t>上では </a:t>
            </a:r>
            <a:r>
              <a:rPr lang="en-US" altLang="ja-JP" dirty="0">
                <a:latin typeface="Consolas" panose="020B0609020204030204" pitchFamily="49" charset="0"/>
              </a:rPr>
              <a:t>I2 </a:t>
            </a:r>
            <a:r>
              <a:rPr lang="ja-JP" altLang="en-US" dirty="0">
                <a:latin typeface="Consolas" panose="020B0609020204030204" pitchFamily="49" charset="0"/>
              </a:rPr>
              <a:t>のロードが </a:t>
            </a:r>
            <a:r>
              <a:rPr lang="en-US" altLang="ja-JP" dirty="0">
                <a:latin typeface="Consolas" panose="020B0609020204030204" pitchFamily="49" charset="0"/>
              </a:rPr>
              <a:t>I1 </a:t>
            </a:r>
            <a:r>
              <a:rPr lang="ja-JP" altLang="en-US" dirty="0">
                <a:latin typeface="Consolas" panose="020B0609020204030204" pitchFamily="49" charset="0"/>
              </a:rPr>
              <a:t>よりも先に実行</a:t>
            </a:r>
            <a:endParaRPr lang="en-US" altLang="ja-JP" dirty="0">
              <a:latin typeface="Consolas" panose="020B0609020204030204" pitchFamily="49" charset="0"/>
            </a:endParaRPr>
          </a:p>
          <a:p>
            <a:pPr lvl="1"/>
            <a:r>
              <a:rPr lang="en-US" altLang="ja-JP" dirty="0">
                <a:latin typeface="Consolas" panose="020B0609020204030204" pitchFamily="49" charset="0"/>
              </a:rPr>
              <a:t>LSQ </a:t>
            </a:r>
            <a:r>
              <a:rPr lang="ja-JP" altLang="en-US" dirty="0">
                <a:latin typeface="Consolas" panose="020B0609020204030204" pitchFamily="49" charset="0"/>
              </a:rPr>
              <a:t>内には検索しても </a:t>
            </a:r>
            <a:r>
              <a:rPr lang="en-US" altLang="ja-JP" dirty="0">
                <a:latin typeface="Consolas" panose="020B0609020204030204" pitchFamily="49" charset="0"/>
              </a:rPr>
              <a:t>0x100 </a:t>
            </a:r>
            <a:r>
              <a:rPr lang="ja-JP" altLang="en-US" dirty="0">
                <a:latin typeface="Consolas" panose="020B0609020204030204" pitchFamily="49" charset="0"/>
              </a:rPr>
              <a:t>に該当するものはない</a:t>
            </a:r>
            <a:endParaRPr lang="en-US" altLang="ja-JP" dirty="0">
              <a:latin typeface="Consolas" panose="020B0609020204030204" pitchFamily="49" charset="0"/>
            </a:endParaRPr>
          </a:p>
          <a:p>
            <a:pPr lvl="1"/>
            <a:r>
              <a:rPr lang="ja-JP" altLang="en-US" dirty="0">
                <a:latin typeface="Consolas" panose="020B0609020204030204" pitchFamily="49" charset="0"/>
              </a:rPr>
              <a:t>メモリからは </a:t>
            </a:r>
            <a:r>
              <a:rPr lang="en-US" altLang="ja-JP" dirty="0">
                <a:latin typeface="Consolas" panose="020B0609020204030204" pitchFamily="49" charset="0"/>
              </a:rPr>
              <a:t>0x777 </a:t>
            </a:r>
            <a:r>
              <a:rPr lang="ja-JP" altLang="en-US" dirty="0">
                <a:latin typeface="Consolas" panose="020B0609020204030204" pitchFamily="49" charset="0"/>
              </a:rPr>
              <a:t>がとれたので，これを使用する</a:t>
            </a:r>
            <a:endParaRPr lang="en-US" altLang="ja-JP" dirty="0">
              <a:latin typeface="Consolas" panose="020B0609020204030204" pitchFamily="49" charset="0"/>
            </a:endParaRPr>
          </a:p>
        </p:txBody>
      </p:sp>
      <p:grpSp>
        <p:nvGrpSpPr>
          <p:cNvPr id="4" name="グループ化 3"/>
          <p:cNvGrpSpPr/>
          <p:nvPr/>
        </p:nvGrpSpPr>
        <p:grpSpPr>
          <a:xfrm>
            <a:off x="2315958" y="3176356"/>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8076022" y="3158997"/>
            <a:ext cx="1584176"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 name="正方形/長方形 9"/>
          <p:cNvSpPr/>
          <p:nvPr/>
        </p:nvSpPr>
        <p:spPr>
          <a:xfrm>
            <a:off x="2279685" y="233039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1" name="正方形/長方形 10"/>
          <p:cNvSpPr/>
          <p:nvPr/>
        </p:nvSpPr>
        <p:spPr>
          <a:xfrm>
            <a:off x="8526028" y="234898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4655984" y="2168986"/>
            <a:ext cx="2879888" cy="2520028"/>
          </a:xfrm>
          <a:prstGeom prst="rect">
            <a:avLst/>
          </a:prstGeom>
          <a:ln>
            <a:solidFill>
              <a:schemeClr val="accent1"/>
            </a:solidFill>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 name="角丸四角形吹き出し 13"/>
          <p:cNvSpPr/>
          <p:nvPr/>
        </p:nvSpPr>
        <p:spPr bwMode="auto">
          <a:xfrm>
            <a:off x="7986021"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コミット・パイプ</a:t>
            </a:r>
            <a:endParaRPr lang="ja-JP" altLang="en-US" dirty="0">
              <a:solidFill>
                <a:schemeClr val="accent5"/>
              </a:solidFill>
            </a:endParaRPr>
          </a:p>
        </p:txBody>
      </p:sp>
      <p:sp>
        <p:nvSpPr>
          <p:cNvPr id="15" name="角丸四角形吹き出し 14"/>
          <p:cNvSpPr/>
          <p:nvPr/>
        </p:nvSpPr>
        <p:spPr bwMode="auto">
          <a:xfrm>
            <a:off x="2315958" y="3806364"/>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バックエンド</a:t>
            </a:r>
          </a:p>
        </p:txBody>
      </p:sp>
      <p:sp>
        <p:nvSpPr>
          <p:cNvPr id="16" name="正方形/長方形 15"/>
          <p:cNvSpPr/>
          <p:nvPr/>
        </p:nvSpPr>
        <p:spPr bwMode="auto">
          <a:xfrm>
            <a:off x="4655984"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7" name="正方形/長方形 16"/>
          <p:cNvSpPr/>
          <p:nvPr/>
        </p:nvSpPr>
        <p:spPr bwMode="auto">
          <a:xfrm>
            <a:off x="5375992"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8" name="正方形/長方形 17"/>
          <p:cNvSpPr/>
          <p:nvPr/>
        </p:nvSpPr>
        <p:spPr bwMode="auto">
          <a:xfrm>
            <a:off x="6816008"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9" name="正方形/長方形 18"/>
          <p:cNvSpPr/>
          <p:nvPr/>
        </p:nvSpPr>
        <p:spPr bwMode="auto">
          <a:xfrm>
            <a:off x="4565984"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完了</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フラグ</a:t>
            </a:r>
          </a:p>
        </p:txBody>
      </p:sp>
      <p:sp>
        <p:nvSpPr>
          <p:cNvPr id="20" name="正方形/長方形 19"/>
          <p:cNvSpPr/>
          <p:nvPr/>
        </p:nvSpPr>
        <p:spPr bwMode="auto">
          <a:xfrm>
            <a:off x="5285992"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LD/ST</a:t>
            </a:r>
            <a:endParaRPr lang="ja-JP" altLang="en-US" sz="1600" dirty="0">
              <a:solidFill>
                <a:schemeClr val="tx1">
                  <a:lumMod val="75000"/>
                  <a:lumOff val="25000"/>
                </a:schemeClr>
              </a:solidFill>
              <a:latin typeface="+mn-ea"/>
            </a:endParaRPr>
          </a:p>
        </p:txBody>
      </p:sp>
      <p:sp>
        <p:nvSpPr>
          <p:cNvPr id="21" name="正方形/長方形 20"/>
          <p:cNvSpPr/>
          <p:nvPr/>
        </p:nvSpPr>
        <p:spPr bwMode="auto">
          <a:xfrm>
            <a:off x="6096001"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err="1">
                <a:solidFill>
                  <a:schemeClr val="tx1">
                    <a:lumMod val="75000"/>
                    <a:lumOff val="25000"/>
                  </a:schemeClr>
                </a:solidFill>
                <a:latin typeface="+mn-ea"/>
              </a:rPr>
              <a:t>Addr</a:t>
            </a: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24" name="正方形/長方形 23"/>
          <p:cNvSpPr/>
          <p:nvPr/>
        </p:nvSpPr>
        <p:spPr bwMode="auto">
          <a:xfrm>
            <a:off x="6816008"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400" b="1" dirty="0">
              <a:solidFill>
                <a:schemeClr val="accent2"/>
              </a:solidFill>
              <a:latin typeface="+mn-ea"/>
            </a:endParaRPr>
          </a:p>
        </p:txBody>
      </p:sp>
      <p:sp>
        <p:nvSpPr>
          <p:cNvPr id="40" name="正方形/長方形 39"/>
          <p:cNvSpPr/>
          <p:nvPr/>
        </p:nvSpPr>
        <p:spPr bwMode="auto">
          <a:xfrm>
            <a:off x="4205980" y="252899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I1</a:t>
            </a:r>
            <a:endParaRPr lang="ja-JP" altLang="en-US" sz="1600" dirty="0">
              <a:solidFill>
                <a:schemeClr val="accent1"/>
              </a:solidFill>
              <a:latin typeface="+mn-ea"/>
            </a:endParaRPr>
          </a:p>
        </p:txBody>
      </p:sp>
      <p:sp>
        <p:nvSpPr>
          <p:cNvPr id="41" name="正方形/長方形 40"/>
          <p:cNvSpPr/>
          <p:nvPr/>
        </p:nvSpPr>
        <p:spPr bwMode="auto">
          <a:xfrm>
            <a:off x="4205980" y="288899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I2</a:t>
            </a:r>
            <a:endParaRPr lang="ja-JP" altLang="en-US" sz="1600" dirty="0">
              <a:solidFill>
                <a:schemeClr val="accent1"/>
              </a:solidFill>
              <a:latin typeface="+mn-ea"/>
            </a:endParaRPr>
          </a:p>
        </p:txBody>
      </p:sp>
      <p:sp>
        <p:nvSpPr>
          <p:cNvPr id="42" name="正方形/長方形 41"/>
          <p:cNvSpPr/>
          <p:nvPr/>
        </p:nvSpPr>
        <p:spPr bwMode="auto">
          <a:xfrm>
            <a:off x="4205980" y="324899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I3</a:t>
            </a:r>
            <a:endParaRPr lang="ja-JP" altLang="en-US" sz="1600" dirty="0">
              <a:solidFill>
                <a:schemeClr val="accent1"/>
              </a:solidFill>
              <a:latin typeface="+mn-ea"/>
            </a:endParaRPr>
          </a:p>
        </p:txBody>
      </p:sp>
      <p:sp>
        <p:nvSpPr>
          <p:cNvPr id="43" name="右矢印 42"/>
          <p:cNvSpPr/>
          <p:nvPr/>
        </p:nvSpPr>
        <p:spPr bwMode="auto">
          <a:xfrm rot="10800000" flipV="1">
            <a:off x="7626017" y="2438989"/>
            <a:ext cx="900010" cy="540006"/>
          </a:xfrm>
          <a:prstGeom prst="rightArrow">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監視</a:t>
            </a:r>
          </a:p>
        </p:txBody>
      </p:sp>
      <p:sp>
        <p:nvSpPr>
          <p:cNvPr id="45" name="正方形/長方形 44"/>
          <p:cNvSpPr/>
          <p:nvPr/>
        </p:nvSpPr>
        <p:spPr bwMode="auto">
          <a:xfrm>
            <a:off x="6096000"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7" name="正方形/長方形 46"/>
          <p:cNvSpPr/>
          <p:nvPr/>
        </p:nvSpPr>
        <p:spPr bwMode="auto">
          <a:xfrm>
            <a:off x="6816009"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Data</a:t>
            </a:r>
            <a:endParaRPr lang="ja-JP" altLang="en-US" sz="1600" dirty="0">
              <a:solidFill>
                <a:schemeClr val="tx1">
                  <a:lumMod val="75000"/>
                  <a:lumOff val="25000"/>
                </a:schemeClr>
              </a:solidFill>
              <a:latin typeface="+mn-ea"/>
            </a:endParaRPr>
          </a:p>
        </p:txBody>
      </p:sp>
      <p:sp>
        <p:nvSpPr>
          <p:cNvPr id="49" name="正方形/長方形 48"/>
          <p:cNvSpPr/>
          <p:nvPr/>
        </p:nvSpPr>
        <p:spPr bwMode="auto">
          <a:xfrm>
            <a:off x="4655984"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1</a:t>
            </a:r>
            <a:endParaRPr lang="ja-JP" altLang="en-US" b="1" dirty="0">
              <a:solidFill>
                <a:schemeClr val="accent1"/>
              </a:solidFill>
              <a:latin typeface="+mn-ea"/>
            </a:endParaRPr>
          </a:p>
        </p:txBody>
      </p:sp>
      <p:sp>
        <p:nvSpPr>
          <p:cNvPr id="50" name="正方形/長方形 49"/>
          <p:cNvSpPr/>
          <p:nvPr/>
        </p:nvSpPr>
        <p:spPr bwMode="auto">
          <a:xfrm>
            <a:off x="5375992"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LD</a:t>
            </a:r>
            <a:endParaRPr lang="ja-JP" altLang="en-US" b="1" dirty="0">
              <a:solidFill>
                <a:schemeClr val="accent1"/>
              </a:solidFill>
              <a:latin typeface="+mn-ea"/>
            </a:endParaRPr>
          </a:p>
        </p:txBody>
      </p:sp>
      <p:sp>
        <p:nvSpPr>
          <p:cNvPr id="51" name="正方形/長方形 50"/>
          <p:cNvSpPr/>
          <p:nvPr/>
        </p:nvSpPr>
        <p:spPr bwMode="auto">
          <a:xfrm>
            <a:off x="6816008"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a:t>
            </a:r>
            <a:endParaRPr lang="ja-JP" altLang="en-US" b="1" dirty="0">
              <a:solidFill>
                <a:schemeClr val="accent1"/>
              </a:solidFill>
              <a:latin typeface="+mn-ea"/>
            </a:endParaRPr>
          </a:p>
        </p:txBody>
      </p:sp>
      <p:sp>
        <p:nvSpPr>
          <p:cNvPr id="52" name="正方形/長方形 51"/>
          <p:cNvSpPr/>
          <p:nvPr/>
        </p:nvSpPr>
        <p:spPr bwMode="auto">
          <a:xfrm>
            <a:off x="6096000"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accent1"/>
                </a:solidFill>
                <a:latin typeface="+mn-ea"/>
              </a:rPr>
              <a:t>0x100</a:t>
            </a:r>
            <a:endParaRPr lang="ja-JP" altLang="en-US" sz="1400" b="1" dirty="0">
              <a:solidFill>
                <a:schemeClr val="accent1"/>
              </a:solidFill>
              <a:latin typeface="+mn-ea"/>
            </a:endParaRPr>
          </a:p>
        </p:txBody>
      </p:sp>
      <p:sp>
        <p:nvSpPr>
          <p:cNvPr id="57" name="正方形/長方形 56"/>
          <p:cNvSpPr/>
          <p:nvPr/>
        </p:nvSpPr>
        <p:spPr bwMode="auto">
          <a:xfrm>
            <a:off x="4655984"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8" name="正方形/長方形 57"/>
          <p:cNvSpPr/>
          <p:nvPr/>
        </p:nvSpPr>
        <p:spPr bwMode="auto">
          <a:xfrm>
            <a:off x="5375992"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9" name="正方形/長方形 58"/>
          <p:cNvSpPr/>
          <p:nvPr/>
        </p:nvSpPr>
        <p:spPr bwMode="auto">
          <a:xfrm>
            <a:off x="6816008"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0" name="正方形/長方形 59"/>
          <p:cNvSpPr/>
          <p:nvPr/>
        </p:nvSpPr>
        <p:spPr bwMode="auto">
          <a:xfrm>
            <a:off x="6096000"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1" name="正方形/長方形 60"/>
          <p:cNvSpPr/>
          <p:nvPr/>
        </p:nvSpPr>
        <p:spPr bwMode="auto">
          <a:xfrm>
            <a:off x="4655984"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2" name="正方形/長方形 61"/>
          <p:cNvSpPr/>
          <p:nvPr/>
        </p:nvSpPr>
        <p:spPr bwMode="auto">
          <a:xfrm>
            <a:off x="5375992"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3" name="正方形/長方形 62"/>
          <p:cNvSpPr/>
          <p:nvPr/>
        </p:nvSpPr>
        <p:spPr bwMode="auto">
          <a:xfrm>
            <a:off x="6816008"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4" name="正方形/長方形 63"/>
          <p:cNvSpPr/>
          <p:nvPr/>
        </p:nvSpPr>
        <p:spPr bwMode="auto">
          <a:xfrm>
            <a:off x="6096000"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5" name="正方形/長方形 64"/>
          <p:cNvSpPr/>
          <p:nvPr/>
        </p:nvSpPr>
        <p:spPr bwMode="auto">
          <a:xfrm>
            <a:off x="4655984"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6" name="正方形/長方形 65"/>
          <p:cNvSpPr/>
          <p:nvPr/>
        </p:nvSpPr>
        <p:spPr bwMode="auto">
          <a:xfrm>
            <a:off x="5375992"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7" name="正方形/長方形 66"/>
          <p:cNvSpPr/>
          <p:nvPr/>
        </p:nvSpPr>
        <p:spPr bwMode="auto">
          <a:xfrm>
            <a:off x="6816008"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8" name="正方形/長方形 67"/>
          <p:cNvSpPr/>
          <p:nvPr/>
        </p:nvSpPr>
        <p:spPr bwMode="auto">
          <a:xfrm>
            <a:off x="6096000"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9" name="正方形/長方形 68"/>
          <p:cNvSpPr/>
          <p:nvPr/>
        </p:nvSpPr>
        <p:spPr bwMode="auto">
          <a:xfrm>
            <a:off x="4655984" y="818971"/>
            <a:ext cx="2880032"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メモリ</a:t>
            </a:r>
          </a:p>
        </p:txBody>
      </p:sp>
      <p:sp>
        <p:nvSpPr>
          <p:cNvPr id="71" name="角丸四角形 70"/>
          <p:cNvSpPr/>
          <p:nvPr/>
        </p:nvSpPr>
        <p:spPr bwMode="auto">
          <a:xfrm>
            <a:off x="2855964" y="3068996"/>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Consolas" panose="020B0609020204030204" pitchFamily="49" charset="0"/>
              </a:rPr>
              <a:t>I2</a:t>
            </a:r>
            <a:endParaRPr lang="ja-JP" altLang="en-US" dirty="0">
              <a:latin typeface="Consolas" panose="020B0609020204030204" pitchFamily="49" charset="0"/>
            </a:endParaRPr>
          </a:p>
        </p:txBody>
      </p:sp>
      <p:sp>
        <p:nvSpPr>
          <p:cNvPr id="56" name="正方形/長方形 55"/>
          <p:cNvSpPr/>
          <p:nvPr/>
        </p:nvSpPr>
        <p:spPr bwMode="auto">
          <a:xfrm>
            <a:off x="4655984"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70" name="正方形/長方形 69"/>
          <p:cNvSpPr/>
          <p:nvPr/>
        </p:nvSpPr>
        <p:spPr bwMode="auto">
          <a:xfrm>
            <a:off x="5375992"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72" name="正方形/長方形 71"/>
          <p:cNvSpPr/>
          <p:nvPr/>
        </p:nvSpPr>
        <p:spPr bwMode="auto">
          <a:xfrm>
            <a:off x="6816008"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78" name="正方形/長方形 77"/>
          <p:cNvSpPr/>
          <p:nvPr/>
        </p:nvSpPr>
        <p:spPr bwMode="auto">
          <a:xfrm>
            <a:off x="6096000"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79" name="正方形/長方形 78"/>
          <p:cNvSpPr/>
          <p:nvPr/>
        </p:nvSpPr>
        <p:spPr bwMode="auto">
          <a:xfrm>
            <a:off x="4655984"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80" name="正方形/長方形 79"/>
          <p:cNvSpPr/>
          <p:nvPr/>
        </p:nvSpPr>
        <p:spPr bwMode="auto">
          <a:xfrm>
            <a:off x="5375992"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81" name="正方形/長方形 80"/>
          <p:cNvSpPr/>
          <p:nvPr/>
        </p:nvSpPr>
        <p:spPr bwMode="auto">
          <a:xfrm>
            <a:off x="6816008"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82" name="正方形/長方形 81"/>
          <p:cNvSpPr/>
          <p:nvPr/>
        </p:nvSpPr>
        <p:spPr bwMode="auto">
          <a:xfrm>
            <a:off x="6096000"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83" name="曲折矢印 82"/>
          <p:cNvSpPr/>
          <p:nvPr/>
        </p:nvSpPr>
        <p:spPr bwMode="auto">
          <a:xfrm rot="16200000" flipH="1">
            <a:off x="2990967" y="953973"/>
            <a:ext cx="1260013" cy="1350015"/>
          </a:xfrm>
          <a:prstGeom prst="bentArrow">
            <a:avLst>
              <a:gd name="adj1" fmla="val 20870"/>
              <a:gd name="adj2" fmla="val 25000"/>
              <a:gd name="adj3" fmla="val 23230"/>
              <a:gd name="adj4" fmla="val 43750"/>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0x777</a:t>
            </a: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5275283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順序違反の検出（２）</a:t>
            </a:r>
          </a:p>
        </p:txBody>
      </p:sp>
      <p:sp>
        <p:nvSpPr>
          <p:cNvPr id="3" name="テキスト プレースホルダー 2"/>
          <p:cNvSpPr>
            <a:spLocks noGrp="1"/>
          </p:cNvSpPr>
          <p:nvPr>
            <p:ph type="body" sz="quarter" idx="10"/>
          </p:nvPr>
        </p:nvSpPr>
        <p:spPr>
          <a:xfrm>
            <a:off x="2135956" y="5139020"/>
            <a:ext cx="8280092" cy="899703"/>
          </a:xfrm>
        </p:spPr>
        <p:txBody>
          <a:bodyPr/>
          <a:lstStyle/>
          <a:p>
            <a:r>
              <a:rPr lang="en-US" altLang="ja-JP" dirty="0">
                <a:latin typeface="Consolas" panose="020B0609020204030204" pitchFamily="49" charset="0"/>
              </a:rPr>
              <a:t>I2 </a:t>
            </a:r>
            <a:r>
              <a:rPr lang="ja-JP" altLang="en-US" dirty="0">
                <a:latin typeface="Consolas" panose="020B0609020204030204" pitchFamily="49" charset="0"/>
              </a:rPr>
              <a:t>の後に </a:t>
            </a:r>
            <a:r>
              <a:rPr lang="en-US" altLang="ja-JP" dirty="0">
                <a:latin typeface="Consolas" panose="020B0609020204030204" pitchFamily="49" charset="0"/>
              </a:rPr>
              <a:t>I1 </a:t>
            </a:r>
            <a:r>
              <a:rPr lang="ja-JP" altLang="en-US" dirty="0">
                <a:latin typeface="Consolas" panose="020B0609020204030204" pitchFamily="49" charset="0"/>
              </a:rPr>
              <a:t>が実行</a:t>
            </a:r>
            <a:endParaRPr lang="en-US" altLang="ja-JP" dirty="0">
              <a:latin typeface="Consolas" panose="020B0609020204030204" pitchFamily="49" charset="0"/>
            </a:endParaRPr>
          </a:p>
          <a:p>
            <a:pPr lvl="1"/>
            <a:r>
              <a:rPr lang="en-US" altLang="ja-JP" dirty="0">
                <a:latin typeface="Consolas" panose="020B0609020204030204" pitchFamily="49" charset="0"/>
              </a:rPr>
              <a:t>I2 </a:t>
            </a:r>
            <a:r>
              <a:rPr lang="ja-JP" altLang="en-US" dirty="0">
                <a:latin typeface="Consolas" panose="020B0609020204030204" pitchFamily="49" charset="0"/>
              </a:rPr>
              <a:t>と同じアドレスであった</a:t>
            </a:r>
            <a:endParaRPr lang="en-US" altLang="ja-JP" dirty="0">
              <a:latin typeface="Consolas" panose="020B0609020204030204" pitchFamily="49" charset="0"/>
            </a:endParaRPr>
          </a:p>
          <a:p>
            <a:pPr lvl="1"/>
            <a:r>
              <a:rPr lang="en-US" altLang="ja-JP" dirty="0">
                <a:solidFill>
                  <a:schemeClr val="accent5"/>
                </a:solidFill>
                <a:latin typeface="Consolas" panose="020B0609020204030204" pitchFamily="49" charset="0"/>
              </a:rPr>
              <a:t>I2 </a:t>
            </a:r>
            <a:r>
              <a:rPr lang="ja-JP" altLang="en-US" dirty="0">
                <a:solidFill>
                  <a:schemeClr val="accent5"/>
                </a:solidFill>
                <a:latin typeface="Consolas" panose="020B0609020204030204" pitchFamily="49" charset="0"/>
              </a:rPr>
              <a:t>は本当は </a:t>
            </a:r>
            <a:r>
              <a:rPr lang="en-US" altLang="ja-JP" dirty="0">
                <a:solidFill>
                  <a:schemeClr val="accent5"/>
                </a:solidFill>
                <a:latin typeface="Consolas" panose="020B0609020204030204" pitchFamily="49" charset="0"/>
              </a:rPr>
              <a:t>0x777 </a:t>
            </a:r>
            <a:r>
              <a:rPr lang="ja-JP" altLang="en-US" dirty="0">
                <a:solidFill>
                  <a:schemeClr val="accent5"/>
                </a:solidFill>
                <a:latin typeface="Consolas" panose="020B0609020204030204" pitchFamily="49" charset="0"/>
              </a:rPr>
              <a:t>ではなく </a:t>
            </a:r>
            <a:r>
              <a:rPr lang="en-US" altLang="ja-JP" dirty="0">
                <a:solidFill>
                  <a:schemeClr val="accent5"/>
                </a:solidFill>
                <a:latin typeface="Consolas" panose="020B0609020204030204" pitchFamily="49" charset="0"/>
              </a:rPr>
              <a:t>0x123</a:t>
            </a:r>
            <a:r>
              <a:rPr lang="ja-JP" altLang="en-US" dirty="0">
                <a:solidFill>
                  <a:schemeClr val="accent5"/>
                </a:solidFill>
                <a:latin typeface="Consolas" panose="020B0609020204030204" pitchFamily="49" charset="0"/>
              </a:rPr>
              <a:t> を読まなければならなかった </a:t>
            </a:r>
            <a:r>
              <a:rPr lang="en-US" altLang="ja-JP" dirty="0">
                <a:solidFill>
                  <a:schemeClr val="accent5"/>
                </a:solidFill>
                <a:latin typeface="Consolas" panose="020B0609020204030204" pitchFamily="49" charset="0"/>
              </a:rPr>
              <a:t>= </a:t>
            </a:r>
            <a:r>
              <a:rPr lang="ja-JP" altLang="en-US" dirty="0">
                <a:solidFill>
                  <a:schemeClr val="accent5"/>
                </a:solidFill>
                <a:latin typeface="Consolas" panose="020B0609020204030204" pitchFamily="49" charset="0"/>
              </a:rPr>
              <a:t>順序違反</a:t>
            </a:r>
            <a:endParaRPr lang="en-US" altLang="ja-JP" dirty="0">
              <a:solidFill>
                <a:schemeClr val="accent5"/>
              </a:solidFill>
              <a:latin typeface="Consolas" panose="020B0609020204030204" pitchFamily="49" charset="0"/>
            </a:endParaRPr>
          </a:p>
        </p:txBody>
      </p:sp>
      <p:grpSp>
        <p:nvGrpSpPr>
          <p:cNvPr id="4" name="グループ化 3"/>
          <p:cNvGrpSpPr/>
          <p:nvPr/>
        </p:nvGrpSpPr>
        <p:grpSpPr>
          <a:xfrm>
            <a:off x="2315958" y="3176356"/>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8076022" y="3158997"/>
            <a:ext cx="1584176"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 name="正方形/長方形 9"/>
          <p:cNvSpPr/>
          <p:nvPr/>
        </p:nvSpPr>
        <p:spPr>
          <a:xfrm>
            <a:off x="2279685" y="233039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1" name="正方形/長方形 10"/>
          <p:cNvSpPr/>
          <p:nvPr/>
        </p:nvSpPr>
        <p:spPr>
          <a:xfrm>
            <a:off x="8526028" y="234898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4655984" y="2168986"/>
            <a:ext cx="2879888" cy="2520028"/>
          </a:xfrm>
          <a:prstGeom prst="rect">
            <a:avLst/>
          </a:prstGeom>
          <a:ln>
            <a:solidFill>
              <a:schemeClr val="accent1"/>
            </a:solidFill>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 name="角丸四角形吹き出し 13"/>
          <p:cNvSpPr/>
          <p:nvPr/>
        </p:nvSpPr>
        <p:spPr bwMode="auto">
          <a:xfrm>
            <a:off x="7986021"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コミット・パイプ</a:t>
            </a:r>
            <a:endParaRPr lang="ja-JP" altLang="en-US" dirty="0">
              <a:solidFill>
                <a:schemeClr val="accent5"/>
              </a:solidFill>
            </a:endParaRPr>
          </a:p>
        </p:txBody>
      </p:sp>
      <p:sp>
        <p:nvSpPr>
          <p:cNvPr id="15" name="角丸四角形吹き出し 14"/>
          <p:cNvSpPr/>
          <p:nvPr/>
        </p:nvSpPr>
        <p:spPr bwMode="auto">
          <a:xfrm>
            <a:off x="2315958" y="3806364"/>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バックエンド</a:t>
            </a:r>
          </a:p>
        </p:txBody>
      </p:sp>
      <p:sp>
        <p:nvSpPr>
          <p:cNvPr id="16" name="正方形/長方形 15"/>
          <p:cNvSpPr/>
          <p:nvPr/>
        </p:nvSpPr>
        <p:spPr bwMode="auto">
          <a:xfrm>
            <a:off x="4655984"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7" name="正方形/長方形 16"/>
          <p:cNvSpPr/>
          <p:nvPr/>
        </p:nvSpPr>
        <p:spPr bwMode="auto">
          <a:xfrm>
            <a:off x="5375992"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8" name="正方形/長方形 17"/>
          <p:cNvSpPr/>
          <p:nvPr/>
        </p:nvSpPr>
        <p:spPr bwMode="auto">
          <a:xfrm>
            <a:off x="6816008"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9" name="正方形/長方形 18"/>
          <p:cNvSpPr/>
          <p:nvPr/>
        </p:nvSpPr>
        <p:spPr bwMode="auto">
          <a:xfrm>
            <a:off x="4565984"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完了</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フラグ</a:t>
            </a:r>
          </a:p>
        </p:txBody>
      </p:sp>
      <p:sp>
        <p:nvSpPr>
          <p:cNvPr id="20" name="正方形/長方形 19"/>
          <p:cNvSpPr/>
          <p:nvPr/>
        </p:nvSpPr>
        <p:spPr bwMode="auto">
          <a:xfrm>
            <a:off x="5285992"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LD/ST</a:t>
            </a:r>
            <a:endParaRPr lang="ja-JP" altLang="en-US" sz="1600" dirty="0">
              <a:solidFill>
                <a:schemeClr val="tx1">
                  <a:lumMod val="75000"/>
                  <a:lumOff val="25000"/>
                </a:schemeClr>
              </a:solidFill>
              <a:latin typeface="+mn-ea"/>
            </a:endParaRPr>
          </a:p>
        </p:txBody>
      </p:sp>
      <p:sp>
        <p:nvSpPr>
          <p:cNvPr id="21" name="正方形/長方形 20"/>
          <p:cNvSpPr/>
          <p:nvPr/>
        </p:nvSpPr>
        <p:spPr bwMode="auto">
          <a:xfrm>
            <a:off x="6096001"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err="1">
                <a:solidFill>
                  <a:schemeClr val="tx1">
                    <a:lumMod val="75000"/>
                    <a:lumOff val="25000"/>
                  </a:schemeClr>
                </a:solidFill>
                <a:latin typeface="+mn-ea"/>
              </a:rPr>
              <a:t>Addr</a:t>
            </a: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24" name="正方形/長方形 23"/>
          <p:cNvSpPr/>
          <p:nvPr/>
        </p:nvSpPr>
        <p:spPr bwMode="auto">
          <a:xfrm>
            <a:off x="6816008"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400" b="1" dirty="0">
              <a:solidFill>
                <a:schemeClr val="accent2"/>
              </a:solidFill>
              <a:latin typeface="+mn-ea"/>
            </a:endParaRPr>
          </a:p>
        </p:txBody>
      </p:sp>
      <p:sp>
        <p:nvSpPr>
          <p:cNvPr id="40" name="正方形/長方形 39"/>
          <p:cNvSpPr/>
          <p:nvPr/>
        </p:nvSpPr>
        <p:spPr bwMode="auto">
          <a:xfrm>
            <a:off x="4205980" y="252899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I1</a:t>
            </a:r>
            <a:endParaRPr lang="ja-JP" altLang="en-US" sz="1600" dirty="0">
              <a:solidFill>
                <a:schemeClr val="accent1"/>
              </a:solidFill>
              <a:latin typeface="+mn-ea"/>
            </a:endParaRPr>
          </a:p>
        </p:txBody>
      </p:sp>
      <p:sp>
        <p:nvSpPr>
          <p:cNvPr id="41" name="正方形/長方形 40"/>
          <p:cNvSpPr/>
          <p:nvPr/>
        </p:nvSpPr>
        <p:spPr bwMode="auto">
          <a:xfrm>
            <a:off x="4205980" y="288899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I2</a:t>
            </a:r>
            <a:endParaRPr lang="ja-JP" altLang="en-US" sz="1600" dirty="0">
              <a:solidFill>
                <a:schemeClr val="accent1"/>
              </a:solidFill>
              <a:latin typeface="+mn-ea"/>
            </a:endParaRPr>
          </a:p>
        </p:txBody>
      </p:sp>
      <p:sp>
        <p:nvSpPr>
          <p:cNvPr id="42" name="正方形/長方形 41"/>
          <p:cNvSpPr/>
          <p:nvPr/>
        </p:nvSpPr>
        <p:spPr bwMode="auto">
          <a:xfrm>
            <a:off x="4205980" y="324899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I3</a:t>
            </a:r>
            <a:endParaRPr lang="ja-JP" altLang="en-US" sz="1600" dirty="0">
              <a:solidFill>
                <a:schemeClr val="accent1"/>
              </a:solidFill>
              <a:latin typeface="+mn-ea"/>
            </a:endParaRPr>
          </a:p>
        </p:txBody>
      </p:sp>
      <p:sp>
        <p:nvSpPr>
          <p:cNvPr id="43" name="右矢印 42"/>
          <p:cNvSpPr/>
          <p:nvPr/>
        </p:nvSpPr>
        <p:spPr bwMode="auto">
          <a:xfrm rot="10800000" flipV="1">
            <a:off x="7626017" y="2438989"/>
            <a:ext cx="900010" cy="540006"/>
          </a:xfrm>
          <a:prstGeom prst="rightArrow">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監視</a:t>
            </a:r>
          </a:p>
        </p:txBody>
      </p:sp>
      <p:sp>
        <p:nvSpPr>
          <p:cNvPr id="45" name="正方形/長方形 44"/>
          <p:cNvSpPr/>
          <p:nvPr/>
        </p:nvSpPr>
        <p:spPr bwMode="auto">
          <a:xfrm>
            <a:off x="6096000"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7" name="正方形/長方形 46"/>
          <p:cNvSpPr/>
          <p:nvPr/>
        </p:nvSpPr>
        <p:spPr bwMode="auto">
          <a:xfrm>
            <a:off x="6816009"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Data</a:t>
            </a:r>
            <a:endParaRPr lang="ja-JP" altLang="en-US" sz="1600" dirty="0">
              <a:solidFill>
                <a:schemeClr val="tx1">
                  <a:lumMod val="75000"/>
                  <a:lumOff val="25000"/>
                </a:schemeClr>
              </a:solidFill>
              <a:latin typeface="+mn-ea"/>
            </a:endParaRPr>
          </a:p>
        </p:txBody>
      </p:sp>
      <p:sp>
        <p:nvSpPr>
          <p:cNvPr id="49" name="正方形/長方形 48"/>
          <p:cNvSpPr/>
          <p:nvPr/>
        </p:nvSpPr>
        <p:spPr bwMode="auto">
          <a:xfrm>
            <a:off x="4655984"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1</a:t>
            </a:r>
            <a:endParaRPr lang="ja-JP" altLang="en-US" b="1" dirty="0">
              <a:solidFill>
                <a:schemeClr val="accent1"/>
              </a:solidFill>
              <a:latin typeface="+mn-ea"/>
            </a:endParaRPr>
          </a:p>
        </p:txBody>
      </p:sp>
      <p:sp>
        <p:nvSpPr>
          <p:cNvPr id="50" name="正方形/長方形 49"/>
          <p:cNvSpPr/>
          <p:nvPr/>
        </p:nvSpPr>
        <p:spPr bwMode="auto">
          <a:xfrm>
            <a:off x="5375992"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LD</a:t>
            </a:r>
            <a:endParaRPr lang="ja-JP" altLang="en-US" b="1" dirty="0">
              <a:solidFill>
                <a:schemeClr val="accent1"/>
              </a:solidFill>
              <a:latin typeface="+mn-ea"/>
            </a:endParaRPr>
          </a:p>
        </p:txBody>
      </p:sp>
      <p:sp>
        <p:nvSpPr>
          <p:cNvPr id="51" name="正方形/長方形 50"/>
          <p:cNvSpPr/>
          <p:nvPr/>
        </p:nvSpPr>
        <p:spPr bwMode="auto">
          <a:xfrm>
            <a:off x="6816008"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a:t>
            </a:r>
            <a:endParaRPr lang="ja-JP" altLang="en-US" b="1" dirty="0">
              <a:solidFill>
                <a:schemeClr val="accent1"/>
              </a:solidFill>
              <a:latin typeface="+mn-ea"/>
            </a:endParaRPr>
          </a:p>
        </p:txBody>
      </p:sp>
      <p:sp>
        <p:nvSpPr>
          <p:cNvPr id="52" name="正方形/長方形 51"/>
          <p:cNvSpPr/>
          <p:nvPr/>
        </p:nvSpPr>
        <p:spPr bwMode="auto">
          <a:xfrm>
            <a:off x="6096000"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accent1"/>
                </a:solidFill>
                <a:latin typeface="+mn-ea"/>
              </a:rPr>
              <a:t>0x100</a:t>
            </a:r>
            <a:endParaRPr lang="ja-JP" altLang="en-US" sz="1400" b="1" dirty="0">
              <a:solidFill>
                <a:schemeClr val="accent1"/>
              </a:solidFill>
              <a:latin typeface="+mn-ea"/>
            </a:endParaRPr>
          </a:p>
        </p:txBody>
      </p:sp>
      <p:sp>
        <p:nvSpPr>
          <p:cNvPr id="57" name="正方形/長方形 56"/>
          <p:cNvSpPr/>
          <p:nvPr/>
        </p:nvSpPr>
        <p:spPr bwMode="auto">
          <a:xfrm>
            <a:off x="4655984"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8" name="正方形/長方形 57"/>
          <p:cNvSpPr/>
          <p:nvPr/>
        </p:nvSpPr>
        <p:spPr bwMode="auto">
          <a:xfrm>
            <a:off x="5375992"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9" name="正方形/長方形 58"/>
          <p:cNvSpPr/>
          <p:nvPr/>
        </p:nvSpPr>
        <p:spPr bwMode="auto">
          <a:xfrm>
            <a:off x="6816008"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0" name="正方形/長方形 59"/>
          <p:cNvSpPr/>
          <p:nvPr/>
        </p:nvSpPr>
        <p:spPr bwMode="auto">
          <a:xfrm>
            <a:off x="6096000"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1" name="正方形/長方形 60"/>
          <p:cNvSpPr/>
          <p:nvPr/>
        </p:nvSpPr>
        <p:spPr bwMode="auto">
          <a:xfrm>
            <a:off x="4655984"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2" name="正方形/長方形 61"/>
          <p:cNvSpPr/>
          <p:nvPr/>
        </p:nvSpPr>
        <p:spPr bwMode="auto">
          <a:xfrm>
            <a:off x="5375992"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3" name="正方形/長方形 62"/>
          <p:cNvSpPr/>
          <p:nvPr/>
        </p:nvSpPr>
        <p:spPr bwMode="auto">
          <a:xfrm>
            <a:off x="6816008"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4" name="正方形/長方形 63"/>
          <p:cNvSpPr/>
          <p:nvPr/>
        </p:nvSpPr>
        <p:spPr bwMode="auto">
          <a:xfrm>
            <a:off x="6096000"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5" name="正方形/長方形 64"/>
          <p:cNvSpPr/>
          <p:nvPr/>
        </p:nvSpPr>
        <p:spPr bwMode="auto">
          <a:xfrm>
            <a:off x="4655984"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6" name="正方形/長方形 65"/>
          <p:cNvSpPr/>
          <p:nvPr/>
        </p:nvSpPr>
        <p:spPr bwMode="auto">
          <a:xfrm>
            <a:off x="5375992"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7" name="正方形/長方形 66"/>
          <p:cNvSpPr/>
          <p:nvPr/>
        </p:nvSpPr>
        <p:spPr bwMode="auto">
          <a:xfrm>
            <a:off x="6816008"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8" name="正方形/長方形 67"/>
          <p:cNvSpPr/>
          <p:nvPr/>
        </p:nvSpPr>
        <p:spPr bwMode="auto">
          <a:xfrm>
            <a:off x="6096000"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9" name="正方形/長方形 68"/>
          <p:cNvSpPr/>
          <p:nvPr/>
        </p:nvSpPr>
        <p:spPr bwMode="auto">
          <a:xfrm>
            <a:off x="4655984" y="818971"/>
            <a:ext cx="2880032"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メモリ</a:t>
            </a:r>
          </a:p>
        </p:txBody>
      </p:sp>
      <p:sp>
        <p:nvSpPr>
          <p:cNvPr id="71" name="角丸四角形 70"/>
          <p:cNvSpPr/>
          <p:nvPr/>
        </p:nvSpPr>
        <p:spPr bwMode="auto">
          <a:xfrm>
            <a:off x="2855964" y="3068996"/>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Consolas" panose="020B0609020204030204" pitchFamily="49" charset="0"/>
              </a:rPr>
              <a:t>I1</a:t>
            </a:r>
            <a:endParaRPr lang="ja-JP" altLang="en-US" dirty="0">
              <a:latin typeface="Consolas" panose="020B0609020204030204" pitchFamily="49" charset="0"/>
            </a:endParaRPr>
          </a:p>
        </p:txBody>
      </p:sp>
      <p:sp>
        <p:nvSpPr>
          <p:cNvPr id="54" name="正方形/長方形 53"/>
          <p:cNvSpPr/>
          <p:nvPr/>
        </p:nvSpPr>
        <p:spPr bwMode="auto">
          <a:xfrm>
            <a:off x="4655984"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1</a:t>
            </a:r>
            <a:endParaRPr lang="ja-JP" altLang="en-US" b="1" dirty="0">
              <a:solidFill>
                <a:schemeClr val="accent1"/>
              </a:solidFill>
              <a:latin typeface="+mn-ea"/>
            </a:endParaRPr>
          </a:p>
        </p:txBody>
      </p:sp>
      <p:sp>
        <p:nvSpPr>
          <p:cNvPr id="55" name="正方形/長方形 54"/>
          <p:cNvSpPr/>
          <p:nvPr/>
        </p:nvSpPr>
        <p:spPr bwMode="auto">
          <a:xfrm>
            <a:off x="5375992"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ST</a:t>
            </a:r>
            <a:endParaRPr lang="ja-JP" altLang="en-US" b="1" dirty="0">
              <a:solidFill>
                <a:schemeClr val="accent1"/>
              </a:solidFill>
              <a:latin typeface="+mn-ea"/>
            </a:endParaRPr>
          </a:p>
        </p:txBody>
      </p:sp>
      <p:sp>
        <p:nvSpPr>
          <p:cNvPr id="77" name="正方形/長方形 76"/>
          <p:cNvSpPr/>
          <p:nvPr/>
        </p:nvSpPr>
        <p:spPr bwMode="auto">
          <a:xfrm>
            <a:off x="6816008"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accent1"/>
                </a:solidFill>
                <a:latin typeface="+mn-ea"/>
              </a:rPr>
              <a:t>0x123</a:t>
            </a:r>
            <a:endParaRPr lang="ja-JP" altLang="en-US" sz="1400" b="1" dirty="0">
              <a:solidFill>
                <a:schemeClr val="accent1"/>
              </a:solidFill>
              <a:latin typeface="+mn-ea"/>
            </a:endParaRPr>
          </a:p>
        </p:txBody>
      </p:sp>
      <p:sp>
        <p:nvSpPr>
          <p:cNvPr id="79" name="正方形/長方形 78"/>
          <p:cNvSpPr/>
          <p:nvPr/>
        </p:nvSpPr>
        <p:spPr bwMode="auto">
          <a:xfrm>
            <a:off x="6096000"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accent1"/>
                </a:solidFill>
                <a:latin typeface="+mn-ea"/>
              </a:rPr>
              <a:t>0x100</a:t>
            </a:r>
            <a:endParaRPr lang="ja-JP" altLang="en-US" sz="1400" b="1" dirty="0">
              <a:solidFill>
                <a:schemeClr val="accent1"/>
              </a:solidFill>
              <a:latin typeface="+mn-ea"/>
            </a:endParaRPr>
          </a:p>
        </p:txBody>
      </p:sp>
      <p:sp>
        <p:nvSpPr>
          <p:cNvPr id="80" name="正方形/長方形 79"/>
          <p:cNvSpPr/>
          <p:nvPr/>
        </p:nvSpPr>
        <p:spPr bwMode="auto">
          <a:xfrm>
            <a:off x="4655984"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81" name="正方形/長方形 80"/>
          <p:cNvSpPr/>
          <p:nvPr/>
        </p:nvSpPr>
        <p:spPr bwMode="auto">
          <a:xfrm>
            <a:off x="5375992"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82" name="正方形/長方形 81"/>
          <p:cNvSpPr/>
          <p:nvPr/>
        </p:nvSpPr>
        <p:spPr bwMode="auto">
          <a:xfrm>
            <a:off x="6816008"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83" name="正方形/長方形 82"/>
          <p:cNvSpPr/>
          <p:nvPr/>
        </p:nvSpPr>
        <p:spPr bwMode="auto">
          <a:xfrm>
            <a:off x="6096000"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4088887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順序違反の検出（３）</a:t>
            </a:r>
          </a:p>
        </p:txBody>
      </p:sp>
      <p:sp>
        <p:nvSpPr>
          <p:cNvPr id="3" name="テキスト プレースホルダー 2"/>
          <p:cNvSpPr>
            <a:spLocks noGrp="1"/>
          </p:cNvSpPr>
          <p:nvPr>
            <p:ph type="body" sz="quarter" idx="10"/>
          </p:nvPr>
        </p:nvSpPr>
        <p:spPr>
          <a:xfrm>
            <a:off x="1955954" y="5139020"/>
            <a:ext cx="8280092" cy="899703"/>
          </a:xfrm>
        </p:spPr>
        <p:txBody>
          <a:bodyPr/>
          <a:lstStyle/>
          <a:p>
            <a:r>
              <a:rPr lang="ja-JP" altLang="en-US" dirty="0">
                <a:latin typeface="Consolas" panose="020B0609020204030204" pitchFamily="49" charset="0"/>
              </a:rPr>
              <a:t>順序違反の検出</a:t>
            </a:r>
            <a:endParaRPr lang="en-US" altLang="ja-JP" dirty="0">
              <a:latin typeface="Consolas" panose="020B0609020204030204" pitchFamily="49" charset="0"/>
            </a:endParaRPr>
          </a:p>
          <a:p>
            <a:pPr lvl="1"/>
            <a:r>
              <a:rPr lang="ja-JP" altLang="en-US" dirty="0">
                <a:latin typeface="Consolas" panose="020B0609020204030204" pitchFamily="49" charset="0"/>
              </a:rPr>
              <a:t>ストアの完了時に，自分より後ろのロードのアドレスを検索</a:t>
            </a:r>
            <a:endParaRPr lang="en-US" altLang="ja-JP" dirty="0">
              <a:latin typeface="Consolas" panose="020B0609020204030204" pitchFamily="49" charset="0"/>
            </a:endParaRPr>
          </a:p>
          <a:p>
            <a:pPr lvl="1"/>
            <a:r>
              <a:rPr lang="ja-JP" altLang="en-US" dirty="0">
                <a:latin typeface="Consolas" panose="020B0609020204030204" pitchFamily="49" charset="0"/>
              </a:rPr>
              <a:t>すでに完了しているロードでアドレスがヒットした場合</a:t>
            </a:r>
            <a:endParaRPr lang="en-US" altLang="ja-JP" dirty="0">
              <a:latin typeface="Consolas" panose="020B0609020204030204" pitchFamily="49" charset="0"/>
            </a:endParaRPr>
          </a:p>
          <a:p>
            <a:pPr lvl="2"/>
            <a:r>
              <a:rPr lang="ja-JP" altLang="en-US" dirty="0">
                <a:latin typeface="Consolas" panose="020B0609020204030204" pitchFamily="49" charset="0"/>
              </a:rPr>
              <a:t>本来はそのロードはそのストアのデータを読むべきであった</a:t>
            </a:r>
            <a:endParaRPr lang="en-US" altLang="ja-JP" dirty="0">
              <a:latin typeface="Consolas" panose="020B0609020204030204" pitchFamily="49" charset="0"/>
            </a:endParaRPr>
          </a:p>
          <a:p>
            <a:pPr lvl="2"/>
            <a:r>
              <a:rPr lang="ja-JP" altLang="en-US" dirty="0">
                <a:latin typeface="Consolas" panose="020B0609020204030204" pitchFamily="49" charset="0"/>
              </a:rPr>
              <a:t>順序違反として検出し，自分より後ろを全部消してやり直す</a:t>
            </a:r>
            <a:endParaRPr lang="en-US" altLang="ja-JP" dirty="0">
              <a:latin typeface="Consolas" panose="020B0609020204030204" pitchFamily="49" charset="0"/>
            </a:endParaRPr>
          </a:p>
        </p:txBody>
      </p:sp>
      <p:grpSp>
        <p:nvGrpSpPr>
          <p:cNvPr id="4" name="グループ化 3"/>
          <p:cNvGrpSpPr/>
          <p:nvPr/>
        </p:nvGrpSpPr>
        <p:grpSpPr>
          <a:xfrm>
            <a:off x="2315958" y="3176356"/>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8076022" y="3158997"/>
            <a:ext cx="1584176"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 name="正方形/長方形 9"/>
          <p:cNvSpPr/>
          <p:nvPr/>
        </p:nvSpPr>
        <p:spPr>
          <a:xfrm>
            <a:off x="2279685" y="233039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1" name="正方形/長方形 10"/>
          <p:cNvSpPr/>
          <p:nvPr/>
        </p:nvSpPr>
        <p:spPr>
          <a:xfrm>
            <a:off x="8526028" y="234898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4655984" y="2168986"/>
            <a:ext cx="2879888" cy="2520028"/>
          </a:xfrm>
          <a:prstGeom prst="rect">
            <a:avLst/>
          </a:prstGeom>
          <a:ln>
            <a:solidFill>
              <a:schemeClr val="accent1"/>
            </a:solidFill>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 name="角丸四角形吹き出し 13"/>
          <p:cNvSpPr/>
          <p:nvPr/>
        </p:nvSpPr>
        <p:spPr bwMode="auto">
          <a:xfrm>
            <a:off x="7986021"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コミット・パイプ</a:t>
            </a:r>
            <a:endParaRPr lang="ja-JP" altLang="en-US" dirty="0">
              <a:solidFill>
                <a:schemeClr val="accent5"/>
              </a:solidFill>
            </a:endParaRPr>
          </a:p>
        </p:txBody>
      </p:sp>
      <p:sp>
        <p:nvSpPr>
          <p:cNvPr id="15" name="角丸四角形吹き出し 14"/>
          <p:cNvSpPr/>
          <p:nvPr/>
        </p:nvSpPr>
        <p:spPr bwMode="auto">
          <a:xfrm>
            <a:off x="2315958" y="3806364"/>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dirty="0">
                <a:solidFill>
                  <a:schemeClr val="tx1">
                    <a:lumMod val="75000"/>
                    <a:lumOff val="25000"/>
                  </a:schemeClr>
                </a:solidFill>
              </a:rPr>
              <a:t>バックエンド</a:t>
            </a:r>
          </a:p>
        </p:txBody>
      </p:sp>
      <p:sp>
        <p:nvSpPr>
          <p:cNvPr id="16" name="正方形/長方形 15"/>
          <p:cNvSpPr/>
          <p:nvPr/>
        </p:nvSpPr>
        <p:spPr bwMode="auto">
          <a:xfrm>
            <a:off x="4655984"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7" name="正方形/長方形 16"/>
          <p:cNvSpPr/>
          <p:nvPr/>
        </p:nvSpPr>
        <p:spPr bwMode="auto">
          <a:xfrm>
            <a:off x="5375992"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8" name="正方形/長方形 17"/>
          <p:cNvSpPr/>
          <p:nvPr/>
        </p:nvSpPr>
        <p:spPr bwMode="auto">
          <a:xfrm>
            <a:off x="6816008"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9" name="正方形/長方形 18"/>
          <p:cNvSpPr/>
          <p:nvPr/>
        </p:nvSpPr>
        <p:spPr bwMode="auto">
          <a:xfrm>
            <a:off x="4565984"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完了</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フラグ</a:t>
            </a:r>
          </a:p>
        </p:txBody>
      </p:sp>
      <p:sp>
        <p:nvSpPr>
          <p:cNvPr id="20" name="正方形/長方形 19"/>
          <p:cNvSpPr/>
          <p:nvPr/>
        </p:nvSpPr>
        <p:spPr bwMode="auto">
          <a:xfrm>
            <a:off x="5285992"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LD/ST</a:t>
            </a:r>
            <a:endParaRPr lang="ja-JP" altLang="en-US" sz="1600" dirty="0">
              <a:solidFill>
                <a:schemeClr val="tx1">
                  <a:lumMod val="75000"/>
                  <a:lumOff val="25000"/>
                </a:schemeClr>
              </a:solidFill>
              <a:latin typeface="+mn-ea"/>
            </a:endParaRPr>
          </a:p>
        </p:txBody>
      </p:sp>
      <p:sp>
        <p:nvSpPr>
          <p:cNvPr id="21" name="正方形/長方形 20"/>
          <p:cNvSpPr/>
          <p:nvPr/>
        </p:nvSpPr>
        <p:spPr bwMode="auto">
          <a:xfrm>
            <a:off x="6096001"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err="1">
                <a:solidFill>
                  <a:schemeClr val="tx1">
                    <a:lumMod val="75000"/>
                    <a:lumOff val="25000"/>
                  </a:schemeClr>
                </a:solidFill>
                <a:latin typeface="+mn-ea"/>
              </a:rPr>
              <a:t>Addr</a:t>
            </a: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24" name="正方形/長方形 23"/>
          <p:cNvSpPr/>
          <p:nvPr/>
        </p:nvSpPr>
        <p:spPr bwMode="auto">
          <a:xfrm>
            <a:off x="6816008"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400" b="1" dirty="0">
              <a:solidFill>
                <a:schemeClr val="accent2"/>
              </a:solidFill>
              <a:latin typeface="+mn-ea"/>
            </a:endParaRPr>
          </a:p>
        </p:txBody>
      </p:sp>
      <p:sp>
        <p:nvSpPr>
          <p:cNvPr id="40" name="正方形/長方形 39"/>
          <p:cNvSpPr/>
          <p:nvPr/>
        </p:nvSpPr>
        <p:spPr bwMode="auto">
          <a:xfrm>
            <a:off x="4205980" y="252899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I1</a:t>
            </a:r>
            <a:endParaRPr lang="ja-JP" altLang="en-US" sz="1600" dirty="0">
              <a:solidFill>
                <a:schemeClr val="accent1"/>
              </a:solidFill>
              <a:latin typeface="+mn-ea"/>
            </a:endParaRPr>
          </a:p>
        </p:txBody>
      </p:sp>
      <p:sp>
        <p:nvSpPr>
          <p:cNvPr id="41" name="正方形/長方形 40"/>
          <p:cNvSpPr/>
          <p:nvPr/>
        </p:nvSpPr>
        <p:spPr bwMode="auto">
          <a:xfrm>
            <a:off x="4205980" y="288899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I2</a:t>
            </a:r>
            <a:endParaRPr lang="ja-JP" altLang="en-US" sz="1600" dirty="0">
              <a:solidFill>
                <a:schemeClr val="accent1"/>
              </a:solidFill>
              <a:latin typeface="+mn-ea"/>
            </a:endParaRPr>
          </a:p>
        </p:txBody>
      </p:sp>
      <p:sp>
        <p:nvSpPr>
          <p:cNvPr id="42" name="正方形/長方形 41"/>
          <p:cNvSpPr/>
          <p:nvPr/>
        </p:nvSpPr>
        <p:spPr bwMode="auto">
          <a:xfrm>
            <a:off x="4205980" y="324899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1"/>
                </a:solidFill>
                <a:latin typeface="Consolas" panose="020B0609020204030204" pitchFamily="49" charset="0"/>
              </a:rPr>
              <a:t>I3</a:t>
            </a:r>
            <a:endParaRPr lang="ja-JP" altLang="en-US" sz="1600" dirty="0">
              <a:solidFill>
                <a:schemeClr val="accent1"/>
              </a:solidFill>
              <a:latin typeface="+mn-ea"/>
            </a:endParaRPr>
          </a:p>
        </p:txBody>
      </p:sp>
      <p:sp>
        <p:nvSpPr>
          <p:cNvPr id="43" name="右矢印 42"/>
          <p:cNvSpPr/>
          <p:nvPr/>
        </p:nvSpPr>
        <p:spPr bwMode="auto">
          <a:xfrm rot="10800000" flipV="1">
            <a:off x="7626017" y="2438989"/>
            <a:ext cx="900010" cy="540006"/>
          </a:xfrm>
          <a:prstGeom prst="rightArrow">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監視</a:t>
            </a:r>
          </a:p>
        </p:txBody>
      </p:sp>
      <p:sp>
        <p:nvSpPr>
          <p:cNvPr id="45" name="正方形/長方形 44"/>
          <p:cNvSpPr/>
          <p:nvPr/>
        </p:nvSpPr>
        <p:spPr bwMode="auto">
          <a:xfrm>
            <a:off x="6096000" y="216898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47" name="正方形/長方形 46"/>
          <p:cNvSpPr/>
          <p:nvPr/>
        </p:nvSpPr>
        <p:spPr bwMode="auto">
          <a:xfrm>
            <a:off x="6816009"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Data</a:t>
            </a:r>
            <a:endParaRPr lang="ja-JP" altLang="en-US" sz="1600" dirty="0">
              <a:solidFill>
                <a:schemeClr val="tx1">
                  <a:lumMod val="75000"/>
                  <a:lumOff val="25000"/>
                </a:schemeClr>
              </a:solidFill>
              <a:latin typeface="+mn-ea"/>
            </a:endParaRPr>
          </a:p>
        </p:txBody>
      </p:sp>
      <p:sp>
        <p:nvSpPr>
          <p:cNvPr id="49" name="正方形/長方形 48"/>
          <p:cNvSpPr/>
          <p:nvPr/>
        </p:nvSpPr>
        <p:spPr bwMode="auto">
          <a:xfrm>
            <a:off x="4655984"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1</a:t>
            </a:r>
            <a:endParaRPr lang="ja-JP" altLang="en-US" b="1" dirty="0">
              <a:solidFill>
                <a:schemeClr val="accent1"/>
              </a:solidFill>
              <a:latin typeface="+mn-ea"/>
            </a:endParaRPr>
          </a:p>
        </p:txBody>
      </p:sp>
      <p:sp>
        <p:nvSpPr>
          <p:cNvPr id="50" name="正方形/長方形 49"/>
          <p:cNvSpPr/>
          <p:nvPr/>
        </p:nvSpPr>
        <p:spPr bwMode="auto">
          <a:xfrm>
            <a:off x="5375992"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LD</a:t>
            </a:r>
            <a:endParaRPr lang="ja-JP" altLang="en-US" b="1" dirty="0">
              <a:solidFill>
                <a:schemeClr val="accent1"/>
              </a:solidFill>
              <a:latin typeface="+mn-ea"/>
            </a:endParaRPr>
          </a:p>
        </p:txBody>
      </p:sp>
      <p:sp>
        <p:nvSpPr>
          <p:cNvPr id="51" name="正方形/長方形 50"/>
          <p:cNvSpPr/>
          <p:nvPr/>
        </p:nvSpPr>
        <p:spPr bwMode="auto">
          <a:xfrm>
            <a:off x="6816008"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a:t>
            </a:r>
            <a:endParaRPr lang="ja-JP" altLang="en-US" b="1" dirty="0">
              <a:solidFill>
                <a:schemeClr val="accent1"/>
              </a:solidFill>
              <a:latin typeface="+mn-ea"/>
            </a:endParaRPr>
          </a:p>
        </p:txBody>
      </p:sp>
      <p:sp>
        <p:nvSpPr>
          <p:cNvPr id="52" name="正方形/長方形 51"/>
          <p:cNvSpPr/>
          <p:nvPr/>
        </p:nvSpPr>
        <p:spPr bwMode="auto">
          <a:xfrm>
            <a:off x="6096000" y="2888994"/>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accent1"/>
                </a:solidFill>
                <a:latin typeface="+mn-ea"/>
              </a:rPr>
              <a:t>0x100</a:t>
            </a:r>
            <a:endParaRPr lang="ja-JP" altLang="en-US" sz="1400" b="1" dirty="0">
              <a:solidFill>
                <a:schemeClr val="accent1"/>
              </a:solidFill>
              <a:latin typeface="+mn-ea"/>
            </a:endParaRPr>
          </a:p>
        </p:txBody>
      </p:sp>
      <p:sp>
        <p:nvSpPr>
          <p:cNvPr id="57" name="正方形/長方形 56"/>
          <p:cNvSpPr/>
          <p:nvPr/>
        </p:nvSpPr>
        <p:spPr bwMode="auto">
          <a:xfrm>
            <a:off x="4655984"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8" name="正方形/長方形 57"/>
          <p:cNvSpPr/>
          <p:nvPr/>
        </p:nvSpPr>
        <p:spPr bwMode="auto">
          <a:xfrm>
            <a:off x="5375992"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59" name="正方形/長方形 58"/>
          <p:cNvSpPr/>
          <p:nvPr/>
        </p:nvSpPr>
        <p:spPr bwMode="auto">
          <a:xfrm>
            <a:off x="6816008"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0" name="正方形/長方形 59"/>
          <p:cNvSpPr/>
          <p:nvPr/>
        </p:nvSpPr>
        <p:spPr bwMode="auto">
          <a:xfrm>
            <a:off x="6096000" y="3609002"/>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1" name="正方形/長方形 60"/>
          <p:cNvSpPr/>
          <p:nvPr/>
        </p:nvSpPr>
        <p:spPr bwMode="auto">
          <a:xfrm>
            <a:off x="4655984"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2" name="正方形/長方形 61"/>
          <p:cNvSpPr/>
          <p:nvPr/>
        </p:nvSpPr>
        <p:spPr bwMode="auto">
          <a:xfrm>
            <a:off x="5375992"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3" name="正方形/長方形 62"/>
          <p:cNvSpPr/>
          <p:nvPr/>
        </p:nvSpPr>
        <p:spPr bwMode="auto">
          <a:xfrm>
            <a:off x="6816008"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4" name="正方形/長方形 63"/>
          <p:cNvSpPr/>
          <p:nvPr/>
        </p:nvSpPr>
        <p:spPr bwMode="auto">
          <a:xfrm>
            <a:off x="6096000" y="3969006"/>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5" name="正方形/長方形 64"/>
          <p:cNvSpPr/>
          <p:nvPr/>
        </p:nvSpPr>
        <p:spPr bwMode="auto">
          <a:xfrm>
            <a:off x="4655984"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6" name="正方形/長方形 65"/>
          <p:cNvSpPr/>
          <p:nvPr/>
        </p:nvSpPr>
        <p:spPr bwMode="auto">
          <a:xfrm>
            <a:off x="5375992"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7" name="正方形/長方形 66"/>
          <p:cNvSpPr/>
          <p:nvPr/>
        </p:nvSpPr>
        <p:spPr bwMode="auto">
          <a:xfrm>
            <a:off x="6816008"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8" name="正方形/長方形 67"/>
          <p:cNvSpPr/>
          <p:nvPr/>
        </p:nvSpPr>
        <p:spPr bwMode="auto">
          <a:xfrm>
            <a:off x="6096000" y="432901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69" name="正方形/長方形 68"/>
          <p:cNvSpPr/>
          <p:nvPr/>
        </p:nvSpPr>
        <p:spPr bwMode="auto">
          <a:xfrm>
            <a:off x="4655984" y="818971"/>
            <a:ext cx="2880032"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メモリ</a:t>
            </a:r>
          </a:p>
        </p:txBody>
      </p:sp>
      <p:sp>
        <p:nvSpPr>
          <p:cNvPr id="71" name="角丸四角形 70"/>
          <p:cNvSpPr/>
          <p:nvPr/>
        </p:nvSpPr>
        <p:spPr bwMode="auto">
          <a:xfrm>
            <a:off x="2855964" y="3068996"/>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Consolas" panose="020B0609020204030204" pitchFamily="49" charset="0"/>
              </a:rPr>
              <a:t>I1</a:t>
            </a:r>
            <a:endParaRPr lang="ja-JP" altLang="en-US" dirty="0">
              <a:latin typeface="Consolas" panose="020B0609020204030204" pitchFamily="49" charset="0"/>
            </a:endParaRPr>
          </a:p>
        </p:txBody>
      </p:sp>
      <p:sp>
        <p:nvSpPr>
          <p:cNvPr id="54" name="正方形/長方形 53"/>
          <p:cNvSpPr/>
          <p:nvPr/>
        </p:nvSpPr>
        <p:spPr bwMode="auto">
          <a:xfrm>
            <a:off x="4655984"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1</a:t>
            </a:r>
            <a:endParaRPr lang="ja-JP" altLang="en-US" b="1" dirty="0">
              <a:solidFill>
                <a:schemeClr val="accent1"/>
              </a:solidFill>
              <a:latin typeface="+mn-ea"/>
            </a:endParaRPr>
          </a:p>
        </p:txBody>
      </p:sp>
      <p:sp>
        <p:nvSpPr>
          <p:cNvPr id="55" name="正方形/長方形 54"/>
          <p:cNvSpPr/>
          <p:nvPr/>
        </p:nvSpPr>
        <p:spPr bwMode="auto">
          <a:xfrm>
            <a:off x="5375992"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1"/>
                </a:solidFill>
                <a:latin typeface="+mn-ea"/>
              </a:rPr>
              <a:t>ST</a:t>
            </a:r>
            <a:endParaRPr lang="ja-JP" altLang="en-US" b="1" dirty="0">
              <a:solidFill>
                <a:schemeClr val="accent1"/>
              </a:solidFill>
              <a:latin typeface="+mn-ea"/>
            </a:endParaRPr>
          </a:p>
        </p:txBody>
      </p:sp>
      <p:sp>
        <p:nvSpPr>
          <p:cNvPr id="77" name="正方形/長方形 76"/>
          <p:cNvSpPr/>
          <p:nvPr/>
        </p:nvSpPr>
        <p:spPr bwMode="auto">
          <a:xfrm>
            <a:off x="6816008"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accent1"/>
                </a:solidFill>
                <a:latin typeface="+mn-ea"/>
              </a:rPr>
              <a:t>0x123</a:t>
            </a:r>
            <a:endParaRPr lang="ja-JP" altLang="en-US" sz="1400" b="1" dirty="0">
              <a:solidFill>
                <a:schemeClr val="accent1"/>
              </a:solidFill>
              <a:latin typeface="+mn-ea"/>
            </a:endParaRPr>
          </a:p>
        </p:txBody>
      </p:sp>
      <p:sp>
        <p:nvSpPr>
          <p:cNvPr id="79" name="正方形/長方形 78"/>
          <p:cNvSpPr/>
          <p:nvPr/>
        </p:nvSpPr>
        <p:spPr bwMode="auto">
          <a:xfrm>
            <a:off x="6096000" y="2528990"/>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accent1"/>
                </a:solidFill>
                <a:latin typeface="+mn-ea"/>
              </a:rPr>
              <a:t>0x100</a:t>
            </a:r>
            <a:endParaRPr lang="ja-JP" altLang="en-US" sz="1400" b="1" dirty="0">
              <a:solidFill>
                <a:schemeClr val="accent1"/>
              </a:solidFill>
              <a:latin typeface="+mn-ea"/>
            </a:endParaRPr>
          </a:p>
        </p:txBody>
      </p:sp>
      <p:sp>
        <p:nvSpPr>
          <p:cNvPr id="80" name="正方形/長方形 79"/>
          <p:cNvSpPr/>
          <p:nvPr/>
        </p:nvSpPr>
        <p:spPr bwMode="auto">
          <a:xfrm>
            <a:off x="4655984"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81" name="正方形/長方形 80"/>
          <p:cNvSpPr/>
          <p:nvPr/>
        </p:nvSpPr>
        <p:spPr bwMode="auto">
          <a:xfrm>
            <a:off x="5375992"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82" name="正方形/長方形 81"/>
          <p:cNvSpPr/>
          <p:nvPr/>
        </p:nvSpPr>
        <p:spPr bwMode="auto">
          <a:xfrm>
            <a:off x="6816008"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83" name="正方形/長方形 82"/>
          <p:cNvSpPr/>
          <p:nvPr/>
        </p:nvSpPr>
        <p:spPr bwMode="auto">
          <a:xfrm>
            <a:off x="6096000" y="3248998"/>
            <a:ext cx="720008" cy="360004"/>
          </a:xfrm>
          <a:prstGeom prst="rect">
            <a:avLst/>
          </a:prstGeom>
          <a:noFill/>
          <a:ln>
            <a:solidFill>
              <a:schemeClr val="accent1"/>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22" name="下矢印 21"/>
          <p:cNvSpPr/>
          <p:nvPr/>
        </p:nvSpPr>
        <p:spPr bwMode="auto">
          <a:xfrm>
            <a:off x="6096000" y="2888995"/>
            <a:ext cx="720008" cy="990011"/>
          </a:xfrm>
          <a:prstGeom prst="downArrow">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検索</a:t>
            </a:r>
          </a:p>
        </p:txBody>
      </p:sp>
    </p:spTree>
    <p:extLst>
      <p:ext uri="{BB962C8B-B14F-4D97-AF65-F5344CB8AC3E}">
        <p14:creationId xmlns:p14="http://schemas.microsoft.com/office/powerpoint/2010/main" val="32087978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実行結果がおかしくなる例の解決（１）</a:t>
            </a:r>
          </a:p>
        </p:txBody>
      </p:sp>
      <p:sp>
        <p:nvSpPr>
          <p:cNvPr id="3" name="テキスト プレースホルダー 2"/>
          <p:cNvSpPr>
            <a:spLocks noGrp="1"/>
          </p:cNvSpPr>
          <p:nvPr>
            <p:ph type="body" sz="quarter" idx="10"/>
          </p:nvPr>
        </p:nvSpPr>
        <p:spPr/>
        <p:txBody>
          <a:bodyPr/>
          <a:lstStyle/>
          <a:p>
            <a:r>
              <a:rPr lang="ja-JP" altLang="en-US" dirty="0"/>
              <a:t>ストア→ロード間の順序の違反</a:t>
            </a:r>
            <a:endParaRPr lang="en-US" altLang="ja-JP" dirty="0"/>
          </a:p>
          <a:p>
            <a:pPr lvl="1"/>
            <a:r>
              <a:rPr lang="en-US" altLang="ja-JP" dirty="0">
                <a:latin typeface="Consolas" panose="020B0609020204030204" pitchFamily="49" charset="0"/>
              </a:rPr>
              <a:t>I2</a:t>
            </a:r>
            <a:r>
              <a:rPr lang="ja-JP" altLang="en-US" dirty="0">
                <a:latin typeface="Consolas" panose="020B0609020204030204" pitchFamily="49" charset="0"/>
              </a:rPr>
              <a:t>→</a:t>
            </a:r>
            <a:r>
              <a:rPr lang="en-US" altLang="ja-JP" dirty="0">
                <a:latin typeface="Consolas" panose="020B0609020204030204" pitchFamily="49" charset="0"/>
              </a:rPr>
              <a:t>I1 </a:t>
            </a:r>
            <a:r>
              <a:rPr lang="ja-JP" altLang="en-US" dirty="0">
                <a:latin typeface="Consolas" panose="020B0609020204030204" pitchFamily="49" charset="0"/>
              </a:rPr>
              <a:t>の順で発行される場合</a:t>
            </a:r>
            <a:endParaRPr lang="en-US" altLang="ja-JP" dirty="0"/>
          </a:p>
          <a:p>
            <a:pPr marL="720000" lvl="2" indent="0">
              <a:buNone/>
            </a:pPr>
            <a:r>
              <a:rPr lang="en-US" altLang="ja-JP" dirty="0">
                <a:latin typeface="Consolas" panose="020B0609020204030204" pitchFamily="49" charset="0"/>
              </a:rPr>
              <a:t>I1: </a:t>
            </a:r>
            <a:r>
              <a:rPr lang="en-US" altLang="ja-JP" dirty="0" err="1">
                <a:latin typeface="Consolas" panose="020B0609020204030204" pitchFamily="49" charset="0"/>
              </a:rPr>
              <a:t>sw</a:t>
            </a:r>
            <a:r>
              <a:rPr lang="en-US" altLang="ja-JP" dirty="0">
                <a:latin typeface="Consolas" panose="020B0609020204030204" pitchFamily="49" charset="0"/>
              </a:rPr>
              <a:t> x1</a:t>
            </a:r>
            <a:r>
              <a:rPr lang="ja-JP" altLang="en-US" dirty="0">
                <a:latin typeface="Consolas" panose="020B0609020204030204" pitchFamily="49" charset="0"/>
              </a:rPr>
              <a:t>→</a:t>
            </a:r>
            <a:r>
              <a:rPr lang="en-US" altLang="ja-JP" dirty="0">
                <a:latin typeface="Consolas" panose="020B0609020204030204" pitchFamily="49" charset="0"/>
              </a:rPr>
              <a:t>(0x1000)</a:t>
            </a:r>
          </a:p>
          <a:p>
            <a:pPr marL="720000" lvl="2" indent="0">
              <a:buNone/>
            </a:pPr>
            <a:r>
              <a:rPr lang="en-US" altLang="ja-JP" dirty="0">
                <a:latin typeface="Consolas" panose="020B0609020204030204" pitchFamily="49" charset="0"/>
              </a:rPr>
              <a:t>I2: </a:t>
            </a:r>
            <a:r>
              <a:rPr lang="en-US" altLang="ja-JP" dirty="0" err="1">
                <a:latin typeface="Consolas" panose="020B0609020204030204" pitchFamily="49" charset="0"/>
              </a:rPr>
              <a:t>lw</a:t>
            </a:r>
            <a:r>
              <a:rPr lang="en-US" altLang="ja-JP" dirty="0">
                <a:latin typeface="Consolas" panose="020B0609020204030204" pitchFamily="49" charset="0"/>
              </a:rPr>
              <a:t> x2</a:t>
            </a:r>
            <a:r>
              <a:rPr lang="ja-JP" altLang="en-US" dirty="0">
                <a:latin typeface="Consolas" panose="020B0609020204030204" pitchFamily="49" charset="0"/>
              </a:rPr>
              <a:t>←</a:t>
            </a:r>
            <a:r>
              <a:rPr lang="en-US" altLang="ja-JP" dirty="0">
                <a:latin typeface="Consolas" panose="020B0609020204030204" pitchFamily="49" charset="0"/>
              </a:rPr>
              <a:t>(0x1000)</a:t>
            </a:r>
          </a:p>
          <a:p>
            <a:r>
              <a:rPr kumimoji="1" lang="ja-JP" altLang="en-US" dirty="0">
                <a:latin typeface="Consolas" panose="020B0609020204030204" pitchFamily="49" charset="0"/>
              </a:rPr>
              <a:t>動作：ロードを取り消してやり直す</a:t>
            </a:r>
            <a:endParaRPr kumimoji="1" lang="en-US" altLang="ja-JP" dirty="0">
              <a:latin typeface="Consolas" panose="020B0609020204030204" pitchFamily="49" charset="0"/>
            </a:endParaRPr>
          </a:p>
          <a:p>
            <a:pPr lvl="1"/>
            <a:r>
              <a:rPr kumimoji="1" lang="en-US" altLang="ja-JP" dirty="0">
                <a:latin typeface="Consolas" panose="020B0609020204030204" pitchFamily="49" charset="0"/>
              </a:rPr>
              <a:t>I1 </a:t>
            </a:r>
            <a:r>
              <a:rPr kumimoji="1" lang="ja-JP" altLang="en-US" dirty="0">
                <a:latin typeface="Consolas" panose="020B0609020204030204" pitchFamily="49" charset="0"/>
              </a:rPr>
              <a:t>実行時に自分より後ろを </a:t>
            </a:r>
            <a:r>
              <a:rPr kumimoji="1" lang="en-US" altLang="ja-JP" dirty="0">
                <a:latin typeface="Consolas" panose="020B0609020204030204" pitchFamily="49" charset="0"/>
              </a:rPr>
              <a:t>LSQ </a:t>
            </a:r>
            <a:r>
              <a:rPr kumimoji="1" lang="ja-JP" altLang="en-US" dirty="0">
                <a:latin typeface="Consolas" panose="020B0609020204030204" pitchFamily="49" charset="0"/>
              </a:rPr>
              <a:t>から検索すると </a:t>
            </a:r>
            <a:r>
              <a:rPr kumimoji="1" lang="en-US" altLang="ja-JP" dirty="0">
                <a:latin typeface="Consolas" panose="020B0609020204030204" pitchFamily="49" charset="0"/>
              </a:rPr>
              <a:t>I2 </a:t>
            </a:r>
            <a:r>
              <a:rPr kumimoji="1" lang="ja-JP" altLang="en-US" dirty="0">
                <a:latin typeface="Consolas" panose="020B0609020204030204" pitchFamily="49" charset="0"/>
              </a:rPr>
              <a:t>がヒット</a:t>
            </a:r>
            <a:endParaRPr kumimoji="1" lang="en-US" altLang="ja-JP" dirty="0">
              <a:latin typeface="Consolas" panose="020B0609020204030204" pitchFamily="49" charset="0"/>
            </a:endParaRPr>
          </a:p>
          <a:p>
            <a:pPr lvl="1"/>
            <a:r>
              <a:rPr lang="en-US" altLang="ja-JP" dirty="0">
                <a:latin typeface="Consolas" panose="020B0609020204030204" pitchFamily="49" charset="0"/>
              </a:rPr>
              <a:t>I2 </a:t>
            </a:r>
            <a:r>
              <a:rPr lang="ja-JP" altLang="en-US" dirty="0">
                <a:latin typeface="Consolas" panose="020B0609020204030204" pitchFamily="49" charset="0"/>
              </a:rPr>
              <a:t>を再実行することにより，ロードで正しい値を得る</a:t>
            </a:r>
            <a:endParaRPr kumimoji="1" lang="ja-JP" altLang="en-US" dirty="0"/>
          </a:p>
        </p:txBody>
      </p:sp>
    </p:spTree>
    <p:extLst>
      <p:ext uri="{BB962C8B-B14F-4D97-AF65-F5344CB8AC3E}">
        <p14:creationId xmlns:p14="http://schemas.microsoft.com/office/powerpoint/2010/main" val="23064501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実行結果がおかしくなる例の解決（２）</a:t>
            </a:r>
          </a:p>
        </p:txBody>
      </p:sp>
      <p:sp>
        <p:nvSpPr>
          <p:cNvPr id="3" name="テキスト プレースホルダー 2"/>
          <p:cNvSpPr>
            <a:spLocks noGrp="1"/>
          </p:cNvSpPr>
          <p:nvPr>
            <p:ph type="body" sz="quarter" idx="10"/>
          </p:nvPr>
        </p:nvSpPr>
        <p:spPr/>
        <p:txBody>
          <a:bodyPr/>
          <a:lstStyle/>
          <a:p>
            <a:r>
              <a:rPr lang="ja-JP" altLang="en-US" dirty="0"/>
              <a:t>ロード→ストア間の順序の違反</a:t>
            </a:r>
            <a:endParaRPr lang="en-US" altLang="ja-JP" dirty="0"/>
          </a:p>
          <a:p>
            <a:pPr lvl="1"/>
            <a:r>
              <a:rPr lang="en-US" altLang="ja-JP" dirty="0">
                <a:latin typeface="Consolas" panose="020B0609020204030204" pitchFamily="49" charset="0"/>
              </a:rPr>
              <a:t>I2</a:t>
            </a:r>
            <a:r>
              <a:rPr lang="ja-JP" altLang="en-US" dirty="0">
                <a:latin typeface="Consolas" panose="020B0609020204030204" pitchFamily="49" charset="0"/>
              </a:rPr>
              <a:t>→</a:t>
            </a:r>
            <a:r>
              <a:rPr lang="en-US" altLang="ja-JP" dirty="0">
                <a:latin typeface="Consolas" panose="020B0609020204030204" pitchFamily="49" charset="0"/>
              </a:rPr>
              <a:t>I1 </a:t>
            </a:r>
            <a:r>
              <a:rPr lang="ja-JP" altLang="en-US" dirty="0">
                <a:latin typeface="Consolas" panose="020B0609020204030204" pitchFamily="49" charset="0"/>
              </a:rPr>
              <a:t>の順で発行されると，</a:t>
            </a:r>
            <a:r>
              <a:rPr lang="en-US" altLang="ja-JP" dirty="0">
                <a:latin typeface="Consolas" panose="020B0609020204030204" pitchFamily="49" charset="0"/>
              </a:rPr>
              <a:t>x1 </a:t>
            </a:r>
            <a:r>
              <a:rPr lang="ja-JP" altLang="en-US" dirty="0">
                <a:latin typeface="Consolas" panose="020B0609020204030204" pitchFamily="49" charset="0"/>
              </a:rPr>
              <a:t>が書かれた後の値が </a:t>
            </a:r>
            <a:r>
              <a:rPr lang="en-US" altLang="ja-JP" dirty="0">
                <a:latin typeface="Consolas" panose="020B0609020204030204" pitchFamily="49" charset="0"/>
              </a:rPr>
              <a:t>x2 </a:t>
            </a:r>
            <a:r>
              <a:rPr lang="ja-JP" altLang="en-US" dirty="0">
                <a:latin typeface="Consolas" panose="020B0609020204030204" pitchFamily="49" charset="0"/>
              </a:rPr>
              <a:t>に</a:t>
            </a:r>
            <a:endParaRPr lang="en-US" altLang="ja-JP" dirty="0"/>
          </a:p>
          <a:p>
            <a:pPr marL="720000" lvl="2" indent="0">
              <a:buNone/>
            </a:pPr>
            <a:r>
              <a:rPr lang="en-US" altLang="ja-JP" dirty="0">
                <a:latin typeface="Consolas" panose="020B0609020204030204" pitchFamily="49" charset="0"/>
              </a:rPr>
              <a:t>I1: </a:t>
            </a:r>
            <a:r>
              <a:rPr lang="en-US" altLang="ja-JP" dirty="0" err="1">
                <a:latin typeface="Consolas" panose="020B0609020204030204" pitchFamily="49" charset="0"/>
              </a:rPr>
              <a:t>lw</a:t>
            </a:r>
            <a:r>
              <a:rPr lang="en-US" altLang="ja-JP" dirty="0">
                <a:latin typeface="Consolas" panose="020B0609020204030204" pitchFamily="49" charset="0"/>
              </a:rPr>
              <a:t> x2</a:t>
            </a:r>
            <a:r>
              <a:rPr lang="ja-JP" altLang="en-US" dirty="0">
                <a:latin typeface="Consolas" panose="020B0609020204030204" pitchFamily="49" charset="0"/>
              </a:rPr>
              <a:t>←</a:t>
            </a:r>
            <a:r>
              <a:rPr lang="en-US" altLang="ja-JP" dirty="0">
                <a:latin typeface="Consolas" panose="020B0609020204030204" pitchFamily="49" charset="0"/>
              </a:rPr>
              <a:t>(0x1000)</a:t>
            </a:r>
          </a:p>
          <a:p>
            <a:pPr marL="720000" lvl="2" indent="0">
              <a:buNone/>
            </a:pPr>
            <a:r>
              <a:rPr lang="en-US" altLang="ja-JP" dirty="0">
                <a:latin typeface="Consolas" panose="020B0609020204030204" pitchFamily="49" charset="0"/>
              </a:rPr>
              <a:t>I2: </a:t>
            </a:r>
            <a:r>
              <a:rPr lang="en-US" altLang="ja-JP" dirty="0" err="1">
                <a:latin typeface="Consolas" panose="020B0609020204030204" pitchFamily="49" charset="0"/>
              </a:rPr>
              <a:t>sw</a:t>
            </a:r>
            <a:r>
              <a:rPr lang="en-US" altLang="ja-JP" dirty="0">
                <a:latin typeface="Consolas" panose="020B0609020204030204" pitchFamily="49" charset="0"/>
              </a:rPr>
              <a:t> x1</a:t>
            </a:r>
            <a:r>
              <a:rPr lang="ja-JP" altLang="en-US" dirty="0">
                <a:latin typeface="Consolas" panose="020B0609020204030204" pitchFamily="49" charset="0"/>
              </a:rPr>
              <a:t>→</a:t>
            </a:r>
            <a:r>
              <a:rPr lang="en-US" altLang="ja-JP" dirty="0">
                <a:latin typeface="Consolas" panose="020B0609020204030204" pitchFamily="49" charset="0"/>
              </a:rPr>
              <a:t>(0x1000)</a:t>
            </a:r>
          </a:p>
          <a:p>
            <a:r>
              <a:rPr kumimoji="1" lang="ja-JP" altLang="en-US" dirty="0">
                <a:latin typeface="Consolas" panose="020B0609020204030204" pitchFamily="49" charset="0"/>
              </a:rPr>
              <a:t>動作：</a:t>
            </a:r>
            <a:r>
              <a:rPr kumimoji="1" lang="en-US" altLang="ja-JP" dirty="0">
                <a:latin typeface="Consolas" panose="020B0609020204030204" pitchFamily="49" charset="0"/>
              </a:rPr>
              <a:t>LSQ </a:t>
            </a:r>
            <a:r>
              <a:rPr kumimoji="1" lang="ja-JP" altLang="en-US" dirty="0">
                <a:latin typeface="Consolas" panose="020B0609020204030204" pitchFamily="49" charset="0"/>
              </a:rPr>
              <a:t>からフォワーディングはされない</a:t>
            </a:r>
            <a:endParaRPr kumimoji="1" lang="en-US" altLang="ja-JP" dirty="0">
              <a:latin typeface="Consolas" panose="020B0609020204030204" pitchFamily="49" charset="0"/>
            </a:endParaRPr>
          </a:p>
          <a:p>
            <a:pPr lvl="1"/>
            <a:r>
              <a:rPr kumimoji="1" lang="en-US" altLang="ja-JP" dirty="0">
                <a:latin typeface="Consolas" panose="020B0609020204030204" pitchFamily="49" charset="0"/>
              </a:rPr>
              <a:t>I2 </a:t>
            </a:r>
            <a:r>
              <a:rPr kumimoji="1" lang="ja-JP" altLang="en-US" dirty="0">
                <a:latin typeface="Consolas" panose="020B0609020204030204" pitchFamily="49" charset="0"/>
              </a:rPr>
              <a:t>実行時にはメモリではなく </a:t>
            </a:r>
            <a:r>
              <a:rPr kumimoji="1" lang="en-US" altLang="ja-JP" dirty="0">
                <a:latin typeface="Consolas" panose="020B0609020204030204" pitchFamily="49" charset="0"/>
              </a:rPr>
              <a:t>LSQ </a:t>
            </a:r>
            <a:r>
              <a:rPr kumimoji="1" lang="ja-JP" altLang="en-US" dirty="0">
                <a:latin typeface="Consolas" panose="020B0609020204030204" pitchFamily="49" charset="0"/>
              </a:rPr>
              <a:t>に値が書き込まれる</a:t>
            </a:r>
            <a:endParaRPr kumimoji="1" lang="en-US" altLang="ja-JP" dirty="0">
              <a:latin typeface="Consolas" panose="020B0609020204030204" pitchFamily="49" charset="0"/>
            </a:endParaRPr>
          </a:p>
          <a:p>
            <a:pPr lvl="1"/>
            <a:r>
              <a:rPr lang="en-US" altLang="ja-JP" dirty="0">
                <a:latin typeface="Consolas" panose="020B0609020204030204" pitchFamily="49" charset="0"/>
              </a:rPr>
              <a:t>I1 </a:t>
            </a:r>
            <a:r>
              <a:rPr lang="ja-JP" altLang="en-US" dirty="0" err="1">
                <a:latin typeface="Consolas" panose="020B0609020204030204" pitchFamily="49" charset="0"/>
              </a:rPr>
              <a:t>はメ</a:t>
            </a:r>
            <a:r>
              <a:rPr lang="ja-JP" altLang="en-US" dirty="0">
                <a:latin typeface="Consolas" panose="020B0609020204030204" pitchFamily="49" charset="0"/>
              </a:rPr>
              <a:t>モリと，</a:t>
            </a:r>
            <a:r>
              <a:rPr lang="en-US" altLang="ja-JP" dirty="0">
                <a:latin typeface="Consolas" panose="020B0609020204030204" pitchFamily="49" charset="0"/>
              </a:rPr>
              <a:t>LSQ </a:t>
            </a:r>
            <a:r>
              <a:rPr lang="ja-JP" altLang="en-US" dirty="0">
                <a:latin typeface="Consolas" panose="020B0609020204030204" pitchFamily="49" charset="0"/>
              </a:rPr>
              <a:t>の自分より前の部分を検索</a:t>
            </a:r>
            <a:endParaRPr lang="en-US" altLang="ja-JP" dirty="0">
              <a:latin typeface="Consolas" panose="020B0609020204030204" pitchFamily="49" charset="0"/>
            </a:endParaRPr>
          </a:p>
          <a:p>
            <a:pPr lvl="2"/>
            <a:r>
              <a:rPr kumimoji="1" lang="en-US" altLang="ja-JP" dirty="0">
                <a:latin typeface="Consolas" panose="020B0609020204030204" pitchFamily="49" charset="0"/>
              </a:rPr>
              <a:t>I2 </a:t>
            </a:r>
            <a:r>
              <a:rPr kumimoji="1" lang="ja-JP" altLang="en-US" dirty="0">
                <a:latin typeface="Consolas" panose="020B0609020204030204" pitchFamily="49" charset="0"/>
              </a:rPr>
              <a:t>は自分より後ろのエントリにある</a:t>
            </a:r>
            <a:endParaRPr kumimoji="1" lang="en-US" altLang="ja-JP" dirty="0">
              <a:latin typeface="Consolas" panose="020B0609020204030204" pitchFamily="49" charset="0"/>
            </a:endParaRPr>
          </a:p>
          <a:p>
            <a:pPr lvl="2"/>
            <a:r>
              <a:rPr kumimoji="1" lang="ja-JP" altLang="en-US" dirty="0"/>
              <a:t>検索対象とならずヒットしない </a:t>
            </a:r>
            <a:r>
              <a:rPr kumimoji="1" lang="en-US" altLang="ja-JP" dirty="0"/>
              <a:t>= </a:t>
            </a:r>
            <a:r>
              <a:rPr kumimoji="1" lang="ja-JP" altLang="en-US" dirty="0"/>
              <a:t>メモリから値が読まれる</a:t>
            </a:r>
          </a:p>
        </p:txBody>
      </p:sp>
    </p:spTree>
    <p:extLst>
      <p:ext uri="{BB962C8B-B14F-4D97-AF65-F5344CB8AC3E}">
        <p14:creationId xmlns:p14="http://schemas.microsoft.com/office/powerpoint/2010/main" val="15328587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実行結果がおかしくなる例の解決（３）</a:t>
            </a:r>
          </a:p>
        </p:txBody>
      </p:sp>
      <p:sp>
        <p:nvSpPr>
          <p:cNvPr id="3" name="テキスト プレースホルダー 2"/>
          <p:cNvSpPr>
            <a:spLocks noGrp="1"/>
          </p:cNvSpPr>
          <p:nvPr>
            <p:ph type="body" sz="quarter" idx="10"/>
          </p:nvPr>
        </p:nvSpPr>
        <p:spPr/>
        <p:txBody>
          <a:bodyPr/>
          <a:lstStyle/>
          <a:p>
            <a:r>
              <a:rPr kumimoji="1" lang="ja-JP" altLang="en-US" dirty="0"/>
              <a:t>ストア間の順序の違反</a:t>
            </a:r>
            <a:endParaRPr kumimoji="1" lang="en-US" altLang="ja-JP" dirty="0"/>
          </a:p>
          <a:p>
            <a:pPr lvl="1"/>
            <a:r>
              <a:rPr lang="en-US" altLang="ja-JP" dirty="0">
                <a:latin typeface="Consolas" panose="020B0609020204030204" pitchFamily="49" charset="0"/>
              </a:rPr>
              <a:t>I2</a:t>
            </a:r>
            <a:r>
              <a:rPr lang="ja-JP" altLang="en-US" dirty="0">
                <a:latin typeface="Consolas" panose="020B0609020204030204" pitchFamily="49" charset="0"/>
              </a:rPr>
              <a:t>→</a:t>
            </a:r>
            <a:r>
              <a:rPr lang="en-US" altLang="ja-JP" dirty="0">
                <a:latin typeface="Consolas" panose="020B0609020204030204" pitchFamily="49" charset="0"/>
              </a:rPr>
              <a:t>I1 </a:t>
            </a:r>
            <a:r>
              <a:rPr lang="ja-JP" altLang="en-US" dirty="0">
                <a:latin typeface="Consolas" panose="020B0609020204030204" pitchFamily="49" charset="0"/>
              </a:rPr>
              <a:t>の順で発行されると，アドレス </a:t>
            </a:r>
            <a:r>
              <a:rPr lang="en-US" altLang="ja-JP" dirty="0">
                <a:latin typeface="Consolas" panose="020B0609020204030204" pitchFamily="49" charset="0"/>
              </a:rPr>
              <a:t>0x1000 </a:t>
            </a:r>
            <a:r>
              <a:rPr lang="ja-JP" altLang="en-US" dirty="0">
                <a:latin typeface="Consolas" panose="020B0609020204030204" pitchFamily="49" charset="0"/>
              </a:rPr>
              <a:t>に </a:t>
            </a:r>
            <a:r>
              <a:rPr lang="en-US" altLang="ja-JP" dirty="0">
                <a:latin typeface="Consolas" panose="020B0609020204030204" pitchFamily="49" charset="0"/>
              </a:rPr>
              <a:t>x1 </a:t>
            </a:r>
            <a:r>
              <a:rPr lang="ja-JP" altLang="en-US" dirty="0">
                <a:latin typeface="Consolas" panose="020B0609020204030204" pitchFamily="49" charset="0"/>
              </a:rPr>
              <a:t>が残る</a:t>
            </a:r>
            <a:endParaRPr kumimoji="1" lang="en-US" altLang="ja-JP" dirty="0"/>
          </a:p>
          <a:p>
            <a:pPr marL="720000" lvl="2" indent="0">
              <a:buNone/>
            </a:pPr>
            <a:r>
              <a:rPr lang="en-US" altLang="ja-JP" dirty="0">
                <a:latin typeface="Consolas" panose="020B0609020204030204" pitchFamily="49" charset="0"/>
              </a:rPr>
              <a:t>I1: </a:t>
            </a:r>
            <a:r>
              <a:rPr lang="en-US" altLang="ja-JP" dirty="0" err="1">
                <a:latin typeface="Consolas" panose="020B0609020204030204" pitchFamily="49" charset="0"/>
              </a:rPr>
              <a:t>sw</a:t>
            </a:r>
            <a:r>
              <a:rPr lang="en-US" altLang="ja-JP" dirty="0">
                <a:latin typeface="Consolas" panose="020B0609020204030204" pitchFamily="49" charset="0"/>
              </a:rPr>
              <a:t> x1</a:t>
            </a:r>
            <a:r>
              <a:rPr lang="ja-JP" altLang="en-US" dirty="0">
                <a:latin typeface="Consolas" panose="020B0609020204030204" pitchFamily="49" charset="0"/>
              </a:rPr>
              <a:t>→</a:t>
            </a:r>
            <a:r>
              <a:rPr lang="en-US" altLang="ja-JP" dirty="0">
                <a:latin typeface="Consolas" panose="020B0609020204030204" pitchFamily="49" charset="0"/>
              </a:rPr>
              <a:t>(0x1000)</a:t>
            </a:r>
          </a:p>
          <a:p>
            <a:pPr marL="720000" lvl="2" indent="0">
              <a:buNone/>
            </a:pPr>
            <a:r>
              <a:rPr lang="en-US" altLang="ja-JP" dirty="0">
                <a:latin typeface="Consolas" panose="020B0609020204030204" pitchFamily="49" charset="0"/>
              </a:rPr>
              <a:t>I2: </a:t>
            </a:r>
            <a:r>
              <a:rPr lang="en-US" altLang="ja-JP" dirty="0" err="1">
                <a:latin typeface="Consolas" panose="020B0609020204030204" pitchFamily="49" charset="0"/>
              </a:rPr>
              <a:t>sw</a:t>
            </a:r>
            <a:r>
              <a:rPr lang="en-US" altLang="ja-JP" dirty="0">
                <a:latin typeface="Consolas" panose="020B0609020204030204" pitchFamily="49" charset="0"/>
              </a:rPr>
              <a:t> x2</a:t>
            </a:r>
            <a:r>
              <a:rPr lang="ja-JP" altLang="en-US" dirty="0">
                <a:latin typeface="Consolas" panose="020B0609020204030204" pitchFamily="49" charset="0"/>
              </a:rPr>
              <a:t>→</a:t>
            </a:r>
            <a:r>
              <a:rPr lang="en-US" altLang="ja-JP" dirty="0">
                <a:latin typeface="Consolas" panose="020B0609020204030204" pitchFamily="49" charset="0"/>
              </a:rPr>
              <a:t>(0x1000)</a:t>
            </a:r>
          </a:p>
          <a:p>
            <a:r>
              <a:rPr lang="ja-JP" altLang="en-US" dirty="0">
                <a:latin typeface="Consolas" panose="020B0609020204030204" pitchFamily="49" charset="0"/>
              </a:rPr>
              <a:t>動作：</a:t>
            </a:r>
            <a:r>
              <a:rPr lang="en-US" altLang="ja-JP" dirty="0">
                <a:latin typeface="Consolas" panose="020B0609020204030204" pitchFamily="49" charset="0"/>
              </a:rPr>
              <a:t>SQ </a:t>
            </a:r>
            <a:r>
              <a:rPr lang="ja-JP" altLang="en-US" dirty="0">
                <a:latin typeface="Consolas" panose="020B0609020204030204" pitchFamily="49" charset="0"/>
              </a:rPr>
              <a:t>から </a:t>
            </a:r>
            <a:r>
              <a:rPr lang="en-US" altLang="ja-JP" dirty="0">
                <a:latin typeface="Consolas" panose="020B0609020204030204" pitchFamily="49" charset="0"/>
              </a:rPr>
              <a:t>in-order </a:t>
            </a:r>
            <a:r>
              <a:rPr lang="ja-JP" altLang="en-US" dirty="0">
                <a:latin typeface="Consolas" panose="020B0609020204030204" pitchFamily="49" charset="0"/>
              </a:rPr>
              <a:t>にメモリに書き込み</a:t>
            </a:r>
            <a:endParaRPr lang="en-US" altLang="ja-JP" dirty="0">
              <a:latin typeface="Consolas" panose="020B0609020204030204" pitchFamily="49" charset="0"/>
            </a:endParaRPr>
          </a:p>
          <a:p>
            <a:pPr lvl="1"/>
            <a:r>
              <a:rPr lang="en-US" altLang="ja-JP" dirty="0">
                <a:latin typeface="Consolas" panose="020B0609020204030204" pitchFamily="49" charset="0"/>
              </a:rPr>
              <a:t>I2 </a:t>
            </a:r>
            <a:r>
              <a:rPr lang="ja-JP" altLang="en-US" dirty="0">
                <a:latin typeface="Consolas" panose="020B0609020204030204" pitchFamily="49" charset="0"/>
              </a:rPr>
              <a:t>と </a:t>
            </a:r>
            <a:r>
              <a:rPr lang="en-US" altLang="ja-JP" dirty="0">
                <a:latin typeface="Consolas" panose="020B0609020204030204" pitchFamily="49" charset="0"/>
              </a:rPr>
              <a:t>I1 </a:t>
            </a:r>
            <a:r>
              <a:rPr lang="ja-JP" altLang="en-US" dirty="0">
                <a:latin typeface="Consolas" panose="020B0609020204030204" pitchFamily="49" charset="0"/>
              </a:rPr>
              <a:t>の順で </a:t>
            </a:r>
            <a:r>
              <a:rPr lang="en-US" altLang="ja-JP" dirty="0">
                <a:latin typeface="Consolas" panose="020B0609020204030204" pitchFamily="49" charset="0"/>
              </a:rPr>
              <a:t>LSQ </a:t>
            </a:r>
            <a:r>
              <a:rPr lang="ja-JP" altLang="en-US" dirty="0">
                <a:latin typeface="Consolas" panose="020B0609020204030204" pitchFamily="49" charset="0"/>
              </a:rPr>
              <a:t>にアドレスとデータが書き込まれる</a:t>
            </a:r>
            <a:endParaRPr lang="en-US" altLang="ja-JP" dirty="0">
              <a:latin typeface="Consolas" panose="020B0609020204030204" pitchFamily="49" charset="0"/>
            </a:endParaRPr>
          </a:p>
          <a:p>
            <a:pPr lvl="1"/>
            <a:r>
              <a:rPr lang="ja-JP" altLang="en-US" dirty="0">
                <a:latin typeface="Consolas" panose="020B0609020204030204" pitchFamily="49" charset="0"/>
              </a:rPr>
              <a:t>コミット・パイプが </a:t>
            </a:r>
            <a:r>
              <a:rPr lang="en-US" altLang="ja-JP" dirty="0">
                <a:latin typeface="Consolas" panose="020B0609020204030204" pitchFamily="49" charset="0"/>
              </a:rPr>
              <a:t>I1 </a:t>
            </a:r>
            <a:r>
              <a:rPr lang="ja-JP" altLang="en-US" dirty="0">
                <a:latin typeface="Consolas" panose="020B0609020204030204" pitchFamily="49" charset="0"/>
              </a:rPr>
              <a:t>と </a:t>
            </a:r>
            <a:r>
              <a:rPr lang="en-US" altLang="ja-JP" dirty="0">
                <a:latin typeface="Consolas" panose="020B0609020204030204" pitchFamily="49" charset="0"/>
              </a:rPr>
              <a:t>I2 </a:t>
            </a:r>
            <a:r>
              <a:rPr lang="ja-JP" altLang="en-US" dirty="0">
                <a:latin typeface="Consolas" panose="020B0609020204030204" pitchFamily="49" charset="0"/>
              </a:rPr>
              <a:t>の順でアドレスとデータを読み出し，メモリに書き込む</a:t>
            </a:r>
            <a:endParaRPr lang="en-US" altLang="ja-JP" dirty="0">
              <a:latin typeface="Consolas" panose="020B0609020204030204" pitchFamily="49" charset="0"/>
            </a:endParaRPr>
          </a:p>
          <a:p>
            <a:endParaRPr kumimoji="1" lang="ja-JP" altLang="en-US" dirty="0"/>
          </a:p>
        </p:txBody>
      </p:sp>
    </p:spTree>
    <p:extLst>
      <p:ext uri="{BB962C8B-B14F-4D97-AF65-F5344CB8AC3E}">
        <p14:creationId xmlns:p14="http://schemas.microsoft.com/office/powerpoint/2010/main" val="18883094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LSQ </a:t>
            </a:r>
            <a:r>
              <a:rPr kumimoji="1" lang="ja-JP" altLang="en-US" dirty="0"/>
              <a:t>のまとめ</a:t>
            </a:r>
          </a:p>
        </p:txBody>
      </p:sp>
      <p:sp>
        <p:nvSpPr>
          <p:cNvPr id="3" name="テキスト プレースホルダー 2"/>
          <p:cNvSpPr>
            <a:spLocks noGrp="1"/>
          </p:cNvSpPr>
          <p:nvPr>
            <p:ph type="body" sz="quarter" idx="10"/>
          </p:nvPr>
        </p:nvSpPr>
        <p:spPr/>
        <p:txBody>
          <a:bodyPr/>
          <a:lstStyle/>
          <a:p>
            <a:r>
              <a:rPr lang="en-US" altLang="ja-JP" dirty="0"/>
              <a:t>out-of-order </a:t>
            </a:r>
            <a:r>
              <a:rPr lang="ja-JP" altLang="en-US" dirty="0"/>
              <a:t>にロードとストアが実行されてもプログラムの正しさを保つ必要がある</a:t>
            </a:r>
            <a:endParaRPr lang="en-US" altLang="ja-JP" dirty="0"/>
          </a:p>
          <a:p>
            <a:r>
              <a:rPr kumimoji="1" lang="en-US" altLang="ja-JP" dirty="0"/>
              <a:t>LSQ</a:t>
            </a:r>
            <a:r>
              <a:rPr kumimoji="1" lang="ja-JP" altLang="en-US" dirty="0"/>
              <a:t>：ロードとストアの結果を保持するバッファ</a:t>
            </a:r>
            <a:endParaRPr kumimoji="1" lang="en-US" altLang="ja-JP" dirty="0"/>
          </a:p>
          <a:p>
            <a:pPr lvl="1"/>
            <a:r>
              <a:rPr kumimoji="1" lang="ja-JP" altLang="en-US" dirty="0"/>
              <a:t>ストアの整列</a:t>
            </a:r>
            <a:endParaRPr kumimoji="1" lang="en-US" altLang="ja-JP" dirty="0"/>
          </a:p>
          <a:p>
            <a:pPr lvl="1"/>
            <a:r>
              <a:rPr kumimoji="1" lang="ja-JP" altLang="en-US" dirty="0"/>
              <a:t>順序違反の検出</a:t>
            </a:r>
          </a:p>
        </p:txBody>
      </p:sp>
    </p:spTree>
    <p:extLst>
      <p:ext uri="{BB962C8B-B14F-4D97-AF65-F5344CB8AC3E}">
        <p14:creationId xmlns:p14="http://schemas.microsoft.com/office/powerpoint/2010/main" val="30079137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メモリ依存予測</a:t>
            </a:r>
          </a:p>
        </p:txBody>
      </p:sp>
      <p:sp>
        <p:nvSpPr>
          <p:cNvPr id="3" name="テキスト プレースホルダー 2"/>
          <p:cNvSpPr>
            <a:spLocks noGrp="1"/>
          </p:cNvSpPr>
          <p:nvPr>
            <p:ph type="body" sz="quarter" idx="10"/>
          </p:nvPr>
        </p:nvSpPr>
        <p:spPr>
          <a:xfrm>
            <a:off x="1685951" y="1268976"/>
            <a:ext cx="8730097" cy="5219751"/>
          </a:xfrm>
        </p:spPr>
        <p:txBody>
          <a:bodyPr/>
          <a:lstStyle/>
          <a:p>
            <a:r>
              <a:rPr kumimoji="1" lang="ja-JP" altLang="en-US" dirty="0"/>
              <a:t>ここまでの例：</a:t>
            </a:r>
            <a:endParaRPr kumimoji="1" lang="en-US" altLang="ja-JP" dirty="0"/>
          </a:p>
          <a:p>
            <a:pPr lvl="1"/>
            <a:r>
              <a:rPr kumimoji="1" lang="ja-JP" altLang="en-US" dirty="0"/>
              <a:t>ロードやストアは，レジスタの依存が解決し次第実行</a:t>
            </a:r>
            <a:endParaRPr kumimoji="1" lang="en-US" altLang="ja-JP" dirty="0"/>
          </a:p>
          <a:p>
            <a:pPr lvl="1"/>
            <a:r>
              <a:rPr kumimoji="1" lang="ja-JP" altLang="en-US" dirty="0"/>
              <a:t>大概，各ストアとロードはアドレスが違うので問題ない</a:t>
            </a:r>
            <a:endParaRPr kumimoji="1" lang="en-US" altLang="ja-JP" dirty="0"/>
          </a:p>
          <a:p>
            <a:r>
              <a:rPr kumimoji="1" lang="ja-JP" altLang="en-US" dirty="0"/>
              <a:t>より高い性能を得たい場合</a:t>
            </a:r>
            <a:endParaRPr kumimoji="1" lang="en-US" altLang="ja-JP" dirty="0"/>
          </a:p>
          <a:p>
            <a:pPr lvl="1"/>
            <a:r>
              <a:rPr kumimoji="1" lang="ja-JP" altLang="en-US" dirty="0"/>
              <a:t>一部状況では，順序違反が頻発する</a:t>
            </a:r>
            <a:endParaRPr kumimoji="1" lang="en-US" altLang="ja-JP" dirty="0"/>
          </a:p>
          <a:p>
            <a:pPr lvl="1"/>
            <a:r>
              <a:rPr kumimoji="1" lang="ja-JP" altLang="en-US" dirty="0"/>
              <a:t>ロードとストア間で依存関係の予測を行う</a:t>
            </a:r>
            <a:endParaRPr kumimoji="1" lang="en-US" altLang="ja-JP" dirty="0"/>
          </a:p>
          <a:p>
            <a:pPr lvl="2"/>
            <a:r>
              <a:rPr kumimoji="1" lang="ja-JP" altLang="en-US" dirty="0"/>
              <a:t>依存元のストアが実行されるまでロードの実行を遅らせる</a:t>
            </a:r>
            <a:endParaRPr kumimoji="1" lang="en-US" altLang="ja-JP" dirty="0"/>
          </a:p>
          <a:p>
            <a:r>
              <a:rPr kumimoji="1" lang="ja-JP" altLang="en-US" dirty="0"/>
              <a:t>メモリ依存予測</a:t>
            </a:r>
            <a:endParaRPr kumimoji="1" lang="en-US" altLang="ja-JP" dirty="0"/>
          </a:p>
          <a:p>
            <a:pPr lvl="1"/>
            <a:r>
              <a:rPr kumimoji="1" lang="ja-JP" altLang="en-US" dirty="0"/>
              <a:t>ロードが依存するストアの集合を予測</a:t>
            </a:r>
            <a:endParaRPr kumimoji="1" lang="en-US" altLang="ja-JP" dirty="0"/>
          </a:p>
          <a:p>
            <a:pPr lvl="1"/>
            <a:r>
              <a:rPr kumimoji="1" lang="ja-JP" altLang="en-US" dirty="0"/>
              <a:t>ストア・セット予測器という予測方式が提案されている</a:t>
            </a:r>
            <a:endParaRPr kumimoji="1" lang="en-US" altLang="ja-JP" dirty="0"/>
          </a:p>
          <a:p>
            <a:pPr lvl="2"/>
            <a:r>
              <a:rPr kumimoji="1" lang="ja-JP" altLang="en-US" dirty="0"/>
              <a:t>理想的な予測を行った場合とほぼ同等の性能がでる</a:t>
            </a:r>
            <a:endParaRPr kumimoji="1" lang="en-US" altLang="ja-JP" dirty="0"/>
          </a:p>
          <a:p>
            <a:pPr lvl="2"/>
            <a:r>
              <a:rPr kumimoji="1" lang="en-US" altLang="ja-JP" dirty="0"/>
              <a:t>…</a:t>
            </a:r>
            <a:r>
              <a:rPr kumimoji="1" lang="ja-JP" altLang="en-US" dirty="0"/>
              <a:t>と言われていたが，最近の大きな </a:t>
            </a:r>
            <a:r>
              <a:rPr kumimoji="1" lang="en-US" altLang="ja-JP" dirty="0"/>
              <a:t>CPU </a:t>
            </a:r>
            <a:r>
              <a:rPr kumimoji="1" lang="ja-JP" altLang="en-US" dirty="0"/>
              <a:t>では不十分であり</a:t>
            </a:r>
            <a:br>
              <a:rPr kumimoji="1" lang="en-US" altLang="ja-JP" dirty="0"/>
            </a:br>
            <a:r>
              <a:rPr kumimoji="1" lang="ja-JP" altLang="en-US" dirty="0"/>
              <a:t>研究がまた始まっている</a:t>
            </a:r>
          </a:p>
        </p:txBody>
      </p:sp>
    </p:spTree>
    <p:extLst>
      <p:ext uri="{BB962C8B-B14F-4D97-AF65-F5344CB8AC3E}">
        <p14:creationId xmlns:p14="http://schemas.microsoft.com/office/powerpoint/2010/main" val="11938843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投機的なロード・ストアの発行</a:t>
            </a:r>
          </a:p>
        </p:txBody>
      </p:sp>
      <p:sp>
        <p:nvSpPr>
          <p:cNvPr id="3" name="テキスト プレースホルダー 2"/>
          <p:cNvSpPr>
            <a:spLocks noGrp="1"/>
          </p:cNvSpPr>
          <p:nvPr>
            <p:ph type="body" sz="quarter" idx="10"/>
          </p:nvPr>
        </p:nvSpPr>
        <p:spPr/>
        <p:txBody>
          <a:bodyPr/>
          <a:lstStyle/>
          <a:p>
            <a:r>
              <a:rPr lang="ja-JP" altLang="en-US" dirty="0"/>
              <a:t>この講義で説明したのは投機的にロード・ストアを発行する方法</a:t>
            </a:r>
            <a:endParaRPr lang="en-US" altLang="ja-JP" dirty="0"/>
          </a:p>
          <a:p>
            <a:pPr lvl="1"/>
            <a:r>
              <a:rPr lang="ja-JP" altLang="en-US" dirty="0"/>
              <a:t>現在の </a:t>
            </a:r>
            <a:r>
              <a:rPr lang="en-US" altLang="ja-JP" dirty="0"/>
              <a:t>CPU </a:t>
            </a:r>
            <a:r>
              <a:rPr lang="ja-JP" altLang="en-US" dirty="0"/>
              <a:t>では主流</a:t>
            </a:r>
            <a:endParaRPr lang="en-US" altLang="ja-JP" dirty="0"/>
          </a:p>
          <a:p>
            <a:pPr lvl="1"/>
            <a:r>
              <a:rPr kumimoji="1" lang="ja-JP" altLang="en-US" dirty="0"/>
              <a:t>教科書にはあまり書かれていないので注意</a:t>
            </a:r>
            <a:endParaRPr kumimoji="1" lang="en-US" altLang="ja-JP" dirty="0"/>
          </a:p>
          <a:p>
            <a:r>
              <a:rPr kumimoji="1" lang="ja-JP" altLang="en-US" dirty="0"/>
              <a:t>よく教科書に「メモリ曖昧性除去（</a:t>
            </a:r>
            <a:r>
              <a:rPr kumimoji="1" lang="en-US" altLang="ja-JP" dirty="0"/>
              <a:t>memory disambiguation</a:t>
            </a:r>
            <a:r>
              <a:rPr kumimoji="1" lang="ja-JP" altLang="en-US" dirty="0"/>
              <a:t>）」として書いてある別の方法：</a:t>
            </a:r>
            <a:endParaRPr kumimoji="1" lang="en-US" altLang="ja-JP" dirty="0"/>
          </a:p>
          <a:p>
            <a:pPr marL="817200" lvl="1" indent="-457200">
              <a:buFont typeface="+mj-lt"/>
              <a:buAutoNum type="arabicPeriod"/>
            </a:pPr>
            <a:r>
              <a:rPr kumimoji="1" lang="ja-JP" altLang="en-US" dirty="0"/>
              <a:t>ロードやストアを，アドレス計算とメモリ・アクセスに分離</a:t>
            </a:r>
            <a:endParaRPr kumimoji="1" lang="en-US" altLang="ja-JP" dirty="0"/>
          </a:p>
          <a:p>
            <a:pPr marL="817200" lvl="1" indent="-457200">
              <a:buFont typeface="+mj-lt"/>
              <a:buAutoNum type="arabicPeriod"/>
            </a:pPr>
            <a:r>
              <a:rPr lang="ja-JP" altLang="en-US" dirty="0"/>
              <a:t>アドレス計算だけとりあえず先にやる</a:t>
            </a:r>
            <a:endParaRPr lang="en-US" altLang="ja-JP" dirty="0"/>
          </a:p>
          <a:p>
            <a:pPr marL="817200" lvl="1" indent="-457200">
              <a:buFont typeface="+mj-lt"/>
              <a:buAutoNum type="arabicPeriod"/>
            </a:pPr>
            <a:r>
              <a:rPr kumimoji="1" lang="ja-JP" altLang="en-US" dirty="0"/>
              <a:t>ロードは自分よりプログラム順で前にあるストアのアドレス計算が全部終わっていたら発行</a:t>
            </a:r>
            <a:endParaRPr kumimoji="1" lang="en-US" altLang="ja-JP" dirty="0"/>
          </a:p>
          <a:p>
            <a:r>
              <a:rPr lang="ja-JP" altLang="en-US" dirty="0"/>
              <a:t>上記の方法より，この講義で説明した投機的に発行する方法の方が速い</a:t>
            </a:r>
            <a:endParaRPr lang="en-US" altLang="ja-JP" dirty="0"/>
          </a:p>
          <a:p>
            <a:pPr lvl="1"/>
            <a:r>
              <a:rPr kumimoji="1" lang="ja-JP" altLang="en-US" dirty="0"/>
              <a:t>ストアのアドレスの確定を待たなくても良いため</a:t>
            </a:r>
          </a:p>
        </p:txBody>
      </p:sp>
    </p:spTree>
    <p:extLst>
      <p:ext uri="{BB962C8B-B14F-4D97-AF65-F5344CB8AC3E}">
        <p14:creationId xmlns:p14="http://schemas.microsoft.com/office/powerpoint/2010/main" val="6272763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動的命令スケジューリングについての補足</a:t>
            </a:r>
          </a:p>
        </p:txBody>
      </p:sp>
      <p:sp>
        <p:nvSpPr>
          <p:cNvPr id="3" name="テキスト プレースホルダー 2"/>
          <p:cNvSpPr>
            <a:spLocks noGrp="1"/>
          </p:cNvSpPr>
          <p:nvPr>
            <p:ph type="body" sz="quarter" idx="10"/>
          </p:nvPr>
        </p:nvSpPr>
        <p:spPr>
          <a:xfrm>
            <a:off x="1055944" y="1088975"/>
            <a:ext cx="9360104" cy="5219751"/>
          </a:xfrm>
        </p:spPr>
        <p:txBody>
          <a:bodyPr/>
          <a:lstStyle/>
          <a:p>
            <a:r>
              <a:rPr kumimoji="1" lang="ja-JP" altLang="en-US" dirty="0"/>
              <a:t>今回省いた話題：物理レジスタの解放方法</a:t>
            </a:r>
            <a:endParaRPr kumimoji="1" lang="en-US" altLang="ja-JP" dirty="0"/>
          </a:p>
          <a:p>
            <a:pPr lvl="1"/>
            <a:r>
              <a:rPr kumimoji="1" lang="ja-JP" altLang="en-US" dirty="0"/>
              <a:t>方法１：参照カウンタを使ってカウンタが０になったところで解放する</a:t>
            </a:r>
            <a:endParaRPr kumimoji="1" lang="en-US" altLang="ja-JP" dirty="0"/>
          </a:p>
          <a:p>
            <a:pPr lvl="2"/>
            <a:r>
              <a:rPr lang="ja-JP" altLang="en-US" dirty="0"/>
              <a:t>ハードが複雑になりがち</a:t>
            </a:r>
            <a:endParaRPr kumimoji="1" lang="ja-JP" altLang="en-US" dirty="0"/>
          </a:p>
          <a:p>
            <a:pPr lvl="1"/>
            <a:r>
              <a:rPr kumimoji="1" lang="ja-JP" altLang="en-US" dirty="0"/>
              <a:t>方法２：論理的にアクセスされないことが確定したタイミングで解放する</a:t>
            </a:r>
            <a:endParaRPr kumimoji="1" lang="en-US" altLang="ja-JP" dirty="0"/>
          </a:p>
          <a:p>
            <a:pPr lvl="2"/>
            <a:r>
              <a:rPr lang="ja-JP" altLang="en-US" dirty="0"/>
              <a:t>こっちが主流</a:t>
            </a:r>
            <a:endParaRPr kumimoji="1" lang="en-US" altLang="ja-JP" dirty="0"/>
          </a:p>
        </p:txBody>
      </p:sp>
    </p:spTree>
    <p:extLst>
      <p:ext uri="{BB962C8B-B14F-4D97-AF65-F5344CB8AC3E}">
        <p14:creationId xmlns:p14="http://schemas.microsoft.com/office/powerpoint/2010/main" val="4709055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35A1E5-E28C-4F8F-A867-AC995E41454B}"/>
              </a:ext>
            </a:extLst>
          </p:cNvPr>
          <p:cNvSpPr>
            <a:spLocks noGrp="1"/>
          </p:cNvSpPr>
          <p:nvPr>
            <p:ph type="title"/>
          </p:nvPr>
        </p:nvSpPr>
        <p:spPr/>
        <p:txBody>
          <a:bodyPr/>
          <a:lstStyle/>
          <a:p>
            <a:r>
              <a:rPr kumimoji="1" lang="ja-JP" altLang="en-US" dirty="0"/>
              <a:t>論理的にアクセスされないことが確定した</a:t>
            </a:r>
            <a:br>
              <a:rPr kumimoji="1" lang="en-US" altLang="ja-JP" dirty="0"/>
            </a:br>
            <a:r>
              <a:rPr kumimoji="1" lang="ja-JP" altLang="en-US" dirty="0"/>
              <a:t>タイミングで解放する</a:t>
            </a:r>
          </a:p>
        </p:txBody>
      </p:sp>
      <p:sp>
        <p:nvSpPr>
          <p:cNvPr id="3" name="テキスト プレースホルダー 2">
            <a:extLst>
              <a:ext uri="{FF2B5EF4-FFF2-40B4-BE49-F238E27FC236}">
                <a16:creationId xmlns:a16="http://schemas.microsoft.com/office/drawing/2014/main" id="{77D72D6D-23B7-4BFA-A1EB-B312D59F856C}"/>
              </a:ext>
            </a:extLst>
          </p:cNvPr>
          <p:cNvSpPr>
            <a:spLocks noGrp="1"/>
          </p:cNvSpPr>
          <p:nvPr>
            <p:ph type="body" sz="quarter" idx="10"/>
          </p:nvPr>
        </p:nvSpPr>
        <p:spPr>
          <a:xfrm>
            <a:off x="1505949" y="1628980"/>
            <a:ext cx="9810109" cy="3239729"/>
          </a:xfrm>
        </p:spPr>
        <p:txBody>
          <a:bodyPr/>
          <a:lstStyle/>
          <a:p>
            <a:r>
              <a:rPr kumimoji="1" lang="ja-JP" altLang="en-US" dirty="0"/>
              <a:t>「あるレジスタ </a:t>
            </a:r>
            <a:r>
              <a:rPr kumimoji="1" lang="en-US" altLang="ja-JP" dirty="0"/>
              <a:t>r </a:t>
            </a:r>
            <a:r>
              <a:rPr kumimoji="1" lang="ja-JP" altLang="en-US" dirty="0"/>
              <a:t>に書き込む命令」がコミットした際に，</a:t>
            </a:r>
            <a:br>
              <a:rPr kumimoji="1" lang="en-US" altLang="ja-JP" dirty="0"/>
            </a:br>
            <a:r>
              <a:rPr kumimoji="1" lang="ja-JP" altLang="en-US" dirty="0"/>
              <a:t>「そのレジスタ </a:t>
            </a:r>
            <a:r>
              <a:rPr kumimoji="1" lang="en-US" altLang="ja-JP" dirty="0"/>
              <a:t>r </a:t>
            </a:r>
            <a:r>
              <a:rPr kumimoji="1" lang="ja-JP" altLang="en-US" dirty="0"/>
              <a:t>に前回書き込んだ命令に割り当てられた物理レジスタ」を解放</a:t>
            </a:r>
            <a:endParaRPr kumimoji="1" lang="en-US" altLang="ja-JP" dirty="0"/>
          </a:p>
          <a:p>
            <a:r>
              <a:rPr lang="ja-JP" altLang="en-US" dirty="0"/>
              <a:t>下記の例：</a:t>
            </a:r>
            <a:r>
              <a:rPr lang="en-US" altLang="ja-JP" dirty="0"/>
              <a:t>	</a:t>
            </a:r>
          </a:p>
          <a:p>
            <a:pPr lvl="1"/>
            <a:r>
              <a:rPr kumimoji="1" lang="en-US" altLang="ja-JP" dirty="0"/>
              <a:t>i1 </a:t>
            </a:r>
            <a:r>
              <a:rPr kumimoji="1" lang="ja-JP" altLang="en-US" dirty="0"/>
              <a:t>と </a:t>
            </a:r>
            <a:r>
              <a:rPr kumimoji="1" lang="en-US" altLang="ja-JP" dirty="0"/>
              <a:t>i2 </a:t>
            </a:r>
            <a:r>
              <a:rPr kumimoji="1" lang="ja-JP" altLang="en-US" dirty="0"/>
              <a:t>は同じ論理レジスタ </a:t>
            </a:r>
            <a:r>
              <a:rPr kumimoji="1" lang="en-US" altLang="ja-JP" dirty="0"/>
              <a:t>x1 </a:t>
            </a:r>
            <a:r>
              <a:rPr kumimoji="1" lang="ja-JP" altLang="en-US" dirty="0"/>
              <a:t>に書き込んでいる</a:t>
            </a:r>
            <a:endParaRPr kumimoji="1" lang="en-US" altLang="ja-JP" dirty="0"/>
          </a:p>
          <a:p>
            <a:pPr lvl="2"/>
            <a:r>
              <a:rPr lang="en-US" altLang="ja-JP" dirty="0"/>
              <a:t>i1 </a:t>
            </a:r>
            <a:r>
              <a:rPr lang="ja-JP" altLang="en-US" dirty="0"/>
              <a:t>では </a:t>
            </a:r>
            <a:r>
              <a:rPr lang="en-US" altLang="ja-JP" dirty="0"/>
              <a:t>p37 </a:t>
            </a:r>
            <a:r>
              <a:rPr lang="ja-JP" altLang="en-US" dirty="0"/>
              <a:t>に，</a:t>
            </a:r>
            <a:r>
              <a:rPr lang="en-US" altLang="ja-JP" dirty="0"/>
              <a:t>i2 </a:t>
            </a:r>
            <a:r>
              <a:rPr lang="ja-JP" altLang="en-US" dirty="0"/>
              <a:t>では </a:t>
            </a:r>
            <a:r>
              <a:rPr lang="en-US" altLang="ja-JP" dirty="0"/>
              <a:t>p48 </a:t>
            </a:r>
            <a:r>
              <a:rPr lang="ja-JP" altLang="en-US" dirty="0"/>
              <a:t>に物理レジスタを割り当て</a:t>
            </a:r>
            <a:endParaRPr kumimoji="1" lang="en-US" altLang="ja-JP" dirty="0"/>
          </a:p>
          <a:p>
            <a:pPr lvl="1"/>
            <a:r>
              <a:rPr kumimoji="1" lang="en-US" altLang="ja-JP" dirty="0">
                <a:solidFill>
                  <a:schemeClr val="accent6"/>
                </a:solidFill>
              </a:rPr>
              <a:t>i2</a:t>
            </a:r>
            <a:r>
              <a:rPr kumimoji="1" lang="en-US" altLang="ja-JP" dirty="0"/>
              <a:t> </a:t>
            </a:r>
            <a:r>
              <a:rPr kumimoji="1" lang="ja-JP" altLang="en-US" dirty="0"/>
              <a:t>のコミット時に，</a:t>
            </a:r>
            <a:r>
              <a:rPr kumimoji="1" lang="en-US" altLang="ja-JP" dirty="0"/>
              <a:t>i1 </a:t>
            </a:r>
            <a:r>
              <a:rPr kumimoji="1" lang="ja-JP" altLang="en-US" dirty="0"/>
              <a:t>に割り当てられた </a:t>
            </a:r>
            <a:r>
              <a:rPr kumimoji="1" lang="en-US" altLang="ja-JP" dirty="0">
                <a:solidFill>
                  <a:schemeClr val="accent6"/>
                </a:solidFill>
              </a:rPr>
              <a:t>p37</a:t>
            </a:r>
            <a:r>
              <a:rPr kumimoji="1" lang="en-US" altLang="ja-JP" dirty="0"/>
              <a:t> </a:t>
            </a:r>
            <a:r>
              <a:rPr kumimoji="1" lang="ja-JP" altLang="en-US" dirty="0"/>
              <a:t>を解放</a:t>
            </a:r>
            <a:endParaRPr kumimoji="1" lang="en-US" altLang="ja-JP" dirty="0"/>
          </a:p>
          <a:p>
            <a:pPr lvl="1"/>
            <a:r>
              <a:rPr kumimoji="1" lang="en-US" altLang="ja-JP" dirty="0"/>
              <a:t>i2 </a:t>
            </a:r>
            <a:r>
              <a:rPr kumimoji="1" lang="ja-JP" altLang="en-US" dirty="0"/>
              <a:t>がコミットされるということは，</a:t>
            </a:r>
            <a:endParaRPr kumimoji="1" lang="en-US" altLang="ja-JP" dirty="0"/>
          </a:p>
          <a:p>
            <a:pPr lvl="2"/>
            <a:r>
              <a:rPr kumimoji="1" lang="ja-JP" altLang="en-US" dirty="0"/>
              <a:t>そこより左にある命令は全て実行済み</a:t>
            </a:r>
            <a:endParaRPr kumimoji="1" lang="en-US" altLang="ja-JP" dirty="0"/>
          </a:p>
          <a:p>
            <a:pPr lvl="2"/>
            <a:r>
              <a:rPr lang="ja-JP" altLang="en-US" dirty="0"/>
              <a:t>そこより右にある命令は </a:t>
            </a:r>
            <a:r>
              <a:rPr lang="en-US" altLang="ja-JP" dirty="0"/>
              <a:t>x1 </a:t>
            </a:r>
            <a:r>
              <a:rPr lang="ja-JP" altLang="en-US" dirty="0"/>
              <a:t>を参照すると </a:t>
            </a:r>
            <a:r>
              <a:rPr lang="en-US" altLang="ja-JP" dirty="0"/>
              <a:t>p48 </a:t>
            </a:r>
            <a:r>
              <a:rPr lang="ja-JP" altLang="en-US" dirty="0"/>
              <a:t>が見えるので，左側の </a:t>
            </a:r>
            <a:r>
              <a:rPr lang="en-US" altLang="ja-JP" dirty="0"/>
              <a:t>p37 </a:t>
            </a:r>
            <a:r>
              <a:rPr lang="ja-JP" altLang="en-US" dirty="0"/>
              <a:t>が参照されることはもうない </a:t>
            </a:r>
            <a:endParaRPr kumimoji="1" lang="ja-JP" altLang="en-US" dirty="0"/>
          </a:p>
        </p:txBody>
      </p:sp>
      <p:cxnSp>
        <p:nvCxnSpPr>
          <p:cNvPr id="13" name="直線矢印コネクタ 12">
            <a:extLst>
              <a:ext uri="{FF2B5EF4-FFF2-40B4-BE49-F238E27FC236}">
                <a16:creationId xmlns:a16="http://schemas.microsoft.com/office/drawing/2014/main" id="{4B99C305-D376-430C-BDC6-CA249D8354DB}"/>
              </a:ext>
            </a:extLst>
          </p:cNvPr>
          <p:cNvCxnSpPr/>
          <p:nvPr/>
        </p:nvCxnSpPr>
        <p:spPr bwMode="auto">
          <a:xfrm>
            <a:off x="2315958" y="5679025"/>
            <a:ext cx="7920088"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4" name="直線矢印コネクタ 13">
            <a:extLst>
              <a:ext uri="{FF2B5EF4-FFF2-40B4-BE49-F238E27FC236}">
                <a16:creationId xmlns:a16="http://schemas.microsoft.com/office/drawing/2014/main" id="{59655AC8-5C3B-45F7-A8DE-A0054EB45CC5}"/>
              </a:ext>
            </a:extLst>
          </p:cNvPr>
          <p:cNvCxnSpPr>
            <a:cxnSpLocks/>
          </p:cNvCxnSpPr>
          <p:nvPr/>
        </p:nvCxnSpPr>
        <p:spPr bwMode="auto">
          <a:xfrm flipV="1">
            <a:off x="5375992" y="5679026"/>
            <a:ext cx="0" cy="450005"/>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5" name="直線矢印コネクタ 14">
            <a:extLst>
              <a:ext uri="{FF2B5EF4-FFF2-40B4-BE49-F238E27FC236}">
                <a16:creationId xmlns:a16="http://schemas.microsoft.com/office/drawing/2014/main" id="{137F7C9A-1F67-48DC-8694-75FDA7851F7B}"/>
              </a:ext>
            </a:extLst>
          </p:cNvPr>
          <p:cNvCxnSpPr>
            <a:cxnSpLocks/>
          </p:cNvCxnSpPr>
          <p:nvPr/>
        </p:nvCxnSpPr>
        <p:spPr bwMode="auto">
          <a:xfrm flipV="1">
            <a:off x="7446015" y="5679026"/>
            <a:ext cx="0" cy="450005"/>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16" name="正方形/長方形 15">
            <a:extLst>
              <a:ext uri="{FF2B5EF4-FFF2-40B4-BE49-F238E27FC236}">
                <a16:creationId xmlns:a16="http://schemas.microsoft.com/office/drawing/2014/main" id="{291AD7A1-5B5B-4132-B835-E4591CE50A51}"/>
              </a:ext>
            </a:extLst>
          </p:cNvPr>
          <p:cNvSpPr/>
          <p:nvPr/>
        </p:nvSpPr>
        <p:spPr bwMode="auto">
          <a:xfrm>
            <a:off x="5015989" y="621903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en-US" altLang="ja-JP" sz="1600" dirty="0">
                <a:solidFill>
                  <a:schemeClr val="tx1">
                    <a:lumMod val="75000"/>
                    <a:lumOff val="25000"/>
                  </a:schemeClr>
                </a:solidFill>
                <a:latin typeface="+mn-ea"/>
              </a:rPr>
              <a:t>i1: x1 </a:t>
            </a:r>
            <a:r>
              <a:rPr lang="ja-JP" altLang="en-US" sz="1600" dirty="0">
                <a:solidFill>
                  <a:schemeClr val="tx1">
                    <a:lumMod val="75000"/>
                    <a:lumOff val="25000"/>
                  </a:schemeClr>
                </a:solidFill>
                <a:latin typeface="+mn-ea"/>
              </a:rPr>
              <a:t>←</a:t>
            </a:r>
            <a:br>
              <a:rPr lang="en-US" altLang="ja-JP" sz="1600" dirty="0">
                <a:solidFill>
                  <a:schemeClr val="tx1">
                    <a:lumMod val="75000"/>
                    <a:lumOff val="25000"/>
                  </a:schemeClr>
                </a:solidFill>
                <a:latin typeface="+mn-ea"/>
              </a:rPr>
            </a:br>
            <a:r>
              <a:rPr lang="en-US" altLang="ja-JP" sz="1600" dirty="0">
                <a:solidFill>
                  <a:schemeClr val="tx1">
                    <a:lumMod val="75000"/>
                    <a:lumOff val="25000"/>
                  </a:schemeClr>
                </a:solidFill>
                <a:latin typeface="+mn-ea"/>
              </a:rPr>
              <a:t>     </a:t>
            </a:r>
            <a:r>
              <a:rPr lang="en-US" altLang="ja-JP" sz="1600" dirty="0">
                <a:solidFill>
                  <a:schemeClr val="accent6"/>
                </a:solidFill>
                <a:latin typeface="+mn-ea"/>
              </a:rPr>
              <a:t>p37</a:t>
            </a:r>
            <a:r>
              <a:rPr lang="en-US" altLang="ja-JP" sz="1600" dirty="0">
                <a:solidFill>
                  <a:schemeClr val="tx1">
                    <a:lumMod val="75000"/>
                    <a:lumOff val="25000"/>
                  </a:schemeClr>
                </a:solidFill>
                <a:latin typeface="+mn-ea"/>
              </a:rPr>
              <a:t> </a:t>
            </a:r>
            <a:r>
              <a:rPr lang="ja-JP" altLang="en-US" sz="1600" dirty="0">
                <a:solidFill>
                  <a:schemeClr val="tx1">
                    <a:lumMod val="75000"/>
                    <a:lumOff val="25000"/>
                  </a:schemeClr>
                </a:solidFill>
                <a:latin typeface="+mn-ea"/>
              </a:rPr>
              <a:t>←  </a:t>
            </a:r>
          </a:p>
        </p:txBody>
      </p:sp>
      <p:sp>
        <p:nvSpPr>
          <p:cNvPr id="17" name="正方形/長方形 16">
            <a:extLst>
              <a:ext uri="{FF2B5EF4-FFF2-40B4-BE49-F238E27FC236}">
                <a16:creationId xmlns:a16="http://schemas.microsoft.com/office/drawing/2014/main" id="{0D2F1111-0CAC-4011-8BE8-910B186A04BB}"/>
              </a:ext>
            </a:extLst>
          </p:cNvPr>
          <p:cNvSpPr/>
          <p:nvPr/>
        </p:nvSpPr>
        <p:spPr bwMode="auto">
          <a:xfrm>
            <a:off x="7086012" y="621903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en-US" altLang="ja-JP" sz="1600" dirty="0">
                <a:solidFill>
                  <a:schemeClr val="accent6"/>
                </a:solidFill>
                <a:latin typeface="+mn-ea"/>
              </a:rPr>
              <a:t>i2</a:t>
            </a:r>
            <a:r>
              <a:rPr lang="en-US" altLang="ja-JP" sz="1600" dirty="0">
                <a:solidFill>
                  <a:schemeClr val="tx1">
                    <a:lumMod val="75000"/>
                    <a:lumOff val="25000"/>
                  </a:schemeClr>
                </a:solidFill>
                <a:latin typeface="+mn-ea"/>
              </a:rPr>
              <a:t>: x1 </a:t>
            </a:r>
            <a:r>
              <a:rPr lang="ja-JP" altLang="en-US" sz="1600" dirty="0">
                <a:solidFill>
                  <a:schemeClr val="tx1">
                    <a:lumMod val="75000"/>
                    <a:lumOff val="25000"/>
                  </a:schemeClr>
                </a:solidFill>
                <a:latin typeface="+mn-ea"/>
              </a:rPr>
              <a:t>←</a:t>
            </a:r>
            <a:br>
              <a:rPr lang="en-US" altLang="ja-JP" sz="1600" dirty="0">
                <a:solidFill>
                  <a:schemeClr val="tx1">
                    <a:lumMod val="75000"/>
                    <a:lumOff val="25000"/>
                  </a:schemeClr>
                </a:solidFill>
                <a:latin typeface="+mn-ea"/>
              </a:rPr>
            </a:br>
            <a:r>
              <a:rPr lang="en-US" altLang="ja-JP" sz="1600" dirty="0">
                <a:solidFill>
                  <a:schemeClr val="tx1">
                    <a:lumMod val="75000"/>
                    <a:lumOff val="25000"/>
                  </a:schemeClr>
                </a:solidFill>
                <a:latin typeface="+mn-ea"/>
              </a:rPr>
              <a:t>     p48 </a:t>
            </a:r>
            <a:r>
              <a:rPr lang="ja-JP" altLang="en-US" sz="1600" dirty="0">
                <a:solidFill>
                  <a:schemeClr val="tx1">
                    <a:lumMod val="75000"/>
                    <a:lumOff val="25000"/>
                  </a:schemeClr>
                </a:solidFill>
                <a:latin typeface="+mn-ea"/>
              </a:rPr>
              <a:t>←  </a:t>
            </a:r>
          </a:p>
        </p:txBody>
      </p:sp>
    </p:spTree>
    <p:extLst>
      <p:ext uri="{BB962C8B-B14F-4D97-AF65-F5344CB8AC3E}">
        <p14:creationId xmlns:p14="http://schemas.microsoft.com/office/powerpoint/2010/main" val="36370679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出欠と感想</a:t>
            </a:r>
            <a:endParaRPr kumimoji="1" lang="ja-JP" altLang="en-US" dirty="0"/>
          </a:p>
        </p:txBody>
      </p:sp>
      <p:sp>
        <p:nvSpPr>
          <p:cNvPr id="3" name="テキスト プレースホルダー 2"/>
          <p:cNvSpPr>
            <a:spLocks noGrp="1"/>
          </p:cNvSpPr>
          <p:nvPr>
            <p:ph type="body" sz="quarter" idx="10"/>
          </p:nvPr>
        </p:nvSpPr>
        <p:spPr>
          <a:xfrm>
            <a:off x="1865953" y="1088975"/>
            <a:ext cx="8532044" cy="5219751"/>
          </a:xfrm>
        </p:spPr>
        <p:txBody>
          <a:bodyPr/>
          <a:lstStyle/>
          <a:p>
            <a:r>
              <a:rPr lang="ja-JP" altLang="en-US" dirty="0"/>
              <a:t>本日の講義でよくわかったところ，わからなかったところ，</a:t>
            </a:r>
            <a:br>
              <a:rPr lang="en-US" altLang="ja-JP" dirty="0"/>
            </a:br>
            <a:r>
              <a:rPr lang="ja-JP" altLang="en-US" dirty="0"/>
              <a:t>質問，感想などを書いてください</a:t>
            </a:r>
            <a:endParaRPr lang="en-US" altLang="ja-JP" dirty="0"/>
          </a:p>
          <a:p>
            <a:pPr lvl="1"/>
            <a:r>
              <a:rPr lang="en-US" altLang="ja-JP" dirty="0"/>
              <a:t>LMS </a:t>
            </a:r>
            <a:r>
              <a:rPr lang="ja-JP" altLang="en-US" dirty="0"/>
              <a:t>の出席を設定するので，そこにお願いします</a:t>
            </a:r>
            <a:endParaRPr lang="en-US" altLang="ja-JP" dirty="0"/>
          </a:p>
          <a:p>
            <a:pPr lvl="1"/>
            <a:r>
              <a:rPr lang="ja-JP" altLang="en-US" dirty="0"/>
              <a:t>パスワード</a:t>
            </a:r>
            <a:r>
              <a:rPr lang="en-US" altLang="ja-JP"/>
              <a:t>: </a:t>
            </a:r>
            <a:r>
              <a:rPr lang="ja-JP" altLang="en-US"/>
              <a:t> </a:t>
            </a:r>
            <a:endParaRPr lang="en-US" altLang="ja-JP" dirty="0"/>
          </a:p>
          <a:p>
            <a:r>
              <a:rPr kumimoji="1" lang="ja-JP" altLang="en-US" dirty="0"/>
              <a:t>意見や内容へのリクエストもあったら書いてください</a:t>
            </a:r>
            <a:endParaRPr kumimoji="1" lang="en-US" altLang="ja-JP" dirty="0"/>
          </a:p>
          <a:p>
            <a:r>
              <a:rPr kumimoji="1" lang="en-US" altLang="ja-JP" dirty="0">
                <a:solidFill>
                  <a:schemeClr val="accent5"/>
                </a:solidFill>
              </a:rPr>
              <a:t>LMS </a:t>
            </a:r>
            <a:r>
              <a:rPr kumimoji="1" lang="ja-JP" altLang="en-US" dirty="0">
                <a:solidFill>
                  <a:schemeClr val="accent5"/>
                </a:solidFill>
              </a:rPr>
              <a:t>の出席の締め切りは来週の講義開始までに設定してあります</a:t>
            </a:r>
            <a:endParaRPr kumimoji="1" lang="en-US" altLang="ja-JP" dirty="0">
              <a:solidFill>
                <a:schemeClr val="accent5"/>
              </a:solidFill>
            </a:endParaRPr>
          </a:p>
          <a:p>
            <a:pPr lvl="1"/>
            <a:r>
              <a:rPr kumimoji="1" lang="ja-JP" altLang="en-US" dirty="0"/>
              <a:t>仕様上「遅刻」表示になりますが，特に減点等しません</a:t>
            </a:r>
            <a:endParaRPr kumimoji="1" lang="en-US" altLang="ja-JP" dirty="0"/>
          </a:p>
          <a:p>
            <a:pPr lvl="1"/>
            <a:r>
              <a:rPr kumimoji="1" lang="ja-JP" altLang="en-US" dirty="0"/>
              <a:t>来週の講義開始までは感想や質問などを受け付けます</a:t>
            </a:r>
            <a:endParaRPr kumimoji="1" lang="en-US" altLang="ja-JP" dirty="0"/>
          </a:p>
        </p:txBody>
      </p:sp>
    </p:spTree>
    <p:extLst>
      <p:ext uri="{BB962C8B-B14F-4D97-AF65-F5344CB8AC3E}">
        <p14:creationId xmlns:p14="http://schemas.microsoft.com/office/powerpoint/2010/main" val="10134614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出欠と感想</a:t>
            </a:r>
            <a:endParaRPr kumimoji="1" lang="ja-JP" altLang="en-US" dirty="0"/>
          </a:p>
        </p:txBody>
      </p:sp>
      <p:sp>
        <p:nvSpPr>
          <p:cNvPr id="3" name="テキスト プレースホルダー 2"/>
          <p:cNvSpPr>
            <a:spLocks noGrp="1"/>
          </p:cNvSpPr>
          <p:nvPr>
            <p:ph type="body" sz="quarter" idx="10"/>
          </p:nvPr>
        </p:nvSpPr>
        <p:spPr>
          <a:xfrm>
            <a:off x="1865953" y="1088977"/>
            <a:ext cx="8532044" cy="5219751"/>
          </a:xfrm>
        </p:spPr>
        <p:txBody>
          <a:bodyPr/>
          <a:lstStyle/>
          <a:p>
            <a:r>
              <a:rPr lang="ja-JP" altLang="en-US" dirty="0"/>
              <a:t>本日の講義でよくわかったところ，わからなかったところ，</a:t>
            </a:r>
            <a:br>
              <a:rPr lang="en-US" altLang="ja-JP" dirty="0"/>
            </a:br>
            <a:r>
              <a:rPr lang="ja-JP" altLang="en-US" dirty="0"/>
              <a:t>質問，感想などを </a:t>
            </a:r>
            <a:r>
              <a:rPr lang="en-US" altLang="ja-JP" dirty="0"/>
              <a:t>UTOL </a:t>
            </a:r>
            <a:r>
              <a:rPr lang="ja-JP" altLang="en-US" dirty="0"/>
              <a:t>の出席欄に書いてください</a:t>
            </a:r>
            <a:endParaRPr lang="en-US" altLang="ja-JP" dirty="0"/>
          </a:p>
          <a:p>
            <a:pPr lvl="1"/>
            <a:r>
              <a:rPr lang="en-US" altLang="ja-JP" dirty="0"/>
              <a:t>LMS </a:t>
            </a:r>
            <a:r>
              <a:rPr lang="ja-JP" altLang="en-US" dirty="0"/>
              <a:t>の出席を設定するので，そこにお願いします</a:t>
            </a:r>
            <a:endParaRPr lang="en-US" altLang="ja-JP" dirty="0"/>
          </a:p>
          <a:p>
            <a:pPr lvl="1"/>
            <a:r>
              <a:rPr lang="ja-JP" altLang="en-US" dirty="0"/>
              <a:t>パスワード ：</a:t>
            </a:r>
            <a:r>
              <a:rPr lang="en-US" altLang="ja-JP" dirty="0"/>
              <a:t>arc</a:t>
            </a:r>
          </a:p>
          <a:p>
            <a:r>
              <a:rPr lang="ja-JP" altLang="en-US" dirty="0"/>
              <a:t>意見や内容へのリクエストもあったら書いてください</a:t>
            </a:r>
            <a:endParaRPr lang="en-US" altLang="ja-JP" dirty="0"/>
          </a:p>
          <a:p>
            <a:r>
              <a:rPr lang="en-US" altLang="ja-JP" dirty="0">
                <a:solidFill>
                  <a:schemeClr val="accent5"/>
                </a:solidFill>
              </a:rPr>
              <a:t>UTOL </a:t>
            </a:r>
            <a:r>
              <a:rPr lang="ja-JP" altLang="en-US" dirty="0">
                <a:solidFill>
                  <a:schemeClr val="accent5"/>
                </a:solidFill>
              </a:rPr>
              <a:t>の出席の締め切りは来週の講義開始までに設定してあります</a:t>
            </a:r>
            <a:endParaRPr lang="en-US" altLang="ja-JP" dirty="0">
              <a:solidFill>
                <a:schemeClr val="accent5"/>
              </a:solidFill>
            </a:endParaRPr>
          </a:p>
          <a:p>
            <a:pPr lvl="1"/>
            <a:r>
              <a:rPr lang="ja-JP" altLang="en-US" dirty="0"/>
              <a:t>仕様上「遅刻」表示になりますが，特に減点等しません</a:t>
            </a:r>
            <a:endParaRPr lang="en-US" altLang="ja-JP" dirty="0"/>
          </a:p>
          <a:p>
            <a:pPr lvl="1"/>
            <a:r>
              <a:rPr lang="ja-JP" altLang="en-US" dirty="0"/>
              <a:t>来週の講義開始までは感想や質問などを受け付けます</a:t>
            </a:r>
          </a:p>
        </p:txBody>
      </p:sp>
    </p:spTree>
    <p:extLst>
      <p:ext uri="{BB962C8B-B14F-4D97-AF65-F5344CB8AC3E}">
        <p14:creationId xmlns:p14="http://schemas.microsoft.com/office/powerpoint/2010/main" val="3225474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D92FC6-C481-4334-E992-204B439ABF09}"/>
              </a:ext>
            </a:extLst>
          </p:cNvPr>
          <p:cNvSpPr>
            <a:spLocks noGrp="1"/>
          </p:cNvSpPr>
          <p:nvPr>
            <p:ph type="title"/>
          </p:nvPr>
        </p:nvSpPr>
        <p:spPr/>
        <p:txBody>
          <a:bodyPr/>
          <a:lstStyle/>
          <a:p>
            <a:r>
              <a:rPr lang="ja-JP" altLang="en-US" dirty="0"/>
              <a:t>出席</a:t>
            </a:r>
            <a:endParaRPr kumimoji="1" lang="ja-JP" altLang="en-US" dirty="0"/>
          </a:p>
        </p:txBody>
      </p:sp>
      <p:sp>
        <p:nvSpPr>
          <p:cNvPr id="3" name="テキスト プレースホルダー 2">
            <a:extLst>
              <a:ext uri="{FF2B5EF4-FFF2-40B4-BE49-F238E27FC236}">
                <a16:creationId xmlns:a16="http://schemas.microsoft.com/office/drawing/2014/main" id="{BA87AF6B-357A-C55C-6782-832EA49BA99E}"/>
              </a:ext>
            </a:extLst>
          </p:cNvPr>
          <p:cNvSpPr>
            <a:spLocks noGrp="1"/>
          </p:cNvSpPr>
          <p:nvPr>
            <p:ph type="body" sz="quarter" idx="10"/>
          </p:nvPr>
        </p:nvSpPr>
        <p:spPr>
          <a:xfrm>
            <a:off x="1775952" y="1088974"/>
            <a:ext cx="9180102" cy="5219751"/>
          </a:xfrm>
        </p:spPr>
        <p:txBody>
          <a:bodyPr/>
          <a:lstStyle/>
          <a:p>
            <a:r>
              <a:rPr lang="ja-JP" altLang="en-US" dirty="0">
                <a:solidFill>
                  <a:schemeClr val="accent6"/>
                </a:solidFill>
              </a:rPr>
              <a:t>以下のスプレッドシートの自分の席のところに学籍番号を書いてください</a:t>
            </a:r>
            <a:endParaRPr kumimoji="1" lang="en-US" altLang="ja-JP" dirty="0">
              <a:hlinkClick r:id="" action="ppaction://noaction"/>
            </a:endParaRPr>
          </a:p>
          <a:p>
            <a:pPr lvl="1"/>
            <a:r>
              <a:rPr lang="en-US" altLang="ja-JP" dirty="0">
                <a:hlinkClick r:id="rId2"/>
              </a:rPr>
              <a:t>https://docs.google.com/spreadsheets/d/1A5wiTbVyNkzVSa2MsHZda4akAyXFkD6Q8c_4IGprq7A/edit?usp=sharing</a:t>
            </a:r>
            <a:endParaRPr lang="en-US" altLang="ja-JP" dirty="0"/>
          </a:p>
          <a:p>
            <a:pPr lvl="1"/>
            <a:r>
              <a:rPr lang="ja-JP" altLang="en-US" dirty="0"/>
              <a:t>学生側から見た場合の配置で（画面上が教団側），席の対応する行と列のところに書いてください</a:t>
            </a:r>
            <a:endParaRPr lang="en-US" altLang="ja-JP" dirty="0"/>
          </a:p>
          <a:p>
            <a:endParaRPr kumimoji="1" lang="ja-JP" altLang="en-US" dirty="0"/>
          </a:p>
        </p:txBody>
      </p:sp>
    </p:spTree>
    <p:extLst>
      <p:ext uri="{BB962C8B-B14F-4D97-AF65-F5344CB8AC3E}">
        <p14:creationId xmlns:p14="http://schemas.microsoft.com/office/powerpoint/2010/main" val="3642383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D17BADF-D28D-4797-77DA-E005856F6781}"/>
              </a:ext>
            </a:extLst>
          </p:cNvPr>
          <p:cNvSpPr>
            <a:spLocks noGrp="1"/>
          </p:cNvSpPr>
          <p:nvPr>
            <p:ph type="title"/>
          </p:nvPr>
        </p:nvSpPr>
        <p:spPr/>
        <p:txBody>
          <a:bodyPr/>
          <a:lstStyle/>
          <a:p>
            <a:r>
              <a:rPr lang="ja-JP" altLang="en-US" b="1" dirty="0"/>
              <a:t>質問や感想への回答</a:t>
            </a:r>
            <a:endParaRPr lang="en-US" b="1" dirty="0"/>
          </a:p>
        </p:txBody>
      </p:sp>
    </p:spTree>
    <p:extLst>
      <p:ext uri="{BB962C8B-B14F-4D97-AF65-F5344CB8AC3E}">
        <p14:creationId xmlns:p14="http://schemas.microsoft.com/office/powerpoint/2010/main" val="9674631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3596F-3513-E0C8-95DF-798F084EACFF}"/>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3CFFEEC4-4EBE-75F3-53D3-690C7B2B478C}"/>
              </a:ext>
            </a:extLst>
          </p:cNvPr>
          <p:cNvSpPr>
            <a:spLocks noGrp="1"/>
          </p:cNvSpPr>
          <p:nvPr>
            <p:ph type="body" sz="quarter" idx="10"/>
          </p:nvPr>
        </p:nvSpPr>
        <p:spPr/>
        <p:txBody>
          <a:bodyPr/>
          <a:lstStyle/>
          <a:p>
            <a:r>
              <a:rPr lang="ja-JP" altLang="en-US" dirty="0"/>
              <a:t>レジスタリネーミングの話は様々なところで聞いていて，アーキテクチャの他にも高位合成の分野でも出てくる話なので，興味深く感じました．</a:t>
            </a:r>
            <a:r>
              <a:rPr lang="en-US" altLang="ja-JP" dirty="0"/>
              <a:t>AI</a:t>
            </a:r>
            <a:r>
              <a:rPr lang="ja-JP" altLang="en-US" dirty="0"/>
              <a:t>がもっと発達したら，プログラムに対してもっと面白い最適化も出来たりするのかなと思いました．，</a:t>
            </a:r>
          </a:p>
          <a:p>
            <a:endParaRPr lang="en-US" dirty="0"/>
          </a:p>
        </p:txBody>
      </p:sp>
    </p:spTree>
    <p:extLst>
      <p:ext uri="{BB962C8B-B14F-4D97-AF65-F5344CB8AC3E}">
        <p14:creationId xmlns:p14="http://schemas.microsoft.com/office/powerpoint/2010/main" val="33803076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C571F-998B-4CAF-1ED4-E337541BBC0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F95D77-0C4F-71C5-0E8B-A122EB103563}"/>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3E7B8054-01D9-2FF7-690F-1972312E8B2A}"/>
              </a:ext>
            </a:extLst>
          </p:cNvPr>
          <p:cNvSpPr>
            <a:spLocks noGrp="1"/>
          </p:cNvSpPr>
          <p:nvPr>
            <p:ph type="body" sz="quarter" idx="10"/>
          </p:nvPr>
        </p:nvSpPr>
        <p:spPr/>
        <p:txBody>
          <a:bodyPr/>
          <a:lstStyle/>
          <a:p>
            <a:r>
              <a:rPr lang="ja-JP" altLang="en-US" dirty="0"/>
              <a:t>課題についてですが、イメージ感は承知しましたが、どのようなものを提出すれば高く評価いただけるのでしょうか</a:t>
            </a:r>
          </a:p>
          <a:p>
            <a:endParaRPr lang="en-US" dirty="0"/>
          </a:p>
        </p:txBody>
      </p:sp>
    </p:spTree>
    <p:extLst>
      <p:ext uri="{BB962C8B-B14F-4D97-AF65-F5344CB8AC3E}">
        <p14:creationId xmlns:p14="http://schemas.microsoft.com/office/powerpoint/2010/main" val="22856312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080E0-FE14-8DF2-FFF4-D8BD0521D4F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B4DFB3D-6414-A54E-7073-9CADB8FD9DB2}"/>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C5B6CB7E-7FDB-B160-1AC8-1CB6F263CAB4}"/>
              </a:ext>
            </a:extLst>
          </p:cNvPr>
          <p:cNvSpPr>
            <a:spLocks noGrp="1"/>
          </p:cNvSpPr>
          <p:nvPr>
            <p:ph type="body" sz="quarter" idx="10"/>
          </p:nvPr>
        </p:nvSpPr>
        <p:spPr/>
        <p:txBody>
          <a:bodyPr/>
          <a:lstStyle/>
          <a:p>
            <a:r>
              <a:rPr lang="en-US" altLang="ja-JP" dirty="0"/>
              <a:t>AI</a:t>
            </a:r>
            <a:r>
              <a:rPr lang="ja-JP" altLang="en-US" dirty="0"/>
              <a:t>の発展で廃れていた分野が再発見されてきたというお話を聞いて、いつどのような素養が必要になってくるかがわからないので、概論的に授業を学んでくる必要性があると感じた。</a:t>
            </a:r>
            <a:endParaRPr lang="en-US" dirty="0"/>
          </a:p>
        </p:txBody>
      </p:sp>
    </p:spTree>
    <p:extLst>
      <p:ext uri="{BB962C8B-B14F-4D97-AF65-F5344CB8AC3E}">
        <p14:creationId xmlns:p14="http://schemas.microsoft.com/office/powerpoint/2010/main" val="9550630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BC290-048B-48BE-2449-AD8DDA07637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1DC98EC-B59A-729A-1CA8-281E10A0B240}"/>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44B517D6-0377-380E-C9E7-666ADE5C488A}"/>
              </a:ext>
            </a:extLst>
          </p:cNvPr>
          <p:cNvSpPr>
            <a:spLocks noGrp="1"/>
          </p:cNvSpPr>
          <p:nvPr>
            <p:ph type="body" sz="quarter" idx="10"/>
          </p:nvPr>
        </p:nvSpPr>
        <p:spPr/>
        <p:txBody>
          <a:bodyPr/>
          <a:lstStyle/>
          <a:p>
            <a:r>
              <a:rPr lang="ja-JP" altLang="en-US" dirty="0"/>
              <a:t>これだけ動的スケジューリングを行うための努力や工夫がハードウェア側で行われているのに、</a:t>
            </a:r>
            <a:r>
              <a:rPr lang="en-US" altLang="ja-JP" dirty="0"/>
              <a:t>Rust</a:t>
            </a:r>
            <a:r>
              <a:rPr lang="ja-JP" altLang="en-US" dirty="0"/>
              <a:t>のようなソフトウェア側から</a:t>
            </a:r>
            <a:r>
              <a:rPr lang="en-US" altLang="ja-JP" dirty="0"/>
              <a:t>write-after-read</a:t>
            </a:r>
            <a:r>
              <a:rPr lang="ja-JP" altLang="en-US" dirty="0"/>
              <a:t>や</a:t>
            </a:r>
            <a:r>
              <a:rPr lang="en-US" altLang="ja-JP" dirty="0"/>
              <a:t>write-after-write</a:t>
            </a:r>
            <a:r>
              <a:rPr lang="ja-JP" altLang="en-US" dirty="0"/>
              <a:t>の違反を防ぐような仕様を持ったプログラミング言語が生まれたのかが分からなかった。コンパイラによる最適化と、ハードウェア側による最適化がどのような違いがあるのかをより詳しく知りたい。</a:t>
            </a:r>
            <a:endParaRPr lang="en-US" dirty="0"/>
          </a:p>
        </p:txBody>
      </p:sp>
    </p:spTree>
    <p:extLst>
      <p:ext uri="{BB962C8B-B14F-4D97-AF65-F5344CB8AC3E}">
        <p14:creationId xmlns:p14="http://schemas.microsoft.com/office/powerpoint/2010/main" val="33632021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B27A7-862F-5BA9-F745-42E25570346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96BF2DD-47E6-5F34-D59D-474EE914852B}"/>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D685A840-F37A-F26D-D404-0BFE410FDFC1}"/>
              </a:ext>
            </a:extLst>
          </p:cNvPr>
          <p:cNvSpPr>
            <a:spLocks noGrp="1"/>
          </p:cNvSpPr>
          <p:nvPr>
            <p:ph type="body" sz="quarter" idx="10"/>
          </p:nvPr>
        </p:nvSpPr>
        <p:spPr/>
        <p:txBody>
          <a:bodyPr/>
          <a:lstStyle/>
          <a:p>
            <a:r>
              <a:rPr lang="ja-JP" altLang="en-US" dirty="0"/>
              <a:t>初めて</a:t>
            </a:r>
            <a:r>
              <a:rPr lang="en-US" altLang="ja-JP" dirty="0" err="1"/>
              <a:t>OoO</a:t>
            </a:r>
            <a:r>
              <a:rPr lang="ja-JP" altLang="en-US" dirty="0"/>
              <a:t>実行のことを聞いた時はそんなのどうやってやるんだと思っていたのですが、意外と頑張りに頑張れば理解できるようなことをやっているのだなと思いました。</a:t>
            </a:r>
            <a:endParaRPr lang="en-US" dirty="0"/>
          </a:p>
        </p:txBody>
      </p:sp>
    </p:spTree>
    <p:extLst>
      <p:ext uri="{BB962C8B-B14F-4D97-AF65-F5344CB8AC3E}">
        <p14:creationId xmlns:p14="http://schemas.microsoft.com/office/powerpoint/2010/main" val="35991860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4005D-814C-AD02-A3E9-84611E380A2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0034E14-5414-5B17-3210-8123CCD41243}"/>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998862BB-57A1-5EAA-72BF-6ABA78A95947}"/>
              </a:ext>
            </a:extLst>
          </p:cNvPr>
          <p:cNvSpPr>
            <a:spLocks noGrp="1"/>
          </p:cNvSpPr>
          <p:nvPr>
            <p:ph type="body" sz="quarter" idx="10"/>
          </p:nvPr>
        </p:nvSpPr>
        <p:spPr/>
        <p:txBody>
          <a:bodyPr/>
          <a:lstStyle/>
          <a:p>
            <a:r>
              <a:rPr lang="ja-JP" altLang="en-US" dirty="0"/>
              <a:t>研究室で半導体のデジタル設計をやっているのですが、こういうことをやるためのハードウェアリソースはどんな感じに増えるのか、という点が少し気になります。</a:t>
            </a:r>
            <a:r>
              <a:rPr lang="en-US" altLang="ja-JP" dirty="0"/>
              <a:t>CPU</a:t>
            </a:r>
            <a:r>
              <a:rPr lang="ja-JP" altLang="en-US" dirty="0"/>
              <a:t>全体に対して分岐予測機がどれくらいの割合を占めているのか、など</a:t>
            </a:r>
            <a:endParaRPr lang="en-US" dirty="0"/>
          </a:p>
        </p:txBody>
      </p:sp>
    </p:spTree>
    <p:extLst>
      <p:ext uri="{BB962C8B-B14F-4D97-AF65-F5344CB8AC3E}">
        <p14:creationId xmlns:p14="http://schemas.microsoft.com/office/powerpoint/2010/main" val="16538177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D9C8D-F655-8D2E-DA90-501851EE666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6278A69-9977-9C94-2432-491A1403D39D}"/>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B01A0F39-5A6E-D73C-511B-7DC81D9D67CE}"/>
              </a:ext>
            </a:extLst>
          </p:cNvPr>
          <p:cNvSpPr>
            <a:spLocks noGrp="1"/>
          </p:cNvSpPr>
          <p:nvPr>
            <p:ph type="body" sz="quarter" idx="10"/>
          </p:nvPr>
        </p:nvSpPr>
        <p:spPr/>
        <p:txBody>
          <a:bodyPr/>
          <a:lstStyle/>
          <a:p>
            <a:r>
              <a:rPr lang="en-US" altLang="ja-JP" dirty="0"/>
              <a:t>IS</a:t>
            </a:r>
            <a:r>
              <a:rPr lang="ja-JP" altLang="en-US" dirty="0"/>
              <a:t>の後の</a:t>
            </a:r>
            <a:r>
              <a:rPr lang="en-US" altLang="ja-JP" dirty="0"/>
              <a:t>EX</a:t>
            </a:r>
            <a:r>
              <a:rPr lang="ja-JP" altLang="en-US" dirty="0"/>
              <a:t>ステップが重なっている箇所</a:t>
            </a:r>
            <a:r>
              <a:rPr lang="en-US" altLang="ja-JP" dirty="0"/>
              <a:t>(p.24</a:t>
            </a:r>
            <a:r>
              <a:rPr lang="ja-JP" altLang="en-US" dirty="0"/>
              <a:t>など</a:t>
            </a:r>
            <a:r>
              <a:rPr lang="en-US" altLang="ja-JP" dirty="0"/>
              <a:t>)</a:t>
            </a:r>
            <a:r>
              <a:rPr lang="ja-JP" altLang="en-US" dirty="0"/>
              <a:t>があったが，これはよく</a:t>
            </a:r>
            <a:r>
              <a:rPr lang="en-US" altLang="ja-JP" dirty="0"/>
              <a:t>CPU</a:t>
            </a:r>
            <a:r>
              <a:rPr lang="ja-JP" altLang="en-US" dirty="0"/>
              <a:t>の授業で扱う</a:t>
            </a:r>
            <a:r>
              <a:rPr lang="en-US" altLang="ja-JP" dirty="0"/>
              <a:t>ALU</a:t>
            </a:r>
            <a:r>
              <a:rPr lang="ja-JP" altLang="en-US" dirty="0"/>
              <a:t>が一つの単純なアーキテクチャ</a:t>
            </a:r>
            <a:r>
              <a:rPr lang="en-US" altLang="ja-JP" dirty="0"/>
              <a:t>(aco-shioya-03, p.54</a:t>
            </a:r>
            <a:r>
              <a:rPr lang="ja-JP" altLang="en-US" dirty="0"/>
              <a:t>など</a:t>
            </a:r>
            <a:r>
              <a:rPr lang="en-US" altLang="ja-JP" dirty="0"/>
              <a:t>)</a:t>
            </a:r>
            <a:r>
              <a:rPr lang="ja-JP" altLang="en-US" dirty="0"/>
              <a:t>ではなく，複数の</a:t>
            </a:r>
            <a:r>
              <a:rPr lang="en-US" altLang="ja-JP" dirty="0"/>
              <a:t>ALU</a:t>
            </a:r>
            <a:r>
              <a:rPr lang="ja-JP" altLang="en-US" dirty="0"/>
              <a:t>を持っているアーキテクチャ</a:t>
            </a:r>
            <a:r>
              <a:rPr lang="en-US" altLang="ja-JP" dirty="0"/>
              <a:t>1</a:t>
            </a:r>
            <a:r>
              <a:rPr lang="ja-JP" altLang="en-US" dirty="0"/>
              <a:t>つ（マルチコアでなくあくまでシングルコアを仮定）を考えているという理解で良いでしょうか．</a:t>
            </a:r>
            <a:endParaRPr lang="en-US" dirty="0"/>
          </a:p>
        </p:txBody>
      </p:sp>
    </p:spTree>
    <p:extLst>
      <p:ext uri="{BB962C8B-B14F-4D97-AF65-F5344CB8AC3E}">
        <p14:creationId xmlns:p14="http://schemas.microsoft.com/office/powerpoint/2010/main" val="40170156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E9DE3-E3FC-9D4D-98AE-F2142DB18A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66C235F-EC57-22E2-CD3E-6DFF97A4DD43}"/>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2B2DA190-008D-3BBB-CE5F-A8D7A2C10953}"/>
              </a:ext>
            </a:extLst>
          </p:cNvPr>
          <p:cNvSpPr>
            <a:spLocks noGrp="1"/>
          </p:cNvSpPr>
          <p:nvPr>
            <p:ph type="body" sz="quarter" idx="10"/>
          </p:nvPr>
        </p:nvSpPr>
        <p:spPr/>
        <p:txBody>
          <a:bodyPr/>
          <a:lstStyle/>
          <a:p>
            <a:r>
              <a:rPr lang="en-US" altLang="ja-JP" dirty="0"/>
              <a:t>Out-of-Order</a:t>
            </a:r>
            <a:r>
              <a:rPr lang="ja-JP" altLang="en-US" dirty="0"/>
              <a:t>実行するためにレジスタネーミングや発行キューを利用していますが、これらのアルゴリズムを機械学習に落としこんで効率化を図るような研究が行われるのか気になりました。通常のレジスタネーミングや発行キューは回路規模が大きいのでそれを縮小化できたりできるかもしれないですが、リネームミスや発行ミスがかなり致命的な気がするのでやったことあるのかが気になりました。</a:t>
            </a:r>
            <a:endParaRPr lang="en-US" dirty="0"/>
          </a:p>
        </p:txBody>
      </p:sp>
    </p:spTree>
    <p:extLst>
      <p:ext uri="{BB962C8B-B14F-4D97-AF65-F5344CB8AC3E}">
        <p14:creationId xmlns:p14="http://schemas.microsoft.com/office/powerpoint/2010/main" val="16212713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1A1F6-E69A-9959-AE21-0A25E1349E4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D3BD554-A82E-019E-4F3E-3DA9A687468A}"/>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608AA37E-1220-1610-72A5-4E784E773182}"/>
              </a:ext>
            </a:extLst>
          </p:cNvPr>
          <p:cNvSpPr>
            <a:spLocks noGrp="1"/>
          </p:cNvSpPr>
          <p:nvPr>
            <p:ph type="body" sz="quarter" idx="10"/>
          </p:nvPr>
        </p:nvSpPr>
        <p:spPr/>
        <p:txBody>
          <a:bodyPr/>
          <a:lstStyle/>
          <a:p>
            <a:r>
              <a:rPr lang="en-US" altLang="ja-JP" dirty="0"/>
              <a:t>Matrix Scheduler</a:t>
            </a:r>
            <a:r>
              <a:rPr lang="ja-JP" altLang="en-US" dirty="0"/>
              <a:t>の説明を聞いて「イケてる技術だ！」と思ってググったところ、元論文・</a:t>
            </a:r>
            <a:r>
              <a:rPr lang="en-US" altLang="ja-JP" dirty="0"/>
              <a:t>FPGA</a:t>
            </a:r>
            <a:r>
              <a:rPr lang="ja-JP" altLang="en-US" dirty="0"/>
              <a:t>開発日記・先生の資料しかヒットせず、悲しかったです</a:t>
            </a:r>
            <a:endParaRPr lang="en-US" dirty="0"/>
          </a:p>
        </p:txBody>
      </p:sp>
    </p:spTree>
    <p:extLst>
      <p:ext uri="{BB962C8B-B14F-4D97-AF65-F5344CB8AC3E}">
        <p14:creationId xmlns:p14="http://schemas.microsoft.com/office/powerpoint/2010/main" val="20404418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E20EA-4EC6-D903-0C80-E1AD9C11A14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1954EE2-36CB-AE66-D3CC-E2CE21A5AAE2}"/>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44BF817C-D914-2796-A3FF-C359583600DB}"/>
              </a:ext>
            </a:extLst>
          </p:cNvPr>
          <p:cNvSpPr>
            <a:spLocks noGrp="1"/>
          </p:cNvSpPr>
          <p:nvPr>
            <p:ph type="body" sz="quarter" idx="10"/>
          </p:nvPr>
        </p:nvSpPr>
        <p:spPr/>
        <p:txBody>
          <a:bodyPr/>
          <a:lstStyle/>
          <a:p>
            <a:r>
              <a:rPr lang="en-US" altLang="ja-JP" dirty="0"/>
              <a:t>Processor</a:t>
            </a:r>
            <a:r>
              <a:rPr lang="ja-JP" altLang="en-US" dirty="0"/>
              <a:t>でも発行</a:t>
            </a:r>
            <a:r>
              <a:rPr lang="en-US" altLang="ja-JP" dirty="0"/>
              <a:t>Queue</a:t>
            </a:r>
            <a:r>
              <a:rPr lang="ja-JP" altLang="en-US" dirty="0"/>
              <a:t>があるのは分散システムとかでも見る</a:t>
            </a:r>
            <a:r>
              <a:rPr lang="en-US" altLang="ja-JP" dirty="0"/>
              <a:t>Message Queue</a:t>
            </a:r>
            <a:r>
              <a:rPr lang="ja-JP" altLang="en-US" dirty="0"/>
              <a:t>と同じ考えだなと思いました。中間に</a:t>
            </a:r>
            <a:r>
              <a:rPr lang="en-US" altLang="ja-JP" dirty="0"/>
              <a:t>Queue</a:t>
            </a:r>
            <a:r>
              <a:rPr lang="ja-JP" altLang="en-US" dirty="0"/>
              <a:t>を置くというのが最も抽象的な考えなんだろうなと思いました</a:t>
            </a:r>
            <a:endParaRPr lang="en-US" dirty="0"/>
          </a:p>
        </p:txBody>
      </p:sp>
    </p:spTree>
    <p:extLst>
      <p:ext uri="{BB962C8B-B14F-4D97-AF65-F5344CB8AC3E}">
        <p14:creationId xmlns:p14="http://schemas.microsoft.com/office/powerpoint/2010/main" val="23477088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43BDF-B0E1-0EB5-CB0B-83EA0A79D53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5E24B74-909B-6AEC-C342-AB391B0D6DDA}"/>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F0133A53-1459-CCC6-AF3C-746E853EB9DC}"/>
              </a:ext>
            </a:extLst>
          </p:cNvPr>
          <p:cNvSpPr>
            <a:spLocks noGrp="1"/>
          </p:cNvSpPr>
          <p:nvPr>
            <p:ph type="body" sz="quarter" idx="10"/>
          </p:nvPr>
        </p:nvSpPr>
        <p:spPr/>
        <p:txBody>
          <a:bodyPr/>
          <a:lstStyle/>
          <a:p>
            <a:r>
              <a:rPr lang="ja-JP" altLang="en-US" dirty="0"/>
              <a:t>情報系ではありますが、機械学習系なので</a:t>
            </a:r>
            <a:r>
              <a:rPr lang="en-US" altLang="ja-JP" dirty="0"/>
              <a:t>low-level</a:t>
            </a:r>
            <a:r>
              <a:rPr lang="ja-JP" altLang="en-US" dirty="0"/>
              <a:t>の実装には慣れてないです。もし最終課題に取り組むにあたっておすすめのツール（開発環境とかエミュレータ、プロファイリングなど）あれば教えてくだされば幸いです。</a:t>
            </a:r>
            <a:endParaRPr lang="en-US" dirty="0"/>
          </a:p>
        </p:txBody>
      </p:sp>
    </p:spTree>
    <p:extLst>
      <p:ext uri="{BB962C8B-B14F-4D97-AF65-F5344CB8AC3E}">
        <p14:creationId xmlns:p14="http://schemas.microsoft.com/office/powerpoint/2010/main" val="28281436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29D3D-B4AB-7B41-22A2-202E7961BF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982B0C6-4D44-0DF2-79CE-DDC1ECE8D907}"/>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5C7748F8-6A78-96BE-7777-5955438F9F18}"/>
              </a:ext>
            </a:extLst>
          </p:cNvPr>
          <p:cNvSpPr>
            <a:spLocks noGrp="1"/>
          </p:cNvSpPr>
          <p:nvPr>
            <p:ph type="body" sz="quarter" idx="10"/>
          </p:nvPr>
        </p:nvSpPr>
        <p:spPr/>
        <p:txBody>
          <a:bodyPr/>
          <a:lstStyle/>
          <a:p>
            <a:r>
              <a:rPr lang="ja-JP" altLang="en-US" dirty="0"/>
              <a:t>今までレジスタリネーミングをユーザーランドのプログラムから意識したことはないのですが、どう見えるのでしょうか。プログラムにブレークポイントを仕込んで中を見ても、常に命令通りのレジスタが使われていると思います。</a:t>
            </a:r>
            <a:endParaRPr lang="en-US" dirty="0"/>
          </a:p>
        </p:txBody>
      </p:sp>
    </p:spTree>
    <p:extLst>
      <p:ext uri="{BB962C8B-B14F-4D97-AF65-F5344CB8AC3E}">
        <p14:creationId xmlns:p14="http://schemas.microsoft.com/office/powerpoint/2010/main" val="28063762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41BD7-4EA7-80F3-3838-029E30C7FCC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61D2283-E008-C608-0294-54E835CCA64C}"/>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0E9C1822-B298-DA2B-A938-19F1A7627EA4}"/>
              </a:ext>
            </a:extLst>
          </p:cNvPr>
          <p:cNvSpPr>
            <a:spLocks noGrp="1"/>
          </p:cNvSpPr>
          <p:nvPr>
            <p:ph type="body" sz="quarter" idx="10"/>
          </p:nvPr>
        </p:nvSpPr>
        <p:spPr/>
        <p:txBody>
          <a:bodyPr/>
          <a:lstStyle/>
          <a:p>
            <a:r>
              <a:rPr lang="ja-JP" altLang="en-US" dirty="0"/>
              <a:t>疑問として、</a:t>
            </a:r>
            <a:r>
              <a:rPr lang="en-US" altLang="ja-JP" dirty="0"/>
              <a:t>in-order / out-of-order</a:t>
            </a:r>
            <a:r>
              <a:rPr lang="ja-JP" altLang="en-US" dirty="0"/>
              <a:t>のどの組み合わせの</a:t>
            </a:r>
            <a:r>
              <a:rPr lang="en-US" altLang="ja-JP" dirty="0"/>
              <a:t>CPU</a:t>
            </a:r>
            <a:r>
              <a:rPr lang="ja-JP" altLang="en-US" dirty="0"/>
              <a:t>を使うか、も世界で共通化され知恵無いのはなぜだろうか。</a:t>
            </a:r>
            <a:r>
              <a:rPr lang="en-US" altLang="ja-JP" dirty="0"/>
              <a:t>pros, cons</a:t>
            </a:r>
            <a:r>
              <a:rPr lang="ja-JP" altLang="en-US" dirty="0"/>
              <a:t>を考慮して各社が適切なものを開発しているのか、業界（</a:t>
            </a:r>
            <a:r>
              <a:rPr lang="en-US" altLang="ja-JP" dirty="0"/>
              <a:t>ex. </a:t>
            </a:r>
            <a:r>
              <a:rPr lang="ja-JP" altLang="en-US" dirty="0"/>
              <a:t>金融）ごとに適した</a:t>
            </a:r>
            <a:r>
              <a:rPr lang="en-US" altLang="ja-JP" dirty="0"/>
              <a:t>architecture</a:t>
            </a:r>
            <a:r>
              <a:rPr lang="ja-JP" altLang="en-US" dirty="0"/>
              <a:t>があるのか、きになる。</a:t>
            </a:r>
            <a:endParaRPr lang="en-US" dirty="0"/>
          </a:p>
        </p:txBody>
      </p:sp>
    </p:spTree>
    <p:extLst>
      <p:ext uri="{BB962C8B-B14F-4D97-AF65-F5344CB8AC3E}">
        <p14:creationId xmlns:p14="http://schemas.microsoft.com/office/powerpoint/2010/main" val="3958517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2584D-B286-D1B8-9980-81B15A05A0B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9E5B24C-6C41-7A13-63BB-19D6E23BAE7F}"/>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D836B539-F1E8-2D5D-8ED0-C4E1E1F5A956}"/>
              </a:ext>
            </a:extLst>
          </p:cNvPr>
          <p:cNvSpPr>
            <a:spLocks noGrp="1"/>
          </p:cNvSpPr>
          <p:nvPr>
            <p:ph type="body" sz="quarter" idx="10"/>
          </p:nvPr>
        </p:nvSpPr>
        <p:spPr/>
        <p:txBody>
          <a:bodyPr/>
          <a:lstStyle/>
          <a:p>
            <a:r>
              <a:rPr lang="ja-JP" altLang="en-US" dirty="0"/>
              <a:t>某</a:t>
            </a:r>
            <a:r>
              <a:rPr lang="en-US" altLang="ja-JP" dirty="0"/>
              <a:t>ire</a:t>
            </a:r>
            <a:r>
              <a:rPr lang="ja-JP" altLang="en-US" dirty="0"/>
              <a:t>先生の授業でレジスタリネーミングのことが詳細に扱われるのは、某</a:t>
            </a:r>
            <a:r>
              <a:rPr lang="en-US" altLang="ja-JP" dirty="0"/>
              <a:t>STRAIGHT</a:t>
            </a:r>
            <a:r>
              <a:rPr lang="ja-JP" altLang="en-US" dirty="0"/>
              <a:t>アーキテクチャが関係してそうだなーと思うなどしました</a:t>
            </a:r>
            <a:endParaRPr lang="en-US" dirty="0"/>
          </a:p>
        </p:txBody>
      </p:sp>
    </p:spTree>
    <p:extLst>
      <p:ext uri="{BB962C8B-B14F-4D97-AF65-F5344CB8AC3E}">
        <p14:creationId xmlns:p14="http://schemas.microsoft.com/office/powerpoint/2010/main" val="11104898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0F103-D05E-2305-63A9-437135D3B00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35A097-923D-0EC5-6380-60F93F289C24}"/>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F20F2B1C-E1FA-11FE-E1EF-E740E6CE4600}"/>
              </a:ext>
            </a:extLst>
          </p:cNvPr>
          <p:cNvSpPr>
            <a:spLocks noGrp="1"/>
          </p:cNvSpPr>
          <p:nvPr>
            <p:ph type="body" sz="quarter" idx="10"/>
          </p:nvPr>
        </p:nvSpPr>
        <p:spPr/>
        <p:txBody>
          <a:bodyPr/>
          <a:lstStyle/>
          <a:p>
            <a:r>
              <a:rPr lang="ja-JP" altLang="en-US" dirty="0"/>
              <a:t>自分で過去に</a:t>
            </a:r>
            <a:r>
              <a:rPr lang="en-US" altLang="ja-JP" dirty="0" err="1"/>
              <a:t>OoO</a:t>
            </a:r>
            <a:r>
              <a:rPr lang="ja-JP" altLang="en-US" dirty="0"/>
              <a:t>を作ろうとして</a:t>
            </a:r>
            <a:r>
              <a:rPr lang="en-US" altLang="ja-JP" dirty="0"/>
              <a:t>(</a:t>
            </a:r>
            <a:r>
              <a:rPr lang="ja-JP" altLang="en-US" dirty="0"/>
              <a:t>挫折した</a:t>
            </a:r>
            <a:r>
              <a:rPr lang="en-US" altLang="ja-JP" dirty="0"/>
              <a:t>)</a:t>
            </a:r>
            <a:r>
              <a:rPr lang="ja-JP" altLang="en-US" dirty="0"/>
              <a:t>思ったのが、こういうのをコンパイラ側がなんで気をきかせてくれないのだろうか、というのがあります。ちょっと考えてみても何故かわからなかったので是非ご教授いただければと</a:t>
            </a:r>
            <a:endParaRPr lang="en-US" dirty="0"/>
          </a:p>
        </p:txBody>
      </p:sp>
    </p:spTree>
    <p:extLst>
      <p:ext uri="{BB962C8B-B14F-4D97-AF65-F5344CB8AC3E}">
        <p14:creationId xmlns:p14="http://schemas.microsoft.com/office/powerpoint/2010/main" val="31180387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67CF0-E8D3-C68E-D3F6-7DDAF00B56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F244BF-2F5C-FFE9-E0B0-977C408E08E2}"/>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A849A378-6746-A64A-9B72-FF758C390A30}"/>
              </a:ext>
            </a:extLst>
          </p:cNvPr>
          <p:cNvSpPr>
            <a:spLocks noGrp="1"/>
          </p:cNvSpPr>
          <p:nvPr>
            <p:ph type="body" sz="quarter" idx="10"/>
          </p:nvPr>
        </p:nvSpPr>
        <p:spPr/>
        <p:txBody>
          <a:bodyPr/>
          <a:lstStyle/>
          <a:p>
            <a:r>
              <a:rPr lang="ja-JP" altLang="en-US" dirty="0"/>
              <a:t>実装だけを考えるとフロントエンドとバックエンドの両方をいじるトマスロ方式よりも物理レジスタ方式の方が、発想的にも自然で実装しやすいのかなと思いました。それでもトマスロ方式が出てきた発想の原点や、動機がわかるのであれば知りたいです。</a:t>
            </a:r>
            <a:endParaRPr lang="en-US" dirty="0"/>
          </a:p>
        </p:txBody>
      </p:sp>
    </p:spTree>
    <p:extLst>
      <p:ext uri="{BB962C8B-B14F-4D97-AF65-F5344CB8AC3E}">
        <p14:creationId xmlns:p14="http://schemas.microsoft.com/office/powerpoint/2010/main" val="15936890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F8A61-5607-C2F5-0159-06B9DCCBDC6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2D7E53B-71C5-A1E2-263A-8825EC749AF1}"/>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40D4A1B9-381F-E87E-FFD4-48BD1D74E3A3}"/>
              </a:ext>
            </a:extLst>
          </p:cNvPr>
          <p:cNvSpPr>
            <a:spLocks noGrp="1"/>
          </p:cNvSpPr>
          <p:nvPr>
            <p:ph type="body" sz="quarter" idx="10"/>
          </p:nvPr>
        </p:nvSpPr>
        <p:spPr/>
        <p:txBody>
          <a:bodyPr/>
          <a:lstStyle/>
          <a:p>
            <a:r>
              <a:rPr lang="ja-JP" altLang="en-US" dirty="0"/>
              <a:t>余談ですが、</a:t>
            </a:r>
            <a:r>
              <a:rPr lang="en-US" altLang="ja-JP" dirty="0"/>
              <a:t>Matrix  Reloaded</a:t>
            </a:r>
            <a:r>
              <a:rPr lang="ja-JP" altLang="en-US" dirty="0"/>
              <a:t>オマージュで論文名をつけるなど、自分も自由に楽しんでインパクトを残した命名をしてみたいと思いました。名前を背負う分、内容への責任や充実度が大切にはなると思いますが。</a:t>
            </a:r>
            <a:endParaRPr lang="en-US" dirty="0"/>
          </a:p>
        </p:txBody>
      </p:sp>
    </p:spTree>
    <p:extLst>
      <p:ext uri="{BB962C8B-B14F-4D97-AF65-F5344CB8AC3E}">
        <p14:creationId xmlns:p14="http://schemas.microsoft.com/office/powerpoint/2010/main" val="38064319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7B3CE-3826-DC8D-FF3B-E0519FF4DC1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BFCB663-7276-407D-773F-E328D5B37A22}"/>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4A1FAC82-775C-B4AE-D22E-E58FD49C4C4C}"/>
              </a:ext>
            </a:extLst>
          </p:cNvPr>
          <p:cNvSpPr>
            <a:spLocks noGrp="1"/>
          </p:cNvSpPr>
          <p:nvPr>
            <p:ph type="body" sz="quarter" idx="10"/>
          </p:nvPr>
        </p:nvSpPr>
        <p:spPr/>
        <p:txBody>
          <a:bodyPr/>
          <a:lstStyle/>
          <a:p>
            <a:r>
              <a:rPr lang="en-US" altLang="ja-JP" dirty="0"/>
              <a:t>CUDA</a:t>
            </a:r>
            <a:r>
              <a:rPr lang="ja-JP" altLang="en-US" dirty="0"/>
              <a:t>を書いてると</a:t>
            </a:r>
            <a:r>
              <a:rPr lang="en-US" altLang="ja-JP" dirty="0"/>
              <a:t>GPU</a:t>
            </a:r>
            <a:r>
              <a:rPr lang="ja-JP" altLang="en-US" dirty="0"/>
              <a:t>が</a:t>
            </a:r>
            <a:r>
              <a:rPr lang="en-US" altLang="ja-JP" dirty="0"/>
              <a:t>Weakly Ordered Memory Model</a:t>
            </a:r>
            <a:r>
              <a:rPr lang="ja-JP" altLang="en-US" dirty="0"/>
              <a:t>であることに苦しんだりしているのですが，メモリオーダリングの制約の云々は</a:t>
            </a:r>
            <a:r>
              <a:rPr lang="en-US" altLang="ja-JP" dirty="0"/>
              <a:t>out of order</a:t>
            </a:r>
            <a:r>
              <a:rPr lang="ja-JP" altLang="en-US" dirty="0"/>
              <a:t>実行から生じるものという理解でよいのでしょうか。</a:t>
            </a:r>
          </a:p>
          <a:p>
            <a:endParaRPr lang="en-US" dirty="0"/>
          </a:p>
        </p:txBody>
      </p:sp>
    </p:spTree>
    <p:extLst>
      <p:ext uri="{BB962C8B-B14F-4D97-AF65-F5344CB8AC3E}">
        <p14:creationId xmlns:p14="http://schemas.microsoft.com/office/powerpoint/2010/main" val="26473170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B74D2-5473-7AE8-909E-CD683E01377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AAAF25C-8DDC-5B74-BFCC-C8FF724D7B27}"/>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E13E16AC-F7AA-9160-99C3-7A05C6157727}"/>
              </a:ext>
            </a:extLst>
          </p:cNvPr>
          <p:cNvSpPr>
            <a:spLocks noGrp="1"/>
          </p:cNvSpPr>
          <p:nvPr>
            <p:ph type="body" sz="quarter" idx="10"/>
          </p:nvPr>
        </p:nvSpPr>
        <p:spPr/>
        <p:txBody>
          <a:bodyPr/>
          <a:lstStyle/>
          <a:p>
            <a:r>
              <a:rPr lang="en-US" altLang="ja-JP" dirty="0"/>
              <a:t>1) </a:t>
            </a:r>
            <a:r>
              <a:rPr lang="ja-JP" altLang="en-US" dirty="0"/>
              <a:t>マトリクス・スケジューラにおいて、行ではなく列がアサートされることには何か意図があるのでしょうか？</a:t>
            </a:r>
            <a:r>
              <a:rPr lang="en-US" altLang="ja-JP" dirty="0"/>
              <a:t>DRAM</a:t>
            </a:r>
            <a:r>
              <a:rPr lang="ja-JP" altLang="en-US" dirty="0"/>
              <a:t>では行と列の関係が逆だったため、気になりました。</a:t>
            </a:r>
            <a:endParaRPr lang="en-US" altLang="ja-JP" dirty="0"/>
          </a:p>
          <a:p>
            <a:r>
              <a:rPr lang="en-US" altLang="ja-JP" dirty="0"/>
              <a:t>2) </a:t>
            </a:r>
            <a:r>
              <a:rPr lang="ja-JP" altLang="en-US" dirty="0"/>
              <a:t>また、理解の必要が低いのだとは思いますが、個人的にはトマスロ方式の話題が全体的にわかりにくかったです。</a:t>
            </a:r>
            <a:endParaRPr lang="en-US" dirty="0"/>
          </a:p>
        </p:txBody>
      </p:sp>
    </p:spTree>
    <p:extLst>
      <p:ext uri="{BB962C8B-B14F-4D97-AF65-F5344CB8AC3E}">
        <p14:creationId xmlns:p14="http://schemas.microsoft.com/office/powerpoint/2010/main" val="17064977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55941-B139-C087-4976-755E49D19BE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543532C-66B8-B255-36DF-8544C56E9C60}"/>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3497686A-844A-3F1E-B0C1-38AC7801FEFD}"/>
              </a:ext>
            </a:extLst>
          </p:cNvPr>
          <p:cNvSpPr>
            <a:spLocks noGrp="1"/>
          </p:cNvSpPr>
          <p:nvPr>
            <p:ph type="body" sz="quarter" idx="10"/>
          </p:nvPr>
        </p:nvSpPr>
        <p:spPr/>
        <p:txBody>
          <a:bodyPr/>
          <a:lstStyle/>
          <a:p>
            <a:r>
              <a:rPr lang="ja-JP" altLang="en-US" dirty="0"/>
              <a:t>論理レジスタの数が足りているのかの議論ってあるんでしょうか</a:t>
            </a:r>
          </a:p>
          <a:p>
            <a:endParaRPr lang="en-US" dirty="0"/>
          </a:p>
        </p:txBody>
      </p:sp>
    </p:spTree>
    <p:extLst>
      <p:ext uri="{BB962C8B-B14F-4D97-AF65-F5344CB8AC3E}">
        <p14:creationId xmlns:p14="http://schemas.microsoft.com/office/powerpoint/2010/main" val="42630033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690EA-9F8F-7562-AD26-261ED3306A1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A7A050D-A5A8-B0C2-D4AE-F2A124FD8456}"/>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1207ED84-0D18-ECD9-76C9-858A1456BE0D}"/>
              </a:ext>
            </a:extLst>
          </p:cNvPr>
          <p:cNvSpPr>
            <a:spLocks noGrp="1"/>
          </p:cNvSpPr>
          <p:nvPr>
            <p:ph type="body" sz="quarter" idx="10"/>
          </p:nvPr>
        </p:nvSpPr>
        <p:spPr/>
        <p:txBody>
          <a:bodyPr/>
          <a:lstStyle/>
          <a:p>
            <a:r>
              <a:rPr lang="ja-JP" altLang="en-US" dirty="0"/>
              <a:t>動的スケジューリングは、どの程度の命令数先まで見ながら実行順序を決定しているのでしょうか。また、動的スケジューリングによってハードウェアが複雑になると思うのですが、性能向上とのトレードオフはどのように評価されていますか。</a:t>
            </a:r>
            <a:endParaRPr lang="en-US" dirty="0"/>
          </a:p>
        </p:txBody>
      </p:sp>
    </p:spTree>
    <p:extLst>
      <p:ext uri="{BB962C8B-B14F-4D97-AF65-F5344CB8AC3E}">
        <p14:creationId xmlns:p14="http://schemas.microsoft.com/office/powerpoint/2010/main" val="41669572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C7DB7-1FF3-E620-9870-F60EC7CABD7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F60B9BB-7B5D-C670-B3A5-7B2FFED492A7}"/>
              </a:ext>
            </a:extLst>
          </p:cNvPr>
          <p:cNvSpPr>
            <a:spLocks noGrp="1"/>
          </p:cNvSpPr>
          <p:nvPr>
            <p:ph type="title"/>
          </p:nvPr>
        </p:nvSpPr>
        <p:spPr>
          <a:xfrm>
            <a:off x="1955954" y="0"/>
            <a:ext cx="8712046" cy="908972"/>
          </a:xfrm>
        </p:spPr>
        <p:txBody>
          <a:bodyPr/>
          <a:lstStyle/>
          <a:p>
            <a:r>
              <a:rPr lang="ja-JP" altLang="en-US" dirty="0"/>
              <a:t>質問と感想</a:t>
            </a:r>
          </a:p>
        </p:txBody>
      </p:sp>
      <p:sp>
        <p:nvSpPr>
          <p:cNvPr id="5" name="テキスト プレースホルダー 4">
            <a:extLst>
              <a:ext uri="{FF2B5EF4-FFF2-40B4-BE49-F238E27FC236}">
                <a16:creationId xmlns:a16="http://schemas.microsoft.com/office/drawing/2014/main" id="{2688B0BD-B782-60B2-C574-00841FAEE26F}"/>
              </a:ext>
            </a:extLst>
          </p:cNvPr>
          <p:cNvSpPr>
            <a:spLocks noGrp="1"/>
          </p:cNvSpPr>
          <p:nvPr>
            <p:ph type="body" sz="quarter" idx="10"/>
          </p:nvPr>
        </p:nvSpPr>
        <p:spPr/>
        <p:txBody>
          <a:bodyPr/>
          <a:lstStyle/>
          <a:p>
            <a:r>
              <a:rPr lang="en-US" dirty="0"/>
              <a:t>How long should the report be? For example, 2 pages or 400 English words or something like this.</a:t>
            </a:r>
          </a:p>
        </p:txBody>
      </p:sp>
    </p:spTree>
    <p:extLst>
      <p:ext uri="{BB962C8B-B14F-4D97-AF65-F5344CB8AC3E}">
        <p14:creationId xmlns:p14="http://schemas.microsoft.com/office/powerpoint/2010/main" val="31297903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cerulean">
  <a:themeElements>
    <a:clrScheme name="ユーザー定義 3">
      <a:dk1>
        <a:sysClr val="windowText" lastClr="000000"/>
      </a:dk1>
      <a:lt1>
        <a:sysClr val="window" lastClr="FFFFFF"/>
      </a:lt1>
      <a:dk2>
        <a:srgbClr val="F4EB00"/>
      </a:dk2>
      <a:lt2>
        <a:srgbClr val="C4FF4A"/>
      </a:lt2>
      <a:accent1>
        <a:srgbClr val="5782B5"/>
      </a:accent1>
      <a:accent2>
        <a:srgbClr val="B65A58"/>
      </a:accent2>
      <a:accent3>
        <a:srgbClr val="81945C"/>
      </a:accent3>
      <a:accent4>
        <a:srgbClr val="5C6994"/>
      </a:accent4>
      <a:accent5>
        <a:srgbClr val="4E8EA2"/>
      </a:accent5>
      <a:accent6>
        <a:srgbClr val="C77D63"/>
      </a:accent6>
      <a:hlink>
        <a:srgbClr val="3A3AC6"/>
      </a:hlink>
      <a:folHlink>
        <a:srgbClr val="631D63"/>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aco-shioya-08</Template>
  <TotalTime>64605</TotalTime>
  <Words>6696</Words>
  <Application>Microsoft Office PowerPoint</Application>
  <PresentationFormat>ワイド画面</PresentationFormat>
  <Paragraphs>1346</Paragraphs>
  <Slides>82</Slides>
  <Notes>2</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82</vt:i4>
      </vt:variant>
    </vt:vector>
  </HeadingPairs>
  <TitlesOfParts>
    <vt:vector size="92" baseType="lpstr">
      <vt:lpstr>HG丸ｺﾞｼｯｸM-PRO</vt:lpstr>
      <vt:lpstr>MeiryoKe_PGothic</vt:lpstr>
      <vt:lpstr>ＭＳ Ｐゴシック</vt:lpstr>
      <vt:lpstr>メイリオ</vt:lpstr>
      <vt:lpstr>Arial Narrow</vt:lpstr>
      <vt:lpstr>Calibri</vt:lpstr>
      <vt:lpstr>Consolas</vt:lpstr>
      <vt:lpstr>Segoe UI</vt:lpstr>
      <vt:lpstr>Wingdings</vt:lpstr>
      <vt:lpstr>cerulean</vt:lpstr>
      <vt:lpstr>先進計算機構成論 10</vt:lpstr>
      <vt:lpstr>前回の内容</vt:lpstr>
      <vt:lpstr>今回の内容</vt:lpstr>
      <vt:lpstr>前回までの動的スケジューリングの説明</vt:lpstr>
      <vt:lpstr>レジスタ・リネーム（復習）</vt:lpstr>
      <vt:lpstr>レジスタ・リネーム（復習）</vt:lpstr>
      <vt:lpstr>out-of-order 発行を行う CPU の構造（復習）</vt:lpstr>
      <vt:lpstr>大ざっぱな動作（復習）</vt:lpstr>
      <vt:lpstr>今回の内容</vt:lpstr>
      <vt:lpstr>例外</vt:lpstr>
      <vt:lpstr>ソフトウェア例外とハードウェア例外</vt:lpstr>
      <vt:lpstr>例外ハンドラ：</vt:lpstr>
      <vt:lpstr>例外ハンドラ：</vt:lpstr>
      <vt:lpstr>例外の例１ （注：実際の RISC-V ではゼロ除算例外は存在しない）</vt:lpstr>
      <vt:lpstr>例外の例２</vt:lpstr>
      <vt:lpstr>例外の例３</vt:lpstr>
      <vt:lpstr>例外への対応：単純なパイプラインの場合</vt:lpstr>
      <vt:lpstr>in-order 発行/out-of-order 完了の場合</vt:lpstr>
      <vt:lpstr>in-order 発行/out-of-order 完了の場合</vt:lpstr>
      <vt:lpstr>out-of-order 発行/out-of-order 完了の場合</vt:lpstr>
      <vt:lpstr>リオーダ・バッファ（ROB: re-order buffer）</vt:lpstr>
      <vt:lpstr>ROB の中身</vt:lpstr>
      <vt:lpstr>ROB の動作（１）</vt:lpstr>
      <vt:lpstr>ROB の動作（２）</vt:lpstr>
      <vt:lpstr>ROB の動作（３）</vt:lpstr>
      <vt:lpstr>ROB の動作（４）</vt:lpstr>
      <vt:lpstr>ROB の動作（５）</vt:lpstr>
      <vt:lpstr>ROB の動作（５）</vt:lpstr>
      <vt:lpstr>ROB の動作（６）</vt:lpstr>
      <vt:lpstr>分岐予測ミスへの対処</vt:lpstr>
      <vt:lpstr>ROB のまとめ</vt:lpstr>
      <vt:lpstr>今回の内容</vt:lpstr>
      <vt:lpstr>ロード・ストアへの対応</vt:lpstr>
      <vt:lpstr>実行結果がおかしくなる例</vt:lpstr>
      <vt:lpstr>実行結果がおかしくなる例</vt:lpstr>
      <vt:lpstr>ロード・ストア・キュー（LSQ: Load Store Queue）</vt:lpstr>
      <vt:lpstr>LSQ の役割</vt:lpstr>
      <vt:lpstr>LSQ の内容</vt:lpstr>
      <vt:lpstr>LSQ の動作</vt:lpstr>
      <vt:lpstr>動作例を使った説明</vt:lpstr>
      <vt:lpstr>ストアの整列（１）</vt:lpstr>
      <vt:lpstr>ストアの整列（２）</vt:lpstr>
      <vt:lpstr>ストアの整列（３）</vt:lpstr>
      <vt:lpstr>ストアの整列（４）</vt:lpstr>
      <vt:lpstr>動作例を使った説明</vt:lpstr>
      <vt:lpstr>順序違反の検出（１）</vt:lpstr>
      <vt:lpstr>順序違反の検出（２）</vt:lpstr>
      <vt:lpstr>順序違反の検出（３）</vt:lpstr>
      <vt:lpstr>実行結果がおかしくなる例の解決（１）</vt:lpstr>
      <vt:lpstr>実行結果がおかしくなる例の解決（２）</vt:lpstr>
      <vt:lpstr>実行結果がおかしくなる例の解決（３）</vt:lpstr>
      <vt:lpstr>LSQ のまとめ</vt:lpstr>
      <vt:lpstr>メモリ依存予測</vt:lpstr>
      <vt:lpstr>投機的なロード・ストアの発行</vt:lpstr>
      <vt:lpstr>動的命令スケジューリングについての補足</vt:lpstr>
      <vt:lpstr>論理的にアクセスされないことが確定した タイミングで解放する</vt:lpstr>
      <vt:lpstr>出欠と感想</vt:lpstr>
      <vt:lpstr>出欠と感想</vt:lpstr>
      <vt:lpstr>出席</vt:lpstr>
      <vt:lpstr>質問や感想への回答</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shioya</dc:creator>
  <cp:lastModifiedBy>塩谷　亮太</cp:lastModifiedBy>
  <cp:revision>15684</cp:revision>
  <cp:lastPrinted>2014-12-10T13:40:48Z</cp:lastPrinted>
  <dcterms:created xsi:type="dcterms:W3CDTF">2014-11-17T10:53:59Z</dcterms:created>
  <dcterms:modified xsi:type="dcterms:W3CDTF">2026-07-16T01:23:33Z</dcterms:modified>
</cp:coreProperties>
</file>