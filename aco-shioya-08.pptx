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96"/>
  </p:notesMasterIdLst>
  <p:sldIdLst>
    <p:sldId id="440" r:id="rId2"/>
    <p:sldId id="518" r:id="rId3"/>
    <p:sldId id="513" r:id="rId4"/>
    <p:sldId id="517" r:id="rId5"/>
    <p:sldId id="519" r:id="rId6"/>
    <p:sldId id="524" r:id="rId7"/>
    <p:sldId id="521" r:id="rId8"/>
    <p:sldId id="529" r:id="rId9"/>
    <p:sldId id="487" r:id="rId10"/>
    <p:sldId id="573" r:id="rId11"/>
    <p:sldId id="526" r:id="rId12"/>
    <p:sldId id="574" r:id="rId13"/>
    <p:sldId id="575" r:id="rId14"/>
    <p:sldId id="576" r:id="rId15"/>
    <p:sldId id="577" r:id="rId16"/>
    <p:sldId id="523" r:id="rId17"/>
    <p:sldId id="522" r:id="rId18"/>
    <p:sldId id="527" r:id="rId19"/>
    <p:sldId id="528" r:id="rId20"/>
    <p:sldId id="530" r:id="rId21"/>
    <p:sldId id="532" r:id="rId22"/>
    <p:sldId id="578" r:id="rId23"/>
    <p:sldId id="533" r:id="rId24"/>
    <p:sldId id="531" r:id="rId25"/>
    <p:sldId id="717" r:id="rId26"/>
    <p:sldId id="534" r:id="rId27"/>
    <p:sldId id="579" r:id="rId28"/>
    <p:sldId id="525" r:id="rId29"/>
    <p:sldId id="535" r:id="rId30"/>
    <p:sldId id="536" r:id="rId31"/>
    <p:sldId id="537" r:id="rId32"/>
    <p:sldId id="538" r:id="rId33"/>
    <p:sldId id="539" r:id="rId34"/>
    <p:sldId id="541" r:id="rId35"/>
    <p:sldId id="543" r:id="rId36"/>
    <p:sldId id="542" r:id="rId37"/>
    <p:sldId id="544" r:id="rId38"/>
    <p:sldId id="540" r:id="rId39"/>
    <p:sldId id="580" r:id="rId40"/>
    <p:sldId id="545" r:id="rId41"/>
    <p:sldId id="546" r:id="rId42"/>
    <p:sldId id="547" r:id="rId43"/>
    <p:sldId id="548" r:id="rId44"/>
    <p:sldId id="549" r:id="rId45"/>
    <p:sldId id="550" r:id="rId46"/>
    <p:sldId id="552" r:id="rId47"/>
    <p:sldId id="553" r:id="rId48"/>
    <p:sldId id="551" r:id="rId49"/>
    <p:sldId id="581" r:id="rId50"/>
    <p:sldId id="556" r:id="rId51"/>
    <p:sldId id="555" r:id="rId52"/>
    <p:sldId id="557" r:id="rId53"/>
    <p:sldId id="558" r:id="rId54"/>
    <p:sldId id="559" r:id="rId55"/>
    <p:sldId id="560" r:id="rId56"/>
    <p:sldId id="561" r:id="rId57"/>
    <p:sldId id="563" r:id="rId58"/>
    <p:sldId id="562" r:id="rId59"/>
    <p:sldId id="570" r:id="rId60"/>
    <p:sldId id="564" r:id="rId61"/>
    <p:sldId id="569" r:id="rId62"/>
    <p:sldId id="567" r:id="rId63"/>
    <p:sldId id="568" r:id="rId64"/>
    <p:sldId id="566" r:id="rId65"/>
    <p:sldId id="565" r:id="rId66"/>
    <p:sldId id="583" r:id="rId67"/>
    <p:sldId id="854" r:id="rId68"/>
    <p:sldId id="855" r:id="rId69"/>
    <p:sldId id="706" r:id="rId70"/>
    <p:sldId id="865" r:id="rId71"/>
    <p:sldId id="856" r:id="rId72"/>
    <p:sldId id="857" r:id="rId73"/>
    <p:sldId id="858" r:id="rId74"/>
    <p:sldId id="859" r:id="rId75"/>
    <p:sldId id="861" r:id="rId76"/>
    <p:sldId id="862" r:id="rId77"/>
    <p:sldId id="874" r:id="rId78"/>
    <p:sldId id="860" r:id="rId79"/>
    <p:sldId id="863" r:id="rId80"/>
    <p:sldId id="864" r:id="rId81"/>
    <p:sldId id="866" r:id="rId82"/>
    <p:sldId id="867" r:id="rId83"/>
    <p:sldId id="868" r:id="rId84"/>
    <p:sldId id="869" r:id="rId85"/>
    <p:sldId id="871" r:id="rId86"/>
    <p:sldId id="870" r:id="rId87"/>
    <p:sldId id="616" r:id="rId88"/>
    <p:sldId id="872" r:id="rId89"/>
    <p:sldId id="875" r:id="rId90"/>
    <p:sldId id="876" r:id="rId91"/>
    <p:sldId id="877" r:id="rId92"/>
    <p:sldId id="873" r:id="rId93"/>
    <p:sldId id="878" r:id="rId94"/>
    <p:sldId id="879" r:id="rId9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33FF"/>
    <a:srgbClr val="FF9900"/>
    <a:srgbClr val="009999"/>
    <a:srgbClr val="4E4EF6"/>
    <a:srgbClr val="006699"/>
    <a:srgbClr val="FFFFFF"/>
    <a:srgbClr val="31869D"/>
    <a:srgbClr val="4444E8"/>
    <a:srgbClr val="5555FF"/>
    <a:srgbClr val="414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00" autoAdjust="0"/>
    <p:restoredTop sz="96862" autoAdjust="0"/>
  </p:normalViewPr>
  <p:slideViewPr>
    <p:cSldViewPr>
      <p:cViewPr varScale="1">
        <p:scale>
          <a:sx n="161" d="100"/>
          <a:sy n="161" d="100"/>
        </p:scale>
        <p:origin x="360" y="88"/>
      </p:cViewPr>
      <p:guideLst>
        <p:guide orient="horz" pos="2160"/>
        <p:guide pos="3840"/>
      </p:guideLst>
    </p:cSldViewPr>
  </p:slideViewPr>
  <p:outlineViewPr>
    <p:cViewPr>
      <p:scale>
        <a:sx n="33" d="100"/>
        <a:sy n="33" d="100"/>
      </p:scale>
      <p:origin x="0" y="-22210"/>
    </p:cViewPr>
  </p:outlineViewPr>
  <p:notesTextViewPr>
    <p:cViewPr>
      <p:scale>
        <a:sx n="100" d="100"/>
        <a:sy n="100" d="100"/>
      </p:scale>
      <p:origin x="0" y="0"/>
    </p:cViewPr>
  </p:notesTextViewPr>
  <p:notesViewPr>
    <p:cSldViewPr>
      <p:cViewPr varScale="1">
        <p:scale>
          <a:sx n="65" d="100"/>
          <a:sy n="65" d="100"/>
        </p:scale>
        <p:origin x="2386" y="62"/>
      </p:cViewPr>
      <p:guideLst/>
    </p:cSldViewPr>
  </p:notes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E53D4-1A7B-4FFE-8A95-4265B045F058}" type="datetimeFigureOut">
              <a:rPr kumimoji="1" lang="ja-JP" altLang="en-US" smtClean="0"/>
              <a:t>2026/7/6</a:t>
            </a:fld>
            <a:endParaRPr kumimoji="1" lang="ja-JP" altLang="en-US"/>
          </a:p>
        </p:txBody>
      </p:sp>
      <p:sp>
        <p:nvSpPr>
          <p:cNvPr id="4" name="スライド イメージ プレースホルダー 3"/>
          <p:cNvSpPr>
            <a:spLocks noGrp="1" noRot="1" noChangeAspect="1"/>
          </p:cNvSpPr>
          <p:nvPr>
            <p:ph type="sldImg" idx="2"/>
          </p:nvPr>
        </p:nvSpPr>
        <p:spPr>
          <a:xfrm>
            <a:off x="-50800" y="161925"/>
            <a:ext cx="6959600" cy="39147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5F4D4-1F28-49A5-8AEE-E46B08553EC4}" type="slidenum">
              <a:rPr kumimoji="1" lang="ja-JP" altLang="en-US" smtClean="0"/>
              <a:t>‹#›</a:t>
            </a:fld>
            <a:endParaRPr kumimoji="1" lang="ja-JP" altLang="en-US"/>
          </a:p>
        </p:txBody>
      </p:sp>
    </p:spTree>
    <p:extLst>
      <p:ext uri="{BB962C8B-B14F-4D97-AF65-F5344CB8AC3E}">
        <p14:creationId xmlns:p14="http://schemas.microsoft.com/office/powerpoint/2010/main" val="16921233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1</a:t>
            </a:fld>
            <a:endParaRPr kumimoji="1" lang="ja-JP" altLang="en-US"/>
          </a:p>
        </p:txBody>
      </p:sp>
    </p:spTree>
    <p:extLst>
      <p:ext uri="{BB962C8B-B14F-4D97-AF65-F5344CB8AC3E}">
        <p14:creationId xmlns:p14="http://schemas.microsoft.com/office/powerpoint/2010/main" val="3548328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35943" y="278965"/>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255957" y="4149008"/>
            <a:ext cx="9600107"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sp>
        <p:nvSpPr>
          <p:cNvPr id="5" name="正方形/長方形 4"/>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6" name="直線コネクタ 5"/>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2" name="正方形/長方形 1">
            <a:extLst>
              <a:ext uri="{FF2B5EF4-FFF2-40B4-BE49-F238E27FC236}">
                <a16:creationId xmlns:a16="http://schemas.microsoft.com/office/drawing/2014/main" id="{813827C5-4275-31A2-853D-AD2CF14BBA98}"/>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3" name="直線コネクタ 2">
            <a:extLst>
              <a:ext uri="{FF2B5EF4-FFF2-40B4-BE49-F238E27FC236}">
                <a16:creationId xmlns:a16="http://schemas.microsoft.com/office/drawing/2014/main" id="{7B0AFE8A-4F74-BD8B-20D9-616B7AE7DADC}"/>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4" name="正方形/長方形 3">
            <a:extLst>
              <a:ext uri="{FF2B5EF4-FFF2-40B4-BE49-F238E27FC236}">
                <a16:creationId xmlns:a16="http://schemas.microsoft.com/office/drawing/2014/main" id="{11CAED90-8BCF-EEF7-7551-9410E8F2C2C7}"/>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7" name="直線コネクタ 6">
            <a:extLst>
              <a:ext uri="{FF2B5EF4-FFF2-40B4-BE49-F238E27FC236}">
                <a16:creationId xmlns:a16="http://schemas.microsoft.com/office/drawing/2014/main" id="{AA6324B9-77F8-EC31-6C3B-5D9B58641456}"/>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8" name="正方形/長方形 7">
            <a:extLst>
              <a:ext uri="{FF2B5EF4-FFF2-40B4-BE49-F238E27FC236}">
                <a16:creationId xmlns:a16="http://schemas.microsoft.com/office/drawing/2014/main" id="{7F3D3427-5051-5379-015F-3E42D5A44B63}"/>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9" name="直線コネクタ 8">
            <a:extLst>
              <a:ext uri="{FF2B5EF4-FFF2-40B4-BE49-F238E27FC236}">
                <a16:creationId xmlns:a16="http://schemas.microsoft.com/office/drawing/2014/main" id="{AED9C875-ACB9-9A82-3D2E-F8FE4B2ACA89}"/>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0" name="正方形/長方形 9">
            <a:extLst>
              <a:ext uri="{FF2B5EF4-FFF2-40B4-BE49-F238E27FC236}">
                <a16:creationId xmlns:a16="http://schemas.microsoft.com/office/drawing/2014/main" id="{3BFBD119-9076-BF7C-BD08-925CA913FF2C}"/>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1" name="直線コネクタ 10">
            <a:extLst>
              <a:ext uri="{FF2B5EF4-FFF2-40B4-BE49-F238E27FC236}">
                <a16:creationId xmlns:a16="http://schemas.microsoft.com/office/drawing/2014/main" id="{DD8AB707-DF2C-A333-49BD-B518A1D16921}"/>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2" name="正方形/長方形 11">
            <a:extLst>
              <a:ext uri="{FF2B5EF4-FFF2-40B4-BE49-F238E27FC236}">
                <a16:creationId xmlns:a16="http://schemas.microsoft.com/office/drawing/2014/main" id="{F35DEA87-3111-62FA-4EC7-0AD84F069EAF}"/>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3" name="直線コネクタ 12">
            <a:extLst>
              <a:ext uri="{FF2B5EF4-FFF2-40B4-BE49-F238E27FC236}">
                <a16:creationId xmlns:a16="http://schemas.microsoft.com/office/drawing/2014/main" id="{85E03A68-7ED4-41E0-532F-2B44665BCBCA}"/>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4" name="正方形/長方形 13">
            <a:extLst>
              <a:ext uri="{FF2B5EF4-FFF2-40B4-BE49-F238E27FC236}">
                <a16:creationId xmlns:a16="http://schemas.microsoft.com/office/drawing/2014/main" id="{4A24F767-FA26-C866-507F-01791519F368}"/>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5" name="直線コネクタ 14">
            <a:extLst>
              <a:ext uri="{FF2B5EF4-FFF2-40B4-BE49-F238E27FC236}">
                <a16:creationId xmlns:a16="http://schemas.microsoft.com/office/drawing/2014/main" id="{38E68845-EB2D-EE38-5889-988B24D97BDB}"/>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6" name="正方形/長方形 15">
            <a:extLst>
              <a:ext uri="{FF2B5EF4-FFF2-40B4-BE49-F238E27FC236}">
                <a16:creationId xmlns:a16="http://schemas.microsoft.com/office/drawing/2014/main" id="{47F277F3-AE92-5D11-0D1E-467B017A25A7}"/>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7" name="直線コネクタ 16">
            <a:extLst>
              <a:ext uri="{FF2B5EF4-FFF2-40B4-BE49-F238E27FC236}">
                <a16:creationId xmlns:a16="http://schemas.microsoft.com/office/drawing/2014/main" id="{2805FD21-9F7D-18C8-080F-5B5500934327}"/>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8" name="正方形/長方形 17">
            <a:extLst>
              <a:ext uri="{FF2B5EF4-FFF2-40B4-BE49-F238E27FC236}">
                <a16:creationId xmlns:a16="http://schemas.microsoft.com/office/drawing/2014/main" id="{6B4ABD85-BC66-BB01-C141-099CEF24BE5C}"/>
              </a:ext>
            </a:extLst>
          </p:cNvPr>
          <p:cNvSpPr/>
          <p:nvPr userDrawn="1"/>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9" name="直線コネクタ 18">
            <a:extLst>
              <a:ext uri="{FF2B5EF4-FFF2-40B4-BE49-F238E27FC236}">
                <a16:creationId xmlns:a16="http://schemas.microsoft.com/office/drawing/2014/main" id="{857B707E-B4ED-CD2A-AC8B-D3ED99482C8B}"/>
              </a:ext>
            </a:extLst>
          </p:cNvPr>
          <p:cNvCxnSpPr/>
          <p:nvPr userDrawn="1"/>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1088464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730097" cy="5219751"/>
          </a:xfrm>
        </p:spPr>
        <p:txBody>
          <a:bodyPr/>
          <a:lstStyle>
            <a:lvl2pPr>
              <a:buClr>
                <a:schemeClr val="accent5">
                  <a:lumMod val="60000"/>
                  <a:lumOff val="40000"/>
                </a:schemeClr>
              </a:buClr>
              <a:defRPr/>
            </a:lvl2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2" name="Rectangle 20">
            <a:extLst>
              <a:ext uri="{FF2B5EF4-FFF2-40B4-BE49-F238E27FC236}">
                <a16:creationId xmlns:a16="http://schemas.microsoft.com/office/drawing/2014/main" id="{7D04F621-C209-E75B-F5AE-4EC68827B138}"/>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3" name="Rectangle 20">
            <a:extLst>
              <a:ext uri="{FF2B5EF4-FFF2-40B4-BE49-F238E27FC236}">
                <a16:creationId xmlns:a16="http://schemas.microsoft.com/office/drawing/2014/main" id="{C404F010-FD53-825B-58ED-3AB5C6FF9F3B}"/>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4" name="Rectangle 20">
            <a:extLst>
              <a:ext uri="{FF2B5EF4-FFF2-40B4-BE49-F238E27FC236}">
                <a16:creationId xmlns:a16="http://schemas.microsoft.com/office/drawing/2014/main" id="{09277AEF-3306-EB14-319D-C9936A20E391}"/>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7" name="Rectangle 20">
            <a:extLst>
              <a:ext uri="{FF2B5EF4-FFF2-40B4-BE49-F238E27FC236}">
                <a16:creationId xmlns:a16="http://schemas.microsoft.com/office/drawing/2014/main" id="{5F8EB56A-100F-AF7A-C776-9434171D2CF6}"/>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9" name="Rectangle 20">
            <a:extLst>
              <a:ext uri="{FF2B5EF4-FFF2-40B4-BE49-F238E27FC236}">
                <a16:creationId xmlns:a16="http://schemas.microsoft.com/office/drawing/2014/main" id="{21464E23-801D-B360-03E1-8AB3FB913351}"/>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0" name="Rectangle 20">
            <a:extLst>
              <a:ext uri="{FF2B5EF4-FFF2-40B4-BE49-F238E27FC236}">
                <a16:creationId xmlns:a16="http://schemas.microsoft.com/office/drawing/2014/main" id="{81270656-CD82-6EA3-336A-BF27E9713A0A}"/>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1" name="Rectangle 20">
            <a:extLst>
              <a:ext uri="{FF2B5EF4-FFF2-40B4-BE49-F238E27FC236}">
                <a16:creationId xmlns:a16="http://schemas.microsoft.com/office/drawing/2014/main" id="{8B74BD12-FE4A-7592-F482-564B7CB45DC4}"/>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3" name="Rectangle 20">
            <a:extLst>
              <a:ext uri="{FF2B5EF4-FFF2-40B4-BE49-F238E27FC236}">
                <a16:creationId xmlns:a16="http://schemas.microsoft.com/office/drawing/2014/main" id="{4AE287FC-9A2D-646E-63FD-F371B5A6F195}"/>
              </a:ext>
            </a:extLst>
          </p:cNvPr>
          <p:cNvSpPr txBox="1">
            <a:spLocks noChangeArrowheads="1"/>
          </p:cNvSpPr>
          <p:nvPr userDrawn="1"/>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8261357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5"/>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dirty="0"/>
          </a:p>
        </p:txBody>
      </p:sp>
      <p:sp>
        <p:nvSpPr>
          <p:cNvPr id="3" name="タイトル 2"/>
          <p:cNvSpPr>
            <a:spLocks noGrp="1"/>
          </p:cNvSpPr>
          <p:nvPr>
            <p:ph type="title"/>
          </p:nvPr>
        </p:nvSpPr>
        <p:spPr>
          <a:xfrm>
            <a:off x="1325947" y="2078985"/>
            <a:ext cx="9600107" cy="990011"/>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5" name="直線コネクタ 4">
            <a:extLst>
              <a:ext uri="{FF2B5EF4-FFF2-40B4-BE49-F238E27FC236}">
                <a16:creationId xmlns:a16="http://schemas.microsoft.com/office/drawing/2014/main" id="{7A61BF30-B8F3-19FE-7662-81071F95A583}"/>
              </a:ext>
            </a:extLst>
          </p:cNvPr>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31499754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bg1"/>
                </a:solidFill>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41202534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1_セクションタイトル">
    <p:bg>
      <p:bgPr>
        <a:solidFill>
          <a:schemeClr val="bg1"/>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tx1">
                    <a:lumMod val="75000"/>
                    <a:lumOff val="25000"/>
                  </a:schemeClr>
                </a:solidFill>
              </a:defRPr>
            </a:lvl1pPr>
          </a:lstStyle>
          <a:p>
            <a:fld id="{D2D8002D-B5B0-4BAC-B1F6-782DDCCE6D9C}" type="slidenum">
              <a:rPr kumimoji="1" lang="ja-JP" altLang="en-US" smtClean="0"/>
              <a:pPr/>
              <a:t>‹#›</a:t>
            </a:fld>
            <a:endParaRPr kumimoji="1" lang="ja-JP" altLang="en-US" dirty="0"/>
          </a:p>
        </p:txBody>
      </p:sp>
    </p:spTree>
    <p:extLst>
      <p:ext uri="{BB962C8B-B14F-4D97-AF65-F5344CB8AC3E}">
        <p14:creationId xmlns:p14="http://schemas.microsoft.com/office/powerpoint/2010/main" val="1474581324"/>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2" y="1088975"/>
            <a:ext cx="10080112"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22"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
        <p:nvSpPr>
          <p:cNvPr id="6" name="正方形/長方形 5"/>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3" name="正方形/長方形 2">
            <a:extLst>
              <a:ext uri="{FF2B5EF4-FFF2-40B4-BE49-F238E27FC236}">
                <a16:creationId xmlns:a16="http://schemas.microsoft.com/office/drawing/2014/main" id="{20B7F19E-FA20-B8CB-C604-8C1C29606C6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正方形/長方形 3">
            <a:extLst>
              <a:ext uri="{FF2B5EF4-FFF2-40B4-BE49-F238E27FC236}">
                <a16:creationId xmlns:a16="http://schemas.microsoft.com/office/drawing/2014/main" id="{725FB03B-A980-D697-F9FB-906D55B002FA}"/>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5" name="正方形/長方形 4">
            <a:extLst>
              <a:ext uri="{FF2B5EF4-FFF2-40B4-BE49-F238E27FC236}">
                <a16:creationId xmlns:a16="http://schemas.microsoft.com/office/drawing/2014/main" id="{2D5F1A73-A3EB-E252-17CF-30B89F3C7AE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7" name="正方形/長方形 6">
            <a:extLst>
              <a:ext uri="{FF2B5EF4-FFF2-40B4-BE49-F238E27FC236}">
                <a16:creationId xmlns:a16="http://schemas.microsoft.com/office/drawing/2014/main" id="{95778E54-A5E7-1B8D-DD56-A347FE5638C8}"/>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8" name="正方形/長方形 7">
            <a:extLst>
              <a:ext uri="{FF2B5EF4-FFF2-40B4-BE49-F238E27FC236}">
                <a16:creationId xmlns:a16="http://schemas.microsoft.com/office/drawing/2014/main" id="{0CA006FA-2EAF-700F-1F1E-1AD9A8AD1F46}"/>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9" name="正方形/長方形 8">
            <a:extLst>
              <a:ext uri="{FF2B5EF4-FFF2-40B4-BE49-F238E27FC236}">
                <a16:creationId xmlns:a16="http://schemas.microsoft.com/office/drawing/2014/main" id="{47ED5B20-1F5A-CCD9-B341-F10DC8DB9BD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10" name="正方形/長方形 9">
            <a:extLst>
              <a:ext uri="{FF2B5EF4-FFF2-40B4-BE49-F238E27FC236}">
                <a16:creationId xmlns:a16="http://schemas.microsoft.com/office/drawing/2014/main" id="{513A4EA7-B0C7-F2FA-C2FF-AF0641317DDD}"/>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11" name="正方形/長方形 10">
            <a:extLst>
              <a:ext uri="{FF2B5EF4-FFF2-40B4-BE49-F238E27FC236}">
                <a16:creationId xmlns:a16="http://schemas.microsoft.com/office/drawing/2014/main" id="{2C3F1916-7D9A-A0C8-BED1-38D0AECBED5E}"/>
              </a:ext>
            </a:extLst>
          </p:cNvPr>
          <p:cNvSpPr/>
          <p:nvPr userDrawn="1"/>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12867063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hf hdr="0" ftr="0" dt="0"/>
  <p:txStyles>
    <p:titleStyle>
      <a:lvl1pPr algn="l" rtl="0" eaLnBrk="1" fontAlgn="base" hangingPunct="1">
        <a:spcBef>
          <a:spcPct val="0"/>
        </a:spcBef>
        <a:spcAft>
          <a:spcPct val="0"/>
        </a:spcAft>
        <a:defRPr kumimoji="1" sz="28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5">
            <a:lumMod val="60000"/>
            <a:lumOff val="40000"/>
          </a:schemeClr>
        </a:buClr>
        <a:buSzPct val="9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5">
            <a:lumMod val="60000"/>
            <a:lumOff val="40000"/>
          </a:schemeClr>
        </a:buClr>
        <a:buSzPct val="70000"/>
        <a:buFont typeface="Segoe UI" panose="020B0502040204020203" pitchFamily="34" charset="0"/>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chemeClr val="accent5">
            <a:lumMod val="60000"/>
            <a:lumOff val="40000"/>
          </a:schemeClr>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s://docs.google.com/spreadsheets/d/1KrT8f6Pt70ZnaT4Syh2rRbgFQclE0Y2F1Ph5vKptj40/edit?usp=sharing"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865953" y="1988985"/>
            <a:ext cx="8460094" cy="630007"/>
          </a:xfrm>
        </p:spPr>
        <p:txBody>
          <a:bodyPr/>
          <a:lstStyle/>
          <a:p>
            <a:r>
              <a:rPr lang="ja-JP" altLang="en-US" sz="2800" dirty="0"/>
              <a:t>先進計算機構成論 </a:t>
            </a:r>
            <a:r>
              <a:rPr lang="en-US" altLang="ja-JP" sz="2800" dirty="0"/>
              <a:t>08</a:t>
            </a:r>
            <a:endParaRPr lang="ja-JP" altLang="en-US" sz="2800" dirty="0"/>
          </a:p>
        </p:txBody>
      </p:sp>
      <p:sp>
        <p:nvSpPr>
          <p:cNvPr id="6" name="サブタイトル 2"/>
          <p:cNvSpPr txBox="1">
            <a:spLocks/>
          </p:cNvSpPr>
          <p:nvPr/>
        </p:nvSpPr>
        <p:spPr bwMode="auto">
          <a:xfrm>
            <a:off x="2405960" y="3699003"/>
            <a:ext cx="7650085" cy="5400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marL="0" indent="0" algn="r" rtl="0" eaLnBrk="1" fontAlgn="base" hangingPunct="1">
              <a:lnSpc>
                <a:spcPct val="150000"/>
              </a:lnSpc>
              <a:spcBef>
                <a:spcPts val="0"/>
              </a:spcBef>
              <a:spcAft>
                <a:spcPts val="0"/>
              </a:spcAft>
              <a:buClr>
                <a:schemeClr val="accent5"/>
              </a:buClr>
              <a:buFont typeface="Wingdings" pitchFamily="2" charset="2"/>
              <a:buNone/>
              <a:tabLst>
                <a:tab pos="2057400" algn="l"/>
              </a:tabLst>
              <a:defRPr kumimoji="1" sz="2000">
                <a:solidFill>
                  <a:schemeClr val="bg1"/>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a:lnSpc>
                <a:spcPct val="100000"/>
              </a:lnSpc>
            </a:pPr>
            <a:r>
              <a:rPr lang="ja-JP" altLang="en-US" kern="0" dirty="0"/>
              <a:t>東京大学大学院 情報理工学系研究科 創造情報学専攻</a:t>
            </a:r>
            <a:endParaRPr lang="en-US" altLang="ja-JP" kern="0" dirty="0"/>
          </a:p>
          <a:p>
            <a:pPr>
              <a:lnSpc>
                <a:spcPct val="100000"/>
              </a:lnSpc>
            </a:pPr>
            <a:r>
              <a:rPr lang="ja-JP" altLang="en-US" kern="0" dirty="0"/>
              <a:t>塩谷 亮太 </a:t>
            </a:r>
            <a:endParaRPr lang="en-US" altLang="ja-JP" kern="0" dirty="0"/>
          </a:p>
          <a:p>
            <a:pPr>
              <a:lnSpc>
                <a:spcPct val="100000"/>
              </a:lnSpc>
            </a:pPr>
            <a:r>
              <a:rPr lang="en-US" altLang="ja-JP" kern="0" dirty="0"/>
              <a:t>shioya@ci.i.u-tokyo.ac.jp</a:t>
            </a:r>
            <a:endParaRPr lang="ja-JP" altLang="en-US" kern="0" dirty="0"/>
          </a:p>
        </p:txBody>
      </p:sp>
    </p:spTree>
    <p:extLst>
      <p:ext uri="{BB962C8B-B14F-4D97-AF65-F5344CB8AC3E}">
        <p14:creationId xmlns:p14="http://schemas.microsoft.com/office/powerpoint/2010/main" val="101780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命令の並列実行の基本</a:t>
            </a:r>
            <a:endParaRPr lang="en-US" altLang="ja-JP" dirty="0"/>
          </a:p>
          <a:p>
            <a:pPr marL="457200" indent="-457200">
              <a:buFont typeface="+mj-lt"/>
              <a:buAutoNum type="arabicPeriod"/>
            </a:pPr>
            <a:r>
              <a:rPr lang="ja-JP" altLang="en-US" dirty="0"/>
              <a:t>データ依存</a:t>
            </a:r>
            <a:endParaRPr lang="en-US" altLang="ja-JP" dirty="0"/>
          </a:p>
          <a:p>
            <a:pPr marL="457200" indent="-457200">
              <a:buFont typeface="+mj-lt"/>
              <a:buAutoNum type="arabicPeriod"/>
            </a:pPr>
            <a:r>
              <a:rPr lang="ja-JP" altLang="en-US" dirty="0"/>
              <a:t>静的命令スケジューリング</a:t>
            </a:r>
            <a:endParaRPr lang="en-US" altLang="ja-JP" dirty="0"/>
          </a:p>
          <a:p>
            <a:pPr marL="457200" indent="-457200">
              <a:buFont typeface="+mj-lt"/>
              <a:buAutoNum type="arabicPeriod"/>
            </a:pPr>
            <a:r>
              <a:rPr lang="ja-JP" altLang="en-US" dirty="0"/>
              <a:t>動的命令スケジューリング</a:t>
            </a:r>
            <a:endParaRPr lang="en-US" altLang="ja-JP" dirty="0"/>
          </a:p>
        </p:txBody>
      </p:sp>
    </p:spTree>
    <p:extLst>
      <p:ext uri="{BB962C8B-B14F-4D97-AF65-F5344CB8AC3E}">
        <p14:creationId xmlns:p14="http://schemas.microsoft.com/office/powerpoint/2010/main" val="28645315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命令の並列実行</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スカラ・プロセッサ</a:t>
            </a:r>
            <a:endParaRPr lang="en-US" altLang="ja-JP" dirty="0"/>
          </a:p>
          <a:p>
            <a:pPr marL="457200" indent="-457200">
              <a:buFont typeface="+mj-lt"/>
              <a:buAutoNum type="arabicPeriod"/>
            </a:pPr>
            <a:r>
              <a:rPr lang="ja-JP" altLang="en-US" dirty="0"/>
              <a:t>スーパスカラ・プロセッサ</a:t>
            </a:r>
            <a:endParaRPr lang="en-US" altLang="ja-JP" dirty="0"/>
          </a:p>
        </p:txBody>
      </p:sp>
    </p:spTree>
    <p:extLst>
      <p:ext uri="{BB962C8B-B14F-4D97-AF65-F5344CB8AC3E}">
        <p14:creationId xmlns:p14="http://schemas.microsoft.com/office/powerpoint/2010/main" val="42908810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スカラ・プロセッサ</a:t>
            </a:r>
          </a:p>
        </p:txBody>
      </p:sp>
      <p:sp>
        <p:nvSpPr>
          <p:cNvPr id="3" name="テキスト プレースホルダー 2"/>
          <p:cNvSpPr>
            <a:spLocks noGrp="1"/>
          </p:cNvSpPr>
          <p:nvPr>
            <p:ph type="body" sz="quarter" idx="10"/>
          </p:nvPr>
        </p:nvSpPr>
        <p:spPr/>
        <p:txBody>
          <a:bodyPr/>
          <a:lstStyle/>
          <a:p>
            <a:r>
              <a:rPr kumimoji="1" lang="ja-JP" altLang="en-US" dirty="0"/>
              <a:t>１クロック・サイクルあたりに単一の命令を実行するプロセッサ</a:t>
            </a:r>
            <a:endParaRPr kumimoji="1" lang="en-US" altLang="ja-JP" dirty="0"/>
          </a:p>
          <a:p>
            <a:r>
              <a:rPr kumimoji="1" lang="ja-JP" altLang="en-US" dirty="0"/>
              <a:t>パイプライン化：</a:t>
            </a:r>
            <a:endParaRPr kumimoji="1" lang="en-US" altLang="ja-JP" dirty="0"/>
          </a:p>
          <a:p>
            <a:pPr lvl="1"/>
            <a:r>
              <a:rPr kumimoji="1" lang="ja-JP" altLang="en-US" dirty="0"/>
              <a:t>１つの命令に関わる処理を分割して，毎サイクル並列に実行</a:t>
            </a:r>
            <a:endParaRPr kumimoji="1" lang="en-US" altLang="ja-JP" dirty="0"/>
          </a:p>
          <a:p>
            <a:pPr lvl="1"/>
            <a:r>
              <a:rPr lang="ja-JP" altLang="en-US" dirty="0"/>
              <a:t>パイプライン化されると「</a:t>
            </a:r>
            <a:r>
              <a:rPr kumimoji="1" lang="ja-JP" altLang="en-US" dirty="0"/>
              <a:t>単一の命令を実行」になっていない？</a:t>
            </a:r>
            <a:endParaRPr kumimoji="1" lang="en-US" altLang="ja-JP" dirty="0"/>
          </a:p>
          <a:p>
            <a:pPr lvl="2"/>
            <a:r>
              <a:rPr kumimoji="1" lang="ja-JP" altLang="en-US" dirty="0"/>
              <a:t>１クロック・サイクルあたりでみると，単一の命令を処理</a:t>
            </a:r>
          </a:p>
        </p:txBody>
      </p:sp>
    </p:spTree>
    <p:extLst>
      <p:ext uri="{BB962C8B-B14F-4D97-AF65-F5344CB8AC3E}">
        <p14:creationId xmlns:p14="http://schemas.microsoft.com/office/powerpoint/2010/main" val="22354446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パイプライン化</a:t>
            </a:r>
            <a:endParaRPr kumimoji="1" lang="ja-JP" altLang="en-US" dirty="0"/>
          </a:p>
        </p:txBody>
      </p:sp>
      <p:grpSp>
        <p:nvGrpSpPr>
          <p:cNvPr id="5" name="グループ化 4"/>
          <p:cNvGrpSpPr/>
          <p:nvPr/>
        </p:nvGrpSpPr>
        <p:grpSpPr>
          <a:xfrm>
            <a:off x="2279864" y="1575001"/>
            <a:ext cx="2073428" cy="431940"/>
            <a:chOff x="971600" y="5445224"/>
            <a:chExt cx="7256909" cy="576064"/>
          </a:xfrm>
        </p:grpSpPr>
        <p:sp>
          <p:nvSpPr>
            <p:cNvPr id="6" name="平行四辺形 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 name="平行四辺形 6"/>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cxnSp>
        <p:nvCxnSpPr>
          <p:cNvPr id="96" name="直線矢印コネクタ 95"/>
          <p:cNvCxnSpPr/>
          <p:nvPr/>
        </p:nvCxnSpPr>
        <p:spPr bwMode="auto">
          <a:xfrm>
            <a:off x="1775952" y="1358977"/>
            <a:ext cx="8640096"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43" name="直線矢印コネクタ 142"/>
          <p:cNvCxnSpPr/>
          <p:nvPr/>
        </p:nvCxnSpPr>
        <p:spPr bwMode="auto">
          <a:xfrm>
            <a:off x="1793946" y="4221269"/>
            <a:ext cx="8622103" cy="17741"/>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1685952" y="908972"/>
            <a:ext cx="2954655" cy="369332"/>
          </a:xfrm>
          <a:prstGeom prst="rect">
            <a:avLst/>
          </a:prstGeom>
        </p:spPr>
        <p:txBody>
          <a:bodyPr wrap="none">
            <a:spAutoFit/>
          </a:bodyPr>
          <a:lstStyle/>
          <a:p>
            <a:r>
              <a:rPr lang="ja-JP" altLang="en-US" dirty="0">
                <a:solidFill>
                  <a:schemeClr val="tx1">
                    <a:lumMod val="65000"/>
                    <a:lumOff val="35000"/>
                  </a:schemeClr>
                </a:solidFill>
              </a:rPr>
              <a:t>パイプライン化しない場合</a:t>
            </a:r>
          </a:p>
        </p:txBody>
      </p:sp>
      <p:sp>
        <p:nvSpPr>
          <p:cNvPr id="153" name="正方形/長方形 152"/>
          <p:cNvSpPr/>
          <p:nvPr/>
        </p:nvSpPr>
        <p:spPr>
          <a:xfrm>
            <a:off x="1685952" y="3789004"/>
            <a:ext cx="2723823" cy="369332"/>
          </a:xfrm>
          <a:prstGeom prst="rect">
            <a:avLst/>
          </a:prstGeom>
        </p:spPr>
        <p:txBody>
          <a:bodyPr wrap="none">
            <a:spAutoFit/>
          </a:bodyPr>
          <a:lstStyle/>
          <a:p>
            <a:r>
              <a:rPr lang="ja-JP" altLang="en-US" dirty="0">
                <a:solidFill>
                  <a:schemeClr val="tx1">
                    <a:lumMod val="65000"/>
                    <a:lumOff val="35000"/>
                  </a:schemeClr>
                </a:solidFill>
              </a:rPr>
              <a:t>パイプライン化した場合</a:t>
            </a:r>
          </a:p>
        </p:txBody>
      </p:sp>
      <p:grpSp>
        <p:nvGrpSpPr>
          <p:cNvPr id="172" name="グループ化 171"/>
          <p:cNvGrpSpPr/>
          <p:nvPr/>
        </p:nvGrpSpPr>
        <p:grpSpPr>
          <a:xfrm>
            <a:off x="2369724" y="4437148"/>
            <a:ext cx="2091745" cy="360040"/>
            <a:chOff x="1832183" y="2276872"/>
            <a:chExt cx="2091745" cy="360040"/>
          </a:xfrm>
        </p:grpSpPr>
        <p:grpSp>
          <p:nvGrpSpPr>
            <p:cNvPr id="173" name="グループ化 172"/>
            <p:cNvGrpSpPr/>
            <p:nvPr/>
          </p:nvGrpSpPr>
          <p:grpSpPr>
            <a:xfrm>
              <a:off x="1832183" y="2276872"/>
              <a:ext cx="576064" cy="360040"/>
              <a:chOff x="971600" y="5445224"/>
              <a:chExt cx="7256909" cy="576064"/>
            </a:xfrm>
          </p:grpSpPr>
          <p:sp>
            <p:nvSpPr>
              <p:cNvPr id="183" name="平行四辺形 18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4" name="平行四辺形 183"/>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4" name="グループ化 173"/>
            <p:cNvGrpSpPr/>
            <p:nvPr/>
          </p:nvGrpSpPr>
          <p:grpSpPr>
            <a:xfrm>
              <a:off x="2336239" y="2276872"/>
              <a:ext cx="571610" cy="360040"/>
              <a:chOff x="683976" y="5445224"/>
              <a:chExt cx="7200800" cy="576064"/>
            </a:xfrm>
          </p:grpSpPr>
          <p:sp>
            <p:nvSpPr>
              <p:cNvPr id="181" name="平行四辺形 180"/>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2" name="平行四辺形 181"/>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5" name="グループ化 174"/>
            <p:cNvGrpSpPr/>
            <p:nvPr/>
          </p:nvGrpSpPr>
          <p:grpSpPr>
            <a:xfrm>
              <a:off x="2840295" y="2276872"/>
              <a:ext cx="571610" cy="360040"/>
              <a:chOff x="396352" y="5445224"/>
              <a:chExt cx="7200800" cy="576064"/>
            </a:xfrm>
          </p:grpSpPr>
          <p:sp>
            <p:nvSpPr>
              <p:cNvPr id="179" name="平行四辺形 178"/>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0" name="平行四辺形 179"/>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6" name="グループ化 175"/>
            <p:cNvGrpSpPr/>
            <p:nvPr/>
          </p:nvGrpSpPr>
          <p:grpSpPr>
            <a:xfrm>
              <a:off x="3344351" y="2276872"/>
              <a:ext cx="579577" cy="360040"/>
              <a:chOff x="120602" y="5445224"/>
              <a:chExt cx="7200800" cy="576064"/>
            </a:xfrm>
          </p:grpSpPr>
          <p:sp>
            <p:nvSpPr>
              <p:cNvPr id="177" name="平行四辺形 176"/>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78" name="平行四辺形 177"/>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185" name="グループ化 184"/>
          <p:cNvGrpSpPr/>
          <p:nvPr/>
        </p:nvGrpSpPr>
        <p:grpSpPr>
          <a:xfrm>
            <a:off x="2856253" y="5067155"/>
            <a:ext cx="2091745" cy="360040"/>
            <a:chOff x="1832183" y="2276872"/>
            <a:chExt cx="2091745" cy="360040"/>
          </a:xfrm>
        </p:grpSpPr>
        <p:grpSp>
          <p:nvGrpSpPr>
            <p:cNvPr id="186" name="グループ化 185"/>
            <p:cNvGrpSpPr/>
            <p:nvPr/>
          </p:nvGrpSpPr>
          <p:grpSpPr>
            <a:xfrm>
              <a:off x="1832183" y="2276872"/>
              <a:ext cx="576064" cy="360040"/>
              <a:chOff x="971600" y="5445224"/>
              <a:chExt cx="7256909" cy="576064"/>
            </a:xfrm>
          </p:grpSpPr>
          <p:sp>
            <p:nvSpPr>
              <p:cNvPr id="196" name="平行四辺形 19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7" name="平行四辺形 196"/>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7" name="グループ化 186"/>
            <p:cNvGrpSpPr/>
            <p:nvPr/>
          </p:nvGrpSpPr>
          <p:grpSpPr>
            <a:xfrm>
              <a:off x="2336239" y="2276872"/>
              <a:ext cx="571610" cy="360040"/>
              <a:chOff x="683976" y="5445224"/>
              <a:chExt cx="7200800" cy="576064"/>
            </a:xfrm>
          </p:grpSpPr>
          <p:sp>
            <p:nvSpPr>
              <p:cNvPr id="194" name="平行四辺形 193"/>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5" name="平行四辺形 194"/>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8" name="グループ化 187"/>
            <p:cNvGrpSpPr/>
            <p:nvPr/>
          </p:nvGrpSpPr>
          <p:grpSpPr>
            <a:xfrm>
              <a:off x="2840295" y="2276872"/>
              <a:ext cx="571610" cy="360040"/>
              <a:chOff x="396352" y="5445224"/>
              <a:chExt cx="7200800" cy="576064"/>
            </a:xfrm>
          </p:grpSpPr>
          <p:sp>
            <p:nvSpPr>
              <p:cNvPr id="192" name="平行四辺形 191"/>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3" name="平行四辺形 192"/>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9" name="グループ化 188"/>
            <p:cNvGrpSpPr/>
            <p:nvPr/>
          </p:nvGrpSpPr>
          <p:grpSpPr>
            <a:xfrm>
              <a:off x="3344351" y="2276872"/>
              <a:ext cx="579577" cy="360040"/>
              <a:chOff x="120602" y="5445224"/>
              <a:chExt cx="7200800" cy="576064"/>
            </a:xfrm>
          </p:grpSpPr>
          <p:sp>
            <p:nvSpPr>
              <p:cNvPr id="190" name="平行四辺形 189"/>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1" name="平行四辺形 190"/>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198" name="グループ化 197"/>
          <p:cNvGrpSpPr/>
          <p:nvPr/>
        </p:nvGrpSpPr>
        <p:grpSpPr>
          <a:xfrm>
            <a:off x="3374249" y="5697162"/>
            <a:ext cx="2091745" cy="360040"/>
            <a:chOff x="1832183" y="2276872"/>
            <a:chExt cx="2091745" cy="360040"/>
          </a:xfrm>
        </p:grpSpPr>
        <p:grpSp>
          <p:nvGrpSpPr>
            <p:cNvPr id="199" name="グループ化 198"/>
            <p:cNvGrpSpPr/>
            <p:nvPr/>
          </p:nvGrpSpPr>
          <p:grpSpPr>
            <a:xfrm>
              <a:off x="1832183" y="2276872"/>
              <a:ext cx="576064" cy="360040"/>
              <a:chOff x="971600" y="5445224"/>
              <a:chExt cx="7256909" cy="576064"/>
            </a:xfrm>
          </p:grpSpPr>
          <p:sp>
            <p:nvSpPr>
              <p:cNvPr id="209" name="平行四辺形 20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10" name="平行四辺形 209"/>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0" name="グループ化 199"/>
            <p:cNvGrpSpPr/>
            <p:nvPr/>
          </p:nvGrpSpPr>
          <p:grpSpPr>
            <a:xfrm>
              <a:off x="2336239" y="2276872"/>
              <a:ext cx="571610" cy="360040"/>
              <a:chOff x="683976" y="5445224"/>
              <a:chExt cx="7200800" cy="576064"/>
            </a:xfrm>
          </p:grpSpPr>
          <p:sp>
            <p:nvSpPr>
              <p:cNvPr id="207" name="平行四辺形 206"/>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8" name="平行四辺形 207"/>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1" name="グループ化 200"/>
            <p:cNvGrpSpPr/>
            <p:nvPr/>
          </p:nvGrpSpPr>
          <p:grpSpPr>
            <a:xfrm>
              <a:off x="2840295" y="2276872"/>
              <a:ext cx="571610" cy="360040"/>
              <a:chOff x="396352" y="5445224"/>
              <a:chExt cx="7200800" cy="576064"/>
            </a:xfrm>
          </p:grpSpPr>
          <p:sp>
            <p:nvSpPr>
              <p:cNvPr id="205" name="平行四辺形 204"/>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6" name="平行四辺形 205"/>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2" name="グループ化 201"/>
            <p:cNvGrpSpPr/>
            <p:nvPr/>
          </p:nvGrpSpPr>
          <p:grpSpPr>
            <a:xfrm>
              <a:off x="3344351" y="2276872"/>
              <a:ext cx="579577" cy="360040"/>
              <a:chOff x="120602" y="5445224"/>
              <a:chExt cx="7200800" cy="576064"/>
            </a:xfrm>
          </p:grpSpPr>
          <p:sp>
            <p:nvSpPr>
              <p:cNvPr id="203" name="平行四辺形 202"/>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4" name="平行四辺形 203"/>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97" name="グループ化 96"/>
          <p:cNvGrpSpPr/>
          <p:nvPr/>
        </p:nvGrpSpPr>
        <p:grpSpPr>
          <a:xfrm>
            <a:off x="4079884" y="2186943"/>
            <a:ext cx="2073428" cy="431940"/>
            <a:chOff x="971600" y="5445224"/>
            <a:chExt cx="7256909" cy="576064"/>
          </a:xfrm>
        </p:grpSpPr>
        <p:sp>
          <p:nvSpPr>
            <p:cNvPr id="101" name="平行四辺形 10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2" name="平行四辺形 101"/>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3" name="グループ化 102"/>
          <p:cNvGrpSpPr/>
          <p:nvPr/>
        </p:nvGrpSpPr>
        <p:grpSpPr>
          <a:xfrm>
            <a:off x="5969905" y="2906951"/>
            <a:ext cx="2073428" cy="431940"/>
            <a:chOff x="971600" y="5445224"/>
            <a:chExt cx="7256909" cy="576064"/>
          </a:xfrm>
        </p:grpSpPr>
        <p:sp>
          <p:nvSpPr>
            <p:cNvPr id="104" name="平行四辺形 10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5" name="平行四辺形 104"/>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68" name="グループ化 67"/>
          <p:cNvGrpSpPr/>
          <p:nvPr/>
        </p:nvGrpSpPr>
        <p:grpSpPr>
          <a:xfrm>
            <a:off x="7986021" y="3429000"/>
            <a:ext cx="2073428" cy="431940"/>
            <a:chOff x="971600" y="5445224"/>
            <a:chExt cx="7256909" cy="576064"/>
          </a:xfrm>
        </p:grpSpPr>
        <p:sp>
          <p:nvSpPr>
            <p:cNvPr id="69" name="平行四辺形 6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0" name="平行四辺形 69"/>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71" name="正方形/長方形 70"/>
          <p:cNvSpPr/>
          <p:nvPr/>
        </p:nvSpPr>
        <p:spPr>
          <a:xfrm>
            <a:off x="9192129" y="269103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grpSp>
        <p:nvGrpSpPr>
          <p:cNvPr id="73" name="グループ化 72"/>
          <p:cNvGrpSpPr/>
          <p:nvPr/>
        </p:nvGrpSpPr>
        <p:grpSpPr>
          <a:xfrm>
            <a:off x="3845976" y="6308996"/>
            <a:ext cx="2091745" cy="360040"/>
            <a:chOff x="1832183" y="2276872"/>
            <a:chExt cx="2091745" cy="360040"/>
          </a:xfrm>
        </p:grpSpPr>
        <p:grpSp>
          <p:nvGrpSpPr>
            <p:cNvPr id="74" name="グループ化 73"/>
            <p:cNvGrpSpPr/>
            <p:nvPr/>
          </p:nvGrpSpPr>
          <p:grpSpPr>
            <a:xfrm>
              <a:off x="1832183" y="2276872"/>
              <a:ext cx="576064" cy="360040"/>
              <a:chOff x="971600" y="5445224"/>
              <a:chExt cx="7256909" cy="576064"/>
            </a:xfrm>
          </p:grpSpPr>
          <p:sp>
            <p:nvSpPr>
              <p:cNvPr id="84" name="平行四辺形 8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5" name="平行四辺形 84"/>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5" name="グループ化 74"/>
            <p:cNvGrpSpPr/>
            <p:nvPr/>
          </p:nvGrpSpPr>
          <p:grpSpPr>
            <a:xfrm>
              <a:off x="2336239" y="2276872"/>
              <a:ext cx="571610" cy="360040"/>
              <a:chOff x="683976" y="5445224"/>
              <a:chExt cx="7200800" cy="576064"/>
            </a:xfrm>
          </p:grpSpPr>
          <p:sp>
            <p:nvSpPr>
              <p:cNvPr id="82" name="平行四辺形 81"/>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3" name="平行四辺形 82"/>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6" name="グループ化 75"/>
            <p:cNvGrpSpPr/>
            <p:nvPr/>
          </p:nvGrpSpPr>
          <p:grpSpPr>
            <a:xfrm>
              <a:off x="2840295" y="2276872"/>
              <a:ext cx="571610" cy="360040"/>
              <a:chOff x="396352" y="5445224"/>
              <a:chExt cx="7200800" cy="576064"/>
            </a:xfrm>
          </p:grpSpPr>
          <p:sp>
            <p:nvSpPr>
              <p:cNvPr id="80" name="平行四辺形 79"/>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1" name="平行四辺形 80"/>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7" name="グループ化 76"/>
            <p:cNvGrpSpPr/>
            <p:nvPr/>
          </p:nvGrpSpPr>
          <p:grpSpPr>
            <a:xfrm>
              <a:off x="3344351" y="2276872"/>
              <a:ext cx="579577" cy="360040"/>
              <a:chOff x="120602" y="5445224"/>
              <a:chExt cx="7200800" cy="576064"/>
            </a:xfrm>
          </p:grpSpPr>
          <p:sp>
            <p:nvSpPr>
              <p:cNvPr id="78" name="平行四辺形 77"/>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9" name="平行四辺形 78"/>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sp>
        <p:nvSpPr>
          <p:cNvPr id="4" name="角丸四角形 3"/>
          <p:cNvSpPr/>
          <p:nvPr/>
        </p:nvSpPr>
        <p:spPr bwMode="auto">
          <a:xfrm>
            <a:off x="3845976" y="4329011"/>
            <a:ext cx="630007" cy="2430027"/>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91701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パイプライン化による性能向上の限界（復習）</a:t>
            </a:r>
            <a:endParaRPr lang="en-US" altLang="ja-JP" dirty="0"/>
          </a:p>
        </p:txBody>
      </p:sp>
      <p:sp>
        <p:nvSpPr>
          <p:cNvPr id="3" name="テキスト プレースホルダー 2"/>
          <p:cNvSpPr>
            <a:spLocks noGrp="1"/>
          </p:cNvSpPr>
          <p:nvPr>
            <p:ph type="body" sz="quarter" idx="10"/>
          </p:nvPr>
        </p:nvSpPr>
        <p:spPr>
          <a:xfrm>
            <a:off x="2135956" y="1538980"/>
            <a:ext cx="8280092" cy="2430027"/>
          </a:xfrm>
        </p:spPr>
        <p:txBody>
          <a:bodyPr/>
          <a:lstStyle/>
          <a:p>
            <a:r>
              <a:rPr kumimoji="1" lang="ja-JP" altLang="en-US" dirty="0"/>
              <a:t>パイプライン化による性能向上には限界がある</a:t>
            </a:r>
            <a:endParaRPr kumimoji="1" lang="en-US" altLang="ja-JP" dirty="0"/>
          </a:p>
          <a:p>
            <a:pPr lvl="1"/>
            <a:r>
              <a:rPr lang="ja-JP" altLang="en-US" dirty="0"/>
              <a:t>回路的な理由による周波数向上の限界</a:t>
            </a:r>
            <a:endParaRPr lang="en-US" altLang="ja-JP" dirty="0"/>
          </a:p>
          <a:p>
            <a:pPr lvl="2"/>
            <a:r>
              <a:rPr lang="en-US" altLang="ja-JP" dirty="0"/>
              <a:t>D-FF </a:t>
            </a:r>
            <a:r>
              <a:rPr lang="ja-JP" altLang="en-US" dirty="0"/>
              <a:t>の遅延</a:t>
            </a:r>
            <a:endParaRPr lang="en-US" altLang="ja-JP" dirty="0"/>
          </a:p>
          <a:p>
            <a:pPr lvl="2"/>
            <a:r>
              <a:rPr lang="ja-JP" altLang="en-US" dirty="0"/>
              <a:t>電力と熱</a:t>
            </a:r>
            <a:endParaRPr lang="en-US" altLang="ja-JP" dirty="0"/>
          </a:p>
          <a:p>
            <a:pPr lvl="1"/>
            <a:r>
              <a:rPr lang="ja-JP" altLang="en-US" dirty="0"/>
              <a:t>アーキテクチャ的な理由による実効性能の限界</a:t>
            </a:r>
            <a:endParaRPr lang="en-US" altLang="ja-JP" dirty="0"/>
          </a:p>
          <a:p>
            <a:pPr lvl="2"/>
            <a:r>
              <a:rPr lang="ja-JP" altLang="en-US" dirty="0"/>
              <a:t>バックエッジによる実効性能の低下</a:t>
            </a:r>
          </a:p>
          <a:p>
            <a:pPr lvl="2"/>
            <a:r>
              <a:rPr lang="ja-JP" altLang="en-US" dirty="0"/>
              <a:t>（命令スケジュールを行うプロセッサ固有の性能低下もある</a:t>
            </a:r>
          </a:p>
        </p:txBody>
      </p:sp>
      <p:grpSp>
        <p:nvGrpSpPr>
          <p:cNvPr id="4" name="グループ化 3"/>
          <p:cNvGrpSpPr/>
          <p:nvPr/>
        </p:nvGrpSpPr>
        <p:grpSpPr>
          <a:xfrm>
            <a:off x="2984126" y="5536263"/>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424286" y="5536263"/>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5864446" y="5536263"/>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7304606" y="5536263"/>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945966" y="477901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86126" y="4779015"/>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5828173" y="4797599"/>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7268333" y="4797599"/>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角丸四角形 35"/>
          <p:cNvSpPr/>
          <p:nvPr/>
        </p:nvSpPr>
        <p:spPr bwMode="auto">
          <a:xfrm>
            <a:off x="3395970" y="548350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命令２</a:t>
            </a:r>
          </a:p>
        </p:txBody>
      </p:sp>
      <p:sp>
        <p:nvSpPr>
          <p:cNvPr id="38" name="角丸四角形 37"/>
          <p:cNvSpPr/>
          <p:nvPr/>
        </p:nvSpPr>
        <p:spPr bwMode="auto">
          <a:xfrm>
            <a:off x="4835986" y="548350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命令１</a:t>
            </a:r>
          </a:p>
        </p:txBody>
      </p:sp>
    </p:spTree>
    <p:extLst>
      <p:ext uri="{BB962C8B-B14F-4D97-AF65-F5344CB8AC3E}">
        <p14:creationId xmlns:p14="http://schemas.microsoft.com/office/powerpoint/2010/main" val="28759615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スーパスカラ・プロセッサ（</a:t>
            </a:r>
            <a:r>
              <a:rPr lang="en-US" altLang="ja-JP" b="0" dirty="0"/>
              <a:t>Superscalar processor</a:t>
            </a:r>
            <a:r>
              <a:rPr kumimoji="1" lang="ja-JP" altLang="en-US" dirty="0"/>
              <a:t>）</a:t>
            </a:r>
          </a:p>
        </p:txBody>
      </p:sp>
      <p:sp>
        <p:nvSpPr>
          <p:cNvPr id="3" name="テキスト プレースホルダー 2"/>
          <p:cNvSpPr>
            <a:spLocks noGrp="1"/>
          </p:cNvSpPr>
          <p:nvPr>
            <p:ph type="body" sz="quarter" idx="10"/>
          </p:nvPr>
        </p:nvSpPr>
        <p:spPr>
          <a:xfrm>
            <a:off x="2135956" y="1178976"/>
            <a:ext cx="8280092" cy="1710019"/>
          </a:xfrm>
        </p:spPr>
        <p:txBody>
          <a:bodyPr/>
          <a:lstStyle/>
          <a:p>
            <a:r>
              <a:rPr kumimoji="1" lang="ja-JP" altLang="en-US" dirty="0"/>
              <a:t>スーパスカラ・プロセッサ</a:t>
            </a:r>
            <a:endParaRPr kumimoji="1" lang="en-US" altLang="ja-JP" dirty="0"/>
          </a:p>
          <a:p>
            <a:pPr lvl="1"/>
            <a:r>
              <a:rPr kumimoji="1" lang="ja-JP" altLang="en-US" dirty="0"/>
              <a:t>パイプラインや関連する演算器などを複数並べる</a:t>
            </a:r>
            <a:endParaRPr kumimoji="1" lang="en-US" altLang="ja-JP" dirty="0"/>
          </a:p>
          <a:p>
            <a:pPr lvl="1"/>
            <a:r>
              <a:rPr kumimoji="1" lang="ja-JP" altLang="en-US" dirty="0"/>
              <a:t>複数の命令を並行して処理して性能を向上</a:t>
            </a:r>
            <a:endParaRPr kumimoji="1" lang="en-US" altLang="ja-JP" dirty="0"/>
          </a:p>
        </p:txBody>
      </p:sp>
      <p:grpSp>
        <p:nvGrpSpPr>
          <p:cNvPr id="4" name="グループ化 3"/>
          <p:cNvGrpSpPr/>
          <p:nvPr/>
        </p:nvGrpSpPr>
        <p:grpSpPr>
          <a:xfrm>
            <a:off x="3845975" y="4599013"/>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5286135" y="4599013"/>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6726295" y="4599013"/>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166455" y="4599013"/>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3807815" y="384176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5247974" y="3841765"/>
            <a:ext cx="1449436"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ﾀﾉﾓｼｲ</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6690022" y="3860349"/>
            <a:ext cx="785793"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130182" y="3860349"/>
            <a:ext cx="841897"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grpSp>
        <p:nvGrpSpPr>
          <p:cNvPr id="20" name="グループ化 19"/>
          <p:cNvGrpSpPr/>
          <p:nvPr/>
        </p:nvGrpSpPr>
        <p:grpSpPr>
          <a:xfrm>
            <a:off x="3845975" y="5229020"/>
            <a:ext cx="1562400" cy="576064"/>
            <a:chOff x="971600" y="5445224"/>
            <a:chExt cx="7200800" cy="576064"/>
          </a:xfrm>
        </p:grpSpPr>
        <p:sp>
          <p:nvSpPr>
            <p:cNvPr id="21" name="平行四辺形 2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2" name="平行四辺形 2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3" name="グループ化 22"/>
          <p:cNvGrpSpPr/>
          <p:nvPr/>
        </p:nvGrpSpPr>
        <p:grpSpPr>
          <a:xfrm>
            <a:off x="5286135" y="5229020"/>
            <a:ext cx="1562400" cy="576064"/>
            <a:chOff x="971600" y="5445224"/>
            <a:chExt cx="7200800" cy="576064"/>
          </a:xfrm>
        </p:grpSpPr>
        <p:sp>
          <p:nvSpPr>
            <p:cNvPr id="24" name="平行四辺形 23"/>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6" name="グループ化 25"/>
          <p:cNvGrpSpPr/>
          <p:nvPr/>
        </p:nvGrpSpPr>
        <p:grpSpPr>
          <a:xfrm>
            <a:off x="6726295" y="5229020"/>
            <a:ext cx="1562400" cy="576064"/>
            <a:chOff x="971600" y="5445224"/>
            <a:chExt cx="7200800" cy="576064"/>
          </a:xfrm>
        </p:grpSpPr>
        <p:sp>
          <p:nvSpPr>
            <p:cNvPr id="27" name="平行四辺形 26"/>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9" name="グループ化 28"/>
          <p:cNvGrpSpPr/>
          <p:nvPr/>
        </p:nvGrpSpPr>
        <p:grpSpPr>
          <a:xfrm>
            <a:off x="8166455" y="5229020"/>
            <a:ext cx="1584176" cy="576064"/>
            <a:chOff x="971600" y="5445224"/>
            <a:chExt cx="7200800" cy="576064"/>
          </a:xfrm>
        </p:grpSpPr>
        <p:sp>
          <p:nvSpPr>
            <p:cNvPr id="30" name="平行四辺形 29"/>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1" name="平行四辺形 30"/>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2" name="正方形/長方形 31"/>
          <p:cNvSpPr/>
          <p:nvPr/>
        </p:nvSpPr>
        <p:spPr>
          <a:xfrm>
            <a:off x="3845976" y="5769026"/>
            <a:ext cx="117051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彡 ﾖﾛｰ</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3" name="正方形/長方形 32"/>
          <p:cNvSpPr/>
          <p:nvPr/>
        </p:nvSpPr>
        <p:spPr>
          <a:xfrm>
            <a:off x="5195991" y="5769026"/>
            <a:ext cx="841897"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4" name="正方形/長方形 33"/>
          <p:cNvSpPr/>
          <p:nvPr/>
        </p:nvSpPr>
        <p:spPr>
          <a:xfrm>
            <a:off x="6728183" y="5787610"/>
            <a:ext cx="785793"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az-Cyrl-AZ"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5" name="正方形/長方形 34"/>
          <p:cNvSpPr/>
          <p:nvPr/>
        </p:nvSpPr>
        <p:spPr>
          <a:xfrm>
            <a:off x="8168343" y="5787610"/>
            <a:ext cx="2037737"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ｼﾝｷ ｻｲﾖｳ ﾃﾞｽ</a:t>
            </a:r>
            <a:endPar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角丸四角形 35"/>
          <p:cNvSpPr/>
          <p:nvPr/>
        </p:nvSpPr>
        <p:spPr bwMode="auto">
          <a:xfrm>
            <a:off x="4257819" y="454625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命令３</a:t>
            </a:r>
          </a:p>
        </p:txBody>
      </p:sp>
      <p:sp>
        <p:nvSpPr>
          <p:cNvPr id="37" name="角丸四角形 36"/>
          <p:cNvSpPr/>
          <p:nvPr/>
        </p:nvSpPr>
        <p:spPr bwMode="auto">
          <a:xfrm>
            <a:off x="4257819" y="5266260"/>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命令４</a:t>
            </a:r>
          </a:p>
        </p:txBody>
      </p:sp>
      <p:sp>
        <p:nvSpPr>
          <p:cNvPr id="38" name="角丸四角形 37"/>
          <p:cNvSpPr/>
          <p:nvPr/>
        </p:nvSpPr>
        <p:spPr bwMode="auto">
          <a:xfrm>
            <a:off x="5697835" y="454625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命令１</a:t>
            </a:r>
          </a:p>
        </p:txBody>
      </p:sp>
      <p:sp>
        <p:nvSpPr>
          <p:cNvPr id="39" name="角丸四角形 38"/>
          <p:cNvSpPr/>
          <p:nvPr/>
        </p:nvSpPr>
        <p:spPr bwMode="auto">
          <a:xfrm>
            <a:off x="5697835" y="5266260"/>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命令２</a:t>
            </a:r>
          </a:p>
        </p:txBody>
      </p:sp>
      <p:sp>
        <p:nvSpPr>
          <p:cNvPr id="40" name="正方形/長方形 39">
            <a:extLst>
              <a:ext uri="{FF2B5EF4-FFF2-40B4-BE49-F238E27FC236}">
                <a16:creationId xmlns:a16="http://schemas.microsoft.com/office/drawing/2014/main" id="{5277D453-C26C-468F-AD6B-D064FCD17367}"/>
              </a:ext>
            </a:extLst>
          </p:cNvPr>
          <p:cNvSpPr/>
          <p:nvPr/>
        </p:nvSpPr>
        <p:spPr>
          <a:xfrm>
            <a:off x="1884003" y="3609003"/>
            <a:ext cx="1620018" cy="1384995"/>
          </a:xfrm>
          <a:prstGeom prst="rect">
            <a:avLst/>
          </a:prstGeom>
        </p:spPr>
        <p:txBody>
          <a:bodyPr wrap="square">
            <a:spAutoFit/>
          </a:bodyPr>
          <a:lstStyle/>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えらい人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41" name="角丸四角形吹き出し 28">
            <a:extLst>
              <a:ext uri="{FF2B5EF4-FFF2-40B4-BE49-F238E27FC236}">
                <a16:creationId xmlns:a16="http://schemas.microsoft.com/office/drawing/2014/main" id="{52E230A4-69DA-4876-85AC-0BE4187F7BE0}"/>
              </a:ext>
            </a:extLst>
          </p:cNvPr>
          <p:cNvSpPr/>
          <p:nvPr/>
        </p:nvSpPr>
        <p:spPr bwMode="auto">
          <a:xfrm>
            <a:off x="2964015" y="2978996"/>
            <a:ext cx="2321976"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Arial Narrow" panose="020B0606020202030204" pitchFamily="34" charset="0"/>
              </a:rPr>
              <a:t>今日から２ライン体制です</a:t>
            </a:r>
            <a:endParaRPr lang="en-US" altLang="ja-JP" sz="1400" dirty="0">
              <a:solidFill>
                <a:schemeClr val="tx1">
                  <a:lumMod val="75000"/>
                  <a:lumOff val="25000"/>
                </a:schemeClr>
              </a:solidFill>
              <a:latin typeface="Arial Narrow" panose="020B0606020202030204" pitchFamily="34" charset="0"/>
            </a:endParaRPr>
          </a:p>
        </p:txBody>
      </p:sp>
      <p:sp>
        <p:nvSpPr>
          <p:cNvPr id="42" name="正方形/長方形 41">
            <a:extLst>
              <a:ext uri="{FF2B5EF4-FFF2-40B4-BE49-F238E27FC236}">
                <a16:creationId xmlns:a16="http://schemas.microsoft.com/office/drawing/2014/main" id="{C64AA17E-9DAC-4C90-8BBB-A436325818B7}"/>
              </a:ext>
            </a:extLst>
          </p:cNvPr>
          <p:cNvSpPr/>
          <p:nvPr/>
        </p:nvSpPr>
        <p:spPr bwMode="auto">
          <a:xfrm>
            <a:off x="1524001" y="3465058"/>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lang="ja-JP" altLang="en-US" sz="1600" dirty="0">
              <a:solidFill>
                <a:schemeClr val="tx1">
                  <a:lumMod val="85000"/>
                  <a:lumOff val="15000"/>
                </a:schemeClr>
              </a:solidFill>
            </a:endParaRPr>
          </a:p>
        </p:txBody>
      </p:sp>
    </p:spTree>
    <p:extLst>
      <p:ext uri="{BB962C8B-B14F-4D97-AF65-F5344CB8AC3E}">
        <p14:creationId xmlns:p14="http://schemas.microsoft.com/office/powerpoint/2010/main" val="440136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単純なスーパスカラ・プロセッサの動作</a:t>
            </a:r>
          </a:p>
        </p:txBody>
      </p:sp>
      <p:sp>
        <p:nvSpPr>
          <p:cNvPr id="3" name="テキスト プレースホルダー 2"/>
          <p:cNvSpPr>
            <a:spLocks noGrp="1"/>
          </p:cNvSpPr>
          <p:nvPr>
            <p:ph type="body" sz="quarter" idx="10"/>
          </p:nvPr>
        </p:nvSpPr>
        <p:spPr>
          <a:xfrm>
            <a:off x="2135956" y="908973"/>
            <a:ext cx="8280092" cy="2430027"/>
          </a:xfrm>
        </p:spPr>
        <p:txBody>
          <a:bodyPr/>
          <a:lstStyle/>
          <a:p>
            <a:r>
              <a:rPr kumimoji="1" lang="ja-JP" altLang="en-US" dirty="0"/>
              <a:t>同時にフェッチしてきた命令間に依存がない場合は並列に実行</a:t>
            </a:r>
            <a:endParaRPr kumimoji="1" lang="en-US" altLang="ja-JP" dirty="0"/>
          </a:p>
          <a:p>
            <a:pPr lvl="1"/>
            <a:r>
              <a:rPr kumimoji="1" lang="ja-JP" altLang="en-US" dirty="0"/>
              <a:t>もし依存がある場合は，後続の命令全てを待たせて処理</a:t>
            </a:r>
            <a:endParaRPr kumimoji="1" lang="en-US" altLang="ja-JP" dirty="0"/>
          </a:p>
          <a:p>
            <a:pPr lvl="2"/>
            <a:r>
              <a:rPr kumimoji="1" lang="ja-JP" altLang="en-US" dirty="0"/>
              <a:t>パイプラインの上流側は全てストールさせる</a:t>
            </a:r>
            <a:endParaRPr kumimoji="1" lang="en-US" altLang="ja-JP" dirty="0"/>
          </a:p>
          <a:p>
            <a:pPr lvl="1"/>
            <a:r>
              <a:rPr kumimoji="1" lang="ja-JP" altLang="en-US" dirty="0"/>
              <a:t>プログラムの意味を保つため</a:t>
            </a:r>
            <a:endParaRPr kumimoji="1" lang="en-US" altLang="ja-JP" dirty="0"/>
          </a:p>
          <a:p>
            <a:pPr lvl="2"/>
            <a:r>
              <a:rPr lang="ja-JP" altLang="en-US" dirty="0">
                <a:latin typeface="Consolas" panose="020B0609020204030204" pitchFamily="49" charset="0"/>
              </a:rPr>
              <a:t>下の図だと </a:t>
            </a:r>
            <a:r>
              <a:rPr lang="en-US" altLang="ja-JP" dirty="0">
                <a:latin typeface="Consolas" panose="020B0609020204030204" pitchFamily="49" charset="0"/>
              </a:rPr>
              <a:t>I1 </a:t>
            </a:r>
            <a:r>
              <a:rPr lang="ja-JP" altLang="en-US" dirty="0">
                <a:latin typeface="Consolas" panose="020B0609020204030204" pitchFamily="49" charset="0"/>
              </a:rPr>
              <a:t>と </a:t>
            </a:r>
            <a:r>
              <a:rPr lang="en-US" altLang="ja-JP" dirty="0">
                <a:latin typeface="Consolas" panose="020B0609020204030204" pitchFamily="49" charset="0"/>
              </a:rPr>
              <a:t>I2 </a:t>
            </a:r>
            <a:r>
              <a:rPr lang="ja-JP" altLang="en-US" dirty="0">
                <a:latin typeface="Consolas" panose="020B0609020204030204" pitchFamily="49" charset="0"/>
              </a:rPr>
              <a:t>を並列に計算したらおかしくなる</a:t>
            </a:r>
            <a:endParaRPr kumimoji="1" lang="en-US" altLang="ja-JP" dirty="0">
              <a:latin typeface="Consolas" panose="020B0609020204030204" pitchFamily="49" charset="0"/>
            </a:endParaRPr>
          </a:p>
        </p:txBody>
      </p:sp>
      <p:grpSp>
        <p:nvGrpSpPr>
          <p:cNvPr id="4" name="グループ化 3"/>
          <p:cNvGrpSpPr/>
          <p:nvPr/>
        </p:nvGrpSpPr>
        <p:grpSpPr>
          <a:xfrm>
            <a:off x="2984126" y="4651774"/>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424286" y="4651774"/>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5864446" y="4651774"/>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7304606" y="4651774"/>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945966" y="3894526"/>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86126" y="3894526"/>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5828173" y="3913110"/>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7268333" y="3913110"/>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grpSp>
        <p:nvGrpSpPr>
          <p:cNvPr id="20" name="グループ化 19"/>
          <p:cNvGrpSpPr/>
          <p:nvPr/>
        </p:nvGrpSpPr>
        <p:grpSpPr>
          <a:xfrm>
            <a:off x="2984126" y="5281781"/>
            <a:ext cx="1562400" cy="576064"/>
            <a:chOff x="971600" y="5445224"/>
            <a:chExt cx="7200800" cy="576064"/>
          </a:xfrm>
        </p:grpSpPr>
        <p:sp>
          <p:nvSpPr>
            <p:cNvPr id="21" name="平行四辺形 2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2" name="平行四辺形 2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3" name="グループ化 22"/>
          <p:cNvGrpSpPr/>
          <p:nvPr/>
        </p:nvGrpSpPr>
        <p:grpSpPr>
          <a:xfrm>
            <a:off x="4424286" y="5281781"/>
            <a:ext cx="1562400" cy="576064"/>
            <a:chOff x="971600" y="5445224"/>
            <a:chExt cx="7200800" cy="576064"/>
          </a:xfrm>
        </p:grpSpPr>
        <p:sp>
          <p:nvSpPr>
            <p:cNvPr id="24" name="平行四辺形 23"/>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6" name="グループ化 25"/>
          <p:cNvGrpSpPr/>
          <p:nvPr/>
        </p:nvGrpSpPr>
        <p:grpSpPr>
          <a:xfrm>
            <a:off x="5864446" y="5281781"/>
            <a:ext cx="1562400" cy="576064"/>
            <a:chOff x="971600" y="5445224"/>
            <a:chExt cx="7200800" cy="576064"/>
          </a:xfrm>
        </p:grpSpPr>
        <p:sp>
          <p:nvSpPr>
            <p:cNvPr id="27" name="平行四辺形 26"/>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9" name="グループ化 28"/>
          <p:cNvGrpSpPr/>
          <p:nvPr/>
        </p:nvGrpSpPr>
        <p:grpSpPr>
          <a:xfrm>
            <a:off x="7304606" y="5281781"/>
            <a:ext cx="1584176" cy="576064"/>
            <a:chOff x="971600" y="5445224"/>
            <a:chExt cx="7200800" cy="576064"/>
          </a:xfrm>
        </p:grpSpPr>
        <p:sp>
          <p:nvSpPr>
            <p:cNvPr id="30" name="平行四辺形 29"/>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1" name="平行四辺形 30"/>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2" name="正方形/長方形 31"/>
          <p:cNvSpPr/>
          <p:nvPr/>
        </p:nvSpPr>
        <p:spPr>
          <a:xfrm>
            <a:off x="2945966" y="5859027"/>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3" name="正方形/長方形 32"/>
          <p:cNvSpPr/>
          <p:nvPr/>
        </p:nvSpPr>
        <p:spPr>
          <a:xfrm>
            <a:off x="4385982" y="5859027"/>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4" name="正方形/長方形 33"/>
          <p:cNvSpPr/>
          <p:nvPr/>
        </p:nvSpPr>
        <p:spPr>
          <a:xfrm>
            <a:off x="5825998" y="585902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az-Cyrl-AZ"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5" name="正方形/長方形 34"/>
          <p:cNvSpPr/>
          <p:nvPr/>
        </p:nvSpPr>
        <p:spPr>
          <a:xfrm>
            <a:off x="7266014" y="5859027"/>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8" name="角丸四角形 37"/>
          <p:cNvSpPr/>
          <p:nvPr/>
        </p:nvSpPr>
        <p:spPr bwMode="auto">
          <a:xfrm>
            <a:off x="6186001"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I1: add </a:t>
            </a:r>
            <a:br>
              <a:rPr lang="en-US" altLang="ja-JP" sz="1400" b="1" dirty="0">
                <a:latin typeface="Consolas" panose="020B0609020204030204" pitchFamily="49" charset="0"/>
              </a:rPr>
            </a:br>
            <a:r>
              <a:rPr lang="en-US" altLang="ja-JP" sz="1400" b="1" dirty="0">
                <a:solidFill>
                  <a:schemeClr val="tx2"/>
                </a:solidFill>
                <a:latin typeface="Consolas" panose="020B0609020204030204" pitchFamily="49" charset="0"/>
              </a:rPr>
              <a:t>x1</a:t>
            </a:r>
            <a:r>
              <a:rPr lang="ja-JP" altLang="en-US" sz="1400" b="1" dirty="0">
                <a:latin typeface="Consolas" panose="020B0609020204030204" pitchFamily="49" charset="0"/>
              </a:rPr>
              <a:t>←</a:t>
            </a:r>
            <a:r>
              <a:rPr lang="en-US" altLang="ja-JP" sz="1400" b="1" dirty="0">
                <a:latin typeface="Consolas" panose="020B0609020204030204" pitchFamily="49" charset="0"/>
              </a:rPr>
              <a:t>x1+1</a:t>
            </a:r>
            <a:endParaRPr lang="ja-JP" altLang="en-US" sz="1400" b="1" dirty="0">
              <a:latin typeface="Consolas" panose="020B0609020204030204" pitchFamily="49" charset="0"/>
            </a:endParaRPr>
          </a:p>
        </p:txBody>
      </p:sp>
      <p:sp>
        <p:nvSpPr>
          <p:cNvPr id="40" name="角丸四角形 39"/>
          <p:cNvSpPr/>
          <p:nvPr/>
        </p:nvSpPr>
        <p:spPr bwMode="auto">
          <a:xfrm>
            <a:off x="4745985"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I2: add </a:t>
            </a:r>
            <a:br>
              <a:rPr lang="en-US" altLang="ja-JP" sz="1400" b="1" dirty="0">
                <a:latin typeface="Consolas" panose="020B0609020204030204" pitchFamily="49" charset="0"/>
              </a:rPr>
            </a:br>
            <a:r>
              <a:rPr lang="en-US" altLang="ja-JP" sz="1400" b="1" dirty="0">
                <a:latin typeface="Consolas" panose="020B0609020204030204" pitchFamily="49" charset="0"/>
              </a:rPr>
              <a:t>x1</a:t>
            </a:r>
            <a:r>
              <a:rPr lang="ja-JP" altLang="en-US" sz="1400" b="1" dirty="0">
                <a:latin typeface="Consolas" panose="020B0609020204030204" pitchFamily="49" charset="0"/>
              </a:rPr>
              <a:t>←</a:t>
            </a:r>
            <a:r>
              <a:rPr lang="en-US" altLang="ja-JP" sz="1400" b="1" dirty="0">
                <a:solidFill>
                  <a:schemeClr val="tx2"/>
                </a:solidFill>
                <a:latin typeface="Consolas" panose="020B0609020204030204" pitchFamily="49" charset="0"/>
              </a:rPr>
              <a:t>x1</a:t>
            </a:r>
            <a:r>
              <a:rPr lang="en-US" altLang="ja-JP" sz="1400" b="1" dirty="0">
                <a:latin typeface="Consolas" panose="020B0609020204030204" pitchFamily="49" charset="0"/>
              </a:rPr>
              <a:t>+1</a:t>
            </a:r>
            <a:endParaRPr lang="ja-JP" altLang="en-US" sz="1400" b="1" dirty="0">
              <a:latin typeface="Consolas" panose="020B0609020204030204" pitchFamily="49" charset="0"/>
            </a:endParaRPr>
          </a:p>
        </p:txBody>
      </p:sp>
      <p:sp>
        <p:nvSpPr>
          <p:cNvPr id="41" name="角丸四角形 40"/>
          <p:cNvSpPr/>
          <p:nvPr/>
        </p:nvSpPr>
        <p:spPr bwMode="auto">
          <a:xfrm>
            <a:off x="3305969"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endParaRPr lang="ja-JP" altLang="en-US" sz="1400" b="1" dirty="0">
              <a:latin typeface="Consolas" panose="020B0609020204030204" pitchFamily="49" charset="0"/>
            </a:endParaRPr>
          </a:p>
        </p:txBody>
      </p:sp>
      <p:sp>
        <p:nvSpPr>
          <p:cNvPr id="42" name="角丸四角形 41"/>
          <p:cNvSpPr/>
          <p:nvPr/>
        </p:nvSpPr>
        <p:spPr bwMode="auto">
          <a:xfrm>
            <a:off x="3305969"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endParaRPr lang="ja-JP" altLang="en-US" sz="1400" b="1" dirty="0">
              <a:latin typeface="Consolas" panose="020B0609020204030204" pitchFamily="49" charset="0"/>
            </a:endParaRPr>
          </a:p>
        </p:txBody>
      </p:sp>
      <p:sp>
        <p:nvSpPr>
          <p:cNvPr id="43" name="角丸四角形吹き出し 42"/>
          <p:cNvSpPr/>
          <p:nvPr/>
        </p:nvSpPr>
        <p:spPr bwMode="auto">
          <a:xfrm>
            <a:off x="6456004" y="3339000"/>
            <a:ext cx="2790031" cy="612648"/>
          </a:xfrm>
          <a:prstGeom prst="wedgeRoundRectCallout">
            <a:avLst>
              <a:gd name="adj1" fmla="val -46291"/>
              <a:gd name="adj2" fmla="val 103500"/>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みんな次のサイクルまで</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待ってね</a:t>
            </a:r>
          </a:p>
        </p:txBody>
      </p:sp>
      <p:sp>
        <p:nvSpPr>
          <p:cNvPr id="44" name="角丸四角形吹き出し 43"/>
          <p:cNvSpPr/>
          <p:nvPr/>
        </p:nvSpPr>
        <p:spPr bwMode="auto">
          <a:xfrm>
            <a:off x="5015988"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3">
                    <a:lumMod val="50000"/>
                  </a:schemeClr>
                </a:solidFill>
                <a:latin typeface="Arial Narrow" panose="020B0606020202030204" pitchFamily="34" charset="0"/>
              </a:rPr>
              <a:t>ﾋﾏﾀﾞﾅｰ</a:t>
            </a:r>
          </a:p>
        </p:txBody>
      </p:sp>
      <p:cxnSp>
        <p:nvCxnSpPr>
          <p:cNvPr id="48" name="直線矢印コネクタ 47"/>
          <p:cNvCxnSpPr/>
          <p:nvPr/>
        </p:nvCxnSpPr>
        <p:spPr bwMode="auto">
          <a:xfrm flipH="1">
            <a:off x="5375994" y="4959017"/>
            <a:ext cx="900009" cy="540006"/>
          </a:xfrm>
          <a:prstGeom prst="straightConnector1">
            <a:avLst/>
          </a:prstGeom>
          <a:ln>
            <a:solidFill>
              <a:schemeClr val="tx2"/>
            </a:solidFill>
            <a:headEnd type="none" w="med" len="med"/>
            <a:tailEnd type="triangle"/>
          </a:ln>
        </p:spPr>
        <p:style>
          <a:lnRef idx="3">
            <a:schemeClr val="accent6"/>
          </a:lnRef>
          <a:fillRef idx="0">
            <a:schemeClr val="accent6"/>
          </a:fillRef>
          <a:effectRef idx="2">
            <a:schemeClr val="accent6"/>
          </a:effectRef>
          <a:fontRef idx="minor">
            <a:schemeClr val="tx1"/>
          </a:fontRef>
        </p:style>
      </p:cxnSp>
      <p:sp>
        <p:nvSpPr>
          <p:cNvPr id="50" name="角丸四角形吹き出し 49"/>
          <p:cNvSpPr/>
          <p:nvPr/>
        </p:nvSpPr>
        <p:spPr bwMode="auto">
          <a:xfrm>
            <a:off x="2225957" y="5049019"/>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1"/>
                </a:solidFill>
                <a:latin typeface="Arial Narrow" panose="020B0606020202030204" pitchFamily="34" charset="0"/>
              </a:rPr>
              <a:t>上流</a:t>
            </a:r>
          </a:p>
        </p:txBody>
      </p:sp>
      <p:sp>
        <p:nvSpPr>
          <p:cNvPr id="51" name="角丸四角形吹き出し 50"/>
          <p:cNvSpPr/>
          <p:nvPr/>
        </p:nvSpPr>
        <p:spPr bwMode="auto">
          <a:xfrm>
            <a:off x="8886031" y="5049019"/>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4"/>
                </a:solidFill>
                <a:latin typeface="Arial Narrow" panose="020B0606020202030204" pitchFamily="34" charset="0"/>
              </a:rPr>
              <a:t>下流</a:t>
            </a:r>
          </a:p>
        </p:txBody>
      </p:sp>
      <p:sp>
        <p:nvSpPr>
          <p:cNvPr id="52" name="角丸四角形吹き出し 51"/>
          <p:cNvSpPr/>
          <p:nvPr/>
        </p:nvSpPr>
        <p:spPr bwMode="auto">
          <a:xfrm>
            <a:off x="3575972"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1"/>
                </a:solidFill>
                <a:latin typeface="Arial Narrow" panose="020B0606020202030204" pitchFamily="34" charset="0"/>
              </a:rPr>
              <a:t>ﾏﾀﾞｰ</a:t>
            </a:r>
          </a:p>
        </p:txBody>
      </p:sp>
    </p:spTree>
    <p:extLst>
      <p:ext uri="{BB962C8B-B14F-4D97-AF65-F5344CB8AC3E}">
        <p14:creationId xmlns:p14="http://schemas.microsoft.com/office/powerpoint/2010/main" val="38091611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パイプラインの復習</a:t>
            </a:r>
          </a:p>
        </p:txBody>
      </p:sp>
      <p:sp>
        <p:nvSpPr>
          <p:cNvPr id="3" name="コンテンツ プレースホルダー 2"/>
          <p:cNvSpPr>
            <a:spLocks noGrp="1"/>
          </p:cNvSpPr>
          <p:nvPr>
            <p:ph type="body" sz="quarter" idx="10"/>
          </p:nvPr>
        </p:nvSpPr>
        <p:spPr>
          <a:xfrm>
            <a:off x="1865954" y="1088975"/>
            <a:ext cx="8118603" cy="5443794"/>
          </a:xfrm>
          <a:prstGeom prst="rect">
            <a:avLst/>
          </a:prstGeom>
        </p:spPr>
        <p:txBody>
          <a:bodyPr/>
          <a:lstStyle/>
          <a:p>
            <a:pPr marL="457200" indent="-457200">
              <a:buFont typeface="+mj-lt"/>
              <a:buAutoNum type="arabicPeriod"/>
            </a:pPr>
            <a:r>
              <a:rPr lang="en-US" altLang="ja-JP" sz="1800" dirty="0"/>
              <a:t>IF (</a:t>
            </a:r>
            <a:r>
              <a:rPr lang="en-US" altLang="ja-JP" sz="1800" b="1" dirty="0"/>
              <a:t>i</a:t>
            </a:r>
            <a:r>
              <a:rPr lang="en-US" altLang="ja-JP" sz="1800" dirty="0"/>
              <a:t>nstruction </a:t>
            </a:r>
            <a:r>
              <a:rPr lang="en-US" altLang="ja-JP" sz="1800" b="1" dirty="0"/>
              <a:t>f</a:t>
            </a:r>
            <a:r>
              <a:rPr lang="en-US" altLang="ja-JP" sz="1800" dirty="0"/>
              <a:t>etch)</a:t>
            </a:r>
          </a:p>
          <a:p>
            <a:pPr marL="457200" indent="-457200">
              <a:buFont typeface="+mj-lt"/>
              <a:buAutoNum type="arabicPeriod"/>
            </a:pPr>
            <a:r>
              <a:rPr lang="en-US" altLang="ja-JP" sz="1800" dirty="0"/>
              <a:t>ID (</a:t>
            </a:r>
            <a:r>
              <a:rPr lang="en-US" altLang="ja-JP" sz="1800" b="1" dirty="0"/>
              <a:t>i</a:t>
            </a:r>
            <a:r>
              <a:rPr lang="en-US" altLang="ja-JP" sz="1800" dirty="0"/>
              <a:t>nstruction </a:t>
            </a:r>
            <a:r>
              <a:rPr lang="en-US" altLang="ja-JP" sz="1800" b="1" dirty="0"/>
              <a:t>d</a:t>
            </a:r>
            <a:r>
              <a:rPr lang="en-US" altLang="ja-JP" sz="1800" dirty="0"/>
              <a:t>ecode)</a:t>
            </a:r>
          </a:p>
          <a:p>
            <a:pPr marL="457200" indent="-457200">
              <a:buFont typeface="+mj-lt"/>
              <a:buAutoNum type="arabicPeriod"/>
            </a:pPr>
            <a:r>
              <a:rPr lang="en-US" altLang="ja-JP" sz="1800" dirty="0"/>
              <a:t>EX (</a:t>
            </a:r>
            <a:r>
              <a:rPr lang="en-US" altLang="ja-JP" sz="1800" b="1" dirty="0"/>
              <a:t>ex</a:t>
            </a:r>
            <a:r>
              <a:rPr lang="en-US" altLang="ja-JP" sz="1800" dirty="0"/>
              <a:t>ecution)</a:t>
            </a:r>
          </a:p>
          <a:p>
            <a:pPr marL="457200" indent="-457200">
              <a:buFont typeface="+mj-lt"/>
              <a:buAutoNum type="arabicPeriod"/>
            </a:pPr>
            <a:r>
              <a:rPr lang="en-US" altLang="ja-JP" sz="1800" dirty="0"/>
              <a:t>MEM (</a:t>
            </a:r>
            <a:r>
              <a:rPr lang="en-US" altLang="ja-JP" sz="1800" b="1" dirty="0"/>
              <a:t>mem</a:t>
            </a:r>
            <a:r>
              <a:rPr lang="en-US" altLang="ja-JP" sz="1800" dirty="0"/>
              <a:t>ory)</a:t>
            </a:r>
          </a:p>
          <a:p>
            <a:pPr marL="457200" indent="-457200">
              <a:buFont typeface="+mj-lt"/>
              <a:buAutoNum type="arabicPeriod"/>
            </a:pPr>
            <a:r>
              <a:rPr lang="en-US" altLang="ja-JP" sz="1800" dirty="0"/>
              <a:t>WB (</a:t>
            </a:r>
            <a:r>
              <a:rPr lang="en-US" altLang="ja-JP" sz="1800" b="1" dirty="0"/>
              <a:t>w</a:t>
            </a:r>
            <a:r>
              <a:rPr lang="en-US" altLang="ja-JP" sz="1800" dirty="0"/>
              <a:t>rite </a:t>
            </a:r>
            <a:r>
              <a:rPr lang="en-US" altLang="ja-JP" sz="1800" b="1" dirty="0"/>
              <a:t>b</a:t>
            </a:r>
            <a:r>
              <a:rPr lang="en-US" altLang="ja-JP" sz="1800" dirty="0"/>
              <a:t>ack)</a:t>
            </a:r>
          </a:p>
        </p:txBody>
      </p:sp>
    </p:spTree>
    <p:extLst>
      <p:ext uri="{BB962C8B-B14F-4D97-AF65-F5344CB8AC3E}">
        <p14:creationId xmlns:p14="http://schemas.microsoft.com/office/powerpoint/2010/main" val="20447344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パイプライン化されたプロセッサのブロック図</a:t>
            </a:r>
          </a:p>
        </p:txBody>
      </p:sp>
      <p:sp>
        <p:nvSpPr>
          <p:cNvPr id="3" name="テキスト プレースホルダー 2"/>
          <p:cNvSpPr>
            <a:spLocks noGrp="1"/>
          </p:cNvSpPr>
          <p:nvPr>
            <p:ph type="body" sz="quarter" idx="10"/>
          </p:nvPr>
        </p:nvSpPr>
        <p:spPr>
          <a:xfrm>
            <a:off x="1595951" y="5589024"/>
            <a:ext cx="8820098" cy="449698"/>
          </a:xfrm>
        </p:spPr>
        <p:txBody>
          <a:bodyPr/>
          <a:lstStyle/>
          <a:p>
            <a:pPr lvl="1"/>
            <a:r>
              <a:rPr kumimoji="1" lang="ja-JP" altLang="en-US" dirty="0"/>
              <a:t>各ステージの間に，</a:t>
            </a:r>
            <a:r>
              <a:rPr kumimoji="1" lang="en-US" altLang="ja-JP" dirty="0"/>
              <a:t>D-FF</a:t>
            </a:r>
            <a:r>
              <a:rPr kumimoji="1" lang="ja-JP" altLang="en-US" dirty="0"/>
              <a:t>（オレンジの四角）をいれる</a:t>
            </a:r>
            <a:endParaRPr kumimoji="1" lang="en-US" altLang="ja-JP" dirty="0"/>
          </a:p>
          <a:p>
            <a:pPr lvl="2"/>
            <a:r>
              <a:rPr kumimoji="1" lang="en-US" altLang="ja-JP" dirty="0"/>
              <a:t>WB </a:t>
            </a:r>
            <a:r>
              <a:rPr kumimoji="1" lang="ja-JP" altLang="en-US" dirty="0"/>
              <a:t>の書き込みについては，レジスタ・ファイル自体が</a:t>
            </a:r>
            <a:br>
              <a:rPr kumimoji="1" lang="en-US" altLang="ja-JP" dirty="0"/>
            </a:br>
            <a:r>
              <a:rPr kumimoji="1" lang="ja-JP" altLang="en-US" dirty="0"/>
              <a:t>クロックに同期して書き込みが行われるので </a:t>
            </a:r>
            <a:r>
              <a:rPr kumimoji="1" lang="en-US" altLang="ja-JP" dirty="0"/>
              <a:t>D-FF </a:t>
            </a:r>
            <a:r>
              <a:rPr kumimoji="1" lang="ja-JP" altLang="en-US" dirty="0"/>
              <a:t>は不要</a:t>
            </a:r>
            <a:endParaRPr kumimoji="1" lang="en-US" altLang="ja-JP" dirty="0"/>
          </a:p>
          <a:p>
            <a:pPr lvl="1"/>
            <a:r>
              <a:rPr kumimoji="1" lang="ja-JP" altLang="en-US" dirty="0"/>
              <a:t>各ステージの処理が早く終わっても，次のクロックまでは </a:t>
            </a:r>
            <a:r>
              <a:rPr kumimoji="1" lang="en-US" altLang="ja-JP" dirty="0"/>
              <a:t>D-FF </a:t>
            </a:r>
            <a:r>
              <a:rPr kumimoji="1" lang="ja-JP" altLang="en-US" dirty="0"/>
              <a:t>で</a:t>
            </a:r>
            <a:br>
              <a:rPr kumimoji="1" lang="en-US" altLang="ja-JP" dirty="0"/>
            </a:br>
            <a:r>
              <a:rPr kumimoji="1" lang="ja-JP" altLang="en-US" dirty="0"/>
              <a:t>信号の伝搬は止まる</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18" name="正方形/長方形 17"/>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19"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1" name="正方形/長方形 20"/>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2" name="正方形/長方形 21"/>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3" name="正方形/長方形 22"/>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4" name="正方形/長方形 23"/>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5" name="正方形/長方形 24"/>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26" name="正方形/長方形 25"/>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7" name="直線矢印コネクタ 26"/>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正方形/長方形 38"/>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0" name="直線矢印コネクタ 39"/>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4475983"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46" name="角丸四角形 45"/>
          <p:cNvSpPr/>
          <p:nvPr/>
        </p:nvSpPr>
        <p:spPr bwMode="auto">
          <a:xfrm>
            <a:off x="1524000" y="1178976"/>
            <a:ext cx="252002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4295980" y="1178976"/>
            <a:ext cx="198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8" name="角丸四角形 47"/>
          <p:cNvSpPr/>
          <p:nvPr/>
        </p:nvSpPr>
        <p:spPr bwMode="auto">
          <a:xfrm>
            <a:off x="6456004" y="1178976"/>
            <a:ext cx="153001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8166023" y="1178976"/>
            <a:ext cx="207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正方形/長方形 49"/>
          <p:cNvSpPr/>
          <p:nvPr/>
        </p:nvSpPr>
        <p:spPr bwMode="auto">
          <a:xfrm>
            <a:off x="2135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4565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456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8436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10171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5" name="角丸四角形 54"/>
          <p:cNvSpPr/>
          <p:nvPr/>
        </p:nvSpPr>
        <p:spPr bwMode="auto">
          <a:xfrm>
            <a:off x="2855964" y="279899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ADD</a:t>
            </a:r>
            <a:endParaRPr lang="ja-JP" altLang="en-US" dirty="0">
              <a:latin typeface="Arial Narrow" panose="020B0606020202030204" pitchFamily="34" charset="0"/>
            </a:endParaRPr>
          </a:p>
        </p:txBody>
      </p:sp>
      <p:grpSp>
        <p:nvGrpSpPr>
          <p:cNvPr id="58" name="グループ化 57"/>
          <p:cNvGrpSpPr/>
          <p:nvPr/>
        </p:nvGrpSpPr>
        <p:grpSpPr>
          <a:xfrm>
            <a:off x="4025977" y="3068996"/>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noFill/>
            <a:ln>
              <a:solidFill>
                <a:schemeClr val="accent2"/>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63" name="正方形/長方形 62"/>
          <p:cNvSpPr/>
          <p:nvPr/>
        </p:nvSpPr>
        <p:spPr bwMode="auto">
          <a:xfrm>
            <a:off x="6186001" y="2438989"/>
            <a:ext cx="360004" cy="2160024"/>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6276001" y="4419011"/>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1" name="正方形/長方形 70"/>
          <p:cNvSpPr/>
          <p:nvPr/>
        </p:nvSpPr>
        <p:spPr bwMode="auto">
          <a:xfrm>
            <a:off x="7626017" y="2438989"/>
            <a:ext cx="360004" cy="2160024"/>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7716017" y="4419011"/>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5881550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フェッチ</a:t>
            </a:r>
          </a:p>
        </p:txBody>
      </p:sp>
      <p:sp>
        <p:nvSpPr>
          <p:cNvPr id="3" name="テキスト プレースホルダー 2"/>
          <p:cNvSpPr>
            <a:spLocks noGrp="1"/>
          </p:cNvSpPr>
          <p:nvPr>
            <p:ph type="body" sz="quarter" idx="10"/>
          </p:nvPr>
        </p:nvSpPr>
        <p:spPr>
          <a:xfrm>
            <a:off x="1775952" y="5589024"/>
            <a:ext cx="8640097" cy="449698"/>
          </a:xfrm>
        </p:spPr>
        <p:txBody>
          <a:bodyPr/>
          <a:lstStyle/>
          <a:p>
            <a:r>
              <a:rPr lang="en-US" altLang="ja-JP" sz="1800" dirty="0"/>
              <a:t>IF (</a:t>
            </a:r>
            <a:r>
              <a:rPr lang="en-US" altLang="ja-JP" sz="1800" b="1" dirty="0"/>
              <a:t>i</a:t>
            </a:r>
            <a:r>
              <a:rPr lang="en-US" altLang="ja-JP" sz="1800" dirty="0"/>
              <a:t>nstruction </a:t>
            </a:r>
            <a:r>
              <a:rPr lang="en-US" altLang="ja-JP" sz="1800" b="1" dirty="0"/>
              <a:t>f</a:t>
            </a:r>
            <a:r>
              <a:rPr lang="en-US" altLang="ja-JP" sz="1800" dirty="0"/>
              <a:t>etch)</a:t>
            </a:r>
          </a:p>
          <a:p>
            <a:pPr lvl="1"/>
            <a:r>
              <a:rPr lang="ja-JP" altLang="en-US" sz="1800" dirty="0"/>
              <a:t>命令をメモリから取り出す（フェッチするという）</a:t>
            </a:r>
            <a:endParaRPr kumimoji="1" lang="ja-JP" altLang="en-US"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18" name="正方形/長方形 17"/>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19"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1" name="正方形/長方形 20"/>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2" name="正方形/長方形 21"/>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3" name="正方形/長方形 22"/>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4" name="正方形/長方形 23"/>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5" name="正方形/長方形 24"/>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26" name="正方形/長方形 25"/>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7" name="直線矢印コネクタ 26"/>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正方形/長方形 38"/>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0" name="直線矢印コネクタ 39"/>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4475983"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46" name="角丸四角形 45"/>
          <p:cNvSpPr/>
          <p:nvPr/>
        </p:nvSpPr>
        <p:spPr bwMode="auto">
          <a:xfrm>
            <a:off x="1524000" y="1178976"/>
            <a:ext cx="252002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4295980" y="1178976"/>
            <a:ext cx="198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8" name="角丸四角形 47"/>
          <p:cNvSpPr/>
          <p:nvPr/>
        </p:nvSpPr>
        <p:spPr bwMode="auto">
          <a:xfrm>
            <a:off x="6456004" y="1178976"/>
            <a:ext cx="153001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8166023" y="1178976"/>
            <a:ext cx="207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正方形/長方形 49"/>
          <p:cNvSpPr/>
          <p:nvPr/>
        </p:nvSpPr>
        <p:spPr bwMode="auto">
          <a:xfrm>
            <a:off x="2135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4565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456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8436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10171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5" name="角丸四角形 54"/>
          <p:cNvSpPr/>
          <p:nvPr/>
        </p:nvSpPr>
        <p:spPr bwMode="auto">
          <a:xfrm>
            <a:off x="2855964" y="2798993"/>
            <a:ext cx="720008"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dirty="0">
                <a:latin typeface="Arial Narrow" panose="020B0606020202030204" pitchFamily="34" charset="0"/>
              </a:rPr>
              <a:t>ADD</a:t>
            </a:r>
            <a:endParaRPr lang="ja-JP" altLang="en-US" dirty="0">
              <a:latin typeface="Arial Narrow" panose="020B0606020202030204" pitchFamily="34" charset="0"/>
            </a:endParaRPr>
          </a:p>
        </p:txBody>
      </p:sp>
      <p:grpSp>
        <p:nvGrpSpPr>
          <p:cNvPr id="58" name="グループ化 57"/>
          <p:cNvGrpSpPr/>
          <p:nvPr/>
        </p:nvGrpSpPr>
        <p:grpSpPr>
          <a:xfrm>
            <a:off x="4025977" y="3068996"/>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63" name="正方形/長方形 62"/>
          <p:cNvSpPr/>
          <p:nvPr/>
        </p:nvSpPr>
        <p:spPr bwMode="auto">
          <a:xfrm>
            <a:off x="6186001" y="2438989"/>
            <a:ext cx="360004"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6276001" y="4419011"/>
            <a:ext cx="180002" cy="180002"/>
          </a:xfrm>
          <a:prstGeom prst="triangl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1" name="正方形/長方形 70"/>
          <p:cNvSpPr/>
          <p:nvPr/>
        </p:nvSpPr>
        <p:spPr bwMode="auto">
          <a:xfrm>
            <a:off x="7626017" y="2438989"/>
            <a:ext cx="360004"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7716017" y="4419011"/>
            <a:ext cx="180002" cy="180002"/>
          </a:xfrm>
          <a:prstGeom prst="triangl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7820199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デコード</a:t>
            </a:r>
          </a:p>
        </p:txBody>
      </p:sp>
      <p:sp>
        <p:nvSpPr>
          <p:cNvPr id="3" name="テキスト プレースホルダー 2"/>
          <p:cNvSpPr>
            <a:spLocks noGrp="1"/>
          </p:cNvSpPr>
          <p:nvPr>
            <p:ph type="body" sz="quarter" idx="10"/>
          </p:nvPr>
        </p:nvSpPr>
        <p:spPr>
          <a:xfrm>
            <a:off x="1775952" y="5589024"/>
            <a:ext cx="8640097" cy="449698"/>
          </a:xfrm>
        </p:spPr>
        <p:txBody>
          <a:bodyPr/>
          <a:lstStyle/>
          <a:p>
            <a:r>
              <a:rPr lang="en-US" altLang="ja-JP" sz="1800" dirty="0"/>
              <a:t>ID (</a:t>
            </a:r>
            <a:r>
              <a:rPr lang="en-US" altLang="ja-JP" sz="1800" b="1" dirty="0"/>
              <a:t>i</a:t>
            </a:r>
            <a:r>
              <a:rPr lang="en-US" altLang="ja-JP" sz="1800" dirty="0"/>
              <a:t>nstruction </a:t>
            </a:r>
            <a:r>
              <a:rPr lang="en-US" altLang="ja-JP" sz="1800" b="1" dirty="0"/>
              <a:t>d</a:t>
            </a:r>
            <a:r>
              <a:rPr lang="en-US" altLang="ja-JP" sz="1800" dirty="0"/>
              <a:t>ecode)</a:t>
            </a:r>
          </a:p>
          <a:p>
            <a:pPr lvl="1"/>
            <a:r>
              <a:rPr lang="ja-JP" altLang="en-US" sz="1800" dirty="0"/>
              <a:t>取り出した命令の解析（デコードという）をする</a:t>
            </a:r>
            <a:endParaRPr lang="en-US" altLang="ja-JP" sz="1800" dirty="0"/>
          </a:p>
          <a:p>
            <a:pPr lvl="1"/>
            <a:r>
              <a:rPr lang="ja-JP" altLang="en-US" sz="1800" dirty="0"/>
              <a:t>デコードしてレジスタ番号などを取り出し，レジスタを読み出す</a:t>
            </a:r>
            <a:endParaRPr lang="en-US" altLang="ja-JP" sz="1800"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18" name="正方形/長方形 17"/>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19"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1" name="正方形/長方形 20"/>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2" name="正方形/長方形 21"/>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3" name="正方形/長方形 22"/>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4" name="正方形/長方形 23"/>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5" name="正方形/長方形 24"/>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26" name="正方形/長方形 25"/>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7" name="直線矢印コネクタ 26"/>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正方形/長方形 38"/>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0" name="直線矢印コネクタ 39"/>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4475983"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46" name="角丸四角形 45"/>
          <p:cNvSpPr/>
          <p:nvPr/>
        </p:nvSpPr>
        <p:spPr bwMode="auto">
          <a:xfrm>
            <a:off x="1524000" y="1178976"/>
            <a:ext cx="252002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4295980" y="1178976"/>
            <a:ext cx="198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8" name="角丸四角形 47"/>
          <p:cNvSpPr/>
          <p:nvPr/>
        </p:nvSpPr>
        <p:spPr bwMode="auto">
          <a:xfrm>
            <a:off x="6456004" y="1178976"/>
            <a:ext cx="153001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8166023" y="1178976"/>
            <a:ext cx="207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正方形/長方形 49"/>
          <p:cNvSpPr/>
          <p:nvPr/>
        </p:nvSpPr>
        <p:spPr bwMode="auto">
          <a:xfrm>
            <a:off x="2135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4565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456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8436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10171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5" name="角丸四角形 54"/>
          <p:cNvSpPr/>
          <p:nvPr/>
        </p:nvSpPr>
        <p:spPr bwMode="auto">
          <a:xfrm>
            <a:off x="4925987" y="3068996"/>
            <a:ext cx="720008"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dirty="0">
                <a:latin typeface="Arial Narrow" panose="020B0606020202030204" pitchFamily="34" charset="0"/>
              </a:rPr>
              <a:t>ADD</a:t>
            </a:r>
            <a:endParaRPr lang="ja-JP" altLang="en-US" dirty="0">
              <a:latin typeface="Arial Narrow" panose="020B0606020202030204" pitchFamily="34" charset="0"/>
            </a:endParaRPr>
          </a:p>
        </p:txBody>
      </p:sp>
      <p:grpSp>
        <p:nvGrpSpPr>
          <p:cNvPr id="58" name="グループ化 57"/>
          <p:cNvGrpSpPr/>
          <p:nvPr/>
        </p:nvGrpSpPr>
        <p:grpSpPr>
          <a:xfrm>
            <a:off x="4025977" y="3068996"/>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63" name="正方形/長方形 62"/>
          <p:cNvSpPr/>
          <p:nvPr/>
        </p:nvSpPr>
        <p:spPr bwMode="auto">
          <a:xfrm>
            <a:off x="6186001" y="2438989"/>
            <a:ext cx="360004"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6276001" y="4419011"/>
            <a:ext cx="180002" cy="180002"/>
          </a:xfrm>
          <a:prstGeom prst="triangl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1" name="正方形/長方形 70"/>
          <p:cNvSpPr/>
          <p:nvPr/>
        </p:nvSpPr>
        <p:spPr bwMode="auto">
          <a:xfrm>
            <a:off x="7626017" y="2438989"/>
            <a:ext cx="360004"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7716017" y="4419011"/>
            <a:ext cx="180002" cy="180002"/>
          </a:xfrm>
          <a:prstGeom prst="triangl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5581546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実行</a:t>
            </a:r>
          </a:p>
        </p:txBody>
      </p:sp>
      <p:sp>
        <p:nvSpPr>
          <p:cNvPr id="3" name="テキスト プレースホルダー 2"/>
          <p:cNvSpPr>
            <a:spLocks noGrp="1"/>
          </p:cNvSpPr>
          <p:nvPr>
            <p:ph type="body" sz="quarter" idx="10"/>
          </p:nvPr>
        </p:nvSpPr>
        <p:spPr>
          <a:xfrm>
            <a:off x="1775952" y="5589024"/>
            <a:ext cx="8640097" cy="449698"/>
          </a:xfrm>
        </p:spPr>
        <p:txBody>
          <a:bodyPr/>
          <a:lstStyle/>
          <a:p>
            <a:r>
              <a:rPr lang="en-US" altLang="ja-JP" sz="1800" dirty="0"/>
              <a:t>EX (</a:t>
            </a:r>
            <a:r>
              <a:rPr lang="en-US" altLang="ja-JP" sz="1800" b="1" dirty="0"/>
              <a:t>ex</a:t>
            </a:r>
            <a:r>
              <a:rPr lang="en-US" altLang="ja-JP" sz="1800" dirty="0"/>
              <a:t>ecution)</a:t>
            </a:r>
          </a:p>
          <a:p>
            <a:pPr lvl="1"/>
            <a:r>
              <a:rPr lang="ja-JP" altLang="en-US" sz="1800" dirty="0"/>
              <a:t>演算器で加減算や論理演算などを実行する</a:t>
            </a:r>
            <a:endParaRPr lang="en-US" altLang="ja-JP" sz="1800"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18" name="正方形/長方形 17"/>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19"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1" name="正方形/長方形 20"/>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2" name="正方形/長方形 21"/>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3" name="正方形/長方形 22"/>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4" name="正方形/長方形 23"/>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5" name="正方形/長方形 24"/>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26" name="正方形/長方形 25"/>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7" name="直線矢印コネクタ 26"/>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正方形/長方形 38"/>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0" name="直線矢印コネクタ 39"/>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4475983"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46" name="角丸四角形 45"/>
          <p:cNvSpPr/>
          <p:nvPr/>
        </p:nvSpPr>
        <p:spPr bwMode="auto">
          <a:xfrm>
            <a:off x="1524000" y="1178976"/>
            <a:ext cx="252002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4295980" y="1178976"/>
            <a:ext cx="198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8" name="角丸四角形 47"/>
          <p:cNvSpPr/>
          <p:nvPr/>
        </p:nvSpPr>
        <p:spPr bwMode="auto">
          <a:xfrm>
            <a:off x="6456004" y="1178976"/>
            <a:ext cx="153001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8166023" y="1178976"/>
            <a:ext cx="207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正方形/長方形 49"/>
          <p:cNvSpPr/>
          <p:nvPr/>
        </p:nvSpPr>
        <p:spPr bwMode="auto">
          <a:xfrm>
            <a:off x="2135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4565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456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8436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10171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5" name="角丸四角形 54"/>
          <p:cNvSpPr/>
          <p:nvPr/>
        </p:nvSpPr>
        <p:spPr bwMode="auto">
          <a:xfrm>
            <a:off x="6816008" y="3248998"/>
            <a:ext cx="720008"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dirty="0">
                <a:latin typeface="Arial Narrow" panose="020B0606020202030204" pitchFamily="34" charset="0"/>
              </a:rPr>
              <a:t>ADD</a:t>
            </a:r>
            <a:endParaRPr lang="ja-JP" altLang="en-US" dirty="0">
              <a:latin typeface="Arial Narrow" panose="020B0606020202030204" pitchFamily="34" charset="0"/>
            </a:endParaRPr>
          </a:p>
        </p:txBody>
      </p:sp>
      <p:grpSp>
        <p:nvGrpSpPr>
          <p:cNvPr id="58" name="グループ化 57"/>
          <p:cNvGrpSpPr/>
          <p:nvPr/>
        </p:nvGrpSpPr>
        <p:grpSpPr>
          <a:xfrm>
            <a:off x="4025977" y="3068996"/>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63" name="正方形/長方形 62"/>
          <p:cNvSpPr/>
          <p:nvPr/>
        </p:nvSpPr>
        <p:spPr bwMode="auto">
          <a:xfrm>
            <a:off x="6186001" y="2438989"/>
            <a:ext cx="360004"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6276001" y="4419011"/>
            <a:ext cx="180002" cy="180002"/>
          </a:xfrm>
          <a:prstGeom prst="triangl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1" name="正方形/長方形 70"/>
          <p:cNvSpPr/>
          <p:nvPr/>
        </p:nvSpPr>
        <p:spPr bwMode="auto">
          <a:xfrm>
            <a:off x="7626017" y="2438989"/>
            <a:ext cx="360004"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7716017" y="4419011"/>
            <a:ext cx="180002" cy="180002"/>
          </a:xfrm>
          <a:prstGeom prst="triangl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5638518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メモリアクセス</a:t>
            </a:r>
          </a:p>
        </p:txBody>
      </p:sp>
      <p:sp>
        <p:nvSpPr>
          <p:cNvPr id="3" name="テキスト プレースホルダー 2"/>
          <p:cNvSpPr>
            <a:spLocks noGrp="1"/>
          </p:cNvSpPr>
          <p:nvPr>
            <p:ph type="body" sz="quarter" idx="10"/>
          </p:nvPr>
        </p:nvSpPr>
        <p:spPr>
          <a:xfrm>
            <a:off x="1775952" y="5589024"/>
            <a:ext cx="8640097" cy="449698"/>
          </a:xfrm>
        </p:spPr>
        <p:txBody>
          <a:bodyPr/>
          <a:lstStyle/>
          <a:p>
            <a:r>
              <a:rPr lang="en-US" altLang="ja-JP" sz="1800" dirty="0"/>
              <a:t>MEM (</a:t>
            </a:r>
            <a:r>
              <a:rPr lang="en-US" altLang="ja-JP" sz="1800" b="1" dirty="0"/>
              <a:t>mem</a:t>
            </a:r>
            <a:r>
              <a:rPr lang="en-US" altLang="ja-JP" sz="1800" dirty="0"/>
              <a:t>ory)</a:t>
            </a:r>
          </a:p>
          <a:p>
            <a:pPr lvl="1"/>
            <a:r>
              <a:rPr lang="ja-JP" altLang="en-US" sz="1800" dirty="0"/>
              <a:t>データメモリにアクセス</a:t>
            </a:r>
            <a:endParaRPr lang="en-US" altLang="ja-JP" sz="1800"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18" name="正方形/長方形 17"/>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19"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1" name="正方形/長方形 20"/>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2" name="正方形/長方形 21"/>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3" name="正方形/長方形 22"/>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4" name="正方形/長方形 23"/>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5" name="正方形/長方形 24"/>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26" name="正方形/長方形 25"/>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7" name="直線矢印コネクタ 26"/>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正方形/長方形 38"/>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0" name="直線矢印コネクタ 39"/>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4475983"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46" name="角丸四角形 45"/>
          <p:cNvSpPr/>
          <p:nvPr/>
        </p:nvSpPr>
        <p:spPr bwMode="auto">
          <a:xfrm>
            <a:off x="1524000" y="1178976"/>
            <a:ext cx="252002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4295980" y="1178976"/>
            <a:ext cx="198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8" name="角丸四角形 47"/>
          <p:cNvSpPr/>
          <p:nvPr/>
        </p:nvSpPr>
        <p:spPr bwMode="auto">
          <a:xfrm>
            <a:off x="6456004" y="1178976"/>
            <a:ext cx="153001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8166023" y="1178976"/>
            <a:ext cx="207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正方形/長方形 49"/>
          <p:cNvSpPr/>
          <p:nvPr/>
        </p:nvSpPr>
        <p:spPr bwMode="auto">
          <a:xfrm>
            <a:off x="2135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4565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456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8436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10171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5" name="角丸四角形 54"/>
          <p:cNvSpPr/>
          <p:nvPr/>
        </p:nvSpPr>
        <p:spPr bwMode="auto">
          <a:xfrm>
            <a:off x="8076022" y="3248998"/>
            <a:ext cx="720008"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dirty="0">
                <a:latin typeface="Arial Narrow" panose="020B0606020202030204" pitchFamily="34" charset="0"/>
              </a:rPr>
              <a:t>ADD</a:t>
            </a:r>
            <a:endParaRPr lang="ja-JP" altLang="en-US" dirty="0">
              <a:latin typeface="Arial Narrow" panose="020B0606020202030204" pitchFamily="34" charset="0"/>
            </a:endParaRPr>
          </a:p>
        </p:txBody>
      </p:sp>
      <p:grpSp>
        <p:nvGrpSpPr>
          <p:cNvPr id="58" name="グループ化 57"/>
          <p:cNvGrpSpPr/>
          <p:nvPr/>
        </p:nvGrpSpPr>
        <p:grpSpPr>
          <a:xfrm>
            <a:off x="4025977" y="3068996"/>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63" name="正方形/長方形 62"/>
          <p:cNvSpPr/>
          <p:nvPr/>
        </p:nvSpPr>
        <p:spPr bwMode="auto">
          <a:xfrm>
            <a:off x="6186001" y="2438989"/>
            <a:ext cx="360004"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6276001" y="4419011"/>
            <a:ext cx="180002" cy="180002"/>
          </a:xfrm>
          <a:prstGeom prst="triangl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1" name="正方形/長方形 70"/>
          <p:cNvSpPr/>
          <p:nvPr/>
        </p:nvSpPr>
        <p:spPr bwMode="auto">
          <a:xfrm>
            <a:off x="7626017" y="2438989"/>
            <a:ext cx="360004"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7716017" y="4419011"/>
            <a:ext cx="180002" cy="180002"/>
          </a:xfrm>
          <a:prstGeom prst="triangl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8800735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書き戻し</a:t>
            </a:r>
          </a:p>
        </p:txBody>
      </p:sp>
      <p:sp>
        <p:nvSpPr>
          <p:cNvPr id="3" name="テキスト プレースホルダー 2"/>
          <p:cNvSpPr>
            <a:spLocks noGrp="1"/>
          </p:cNvSpPr>
          <p:nvPr>
            <p:ph type="body" sz="quarter" idx="10"/>
          </p:nvPr>
        </p:nvSpPr>
        <p:spPr>
          <a:xfrm>
            <a:off x="1775952" y="5589024"/>
            <a:ext cx="8640097" cy="449698"/>
          </a:xfrm>
        </p:spPr>
        <p:txBody>
          <a:bodyPr/>
          <a:lstStyle/>
          <a:p>
            <a:r>
              <a:rPr lang="en-US" altLang="ja-JP" sz="1800" dirty="0"/>
              <a:t>WB (</a:t>
            </a:r>
            <a:r>
              <a:rPr lang="en-US" altLang="ja-JP" sz="1800" b="1" dirty="0"/>
              <a:t>w</a:t>
            </a:r>
            <a:r>
              <a:rPr lang="en-US" altLang="ja-JP" sz="1800" dirty="0"/>
              <a:t>rite </a:t>
            </a:r>
            <a:r>
              <a:rPr lang="en-US" altLang="ja-JP" sz="1800" b="1" dirty="0"/>
              <a:t>b</a:t>
            </a:r>
            <a:r>
              <a:rPr lang="en-US" altLang="ja-JP" sz="1800" dirty="0"/>
              <a:t>ack)</a:t>
            </a:r>
          </a:p>
          <a:p>
            <a:pPr lvl="1"/>
            <a:r>
              <a:rPr lang="en-US" altLang="ja-JP" sz="1800" dirty="0"/>
              <a:t>EX </a:t>
            </a:r>
            <a:r>
              <a:rPr lang="ja-JP" altLang="en-US" sz="1800" dirty="0"/>
              <a:t>や </a:t>
            </a:r>
            <a:r>
              <a:rPr lang="en-US" altLang="ja-JP" sz="1800" dirty="0"/>
              <a:t>MEM </a:t>
            </a:r>
            <a:r>
              <a:rPr lang="ja-JP" altLang="en-US" sz="1800" dirty="0"/>
              <a:t>で得られた値をレジスタに書き戻す</a:t>
            </a:r>
            <a:endParaRPr lang="en-US" altLang="ja-JP" sz="1800"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18" name="正方形/長方形 17"/>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19"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1" name="正方形/長方形 20"/>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2" name="正方形/長方形 21"/>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3" name="正方形/長方形 22"/>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4" name="正方形/長方形 23"/>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5" name="正方形/長方形 24"/>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26" name="正方形/長方形 25"/>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7" name="直線矢印コネクタ 26"/>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正方形/長方形 38"/>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0" name="直線矢印コネクタ 39"/>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4475983"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46" name="角丸四角形 45"/>
          <p:cNvSpPr/>
          <p:nvPr/>
        </p:nvSpPr>
        <p:spPr bwMode="auto">
          <a:xfrm>
            <a:off x="1524000" y="1178976"/>
            <a:ext cx="252002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4295980" y="1178976"/>
            <a:ext cx="198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8" name="角丸四角形 47"/>
          <p:cNvSpPr/>
          <p:nvPr/>
        </p:nvSpPr>
        <p:spPr bwMode="auto">
          <a:xfrm>
            <a:off x="6456004" y="1178976"/>
            <a:ext cx="153001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8166023" y="1178976"/>
            <a:ext cx="207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正方形/長方形 49"/>
          <p:cNvSpPr/>
          <p:nvPr/>
        </p:nvSpPr>
        <p:spPr bwMode="auto">
          <a:xfrm>
            <a:off x="2135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4565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456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8436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10171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grpSp>
        <p:nvGrpSpPr>
          <p:cNvPr id="58" name="グループ化 57"/>
          <p:cNvGrpSpPr/>
          <p:nvPr/>
        </p:nvGrpSpPr>
        <p:grpSpPr>
          <a:xfrm>
            <a:off x="4025977" y="3068996"/>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63" name="正方形/長方形 62"/>
          <p:cNvSpPr/>
          <p:nvPr/>
        </p:nvSpPr>
        <p:spPr bwMode="auto">
          <a:xfrm>
            <a:off x="6186001" y="2438989"/>
            <a:ext cx="360004"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6276001" y="4419011"/>
            <a:ext cx="180002" cy="180002"/>
          </a:xfrm>
          <a:prstGeom prst="triangl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1" name="正方形/長方形 70"/>
          <p:cNvSpPr/>
          <p:nvPr/>
        </p:nvSpPr>
        <p:spPr bwMode="auto">
          <a:xfrm>
            <a:off x="7626017" y="2438989"/>
            <a:ext cx="360004"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7716017" y="4419011"/>
            <a:ext cx="180002" cy="180002"/>
          </a:xfrm>
          <a:prstGeom prst="triangl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5" name="角丸四角形 54">
            <a:extLst>
              <a:ext uri="{FF2B5EF4-FFF2-40B4-BE49-F238E27FC236}">
                <a16:creationId xmlns:a16="http://schemas.microsoft.com/office/drawing/2014/main" id="{AC03884E-B6F5-4B2A-9127-2A9EFCCCD0E7}"/>
              </a:ext>
            </a:extLst>
          </p:cNvPr>
          <p:cNvSpPr/>
          <p:nvPr/>
        </p:nvSpPr>
        <p:spPr bwMode="auto">
          <a:xfrm>
            <a:off x="9968400" y="3248998"/>
            <a:ext cx="720008"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dirty="0">
                <a:latin typeface="Arial Narrow" panose="020B0606020202030204" pitchFamily="34" charset="0"/>
              </a:rPr>
              <a:t>ADD</a:t>
            </a:r>
            <a:endParaRPr lang="ja-JP" altLang="en-US" dirty="0">
              <a:latin typeface="Arial Narrow" panose="020B0606020202030204" pitchFamily="34" charset="0"/>
            </a:endParaRPr>
          </a:p>
        </p:txBody>
      </p:sp>
    </p:spTree>
    <p:extLst>
      <p:ext uri="{BB962C8B-B14F-4D97-AF65-F5344CB8AC3E}">
        <p14:creationId xmlns:p14="http://schemas.microsoft.com/office/powerpoint/2010/main" val="13710862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 name="直線矢印コネクタ 77"/>
          <p:cNvCxnSpPr/>
          <p:nvPr/>
        </p:nvCxnSpPr>
        <p:spPr bwMode="auto">
          <a:xfrm>
            <a:off x="7536016" y="4779015"/>
            <a:ext cx="900010" cy="0"/>
          </a:xfrm>
          <a:prstGeom prst="straightConnector1">
            <a:avLst/>
          </a:prstGeom>
          <a:noFill/>
          <a:ln w="28575" cap="flat" cmpd="sng" algn="ctr">
            <a:solidFill>
              <a:schemeClr val="accent6"/>
            </a:solidFill>
            <a:prstDash val="solid"/>
            <a:round/>
            <a:headEnd type="none" w="sm" len="sm"/>
            <a:tailEnd type="none"/>
          </a:ln>
          <a:effectLst/>
        </p:spPr>
      </p:cxnSp>
      <p:sp>
        <p:nvSpPr>
          <p:cNvPr id="2" name="タイトル 1"/>
          <p:cNvSpPr>
            <a:spLocks noGrp="1"/>
          </p:cNvSpPr>
          <p:nvPr>
            <p:ph type="title"/>
          </p:nvPr>
        </p:nvSpPr>
        <p:spPr/>
        <p:txBody>
          <a:bodyPr/>
          <a:lstStyle/>
          <a:p>
            <a:r>
              <a:rPr kumimoji="1" lang="ja-JP" altLang="en-US" dirty="0"/>
              <a:t>単純な </a:t>
            </a:r>
            <a:r>
              <a:rPr kumimoji="1" lang="en-US" altLang="ja-JP" dirty="0"/>
              <a:t>2-way </a:t>
            </a:r>
            <a:r>
              <a:rPr kumimoji="1" lang="ja-JP" altLang="en-US" dirty="0"/>
              <a:t>スーパスカラ・プロセッサの例</a:t>
            </a:r>
          </a:p>
        </p:txBody>
      </p:sp>
      <p:sp>
        <p:nvSpPr>
          <p:cNvPr id="3" name="テキスト プレースホルダー 2"/>
          <p:cNvSpPr>
            <a:spLocks noGrp="1"/>
          </p:cNvSpPr>
          <p:nvPr>
            <p:ph type="body" sz="quarter" idx="10"/>
          </p:nvPr>
        </p:nvSpPr>
        <p:spPr>
          <a:xfrm>
            <a:off x="1325948" y="6219031"/>
            <a:ext cx="8910099" cy="449698"/>
          </a:xfrm>
        </p:spPr>
        <p:txBody>
          <a:bodyPr/>
          <a:lstStyle/>
          <a:p>
            <a:pPr lvl="1"/>
            <a:r>
              <a:rPr lang="ja-JP" altLang="en-US" dirty="0"/>
              <a:t>フェッチ，レジスタ・アクセス，</a:t>
            </a:r>
            <a:r>
              <a:rPr lang="en-US" altLang="ja-JP" dirty="0"/>
              <a:t>ALU </a:t>
            </a:r>
            <a:r>
              <a:rPr lang="ja-JP" altLang="en-US" dirty="0"/>
              <a:t>を２命令分に拡張（赤線）</a:t>
            </a:r>
            <a:endParaRPr lang="en-US" altLang="ja-JP" dirty="0"/>
          </a:p>
          <a:p>
            <a:pPr lvl="1"/>
            <a:r>
              <a:rPr kumimoji="1" lang="ja-JP" altLang="en-US" dirty="0"/>
              <a:t>この例では，データ・メモリは１つのまま（並列実行に制限がある）</a:t>
            </a:r>
          </a:p>
        </p:txBody>
      </p:sp>
      <p:sp>
        <p:nvSpPr>
          <p:cNvPr id="4" name="正方形/長方形 3"/>
          <p:cNvSpPr/>
          <p:nvPr/>
        </p:nvSpPr>
        <p:spPr bwMode="auto">
          <a:xfrm>
            <a:off x="2495960" y="2528990"/>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528990"/>
            <a:ext cx="1440016" cy="306003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528990"/>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2888993"/>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 0</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2888994"/>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248998"/>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078983"/>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628980"/>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538979"/>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088974"/>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268975"/>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088974"/>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76" y="3248998"/>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2495960"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18" name="正方形/長方形 17"/>
          <p:cNvSpPr/>
          <p:nvPr/>
        </p:nvSpPr>
        <p:spPr bwMode="auto">
          <a:xfrm>
            <a:off x="3575972"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19" name="Freeform 10"/>
          <p:cNvSpPr>
            <a:spLocks/>
          </p:cNvSpPr>
          <p:nvPr/>
        </p:nvSpPr>
        <p:spPr bwMode="auto">
          <a:xfrm flipV="1">
            <a:off x="4475982" y="3068993"/>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429000"/>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1" name="正方形/長方形 20"/>
          <p:cNvSpPr/>
          <p:nvPr/>
        </p:nvSpPr>
        <p:spPr bwMode="auto">
          <a:xfrm>
            <a:off x="4655984" y="252899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 ０</a:t>
            </a:r>
          </a:p>
        </p:txBody>
      </p:sp>
      <p:sp>
        <p:nvSpPr>
          <p:cNvPr id="22" name="正方形/長方形 21"/>
          <p:cNvSpPr/>
          <p:nvPr/>
        </p:nvSpPr>
        <p:spPr bwMode="auto">
          <a:xfrm>
            <a:off x="465598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 </a:t>
            </a:r>
            <a:r>
              <a:rPr lang="en-US" altLang="ja-JP" sz="1200" dirty="0">
                <a:latin typeface="メイリオ" panose="020B0604030504040204" pitchFamily="50" charset="-128"/>
                <a:ea typeface="メイリオ" panose="020B0604030504040204" pitchFamily="50" charset="-128"/>
              </a:rPr>
              <a:t>0</a:t>
            </a:r>
            <a:endParaRPr lang="ja-JP" altLang="en-US" sz="1200" dirty="0">
              <a:latin typeface="メイリオ" panose="020B0604030504040204" pitchFamily="50" charset="-128"/>
              <a:ea typeface="メイリオ" panose="020B0604030504040204" pitchFamily="50" charset="-128"/>
            </a:endParaRPr>
          </a:p>
        </p:txBody>
      </p:sp>
      <p:sp>
        <p:nvSpPr>
          <p:cNvPr id="23" name="正方形/長方形 22"/>
          <p:cNvSpPr/>
          <p:nvPr/>
        </p:nvSpPr>
        <p:spPr bwMode="auto">
          <a:xfrm>
            <a:off x="4655984"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 </a:t>
            </a:r>
            <a:r>
              <a:rPr lang="en-US" altLang="ja-JP" sz="1200" dirty="0">
                <a:latin typeface="メイリオ" panose="020B0604030504040204" pitchFamily="50" charset="-128"/>
                <a:ea typeface="メイリオ" panose="020B0604030504040204" pitchFamily="50" charset="-128"/>
              </a:rPr>
              <a:t>0</a:t>
            </a:r>
            <a:endParaRPr lang="ja-JP" altLang="en-US" sz="1200"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4655984" y="360900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 </a:t>
            </a:r>
            <a:r>
              <a:rPr lang="en-US" altLang="ja-JP" sz="1200" dirty="0">
                <a:latin typeface="メイリオ" panose="020B0604030504040204" pitchFamily="50" charset="-128"/>
                <a:ea typeface="メイリオ" panose="020B0604030504040204" pitchFamily="50" charset="-128"/>
              </a:rPr>
              <a:t>0</a:t>
            </a:r>
            <a:endParaRPr lang="ja-JP" altLang="en-US" sz="1200"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2495960" y="2528990"/>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7" name="直線矢印コネクタ 26"/>
          <p:cNvCxnSpPr/>
          <p:nvPr/>
        </p:nvCxnSpPr>
        <p:spPr bwMode="auto">
          <a:xfrm>
            <a:off x="4475982" y="3789004"/>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2078986"/>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39" y="2528990"/>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248998"/>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7536016" y="3248998"/>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6096000" y="2888994"/>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699003"/>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825602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8256024"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5" y="3699003"/>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699002"/>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288899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正方形/長方形 38"/>
          <p:cNvSpPr/>
          <p:nvPr/>
        </p:nvSpPr>
        <p:spPr bwMode="auto">
          <a:xfrm>
            <a:off x="8256024" y="3519001"/>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0" name="直線矢印コネクタ 39"/>
          <p:cNvCxnSpPr/>
          <p:nvPr/>
        </p:nvCxnSpPr>
        <p:spPr bwMode="auto">
          <a:xfrm>
            <a:off x="10056044" y="2258987"/>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4475983" y="2078985"/>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8076022" y="2348985"/>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2033984"/>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8796030"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2045955" y="1358977"/>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ja-JP" altLang="en-US" b="1" dirty="0">
                <a:solidFill>
                  <a:schemeClr val="accent6"/>
                </a:solidFill>
                <a:latin typeface="メイリオ" panose="020B0604030504040204" pitchFamily="50" charset="-128"/>
                <a:ea typeface="メイリオ" panose="020B0604030504040204" pitchFamily="50" charset="-128"/>
              </a:rPr>
              <a:t>８</a:t>
            </a:r>
          </a:p>
        </p:txBody>
      </p:sp>
      <p:sp>
        <p:nvSpPr>
          <p:cNvPr id="46" name="角丸四角形 45"/>
          <p:cNvSpPr/>
          <p:nvPr/>
        </p:nvSpPr>
        <p:spPr bwMode="auto">
          <a:xfrm>
            <a:off x="1524000" y="998973"/>
            <a:ext cx="2520028" cy="4680052"/>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4295980" y="998973"/>
            <a:ext cx="1980022" cy="4680052"/>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8" name="角丸四角形 47"/>
          <p:cNvSpPr/>
          <p:nvPr/>
        </p:nvSpPr>
        <p:spPr bwMode="auto">
          <a:xfrm>
            <a:off x="6456004" y="998973"/>
            <a:ext cx="1530018" cy="4680052"/>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8166023" y="998973"/>
            <a:ext cx="2070022" cy="4680052"/>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正方形/長方形 49"/>
          <p:cNvSpPr/>
          <p:nvPr/>
        </p:nvSpPr>
        <p:spPr bwMode="auto">
          <a:xfrm>
            <a:off x="2135956" y="5679025"/>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4565983" y="5679025"/>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456004" y="5679025"/>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8436026" y="5679025"/>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10171173" y="5679025"/>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grpSp>
        <p:nvGrpSpPr>
          <p:cNvPr id="58" name="グループ化 57"/>
          <p:cNvGrpSpPr/>
          <p:nvPr/>
        </p:nvGrpSpPr>
        <p:grpSpPr>
          <a:xfrm>
            <a:off x="4025977" y="2888994"/>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noFill/>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71" name="正方形/長方形 70"/>
          <p:cNvSpPr/>
          <p:nvPr/>
        </p:nvSpPr>
        <p:spPr bwMode="auto">
          <a:xfrm>
            <a:off x="7626017" y="2258987"/>
            <a:ext cx="360004" cy="315003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7716018" y="5229020"/>
            <a:ext cx="180002" cy="180002"/>
          </a:xfrm>
          <a:prstGeom prst="triangl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5" name="角丸四角形 54"/>
          <p:cNvSpPr/>
          <p:nvPr/>
        </p:nvSpPr>
        <p:spPr bwMode="auto">
          <a:xfrm>
            <a:off x="3485971" y="2708992"/>
            <a:ext cx="720008"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dirty="0">
                <a:latin typeface="Arial Narrow" panose="020B0606020202030204" pitchFamily="34" charset="0"/>
              </a:rPr>
              <a:t>ADD</a:t>
            </a:r>
            <a:endParaRPr lang="ja-JP" altLang="en-US" dirty="0">
              <a:latin typeface="Arial Narrow" panose="020B0606020202030204" pitchFamily="34" charset="0"/>
            </a:endParaRPr>
          </a:p>
        </p:txBody>
      </p:sp>
      <p:sp>
        <p:nvSpPr>
          <p:cNvPr id="65" name="角丸四角形 64"/>
          <p:cNvSpPr/>
          <p:nvPr/>
        </p:nvSpPr>
        <p:spPr bwMode="auto">
          <a:xfrm>
            <a:off x="3485971" y="3248998"/>
            <a:ext cx="720008"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dirty="0">
                <a:latin typeface="Arial Narrow" panose="020B0606020202030204" pitchFamily="34" charset="0"/>
              </a:rPr>
              <a:t>SUB</a:t>
            </a:r>
            <a:endParaRPr lang="ja-JP" altLang="en-US" dirty="0">
              <a:latin typeface="Arial Narrow" panose="020B0606020202030204" pitchFamily="34" charset="0"/>
            </a:endParaRPr>
          </a:p>
        </p:txBody>
      </p:sp>
      <p:sp>
        <p:nvSpPr>
          <p:cNvPr id="66" name="正方形/長方形 65"/>
          <p:cNvSpPr/>
          <p:nvPr/>
        </p:nvSpPr>
        <p:spPr bwMode="auto">
          <a:xfrm>
            <a:off x="4655984" y="414900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solidFill>
                  <a:schemeClr val="accent6"/>
                </a:solidFill>
                <a:latin typeface="メイリオ" panose="020B0604030504040204" pitchFamily="50" charset="-128"/>
                <a:ea typeface="メイリオ" panose="020B0604030504040204" pitchFamily="50" charset="-128"/>
              </a:rPr>
              <a:t>書き</a:t>
            </a:r>
            <a:r>
              <a:rPr lang="en-US" altLang="ja-JP" sz="1200" dirty="0">
                <a:solidFill>
                  <a:schemeClr val="accent6"/>
                </a:solidFill>
                <a:latin typeface="メイリオ" panose="020B0604030504040204" pitchFamily="50" charset="-128"/>
                <a:ea typeface="メイリオ" panose="020B0604030504040204" pitchFamily="50" charset="-128"/>
              </a:rPr>
              <a:t>REG</a:t>
            </a:r>
            <a:r>
              <a:rPr lang="ja-JP" altLang="en-US" sz="1200" dirty="0">
                <a:solidFill>
                  <a:schemeClr val="accent6"/>
                </a:solidFill>
                <a:latin typeface="メイリオ" panose="020B0604030504040204" pitchFamily="50" charset="-128"/>
                <a:ea typeface="メイリオ" panose="020B0604030504040204" pitchFamily="50" charset="-128"/>
              </a:rPr>
              <a:t>番号 </a:t>
            </a:r>
            <a:r>
              <a:rPr lang="en-US" altLang="ja-JP" sz="1200" dirty="0">
                <a:solidFill>
                  <a:schemeClr val="accent6"/>
                </a:solidFill>
                <a:latin typeface="メイリオ" panose="020B0604030504040204" pitchFamily="50" charset="-128"/>
                <a:ea typeface="メイリオ" panose="020B0604030504040204" pitchFamily="50" charset="-128"/>
              </a:rPr>
              <a:t>1</a:t>
            </a:r>
            <a:endParaRPr lang="ja-JP" altLang="en-US" sz="1200" dirty="0">
              <a:solidFill>
                <a:schemeClr val="accent6"/>
              </a:solidFill>
              <a:latin typeface="メイリオ" panose="020B0604030504040204" pitchFamily="50" charset="-128"/>
              <a:ea typeface="メイリオ" panose="020B0604030504040204" pitchFamily="50" charset="-128"/>
            </a:endParaRPr>
          </a:p>
        </p:txBody>
      </p:sp>
      <p:sp>
        <p:nvSpPr>
          <p:cNvPr id="67" name="正方形/長方形 66"/>
          <p:cNvSpPr/>
          <p:nvPr/>
        </p:nvSpPr>
        <p:spPr bwMode="auto">
          <a:xfrm>
            <a:off x="4655984" y="450901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solidFill>
                  <a:schemeClr val="accent6"/>
                </a:solidFill>
                <a:latin typeface="メイリオ" panose="020B0604030504040204" pitchFamily="50" charset="-128"/>
                <a:ea typeface="メイリオ" panose="020B0604030504040204" pitchFamily="50" charset="-128"/>
              </a:rPr>
              <a:t>読み</a:t>
            </a:r>
            <a:r>
              <a:rPr lang="en-US" altLang="ja-JP" sz="1200" dirty="0">
                <a:solidFill>
                  <a:schemeClr val="accent6"/>
                </a:solidFill>
                <a:latin typeface="メイリオ" panose="020B0604030504040204" pitchFamily="50" charset="-128"/>
                <a:ea typeface="メイリオ" panose="020B0604030504040204" pitchFamily="50" charset="-128"/>
              </a:rPr>
              <a:t>REG</a:t>
            </a:r>
            <a:r>
              <a:rPr lang="ja-JP" altLang="en-US" sz="1200" dirty="0">
                <a:solidFill>
                  <a:schemeClr val="accent6"/>
                </a:solidFill>
                <a:latin typeface="メイリオ" panose="020B0604030504040204" pitchFamily="50" charset="-128"/>
                <a:ea typeface="メイリオ" panose="020B0604030504040204" pitchFamily="50" charset="-128"/>
              </a:rPr>
              <a:t>番号 </a:t>
            </a:r>
            <a:r>
              <a:rPr lang="en-US" altLang="ja-JP" sz="1200" dirty="0">
                <a:solidFill>
                  <a:schemeClr val="accent6"/>
                </a:solidFill>
                <a:latin typeface="メイリオ" panose="020B0604030504040204" pitchFamily="50" charset="-128"/>
                <a:ea typeface="メイリオ" panose="020B0604030504040204" pitchFamily="50" charset="-128"/>
              </a:rPr>
              <a:t>1</a:t>
            </a:r>
            <a:endParaRPr lang="ja-JP" altLang="en-US" sz="1200" dirty="0">
              <a:solidFill>
                <a:schemeClr val="accent6"/>
              </a:solidFill>
              <a:latin typeface="メイリオ" panose="020B0604030504040204" pitchFamily="50" charset="-128"/>
              <a:ea typeface="メイリオ" panose="020B0604030504040204" pitchFamily="50" charset="-128"/>
            </a:endParaRPr>
          </a:p>
        </p:txBody>
      </p:sp>
      <p:sp>
        <p:nvSpPr>
          <p:cNvPr id="68" name="正方形/長方形 67"/>
          <p:cNvSpPr/>
          <p:nvPr/>
        </p:nvSpPr>
        <p:spPr bwMode="auto">
          <a:xfrm>
            <a:off x="4655984" y="486901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solidFill>
                  <a:schemeClr val="accent6"/>
                </a:solidFill>
                <a:latin typeface="メイリオ" panose="020B0604030504040204" pitchFamily="50" charset="-128"/>
                <a:ea typeface="メイリオ" panose="020B0604030504040204" pitchFamily="50" charset="-128"/>
              </a:rPr>
              <a:t>読み</a:t>
            </a:r>
            <a:r>
              <a:rPr lang="en-US" altLang="ja-JP" sz="1200" dirty="0">
                <a:solidFill>
                  <a:schemeClr val="accent6"/>
                </a:solidFill>
                <a:latin typeface="メイリオ" panose="020B0604030504040204" pitchFamily="50" charset="-128"/>
                <a:ea typeface="メイリオ" panose="020B0604030504040204" pitchFamily="50" charset="-128"/>
              </a:rPr>
              <a:t>REG</a:t>
            </a:r>
            <a:r>
              <a:rPr lang="ja-JP" altLang="en-US" sz="1200" dirty="0">
                <a:solidFill>
                  <a:schemeClr val="accent6"/>
                </a:solidFill>
                <a:latin typeface="メイリオ" panose="020B0604030504040204" pitchFamily="50" charset="-128"/>
                <a:ea typeface="メイリオ" panose="020B0604030504040204" pitchFamily="50" charset="-128"/>
              </a:rPr>
              <a:t>番号 </a:t>
            </a:r>
            <a:r>
              <a:rPr lang="en-US" altLang="ja-JP" sz="1200" dirty="0">
                <a:solidFill>
                  <a:schemeClr val="accent6"/>
                </a:solidFill>
                <a:latin typeface="メイリオ" panose="020B0604030504040204" pitchFamily="50" charset="-128"/>
                <a:ea typeface="メイリオ" panose="020B0604030504040204" pitchFamily="50" charset="-128"/>
              </a:rPr>
              <a:t>1</a:t>
            </a:r>
            <a:endParaRPr lang="ja-JP" altLang="en-US" sz="1200" dirty="0">
              <a:solidFill>
                <a:schemeClr val="accent6"/>
              </a:solidFill>
              <a:latin typeface="メイリオ" panose="020B0604030504040204" pitchFamily="50" charset="-128"/>
              <a:ea typeface="メイリオ" panose="020B0604030504040204" pitchFamily="50" charset="-128"/>
            </a:endParaRPr>
          </a:p>
        </p:txBody>
      </p:sp>
      <p:sp>
        <p:nvSpPr>
          <p:cNvPr id="69" name="フリーフォーム 68"/>
          <p:cNvSpPr>
            <a:spLocks noChangeArrowheads="1"/>
          </p:cNvSpPr>
          <p:nvPr/>
        </p:nvSpPr>
        <p:spPr bwMode="auto">
          <a:xfrm rot="-5400000">
            <a:off x="6546007" y="4419011"/>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 1</a:t>
            </a:r>
            <a:endParaRPr lang="ja-JP" altLang="en-US" sz="1600" dirty="0">
              <a:latin typeface="Arial Narrow" pitchFamily="34" charset="0"/>
              <a:cs typeface="Times New Roman" pitchFamily="18" charset="0"/>
            </a:endParaRPr>
          </a:p>
        </p:txBody>
      </p:sp>
      <p:sp>
        <p:nvSpPr>
          <p:cNvPr id="70" name="Freeform 10"/>
          <p:cNvSpPr>
            <a:spLocks/>
          </p:cNvSpPr>
          <p:nvPr/>
        </p:nvSpPr>
        <p:spPr bwMode="auto">
          <a:xfrm flipV="1">
            <a:off x="4475982" y="4329011"/>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28575"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73" name="直線矢印コネクタ 72"/>
          <p:cNvCxnSpPr/>
          <p:nvPr/>
        </p:nvCxnSpPr>
        <p:spPr bwMode="auto">
          <a:xfrm>
            <a:off x="4475982" y="4689018"/>
            <a:ext cx="180002" cy="0"/>
          </a:xfrm>
          <a:prstGeom prst="straightConnector1">
            <a:avLst/>
          </a:prstGeom>
          <a:noFill/>
          <a:ln w="28575" cap="flat" cmpd="sng" algn="ctr">
            <a:solidFill>
              <a:schemeClr val="accent6"/>
            </a:solidFill>
            <a:prstDash val="solid"/>
            <a:round/>
            <a:headEnd type="oval" w="sm" len="sm"/>
            <a:tailEnd type="triangle"/>
          </a:ln>
          <a:effectLst/>
        </p:spPr>
      </p:cxnSp>
      <p:cxnSp>
        <p:nvCxnSpPr>
          <p:cNvPr id="74" name="直線矢印コネクタ 73"/>
          <p:cNvCxnSpPr/>
          <p:nvPr/>
        </p:nvCxnSpPr>
        <p:spPr bwMode="auto">
          <a:xfrm>
            <a:off x="4475982" y="5049022"/>
            <a:ext cx="180002" cy="0"/>
          </a:xfrm>
          <a:prstGeom prst="straightConnector1">
            <a:avLst/>
          </a:prstGeom>
          <a:noFill/>
          <a:ln w="28575" cap="flat" cmpd="sng" algn="ctr">
            <a:solidFill>
              <a:schemeClr val="accent6"/>
            </a:solidFill>
            <a:prstDash val="solid"/>
            <a:round/>
            <a:headEnd type="none" w="sm" len="sm"/>
            <a:tailEnd type="triangle"/>
          </a:ln>
          <a:effectLst/>
        </p:spPr>
      </p:cxnSp>
      <p:sp>
        <p:nvSpPr>
          <p:cNvPr id="75" name="Freeform 10"/>
          <p:cNvSpPr>
            <a:spLocks/>
          </p:cNvSpPr>
          <p:nvPr/>
        </p:nvSpPr>
        <p:spPr bwMode="auto">
          <a:xfrm>
            <a:off x="4385981" y="3339000"/>
            <a:ext cx="90001" cy="135001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28575"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76" name="直線矢印コネクタ 75"/>
          <p:cNvCxnSpPr/>
          <p:nvPr/>
        </p:nvCxnSpPr>
        <p:spPr bwMode="auto">
          <a:xfrm>
            <a:off x="6096000" y="4419011"/>
            <a:ext cx="720008" cy="0"/>
          </a:xfrm>
          <a:prstGeom prst="straightConnector1">
            <a:avLst/>
          </a:prstGeom>
          <a:noFill/>
          <a:ln w="28575" cap="flat" cmpd="sng" algn="ctr">
            <a:solidFill>
              <a:schemeClr val="accent6"/>
            </a:solidFill>
            <a:prstDash val="solid"/>
            <a:round/>
            <a:headEnd type="none" w="sm" len="sm"/>
            <a:tailEnd type="triangle"/>
          </a:ln>
          <a:effectLst/>
        </p:spPr>
      </p:cxnSp>
      <p:cxnSp>
        <p:nvCxnSpPr>
          <p:cNvPr id="77" name="直線矢印コネクタ 76"/>
          <p:cNvCxnSpPr/>
          <p:nvPr/>
        </p:nvCxnSpPr>
        <p:spPr bwMode="auto">
          <a:xfrm>
            <a:off x="6096000" y="5229020"/>
            <a:ext cx="720008" cy="0"/>
          </a:xfrm>
          <a:prstGeom prst="straightConnector1">
            <a:avLst/>
          </a:prstGeom>
          <a:noFill/>
          <a:ln w="28575" cap="flat" cmpd="sng" algn="ctr">
            <a:solidFill>
              <a:schemeClr val="accent6"/>
            </a:solidFill>
            <a:prstDash val="solid"/>
            <a:round/>
            <a:headEnd type="none" w="sm" len="sm"/>
            <a:tailEnd type="triangle"/>
          </a:ln>
          <a:effectLst/>
        </p:spPr>
      </p:cxnSp>
      <p:sp>
        <p:nvSpPr>
          <p:cNvPr id="63" name="正方形/長方形 62"/>
          <p:cNvSpPr/>
          <p:nvPr/>
        </p:nvSpPr>
        <p:spPr bwMode="auto">
          <a:xfrm>
            <a:off x="6186001" y="2528991"/>
            <a:ext cx="360004" cy="2880031"/>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6276002" y="5229020"/>
            <a:ext cx="180002" cy="180002"/>
          </a:xfrm>
          <a:prstGeom prst="triangl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accent5"/>
              </a:solidFill>
              <a:latin typeface="+mn-ea"/>
            </a:endParaRPr>
          </a:p>
        </p:txBody>
      </p:sp>
      <p:sp>
        <p:nvSpPr>
          <p:cNvPr id="79" name="Freeform 10"/>
          <p:cNvSpPr>
            <a:spLocks/>
          </p:cNvSpPr>
          <p:nvPr/>
        </p:nvSpPr>
        <p:spPr bwMode="auto">
          <a:xfrm rot="5400000" flipH="1" flipV="1">
            <a:off x="5961000" y="3293996"/>
            <a:ext cx="990012" cy="396004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28575" cap="flat" cmpd="sng">
            <a:solidFill>
              <a:schemeClr val="accent6"/>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80" name="Freeform 10"/>
          <p:cNvSpPr>
            <a:spLocks/>
          </p:cNvSpPr>
          <p:nvPr/>
        </p:nvSpPr>
        <p:spPr bwMode="auto">
          <a:xfrm flipV="1">
            <a:off x="4475982" y="5319021"/>
            <a:ext cx="180002"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28575"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81" name="正方形/長方形 80"/>
          <p:cNvSpPr/>
          <p:nvPr/>
        </p:nvSpPr>
        <p:spPr bwMode="auto">
          <a:xfrm>
            <a:off x="4655984" y="522902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solidFill>
                  <a:schemeClr val="accent6"/>
                </a:solidFill>
                <a:latin typeface="メイリオ" panose="020B0604030504040204" pitchFamily="50" charset="-128"/>
                <a:ea typeface="メイリオ" panose="020B0604030504040204" pitchFamily="50" charset="-128"/>
              </a:rPr>
              <a:t>書き込みデータ １</a:t>
            </a:r>
          </a:p>
        </p:txBody>
      </p:sp>
    </p:spTree>
    <p:extLst>
      <p:ext uri="{BB962C8B-B14F-4D97-AF65-F5344CB8AC3E}">
        <p14:creationId xmlns:p14="http://schemas.microsoft.com/office/powerpoint/2010/main" val="42582207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単純なスーパスカラによる性能向上</a:t>
            </a:r>
          </a:p>
        </p:txBody>
      </p:sp>
      <p:sp>
        <p:nvSpPr>
          <p:cNvPr id="3" name="テキスト プレースホルダー 2"/>
          <p:cNvSpPr>
            <a:spLocks noGrp="1"/>
          </p:cNvSpPr>
          <p:nvPr>
            <p:ph type="body" sz="quarter" idx="10"/>
          </p:nvPr>
        </p:nvSpPr>
        <p:spPr>
          <a:xfrm>
            <a:off x="2135956" y="1088975"/>
            <a:ext cx="8280092" cy="2160024"/>
          </a:xfrm>
        </p:spPr>
        <p:txBody>
          <a:bodyPr/>
          <a:lstStyle/>
          <a:p>
            <a:r>
              <a:rPr kumimoji="1" lang="ja-JP" altLang="en-US" dirty="0"/>
              <a:t>理想的には，並列に用意した資源の分だけ性能が向上</a:t>
            </a:r>
            <a:endParaRPr kumimoji="1" lang="en-US" altLang="ja-JP" dirty="0"/>
          </a:p>
          <a:p>
            <a:pPr lvl="1"/>
            <a:r>
              <a:rPr lang="en-US" altLang="ja-JP" dirty="0"/>
              <a:t>2-way </a:t>
            </a:r>
            <a:r>
              <a:rPr lang="ja-JP" altLang="en-US" dirty="0"/>
              <a:t>→ 性能は２倍</a:t>
            </a:r>
            <a:endParaRPr lang="en-US" altLang="ja-JP" dirty="0"/>
          </a:p>
          <a:p>
            <a:pPr lvl="1"/>
            <a:r>
              <a:rPr lang="ja-JP" altLang="en-US" dirty="0"/>
              <a:t>下の図は，理想的にパイプラインが回った場合</a:t>
            </a:r>
            <a:endParaRPr lang="en-US" altLang="ja-JP" dirty="0"/>
          </a:p>
        </p:txBody>
      </p:sp>
      <p:cxnSp>
        <p:nvCxnSpPr>
          <p:cNvPr id="4" name="直線コネクタ 3"/>
          <p:cNvCxnSpPr>
            <a:endCxn id="10" idx="1"/>
          </p:cNvCxnSpPr>
          <p:nvPr/>
        </p:nvCxnSpPr>
        <p:spPr bwMode="auto">
          <a:xfrm flipV="1">
            <a:off x="4115978" y="4059005"/>
            <a:ext cx="540006" cy="2"/>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4115978" y="3609002"/>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4655984" y="342900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5105989" y="342900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8" name="Rectangle 71"/>
          <p:cNvSpPr>
            <a:spLocks noChangeArrowheads="1"/>
          </p:cNvSpPr>
          <p:nvPr/>
        </p:nvSpPr>
        <p:spPr bwMode="auto">
          <a:xfrm>
            <a:off x="5555994" y="342900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9" name="Rectangle 72"/>
          <p:cNvSpPr>
            <a:spLocks noChangeArrowheads="1"/>
          </p:cNvSpPr>
          <p:nvPr/>
        </p:nvSpPr>
        <p:spPr bwMode="auto">
          <a:xfrm>
            <a:off x="6005999" y="342900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0" name="Rectangle 69"/>
          <p:cNvSpPr>
            <a:spLocks noChangeArrowheads="1"/>
          </p:cNvSpPr>
          <p:nvPr/>
        </p:nvSpPr>
        <p:spPr bwMode="auto">
          <a:xfrm>
            <a:off x="4655984" y="387900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1" name="Rectangle 70"/>
          <p:cNvSpPr>
            <a:spLocks noChangeArrowheads="1"/>
          </p:cNvSpPr>
          <p:nvPr/>
        </p:nvSpPr>
        <p:spPr bwMode="auto">
          <a:xfrm>
            <a:off x="5105989" y="387900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2" name="Rectangle 71"/>
          <p:cNvSpPr>
            <a:spLocks noChangeArrowheads="1"/>
          </p:cNvSpPr>
          <p:nvPr/>
        </p:nvSpPr>
        <p:spPr bwMode="auto">
          <a:xfrm>
            <a:off x="5555994" y="387900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3" name="Rectangle 72"/>
          <p:cNvSpPr>
            <a:spLocks noChangeArrowheads="1"/>
          </p:cNvSpPr>
          <p:nvPr/>
        </p:nvSpPr>
        <p:spPr bwMode="auto">
          <a:xfrm>
            <a:off x="6005999" y="387900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4" name="Rectangle 73"/>
          <p:cNvSpPr>
            <a:spLocks noChangeArrowheads="1"/>
          </p:cNvSpPr>
          <p:nvPr/>
        </p:nvSpPr>
        <p:spPr bwMode="auto">
          <a:xfrm>
            <a:off x="6456004" y="387900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15" name="Rectangle 69"/>
          <p:cNvSpPr>
            <a:spLocks noChangeArrowheads="1"/>
          </p:cNvSpPr>
          <p:nvPr/>
        </p:nvSpPr>
        <p:spPr bwMode="auto">
          <a:xfrm>
            <a:off x="5105989" y="432901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6" name="Rectangle 70"/>
          <p:cNvSpPr>
            <a:spLocks noChangeArrowheads="1"/>
          </p:cNvSpPr>
          <p:nvPr/>
        </p:nvSpPr>
        <p:spPr bwMode="auto">
          <a:xfrm>
            <a:off x="5555994" y="432901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7" name="Rectangle 71"/>
          <p:cNvSpPr>
            <a:spLocks noChangeArrowheads="1"/>
          </p:cNvSpPr>
          <p:nvPr/>
        </p:nvSpPr>
        <p:spPr bwMode="auto">
          <a:xfrm>
            <a:off x="6005999" y="432901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8" name="Rectangle 72"/>
          <p:cNvSpPr>
            <a:spLocks noChangeArrowheads="1"/>
          </p:cNvSpPr>
          <p:nvPr/>
        </p:nvSpPr>
        <p:spPr bwMode="auto">
          <a:xfrm>
            <a:off x="6456004" y="432901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9" name="Rectangle 73"/>
          <p:cNvSpPr>
            <a:spLocks noChangeArrowheads="1"/>
          </p:cNvSpPr>
          <p:nvPr/>
        </p:nvSpPr>
        <p:spPr bwMode="auto">
          <a:xfrm>
            <a:off x="6906009" y="432901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0" name="Rectangle 69"/>
          <p:cNvSpPr>
            <a:spLocks noChangeArrowheads="1"/>
          </p:cNvSpPr>
          <p:nvPr/>
        </p:nvSpPr>
        <p:spPr bwMode="auto">
          <a:xfrm>
            <a:off x="5105989" y="477901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1" name="Rectangle 70"/>
          <p:cNvSpPr>
            <a:spLocks noChangeArrowheads="1"/>
          </p:cNvSpPr>
          <p:nvPr/>
        </p:nvSpPr>
        <p:spPr bwMode="auto">
          <a:xfrm>
            <a:off x="5555994" y="477901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2" name="Rectangle 71"/>
          <p:cNvSpPr>
            <a:spLocks noChangeArrowheads="1"/>
          </p:cNvSpPr>
          <p:nvPr/>
        </p:nvSpPr>
        <p:spPr bwMode="auto">
          <a:xfrm>
            <a:off x="6005999" y="477901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3" name="Rectangle 72"/>
          <p:cNvSpPr>
            <a:spLocks noChangeArrowheads="1"/>
          </p:cNvSpPr>
          <p:nvPr/>
        </p:nvSpPr>
        <p:spPr bwMode="auto">
          <a:xfrm>
            <a:off x="6456004" y="477901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4" name="Rectangle 73"/>
          <p:cNvSpPr>
            <a:spLocks noChangeArrowheads="1"/>
          </p:cNvSpPr>
          <p:nvPr/>
        </p:nvSpPr>
        <p:spPr bwMode="auto">
          <a:xfrm>
            <a:off x="6906009" y="477901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5" name="Rectangle 69"/>
          <p:cNvSpPr>
            <a:spLocks noChangeArrowheads="1"/>
          </p:cNvSpPr>
          <p:nvPr/>
        </p:nvSpPr>
        <p:spPr bwMode="auto">
          <a:xfrm>
            <a:off x="5555994" y="522902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6" name="Rectangle 70"/>
          <p:cNvSpPr>
            <a:spLocks noChangeArrowheads="1"/>
          </p:cNvSpPr>
          <p:nvPr/>
        </p:nvSpPr>
        <p:spPr bwMode="auto">
          <a:xfrm>
            <a:off x="6005999" y="522902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7" name="Rectangle 71"/>
          <p:cNvSpPr>
            <a:spLocks noChangeArrowheads="1"/>
          </p:cNvSpPr>
          <p:nvPr/>
        </p:nvSpPr>
        <p:spPr bwMode="auto">
          <a:xfrm>
            <a:off x="6456004" y="522902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8" name="Rectangle 72"/>
          <p:cNvSpPr>
            <a:spLocks noChangeArrowheads="1"/>
          </p:cNvSpPr>
          <p:nvPr/>
        </p:nvSpPr>
        <p:spPr bwMode="auto">
          <a:xfrm>
            <a:off x="6906009" y="522902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9" name="Rectangle 73"/>
          <p:cNvSpPr>
            <a:spLocks noChangeArrowheads="1"/>
          </p:cNvSpPr>
          <p:nvPr/>
        </p:nvSpPr>
        <p:spPr bwMode="auto">
          <a:xfrm>
            <a:off x="7356014" y="522902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30" name="Rectangle 69"/>
          <p:cNvSpPr>
            <a:spLocks noChangeArrowheads="1"/>
          </p:cNvSpPr>
          <p:nvPr/>
        </p:nvSpPr>
        <p:spPr bwMode="auto">
          <a:xfrm>
            <a:off x="5555994" y="567902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31" name="Rectangle 70"/>
          <p:cNvSpPr>
            <a:spLocks noChangeArrowheads="1"/>
          </p:cNvSpPr>
          <p:nvPr/>
        </p:nvSpPr>
        <p:spPr bwMode="auto">
          <a:xfrm>
            <a:off x="6005999" y="567902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32" name="Rectangle 71"/>
          <p:cNvSpPr>
            <a:spLocks noChangeArrowheads="1"/>
          </p:cNvSpPr>
          <p:nvPr/>
        </p:nvSpPr>
        <p:spPr bwMode="auto">
          <a:xfrm>
            <a:off x="6456004" y="567902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33" name="Rectangle 72"/>
          <p:cNvSpPr>
            <a:spLocks noChangeArrowheads="1"/>
          </p:cNvSpPr>
          <p:nvPr/>
        </p:nvSpPr>
        <p:spPr bwMode="auto">
          <a:xfrm>
            <a:off x="6906009" y="567902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34" name="Rectangle 73"/>
          <p:cNvSpPr>
            <a:spLocks noChangeArrowheads="1"/>
          </p:cNvSpPr>
          <p:nvPr/>
        </p:nvSpPr>
        <p:spPr bwMode="auto">
          <a:xfrm>
            <a:off x="7356014" y="567902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cxnSp>
        <p:nvCxnSpPr>
          <p:cNvPr id="35" name="直線コネクタ 34"/>
          <p:cNvCxnSpPr>
            <a:endCxn id="15" idx="1"/>
          </p:cNvCxnSpPr>
          <p:nvPr/>
        </p:nvCxnSpPr>
        <p:spPr bwMode="auto">
          <a:xfrm flipV="1">
            <a:off x="4115979" y="4509010"/>
            <a:ext cx="990011" cy="2"/>
          </a:xfrm>
          <a:prstGeom prst="line">
            <a:avLst/>
          </a:prstGeom>
          <a:noFill/>
          <a:ln w="9525" cap="flat" cmpd="sng" algn="ctr">
            <a:solidFill>
              <a:schemeClr val="tx1"/>
            </a:solidFill>
            <a:prstDash val="dash"/>
            <a:round/>
            <a:headEnd type="none" w="med" len="med"/>
            <a:tailEnd type="none" w="med" len="med"/>
          </a:ln>
          <a:effectLst/>
        </p:spPr>
      </p:cxnSp>
      <p:sp>
        <p:nvSpPr>
          <p:cNvPr id="36" name="正方形/長方形 35"/>
          <p:cNvSpPr/>
          <p:nvPr/>
        </p:nvSpPr>
        <p:spPr bwMode="auto">
          <a:xfrm>
            <a:off x="3395970" y="432901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7" name="直線コネクタ 36"/>
          <p:cNvCxnSpPr>
            <a:endCxn id="20" idx="1"/>
          </p:cNvCxnSpPr>
          <p:nvPr/>
        </p:nvCxnSpPr>
        <p:spPr bwMode="auto">
          <a:xfrm flipV="1">
            <a:off x="4115979" y="4959015"/>
            <a:ext cx="990011" cy="2"/>
          </a:xfrm>
          <a:prstGeom prst="line">
            <a:avLst/>
          </a:prstGeom>
          <a:noFill/>
          <a:ln w="9525" cap="flat" cmpd="sng" algn="ctr">
            <a:solidFill>
              <a:schemeClr val="tx1"/>
            </a:solidFill>
            <a:prstDash val="dash"/>
            <a:round/>
            <a:headEnd type="none" w="med" len="med"/>
            <a:tailEnd type="none" w="med" len="med"/>
          </a:ln>
          <a:effectLst/>
        </p:spPr>
      </p:cxnSp>
      <p:sp>
        <p:nvSpPr>
          <p:cNvPr id="38" name="正方形/長方形 37"/>
          <p:cNvSpPr/>
          <p:nvPr/>
        </p:nvSpPr>
        <p:spPr bwMode="auto">
          <a:xfrm>
            <a:off x="3395970" y="4779015"/>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9" name="直線コネクタ 38"/>
          <p:cNvCxnSpPr>
            <a:stCxn id="40" idx="3"/>
            <a:endCxn id="25" idx="1"/>
          </p:cNvCxnSpPr>
          <p:nvPr/>
        </p:nvCxnSpPr>
        <p:spPr bwMode="auto">
          <a:xfrm flipV="1">
            <a:off x="4115978" y="5409020"/>
            <a:ext cx="1440016" cy="2"/>
          </a:xfrm>
          <a:prstGeom prst="line">
            <a:avLst/>
          </a:prstGeom>
          <a:noFill/>
          <a:ln w="9525" cap="flat" cmpd="sng" algn="ctr">
            <a:solidFill>
              <a:schemeClr val="tx1"/>
            </a:solidFill>
            <a:prstDash val="dash"/>
            <a:round/>
            <a:headEnd type="none" w="med" len="med"/>
            <a:tailEnd type="none" w="med" len="med"/>
          </a:ln>
          <a:effectLst/>
        </p:spPr>
      </p:cxnSp>
      <p:sp>
        <p:nvSpPr>
          <p:cNvPr id="40" name="正方形/長方形 39"/>
          <p:cNvSpPr/>
          <p:nvPr/>
        </p:nvSpPr>
        <p:spPr bwMode="auto">
          <a:xfrm>
            <a:off x="3395970" y="522902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1" name="直線コネクタ 40"/>
          <p:cNvCxnSpPr>
            <a:stCxn id="42" idx="3"/>
            <a:endCxn id="30" idx="1"/>
          </p:cNvCxnSpPr>
          <p:nvPr/>
        </p:nvCxnSpPr>
        <p:spPr bwMode="auto">
          <a:xfrm flipV="1">
            <a:off x="4115978" y="5859025"/>
            <a:ext cx="1440016" cy="2"/>
          </a:xfrm>
          <a:prstGeom prst="line">
            <a:avLst/>
          </a:prstGeom>
          <a:noFill/>
          <a:ln w="9525" cap="flat" cmpd="sng" algn="ctr">
            <a:solidFill>
              <a:schemeClr val="tx1"/>
            </a:solidFill>
            <a:prstDash val="dash"/>
            <a:round/>
            <a:headEnd type="none" w="med" len="med"/>
            <a:tailEnd type="none" w="med" len="med"/>
          </a:ln>
          <a:effectLst/>
        </p:spPr>
      </p:cxnSp>
      <p:sp>
        <p:nvSpPr>
          <p:cNvPr id="42" name="正方形/長方形 41"/>
          <p:cNvSpPr/>
          <p:nvPr/>
        </p:nvSpPr>
        <p:spPr bwMode="auto">
          <a:xfrm>
            <a:off x="3395970" y="5679025"/>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Rectangle 73"/>
          <p:cNvSpPr>
            <a:spLocks noChangeArrowheads="1"/>
          </p:cNvSpPr>
          <p:nvPr/>
        </p:nvSpPr>
        <p:spPr bwMode="auto">
          <a:xfrm>
            <a:off x="6456004" y="342900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44" name="正方形/長方形 43"/>
          <p:cNvSpPr/>
          <p:nvPr/>
        </p:nvSpPr>
        <p:spPr bwMode="auto">
          <a:xfrm>
            <a:off x="3395970" y="3879005"/>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5" name="正方形/長方形 44"/>
          <p:cNvSpPr/>
          <p:nvPr/>
        </p:nvSpPr>
        <p:spPr bwMode="auto">
          <a:xfrm>
            <a:off x="3395970" y="342900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706755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スーパスカラによる並列実行の制約</a:t>
            </a:r>
          </a:p>
        </p:txBody>
      </p:sp>
      <p:sp>
        <p:nvSpPr>
          <p:cNvPr id="3" name="テキスト プレースホルダー 2"/>
          <p:cNvSpPr>
            <a:spLocks noGrp="1"/>
          </p:cNvSpPr>
          <p:nvPr>
            <p:ph type="body" sz="quarter" idx="10"/>
          </p:nvPr>
        </p:nvSpPr>
        <p:spPr/>
        <p:txBody>
          <a:bodyPr/>
          <a:lstStyle/>
          <a:p>
            <a:r>
              <a:rPr lang="ja-JP" altLang="en-US" dirty="0"/>
              <a:t>実際はさまざまな制約があり，そんなに性能はあがらない</a:t>
            </a:r>
            <a:endParaRPr lang="en-US" altLang="ja-JP" dirty="0"/>
          </a:p>
          <a:p>
            <a:pPr lvl="1"/>
            <a:r>
              <a:rPr lang="en-US" altLang="ja-JP" dirty="0"/>
              <a:t>2-way </a:t>
            </a:r>
            <a:r>
              <a:rPr lang="ja-JP" altLang="en-US" dirty="0"/>
              <a:t>なら数割ぐらいの向上</a:t>
            </a:r>
            <a:endParaRPr lang="en-US" altLang="ja-JP" dirty="0"/>
          </a:p>
          <a:p>
            <a:r>
              <a:rPr lang="ja-JP" altLang="en-US" dirty="0"/>
              <a:t>典型的な制約の例：</a:t>
            </a:r>
          </a:p>
          <a:p>
            <a:pPr marL="817200" lvl="1" indent="-457200">
              <a:buFont typeface="+mj-lt"/>
              <a:buAutoNum type="arabicPeriod"/>
            </a:pPr>
            <a:r>
              <a:rPr kumimoji="1" lang="ja-JP" altLang="en-US" dirty="0"/>
              <a:t>同時にフェッチされた命令間に依存がある場合</a:t>
            </a:r>
            <a:endParaRPr kumimoji="1" lang="en-US" altLang="ja-JP" dirty="0"/>
          </a:p>
          <a:p>
            <a:pPr marL="817200" lvl="1" indent="-457200">
              <a:buFont typeface="+mj-lt"/>
              <a:buAutoNum type="arabicPeriod"/>
            </a:pPr>
            <a:r>
              <a:rPr kumimoji="1" lang="ja-JP" altLang="en-US" dirty="0"/>
              <a:t>構造ハザードが起きる場合</a:t>
            </a:r>
            <a:endParaRPr kumimoji="1" lang="en-US" altLang="ja-JP" dirty="0"/>
          </a:p>
          <a:p>
            <a:pPr marL="817200" lvl="1" indent="-457200">
              <a:buFont typeface="+mj-lt"/>
              <a:buAutoNum type="arabicPeriod"/>
            </a:pPr>
            <a:r>
              <a:rPr lang="ja-JP" altLang="en-US" dirty="0"/>
              <a:t>同時にフェッチされた命令内に分岐があり，他に飛ぶ場合</a:t>
            </a:r>
            <a:endParaRPr kumimoji="1" lang="en-US" altLang="ja-JP" dirty="0"/>
          </a:p>
        </p:txBody>
      </p:sp>
    </p:spTree>
    <p:extLst>
      <p:ext uri="{BB962C8B-B14F-4D97-AF65-F5344CB8AC3E}">
        <p14:creationId xmlns:p14="http://schemas.microsoft.com/office/powerpoint/2010/main" val="6441327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1. </a:t>
            </a:r>
            <a:r>
              <a:rPr lang="ja-JP" altLang="en-US" dirty="0"/>
              <a:t>同時にフェッチされた命令間に依存がある場合</a:t>
            </a:r>
            <a:endParaRPr kumimoji="1" lang="ja-JP" altLang="en-US" dirty="0"/>
          </a:p>
        </p:txBody>
      </p:sp>
      <p:sp>
        <p:nvSpPr>
          <p:cNvPr id="3" name="テキスト プレースホルダー 2"/>
          <p:cNvSpPr>
            <a:spLocks noGrp="1"/>
          </p:cNvSpPr>
          <p:nvPr>
            <p:ph type="body" sz="quarter" idx="10"/>
          </p:nvPr>
        </p:nvSpPr>
        <p:spPr>
          <a:xfrm>
            <a:off x="2225957" y="4959017"/>
            <a:ext cx="8280092" cy="900010"/>
          </a:xfrm>
        </p:spPr>
        <p:txBody>
          <a:bodyPr/>
          <a:lstStyle/>
          <a:p>
            <a:r>
              <a:rPr lang="ja-JP" altLang="en-US" dirty="0"/>
              <a:t>最悪の場合：</a:t>
            </a:r>
            <a:r>
              <a:rPr kumimoji="1" lang="ja-JP" altLang="en-US" dirty="0"/>
              <a:t>上記のように全ての命令間に連続に依存があるとき</a:t>
            </a:r>
            <a:endParaRPr kumimoji="1" lang="en-US" altLang="ja-JP" dirty="0"/>
          </a:p>
          <a:p>
            <a:pPr lvl="1"/>
            <a:r>
              <a:rPr lang="ja-JP" altLang="en-US" dirty="0"/>
              <a:t>演算が逐次的に行われるようにバブルが入る</a:t>
            </a:r>
            <a:endParaRPr lang="en-US" altLang="ja-JP" dirty="0"/>
          </a:p>
          <a:p>
            <a:pPr lvl="1"/>
            <a:r>
              <a:rPr kumimoji="1" lang="ja-JP" altLang="en-US" dirty="0"/>
              <a:t>スカラ・プロセッサから全く性能があがらない</a:t>
            </a:r>
          </a:p>
        </p:txBody>
      </p:sp>
      <p:cxnSp>
        <p:nvCxnSpPr>
          <p:cNvPr id="4" name="直線コネクタ 3"/>
          <p:cNvCxnSpPr>
            <a:endCxn id="11" idx="1"/>
          </p:cNvCxnSpPr>
          <p:nvPr/>
        </p:nvCxnSpPr>
        <p:spPr bwMode="auto">
          <a:xfrm flipV="1">
            <a:off x="3215968" y="1898981"/>
            <a:ext cx="540006" cy="2"/>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3215968" y="1448978"/>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3755974"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4205979"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8" name="Rectangle 71"/>
          <p:cNvSpPr>
            <a:spLocks noChangeArrowheads="1"/>
          </p:cNvSpPr>
          <p:nvPr/>
        </p:nvSpPr>
        <p:spPr bwMode="auto">
          <a:xfrm>
            <a:off x="4655984" y="1268976"/>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9" name="Rectangle 72"/>
          <p:cNvSpPr>
            <a:spLocks noChangeArrowheads="1"/>
          </p:cNvSpPr>
          <p:nvPr/>
        </p:nvSpPr>
        <p:spPr bwMode="auto">
          <a:xfrm>
            <a:off x="5105989"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1" name="Rectangle 69"/>
          <p:cNvSpPr>
            <a:spLocks noChangeArrowheads="1"/>
          </p:cNvSpPr>
          <p:nvPr/>
        </p:nvSpPr>
        <p:spPr bwMode="auto">
          <a:xfrm>
            <a:off x="3755974"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2" name="Rectangle 70"/>
          <p:cNvSpPr>
            <a:spLocks noChangeArrowheads="1"/>
          </p:cNvSpPr>
          <p:nvPr/>
        </p:nvSpPr>
        <p:spPr bwMode="auto">
          <a:xfrm>
            <a:off x="4205979"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3" name="Rectangle 71"/>
          <p:cNvSpPr>
            <a:spLocks noChangeArrowheads="1"/>
          </p:cNvSpPr>
          <p:nvPr/>
        </p:nvSpPr>
        <p:spPr bwMode="auto">
          <a:xfrm>
            <a:off x="5105989" y="171898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4" name="Rectangle 72"/>
          <p:cNvSpPr>
            <a:spLocks noChangeArrowheads="1"/>
          </p:cNvSpPr>
          <p:nvPr/>
        </p:nvSpPr>
        <p:spPr bwMode="auto">
          <a:xfrm>
            <a:off x="5555994"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5" name="Rectangle 73"/>
          <p:cNvSpPr>
            <a:spLocks noChangeArrowheads="1"/>
          </p:cNvSpPr>
          <p:nvPr/>
        </p:nvSpPr>
        <p:spPr bwMode="auto">
          <a:xfrm>
            <a:off x="6005999"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16" name="Rectangle 69"/>
          <p:cNvSpPr>
            <a:spLocks noChangeArrowheads="1"/>
          </p:cNvSpPr>
          <p:nvPr/>
        </p:nvSpPr>
        <p:spPr bwMode="auto">
          <a:xfrm>
            <a:off x="4205979"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7" name="Rectangle 70"/>
          <p:cNvSpPr>
            <a:spLocks noChangeArrowheads="1"/>
          </p:cNvSpPr>
          <p:nvPr/>
        </p:nvSpPr>
        <p:spPr bwMode="auto">
          <a:xfrm>
            <a:off x="5105989"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8" name="Rectangle 71"/>
          <p:cNvSpPr>
            <a:spLocks noChangeArrowheads="1"/>
          </p:cNvSpPr>
          <p:nvPr/>
        </p:nvSpPr>
        <p:spPr bwMode="auto">
          <a:xfrm>
            <a:off x="5555994" y="2168986"/>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9" name="Rectangle 72"/>
          <p:cNvSpPr>
            <a:spLocks noChangeArrowheads="1"/>
          </p:cNvSpPr>
          <p:nvPr/>
        </p:nvSpPr>
        <p:spPr bwMode="auto">
          <a:xfrm>
            <a:off x="6005999"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0" name="Rectangle 73"/>
          <p:cNvSpPr>
            <a:spLocks noChangeArrowheads="1"/>
          </p:cNvSpPr>
          <p:nvPr/>
        </p:nvSpPr>
        <p:spPr bwMode="auto">
          <a:xfrm>
            <a:off x="6456004"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3" name="Rectangle 69"/>
          <p:cNvSpPr>
            <a:spLocks noChangeArrowheads="1"/>
          </p:cNvSpPr>
          <p:nvPr/>
        </p:nvSpPr>
        <p:spPr bwMode="auto">
          <a:xfrm>
            <a:off x="4205979"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4" name="Rectangle 70"/>
          <p:cNvSpPr>
            <a:spLocks noChangeArrowheads="1"/>
          </p:cNvSpPr>
          <p:nvPr/>
        </p:nvSpPr>
        <p:spPr bwMode="auto">
          <a:xfrm>
            <a:off x="5105989"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5" name="Rectangle 71"/>
          <p:cNvSpPr>
            <a:spLocks noChangeArrowheads="1"/>
          </p:cNvSpPr>
          <p:nvPr/>
        </p:nvSpPr>
        <p:spPr bwMode="auto">
          <a:xfrm>
            <a:off x="6005999" y="261899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26" name="Rectangle 72"/>
          <p:cNvSpPr>
            <a:spLocks noChangeArrowheads="1"/>
          </p:cNvSpPr>
          <p:nvPr/>
        </p:nvSpPr>
        <p:spPr bwMode="auto">
          <a:xfrm>
            <a:off x="6456004"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7" name="Rectangle 73"/>
          <p:cNvSpPr>
            <a:spLocks noChangeArrowheads="1"/>
          </p:cNvSpPr>
          <p:nvPr/>
        </p:nvSpPr>
        <p:spPr bwMode="auto">
          <a:xfrm>
            <a:off x="6906009"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8" name="Rectangle 69"/>
          <p:cNvSpPr>
            <a:spLocks noChangeArrowheads="1"/>
          </p:cNvSpPr>
          <p:nvPr/>
        </p:nvSpPr>
        <p:spPr bwMode="auto">
          <a:xfrm>
            <a:off x="5105989"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9" name="Rectangle 70"/>
          <p:cNvSpPr>
            <a:spLocks noChangeArrowheads="1"/>
          </p:cNvSpPr>
          <p:nvPr/>
        </p:nvSpPr>
        <p:spPr bwMode="auto">
          <a:xfrm>
            <a:off x="6005999"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30" name="Rectangle 71"/>
          <p:cNvSpPr>
            <a:spLocks noChangeArrowheads="1"/>
          </p:cNvSpPr>
          <p:nvPr/>
        </p:nvSpPr>
        <p:spPr bwMode="auto">
          <a:xfrm>
            <a:off x="6456004" y="3068996"/>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31" name="Rectangle 72"/>
          <p:cNvSpPr>
            <a:spLocks noChangeArrowheads="1"/>
          </p:cNvSpPr>
          <p:nvPr/>
        </p:nvSpPr>
        <p:spPr bwMode="auto">
          <a:xfrm>
            <a:off x="6906009"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32" name="Rectangle 73"/>
          <p:cNvSpPr>
            <a:spLocks noChangeArrowheads="1"/>
          </p:cNvSpPr>
          <p:nvPr/>
        </p:nvSpPr>
        <p:spPr bwMode="auto">
          <a:xfrm>
            <a:off x="7356014"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37" name="Rectangle 69"/>
          <p:cNvSpPr>
            <a:spLocks noChangeArrowheads="1"/>
          </p:cNvSpPr>
          <p:nvPr/>
        </p:nvSpPr>
        <p:spPr bwMode="auto">
          <a:xfrm>
            <a:off x="5105989"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39" name="Rectangle 71"/>
          <p:cNvSpPr>
            <a:spLocks noChangeArrowheads="1"/>
          </p:cNvSpPr>
          <p:nvPr/>
        </p:nvSpPr>
        <p:spPr bwMode="auto">
          <a:xfrm>
            <a:off x="6906009" y="351900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40" name="Rectangle 72"/>
          <p:cNvSpPr>
            <a:spLocks noChangeArrowheads="1"/>
          </p:cNvSpPr>
          <p:nvPr/>
        </p:nvSpPr>
        <p:spPr bwMode="auto">
          <a:xfrm>
            <a:off x="7356014"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41" name="Rectangle 73"/>
          <p:cNvSpPr>
            <a:spLocks noChangeArrowheads="1"/>
          </p:cNvSpPr>
          <p:nvPr/>
        </p:nvSpPr>
        <p:spPr bwMode="auto">
          <a:xfrm>
            <a:off x="7806019"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cxnSp>
        <p:nvCxnSpPr>
          <p:cNvPr id="42" name="直線コネクタ 41"/>
          <p:cNvCxnSpPr>
            <a:endCxn id="16" idx="1"/>
          </p:cNvCxnSpPr>
          <p:nvPr/>
        </p:nvCxnSpPr>
        <p:spPr bwMode="auto">
          <a:xfrm flipV="1">
            <a:off x="3215969" y="2348986"/>
            <a:ext cx="990011" cy="2"/>
          </a:xfrm>
          <a:prstGeom prst="line">
            <a:avLst/>
          </a:prstGeom>
          <a:noFill/>
          <a:ln w="9525" cap="flat" cmpd="sng" algn="ctr">
            <a:solidFill>
              <a:schemeClr val="tx1"/>
            </a:solidFill>
            <a:prstDash val="dash"/>
            <a:round/>
            <a:headEnd type="none" w="med" len="med"/>
            <a:tailEnd type="none" w="med" len="med"/>
          </a:ln>
          <a:effectLst/>
        </p:spPr>
      </p:cxnSp>
      <p:cxnSp>
        <p:nvCxnSpPr>
          <p:cNvPr id="45" name="直線コネクタ 44"/>
          <p:cNvCxnSpPr>
            <a:endCxn id="23" idx="1"/>
          </p:cNvCxnSpPr>
          <p:nvPr/>
        </p:nvCxnSpPr>
        <p:spPr bwMode="auto">
          <a:xfrm flipV="1">
            <a:off x="3215969" y="2798991"/>
            <a:ext cx="990011" cy="2"/>
          </a:xfrm>
          <a:prstGeom prst="line">
            <a:avLst/>
          </a:prstGeom>
          <a:noFill/>
          <a:ln w="9525" cap="flat" cmpd="sng" algn="ctr">
            <a:solidFill>
              <a:schemeClr val="tx1"/>
            </a:solidFill>
            <a:prstDash val="dash"/>
            <a:round/>
            <a:headEnd type="none" w="med" len="med"/>
            <a:tailEnd type="none" w="med" len="med"/>
          </a:ln>
          <a:effectLst/>
        </p:spPr>
      </p:cxnSp>
      <p:cxnSp>
        <p:nvCxnSpPr>
          <p:cNvPr id="47" name="直線コネクタ 46"/>
          <p:cNvCxnSpPr>
            <a:stCxn id="58" idx="3"/>
            <a:endCxn id="28" idx="1"/>
          </p:cNvCxnSpPr>
          <p:nvPr/>
        </p:nvCxnSpPr>
        <p:spPr bwMode="auto">
          <a:xfrm flipV="1">
            <a:off x="3215969" y="3248996"/>
            <a:ext cx="1890021" cy="2"/>
          </a:xfrm>
          <a:prstGeom prst="line">
            <a:avLst/>
          </a:prstGeom>
          <a:noFill/>
          <a:ln w="9525" cap="flat" cmpd="sng" algn="ctr">
            <a:solidFill>
              <a:schemeClr val="tx1"/>
            </a:solidFill>
            <a:prstDash val="dash"/>
            <a:round/>
            <a:headEnd type="none" w="med" len="med"/>
            <a:tailEnd type="none" w="med" len="med"/>
          </a:ln>
          <a:effectLst/>
        </p:spPr>
      </p:cxnSp>
      <p:cxnSp>
        <p:nvCxnSpPr>
          <p:cNvPr id="49" name="直線コネクタ 48"/>
          <p:cNvCxnSpPr>
            <a:stCxn id="59" idx="3"/>
            <a:endCxn id="37" idx="1"/>
          </p:cNvCxnSpPr>
          <p:nvPr/>
        </p:nvCxnSpPr>
        <p:spPr bwMode="auto">
          <a:xfrm flipV="1">
            <a:off x="3215969" y="3699001"/>
            <a:ext cx="1890021" cy="2"/>
          </a:xfrm>
          <a:prstGeom prst="line">
            <a:avLst/>
          </a:prstGeom>
          <a:noFill/>
          <a:ln w="9525" cap="flat" cmpd="sng" algn="ctr">
            <a:solidFill>
              <a:schemeClr val="tx1"/>
            </a:solidFill>
            <a:prstDash val="dash"/>
            <a:round/>
            <a:headEnd type="none" w="med" len="med"/>
            <a:tailEnd type="none" w="med" len="med"/>
          </a:ln>
          <a:effectLst/>
        </p:spPr>
      </p:cxnSp>
      <p:sp>
        <p:nvSpPr>
          <p:cNvPr id="51" name="Rectangle 73"/>
          <p:cNvSpPr>
            <a:spLocks noChangeArrowheads="1"/>
          </p:cNvSpPr>
          <p:nvPr/>
        </p:nvSpPr>
        <p:spPr bwMode="auto">
          <a:xfrm>
            <a:off x="5555994"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54" name="正方形/長方形 53"/>
          <p:cNvSpPr/>
          <p:nvPr/>
        </p:nvSpPr>
        <p:spPr bwMode="auto">
          <a:xfrm>
            <a:off x="2495960" y="126897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add x1</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x1+1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5" name="正方形/長方形 54"/>
          <p:cNvSpPr/>
          <p:nvPr/>
        </p:nvSpPr>
        <p:spPr bwMode="auto">
          <a:xfrm>
            <a:off x="2495960" y="171898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add x1</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x1+1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6" name="正方形/長方形 55"/>
          <p:cNvSpPr/>
          <p:nvPr/>
        </p:nvSpPr>
        <p:spPr bwMode="auto">
          <a:xfrm>
            <a:off x="2495960" y="216898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add x1</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x1+1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7" name="正方形/長方形 56"/>
          <p:cNvSpPr/>
          <p:nvPr/>
        </p:nvSpPr>
        <p:spPr bwMode="auto">
          <a:xfrm>
            <a:off x="2495960" y="261899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add x1</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x1+1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8" name="正方形/長方形 57"/>
          <p:cNvSpPr/>
          <p:nvPr/>
        </p:nvSpPr>
        <p:spPr bwMode="auto">
          <a:xfrm>
            <a:off x="2495960" y="306899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add x1</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x1+1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9" name="正方形/長方形 58"/>
          <p:cNvSpPr/>
          <p:nvPr/>
        </p:nvSpPr>
        <p:spPr bwMode="auto">
          <a:xfrm>
            <a:off x="2495960" y="351900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add x1</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x1+1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66" name="Rectangle 73"/>
          <p:cNvSpPr>
            <a:spLocks noChangeArrowheads="1"/>
          </p:cNvSpPr>
          <p:nvPr/>
        </p:nvSpPr>
        <p:spPr bwMode="auto">
          <a:xfrm>
            <a:off x="4655984" y="1718981"/>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69" name="Rectangle 73"/>
          <p:cNvSpPr>
            <a:spLocks noChangeArrowheads="1"/>
          </p:cNvSpPr>
          <p:nvPr/>
        </p:nvSpPr>
        <p:spPr bwMode="auto">
          <a:xfrm>
            <a:off x="4655984" y="2168986"/>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0" name="Rectangle 73"/>
          <p:cNvSpPr>
            <a:spLocks noChangeArrowheads="1"/>
          </p:cNvSpPr>
          <p:nvPr/>
        </p:nvSpPr>
        <p:spPr bwMode="auto">
          <a:xfrm>
            <a:off x="5555994" y="2618991"/>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1" name="Rectangle 73"/>
          <p:cNvSpPr>
            <a:spLocks noChangeArrowheads="1"/>
          </p:cNvSpPr>
          <p:nvPr/>
        </p:nvSpPr>
        <p:spPr bwMode="auto">
          <a:xfrm>
            <a:off x="5555994" y="3519001"/>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2" name="Rectangle 73"/>
          <p:cNvSpPr>
            <a:spLocks noChangeArrowheads="1"/>
          </p:cNvSpPr>
          <p:nvPr/>
        </p:nvSpPr>
        <p:spPr bwMode="auto">
          <a:xfrm>
            <a:off x="5555994" y="3068996"/>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4" name="Rectangle 73"/>
          <p:cNvSpPr>
            <a:spLocks noChangeArrowheads="1"/>
          </p:cNvSpPr>
          <p:nvPr/>
        </p:nvSpPr>
        <p:spPr bwMode="auto">
          <a:xfrm>
            <a:off x="6456004" y="3519001"/>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5" name="Rectangle 73"/>
          <p:cNvSpPr>
            <a:spLocks noChangeArrowheads="1"/>
          </p:cNvSpPr>
          <p:nvPr/>
        </p:nvSpPr>
        <p:spPr bwMode="auto">
          <a:xfrm>
            <a:off x="4655984" y="2618991"/>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8" name="Rectangle 70"/>
          <p:cNvSpPr>
            <a:spLocks noChangeArrowheads="1"/>
          </p:cNvSpPr>
          <p:nvPr/>
        </p:nvSpPr>
        <p:spPr bwMode="auto">
          <a:xfrm>
            <a:off x="6005999"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Tree>
    <p:extLst>
      <p:ext uri="{BB962C8B-B14F-4D97-AF65-F5344CB8AC3E}">
        <p14:creationId xmlns:p14="http://schemas.microsoft.com/office/powerpoint/2010/main" val="5096346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2. </a:t>
            </a:r>
            <a:r>
              <a:rPr lang="ja-JP" altLang="en-US" dirty="0"/>
              <a:t>構造ハザードが起きる場合</a:t>
            </a:r>
            <a:endParaRPr lang="ja-JP" altLang="en-US" sz="2000" dirty="0"/>
          </a:p>
        </p:txBody>
      </p:sp>
      <p:sp>
        <p:nvSpPr>
          <p:cNvPr id="3" name="テキスト プレースホルダー 2"/>
          <p:cNvSpPr>
            <a:spLocks noGrp="1"/>
          </p:cNvSpPr>
          <p:nvPr>
            <p:ph type="body" sz="quarter" idx="10"/>
          </p:nvPr>
        </p:nvSpPr>
        <p:spPr>
          <a:xfrm>
            <a:off x="2135956" y="4149009"/>
            <a:ext cx="8280092" cy="2339719"/>
          </a:xfrm>
        </p:spPr>
        <p:txBody>
          <a:bodyPr/>
          <a:lstStyle/>
          <a:p>
            <a:r>
              <a:rPr kumimoji="1" lang="ja-JP" altLang="en-US" dirty="0"/>
              <a:t>例：先ほどのブロック図のように，メモリは１つしかない場合</a:t>
            </a:r>
            <a:endParaRPr kumimoji="1" lang="en-US" altLang="ja-JP" dirty="0"/>
          </a:p>
          <a:p>
            <a:pPr lvl="1"/>
            <a:r>
              <a:rPr kumimoji="1" lang="ja-JP" altLang="en-US" dirty="0"/>
              <a:t>ロード命令は１サイクルに１つしか実行できない</a:t>
            </a:r>
            <a:endParaRPr kumimoji="1" lang="en-US" altLang="ja-JP" dirty="0"/>
          </a:p>
          <a:p>
            <a:pPr lvl="1"/>
            <a:r>
              <a:rPr kumimoji="1" lang="ja-JP" altLang="en-US" dirty="0"/>
              <a:t>上記のように，ロードが連続するとバブルが入る</a:t>
            </a:r>
            <a:endParaRPr lang="en-US" altLang="ja-JP" dirty="0"/>
          </a:p>
          <a:p>
            <a:r>
              <a:rPr kumimoji="1" lang="ja-JP" altLang="en-US" dirty="0"/>
              <a:t>回路規模が大きい </a:t>
            </a:r>
            <a:r>
              <a:rPr kumimoji="1" lang="en-US" altLang="ja-JP" dirty="0"/>
              <a:t>&amp; </a:t>
            </a:r>
            <a:r>
              <a:rPr kumimoji="1" lang="ja-JP" altLang="en-US" dirty="0"/>
              <a:t>使用頻度が低い演算器はパイプライン間で</a:t>
            </a:r>
            <a:br>
              <a:rPr kumimoji="1" lang="en-US" altLang="ja-JP" dirty="0"/>
            </a:br>
            <a:r>
              <a:rPr kumimoji="1" lang="ja-JP" altLang="en-US" dirty="0"/>
              <a:t>共有されることが多い </a:t>
            </a:r>
            <a:r>
              <a:rPr kumimoji="1" lang="en-US" altLang="ja-JP" dirty="0"/>
              <a:t>= </a:t>
            </a:r>
            <a:r>
              <a:rPr kumimoji="1" lang="ja-JP" altLang="en-US" dirty="0"/>
              <a:t>複数同時に来ると止まる</a:t>
            </a:r>
            <a:endParaRPr lang="en-US" altLang="ja-JP" dirty="0"/>
          </a:p>
          <a:p>
            <a:pPr lvl="1"/>
            <a:r>
              <a:rPr kumimoji="1" lang="ja-JP" altLang="en-US" dirty="0"/>
              <a:t>乗算器，除算器，超越関数の演算器など</a:t>
            </a:r>
            <a:endParaRPr kumimoji="1" lang="en-US" altLang="ja-JP" dirty="0"/>
          </a:p>
        </p:txBody>
      </p:sp>
      <p:cxnSp>
        <p:nvCxnSpPr>
          <p:cNvPr id="4" name="直線コネクタ 3"/>
          <p:cNvCxnSpPr>
            <a:endCxn id="10" idx="1"/>
          </p:cNvCxnSpPr>
          <p:nvPr/>
        </p:nvCxnSpPr>
        <p:spPr bwMode="auto">
          <a:xfrm flipV="1">
            <a:off x="3215968" y="1898981"/>
            <a:ext cx="540006" cy="2"/>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3215968" y="1448978"/>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3755974"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4205979"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8" name="Rectangle 71"/>
          <p:cNvSpPr>
            <a:spLocks noChangeArrowheads="1"/>
          </p:cNvSpPr>
          <p:nvPr/>
        </p:nvSpPr>
        <p:spPr bwMode="auto">
          <a:xfrm>
            <a:off x="4655984"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9" name="Rectangle 72"/>
          <p:cNvSpPr>
            <a:spLocks noChangeArrowheads="1"/>
          </p:cNvSpPr>
          <p:nvPr/>
        </p:nvSpPr>
        <p:spPr bwMode="auto">
          <a:xfrm>
            <a:off x="5105989" y="1268976"/>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200" dirty="0"/>
              <a:t>MEM</a:t>
            </a:r>
          </a:p>
        </p:txBody>
      </p:sp>
      <p:sp>
        <p:nvSpPr>
          <p:cNvPr id="10" name="Rectangle 69"/>
          <p:cNvSpPr>
            <a:spLocks noChangeArrowheads="1"/>
          </p:cNvSpPr>
          <p:nvPr/>
        </p:nvSpPr>
        <p:spPr bwMode="auto">
          <a:xfrm>
            <a:off x="3755974"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1" name="Rectangle 70"/>
          <p:cNvSpPr>
            <a:spLocks noChangeArrowheads="1"/>
          </p:cNvSpPr>
          <p:nvPr/>
        </p:nvSpPr>
        <p:spPr bwMode="auto">
          <a:xfrm>
            <a:off x="4205979"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2" name="Rectangle 71"/>
          <p:cNvSpPr>
            <a:spLocks noChangeArrowheads="1"/>
          </p:cNvSpPr>
          <p:nvPr/>
        </p:nvSpPr>
        <p:spPr bwMode="auto">
          <a:xfrm>
            <a:off x="5105989"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3" name="Rectangle 72"/>
          <p:cNvSpPr>
            <a:spLocks noChangeArrowheads="1"/>
          </p:cNvSpPr>
          <p:nvPr/>
        </p:nvSpPr>
        <p:spPr bwMode="auto">
          <a:xfrm>
            <a:off x="5555994" y="171898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200"/>
              <a:t>MEM</a:t>
            </a:r>
          </a:p>
        </p:txBody>
      </p:sp>
      <p:sp>
        <p:nvSpPr>
          <p:cNvPr id="14" name="Rectangle 73"/>
          <p:cNvSpPr>
            <a:spLocks noChangeArrowheads="1"/>
          </p:cNvSpPr>
          <p:nvPr/>
        </p:nvSpPr>
        <p:spPr bwMode="auto">
          <a:xfrm>
            <a:off x="6005999"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15" name="Rectangle 69"/>
          <p:cNvSpPr>
            <a:spLocks noChangeArrowheads="1"/>
          </p:cNvSpPr>
          <p:nvPr/>
        </p:nvSpPr>
        <p:spPr bwMode="auto">
          <a:xfrm>
            <a:off x="4205979"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6" name="Rectangle 70"/>
          <p:cNvSpPr>
            <a:spLocks noChangeArrowheads="1"/>
          </p:cNvSpPr>
          <p:nvPr/>
        </p:nvSpPr>
        <p:spPr bwMode="auto">
          <a:xfrm>
            <a:off x="5105989"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7" name="Rectangle 71"/>
          <p:cNvSpPr>
            <a:spLocks noChangeArrowheads="1"/>
          </p:cNvSpPr>
          <p:nvPr/>
        </p:nvSpPr>
        <p:spPr bwMode="auto">
          <a:xfrm>
            <a:off x="5555994"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8" name="Rectangle 72"/>
          <p:cNvSpPr>
            <a:spLocks noChangeArrowheads="1"/>
          </p:cNvSpPr>
          <p:nvPr/>
        </p:nvSpPr>
        <p:spPr bwMode="auto">
          <a:xfrm>
            <a:off x="6005999"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9" name="Rectangle 73"/>
          <p:cNvSpPr>
            <a:spLocks noChangeArrowheads="1"/>
          </p:cNvSpPr>
          <p:nvPr/>
        </p:nvSpPr>
        <p:spPr bwMode="auto">
          <a:xfrm>
            <a:off x="6456004"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0" name="Rectangle 69"/>
          <p:cNvSpPr>
            <a:spLocks noChangeArrowheads="1"/>
          </p:cNvSpPr>
          <p:nvPr/>
        </p:nvSpPr>
        <p:spPr bwMode="auto">
          <a:xfrm>
            <a:off x="4205979"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1" name="Rectangle 70"/>
          <p:cNvSpPr>
            <a:spLocks noChangeArrowheads="1"/>
          </p:cNvSpPr>
          <p:nvPr/>
        </p:nvSpPr>
        <p:spPr bwMode="auto">
          <a:xfrm>
            <a:off x="5105989"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2" name="Rectangle 71"/>
          <p:cNvSpPr>
            <a:spLocks noChangeArrowheads="1"/>
          </p:cNvSpPr>
          <p:nvPr/>
        </p:nvSpPr>
        <p:spPr bwMode="auto">
          <a:xfrm>
            <a:off x="5555994"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EX</a:t>
            </a:r>
          </a:p>
        </p:txBody>
      </p:sp>
      <p:sp>
        <p:nvSpPr>
          <p:cNvPr id="23" name="Rectangle 72"/>
          <p:cNvSpPr>
            <a:spLocks noChangeArrowheads="1"/>
          </p:cNvSpPr>
          <p:nvPr/>
        </p:nvSpPr>
        <p:spPr bwMode="auto">
          <a:xfrm>
            <a:off x="6005999"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4" name="Rectangle 73"/>
          <p:cNvSpPr>
            <a:spLocks noChangeArrowheads="1"/>
          </p:cNvSpPr>
          <p:nvPr/>
        </p:nvSpPr>
        <p:spPr bwMode="auto">
          <a:xfrm>
            <a:off x="6456004"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5" name="Rectangle 69"/>
          <p:cNvSpPr>
            <a:spLocks noChangeArrowheads="1"/>
          </p:cNvSpPr>
          <p:nvPr/>
        </p:nvSpPr>
        <p:spPr bwMode="auto">
          <a:xfrm>
            <a:off x="5105989"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6" name="Rectangle 70"/>
          <p:cNvSpPr>
            <a:spLocks noChangeArrowheads="1"/>
          </p:cNvSpPr>
          <p:nvPr/>
        </p:nvSpPr>
        <p:spPr bwMode="auto">
          <a:xfrm>
            <a:off x="5555994"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27" name="Rectangle 71"/>
          <p:cNvSpPr>
            <a:spLocks noChangeArrowheads="1"/>
          </p:cNvSpPr>
          <p:nvPr/>
        </p:nvSpPr>
        <p:spPr bwMode="auto">
          <a:xfrm>
            <a:off x="6005999"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8" name="Rectangle 72"/>
          <p:cNvSpPr>
            <a:spLocks noChangeArrowheads="1"/>
          </p:cNvSpPr>
          <p:nvPr/>
        </p:nvSpPr>
        <p:spPr bwMode="auto">
          <a:xfrm>
            <a:off x="6456004"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9" name="Rectangle 73"/>
          <p:cNvSpPr>
            <a:spLocks noChangeArrowheads="1"/>
          </p:cNvSpPr>
          <p:nvPr/>
        </p:nvSpPr>
        <p:spPr bwMode="auto">
          <a:xfrm>
            <a:off x="6906009"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30" name="Rectangle 69"/>
          <p:cNvSpPr>
            <a:spLocks noChangeArrowheads="1"/>
          </p:cNvSpPr>
          <p:nvPr/>
        </p:nvSpPr>
        <p:spPr bwMode="auto">
          <a:xfrm>
            <a:off x="5105989"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31" name="Rectangle 71"/>
          <p:cNvSpPr>
            <a:spLocks noChangeArrowheads="1"/>
          </p:cNvSpPr>
          <p:nvPr/>
        </p:nvSpPr>
        <p:spPr bwMode="auto">
          <a:xfrm>
            <a:off x="6005999"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32" name="Rectangle 72"/>
          <p:cNvSpPr>
            <a:spLocks noChangeArrowheads="1"/>
          </p:cNvSpPr>
          <p:nvPr/>
        </p:nvSpPr>
        <p:spPr bwMode="auto">
          <a:xfrm>
            <a:off x="6456004"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33" name="Rectangle 73"/>
          <p:cNvSpPr>
            <a:spLocks noChangeArrowheads="1"/>
          </p:cNvSpPr>
          <p:nvPr/>
        </p:nvSpPr>
        <p:spPr bwMode="auto">
          <a:xfrm>
            <a:off x="6906009"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cxnSp>
        <p:nvCxnSpPr>
          <p:cNvPr id="34" name="直線コネクタ 33"/>
          <p:cNvCxnSpPr>
            <a:endCxn id="15" idx="1"/>
          </p:cNvCxnSpPr>
          <p:nvPr/>
        </p:nvCxnSpPr>
        <p:spPr bwMode="auto">
          <a:xfrm flipV="1">
            <a:off x="3215969" y="2348986"/>
            <a:ext cx="990011" cy="2"/>
          </a:xfrm>
          <a:prstGeom prst="line">
            <a:avLst/>
          </a:prstGeom>
          <a:noFill/>
          <a:ln w="9525" cap="flat" cmpd="sng" algn="ctr">
            <a:solidFill>
              <a:schemeClr val="tx1"/>
            </a:solidFill>
            <a:prstDash val="dash"/>
            <a:round/>
            <a:headEnd type="none" w="med" len="med"/>
            <a:tailEnd type="none" w="med" len="med"/>
          </a:ln>
          <a:effectLst/>
        </p:spPr>
      </p:cxnSp>
      <p:cxnSp>
        <p:nvCxnSpPr>
          <p:cNvPr id="35" name="直線コネクタ 34"/>
          <p:cNvCxnSpPr>
            <a:endCxn id="20" idx="1"/>
          </p:cNvCxnSpPr>
          <p:nvPr/>
        </p:nvCxnSpPr>
        <p:spPr bwMode="auto">
          <a:xfrm flipV="1">
            <a:off x="3215969" y="2798991"/>
            <a:ext cx="990011" cy="2"/>
          </a:xfrm>
          <a:prstGeom prst="line">
            <a:avLst/>
          </a:prstGeom>
          <a:noFill/>
          <a:ln w="9525" cap="flat" cmpd="sng" algn="ctr">
            <a:solidFill>
              <a:schemeClr val="tx1"/>
            </a:solidFill>
            <a:prstDash val="dash"/>
            <a:round/>
            <a:headEnd type="none" w="med" len="med"/>
            <a:tailEnd type="none" w="med" len="med"/>
          </a:ln>
          <a:effectLst/>
        </p:spPr>
      </p:cxnSp>
      <p:cxnSp>
        <p:nvCxnSpPr>
          <p:cNvPr id="36" name="直線コネクタ 35"/>
          <p:cNvCxnSpPr>
            <a:stCxn id="43" idx="3"/>
            <a:endCxn id="25" idx="1"/>
          </p:cNvCxnSpPr>
          <p:nvPr/>
        </p:nvCxnSpPr>
        <p:spPr bwMode="auto">
          <a:xfrm flipV="1">
            <a:off x="3215969" y="3248996"/>
            <a:ext cx="1890021" cy="2"/>
          </a:xfrm>
          <a:prstGeom prst="line">
            <a:avLst/>
          </a:prstGeom>
          <a:noFill/>
          <a:ln w="9525" cap="flat" cmpd="sng" algn="ctr">
            <a:solidFill>
              <a:schemeClr val="tx1"/>
            </a:solidFill>
            <a:prstDash val="dash"/>
            <a:round/>
            <a:headEnd type="none" w="med" len="med"/>
            <a:tailEnd type="none" w="med" len="med"/>
          </a:ln>
          <a:effectLst/>
        </p:spPr>
      </p:cxnSp>
      <p:cxnSp>
        <p:nvCxnSpPr>
          <p:cNvPr id="37" name="直線コネクタ 36"/>
          <p:cNvCxnSpPr>
            <a:stCxn id="44" idx="3"/>
            <a:endCxn id="30" idx="1"/>
          </p:cNvCxnSpPr>
          <p:nvPr/>
        </p:nvCxnSpPr>
        <p:spPr bwMode="auto">
          <a:xfrm flipV="1">
            <a:off x="3215969" y="3699001"/>
            <a:ext cx="1890021" cy="2"/>
          </a:xfrm>
          <a:prstGeom prst="line">
            <a:avLst/>
          </a:prstGeom>
          <a:noFill/>
          <a:ln w="9525" cap="flat" cmpd="sng" algn="ctr">
            <a:solidFill>
              <a:schemeClr val="tx1"/>
            </a:solidFill>
            <a:prstDash val="dash"/>
            <a:round/>
            <a:headEnd type="none" w="med" len="med"/>
            <a:tailEnd type="none" w="med" len="med"/>
          </a:ln>
          <a:effectLst/>
        </p:spPr>
      </p:cxnSp>
      <p:sp>
        <p:nvSpPr>
          <p:cNvPr id="38" name="Rectangle 73"/>
          <p:cNvSpPr>
            <a:spLocks noChangeArrowheads="1"/>
          </p:cNvSpPr>
          <p:nvPr/>
        </p:nvSpPr>
        <p:spPr bwMode="auto">
          <a:xfrm>
            <a:off x="5555994"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39" name="正方形/長方形 38"/>
          <p:cNvSpPr/>
          <p:nvPr/>
        </p:nvSpPr>
        <p:spPr bwMode="auto">
          <a:xfrm>
            <a:off x="2495960" y="126897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err="1">
                <a:solidFill>
                  <a:schemeClr val="tx1">
                    <a:lumMod val="75000"/>
                    <a:lumOff val="25000"/>
                  </a:schemeClr>
                </a:solidFill>
                <a:latin typeface="Consolas" panose="020B0609020204030204" pitchFamily="49" charset="0"/>
                <a:ea typeface="メイリオ" panose="020B0604030504040204" pitchFamily="50" charset="-128"/>
              </a:rPr>
              <a:t>ld</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 x2</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[x1+0]</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0" name="正方形/長方形 39"/>
          <p:cNvSpPr/>
          <p:nvPr/>
        </p:nvSpPr>
        <p:spPr bwMode="auto">
          <a:xfrm>
            <a:off x="2495960" y="171898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err="1">
                <a:solidFill>
                  <a:schemeClr val="tx1">
                    <a:lumMod val="75000"/>
                    <a:lumOff val="25000"/>
                  </a:schemeClr>
                </a:solidFill>
                <a:latin typeface="Consolas" panose="020B0609020204030204" pitchFamily="49" charset="0"/>
                <a:ea typeface="メイリオ" panose="020B0604030504040204" pitchFamily="50" charset="-128"/>
              </a:rPr>
              <a:t>ld</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 x3</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[x1+4]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1" name="正方形/長方形 40"/>
          <p:cNvSpPr/>
          <p:nvPr/>
        </p:nvSpPr>
        <p:spPr bwMode="auto">
          <a:xfrm>
            <a:off x="2495960" y="216898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2" name="正方形/長方形 41"/>
          <p:cNvSpPr/>
          <p:nvPr/>
        </p:nvSpPr>
        <p:spPr bwMode="auto">
          <a:xfrm>
            <a:off x="2495960" y="261899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3" name="正方形/長方形 42"/>
          <p:cNvSpPr/>
          <p:nvPr/>
        </p:nvSpPr>
        <p:spPr bwMode="auto">
          <a:xfrm>
            <a:off x="2495960" y="306899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4" name="正方形/長方形 43"/>
          <p:cNvSpPr/>
          <p:nvPr/>
        </p:nvSpPr>
        <p:spPr bwMode="auto">
          <a:xfrm>
            <a:off x="2495960" y="351900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5" name="Rectangle 73"/>
          <p:cNvSpPr>
            <a:spLocks noChangeArrowheads="1"/>
          </p:cNvSpPr>
          <p:nvPr/>
        </p:nvSpPr>
        <p:spPr bwMode="auto">
          <a:xfrm>
            <a:off x="4655984" y="1718981"/>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46" name="Rectangle 73"/>
          <p:cNvSpPr>
            <a:spLocks noChangeArrowheads="1"/>
          </p:cNvSpPr>
          <p:nvPr/>
        </p:nvSpPr>
        <p:spPr bwMode="auto">
          <a:xfrm>
            <a:off x="4655984" y="2168986"/>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51" name="Rectangle 73"/>
          <p:cNvSpPr>
            <a:spLocks noChangeArrowheads="1"/>
          </p:cNvSpPr>
          <p:nvPr/>
        </p:nvSpPr>
        <p:spPr bwMode="auto">
          <a:xfrm>
            <a:off x="4655984" y="2618991"/>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52" name="Rectangle 70"/>
          <p:cNvSpPr>
            <a:spLocks noChangeArrowheads="1"/>
          </p:cNvSpPr>
          <p:nvPr/>
        </p:nvSpPr>
        <p:spPr bwMode="auto">
          <a:xfrm>
            <a:off x="5555994"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Tree>
    <p:extLst>
      <p:ext uri="{BB962C8B-B14F-4D97-AF65-F5344CB8AC3E}">
        <p14:creationId xmlns:p14="http://schemas.microsoft.com/office/powerpoint/2010/main" val="3649428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3. </a:t>
            </a:r>
            <a:r>
              <a:rPr lang="ja-JP" altLang="en-US" dirty="0"/>
              <a:t>同時にフェッチされた命令内に分岐があり，他に飛ぶ場合</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１命令目が分岐命令で成立する（と予測された）場合</a:t>
            </a:r>
            <a:endParaRPr kumimoji="1" lang="en-US" altLang="ja-JP" dirty="0"/>
          </a:p>
          <a:p>
            <a:pPr lvl="1"/>
            <a:r>
              <a:rPr kumimoji="1" lang="ja-JP" altLang="en-US" dirty="0"/>
              <a:t>命令メモリが１ポートしかない場合，そこでフェッチが途切れる</a:t>
            </a:r>
            <a:endParaRPr lang="en-US" altLang="ja-JP" dirty="0"/>
          </a:p>
          <a:p>
            <a:r>
              <a:rPr kumimoji="1" lang="ja-JP" altLang="en-US" dirty="0"/>
              <a:t>例：下記のようなコードの場合</a:t>
            </a:r>
            <a:endParaRPr kumimoji="1" lang="en-US" altLang="ja-JP" dirty="0"/>
          </a:p>
          <a:p>
            <a:pPr marL="360000" lvl="1" indent="0">
              <a:buNone/>
            </a:pPr>
            <a:r>
              <a:rPr lang="en-US" altLang="ja-JP" dirty="0">
                <a:latin typeface="Consolas" panose="020B0609020204030204" pitchFamily="49" charset="0"/>
              </a:rPr>
              <a:t>0x1000: </a:t>
            </a:r>
            <a:r>
              <a:rPr lang="en-US" altLang="ja-JP" dirty="0" err="1">
                <a:solidFill>
                  <a:schemeClr val="accent6"/>
                </a:solidFill>
                <a:latin typeface="Consolas" panose="020B0609020204030204" pitchFamily="49" charset="0"/>
              </a:rPr>
              <a:t>bne</a:t>
            </a:r>
            <a:r>
              <a:rPr lang="en-US" altLang="ja-JP" dirty="0">
                <a:solidFill>
                  <a:schemeClr val="accent6"/>
                </a:solidFill>
                <a:latin typeface="Consolas" panose="020B0609020204030204" pitchFamily="49" charset="0"/>
              </a:rPr>
              <a:t> </a:t>
            </a:r>
            <a:r>
              <a:rPr lang="en-US" altLang="ja-JP" dirty="0">
                <a:latin typeface="Consolas" panose="020B0609020204030204" pitchFamily="49" charset="0"/>
              </a:rPr>
              <a:t>..., </a:t>
            </a:r>
            <a:r>
              <a:rPr lang="en-US" altLang="ja-JP" dirty="0">
                <a:solidFill>
                  <a:schemeClr val="accent5"/>
                </a:solidFill>
                <a:latin typeface="Consolas" panose="020B0609020204030204" pitchFamily="49" charset="0"/>
              </a:rPr>
              <a:t>0x1100</a:t>
            </a:r>
            <a:br>
              <a:rPr lang="en-US" altLang="ja-JP" dirty="0">
                <a:latin typeface="Consolas" panose="020B0609020204030204" pitchFamily="49" charset="0"/>
              </a:rPr>
            </a:br>
            <a:r>
              <a:rPr lang="en-US" altLang="ja-JP" dirty="0">
                <a:latin typeface="Consolas" panose="020B0609020204030204" pitchFamily="49" charset="0"/>
              </a:rPr>
              <a:t>0x1004: ...</a:t>
            </a:r>
            <a:br>
              <a:rPr lang="en-US" altLang="ja-JP" dirty="0">
                <a:latin typeface="Consolas" panose="020B0609020204030204" pitchFamily="49" charset="0"/>
              </a:rPr>
            </a:br>
            <a:r>
              <a:rPr lang="en-US" altLang="ja-JP" dirty="0">
                <a:latin typeface="Consolas" panose="020B0609020204030204" pitchFamily="49" charset="0"/>
              </a:rPr>
              <a:t>...</a:t>
            </a:r>
            <a:br>
              <a:rPr lang="en-US" altLang="ja-JP" dirty="0">
                <a:latin typeface="Consolas" panose="020B0609020204030204" pitchFamily="49" charset="0"/>
              </a:rPr>
            </a:br>
            <a:r>
              <a:rPr lang="en-US" altLang="ja-JP" dirty="0">
                <a:solidFill>
                  <a:schemeClr val="accent5"/>
                </a:solidFill>
                <a:latin typeface="Consolas" panose="020B0609020204030204" pitchFamily="49" charset="0"/>
              </a:rPr>
              <a:t>0x1100: </a:t>
            </a:r>
            <a:r>
              <a:rPr lang="en-US" altLang="ja-JP" dirty="0">
                <a:solidFill>
                  <a:schemeClr val="accent6"/>
                </a:solidFill>
                <a:latin typeface="Consolas" panose="020B0609020204030204" pitchFamily="49" charset="0"/>
              </a:rPr>
              <a:t>add</a:t>
            </a:r>
          </a:p>
          <a:p>
            <a:r>
              <a:rPr lang="en-US" altLang="ja-JP" dirty="0">
                <a:latin typeface="Consolas" panose="020B0609020204030204" pitchFamily="49" charset="0"/>
              </a:rPr>
              <a:t>PC </a:t>
            </a:r>
            <a:r>
              <a:rPr lang="ja-JP" altLang="en-US" dirty="0">
                <a:latin typeface="Consolas" panose="020B0609020204030204" pitchFamily="49" charset="0"/>
              </a:rPr>
              <a:t>が今 </a:t>
            </a:r>
            <a:r>
              <a:rPr lang="en-US" altLang="ja-JP" dirty="0">
                <a:latin typeface="Consolas" panose="020B0609020204030204" pitchFamily="49" charset="0"/>
              </a:rPr>
              <a:t>0x1000 </a:t>
            </a:r>
            <a:r>
              <a:rPr lang="ja-JP" altLang="en-US" dirty="0">
                <a:latin typeface="Consolas" panose="020B0609020204030204" pitchFamily="49" charset="0"/>
              </a:rPr>
              <a:t>の場合，</a:t>
            </a:r>
            <a:r>
              <a:rPr lang="en-US" altLang="ja-JP" dirty="0" err="1">
                <a:latin typeface="Consolas" panose="020B0609020204030204" pitchFamily="49" charset="0"/>
              </a:rPr>
              <a:t>bne</a:t>
            </a:r>
            <a:r>
              <a:rPr lang="en-US" altLang="ja-JP" dirty="0">
                <a:latin typeface="Consolas" panose="020B0609020204030204" pitchFamily="49" charset="0"/>
              </a:rPr>
              <a:t> </a:t>
            </a:r>
            <a:r>
              <a:rPr lang="ja-JP" altLang="en-US" dirty="0">
                <a:latin typeface="Consolas" panose="020B0609020204030204" pitchFamily="49" charset="0"/>
              </a:rPr>
              <a:t>と </a:t>
            </a:r>
            <a:r>
              <a:rPr lang="en-US" altLang="ja-JP" dirty="0">
                <a:latin typeface="Consolas" panose="020B0609020204030204" pitchFamily="49" charset="0"/>
              </a:rPr>
              <a:t>add </a:t>
            </a:r>
            <a:r>
              <a:rPr lang="ja-JP" altLang="en-US" dirty="0">
                <a:latin typeface="Consolas" panose="020B0609020204030204" pitchFamily="49" charset="0"/>
              </a:rPr>
              <a:t>をまとめてフェッチしたい</a:t>
            </a:r>
            <a:endParaRPr lang="en-US" altLang="ja-JP" dirty="0">
              <a:latin typeface="Consolas" panose="020B0609020204030204" pitchFamily="49" charset="0"/>
            </a:endParaRPr>
          </a:p>
          <a:p>
            <a:pPr lvl="1"/>
            <a:r>
              <a:rPr lang="ja-JP" altLang="en-US" dirty="0">
                <a:latin typeface="Consolas" panose="020B0609020204030204" pitchFamily="49" charset="0"/>
              </a:rPr>
              <a:t>そのためには，</a:t>
            </a:r>
            <a:r>
              <a:rPr lang="en-US" altLang="ja-JP" dirty="0">
                <a:latin typeface="Consolas" panose="020B0609020204030204" pitchFamily="49" charset="0"/>
              </a:rPr>
              <a:t>0x1000 </a:t>
            </a:r>
            <a:r>
              <a:rPr lang="ja-JP" altLang="en-US" dirty="0">
                <a:latin typeface="Consolas" panose="020B0609020204030204" pitchFamily="49" charset="0"/>
              </a:rPr>
              <a:t>と </a:t>
            </a:r>
            <a:r>
              <a:rPr lang="en-US" altLang="ja-JP" dirty="0">
                <a:latin typeface="Consolas" panose="020B0609020204030204" pitchFamily="49" charset="0"/>
              </a:rPr>
              <a:t>0x1100 </a:t>
            </a:r>
            <a:r>
              <a:rPr lang="ja-JP" altLang="en-US" dirty="0">
                <a:latin typeface="Consolas" panose="020B0609020204030204" pitchFamily="49" charset="0"/>
              </a:rPr>
              <a:t>の２カ所を読む必要がある</a:t>
            </a:r>
            <a:endParaRPr lang="en-US" altLang="ja-JP" dirty="0">
              <a:latin typeface="Consolas" panose="020B0609020204030204" pitchFamily="49" charset="0"/>
            </a:endParaRPr>
          </a:p>
          <a:p>
            <a:pPr lvl="1"/>
            <a:r>
              <a:rPr lang="ja-JP" altLang="en-US" dirty="0">
                <a:latin typeface="Consolas" panose="020B0609020204030204" pitchFamily="49" charset="0"/>
              </a:rPr>
              <a:t>さらに，分岐予測では２個先までアドレスを予測する必要がある</a:t>
            </a:r>
            <a:endParaRPr lang="en-US" altLang="ja-JP" dirty="0">
              <a:latin typeface="Consolas" panose="020B0609020204030204" pitchFamily="49" charset="0"/>
            </a:endParaRPr>
          </a:p>
        </p:txBody>
      </p:sp>
    </p:spTree>
    <p:extLst>
      <p:ext uri="{BB962C8B-B14F-4D97-AF65-F5344CB8AC3E}">
        <p14:creationId xmlns:p14="http://schemas.microsoft.com/office/powerpoint/2010/main" val="27823243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15948" y="0"/>
            <a:ext cx="10776052" cy="908972"/>
          </a:xfrm>
        </p:spPr>
        <p:txBody>
          <a:bodyPr/>
          <a:lstStyle/>
          <a:p>
            <a:r>
              <a:rPr lang="en-US" altLang="ja-JP" dirty="0"/>
              <a:t>3. </a:t>
            </a:r>
            <a:r>
              <a:rPr lang="ja-JP" altLang="en-US" dirty="0"/>
              <a:t>同時にフェッチされた命令内に分岐があり，他に飛ぶ場合</a:t>
            </a:r>
          </a:p>
        </p:txBody>
      </p:sp>
      <p:sp>
        <p:nvSpPr>
          <p:cNvPr id="3" name="テキスト プレースホルダー 2"/>
          <p:cNvSpPr>
            <a:spLocks noGrp="1"/>
          </p:cNvSpPr>
          <p:nvPr>
            <p:ph type="body" sz="quarter" idx="10"/>
          </p:nvPr>
        </p:nvSpPr>
        <p:spPr>
          <a:xfrm>
            <a:off x="1776412" y="1089025"/>
            <a:ext cx="9179641" cy="5219700"/>
          </a:xfrm>
        </p:spPr>
        <p:txBody>
          <a:bodyPr/>
          <a:lstStyle/>
          <a:p>
            <a:r>
              <a:rPr lang="ja-JP" altLang="en-US" dirty="0"/>
              <a:t>分岐をまたいでフェッチをしたい場合</a:t>
            </a:r>
            <a:endParaRPr lang="en-US" altLang="ja-JP" dirty="0"/>
          </a:p>
          <a:p>
            <a:pPr lvl="1"/>
            <a:r>
              <a:rPr lang="ja-JP" altLang="en-US" dirty="0"/>
              <a:t>分岐の飛び元と飛び先の，２箇所をメモリから同時に読む必要がある</a:t>
            </a:r>
            <a:endParaRPr lang="en-US" altLang="ja-JP" dirty="0"/>
          </a:p>
          <a:p>
            <a:pPr lvl="2"/>
            <a:r>
              <a:rPr lang="ja-JP" altLang="en-US" dirty="0"/>
              <a:t>マルチポート・メモリが必要で回路の増大を招く</a:t>
            </a:r>
            <a:endParaRPr lang="en-US" altLang="ja-JP" dirty="0"/>
          </a:p>
          <a:p>
            <a:pPr lvl="1"/>
            <a:r>
              <a:rPr lang="ja-JP" altLang="en-US" dirty="0"/>
              <a:t>さらに，分岐予測では２個先までアドレスを予測する必要がある</a:t>
            </a:r>
            <a:endParaRPr lang="en-US" altLang="ja-JP" dirty="0"/>
          </a:p>
          <a:p>
            <a:pPr lvl="2"/>
            <a:r>
              <a:rPr lang="ja-JP" altLang="en-US" dirty="0"/>
              <a:t>出来なくはないが，これもまた回路の増大を招く</a:t>
            </a:r>
            <a:endParaRPr lang="en-US" altLang="ja-JP" dirty="0"/>
          </a:p>
          <a:p>
            <a:r>
              <a:rPr lang="ja-JP" altLang="en-US" dirty="0"/>
              <a:t>実際には分岐にあたるとそこでフェッチを止めるのが普通</a:t>
            </a:r>
            <a:endParaRPr lang="en-US" altLang="ja-JP" dirty="0"/>
          </a:p>
          <a:p>
            <a:r>
              <a:rPr lang="ja-JP" altLang="en-US" dirty="0"/>
              <a:t>最近は・・・</a:t>
            </a:r>
            <a:endParaRPr lang="en-US" altLang="ja-JP" dirty="0"/>
          </a:p>
          <a:p>
            <a:pPr lvl="1"/>
            <a:r>
              <a:rPr lang="en-US" altLang="ja-JP" dirty="0"/>
              <a:t>AMD Zen5 </a:t>
            </a:r>
            <a:r>
              <a:rPr lang="ja-JP" altLang="en-US" dirty="0"/>
              <a:t>では２個先まで予測やフェッチが出来ているらしい</a:t>
            </a:r>
            <a:endParaRPr lang="en-US" altLang="ja-JP" dirty="0"/>
          </a:p>
          <a:p>
            <a:pPr lvl="1"/>
            <a:r>
              <a:rPr lang="ja-JP" altLang="en-US" dirty="0"/>
              <a:t>おそらく今後これが普通になっていく可能性が高い</a:t>
            </a:r>
            <a:endParaRPr lang="en-US" altLang="ja-JP" dirty="0"/>
          </a:p>
        </p:txBody>
      </p:sp>
    </p:spTree>
    <p:extLst>
      <p:ext uri="{BB962C8B-B14F-4D97-AF65-F5344CB8AC3E}">
        <p14:creationId xmlns:p14="http://schemas.microsoft.com/office/powerpoint/2010/main" val="9809213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latin typeface="Consolas" panose="020B0609020204030204" pitchFamily="49" charset="0"/>
              </a:rPr>
              <a:t>メモリでは連続箇所（連続した命令）を</a:t>
            </a:r>
            <a:br>
              <a:rPr lang="en-US" altLang="ja-JP" dirty="0">
                <a:latin typeface="Consolas" panose="020B0609020204030204" pitchFamily="49" charset="0"/>
              </a:rPr>
            </a:br>
            <a:r>
              <a:rPr lang="ja-JP" altLang="en-US" dirty="0">
                <a:latin typeface="Consolas" panose="020B0609020204030204" pitchFamily="49" charset="0"/>
              </a:rPr>
              <a:t>一気に読むのは一般に簡単</a:t>
            </a:r>
            <a:endParaRPr lang="en-US" altLang="ja-JP" dirty="0">
              <a:latin typeface="Consolas" panose="020B0609020204030204" pitchFamily="49" charset="0"/>
            </a:endParaRPr>
          </a:p>
        </p:txBody>
      </p:sp>
      <p:sp>
        <p:nvSpPr>
          <p:cNvPr id="3" name="テキスト プレースホルダー 2"/>
          <p:cNvSpPr>
            <a:spLocks noGrp="1"/>
          </p:cNvSpPr>
          <p:nvPr>
            <p:ph type="body" sz="quarter" idx="10"/>
          </p:nvPr>
        </p:nvSpPr>
        <p:spPr>
          <a:xfrm>
            <a:off x="1595950" y="1088975"/>
            <a:ext cx="9072050" cy="990011"/>
          </a:xfrm>
        </p:spPr>
        <p:txBody>
          <a:bodyPr/>
          <a:lstStyle/>
          <a:p>
            <a:pPr lvl="1"/>
            <a:r>
              <a:rPr lang="ja-JP" altLang="en-US" dirty="0">
                <a:latin typeface="Consolas" panose="020B0609020204030204" pitchFamily="49" charset="0"/>
              </a:rPr>
              <a:t>もともと行単位で一気に読んでるため</a:t>
            </a:r>
            <a:endParaRPr lang="en-US" altLang="ja-JP" dirty="0">
              <a:latin typeface="Consolas" panose="020B0609020204030204" pitchFamily="49" charset="0"/>
            </a:endParaRPr>
          </a:p>
          <a:p>
            <a:pPr lvl="2"/>
            <a:r>
              <a:rPr lang="ja-JP" altLang="en-US" dirty="0">
                <a:latin typeface="Consolas" panose="020B0609020204030204" pitchFamily="49" charset="0"/>
              </a:rPr>
              <a:t>カラムセレクタでずらせばよい</a:t>
            </a:r>
            <a:endParaRPr lang="en-US" altLang="ja-JP" dirty="0">
              <a:latin typeface="Consolas" panose="020B0609020204030204" pitchFamily="49" charset="0"/>
            </a:endParaRPr>
          </a:p>
          <a:p>
            <a:pPr lvl="1"/>
            <a:r>
              <a:rPr lang="ja-JP" altLang="en-US" dirty="0">
                <a:latin typeface="Consolas" panose="020B0609020204030204" pitchFamily="49" charset="0"/>
              </a:rPr>
              <a:t>他に，もっと大きな単位でマルチバンク化という方法が常に適用できる</a:t>
            </a:r>
            <a:endParaRPr lang="en-US" altLang="ja-JP" dirty="0">
              <a:latin typeface="Consolas" panose="020B0609020204030204" pitchFamily="49" charset="0"/>
            </a:endParaRPr>
          </a:p>
        </p:txBody>
      </p:sp>
      <p:sp>
        <p:nvSpPr>
          <p:cNvPr id="76" name="正方形/長方形 75"/>
          <p:cNvSpPr/>
          <p:nvPr/>
        </p:nvSpPr>
        <p:spPr>
          <a:xfrm>
            <a:off x="7265988" y="2169029"/>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cell</a:t>
            </a:r>
            <a:endParaRPr lang="ja-JP" altLang="en-US" sz="1600" dirty="0">
              <a:latin typeface="Arial Narrow" pitchFamily="34" charset="0"/>
            </a:endParaRPr>
          </a:p>
        </p:txBody>
      </p:sp>
      <p:sp>
        <p:nvSpPr>
          <p:cNvPr id="77" name="正方形/長方形 76"/>
          <p:cNvSpPr/>
          <p:nvPr/>
        </p:nvSpPr>
        <p:spPr>
          <a:xfrm>
            <a:off x="4925961" y="5409065"/>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lines</a:t>
            </a:r>
            <a:endParaRPr lang="ja-JP" altLang="en-US" sz="1600" dirty="0">
              <a:latin typeface="Arial Narrow" pitchFamily="34" charset="0"/>
            </a:endParaRPr>
          </a:p>
        </p:txBody>
      </p:sp>
      <p:sp>
        <p:nvSpPr>
          <p:cNvPr id="81" name="正方形/長方形 80"/>
          <p:cNvSpPr/>
          <p:nvPr/>
        </p:nvSpPr>
        <p:spPr>
          <a:xfrm>
            <a:off x="4655987" y="243903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85" name="正方形/長方形 84"/>
          <p:cNvSpPr/>
          <p:nvPr/>
        </p:nvSpPr>
        <p:spPr>
          <a:xfrm>
            <a:off x="5465984" y="243903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86" name="正方形/長方形 85"/>
          <p:cNvSpPr/>
          <p:nvPr/>
        </p:nvSpPr>
        <p:spPr>
          <a:xfrm>
            <a:off x="6275985" y="243903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87" name="正方形/長方形 86"/>
          <p:cNvSpPr/>
          <p:nvPr/>
        </p:nvSpPr>
        <p:spPr>
          <a:xfrm>
            <a:off x="7085985" y="243903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8" name="直線コネクタ 87"/>
          <p:cNvCxnSpPr/>
          <p:nvPr/>
        </p:nvCxnSpPr>
        <p:spPr>
          <a:xfrm flipV="1">
            <a:off x="4205953" y="2709032"/>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89" name="正方形/長方形 88"/>
          <p:cNvSpPr/>
          <p:nvPr/>
        </p:nvSpPr>
        <p:spPr>
          <a:xfrm>
            <a:off x="4655984" y="324903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90" name="正方形/長方形 89"/>
          <p:cNvSpPr/>
          <p:nvPr/>
        </p:nvSpPr>
        <p:spPr>
          <a:xfrm>
            <a:off x="5465981" y="324902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91" name="正方形/長方形 90"/>
          <p:cNvSpPr/>
          <p:nvPr/>
        </p:nvSpPr>
        <p:spPr>
          <a:xfrm>
            <a:off x="6275982" y="324902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92" name="正方形/長方形 91"/>
          <p:cNvSpPr/>
          <p:nvPr/>
        </p:nvSpPr>
        <p:spPr>
          <a:xfrm>
            <a:off x="7085982" y="324902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93" name="直線コネクタ 92"/>
          <p:cNvCxnSpPr/>
          <p:nvPr/>
        </p:nvCxnSpPr>
        <p:spPr>
          <a:xfrm flipV="1">
            <a:off x="4205954" y="3519029"/>
            <a:ext cx="3690029" cy="15"/>
          </a:xfrm>
          <a:prstGeom prst="line">
            <a:avLst/>
          </a:prstGeom>
          <a:ln w="3175"/>
        </p:spPr>
        <p:style>
          <a:lnRef idx="1">
            <a:schemeClr val="dk1"/>
          </a:lnRef>
          <a:fillRef idx="0">
            <a:schemeClr val="dk1"/>
          </a:fillRef>
          <a:effectRef idx="0">
            <a:schemeClr val="dk1"/>
          </a:effectRef>
          <a:fontRef idx="minor">
            <a:schemeClr val="tx1"/>
          </a:fontRef>
        </p:style>
      </p:cxnSp>
      <p:sp>
        <p:nvSpPr>
          <p:cNvPr id="94" name="正方形/長方形 93"/>
          <p:cNvSpPr/>
          <p:nvPr/>
        </p:nvSpPr>
        <p:spPr>
          <a:xfrm>
            <a:off x="4655984" y="405903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95" name="正方形/長方形 94"/>
          <p:cNvSpPr/>
          <p:nvPr/>
        </p:nvSpPr>
        <p:spPr>
          <a:xfrm>
            <a:off x="5465981" y="405902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96" name="正方形/長方形 95"/>
          <p:cNvSpPr/>
          <p:nvPr/>
        </p:nvSpPr>
        <p:spPr>
          <a:xfrm>
            <a:off x="6275982" y="405902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97" name="正方形/長方形 96"/>
          <p:cNvSpPr/>
          <p:nvPr/>
        </p:nvSpPr>
        <p:spPr>
          <a:xfrm>
            <a:off x="7085982" y="405902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98" name="直線コネクタ 97"/>
          <p:cNvCxnSpPr/>
          <p:nvPr/>
        </p:nvCxnSpPr>
        <p:spPr>
          <a:xfrm flipV="1">
            <a:off x="4205954" y="4329028"/>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99" name="正方形/長方形 98"/>
          <p:cNvSpPr/>
          <p:nvPr/>
        </p:nvSpPr>
        <p:spPr>
          <a:xfrm>
            <a:off x="4655984" y="486903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0" name="正方形/長方形 99"/>
          <p:cNvSpPr/>
          <p:nvPr/>
        </p:nvSpPr>
        <p:spPr>
          <a:xfrm>
            <a:off x="5465981" y="486902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1" name="正方形/長方形 100"/>
          <p:cNvSpPr/>
          <p:nvPr/>
        </p:nvSpPr>
        <p:spPr>
          <a:xfrm>
            <a:off x="6275982" y="486902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2" name="正方形/長方形 101"/>
          <p:cNvSpPr/>
          <p:nvPr/>
        </p:nvSpPr>
        <p:spPr>
          <a:xfrm>
            <a:off x="7085982" y="486902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03" name="直線コネクタ 102"/>
          <p:cNvCxnSpPr/>
          <p:nvPr/>
        </p:nvCxnSpPr>
        <p:spPr>
          <a:xfrm flipV="1">
            <a:off x="4205954" y="5139029"/>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104" name="直線コネクタ 103"/>
          <p:cNvCxnSpPr/>
          <p:nvPr/>
        </p:nvCxnSpPr>
        <p:spPr>
          <a:xfrm flipV="1">
            <a:off x="4925985" y="2169035"/>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105" name="直線コネクタ 104"/>
          <p:cNvCxnSpPr/>
          <p:nvPr/>
        </p:nvCxnSpPr>
        <p:spPr>
          <a:xfrm flipV="1">
            <a:off x="5735985" y="2169035"/>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106" name="直線コネクタ 105"/>
          <p:cNvCxnSpPr/>
          <p:nvPr/>
        </p:nvCxnSpPr>
        <p:spPr>
          <a:xfrm flipV="1">
            <a:off x="6545986" y="2169035"/>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107" name="直線コネクタ 106"/>
          <p:cNvCxnSpPr/>
          <p:nvPr/>
        </p:nvCxnSpPr>
        <p:spPr>
          <a:xfrm flipV="1">
            <a:off x="7355986" y="2169035"/>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108" name="台形 107"/>
          <p:cNvSpPr/>
          <p:nvPr/>
        </p:nvSpPr>
        <p:spPr>
          <a:xfrm flipV="1">
            <a:off x="4655984" y="5949029"/>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cxnSp>
        <p:nvCxnSpPr>
          <p:cNvPr id="109" name="直線コネクタ 108"/>
          <p:cNvCxnSpPr/>
          <p:nvPr/>
        </p:nvCxnSpPr>
        <p:spPr>
          <a:xfrm flipV="1">
            <a:off x="5845963" y="6240904"/>
            <a:ext cx="0" cy="540000"/>
          </a:xfrm>
          <a:prstGeom prst="line">
            <a:avLst/>
          </a:prstGeom>
          <a:ln>
            <a:headEnd type="triangle"/>
          </a:ln>
        </p:spPr>
        <p:style>
          <a:lnRef idx="2">
            <a:schemeClr val="accent6"/>
          </a:lnRef>
          <a:fillRef idx="0">
            <a:schemeClr val="accent6"/>
          </a:fillRef>
          <a:effectRef idx="1">
            <a:schemeClr val="accent6"/>
          </a:effectRef>
          <a:fontRef idx="minor">
            <a:schemeClr val="tx1"/>
          </a:fontRef>
        </p:style>
      </p:cxnSp>
      <p:sp>
        <p:nvSpPr>
          <p:cNvPr id="110" name="台形 109"/>
          <p:cNvSpPr/>
          <p:nvPr/>
        </p:nvSpPr>
        <p:spPr>
          <a:xfrm rot="5400000" flipV="1">
            <a:off x="2585948" y="3789035"/>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111" name="正方形/長方形 110"/>
          <p:cNvSpPr/>
          <p:nvPr/>
        </p:nvSpPr>
        <p:spPr>
          <a:xfrm>
            <a:off x="4925961" y="5769069"/>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112" name="正方形/長方形 111"/>
          <p:cNvSpPr/>
          <p:nvPr/>
        </p:nvSpPr>
        <p:spPr>
          <a:xfrm rot="16200000">
            <a:off x="2810948" y="3474032"/>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113" name="直線コネクタ 112"/>
          <p:cNvCxnSpPr/>
          <p:nvPr/>
        </p:nvCxnSpPr>
        <p:spPr>
          <a:xfrm flipV="1">
            <a:off x="3125942" y="3879047"/>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114" name="正方形/長方形 113"/>
          <p:cNvSpPr/>
          <p:nvPr/>
        </p:nvSpPr>
        <p:spPr>
          <a:xfrm>
            <a:off x="2945939" y="3429043"/>
            <a:ext cx="114010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address</a:t>
            </a:r>
            <a:endParaRPr lang="ja-JP" altLang="en-US" sz="1600" dirty="0">
              <a:latin typeface="Arial Narrow" pitchFamily="34" charset="0"/>
            </a:endParaRPr>
          </a:p>
        </p:txBody>
      </p:sp>
      <p:sp>
        <p:nvSpPr>
          <p:cNvPr id="115" name="正方形/長方形 114"/>
          <p:cNvSpPr/>
          <p:nvPr/>
        </p:nvSpPr>
        <p:spPr>
          <a:xfrm>
            <a:off x="4385955" y="633094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sp>
        <p:nvSpPr>
          <p:cNvPr id="116" name="正方形/長方形 115"/>
          <p:cNvSpPr/>
          <p:nvPr/>
        </p:nvSpPr>
        <p:spPr>
          <a:xfrm rot="16200000">
            <a:off x="6725992" y="3789036"/>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cxnSp>
        <p:nvCxnSpPr>
          <p:cNvPr id="117" name="直線コネクタ 116"/>
          <p:cNvCxnSpPr/>
          <p:nvPr/>
        </p:nvCxnSpPr>
        <p:spPr>
          <a:xfrm flipV="1">
            <a:off x="6366003" y="6219031"/>
            <a:ext cx="0" cy="540000"/>
          </a:xfrm>
          <a:prstGeom prst="line">
            <a:avLst/>
          </a:prstGeom>
          <a:ln>
            <a:headEnd type="triangle"/>
          </a:ln>
        </p:spPr>
        <p:style>
          <a:lnRef idx="2">
            <a:schemeClr val="accent6"/>
          </a:lnRef>
          <a:fillRef idx="0">
            <a:schemeClr val="accent6"/>
          </a:fillRef>
          <a:effectRef idx="1">
            <a:schemeClr val="accent6"/>
          </a:effectRef>
          <a:fontRef idx="minor">
            <a:schemeClr val="tx1"/>
          </a:fontRef>
        </p:style>
      </p:cxnSp>
      <p:sp>
        <p:nvSpPr>
          <p:cNvPr id="119" name="正方形/長方形 118"/>
          <p:cNvSpPr/>
          <p:nvPr/>
        </p:nvSpPr>
        <p:spPr>
          <a:xfrm>
            <a:off x="6546005" y="6219032"/>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ja-JP" altLang="en-US" sz="1600" dirty="0">
                <a:solidFill>
                  <a:schemeClr val="accent6"/>
                </a:solidFill>
                <a:latin typeface="Arial Narrow" pitchFamily="34" charset="0"/>
              </a:rPr>
              <a:t>カラム・セレクタを ，</a:t>
            </a:r>
            <a:r>
              <a:rPr lang="en-US" altLang="ja-JP" sz="1600" dirty="0">
                <a:solidFill>
                  <a:schemeClr val="accent6"/>
                </a:solidFill>
                <a:latin typeface="Arial Narrow" pitchFamily="34" charset="0"/>
              </a:rPr>
              <a:t>4 </a:t>
            </a:r>
            <a:r>
              <a:rPr lang="ja-JP" altLang="en-US" sz="1600" dirty="0">
                <a:solidFill>
                  <a:schemeClr val="accent6"/>
                </a:solidFill>
                <a:latin typeface="Arial Narrow" pitchFamily="34" charset="0"/>
              </a:rPr>
              <a:t>ビットから</a:t>
            </a:r>
            <a:endParaRPr lang="en-US" altLang="ja-JP" sz="1600" dirty="0">
              <a:solidFill>
                <a:schemeClr val="accent6"/>
              </a:solidFill>
              <a:latin typeface="Arial Narrow" pitchFamily="34" charset="0"/>
            </a:endParaRPr>
          </a:p>
          <a:p>
            <a:r>
              <a:rPr lang="ja-JP" altLang="en-US" sz="1600" dirty="0">
                <a:solidFill>
                  <a:schemeClr val="accent6"/>
                </a:solidFill>
                <a:latin typeface="Arial Narrow" pitchFamily="34" charset="0"/>
              </a:rPr>
              <a:t>隣り合う </a:t>
            </a:r>
            <a:r>
              <a:rPr lang="en-US" altLang="ja-JP" sz="1600" dirty="0">
                <a:solidFill>
                  <a:schemeClr val="accent6"/>
                </a:solidFill>
                <a:latin typeface="Arial Narrow" pitchFamily="34" charset="0"/>
              </a:rPr>
              <a:t>2 </a:t>
            </a:r>
            <a:r>
              <a:rPr lang="ja-JP" altLang="en-US" sz="1600" dirty="0">
                <a:solidFill>
                  <a:schemeClr val="accent6"/>
                </a:solidFill>
                <a:latin typeface="Arial Narrow" pitchFamily="34" charset="0"/>
              </a:rPr>
              <a:t>ビットを選ぶように変更</a:t>
            </a:r>
            <a:endParaRPr lang="en-US" altLang="ja-JP" sz="1600" dirty="0">
              <a:solidFill>
                <a:schemeClr val="accent6"/>
              </a:solidFill>
              <a:latin typeface="Arial Narrow" pitchFamily="34" charset="0"/>
            </a:endParaRPr>
          </a:p>
        </p:txBody>
      </p:sp>
    </p:spTree>
    <p:extLst>
      <p:ext uri="{BB962C8B-B14F-4D97-AF65-F5344CB8AC3E}">
        <p14:creationId xmlns:p14="http://schemas.microsoft.com/office/powerpoint/2010/main" val="24021570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latin typeface="Consolas" panose="020B0609020204030204" pitchFamily="49" charset="0"/>
              </a:rPr>
              <a:t>任意の複数箇所を同時に読む </a:t>
            </a:r>
            <a:r>
              <a:rPr lang="en-US" altLang="ja-JP" dirty="0">
                <a:latin typeface="Consolas" panose="020B0609020204030204" pitchFamily="49" charset="0"/>
              </a:rPr>
              <a:t>= </a:t>
            </a:r>
            <a:br>
              <a:rPr lang="en-US" altLang="ja-JP" dirty="0">
                <a:latin typeface="Consolas" panose="020B0609020204030204" pitchFamily="49" charset="0"/>
              </a:rPr>
            </a:br>
            <a:r>
              <a:rPr lang="ja-JP" altLang="en-US" dirty="0">
                <a:latin typeface="Consolas" panose="020B0609020204030204" pitchFamily="49" charset="0"/>
              </a:rPr>
              <a:t>マルチポート・メモリが必要に</a:t>
            </a:r>
            <a:endParaRPr lang="en-US" altLang="ja-JP" dirty="0">
              <a:latin typeface="Consolas" panose="020B0609020204030204" pitchFamily="49" charset="0"/>
            </a:endParaRPr>
          </a:p>
        </p:txBody>
      </p:sp>
      <p:sp>
        <p:nvSpPr>
          <p:cNvPr id="3" name="テキスト プレースホルダー 2"/>
          <p:cNvSpPr>
            <a:spLocks noGrp="1"/>
          </p:cNvSpPr>
          <p:nvPr>
            <p:ph type="body" sz="quarter" idx="10"/>
          </p:nvPr>
        </p:nvSpPr>
        <p:spPr>
          <a:xfrm>
            <a:off x="2135956" y="1088975"/>
            <a:ext cx="8280092" cy="990011"/>
          </a:xfrm>
        </p:spPr>
        <p:txBody>
          <a:bodyPr/>
          <a:lstStyle/>
          <a:p>
            <a:pPr lvl="1"/>
            <a:r>
              <a:rPr lang="ja-JP" altLang="en-US" sz="1600" dirty="0">
                <a:latin typeface="Consolas" panose="020B0609020204030204" pitchFamily="49" charset="0"/>
              </a:rPr>
              <a:t>連続箇所を一気に読むのは簡単だが，独立した２カ所は大変</a:t>
            </a:r>
            <a:endParaRPr lang="en-US" altLang="ja-JP" sz="1600" dirty="0">
              <a:latin typeface="Consolas" panose="020B0609020204030204" pitchFamily="49" charset="0"/>
            </a:endParaRPr>
          </a:p>
          <a:p>
            <a:pPr lvl="2"/>
            <a:r>
              <a:rPr lang="ja-JP" altLang="en-US" sz="1600" dirty="0">
                <a:latin typeface="Consolas" panose="020B0609020204030204" pitchFamily="49" charset="0"/>
              </a:rPr>
              <a:t>マルチポート・メモリはポート数の２乗で面積が大きくなる</a:t>
            </a:r>
            <a:endParaRPr lang="en-US" altLang="ja-JP" sz="1600" dirty="0">
              <a:latin typeface="Consolas" panose="020B0609020204030204" pitchFamily="49" charset="0"/>
            </a:endParaRPr>
          </a:p>
          <a:p>
            <a:pPr lvl="2"/>
            <a:r>
              <a:rPr lang="ja-JP" altLang="en-US" sz="1600" dirty="0">
                <a:latin typeface="Consolas" panose="020B0609020204030204" pitchFamily="49" charset="0"/>
              </a:rPr>
              <a:t>下の図では縦横の線の数がそれぞれ倍に</a:t>
            </a:r>
            <a:endParaRPr lang="en-US" altLang="ja-JP" sz="1600" dirty="0">
              <a:latin typeface="Consolas" panose="020B0609020204030204" pitchFamily="49" charset="0"/>
            </a:endParaRPr>
          </a:p>
          <a:p>
            <a:pPr lvl="1"/>
            <a:r>
              <a:rPr lang="ja-JP" altLang="en-US" sz="1600" dirty="0">
                <a:latin typeface="Consolas" panose="020B0609020204030204" pitchFamily="49" charset="0"/>
              </a:rPr>
              <a:t>なので，多くの場合はメモリは１から２ポート</a:t>
            </a:r>
            <a:endParaRPr lang="en-US" altLang="ja-JP" sz="1600" dirty="0">
              <a:latin typeface="Consolas" panose="020B0609020204030204" pitchFamily="49" charset="0"/>
            </a:endParaRPr>
          </a:p>
        </p:txBody>
      </p:sp>
      <p:sp>
        <p:nvSpPr>
          <p:cNvPr id="4" name="正方形/長方形 3"/>
          <p:cNvSpPr/>
          <p:nvPr/>
        </p:nvSpPr>
        <p:spPr>
          <a:xfrm>
            <a:off x="4683618" y="228603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5493615" y="228603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6303616" y="228603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7113616" y="228603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4233584" y="2556034"/>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4683615" y="309603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 name="正方形/長方形 9"/>
          <p:cNvSpPr/>
          <p:nvPr/>
        </p:nvSpPr>
        <p:spPr>
          <a:xfrm>
            <a:off x="5493612" y="309603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1" name="正方形/長方形 10"/>
          <p:cNvSpPr/>
          <p:nvPr/>
        </p:nvSpPr>
        <p:spPr>
          <a:xfrm>
            <a:off x="6303613" y="309603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2" name="正方形/長方形 11"/>
          <p:cNvSpPr/>
          <p:nvPr/>
        </p:nvSpPr>
        <p:spPr>
          <a:xfrm>
            <a:off x="7113613" y="309603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13" name="直線コネクタ 12"/>
          <p:cNvCxnSpPr/>
          <p:nvPr/>
        </p:nvCxnSpPr>
        <p:spPr>
          <a:xfrm flipV="1">
            <a:off x="4233585" y="3366031"/>
            <a:ext cx="3690029" cy="15"/>
          </a:xfrm>
          <a:prstGeom prst="line">
            <a:avLst/>
          </a:prstGeom>
          <a:ln w="3175"/>
        </p:spPr>
        <p:style>
          <a:lnRef idx="1">
            <a:schemeClr val="dk1"/>
          </a:lnRef>
          <a:fillRef idx="0">
            <a:schemeClr val="dk1"/>
          </a:fillRef>
          <a:effectRef idx="0">
            <a:schemeClr val="dk1"/>
          </a:effectRef>
          <a:fontRef idx="minor">
            <a:schemeClr val="tx1"/>
          </a:fontRef>
        </p:style>
      </p:cxnSp>
      <p:sp>
        <p:nvSpPr>
          <p:cNvPr id="14" name="正方形/長方形 13"/>
          <p:cNvSpPr/>
          <p:nvPr/>
        </p:nvSpPr>
        <p:spPr>
          <a:xfrm>
            <a:off x="4683615" y="390603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5493612" y="390603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6303613" y="390603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7113613" y="390603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4233585" y="4176030"/>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4683615" y="471603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5493612" y="471603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6303613" y="471603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7113613" y="471603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4233585" y="4986031"/>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4953616" y="2016037"/>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5763616" y="2016037"/>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6573617" y="2016037"/>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7383617" y="2016037"/>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4683615" y="5796031"/>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6143597" y="6066033"/>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2" name="台形 31"/>
          <p:cNvSpPr/>
          <p:nvPr/>
        </p:nvSpPr>
        <p:spPr>
          <a:xfrm rot="5400000" flipV="1">
            <a:off x="2613579" y="3636037"/>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33" name="直線コネクタ 32"/>
          <p:cNvCxnSpPr/>
          <p:nvPr/>
        </p:nvCxnSpPr>
        <p:spPr>
          <a:xfrm flipV="1">
            <a:off x="3153573" y="3726049"/>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34" name="正方形/長方形 33"/>
          <p:cNvSpPr/>
          <p:nvPr/>
        </p:nvSpPr>
        <p:spPr>
          <a:xfrm>
            <a:off x="4593588" y="6336079"/>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cxnSp>
        <p:nvCxnSpPr>
          <p:cNvPr id="35" name="直線コネクタ 34"/>
          <p:cNvCxnSpPr/>
          <p:nvPr/>
        </p:nvCxnSpPr>
        <p:spPr>
          <a:xfrm flipV="1">
            <a:off x="4385984" y="2708434"/>
            <a:ext cx="3690032" cy="3"/>
          </a:xfrm>
          <a:prstGeom prst="line">
            <a:avLst/>
          </a:prstGeom>
          <a:ln w="3175"/>
        </p:spPr>
        <p:style>
          <a:lnRef idx="1">
            <a:schemeClr val="dk1"/>
          </a:lnRef>
          <a:fillRef idx="0">
            <a:schemeClr val="dk1"/>
          </a:fillRef>
          <a:effectRef idx="0">
            <a:schemeClr val="dk1"/>
          </a:effectRef>
          <a:fontRef idx="minor">
            <a:schemeClr val="tx1"/>
          </a:fontRef>
        </p:style>
      </p:cxnSp>
      <p:cxnSp>
        <p:nvCxnSpPr>
          <p:cNvPr id="36" name="直線コネクタ 35"/>
          <p:cNvCxnSpPr/>
          <p:nvPr/>
        </p:nvCxnSpPr>
        <p:spPr>
          <a:xfrm flipV="1">
            <a:off x="4385985" y="3518431"/>
            <a:ext cx="3690029" cy="15"/>
          </a:xfrm>
          <a:prstGeom prst="line">
            <a:avLst/>
          </a:prstGeom>
          <a:ln w="3175"/>
        </p:spPr>
        <p:style>
          <a:lnRef idx="1">
            <a:schemeClr val="dk1"/>
          </a:lnRef>
          <a:fillRef idx="0">
            <a:schemeClr val="dk1"/>
          </a:fillRef>
          <a:effectRef idx="0">
            <a:schemeClr val="dk1"/>
          </a:effectRef>
          <a:fontRef idx="minor">
            <a:schemeClr val="tx1"/>
          </a:fontRef>
        </p:style>
      </p:cxnSp>
      <p:cxnSp>
        <p:nvCxnSpPr>
          <p:cNvPr id="37" name="直線コネクタ 36"/>
          <p:cNvCxnSpPr/>
          <p:nvPr/>
        </p:nvCxnSpPr>
        <p:spPr>
          <a:xfrm flipV="1">
            <a:off x="4385985" y="4328430"/>
            <a:ext cx="3690029" cy="24"/>
          </a:xfrm>
          <a:prstGeom prst="line">
            <a:avLst/>
          </a:prstGeom>
          <a:ln w="3175"/>
        </p:spPr>
        <p:style>
          <a:lnRef idx="1">
            <a:schemeClr val="dk1"/>
          </a:lnRef>
          <a:fillRef idx="0">
            <a:schemeClr val="dk1"/>
          </a:fillRef>
          <a:effectRef idx="0">
            <a:schemeClr val="dk1"/>
          </a:effectRef>
          <a:fontRef idx="minor">
            <a:schemeClr val="tx1"/>
          </a:fontRef>
        </p:style>
      </p:cxnSp>
      <p:cxnSp>
        <p:nvCxnSpPr>
          <p:cNvPr id="38" name="直線コネクタ 37"/>
          <p:cNvCxnSpPr/>
          <p:nvPr/>
        </p:nvCxnSpPr>
        <p:spPr>
          <a:xfrm flipV="1">
            <a:off x="4385985" y="5138431"/>
            <a:ext cx="3690029" cy="33"/>
          </a:xfrm>
          <a:prstGeom prst="line">
            <a:avLst/>
          </a:prstGeom>
          <a:ln w="3175"/>
        </p:spPr>
        <p:style>
          <a:lnRef idx="1">
            <a:schemeClr val="dk1"/>
          </a:lnRef>
          <a:fillRef idx="0">
            <a:schemeClr val="dk1"/>
          </a:fillRef>
          <a:effectRef idx="0">
            <a:schemeClr val="dk1"/>
          </a:effectRef>
          <a:fontRef idx="minor">
            <a:schemeClr val="tx1"/>
          </a:fontRef>
        </p:style>
      </p:cxnSp>
      <p:sp>
        <p:nvSpPr>
          <p:cNvPr id="39" name="台形 38"/>
          <p:cNvSpPr/>
          <p:nvPr/>
        </p:nvSpPr>
        <p:spPr>
          <a:xfrm rot="5400000" flipV="1">
            <a:off x="2765979" y="3788437"/>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40" name="直線コネクタ 39"/>
          <p:cNvCxnSpPr/>
          <p:nvPr/>
        </p:nvCxnSpPr>
        <p:spPr>
          <a:xfrm flipV="1">
            <a:off x="3305973" y="3878449"/>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cxnSp>
        <p:nvCxnSpPr>
          <p:cNvPr id="41" name="直線コネクタ 40"/>
          <p:cNvCxnSpPr/>
          <p:nvPr/>
        </p:nvCxnSpPr>
        <p:spPr>
          <a:xfrm flipV="1">
            <a:off x="5106016" y="2168437"/>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42" name="直線コネクタ 41"/>
          <p:cNvCxnSpPr/>
          <p:nvPr/>
        </p:nvCxnSpPr>
        <p:spPr>
          <a:xfrm flipV="1">
            <a:off x="5916016" y="2168437"/>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43" name="直線コネクタ 42"/>
          <p:cNvCxnSpPr/>
          <p:nvPr/>
        </p:nvCxnSpPr>
        <p:spPr>
          <a:xfrm flipV="1">
            <a:off x="6726017" y="2168437"/>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44" name="直線コネクタ 43"/>
          <p:cNvCxnSpPr/>
          <p:nvPr/>
        </p:nvCxnSpPr>
        <p:spPr>
          <a:xfrm flipV="1">
            <a:off x="7536017" y="2168437"/>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45" name="台形 44"/>
          <p:cNvSpPr/>
          <p:nvPr/>
        </p:nvSpPr>
        <p:spPr>
          <a:xfrm flipV="1">
            <a:off x="4836015" y="5948431"/>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46" name="直線コネクタ 45"/>
          <p:cNvCxnSpPr/>
          <p:nvPr/>
        </p:nvCxnSpPr>
        <p:spPr>
          <a:xfrm flipV="1">
            <a:off x="6295997" y="6218433"/>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47" name="正方形/長方形 46"/>
          <p:cNvSpPr/>
          <p:nvPr/>
        </p:nvSpPr>
        <p:spPr>
          <a:xfrm>
            <a:off x="5133594" y="5796073"/>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48" name="正方形/長方形 47"/>
          <p:cNvSpPr/>
          <p:nvPr/>
        </p:nvSpPr>
        <p:spPr>
          <a:xfrm rot="16200000">
            <a:off x="3018583" y="350103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sp>
        <p:nvSpPr>
          <p:cNvPr id="76" name="正方形/長方形 75"/>
          <p:cNvSpPr/>
          <p:nvPr/>
        </p:nvSpPr>
        <p:spPr>
          <a:xfrm>
            <a:off x="7248765" y="2016001"/>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cell</a:t>
            </a:r>
            <a:endParaRPr lang="ja-JP" altLang="en-US" sz="1600" dirty="0">
              <a:latin typeface="Arial Narrow" pitchFamily="34" charset="0"/>
            </a:endParaRPr>
          </a:p>
        </p:txBody>
      </p:sp>
      <p:sp>
        <p:nvSpPr>
          <p:cNvPr id="82" name="正方形/長方形 81"/>
          <p:cNvSpPr/>
          <p:nvPr/>
        </p:nvSpPr>
        <p:spPr>
          <a:xfrm>
            <a:off x="3018717" y="3366016"/>
            <a:ext cx="114010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address</a:t>
            </a:r>
            <a:endParaRPr lang="ja-JP" altLang="en-US" sz="1600" dirty="0">
              <a:latin typeface="Arial Narrow" pitchFamily="34" charset="0"/>
            </a:endParaRPr>
          </a:p>
        </p:txBody>
      </p:sp>
    </p:spTree>
    <p:extLst>
      <p:ext uri="{BB962C8B-B14F-4D97-AF65-F5344CB8AC3E}">
        <p14:creationId xmlns:p14="http://schemas.microsoft.com/office/powerpoint/2010/main" val="10101012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D3D2D5-56BE-4C34-349A-8F10894A58E6}"/>
              </a:ext>
            </a:extLst>
          </p:cNvPr>
          <p:cNvSpPr>
            <a:spLocks noGrp="1"/>
          </p:cNvSpPr>
          <p:nvPr>
            <p:ph type="title"/>
          </p:nvPr>
        </p:nvSpPr>
        <p:spPr/>
        <p:txBody>
          <a:bodyPr/>
          <a:lstStyle/>
          <a:p>
            <a:r>
              <a:rPr kumimoji="1" lang="ja-JP" altLang="en-US" dirty="0"/>
              <a:t>マルチバンク化による緩和</a:t>
            </a:r>
          </a:p>
        </p:txBody>
      </p:sp>
      <p:sp>
        <p:nvSpPr>
          <p:cNvPr id="3" name="テキスト プレースホルダー 2">
            <a:extLst>
              <a:ext uri="{FF2B5EF4-FFF2-40B4-BE49-F238E27FC236}">
                <a16:creationId xmlns:a16="http://schemas.microsoft.com/office/drawing/2014/main" id="{363D46C0-6B9E-C252-3072-71965FC76B8E}"/>
              </a:ext>
            </a:extLst>
          </p:cNvPr>
          <p:cNvSpPr>
            <a:spLocks noGrp="1"/>
          </p:cNvSpPr>
          <p:nvPr>
            <p:ph type="body" sz="quarter" idx="10"/>
          </p:nvPr>
        </p:nvSpPr>
        <p:spPr/>
        <p:txBody>
          <a:bodyPr/>
          <a:lstStyle/>
          <a:p>
            <a:r>
              <a:rPr kumimoji="1" lang="ja-JP" altLang="en-US" dirty="0"/>
              <a:t>マルチバンク化：</a:t>
            </a:r>
            <a:endParaRPr kumimoji="1" lang="en-US" altLang="ja-JP" dirty="0"/>
          </a:p>
          <a:p>
            <a:pPr lvl="1"/>
            <a:r>
              <a:rPr kumimoji="1" lang="en-US" altLang="ja-JP" dirty="0"/>
              <a:t>N </a:t>
            </a:r>
            <a:r>
              <a:rPr kumimoji="1" lang="ja-JP" altLang="en-US" dirty="0"/>
              <a:t>個の独立したメモリを用意</a:t>
            </a:r>
            <a:endParaRPr kumimoji="1" lang="en-US" altLang="ja-JP" dirty="0"/>
          </a:p>
          <a:p>
            <a:pPr lvl="1"/>
            <a:r>
              <a:rPr lang="ja-JP" altLang="en-US" dirty="0"/>
              <a:t>アドレス </a:t>
            </a:r>
            <a:r>
              <a:rPr lang="en-US" altLang="ja-JP" dirty="0"/>
              <a:t>mod N </a:t>
            </a:r>
            <a:r>
              <a:rPr lang="ja-JP" altLang="en-US" dirty="0"/>
              <a:t>で，アクセスするメモリを決定</a:t>
            </a:r>
            <a:endParaRPr lang="en-US" altLang="ja-JP" dirty="0"/>
          </a:p>
          <a:p>
            <a:pPr lvl="1"/>
            <a:r>
              <a:rPr kumimoji="1" lang="en-US" altLang="ja-JP" dirty="0"/>
              <a:t>mod N </a:t>
            </a:r>
            <a:r>
              <a:rPr kumimoji="1" lang="ja-JP" altLang="en-US" dirty="0"/>
              <a:t>が被らない限りは，同時にアクセスできる</a:t>
            </a:r>
            <a:endParaRPr kumimoji="1" lang="en-US" altLang="ja-JP" dirty="0"/>
          </a:p>
          <a:p>
            <a:r>
              <a:rPr lang="ja-JP" altLang="en-US" dirty="0"/>
              <a:t>課題：</a:t>
            </a:r>
            <a:endParaRPr lang="en-US" altLang="ja-JP" dirty="0"/>
          </a:p>
          <a:p>
            <a:pPr lvl="1"/>
            <a:r>
              <a:rPr kumimoji="1" lang="en-US" altLang="ja-JP" dirty="0"/>
              <a:t>N </a:t>
            </a:r>
            <a:r>
              <a:rPr kumimoji="1" lang="ja-JP" altLang="en-US" dirty="0"/>
              <a:t>を大きくすると，メモリが細切れになる</a:t>
            </a:r>
            <a:endParaRPr kumimoji="1" lang="en-US" altLang="ja-JP" dirty="0"/>
          </a:p>
          <a:p>
            <a:pPr lvl="1"/>
            <a:r>
              <a:rPr lang="ja-JP" altLang="en-US" dirty="0"/>
              <a:t>→ </a:t>
            </a:r>
            <a:r>
              <a:rPr kumimoji="1" lang="ja-JP" altLang="en-US" dirty="0"/>
              <a:t>回路面積あたりで憶えられる容量が相対的に低下</a:t>
            </a:r>
            <a:endParaRPr kumimoji="1" lang="en-US" altLang="ja-JP" dirty="0"/>
          </a:p>
          <a:p>
            <a:pPr lvl="2"/>
            <a:r>
              <a:rPr kumimoji="1" lang="ja-JP" altLang="en-US" dirty="0"/>
              <a:t>デコーダやカラムセレクタ，センスアンプが増える</a:t>
            </a:r>
            <a:endParaRPr kumimoji="1" lang="en-US" altLang="ja-JP" dirty="0"/>
          </a:p>
        </p:txBody>
      </p:sp>
    </p:spTree>
    <p:extLst>
      <p:ext uri="{BB962C8B-B14F-4D97-AF65-F5344CB8AC3E}">
        <p14:creationId xmlns:p14="http://schemas.microsoft.com/office/powerpoint/2010/main" val="11061566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単純なスーパスカラによる並列実行のまとめ</a:t>
            </a:r>
            <a:endParaRPr kumimoji="1" lang="ja-JP" altLang="en-US" dirty="0"/>
          </a:p>
        </p:txBody>
      </p:sp>
      <p:sp>
        <p:nvSpPr>
          <p:cNvPr id="3" name="テキスト プレースホルダー 2"/>
          <p:cNvSpPr>
            <a:spLocks noGrp="1"/>
          </p:cNvSpPr>
          <p:nvPr>
            <p:ph type="body" sz="quarter" idx="10"/>
          </p:nvPr>
        </p:nvSpPr>
        <p:spPr/>
        <p:txBody>
          <a:bodyPr/>
          <a:lstStyle/>
          <a:p>
            <a:r>
              <a:rPr lang="ja-JP" altLang="en-US" dirty="0"/>
              <a:t>これまでに説明したような単純なスーパスカラではあまり大きな性能向上が期待できない</a:t>
            </a:r>
            <a:endParaRPr lang="en-US" altLang="ja-JP" dirty="0"/>
          </a:p>
          <a:p>
            <a:pPr lvl="1"/>
            <a:r>
              <a:rPr lang="en-US" altLang="ja-JP" dirty="0"/>
              <a:t>2-way </a:t>
            </a:r>
            <a:r>
              <a:rPr lang="ja-JP" altLang="en-US" dirty="0"/>
              <a:t>なら数割ぐらいの向上</a:t>
            </a:r>
            <a:endParaRPr lang="en-US" altLang="ja-JP" dirty="0"/>
          </a:p>
          <a:p>
            <a:r>
              <a:rPr lang="ja-JP" altLang="en-US" dirty="0"/>
              <a:t>同時実行幅を増やしていっても，何かの制約ですぐ止まる</a:t>
            </a:r>
            <a:endParaRPr lang="en-US" altLang="ja-JP" dirty="0"/>
          </a:p>
          <a:p>
            <a:pPr lvl="1"/>
            <a:r>
              <a:rPr lang="en-US" altLang="ja-JP" dirty="0"/>
              <a:t>n </a:t>
            </a:r>
            <a:r>
              <a:rPr lang="ja-JP" altLang="en-US" dirty="0"/>
              <a:t>命令のうち１つでもひっかかってたらダメ</a:t>
            </a:r>
            <a:endParaRPr lang="en-US" altLang="ja-JP" dirty="0"/>
          </a:p>
        </p:txBody>
      </p:sp>
    </p:spTree>
    <p:extLst>
      <p:ext uri="{BB962C8B-B14F-4D97-AF65-F5344CB8AC3E}">
        <p14:creationId xmlns:p14="http://schemas.microsoft.com/office/powerpoint/2010/main" val="1392914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z="2400" dirty="0"/>
              <a:t>同時実行幅を増やしていっても，何かの制約ですぐ止まる</a:t>
            </a:r>
            <a:endParaRPr lang="en-US" altLang="ja-JP" sz="2400" dirty="0"/>
          </a:p>
        </p:txBody>
      </p:sp>
      <p:sp>
        <p:nvSpPr>
          <p:cNvPr id="3" name="テキスト プレースホルダー 2"/>
          <p:cNvSpPr>
            <a:spLocks noGrp="1"/>
          </p:cNvSpPr>
          <p:nvPr>
            <p:ph type="body" sz="quarter" idx="10"/>
          </p:nvPr>
        </p:nvSpPr>
        <p:spPr/>
        <p:txBody>
          <a:bodyPr/>
          <a:lstStyle/>
          <a:p>
            <a:r>
              <a:rPr lang="ja-JP" altLang="en-US" dirty="0"/>
              <a:t>どうする？</a:t>
            </a:r>
            <a:br>
              <a:rPr lang="en-US" altLang="ja-JP" dirty="0"/>
            </a:br>
            <a:endParaRPr lang="en-US" altLang="ja-JP" dirty="0"/>
          </a:p>
          <a:p>
            <a:pPr lvl="1"/>
            <a:r>
              <a:rPr lang="en-US" altLang="ja-JP" dirty="0"/>
              <a:t>1. </a:t>
            </a:r>
            <a:r>
              <a:rPr lang="ja-JP" altLang="en-US" dirty="0"/>
              <a:t>構造ハザード</a:t>
            </a:r>
            <a:endParaRPr lang="en-US" altLang="ja-JP" dirty="0"/>
          </a:p>
          <a:p>
            <a:pPr marL="720000" lvl="2" indent="0">
              <a:buNone/>
            </a:pPr>
            <a:r>
              <a:rPr lang="ja-JP" altLang="en-US" dirty="0"/>
              <a:t>→ ユニットを増やす</a:t>
            </a:r>
            <a:br>
              <a:rPr lang="en-US" altLang="ja-JP" dirty="0"/>
            </a:br>
            <a:endParaRPr lang="en-US" altLang="ja-JP" dirty="0"/>
          </a:p>
          <a:p>
            <a:pPr lvl="1"/>
            <a:r>
              <a:rPr lang="en-US" altLang="ja-JP" dirty="0"/>
              <a:t>2. </a:t>
            </a:r>
            <a:r>
              <a:rPr lang="ja-JP" altLang="en-US" dirty="0"/>
              <a:t>データ依存 </a:t>
            </a:r>
            <a:br>
              <a:rPr lang="en-US" altLang="ja-JP" dirty="0"/>
            </a:br>
            <a:r>
              <a:rPr lang="ja-JP" altLang="en-US" b="1" dirty="0"/>
              <a:t>→ 命令スケジューリング（後述）</a:t>
            </a:r>
            <a:br>
              <a:rPr lang="en-US" altLang="ja-JP" b="1" dirty="0"/>
            </a:br>
            <a:endParaRPr lang="en-US" altLang="ja-JP" b="1" dirty="0"/>
          </a:p>
          <a:p>
            <a:pPr lvl="1"/>
            <a:r>
              <a:rPr lang="en-US" altLang="ja-JP" dirty="0"/>
              <a:t>3. </a:t>
            </a:r>
            <a:r>
              <a:rPr lang="ja-JP" altLang="en-US" dirty="0"/>
              <a:t>分岐をまたぐ場合 </a:t>
            </a:r>
            <a:br>
              <a:rPr lang="en-US" altLang="ja-JP" dirty="0"/>
            </a:br>
            <a:r>
              <a:rPr lang="ja-JP" altLang="en-US" dirty="0"/>
              <a:t>→ 上に比べればあまり影響がないので放置</a:t>
            </a:r>
            <a:endParaRPr lang="en-US" altLang="ja-JP" dirty="0"/>
          </a:p>
          <a:p>
            <a:pPr lvl="2"/>
            <a:r>
              <a:rPr lang="ja-JP" altLang="en-US" dirty="0"/>
              <a:t>分岐命令は</a:t>
            </a:r>
            <a:r>
              <a:rPr lang="en-US" altLang="ja-JP" dirty="0"/>
              <a:t>4</a:t>
            </a:r>
            <a:r>
              <a:rPr lang="ja-JP" altLang="en-US" dirty="0"/>
              <a:t>命令に１回ぐらいの出現なので，４並列ぐらいまでは顕在化しにくい</a:t>
            </a:r>
            <a:endParaRPr lang="en-US" altLang="ja-JP" dirty="0"/>
          </a:p>
        </p:txBody>
      </p:sp>
    </p:spTree>
    <p:extLst>
      <p:ext uri="{BB962C8B-B14F-4D97-AF65-F5344CB8AC3E}">
        <p14:creationId xmlns:p14="http://schemas.microsoft.com/office/powerpoint/2010/main" val="32050956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余談：「スーパスカラ・プロセッサ」という言葉</a:t>
            </a:r>
            <a:endParaRPr kumimoji="1" lang="ja-JP" altLang="en-US" dirty="0"/>
          </a:p>
        </p:txBody>
      </p:sp>
      <p:sp>
        <p:nvSpPr>
          <p:cNvPr id="3" name="テキスト プレースホルダー 2"/>
          <p:cNvSpPr>
            <a:spLocks noGrp="1"/>
          </p:cNvSpPr>
          <p:nvPr>
            <p:ph type="body" sz="quarter" idx="10"/>
          </p:nvPr>
        </p:nvSpPr>
        <p:spPr>
          <a:xfrm>
            <a:off x="1775952" y="1088975"/>
            <a:ext cx="8532044" cy="5219751"/>
          </a:xfrm>
        </p:spPr>
        <p:txBody>
          <a:bodyPr/>
          <a:lstStyle/>
          <a:p>
            <a:r>
              <a:rPr kumimoji="1" lang="ja-JP" altLang="en-US" dirty="0"/>
              <a:t>広義の「スーパスカラ・プロセッサ」</a:t>
            </a:r>
            <a:endParaRPr kumimoji="1" lang="en-US" altLang="ja-JP" dirty="0"/>
          </a:p>
          <a:p>
            <a:pPr lvl="1"/>
            <a:r>
              <a:rPr kumimoji="1" lang="ja-JP" altLang="en-US" dirty="0"/>
              <a:t>パイプラインや演算器を複数備え，複数命令を同時実行できるもの</a:t>
            </a:r>
            <a:endParaRPr kumimoji="1" lang="en-US" altLang="ja-JP" dirty="0"/>
          </a:p>
          <a:p>
            <a:r>
              <a:rPr kumimoji="1" lang="ja-JP" altLang="en-US" dirty="0"/>
              <a:t>単に「スーパスカラ・プロセッサ」と書いた場合，</a:t>
            </a:r>
            <a:br>
              <a:rPr kumimoji="1" lang="en-US" altLang="ja-JP" dirty="0"/>
            </a:br>
            <a:r>
              <a:rPr kumimoji="1" lang="ja-JP" altLang="en-US" dirty="0"/>
              <a:t>後述する「</a:t>
            </a:r>
            <a:r>
              <a:rPr lang="en-US" altLang="ja-JP" dirty="0"/>
              <a:t>out-of-order </a:t>
            </a:r>
            <a:r>
              <a:rPr lang="ja-JP" altLang="en-US" dirty="0"/>
              <a:t>実行を行うスーパスカラ・プロセッサ」の意味でも使われることがある</a:t>
            </a:r>
            <a:endParaRPr kumimoji="1" lang="ja-JP" altLang="en-US" dirty="0"/>
          </a:p>
        </p:txBody>
      </p:sp>
    </p:spTree>
    <p:extLst>
      <p:ext uri="{BB962C8B-B14F-4D97-AF65-F5344CB8AC3E}">
        <p14:creationId xmlns:p14="http://schemas.microsoft.com/office/powerpoint/2010/main" val="2961924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命令の並列実行</a:t>
            </a:r>
            <a:endParaRPr lang="en-US" altLang="ja-JP" dirty="0"/>
          </a:p>
          <a:p>
            <a:pPr marL="457200" indent="-457200">
              <a:buFont typeface="+mj-lt"/>
              <a:buAutoNum type="arabicPeriod"/>
            </a:pPr>
            <a:r>
              <a:rPr lang="ja-JP" altLang="en-US" b="1" dirty="0"/>
              <a:t>データ依存</a:t>
            </a:r>
            <a:endParaRPr lang="en-US" altLang="ja-JP" b="1" dirty="0"/>
          </a:p>
          <a:p>
            <a:pPr marL="457200" indent="-457200">
              <a:buFont typeface="+mj-lt"/>
              <a:buAutoNum type="arabicPeriod"/>
            </a:pPr>
            <a:r>
              <a:rPr lang="ja-JP" altLang="en-US" dirty="0"/>
              <a:t>静的命令スケジューリング</a:t>
            </a:r>
            <a:endParaRPr lang="en-US" altLang="ja-JP" dirty="0"/>
          </a:p>
          <a:p>
            <a:pPr marL="457200" indent="-457200">
              <a:buFont typeface="+mj-lt"/>
              <a:buAutoNum type="arabicPeriod"/>
            </a:pPr>
            <a:r>
              <a:rPr lang="ja-JP" altLang="en-US" dirty="0"/>
              <a:t>動的命令スケジューリング</a:t>
            </a:r>
            <a:endParaRPr lang="en-US" altLang="ja-JP" dirty="0"/>
          </a:p>
        </p:txBody>
      </p:sp>
    </p:spTree>
    <p:extLst>
      <p:ext uri="{BB962C8B-B14F-4D97-AF65-F5344CB8AC3E}">
        <p14:creationId xmlns:p14="http://schemas.microsoft.com/office/powerpoint/2010/main" val="24755575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命令間の依存関係</a:t>
            </a:r>
          </a:p>
        </p:txBody>
      </p:sp>
      <p:sp>
        <p:nvSpPr>
          <p:cNvPr id="3" name="テキスト プレースホルダー 2"/>
          <p:cNvSpPr>
            <a:spLocks noGrp="1"/>
          </p:cNvSpPr>
          <p:nvPr>
            <p:ph type="body" sz="quarter" idx="10"/>
          </p:nvPr>
        </p:nvSpPr>
        <p:spPr/>
        <p:txBody>
          <a:bodyPr/>
          <a:lstStyle/>
          <a:p>
            <a:r>
              <a:rPr kumimoji="1" lang="ja-JP" altLang="en-US" dirty="0"/>
              <a:t>命令のスケジューリング</a:t>
            </a:r>
            <a:endParaRPr kumimoji="1" lang="en-US" altLang="ja-JP" dirty="0"/>
          </a:p>
          <a:p>
            <a:pPr lvl="1"/>
            <a:r>
              <a:rPr kumimoji="1" lang="ja-JP" altLang="en-US" dirty="0"/>
              <a:t>プログラムの意味を変えずに，</a:t>
            </a:r>
            <a:r>
              <a:rPr kumimoji="1" lang="ja-JP" altLang="en-US" dirty="0">
                <a:solidFill>
                  <a:schemeClr val="accent5"/>
                </a:solidFill>
              </a:rPr>
              <a:t>命令の実行順を並び変える</a:t>
            </a:r>
            <a:r>
              <a:rPr kumimoji="1" lang="ja-JP" altLang="en-US" dirty="0"/>
              <a:t>こと</a:t>
            </a:r>
            <a:endParaRPr kumimoji="1" lang="en-US" altLang="ja-JP" dirty="0"/>
          </a:p>
          <a:p>
            <a:pPr lvl="1"/>
            <a:r>
              <a:rPr kumimoji="1" lang="ja-JP" altLang="en-US" dirty="0"/>
              <a:t>これによって並列に実行できる命令を増やす</a:t>
            </a:r>
            <a:endParaRPr kumimoji="1" lang="en-US" altLang="ja-JP" dirty="0"/>
          </a:p>
          <a:p>
            <a:r>
              <a:rPr kumimoji="1" lang="ja-JP" altLang="en-US" dirty="0"/>
              <a:t>プログラムの意味が変わらない </a:t>
            </a:r>
            <a:r>
              <a:rPr kumimoji="1" lang="en-US" altLang="ja-JP" dirty="0"/>
              <a:t>= </a:t>
            </a:r>
            <a:r>
              <a:rPr kumimoji="1" lang="ja-JP" altLang="en-US" dirty="0">
                <a:solidFill>
                  <a:schemeClr val="accent5"/>
                </a:solidFill>
              </a:rPr>
              <a:t>依存関係</a:t>
            </a:r>
            <a:r>
              <a:rPr kumimoji="1" lang="ja-JP" altLang="en-US" dirty="0"/>
              <a:t>をくずさない</a:t>
            </a:r>
            <a:endParaRPr kumimoji="1" lang="en-US" altLang="ja-JP" dirty="0"/>
          </a:p>
          <a:p>
            <a:pPr lvl="1"/>
            <a:r>
              <a:rPr kumimoji="1" lang="ja-JP" altLang="en-US" dirty="0"/>
              <a:t>以降のスライドでは，スケジューリングの背景として命令間の依存関係を整理しておく</a:t>
            </a:r>
            <a:endParaRPr kumimoji="1" lang="en-US" altLang="ja-JP" dirty="0"/>
          </a:p>
        </p:txBody>
      </p:sp>
    </p:spTree>
    <p:extLst>
      <p:ext uri="{BB962C8B-B14F-4D97-AF65-F5344CB8AC3E}">
        <p14:creationId xmlns:p14="http://schemas.microsoft.com/office/powerpoint/2010/main" val="2740083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命令間の依存関係</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制御依存</a:t>
            </a:r>
            <a:endParaRPr kumimoji="1" lang="en-US" altLang="ja-JP" dirty="0"/>
          </a:p>
          <a:p>
            <a:pPr marL="457200" indent="-457200">
              <a:buFont typeface="+mj-lt"/>
              <a:buAutoNum type="arabicPeriod"/>
            </a:pPr>
            <a:r>
              <a:rPr kumimoji="1" lang="ja-JP" altLang="en-US" dirty="0"/>
              <a:t>データ依存</a:t>
            </a:r>
            <a:endParaRPr kumimoji="1" lang="en-US" altLang="ja-JP" dirty="0"/>
          </a:p>
          <a:p>
            <a:pPr marL="817200" lvl="1" indent="-457200">
              <a:buFont typeface="+mj-lt"/>
              <a:buAutoNum type="arabicPeriod"/>
            </a:pPr>
            <a:r>
              <a:rPr kumimoji="1" lang="ja-JP" altLang="en-US" dirty="0"/>
              <a:t>真の依存</a:t>
            </a:r>
            <a:endParaRPr kumimoji="1" lang="en-US" altLang="ja-JP" dirty="0"/>
          </a:p>
          <a:p>
            <a:pPr marL="817200" lvl="1" indent="-457200">
              <a:buFont typeface="+mj-lt"/>
              <a:buAutoNum type="arabicPeriod"/>
            </a:pPr>
            <a:r>
              <a:rPr kumimoji="1" lang="ja-JP" altLang="en-US" dirty="0"/>
              <a:t>偽の依存</a:t>
            </a:r>
          </a:p>
        </p:txBody>
      </p:sp>
    </p:spTree>
    <p:extLst>
      <p:ext uri="{BB962C8B-B14F-4D97-AF65-F5344CB8AC3E}">
        <p14:creationId xmlns:p14="http://schemas.microsoft.com/office/powerpoint/2010/main" val="16880065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制御依存</a:t>
            </a:r>
            <a:endParaRPr kumimoji="1" lang="ja-JP" altLang="en-US" dirty="0"/>
          </a:p>
        </p:txBody>
      </p:sp>
      <p:sp>
        <p:nvSpPr>
          <p:cNvPr id="3" name="テキスト プレースホルダー 2"/>
          <p:cNvSpPr>
            <a:spLocks noGrp="1"/>
          </p:cNvSpPr>
          <p:nvPr>
            <p:ph type="body" sz="quarter" idx="10"/>
          </p:nvPr>
        </p:nvSpPr>
        <p:spPr>
          <a:xfrm>
            <a:off x="2135956" y="1088975"/>
            <a:ext cx="8280092" cy="2970033"/>
          </a:xfrm>
        </p:spPr>
        <p:txBody>
          <a:bodyPr/>
          <a:lstStyle/>
          <a:p>
            <a:r>
              <a:rPr kumimoji="1" lang="ja-JP" altLang="en-US" dirty="0"/>
              <a:t>分岐とその後ろにある命令間の依存</a:t>
            </a:r>
            <a:endParaRPr kumimoji="1" lang="en-US" altLang="ja-JP" dirty="0"/>
          </a:p>
          <a:p>
            <a:pPr lvl="1"/>
            <a:r>
              <a:rPr kumimoji="1" lang="ja-JP" altLang="en-US" dirty="0"/>
              <a:t>分岐命令の後ろにある命令は，分岐先がわかるまで実行不能</a:t>
            </a:r>
            <a:endParaRPr kumimoji="1" lang="en-US" altLang="ja-JP" dirty="0"/>
          </a:p>
          <a:p>
            <a:pPr lvl="1"/>
            <a:r>
              <a:rPr kumimoji="1" lang="ja-JP" altLang="en-US" dirty="0"/>
              <a:t>分岐先が確定するまでどこを実行すれば良いか不明なため</a:t>
            </a:r>
            <a:endParaRPr kumimoji="1" lang="en-US" altLang="ja-JP" dirty="0"/>
          </a:p>
          <a:p>
            <a:r>
              <a:rPr kumimoji="1" lang="ja-JP" altLang="en-US" dirty="0"/>
              <a:t>分岐予測による投機実行により，効果的に解決できる</a:t>
            </a:r>
            <a:endParaRPr kumimoji="1" lang="en-US" altLang="ja-JP" dirty="0"/>
          </a:p>
        </p:txBody>
      </p:sp>
      <p:grpSp>
        <p:nvGrpSpPr>
          <p:cNvPr id="4" name="グループ化 3">
            <a:extLst>
              <a:ext uri="{FF2B5EF4-FFF2-40B4-BE49-F238E27FC236}">
                <a16:creationId xmlns:a16="http://schemas.microsoft.com/office/drawing/2014/main" id="{37622E2E-78F3-5786-53BE-F6E4D7196CC2}"/>
              </a:ext>
            </a:extLst>
          </p:cNvPr>
          <p:cNvGrpSpPr/>
          <p:nvPr/>
        </p:nvGrpSpPr>
        <p:grpSpPr>
          <a:xfrm>
            <a:off x="3575972" y="5319021"/>
            <a:ext cx="1562400" cy="576064"/>
            <a:chOff x="971600" y="5445224"/>
            <a:chExt cx="7200800" cy="576064"/>
          </a:xfrm>
        </p:grpSpPr>
        <p:sp>
          <p:nvSpPr>
            <p:cNvPr id="5" name="平行四辺形 4">
              <a:extLst>
                <a:ext uri="{FF2B5EF4-FFF2-40B4-BE49-F238E27FC236}">
                  <a16:creationId xmlns:a16="http://schemas.microsoft.com/office/drawing/2014/main" id="{02EA311C-0F4E-945A-E497-C7F7C5F2BD1E}"/>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a:extLst>
                <a:ext uri="{FF2B5EF4-FFF2-40B4-BE49-F238E27FC236}">
                  <a16:creationId xmlns:a16="http://schemas.microsoft.com/office/drawing/2014/main" id="{2819E53A-6A5E-9992-623F-5C6B27EE2203}"/>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a:extLst>
              <a:ext uri="{FF2B5EF4-FFF2-40B4-BE49-F238E27FC236}">
                <a16:creationId xmlns:a16="http://schemas.microsoft.com/office/drawing/2014/main" id="{212B1212-EBA0-8450-2EB4-1CA0A991EC60}"/>
              </a:ext>
            </a:extLst>
          </p:cNvPr>
          <p:cNvGrpSpPr/>
          <p:nvPr/>
        </p:nvGrpSpPr>
        <p:grpSpPr>
          <a:xfrm>
            <a:off x="5016132" y="5319021"/>
            <a:ext cx="1562400" cy="576064"/>
            <a:chOff x="971600" y="5445224"/>
            <a:chExt cx="7200800" cy="576064"/>
          </a:xfrm>
        </p:grpSpPr>
        <p:sp>
          <p:nvSpPr>
            <p:cNvPr id="8" name="平行四辺形 7">
              <a:extLst>
                <a:ext uri="{FF2B5EF4-FFF2-40B4-BE49-F238E27FC236}">
                  <a16:creationId xmlns:a16="http://schemas.microsoft.com/office/drawing/2014/main" id="{B001BC8D-3F1D-EB4C-5523-410D8566EE01}"/>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a:extLst>
                <a:ext uri="{FF2B5EF4-FFF2-40B4-BE49-F238E27FC236}">
                  <a16:creationId xmlns:a16="http://schemas.microsoft.com/office/drawing/2014/main" id="{89CD65AE-8EB0-7B74-DFB0-729237E8FA49}"/>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a:extLst>
              <a:ext uri="{FF2B5EF4-FFF2-40B4-BE49-F238E27FC236}">
                <a16:creationId xmlns:a16="http://schemas.microsoft.com/office/drawing/2014/main" id="{38DA4799-BAD8-00E0-7AD0-C5FC33CAD0B6}"/>
              </a:ext>
            </a:extLst>
          </p:cNvPr>
          <p:cNvGrpSpPr/>
          <p:nvPr/>
        </p:nvGrpSpPr>
        <p:grpSpPr>
          <a:xfrm>
            <a:off x="6456292" y="5319021"/>
            <a:ext cx="1562400" cy="576064"/>
            <a:chOff x="971600" y="5445224"/>
            <a:chExt cx="7200800" cy="576064"/>
          </a:xfrm>
        </p:grpSpPr>
        <p:sp>
          <p:nvSpPr>
            <p:cNvPr id="11" name="平行四辺形 10">
              <a:extLst>
                <a:ext uri="{FF2B5EF4-FFF2-40B4-BE49-F238E27FC236}">
                  <a16:creationId xmlns:a16="http://schemas.microsoft.com/office/drawing/2014/main" id="{EA528BA3-C7AD-4932-2F4E-663BE1257AAF}"/>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a:extLst>
                <a:ext uri="{FF2B5EF4-FFF2-40B4-BE49-F238E27FC236}">
                  <a16:creationId xmlns:a16="http://schemas.microsoft.com/office/drawing/2014/main" id="{268C7662-5D15-8EC2-230D-99C0DFB2AA72}"/>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a:extLst>
              <a:ext uri="{FF2B5EF4-FFF2-40B4-BE49-F238E27FC236}">
                <a16:creationId xmlns:a16="http://schemas.microsoft.com/office/drawing/2014/main" id="{49C070B7-C9DD-A8A9-5436-CD69D1AF5544}"/>
              </a:ext>
            </a:extLst>
          </p:cNvPr>
          <p:cNvGrpSpPr/>
          <p:nvPr/>
        </p:nvGrpSpPr>
        <p:grpSpPr>
          <a:xfrm>
            <a:off x="7896452" y="5319021"/>
            <a:ext cx="1584176" cy="576064"/>
            <a:chOff x="971600" y="5445224"/>
            <a:chExt cx="7200800" cy="576064"/>
          </a:xfrm>
        </p:grpSpPr>
        <p:sp>
          <p:nvSpPr>
            <p:cNvPr id="14" name="平行四辺形 13">
              <a:extLst>
                <a:ext uri="{FF2B5EF4-FFF2-40B4-BE49-F238E27FC236}">
                  <a16:creationId xmlns:a16="http://schemas.microsoft.com/office/drawing/2014/main" id="{D3C78C3E-315E-648B-F825-C0DAB2C37371}"/>
                </a:ext>
              </a:extLst>
            </p:cNvPr>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a:extLst>
                <a:ext uri="{FF2B5EF4-FFF2-40B4-BE49-F238E27FC236}">
                  <a16:creationId xmlns:a16="http://schemas.microsoft.com/office/drawing/2014/main" id="{5B19CE4D-31BA-19B0-B3D3-7D78AE31F92C}"/>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a:extLst>
              <a:ext uri="{FF2B5EF4-FFF2-40B4-BE49-F238E27FC236}">
                <a16:creationId xmlns:a16="http://schemas.microsoft.com/office/drawing/2014/main" id="{C05F1994-F34A-F6DF-CA0F-C98EC3D3C0AB}"/>
              </a:ext>
            </a:extLst>
          </p:cNvPr>
          <p:cNvSpPr/>
          <p:nvPr/>
        </p:nvSpPr>
        <p:spPr>
          <a:xfrm>
            <a:off x="3537812" y="4454478"/>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a:extLst>
              <a:ext uri="{FF2B5EF4-FFF2-40B4-BE49-F238E27FC236}">
                <a16:creationId xmlns:a16="http://schemas.microsoft.com/office/drawing/2014/main" id="{E724E36D-CF39-9E22-C8F8-7F878FAD0CEF}"/>
              </a:ext>
            </a:extLst>
          </p:cNvPr>
          <p:cNvSpPr/>
          <p:nvPr/>
        </p:nvSpPr>
        <p:spPr>
          <a:xfrm>
            <a:off x="4977972" y="4454478"/>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a:extLst>
              <a:ext uri="{FF2B5EF4-FFF2-40B4-BE49-F238E27FC236}">
                <a16:creationId xmlns:a16="http://schemas.microsoft.com/office/drawing/2014/main" id="{E0E16427-C377-B11A-5CEE-7AA4EE5BAA77}"/>
              </a:ext>
            </a:extLst>
          </p:cNvPr>
          <p:cNvSpPr/>
          <p:nvPr/>
        </p:nvSpPr>
        <p:spPr>
          <a:xfrm>
            <a:off x="6420019" y="4473062"/>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a:extLst>
              <a:ext uri="{FF2B5EF4-FFF2-40B4-BE49-F238E27FC236}">
                <a16:creationId xmlns:a16="http://schemas.microsoft.com/office/drawing/2014/main" id="{9236ADB4-F0E6-E815-4E2E-D8E9612AE500}"/>
              </a:ext>
            </a:extLst>
          </p:cNvPr>
          <p:cNvSpPr/>
          <p:nvPr/>
        </p:nvSpPr>
        <p:spPr>
          <a:xfrm>
            <a:off x="7860179" y="4473062"/>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cxnSp>
        <p:nvCxnSpPr>
          <p:cNvPr id="20" name="直線矢印コネクタ 19">
            <a:extLst>
              <a:ext uri="{FF2B5EF4-FFF2-40B4-BE49-F238E27FC236}">
                <a16:creationId xmlns:a16="http://schemas.microsoft.com/office/drawing/2014/main" id="{BF9772F2-7E75-716F-980F-E37B1EDAD911}"/>
              </a:ext>
            </a:extLst>
          </p:cNvPr>
          <p:cNvCxnSpPr/>
          <p:nvPr/>
        </p:nvCxnSpPr>
        <p:spPr bwMode="auto">
          <a:xfrm>
            <a:off x="3575972" y="6129030"/>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21" name="角丸四角形 89">
            <a:extLst>
              <a:ext uri="{FF2B5EF4-FFF2-40B4-BE49-F238E27FC236}">
                <a16:creationId xmlns:a16="http://schemas.microsoft.com/office/drawing/2014/main" id="{700091CB-F1E8-0872-D0D6-D09AABE23983}"/>
              </a:ext>
            </a:extLst>
          </p:cNvPr>
          <p:cNvSpPr/>
          <p:nvPr/>
        </p:nvSpPr>
        <p:spPr bwMode="auto">
          <a:xfrm>
            <a:off x="4025977" y="5139019"/>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if a &gt; 0</a:t>
            </a:r>
            <a:endParaRPr lang="ja-JP" altLang="en-US" dirty="0">
              <a:latin typeface="Arial Narrow" panose="020B0606020202030204" pitchFamily="34" charset="0"/>
            </a:endParaRPr>
          </a:p>
        </p:txBody>
      </p:sp>
      <p:sp>
        <p:nvSpPr>
          <p:cNvPr id="22" name="正方形/長方形 21">
            <a:extLst>
              <a:ext uri="{FF2B5EF4-FFF2-40B4-BE49-F238E27FC236}">
                <a16:creationId xmlns:a16="http://schemas.microsoft.com/office/drawing/2014/main" id="{0B70B596-F07C-5C90-8CF2-60440500280D}"/>
              </a:ext>
            </a:extLst>
          </p:cNvPr>
          <p:cNvSpPr/>
          <p:nvPr/>
        </p:nvSpPr>
        <p:spPr bwMode="auto">
          <a:xfrm>
            <a:off x="2225957" y="4599014"/>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b="1" dirty="0">
                <a:solidFill>
                  <a:schemeClr val="tx2"/>
                </a:solidFill>
                <a:latin typeface="Arial Narrow" panose="020B0606020202030204" pitchFamily="34" charset="0"/>
              </a:rPr>
              <a:t>if a &gt; 0:</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ja-JP" altLang="en-US" sz="2000" dirty="0">
                <a:solidFill>
                  <a:schemeClr val="bg1"/>
                </a:solidFill>
                <a:latin typeface="Arial Narrow" panose="020B0606020202030204" pitchFamily="34" charset="0"/>
              </a:rPr>
              <a:t>  </a:t>
            </a:r>
          </a:p>
        </p:txBody>
      </p:sp>
      <p:sp>
        <p:nvSpPr>
          <p:cNvPr id="23" name="正方形/長方形 22">
            <a:extLst>
              <a:ext uri="{FF2B5EF4-FFF2-40B4-BE49-F238E27FC236}">
                <a16:creationId xmlns:a16="http://schemas.microsoft.com/office/drawing/2014/main" id="{3C01A51F-C076-B81A-C506-23CA678AB62C}"/>
              </a:ext>
            </a:extLst>
          </p:cNvPr>
          <p:cNvSpPr/>
          <p:nvPr/>
        </p:nvSpPr>
        <p:spPr bwMode="auto">
          <a:xfrm>
            <a:off x="2495961" y="405900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65000"/>
                    <a:lumOff val="35000"/>
                  </a:schemeClr>
                </a:solidFill>
              </a:rPr>
              <a:t>命令メモリ</a:t>
            </a:r>
          </a:p>
        </p:txBody>
      </p:sp>
      <p:sp>
        <p:nvSpPr>
          <p:cNvPr id="24" name="角丸四角形吹き出し 23">
            <a:extLst>
              <a:ext uri="{FF2B5EF4-FFF2-40B4-BE49-F238E27FC236}">
                <a16:creationId xmlns:a16="http://schemas.microsoft.com/office/drawing/2014/main" id="{055C6D7A-B2C6-A618-8955-A24D0D32C214}"/>
              </a:ext>
            </a:extLst>
          </p:cNvPr>
          <p:cNvSpPr/>
          <p:nvPr/>
        </p:nvSpPr>
        <p:spPr bwMode="auto">
          <a:xfrm>
            <a:off x="4115978" y="3879005"/>
            <a:ext cx="1440016" cy="432646"/>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次どう</a:t>
            </a:r>
            <a:r>
              <a:rPr lang="ja-JP" altLang="en-US" sz="1400" dirty="0" err="1">
                <a:solidFill>
                  <a:schemeClr val="tx1">
                    <a:lumMod val="65000"/>
                    <a:lumOff val="35000"/>
                  </a:schemeClr>
                </a:solidFill>
                <a:latin typeface="Arial Narrow" panose="020B0606020202030204" pitchFamily="34" charset="0"/>
              </a:rPr>
              <a:t>すんねん</a:t>
            </a:r>
            <a:endParaRPr lang="ja-JP" altLang="en-US" sz="1400" dirty="0">
              <a:solidFill>
                <a:schemeClr val="tx1">
                  <a:lumMod val="65000"/>
                  <a:lumOff val="35000"/>
                </a:schemeClr>
              </a:solidFill>
              <a:latin typeface="Arial Narrow" panose="020B0606020202030204" pitchFamily="34" charset="0"/>
            </a:endParaRPr>
          </a:p>
        </p:txBody>
      </p:sp>
    </p:spTree>
    <p:extLst>
      <p:ext uri="{BB962C8B-B14F-4D97-AF65-F5344CB8AC3E}">
        <p14:creationId xmlns:p14="http://schemas.microsoft.com/office/powerpoint/2010/main" val="22997470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データ依存</a:t>
            </a:r>
            <a:endParaRPr kumimoji="1" lang="ja-JP" altLang="en-US" dirty="0"/>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真の依存</a:t>
            </a:r>
            <a:endParaRPr lang="en-US" altLang="ja-JP" dirty="0"/>
          </a:p>
          <a:p>
            <a:pPr lvl="1"/>
            <a:r>
              <a:rPr lang="ja-JP" altLang="en-US" dirty="0"/>
              <a:t>フロー依存：</a:t>
            </a:r>
            <a:r>
              <a:rPr lang="en-US" altLang="ja-JP" dirty="0"/>
              <a:t>RAW</a:t>
            </a:r>
            <a:r>
              <a:rPr lang="ja-JP" altLang="en-US" dirty="0"/>
              <a:t>（</a:t>
            </a:r>
            <a:r>
              <a:rPr lang="en-US" altLang="ja-JP" dirty="0"/>
              <a:t>read after write</a:t>
            </a:r>
            <a:r>
              <a:rPr lang="ja-JP" altLang="en-US" dirty="0"/>
              <a:t>）</a:t>
            </a:r>
            <a:endParaRPr lang="en-US" altLang="ja-JP" dirty="0"/>
          </a:p>
          <a:p>
            <a:pPr marL="457200" indent="-457200">
              <a:buFont typeface="+mj-lt"/>
              <a:buAutoNum type="arabicPeriod"/>
            </a:pPr>
            <a:r>
              <a:rPr lang="ja-JP" altLang="en-US" dirty="0"/>
              <a:t>偽の依存</a:t>
            </a:r>
          </a:p>
          <a:p>
            <a:pPr lvl="1"/>
            <a:r>
              <a:rPr kumimoji="1" lang="ja-JP" altLang="en-US" dirty="0"/>
              <a:t>逆依存：</a:t>
            </a:r>
            <a:r>
              <a:rPr kumimoji="1" lang="en-US" altLang="ja-JP" dirty="0"/>
              <a:t>	W</a:t>
            </a:r>
            <a:r>
              <a:rPr lang="en-US" altLang="ja-JP" dirty="0"/>
              <a:t>AR</a:t>
            </a:r>
            <a:r>
              <a:rPr lang="ja-JP" altLang="en-US" dirty="0"/>
              <a:t>（</a:t>
            </a:r>
            <a:r>
              <a:rPr lang="en-US" altLang="ja-JP" dirty="0"/>
              <a:t>write after read</a:t>
            </a:r>
            <a:r>
              <a:rPr lang="ja-JP" altLang="en-US" dirty="0"/>
              <a:t>）</a:t>
            </a:r>
            <a:endParaRPr kumimoji="1" lang="en-US" altLang="ja-JP" dirty="0"/>
          </a:p>
          <a:p>
            <a:pPr lvl="1"/>
            <a:r>
              <a:rPr kumimoji="1" lang="ja-JP" altLang="en-US" dirty="0"/>
              <a:t>出力依存：</a:t>
            </a:r>
            <a:r>
              <a:rPr kumimoji="1" lang="en-US" altLang="ja-JP" dirty="0"/>
              <a:t>	W</a:t>
            </a:r>
            <a:r>
              <a:rPr lang="en-US" altLang="ja-JP" dirty="0"/>
              <a:t>AW</a:t>
            </a:r>
            <a:r>
              <a:rPr lang="ja-JP" altLang="en-US" dirty="0"/>
              <a:t>（</a:t>
            </a:r>
            <a:r>
              <a:rPr lang="en-US" altLang="ja-JP" dirty="0"/>
              <a:t>write after write</a:t>
            </a:r>
            <a:r>
              <a:rPr lang="ja-JP" altLang="en-US" dirty="0"/>
              <a:t>）</a:t>
            </a:r>
            <a:endParaRPr lang="en-US" altLang="ja-JP" dirty="0"/>
          </a:p>
        </p:txBody>
      </p:sp>
    </p:spTree>
    <p:extLst>
      <p:ext uri="{BB962C8B-B14F-4D97-AF65-F5344CB8AC3E}">
        <p14:creationId xmlns:p14="http://schemas.microsoft.com/office/powerpoint/2010/main" val="19305138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真の依存：フロー依存</a:t>
            </a:r>
            <a:br>
              <a:rPr kumimoji="1" lang="en-US" altLang="ja-JP" dirty="0"/>
            </a:br>
            <a:r>
              <a:rPr kumimoji="1" lang="en-US" altLang="ja-JP" dirty="0"/>
              <a:t>RAW</a:t>
            </a:r>
            <a:r>
              <a:rPr kumimoji="1" lang="ja-JP" altLang="en-US" dirty="0"/>
              <a:t>（</a:t>
            </a:r>
            <a:r>
              <a:rPr kumimoji="1" lang="en-US" altLang="ja-JP" dirty="0"/>
              <a:t>read after write</a:t>
            </a:r>
            <a:r>
              <a:rPr kumimoji="1" lang="ja-JP" altLang="en-US" dirty="0"/>
              <a:t>）</a:t>
            </a:r>
          </a:p>
        </p:txBody>
      </p:sp>
      <p:sp>
        <p:nvSpPr>
          <p:cNvPr id="3" name="テキスト プレースホルダー 2"/>
          <p:cNvSpPr>
            <a:spLocks noGrp="1"/>
          </p:cNvSpPr>
          <p:nvPr>
            <p:ph type="body" sz="quarter" idx="10"/>
          </p:nvPr>
        </p:nvSpPr>
        <p:spPr/>
        <p:txBody>
          <a:bodyPr/>
          <a:lstStyle/>
          <a:p>
            <a:r>
              <a:rPr kumimoji="1" lang="ja-JP" altLang="en-US" dirty="0"/>
              <a:t>文字通り，同じレジスタを「書いた後に読む」際の依存</a:t>
            </a:r>
            <a:endParaRPr kumimoji="1" lang="en-US" altLang="ja-JP" dirty="0"/>
          </a:p>
          <a:p>
            <a:pPr lvl="1"/>
            <a:r>
              <a:rPr kumimoji="1" lang="ja-JP" altLang="en-US" dirty="0"/>
              <a:t>「真の依存」，「フロー依存」，「</a:t>
            </a:r>
            <a:r>
              <a:rPr kumimoji="1" lang="en-US" altLang="ja-JP" dirty="0"/>
              <a:t>RAW</a:t>
            </a:r>
            <a:r>
              <a:rPr kumimoji="1" lang="ja-JP" altLang="en-US" dirty="0"/>
              <a:t>」は</a:t>
            </a:r>
            <a:br>
              <a:rPr kumimoji="1" lang="en-US" altLang="ja-JP" dirty="0"/>
            </a:br>
            <a:r>
              <a:rPr kumimoji="1" lang="ja-JP" altLang="en-US" dirty="0"/>
              <a:t>呼び方が違うだけでおなじものを指している</a:t>
            </a:r>
            <a:endParaRPr kumimoji="1" lang="en-US" altLang="ja-JP" dirty="0"/>
          </a:p>
          <a:p>
            <a:pPr lvl="1"/>
            <a:r>
              <a:rPr kumimoji="1" lang="ja-JP" altLang="en-US" dirty="0"/>
              <a:t>一般に「データの依存関係」と言われたら思い浮かべるもの</a:t>
            </a:r>
            <a:endParaRPr kumimoji="1" lang="en-US" altLang="ja-JP" dirty="0"/>
          </a:p>
          <a:p>
            <a:r>
              <a:rPr lang="ja-JP" altLang="en-US" dirty="0"/>
              <a:t>真の依存の例：</a:t>
            </a:r>
            <a:r>
              <a:rPr lang="en-US" altLang="ja-JP" dirty="0">
                <a:latin typeface="Consolas" panose="020B0609020204030204" pitchFamily="49" charset="0"/>
              </a:rPr>
              <a:t>I1 </a:t>
            </a:r>
            <a:r>
              <a:rPr lang="ja-JP" altLang="en-US" dirty="0">
                <a:latin typeface="Consolas" panose="020B0609020204030204" pitchFamily="49" charset="0"/>
              </a:rPr>
              <a:t>が終わらないと </a:t>
            </a:r>
            <a:r>
              <a:rPr lang="en-US" altLang="ja-JP" dirty="0">
                <a:latin typeface="Consolas" panose="020B0609020204030204" pitchFamily="49" charset="0"/>
              </a:rPr>
              <a:t>I2 </a:t>
            </a:r>
            <a:r>
              <a:rPr lang="ja-JP" altLang="en-US" dirty="0">
                <a:latin typeface="Consolas" panose="020B0609020204030204" pitchFamily="49" charset="0"/>
              </a:rPr>
              <a:t>は実行できない</a:t>
            </a:r>
            <a:endParaRPr lang="en-US" altLang="ja-JP" dirty="0"/>
          </a:p>
          <a:p>
            <a:pPr marL="360000" lvl="1" indent="0">
              <a:buNone/>
            </a:pPr>
            <a:r>
              <a:rPr lang="en-US" altLang="ja-JP" dirty="0">
                <a:latin typeface="Consolas" panose="020B0609020204030204" pitchFamily="49" charset="0"/>
              </a:rPr>
              <a:t>I1: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x2+1 </a:t>
            </a:r>
            <a:br>
              <a:rPr lang="en-US" altLang="ja-JP" dirty="0">
                <a:latin typeface="Consolas" panose="020B0609020204030204" pitchFamily="49" charset="0"/>
              </a:rPr>
            </a:br>
            <a:br>
              <a:rPr lang="en-US" altLang="ja-JP" dirty="0">
                <a:latin typeface="Consolas" panose="020B0609020204030204" pitchFamily="49" charset="0"/>
              </a:rPr>
            </a:br>
            <a:r>
              <a:rPr lang="en-US" altLang="ja-JP" dirty="0">
                <a:latin typeface="Consolas" panose="020B0609020204030204" pitchFamily="49" charset="0"/>
              </a:rPr>
              <a:t>I2: add x3</a:t>
            </a:r>
            <a:r>
              <a:rPr lang="ja-JP" altLang="en-US" dirty="0">
                <a:latin typeface="Consolas" panose="020B0609020204030204" pitchFamily="49" charset="0"/>
              </a:rPr>
              <a:t>←</a:t>
            </a:r>
            <a:r>
              <a:rPr lang="en-US" altLang="ja-JP" b="1" dirty="0">
                <a:solidFill>
                  <a:schemeClr val="accent5"/>
                </a:solidFill>
                <a:latin typeface="Consolas" panose="020B0609020204030204" pitchFamily="49" charset="0"/>
              </a:rPr>
              <a:t>x1</a:t>
            </a:r>
            <a:r>
              <a:rPr lang="en-US" altLang="ja-JP" dirty="0">
                <a:latin typeface="Consolas" panose="020B0609020204030204" pitchFamily="49" charset="0"/>
              </a:rPr>
              <a:t>+1 </a:t>
            </a:r>
            <a:endParaRPr kumimoji="1" lang="ja-JP" altLang="en-US" dirty="0"/>
          </a:p>
        </p:txBody>
      </p:sp>
      <p:cxnSp>
        <p:nvCxnSpPr>
          <p:cNvPr id="5" name="直線矢印コネクタ 4"/>
          <p:cNvCxnSpPr/>
          <p:nvPr/>
        </p:nvCxnSpPr>
        <p:spPr bwMode="auto">
          <a:xfrm>
            <a:off x="3575972" y="4689014"/>
            <a:ext cx="180002" cy="360004"/>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9498645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偽の依存１：逆依存</a:t>
            </a:r>
            <a:br>
              <a:rPr kumimoji="1" lang="en-US" altLang="ja-JP" dirty="0"/>
            </a:br>
            <a:r>
              <a:rPr kumimoji="1" lang="en-US" altLang="ja-JP" dirty="0"/>
              <a:t>W</a:t>
            </a:r>
            <a:r>
              <a:rPr lang="en-US" altLang="ja-JP" dirty="0"/>
              <a:t>AR</a:t>
            </a:r>
            <a:r>
              <a:rPr lang="ja-JP" altLang="en-US" dirty="0"/>
              <a:t>（</a:t>
            </a:r>
            <a:r>
              <a:rPr lang="en-US" altLang="ja-JP" dirty="0"/>
              <a:t>write after read</a:t>
            </a:r>
            <a:r>
              <a:rPr lang="ja-JP" altLang="en-US" dirty="0"/>
              <a:t>）</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同じレジスタを「読んだ後に書く」</a:t>
            </a:r>
            <a:endParaRPr kumimoji="1" lang="en-US" altLang="ja-JP" dirty="0"/>
          </a:p>
          <a:p>
            <a:pPr lvl="1"/>
            <a:r>
              <a:rPr kumimoji="1" lang="ja-JP" altLang="en-US" dirty="0"/>
              <a:t>真の依存（書いた後に読む）と方向が逆</a:t>
            </a:r>
            <a:endParaRPr kumimoji="1" lang="en-US" altLang="ja-JP" dirty="0"/>
          </a:p>
          <a:p>
            <a:r>
              <a:rPr lang="ja-JP" altLang="en-US" dirty="0"/>
              <a:t>逆依存の例：</a:t>
            </a:r>
            <a:endParaRPr lang="en-US" altLang="ja-JP" dirty="0"/>
          </a:p>
          <a:p>
            <a:pPr marL="360000" lvl="1" indent="0">
              <a:buNone/>
            </a:pPr>
            <a:r>
              <a:rPr lang="en-US" altLang="ja-JP" dirty="0">
                <a:latin typeface="Consolas" panose="020B0609020204030204" pitchFamily="49" charset="0"/>
              </a:rPr>
              <a:t>I1: add x2</a:t>
            </a:r>
            <a:r>
              <a:rPr lang="ja-JP" altLang="en-US" dirty="0">
                <a:latin typeface="Consolas" panose="020B0609020204030204" pitchFamily="49" charset="0"/>
              </a:rPr>
              <a:t>←</a:t>
            </a:r>
            <a:r>
              <a:rPr lang="en-US" altLang="ja-JP" b="1" dirty="0">
                <a:solidFill>
                  <a:schemeClr val="accent5"/>
                </a:solidFill>
                <a:latin typeface="Consolas" panose="020B0609020204030204" pitchFamily="49" charset="0"/>
              </a:rPr>
              <a:t>x1</a:t>
            </a:r>
            <a:r>
              <a:rPr lang="en-US" altLang="ja-JP" dirty="0">
                <a:latin typeface="Consolas" panose="020B0609020204030204" pitchFamily="49" charset="0"/>
              </a:rPr>
              <a:t>+1 </a:t>
            </a:r>
            <a:br>
              <a:rPr lang="en-US" altLang="ja-JP" dirty="0">
                <a:latin typeface="Consolas" panose="020B0609020204030204" pitchFamily="49" charset="0"/>
              </a:rPr>
            </a:br>
            <a:br>
              <a:rPr lang="en-US" altLang="ja-JP" dirty="0">
                <a:latin typeface="Consolas" panose="020B0609020204030204" pitchFamily="49" charset="0"/>
              </a:rPr>
            </a:br>
            <a:r>
              <a:rPr lang="en-US" altLang="ja-JP" dirty="0">
                <a:latin typeface="Consolas" panose="020B0609020204030204" pitchFamily="49" charset="0"/>
              </a:rPr>
              <a:t>I2: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x3+1 </a:t>
            </a:r>
          </a:p>
          <a:p>
            <a:r>
              <a:rPr lang="en-US" altLang="ja-JP" dirty="0">
                <a:latin typeface="Consolas" panose="020B0609020204030204" pitchFamily="49" charset="0"/>
              </a:rPr>
              <a:t>I1 </a:t>
            </a:r>
            <a:r>
              <a:rPr lang="ja-JP" altLang="en-US" dirty="0">
                <a:latin typeface="Consolas" panose="020B0609020204030204" pitchFamily="49" charset="0"/>
              </a:rPr>
              <a:t>と </a:t>
            </a:r>
            <a:r>
              <a:rPr lang="en-US" altLang="ja-JP" dirty="0">
                <a:latin typeface="Consolas" panose="020B0609020204030204" pitchFamily="49" charset="0"/>
              </a:rPr>
              <a:t>I2 </a:t>
            </a:r>
            <a:r>
              <a:rPr lang="ja-JP" altLang="en-US" dirty="0">
                <a:latin typeface="Consolas" panose="020B0609020204030204" pitchFamily="49" charset="0"/>
              </a:rPr>
              <a:t>の間には真の依存は存在しない</a:t>
            </a:r>
            <a:endParaRPr lang="en-US" altLang="ja-JP" dirty="0">
              <a:latin typeface="Consolas" panose="020B0609020204030204" pitchFamily="49" charset="0"/>
            </a:endParaRPr>
          </a:p>
          <a:p>
            <a:pPr lvl="1"/>
            <a:r>
              <a:rPr lang="ja-JP" altLang="en-US" dirty="0">
                <a:latin typeface="Consolas" panose="020B0609020204030204" pitchFamily="49" charset="0"/>
              </a:rPr>
              <a:t>「←」の右の入力部分だけみると，順番を入れ替えても問題ない</a:t>
            </a:r>
            <a:endParaRPr lang="en-US" altLang="ja-JP" dirty="0">
              <a:latin typeface="Consolas" panose="020B0609020204030204" pitchFamily="49" charset="0"/>
            </a:endParaRPr>
          </a:p>
          <a:p>
            <a:pPr lvl="1"/>
            <a:r>
              <a:rPr kumimoji="1" lang="ja-JP" altLang="en-US" dirty="0"/>
              <a:t>しかし，もしスケジュールして </a:t>
            </a:r>
            <a:r>
              <a:rPr lang="en-US" altLang="ja-JP" dirty="0">
                <a:latin typeface="Consolas" panose="020B0609020204030204" pitchFamily="49" charset="0"/>
              </a:rPr>
              <a:t>I2 </a:t>
            </a:r>
            <a:r>
              <a:rPr lang="ja-JP" altLang="en-US" dirty="0">
                <a:latin typeface="Consolas" panose="020B0609020204030204" pitchFamily="49" charset="0"/>
              </a:rPr>
              <a:t>を先にやると </a:t>
            </a:r>
            <a:r>
              <a:rPr lang="en-US" altLang="ja-JP" dirty="0">
                <a:latin typeface="Consolas" panose="020B0609020204030204" pitchFamily="49" charset="0"/>
              </a:rPr>
              <a:t>x1 </a:t>
            </a:r>
            <a:r>
              <a:rPr lang="ja-JP" altLang="en-US" dirty="0">
                <a:latin typeface="Consolas" panose="020B0609020204030204" pitchFamily="49" charset="0"/>
              </a:rPr>
              <a:t>が破壊されてしまう</a:t>
            </a:r>
            <a:endParaRPr kumimoji="1" lang="ja-JP" altLang="en-US" dirty="0"/>
          </a:p>
        </p:txBody>
      </p:sp>
      <p:cxnSp>
        <p:nvCxnSpPr>
          <p:cNvPr id="5" name="直線矢印コネクタ 4"/>
          <p:cNvCxnSpPr/>
          <p:nvPr/>
        </p:nvCxnSpPr>
        <p:spPr bwMode="auto">
          <a:xfrm flipH="1">
            <a:off x="3485971" y="3338999"/>
            <a:ext cx="360005" cy="360004"/>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3947712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偽の依存２：出力依存</a:t>
            </a:r>
            <a:br>
              <a:rPr kumimoji="1" lang="en-US" altLang="ja-JP" dirty="0"/>
            </a:br>
            <a:r>
              <a:rPr kumimoji="1" lang="en-US" altLang="ja-JP" dirty="0"/>
              <a:t>W</a:t>
            </a:r>
            <a:r>
              <a:rPr lang="en-US" altLang="ja-JP" dirty="0"/>
              <a:t>AW</a:t>
            </a:r>
            <a:r>
              <a:rPr lang="ja-JP" altLang="en-US" dirty="0"/>
              <a:t>（</a:t>
            </a:r>
            <a:r>
              <a:rPr lang="en-US" altLang="ja-JP" dirty="0"/>
              <a:t>write after write</a:t>
            </a:r>
            <a:r>
              <a:rPr lang="ja-JP" altLang="en-US" dirty="0"/>
              <a:t>）</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同じレジスタを「書いた後に書く」</a:t>
            </a:r>
            <a:endParaRPr kumimoji="1" lang="en-US" altLang="ja-JP" dirty="0"/>
          </a:p>
          <a:p>
            <a:r>
              <a:rPr lang="ja-JP" altLang="en-US" dirty="0"/>
              <a:t>出力依存の例：</a:t>
            </a:r>
            <a:endParaRPr lang="en-US" altLang="ja-JP" dirty="0"/>
          </a:p>
          <a:p>
            <a:pPr marL="360000" lvl="1" indent="0">
              <a:buNone/>
            </a:pPr>
            <a:r>
              <a:rPr lang="en-US" altLang="ja-JP" dirty="0">
                <a:latin typeface="Consolas" panose="020B0609020204030204" pitchFamily="49" charset="0"/>
              </a:rPr>
              <a:t>I1: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x2+1 </a:t>
            </a:r>
            <a:br>
              <a:rPr lang="en-US" altLang="ja-JP" dirty="0">
                <a:latin typeface="Consolas" panose="020B0609020204030204" pitchFamily="49" charset="0"/>
              </a:rPr>
            </a:br>
            <a:br>
              <a:rPr lang="en-US" altLang="ja-JP" dirty="0">
                <a:latin typeface="Consolas" panose="020B0609020204030204" pitchFamily="49" charset="0"/>
              </a:rPr>
            </a:br>
            <a:r>
              <a:rPr lang="en-US" altLang="ja-JP" dirty="0">
                <a:latin typeface="Consolas" panose="020B0609020204030204" pitchFamily="49" charset="0"/>
              </a:rPr>
              <a:t>I2: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x3+1 </a:t>
            </a:r>
          </a:p>
          <a:p>
            <a:r>
              <a:rPr lang="ja-JP" altLang="en-US" dirty="0">
                <a:latin typeface="Consolas" panose="020B0609020204030204" pitchFamily="49" charset="0"/>
              </a:rPr>
              <a:t>逆依存と同様に，</a:t>
            </a:r>
            <a:r>
              <a:rPr lang="en-US" altLang="ja-JP" dirty="0">
                <a:latin typeface="Consolas" panose="020B0609020204030204" pitchFamily="49" charset="0"/>
              </a:rPr>
              <a:t>I1 </a:t>
            </a:r>
            <a:r>
              <a:rPr lang="ja-JP" altLang="en-US" dirty="0">
                <a:latin typeface="Consolas" panose="020B0609020204030204" pitchFamily="49" charset="0"/>
              </a:rPr>
              <a:t>と </a:t>
            </a:r>
            <a:r>
              <a:rPr lang="en-US" altLang="ja-JP" dirty="0">
                <a:latin typeface="Consolas" panose="020B0609020204030204" pitchFamily="49" charset="0"/>
              </a:rPr>
              <a:t>I2 </a:t>
            </a:r>
            <a:r>
              <a:rPr lang="ja-JP" altLang="en-US" dirty="0">
                <a:latin typeface="Consolas" panose="020B0609020204030204" pitchFamily="49" charset="0"/>
              </a:rPr>
              <a:t>の間には真の依存は存在しない</a:t>
            </a:r>
            <a:endParaRPr lang="en-US" altLang="ja-JP" dirty="0">
              <a:latin typeface="Consolas" panose="020B0609020204030204" pitchFamily="49" charset="0"/>
            </a:endParaRPr>
          </a:p>
          <a:p>
            <a:pPr lvl="1"/>
            <a:r>
              <a:rPr lang="ja-JP" altLang="en-US" dirty="0">
                <a:latin typeface="Consolas" panose="020B0609020204030204" pitchFamily="49" charset="0"/>
              </a:rPr>
              <a:t>「←」の右辺にある入力部分だけをみると，順番を入れ替えても問題ない</a:t>
            </a:r>
            <a:endParaRPr lang="en-US" altLang="ja-JP" dirty="0">
              <a:latin typeface="Consolas" panose="020B0609020204030204" pitchFamily="49" charset="0"/>
            </a:endParaRPr>
          </a:p>
          <a:p>
            <a:pPr lvl="1"/>
            <a:r>
              <a:rPr kumimoji="1" lang="ja-JP" altLang="en-US" dirty="0"/>
              <a:t>しかし，スケジュールして </a:t>
            </a:r>
            <a:r>
              <a:rPr lang="en-US" altLang="ja-JP" dirty="0">
                <a:latin typeface="Consolas" panose="020B0609020204030204" pitchFamily="49" charset="0"/>
              </a:rPr>
              <a:t>I2 </a:t>
            </a:r>
            <a:r>
              <a:rPr lang="ja-JP" altLang="en-US" dirty="0">
                <a:latin typeface="Consolas" panose="020B0609020204030204" pitchFamily="49" charset="0"/>
              </a:rPr>
              <a:t>を先にやると </a:t>
            </a:r>
            <a:r>
              <a:rPr lang="en-US" altLang="ja-JP" dirty="0">
                <a:latin typeface="Consolas" panose="020B0609020204030204" pitchFamily="49" charset="0"/>
              </a:rPr>
              <a:t>I1 </a:t>
            </a:r>
            <a:r>
              <a:rPr lang="ja-JP" altLang="en-US" dirty="0">
                <a:latin typeface="Consolas" panose="020B0609020204030204" pitchFamily="49" charset="0"/>
              </a:rPr>
              <a:t>により </a:t>
            </a:r>
            <a:r>
              <a:rPr lang="en-US" altLang="ja-JP" dirty="0">
                <a:latin typeface="Consolas" panose="020B0609020204030204" pitchFamily="49" charset="0"/>
              </a:rPr>
              <a:t>x1 </a:t>
            </a:r>
            <a:r>
              <a:rPr lang="ja-JP" altLang="en-US" dirty="0">
                <a:latin typeface="Consolas" panose="020B0609020204030204" pitchFamily="49" charset="0"/>
              </a:rPr>
              <a:t>が</a:t>
            </a:r>
            <a:br>
              <a:rPr lang="en-US" altLang="ja-JP" dirty="0">
                <a:latin typeface="Consolas" panose="020B0609020204030204" pitchFamily="49" charset="0"/>
              </a:rPr>
            </a:br>
            <a:r>
              <a:rPr lang="ja-JP" altLang="en-US" dirty="0">
                <a:latin typeface="Consolas" panose="020B0609020204030204" pitchFamily="49" charset="0"/>
              </a:rPr>
              <a:t>破壊されてしまう</a:t>
            </a:r>
            <a:endParaRPr kumimoji="1" lang="ja-JP" altLang="en-US" dirty="0"/>
          </a:p>
        </p:txBody>
      </p:sp>
      <p:cxnSp>
        <p:nvCxnSpPr>
          <p:cNvPr id="5" name="直線矢印コネクタ 4"/>
          <p:cNvCxnSpPr/>
          <p:nvPr/>
        </p:nvCxnSpPr>
        <p:spPr bwMode="auto">
          <a:xfrm>
            <a:off x="3485971" y="2978995"/>
            <a:ext cx="1" cy="360004"/>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0068518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真の依存と偽の依存</a:t>
            </a:r>
          </a:p>
        </p:txBody>
      </p:sp>
      <p:sp>
        <p:nvSpPr>
          <p:cNvPr id="3" name="テキスト プレースホルダー 2"/>
          <p:cNvSpPr>
            <a:spLocks noGrp="1"/>
          </p:cNvSpPr>
          <p:nvPr>
            <p:ph type="body" sz="quarter" idx="10"/>
          </p:nvPr>
        </p:nvSpPr>
        <p:spPr/>
        <p:txBody>
          <a:bodyPr/>
          <a:lstStyle/>
          <a:p>
            <a:r>
              <a:rPr lang="ja-JP" altLang="en-US" dirty="0"/>
              <a:t>真の依存は原理的に取り除きようがない</a:t>
            </a:r>
            <a:endParaRPr lang="en-US" altLang="ja-JP" dirty="0"/>
          </a:p>
          <a:p>
            <a:r>
              <a:rPr lang="ja-JP" altLang="en-US" dirty="0"/>
              <a:t>偽の依存は有限のレジスタを使い回すことによって発生する</a:t>
            </a:r>
            <a:endParaRPr lang="en-US" altLang="ja-JP" dirty="0"/>
          </a:p>
          <a:p>
            <a:pPr lvl="1"/>
            <a:r>
              <a:rPr kumimoji="1" lang="ja-JP" altLang="en-US" dirty="0"/>
              <a:t>いろいろ取り除きようがある</a:t>
            </a:r>
          </a:p>
        </p:txBody>
      </p:sp>
    </p:spTree>
    <p:extLst>
      <p:ext uri="{BB962C8B-B14F-4D97-AF65-F5344CB8AC3E}">
        <p14:creationId xmlns:p14="http://schemas.microsoft.com/office/powerpoint/2010/main" val="13904284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偽の依存の解消の例</a:t>
            </a:r>
          </a:p>
        </p:txBody>
      </p:sp>
      <p:sp>
        <p:nvSpPr>
          <p:cNvPr id="3" name="テキスト プレースホルダー 2"/>
          <p:cNvSpPr>
            <a:spLocks noGrp="1"/>
          </p:cNvSpPr>
          <p:nvPr>
            <p:ph type="body" sz="quarter" idx="10"/>
          </p:nvPr>
        </p:nvSpPr>
        <p:spPr/>
        <p:txBody>
          <a:bodyPr/>
          <a:lstStyle/>
          <a:p>
            <a:r>
              <a:rPr lang="ja-JP" altLang="en-US" dirty="0"/>
              <a:t>たとえばレジスタがたくさんあれば，事前に取り除ける</a:t>
            </a:r>
            <a:endParaRPr lang="en-US" altLang="ja-JP" dirty="0"/>
          </a:p>
          <a:p>
            <a:pPr lvl="1"/>
            <a:r>
              <a:rPr lang="ja-JP" altLang="en-US" dirty="0">
                <a:latin typeface="Consolas" panose="020B0609020204030204" pitchFamily="49" charset="0"/>
              </a:rPr>
              <a:t>逆依存</a:t>
            </a:r>
            <a:endParaRPr lang="en-US" altLang="ja-JP" dirty="0">
              <a:latin typeface="Consolas" panose="020B0609020204030204" pitchFamily="49" charset="0"/>
            </a:endParaRPr>
          </a:p>
          <a:p>
            <a:pPr marL="720000" lvl="2" indent="0">
              <a:buNone/>
            </a:pPr>
            <a:r>
              <a:rPr lang="en-US" altLang="ja-JP" dirty="0">
                <a:latin typeface="Consolas" panose="020B0609020204030204" pitchFamily="49" charset="0"/>
              </a:rPr>
              <a:t>I1: add x2</a:t>
            </a:r>
            <a:r>
              <a:rPr lang="ja-JP" altLang="en-US" dirty="0">
                <a:latin typeface="Consolas" panose="020B0609020204030204" pitchFamily="49" charset="0"/>
              </a:rPr>
              <a:t>←</a:t>
            </a:r>
            <a:r>
              <a:rPr lang="en-US" altLang="ja-JP" b="1" dirty="0">
                <a:solidFill>
                  <a:schemeClr val="accent5"/>
                </a:solidFill>
                <a:latin typeface="Consolas" panose="020B0609020204030204" pitchFamily="49" charset="0"/>
              </a:rPr>
              <a:t>x1</a:t>
            </a:r>
            <a:r>
              <a:rPr lang="en-US" altLang="ja-JP" dirty="0">
                <a:latin typeface="Consolas" panose="020B0609020204030204" pitchFamily="49" charset="0"/>
              </a:rPr>
              <a:t>+1	I1: add x2</a:t>
            </a:r>
            <a:r>
              <a:rPr lang="ja-JP" altLang="en-US" dirty="0">
                <a:latin typeface="Consolas" panose="020B0609020204030204" pitchFamily="49" charset="0"/>
              </a:rPr>
              <a:t>←</a:t>
            </a:r>
            <a:r>
              <a:rPr lang="en-US" altLang="ja-JP" b="1" dirty="0">
                <a:solidFill>
                  <a:schemeClr val="accent5"/>
                </a:solidFill>
                <a:latin typeface="Consolas" panose="020B0609020204030204" pitchFamily="49" charset="0"/>
              </a:rPr>
              <a:t>x1</a:t>
            </a:r>
            <a:r>
              <a:rPr lang="en-US" altLang="ja-JP" dirty="0">
                <a:latin typeface="Consolas" panose="020B0609020204030204" pitchFamily="49" charset="0"/>
              </a:rPr>
              <a:t>+1</a:t>
            </a:r>
            <a:br>
              <a:rPr lang="en-US" altLang="ja-JP" dirty="0">
                <a:latin typeface="Consolas" panose="020B0609020204030204" pitchFamily="49" charset="0"/>
              </a:rPr>
            </a:br>
            <a:r>
              <a:rPr lang="en-US" altLang="ja-JP" dirty="0">
                <a:latin typeface="Consolas" panose="020B0609020204030204" pitchFamily="49" charset="0"/>
              </a:rPr>
              <a:t>I2: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x3+1 	I2: add </a:t>
            </a:r>
            <a:r>
              <a:rPr lang="en-US" altLang="ja-JP" b="1" dirty="0">
                <a:solidFill>
                  <a:schemeClr val="accent6"/>
                </a:solidFill>
                <a:latin typeface="Consolas" panose="020B0609020204030204" pitchFamily="49" charset="0"/>
              </a:rPr>
              <a:t>x4</a:t>
            </a:r>
            <a:r>
              <a:rPr lang="ja-JP" altLang="en-US" dirty="0">
                <a:latin typeface="Consolas" panose="020B0609020204030204" pitchFamily="49" charset="0"/>
              </a:rPr>
              <a:t>←</a:t>
            </a:r>
            <a:r>
              <a:rPr lang="en-US" altLang="ja-JP" dirty="0">
                <a:latin typeface="Consolas" panose="020B0609020204030204" pitchFamily="49" charset="0"/>
              </a:rPr>
              <a:t>x3+1</a:t>
            </a:r>
            <a:br>
              <a:rPr lang="en-US" altLang="ja-JP" dirty="0">
                <a:latin typeface="Consolas" panose="020B0609020204030204" pitchFamily="49" charset="0"/>
              </a:rPr>
            </a:br>
            <a:endParaRPr lang="en-US" altLang="ja-JP" dirty="0">
              <a:latin typeface="Consolas" panose="020B0609020204030204" pitchFamily="49" charset="0"/>
            </a:endParaRPr>
          </a:p>
          <a:p>
            <a:pPr lvl="1"/>
            <a:r>
              <a:rPr lang="ja-JP" altLang="en-US" dirty="0">
                <a:latin typeface="Consolas" panose="020B0609020204030204" pitchFamily="49" charset="0"/>
              </a:rPr>
              <a:t>出力依存</a:t>
            </a:r>
            <a:endParaRPr lang="en-US" altLang="ja-JP" dirty="0">
              <a:latin typeface="Consolas" panose="020B0609020204030204" pitchFamily="49" charset="0"/>
            </a:endParaRPr>
          </a:p>
          <a:p>
            <a:pPr marL="720000" lvl="2" indent="0">
              <a:buNone/>
            </a:pPr>
            <a:r>
              <a:rPr lang="en-US" altLang="ja-JP" dirty="0">
                <a:latin typeface="Consolas" panose="020B0609020204030204" pitchFamily="49" charset="0"/>
              </a:rPr>
              <a:t>I1: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x2+1	I1: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x2+1</a:t>
            </a:r>
            <a:br>
              <a:rPr lang="en-US" altLang="ja-JP" dirty="0">
                <a:latin typeface="Consolas" panose="020B0609020204030204" pitchFamily="49" charset="0"/>
              </a:rPr>
            </a:br>
            <a:r>
              <a:rPr lang="en-US" altLang="ja-JP" dirty="0">
                <a:latin typeface="Consolas" panose="020B0609020204030204" pitchFamily="49" charset="0"/>
              </a:rPr>
              <a:t>I2: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x3+1 	I2: add </a:t>
            </a:r>
            <a:r>
              <a:rPr lang="en-US" altLang="ja-JP" b="1" dirty="0">
                <a:solidFill>
                  <a:schemeClr val="accent6"/>
                </a:solidFill>
                <a:latin typeface="Consolas" panose="020B0609020204030204" pitchFamily="49" charset="0"/>
              </a:rPr>
              <a:t>x4</a:t>
            </a:r>
            <a:r>
              <a:rPr lang="ja-JP" altLang="en-US" dirty="0">
                <a:latin typeface="Consolas" panose="020B0609020204030204" pitchFamily="49" charset="0"/>
              </a:rPr>
              <a:t>←</a:t>
            </a:r>
            <a:r>
              <a:rPr lang="en-US" altLang="ja-JP" dirty="0">
                <a:latin typeface="Consolas" panose="020B0609020204030204" pitchFamily="49" charset="0"/>
              </a:rPr>
              <a:t>x3+1</a:t>
            </a:r>
          </a:p>
          <a:p>
            <a:r>
              <a:rPr kumimoji="1" lang="ja-JP" altLang="en-US" dirty="0"/>
              <a:t>実際にはレジスタは無限に大きくできない</a:t>
            </a:r>
            <a:endParaRPr kumimoji="1" lang="en-US" altLang="ja-JP" dirty="0"/>
          </a:p>
          <a:p>
            <a:pPr lvl="1"/>
            <a:r>
              <a:rPr kumimoji="1" lang="ja-JP" altLang="en-US" dirty="0"/>
              <a:t>記憶回路の容量と速度はトレードオフがある</a:t>
            </a:r>
          </a:p>
        </p:txBody>
      </p:sp>
      <p:sp>
        <p:nvSpPr>
          <p:cNvPr id="4" name="右矢印 3"/>
          <p:cNvSpPr/>
          <p:nvPr/>
        </p:nvSpPr>
        <p:spPr bwMode="auto">
          <a:xfrm>
            <a:off x="4835986" y="2618991"/>
            <a:ext cx="540006" cy="360004"/>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右矢印 4"/>
          <p:cNvSpPr/>
          <p:nvPr/>
        </p:nvSpPr>
        <p:spPr bwMode="auto">
          <a:xfrm>
            <a:off x="4835986" y="4059007"/>
            <a:ext cx="540006" cy="360004"/>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84214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4B59B2-461F-4AFC-92EC-DA2DDE972BCB}"/>
              </a:ext>
            </a:extLst>
          </p:cNvPr>
          <p:cNvSpPr>
            <a:spLocks noGrp="1"/>
          </p:cNvSpPr>
          <p:nvPr>
            <p:ph type="title"/>
          </p:nvPr>
        </p:nvSpPr>
        <p:spPr/>
        <p:txBody>
          <a:bodyPr/>
          <a:lstStyle/>
          <a:p>
            <a:r>
              <a:rPr kumimoji="1" lang="ja-JP" altLang="en-US" dirty="0"/>
              <a:t>余談：値予測</a:t>
            </a:r>
          </a:p>
        </p:txBody>
      </p:sp>
      <p:sp>
        <p:nvSpPr>
          <p:cNvPr id="3" name="テキスト プレースホルダー 2">
            <a:extLst>
              <a:ext uri="{FF2B5EF4-FFF2-40B4-BE49-F238E27FC236}">
                <a16:creationId xmlns:a16="http://schemas.microsoft.com/office/drawing/2014/main" id="{A33BE864-3367-48E9-9BF7-3019D2DC8173}"/>
              </a:ext>
            </a:extLst>
          </p:cNvPr>
          <p:cNvSpPr>
            <a:spLocks noGrp="1"/>
          </p:cNvSpPr>
          <p:nvPr>
            <p:ph type="body" sz="quarter" idx="10"/>
          </p:nvPr>
        </p:nvSpPr>
        <p:spPr>
          <a:xfrm>
            <a:off x="1145945" y="1448978"/>
            <a:ext cx="9990111" cy="3150036"/>
          </a:xfrm>
        </p:spPr>
        <p:txBody>
          <a:bodyPr/>
          <a:lstStyle/>
          <a:p>
            <a:r>
              <a:rPr lang="ja-JP" altLang="en-US" sz="1800" dirty="0"/>
              <a:t>真の依存を超えて実行を行う値予測（</a:t>
            </a:r>
            <a:r>
              <a:rPr lang="en-US" altLang="ja-JP" sz="1800" dirty="0"/>
              <a:t>value prediction</a:t>
            </a:r>
            <a:r>
              <a:rPr lang="ja-JP" altLang="en-US" sz="1800" dirty="0"/>
              <a:t>）という手法も研究されている</a:t>
            </a:r>
            <a:endParaRPr lang="en-US" altLang="ja-JP" sz="1800" dirty="0"/>
          </a:p>
          <a:p>
            <a:pPr lvl="1"/>
            <a:r>
              <a:rPr lang="ja-JP" altLang="en-US" sz="1800" dirty="0"/>
              <a:t>依存元命令の演算結果自体を予測して，実行を先に進める</a:t>
            </a:r>
            <a:endParaRPr lang="en-US" altLang="ja-JP" sz="1800" dirty="0"/>
          </a:p>
          <a:p>
            <a:pPr lvl="1"/>
            <a:r>
              <a:rPr lang="ja-JP" altLang="en-US" sz="1800" dirty="0">
                <a:solidFill>
                  <a:schemeClr val="accent5"/>
                </a:solidFill>
              </a:rPr>
              <a:t>（この講義では基本的には真の依存は超えられないものとして話をします</a:t>
            </a:r>
            <a:endParaRPr lang="en-US" altLang="ja-JP" sz="1800" dirty="0">
              <a:solidFill>
                <a:schemeClr val="accent5"/>
              </a:solidFill>
            </a:endParaRPr>
          </a:p>
          <a:p>
            <a:r>
              <a:rPr lang="ja-JP" altLang="en-US" sz="1800" dirty="0"/>
              <a:t>関数呼び出し時にメモリに退避させたレジスタの値を復帰させる場合などは結構精度高く予測できたりする</a:t>
            </a:r>
            <a:endParaRPr lang="en-US" altLang="ja-JP" sz="1800" dirty="0"/>
          </a:p>
          <a:p>
            <a:pPr lvl="1"/>
            <a:r>
              <a:rPr lang="ja-JP" altLang="en-US" sz="1800" dirty="0"/>
              <a:t>一時期下火だったが，また研究されだした</a:t>
            </a:r>
            <a:endParaRPr lang="en-US" altLang="ja-JP" sz="1800" dirty="0"/>
          </a:p>
          <a:p>
            <a:pPr lvl="2"/>
            <a:r>
              <a:rPr lang="ja-JP" altLang="en-US" sz="1800" dirty="0"/>
              <a:t>近い将来に実際に搭載されると思う</a:t>
            </a:r>
            <a:endParaRPr lang="en-US" altLang="ja-JP" sz="1800" dirty="0"/>
          </a:p>
          <a:p>
            <a:pPr lvl="1"/>
            <a:r>
              <a:rPr lang="en-US" altLang="ja-JP" sz="1800" dirty="0"/>
              <a:t>Apple </a:t>
            </a:r>
            <a:r>
              <a:rPr lang="ja-JP" altLang="en-US" sz="1800" dirty="0"/>
              <a:t>の新し目の </a:t>
            </a:r>
            <a:r>
              <a:rPr lang="en-US" altLang="ja-JP" sz="1800" dirty="0"/>
              <a:t>CPU </a:t>
            </a:r>
            <a:r>
              <a:rPr lang="ja-JP" altLang="en-US" sz="1800" dirty="0"/>
              <a:t>では一種の値予測が実際に載っており，攻撃されている</a:t>
            </a:r>
            <a:endParaRPr lang="en-US" altLang="ja-JP" sz="1800" dirty="0"/>
          </a:p>
          <a:p>
            <a:pPr lvl="2"/>
            <a:r>
              <a:rPr lang="en-US" altLang="ja-JP" dirty="0"/>
              <a:t>Jason Kim</a:t>
            </a:r>
            <a:r>
              <a:rPr lang="ja-JP" altLang="en-US" dirty="0"/>
              <a:t> </a:t>
            </a:r>
            <a:r>
              <a:rPr lang="en-US" altLang="ja-JP" dirty="0"/>
              <a:t>et</a:t>
            </a:r>
            <a:r>
              <a:rPr lang="ja-JP" altLang="en-US" dirty="0"/>
              <a:t> </a:t>
            </a:r>
            <a:r>
              <a:rPr lang="en-US" altLang="ja-JP" dirty="0"/>
              <a:t>al., “FLOP: Breaking the Apple M3 CPU via False Load Output Predictions”, 2025</a:t>
            </a:r>
            <a:endParaRPr lang="ja-JP" altLang="en-US" sz="1800" dirty="0"/>
          </a:p>
        </p:txBody>
      </p:sp>
      <p:sp>
        <p:nvSpPr>
          <p:cNvPr id="4" name="テキスト プレースホルダー 2">
            <a:extLst>
              <a:ext uri="{FF2B5EF4-FFF2-40B4-BE49-F238E27FC236}">
                <a16:creationId xmlns:a16="http://schemas.microsoft.com/office/drawing/2014/main" id="{8F810D96-E852-466C-AA63-0D1E02607133}"/>
              </a:ext>
            </a:extLst>
          </p:cNvPr>
          <p:cNvSpPr txBox="1">
            <a:spLocks/>
          </p:cNvSpPr>
          <p:nvPr/>
        </p:nvSpPr>
        <p:spPr bwMode="auto">
          <a:xfrm>
            <a:off x="1145945" y="5229020"/>
            <a:ext cx="8730097" cy="15297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en-US" altLang="ja-JP" sz="1800" kern="0" dirty="0">
                <a:latin typeface="Consolas" panose="020B0609020204030204" pitchFamily="49" charset="0"/>
              </a:rPr>
              <a:t>I2 </a:t>
            </a:r>
            <a:r>
              <a:rPr lang="ja-JP" altLang="en-US" sz="1800" kern="0" dirty="0">
                <a:latin typeface="Consolas" panose="020B0609020204030204" pitchFamily="49" charset="0"/>
              </a:rPr>
              <a:t>は値予測によって予測された </a:t>
            </a:r>
            <a:r>
              <a:rPr lang="en-US" altLang="ja-JP" sz="1800" kern="0" dirty="0">
                <a:latin typeface="Consolas" panose="020B0609020204030204" pitchFamily="49" charset="0"/>
              </a:rPr>
              <a:t>x1 </a:t>
            </a:r>
            <a:r>
              <a:rPr lang="ja-JP" altLang="en-US" sz="1800" kern="0" dirty="0">
                <a:latin typeface="Consolas" panose="020B0609020204030204" pitchFamily="49" charset="0"/>
              </a:rPr>
              <a:t>の値を使って </a:t>
            </a:r>
            <a:r>
              <a:rPr lang="en-US" altLang="ja-JP" sz="1800" kern="0" dirty="0">
                <a:latin typeface="Consolas" panose="020B0609020204030204" pitchFamily="49" charset="0"/>
              </a:rPr>
              <a:t>I1 </a:t>
            </a:r>
            <a:r>
              <a:rPr lang="ja-JP" altLang="en-US" sz="1800" kern="0" dirty="0">
                <a:latin typeface="Consolas" panose="020B0609020204030204" pitchFamily="49" charset="0"/>
              </a:rPr>
              <a:t>より先に実行</a:t>
            </a:r>
            <a:endParaRPr lang="en-US" altLang="ja-JP" sz="1800" kern="0" dirty="0"/>
          </a:p>
          <a:p>
            <a:pPr marL="360000" lvl="1" indent="0">
              <a:buNone/>
            </a:pPr>
            <a:r>
              <a:rPr lang="en-US" altLang="ja-JP" kern="0" dirty="0">
                <a:latin typeface="Consolas" panose="020B0609020204030204" pitchFamily="49" charset="0"/>
              </a:rPr>
              <a:t>I1: add </a:t>
            </a:r>
            <a:r>
              <a:rPr lang="en-US" altLang="ja-JP" b="1" kern="0" dirty="0">
                <a:solidFill>
                  <a:schemeClr val="accent5"/>
                </a:solidFill>
                <a:latin typeface="Consolas" panose="020B0609020204030204" pitchFamily="49" charset="0"/>
              </a:rPr>
              <a:t>x1</a:t>
            </a:r>
            <a:r>
              <a:rPr lang="ja-JP" altLang="en-US" kern="0" dirty="0">
                <a:latin typeface="Consolas" panose="020B0609020204030204" pitchFamily="49" charset="0"/>
              </a:rPr>
              <a:t>←</a:t>
            </a:r>
            <a:r>
              <a:rPr lang="en-US" altLang="ja-JP" kern="0" dirty="0">
                <a:latin typeface="Consolas" panose="020B0609020204030204" pitchFamily="49" charset="0"/>
              </a:rPr>
              <a:t>x2+1 </a:t>
            </a:r>
            <a:br>
              <a:rPr lang="en-US" altLang="ja-JP" kern="0" dirty="0">
                <a:latin typeface="Consolas" panose="020B0609020204030204" pitchFamily="49" charset="0"/>
              </a:rPr>
            </a:br>
            <a:br>
              <a:rPr lang="en-US" altLang="ja-JP" kern="0" dirty="0">
                <a:latin typeface="Consolas" panose="020B0609020204030204" pitchFamily="49" charset="0"/>
              </a:rPr>
            </a:br>
            <a:r>
              <a:rPr lang="en-US" altLang="ja-JP" kern="0" dirty="0">
                <a:latin typeface="Consolas" panose="020B0609020204030204" pitchFamily="49" charset="0"/>
              </a:rPr>
              <a:t>I2: add x3</a:t>
            </a:r>
            <a:r>
              <a:rPr lang="ja-JP" altLang="en-US" kern="0" dirty="0">
                <a:latin typeface="Consolas" panose="020B0609020204030204" pitchFamily="49" charset="0"/>
              </a:rPr>
              <a:t>←</a:t>
            </a:r>
            <a:r>
              <a:rPr lang="en-US" altLang="ja-JP" b="1" kern="0" dirty="0">
                <a:solidFill>
                  <a:schemeClr val="accent5"/>
                </a:solidFill>
                <a:latin typeface="Consolas" panose="020B0609020204030204" pitchFamily="49" charset="0"/>
              </a:rPr>
              <a:t>x1</a:t>
            </a:r>
            <a:r>
              <a:rPr lang="en-US" altLang="ja-JP" kern="0" dirty="0">
                <a:latin typeface="Consolas" panose="020B0609020204030204" pitchFamily="49" charset="0"/>
              </a:rPr>
              <a:t>+1 </a:t>
            </a:r>
            <a:endParaRPr lang="ja-JP" altLang="en-US" kern="0" dirty="0"/>
          </a:p>
        </p:txBody>
      </p:sp>
      <p:cxnSp>
        <p:nvCxnSpPr>
          <p:cNvPr id="5" name="直線矢印コネクタ 4">
            <a:extLst>
              <a:ext uri="{FF2B5EF4-FFF2-40B4-BE49-F238E27FC236}">
                <a16:creationId xmlns:a16="http://schemas.microsoft.com/office/drawing/2014/main" id="{9C0F5406-D41F-4601-86E9-07DBA3D35B1C}"/>
              </a:ext>
            </a:extLst>
          </p:cNvPr>
          <p:cNvCxnSpPr>
            <a:cxnSpLocks/>
          </p:cNvCxnSpPr>
          <p:nvPr/>
        </p:nvCxnSpPr>
        <p:spPr bwMode="auto">
          <a:xfrm>
            <a:off x="2945965" y="6039029"/>
            <a:ext cx="180002" cy="360004"/>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2090851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命令の並列実行</a:t>
            </a:r>
            <a:endParaRPr lang="en-US" altLang="ja-JP" dirty="0"/>
          </a:p>
          <a:p>
            <a:pPr marL="457200" indent="-457200">
              <a:buFont typeface="+mj-lt"/>
              <a:buAutoNum type="arabicPeriod"/>
            </a:pPr>
            <a:r>
              <a:rPr lang="ja-JP" altLang="en-US" dirty="0"/>
              <a:t>データ依存</a:t>
            </a:r>
            <a:endParaRPr lang="en-US" altLang="ja-JP" dirty="0"/>
          </a:p>
          <a:p>
            <a:pPr marL="457200" indent="-457200">
              <a:buFont typeface="+mj-lt"/>
              <a:buAutoNum type="arabicPeriod"/>
            </a:pPr>
            <a:r>
              <a:rPr lang="ja-JP" altLang="en-US" b="1" dirty="0"/>
              <a:t>静的命令スケジューリング</a:t>
            </a:r>
            <a:endParaRPr lang="en-US" altLang="ja-JP" b="1" dirty="0"/>
          </a:p>
          <a:p>
            <a:pPr marL="457200" indent="-457200">
              <a:buFont typeface="+mj-lt"/>
              <a:buAutoNum type="arabicPeriod"/>
            </a:pPr>
            <a:r>
              <a:rPr lang="ja-JP" altLang="en-US" dirty="0"/>
              <a:t>動的命令スケジューリング</a:t>
            </a:r>
            <a:endParaRPr lang="en-US" altLang="ja-JP" dirty="0"/>
          </a:p>
        </p:txBody>
      </p:sp>
    </p:spTree>
    <p:extLst>
      <p:ext uri="{BB962C8B-B14F-4D97-AF65-F5344CB8AC3E}">
        <p14:creationId xmlns:p14="http://schemas.microsoft.com/office/powerpoint/2010/main" val="6930395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静的命令スケジューリング</a:t>
            </a:r>
          </a:p>
        </p:txBody>
      </p:sp>
      <p:sp>
        <p:nvSpPr>
          <p:cNvPr id="3" name="テキスト プレースホルダー 2"/>
          <p:cNvSpPr>
            <a:spLocks noGrp="1"/>
          </p:cNvSpPr>
          <p:nvPr>
            <p:ph type="body" sz="quarter" idx="10"/>
          </p:nvPr>
        </p:nvSpPr>
        <p:spPr>
          <a:xfrm>
            <a:off x="1775952" y="1088975"/>
            <a:ext cx="8820098" cy="5219751"/>
          </a:xfrm>
        </p:spPr>
        <p:txBody>
          <a:bodyPr/>
          <a:lstStyle/>
          <a:p>
            <a:r>
              <a:rPr kumimoji="1" lang="ja-JP" altLang="en-US" dirty="0"/>
              <a:t>静的命令スケジューリング</a:t>
            </a:r>
            <a:endParaRPr kumimoji="1" lang="en-US" altLang="ja-JP" dirty="0"/>
          </a:p>
          <a:p>
            <a:pPr lvl="1"/>
            <a:r>
              <a:rPr kumimoji="1" lang="ja-JP" altLang="en-US" dirty="0"/>
              <a:t>コンパイラにより，並列実行できるように命令を並びかえる方法</a:t>
            </a:r>
            <a:endParaRPr kumimoji="1" lang="en-US" altLang="ja-JP" dirty="0"/>
          </a:p>
          <a:p>
            <a:r>
              <a:rPr kumimoji="1" lang="ja-JP" altLang="en-US" dirty="0"/>
              <a:t>静的 </a:t>
            </a:r>
            <a:r>
              <a:rPr kumimoji="1" lang="en-US" altLang="ja-JP" dirty="0"/>
              <a:t>vs. </a:t>
            </a:r>
            <a:r>
              <a:rPr kumimoji="1" lang="ja-JP" altLang="en-US" dirty="0"/>
              <a:t>動的</a:t>
            </a:r>
            <a:endParaRPr kumimoji="1" lang="en-US" altLang="ja-JP" dirty="0"/>
          </a:p>
          <a:p>
            <a:pPr lvl="1"/>
            <a:r>
              <a:rPr kumimoji="1" lang="ja-JP" altLang="en-US" dirty="0"/>
              <a:t>静的：</a:t>
            </a:r>
            <a:endParaRPr kumimoji="1" lang="en-US" altLang="ja-JP" dirty="0"/>
          </a:p>
          <a:p>
            <a:pPr lvl="2"/>
            <a:r>
              <a:rPr kumimoji="1" lang="ja-JP" altLang="en-US" dirty="0"/>
              <a:t>事前に並び替えておくので，</a:t>
            </a:r>
            <a:r>
              <a:rPr kumimoji="1" lang="en-US" altLang="ja-JP" dirty="0"/>
              <a:t>CPU </a:t>
            </a:r>
            <a:r>
              <a:rPr kumimoji="1" lang="ja-JP" altLang="en-US" dirty="0"/>
              <a:t>からみると実行順は変化しない</a:t>
            </a:r>
            <a:endParaRPr kumimoji="1" lang="en-US" altLang="ja-JP" dirty="0"/>
          </a:p>
          <a:p>
            <a:pPr lvl="1"/>
            <a:r>
              <a:rPr kumimoji="1" lang="ja-JP" altLang="en-US" dirty="0"/>
              <a:t>動的：</a:t>
            </a:r>
            <a:endParaRPr kumimoji="1" lang="en-US" altLang="ja-JP" dirty="0"/>
          </a:p>
          <a:p>
            <a:pPr lvl="2"/>
            <a:r>
              <a:rPr kumimoji="1" lang="en-US" altLang="ja-JP" dirty="0"/>
              <a:t>CPU </a:t>
            </a:r>
            <a:r>
              <a:rPr kumimoji="1" lang="ja-JP" altLang="en-US" dirty="0"/>
              <a:t>が実行時に並び替える</a:t>
            </a:r>
          </a:p>
        </p:txBody>
      </p:sp>
    </p:spTree>
    <p:extLst>
      <p:ext uri="{BB962C8B-B14F-4D97-AF65-F5344CB8AC3E}">
        <p14:creationId xmlns:p14="http://schemas.microsoft.com/office/powerpoint/2010/main" val="35962833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単純なスーパスカラでの実行の例</a:t>
            </a:r>
          </a:p>
        </p:txBody>
      </p:sp>
      <p:sp>
        <p:nvSpPr>
          <p:cNvPr id="3" name="テキスト プレースホルダー 2"/>
          <p:cNvSpPr>
            <a:spLocks noGrp="1"/>
          </p:cNvSpPr>
          <p:nvPr>
            <p:ph type="body" sz="quarter" idx="10"/>
          </p:nvPr>
        </p:nvSpPr>
        <p:spPr>
          <a:xfrm>
            <a:off x="2135956" y="1088975"/>
            <a:ext cx="8280092" cy="2160024"/>
          </a:xfrm>
        </p:spPr>
        <p:txBody>
          <a:bodyPr/>
          <a:lstStyle/>
          <a:p>
            <a:r>
              <a:rPr lang="ja-JP" altLang="en-US" dirty="0">
                <a:latin typeface="Consolas" panose="020B0609020204030204" pitchFamily="49" charset="0"/>
              </a:rPr>
              <a:t>下記のコードでは </a:t>
            </a:r>
            <a:r>
              <a:rPr lang="en-US" altLang="ja-JP" dirty="0">
                <a:latin typeface="Consolas" panose="020B0609020204030204" pitchFamily="49" charset="0"/>
              </a:rPr>
              <a:t>I1 </a:t>
            </a:r>
            <a:r>
              <a:rPr lang="ja-JP" altLang="en-US" dirty="0">
                <a:latin typeface="Consolas" panose="020B0609020204030204" pitchFamily="49" charset="0"/>
              </a:rPr>
              <a:t>と </a:t>
            </a:r>
            <a:r>
              <a:rPr lang="en-US" altLang="ja-JP" dirty="0">
                <a:latin typeface="Consolas" panose="020B0609020204030204" pitchFamily="49" charset="0"/>
              </a:rPr>
              <a:t>I2 </a:t>
            </a:r>
            <a:r>
              <a:rPr lang="ja-JP" altLang="en-US" dirty="0" err="1">
                <a:latin typeface="Consolas" panose="020B0609020204030204" pitchFamily="49" charset="0"/>
              </a:rPr>
              <a:t>には</a:t>
            </a:r>
            <a:r>
              <a:rPr lang="ja-JP" altLang="en-US" dirty="0">
                <a:latin typeface="Consolas" panose="020B0609020204030204" pitchFamily="49" charset="0"/>
              </a:rPr>
              <a:t>真の依存があるが，</a:t>
            </a:r>
            <a:r>
              <a:rPr lang="en-US" altLang="ja-JP" dirty="0">
                <a:latin typeface="Consolas" panose="020B0609020204030204" pitchFamily="49" charset="0"/>
              </a:rPr>
              <a:t>I3 </a:t>
            </a:r>
            <a:r>
              <a:rPr lang="ja-JP" altLang="en-US" dirty="0">
                <a:latin typeface="Consolas" panose="020B0609020204030204" pitchFamily="49" charset="0"/>
              </a:rPr>
              <a:t>は無関係</a:t>
            </a:r>
            <a:endParaRPr lang="en-US" altLang="ja-JP" dirty="0">
              <a:latin typeface="Consolas" panose="020B0609020204030204" pitchFamily="49" charset="0"/>
            </a:endParaRPr>
          </a:p>
          <a:p>
            <a:pPr lvl="1"/>
            <a:r>
              <a:rPr lang="ja-JP" altLang="en-US" dirty="0">
                <a:latin typeface="Consolas" panose="020B0609020204030204" pitchFamily="49" charset="0"/>
              </a:rPr>
              <a:t>しかし，上流が全部とまるので，</a:t>
            </a:r>
            <a:r>
              <a:rPr lang="en-US" altLang="ja-JP" dirty="0">
                <a:latin typeface="Consolas" panose="020B0609020204030204" pitchFamily="49" charset="0"/>
              </a:rPr>
              <a:t>I3 </a:t>
            </a:r>
            <a:r>
              <a:rPr lang="ja-JP" altLang="en-US" dirty="0">
                <a:latin typeface="Consolas" panose="020B0609020204030204" pitchFamily="49" charset="0"/>
              </a:rPr>
              <a:t>も実行できない</a:t>
            </a:r>
            <a:endParaRPr lang="en-US" altLang="ja-JP" dirty="0">
              <a:latin typeface="Consolas" panose="020B0609020204030204" pitchFamily="49" charset="0"/>
            </a:endParaRPr>
          </a:p>
          <a:p>
            <a:pPr lvl="1"/>
            <a:r>
              <a:rPr lang="en-US" altLang="ja-JP" dirty="0">
                <a:latin typeface="Consolas" panose="020B0609020204030204" pitchFamily="49" charset="0"/>
              </a:rPr>
              <a:t>I1: add </a:t>
            </a:r>
            <a:r>
              <a:rPr lang="en-US" altLang="ja-JP"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x1+1</a:t>
            </a:r>
            <a:br>
              <a:rPr lang="en-US" altLang="ja-JP" dirty="0">
                <a:latin typeface="Consolas" panose="020B0609020204030204" pitchFamily="49" charset="0"/>
              </a:rPr>
            </a:br>
            <a:r>
              <a:rPr lang="en-US" altLang="ja-JP" dirty="0">
                <a:latin typeface="Consolas" panose="020B0609020204030204" pitchFamily="49" charset="0"/>
              </a:rPr>
              <a:t>I2: add x1</a:t>
            </a:r>
            <a:r>
              <a:rPr lang="ja-JP" altLang="en-US" dirty="0">
                <a:latin typeface="Consolas" panose="020B0609020204030204" pitchFamily="49" charset="0"/>
              </a:rPr>
              <a:t>←</a:t>
            </a:r>
            <a:r>
              <a:rPr lang="en-US" altLang="ja-JP" dirty="0">
                <a:solidFill>
                  <a:schemeClr val="accent5"/>
                </a:solidFill>
                <a:latin typeface="Consolas" panose="020B0609020204030204" pitchFamily="49" charset="0"/>
              </a:rPr>
              <a:t>x1+1</a:t>
            </a:r>
            <a:br>
              <a:rPr lang="en-US" altLang="ja-JP" dirty="0">
                <a:latin typeface="Consolas" panose="020B0609020204030204" pitchFamily="49" charset="0"/>
              </a:rPr>
            </a:br>
            <a:r>
              <a:rPr lang="en-US" altLang="ja-JP" dirty="0">
                <a:latin typeface="Consolas" panose="020B0609020204030204" pitchFamily="49" charset="0"/>
              </a:rPr>
              <a:t>I3: sub x2</a:t>
            </a:r>
            <a:r>
              <a:rPr lang="ja-JP" altLang="en-US" dirty="0">
                <a:latin typeface="Consolas" panose="020B0609020204030204" pitchFamily="49" charset="0"/>
              </a:rPr>
              <a:t>←</a:t>
            </a:r>
            <a:r>
              <a:rPr lang="en-US" altLang="ja-JP" dirty="0">
                <a:latin typeface="Consolas" panose="020B0609020204030204" pitchFamily="49" charset="0"/>
              </a:rPr>
              <a:t>x2-1</a:t>
            </a:r>
            <a:endParaRPr kumimoji="1" lang="ja-JP" altLang="en-US" dirty="0"/>
          </a:p>
        </p:txBody>
      </p:sp>
      <p:grpSp>
        <p:nvGrpSpPr>
          <p:cNvPr id="4" name="グループ化 3"/>
          <p:cNvGrpSpPr/>
          <p:nvPr/>
        </p:nvGrpSpPr>
        <p:grpSpPr>
          <a:xfrm>
            <a:off x="2984126" y="4651774"/>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424286" y="4651774"/>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5864446" y="4651774"/>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7304606" y="4651774"/>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945966" y="3894526"/>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86126" y="3894526"/>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5828173" y="3913110"/>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7268333" y="3913110"/>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grpSp>
        <p:nvGrpSpPr>
          <p:cNvPr id="20" name="グループ化 19"/>
          <p:cNvGrpSpPr/>
          <p:nvPr/>
        </p:nvGrpSpPr>
        <p:grpSpPr>
          <a:xfrm>
            <a:off x="2984126" y="5281781"/>
            <a:ext cx="1562400" cy="576064"/>
            <a:chOff x="971600" y="5445224"/>
            <a:chExt cx="7200800" cy="576064"/>
          </a:xfrm>
        </p:grpSpPr>
        <p:sp>
          <p:nvSpPr>
            <p:cNvPr id="21" name="平行四辺形 2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2" name="平行四辺形 2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3" name="グループ化 22"/>
          <p:cNvGrpSpPr/>
          <p:nvPr/>
        </p:nvGrpSpPr>
        <p:grpSpPr>
          <a:xfrm>
            <a:off x="4424286" y="5281781"/>
            <a:ext cx="1562400" cy="576064"/>
            <a:chOff x="971600" y="5445224"/>
            <a:chExt cx="7200800" cy="576064"/>
          </a:xfrm>
        </p:grpSpPr>
        <p:sp>
          <p:nvSpPr>
            <p:cNvPr id="24" name="平行四辺形 23"/>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6" name="グループ化 25"/>
          <p:cNvGrpSpPr/>
          <p:nvPr/>
        </p:nvGrpSpPr>
        <p:grpSpPr>
          <a:xfrm>
            <a:off x="5864446" y="5281781"/>
            <a:ext cx="1562400" cy="576064"/>
            <a:chOff x="971600" y="5445224"/>
            <a:chExt cx="7200800" cy="576064"/>
          </a:xfrm>
        </p:grpSpPr>
        <p:sp>
          <p:nvSpPr>
            <p:cNvPr id="27" name="平行四辺形 26"/>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9" name="グループ化 28"/>
          <p:cNvGrpSpPr/>
          <p:nvPr/>
        </p:nvGrpSpPr>
        <p:grpSpPr>
          <a:xfrm>
            <a:off x="7304606" y="5281781"/>
            <a:ext cx="1584176" cy="576064"/>
            <a:chOff x="971600" y="5445224"/>
            <a:chExt cx="7200800" cy="576064"/>
          </a:xfrm>
        </p:grpSpPr>
        <p:sp>
          <p:nvSpPr>
            <p:cNvPr id="30" name="平行四辺形 29"/>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1" name="平行四辺形 30"/>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2" name="正方形/長方形 31"/>
          <p:cNvSpPr/>
          <p:nvPr/>
        </p:nvSpPr>
        <p:spPr>
          <a:xfrm>
            <a:off x="2945966" y="5859027"/>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3" name="正方形/長方形 32"/>
          <p:cNvSpPr/>
          <p:nvPr/>
        </p:nvSpPr>
        <p:spPr>
          <a:xfrm>
            <a:off x="4385982" y="5859027"/>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4" name="正方形/長方形 33"/>
          <p:cNvSpPr/>
          <p:nvPr/>
        </p:nvSpPr>
        <p:spPr>
          <a:xfrm>
            <a:off x="5825998" y="585902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az-Cyrl-AZ"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5" name="正方形/長方形 34"/>
          <p:cNvSpPr/>
          <p:nvPr/>
        </p:nvSpPr>
        <p:spPr>
          <a:xfrm>
            <a:off x="7266014" y="5859027"/>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角丸四角形 35"/>
          <p:cNvSpPr/>
          <p:nvPr/>
        </p:nvSpPr>
        <p:spPr bwMode="auto">
          <a:xfrm>
            <a:off x="6186001"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I1: add </a:t>
            </a:r>
            <a:br>
              <a:rPr lang="en-US" altLang="ja-JP" sz="1400" b="1" dirty="0">
                <a:latin typeface="Consolas" panose="020B0609020204030204" pitchFamily="49" charset="0"/>
              </a:rPr>
            </a:br>
            <a:r>
              <a:rPr lang="en-US" altLang="ja-JP" sz="1400" b="1" dirty="0">
                <a:solidFill>
                  <a:schemeClr val="tx2"/>
                </a:solidFill>
                <a:latin typeface="Consolas" panose="020B0609020204030204" pitchFamily="49" charset="0"/>
              </a:rPr>
              <a:t>x1</a:t>
            </a:r>
            <a:r>
              <a:rPr lang="ja-JP" altLang="en-US" sz="1400" b="1" dirty="0">
                <a:latin typeface="Consolas" panose="020B0609020204030204" pitchFamily="49" charset="0"/>
              </a:rPr>
              <a:t>←</a:t>
            </a:r>
            <a:r>
              <a:rPr lang="en-US" altLang="ja-JP" sz="1400" b="1" dirty="0">
                <a:latin typeface="Consolas" panose="020B0609020204030204" pitchFamily="49" charset="0"/>
              </a:rPr>
              <a:t>x1+1</a:t>
            </a:r>
            <a:endParaRPr lang="ja-JP" altLang="en-US" sz="1400" b="1" dirty="0">
              <a:latin typeface="Consolas" panose="020B0609020204030204" pitchFamily="49" charset="0"/>
            </a:endParaRPr>
          </a:p>
        </p:txBody>
      </p:sp>
      <p:sp>
        <p:nvSpPr>
          <p:cNvPr id="37" name="角丸四角形 36"/>
          <p:cNvSpPr/>
          <p:nvPr/>
        </p:nvSpPr>
        <p:spPr bwMode="auto">
          <a:xfrm>
            <a:off x="4745985"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I2: add </a:t>
            </a:r>
            <a:br>
              <a:rPr lang="en-US" altLang="ja-JP" sz="1400" b="1" dirty="0">
                <a:latin typeface="Consolas" panose="020B0609020204030204" pitchFamily="49" charset="0"/>
              </a:rPr>
            </a:br>
            <a:r>
              <a:rPr lang="en-US" altLang="ja-JP" sz="1400" b="1" dirty="0">
                <a:latin typeface="Consolas" panose="020B0609020204030204" pitchFamily="49" charset="0"/>
              </a:rPr>
              <a:t>x1</a:t>
            </a:r>
            <a:r>
              <a:rPr lang="ja-JP" altLang="en-US" sz="1400" b="1" dirty="0">
                <a:latin typeface="Consolas" panose="020B0609020204030204" pitchFamily="49" charset="0"/>
              </a:rPr>
              <a:t>←</a:t>
            </a:r>
            <a:r>
              <a:rPr lang="en-US" altLang="ja-JP" sz="1400" b="1" dirty="0">
                <a:solidFill>
                  <a:schemeClr val="tx2"/>
                </a:solidFill>
                <a:latin typeface="Consolas" panose="020B0609020204030204" pitchFamily="49" charset="0"/>
              </a:rPr>
              <a:t>x1</a:t>
            </a:r>
            <a:r>
              <a:rPr lang="en-US" altLang="ja-JP" sz="1400" b="1" dirty="0">
                <a:latin typeface="Consolas" panose="020B0609020204030204" pitchFamily="49" charset="0"/>
              </a:rPr>
              <a:t>+1</a:t>
            </a:r>
            <a:endParaRPr lang="ja-JP" altLang="en-US" sz="1400" b="1" dirty="0">
              <a:latin typeface="Consolas" panose="020B0609020204030204" pitchFamily="49" charset="0"/>
            </a:endParaRPr>
          </a:p>
        </p:txBody>
      </p:sp>
      <p:sp>
        <p:nvSpPr>
          <p:cNvPr id="38" name="角丸四角形 37"/>
          <p:cNvSpPr/>
          <p:nvPr/>
        </p:nvSpPr>
        <p:spPr bwMode="auto">
          <a:xfrm>
            <a:off x="3305969"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I3: sub</a:t>
            </a:r>
            <a:br>
              <a:rPr lang="en-US" altLang="ja-JP" sz="1400" b="1" dirty="0">
                <a:latin typeface="Consolas" panose="020B0609020204030204" pitchFamily="49" charset="0"/>
              </a:rPr>
            </a:br>
            <a:r>
              <a:rPr lang="en-US" altLang="ja-JP" sz="1400" b="1" dirty="0">
                <a:latin typeface="Consolas" panose="020B0609020204030204" pitchFamily="49" charset="0"/>
              </a:rPr>
              <a:t>x2</a:t>
            </a:r>
            <a:r>
              <a:rPr lang="ja-JP" altLang="en-US" sz="1400" b="1" dirty="0">
                <a:latin typeface="Consolas" panose="020B0609020204030204" pitchFamily="49" charset="0"/>
              </a:rPr>
              <a:t>←</a:t>
            </a:r>
            <a:r>
              <a:rPr lang="en-US" altLang="ja-JP" sz="1400" b="1" dirty="0">
                <a:latin typeface="Consolas" panose="020B0609020204030204" pitchFamily="49" charset="0"/>
              </a:rPr>
              <a:t>x2-1</a:t>
            </a:r>
            <a:endParaRPr lang="ja-JP" altLang="en-US" sz="1400" b="1" dirty="0">
              <a:latin typeface="Consolas" panose="020B0609020204030204" pitchFamily="49" charset="0"/>
            </a:endParaRPr>
          </a:p>
        </p:txBody>
      </p:sp>
      <p:sp>
        <p:nvSpPr>
          <p:cNvPr id="39" name="角丸四角形 38"/>
          <p:cNvSpPr/>
          <p:nvPr/>
        </p:nvSpPr>
        <p:spPr bwMode="auto">
          <a:xfrm>
            <a:off x="3305969"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a:t>
            </a:r>
            <a:endParaRPr lang="ja-JP" altLang="en-US" sz="1400" b="1" dirty="0">
              <a:latin typeface="Consolas" panose="020B0609020204030204" pitchFamily="49" charset="0"/>
            </a:endParaRPr>
          </a:p>
        </p:txBody>
      </p:sp>
      <p:sp>
        <p:nvSpPr>
          <p:cNvPr id="40" name="角丸四角形吹き出し 39"/>
          <p:cNvSpPr/>
          <p:nvPr/>
        </p:nvSpPr>
        <p:spPr bwMode="auto">
          <a:xfrm>
            <a:off x="6456004" y="3339000"/>
            <a:ext cx="2790031" cy="612648"/>
          </a:xfrm>
          <a:prstGeom prst="wedgeRoundRectCallout">
            <a:avLst>
              <a:gd name="adj1" fmla="val -46291"/>
              <a:gd name="adj2" fmla="val 103500"/>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みんな次のサイクルまで</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待ってね</a:t>
            </a:r>
          </a:p>
        </p:txBody>
      </p:sp>
      <p:cxnSp>
        <p:nvCxnSpPr>
          <p:cNvPr id="42" name="直線矢印コネクタ 41"/>
          <p:cNvCxnSpPr/>
          <p:nvPr/>
        </p:nvCxnSpPr>
        <p:spPr bwMode="auto">
          <a:xfrm flipH="1">
            <a:off x="5375994" y="4959017"/>
            <a:ext cx="900009" cy="540006"/>
          </a:xfrm>
          <a:prstGeom prst="straightConnector1">
            <a:avLst/>
          </a:prstGeom>
          <a:ln>
            <a:solidFill>
              <a:schemeClr val="tx2"/>
            </a:solidFill>
            <a:headEnd type="none" w="med" len="med"/>
            <a:tailEnd type="triangle"/>
          </a:ln>
        </p:spPr>
        <p:style>
          <a:lnRef idx="3">
            <a:schemeClr val="accent6"/>
          </a:lnRef>
          <a:fillRef idx="0">
            <a:schemeClr val="accent6"/>
          </a:fillRef>
          <a:effectRef idx="2">
            <a:schemeClr val="accent6"/>
          </a:effectRef>
          <a:fontRef idx="minor">
            <a:schemeClr val="tx1"/>
          </a:fontRef>
        </p:style>
      </p:cxnSp>
      <p:sp>
        <p:nvSpPr>
          <p:cNvPr id="43" name="角丸四角形吹き出し 42"/>
          <p:cNvSpPr/>
          <p:nvPr/>
        </p:nvSpPr>
        <p:spPr bwMode="auto">
          <a:xfrm>
            <a:off x="2225957" y="5049019"/>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1"/>
                </a:solidFill>
                <a:latin typeface="Arial Narrow" panose="020B0606020202030204" pitchFamily="34" charset="0"/>
              </a:rPr>
              <a:t>上流</a:t>
            </a:r>
          </a:p>
        </p:txBody>
      </p:sp>
      <p:sp>
        <p:nvSpPr>
          <p:cNvPr id="44" name="角丸四角形吹き出し 43"/>
          <p:cNvSpPr/>
          <p:nvPr/>
        </p:nvSpPr>
        <p:spPr bwMode="auto">
          <a:xfrm>
            <a:off x="8886031" y="5049019"/>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4"/>
                </a:solidFill>
                <a:latin typeface="Arial Narrow" panose="020B0606020202030204" pitchFamily="34" charset="0"/>
              </a:rPr>
              <a:t>下流</a:t>
            </a:r>
          </a:p>
        </p:txBody>
      </p:sp>
      <p:sp>
        <p:nvSpPr>
          <p:cNvPr id="46" name="角丸四角形吹き出し 45"/>
          <p:cNvSpPr/>
          <p:nvPr/>
        </p:nvSpPr>
        <p:spPr bwMode="auto">
          <a:xfrm>
            <a:off x="3485972" y="3338999"/>
            <a:ext cx="2790030" cy="612648"/>
          </a:xfrm>
          <a:prstGeom prst="wedgeRoundRectCallout">
            <a:avLst>
              <a:gd name="adj1" fmla="val -46291"/>
              <a:gd name="adj2" fmla="val 10350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あー本当は仕事できた</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はずなのになー ｻﾞﾝﾈﾝﾀﾞﾅｰ</a:t>
            </a:r>
            <a:endParaRPr lang="en-US" altLang="ja-JP" dirty="0">
              <a:solidFill>
                <a:schemeClr val="tx1">
                  <a:lumMod val="65000"/>
                  <a:lumOff val="35000"/>
                </a:schemeClr>
              </a:solidFill>
              <a:latin typeface="Arial Narrow" panose="020B0606020202030204" pitchFamily="34" charset="0"/>
            </a:endParaRPr>
          </a:p>
        </p:txBody>
      </p:sp>
      <p:sp>
        <p:nvSpPr>
          <p:cNvPr id="47" name="角丸四角形吹き出し 46"/>
          <p:cNvSpPr/>
          <p:nvPr/>
        </p:nvSpPr>
        <p:spPr bwMode="auto">
          <a:xfrm>
            <a:off x="5105989" y="4059008"/>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accent3">
                    <a:lumMod val="50000"/>
                  </a:schemeClr>
                </a:solidFill>
                <a:latin typeface="Arial Narrow" panose="020B0606020202030204" pitchFamily="34" charset="0"/>
              </a:rPr>
              <a:t>ﾊﾞﾌﾞﾙ</a:t>
            </a:r>
            <a:br>
              <a:rPr lang="en-US" altLang="ja-JP" sz="1400" dirty="0">
                <a:solidFill>
                  <a:schemeClr val="accent3">
                    <a:lumMod val="50000"/>
                  </a:schemeClr>
                </a:solidFill>
                <a:latin typeface="Arial Narrow" panose="020B0606020202030204" pitchFamily="34" charset="0"/>
              </a:rPr>
            </a:br>
            <a:r>
              <a:rPr lang="ja-JP" altLang="en-US" sz="1400" dirty="0">
                <a:solidFill>
                  <a:schemeClr val="accent3">
                    <a:lumMod val="50000"/>
                  </a:schemeClr>
                </a:solidFill>
                <a:latin typeface="Arial Narrow" panose="020B0606020202030204" pitchFamily="34" charset="0"/>
              </a:rPr>
              <a:t>ﾃﾞｷﾁｬｯﾀ</a:t>
            </a:r>
          </a:p>
        </p:txBody>
      </p:sp>
    </p:spTree>
    <p:extLst>
      <p:ext uri="{BB962C8B-B14F-4D97-AF65-F5344CB8AC3E}">
        <p14:creationId xmlns:p14="http://schemas.microsoft.com/office/powerpoint/2010/main" val="1033949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静的スケジューリングによる解決</a:t>
            </a:r>
          </a:p>
        </p:txBody>
      </p:sp>
      <p:sp>
        <p:nvSpPr>
          <p:cNvPr id="3" name="テキスト プレースホルダー 2"/>
          <p:cNvSpPr>
            <a:spLocks noGrp="1"/>
          </p:cNvSpPr>
          <p:nvPr>
            <p:ph type="body" sz="quarter" idx="10"/>
          </p:nvPr>
        </p:nvSpPr>
        <p:spPr>
          <a:xfrm>
            <a:off x="2135956" y="1088975"/>
            <a:ext cx="8280092" cy="2160024"/>
          </a:xfrm>
        </p:spPr>
        <p:txBody>
          <a:bodyPr/>
          <a:lstStyle/>
          <a:p>
            <a:r>
              <a:rPr lang="en-US" altLang="ja-JP" dirty="0">
                <a:latin typeface="Consolas" panose="020B0609020204030204" pitchFamily="49" charset="0"/>
              </a:rPr>
              <a:t>I2 </a:t>
            </a:r>
            <a:r>
              <a:rPr lang="ja-JP" altLang="en-US" dirty="0">
                <a:latin typeface="Consolas" panose="020B0609020204030204" pitchFamily="49" charset="0"/>
              </a:rPr>
              <a:t>と </a:t>
            </a:r>
            <a:r>
              <a:rPr lang="en-US" altLang="ja-JP" dirty="0">
                <a:latin typeface="Consolas" panose="020B0609020204030204" pitchFamily="49" charset="0"/>
              </a:rPr>
              <a:t>I3 </a:t>
            </a:r>
            <a:r>
              <a:rPr lang="ja-JP" altLang="en-US" dirty="0">
                <a:latin typeface="Consolas" panose="020B0609020204030204" pitchFamily="49" charset="0"/>
              </a:rPr>
              <a:t>を入れ替えておけば，パイプラインはとまらない</a:t>
            </a:r>
            <a:endParaRPr lang="en-US" altLang="ja-JP" dirty="0">
              <a:latin typeface="Consolas" panose="020B0609020204030204" pitchFamily="49" charset="0"/>
            </a:endParaRPr>
          </a:p>
          <a:p>
            <a:pPr lvl="1"/>
            <a:r>
              <a:rPr lang="en-US" altLang="ja-JP" dirty="0">
                <a:latin typeface="Consolas" panose="020B0609020204030204" pitchFamily="49" charset="0"/>
              </a:rPr>
              <a:t>I1 </a:t>
            </a:r>
            <a:r>
              <a:rPr lang="ja-JP" altLang="en-US" dirty="0">
                <a:latin typeface="Consolas" panose="020B0609020204030204" pitchFamily="49" charset="0"/>
              </a:rPr>
              <a:t>と </a:t>
            </a:r>
            <a:r>
              <a:rPr lang="en-US" altLang="ja-JP" dirty="0">
                <a:latin typeface="Consolas" panose="020B0609020204030204" pitchFamily="49" charset="0"/>
              </a:rPr>
              <a:t>I3 </a:t>
            </a:r>
            <a:r>
              <a:rPr lang="ja-JP" altLang="en-US" dirty="0">
                <a:latin typeface="Consolas" panose="020B0609020204030204" pitchFamily="49" charset="0"/>
              </a:rPr>
              <a:t>が同時にパイプラインに投入される</a:t>
            </a:r>
            <a:endParaRPr lang="en-US" altLang="ja-JP" dirty="0">
              <a:latin typeface="Consolas" panose="020B0609020204030204" pitchFamily="49" charset="0"/>
            </a:endParaRPr>
          </a:p>
          <a:p>
            <a:pPr lvl="1"/>
            <a:r>
              <a:rPr lang="en-US" altLang="ja-JP" dirty="0">
                <a:latin typeface="Consolas" panose="020B0609020204030204" pitchFamily="49" charset="0"/>
              </a:rPr>
              <a:t>I1: add </a:t>
            </a:r>
            <a:r>
              <a:rPr lang="en-US" altLang="ja-JP"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x1+1		I1: add </a:t>
            </a:r>
            <a:r>
              <a:rPr lang="en-US" altLang="ja-JP"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x1+1</a:t>
            </a:r>
            <a:br>
              <a:rPr lang="en-US" altLang="ja-JP" dirty="0">
                <a:latin typeface="Consolas" panose="020B0609020204030204" pitchFamily="49" charset="0"/>
              </a:rPr>
            </a:br>
            <a:r>
              <a:rPr lang="en-US" altLang="ja-JP" dirty="0">
                <a:latin typeface="Consolas" panose="020B0609020204030204" pitchFamily="49" charset="0"/>
              </a:rPr>
              <a:t>I2: add x1</a:t>
            </a:r>
            <a:r>
              <a:rPr lang="ja-JP" altLang="en-US" dirty="0">
                <a:latin typeface="Consolas" panose="020B0609020204030204" pitchFamily="49" charset="0"/>
              </a:rPr>
              <a:t>←</a:t>
            </a:r>
            <a:r>
              <a:rPr lang="en-US" altLang="ja-JP" dirty="0">
                <a:solidFill>
                  <a:schemeClr val="accent5"/>
                </a:solidFill>
                <a:latin typeface="Consolas" panose="020B0609020204030204" pitchFamily="49" charset="0"/>
              </a:rPr>
              <a:t>x1</a:t>
            </a:r>
            <a:r>
              <a:rPr lang="en-US" altLang="ja-JP" dirty="0">
                <a:latin typeface="Consolas" panose="020B0609020204030204" pitchFamily="49" charset="0"/>
              </a:rPr>
              <a:t>+1</a:t>
            </a:r>
            <a:r>
              <a:rPr lang="en-US" altLang="ja-JP" dirty="0">
                <a:solidFill>
                  <a:schemeClr val="accent5"/>
                </a:solidFill>
                <a:latin typeface="Consolas" panose="020B0609020204030204" pitchFamily="49" charset="0"/>
              </a:rPr>
              <a:t>		</a:t>
            </a:r>
            <a:r>
              <a:rPr lang="en-US" altLang="ja-JP" dirty="0">
                <a:latin typeface="Consolas" panose="020B0609020204030204" pitchFamily="49" charset="0"/>
              </a:rPr>
              <a:t>I3: sub x2</a:t>
            </a:r>
            <a:r>
              <a:rPr lang="ja-JP" altLang="en-US" dirty="0">
                <a:latin typeface="Consolas" panose="020B0609020204030204" pitchFamily="49" charset="0"/>
              </a:rPr>
              <a:t>←</a:t>
            </a:r>
            <a:r>
              <a:rPr lang="en-US" altLang="ja-JP" dirty="0">
                <a:latin typeface="Consolas" panose="020B0609020204030204" pitchFamily="49" charset="0"/>
              </a:rPr>
              <a:t>x2-1</a:t>
            </a:r>
            <a:br>
              <a:rPr lang="en-US" altLang="ja-JP" dirty="0">
                <a:latin typeface="Consolas" panose="020B0609020204030204" pitchFamily="49" charset="0"/>
              </a:rPr>
            </a:br>
            <a:r>
              <a:rPr lang="en-US" altLang="ja-JP" dirty="0">
                <a:latin typeface="Consolas" panose="020B0609020204030204" pitchFamily="49" charset="0"/>
              </a:rPr>
              <a:t>I3: sub x2</a:t>
            </a:r>
            <a:r>
              <a:rPr lang="ja-JP" altLang="en-US" dirty="0">
                <a:latin typeface="Consolas" panose="020B0609020204030204" pitchFamily="49" charset="0"/>
              </a:rPr>
              <a:t>←</a:t>
            </a:r>
            <a:r>
              <a:rPr lang="en-US" altLang="ja-JP" dirty="0">
                <a:latin typeface="Consolas" panose="020B0609020204030204" pitchFamily="49" charset="0"/>
              </a:rPr>
              <a:t>x2-1		I2: add x1</a:t>
            </a:r>
            <a:r>
              <a:rPr lang="ja-JP" altLang="en-US" dirty="0">
                <a:latin typeface="Consolas" panose="020B0609020204030204" pitchFamily="49" charset="0"/>
              </a:rPr>
              <a:t>←</a:t>
            </a:r>
            <a:r>
              <a:rPr lang="en-US" altLang="ja-JP" dirty="0">
                <a:solidFill>
                  <a:schemeClr val="accent5"/>
                </a:solidFill>
                <a:latin typeface="Consolas" panose="020B0609020204030204" pitchFamily="49" charset="0"/>
              </a:rPr>
              <a:t>x1</a:t>
            </a:r>
            <a:r>
              <a:rPr lang="en-US" altLang="ja-JP" dirty="0">
                <a:latin typeface="Consolas" panose="020B0609020204030204" pitchFamily="49" charset="0"/>
              </a:rPr>
              <a:t>+1</a:t>
            </a:r>
            <a:endParaRPr kumimoji="1" lang="ja-JP" altLang="en-US" dirty="0"/>
          </a:p>
        </p:txBody>
      </p:sp>
      <p:grpSp>
        <p:nvGrpSpPr>
          <p:cNvPr id="4" name="グループ化 3"/>
          <p:cNvGrpSpPr/>
          <p:nvPr/>
        </p:nvGrpSpPr>
        <p:grpSpPr>
          <a:xfrm>
            <a:off x="2984126" y="4651774"/>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424286" y="4651774"/>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5864446" y="4651774"/>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7304606" y="4651774"/>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945966" y="3894526"/>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86126" y="3894526"/>
            <a:ext cx="841897"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5828173" y="3913110"/>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7268333" y="3913110"/>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grpSp>
        <p:nvGrpSpPr>
          <p:cNvPr id="20" name="グループ化 19"/>
          <p:cNvGrpSpPr/>
          <p:nvPr/>
        </p:nvGrpSpPr>
        <p:grpSpPr>
          <a:xfrm>
            <a:off x="2984126" y="5281781"/>
            <a:ext cx="1562400" cy="576064"/>
            <a:chOff x="971600" y="5445224"/>
            <a:chExt cx="7200800" cy="576064"/>
          </a:xfrm>
        </p:grpSpPr>
        <p:sp>
          <p:nvSpPr>
            <p:cNvPr id="21" name="平行四辺形 2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2" name="平行四辺形 2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3" name="グループ化 22"/>
          <p:cNvGrpSpPr/>
          <p:nvPr/>
        </p:nvGrpSpPr>
        <p:grpSpPr>
          <a:xfrm>
            <a:off x="4424286" y="5281781"/>
            <a:ext cx="1562400" cy="576064"/>
            <a:chOff x="971600" y="5445224"/>
            <a:chExt cx="7200800" cy="576064"/>
          </a:xfrm>
        </p:grpSpPr>
        <p:sp>
          <p:nvSpPr>
            <p:cNvPr id="24" name="平行四辺形 23"/>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6" name="グループ化 25"/>
          <p:cNvGrpSpPr/>
          <p:nvPr/>
        </p:nvGrpSpPr>
        <p:grpSpPr>
          <a:xfrm>
            <a:off x="5864446" y="5281781"/>
            <a:ext cx="1562400" cy="576064"/>
            <a:chOff x="971600" y="5445224"/>
            <a:chExt cx="7200800" cy="576064"/>
          </a:xfrm>
        </p:grpSpPr>
        <p:sp>
          <p:nvSpPr>
            <p:cNvPr id="27" name="平行四辺形 26"/>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9" name="グループ化 28"/>
          <p:cNvGrpSpPr/>
          <p:nvPr/>
        </p:nvGrpSpPr>
        <p:grpSpPr>
          <a:xfrm>
            <a:off x="7304606" y="5281781"/>
            <a:ext cx="1584176" cy="576064"/>
            <a:chOff x="971600" y="5445224"/>
            <a:chExt cx="7200800" cy="576064"/>
          </a:xfrm>
        </p:grpSpPr>
        <p:sp>
          <p:nvSpPr>
            <p:cNvPr id="30" name="平行四辺形 29"/>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1" name="平行四辺形 30"/>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2" name="正方形/長方形 31"/>
          <p:cNvSpPr/>
          <p:nvPr/>
        </p:nvSpPr>
        <p:spPr>
          <a:xfrm>
            <a:off x="2945966" y="5859027"/>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3" name="正方形/長方形 32"/>
          <p:cNvSpPr/>
          <p:nvPr/>
        </p:nvSpPr>
        <p:spPr>
          <a:xfrm>
            <a:off x="4385982" y="5859027"/>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4" name="正方形/長方形 33"/>
          <p:cNvSpPr/>
          <p:nvPr/>
        </p:nvSpPr>
        <p:spPr>
          <a:xfrm>
            <a:off x="5825998" y="585902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az-Cyrl-AZ"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5" name="正方形/長方形 34"/>
          <p:cNvSpPr/>
          <p:nvPr/>
        </p:nvSpPr>
        <p:spPr>
          <a:xfrm>
            <a:off x="7266014" y="5859027"/>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角丸四角形 35"/>
          <p:cNvSpPr/>
          <p:nvPr/>
        </p:nvSpPr>
        <p:spPr bwMode="auto">
          <a:xfrm>
            <a:off x="6186001"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I1: add </a:t>
            </a:r>
            <a:br>
              <a:rPr lang="en-US" altLang="ja-JP" sz="1400" b="1" dirty="0">
                <a:latin typeface="Consolas" panose="020B0609020204030204" pitchFamily="49" charset="0"/>
              </a:rPr>
            </a:br>
            <a:r>
              <a:rPr lang="en-US" altLang="ja-JP" sz="1400" b="1" dirty="0">
                <a:solidFill>
                  <a:schemeClr val="tx2"/>
                </a:solidFill>
                <a:latin typeface="Consolas" panose="020B0609020204030204" pitchFamily="49" charset="0"/>
              </a:rPr>
              <a:t>x1</a:t>
            </a:r>
            <a:r>
              <a:rPr lang="ja-JP" altLang="en-US" sz="1400" b="1" dirty="0">
                <a:latin typeface="Consolas" panose="020B0609020204030204" pitchFamily="49" charset="0"/>
              </a:rPr>
              <a:t>←</a:t>
            </a:r>
            <a:r>
              <a:rPr lang="en-US" altLang="ja-JP" sz="1400" b="1" dirty="0">
                <a:latin typeface="Consolas" panose="020B0609020204030204" pitchFamily="49" charset="0"/>
              </a:rPr>
              <a:t>x1+1</a:t>
            </a:r>
            <a:endParaRPr lang="ja-JP" altLang="en-US" sz="1400" b="1" dirty="0">
              <a:latin typeface="Consolas" panose="020B0609020204030204" pitchFamily="49" charset="0"/>
            </a:endParaRPr>
          </a:p>
        </p:txBody>
      </p:sp>
      <p:sp>
        <p:nvSpPr>
          <p:cNvPr id="37" name="角丸四角形 36"/>
          <p:cNvSpPr/>
          <p:nvPr/>
        </p:nvSpPr>
        <p:spPr bwMode="auto">
          <a:xfrm>
            <a:off x="4745985"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I2: add </a:t>
            </a:r>
            <a:br>
              <a:rPr lang="en-US" altLang="ja-JP" sz="1400" b="1" dirty="0">
                <a:latin typeface="Consolas" panose="020B0609020204030204" pitchFamily="49" charset="0"/>
              </a:rPr>
            </a:br>
            <a:r>
              <a:rPr lang="en-US" altLang="ja-JP" sz="1400" b="1" dirty="0">
                <a:latin typeface="Consolas" panose="020B0609020204030204" pitchFamily="49" charset="0"/>
              </a:rPr>
              <a:t>x1</a:t>
            </a:r>
            <a:r>
              <a:rPr lang="ja-JP" altLang="en-US" sz="1400" b="1" dirty="0">
                <a:latin typeface="Consolas" panose="020B0609020204030204" pitchFamily="49" charset="0"/>
              </a:rPr>
              <a:t>←</a:t>
            </a:r>
            <a:r>
              <a:rPr lang="en-US" altLang="ja-JP" sz="1400" b="1" dirty="0">
                <a:solidFill>
                  <a:schemeClr val="tx2"/>
                </a:solidFill>
                <a:latin typeface="Consolas" panose="020B0609020204030204" pitchFamily="49" charset="0"/>
              </a:rPr>
              <a:t>x1</a:t>
            </a:r>
            <a:r>
              <a:rPr lang="en-US" altLang="ja-JP" sz="1400" b="1" dirty="0">
                <a:latin typeface="Consolas" panose="020B0609020204030204" pitchFamily="49" charset="0"/>
              </a:rPr>
              <a:t>+1</a:t>
            </a:r>
            <a:endParaRPr lang="ja-JP" altLang="en-US" sz="1400" b="1" dirty="0">
              <a:latin typeface="Consolas" panose="020B0609020204030204" pitchFamily="49" charset="0"/>
            </a:endParaRPr>
          </a:p>
        </p:txBody>
      </p:sp>
      <p:sp>
        <p:nvSpPr>
          <p:cNvPr id="38" name="角丸四角形 37"/>
          <p:cNvSpPr/>
          <p:nvPr/>
        </p:nvSpPr>
        <p:spPr bwMode="auto">
          <a:xfrm>
            <a:off x="6186001"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I3: sub</a:t>
            </a:r>
            <a:br>
              <a:rPr lang="en-US" altLang="ja-JP" sz="1400" b="1" dirty="0">
                <a:latin typeface="Consolas" panose="020B0609020204030204" pitchFamily="49" charset="0"/>
              </a:rPr>
            </a:br>
            <a:r>
              <a:rPr lang="en-US" altLang="ja-JP" sz="1400" b="1" dirty="0">
                <a:latin typeface="Consolas" panose="020B0609020204030204" pitchFamily="49" charset="0"/>
              </a:rPr>
              <a:t>x2</a:t>
            </a:r>
            <a:r>
              <a:rPr lang="ja-JP" altLang="en-US" sz="1400" b="1" dirty="0">
                <a:latin typeface="Consolas" panose="020B0609020204030204" pitchFamily="49" charset="0"/>
              </a:rPr>
              <a:t>←</a:t>
            </a:r>
            <a:r>
              <a:rPr lang="en-US" altLang="ja-JP" sz="1400" b="1" dirty="0">
                <a:latin typeface="Consolas" panose="020B0609020204030204" pitchFamily="49" charset="0"/>
              </a:rPr>
              <a:t>x2-1</a:t>
            </a:r>
            <a:endParaRPr lang="ja-JP" altLang="en-US" sz="1400" b="1" dirty="0">
              <a:latin typeface="Consolas" panose="020B0609020204030204" pitchFamily="49" charset="0"/>
            </a:endParaRPr>
          </a:p>
        </p:txBody>
      </p:sp>
      <p:sp>
        <p:nvSpPr>
          <p:cNvPr id="39" name="角丸四角形 38"/>
          <p:cNvSpPr/>
          <p:nvPr/>
        </p:nvSpPr>
        <p:spPr bwMode="auto">
          <a:xfrm>
            <a:off x="4745985"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a:t>
            </a:r>
            <a:endParaRPr lang="ja-JP" altLang="en-US" sz="1400" b="1" dirty="0">
              <a:latin typeface="Consolas" panose="020B0609020204030204" pitchFamily="49" charset="0"/>
            </a:endParaRPr>
          </a:p>
        </p:txBody>
      </p:sp>
      <p:sp>
        <p:nvSpPr>
          <p:cNvPr id="40" name="角丸四角形吹き出し 39"/>
          <p:cNvSpPr/>
          <p:nvPr/>
        </p:nvSpPr>
        <p:spPr bwMode="auto">
          <a:xfrm>
            <a:off x="6456004" y="3339000"/>
            <a:ext cx="1620018" cy="612648"/>
          </a:xfrm>
          <a:prstGeom prst="wedgeRoundRectCallout">
            <a:avLst>
              <a:gd name="adj1" fmla="val -46291"/>
              <a:gd name="adj2" fmla="val 103500"/>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これで解決！</a:t>
            </a:r>
          </a:p>
        </p:txBody>
      </p:sp>
      <p:sp>
        <p:nvSpPr>
          <p:cNvPr id="43" name="角丸四角形吹き出し 42"/>
          <p:cNvSpPr/>
          <p:nvPr/>
        </p:nvSpPr>
        <p:spPr bwMode="auto">
          <a:xfrm>
            <a:off x="2225957" y="5049019"/>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1"/>
                </a:solidFill>
                <a:latin typeface="Arial Narrow" panose="020B0606020202030204" pitchFamily="34" charset="0"/>
              </a:rPr>
              <a:t>上流</a:t>
            </a:r>
          </a:p>
        </p:txBody>
      </p:sp>
      <p:sp>
        <p:nvSpPr>
          <p:cNvPr id="44" name="角丸四角形吹き出し 43"/>
          <p:cNvSpPr/>
          <p:nvPr/>
        </p:nvSpPr>
        <p:spPr bwMode="auto">
          <a:xfrm>
            <a:off x="8886031" y="5049019"/>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4"/>
                </a:solidFill>
                <a:latin typeface="Arial Narrow" panose="020B0606020202030204" pitchFamily="34" charset="0"/>
              </a:rPr>
              <a:t>下流</a:t>
            </a:r>
          </a:p>
        </p:txBody>
      </p:sp>
      <p:sp>
        <p:nvSpPr>
          <p:cNvPr id="46" name="角丸四角形吹き出し 45"/>
          <p:cNvSpPr/>
          <p:nvPr/>
        </p:nvSpPr>
        <p:spPr bwMode="auto">
          <a:xfrm>
            <a:off x="3575972" y="3338999"/>
            <a:ext cx="2340026" cy="612648"/>
          </a:xfrm>
          <a:prstGeom prst="wedgeRoundRectCallout">
            <a:avLst>
              <a:gd name="adj1" fmla="val -46291"/>
              <a:gd name="adj2" fmla="val 10350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休憩時間が</a:t>
            </a:r>
            <a:br>
              <a:rPr lang="en-US" altLang="ja-JP" dirty="0">
                <a:solidFill>
                  <a:schemeClr val="tx1">
                    <a:lumMod val="65000"/>
                    <a:lumOff val="35000"/>
                  </a:schemeClr>
                </a:solidFill>
                <a:latin typeface="Arial Narrow" panose="020B0606020202030204" pitchFamily="34" charset="0"/>
              </a:rPr>
            </a:br>
            <a:r>
              <a:rPr lang="ja-JP" altLang="en-US" dirty="0">
                <a:solidFill>
                  <a:schemeClr val="tx1">
                    <a:lumMod val="65000"/>
                    <a:lumOff val="35000"/>
                  </a:schemeClr>
                </a:solidFill>
                <a:latin typeface="Arial Narrow" panose="020B0606020202030204" pitchFamily="34" charset="0"/>
              </a:rPr>
              <a:t>なくなってしもた</a:t>
            </a:r>
            <a:r>
              <a:rPr lang="en-US" altLang="ja-JP" dirty="0">
                <a:solidFill>
                  <a:schemeClr val="tx1">
                    <a:lumMod val="65000"/>
                    <a:lumOff val="35000"/>
                  </a:schemeClr>
                </a:solidFill>
                <a:latin typeface="Arial Narrow" panose="020B0606020202030204" pitchFamily="34" charset="0"/>
              </a:rPr>
              <a:t>…</a:t>
            </a:r>
            <a:endParaRPr lang="ja-JP" altLang="en-US" dirty="0">
              <a:solidFill>
                <a:schemeClr val="tx1">
                  <a:lumMod val="65000"/>
                  <a:lumOff val="35000"/>
                </a:schemeClr>
              </a:solidFill>
              <a:latin typeface="Arial Narrow" panose="020B0606020202030204" pitchFamily="34" charset="0"/>
            </a:endParaRPr>
          </a:p>
        </p:txBody>
      </p:sp>
      <p:sp>
        <p:nvSpPr>
          <p:cNvPr id="41" name="右矢印 40"/>
          <p:cNvSpPr/>
          <p:nvPr/>
        </p:nvSpPr>
        <p:spPr bwMode="auto">
          <a:xfrm>
            <a:off x="5555995" y="2258987"/>
            <a:ext cx="630007" cy="540006"/>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3305969"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a:t>
            </a:r>
            <a:endParaRPr lang="ja-JP" altLang="en-US" sz="1400" b="1" dirty="0">
              <a:latin typeface="Consolas" panose="020B0609020204030204" pitchFamily="49" charset="0"/>
            </a:endParaRPr>
          </a:p>
        </p:txBody>
      </p:sp>
      <p:sp>
        <p:nvSpPr>
          <p:cNvPr id="48" name="角丸四角形 47"/>
          <p:cNvSpPr/>
          <p:nvPr/>
        </p:nvSpPr>
        <p:spPr bwMode="auto">
          <a:xfrm>
            <a:off x="3305969"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a:t>
            </a:r>
            <a:endParaRPr lang="ja-JP" altLang="en-US" sz="1400" b="1" dirty="0">
              <a:latin typeface="Consolas" panose="020B0609020204030204" pitchFamily="49" charset="0"/>
            </a:endParaRPr>
          </a:p>
        </p:txBody>
      </p:sp>
      <p:cxnSp>
        <p:nvCxnSpPr>
          <p:cNvPr id="45" name="直線矢印コネクタ 44">
            <a:extLst>
              <a:ext uri="{FF2B5EF4-FFF2-40B4-BE49-F238E27FC236}">
                <a16:creationId xmlns:a16="http://schemas.microsoft.com/office/drawing/2014/main" id="{56D75896-86A2-4564-A11A-58F570A779C9}"/>
              </a:ext>
            </a:extLst>
          </p:cNvPr>
          <p:cNvCxnSpPr>
            <a:cxnSpLocks/>
          </p:cNvCxnSpPr>
          <p:nvPr/>
        </p:nvCxnSpPr>
        <p:spPr bwMode="auto">
          <a:xfrm>
            <a:off x="5015988" y="2618991"/>
            <a:ext cx="1800020" cy="360004"/>
          </a:xfrm>
          <a:prstGeom prst="straightConnector1">
            <a:avLst/>
          </a:prstGeom>
          <a:noFill/>
          <a:ln w="9525" cap="flat" cmpd="sng" algn="ctr">
            <a:solidFill>
              <a:schemeClr val="accent5"/>
            </a:solidFill>
            <a:prstDash val="solid"/>
            <a:round/>
            <a:headEnd type="none" w="med" len="med"/>
            <a:tailEnd type="triangle"/>
          </a:ln>
          <a:effectLst/>
        </p:spPr>
      </p:cxnSp>
      <p:cxnSp>
        <p:nvCxnSpPr>
          <p:cNvPr id="50" name="直線矢印コネクタ 49">
            <a:extLst>
              <a:ext uri="{FF2B5EF4-FFF2-40B4-BE49-F238E27FC236}">
                <a16:creationId xmlns:a16="http://schemas.microsoft.com/office/drawing/2014/main" id="{2FAC5BDD-A12B-46C6-9C89-ACC9838D902C}"/>
              </a:ext>
            </a:extLst>
          </p:cNvPr>
          <p:cNvCxnSpPr>
            <a:cxnSpLocks/>
          </p:cNvCxnSpPr>
          <p:nvPr/>
        </p:nvCxnSpPr>
        <p:spPr bwMode="auto">
          <a:xfrm flipV="1">
            <a:off x="5015988" y="2618993"/>
            <a:ext cx="1800020" cy="360003"/>
          </a:xfrm>
          <a:prstGeom prst="straightConnector1">
            <a:avLst/>
          </a:prstGeom>
          <a:noFill/>
          <a:ln w="9525" cap="flat" cmpd="sng" algn="ctr">
            <a:solidFill>
              <a:schemeClr val="accent5"/>
            </a:solidFill>
            <a:prstDash val="solid"/>
            <a:round/>
            <a:headEnd type="none" w="med" len="med"/>
            <a:tailEnd type="triangle"/>
          </a:ln>
          <a:effectLst/>
        </p:spPr>
      </p:cxnSp>
    </p:spTree>
    <p:extLst>
      <p:ext uri="{BB962C8B-B14F-4D97-AF65-F5344CB8AC3E}">
        <p14:creationId xmlns:p14="http://schemas.microsoft.com/office/powerpoint/2010/main" val="24841593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VLIW</a:t>
            </a:r>
            <a:r>
              <a:rPr kumimoji="1" lang="ja-JP" altLang="en-US" dirty="0"/>
              <a:t>：</a:t>
            </a:r>
            <a:r>
              <a:rPr kumimoji="1" lang="en-US" altLang="ja-JP" dirty="0"/>
              <a:t>Very Long Instruction Word</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静的スケジューリングを前提とした </a:t>
            </a:r>
            <a:r>
              <a:rPr kumimoji="1" lang="en-US" altLang="ja-JP" dirty="0"/>
              <a:t>CPU </a:t>
            </a:r>
            <a:r>
              <a:rPr kumimoji="1" lang="ja-JP" altLang="en-US" dirty="0"/>
              <a:t>のアーキテクチャ</a:t>
            </a:r>
            <a:endParaRPr kumimoji="1" lang="en-US" altLang="ja-JP" dirty="0"/>
          </a:p>
          <a:p>
            <a:r>
              <a:rPr kumimoji="1" lang="ja-JP" altLang="en-US" dirty="0"/>
              <a:t>通常の命令相当の操作を複数まとめたものを１つの命令とする</a:t>
            </a:r>
            <a:endParaRPr kumimoji="1" lang="en-US" altLang="ja-JP" dirty="0"/>
          </a:p>
          <a:p>
            <a:pPr lvl="1"/>
            <a:r>
              <a:rPr lang="ja-JP" altLang="en-US" dirty="0"/>
              <a:t>命令セットの仕様として，１つの </a:t>
            </a:r>
            <a:r>
              <a:rPr lang="en-US" altLang="ja-JP" dirty="0"/>
              <a:t>VLIW </a:t>
            </a:r>
            <a:r>
              <a:rPr lang="ja-JP" altLang="en-US" dirty="0"/>
              <a:t>命令内では依存関係を</a:t>
            </a:r>
            <a:br>
              <a:rPr lang="en-US" altLang="ja-JP" dirty="0"/>
            </a:br>
            <a:r>
              <a:rPr lang="ja-JP" altLang="en-US" dirty="0"/>
              <a:t>持てないようにする</a:t>
            </a:r>
            <a:endParaRPr lang="en-US" altLang="ja-JP" dirty="0"/>
          </a:p>
          <a:p>
            <a:pPr lvl="1"/>
            <a:r>
              <a:rPr lang="en-US" altLang="ja-JP" dirty="0">
                <a:solidFill>
                  <a:schemeClr val="accent5"/>
                </a:solidFill>
              </a:rPr>
              <a:t>= </a:t>
            </a:r>
            <a:r>
              <a:rPr lang="ja-JP" altLang="en-US" dirty="0">
                <a:solidFill>
                  <a:schemeClr val="accent5"/>
                </a:solidFill>
              </a:rPr>
              <a:t>フェッチした後は必ずそれらは並列実行できる</a:t>
            </a:r>
            <a:endParaRPr lang="en-US" altLang="ja-JP" dirty="0">
              <a:solidFill>
                <a:schemeClr val="accent5"/>
              </a:solidFill>
            </a:endParaRPr>
          </a:p>
          <a:p>
            <a:pPr lvl="1"/>
            <a:endParaRPr kumimoji="1" lang="en-US" altLang="ja-JP" dirty="0"/>
          </a:p>
          <a:p>
            <a:pPr lvl="1"/>
            <a:r>
              <a:rPr lang="en-US" altLang="ja-JP" dirty="0">
                <a:latin typeface="Consolas" panose="020B0609020204030204" pitchFamily="49" charset="0"/>
              </a:rPr>
              <a:t>I1: add x1</a:t>
            </a:r>
            <a:r>
              <a:rPr lang="ja-JP" altLang="en-US" dirty="0">
                <a:latin typeface="Consolas" panose="020B0609020204030204" pitchFamily="49" charset="0"/>
              </a:rPr>
              <a:t>←</a:t>
            </a:r>
            <a:r>
              <a:rPr lang="en-US" altLang="ja-JP" dirty="0">
                <a:latin typeface="Consolas" panose="020B0609020204030204" pitchFamily="49" charset="0"/>
              </a:rPr>
              <a:t>x1+1		I1: add x1</a:t>
            </a:r>
            <a:r>
              <a:rPr lang="ja-JP" altLang="en-US" dirty="0">
                <a:latin typeface="Consolas" panose="020B0609020204030204" pitchFamily="49" charset="0"/>
              </a:rPr>
              <a:t>←</a:t>
            </a:r>
            <a:r>
              <a:rPr lang="en-US" altLang="ja-JP" dirty="0">
                <a:latin typeface="Consolas" panose="020B0609020204030204" pitchFamily="49" charset="0"/>
              </a:rPr>
              <a:t>x1+1</a:t>
            </a:r>
            <a:br>
              <a:rPr lang="en-US" altLang="ja-JP" dirty="0">
                <a:latin typeface="Consolas" panose="020B0609020204030204" pitchFamily="49" charset="0"/>
              </a:rPr>
            </a:br>
            <a:r>
              <a:rPr lang="en-US" altLang="ja-JP" dirty="0">
                <a:latin typeface="Consolas" panose="020B0609020204030204" pitchFamily="49" charset="0"/>
              </a:rPr>
              <a:t>I2: add x2</a:t>
            </a:r>
            <a:r>
              <a:rPr lang="ja-JP" altLang="en-US" dirty="0">
                <a:latin typeface="Consolas" panose="020B0609020204030204" pitchFamily="49" charset="0"/>
              </a:rPr>
              <a:t>←</a:t>
            </a:r>
            <a:r>
              <a:rPr lang="en-US" altLang="ja-JP" dirty="0">
                <a:latin typeface="Consolas" panose="020B0609020204030204" pitchFamily="49" charset="0"/>
              </a:rPr>
              <a:t>x2+1		    add x2</a:t>
            </a:r>
            <a:r>
              <a:rPr lang="ja-JP" altLang="en-US" dirty="0">
                <a:latin typeface="Consolas" panose="020B0609020204030204" pitchFamily="49" charset="0"/>
              </a:rPr>
              <a:t>←</a:t>
            </a:r>
            <a:r>
              <a:rPr lang="en-US" altLang="ja-JP" dirty="0">
                <a:latin typeface="Consolas" panose="020B0609020204030204" pitchFamily="49" charset="0"/>
              </a:rPr>
              <a:t>x2+1</a:t>
            </a:r>
            <a:br>
              <a:rPr lang="en-US" altLang="ja-JP" dirty="0">
                <a:latin typeface="Consolas" panose="020B0609020204030204" pitchFamily="49" charset="0"/>
              </a:rPr>
            </a:br>
            <a:r>
              <a:rPr lang="en-US" altLang="ja-JP" dirty="0">
                <a:latin typeface="Consolas" panose="020B0609020204030204" pitchFamily="49" charset="0"/>
              </a:rPr>
              <a:t>I3: sub x3</a:t>
            </a:r>
            <a:r>
              <a:rPr lang="ja-JP" altLang="en-US" dirty="0">
                <a:latin typeface="Consolas" panose="020B0609020204030204" pitchFamily="49" charset="0"/>
              </a:rPr>
              <a:t>←</a:t>
            </a:r>
            <a:r>
              <a:rPr lang="en-US" altLang="ja-JP" dirty="0">
                <a:latin typeface="Consolas" panose="020B0609020204030204" pitchFamily="49" charset="0"/>
              </a:rPr>
              <a:t>x3-1		    sub x3</a:t>
            </a:r>
            <a:r>
              <a:rPr lang="ja-JP" altLang="en-US" dirty="0">
                <a:latin typeface="Consolas" panose="020B0609020204030204" pitchFamily="49" charset="0"/>
              </a:rPr>
              <a:t>←</a:t>
            </a:r>
            <a:r>
              <a:rPr lang="en-US" altLang="ja-JP" dirty="0">
                <a:latin typeface="Consolas" panose="020B0609020204030204" pitchFamily="49" charset="0"/>
              </a:rPr>
              <a:t>x3-1</a:t>
            </a:r>
            <a:br>
              <a:rPr lang="en-US" altLang="ja-JP" dirty="0">
                <a:latin typeface="Consolas" panose="020B0609020204030204" pitchFamily="49" charset="0"/>
              </a:rPr>
            </a:br>
            <a:r>
              <a:rPr lang="ja-JP" altLang="en-US" dirty="0">
                <a:latin typeface="Consolas" panose="020B0609020204030204" pitchFamily="49" charset="0"/>
              </a:rPr>
              <a:t>通常の命令セット</a:t>
            </a:r>
            <a:r>
              <a:rPr lang="en-US" altLang="ja-JP" dirty="0">
                <a:latin typeface="Consolas" panose="020B0609020204030204" pitchFamily="49" charset="0"/>
              </a:rPr>
              <a:t>		VLIW </a:t>
            </a:r>
            <a:r>
              <a:rPr lang="ja-JP" altLang="en-US" dirty="0">
                <a:latin typeface="Consolas" panose="020B0609020204030204" pitchFamily="49" charset="0"/>
              </a:rPr>
              <a:t>ではこれで１命令</a:t>
            </a:r>
            <a:endParaRPr lang="ja-JP" altLang="en-US" dirty="0"/>
          </a:p>
        </p:txBody>
      </p:sp>
      <p:sp>
        <p:nvSpPr>
          <p:cNvPr id="5" name="角丸四角形 4"/>
          <p:cNvSpPr/>
          <p:nvPr/>
        </p:nvSpPr>
        <p:spPr bwMode="auto">
          <a:xfrm>
            <a:off x="6906009" y="4419011"/>
            <a:ext cx="1800020" cy="990011"/>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30602158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VLIW </a:t>
            </a:r>
            <a:r>
              <a:rPr kumimoji="1" lang="ja-JP" altLang="en-US" dirty="0"/>
              <a:t>の利点と問題点</a:t>
            </a:r>
          </a:p>
        </p:txBody>
      </p:sp>
      <p:sp>
        <p:nvSpPr>
          <p:cNvPr id="3" name="テキスト プレースホルダー 2"/>
          <p:cNvSpPr>
            <a:spLocks noGrp="1"/>
          </p:cNvSpPr>
          <p:nvPr>
            <p:ph type="body" sz="quarter" idx="10"/>
          </p:nvPr>
        </p:nvSpPr>
        <p:spPr/>
        <p:txBody>
          <a:bodyPr/>
          <a:lstStyle/>
          <a:p>
            <a:r>
              <a:rPr kumimoji="1" lang="ja-JP" altLang="en-US" dirty="0"/>
              <a:t>利点：</a:t>
            </a:r>
            <a:endParaRPr kumimoji="1" lang="en-US" altLang="ja-JP" dirty="0"/>
          </a:p>
          <a:p>
            <a:pPr lvl="1"/>
            <a:r>
              <a:rPr kumimoji="1" lang="ja-JP" altLang="en-US" dirty="0"/>
              <a:t>ハードウェアがすごく簡単</a:t>
            </a:r>
            <a:endParaRPr kumimoji="1" lang="en-US" altLang="ja-JP" dirty="0"/>
          </a:p>
          <a:p>
            <a:pPr lvl="2"/>
            <a:r>
              <a:rPr kumimoji="1" lang="ja-JP" altLang="en-US" dirty="0"/>
              <a:t>スーパスカラでは依存があったら止める機構があった</a:t>
            </a:r>
            <a:endParaRPr kumimoji="1" lang="en-US" altLang="ja-JP" dirty="0"/>
          </a:p>
          <a:p>
            <a:pPr lvl="2"/>
            <a:r>
              <a:rPr lang="en-US" altLang="ja-JP" dirty="0"/>
              <a:t>VLIW </a:t>
            </a:r>
            <a:r>
              <a:rPr lang="ja-JP" altLang="en-US" dirty="0"/>
              <a:t>では仕様として命令内に依存は発生しないので，不要</a:t>
            </a:r>
            <a:endParaRPr lang="en-US" altLang="ja-JP" dirty="0"/>
          </a:p>
          <a:p>
            <a:r>
              <a:rPr kumimoji="1" lang="ja-JP" altLang="en-US" dirty="0"/>
              <a:t>問題点：</a:t>
            </a:r>
            <a:endParaRPr kumimoji="1" lang="en-US" altLang="ja-JP" dirty="0"/>
          </a:p>
          <a:p>
            <a:pPr marL="817200" lvl="1" indent="-457200">
              <a:buFont typeface="+mj-lt"/>
              <a:buAutoNum type="arabicPeriod"/>
            </a:pPr>
            <a:r>
              <a:rPr kumimoji="1" lang="ja-JP" altLang="en-US" dirty="0"/>
              <a:t>性能</a:t>
            </a:r>
            <a:r>
              <a:rPr lang="ja-JP" altLang="en-US" dirty="0"/>
              <a:t>向上に限界がある</a:t>
            </a:r>
            <a:endParaRPr kumimoji="1" lang="en-US" altLang="ja-JP" dirty="0"/>
          </a:p>
          <a:p>
            <a:pPr marL="817200" lvl="1" indent="-457200">
              <a:buFont typeface="+mj-lt"/>
              <a:buAutoNum type="arabicPeriod"/>
            </a:pPr>
            <a:r>
              <a:rPr kumimoji="1" lang="ja-JP" altLang="en-US" dirty="0"/>
              <a:t>互換性がとりにくい</a:t>
            </a:r>
          </a:p>
        </p:txBody>
      </p:sp>
    </p:spTree>
    <p:extLst>
      <p:ext uri="{BB962C8B-B14F-4D97-AF65-F5344CB8AC3E}">
        <p14:creationId xmlns:p14="http://schemas.microsoft.com/office/powerpoint/2010/main" val="33715965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1. </a:t>
            </a:r>
            <a:r>
              <a:rPr lang="ja-JP" altLang="en-US" dirty="0"/>
              <a:t>性能がいまいち出ない</a:t>
            </a:r>
            <a:endParaRPr kumimoji="1" lang="ja-JP" altLang="en-US" dirty="0"/>
          </a:p>
        </p:txBody>
      </p:sp>
      <p:sp>
        <p:nvSpPr>
          <p:cNvPr id="3" name="テキスト プレースホルダー 2"/>
          <p:cNvSpPr>
            <a:spLocks noGrp="1"/>
          </p:cNvSpPr>
          <p:nvPr>
            <p:ph type="body" sz="quarter" idx="10"/>
          </p:nvPr>
        </p:nvSpPr>
        <p:spPr/>
        <p:txBody>
          <a:bodyPr/>
          <a:lstStyle/>
          <a:p>
            <a:r>
              <a:rPr kumimoji="1" lang="en-US" altLang="ja-JP" dirty="0"/>
              <a:t>VLIW </a:t>
            </a:r>
            <a:r>
              <a:rPr kumimoji="1" lang="ja-JP" altLang="en-US" dirty="0"/>
              <a:t>は静的スケジューリングに全面的に頼っている</a:t>
            </a:r>
            <a:endParaRPr kumimoji="1" lang="en-US" altLang="ja-JP" dirty="0"/>
          </a:p>
          <a:p>
            <a:pPr lvl="1"/>
            <a:r>
              <a:rPr kumimoji="1" lang="ja-JP" altLang="en-US" dirty="0"/>
              <a:t>しかし，それで出来る並び替えは結構自由度が低い</a:t>
            </a:r>
            <a:endParaRPr kumimoji="1" lang="en-US" altLang="ja-JP" dirty="0"/>
          </a:p>
        </p:txBody>
      </p:sp>
    </p:spTree>
    <p:extLst>
      <p:ext uri="{BB962C8B-B14F-4D97-AF65-F5344CB8AC3E}">
        <p14:creationId xmlns:p14="http://schemas.microsoft.com/office/powerpoint/2010/main" val="6728835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静的スケジューリングが難しい例１</a:t>
            </a:r>
            <a:endParaRPr kumimoji="1" lang="ja-JP" altLang="en-US" dirty="0"/>
          </a:p>
        </p:txBody>
      </p:sp>
      <p:sp>
        <p:nvSpPr>
          <p:cNvPr id="3" name="テキスト プレースホルダー 2"/>
          <p:cNvSpPr>
            <a:spLocks noGrp="1"/>
          </p:cNvSpPr>
          <p:nvPr>
            <p:ph type="body" sz="quarter" idx="10"/>
          </p:nvPr>
        </p:nvSpPr>
        <p:spPr>
          <a:xfrm>
            <a:off x="1775952" y="1088974"/>
            <a:ext cx="9000100" cy="5219751"/>
          </a:xfrm>
        </p:spPr>
        <p:txBody>
          <a:bodyPr/>
          <a:lstStyle/>
          <a:p>
            <a:r>
              <a:rPr kumimoji="1" lang="ja-JP" altLang="en-US" dirty="0"/>
              <a:t>例</a:t>
            </a:r>
            <a:r>
              <a:rPr kumimoji="1" lang="en-US" altLang="ja-JP" dirty="0"/>
              <a:t>1</a:t>
            </a:r>
            <a:r>
              <a:rPr kumimoji="1" lang="ja-JP" altLang="en-US" dirty="0"/>
              <a:t>：分岐を乗り越えた並び替えは難しい</a:t>
            </a:r>
            <a:br>
              <a:rPr kumimoji="1" lang="en-US" altLang="ja-JP" dirty="0"/>
            </a:br>
            <a:r>
              <a:rPr kumimoji="1" lang="ja-JP" altLang="en-US" dirty="0"/>
              <a:t>（不可能とはいっていない）</a:t>
            </a:r>
            <a:endParaRPr kumimoji="1" lang="en-US" altLang="ja-JP" dirty="0"/>
          </a:p>
          <a:p>
            <a:pPr lvl="1"/>
            <a:r>
              <a:rPr lang="en-US" altLang="ja-JP" dirty="0"/>
              <a:t>3 </a:t>
            </a:r>
            <a:r>
              <a:rPr lang="ja-JP" altLang="en-US" dirty="0"/>
              <a:t>行目のメモリ・アクセスを </a:t>
            </a:r>
            <a:r>
              <a:rPr lang="en-US" altLang="ja-JP" dirty="0"/>
              <a:t>1 </a:t>
            </a:r>
            <a:r>
              <a:rPr lang="ja-JP" altLang="en-US" dirty="0"/>
              <a:t>行目の位置まで引き上げることは困難</a:t>
            </a:r>
            <a:endParaRPr lang="en-US" altLang="ja-JP" dirty="0"/>
          </a:p>
          <a:p>
            <a:pPr lvl="1"/>
            <a:r>
              <a:rPr lang="ja-JP" altLang="en-US" dirty="0"/>
              <a:t>うかつにやると例外が起きて落ちる</a:t>
            </a:r>
            <a:br>
              <a:rPr lang="en-US" altLang="ja-JP" dirty="0"/>
            </a:br>
            <a:br>
              <a:rPr lang="en-US" altLang="ja-JP" dirty="0">
                <a:latin typeface="Consolas" panose="020B0609020204030204" pitchFamily="49" charset="0"/>
              </a:rPr>
            </a:br>
            <a:r>
              <a:rPr lang="en-US" altLang="ja-JP" dirty="0">
                <a:latin typeface="Consolas" panose="020B0609020204030204" pitchFamily="49" charset="0"/>
              </a:rPr>
              <a:t>1: </a:t>
            </a:r>
            <a:r>
              <a:rPr lang="en-US" altLang="ja-JP" dirty="0" err="1">
                <a:latin typeface="Consolas" panose="020B0609020204030204" pitchFamily="49" charset="0"/>
              </a:rPr>
              <a:t>i</a:t>
            </a:r>
            <a:r>
              <a:rPr lang="en-US" altLang="ja-JP" dirty="0">
                <a:latin typeface="Consolas" panose="020B0609020204030204" pitchFamily="49" charset="0"/>
              </a:rPr>
              <a:t> = </a:t>
            </a:r>
            <a:r>
              <a:rPr lang="en-US" altLang="ja-JP" dirty="0" err="1">
                <a:latin typeface="Consolas" panose="020B0609020204030204" pitchFamily="49" charset="0"/>
              </a:rPr>
              <a:t>i</a:t>
            </a:r>
            <a:r>
              <a:rPr lang="en-US" altLang="ja-JP" dirty="0">
                <a:latin typeface="Consolas" panose="020B0609020204030204" pitchFamily="49" charset="0"/>
              </a:rPr>
              <a:t> + 1</a:t>
            </a:r>
            <a:br>
              <a:rPr lang="en-US" altLang="ja-JP" dirty="0">
                <a:latin typeface="Consolas" panose="020B0609020204030204" pitchFamily="49" charset="0"/>
              </a:rPr>
            </a:br>
            <a:r>
              <a:rPr lang="en-US" altLang="ja-JP" dirty="0">
                <a:latin typeface="Consolas" panose="020B0609020204030204" pitchFamily="49" charset="0"/>
              </a:rPr>
              <a:t>2: if (flag) </a:t>
            </a:r>
            <a:br>
              <a:rPr lang="en-US" altLang="ja-JP" dirty="0"/>
            </a:br>
            <a:r>
              <a:rPr lang="en-US" altLang="ja-JP" dirty="0"/>
              <a:t>3:        a = *</a:t>
            </a:r>
            <a:r>
              <a:rPr lang="en-US" altLang="ja-JP" dirty="0" err="1"/>
              <a:t>ptr</a:t>
            </a:r>
            <a:r>
              <a:rPr lang="en-US" altLang="ja-JP" dirty="0"/>
              <a:t>;  </a:t>
            </a:r>
            <a:r>
              <a:rPr lang="en-US" altLang="ja-JP" dirty="0">
                <a:solidFill>
                  <a:schemeClr val="accent5"/>
                </a:solidFill>
                <a:latin typeface="Consolas" panose="020B0609020204030204" pitchFamily="49" charset="0"/>
              </a:rPr>
              <a:t>// flag </a:t>
            </a:r>
            <a:r>
              <a:rPr lang="ja-JP" altLang="en-US" dirty="0">
                <a:solidFill>
                  <a:schemeClr val="accent5"/>
                </a:solidFill>
                <a:latin typeface="Consolas" panose="020B0609020204030204" pitchFamily="49" charset="0"/>
              </a:rPr>
              <a:t>が </a:t>
            </a:r>
            <a:r>
              <a:rPr lang="en-US" altLang="ja-JP" dirty="0">
                <a:solidFill>
                  <a:schemeClr val="accent5"/>
                </a:solidFill>
                <a:latin typeface="Consolas" panose="020B0609020204030204" pitchFamily="49" charset="0"/>
              </a:rPr>
              <a:t>false </a:t>
            </a:r>
            <a:r>
              <a:rPr lang="ja-JP" altLang="en-US" dirty="0">
                <a:solidFill>
                  <a:schemeClr val="accent5"/>
                </a:solidFill>
                <a:latin typeface="Consolas" panose="020B0609020204030204" pitchFamily="49" charset="0"/>
              </a:rPr>
              <a:t>の時は </a:t>
            </a:r>
            <a:r>
              <a:rPr lang="en-US" altLang="ja-JP" dirty="0" err="1">
                <a:solidFill>
                  <a:schemeClr val="accent5"/>
                </a:solidFill>
                <a:latin typeface="Consolas" panose="020B0609020204030204" pitchFamily="49" charset="0"/>
              </a:rPr>
              <a:t>ptr</a:t>
            </a:r>
            <a:r>
              <a:rPr lang="en-US" altLang="ja-JP" dirty="0">
                <a:solidFill>
                  <a:schemeClr val="accent5"/>
                </a:solidFill>
                <a:latin typeface="Consolas" panose="020B0609020204030204" pitchFamily="49" charset="0"/>
              </a:rPr>
              <a:t> </a:t>
            </a:r>
            <a:r>
              <a:rPr lang="ja-JP" altLang="en-US" dirty="0">
                <a:solidFill>
                  <a:schemeClr val="accent5"/>
                </a:solidFill>
                <a:latin typeface="Consolas" panose="020B0609020204030204" pitchFamily="49" charset="0"/>
              </a:rPr>
              <a:t>は </a:t>
            </a:r>
            <a:r>
              <a:rPr lang="en-US" altLang="ja-JP" dirty="0">
                <a:solidFill>
                  <a:schemeClr val="accent5"/>
                </a:solidFill>
                <a:latin typeface="Consolas" panose="020B0609020204030204" pitchFamily="49" charset="0"/>
              </a:rPr>
              <a:t>NULL</a:t>
            </a:r>
          </a:p>
        </p:txBody>
      </p:sp>
    </p:spTree>
    <p:extLst>
      <p:ext uri="{BB962C8B-B14F-4D97-AF65-F5344CB8AC3E}">
        <p14:creationId xmlns:p14="http://schemas.microsoft.com/office/powerpoint/2010/main" val="5080050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静的スケジューリングが難しい例２</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例２：ポインタ参照の順番を入れ替えるのは難しい</a:t>
            </a:r>
            <a:br>
              <a:rPr kumimoji="1" lang="en-US" altLang="ja-JP" dirty="0"/>
            </a:br>
            <a:r>
              <a:rPr kumimoji="1" lang="ja-JP" altLang="en-US" dirty="0"/>
              <a:t>（不可能とはいっていない）</a:t>
            </a:r>
            <a:endParaRPr kumimoji="1" lang="en-US" altLang="ja-JP" dirty="0"/>
          </a:p>
          <a:p>
            <a:pPr lvl="1"/>
            <a:r>
              <a:rPr lang="ja-JP" altLang="en-US" dirty="0"/>
              <a:t>２</a:t>
            </a:r>
            <a:r>
              <a:rPr lang="en-US" altLang="ja-JP" dirty="0"/>
              <a:t> </a:t>
            </a:r>
            <a:r>
              <a:rPr lang="ja-JP" altLang="en-US" dirty="0"/>
              <a:t>行目と３行目のメモリ・アクセスを入れ替えることは困難</a:t>
            </a:r>
            <a:endParaRPr lang="en-US" altLang="ja-JP" dirty="0"/>
          </a:p>
          <a:p>
            <a:pPr lvl="1"/>
            <a:r>
              <a:rPr lang="ja-JP" altLang="en-US" dirty="0"/>
              <a:t>うかつにやると意味が変わる</a:t>
            </a:r>
            <a:br>
              <a:rPr lang="en-US" altLang="ja-JP" dirty="0"/>
            </a:br>
            <a:br>
              <a:rPr lang="en-US" altLang="ja-JP" dirty="0">
                <a:latin typeface="Consolas" panose="020B0609020204030204" pitchFamily="49" charset="0"/>
              </a:rPr>
            </a:br>
            <a:r>
              <a:rPr lang="en-US" altLang="ja-JP" dirty="0">
                <a:latin typeface="Consolas" panose="020B0609020204030204" pitchFamily="49" charset="0"/>
              </a:rPr>
              <a:t>1: </a:t>
            </a:r>
            <a:r>
              <a:rPr lang="en-US" altLang="ja-JP" dirty="0" err="1">
                <a:latin typeface="Consolas" panose="020B0609020204030204" pitchFamily="49" charset="0"/>
              </a:rPr>
              <a:t>func</a:t>
            </a:r>
            <a:r>
              <a:rPr lang="en-US" altLang="ja-JP" dirty="0">
                <a:latin typeface="Consolas" panose="020B0609020204030204" pitchFamily="49" charset="0"/>
              </a:rPr>
              <a:t>(STRUCT* s, int* a){</a:t>
            </a:r>
            <a:br>
              <a:rPr lang="en-US" altLang="ja-JP" dirty="0">
                <a:latin typeface="Consolas" panose="020B0609020204030204" pitchFamily="49" charset="0"/>
              </a:rPr>
            </a:br>
            <a:r>
              <a:rPr lang="en-US" altLang="ja-JP" dirty="0">
                <a:latin typeface="Consolas" panose="020B0609020204030204" pitchFamily="49" charset="0"/>
              </a:rPr>
              <a:t>2:     s-&gt;a = 1;</a:t>
            </a:r>
            <a:br>
              <a:rPr lang="en-US" altLang="ja-JP" dirty="0"/>
            </a:br>
            <a:r>
              <a:rPr lang="en-US" altLang="ja-JP" dirty="0"/>
              <a:t>3</a:t>
            </a:r>
            <a:r>
              <a:rPr lang="en-US" altLang="ja-JP" dirty="0">
                <a:latin typeface="Consolas" panose="020B0609020204030204" pitchFamily="49" charset="0"/>
              </a:rPr>
              <a:t>:     int b = *a;  </a:t>
            </a:r>
            <a:r>
              <a:rPr lang="en-US" altLang="ja-JP" dirty="0">
                <a:solidFill>
                  <a:schemeClr val="accent5"/>
                </a:solidFill>
                <a:latin typeface="Consolas" panose="020B0609020204030204" pitchFamily="49" charset="0"/>
              </a:rPr>
              <a:t>// a </a:t>
            </a:r>
            <a:r>
              <a:rPr lang="ja-JP" altLang="en-US" dirty="0">
                <a:solidFill>
                  <a:schemeClr val="accent5"/>
                </a:solidFill>
                <a:latin typeface="Consolas" panose="020B0609020204030204" pitchFamily="49" charset="0"/>
              </a:rPr>
              <a:t>は </a:t>
            </a:r>
            <a:r>
              <a:rPr lang="en-US" altLang="ja-JP" dirty="0">
                <a:solidFill>
                  <a:schemeClr val="accent5"/>
                </a:solidFill>
                <a:latin typeface="Consolas" panose="020B0609020204030204" pitchFamily="49" charset="0"/>
              </a:rPr>
              <a:t>s-&gt;a </a:t>
            </a:r>
            <a:r>
              <a:rPr lang="ja-JP" altLang="en-US" dirty="0">
                <a:solidFill>
                  <a:schemeClr val="accent5"/>
                </a:solidFill>
                <a:latin typeface="Consolas" panose="020B0609020204030204" pitchFamily="49" charset="0"/>
              </a:rPr>
              <a:t>を指してる可能性がある</a:t>
            </a:r>
            <a:endParaRPr lang="en-US" altLang="ja-JP" dirty="0">
              <a:solidFill>
                <a:schemeClr val="accent5"/>
              </a:solidFill>
              <a:latin typeface="Consolas" panose="020B0609020204030204" pitchFamily="49" charset="0"/>
            </a:endParaRPr>
          </a:p>
        </p:txBody>
      </p:sp>
    </p:spTree>
    <p:extLst>
      <p:ext uri="{BB962C8B-B14F-4D97-AF65-F5344CB8AC3E}">
        <p14:creationId xmlns:p14="http://schemas.microsoft.com/office/powerpoint/2010/main" val="39597848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a:t>
            </a:r>
            <a:r>
              <a:rPr kumimoji="1" lang="en-US" altLang="ja-JP" dirty="0"/>
              <a:t>C </a:t>
            </a:r>
            <a:r>
              <a:rPr kumimoji="1" lang="ja-JP" altLang="en-US" dirty="0"/>
              <a:t>言語などでのポインタ経由アクセス</a:t>
            </a:r>
          </a:p>
        </p:txBody>
      </p:sp>
      <p:sp>
        <p:nvSpPr>
          <p:cNvPr id="3" name="テキスト プレースホルダー 2"/>
          <p:cNvSpPr>
            <a:spLocks noGrp="1"/>
          </p:cNvSpPr>
          <p:nvPr>
            <p:ph type="body" sz="quarter" idx="10"/>
          </p:nvPr>
        </p:nvSpPr>
        <p:spPr>
          <a:xfrm>
            <a:off x="1595950" y="1088975"/>
            <a:ext cx="9000100" cy="5219751"/>
          </a:xfrm>
        </p:spPr>
        <p:txBody>
          <a:bodyPr/>
          <a:lstStyle/>
          <a:p>
            <a:r>
              <a:rPr lang="ja-JP" altLang="en-US" dirty="0">
                <a:latin typeface="Consolas" panose="020B0609020204030204" pitchFamily="49" charset="0"/>
              </a:rPr>
              <a:t>以下では，</a:t>
            </a:r>
            <a:r>
              <a:rPr lang="en-US" altLang="ja-JP" dirty="0">
                <a:solidFill>
                  <a:schemeClr val="accent5"/>
                </a:solidFill>
                <a:latin typeface="Consolas" panose="020B0609020204030204" pitchFamily="49" charset="0"/>
              </a:rPr>
              <a:t>a</a:t>
            </a:r>
            <a:r>
              <a:rPr lang="en-US" altLang="ja-JP" dirty="0">
                <a:latin typeface="Consolas" panose="020B0609020204030204" pitchFamily="49" charset="0"/>
              </a:rPr>
              <a:t> </a:t>
            </a:r>
            <a:r>
              <a:rPr lang="ja-JP" altLang="en-US" dirty="0">
                <a:latin typeface="Consolas" panose="020B0609020204030204" pitchFamily="49" charset="0"/>
              </a:rPr>
              <a:t>と </a:t>
            </a:r>
            <a:r>
              <a:rPr lang="en-US" altLang="ja-JP" dirty="0">
                <a:solidFill>
                  <a:schemeClr val="accent5"/>
                </a:solidFill>
                <a:latin typeface="Consolas" panose="020B0609020204030204" pitchFamily="49" charset="0"/>
              </a:rPr>
              <a:t>c</a:t>
            </a:r>
            <a:r>
              <a:rPr lang="en-US" altLang="ja-JP" dirty="0">
                <a:latin typeface="Consolas" panose="020B0609020204030204" pitchFamily="49" charset="0"/>
              </a:rPr>
              <a:t> </a:t>
            </a:r>
            <a:r>
              <a:rPr lang="ja-JP" altLang="en-US" dirty="0">
                <a:latin typeface="Consolas" panose="020B0609020204030204" pitchFamily="49" charset="0"/>
              </a:rPr>
              <a:t>のために</a:t>
            </a:r>
            <a:r>
              <a:rPr lang="en-US" altLang="ja-JP" dirty="0">
                <a:latin typeface="Consolas" panose="020B0609020204030204" pitchFamily="49" charset="0"/>
              </a:rPr>
              <a:t>2</a:t>
            </a:r>
            <a:r>
              <a:rPr lang="ja-JP" altLang="en-US" dirty="0">
                <a:latin typeface="Consolas" panose="020B0609020204030204" pitchFamily="49" charset="0"/>
              </a:rPr>
              <a:t>回分のロード命令が生成される</a:t>
            </a:r>
            <a:endParaRPr lang="en-US" altLang="ja-JP" dirty="0">
              <a:latin typeface="Consolas" panose="020B0609020204030204" pitchFamily="49" charset="0"/>
            </a:endParaRPr>
          </a:p>
          <a:p>
            <a:pPr lvl="1"/>
            <a:r>
              <a:rPr lang="ja-JP" altLang="en-US" dirty="0">
                <a:latin typeface="Consolas" panose="020B0609020204030204" pitchFamily="49" charset="0"/>
              </a:rPr>
              <a:t>間にグローバル変数へのアクセスが入ると，一回 </a:t>
            </a:r>
            <a:r>
              <a:rPr lang="en-US" altLang="ja-JP" dirty="0">
                <a:latin typeface="Consolas" panose="020B0609020204030204" pitchFamily="49" charset="0"/>
              </a:rPr>
              <a:t>*</a:t>
            </a:r>
            <a:r>
              <a:rPr lang="en-US" altLang="ja-JP" dirty="0" err="1">
                <a:latin typeface="Consolas" panose="020B0609020204030204" pitchFamily="49" charset="0"/>
              </a:rPr>
              <a:t>ptr</a:t>
            </a:r>
            <a:r>
              <a:rPr lang="en-US" altLang="ja-JP" dirty="0">
                <a:latin typeface="Consolas" panose="020B0609020204030204" pitchFamily="49" charset="0"/>
              </a:rPr>
              <a:t> </a:t>
            </a:r>
            <a:r>
              <a:rPr lang="ja-JP" altLang="en-US" dirty="0">
                <a:latin typeface="Consolas" panose="020B0609020204030204" pitchFamily="49" charset="0"/>
              </a:rPr>
              <a:t>をロードしてレジスタに置いた値が使い回せない</a:t>
            </a:r>
            <a:endParaRPr lang="en-US" altLang="ja-JP" dirty="0">
              <a:latin typeface="Consolas" panose="020B0609020204030204" pitchFamily="49" charset="0"/>
            </a:endParaRPr>
          </a:p>
          <a:p>
            <a:pPr lvl="1"/>
            <a:r>
              <a:rPr lang="ja-JP" altLang="en-US" dirty="0">
                <a:latin typeface="Consolas" panose="020B0609020204030204" pitchFamily="49" charset="0"/>
              </a:rPr>
              <a:t>オブジェクトへのメンバへのアクセスでも同じことがおきる</a:t>
            </a:r>
            <a:endParaRPr lang="en-US" altLang="ja-JP" dirty="0">
              <a:latin typeface="Consolas" panose="020B0609020204030204" pitchFamily="49" charset="0"/>
            </a:endParaRPr>
          </a:p>
          <a:p>
            <a:pPr lvl="1"/>
            <a:r>
              <a:rPr lang="ja-JP" altLang="en-US" dirty="0">
                <a:latin typeface="Consolas" panose="020B0609020204030204" pitchFamily="49" charset="0"/>
              </a:rPr>
              <a:t>ローカル変数に１回コピーしてからアクセスしたほうが速い</a:t>
            </a:r>
            <a:endParaRPr lang="en-US" altLang="ja-JP" dirty="0">
              <a:latin typeface="Consolas" panose="020B0609020204030204" pitchFamily="49" charset="0"/>
            </a:endParaRPr>
          </a:p>
          <a:p>
            <a:r>
              <a:rPr lang="en-US" altLang="ja-JP" dirty="0">
                <a:latin typeface="Consolas" panose="020B0609020204030204" pitchFamily="49" charset="0"/>
              </a:rPr>
              <a:t>int g = 0;</a:t>
            </a:r>
            <a:br>
              <a:rPr lang="en-US" altLang="ja-JP" dirty="0">
                <a:latin typeface="Consolas" panose="020B0609020204030204" pitchFamily="49" charset="0"/>
              </a:rPr>
            </a:br>
            <a:r>
              <a:rPr lang="en-US" altLang="ja-JP" dirty="0" err="1">
                <a:latin typeface="Consolas" panose="020B0609020204030204" pitchFamily="49" charset="0"/>
              </a:rPr>
              <a:t>func</a:t>
            </a:r>
            <a:r>
              <a:rPr lang="en-US" altLang="ja-JP" dirty="0">
                <a:latin typeface="Consolas" panose="020B0609020204030204" pitchFamily="49" charset="0"/>
              </a:rPr>
              <a:t>(int* </a:t>
            </a:r>
            <a:r>
              <a:rPr lang="en-US" altLang="ja-JP" dirty="0" err="1">
                <a:latin typeface="Consolas" panose="020B0609020204030204" pitchFamily="49" charset="0"/>
              </a:rPr>
              <a:t>ptr</a:t>
            </a:r>
            <a:r>
              <a:rPr lang="en-US" altLang="ja-JP" dirty="0">
                <a:latin typeface="Consolas" panose="020B0609020204030204" pitchFamily="49" charset="0"/>
              </a:rPr>
              <a:t>){</a:t>
            </a:r>
            <a:br>
              <a:rPr lang="en-US" altLang="ja-JP" dirty="0">
                <a:latin typeface="Consolas" panose="020B0609020204030204" pitchFamily="49" charset="0"/>
              </a:rPr>
            </a:br>
            <a:r>
              <a:rPr lang="en-US" altLang="ja-JP" dirty="0">
                <a:latin typeface="Consolas" panose="020B0609020204030204" pitchFamily="49" charset="0"/>
              </a:rPr>
              <a:t>    int </a:t>
            </a:r>
            <a:r>
              <a:rPr lang="en-US" altLang="ja-JP" dirty="0">
                <a:solidFill>
                  <a:schemeClr val="accent5"/>
                </a:solidFill>
                <a:latin typeface="Consolas" panose="020B0609020204030204" pitchFamily="49" charset="0"/>
              </a:rPr>
              <a:t>a</a:t>
            </a:r>
            <a:r>
              <a:rPr lang="en-US" altLang="ja-JP" dirty="0">
                <a:latin typeface="Consolas" panose="020B0609020204030204" pitchFamily="49" charset="0"/>
              </a:rPr>
              <a:t> = (*</a:t>
            </a:r>
            <a:r>
              <a:rPr lang="en-US" altLang="ja-JP" dirty="0" err="1">
                <a:latin typeface="Consolas" panose="020B0609020204030204" pitchFamily="49" charset="0"/>
              </a:rPr>
              <a:t>ptr</a:t>
            </a:r>
            <a:r>
              <a:rPr lang="en-US" altLang="ja-JP" dirty="0">
                <a:latin typeface="Consolas" panose="020B0609020204030204" pitchFamily="49" charset="0"/>
              </a:rPr>
              <a:t>) + 1;</a:t>
            </a:r>
            <a:br>
              <a:rPr lang="en-US" altLang="ja-JP" dirty="0">
                <a:latin typeface="Consolas" panose="020B0609020204030204" pitchFamily="49" charset="0"/>
              </a:rPr>
            </a:br>
            <a:r>
              <a:rPr lang="en-US" altLang="ja-JP" dirty="0">
                <a:latin typeface="Consolas" panose="020B0609020204030204" pitchFamily="49" charset="0"/>
              </a:rPr>
              <a:t>    int </a:t>
            </a:r>
            <a:r>
              <a:rPr lang="en-US" altLang="ja-JP" dirty="0">
                <a:solidFill>
                  <a:schemeClr val="accent5"/>
                </a:solidFill>
                <a:latin typeface="Consolas" panose="020B0609020204030204" pitchFamily="49" charset="0"/>
              </a:rPr>
              <a:t>b</a:t>
            </a:r>
            <a:r>
              <a:rPr lang="en-US" altLang="ja-JP" dirty="0">
                <a:latin typeface="Consolas" panose="020B0609020204030204" pitchFamily="49" charset="0"/>
              </a:rPr>
              <a:t> = (*</a:t>
            </a:r>
            <a:r>
              <a:rPr lang="en-US" altLang="ja-JP" dirty="0" err="1">
                <a:latin typeface="Consolas" panose="020B0609020204030204" pitchFamily="49" charset="0"/>
              </a:rPr>
              <a:t>ptr</a:t>
            </a:r>
            <a:r>
              <a:rPr lang="en-US" altLang="ja-JP" dirty="0">
                <a:latin typeface="Consolas" panose="020B0609020204030204" pitchFamily="49" charset="0"/>
              </a:rPr>
              <a:t>) + 2; // </a:t>
            </a:r>
            <a:r>
              <a:rPr lang="ja-JP" altLang="en-US" dirty="0">
                <a:latin typeface="Consolas" panose="020B0609020204030204" pitchFamily="49" charset="0"/>
              </a:rPr>
              <a:t>最適化されて上のロード結果を使用</a:t>
            </a:r>
            <a:br>
              <a:rPr lang="en-US" altLang="ja-JP" dirty="0">
                <a:latin typeface="Consolas" panose="020B0609020204030204" pitchFamily="49" charset="0"/>
              </a:rPr>
            </a:br>
            <a:r>
              <a:rPr lang="en-US" altLang="ja-JP" dirty="0">
                <a:latin typeface="Consolas" panose="020B0609020204030204" pitchFamily="49" charset="0"/>
              </a:rPr>
              <a:t>    g = 1; </a:t>
            </a:r>
            <a:r>
              <a:rPr lang="en-US" altLang="ja-JP" dirty="0">
                <a:solidFill>
                  <a:schemeClr val="accent5"/>
                </a:solidFill>
                <a:latin typeface="Consolas" panose="020B0609020204030204" pitchFamily="49" charset="0"/>
              </a:rPr>
              <a:t>// </a:t>
            </a:r>
            <a:r>
              <a:rPr lang="en-US" altLang="ja-JP" dirty="0" err="1">
                <a:solidFill>
                  <a:schemeClr val="accent5"/>
                </a:solidFill>
                <a:latin typeface="Consolas" panose="020B0609020204030204" pitchFamily="49" charset="0"/>
              </a:rPr>
              <a:t>ptr</a:t>
            </a:r>
            <a:r>
              <a:rPr lang="en-US" altLang="ja-JP" dirty="0">
                <a:solidFill>
                  <a:schemeClr val="accent5"/>
                </a:solidFill>
                <a:latin typeface="Consolas" panose="020B0609020204030204" pitchFamily="49" charset="0"/>
              </a:rPr>
              <a:t> </a:t>
            </a:r>
            <a:r>
              <a:rPr lang="ja-JP" altLang="en-US" dirty="0">
                <a:solidFill>
                  <a:schemeClr val="accent5"/>
                </a:solidFill>
                <a:latin typeface="Consolas" panose="020B0609020204030204" pitchFamily="49" charset="0"/>
              </a:rPr>
              <a:t>が </a:t>
            </a:r>
            <a:r>
              <a:rPr lang="en-US" altLang="ja-JP" dirty="0">
                <a:solidFill>
                  <a:schemeClr val="accent5"/>
                </a:solidFill>
                <a:latin typeface="Consolas" panose="020B0609020204030204" pitchFamily="49" charset="0"/>
              </a:rPr>
              <a:t>g </a:t>
            </a:r>
            <a:r>
              <a:rPr lang="ja-JP" altLang="en-US" dirty="0">
                <a:solidFill>
                  <a:schemeClr val="accent5"/>
                </a:solidFill>
                <a:latin typeface="Consolas" panose="020B0609020204030204" pitchFamily="49" charset="0"/>
              </a:rPr>
              <a:t>を指している可能性がある</a:t>
            </a:r>
            <a:br>
              <a:rPr lang="en-US" altLang="ja-JP" dirty="0">
                <a:latin typeface="Consolas" panose="020B0609020204030204" pitchFamily="49" charset="0"/>
              </a:rPr>
            </a:br>
            <a:r>
              <a:rPr lang="en-US" altLang="ja-JP" dirty="0">
                <a:latin typeface="Consolas" panose="020B0609020204030204" pitchFamily="49" charset="0"/>
              </a:rPr>
              <a:t>    int </a:t>
            </a:r>
            <a:r>
              <a:rPr lang="en-US" altLang="ja-JP" dirty="0">
                <a:solidFill>
                  <a:schemeClr val="accent5"/>
                </a:solidFill>
                <a:latin typeface="Consolas" panose="020B0609020204030204" pitchFamily="49" charset="0"/>
              </a:rPr>
              <a:t>c</a:t>
            </a:r>
            <a:r>
              <a:rPr lang="en-US" altLang="ja-JP" dirty="0">
                <a:latin typeface="Consolas" panose="020B0609020204030204" pitchFamily="49" charset="0"/>
              </a:rPr>
              <a:t> = (*</a:t>
            </a:r>
            <a:r>
              <a:rPr lang="en-US" altLang="ja-JP" dirty="0" err="1">
                <a:latin typeface="Consolas" panose="020B0609020204030204" pitchFamily="49" charset="0"/>
              </a:rPr>
              <a:t>ptr</a:t>
            </a:r>
            <a:r>
              <a:rPr lang="en-US" altLang="ja-JP" dirty="0">
                <a:latin typeface="Consolas" panose="020B0609020204030204" pitchFamily="49" charset="0"/>
              </a:rPr>
              <a:t>) - 1;</a:t>
            </a:r>
            <a:endParaRPr lang="en-US" altLang="ja-JP" dirty="0">
              <a:solidFill>
                <a:schemeClr val="accent5"/>
              </a:solidFill>
              <a:latin typeface="Consolas" panose="020B0609020204030204" pitchFamily="49" charset="0"/>
            </a:endParaRPr>
          </a:p>
        </p:txBody>
      </p:sp>
    </p:spTree>
    <p:extLst>
      <p:ext uri="{BB962C8B-B14F-4D97-AF65-F5344CB8AC3E}">
        <p14:creationId xmlns:p14="http://schemas.microsoft.com/office/powerpoint/2010/main" val="1295148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互換性がとりにくい</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静的に </a:t>
            </a:r>
            <a:r>
              <a:rPr kumimoji="1" lang="en-US" altLang="ja-JP" dirty="0"/>
              <a:t>CPU </a:t>
            </a:r>
            <a:r>
              <a:rPr kumimoji="1" lang="ja-JP" altLang="en-US" dirty="0"/>
              <a:t>の挙動を仮定して命令をスケジュールする</a:t>
            </a:r>
            <a:endParaRPr kumimoji="1" lang="en-US" altLang="ja-JP" dirty="0"/>
          </a:p>
          <a:p>
            <a:pPr lvl="1"/>
            <a:r>
              <a:rPr lang="en-US" altLang="ja-JP" dirty="0"/>
              <a:t>= </a:t>
            </a:r>
            <a:r>
              <a:rPr lang="ja-JP" altLang="en-US" dirty="0"/>
              <a:t>その仮定をくずれるとまずい</a:t>
            </a:r>
            <a:endParaRPr lang="en-US" altLang="ja-JP" dirty="0"/>
          </a:p>
          <a:p>
            <a:r>
              <a:rPr lang="ja-JP" altLang="en-US" dirty="0"/>
              <a:t>要因：</a:t>
            </a:r>
            <a:endParaRPr lang="en-US" altLang="ja-JP" dirty="0"/>
          </a:p>
          <a:p>
            <a:pPr marL="817200" lvl="1" indent="-457200">
              <a:buFont typeface="+mj-lt"/>
              <a:buAutoNum type="arabicPeriod"/>
            </a:pPr>
            <a:r>
              <a:rPr kumimoji="1" lang="ja-JP" altLang="en-US" dirty="0"/>
              <a:t>並列実行幅が固定されている</a:t>
            </a:r>
            <a:endParaRPr kumimoji="1" lang="en-US" altLang="ja-JP" dirty="0"/>
          </a:p>
          <a:p>
            <a:pPr marL="817200" lvl="1" indent="-457200">
              <a:buFont typeface="+mj-lt"/>
              <a:buAutoNum type="arabicPeriod"/>
            </a:pPr>
            <a:r>
              <a:rPr kumimoji="1" lang="ja-JP" altLang="en-US" dirty="0"/>
              <a:t>実行タイミングを仮定してスケジュールされている</a:t>
            </a:r>
            <a:endParaRPr kumimoji="1" lang="en-US" altLang="ja-JP" dirty="0"/>
          </a:p>
        </p:txBody>
      </p:sp>
    </p:spTree>
    <p:extLst>
      <p:ext uri="{BB962C8B-B14F-4D97-AF65-F5344CB8AC3E}">
        <p14:creationId xmlns:p14="http://schemas.microsoft.com/office/powerpoint/2010/main" val="13564981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1. </a:t>
            </a:r>
            <a:r>
              <a:rPr lang="ja-JP" altLang="en-US" dirty="0"/>
              <a:t>並列実行幅が固定されている</a:t>
            </a:r>
          </a:p>
        </p:txBody>
      </p:sp>
      <p:sp>
        <p:nvSpPr>
          <p:cNvPr id="3" name="テキスト プレースホルダー 2"/>
          <p:cNvSpPr>
            <a:spLocks noGrp="1"/>
          </p:cNvSpPr>
          <p:nvPr>
            <p:ph type="body" sz="quarter" idx="10"/>
          </p:nvPr>
        </p:nvSpPr>
        <p:spPr/>
        <p:txBody>
          <a:bodyPr/>
          <a:lstStyle/>
          <a:p>
            <a:r>
              <a:rPr kumimoji="1" lang="ja-JP" altLang="en-US" dirty="0"/>
              <a:t>仕様として「</a:t>
            </a:r>
            <a:r>
              <a:rPr kumimoji="1" lang="en-US" altLang="ja-JP" dirty="0"/>
              <a:t>N </a:t>
            </a:r>
            <a:r>
              <a:rPr kumimoji="1" lang="ja-JP" altLang="en-US" dirty="0"/>
              <a:t>命令相当を１つの </a:t>
            </a:r>
            <a:r>
              <a:rPr kumimoji="1" lang="en-US" altLang="ja-JP" dirty="0"/>
              <a:t>VLIW </a:t>
            </a:r>
            <a:r>
              <a:rPr kumimoji="1" lang="ja-JP" altLang="en-US" dirty="0"/>
              <a:t>命令</a:t>
            </a:r>
            <a:r>
              <a:rPr kumimoji="1" lang="en-US" altLang="ja-JP" dirty="0"/>
              <a:t> </a:t>
            </a:r>
            <a:r>
              <a:rPr kumimoji="1" lang="ja-JP" altLang="en-US" dirty="0"/>
              <a:t>とする」としている</a:t>
            </a:r>
            <a:endParaRPr kumimoji="1" lang="en-US" altLang="ja-JP" dirty="0"/>
          </a:p>
          <a:p>
            <a:pPr lvl="1"/>
            <a:r>
              <a:rPr lang="ja-JP" altLang="en-US" dirty="0"/>
              <a:t>性能を上げるために </a:t>
            </a:r>
            <a:r>
              <a:rPr lang="en-US" altLang="ja-JP" dirty="0"/>
              <a:t>N </a:t>
            </a:r>
            <a:r>
              <a:rPr lang="ja-JP" altLang="en-US" dirty="0"/>
              <a:t>を後から増やそうと思っても増やせない</a:t>
            </a:r>
            <a:endParaRPr lang="en-US" altLang="ja-JP" dirty="0"/>
          </a:p>
          <a:p>
            <a:pPr lvl="1"/>
            <a:r>
              <a:rPr kumimoji="1" lang="ja-JP" altLang="en-US" dirty="0"/>
              <a:t>既存のコードが動かなくなってしまう</a:t>
            </a:r>
            <a:endParaRPr kumimoji="1" lang="en-US" altLang="ja-JP" dirty="0"/>
          </a:p>
          <a:p>
            <a:r>
              <a:rPr lang="ja-JP" altLang="en-US" dirty="0">
                <a:latin typeface="Consolas" panose="020B0609020204030204" pitchFamily="49" charset="0"/>
              </a:rPr>
              <a:t>たとえば </a:t>
            </a:r>
            <a:r>
              <a:rPr lang="en-US" altLang="ja-JP" dirty="0">
                <a:latin typeface="Consolas" panose="020B0609020204030204" pitchFamily="49" charset="0"/>
              </a:rPr>
              <a:t>N </a:t>
            </a:r>
            <a:r>
              <a:rPr lang="ja-JP" altLang="en-US" dirty="0">
                <a:latin typeface="Consolas" panose="020B0609020204030204" pitchFamily="49" charset="0"/>
              </a:rPr>
              <a:t>を </a:t>
            </a:r>
            <a:r>
              <a:rPr lang="en-US" altLang="ja-JP" dirty="0">
                <a:latin typeface="Consolas" panose="020B0609020204030204" pitchFamily="49" charset="0"/>
              </a:rPr>
              <a:t>2 </a:t>
            </a:r>
            <a:r>
              <a:rPr lang="ja-JP" altLang="en-US" dirty="0">
                <a:latin typeface="Consolas" panose="020B0609020204030204" pitchFamily="49" charset="0"/>
              </a:rPr>
              <a:t>から </a:t>
            </a:r>
            <a:r>
              <a:rPr lang="en-US" altLang="ja-JP" dirty="0">
                <a:latin typeface="Consolas" panose="020B0609020204030204" pitchFamily="49" charset="0"/>
              </a:rPr>
              <a:t>4 </a:t>
            </a:r>
            <a:r>
              <a:rPr lang="ja-JP" altLang="en-US" dirty="0">
                <a:latin typeface="Consolas" panose="020B0609020204030204" pitchFamily="49" charset="0"/>
              </a:rPr>
              <a:t>にすると互換性がとれない</a:t>
            </a:r>
            <a:endParaRPr lang="en-US" altLang="ja-JP" dirty="0">
              <a:latin typeface="Consolas" panose="020B0609020204030204" pitchFamily="49" charset="0"/>
            </a:endParaRPr>
          </a:p>
          <a:p>
            <a:pPr lvl="1"/>
            <a:r>
              <a:rPr lang="en-US" altLang="ja-JP" dirty="0">
                <a:latin typeface="Consolas" panose="020B0609020204030204" pitchFamily="49" charset="0"/>
              </a:rPr>
              <a:t>I1: add </a:t>
            </a:r>
            <a:r>
              <a:rPr lang="en-US" altLang="ja-JP"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x1+1		I1: add </a:t>
            </a:r>
            <a:r>
              <a:rPr lang="en-US" altLang="ja-JP"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x1+1</a:t>
            </a:r>
            <a:br>
              <a:rPr lang="en-US" altLang="ja-JP" dirty="0">
                <a:latin typeface="Consolas" panose="020B0609020204030204" pitchFamily="49" charset="0"/>
              </a:rPr>
            </a:br>
            <a:r>
              <a:rPr lang="en-US" altLang="ja-JP" dirty="0">
                <a:latin typeface="Consolas" panose="020B0609020204030204" pitchFamily="49" charset="0"/>
              </a:rPr>
              <a:t>    add </a:t>
            </a:r>
            <a:r>
              <a:rPr lang="en-US" altLang="ja-JP" dirty="0">
                <a:solidFill>
                  <a:schemeClr val="accent6"/>
                </a:solidFill>
                <a:latin typeface="Consolas" panose="020B0609020204030204" pitchFamily="49" charset="0"/>
              </a:rPr>
              <a:t>x2</a:t>
            </a:r>
            <a:r>
              <a:rPr lang="ja-JP" altLang="en-US" dirty="0">
                <a:latin typeface="Consolas" panose="020B0609020204030204" pitchFamily="49" charset="0"/>
              </a:rPr>
              <a:t>←</a:t>
            </a:r>
            <a:r>
              <a:rPr lang="en-US" altLang="ja-JP" dirty="0">
                <a:latin typeface="Consolas" panose="020B0609020204030204" pitchFamily="49" charset="0"/>
              </a:rPr>
              <a:t>x2+1		    add </a:t>
            </a:r>
            <a:r>
              <a:rPr lang="en-US" altLang="ja-JP" dirty="0">
                <a:solidFill>
                  <a:schemeClr val="accent6"/>
                </a:solidFill>
                <a:latin typeface="Consolas" panose="020B0609020204030204" pitchFamily="49" charset="0"/>
              </a:rPr>
              <a:t>x2</a:t>
            </a:r>
            <a:r>
              <a:rPr lang="ja-JP" altLang="en-US" dirty="0">
                <a:latin typeface="Consolas" panose="020B0609020204030204" pitchFamily="49" charset="0"/>
              </a:rPr>
              <a:t>←</a:t>
            </a:r>
            <a:r>
              <a:rPr lang="en-US" altLang="ja-JP" dirty="0">
                <a:latin typeface="Consolas" panose="020B0609020204030204" pitchFamily="49" charset="0"/>
              </a:rPr>
              <a:t>x2+1</a:t>
            </a:r>
            <a:br>
              <a:rPr lang="en-US" altLang="ja-JP" dirty="0">
                <a:latin typeface="Consolas" panose="020B0609020204030204" pitchFamily="49" charset="0"/>
              </a:rPr>
            </a:br>
            <a:r>
              <a:rPr lang="en-US" altLang="ja-JP" dirty="0">
                <a:latin typeface="Consolas" panose="020B0609020204030204" pitchFamily="49" charset="0"/>
              </a:rPr>
              <a:t>I2: sub x1</a:t>
            </a:r>
            <a:r>
              <a:rPr lang="ja-JP" altLang="en-US" dirty="0">
                <a:latin typeface="Consolas" panose="020B0609020204030204" pitchFamily="49" charset="0"/>
              </a:rPr>
              <a:t>←</a:t>
            </a:r>
            <a:r>
              <a:rPr lang="en-US" altLang="ja-JP" dirty="0">
                <a:solidFill>
                  <a:schemeClr val="accent5"/>
                </a:solidFill>
                <a:latin typeface="Consolas" panose="020B0609020204030204" pitchFamily="49" charset="0"/>
              </a:rPr>
              <a:t>x1-1</a:t>
            </a:r>
            <a:r>
              <a:rPr lang="en-US" altLang="ja-JP" dirty="0">
                <a:latin typeface="Consolas" panose="020B0609020204030204" pitchFamily="49" charset="0"/>
              </a:rPr>
              <a:t>		    sub x1</a:t>
            </a:r>
            <a:r>
              <a:rPr lang="ja-JP" altLang="en-US" dirty="0">
                <a:latin typeface="Consolas" panose="020B0609020204030204" pitchFamily="49" charset="0"/>
              </a:rPr>
              <a:t>←</a:t>
            </a:r>
            <a:r>
              <a:rPr lang="en-US" altLang="ja-JP" dirty="0">
                <a:solidFill>
                  <a:schemeClr val="accent5"/>
                </a:solidFill>
                <a:latin typeface="Consolas" panose="020B0609020204030204" pitchFamily="49" charset="0"/>
              </a:rPr>
              <a:t>x1</a:t>
            </a:r>
            <a:r>
              <a:rPr lang="en-US" altLang="ja-JP" dirty="0">
                <a:latin typeface="Consolas" panose="020B0609020204030204" pitchFamily="49" charset="0"/>
              </a:rPr>
              <a:t>-1</a:t>
            </a:r>
            <a:br>
              <a:rPr lang="en-US" altLang="ja-JP" dirty="0">
                <a:latin typeface="Consolas" panose="020B0609020204030204" pitchFamily="49" charset="0"/>
              </a:rPr>
            </a:br>
            <a:r>
              <a:rPr lang="en-US" altLang="ja-JP" dirty="0">
                <a:latin typeface="Consolas" panose="020B0609020204030204" pitchFamily="49" charset="0"/>
              </a:rPr>
              <a:t>    sub x2</a:t>
            </a:r>
            <a:r>
              <a:rPr lang="ja-JP" altLang="en-US" dirty="0">
                <a:latin typeface="Consolas" panose="020B0609020204030204" pitchFamily="49" charset="0"/>
              </a:rPr>
              <a:t>←</a:t>
            </a:r>
            <a:r>
              <a:rPr lang="en-US" altLang="ja-JP" dirty="0">
                <a:solidFill>
                  <a:schemeClr val="accent6"/>
                </a:solidFill>
                <a:latin typeface="Consolas" panose="020B0609020204030204" pitchFamily="49" charset="0"/>
              </a:rPr>
              <a:t>x2-1</a:t>
            </a:r>
            <a:r>
              <a:rPr lang="en-US" altLang="ja-JP" dirty="0">
                <a:latin typeface="Consolas" panose="020B0609020204030204" pitchFamily="49" charset="0"/>
              </a:rPr>
              <a:t>		    sub x2</a:t>
            </a:r>
            <a:r>
              <a:rPr lang="ja-JP" altLang="en-US" dirty="0">
                <a:latin typeface="Consolas" panose="020B0609020204030204" pitchFamily="49" charset="0"/>
              </a:rPr>
              <a:t>←</a:t>
            </a:r>
            <a:r>
              <a:rPr lang="en-US" altLang="ja-JP" dirty="0">
                <a:solidFill>
                  <a:schemeClr val="accent6"/>
                </a:solidFill>
                <a:latin typeface="Consolas" panose="020B0609020204030204" pitchFamily="49" charset="0"/>
              </a:rPr>
              <a:t>x2</a:t>
            </a:r>
            <a:r>
              <a:rPr lang="en-US" altLang="ja-JP" dirty="0">
                <a:latin typeface="Consolas" panose="020B0609020204030204" pitchFamily="49" charset="0"/>
              </a:rPr>
              <a:t>-1</a:t>
            </a:r>
            <a:br>
              <a:rPr lang="en-US" altLang="ja-JP" dirty="0">
                <a:latin typeface="Consolas" panose="020B0609020204030204" pitchFamily="49" charset="0"/>
              </a:rPr>
            </a:br>
            <a:r>
              <a:rPr lang="ja-JP" altLang="en-US" dirty="0">
                <a:latin typeface="Consolas" panose="020B0609020204030204" pitchFamily="49" charset="0"/>
              </a:rPr>
              <a:t>ある </a:t>
            </a:r>
            <a:r>
              <a:rPr lang="en-US" altLang="ja-JP" dirty="0">
                <a:latin typeface="Consolas" panose="020B0609020204030204" pitchFamily="49" charset="0"/>
              </a:rPr>
              <a:t>VLIW </a:t>
            </a:r>
            <a:r>
              <a:rPr lang="ja-JP" altLang="en-US" dirty="0">
                <a:latin typeface="Consolas" panose="020B0609020204030204" pitchFamily="49" charset="0"/>
              </a:rPr>
              <a:t>バージョン１</a:t>
            </a:r>
            <a:r>
              <a:rPr lang="en-US" altLang="ja-JP" dirty="0">
                <a:latin typeface="Consolas" panose="020B0609020204030204" pitchFamily="49" charset="0"/>
              </a:rPr>
              <a:t>		</a:t>
            </a:r>
            <a:r>
              <a:rPr lang="ja-JP" altLang="en-US" dirty="0">
                <a:latin typeface="Consolas" panose="020B0609020204030204" pitchFamily="49" charset="0"/>
              </a:rPr>
              <a:t>ある </a:t>
            </a:r>
            <a:r>
              <a:rPr lang="en-US" altLang="ja-JP" dirty="0">
                <a:latin typeface="Consolas" panose="020B0609020204030204" pitchFamily="49" charset="0"/>
              </a:rPr>
              <a:t>VLIW </a:t>
            </a:r>
            <a:r>
              <a:rPr lang="ja-JP" altLang="en-US" dirty="0">
                <a:latin typeface="Consolas" panose="020B0609020204030204" pitchFamily="49" charset="0"/>
              </a:rPr>
              <a:t>バージョン２</a:t>
            </a:r>
            <a:br>
              <a:rPr lang="en-US" altLang="ja-JP" dirty="0">
                <a:latin typeface="Consolas" panose="020B0609020204030204" pitchFamily="49" charset="0"/>
              </a:rPr>
            </a:br>
            <a:r>
              <a:rPr lang="en-US" altLang="ja-JP" dirty="0">
                <a:latin typeface="Consolas" panose="020B0609020204030204" pitchFamily="49" charset="0"/>
              </a:rPr>
              <a:t>				</a:t>
            </a:r>
            <a:r>
              <a:rPr lang="ja-JP" altLang="en-US" dirty="0">
                <a:latin typeface="Consolas" panose="020B0609020204030204" pitchFamily="49" charset="0"/>
              </a:rPr>
              <a:t>そのまま実行すると仕様違反</a:t>
            </a:r>
            <a:endParaRPr lang="ja-JP" altLang="en-US" dirty="0"/>
          </a:p>
          <a:p>
            <a:endParaRPr kumimoji="1" lang="ja-JP" altLang="en-US" dirty="0"/>
          </a:p>
        </p:txBody>
      </p:sp>
      <p:sp>
        <p:nvSpPr>
          <p:cNvPr id="6" name="角丸四角形 5"/>
          <p:cNvSpPr/>
          <p:nvPr/>
        </p:nvSpPr>
        <p:spPr bwMode="auto">
          <a:xfrm>
            <a:off x="3035966" y="3339000"/>
            <a:ext cx="1800021" cy="630007"/>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角丸四角形 6"/>
          <p:cNvSpPr/>
          <p:nvPr/>
        </p:nvSpPr>
        <p:spPr bwMode="auto">
          <a:xfrm>
            <a:off x="3035966" y="4059007"/>
            <a:ext cx="1800020" cy="630007"/>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 name="角丸四角形 7"/>
          <p:cNvSpPr/>
          <p:nvPr/>
        </p:nvSpPr>
        <p:spPr bwMode="auto">
          <a:xfrm>
            <a:off x="6906009" y="3338999"/>
            <a:ext cx="1800020" cy="1350015"/>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9548033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2.</a:t>
            </a:r>
            <a:r>
              <a:rPr lang="ja-JP" altLang="en-US" dirty="0"/>
              <a:t>実行タイミングを仮定してスケジュールされている</a:t>
            </a:r>
            <a:endParaRPr kumimoji="1" lang="ja-JP" altLang="en-US" dirty="0"/>
          </a:p>
        </p:txBody>
      </p:sp>
      <p:sp>
        <p:nvSpPr>
          <p:cNvPr id="3" name="テキスト プレースホルダー 2"/>
          <p:cNvSpPr>
            <a:spLocks noGrp="1"/>
          </p:cNvSpPr>
          <p:nvPr>
            <p:ph type="body" sz="quarter" idx="10"/>
          </p:nvPr>
        </p:nvSpPr>
        <p:spPr>
          <a:xfrm>
            <a:off x="1775952" y="1088975"/>
            <a:ext cx="8640096" cy="2070023"/>
          </a:xfrm>
        </p:spPr>
        <p:txBody>
          <a:bodyPr/>
          <a:lstStyle/>
          <a:p>
            <a:r>
              <a:rPr lang="ja-JP" altLang="en-US" dirty="0"/>
              <a:t>複数サイクルかかる命令は，それに合わせてスケジュールされる</a:t>
            </a:r>
            <a:endParaRPr lang="en-US" altLang="ja-JP" dirty="0"/>
          </a:p>
          <a:p>
            <a:pPr lvl="1"/>
            <a:r>
              <a:rPr lang="ja-JP" altLang="en-US" dirty="0"/>
              <a:t>「</a:t>
            </a:r>
            <a:r>
              <a:rPr lang="en-US" altLang="ja-JP" dirty="0"/>
              <a:t>M </a:t>
            </a:r>
            <a:r>
              <a:rPr lang="ja-JP" altLang="en-US" dirty="0"/>
              <a:t>サイクル後に結果が使用できる」前提でパイプラインが</a:t>
            </a:r>
            <a:br>
              <a:rPr lang="en-US" altLang="ja-JP" dirty="0"/>
            </a:br>
            <a:r>
              <a:rPr lang="ja-JP" altLang="en-US" dirty="0"/>
              <a:t>止まらないように事前に命令が並べてある</a:t>
            </a:r>
            <a:endParaRPr lang="en-US" altLang="ja-JP" dirty="0"/>
          </a:p>
          <a:p>
            <a:r>
              <a:rPr kumimoji="1" lang="ja-JP" altLang="en-US" dirty="0"/>
              <a:t>以下では，</a:t>
            </a:r>
            <a:r>
              <a:rPr lang="en-US" altLang="ja-JP" dirty="0">
                <a:solidFill>
                  <a:schemeClr val="accent5"/>
                </a:solidFill>
                <a:latin typeface="Consolas" panose="020B0609020204030204" pitchFamily="49" charset="0"/>
              </a:rPr>
              <a:t>I1: </a:t>
            </a:r>
            <a:r>
              <a:rPr lang="en-US" altLang="ja-JP" dirty="0" err="1">
                <a:solidFill>
                  <a:schemeClr val="accent5"/>
                </a:solidFill>
                <a:latin typeface="Consolas" panose="020B0609020204030204" pitchFamily="49" charset="0"/>
              </a:rPr>
              <a:t>ld</a:t>
            </a:r>
            <a:r>
              <a:rPr lang="en-US" altLang="ja-JP" dirty="0">
                <a:latin typeface="Consolas" panose="020B0609020204030204" pitchFamily="49" charset="0"/>
              </a:rPr>
              <a:t> </a:t>
            </a:r>
            <a:r>
              <a:rPr kumimoji="1" lang="ja-JP" altLang="en-US" dirty="0"/>
              <a:t>の値が使えるタイミングで </a:t>
            </a:r>
            <a:r>
              <a:rPr lang="en-US" altLang="ja-JP" dirty="0">
                <a:solidFill>
                  <a:schemeClr val="accent5"/>
                </a:solidFill>
                <a:latin typeface="Consolas" panose="020B0609020204030204" pitchFamily="49" charset="0"/>
              </a:rPr>
              <a:t>I2</a:t>
            </a:r>
            <a:r>
              <a:rPr lang="en-US" altLang="ja-JP" dirty="0">
                <a:latin typeface="Consolas" panose="020B0609020204030204" pitchFamily="49" charset="0"/>
              </a:rPr>
              <a:t> </a:t>
            </a:r>
            <a:r>
              <a:rPr lang="ja-JP" altLang="en-US" dirty="0">
                <a:latin typeface="Consolas" panose="020B0609020204030204" pitchFamily="49" charset="0"/>
              </a:rPr>
              <a:t>が実行できるよう</a:t>
            </a:r>
            <a:br>
              <a:rPr lang="en-US" altLang="ja-JP" dirty="0">
                <a:latin typeface="Consolas" panose="020B0609020204030204" pitchFamily="49" charset="0"/>
              </a:rPr>
            </a:br>
            <a:r>
              <a:rPr lang="ja-JP" altLang="en-US" dirty="0">
                <a:latin typeface="Consolas" panose="020B0609020204030204" pitchFamily="49" charset="0"/>
              </a:rPr>
              <a:t>両者を離してある</a:t>
            </a:r>
            <a:endParaRPr kumimoji="1" lang="ja-JP" altLang="en-US" dirty="0"/>
          </a:p>
        </p:txBody>
      </p:sp>
      <p:grpSp>
        <p:nvGrpSpPr>
          <p:cNvPr id="4" name="グループ化 3"/>
          <p:cNvGrpSpPr/>
          <p:nvPr/>
        </p:nvGrpSpPr>
        <p:grpSpPr>
          <a:xfrm>
            <a:off x="2984126" y="4651774"/>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424286" y="4651774"/>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5864446" y="4651774"/>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7304606" y="4651774"/>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945966" y="3894526"/>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86126" y="3894526"/>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5828173" y="3913110"/>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7268333" y="3913110"/>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grpSp>
        <p:nvGrpSpPr>
          <p:cNvPr id="20" name="グループ化 19"/>
          <p:cNvGrpSpPr/>
          <p:nvPr/>
        </p:nvGrpSpPr>
        <p:grpSpPr>
          <a:xfrm>
            <a:off x="2984126" y="5281781"/>
            <a:ext cx="1562400" cy="576064"/>
            <a:chOff x="971600" y="5445224"/>
            <a:chExt cx="7200800" cy="576064"/>
          </a:xfrm>
        </p:grpSpPr>
        <p:sp>
          <p:nvSpPr>
            <p:cNvPr id="21" name="平行四辺形 2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2" name="平行四辺形 2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3" name="グループ化 22"/>
          <p:cNvGrpSpPr/>
          <p:nvPr/>
        </p:nvGrpSpPr>
        <p:grpSpPr>
          <a:xfrm>
            <a:off x="4424286" y="5281781"/>
            <a:ext cx="1562400" cy="576064"/>
            <a:chOff x="971600" y="5445224"/>
            <a:chExt cx="7200800" cy="576064"/>
          </a:xfrm>
        </p:grpSpPr>
        <p:sp>
          <p:nvSpPr>
            <p:cNvPr id="24" name="平行四辺形 23"/>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6" name="グループ化 25"/>
          <p:cNvGrpSpPr/>
          <p:nvPr/>
        </p:nvGrpSpPr>
        <p:grpSpPr>
          <a:xfrm>
            <a:off x="5864446" y="5281781"/>
            <a:ext cx="1562400" cy="576064"/>
            <a:chOff x="971600" y="5445224"/>
            <a:chExt cx="7200800" cy="576064"/>
          </a:xfrm>
        </p:grpSpPr>
        <p:sp>
          <p:nvSpPr>
            <p:cNvPr id="27" name="平行四辺形 26"/>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9" name="グループ化 28"/>
          <p:cNvGrpSpPr/>
          <p:nvPr/>
        </p:nvGrpSpPr>
        <p:grpSpPr>
          <a:xfrm>
            <a:off x="7304606" y="5281781"/>
            <a:ext cx="1584176" cy="576064"/>
            <a:chOff x="971600" y="5445224"/>
            <a:chExt cx="7200800" cy="576064"/>
          </a:xfrm>
        </p:grpSpPr>
        <p:sp>
          <p:nvSpPr>
            <p:cNvPr id="30" name="平行四辺形 29"/>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1" name="平行四辺形 30"/>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6" name="角丸四角形 35"/>
          <p:cNvSpPr/>
          <p:nvPr/>
        </p:nvSpPr>
        <p:spPr bwMode="auto">
          <a:xfrm>
            <a:off x="6186001"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I1: </a:t>
            </a:r>
            <a:r>
              <a:rPr lang="en-US" altLang="ja-JP" sz="1400" b="1" dirty="0" err="1">
                <a:latin typeface="Consolas" panose="020B0609020204030204" pitchFamily="49" charset="0"/>
              </a:rPr>
              <a:t>ld</a:t>
            </a:r>
            <a:r>
              <a:rPr lang="en-US" altLang="ja-JP" sz="1400" b="1" dirty="0">
                <a:latin typeface="Consolas" panose="020B0609020204030204" pitchFamily="49" charset="0"/>
              </a:rPr>
              <a:t> </a:t>
            </a:r>
            <a:br>
              <a:rPr lang="en-US" altLang="ja-JP" sz="1400" b="1" dirty="0">
                <a:latin typeface="Consolas" panose="020B0609020204030204" pitchFamily="49" charset="0"/>
              </a:rPr>
            </a:br>
            <a:r>
              <a:rPr lang="en-US" altLang="ja-JP" sz="1400" b="1" dirty="0">
                <a:solidFill>
                  <a:schemeClr val="tx2"/>
                </a:solidFill>
                <a:latin typeface="Consolas" panose="020B0609020204030204" pitchFamily="49" charset="0"/>
              </a:rPr>
              <a:t>x1</a:t>
            </a:r>
            <a:r>
              <a:rPr lang="ja-JP" altLang="en-US" sz="1400" b="1" dirty="0">
                <a:latin typeface="Consolas" panose="020B0609020204030204" pitchFamily="49" charset="0"/>
              </a:rPr>
              <a:t>←</a:t>
            </a:r>
            <a:r>
              <a:rPr lang="en-US" altLang="ja-JP" sz="1400" b="1" dirty="0">
                <a:latin typeface="Consolas" panose="020B0609020204030204" pitchFamily="49" charset="0"/>
              </a:rPr>
              <a:t>[...]</a:t>
            </a:r>
            <a:endParaRPr lang="ja-JP" altLang="en-US" sz="1400" b="1" dirty="0">
              <a:latin typeface="Consolas" panose="020B0609020204030204" pitchFamily="49" charset="0"/>
            </a:endParaRPr>
          </a:p>
        </p:txBody>
      </p:sp>
      <p:sp>
        <p:nvSpPr>
          <p:cNvPr id="37" name="角丸四角形 36"/>
          <p:cNvSpPr/>
          <p:nvPr/>
        </p:nvSpPr>
        <p:spPr bwMode="auto">
          <a:xfrm>
            <a:off x="4745985"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x1 </a:t>
            </a:r>
            <a:r>
              <a:rPr lang="ja-JP" altLang="en-US" sz="1400" b="1" dirty="0">
                <a:latin typeface="Consolas" panose="020B0609020204030204" pitchFamily="49" charset="0"/>
              </a:rPr>
              <a:t>と</a:t>
            </a:r>
            <a:br>
              <a:rPr lang="en-US" altLang="ja-JP" sz="1400" b="1" dirty="0">
                <a:latin typeface="Consolas" panose="020B0609020204030204" pitchFamily="49" charset="0"/>
              </a:rPr>
            </a:br>
            <a:r>
              <a:rPr lang="ja-JP" altLang="en-US" sz="1400" b="1" dirty="0">
                <a:latin typeface="Consolas" panose="020B0609020204030204" pitchFamily="49" charset="0"/>
              </a:rPr>
              <a:t>関係ない</a:t>
            </a:r>
          </a:p>
        </p:txBody>
      </p:sp>
      <p:sp>
        <p:nvSpPr>
          <p:cNvPr id="38" name="角丸四角形 37"/>
          <p:cNvSpPr/>
          <p:nvPr/>
        </p:nvSpPr>
        <p:spPr bwMode="auto">
          <a:xfrm>
            <a:off x="3305969"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I2: sub</a:t>
            </a:r>
            <a:br>
              <a:rPr lang="en-US" altLang="ja-JP" sz="1400" b="1" dirty="0">
                <a:latin typeface="Consolas" panose="020B0609020204030204" pitchFamily="49" charset="0"/>
              </a:rPr>
            </a:br>
            <a:r>
              <a:rPr lang="en-US" altLang="ja-JP" sz="1400" b="1" dirty="0">
                <a:latin typeface="Consolas" panose="020B0609020204030204" pitchFamily="49" charset="0"/>
              </a:rPr>
              <a:t>x1</a:t>
            </a:r>
            <a:r>
              <a:rPr lang="ja-JP" altLang="en-US" sz="1400" b="1" dirty="0">
                <a:latin typeface="Consolas" panose="020B0609020204030204" pitchFamily="49" charset="0"/>
              </a:rPr>
              <a:t>←</a:t>
            </a:r>
            <a:r>
              <a:rPr lang="en-US" altLang="ja-JP" sz="1400" b="1" dirty="0">
                <a:solidFill>
                  <a:schemeClr val="tx2"/>
                </a:solidFill>
                <a:latin typeface="Consolas" panose="020B0609020204030204" pitchFamily="49" charset="0"/>
              </a:rPr>
              <a:t>x1</a:t>
            </a:r>
            <a:r>
              <a:rPr lang="en-US" altLang="ja-JP" sz="1400" b="1" dirty="0">
                <a:latin typeface="Consolas" panose="020B0609020204030204" pitchFamily="49" charset="0"/>
              </a:rPr>
              <a:t>-1</a:t>
            </a:r>
            <a:endParaRPr lang="ja-JP" altLang="en-US" sz="1400" b="1" dirty="0">
              <a:latin typeface="Consolas" panose="020B0609020204030204" pitchFamily="49" charset="0"/>
            </a:endParaRPr>
          </a:p>
        </p:txBody>
      </p:sp>
      <p:sp>
        <p:nvSpPr>
          <p:cNvPr id="39" name="角丸四角形 38"/>
          <p:cNvSpPr/>
          <p:nvPr/>
        </p:nvSpPr>
        <p:spPr bwMode="auto">
          <a:xfrm>
            <a:off x="3305969"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endParaRPr lang="ja-JP" altLang="en-US" sz="1400" b="1" dirty="0">
              <a:latin typeface="Consolas" panose="020B0609020204030204" pitchFamily="49" charset="0"/>
            </a:endParaRPr>
          </a:p>
        </p:txBody>
      </p:sp>
      <p:sp>
        <p:nvSpPr>
          <p:cNvPr id="40" name="角丸四角形吹き出し 39"/>
          <p:cNvSpPr/>
          <p:nvPr/>
        </p:nvSpPr>
        <p:spPr bwMode="auto">
          <a:xfrm>
            <a:off x="6456004" y="3339000"/>
            <a:ext cx="2430028" cy="612648"/>
          </a:xfrm>
          <a:prstGeom prst="wedgeRoundRectCallout">
            <a:avLst>
              <a:gd name="adj1" fmla="val -46291"/>
              <a:gd name="adj2" fmla="val 103500"/>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値が取れるのに</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２サイクルかかるよ</a:t>
            </a:r>
          </a:p>
        </p:txBody>
      </p:sp>
      <p:sp>
        <p:nvSpPr>
          <p:cNvPr id="44" name="角丸四角形吹き出し 43"/>
          <p:cNvSpPr/>
          <p:nvPr/>
        </p:nvSpPr>
        <p:spPr bwMode="auto">
          <a:xfrm>
            <a:off x="3485972" y="3338999"/>
            <a:ext cx="2520028" cy="612648"/>
          </a:xfrm>
          <a:prstGeom prst="wedgeRoundRectCallout">
            <a:avLst>
              <a:gd name="adj1" fmla="val -46291"/>
              <a:gd name="adj2" fmla="val 10350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タイミングばっちり</a:t>
            </a:r>
            <a:r>
              <a:rPr lang="ja-JP" altLang="en-US" dirty="0" err="1">
                <a:solidFill>
                  <a:schemeClr val="tx1">
                    <a:lumMod val="65000"/>
                    <a:lumOff val="35000"/>
                  </a:schemeClr>
                </a:solidFill>
                <a:latin typeface="Arial Narrow" panose="020B0606020202030204" pitchFamily="34" charset="0"/>
              </a:rPr>
              <a:t>や</a:t>
            </a:r>
            <a:endParaRPr lang="en-US" altLang="ja-JP" dirty="0">
              <a:solidFill>
                <a:schemeClr val="tx1">
                  <a:lumMod val="65000"/>
                  <a:lumOff val="35000"/>
                </a:schemeClr>
              </a:solidFill>
              <a:latin typeface="Arial Narrow" panose="020B0606020202030204" pitchFamily="34" charset="0"/>
            </a:endParaRPr>
          </a:p>
        </p:txBody>
      </p:sp>
      <p:sp>
        <p:nvSpPr>
          <p:cNvPr id="46" name="角丸四角形 45"/>
          <p:cNvSpPr/>
          <p:nvPr/>
        </p:nvSpPr>
        <p:spPr bwMode="auto">
          <a:xfrm>
            <a:off x="6186001"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endParaRPr lang="ja-JP" altLang="en-US" sz="1400" b="1" dirty="0">
              <a:latin typeface="Consolas" panose="020B0609020204030204" pitchFamily="49" charset="0"/>
            </a:endParaRPr>
          </a:p>
        </p:txBody>
      </p:sp>
      <p:sp>
        <p:nvSpPr>
          <p:cNvPr id="47" name="角丸四角形 46"/>
          <p:cNvSpPr/>
          <p:nvPr/>
        </p:nvSpPr>
        <p:spPr bwMode="auto">
          <a:xfrm>
            <a:off x="4745985"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a:latin typeface="Consolas" panose="020B0609020204030204" pitchFamily="49" charset="0"/>
              </a:rPr>
              <a:t>x1 </a:t>
            </a:r>
            <a:r>
              <a:rPr lang="ja-JP" altLang="en-US" sz="1400" b="1">
                <a:latin typeface="Consolas" panose="020B0609020204030204" pitchFamily="49" charset="0"/>
              </a:rPr>
              <a:t>と</a:t>
            </a:r>
            <a:br>
              <a:rPr lang="en-US" altLang="ja-JP" sz="1400" b="1">
                <a:latin typeface="Consolas" panose="020B0609020204030204" pitchFamily="49" charset="0"/>
              </a:rPr>
            </a:br>
            <a:r>
              <a:rPr lang="ja-JP" altLang="en-US" sz="1400" b="1">
                <a:latin typeface="Consolas" panose="020B0609020204030204" pitchFamily="49" charset="0"/>
              </a:rPr>
              <a:t>関係ない</a:t>
            </a:r>
            <a:endParaRPr lang="ja-JP" altLang="en-US" sz="1400" b="1" dirty="0">
              <a:latin typeface="Consolas" panose="020B0609020204030204" pitchFamily="49" charset="0"/>
            </a:endParaRPr>
          </a:p>
        </p:txBody>
      </p:sp>
      <p:cxnSp>
        <p:nvCxnSpPr>
          <p:cNvPr id="41" name="直線矢印コネクタ 40"/>
          <p:cNvCxnSpPr/>
          <p:nvPr/>
        </p:nvCxnSpPr>
        <p:spPr bwMode="auto">
          <a:xfrm flipH="1">
            <a:off x="3935977" y="4959017"/>
            <a:ext cx="2340027" cy="0"/>
          </a:xfrm>
          <a:prstGeom prst="straightConnector1">
            <a:avLst/>
          </a:prstGeom>
          <a:ln>
            <a:solidFill>
              <a:schemeClr val="tx2"/>
            </a:solidFill>
            <a:headEnd type="none" w="med" len="med"/>
            <a:tailEnd type="triangle"/>
          </a:ln>
        </p:spPr>
        <p:style>
          <a:lnRef idx="3">
            <a:schemeClr val="accent6"/>
          </a:lnRef>
          <a:fillRef idx="0">
            <a:schemeClr val="accent6"/>
          </a:fillRef>
          <a:effectRef idx="2">
            <a:schemeClr val="accent6"/>
          </a:effectRef>
          <a:fontRef idx="minor">
            <a:schemeClr val="tx1"/>
          </a:fontRef>
        </p:style>
      </p:cxnSp>
      <p:cxnSp>
        <p:nvCxnSpPr>
          <p:cNvPr id="49" name="直線矢印コネクタ 48"/>
          <p:cNvCxnSpPr/>
          <p:nvPr/>
        </p:nvCxnSpPr>
        <p:spPr bwMode="auto">
          <a:xfrm flipH="1">
            <a:off x="4025978" y="6129030"/>
            <a:ext cx="2340027"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50" name="角丸四角形吹き出し 49"/>
          <p:cNvSpPr/>
          <p:nvPr/>
        </p:nvSpPr>
        <p:spPr bwMode="auto">
          <a:xfrm>
            <a:off x="4475982" y="621903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accent5"/>
                </a:solidFill>
                <a:latin typeface="Arial Narrow" panose="020B0606020202030204" pitchFamily="34" charset="0"/>
              </a:rPr>
              <a:t>2</a:t>
            </a:r>
            <a:r>
              <a:rPr lang="ja-JP" altLang="en-US" dirty="0">
                <a:solidFill>
                  <a:schemeClr val="accent5"/>
                </a:solidFill>
                <a:latin typeface="Arial Narrow" panose="020B0606020202030204" pitchFamily="34" charset="0"/>
              </a:rPr>
              <a:t>サイクル分</a:t>
            </a:r>
          </a:p>
        </p:txBody>
      </p:sp>
    </p:spTree>
    <p:extLst>
      <p:ext uri="{BB962C8B-B14F-4D97-AF65-F5344CB8AC3E}">
        <p14:creationId xmlns:p14="http://schemas.microsoft.com/office/powerpoint/2010/main" val="32967283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775952" y="0"/>
            <a:ext cx="8892048" cy="908972"/>
          </a:xfrm>
        </p:spPr>
        <p:txBody>
          <a:bodyPr/>
          <a:lstStyle/>
          <a:p>
            <a:r>
              <a:rPr lang="en-US" altLang="ja-JP" dirty="0"/>
              <a:t>2. </a:t>
            </a:r>
            <a:r>
              <a:rPr lang="ja-JP" altLang="en-US" dirty="0"/>
              <a:t>実行タイミングを仮定してスケジュールされている</a:t>
            </a:r>
            <a:endParaRPr kumimoji="1" lang="ja-JP" altLang="en-US" dirty="0"/>
          </a:p>
        </p:txBody>
      </p:sp>
      <p:sp>
        <p:nvSpPr>
          <p:cNvPr id="3" name="テキスト プレースホルダー 2"/>
          <p:cNvSpPr>
            <a:spLocks noGrp="1"/>
          </p:cNvSpPr>
          <p:nvPr>
            <p:ph type="body" sz="quarter" idx="10"/>
          </p:nvPr>
        </p:nvSpPr>
        <p:spPr/>
        <p:txBody>
          <a:bodyPr/>
          <a:lstStyle/>
          <a:p>
            <a:r>
              <a:rPr lang="en-US" altLang="ja-JP" dirty="0"/>
              <a:t>M </a:t>
            </a:r>
            <a:r>
              <a:rPr lang="ja-JP" altLang="en-US" dirty="0"/>
              <a:t>を変化させにくい</a:t>
            </a:r>
            <a:endParaRPr lang="en-US" altLang="ja-JP" dirty="0"/>
          </a:p>
          <a:p>
            <a:pPr marL="817200" lvl="1" indent="-457200">
              <a:buFont typeface="+mj-lt"/>
              <a:buAutoNum type="arabicPeriod"/>
            </a:pPr>
            <a:r>
              <a:rPr lang="ja-JP" altLang="en-US" dirty="0"/>
              <a:t>短くなる </a:t>
            </a:r>
            <a:r>
              <a:rPr lang="en-US" altLang="ja-JP" dirty="0"/>
              <a:t>= </a:t>
            </a:r>
            <a:r>
              <a:rPr lang="ja-JP" altLang="en-US" dirty="0"/>
              <a:t>既存のコードは恩恵を受けられない</a:t>
            </a:r>
            <a:endParaRPr lang="en-US" altLang="ja-JP" dirty="0"/>
          </a:p>
          <a:p>
            <a:pPr marL="817200" lvl="1" indent="-457200">
              <a:buFont typeface="+mj-lt"/>
              <a:buAutoNum type="arabicPeriod"/>
            </a:pPr>
            <a:r>
              <a:rPr lang="ja-JP" altLang="en-US" dirty="0"/>
              <a:t>長くなる </a:t>
            </a:r>
            <a:r>
              <a:rPr lang="en-US" altLang="ja-JP" dirty="0"/>
              <a:t>= </a:t>
            </a:r>
            <a:r>
              <a:rPr lang="ja-JP" altLang="en-US" dirty="0"/>
              <a:t>毎回バブルが発生して性能が</a:t>
            </a:r>
            <a:r>
              <a:rPr lang="ja-JP" altLang="en-US" dirty="0" err="1"/>
              <a:t>がた</a:t>
            </a:r>
            <a:r>
              <a:rPr lang="ja-JP" altLang="en-US" dirty="0"/>
              <a:t>おちする</a:t>
            </a:r>
            <a:endParaRPr lang="en-US" altLang="ja-JP" dirty="0"/>
          </a:p>
          <a:p>
            <a:pPr lvl="2"/>
            <a:r>
              <a:rPr lang="ja-JP" altLang="en-US" dirty="0"/>
              <a:t>想定したタイミングに入力が揃わない</a:t>
            </a:r>
            <a:endParaRPr lang="en-US" altLang="ja-JP" dirty="0"/>
          </a:p>
          <a:p>
            <a:r>
              <a:rPr lang="ja-JP" altLang="en-US" dirty="0"/>
              <a:t>たとえば，次世代の以下のような </a:t>
            </a:r>
            <a:r>
              <a:rPr lang="en-US" altLang="ja-JP" dirty="0"/>
              <a:t>CPU </a:t>
            </a:r>
            <a:r>
              <a:rPr lang="ja-JP" altLang="en-US" dirty="0"/>
              <a:t>作る場合を考える：</a:t>
            </a:r>
            <a:endParaRPr lang="en-US" altLang="ja-JP" dirty="0"/>
          </a:p>
          <a:p>
            <a:pPr marL="817200" lvl="1" indent="-457200">
              <a:buFont typeface="+mj-lt"/>
              <a:buAutoNum type="arabicPeriod"/>
            </a:pPr>
            <a:r>
              <a:rPr lang="ja-JP" altLang="en-US" dirty="0"/>
              <a:t>乗算器を改良してレイテンシが短くなった</a:t>
            </a:r>
          </a:p>
          <a:p>
            <a:pPr marL="817200" lvl="1" indent="-457200">
              <a:buFont typeface="+mj-lt"/>
              <a:buAutoNum type="arabicPeriod"/>
            </a:pPr>
            <a:r>
              <a:rPr lang="ja-JP" altLang="en-US" dirty="0"/>
              <a:t>キャッシュを倍にしてヒット率をあげたがレイテンシが</a:t>
            </a:r>
            <a:br>
              <a:rPr lang="en-US" altLang="ja-JP" dirty="0"/>
            </a:br>
            <a:r>
              <a:rPr lang="ja-JP" altLang="en-US" dirty="0"/>
              <a:t>多少伸びた</a:t>
            </a:r>
            <a:endParaRPr lang="en-US" altLang="ja-JP" dirty="0"/>
          </a:p>
        </p:txBody>
      </p:sp>
    </p:spTree>
    <p:extLst>
      <p:ext uri="{BB962C8B-B14F-4D97-AF65-F5344CB8AC3E}">
        <p14:creationId xmlns:p14="http://schemas.microsoft.com/office/powerpoint/2010/main" val="40831117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775952" y="0"/>
            <a:ext cx="8892048" cy="908972"/>
          </a:xfrm>
        </p:spPr>
        <p:txBody>
          <a:bodyPr/>
          <a:lstStyle/>
          <a:p>
            <a:r>
              <a:rPr lang="ja-JP" altLang="en-US" dirty="0"/>
              <a:t>キャッシュのレイテンシが伸びた場合</a:t>
            </a:r>
          </a:p>
        </p:txBody>
      </p:sp>
      <p:sp>
        <p:nvSpPr>
          <p:cNvPr id="47" name="テキスト プレースホルダー 46"/>
          <p:cNvSpPr>
            <a:spLocks noGrp="1"/>
          </p:cNvSpPr>
          <p:nvPr>
            <p:ph type="body" sz="quarter" idx="10"/>
          </p:nvPr>
        </p:nvSpPr>
        <p:spPr>
          <a:xfrm>
            <a:off x="1955954" y="1088975"/>
            <a:ext cx="8280092" cy="1890021"/>
          </a:xfrm>
        </p:spPr>
        <p:txBody>
          <a:bodyPr/>
          <a:lstStyle/>
          <a:p>
            <a:r>
              <a:rPr kumimoji="1" lang="en-US" altLang="ja-JP" dirty="0" err="1"/>
              <a:t>ld</a:t>
            </a:r>
            <a:r>
              <a:rPr kumimoji="1" lang="en-US" altLang="ja-JP" dirty="0"/>
              <a:t> </a:t>
            </a:r>
            <a:r>
              <a:rPr kumimoji="1" lang="ja-JP" altLang="en-US" dirty="0"/>
              <a:t>のレイテンシが </a:t>
            </a:r>
            <a:r>
              <a:rPr kumimoji="1" lang="en-US" altLang="ja-JP" dirty="0"/>
              <a:t>2 </a:t>
            </a:r>
            <a:r>
              <a:rPr kumimoji="1" lang="ja-JP" altLang="en-US" dirty="0"/>
              <a:t>から </a:t>
            </a:r>
            <a:r>
              <a:rPr kumimoji="1" lang="en-US" altLang="ja-JP" dirty="0"/>
              <a:t>3 </a:t>
            </a:r>
            <a:r>
              <a:rPr kumimoji="1" lang="ja-JP" altLang="en-US" dirty="0"/>
              <a:t>に変更となった場合</a:t>
            </a:r>
            <a:endParaRPr kumimoji="1" lang="en-US" altLang="ja-JP" dirty="0"/>
          </a:p>
          <a:p>
            <a:pPr lvl="1"/>
            <a:r>
              <a:rPr kumimoji="1" lang="ja-JP" altLang="en-US" dirty="0"/>
              <a:t>２サイクルにジャストで合わせて </a:t>
            </a:r>
            <a:r>
              <a:rPr kumimoji="1" lang="en-US" altLang="ja-JP" dirty="0">
                <a:latin typeface="Consolas" panose="020B0609020204030204" pitchFamily="49" charset="0"/>
              </a:rPr>
              <a:t>I2 </a:t>
            </a:r>
            <a:r>
              <a:rPr kumimoji="1" lang="ja-JP" altLang="en-US" dirty="0">
                <a:latin typeface="Consolas" panose="020B0609020204030204" pitchFamily="49" charset="0"/>
              </a:rPr>
              <a:t>をスケジュールしておくと，</a:t>
            </a:r>
            <a:br>
              <a:rPr kumimoji="1" lang="en-US" altLang="ja-JP" dirty="0">
                <a:latin typeface="Consolas" panose="020B0609020204030204" pitchFamily="49" charset="0"/>
              </a:rPr>
            </a:br>
            <a:r>
              <a:rPr kumimoji="1" lang="ja-JP" altLang="en-US" dirty="0">
                <a:latin typeface="Consolas" panose="020B0609020204030204" pitchFamily="49" charset="0"/>
              </a:rPr>
              <a:t>毎回バブルが発生することに</a:t>
            </a:r>
          </a:p>
        </p:txBody>
      </p:sp>
      <p:grpSp>
        <p:nvGrpSpPr>
          <p:cNvPr id="4" name="グループ化 3"/>
          <p:cNvGrpSpPr/>
          <p:nvPr/>
        </p:nvGrpSpPr>
        <p:grpSpPr>
          <a:xfrm>
            <a:off x="2984126" y="4651774"/>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424286" y="4651774"/>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5864446" y="4651774"/>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7304606" y="4651774"/>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945966" y="3894526"/>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86126" y="3894526"/>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5828173" y="3913110"/>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7268333" y="3913110"/>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grpSp>
        <p:nvGrpSpPr>
          <p:cNvPr id="20" name="グループ化 19"/>
          <p:cNvGrpSpPr/>
          <p:nvPr/>
        </p:nvGrpSpPr>
        <p:grpSpPr>
          <a:xfrm>
            <a:off x="2984126" y="5281781"/>
            <a:ext cx="1562400" cy="576064"/>
            <a:chOff x="971600" y="5445224"/>
            <a:chExt cx="7200800" cy="576064"/>
          </a:xfrm>
        </p:grpSpPr>
        <p:sp>
          <p:nvSpPr>
            <p:cNvPr id="21" name="平行四辺形 2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2" name="平行四辺形 2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3" name="グループ化 22"/>
          <p:cNvGrpSpPr/>
          <p:nvPr/>
        </p:nvGrpSpPr>
        <p:grpSpPr>
          <a:xfrm>
            <a:off x="4424286" y="5281781"/>
            <a:ext cx="1562400" cy="576064"/>
            <a:chOff x="971600" y="5445224"/>
            <a:chExt cx="7200800" cy="576064"/>
          </a:xfrm>
        </p:grpSpPr>
        <p:sp>
          <p:nvSpPr>
            <p:cNvPr id="24" name="平行四辺形 23"/>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6" name="グループ化 25"/>
          <p:cNvGrpSpPr/>
          <p:nvPr/>
        </p:nvGrpSpPr>
        <p:grpSpPr>
          <a:xfrm>
            <a:off x="5864446" y="5281781"/>
            <a:ext cx="1562400" cy="576064"/>
            <a:chOff x="971600" y="5445224"/>
            <a:chExt cx="7200800" cy="576064"/>
          </a:xfrm>
        </p:grpSpPr>
        <p:sp>
          <p:nvSpPr>
            <p:cNvPr id="27" name="平行四辺形 26"/>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9" name="グループ化 28"/>
          <p:cNvGrpSpPr/>
          <p:nvPr/>
        </p:nvGrpSpPr>
        <p:grpSpPr>
          <a:xfrm>
            <a:off x="7304606" y="5281781"/>
            <a:ext cx="1584176" cy="576064"/>
            <a:chOff x="971600" y="5445224"/>
            <a:chExt cx="7200800" cy="576064"/>
          </a:xfrm>
        </p:grpSpPr>
        <p:sp>
          <p:nvSpPr>
            <p:cNvPr id="30" name="平行四辺形 29"/>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1" name="平行四辺形 30"/>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6" name="角丸四角形 35"/>
          <p:cNvSpPr/>
          <p:nvPr/>
        </p:nvSpPr>
        <p:spPr bwMode="auto">
          <a:xfrm>
            <a:off x="6186001"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I1: </a:t>
            </a:r>
            <a:r>
              <a:rPr lang="en-US" altLang="ja-JP" sz="1400" b="1" dirty="0" err="1">
                <a:latin typeface="Consolas" panose="020B0609020204030204" pitchFamily="49" charset="0"/>
              </a:rPr>
              <a:t>ld</a:t>
            </a:r>
            <a:r>
              <a:rPr lang="en-US" altLang="ja-JP" sz="1400" b="1" dirty="0">
                <a:latin typeface="Consolas" panose="020B0609020204030204" pitchFamily="49" charset="0"/>
              </a:rPr>
              <a:t> </a:t>
            </a:r>
            <a:br>
              <a:rPr lang="en-US" altLang="ja-JP" sz="1400" b="1" dirty="0">
                <a:latin typeface="Consolas" panose="020B0609020204030204" pitchFamily="49" charset="0"/>
              </a:rPr>
            </a:br>
            <a:r>
              <a:rPr lang="en-US" altLang="ja-JP" sz="1400" b="1" dirty="0">
                <a:solidFill>
                  <a:schemeClr val="tx2"/>
                </a:solidFill>
                <a:latin typeface="Consolas" panose="020B0609020204030204" pitchFamily="49" charset="0"/>
              </a:rPr>
              <a:t>x1</a:t>
            </a:r>
            <a:r>
              <a:rPr lang="ja-JP" altLang="en-US" sz="1400" b="1" dirty="0">
                <a:latin typeface="Consolas" panose="020B0609020204030204" pitchFamily="49" charset="0"/>
              </a:rPr>
              <a:t>←</a:t>
            </a:r>
            <a:r>
              <a:rPr lang="en-US" altLang="ja-JP" sz="1400" b="1" dirty="0">
                <a:latin typeface="Consolas" panose="020B0609020204030204" pitchFamily="49" charset="0"/>
              </a:rPr>
              <a:t>[...]</a:t>
            </a:r>
            <a:endParaRPr lang="ja-JP" altLang="en-US" sz="1400" b="1" dirty="0">
              <a:latin typeface="Consolas" panose="020B0609020204030204" pitchFamily="49" charset="0"/>
            </a:endParaRPr>
          </a:p>
        </p:txBody>
      </p:sp>
      <p:sp>
        <p:nvSpPr>
          <p:cNvPr id="37" name="角丸四角形 36"/>
          <p:cNvSpPr/>
          <p:nvPr/>
        </p:nvSpPr>
        <p:spPr bwMode="auto">
          <a:xfrm>
            <a:off x="4745985"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endParaRPr lang="ja-JP" altLang="en-US" sz="1400" b="1" dirty="0">
              <a:latin typeface="Consolas" panose="020B0609020204030204" pitchFamily="49" charset="0"/>
            </a:endParaRPr>
          </a:p>
        </p:txBody>
      </p:sp>
      <p:sp>
        <p:nvSpPr>
          <p:cNvPr id="38" name="角丸四角形 37"/>
          <p:cNvSpPr/>
          <p:nvPr/>
        </p:nvSpPr>
        <p:spPr bwMode="auto">
          <a:xfrm>
            <a:off x="3305969"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I2: sub</a:t>
            </a:r>
            <a:br>
              <a:rPr lang="en-US" altLang="ja-JP" sz="1400" b="1" dirty="0">
                <a:latin typeface="Consolas" panose="020B0609020204030204" pitchFamily="49" charset="0"/>
              </a:rPr>
            </a:br>
            <a:r>
              <a:rPr lang="en-US" altLang="ja-JP" sz="1400" b="1" dirty="0">
                <a:latin typeface="Consolas" panose="020B0609020204030204" pitchFamily="49" charset="0"/>
              </a:rPr>
              <a:t>x1</a:t>
            </a:r>
            <a:r>
              <a:rPr lang="ja-JP" altLang="en-US" sz="1400" b="1" dirty="0">
                <a:latin typeface="Consolas" panose="020B0609020204030204" pitchFamily="49" charset="0"/>
              </a:rPr>
              <a:t>←</a:t>
            </a:r>
            <a:r>
              <a:rPr lang="en-US" altLang="ja-JP" sz="1400" b="1" dirty="0">
                <a:solidFill>
                  <a:schemeClr val="tx2"/>
                </a:solidFill>
                <a:latin typeface="Consolas" panose="020B0609020204030204" pitchFamily="49" charset="0"/>
              </a:rPr>
              <a:t>x1</a:t>
            </a:r>
            <a:r>
              <a:rPr lang="en-US" altLang="ja-JP" sz="1400" b="1" dirty="0">
                <a:latin typeface="Consolas" panose="020B0609020204030204" pitchFamily="49" charset="0"/>
              </a:rPr>
              <a:t>-1</a:t>
            </a:r>
            <a:endParaRPr lang="ja-JP" altLang="en-US" sz="1400" b="1" dirty="0">
              <a:latin typeface="Consolas" panose="020B0609020204030204" pitchFamily="49" charset="0"/>
            </a:endParaRPr>
          </a:p>
        </p:txBody>
      </p:sp>
      <p:sp>
        <p:nvSpPr>
          <p:cNvPr id="39" name="角丸四角形 38"/>
          <p:cNvSpPr/>
          <p:nvPr/>
        </p:nvSpPr>
        <p:spPr bwMode="auto">
          <a:xfrm>
            <a:off x="3305969"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endParaRPr lang="ja-JP" altLang="en-US" sz="1400" b="1" dirty="0">
              <a:latin typeface="Consolas" panose="020B0609020204030204" pitchFamily="49" charset="0"/>
            </a:endParaRPr>
          </a:p>
        </p:txBody>
      </p:sp>
      <p:sp>
        <p:nvSpPr>
          <p:cNvPr id="40" name="角丸四角形吹き出し 39"/>
          <p:cNvSpPr/>
          <p:nvPr/>
        </p:nvSpPr>
        <p:spPr bwMode="auto">
          <a:xfrm>
            <a:off x="6456004" y="3339000"/>
            <a:ext cx="2970033" cy="612648"/>
          </a:xfrm>
          <a:prstGeom prst="wedgeRoundRectCallout">
            <a:avLst>
              <a:gd name="adj1" fmla="val -46291"/>
              <a:gd name="adj2" fmla="val 103500"/>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仕様変更で</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３サイクル後になりました</a:t>
            </a:r>
          </a:p>
        </p:txBody>
      </p:sp>
      <p:sp>
        <p:nvSpPr>
          <p:cNvPr id="43" name="角丸四角形吹き出し 42"/>
          <p:cNvSpPr/>
          <p:nvPr/>
        </p:nvSpPr>
        <p:spPr bwMode="auto">
          <a:xfrm>
            <a:off x="3485972" y="3338999"/>
            <a:ext cx="2520028" cy="612648"/>
          </a:xfrm>
          <a:prstGeom prst="wedgeRoundRectCallout">
            <a:avLst>
              <a:gd name="adj1" fmla="val -46291"/>
              <a:gd name="adj2" fmla="val 10350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いやこれ毎回とまるで</a:t>
            </a:r>
            <a:endParaRPr lang="en-US" altLang="ja-JP" dirty="0">
              <a:solidFill>
                <a:schemeClr val="tx1">
                  <a:lumMod val="65000"/>
                  <a:lumOff val="35000"/>
                </a:schemeClr>
              </a:solidFill>
              <a:latin typeface="Arial Narrow" panose="020B0606020202030204" pitchFamily="34" charset="0"/>
            </a:endParaRPr>
          </a:p>
        </p:txBody>
      </p:sp>
      <p:sp>
        <p:nvSpPr>
          <p:cNvPr id="44" name="角丸四角形 43"/>
          <p:cNvSpPr/>
          <p:nvPr/>
        </p:nvSpPr>
        <p:spPr bwMode="auto">
          <a:xfrm>
            <a:off x="6186001"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endParaRPr lang="ja-JP" altLang="en-US" sz="1400" b="1" dirty="0">
              <a:latin typeface="Consolas" panose="020B0609020204030204" pitchFamily="49" charset="0"/>
            </a:endParaRPr>
          </a:p>
        </p:txBody>
      </p:sp>
      <p:sp>
        <p:nvSpPr>
          <p:cNvPr id="45" name="角丸四角形 44"/>
          <p:cNvSpPr/>
          <p:nvPr/>
        </p:nvSpPr>
        <p:spPr bwMode="auto">
          <a:xfrm>
            <a:off x="4745985"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endParaRPr lang="ja-JP" altLang="en-US" sz="1400" b="1" dirty="0">
              <a:latin typeface="Consolas" panose="020B0609020204030204" pitchFamily="49" charset="0"/>
            </a:endParaRPr>
          </a:p>
        </p:txBody>
      </p:sp>
      <p:cxnSp>
        <p:nvCxnSpPr>
          <p:cNvPr id="46" name="直線矢印コネクタ 45"/>
          <p:cNvCxnSpPr/>
          <p:nvPr/>
        </p:nvCxnSpPr>
        <p:spPr bwMode="auto">
          <a:xfrm flipH="1">
            <a:off x="3935977" y="4959017"/>
            <a:ext cx="2340027" cy="0"/>
          </a:xfrm>
          <a:prstGeom prst="straightConnector1">
            <a:avLst/>
          </a:prstGeom>
          <a:ln>
            <a:solidFill>
              <a:schemeClr val="tx2"/>
            </a:solidFill>
            <a:headEnd type="none" w="med" len="med"/>
            <a:tailEnd type="triangle"/>
          </a:ln>
        </p:spPr>
        <p:style>
          <a:lnRef idx="3">
            <a:schemeClr val="accent6"/>
          </a:lnRef>
          <a:fillRef idx="0">
            <a:schemeClr val="accent6"/>
          </a:fillRef>
          <a:effectRef idx="2">
            <a:schemeClr val="accent6"/>
          </a:effectRef>
          <a:fontRef idx="minor">
            <a:schemeClr val="tx1"/>
          </a:fontRef>
        </p:style>
      </p:cxnSp>
      <p:cxnSp>
        <p:nvCxnSpPr>
          <p:cNvPr id="48" name="直線矢印コネクタ 47"/>
          <p:cNvCxnSpPr/>
          <p:nvPr/>
        </p:nvCxnSpPr>
        <p:spPr bwMode="auto">
          <a:xfrm flipH="1">
            <a:off x="2405960" y="6129030"/>
            <a:ext cx="3960047"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49" name="角丸四角形吹き出し 48"/>
          <p:cNvSpPr/>
          <p:nvPr/>
        </p:nvSpPr>
        <p:spPr bwMode="auto">
          <a:xfrm>
            <a:off x="4475982" y="621903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３サイクル分</a:t>
            </a:r>
          </a:p>
        </p:txBody>
      </p:sp>
      <p:sp>
        <p:nvSpPr>
          <p:cNvPr id="50" name="角丸四角形吹き出し 49"/>
          <p:cNvSpPr/>
          <p:nvPr/>
        </p:nvSpPr>
        <p:spPr bwMode="auto">
          <a:xfrm>
            <a:off x="5105989" y="4059008"/>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accent3">
                  <a:lumMod val="50000"/>
                </a:schemeClr>
              </a:solidFill>
              <a:latin typeface="Arial Narrow" panose="020B0606020202030204" pitchFamily="34" charset="0"/>
            </a:endParaRPr>
          </a:p>
        </p:txBody>
      </p:sp>
      <p:sp>
        <p:nvSpPr>
          <p:cNvPr id="52" name="角丸四角形 51"/>
          <p:cNvSpPr/>
          <p:nvPr/>
        </p:nvSpPr>
        <p:spPr bwMode="auto">
          <a:xfrm>
            <a:off x="1955954"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ja-JP" altLang="en-US" sz="1100" b="1" dirty="0">
                <a:latin typeface="Consolas" panose="020B0609020204030204" pitchFamily="49" charset="0"/>
              </a:rPr>
              <a:t>ここにあれば</a:t>
            </a:r>
            <a:endParaRPr lang="en-US" altLang="ja-JP" sz="1100" b="1" dirty="0">
              <a:latin typeface="Consolas" panose="020B0609020204030204" pitchFamily="49" charset="0"/>
            </a:endParaRPr>
          </a:p>
          <a:p>
            <a:r>
              <a:rPr lang="ja-JP" altLang="en-US" sz="1100" b="1" dirty="0">
                <a:latin typeface="Consolas" panose="020B0609020204030204" pitchFamily="49" charset="0"/>
              </a:rPr>
              <a:t>よかった</a:t>
            </a:r>
          </a:p>
        </p:txBody>
      </p:sp>
      <p:sp>
        <p:nvSpPr>
          <p:cNvPr id="53" name="角丸四角形 52"/>
          <p:cNvSpPr/>
          <p:nvPr/>
        </p:nvSpPr>
        <p:spPr bwMode="auto">
          <a:xfrm>
            <a:off x="1955954"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ja-JP" altLang="en-US" sz="1100" b="1" dirty="0">
                <a:latin typeface="Consolas" panose="020B0609020204030204" pitchFamily="49" charset="0"/>
              </a:rPr>
              <a:t>ざんねん</a:t>
            </a:r>
          </a:p>
        </p:txBody>
      </p:sp>
      <p:sp>
        <p:nvSpPr>
          <p:cNvPr id="55" name="角丸四角形吹き出し 54"/>
          <p:cNvSpPr/>
          <p:nvPr/>
        </p:nvSpPr>
        <p:spPr bwMode="auto">
          <a:xfrm>
            <a:off x="7986021" y="4059008"/>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accent4"/>
                </a:solidFill>
                <a:latin typeface="Arial Narrow" panose="020B0606020202030204" pitchFamily="34" charset="0"/>
              </a:rPr>
              <a:t>ﾔｯﾃｼﾏｲﾏｼﾀﾅｧ</a:t>
            </a:r>
          </a:p>
        </p:txBody>
      </p:sp>
    </p:spTree>
    <p:extLst>
      <p:ext uri="{BB962C8B-B14F-4D97-AF65-F5344CB8AC3E}">
        <p14:creationId xmlns:p14="http://schemas.microsoft.com/office/powerpoint/2010/main" val="32355311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p:cNvSpPr>
            <a:spLocks noGrp="1"/>
          </p:cNvSpPr>
          <p:nvPr>
            <p:ph type="title"/>
          </p:nvPr>
        </p:nvSpPr>
        <p:spPr/>
        <p:txBody>
          <a:bodyPr/>
          <a:lstStyle/>
          <a:p>
            <a:r>
              <a:rPr lang="ja-JP" altLang="en-US" dirty="0"/>
              <a:t>実行タイミングを仮定してスケジュールされている</a:t>
            </a:r>
            <a:br>
              <a:rPr lang="en-US" altLang="ja-JP" dirty="0"/>
            </a:br>
            <a:r>
              <a:rPr lang="ja-JP" altLang="en-US" dirty="0"/>
              <a:t>ことの他の問題</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そもそも実行時にレイテンシが動的に変化する場合は対応困難</a:t>
            </a:r>
            <a:endParaRPr kumimoji="1" lang="en-US" altLang="ja-JP" dirty="0"/>
          </a:p>
          <a:p>
            <a:pPr lvl="1"/>
            <a:r>
              <a:rPr kumimoji="1" lang="ja-JP" altLang="en-US" dirty="0"/>
              <a:t>キャッシュのヒットとミスが場合によってかわるようなロード</a:t>
            </a:r>
            <a:endParaRPr kumimoji="1" lang="en-US" altLang="ja-JP" dirty="0"/>
          </a:p>
          <a:p>
            <a:r>
              <a:rPr kumimoji="1" lang="ja-JP" altLang="en-US" dirty="0"/>
              <a:t>コンパイラではあらかじめヒットかミスを仮定してスケジュール</a:t>
            </a:r>
            <a:endParaRPr kumimoji="1" lang="en-US" altLang="ja-JP" dirty="0"/>
          </a:p>
          <a:p>
            <a:pPr lvl="1"/>
            <a:r>
              <a:rPr kumimoji="1" lang="ja-JP" altLang="en-US" dirty="0"/>
              <a:t>プロファイラで事前に特性をとって，それに基づくことで</a:t>
            </a:r>
            <a:br>
              <a:rPr kumimoji="1" lang="en-US" altLang="ja-JP" dirty="0"/>
            </a:br>
            <a:r>
              <a:rPr kumimoji="1" lang="ja-JP" altLang="en-US" dirty="0"/>
              <a:t>ある程度緩和はできる</a:t>
            </a:r>
          </a:p>
        </p:txBody>
      </p:sp>
    </p:spTree>
    <p:extLst>
      <p:ext uri="{BB962C8B-B14F-4D97-AF65-F5344CB8AC3E}">
        <p14:creationId xmlns:p14="http://schemas.microsoft.com/office/powerpoint/2010/main" val="30140439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VLIW </a:t>
            </a:r>
            <a:r>
              <a:rPr kumimoji="1" lang="ja-JP" altLang="en-US" dirty="0"/>
              <a:t>の例：</a:t>
            </a:r>
            <a:r>
              <a:rPr kumimoji="1" lang="en-US" altLang="ja-JP" dirty="0"/>
              <a:t>Intel Itanium</a:t>
            </a:r>
            <a:endParaRPr kumimoji="1" lang="ja-JP" altLang="en-US" dirty="0"/>
          </a:p>
        </p:txBody>
      </p:sp>
      <p:sp>
        <p:nvSpPr>
          <p:cNvPr id="3" name="テキスト プレースホルダー 2"/>
          <p:cNvSpPr>
            <a:spLocks noGrp="1"/>
          </p:cNvSpPr>
          <p:nvPr>
            <p:ph type="body" sz="quarter" idx="10"/>
          </p:nvPr>
        </p:nvSpPr>
        <p:spPr>
          <a:xfrm>
            <a:off x="1775952" y="1088975"/>
            <a:ext cx="8640096" cy="5219751"/>
          </a:xfrm>
        </p:spPr>
        <p:txBody>
          <a:bodyPr/>
          <a:lstStyle/>
          <a:p>
            <a:r>
              <a:rPr lang="ja-JP" altLang="en-US" dirty="0"/>
              <a:t>インテルと </a:t>
            </a:r>
            <a:r>
              <a:rPr lang="en-US" altLang="ja-JP" dirty="0"/>
              <a:t>HP </a:t>
            </a:r>
            <a:r>
              <a:rPr lang="ja-JP" altLang="en-US" dirty="0"/>
              <a:t>で作った </a:t>
            </a:r>
            <a:r>
              <a:rPr lang="en-US" altLang="ja-JP" dirty="0"/>
              <a:t>VLIW </a:t>
            </a:r>
            <a:r>
              <a:rPr lang="ja-JP" altLang="en-US" dirty="0"/>
              <a:t>プロセッサ</a:t>
            </a:r>
            <a:endParaRPr lang="en-US" altLang="ja-JP" dirty="0"/>
          </a:p>
          <a:p>
            <a:pPr lvl="1"/>
            <a:r>
              <a:rPr lang="en-US" altLang="ja-JP" dirty="0"/>
              <a:t>2000 </a:t>
            </a:r>
            <a:r>
              <a:rPr lang="ja-JP" altLang="en-US" dirty="0"/>
              <a:t>年代前半ぐらいまでは </a:t>
            </a:r>
            <a:r>
              <a:rPr lang="en-US" altLang="ja-JP" dirty="0"/>
              <a:t>x86 </a:t>
            </a:r>
            <a:r>
              <a:rPr lang="ja-JP" altLang="en-US" dirty="0"/>
              <a:t>からこれに移行しようとしていた</a:t>
            </a:r>
            <a:endParaRPr lang="en-US" altLang="ja-JP" dirty="0"/>
          </a:p>
          <a:p>
            <a:pPr lvl="1"/>
            <a:r>
              <a:rPr lang="en-US" altLang="ja-JP" dirty="0"/>
              <a:t>EPIC </a:t>
            </a:r>
            <a:r>
              <a:rPr lang="ja-JP" altLang="en-US" dirty="0"/>
              <a:t>アーキテクチャと言われる命令セットを持つ</a:t>
            </a:r>
            <a:endParaRPr lang="en-US" altLang="ja-JP" dirty="0"/>
          </a:p>
          <a:p>
            <a:r>
              <a:rPr lang="ja-JP" altLang="en-US" dirty="0"/>
              <a:t>これまで述べたような </a:t>
            </a:r>
            <a:r>
              <a:rPr lang="en-US" altLang="ja-JP" dirty="0"/>
              <a:t>VLIW </a:t>
            </a:r>
            <a:r>
              <a:rPr lang="ja-JP" altLang="en-US" dirty="0"/>
              <a:t>の問題を緩和するような機構を色々投入</a:t>
            </a:r>
            <a:endParaRPr lang="en-US" altLang="ja-JP" dirty="0"/>
          </a:p>
          <a:p>
            <a:pPr lvl="1"/>
            <a:r>
              <a:rPr lang="ja-JP" altLang="en-US" dirty="0"/>
              <a:t>命令セットの互換性をとりながら同時実行幅を増やす</a:t>
            </a:r>
            <a:endParaRPr lang="en-US" altLang="ja-JP" dirty="0"/>
          </a:p>
          <a:p>
            <a:pPr lvl="1"/>
            <a:r>
              <a:rPr lang="ja-JP" altLang="en-US" dirty="0"/>
              <a:t>分岐を跨いだロードの移動をハードで支援</a:t>
            </a:r>
            <a:endParaRPr lang="en-US" altLang="ja-JP" dirty="0"/>
          </a:p>
        </p:txBody>
      </p:sp>
    </p:spTree>
    <p:extLst>
      <p:ext uri="{BB962C8B-B14F-4D97-AF65-F5344CB8AC3E}">
        <p14:creationId xmlns:p14="http://schemas.microsoft.com/office/powerpoint/2010/main" val="31920886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Intel Itanium </a:t>
            </a:r>
            <a:r>
              <a:rPr kumimoji="1" lang="ja-JP" altLang="en-US" dirty="0"/>
              <a:t>の性能</a:t>
            </a:r>
          </a:p>
        </p:txBody>
      </p:sp>
      <p:sp>
        <p:nvSpPr>
          <p:cNvPr id="3" name="テキスト プレースホルダー 2"/>
          <p:cNvSpPr>
            <a:spLocks noGrp="1"/>
          </p:cNvSpPr>
          <p:nvPr>
            <p:ph type="body" sz="quarter" idx="10"/>
          </p:nvPr>
        </p:nvSpPr>
        <p:spPr>
          <a:xfrm>
            <a:off x="1775952" y="1088975"/>
            <a:ext cx="8640096" cy="5219751"/>
          </a:xfrm>
        </p:spPr>
        <p:txBody>
          <a:bodyPr/>
          <a:lstStyle/>
          <a:p>
            <a:r>
              <a:rPr lang="ja-JP" altLang="en-US" dirty="0"/>
              <a:t>しかし，</a:t>
            </a:r>
            <a:r>
              <a:rPr lang="en-US" altLang="ja-JP" dirty="0"/>
              <a:t>x86 </a:t>
            </a:r>
            <a:r>
              <a:rPr lang="ja-JP" altLang="en-US" dirty="0"/>
              <a:t>よりも全然性能がでなかった</a:t>
            </a:r>
            <a:endParaRPr lang="en-US" altLang="ja-JP" dirty="0"/>
          </a:p>
          <a:p>
            <a:pPr marL="817200" lvl="1" indent="-457200">
              <a:buFont typeface="+mj-lt"/>
              <a:buAutoNum type="arabicPeriod"/>
            </a:pPr>
            <a:r>
              <a:rPr lang="ja-JP" altLang="en-US" dirty="0"/>
              <a:t>静的スケジューリングの限界</a:t>
            </a:r>
            <a:endParaRPr lang="en-US" altLang="ja-JP" dirty="0"/>
          </a:p>
          <a:p>
            <a:pPr marL="817200" lvl="1" indent="-457200">
              <a:buFont typeface="+mj-lt"/>
              <a:buAutoNum type="arabicPeriod"/>
            </a:pPr>
            <a:r>
              <a:rPr lang="ja-JP" altLang="en-US" dirty="0"/>
              <a:t>レイテンシを仮定したコード</a:t>
            </a:r>
            <a:endParaRPr lang="en-US" altLang="ja-JP" dirty="0"/>
          </a:p>
          <a:p>
            <a:pPr marL="817200" lvl="1" indent="-457200">
              <a:buFont typeface="+mj-lt"/>
              <a:buAutoNum type="arabicPeriod"/>
            </a:pPr>
            <a:r>
              <a:rPr lang="ja-JP" altLang="en-US" dirty="0"/>
              <a:t>クロックが上げられなかった</a:t>
            </a:r>
            <a:endParaRPr lang="en-US" altLang="ja-JP" dirty="0"/>
          </a:p>
          <a:p>
            <a:pPr marL="1177200" lvl="2" indent="-457200">
              <a:buFont typeface="+mj-lt"/>
              <a:buAutoNum type="arabicPeriod"/>
            </a:pPr>
            <a:r>
              <a:rPr lang="en-US" altLang="ja-JP" dirty="0"/>
              <a:t>2. </a:t>
            </a:r>
            <a:r>
              <a:rPr lang="ja-JP" altLang="en-US" dirty="0"/>
              <a:t>に関連して，キャッシュ・アクセスのステージ数を増やして</a:t>
            </a:r>
            <a:br>
              <a:rPr lang="en-US" altLang="ja-JP" dirty="0"/>
            </a:br>
            <a:r>
              <a:rPr lang="ja-JP" altLang="en-US" dirty="0"/>
              <a:t>クロックを上げることができない</a:t>
            </a:r>
            <a:endParaRPr lang="en-US" altLang="ja-JP" dirty="0"/>
          </a:p>
          <a:p>
            <a:pPr marL="1177200" lvl="2" indent="-457200">
              <a:buFont typeface="+mj-lt"/>
              <a:buAutoNum type="arabicPeriod"/>
            </a:pPr>
            <a:r>
              <a:rPr lang="en-US" altLang="ja-JP" dirty="0"/>
              <a:t>VLIW </a:t>
            </a:r>
            <a:r>
              <a:rPr lang="ja-JP" altLang="en-US" dirty="0"/>
              <a:t>の問題緩和の機構のせいで返って複雑化</a:t>
            </a:r>
            <a:endParaRPr lang="en-US" altLang="ja-JP" dirty="0"/>
          </a:p>
        </p:txBody>
      </p:sp>
    </p:spTree>
    <p:extLst>
      <p:ext uri="{BB962C8B-B14F-4D97-AF65-F5344CB8AC3E}">
        <p14:creationId xmlns:p14="http://schemas.microsoft.com/office/powerpoint/2010/main" val="33761742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Intel Itanium </a:t>
            </a:r>
            <a:r>
              <a:rPr lang="ja-JP" altLang="en-US" dirty="0"/>
              <a:t>の末路</a:t>
            </a:r>
            <a:endParaRPr kumimoji="1" lang="ja-JP" altLang="en-US" dirty="0"/>
          </a:p>
        </p:txBody>
      </p:sp>
      <p:sp>
        <p:nvSpPr>
          <p:cNvPr id="3" name="テキスト プレースホルダー 2"/>
          <p:cNvSpPr>
            <a:spLocks noGrp="1"/>
          </p:cNvSpPr>
          <p:nvPr>
            <p:ph type="body" sz="quarter" idx="10"/>
          </p:nvPr>
        </p:nvSpPr>
        <p:spPr>
          <a:xfrm>
            <a:off x="2135956" y="1358978"/>
            <a:ext cx="8280092" cy="5219751"/>
          </a:xfrm>
        </p:spPr>
        <p:txBody>
          <a:bodyPr/>
          <a:lstStyle/>
          <a:p>
            <a:pPr marL="457200" indent="-457200">
              <a:buFont typeface="+mj-lt"/>
              <a:buAutoNum type="arabicPeriod"/>
            </a:pPr>
            <a:r>
              <a:rPr kumimoji="1" lang="ja-JP" altLang="en-US" dirty="0"/>
              <a:t>当時 </a:t>
            </a:r>
            <a:r>
              <a:rPr kumimoji="1" lang="en-US" altLang="ja-JP" dirty="0"/>
              <a:t>32</a:t>
            </a:r>
            <a:r>
              <a:rPr lang="ja-JP" altLang="en-US" dirty="0"/>
              <a:t> ビットから </a:t>
            </a:r>
            <a:r>
              <a:rPr lang="en-US" altLang="ja-JP" dirty="0"/>
              <a:t>64 </a:t>
            </a:r>
            <a:r>
              <a:rPr lang="ja-JP" altLang="en-US" dirty="0"/>
              <a:t>ビットへの移行の要求が高まっていた</a:t>
            </a:r>
            <a:endParaRPr kumimoji="1" lang="en-US" altLang="ja-JP" dirty="0"/>
          </a:p>
          <a:p>
            <a:pPr lvl="1"/>
            <a:r>
              <a:rPr kumimoji="1" lang="ja-JP" altLang="en-US" dirty="0"/>
              <a:t>主にメモリ使用量を増やすため</a:t>
            </a:r>
            <a:endParaRPr kumimoji="1" lang="en-US" altLang="ja-JP" dirty="0"/>
          </a:p>
          <a:p>
            <a:pPr lvl="2"/>
            <a:r>
              <a:rPr kumimoji="1" lang="en-US" altLang="ja-JP" dirty="0"/>
              <a:t>32 </a:t>
            </a:r>
            <a:r>
              <a:rPr kumimoji="1" lang="ja-JP" altLang="en-US" dirty="0"/>
              <a:t>ビットのアドレスで表せるのは </a:t>
            </a:r>
            <a:r>
              <a:rPr kumimoji="1" lang="en-US" altLang="ja-JP" dirty="0"/>
              <a:t>4GB </a:t>
            </a:r>
            <a:r>
              <a:rPr kumimoji="1" lang="ja-JP" altLang="en-US" dirty="0"/>
              <a:t>まで</a:t>
            </a:r>
            <a:endParaRPr kumimoji="1" lang="en-US" altLang="ja-JP" dirty="0"/>
          </a:p>
          <a:p>
            <a:pPr lvl="1"/>
            <a:r>
              <a:rPr kumimoji="1" lang="en-US" altLang="ja-JP" dirty="0"/>
              <a:t>Itanium </a:t>
            </a:r>
            <a:r>
              <a:rPr kumimoji="1" lang="ja-JP" altLang="en-US" dirty="0"/>
              <a:t>はこのための </a:t>
            </a:r>
            <a:r>
              <a:rPr kumimoji="1" lang="en-US" altLang="ja-JP" dirty="0"/>
              <a:t>64 </a:t>
            </a:r>
            <a:r>
              <a:rPr kumimoji="1" lang="ja-JP" altLang="en-US" dirty="0"/>
              <a:t>ビット </a:t>
            </a:r>
            <a:r>
              <a:rPr kumimoji="1" lang="en-US" altLang="ja-JP" dirty="0"/>
              <a:t>CPU </a:t>
            </a:r>
            <a:r>
              <a:rPr kumimoji="1" lang="ja-JP" altLang="en-US" dirty="0"/>
              <a:t>でもあった</a:t>
            </a:r>
            <a:endParaRPr kumimoji="1" lang="en-US" altLang="ja-JP" dirty="0"/>
          </a:p>
          <a:p>
            <a:pPr marL="457200" indent="-457200">
              <a:buFont typeface="+mj-lt"/>
              <a:buAutoNum type="arabicPeriod"/>
            </a:pPr>
            <a:r>
              <a:rPr kumimoji="1" lang="ja-JP" altLang="en-US" dirty="0"/>
              <a:t>インテルは互換 </a:t>
            </a:r>
            <a:r>
              <a:rPr kumimoji="1" lang="en-US" altLang="ja-JP" dirty="0"/>
              <a:t>CPU </a:t>
            </a:r>
            <a:r>
              <a:rPr kumimoji="1" lang="ja-JP" altLang="en-US" dirty="0"/>
              <a:t>の製造開発を許したくなかった</a:t>
            </a:r>
            <a:endParaRPr kumimoji="1" lang="en-US" altLang="ja-JP" dirty="0"/>
          </a:p>
          <a:p>
            <a:pPr lvl="1"/>
            <a:r>
              <a:rPr lang="ja-JP" altLang="en-US" dirty="0"/>
              <a:t>しかし既に与えたライセンスは取り消せない</a:t>
            </a:r>
            <a:endParaRPr kumimoji="1" lang="en-US" altLang="ja-JP" dirty="0"/>
          </a:p>
          <a:p>
            <a:pPr lvl="1"/>
            <a:r>
              <a:rPr kumimoji="1" lang="en-US" altLang="ja-JP" dirty="0"/>
              <a:t>64 </a:t>
            </a:r>
            <a:r>
              <a:rPr kumimoji="1" lang="ja-JP" altLang="en-US" dirty="0"/>
              <a:t>ビット世代で内容を刷新して今度は独占を目指した</a:t>
            </a:r>
            <a:endParaRPr kumimoji="1" lang="en-US" altLang="ja-JP" dirty="0"/>
          </a:p>
          <a:p>
            <a:pPr marL="457200" indent="-457200">
              <a:buFont typeface="+mj-lt"/>
              <a:buAutoNum type="arabicPeriod"/>
            </a:pPr>
            <a:r>
              <a:rPr kumimoji="1" lang="en-US" altLang="ja-JP" dirty="0"/>
              <a:t>AMD </a:t>
            </a:r>
            <a:r>
              <a:rPr kumimoji="1" lang="ja-JP" altLang="en-US" dirty="0"/>
              <a:t>が独自に </a:t>
            </a:r>
            <a:r>
              <a:rPr kumimoji="1" lang="en-US" altLang="ja-JP" dirty="0"/>
              <a:t>x86-64 </a:t>
            </a:r>
            <a:r>
              <a:rPr kumimoji="1" lang="ja-JP" altLang="en-US" dirty="0"/>
              <a:t>を策定</a:t>
            </a:r>
            <a:endParaRPr kumimoji="1" lang="en-US" altLang="ja-JP" dirty="0"/>
          </a:p>
          <a:p>
            <a:pPr lvl="1"/>
            <a:r>
              <a:rPr lang="en-US" altLang="ja-JP" dirty="0"/>
              <a:t>Itanium </a:t>
            </a:r>
            <a:r>
              <a:rPr lang="ja-JP" altLang="en-US" dirty="0"/>
              <a:t>がさっぱり性能でないので，</a:t>
            </a:r>
            <a:r>
              <a:rPr lang="en-US" altLang="ja-JP" dirty="0"/>
              <a:t>MS </a:t>
            </a:r>
            <a:r>
              <a:rPr lang="ja-JP" altLang="en-US" dirty="0"/>
              <a:t>が見切りをつけて</a:t>
            </a:r>
            <a:br>
              <a:rPr lang="en-US" altLang="ja-JP" dirty="0"/>
            </a:br>
            <a:r>
              <a:rPr lang="en-US" altLang="ja-JP" dirty="0"/>
              <a:t>Windows </a:t>
            </a:r>
            <a:r>
              <a:rPr lang="ja-JP" altLang="en-US" dirty="0"/>
              <a:t>の </a:t>
            </a:r>
            <a:r>
              <a:rPr lang="en-US" altLang="ja-JP" dirty="0"/>
              <a:t>x86-64 </a:t>
            </a:r>
            <a:r>
              <a:rPr lang="ja-JP" altLang="en-US" dirty="0"/>
              <a:t>対応を開始</a:t>
            </a:r>
            <a:endParaRPr lang="en-US" altLang="ja-JP" dirty="0"/>
          </a:p>
          <a:p>
            <a:pPr marL="457200" indent="-457200">
              <a:buFont typeface="+mj-lt"/>
              <a:buAutoNum type="arabicPeriod"/>
            </a:pPr>
            <a:r>
              <a:rPr kumimoji="1" lang="ja-JP" altLang="en-US" dirty="0"/>
              <a:t>後追いでインテルも </a:t>
            </a:r>
            <a:r>
              <a:rPr kumimoji="1" lang="en-US" altLang="ja-JP" dirty="0"/>
              <a:t>x86-64 </a:t>
            </a:r>
            <a:r>
              <a:rPr kumimoji="1" lang="ja-JP" altLang="en-US" dirty="0"/>
              <a:t>の </a:t>
            </a:r>
            <a:r>
              <a:rPr kumimoji="1" lang="en-US" altLang="ja-JP" dirty="0"/>
              <a:t>CPU </a:t>
            </a:r>
            <a:r>
              <a:rPr kumimoji="1" lang="ja-JP" altLang="en-US" dirty="0"/>
              <a:t>を開発</a:t>
            </a:r>
            <a:endParaRPr kumimoji="1" lang="en-US" altLang="ja-JP" dirty="0"/>
          </a:p>
          <a:p>
            <a:pPr lvl="1"/>
            <a:r>
              <a:rPr lang="en-US" altLang="ja-JP" dirty="0"/>
              <a:t>I</a:t>
            </a:r>
            <a:r>
              <a:rPr kumimoji="1" lang="en-US" altLang="ja-JP" dirty="0"/>
              <a:t>tanium </a:t>
            </a:r>
            <a:r>
              <a:rPr kumimoji="1" lang="ja-JP" altLang="en-US" dirty="0"/>
              <a:t>は一応製造されているが， </a:t>
            </a:r>
            <a:r>
              <a:rPr kumimoji="1" lang="en-US" altLang="ja-JP" dirty="0"/>
              <a:t>2021 </a:t>
            </a:r>
            <a:r>
              <a:rPr kumimoji="1" lang="ja-JP" altLang="en-US" dirty="0"/>
              <a:t>年に最終出荷で終了</a:t>
            </a:r>
          </a:p>
        </p:txBody>
      </p:sp>
    </p:spTree>
    <p:extLst>
      <p:ext uri="{BB962C8B-B14F-4D97-AF65-F5344CB8AC3E}">
        <p14:creationId xmlns:p14="http://schemas.microsoft.com/office/powerpoint/2010/main" val="57813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VLIW </a:t>
            </a:r>
            <a:r>
              <a:rPr kumimoji="1" lang="ja-JP" altLang="en-US" dirty="0"/>
              <a:t>は全くダメなのか？</a:t>
            </a:r>
          </a:p>
        </p:txBody>
      </p:sp>
      <p:sp>
        <p:nvSpPr>
          <p:cNvPr id="3" name="テキスト プレースホルダー 2"/>
          <p:cNvSpPr>
            <a:spLocks noGrp="1"/>
          </p:cNvSpPr>
          <p:nvPr>
            <p:ph type="body" sz="quarter" idx="10"/>
          </p:nvPr>
        </p:nvSpPr>
        <p:spPr>
          <a:xfrm>
            <a:off x="1775952" y="1358977"/>
            <a:ext cx="8730097" cy="5219751"/>
          </a:xfrm>
        </p:spPr>
        <p:txBody>
          <a:bodyPr/>
          <a:lstStyle/>
          <a:p>
            <a:r>
              <a:rPr kumimoji="1" lang="ja-JP" altLang="en-US" dirty="0"/>
              <a:t>以下のような場面であれば有用</a:t>
            </a:r>
            <a:endParaRPr kumimoji="1" lang="en-US" altLang="ja-JP" dirty="0"/>
          </a:p>
          <a:p>
            <a:pPr lvl="1"/>
            <a:r>
              <a:rPr kumimoji="1" lang="ja-JP" altLang="en-US" dirty="0"/>
              <a:t>絶対性能よりも，ハードが小さいこと（電力）の要求が高い</a:t>
            </a:r>
            <a:endParaRPr kumimoji="1" lang="en-US" altLang="ja-JP" dirty="0"/>
          </a:p>
          <a:p>
            <a:pPr lvl="1"/>
            <a:r>
              <a:rPr kumimoji="1" lang="ja-JP" altLang="en-US" dirty="0"/>
              <a:t>動作させるソフトウェアが限られている</a:t>
            </a:r>
            <a:endParaRPr kumimoji="1" lang="en-US" altLang="ja-JP" dirty="0"/>
          </a:p>
          <a:p>
            <a:pPr lvl="2"/>
            <a:r>
              <a:rPr kumimoji="1" lang="ja-JP" altLang="en-US" dirty="0"/>
              <a:t>互換性が問題になりにくい</a:t>
            </a:r>
            <a:endParaRPr kumimoji="1" lang="en-US" altLang="ja-JP" dirty="0"/>
          </a:p>
          <a:p>
            <a:r>
              <a:rPr kumimoji="1" lang="ja-JP" altLang="en-US" dirty="0"/>
              <a:t>典型的には，組み込み </a:t>
            </a:r>
            <a:r>
              <a:rPr kumimoji="1" lang="en-US" altLang="ja-JP" dirty="0"/>
              <a:t>CPU </a:t>
            </a:r>
            <a:r>
              <a:rPr kumimoji="1" lang="ja-JP" altLang="en-US" dirty="0"/>
              <a:t>が該当</a:t>
            </a:r>
            <a:endParaRPr kumimoji="1" lang="en-US" altLang="ja-JP" dirty="0"/>
          </a:p>
          <a:p>
            <a:pPr lvl="1"/>
            <a:r>
              <a:rPr kumimoji="1" lang="ja-JP" altLang="en-US" dirty="0"/>
              <a:t>簡単なハードで</a:t>
            </a:r>
            <a:r>
              <a:rPr kumimoji="1" lang="ja-JP" altLang="en-US" dirty="0" err="1"/>
              <a:t>そこそこ</a:t>
            </a:r>
            <a:r>
              <a:rPr kumimoji="1" lang="ja-JP" altLang="en-US" dirty="0"/>
              <a:t>の性能がだしたい時に有用</a:t>
            </a:r>
            <a:endParaRPr kumimoji="1" lang="en-US" altLang="ja-JP" dirty="0"/>
          </a:p>
          <a:p>
            <a:r>
              <a:rPr kumimoji="1" lang="en-US" altLang="ja-JP" dirty="0"/>
              <a:t>CPU </a:t>
            </a:r>
            <a:r>
              <a:rPr kumimoji="1" lang="ja-JP" altLang="en-US" dirty="0"/>
              <a:t>を作る学生実験で性能出したい場合なんかでも有望</a:t>
            </a:r>
            <a:endParaRPr kumimoji="1" lang="en-US" altLang="ja-JP" dirty="0"/>
          </a:p>
          <a:p>
            <a:pPr lvl="1"/>
            <a:r>
              <a:rPr kumimoji="1" lang="ja-JP" altLang="en-US" dirty="0"/>
              <a:t>実装が簡単 </a:t>
            </a:r>
            <a:r>
              <a:rPr kumimoji="1" lang="en-US" altLang="ja-JP" dirty="0"/>
              <a:t>&amp; </a:t>
            </a:r>
            <a:r>
              <a:rPr lang="ja-JP" altLang="en-US" dirty="0"/>
              <a:t>課題となる少数のプログラムさえ速ければよい</a:t>
            </a:r>
            <a:endParaRPr kumimoji="1" lang="en-US" altLang="ja-JP" dirty="0"/>
          </a:p>
          <a:p>
            <a:pPr lvl="1"/>
            <a:r>
              <a:rPr kumimoji="1" lang="ja-JP" altLang="en-US" dirty="0"/>
              <a:t>人力静的スケジュールで最適化する</a:t>
            </a:r>
            <a:endParaRPr kumimoji="1" lang="en-US" altLang="ja-JP" dirty="0"/>
          </a:p>
          <a:p>
            <a:pPr lvl="2"/>
            <a:r>
              <a:rPr lang="ja-JP" altLang="en-US" dirty="0"/>
              <a:t>いろんな仮定をぶちやぶれる</a:t>
            </a:r>
            <a:endParaRPr lang="en-US" altLang="ja-JP" dirty="0"/>
          </a:p>
          <a:p>
            <a:r>
              <a:rPr kumimoji="1" lang="en-US" altLang="ja-JP" dirty="0"/>
              <a:t>Google TPU </a:t>
            </a:r>
            <a:r>
              <a:rPr kumimoji="1" lang="ja-JP" altLang="en-US" dirty="0"/>
              <a:t>内部のコントローラでも採用されている</a:t>
            </a:r>
            <a:endParaRPr kumimoji="1" lang="en-US" altLang="ja-JP" dirty="0"/>
          </a:p>
          <a:p>
            <a:pPr lvl="1"/>
            <a:r>
              <a:rPr lang="ja-JP" altLang="en-US" dirty="0"/>
              <a:t>上記の有用な条件を満たしている</a:t>
            </a:r>
            <a:endParaRPr kumimoji="1" lang="ja-JP" altLang="en-US" dirty="0"/>
          </a:p>
        </p:txBody>
      </p:sp>
    </p:spTree>
    <p:extLst>
      <p:ext uri="{BB962C8B-B14F-4D97-AF65-F5344CB8AC3E}">
        <p14:creationId xmlns:p14="http://schemas.microsoft.com/office/powerpoint/2010/main" val="23183403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命令の並列実行</a:t>
            </a:r>
            <a:endParaRPr lang="en-US" altLang="ja-JP" dirty="0"/>
          </a:p>
          <a:p>
            <a:pPr marL="457200" indent="-457200">
              <a:buFont typeface="+mj-lt"/>
              <a:buAutoNum type="arabicPeriod"/>
            </a:pPr>
            <a:r>
              <a:rPr lang="ja-JP" altLang="en-US" dirty="0"/>
              <a:t>データ依存</a:t>
            </a:r>
            <a:endParaRPr lang="en-US" altLang="ja-JP" dirty="0"/>
          </a:p>
          <a:p>
            <a:pPr marL="457200" indent="-457200">
              <a:buFont typeface="+mj-lt"/>
              <a:buAutoNum type="arabicPeriod"/>
            </a:pPr>
            <a:r>
              <a:rPr lang="ja-JP" altLang="en-US" dirty="0"/>
              <a:t>静的命令スケジューリングと </a:t>
            </a:r>
            <a:r>
              <a:rPr lang="en-US" altLang="ja-JP" dirty="0"/>
              <a:t>VLIW</a:t>
            </a:r>
          </a:p>
          <a:p>
            <a:pPr marL="457200" indent="-457200">
              <a:buFont typeface="+mj-lt"/>
              <a:buAutoNum type="arabicPeriod"/>
            </a:pPr>
            <a:r>
              <a:rPr lang="ja-JP" altLang="en-US" b="1" dirty="0"/>
              <a:t>動的命令スケジューリング（のさわり）</a:t>
            </a:r>
            <a:endParaRPr lang="en-US" altLang="ja-JP" b="1" dirty="0"/>
          </a:p>
        </p:txBody>
      </p:sp>
    </p:spTree>
    <p:extLst>
      <p:ext uri="{BB962C8B-B14F-4D97-AF65-F5344CB8AC3E}">
        <p14:creationId xmlns:p14="http://schemas.microsoft.com/office/powerpoint/2010/main" val="32648119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動的命令スケジューリング</a:t>
            </a:r>
            <a:endParaRPr kumimoji="1" lang="ja-JP" altLang="en-US" dirty="0"/>
          </a:p>
        </p:txBody>
      </p:sp>
      <p:sp>
        <p:nvSpPr>
          <p:cNvPr id="3" name="テキスト プレースホルダー 2"/>
          <p:cNvSpPr>
            <a:spLocks noGrp="1"/>
          </p:cNvSpPr>
          <p:nvPr>
            <p:ph type="body" sz="quarter" idx="10"/>
          </p:nvPr>
        </p:nvSpPr>
        <p:spPr/>
        <p:txBody>
          <a:bodyPr/>
          <a:lstStyle/>
          <a:p>
            <a:r>
              <a:rPr kumimoji="1" lang="en-US" altLang="ja-JP" dirty="0"/>
              <a:t>CPU </a:t>
            </a:r>
            <a:r>
              <a:rPr kumimoji="1" lang="ja-JP" altLang="en-US" dirty="0"/>
              <a:t>により，うまく</a:t>
            </a:r>
            <a:r>
              <a:rPr lang="ja-JP" altLang="en-US" dirty="0"/>
              <a:t>並列実行できるように命令を並びかえる方法</a:t>
            </a:r>
            <a:endParaRPr lang="en-US" altLang="ja-JP" dirty="0"/>
          </a:p>
          <a:p>
            <a:pPr lvl="1"/>
            <a:r>
              <a:rPr lang="ja-JP" altLang="en-US" dirty="0"/>
              <a:t>静的：事前に並び替えておくので，</a:t>
            </a:r>
            <a:r>
              <a:rPr lang="en-US" altLang="ja-JP" dirty="0"/>
              <a:t>CPU </a:t>
            </a:r>
            <a:r>
              <a:rPr lang="ja-JP" altLang="en-US" dirty="0"/>
              <a:t>からみると変化しない</a:t>
            </a:r>
            <a:endParaRPr lang="en-US" altLang="ja-JP" dirty="0"/>
          </a:p>
          <a:p>
            <a:pPr lvl="1"/>
            <a:r>
              <a:rPr lang="ja-JP" altLang="en-US" dirty="0"/>
              <a:t>動的：</a:t>
            </a:r>
            <a:r>
              <a:rPr lang="en-US" altLang="ja-JP" dirty="0"/>
              <a:t>CPU </a:t>
            </a:r>
            <a:r>
              <a:rPr lang="ja-JP" altLang="en-US" dirty="0"/>
              <a:t>が実行時に並び替える</a:t>
            </a:r>
            <a:endParaRPr lang="en-US" altLang="ja-JP" dirty="0"/>
          </a:p>
          <a:p>
            <a:r>
              <a:rPr lang="ja-JP" altLang="en-US" dirty="0"/>
              <a:t>スカラ</a:t>
            </a:r>
            <a:r>
              <a:rPr lang="en-US" altLang="ja-JP" dirty="0"/>
              <a:t>/</a:t>
            </a:r>
            <a:r>
              <a:rPr lang="ja-JP" altLang="en-US" dirty="0"/>
              <a:t>スーパスカラとは直行した概念</a:t>
            </a:r>
            <a:endParaRPr lang="en-US" altLang="ja-JP" dirty="0"/>
          </a:p>
          <a:p>
            <a:pPr lvl="1"/>
            <a:r>
              <a:rPr lang="en-US" altLang="ja-JP" dirty="0"/>
              <a:t>…</a:t>
            </a:r>
            <a:r>
              <a:rPr lang="ja-JP" altLang="en-US" dirty="0"/>
              <a:t>ではあるが，普通は動的スケジューリングを行う </a:t>
            </a:r>
            <a:r>
              <a:rPr lang="en-US" altLang="ja-JP" dirty="0"/>
              <a:t>CPU </a:t>
            </a:r>
            <a:r>
              <a:rPr lang="ja-JP" altLang="en-US" dirty="0"/>
              <a:t>は</a:t>
            </a:r>
            <a:br>
              <a:rPr lang="en-US" altLang="ja-JP" dirty="0"/>
            </a:br>
            <a:r>
              <a:rPr lang="ja-JP" altLang="en-US" dirty="0"/>
              <a:t>スーパスカラ</a:t>
            </a:r>
            <a:endParaRPr lang="en-US" altLang="ja-JP" dirty="0"/>
          </a:p>
          <a:p>
            <a:pPr lvl="1"/>
            <a:r>
              <a:rPr lang="ja-JP" altLang="en-US" dirty="0"/>
              <a:t>スカラで動的スケジューリングをやってもあまり意味がないから</a:t>
            </a:r>
            <a:endParaRPr lang="en-US" altLang="ja-JP" dirty="0"/>
          </a:p>
          <a:p>
            <a:r>
              <a:rPr lang="ja-JP" altLang="en-US" dirty="0"/>
              <a:t>現在主流の </a:t>
            </a:r>
            <a:r>
              <a:rPr lang="en-US" altLang="ja-JP" dirty="0"/>
              <a:t>CPU </a:t>
            </a:r>
            <a:r>
              <a:rPr lang="ja-JP" altLang="en-US" dirty="0"/>
              <a:t>は，基本的にみなこのタイプ</a:t>
            </a:r>
          </a:p>
        </p:txBody>
      </p:sp>
    </p:spTree>
    <p:extLst>
      <p:ext uri="{BB962C8B-B14F-4D97-AF65-F5344CB8AC3E}">
        <p14:creationId xmlns:p14="http://schemas.microsoft.com/office/powerpoint/2010/main" val="6259761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動的命令スケジューリングを行う </a:t>
            </a:r>
            <a:r>
              <a:rPr lang="en-US" altLang="ja-JP" dirty="0"/>
              <a:t>CPU </a:t>
            </a:r>
            <a:r>
              <a:rPr lang="ja-JP" altLang="en-US" dirty="0"/>
              <a:t>の構造</a:t>
            </a:r>
            <a:endParaRPr lang="ja-JP" altLang="en-US" sz="2000" dirty="0"/>
          </a:p>
        </p:txBody>
      </p:sp>
      <p:sp>
        <p:nvSpPr>
          <p:cNvPr id="3" name="テキスト プレースホルダー 2"/>
          <p:cNvSpPr>
            <a:spLocks noGrp="1"/>
          </p:cNvSpPr>
          <p:nvPr>
            <p:ph type="body" sz="quarter" idx="10"/>
          </p:nvPr>
        </p:nvSpPr>
        <p:spPr>
          <a:xfrm>
            <a:off x="2135956" y="5589331"/>
            <a:ext cx="8280092" cy="629700"/>
          </a:xfrm>
        </p:spPr>
        <p:txBody>
          <a:bodyPr/>
          <a:lstStyle/>
          <a:p>
            <a:r>
              <a:rPr lang="ja-JP" altLang="en-US" dirty="0"/>
              <a:t>発行キューによって前後に分離された構造を持つ</a:t>
            </a:r>
            <a:endParaRPr kumimoji="1" lang="en-US" altLang="ja-JP" dirty="0"/>
          </a:p>
          <a:p>
            <a:pPr marL="817200" lvl="1" indent="-457200">
              <a:buFont typeface="+mj-lt"/>
              <a:buAutoNum type="arabicPeriod"/>
            </a:pPr>
            <a:r>
              <a:rPr kumimoji="1" lang="ja-JP" altLang="en-US" dirty="0"/>
              <a:t>フロントエンド：</a:t>
            </a:r>
            <a:r>
              <a:rPr kumimoji="1" lang="en-US" altLang="ja-JP" dirty="0"/>
              <a:t>	</a:t>
            </a:r>
            <a:r>
              <a:rPr kumimoji="1" lang="ja-JP" altLang="en-US" dirty="0"/>
              <a:t>命令を供給</a:t>
            </a:r>
            <a:endParaRPr kumimoji="1" lang="en-US" altLang="ja-JP" dirty="0"/>
          </a:p>
          <a:p>
            <a:pPr marL="817200" lvl="1" indent="-457200">
              <a:buFont typeface="+mj-lt"/>
              <a:buAutoNum type="arabicPeriod"/>
            </a:pPr>
            <a:r>
              <a:rPr kumimoji="1" lang="ja-JP" altLang="en-US" dirty="0"/>
              <a:t>発行キュー：</a:t>
            </a:r>
            <a:r>
              <a:rPr kumimoji="1" lang="en-US" altLang="ja-JP" dirty="0"/>
              <a:t>		</a:t>
            </a:r>
            <a:r>
              <a:rPr kumimoji="1" lang="ja-JP" altLang="en-US" dirty="0"/>
              <a:t>命令の待ち合わせ</a:t>
            </a:r>
            <a:endParaRPr kumimoji="1" lang="en-US" altLang="ja-JP" dirty="0"/>
          </a:p>
          <a:p>
            <a:pPr marL="817200" lvl="1" indent="-457200">
              <a:buFont typeface="+mj-lt"/>
              <a:buAutoNum type="arabicPeriod"/>
            </a:pPr>
            <a:r>
              <a:rPr kumimoji="1" lang="ja-JP" altLang="en-US" dirty="0"/>
              <a:t>バックエンド：</a:t>
            </a:r>
            <a:r>
              <a:rPr kumimoji="1" lang="en-US" altLang="ja-JP" dirty="0"/>
              <a:t>		</a:t>
            </a:r>
            <a:r>
              <a:rPr kumimoji="1" lang="ja-JP" altLang="en-US" dirty="0"/>
              <a:t>命令を実行</a:t>
            </a:r>
          </a:p>
        </p:txBody>
      </p:sp>
      <p:grpSp>
        <p:nvGrpSpPr>
          <p:cNvPr id="4" name="グループ化 3"/>
          <p:cNvGrpSpPr/>
          <p:nvPr/>
        </p:nvGrpSpPr>
        <p:grpSpPr>
          <a:xfrm>
            <a:off x="2945965" y="3248998"/>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5916142" y="3248998"/>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7356302" y="3248998"/>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796462" y="3248998"/>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907805" y="238445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5877982" y="2384455"/>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7320029" y="2403039"/>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760189" y="2403039"/>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2" name="Freeform 25"/>
          <p:cNvSpPr>
            <a:spLocks/>
          </p:cNvSpPr>
          <p:nvPr/>
        </p:nvSpPr>
        <p:spPr bwMode="auto">
          <a:xfrm>
            <a:off x="6096000" y="1088974"/>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レジスタ・ファイル</a:t>
            </a:r>
          </a:p>
        </p:txBody>
      </p:sp>
      <p:sp>
        <p:nvSpPr>
          <p:cNvPr id="23" name="AutoShape 5"/>
          <p:cNvSpPr>
            <a:spLocks noChangeArrowheads="1"/>
          </p:cNvSpPr>
          <p:nvPr/>
        </p:nvSpPr>
        <p:spPr bwMode="auto">
          <a:xfrm rot="-5400000">
            <a:off x="7716180" y="1773050"/>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ALU</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24" name="グループ化 23"/>
          <p:cNvGrpSpPr/>
          <p:nvPr/>
        </p:nvGrpSpPr>
        <p:grpSpPr>
          <a:xfrm>
            <a:off x="6384032" y="1809054"/>
            <a:ext cx="1008112" cy="432048"/>
            <a:chOff x="3563888" y="2708920"/>
            <a:chExt cx="1296144" cy="432048"/>
          </a:xfrm>
        </p:grpSpPr>
        <p:sp>
          <p:nvSpPr>
            <p:cNvPr id="25" name="Freeform 9"/>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6" name="Freeform 10"/>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27" name="Freeform 8"/>
          <p:cNvSpPr>
            <a:spLocks/>
          </p:cNvSpPr>
          <p:nvPr/>
        </p:nvSpPr>
        <p:spPr bwMode="auto">
          <a:xfrm>
            <a:off x="8832304" y="1809054"/>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4" name="正方形/長方形 33"/>
          <p:cNvSpPr/>
          <p:nvPr/>
        </p:nvSpPr>
        <p:spPr bwMode="auto">
          <a:xfrm>
            <a:off x="4655984" y="2348989"/>
            <a:ext cx="1080012" cy="2430027"/>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発行キュー</a:t>
            </a:r>
          </a:p>
        </p:txBody>
      </p:sp>
      <p:sp>
        <p:nvSpPr>
          <p:cNvPr id="35" name="正方形/長方形 34"/>
          <p:cNvSpPr/>
          <p:nvPr/>
        </p:nvSpPr>
        <p:spPr bwMode="auto">
          <a:xfrm>
            <a:off x="1955955" y="189898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命令メモリ</a:t>
            </a:r>
          </a:p>
        </p:txBody>
      </p:sp>
      <p:sp>
        <p:nvSpPr>
          <p:cNvPr id="36" name="正方形/長方形 35"/>
          <p:cNvSpPr/>
          <p:nvPr/>
        </p:nvSpPr>
        <p:spPr bwMode="auto">
          <a:xfrm>
            <a:off x="1685951" y="2438990"/>
            <a:ext cx="1152128" cy="1710019"/>
          </a:xfrm>
          <a:prstGeom prst="rect">
            <a:avLst/>
          </a:prstGeom>
          <a:ln>
            <a:headEnd/>
            <a:tailEnd type="non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lang="en-US" altLang="ja-JP" sz="2000" dirty="0">
                <a:solidFill>
                  <a:schemeClr val="bg1"/>
                </a:solidFill>
                <a:latin typeface="Arial Narrow" panose="020B0606020202030204" pitchFamily="34" charset="0"/>
              </a:rPr>
              <a:t>b=a+1</a:t>
            </a:r>
          </a:p>
          <a:p>
            <a:pPr>
              <a:lnSpc>
                <a:spcPct val="80000"/>
              </a:lnSpc>
            </a:pPr>
            <a:r>
              <a:rPr lang="en-US" altLang="ja-JP" sz="2000" dirty="0">
                <a:solidFill>
                  <a:schemeClr val="bg1"/>
                </a:solidFill>
                <a:latin typeface="Arial Narrow" panose="020B0606020202030204" pitchFamily="34" charset="0"/>
              </a:rPr>
              <a:t>c=b-1</a:t>
            </a:r>
          </a:p>
          <a:p>
            <a:pPr>
              <a:lnSpc>
                <a:spcPct val="80000"/>
              </a:lnSpc>
            </a:pPr>
            <a:r>
              <a:rPr lang="en-US" altLang="ja-JP" sz="2000" dirty="0">
                <a:solidFill>
                  <a:schemeClr val="bg1"/>
                </a:solidFill>
                <a:latin typeface="Arial Narrow" panose="020B0606020202030204" pitchFamily="34" charset="0"/>
              </a:rPr>
              <a:t>d=c+2</a:t>
            </a:r>
          </a:p>
          <a:p>
            <a:pPr>
              <a:lnSpc>
                <a:spcPct val="80000"/>
              </a:lnSpc>
            </a:pPr>
            <a:r>
              <a:rPr lang="en-US" altLang="ja-JP" sz="2000" dirty="0">
                <a:solidFill>
                  <a:schemeClr val="bg1"/>
                </a:solidFill>
                <a:latin typeface="Arial Narrow" panose="020B0606020202030204" pitchFamily="34" charset="0"/>
              </a:rPr>
              <a:t>e=…</a:t>
            </a:r>
          </a:p>
          <a:p>
            <a:pPr>
              <a:lnSpc>
                <a:spcPct val="80000"/>
              </a:lnSpc>
            </a:pPr>
            <a:r>
              <a:rPr lang="en-US" altLang="ja-JP" sz="2000" dirty="0">
                <a:solidFill>
                  <a:schemeClr val="bg1"/>
                </a:solidFill>
                <a:latin typeface="Arial Narrow" panose="020B0606020202030204" pitchFamily="34" charset="0"/>
              </a:rPr>
              <a:t>…</a:t>
            </a:r>
            <a:endParaRPr lang="ja-JP" altLang="en-US" sz="2000" dirty="0">
              <a:solidFill>
                <a:schemeClr val="bg1"/>
              </a:solidFill>
              <a:latin typeface="Arial Narrow" panose="020B0606020202030204" pitchFamily="34" charset="0"/>
            </a:endParaRPr>
          </a:p>
        </p:txBody>
      </p:sp>
      <p:cxnSp>
        <p:nvCxnSpPr>
          <p:cNvPr id="37" name="直線矢印コネクタ 36"/>
          <p:cNvCxnSpPr/>
          <p:nvPr/>
        </p:nvCxnSpPr>
        <p:spPr bwMode="auto">
          <a:xfrm flipH="1">
            <a:off x="1685952" y="4329010"/>
            <a:ext cx="2790030"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38" name="角丸四角形吹き出し 37"/>
          <p:cNvSpPr/>
          <p:nvPr/>
        </p:nvSpPr>
        <p:spPr bwMode="auto">
          <a:xfrm>
            <a:off x="2315958" y="441901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フロントエンド</a:t>
            </a:r>
          </a:p>
        </p:txBody>
      </p:sp>
      <p:cxnSp>
        <p:nvCxnSpPr>
          <p:cNvPr id="40" name="直線矢印コネクタ 39"/>
          <p:cNvCxnSpPr/>
          <p:nvPr/>
        </p:nvCxnSpPr>
        <p:spPr bwMode="auto">
          <a:xfrm flipH="1">
            <a:off x="5915999" y="4329010"/>
            <a:ext cx="4410049"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41" name="角丸四角形吹き出し 40"/>
          <p:cNvSpPr/>
          <p:nvPr/>
        </p:nvSpPr>
        <p:spPr bwMode="auto">
          <a:xfrm>
            <a:off x="7356014" y="441901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バックエンド</a:t>
            </a:r>
          </a:p>
        </p:txBody>
      </p:sp>
      <p:sp>
        <p:nvSpPr>
          <p:cNvPr id="43" name="正方形/長方形 42"/>
          <p:cNvSpPr/>
          <p:nvPr/>
        </p:nvSpPr>
        <p:spPr>
          <a:xfrm>
            <a:off x="4745986" y="1538979"/>
            <a:ext cx="865983" cy="738664"/>
          </a:xfrm>
          <a:prstGeom prst="rect">
            <a:avLst/>
          </a:prstGeom>
        </p:spPr>
        <p:txBody>
          <a:bodyPr wrap="square">
            <a:spAutoFit/>
          </a:bodyPr>
          <a:lstStyle/>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15180439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大ざっぱな動作</a:t>
            </a:r>
            <a:endParaRPr kumimoji="1" lang="ja-JP" altLang="en-US" dirty="0"/>
          </a:p>
        </p:txBody>
      </p:sp>
      <p:sp>
        <p:nvSpPr>
          <p:cNvPr id="3" name="テキスト プレースホルダー 2"/>
          <p:cNvSpPr>
            <a:spLocks noGrp="1"/>
          </p:cNvSpPr>
          <p:nvPr>
            <p:ph type="body" sz="quarter" idx="10"/>
          </p:nvPr>
        </p:nvSpPr>
        <p:spPr>
          <a:xfrm>
            <a:off x="2135956" y="5319021"/>
            <a:ext cx="8280092" cy="629700"/>
          </a:xfrm>
        </p:spPr>
        <p:txBody>
          <a:bodyPr/>
          <a:lstStyle/>
          <a:p>
            <a:pPr marL="817200" lvl="1" indent="-457200">
              <a:buFont typeface="+mj-lt"/>
              <a:buAutoNum type="arabicPeriod"/>
            </a:pPr>
            <a:r>
              <a:rPr kumimoji="1" lang="ja-JP" altLang="en-US" dirty="0"/>
              <a:t>フロントエンドで命令を順にフェッチ</a:t>
            </a:r>
            <a:endParaRPr kumimoji="1" lang="en-US" altLang="ja-JP" dirty="0"/>
          </a:p>
          <a:p>
            <a:pPr marL="817200" lvl="1" indent="-457200">
              <a:buFont typeface="+mj-lt"/>
              <a:buAutoNum type="arabicPeriod"/>
            </a:pPr>
            <a:r>
              <a:rPr kumimoji="1" lang="ja-JP" altLang="en-US" dirty="0"/>
              <a:t>発行キューに投入</a:t>
            </a:r>
            <a:endParaRPr kumimoji="1" lang="en-US" altLang="ja-JP" dirty="0"/>
          </a:p>
          <a:p>
            <a:pPr marL="817200" lvl="1" indent="-457200">
              <a:buFont typeface="+mj-lt"/>
              <a:buAutoNum type="arabicPeriod"/>
            </a:pPr>
            <a:r>
              <a:rPr kumimoji="1" lang="ja-JP" altLang="en-US" dirty="0"/>
              <a:t>実行可能なものから順にバックエンドに命令を送信</a:t>
            </a:r>
            <a:endParaRPr kumimoji="1" lang="en-US" altLang="ja-JP" dirty="0"/>
          </a:p>
          <a:p>
            <a:pPr marL="817200" lvl="1" indent="-457200">
              <a:buFont typeface="+mj-lt"/>
              <a:buAutoNum type="arabicPeriod"/>
            </a:pPr>
            <a:r>
              <a:rPr kumimoji="1" lang="ja-JP" altLang="en-US" dirty="0"/>
              <a:t>レジスタを読んで演算器で実行し書き戻す</a:t>
            </a:r>
          </a:p>
        </p:txBody>
      </p:sp>
      <p:grpSp>
        <p:nvGrpSpPr>
          <p:cNvPr id="4" name="グループ化 3"/>
          <p:cNvGrpSpPr/>
          <p:nvPr/>
        </p:nvGrpSpPr>
        <p:grpSpPr>
          <a:xfrm>
            <a:off x="2495960" y="2798993"/>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5466137" y="2798993"/>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6906297" y="2798993"/>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346457" y="2798993"/>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457800" y="1934450"/>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5427977" y="1934450"/>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6870024" y="1953034"/>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310184" y="1953034"/>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4" name="正方形/長方形 33"/>
          <p:cNvSpPr/>
          <p:nvPr/>
        </p:nvSpPr>
        <p:spPr bwMode="auto">
          <a:xfrm>
            <a:off x="4205979" y="2438990"/>
            <a:ext cx="1080012" cy="135001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発行キュー</a:t>
            </a:r>
          </a:p>
        </p:txBody>
      </p:sp>
      <p:cxnSp>
        <p:nvCxnSpPr>
          <p:cNvPr id="37" name="直線矢印コネクタ 36"/>
          <p:cNvCxnSpPr/>
          <p:nvPr/>
        </p:nvCxnSpPr>
        <p:spPr bwMode="auto">
          <a:xfrm flipH="1">
            <a:off x="2495961" y="3536360"/>
            <a:ext cx="1530017"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38" name="角丸四角形吹き出し 37"/>
          <p:cNvSpPr/>
          <p:nvPr/>
        </p:nvSpPr>
        <p:spPr bwMode="auto">
          <a:xfrm>
            <a:off x="2405959" y="362636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フロントエンド</a:t>
            </a:r>
          </a:p>
        </p:txBody>
      </p:sp>
      <p:cxnSp>
        <p:nvCxnSpPr>
          <p:cNvPr id="40" name="直線矢印コネクタ 39"/>
          <p:cNvCxnSpPr/>
          <p:nvPr/>
        </p:nvCxnSpPr>
        <p:spPr bwMode="auto">
          <a:xfrm flipH="1">
            <a:off x="5465994" y="3536360"/>
            <a:ext cx="4410049"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41" name="角丸四角形吹き出し 40"/>
          <p:cNvSpPr/>
          <p:nvPr/>
        </p:nvSpPr>
        <p:spPr bwMode="auto">
          <a:xfrm>
            <a:off x="6906009" y="362636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バックエンド</a:t>
            </a:r>
          </a:p>
        </p:txBody>
      </p:sp>
      <p:sp>
        <p:nvSpPr>
          <p:cNvPr id="43" name="正方形/長方形 42"/>
          <p:cNvSpPr/>
          <p:nvPr/>
        </p:nvSpPr>
        <p:spPr>
          <a:xfrm>
            <a:off x="4295981" y="1628980"/>
            <a:ext cx="865983" cy="738664"/>
          </a:xfrm>
          <a:prstGeom prst="rect">
            <a:avLst/>
          </a:prstGeom>
        </p:spPr>
        <p:txBody>
          <a:bodyPr wrap="square">
            <a:spAutoFit/>
          </a:bodyPr>
          <a:lstStyle/>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4988787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言葉の定義１</a:t>
            </a:r>
          </a:p>
        </p:txBody>
      </p:sp>
      <p:sp>
        <p:nvSpPr>
          <p:cNvPr id="3" name="テキスト プレースホルダー 2"/>
          <p:cNvSpPr>
            <a:spLocks noGrp="1"/>
          </p:cNvSpPr>
          <p:nvPr>
            <p:ph type="body" sz="quarter" idx="10"/>
          </p:nvPr>
        </p:nvSpPr>
        <p:spPr>
          <a:xfrm>
            <a:off x="1595951" y="4779016"/>
            <a:ext cx="8910099" cy="899703"/>
          </a:xfrm>
        </p:spPr>
        <p:txBody>
          <a:bodyPr/>
          <a:lstStyle/>
          <a:p>
            <a:pPr lvl="1"/>
            <a:r>
              <a:rPr kumimoji="1" lang="ja-JP" altLang="en-US" dirty="0"/>
              <a:t>ディスパッチ：フロントエンドから発行キューに命令をいれること</a:t>
            </a:r>
            <a:endParaRPr kumimoji="1" lang="en-US" altLang="ja-JP" dirty="0"/>
          </a:p>
          <a:p>
            <a:pPr lvl="1"/>
            <a:r>
              <a:rPr kumimoji="1" lang="ja-JP" altLang="en-US" dirty="0"/>
              <a:t>発行（</a:t>
            </a:r>
            <a:r>
              <a:rPr lang="en-US" altLang="ja-JP" dirty="0"/>
              <a:t>issue</a:t>
            </a:r>
            <a:r>
              <a:rPr kumimoji="1" lang="ja-JP" altLang="en-US" dirty="0"/>
              <a:t>）：発行キューからバックエンドに命令を送ること</a:t>
            </a:r>
            <a:endParaRPr kumimoji="1" lang="en-US" altLang="ja-JP" dirty="0"/>
          </a:p>
          <a:p>
            <a:pPr lvl="1"/>
            <a:r>
              <a:rPr kumimoji="1" lang="ja-JP" altLang="en-US" dirty="0"/>
              <a:t>完了（</a:t>
            </a:r>
            <a:r>
              <a:rPr kumimoji="1" lang="en-US" altLang="ja-JP" dirty="0"/>
              <a:t>complete</a:t>
            </a:r>
            <a:r>
              <a:rPr kumimoji="1" lang="ja-JP" altLang="en-US" dirty="0"/>
              <a:t>）：バックエンドで命令の処理が終わること</a:t>
            </a:r>
            <a:endParaRPr kumimoji="1" lang="en-US" altLang="ja-JP" dirty="0"/>
          </a:p>
          <a:p>
            <a:pPr lvl="1"/>
            <a:endParaRPr lang="en-US" altLang="ja-JP" dirty="0"/>
          </a:p>
          <a:p>
            <a:pPr lvl="1"/>
            <a:r>
              <a:rPr kumimoji="1" lang="ja-JP" altLang="en-US" dirty="0"/>
              <a:t>微妙にこのあたりの用語は文献ごとに統一されていないので注意</a:t>
            </a:r>
            <a:endParaRPr kumimoji="1" lang="en-US" altLang="ja-JP" dirty="0"/>
          </a:p>
          <a:p>
            <a:pPr lvl="2"/>
            <a:r>
              <a:rPr kumimoji="1" lang="ja-JP" altLang="en-US" dirty="0"/>
              <a:t>インテルは昔からかたくなにディスパッチと発行を逆の意味で使う</a:t>
            </a:r>
          </a:p>
        </p:txBody>
      </p:sp>
      <p:grpSp>
        <p:nvGrpSpPr>
          <p:cNvPr id="4" name="グループ化 3"/>
          <p:cNvGrpSpPr/>
          <p:nvPr/>
        </p:nvGrpSpPr>
        <p:grpSpPr>
          <a:xfrm>
            <a:off x="2495960" y="2636350"/>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5466137" y="2636350"/>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6906297" y="2636350"/>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346457" y="2636350"/>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457800" y="1771807"/>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5427977" y="1771807"/>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6870024" y="1790391"/>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310184" y="1790391"/>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0" name="正方形/長方形 19"/>
          <p:cNvSpPr/>
          <p:nvPr/>
        </p:nvSpPr>
        <p:spPr bwMode="auto">
          <a:xfrm>
            <a:off x="4205979" y="2276347"/>
            <a:ext cx="1080012" cy="135001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発行キュー</a:t>
            </a:r>
          </a:p>
        </p:txBody>
      </p:sp>
      <p:sp>
        <p:nvSpPr>
          <p:cNvPr id="23" name="正方形/長方形 22"/>
          <p:cNvSpPr/>
          <p:nvPr/>
        </p:nvSpPr>
        <p:spPr>
          <a:xfrm>
            <a:off x="4295981" y="1466337"/>
            <a:ext cx="865983" cy="738664"/>
          </a:xfrm>
          <a:prstGeom prst="rect">
            <a:avLst/>
          </a:prstGeom>
        </p:spPr>
        <p:txBody>
          <a:bodyPr wrap="square">
            <a:spAutoFit/>
          </a:bodyPr>
          <a:lstStyle/>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cxnSp>
        <p:nvCxnSpPr>
          <p:cNvPr id="24" name="直線矢印コネクタ 23"/>
          <p:cNvCxnSpPr/>
          <p:nvPr/>
        </p:nvCxnSpPr>
        <p:spPr bwMode="auto">
          <a:xfrm flipH="1">
            <a:off x="2495961" y="3356358"/>
            <a:ext cx="1530017"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25" name="角丸四角形吹き出し 24"/>
          <p:cNvSpPr/>
          <p:nvPr/>
        </p:nvSpPr>
        <p:spPr bwMode="auto">
          <a:xfrm>
            <a:off x="2405959" y="3446360"/>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フロントエンド</a:t>
            </a:r>
          </a:p>
        </p:txBody>
      </p:sp>
      <p:cxnSp>
        <p:nvCxnSpPr>
          <p:cNvPr id="26" name="直線矢印コネクタ 25"/>
          <p:cNvCxnSpPr/>
          <p:nvPr/>
        </p:nvCxnSpPr>
        <p:spPr bwMode="auto">
          <a:xfrm flipH="1">
            <a:off x="5465994" y="3356358"/>
            <a:ext cx="4410049"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27" name="角丸四角形吹き出し 26"/>
          <p:cNvSpPr/>
          <p:nvPr/>
        </p:nvSpPr>
        <p:spPr bwMode="auto">
          <a:xfrm>
            <a:off x="6906009" y="3446360"/>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バックエンド</a:t>
            </a:r>
          </a:p>
        </p:txBody>
      </p:sp>
    </p:spTree>
    <p:extLst>
      <p:ext uri="{BB962C8B-B14F-4D97-AF65-F5344CB8AC3E}">
        <p14:creationId xmlns:p14="http://schemas.microsoft.com/office/powerpoint/2010/main" val="25709753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言葉の定義２</a:t>
            </a:r>
            <a:endParaRPr lang="en-US" altLang="ja-JP" dirty="0"/>
          </a:p>
        </p:txBody>
      </p:sp>
      <p:sp>
        <p:nvSpPr>
          <p:cNvPr id="3" name="テキスト プレースホルダー 2"/>
          <p:cNvSpPr>
            <a:spLocks noGrp="1"/>
          </p:cNvSpPr>
          <p:nvPr>
            <p:ph type="body" sz="quarter" idx="10"/>
          </p:nvPr>
        </p:nvSpPr>
        <p:spPr>
          <a:xfrm>
            <a:off x="2135956" y="1538980"/>
            <a:ext cx="8280092" cy="2070023"/>
          </a:xfrm>
        </p:spPr>
        <p:txBody>
          <a:bodyPr/>
          <a:lstStyle/>
          <a:p>
            <a:r>
              <a:rPr lang="ja-JP" altLang="en-US" dirty="0"/>
              <a:t>並び替えに関係する用語：</a:t>
            </a:r>
            <a:endParaRPr lang="en-US" altLang="ja-JP" dirty="0"/>
          </a:p>
          <a:p>
            <a:pPr lvl="1"/>
            <a:r>
              <a:rPr lang="en-US" altLang="ja-JP" dirty="0"/>
              <a:t>in-order</a:t>
            </a:r>
            <a:r>
              <a:rPr lang="ja-JP" altLang="en-US" dirty="0"/>
              <a:t>：</a:t>
            </a:r>
            <a:r>
              <a:rPr lang="en-US" altLang="ja-JP" dirty="0"/>
              <a:t>			</a:t>
            </a:r>
            <a:r>
              <a:rPr lang="ja-JP" altLang="en-US" dirty="0"/>
              <a:t>プログラム順のこと</a:t>
            </a:r>
            <a:endParaRPr lang="en-US" altLang="ja-JP" dirty="0"/>
          </a:p>
          <a:p>
            <a:pPr lvl="1"/>
            <a:r>
              <a:rPr lang="en-US" altLang="ja-JP" dirty="0"/>
              <a:t>out-of-order</a:t>
            </a:r>
            <a:r>
              <a:rPr lang="ja-JP" altLang="en-US" dirty="0"/>
              <a:t>（</a:t>
            </a:r>
            <a:r>
              <a:rPr lang="en-US" altLang="ja-JP" dirty="0"/>
              <a:t>OoO</a:t>
            </a:r>
            <a:r>
              <a:rPr lang="ja-JP" altLang="en-US" dirty="0"/>
              <a:t>）：</a:t>
            </a:r>
            <a:r>
              <a:rPr lang="en-US" altLang="ja-JP" dirty="0"/>
              <a:t>	</a:t>
            </a:r>
            <a:r>
              <a:rPr lang="ja-JP" altLang="en-US" dirty="0"/>
              <a:t>上記とは違う順番のこと</a:t>
            </a:r>
            <a:endParaRPr lang="en-US" altLang="ja-JP" dirty="0"/>
          </a:p>
          <a:p>
            <a:r>
              <a:rPr lang="ja-JP" altLang="en-US" dirty="0"/>
              <a:t>（一般には，公共性の高い機器が故障してることを言うらしい</a:t>
            </a:r>
          </a:p>
        </p:txBody>
      </p:sp>
      <p:pic>
        <p:nvPicPr>
          <p:cNvPr id="1026" name="Picture 2" descr="https://lh3.googleusercontent.com/KaPBNSX_DHiQ8IF03R1362TR5-H8ATwFOtG3jVRnzL1iJh4vK5kNQc_hZud9oFk9OB9I63caDOAAnukYaH6-NWr9JrZ5jDw8ZCQ1EpdZ4fx7bG41wzDasUnCu7xPOH3-_qpqoptmL4ZmS-WLkTICbioEoMpsol8Dkjsjdw08lgUEqf4i0Oqz0Ar8fK35QmYshSpwFzzRX4I9gU1wmCd4iLlJxolsjupw93R7wJRqywRB_X2Iz1nWc1Jg7LqxVjnemzlNcR2MER3P5GRqDA3DTSzUkbWb_IfChqUkO-i6FyT4izgxgruRLoUN2-CLKUIUQcFd1t9cyGlv3V0V_pnFLYk1CG8LwFfymNOHz9eafuyn_Y9Nz6OlzfK241SXiNf7vhYN53VNrno1byGGawm4Xj0blxrayIaAvFBfFTXvRzI5l_j98Q6H0qoJwkT1sTB6RU6_pDLAYQrWAfj3kqfZWDwdf3dNodEusxbV7iMDZP0KcHvHBYC_1bsVumqZHeqlTOzb79fJdFZ8jzfColXU5yqJ3JpEsxtnYbQGLjyhm0T__bob-Qp7bJHGeFyuTE6VBW9hArtHra_jpZTfQw1SOV5tQvDkN2McF1nUbVj7lfuKPP4lhzJCj4Uz5cNCRwkh2Qz1Kw6d-nobhs3ouZ84eQ9jjxXnmXE=w596-h1058-no"/>
          <p:cNvPicPr>
            <a:picLocks noChangeAspect="1" noChangeArrowheads="1"/>
          </p:cNvPicPr>
          <p:nvPr/>
        </p:nvPicPr>
        <p:blipFill rotWithShape="1">
          <a:blip r:embed="rId2">
            <a:extLst>
              <a:ext uri="{28A0092B-C50C-407E-A947-70E740481C1C}">
                <a14:useLocalDpi xmlns:a14="http://schemas.microsoft.com/office/drawing/2010/main" val="0"/>
              </a:ext>
            </a:extLst>
          </a:blip>
          <a:srcRect l="-859" t="27401" b="32851"/>
          <a:stretch/>
        </p:blipFill>
        <p:spPr bwMode="auto">
          <a:xfrm>
            <a:off x="2945965" y="3789004"/>
            <a:ext cx="3095753" cy="2169357"/>
          </a:xfrm>
          <a:prstGeom prst="rect">
            <a:avLst/>
          </a:prstGeom>
          <a:noFill/>
          <a:extLst>
            <a:ext uri="{909E8E84-426E-40DD-AFC4-6F175D3DCCD1}">
              <a14:hiddenFill xmlns:a14="http://schemas.microsoft.com/office/drawing/2010/main">
                <a:solidFill>
                  <a:srgbClr val="FFFFFF"/>
                </a:solidFill>
              </a14:hiddenFill>
            </a:ext>
          </a:extLst>
        </p:spPr>
      </p:pic>
      <p:pic>
        <p:nvPicPr>
          <p:cNvPr id="6" name="図 5" descr="文字の書かれた紙&#10;&#10;AI 生成コンテンツは誤りを含む可能性があります。">
            <a:extLst>
              <a:ext uri="{FF2B5EF4-FFF2-40B4-BE49-F238E27FC236}">
                <a16:creationId xmlns:a16="http://schemas.microsoft.com/office/drawing/2014/main" id="{F77B5715-8274-471E-DACD-11F13C6E57C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66003" y="3789004"/>
            <a:ext cx="3114124" cy="2344752"/>
          </a:xfrm>
          <a:prstGeom prst="rect">
            <a:avLst/>
          </a:prstGeom>
        </p:spPr>
      </p:pic>
    </p:spTree>
    <p:extLst>
      <p:ext uri="{BB962C8B-B14F-4D97-AF65-F5344CB8AC3E}">
        <p14:creationId xmlns:p14="http://schemas.microsoft.com/office/powerpoint/2010/main" val="24939408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命令の並列実行</a:t>
            </a:r>
            <a:endParaRPr lang="en-US" altLang="ja-JP" dirty="0"/>
          </a:p>
          <a:p>
            <a:pPr marL="457200" indent="-457200">
              <a:buFont typeface="+mj-lt"/>
              <a:buAutoNum type="arabicPeriod"/>
            </a:pPr>
            <a:r>
              <a:rPr lang="ja-JP" altLang="en-US" dirty="0"/>
              <a:t>データ依存</a:t>
            </a:r>
            <a:endParaRPr lang="en-US" altLang="ja-JP" dirty="0"/>
          </a:p>
          <a:p>
            <a:pPr marL="457200" indent="-457200">
              <a:buFont typeface="+mj-lt"/>
              <a:buAutoNum type="arabicPeriod"/>
            </a:pPr>
            <a:r>
              <a:rPr lang="ja-JP" altLang="en-US" dirty="0"/>
              <a:t>静的命令スケジューリングと </a:t>
            </a:r>
            <a:r>
              <a:rPr lang="en-US" altLang="ja-JP" dirty="0"/>
              <a:t>VLIW</a:t>
            </a:r>
          </a:p>
          <a:p>
            <a:pPr marL="457200" indent="-457200">
              <a:buFont typeface="+mj-lt"/>
              <a:buAutoNum type="arabicPeriod"/>
            </a:pPr>
            <a:r>
              <a:rPr lang="ja-JP" altLang="en-US" dirty="0"/>
              <a:t>動的命令スケジューリング（のさわり）</a:t>
            </a:r>
            <a:endParaRPr lang="en-US" altLang="ja-JP" dirty="0"/>
          </a:p>
        </p:txBody>
      </p:sp>
    </p:spTree>
    <p:extLst>
      <p:ext uri="{BB962C8B-B14F-4D97-AF65-F5344CB8AC3E}">
        <p14:creationId xmlns:p14="http://schemas.microsoft.com/office/powerpoint/2010/main" val="29190399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出欠と感想</a:t>
            </a:r>
            <a:endParaRPr kumimoji="1" lang="ja-JP" altLang="en-US" dirty="0"/>
          </a:p>
        </p:txBody>
      </p:sp>
      <p:sp>
        <p:nvSpPr>
          <p:cNvPr id="3" name="テキスト プレースホルダー 2"/>
          <p:cNvSpPr>
            <a:spLocks noGrp="1"/>
          </p:cNvSpPr>
          <p:nvPr>
            <p:ph type="body" sz="quarter" idx="10"/>
          </p:nvPr>
        </p:nvSpPr>
        <p:spPr>
          <a:xfrm>
            <a:off x="1865953" y="1088977"/>
            <a:ext cx="8532044" cy="5219751"/>
          </a:xfrm>
        </p:spPr>
        <p:txBody>
          <a:bodyPr/>
          <a:lstStyle/>
          <a:p>
            <a:r>
              <a:rPr lang="ja-JP" altLang="en-US" dirty="0"/>
              <a:t>本日の講義でよくわかったところ，わからなかったところ，</a:t>
            </a:r>
            <a:br>
              <a:rPr lang="en-US" altLang="ja-JP" dirty="0"/>
            </a:br>
            <a:r>
              <a:rPr lang="ja-JP" altLang="en-US" dirty="0"/>
              <a:t>質問，感想などを </a:t>
            </a:r>
            <a:r>
              <a:rPr lang="en-US" altLang="ja-JP" dirty="0"/>
              <a:t>UTOL </a:t>
            </a:r>
            <a:r>
              <a:rPr lang="ja-JP" altLang="en-US" dirty="0"/>
              <a:t>の出席欄に書いてください</a:t>
            </a:r>
            <a:endParaRPr lang="en-US" altLang="ja-JP" dirty="0"/>
          </a:p>
          <a:p>
            <a:pPr lvl="1"/>
            <a:r>
              <a:rPr lang="en-US" altLang="ja-JP" dirty="0"/>
              <a:t>LMS </a:t>
            </a:r>
            <a:r>
              <a:rPr lang="ja-JP" altLang="en-US" dirty="0"/>
              <a:t>の出席を設定するので，そこにお願いします</a:t>
            </a:r>
            <a:endParaRPr lang="en-US" altLang="ja-JP" dirty="0"/>
          </a:p>
          <a:p>
            <a:pPr lvl="1"/>
            <a:r>
              <a:rPr lang="ja-JP" altLang="en-US" dirty="0"/>
              <a:t>パスワード ：</a:t>
            </a:r>
            <a:r>
              <a:rPr lang="en-US" altLang="ja-JP" dirty="0"/>
              <a:t>arc</a:t>
            </a:r>
          </a:p>
          <a:p>
            <a:r>
              <a:rPr lang="ja-JP" altLang="en-US" dirty="0"/>
              <a:t>意見や内容へのリクエストもあったら書いてください</a:t>
            </a:r>
            <a:endParaRPr lang="en-US" altLang="ja-JP" dirty="0"/>
          </a:p>
          <a:p>
            <a:r>
              <a:rPr lang="en-US" altLang="ja-JP" dirty="0">
                <a:solidFill>
                  <a:schemeClr val="accent5"/>
                </a:solidFill>
              </a:rPr>
              <a:t>UTOL </a:t>
            </a:r>
            <a:r>
              <a:rPr lang="ja-JP" altLang="en-US" dirty="0">
                <a:solidFill>
                  <a:schemeClr val="accent5"/>
                </a:solidFill>
              </a:rPr>
              <a:t>の出席の締め切りは来週の講義開始までに設定してあります</a:t>
            </a:r>
            <a:endParaRPr lang="en-US" altLang="ja-JP" dirty="0">
              <a:solidFill>
                <a:schemeClr val="accent5"/>
              </a:solidFill>
            </a:endParaRPr>
          </a:p>
          <a:p>
            <a:pPr lvl="1"/>
            <a:r>
              <a:rPr lang="ja-JP" altLang="en-US" dirty="0"/>
              <a:t>仕様上「遅刻」表示になりますが，特に減点等しません</a:t>
            </a:r>
            <a:endParaRPr lang="en-US" altLang="ja-JP" dirty="0"/>
          </a:p>
          <a:p>
            <a:pPr lvl="1"/>
            <a:r>
              <a:rPr lang="ja-JP" altLang="en-US" dirty="0"/>
              <a:t>来週の講義開始までは感想や質問などを受け付けます</a:t>
            </a:r>
          </a:p>
        </p:txBody>
      </p:sp>
    </p:spTree>
    <p:extLst>
      <p:ext uri="{BB962C8B-B14F-4D97-AF65-F5344CB8AC3E}">
        <p14:creationId xmlns:p14="http://schemas.microsoft.com/office/powerpoint/2010/main" val="3225474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D92FC6-C481-4334-E992-204B439ABF09}"/>
              </a:ext>
            </a:extLst>
          </p:cNvPr>
          <p:cNvSpPr>
            <a:spLocks noGrp="1"/>
          </p:cNvSpPr>
          <p:nvPr>
            <p:ph type="title"/>
          </p:nvPr>
        </p:nvSpPr>
        <p:spPr/>
        <p:txBody>
          <a:bodyPr/>
          <a:lstStyle/>
          <a:p>
            <a:r>
              <a:rPr lang="ja-JP" altLang="en-US" dirty="0"/>
              <a:t>出席</a:t>
            </a:r>
            <a:endParaRPr kumimoji="1" lang="ja-JP" altLang="en-US" dirty="0"/>
          </a:p>
        </p:txBody>
      </p:sp>
      <p:sp>
        <p:nvSpPr>
          <p:cNvPr id="3" name="テキスト プレースホルダー 2">
            <a:extLst>
              <a:ext uri="{FF2B5EF4-FFF2-40B4-BE49-F238E27FC236}">
                <a16:creationId xmlns:a16="http://schemas.microsoft.com/office/drawing/2014/main" id="{BA87AF6B-357A-C55C-6782-832EA49BA99E}"/>
              </a:ext>
            </a:extLst>
          </p:cNvPr>
          <p:cNvSpPr>
            <a:spLocks noGrp="1"/>
          </p:cNvSpPr>
          <p:nvPr>
            <p:ph type="body" sz="quarter" idx="10"/>
          </p:nvPr>
        </p:nvSpPr>
        <p:spPr>
          <a:xfrm>
            <a:off x="1775952" y="1088974"/>
            <a:ext cx="9180102" cy="5219751"/>
          </a:xfrm>
        </p:spPr>
        <p:txBody>
          <a:bodyPr/>
          <a:lstStyle/>
          <a:p>
            <a:r>
              <a:rPr lang="ja-JP" altLang="en-US" dirty="0">
                <a:solidFill>
                  <a:schemeClr val="accent6"/>
                </a:solidFill>
              </a:rPr>
              <a:t>以下のスプレッドシートの自分の席のところに学籍番号を書いてください</a:t>
            </a:r>
            <a:endParaRPr kumimoji="1" lang="en-US" altLang="ja-JP" dirty="0">
              <a:hlinkClick r:id="" action="ppaction://noaction"/>
            </a:endParaRPr>
          </a:p>
          <a:p>
            <a:pPr lvl="1"/>
            <a:r>
              <a:rPr lang="en-US" altLang="ja-JP" dirty="0">
                <a:hlinkClick r:id="rId2"/>
              </a:rPr>
              <a:t>https://docs.google.com/spreadsheets/d/1KrT8f6Pt70ZnaT4Syh2rRbgFQclE0Y2F1Ph5vKptj40/edit?usp=sharing</a:t>
            </a:r>
            <a:endParaRPr lang="en-US" altLang="ja-JP" dirty="0"/>
          </a:p>
          <a:p>
            <a:pPr lvl="1"/>
            <a:r>
              <a:rPr lang="ja-JP" altLang="en-US" dirty="0"/>
              <a:t>学生側から見た場合の配置で（画面上が教団側），席の対応する行と列のところに書いてください</a:t>
            </a:r>
            <a:endParaRPr lang="en-US" altLang="ja-JP" dirty="0"/>
          </a:p>
          <a:p>
            <a:endParaRPr kumimoji="1" lang="ja-JP" altLang="en-US" dirty="0"/>
          </a:p>
        </p:txBody>
      </p:sp>
    </p:spTree>
    <p:extLst>
      <p:ext uri="{BB962C8B-B14F-4D97-AF65-F5344CB8AC3E}">
        <p14:creationId xmlns:p14="http://schemas.microsoft.com/office/powerpoint/2010/main" val="3642383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CB7178-1DEB-8CDB-5164-7C5CD13228C3}"/>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BBE6988A-DFB4-695F-EED4-5EF6DEDBC77F}"/>
              </a:ext>
            </a:extLst>
          </p:cNvPr>
          <p:cNvSpPr>
            <a:spLocks noGrp="1"/>
          </p:cNvSpPr>
          <p:nvPr>
            <p:ph type="body" sz="quarter" idx="10"/>
          </p:nvPr>
        </p:nvSpPr>
        <p:spPr/>
        <p:txBody>
          <a:bodyPr/>
          <a:lstStyle/>
          <a:p>
            <a:r>
              <a:rPr lang="ja-JP" altLang="en-US" dirty="0"/>
              <a:t>余談として紹介された、ロマサガ</a:t>
            </a:r>
            <a:r>
              <a:rPr lang="en-US" altLang="ja-JP" dirty="0"/>
              <a:t>2</a:t>
            </a:r>
            <a:r>
              <a:rPr lang="ja-JP" altLang="en-US" dirty="0"/>
              <a:t>のカセット電源</a:t>
            </a:r>
            <a:r>
              <a:rPr lang="en-US" altLang="ja-JP" dirty="0"/>
              <a:t>ON</a:t>
            </a:r>
            <a:r>
              <a:rPr lang="ja-JP" altLang="en-US" dirty="0"/>
              <a:t>での高速差し替え技において、「揮発性メモリの電荷保持時間の関係から、夏よりも冬のほうが技の再現が安定する」というおやつの人（</a:t>
            </a:r>
            <a:r>
              <a:rPr lang="en-US" altLang="ja-JP" dirty="0"/>
              <a:t>2019</a:t>
            </a:r>
            <a:r>
              <a:rPr lang="ja-JP" altLang="en-US" dirty="0"/>
              <a:t>）の検証結果は昔視聴した覚えがありましたが、その時はあまり理解できませんでした。実際は高校物理で学ぶコンデンサーの放電と関連しているんだなとちょっと感動しました。</a:t>
            </a:r>
            <a:r>
              <a:rPr lang="en-US" altLang="ja-JP" dirty="0"/>
              <a:t>(</a:t>
            </a:r>
            <a:r>
              <a:rPr lang="ja-JP" altLang="en-US" dirty="0"/>
              <a:t>もちろん</a:t>
            </a:r>
            <a:r>
              <a:rPr lang="en-US" altLang="ja-JP" dirty="0"/>
              <a:t>DRAM</a:t>
            </a:r>
            <a:r>
              <a:rPr lang="ja-JP" altLang="en-US" dirty="0"/>
              <a:t>そのものの話も面白かったのですが</a:t>
            </a:r>
            <a:r>
              <a:rPr lang="en-US" altLang="ja-JP" dirty="0"/>
              <a:t>…)</a:t>
            </a:r>
          </a:p>
        </p:txBody>
      </p:sp>
    </p:spTree>
    <p:extLst>
      <p:ext uri="{BB962C8B-B14F-4D97-AF65-F5344CB8AC3E}">
        <p14:creationId xmlns:p14="http://schemas.microsoft.com/office/powerpoint/2010/main" val="35742460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F4E46-BAB8-09AC-828E-7D744422720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1CC039-B86B-573B-8365-5647939144D8}"/>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A1D58E31-8177-317F-96DD-0870229BDE70}"/>
              </a:ext>
            </a:extLst>
          </p:cNvPr>
          <p:cNvSpPr>
            <a:spLocks noGrp="1"/>
          </p:cNvSpPr>
          <p:nvPr>
            <p:ph type="body" sz="quarter" idx="10"/>
          </p:nvPr>
        </p:nvSpPr>
        <p:spPr/>
        <p:txBody>
          <a:bodyPr/>
          <a:lstStyle/>
          <a:p>
            <a:r>
              <a:rPr lang="ja-JP" altLang="en-US" dirty="0"/>
              <a:t>ロマサガ</a:t>
            </a:r>
            <a:r>
              <a:rPr lang="en-US" altLang="ja-JP" dirty="0"/>
              <a:t>2</a:t>
            </a:r>
            <a:r>
              <a:rPr lang="ja-JP" altLang="en-US" dirty="0"/>
              <a:t>のメモリバグは中高生でよくみていたので懐かしい気持ちになりました</a:t>
            </a:r>
            <a:endParaRPr kumimoji="1" lang="en-US" altLang="ja-JP" dirty="0"/>
          </a:p>
        </p:txBody>
      </p:sp>
    </p:spTree>
    <p:extLst>
      <p:ext uri="{BB962C8B-B14F-4D97-AF65-F5344CB8AC3E}">
        <p14:creationId xmlns:p14="http://schemas.microsoft.com/office/powerpoint/2010/main" val="37172110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1E316-9744-FE3B-B40D-F0AF6955F99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8BD1592-23A8-E1A7-5A44-3B22ABAEB10E}"/>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996E8A94-6BFD-F5C3-0CA3-F97DE02945DC}"/>
              </a:ext>
            </a:extLst>
          </p:cNvPr>
          <p:cNvSpPr>
            <a:spLocks noGrp="1"/>
          </p:cNvSpPr>
          <p:nvPr>
            <p:ph type="body" sz="quarter" idx="10"/>
          </p:nvPr>
        </p:nvSpPr>
        <p:spPr/>
        <p:txBody>
          <a:bodyPr/>
          <a:lstStyle/>
          <a:p>
            <a:r>
              <a:rPr lang="ja-JP" altLang="en-US" dirty="0"/>
              <a:t>距離の例えですが、光速か徒歩かでスピードがぜんぜん違うので、時間の差を距離の差で例えるならスピードを揃えないと平等ではないと思います。</a:t>
            </a:r>
          </a:p>
          <a:p>
            <a:endParaRPr kumimoji="1" lang="en-US" altLang="ja-JP" dirty="0"/>
          </a:p>
        </p:txBody>
      </p:sp>
    </p:spTree>
    <p:extLst>
      <p:ext uri="{BB962C8B-B14F-4D97-AF65-F5344CB8AC3E}">
        <p14:creationId xmlns:p14="http://schemas.microsoft.com/office/powerpoint/2010/main" val="14925900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9AD-AD5C-860B-ECE7-707D278F1F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5AF241-E596-0A95-742D-3D5C7082A283}"/>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9AF9DB14-9FCA-9931-4117-9A738F4EACB3}"/>
              </a:ext>
            </a:extLst>
          </p:cNvPr>
          <p:cNvSpPr>
            <a:spLocks noGrp="1"/>
          </p:cNvSpPr>
          <p:nvPr>
            <p:ph type="body" sz="quarter" idx="10"/>
          </p:nvPr>
        </p:nvSpPr>
        <p:spPr/>
        <p:txBody>
          <a:bodyPr/>
          <a:lstStyle/>
          <a:p>
            <a:r>
              <a:rPr lang="en-US" altLang="ja-JP" dirty="0"/>
              <a:t>D-ff</a:t>
            </a:r>
            <a:r>
              <a:rPr lang="ja-JP" altLang="en-US" dirty="0"/>
              <a:t>は最適ではないが、メモリの代替ができるとのことだったので、他の全ての機能を</a:t>
            </a:r>
            <a:r>
              <a:rPr lang="en-US" altLang="ja-JP" dirty="0"/>
              <a:t>d-ff</a:t>
            </a:r>
            <a:r>
              <a:rPr lang="ja-JP" altLang="en-US" dirty="0"/>
              <a:t>で代用したらどれくらい全体が大きくなるのか気になった。</a:t>
            </a:r>
          </a:p>
          <a:p>
            <a:endParaRPr kumimoji="1" lang="en-US" altLang="ja-JP" dirty="0"/>
          </a:p>
        </p:txBody>
      </p:sp>
    </p:spTree>
    <p:extLst>
      <p:ext uri="{BB962C8B-B14F-4D97-AF65-F5344CB8AC3E}">
        <p14:creationId xmlns:p14="http://schemas.microsoft.com/office/powerpoint/2010/main" val="41350333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A89BD-85B5-7F1E-35BE-EFF230D2FCE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45784B4-FC7E-2105-EAEB-53B67CEC1728}"/>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3F6FA2BE-95CB-F8FC-C723-0EDD68825877}"/>
              </a:ext>
            </a:extLst>
          </p:cNvPr>
          <p:cNvSpPr>
            <a:spLocks noGrp="1"/>
          </p:cNvSpPr>
          <p:nvPr>
            <p:ph type="body" sz="quarter" idx="10"/>
          </p:nvPr>
        </p:nvSpPr>
        <p:spPr/>
        <p:txBody>
          <a:bodyPr/>
          <a:lstStyle/>
          <a:p>
            <a:r>
              <a:rPr lang="en-US" altLang="ja-JP" dirty="0"/>
              <a:t>Row Hammer</a:t>
            </a:r>
            <a:r>
              <a:rPr lang="ja-JP" altLang="en-US" dirty="0"/>
              <a:t>も</a:t>
            </a:r>
            <a:r>
              <a:rPr lang="en-US" altLang="ja-JP" dirty="0"/>
              <a:t>Cold Boot Attack</a:t>
            </a:r>
            <a:r>
              <a:rPr lang="ja-JP" altLang="en-US" dirty="0"/>
              <a:t>もかなり奇を衒った攻撃に思われたが、原理自体は筋が通っていてとても面白かった。特に</a:t>
            </a:r>
            <a:r>
              <a:rPr lang="en-US" altLang="ja-JP" dirty="0"/>
              <a:t>Row Hammer</a:t>
            </a:r>
            <a:r>
              <a:rPr lang="ja-JP" altLang="en-US" dirty="0"/>
              <a:t>は実行自体はそれほど難しくないにも関わらずかなり強力な攻撃になっていて、悪用された場合に対処するのが大変そうだと感じた。</a:t>
            </a:r>
          </a:p>
          <a:p>
            <a:endParaRPr kumimoji="1" lang="en-US" altLang="ja-JP" dirty="0"/>
          </a:p>
        </p:txBody>
      </p:sp>
    </p:spTree>
    <p:extLst>
      <p:ext uri="{BB962C8B-B14F-4D97-AF65-F5344CB8AC3E}">
        <p14:creationId xmlns:p14="http://schemas.microsoft.com/office/powerpoint/2010/main" val="35419808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5DF63-0604-5892-D6A6-9DC66B28EC5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9A4B77D-877F-24D1-5AA9-D751E4AE7DF7}"/>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7E554718-C65B-4C07-E74A-FB686267079B}"/>
              </a:ext>
            </a:extLst>
          </p:cNvPr>
          <p:cNvSpPr>
            <a:spLocks noGrp="1"/>
          </p:cNvSpPr>
          <p:nvPr>
            <p:ph type="body" sz="quarter" idx="10"/>
          </p:nvPr>
        </p:nvSpPr>
        <p:spPr/>
        <p:txBody>
          <a:bodyPr/>
          <a:lstStyle/>
          <a:p>
            <a:r>
              <a:rPr lang="ja-JP" altLang="en-US" dirty="0"/>
              <a:t>カセットを冷やしたり、ホットプレートで温めたり、宇宙船によるソフトエラーで再現性のないバグが生じたり、</a:t>
            </a:r>
            <a:r>
              <a:rPr lang="en-US" altLang="ja-JP" dirty="0"/>
              <a:t>RTA</a:t>
            </a:r>
            <a:r>
              <a:rPr lang="ja-JP" altLang="en-US" dirty="0"/>
              <a:t>界隈はコンピュータの細かい仕組みに関する話題が多くて面白いなと思っています。</a:t>
            </a:r>
          </a:p>
          <a:p>
            <a:endParaRPr kumimoji="1" lang="en-US" altLang="ja-JP" dirty="0"/>
          </a:p>
        </p:txBody>
      </p:sp>
    </p:spTree>
    <p:extLst>
      <p:ext uri="{BB962C8B-B14F-4D97-AF65-F5344CB8AC3E}">
        <p14:creationId xmlns:p14="http://schemas.microsoft.com/office/powerpoint/2010/main" val="33326419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B0656-C7DC-598C-8874-A5A8AAB6905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7FDBC65-F7EF-4807-2D06-CEBBE8406C3C}"/>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C8787880-4BBA-2A14-87A5-31950ECDAF53}"/>
              </a:ext>
            </a:extLst>
          </p:cNvPr>
          <p:cNvSpPr>
            <a:spLocks noGrp="1"/>
          </p:cNvSpPr>
          <p:nvPr>
            <p:ph type="body" sz="quarter" idx="10"/>
          </p:nvPr>
        </p:nvSpPr>
        <p:spPr/>
        <p:txBody>
          <a:bodyPr/>
          <a:lstStyle/>
          <a:p>
            <a:r>
              <a:rPr lang="en-US" altLang="ja-JP" dirty="0"/>
              <a:t>RAM</a:t>
            </a:r>
            <a:r>
              <a:rPr lang="ja-JP" altLang="en-US" dirty="0"/>
              <a:t>で</a:t>
            </a:r>
            <a:r>
              <a:rPr lang="en-US" altLang="ja-JP" dirty="0" err="1"/>
              <a:t>pMOS</a:t>
            </a:r>
            <a:r>
              <a:rPr lang="ja-JP" altLang="en-US" dirty="0"/>
              <a:t>を使わない理由として</a:t>
            </a:r>
            <a:r>
              <a:rPr lang="en-US" altLang="ja-JP" dirty="0" err="1"/>
              <a:t>nMOS</a:t>
            </a:r>
            <a:r>
              <a:rPr lang="ja-JP" altLang="en-US" dirty="0"/>
              <a:t>よりも面積規模が大きいからということでしたが、なぜ</a:t>
            </a:r>
            <a:r>
              <a:rPr lang="en-US" altLang="ja-JP" dirty="0" err="1"/>
              <a:t>pMOS</a:t>
            </a:r>
            <a:r>
              <a:rPr lang="ja-JP" altLang="en-US" dirty="0"/>
              <a:t>は</a:t>
            </a:r>
            <a:r>
              <a:rPr lang="en-US" altLang="ja-JP" dirty="0" err="1"/>
              <a:t>nMOS</a:t>
            </a:r>
            <a:r>
              <a:rPr lang="ja-JP" altLang="en-US" dirty="0"/>
              <a:t>よりも大きくなるのですか？また、将来的に</a:t>
            </a:r>
            <a:r>
              <a:rPr lang="en-US" altLang="ja-JP" dirty="0" err="1"/>
              <a:t>pMOS</a:t>
            </a:r>
            <a:r>
              <a:rPr lang="ja-JP" altLang="en-US" dirty="0"/>
              <a:t>の大きさを</a:t>
            </a:r>
            <a:r>
              <a:rPr lang="en-US" altLang="ja-JP" dirty="0" err="1"/>
              <a:t>nMOS</a:t>
            </a:r>
            <a:r>
              <a:rPr lang="ja-JP" altLang="en-US" dirty="0"/>
              <a:t>に近づけることはできるのか気になりました。</a:t>
            </a:r>
          </a:p>
          <a:p>
            <a:endParaRPr kumimoji="1" lang="en-US" altLang="ja-JP" dirty="0"/>
          </a:p>
        </p:txBody>
      </p:sp>
    </p:spTree>
    <p:extLst>
      <p:ext uri="{BB962C8B-B14F-4D97-AF65-F5344CB8AC3E}">
        <p14:creationId xmlns:p14="http://schemas.microsoft.com/office/powerpoint/2010/main" val="147360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3373D-E773-58FA-EFEA-445C3034EAE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33B658-A49D-49D4-2AB2-7A8A04BA2F90}"/>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965799AB-89B6-2B0F-C5A3-4EE3B634DCE9}"/>
              </a:ext>
            </a:extLst>
          </p:cNvPr>
          <p:cNvSpPr>
            <a:spLocks noGrp="1"/>
          </p:cNvSpPr>
          <p:nvPr>
            <p:ph type="body" sz="quarter" idx="10"/>
          </p:nvPr>
        </p:nvSpPr>
        <p:spPr/>
        <p:txBody>
          <a:bodyPr/>
          <a:lstStyle/>
          <a:p>
            <a:r>
              <a:rPr lang="ja-JP" altLang="en-US" dirty="0"/>
              <a:t>特に少し気になったのは、読み出しのときに目的の </a:t>
            </a:r>
            <a:r>
              <a:rPr lang="en-US" altLang="ja-JP" dirty="0"/>
              <a:t>1 bit </a:t>
            </a:r>
            <a:r>
              <a:rPr lang="ja-JP" altLang="en-US" dirty="0"/>
              <a:t>だけではなく、ワードラインで選ばれた一行分のセルがまとめてビットラインに出てくる点です。最終的にはカラムセレクタで必要な部分だけを選ぶとはいえ、使わない部分でも電圧の変化や充放電が起きるので、けっこう無駄な電力が発生しそうだと思いました。</a:t>
            </a:r>
            <a:endParaRPr lang="en-US" altLang="ja-JP" dirty="0"/>
          </a:p>
          <a:p>
            <a:r>
              <a:rPr lang="ja-JP" altLang="en-US" dirty="0"/>
              <a:t>もちろん、メモリを規則的な二次元配列として作る以上、このような構造になるのは自然なのだと思います。ただ、実際には一つの小さなセルを読みたいだけなのに、そのために長いワードライン上の多くのセルまで一緒に動かしてしまうというのは、素朴にかなりもったいない感じがしました。必要な </a:t>
            </a:r>
            <a:r>
              <a:rPr lang="en-US" altLang="ja-JP" dirty="0"/>
              <a:t>1 bit </a:t>
            </a:r>
            <a:r>
              <a:rPr lang="ja-JP" altLang="en-US" dirty="0"/>
              <a:t>だけをもっと直接取り出すような構造にはできないのか、という点が少し気になりました。</a:t>
            </a:r>
            <a:endParaRPr kumimoji="1" lang="en-US" altLang="ja-JP" dirty="0"/>
          </a:p>
        </p:txBody>
      </p:sp>
    </p:spTree>
    <p:extLst>
      <p:ext uri="{BB962C8B-B14F-4D97-AF65-F5344CB8AC3E}">
        <p14:creationId xmlns:p14="http://schemas.microsoft.com/office/powerpoint/2010/main" val="1539550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F6D306-8101-6E2B-6A70-10D5FF0D3696}"/>
              </a:ext>
            </a:extLst>
          </p:cNvPr>
          <p:cNvSpPr>
            <a:spLocks noGrp="1"/>
          </p:cNvSpPr>
          <p:nvPr>
            <p:ph type="title"/>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28DC24D7-8F75-4147-CBA3-BA5530B9E3F7}"/>
              </a:ext>
            </a:extLst>
          </p:cNvPr>
          <p:cNvSpPr>
            <a:spLocks noGrp="1"/>
          </p:cNvSpPr>
          <p:nvPr>
            <p:ph type="body" sz="quarter" idx="10"/>
          </p:nvPr>
        </p:nvSpPr>
        <p:spPr/>
        <p:txBody>
          <a:bodyPr/>
          <a:lstStyle/>
          <a:p>
            <a:endParaRPr kumimoji="1" lang="ja-JP" altLang="en-US"/>
          </a:p>
        </p:txBody>
      </p:sp>
      <p:pic>
        <p:nvPicPr>
          <p:cNvPr id="5" name="図 4">
            <a:extLst>
              <a:ext uri="{FF2B5EF4-FFF2-40B4-BE49-F238E27FC236}">
                <a16:creationId xmlns:a16="http://schemas.microsoft.com/office/drawing/2014/main" id="{D9184411-1BD9-495A-5CAA-5596CC1B268A}"/>
              </a:ext>
            </a:extLst>
          </p:cNvPr>
          <p:cNvPicPr>
            <a:picLocks noChangeAspect="1"/>
          </p:cNvPicPr>
          <p:nvPr/>
        </p:nvPicPr>
        <p:blipFill>
          <a:blip r:embed="rId2"/>
          <a:stretch>
            <a:fillRect/>
          </a:stretch>
        </p:blipFill>
        <p:spPr>
          <a:xfrm>
            <a:off x="1325947" y="1898983"/>
            <a:ext cx="7351301" cy="4350944"/>
          </a:xfrm>
          <a:prstGeom prst="rect">
            <a:avLst/>
          </a:prstGeom>
        </p:spPr>
      </p:pic>
    </p:spTree>
    <p:extLst>
      <p:ext uri="{BB962C8B-B14F-4D97-AF65-F5344CB8AC3E}">
        <p14:creationId xmlns:p14="http://schemas.microsoft.com/office/powerpoint/2010/main" val="41085521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F6FA9-64DD-8E02-F049-C3A18396B58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EE5AC3D-B8E6-127F-9990-707AC723C6BB}"/>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3843BC6B-89AE-015A-5CB1-D8887BA864DB}"/>
              </a:ext>
            </a:extLst>
          </p:cNvPr>
          <p:cNvSpPr>
            <a:spLocks noGrp="1"/>
          </p:cNvSpPr>
          <p:nvPr>
            <p:ph type="body" sz="quarter" idx="10"/>
          </p:nvPr>
        </p:nvSpPr>
        <p:spPr/>
        <p:txBody>
          <a:bodyPr/>
          <a:lstStyle/>
          <a:p>
            <a:r>
              <a:rPr lang="ja-JP" altLang="en-US" dirty="0"/>
              <a:t>質問としては、回路の構成やその基盤上での配置がある程度確立されているようだったので、最新の研究としてはどのようなものがあるのかが気になりました。また、</a:t>
            </a:r>
            <a:r>
              <a:rPr lang="en-US" altLang="ja-JP" dirty="0"/>
              <a:t>DDR4</a:t>
            </a:r>
            <a:r>
              <a:rPr lang="ja-JP" altLang="en-US" dirty="0"/>
              <a:t>と</a:t>
            </a:r>
            <a:r>
              <a:rPr lang="en-US" altLang="ja-JP" dirty="0"/>
              <a:t>DDR5</a:t>
            </a:r>
            <a:r>
              <a:rPr lang="ja-JP" altLang="en-US" dirty="0"/>
              <a:t>だとかなり速さが違うなどもあると思いますが、それはどのような違いによるのでしょうか</a:t>
            </a:r>
            <a:r>
              <a:rPr lang="en-US" altLang="ja-JP" dirty="0"/>
              <a:t>...</a:t>
            </a:r>
            <a:r>
              <a:rPr lang="ja-JP" altLang="en-US" dirty="0"/>
              <a:t>？</a:t>
            </a:r>
            <a:r>
              <a:rPr lang="en-US" altLang="ja-JP" dirty="0"/>
              <a:t>"</a:t>
            </a:r>
          </a:p>
          <a:p>
            <a:endParaRPr kumimoji="1" lang="en-US" altLang="ja-JP" dirty="0"/>
          </a:p>
        </p:txBody>
      </p:sp>
    </p:spTree>
    <p:extLst>
      <p:ext uri="{BB962C8B-B14F-4D97-AF65-F5344CB8AC3E}">
        <p14:creationId xmlns:p14="http://schemas.microsoft.com/office/powerpoint/2010/main" val="40066674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FCB85-E07D-C34E-076B-906207EDE3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3326FB-08E0-1557-AE89-643FFBA5E82E}"/>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413CDB9B-D59B-2F88-C4BB-8FC2A411E27B}"/>
              </a:ext>
            </a:extLst>
          </p:cNvPr>
          <p:cNvSpPr>
            <a:spLocks noGrp="1"/>
          </p:cNvSpPr>
          <p:nvPr>
            <p:ph type="body" sz="quarter" idx="10"/>
          </p:nvPr>
        </p:nvSpPr>
        <p:spPr/>
        <p:txBody>
          <a:bodyPr/>
          <a:lstStyle/>
          <a:p>
            <a:r>
              <a:rPr lang="ja-JP" altLang="en-US" dirty="0"/>
              <a:t>メモリのアクセス時間と容量について、「格子状に並んだセルの外周部の長さがアクセス時間を決めるから」「アクセス時間は容量の </a:t>
            </a:r>
            <a:r>
              <a:rPr lang="en-US" altLang="ja-JP" dirty="0"/>
              <a:t>0.5 </a:t>
            </a:r>
            <a:r>
              <a:rPr lang="ja-JP" altLang="en-US" dirty="0"/>
              <a:t>乗でしか伸びない」というのは考えたことがなかった。これは</a:t>
            </a:r>
            <a:r>
              <a:rPr lang="en-US" altLang="ja-JP" dirty="0"/>
              <a:t>HBM</a:t>
            </a:r>
            <a:r>
              <a:rPr lang="ja-JP" altLang="en-US" dirty="0"/>
              <a:t>だと</a:t>
            </a:r>
            <a:r>
              <a:rPr lang="en-US" altLang="ja-JP" dirty="0"/>
              <a:t>1/3</a:t>
            </a:r>
            <a:r>
              <a:rPr lang="ja-JP" altLang="en-US" dirty="0"/>
              <a:t>乗？</a:t>
            </a:r>
            <a:endParaRPr lang="en-US" altLang="ja-JP" dirty="0"/>
          </a:p>
          <a:p>
            <a:r>
              <a:rPr lang="ja-JP" altLang="en-US" dirty="0"/>
              <a:t>メモリのアクセス時間は容量の</a:t>
            </a:r>
            <a:r>
              <a:rPr lang="en-US" altLang="ja-JP" dirty="0"/>
              <a:t>0.5</a:t>
            </a:r>
            <a:r>
              <a:rPr lang="ja-JP" altLang="en-US" dirty="0"/>
              <a:t>乗でしか伸びないという話がありましたが、</a:t>
            </a:r>
            <a:r>
              <a:rPr lang="en-US" altLang="ja-JP" dirty="0"/>
              <a:t>3</a:t>
            </a:r>
            <a:r>
              <a:rPr lang="ja-JP" altLang="en-US" dirty="0"/>
              <a:t>次元構造にすることで改善できるのかなと思いました。</a:t>
            </a:r>
            <a:endParaRPr kumimoji="1" lang="en-US" altLang="ja-JP" dirty="0"/>
          </a:p>
        </p:txBody>
      </p:sp>
    </p:spTree>
    <p:extLst>
      <p:ext uri="{BB962C8B-B14F-4D97-AF65-F5344CB8AC3E}">
        <p14:creationId xmlns:p14="http://schemas.microsoft.com/office/powerpoint/2010/main" val="2151404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41050-BF0D-5D1A-9B9A-3DC038CADD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1F4D8C-52AC-35DC-03EC-529B8DA94FAE}"/>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F8A1CBBC-2899-A638-6EA4-D6EAEEECA222}"/>
              </a:ext>
            </a:extLst>
          </p:cNvPr>
          <p:cNvSpPr>
            <a:spLocks noGrp="1"/>
          </p:cNvSpPr>
          <p:nvPr>
            <p:ph type="body" sz="quarter" idx="10"/>
          </p:nvPr>
        </p:nvSpPr>
        <p:spPr/>
        <p:txBody>
          <a:bodyPr/>
          <a:lstStyle/>
          <a:p>
            <a:r>
              <a:rPr lang="ja-JP" altLang="en-US" dirty="0"/>
              <a:t>キャッシュやメモリにかかるアクセス時間の内訳って企業秘密なんでしょうか。ボトルネックが何なのか気になりました（アドレスの計算など？物理的な距離？）</a:t>
            </a:r>
            <a:endParaRPr kumimoji="1" lang="en-US" altLang="ja-JP" dirty="0"/>
          </a:p>
        </p:txBody>
      </p:sp>
    </p:spTree>
    <p:extLst>
      <p:ext uri="{BB962C8B-B14F-4D97-AF65-F5344CB8AC3E}">
        <p14:creationId xmlns:p14="http://schemas.microsoft.com/office/powerpoint/2010/main" val="34267415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B9F73-2EFC-BF78-A1E3-EEE1967C2D9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847AB74-8619-F906-55A1-575989D2D188}"/>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621C97C8-D554-4D6D-B44B-61CDF611D153}"/>
              </a:ext>
            </a:extLst>
          </p:cNvPr>
          <p:cNvSpPr>
            <a:spLocks noGrp="1"/>
          </p:cNvSpPr>
          <p:nvPr>
            <p:ph type="body" sz="quarter" idx="10"/>
          </p:nvPr>
        </p:nvSpPr>
        <p:spPr/>
        <p:txBody>
          <a:bodyPr/>
          <a:lstStyle/>
          <a:p>
            <a:r>
              <a:rPr lang="ja-JP" altLang="en-US" dirty="0"/>
              <a:t>マルチポート・メモリの面積がポート数の</a:t>
            </a:r>
            <a:r>
              <a:rPr lang="en-US" altLang="ja-JP" dirty="0"/>
              <a:t>2</a:t>
            </a:r>
            <a:r>
              <a:rPr lang="ja-JP" altLang="en-US" dirty="0"/>
              <a:t>乗で効いてくるという点は、知識としては知っていたつもりでしたが、改めてそのコストの大きさに驚きました。私は普段</a:t>
            </a:r>
            <a:r>
              <a:rPr lang="en-US" altLang="ja-JP" dirty="0"/>
              <a:t>GPU</a:t>
            </a:r>
            <a:r>
              <a:rPr lang="ja-JP" altLang="en-US" dirty="0"/>
              <a:t>を扱っているのですが、</a:t>
            </a:r>
            <a:r>
              <a:rPr lang="en-US" altLang="ja-JP" dirty="0"/>
              <a:t>GPU</a:t>
            </a:r>
            <a:r>
              <a:rPr lang="ja-JP" altLang="en-US" dirty="0"/>
              <a:t>は多数のワープを同時に走らせるために大容量・高帯域なレジスタファイルを必要とします。今日の話を踏まえると、同時アクセス数（ポート数）を素直に増やすと面積が</a:t>
            </a:r>
            <a:r>
              <a:rPr lang="en-US" altLang="ja-JP" dirty="0"/>
              <a:t>2</a:t>
            </a:r>
            <a:r>
              <a:rPr lang="ja-JP" altLang="en-US" dirty="0"/>
              <a:t>乗で膨らんでしまうため、</a:t>
            </a:r>
            <a:r>
              <a:rPr lang="en-US" altLang="ja-JP" dirty="0"/>
              <a:t>GPU</a:t>
            </a:r>
            <a:r>
              <a:rPr lang="ja-JP" altLang="en-US" dirty="0"/>
              <a:t>がレジスタファイルをバンク分割し、オペランドコレクタで実効帯域を確保しているのも、この制約への合理的な対処なのだと腑に落ちました。レジスタを潤沢に使いたい設計ほど、ポート数の制約と正面から向き合わざるを得ないのだと実感しました。</a:t>
            </a:r>
          </a:p>
          <a:p>
            <a:endParaRPr kumimoji="1" lang="en-US" altLang="ja-JP" dirty="0"/>
          </a:p>
        </p:txBody>
      </p:sp>
    </p:spTree>
    <p:extLst>
      <p:ext uri="{BB962C8B-B14F-4D97-AF65-F5344CB8AC3E}">
        <p14:creationId xmlns:p14="http://schemas.microsoft.com/office/powerpoint/2010/main" val="42069914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9E185-A0CB-FD73-4694-02A30E231AB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8DFF12-A8F9-A8EA-0448-61727A40D637}"/>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45DD4BEB-579F-2903-B214-3893E9626092}"/>
              </a:ext>
            </a:extLst>
          </p:cNvPr>
          <p:cNvSpPr>
            <a:spLocks noGrp="1"/>
          </p:cNvSpPr>
          <p:nvPr>
            <p:ph type="body" sz="quarter" idx="10"/>
          </p:nvPr>
        </p:nvSpPr>
        <p:spPr/>
        <p:txBody>
          <a:bodyPr/>
          <a:lstStyle/>
          <a:p>
            <a:r>
              <a:rPr lang="ja-JP" altLang="en-US" dirty="0"/>
              <a:t>そういえば些細なことですが、初めて</a:t>
            </a:r>
            <a:r>
              <a:rPr lang="en-US" altLang="ja-JP" dirty="0"/>
              <a:t>SDRAM</a:t>
            </a:r>
            <a:r>
              <a:rPr lang="ja-JP" altLang="en-US" dirty="0"/>
              <a:t>という単語を見たときに</a:t>
            </a:r>
            <a:r>
              <a:rPr lang="en-US" altLang="ja-JP" dirty="0"/>
              <a:t>SRAM</a:t>
            </a:r>
            <a:r>
              <a:rPr lang="ja-JP" altLang="en-US" dirty="0"/>
              <a:t>と</a:t>
            </a:r>
            <a:r>
              <a:rPr lang="en-US" altLang="ja-JP" dirty="0"/>
              <a:t>DRAM</a:t>
            </a:r>
            <a:r>
              <a:rPr lang="ja-JP" altLang="en-US" dirty="0"/>
              <a:t>のどっちに属するか混乱した記憶があります</a:t>
            </a:r>
            <a:r>
              <a:rPr lang="en-US" altLang="ja-JP" dirty="0"/>
              <a:t>(</a:t>
            </a:r>
            <a:r>
              <a:rPr lang="ja-JP" altLang="en-US" dirty="0"/>
              <a:t>あるいは両方の性質を持つ万能型のものが出たのかなど</a:t>
            </a:r>
            <a:r>
              <a:rPr lang="en-US" altLang="ja-JP" dirty="0"/>
              <a:t>…)</a:t>
            </a:r>
          </a:p>
          <a:p>
            <a:endParaRPr kumimoji="1" lang="en-US" altLang="ja-JP" dirty="0"/>
          </a:p>
        </p:txBody>
      </p:sp>
    </p:spTree>
    <p:extLst>
      <p:ext uri="{BB962C8B-B14F-4D97-AF65-F5344CB8AC3E}">
        <p14:creationId xmlns:p14="http://schemas.microsoft.com/office/powerpoint/2010/main" val="21050293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505D4-A68B-9CDD-3BCB-53E44BF4256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D5482B-CD03-49D1-19EE-FCAA9005CD87}"/>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A6AA1BCB-217A-2D5C-E35A-19712B8B6019}"/>
              </a:ext>
            </a:extLst>
          </p:cNvPr>
          <p:cNvSpPr>
            <a:spLocks noGrp="1"/>
          </p:cNvSpPr>
          <p:nvPr>
            <p:ph type="body" sz="quarter" idx="10"/>
          </p:nvPr>
        </p:nvSpPr>
        <p:spPr/>
        <p:txBody>
          <a:bodyPr/>
          <a:lstStyle/>
          <a:p>
            <a:r>
              <a:rPr lang="ja-JP" altLang="en-US" dirty="0"/>
              <a:t>現在のフォン・ノイマン構造においてメモリと</a:t>
            </a:r>
            <a:r>
              <a:rPr lang="en-US" altLang="ja-JP" dirty="0"/>
              <a:t>CPU</a:t>
            </a:r>
            <a:r>
              <a:rPr lang="ja-JP" altLang="en-US" dirty="0"/>
              <a:t>の間のデータ転送が一番ボトルネックだと思いますが、講義で紹介した以外のボトルネックを克服するための技術で代表的なものは何があるでしょうか。</a:t>
            </a:r>
            <a:endParaRPr kumimoji="1" lang="en-US" altLang="ja-JP" dirty="0"/>
          </a:p>
        </p:txBody>
      </p:sp>
    </p:spTree>
    <p:extLst>
      <p:ext uri="{BB962C8B-B14F-4D97-AF65-F5344CB8AC3E}">
        <p14:creationId xmlns:p14="http://schemas.microsoft.com/office/powerpoint/2010/main" val="22684889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BF97C-6C4F-6ABD-DF71-FE2CC509E4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E29658-5180-C0D9-B9B1-F2537E7FFD88}"/>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0E8D9BA6-052E-FCE0-CBF9-B72D56656BB0}"/>
              </a:ext>
            </a:extLst>
          </p:cNvPr>
          <p:cNvSpPr>
            <a:spLocks noGrp="1"/>
          </p:cNvSpPr>
          <p:nvPr>
            <p:ph type="body" sz="quarter" idx="10"/>
          </p:nvPr>
        </p:nvSpPr>
        <p:spPr/>
        <p:txBody>
          <a:bodyPr/>
          <a:lstStyle/>
          <a:p>
            <a:r>
              <a:rPr lang="ja-JP" altLang="en-US" dirty="0"/>
              <a:t>ホットプレートを使った</a:t>
            </a:r>
            <a:r>
              <a:rPr lang="en-US" altLang="ja-JP" dirty="0"/>
              <a:t>RTA</a:t>
            </a:r>
            <a:r>
              <a:rPr lang="ja-JP" altLang="en-US" dirty="0"/>
              <a:t>はドラクエ</a:t>
            </a:r>
            <a:r>
              <a:rPr lang="en-US" altLang="ja-JP" dirty="0"/>
              <a:t>3</a:t>
            </a:r>
            <a:r>
              <a:rPr lang="ja-JP" altLang="en-US" dirty="0"/>
              <a:t>らしいですね。本体によってもホットプレートの効力が変わるらしく、厳選が必要みたいで、奥深いな</a:t>
            </a:r>
            <a:r>
              <a:rPr lang="en-US" altLang="ja-JP" dirty="0"/>
              <a:t>〜</a:t>
            </a:r>
            <a:r>
              <a:rPr lang="ja-JP" altLang="en-US" dirty="0"/>
              <a:t>と思った記憶があります。</a:t>
            </a:r>
            <a:endParaRPr kumimoji="1" lang="en-US" altLang="ja-JP" dirty="0"/>
          </a:p>
        </p:txBody>
      </p:sp>
    </p:spTree>
    <p:extLst>
      <p:ext uri="{BB962C8B-B14F-4D97-AF65-F5344CB8AC3E}">
        <p14:creationId xmlns:p14="http://schemas.microsoft.com/office/powerpoint/2010/main" val="33433403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F06C9-F41C-95A3-8D28-CB9A205FEB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63851C7-37BE-B9A3-20C6-1A55E58F18E4}"/>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9CC97775-825B-2EB9-055A-BB7C44E282A0}"/>
              </a:ext>
            </a:extLst>
          </p:cNvPr>
          <p:cNvSpPr>
            <a:spLocks noGrp="1"/>
          </p:cNvSpPr>
          <p:nvPr>
            <p:ph type="body" sz="quarter" idx="10"/>
          </p:nvPr>
        </p:nvSpPr>
        <p:spPr/>
        <p:txBody>
          <a:bodyPr/>
          <a:lstStyle/>
          <a:p>
            <a:r>
              <a:rPr lang="ja-JP" altLang="en-US" dirty="0"/>
              <a:t>冷却</a:t>
            </a:r>
            <a:r>
              <a:rPr lang="en-US" altLang="ja-JP" dirty="0"/>
              <a:t>RTA</a:t>
            </a:r>
            <a:r>
              <a:rPr lang="ja-JP" altLang="en-US" dirty="0"/>
              <a:t>のことを聞いて</a:t>
            </a:r>
            <a:r>
              <a:rPr lang="en-US" altLang="ja-JP" dirty="0"/>
              <a:t>2020</a:t>
            </a:r>
            <a:r>
              <a:rPr lang="ja-JP" altLang="en-US" dirty="0"/>
              <a:t>年の</a:t>
            </a:r>
            <a:r>
              <a:rPr lang="en-US" altLang="ja-JP" dirty="0"/>
              <a:t>RTA in Japan </a:t>
            </a:r>
            <a:r>
              <a:rPr lang="ja-JP" altLang="en-US" dirty="0"/>
              <a:t>ドラクエ</a:t>
            </a:r>
            <a:r>
              <a:rPr lang="en-US" altLang="ja-JP" dirty="0"/>
              <a:t>RTA</a:t>
            </a:r>
            <a:r>
              <a:rPr lang="ja-JP" altLang="en-US" dirty="0"/>
              <a:t>のことを思いだしていたのですが，あれはホットプレートを使っているんですよね</a:t>
            </a:r>
            <a:r>
              <a:rPr lang="en-US" altLang="ja-JP" dirty="0"/>
              <a:t>. </a:t>
            </a:r>
            <a:r>
              <a:rPr lang="ja-JP" altLang="en-US" dirty="0"/>
              <a:t>電源をリセット押したまま起動するとデータが揮発せずに残る</a:t>
            </a:r>
            <a:r>
              <a:rPr lang="en-US" altLang="ja-JP" dirty="0"/>
              <a:t>(</a:t>
            </a:r>
            <a:r>
              <a:rPr lang="ja-JP" altLang="en-US" dirty="0"/>
              <a:t>らしい</a:t>
            </a:r>
            <a:r>
              <a:rPr lang="en-US" altLang="ja-JP" dirty="0"/>
              <a:t>)</a:t>
            </a:r>
            <a:r>
              <a:rPr lang="ja-JP" altLang="en-US" dirty="0"/>
              <a:t>のでそのときの揮発量を温度で管理してる</a:t>
            </a:r>
            <a:r>
              <a:rPr lang="en-US" altLang="ja-JP" dirty="0"/>
              <a:t>(</a:t>
            </a:r>
            <a:r>
              <a:rPr lang="ja-JP" altLang="en-US" dirty="0"/>
              <a:t>らしい</a:t>
            </a:r>
            <a:r>
              <a:rPr lang="en-US" altLang="ja-JP" dirty="0"/>
              <a:t>)</a:t>
            </a:r>
            <a:r>
              <a:rPr lang="ja-JP" altLang="en-US" dirty="0"/>
              <a:t>．</a:t>
            </a:r>
            <a:endParaRPr kumimoji="1" lang="en-US" altLang="ja-JP" dirty="0"/>
          </a:p>
        </p:txBody>
      </p:sp>
    </p:spTree>
    <p:extLst>
      <p:ext uri="{BB962C8B-B14F-4D97-AF65-F5344CB8AC3E}">
        <p14:creationId xmlns:p14="http://schemas.microsoft.com/office/powerpoint/2010/main" val="9061811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09B85-3CA9-CE7A-0441-D7DB70EFC51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9BC5110-76EC-3C88-D001-488D7CB77CDC}"/>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6F7832B0-2DA8-D7E7-FF96-AAA17E677060}"/>
              </a:ext>
            </a:extLst>
          </p:cNvPr>
          <p:cNvSpPr>
            <a:spLocks noGrp="1"/>
          </p:cNvSpPr>
          <p:nvPr>
            <p:ph type="body" sz="quarter" idx="10"/>
          </p:nvPr>
        </p:nvSpPr>
        <p:spPr/>
        <p:txBody>
          <a:bodyPr/>
          <a:lstStyle/>
          <a:p>
            <a:r>
              <a:rPr lang="en-US" altLang="ja-JP" dirty="0"/>
              <a:t>DRAM</a:t>
            </a:r>
            <a:r>
              <a:rPr lang="ja-JP" altLang="en-US" dirty="0"/>
              <a:t>コンデンサの作り方で、この構造では表裏の表面積が変わってしまう（溝を掘ったことで表の方は面積が大きいが、裏面は灰色の平面のままなので面積が小さい）ように思えますが、これはどういうことでしょうか？コンデンサは表裏の表面積が同一、というイメージが有りました。</a:t>
            </a:r>
            <a:endParaRPr kumimoji="1" lang="en-US" altLang="ja-JP" dirty="0"/>
          </a:p>
        </p:txBody>
      </p:sp>
    </p:spTree>
    <p:extLst>
      <p:ext uri="{BB962C8B-B14F-4D97-AF65-F5344CB8AC3E}">
        <p14:creationId xmlns:p14="http://schemas.microsoft.com/office/powerpoint/2010/main" val="33127197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DRAM </a:t>
            </a:r>
            <a:r>
              <a:rPr lang="ja-JP" altLang="en-US" dirty="0"/>
              <a:t>のコンデンサの作り方</a:t>
            </a:r>
            <a:br>
              <a:rPr lang="en-US" altLang="ja-JP" dirty="0"/>
            </a:br>
            <a:r>
              <a:rPr lang="en-US" altLang="ja-JP" sz="1600" dirty="0"/>
              <a:t>H. </a:t>
            </a:r>
            <a:r>
              <a:rPr lang="en-US" altLang="ja-JP" sz="1600" dirty="0" err="1"/>
              <a:t>Seidl</a:t>
            </a:r>
            <a:r>
              <a:rPr lang="ja-JP" altLang="en-US" sz="1600" dirty="0"/>
              <a:t> </a:t>
            </a:r>
            <a:r>
              <a:rPr lang="en-US" altLang="ja-JP" sz="1600" dirty="0"/>
              <a:t>et al, A Fully Integrated Al2O3 Trench Capacitor DRAM for Sub-100nm Technology </a:t>
            </a:r>
            <a:r>
              <a:rPr lang="ja-JP" altLang="en-US" sz="1600" dirty="0"/>
              <a:t>より</a:t>
            </a:r>
          </a:p>
        </p:txBody>
      </p:sp>
      <p:sp>
        <p:nvSpPr>
          <p:cNvPr id="3" name="テキスト プレースホルダー 2"/>
          <p:cNvSpPr>
            <a:spLocks noGrp="1"/>
          </p:cNvSpPr>
          <p:nvPr>
            <p:ph type="body" sz="quarter" idx="10"/>
          </p:nvPr>
        </p:nvSpPr>
        <p:spPr>
          <a:xfrm>
            <a:off x="1955954" y="5589024"/>
            <a:ext cx="8280092" cy="449698"/>
          </a:xfrm>
        </p:spPr>
        <p:txBody>
          <a:bodyPr/>
          <a:lstStyle/>
          <a:p>
            <a:r>
              <a:rPr kumimoji="1" lang="ja-JP" altLang="en-US" dirty="0"/>
              <a:t>チップの表から裏</a:t>
            </a:r>
            <a:r>
              <a:rPr lang="ja-JP" altLang="en-US" dirty="0"/>
              <a:t>に向けて深い穴を掘って表面積を稼ぐ</a:t>
            </a:r>
            <a:endParaRPr lang="en-US" altLang="ja-JP" dirty="0"/>
          </a:p>
          <a:p>
            <a:pPr lvl="1"/>
            <a:r>
              <a:rPr kumimoji="1" lang="ja-JP" altLang="en-US" dirty="0"/>
              <a:t>コンデンサの容量は表面積に比例</a:t>
            </a:r>
            <a:endParaRPr kumimoji="1" lang="en-US" altLang="ja-JP" dirty="0"/>
          </a:p>
          <a:p>
            <a:pPr lvl="1"/>
            <a:r>
              <a:rPr kumimoji="1" lang="ja-JP" altLang="en-US" dirty="0"/>
              <a:t>トレンチ（塹壕の意味）と呼ばれる</a:t>
            </a:r>
            <a:endParaRPr kumimoji="1" lang="en-US" altLang="ja-JP" dirty="0"/>
          </a:p>
          <a:p>
            <a:pPr lvl="1"/>
            <a:r>
              <a:rPr kumimoji="1" lang="ja-JP" altLang="en-US" dirty="0">
                <a:solidFill>
                  <a:schemeClr val="accent5"/>
                </a:solidFill>
              </a:rPr>
              <a:t>特殊な工程が必要なので通常のトランジスタと混ぜて作るの</a:t>
            </a:r>
            <a:br>
              <a:rPr kumimoji="1" lang="en-US" altLang="ja-JP" dirty="0">
                <a:solidFill>
                  <a:schemeClr val="accent5"/>
                </a:solidFill>
              </a:rPr>
            </a:br>
            <a:r>
              <a:rPr kumimoji="1" lang="ja-JP" altLang="en-US" dirty="0">
                <a:solidFill>
                  <a:schemeClr val="accent5"/>
                </a:solidFill>
              </a:rPr>
              <a:t>が難しい</a:t>
            </a:r>
          </a:p>
        </p:txBody>
      </p:sp>
      <p:pic>
        <p:nvPicPr>
          <p:cNvPr id="4" name="図 3"/>
          <p:cNvPicPr>
            <a:picLocks noChangeAspect="1"/>
          </p:cNvPicPr>
          <p:nvPr/>
        </p:nvPicPr>
        <p:blipFill>
          <a:blip r:embed="rId2"/>
          <a:stretch>
            <a:fillRect/>
          </a:stretch>
        </p:blipFill>
        <p:spPr>
          <a:xfrm>
            <a:off x="1865953" y="998973"/>
            <a:ext cx="8172040" cy="3547500"/>
          </a:xfrm>
          <a:prstGeom prst="rect">
            <a:avLst/>
          </a:prstGeom>
        </p:spPr>
      </p:pic>
    </p:spTree>
    <p:extLst>
      <p:ext uri="{BB962C8B-B14F-4D97-AF65-F5344CB8AC3E}">
        <p14:creationId xmlns:p14="http://schemas.microsoft.com/office/powerpoint/2010/main" val="17721865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262F7-69CF-3BA3-F88D-4EF6FBF515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CA9D523-475B-774E-5D28-765ABD44192C}"/>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7216855C-78DB-19D4-933B-75AB32B33CEA}"/>
              </a:ext>
            </a:extLst>
          </p:cNvPr>
          <p:cNvSpPr>
            <a:spLocks noGrp="1"/>
          </p:cNvSpPr>
          <p:nvPr>
            <p:ph type="body" sz="quarter" idx="10"/>
          </p:nvPr>
        </p:nvSpPr>
        <p:spPr/>
        <p:txBody>
          <a:bodyPr/>
          <a:lstStyle/>
          <a:p>
            <a:r>
              <a:rPr lang="en-US" altLang="ja-JP" dirty="0"/>
              <a:t>XOR</a:t>
            </a:r>
            <a:r>
              <a:rPr lang="ja-JP" altLang="en-US" dirty="0"/>
              <a:t>は自然言語の「または」ですよね。</a:t>
            </a:r>
            <a:endParaRPr kumimoji="1" lang="en-US" altLang="ja-JP" dirty="0"/>
          </a:p>
        </p:txBody>
      </p:sp>
    </p:spTree>
    <p:extLst>
      <p:ext uri="{BB962C8B-B14F-4D97-AF65-F5344CB8AC3E}">
        <p14:creationId xmlns:p14="http://schemas.microsoft.com/office/powerpoint/2010/main" val="35363625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B5BC4-2646-D5C6-1FC4-9C0D80848F5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BD8FE30-369E-0F6C-47AA-8E2E5B465B6A}"/>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5AB08AF1-00D9-C205-CE35-E86AC11E75D8}"/>
              </a:ext>
            </a:extLst>
          </p:cNvPr>
          <p:cNvSpPr>
            <a:spLocks noGrp="1"/>
          </p:cNvSpPr>
          <p:nvPr>
            <p:ph type="body" sz="quarter" idx="10"/>
          </p:nvPr>
        </p:nvSpPr>
        <p:spPr/>
        <p:txBody>
          <a:bodyPr/>
          <a:lstStyle/>
          <a:p>
            <a:r>
              <a:rPr lang="ja-JP" altLang="en-US" dirty="0"/>
              <a:t>可能な限り早く、残りの授業日程と課題の掲出日・締切を案内していただきたいです。</a:t>
            </a:r>
            <a:endParaRPr kumimoji="1" lang="en-US" altLang="ja-JP" dirty="0"/>
          </a:p>
        </p:txBody>
      </p:sp>
    </p:spTree>
    <p:extLst>
      <p:ext uri="{BB962C8B-B14F-4D97-AF65-F5344CB8AC3E}">
        <p14:creationId xmlns:p14="http://schemas.microsoft.com/office/powerpoint/2010/main" val="8758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345DD-1127-11A9-DFA4-E93588CB345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6054AF-9774-0BF3-264E-89EA5A55F1E9}"/>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0B6C8424-DECF-967F-536E-213B60E5FCD0}"/>
              </a:ext>
            </a:extLst>
          </p:cNvPr>
          <p:cNvSpPr>
            <a:spLocks noGrp="1"/>
          </p:cNvSpPr>
          <p:nvPr>
            <p:ph type="body" sz="quarter" idx="10"/>
          </p:nvPr>
        </p:nvSpPr>
        <p:spPr/>
        <p:txBody>
          <a:bodyPr/>
          <a:lstStyle/>
          <a:p>
            <a:r>
              <a:rPr lang="ja-JP" altLang="en-US" dirty="0"/>
              <a:t>ポート数を増やそうとすると回路面積が大きくなるというのは非常に興味深かったです。特に自分は </a:t>
            </a:r>
            <a:r>
              <a:rPr lang="en-US" altLang="ja-JP" dirty="0" err="1"/>
              <a:t>cerebras</a:t>
            </a:r>
            <a:r>
              <a:rPr lang="en-US" altLang="ja-JP" dirty="0"/>
              <a:t> </a:t>
            </a:r>
            <a:r>
              <a:rPr lang="ja-JP" altLang="en-US" dirty="0"/>
              <a:t>のウェハが、いくら</a:t>
            </a:r>
            <a:r>
              <a:rPr lang="en-US" altLang="ja-JP" dirty="0"/>
              <a:t>SRAM</a:t>
            </a:r>
            <a:r>
              <a:rPr lang="ja-JP" altLang="en-US" dirty="0"/>
              <a:t>だからって単純なメモリセルの面積は</a:t>
            </a:r>
            <a:r>
              <a:rPr lang="en-US" altLang="ja-JP" dirty="0"/>
              <a:t>6</a:t>
            </a:r>
            <a:r>
              <a:rPr lang="ja-JP" altLang="en-US" dirty="0"/>
              <a:t>倍くらい</a:t>
            </a:r>
            <a:r>
              <a:rPr lang="en-US" altLang="ja-JP" dirty="0"/>
              <a:t>?</a:t>
            </a:r>
            <a:r>
              <a:rPr lang="ja-JP" altLang="en-US" dirty="0"/>
              <a:t>だろうから、メモリサイズを考慮しても面積増えすぎじゃね</a:t>
            </a:r>
            <a:r>
              <a:rPr lang="en-US" altLang="ja-JP" dirty="0"/>
              <a:t>?</a:t>
            </a:r>
            <a:r>
              <a:rPr lang="ja-JP" altLang="en-US" dirty="0"/>
              <a:t>と思っていたのが解決しました。結局</a:t>
            </a:r>
            <a:r>
              <a:rPr lang="en-US" altLang="ja-JP" dirty="0"/>
              <a:t>SRAM</a:t>
            </a:r>
            <a:r>
              <a:rPr lang="ja-JP" altLang="en-US" dirty="0"/>
              <a:t>でもメモリ帯域を確保（</a:t>
            </a:r>
            <a:r>
              <a:rPr lang="en-US" altLang="ja-JP" dirty="0"/>
              <a:t>i.e., ALU</a:t>
            </a:r>
            <a:r>
              <a:rPr lang="ja-JP" altLang="en-US" dirty="0"/>
              <a:t>の</a:t>
            </a:r>
            <a:r>
              <a:rPr lang="en-US" altLang="ja-JP" dirty="0"/>
              <a:t>SIMD</a:t>
            </a:r>
            <a:r>
              <a:rPr lang="ja-JP" altLang="en-US" dirty="0"/>
              <a:t>幅と同じ読み出し・書き込み </a:t>
            </a:r>
            <a:r>
              <a:rPr lang="en-US" altLang="ja-JP" dirty="0" err="1"/>
              <a:t>datapath</a:t>
            </a:r>
            <a:r>
              <a:rPr lang="en-US" altLang="ja-JP" dirty="0"/>
              <a:t> </a:t>
            </a:r>
            <a:r>
              <a:rPr lang="ja-JP" altLang="en-US" dirty="0"/>
              <a:t>を賄えるポート数を確保）しようとすると、めちゃくちゃ面積が膨れ上がるということで納得しました。</a:t>
            </a:r>
            <a:endParaRPr kumimoji="1" lang="en-US" altLang="ja-JP" dirty="0"/>
          </a:p>
        </p:txBody>
      </p:sp>
    </p:spTree>
    <p:extLst>
      <p:ext uri="{BB962C8B-B14F-4D97-AF65-F5344CB8AC3E}">
        <p14:creationId xmlns:p14="http://schemas.microsoft.com/office/powerpoint/2010/main" val="25255882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253B4-5C54-6B4D-9E1E-13B7AD25B3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30E480-77DD-F423-98B8-5DB831D01E27}"/>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F536D852-B3EA-E0A8-90FF-E6EFE5D3DADB}"/>
              </a:ext>
            </a:extLst>
          </p:cNvPr>
          <p:cNvSpPr>
            <a:spLocks noGrp="1"/>
          </p:cNvSpPr>
          <p:nvPr>
            <p:ph type="body" sz="quarter" idx="10"/>
          </p:nvPr>
        </p:nvSpPr>
        <p:spPr/>
        <p:txBody>
          <a:bodyPr/>
          <a:lstStyle/>
          <a:p>
            <a:r>
              <a:rPr lang="en-US" altLang="ja-JP" dirty="0"/>
              <a:t>row hammer </a:t>
            </a:r>
            <a:r>
              <a:rPr lang="ja-JP" altLang="en-US" dirty="0"/>
              <a:t>はこの前、</a:t>
            </a:r>
            <a:r>
              <a:rPr lang="en-US" altLang="ja-JP" dirty="0"/>
              <a:t>CIM/PIM</a:t>
            </a:r>
            <a:r>
              <a:rPr lang="ja-JP" altLang="en-US" dirty="0"/>
              <a:t>の超有名研究者の東大招待講演でたくさん聞いた気がします。</a:t>
            </a:r>
            <a:endParaRPr kumimoji="1" lang="en-US" altLang="ja-JP" dirty="0"/>
          </a:p>
        </p:txBody>
      </p:sp>
    </p:spTree>
    <p:extLst>
      <p:ext uri="{BB962C8B-B14F-4D97-AF65-F5344CB8AC3E}">
        <p14:creationId xmlns:p14="http://schemas.microsoft.com/office/powerpoint/2010/main" val="42710140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D1527-9537-1461-635A-9B843ECEB7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927247-9D1F-A328-8295-96454C8FC081}"/>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047D2059-1B03-D25C-4826-0E683CDF38A0}"/>
              </a:ext>
            </a:extLst>
          </p:cNvPr>
          <p:cNvSpPr>
            <a:spLocks noGrp="1"/>
          </p:cNvSpPr>
          <p:nvPr>
            <p:ph type="body" sz="quarter" idx="10"/>
          </p:nvPr>
        </p:nvSpPr>
        <p:spPr/>
        <p:txBody>
          <a:bodyPr/>
          <a:lstStyle/>
          <a:p>
            <a:r>
              <a:rPr lang="ja-JP" altLang="en-US" dirty="0"/>
              <a:t>メモリへの攻撃はソフトウェアの脆弱性を突くのと比べると、理屈がわかっていても雲をつかむような作業のように思えますが、そういうのが得意な人もいるのでしょうか。</a:t>
            </a:r>
            <a:endParaRPr kumimoji="1" lang="en-US" altLang="ja-JP" dirty="0"/>
          </a:p>
        </p:txBody>
      </p:sp>
    </p:spTree>
    <p:extLst>
      <p:ext uri="{BB962C8B-B14F-4D97-AF65-F5344CB8AC3E}">
        <p14:creationId xmlns:p14="http://schemas.microsoft.com/office/powerpoint/2010/main" val="42093554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4C85D-B77B-28C7-B859-40414ECDC44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E58F187-7E62-24D1-317C-BBD99FFA652F}"/>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F90BE055-D819-2728-53C3-0711FB2178E4}"/>
              </a:ext>
            </a:extLst>
          </p:cNvPr>
          <p:cNvSpPr>
            <a:spLocks noGrp="1"/>
          </p:cNvSpPr>
          <p:nvPr>
            <p:ph type="body" sz="quarter" idx="10"/>
          </p:nvPr>
        </p:nvSpPr>
        <p:spPr/>
        <p:txBody>
          <a:bodyPr/>
          <a:lstStyle/>
          <a:p>
            <a:r>
              <a:rPr lang="ja-JP" altLang="en-US" dirty="0"/>
              <a:t>分岐予測の例は、「レストランにお客さんが来たら、注文する料理を予測して作り始める」などでどうでしょうか。</a:t>
            </a:r>
            <a:endParaRPr kumimoji="1" lang="en-US" altLang="ja-JP" dirty="0"/>
          </a:p>
        </p:txBody>
      </p:sp>
    </p:spTree>
    <p:extLst>
      <p:ext uri="{BB962C8B-B14F-4D97-AF65-F5344CB8AC3E}">
        <p14:creationId xmlns:p14="http://schemas.microsoft.com/office/powerpoint/2010/main" val="23406712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4F2B6-86CD-3084-5E42-61070C2DB67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6359DE1-6709-78B7-7E37-5642115B5743}"/>
              </a:ext>
            </a:extLst>
          </p:cNvPr>
          <p:cNvSpPr>
            <a:spLocks noGrp="1"/>
          </p:cNvSpPr>
          <p:nvPr>
            <p:ph type="title"/>
          </p:nvPr>
        </p:nvSpPr>
        <p:spPr/>
        <p:txBody>
          <a:bodyPr/>
          <a:lstStyle/>
          <a:p>
            <a:r>
              <a:rPr kumimoji="1" lang="ja-JP" altLang="en-US" dirty="0"/>
              <a:t>質問や感想への回答</a:t>
            </a:r>
          </a:p>
        </p:txBody>
      </p:sp>
      <p:sp>
        <p:nvSpPr>
          <p:cNvPr id="3" name="テキスト プレースホルダー 2">
            <a:extLst>
              <a:ext uri="{FF2B5EF4-FFF2-40B4-BE49-F238E27FC236}">
                <a16:creationId xmlns:a16="http://schemas.microsoft.com/office/drawing/2014/main" id="{2B02795A-B972-6D73-803F-F8F676732659}"/>
              </a:ext>
            </a:extLst>
          </p:cNvPr>
          <p:cNvSpPr>
            <a:spLocks noGrp="1"/>
          </p:cNvSpPr>
          <p:nvPr>
            <p:ph type="body" sz="quarter" idx="10"/>
          </p:nvPr>
        </p:nvSpPr>
        <p:spPr/>
        <p:txBody>
          <a:bodyPr/>
          <a:lstStyle/>
          <a:p>
            <a:r>
              <a:rPr lang="en-US" altLang="ja-JP" dirty="0"/>
              <a:t>RAM</a:t>
            </a:r>
            <a:r>
              <a:rPr lang="ja-JP" altLang="en-US" dirty="0"/>
              <a:t>と</a:t>
            </a:r>
            <a:r>
              <a:rPr lang="en-US" altLang="ja-JP" dirty="0"/>
              <a:t>DRAM</a:t>
            </a:r>
            <a:r>
              <a:rPr lang="ja-JP" altLang="en-US" dirty="0"/>
              <a:t>でセルの中身が違うというのを回路レベルで理解できてよかったです。若干見当違いかもしれませんが、最近流行りの積層によるフラッシュメモリの改善みたいなことを揮発性の方に応用するのは難しそうですか</a:t>
            </a:r>
            <a:r>
              <a:rPr lang="en-US" altLang="ja-JP" dirty="0"/>
              <a:t>? DRAM</a:t>
            </a:r>
            <a:r>
              <a:rPr lang="ja-JP" altLang="en-US" dirty="0"/>
              <a:t>の作り方の模式図を見るとこれを積層するのは無理だろう感がありますが、</a:t>
            </a:r>
            <a:r>
              <a:rPr lang="en-US" altLang="ja-JP" dirty="0"/>
              <a:t>SRAM</a:t>
            </a:r>
            <a:r>
              <a:rPr lang="ja-JP" altLang="en-US" dirty="0"/>
              <a:t>ならまあできてもおかしくないかなぁ</a:t>
            </a:r>
            <a:r>
              <a:rPr lang="en-US" altLang="ja-JP" dirty="0"/>
              <a:t>...?</a:t>
            </a:r>
            <a:r>
              <a:rPr lang="ja-JP" altLang="en-US" dirty="0"/>
              <a:t>と感じました。ただ、</a:t>
            </a:r>
            <a:r>
              <a:rPr lang="en-US" altLang="ja-JP" dirty="0"/>
              <a:t>CPU</a:t>
            </a:r>
            <a:r>
              <a:rPr lang="ja-JP" altLang="en-US" dirty="0"/>
              <a:t>に使われている</a:t>
            </a:r>
            <a:r>
              <a:rPr lang="en-US" altLang="ja-JP" dirty="0"/>
              <a:t>SRAM</a:t>
            </a:r>
            <a:r>
              <a:rPr lang="ja-JP" altLang="en-US" dirty="0"/>
              <a:t>に対して積層しても、</a:t>
            </a:r>
            <a:r>
              <a:rPr lang="en-US" altLang="ja-JP" dirty="0"/>
              <a:t>CPU</a:t>
            </a:r>
            <a:r>
              <a:rPr lang="ja-JP" altLang="en-US" dirty="0"/>
              <a:t>自体が発熱・エネルギー効率で律速していて、これ以上無理やり回路を複雑にしても効果が薄そうというイメージもあります。</a:t>
            </a:r>
          </a:p>
          <a:p>
            <a:endParaRPr kumimoji="1" lang="en-US" altLang="ja-JP" dirty="0"/>
          </a:p>
        </p:txBody>
      </p:sp>
    </p:spTree>
    <p:extLst>
      <p:ext uri="{BB962C8B-B14F-4D97-AF65-F5344CB8AC3E}">
        <p14:creationId xmlns:p14="http://schemas.microsoft.com/office/powerpoint/2010/main" val="28490964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erulean">
  <a:themeElements>
    <a:clrScheme name="ユーザー定義 3">
      <a:dk1>
        <a:sysClr val="windowText" lastClr="000000"/>
      </a:dk1>
      <a:lt1>
        <a:sysClr val="window" lastClr="FFFFFF"/>
      </a:lt1>
      <a:dk2>
        <a:srgbClr val="F4EB00"/>
      </a:dk2>
      <a:lt2>
        <a:srgbClr val="C4FF4A"/>
      </a:lt2>
      <a:accent1>
        <a:srgbClr val="5782B5"/>
      </a:accent1>
      <a:accent2>
        <a:srgbClr val="B65A58"/>
      </a:accent2>
      <a:accent3>
        <a:srgbClr val="81945C"/>
      </a:accent3>
      <a:accent4>
        <a:srgbClr val="5C6994"/>
      </a:accent4>
      <a:accent5>
        <a:srgbClr val="4E8EA2"/>
      </a:accent5>
      <a:accent6>
        <a:srgbClr val="C77D63"/>
      </a:accent6>
      <a:hlink>
        <a:srgbClr val="3A3AC6"/>
      </a:hlink>
      <a:folHlink>
        <a:srgbClr val="631D63"/>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aco-shioya-07</Template>
  <TotalTime>60955</TotalTime>
  <Words>7349</Words>
  <Application>Microsoft Office PowerPoint</Application>
  <PresentationFormat>ワイド画面</PresentationFormat>
  <Paragraphs>1018</Paragraphs>
  <Slides>94</Slides>
  <Notes>1</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94</vt:i4>
      </vt:variant>
    </vt:vector>
  </HeadingPairs>
  <TitlesOfParts>
    <vt:vector size="105" baseType="lpstr">
      <vt:lpstr>HG丸ｺﾞｼｯｸM-PRO</vt:lpstr>
      <vt:lpstr>MeiryoKe_PGothic</vt:lpstr>
      <vt:lpstr>ＭＳ Ｐゴシック</vt:lpstr>
      <vt:lpstr>メイリオ</vt:lpstr>
      <vt:lpstr>Arial</vt:lpstr>
      <vt:lpstr>Arial Narrow</vt:lpstr>
      <vt:lpstr>Calibri</vt:lpstr>
      <vt:lpstr>Consolas</vt:lpstr>
      <vt:lpstr>Segoe UI</vt:lpstr>
      <vt:lpstr>Wingdings</vt:lpstr>
      <vt:lpstr>cerulean</vt:lpstr>
      <vt:lpstr>先進計算機構成論 08</vt:lpstr>
      <vt:lpstr>今日の内容</vt:lpstr>
      <vt:lpstr>命令の並列実行</vt:lpstr>
      <vt:lpstr>スカラ・プロセッサ</vt:lpstr>
      <vt:lpstr>パイプライン化</vt:lpstr>
      <vt:lpstr>パイプライン化による性能向上の限界（復習）</vt:lpstr>
      <vt:lpstr>スーパスカラ・プロセッサ（Superscalar processor）</vt:lpstr>
      <vt:lpstr>単純なスーパスカラ・プロセッサの動作</vt:lpstr>
      <vt:lpstr>パイプラインの復習</vt:lpstr>
      <vt:lpstr>パイプライン化されたプロセッサのブロック図</vt:lpstr>
      <vt:lpstr>フェッチ</vt:lpstr>
      <vt:lpstr>デコード</vt:lpstr>
      <vt:lpstr>実行</vt:lpstr>
      <vt:lpstr>メモリアクセス</vt:lpstr>
      <vt:lpstr>書き戻し</vt:lpstr>
      <vt:lpstr>単純な 2-way スーパスカラ・プロセッサの例</vt:lpstr>
      <vt:lpstr>単純なスーパスカラによる性能向上</vt:lpstr>
      <vt:lpstr>スーパスカラによる並列実行の制約</vt:lpstr>
      <vt:lpstr>1. 同時にフェッチされた命令間に依存がある場合</vt:lpstr>
      <vt:lpstr>2. 構造ハザードが起きる場合</vt:lpstr>
      <vt:lpstr>3. 同時にフェッチされた命令内に分岐があり，他に飛ぶ場合</vt:lpstr>
      <vt:lpstr>3. 同時にフェッチされた命令内に分岐があり，他に飛ぶ場合</vt:lpstr>
      <vt:lpstr>メモリでは連続箇所（連続した命令）を 一気に読むのは一般に簡単</vt:lpstr>
      <vt:lpstr>任意の複数箇所を同時に読む =  マルチポート・メモリが必要に</vt:lpstr>
      <vt:lpstr>マルチバンク化による緩和</vt:lpstr>
      <vt:lpstr>単純なスーパスカラによる並列実行のまとめ</vt:lpstr>
      <vt:lpstr>同時実行幅を増やしていっても，何かの制約ですぐ止まる</vt:lpstr>
      <vt:lpstr>余談：「スーパスカラ・プロセッサ」という言葉</vt:lpstr>
      <vt:lpstr>今日の内容</vt:lpstr>
      <vt:lpstr>命令間の依存関係</vt:lpstr>
      <vt:lpstr>命令間の依存関係</vt:lpstr>
      <vt:lpstr>制御依存</vt:lpstr>
      <vt:lpstr>データ依存</vt:lpstr>
      <vt:lpstr>真の依存：フロー依存 RAW（read after write）</vt:lpstr>
      <vt:lpstr>偽の依存１：逆依存 WAR（write after read）</vt:lpstr>
      <vt:lpstr>偽の依存２：出力依存 WAW（write after write）</vt:lpstr>
      <vt:lpstr>真の依存と偽の依存</vt:lpstr>
      <vt:lpstr>偽の依存の解消の例</vt:lpstr>
      <vt:lpstr>余談：値予測</vt:lpstr>
      <vt:lpstr>今日の内容</vt:lpstr>
      <vt:lpstr>静的命令スケジューリング</vt:lpstr>
      <vt:lpstr>単純なスーパスカラでの実行の例</vt:lpstr>
      <vt:lpstr>静的スケジューリングによる解決</vt:lpstr>
      <vt:lpstr>VLIW：Very Long Instruction Word</vt:lpstr>
      <vt:lpstr>VLIW の利点と問題点</vt:lpstr>
      <vt:lpstr>1. 性能がいまいち出ない</vt:lpstr>
      <vt:lpstr>静的スケジューリングが難しい例１</vt:lpstr>
      <vt:lpstr>静的スケジューリングが難しい例２</vt:lpstr>
      <vt:lpstr>余談：C 言語などでのポインタ経由アクセス</vt:lpstr>
      <vt:lpstr>互換性がとりにくい</vt:lpstr>
      <vt:lpstr>1. 並列実行幅が固定されている</vt:lpstr>
      <vt:lpstr>2.実行タイミングを仮定してスケジュールされている</vt:lpstr>
      <vt:lpstr>2. 実行タイミングを仮定してスケジュールされている</vt:lpstr>
      <vt:lpstr>キャッシュのレイテンシが伸びた場合</vt:lpstr>
      <vt:lpstr>実行タイミングを仮定してスケジュールされている ことの他の問題</vt:lpstr>
      <vt:lpstr>VLIW の例：Intel Itanium</vt:lpstr>
      <vt:lpstr>Intel Itanium の性能</vt:lpstr>
      <vt:lpstr>Intel Itanium の末路</vt:lpstr>
      <vt:lpstr>VLIW は全くダメなのか？</vt:lpstr>
      <vt:lpstr>今日の内容</vt:lpstr>
      <vt:lpstr>動的命令スケジューリング</vt:lpstr>
      <vt:lpstr>動的命令スケジューリングを行う CPU の構造</vt:lpstr>
      <vt:lpstr>大ざっぱな動作</vt:lpstr>
      <vt:lpstr>言葉の定義１</vt:lpstr>
      <vt:lpstr>言葉の定義２</vt:lpstr>
      <vt:lpstr>今日の内容</vt:lpstr>
      <vt:lpstr>出欠と感想</vt:lpstr>
      <vt:lpstr>出席</vt:lpstr>
      <vt:lpstr>質問や感想への回答</vt:lpstr>
      <vt:lpstr>質問や感想への回答</vt:lpstr>
      <vt:lpstr>質問や感想への回答</vt:lpstr>
      <vt:lpstr>質問や感想への回答</vt:lpstr>
      <vt:lpstr>質問や感想への回答</vt:lpstr>
      <vt:lpstr>質問や感想への回答</vt:lpstr>
      <vt:lpstr>質問や感想への回答</vt:lpstr>
      <vt:lpstr>質問や感想への回答</vt:lpstr>
      <vt:lpstr>PowerPoint プレゼンテーション</vt:lpstr>
      <vt:lpstr>質問や感想への回答</vt:lpstr>
      <vt:lpstr>質問や感想への回答</vt:lpstr>
      <vt:lpstr>質問や感想への回答</vt:lpstr>
      <vt:lpstr>質問や感想への回答</vt:lpstr>
      <vt:lpstr>質問や感想への回答</vt:lpstr>
      <vt:lpstr>質問や感想への回答</vt:lpstr>
      <vt:lpstr>質問や感想への回答</vt:lpstr>
      <vt:lpstr>質問や感想への回答</vt:lpstr>
      <vt:lpstr>質問や感想への回答</vt:lpstr>
      <vt:lpstr>DRAM のコンデンサの作り方 H. Seidl et al, A Fully Integrated Al2O3 Trench Capacitor DRAM for Sub-100nm Technology より</vt:lpstr>
      <vt:lpstr>質問や感想への回答</vt:lpstr>
      <vt:lpstr>質問や感想への回答</vt:lpstr>
      <vt:lpstr>質問や感想への回答</vt:lpstr>
      <vt:lpstr>質問や感想への回答</vt:lpstr>
      <vt:lpstr>質問や感想への回答</vt:lpstr>
      <vt:lpstr>質問や感想への回答</vt:lpstr>
      <vt:lpstr>質問や感想への回答</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shioya</dc:creator>
  <cp:lastModifiedBy>塩谷　亮太</cp:lastModifiedBy>
  <cp:revision>14543</cp:revision>
  <cp:lastPrinted>2014-12-10T13:40:48Z</cp:lastPrinted>
  <dcterms:created xsi:type="dcterms:W3CDTF">2014-11-17T10:53:59Z</dcterms:created>
  <dcterms:modified xsi:type="dcterms:W3CDTF">2026-07-06T05:49:15Z</dcterms:modified>
</cp:coreProperties>
</file>