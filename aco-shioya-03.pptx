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Lst>
  <p:notesMasterIdLst>
    <p:notesMasterId r:id="rId86"/>
  </p:notesMasterIdLst>
  <p:sldIdLst>
    <p:sldId id="440" r:id="rId2"/>
    <p:sldId id="513" r:id="rId3"/>
    <p:sldId id="411" r:id="rId4"/>
    <p:sldId id="463" r:id="rId5"/>
    <p:sldId id="462" r:id="rId6"/>
    <p:sldId id="464" r:id="rId7"/>
    <p:sldId id="465" r:id="rId8"/>
    <p:sldId id="467" r:id="rId9"/>
    <p:sldId id="468" r:id="rId10"/>
    <p:sldId id="470" r:id="rId11"/>
    <p:sldId id="469" r:id="rId12"/>
    <p:sldId id="466" r:id="rId13"/>
    <p:sldId id="471" r:id="rId14"/>
    <p:sldId id="539" r:id="rId15"/>
    <p:sldId id="473" r:id="rId16"/>
    <p:sldId id="472" r:id="rId17"/>
    <p:sldId id="474" r:id="rId18"/>
    <p:sldId id="475" r:id="rId19"/>
    <p:sldId id="476" r:id="rId20"/>
    <p:sldId id="477" r:id="rId21"/>
    <p:sldId id="478" r:id="rId22"/>
    <p:sldId id="479" r:id="rId23"/>
    <p:sldId id="480" r:id="rId24"/>
    <p:sldId id="481" r:id="rId25"/>
    <p:sldId id="482" r:id="rId26"/>
    <p:sldId id="537" r:id="rId27"/>
    <p:sldId id="386" r:id="rId28"/>
    <p:sldId id="266" r:id="rId29"/>
    <p:sldId id="268" r:id="rId30"/>
    <p:sldId id="384" r:id="rId31"/>
    <p:sldId id="274" r:id="rId32"/>
    <p:sldId id="278" r:id="rId33"/>
    <p:sldId id="279" r:id="rId34"/>
    <p:sldId id="424" r:id="rId35"/>
    <p:sldId id="419" r:id="rId36"/>
    <p:sldId id="281" r:id="rId37"/>
    <p:sldId id="282" r:id="rId38"/>
    <p:sldId id="508" r:id="rId39"/>
    <p:sldId id="631" r:id="rId40"/>
    <p:sldId id="609" r:id="rId41"/>
    <p:sldId id="456" r:id="rId42"/>
    <p:sldId id="457" r:id="rId43"/>
    <p:sldId id="496" r:id="rId44"/>
    <p:sldId id="611" r:id="rId45"/>
    <p:sldId id="484" r:id="rId46"/>
    <p:sldId id="483" r:id="rId47"/>
    <p:sldId id="487" r:id="rId48"/>
    <p:sldId id="486" r:id="rId49"/>
    <p:sldId id="488" r:id="rId50"/>
    <p:sldId id="489" r:id="rId51"/>
    <p:sldId id="491" r:id="rId52"/>
    <p:sldId id="492" r:id="rId53"/>
    <p:sldId id="493" r:id="rId54"/>
    <p:sldId id="495" r:id="rId55"/>
    <p:sldId id="612" r:id="rId56"/>
    <p:sldId id="610" r:id="rId57"/>
    <p:sldId id="498" r:id="rId58"/>
    <p:sldId id="497" r:id="rId59"/>
    <p:sldId id="601" r:id="rId60"/>
    <p:sldId id="502" r:id="rId61"/>
    <p:sldId id="602" r:id="rId62"/>
    <p:sldId id="511" r:id="rId63"/>
    <p:sldId id="604" r:id="rId64"/>
    <p:sldId id="494" r:id="rId65"/>
    <p:sldId id="606" r:id="rId66"/>
    <p:sldId id="607" r:id="rId67"/>
    <p:sldId id="608" r:id="rId68"/>
    <p:sldId id="632" r:id="rId69"/>
    <p:sldId id="633" r:id="rId70"/>
    <p:sldId id="524" r:id="rId71"/>
    <p:sldId id="549" r:id="rId72"/>
    <p:sldId id="634" r:id="rId73"/>
    <p:sldId id="635" r:id="rId74"/>
    <p:sldId id="636" r:id="rId75"/>
    <p:sldId id="637" r:id="rId76"/>
    <p:sldId id="638" r:id="rId77"/>
    <p:sldId id="639" r:id="rId78"/>
    <p:sldId id="640" r:id="rId79"/>
    <p:sldId id="641" r:id="rId80"/>
    <p:sldId id="642" r:id="rId81"/>
    <p:sldId id="643" r:id="rId82"/>
    <p:sldId id="644" r:id="rId83"/>
    <p:sldId id="645" r:id="rId84"/>
    <p:sldId id="646" r:id="rId8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9933FF"/>
    <a:srgbClr val="FF9900"/>
    <a:srgbClr val="009999"/>
    <a:srgbClr val="4E4EF6"/>
    <a:srgbClr val="006699"/>
    <a:srgbClr val="31869D"/>
    <a:srgbClr val="4444E8"/>
    <a:srgbClr val="5555FF"/>
    <a:srgbClr val="414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41" autoAdjust="0"/>
    <p:restoredTop sz="96862" autoAdjust="0"/>
  </p:normalViewPr>
  <p:slideViewPr>
    <p:cSldViewPr>
      <p:cViewPr varScale="1">
        <p:scale>
          <a:sx n="147" d="100"/>
          <a:sy n="147" d="100"/>
        </p:scale>
        <p:origin x="124" y="400"/>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8219816272965874E-2"/>
          <c:y val="3.9198323614053281E-2"/>
          <c:w val="0.87122462817147861"/>
          <c:h val="0.67395709656045388"/>
        </c:manualLayout>
      </c:layout>
      <c:lineChart>
        <c:grouping val="standard"/>
        <c:varyColors val="0"/>
        <c:ser>
          <c:idx val="0"/>
          <c:order val="0"/>
          <c:tx>
            <c:strRef>
              <c:f>'cint-max'!$M$1</c:f>
              <c:strCache>
                <c:ptCount val="1"/>
                <c:pt idx="0">
                  <c:v>MHz</c:v>
                </c:pt>
              </c:strCache>
            </c:strRef>
          </c:tx>
          <c:spPr>
            <a:ln w="28575" cap="rnd">
              <a:solidFill>
                <a:srgbClr val="328FAC"/>
              </a:solidFill>
              <a:round/>
            </a:ln>
            <a:effectLst/>
          </c:spPr>
          <c:marker>
            <c:symbol val="circle"/>
            <c:size val="5"/>
            <c:spPr>
              <a:solidFill>
                <a:srgbClr val="328FAC"/>
              </a:solidFill>
              <a:ln w="9525">
                <a:solidFill>
                  <a:srgbClr val="328FAC"/>
                </a:solidFill>
              </a:ln>
              <a:effectLst/>
            </c:spPr>
          </c:marker>
          <c:cat>
            <c:multiLvlStrRef>
              <c:f>'cint-max'!$K$2:$L$27</c:f>
              <c:multiLvlStrCache>
                <c:ptCount val="24"/>
                <c:lvl>
                  <c:pt idx="0">
                    <c:v>Alpha 21164</c:v>
                  </c:pt>
                  <c:pt idx="1">
                    <c:v>Alpha 21264</c:v>
                  </c:pt>
                  <c:pt idx="2">
                    <c:v>Pentium III Xeon </c:v>
                  </c:pt>
                  <c:pt idx="3">
                    <c:v>Pentium 4 processor</c:v>
                  </c:pt>
                  <c:pt idx="4">
                    <c:v>POWER4</c:v>
                  </c:pt>
                  <c:pt idx="5">
                    <c:v>Pentium 4 Processor</c:v>
                  </c:pt>
                  <c:pt idx="6">
                    <c:v>Pentium 4 Processor</c:v>
                  </c:pt>
                  <c:pt idx="7">
                    <c:v>Pentium 4 processor</c:v>
                  </c:pt>
                  <c:pt idx="8">
                    <c:v>Athlon (TM) 64 FX-57</c:v>
                  </c:pt>
                  <c:pt idx="9">
                    <c:v>Core 2 Extreme X6800</c:v>
                  </c:pt>
                  <c:pt idx="10">
                    <c:v>Xeon X5460</c:v>
                  </c:pt>
                  <c:pt idx="11">
                    <c:v>Core i7-965 Ex. Edition</c:v>
                  </c:pt>
                  <c:pt idx="12">
                    <c:v>Xeon W5590</c:v>
                  </c:pt>
                  <c:pt idx="13">
                    <c:v>Xeon X5680</c:v>
                  </c:pt>
                  <c:pt idx="14">
                    <c:v>Core i7-2600K</c:v>
                  </c:pt>
                  <c:pt idx="15">
                    <c:v>Xeon E5-2690</c:v>
                  </c:pt>
                  <c:pt idx="16">
                    <c:v>Xeon E5-2667 v2</c:v>
                  </c:pt>
                  <c:pt idx="17">
                    <c:v>Xeon E5-2643 v3</c:v>
                  </c:pt>
                  <c:pt idx="18">
                    <c:v>Core i7-5960X</c:v>
                  </c:pt>
                  <c:pt idx="19">
                    <c:v>Core i7-6700K</c:v>
                  </c:pt>
                  <c:pt idx="20">
                    <c:v>Xeon Gold 6146</c:v>
                  </c:pt>
                  <c:pt idx="21">
                    <c:v>Xeon E-2186G</c:v>
                  </c:pt>
                  <c:pt idx="22">
                    <c:v>Xeon E-2278G</c:v>
                  </c:pt>
                  <c:pt idx="23">
                    <c:v>Xeon E-2278G</c:v>
                  </c:pt>
                </c:lvl>
                <c:lvl>
                  <c:pt idx="0">
                    <c:v>97</c:v>
                  </c:pt>
                  <c:pt idx="1">
                    <c:v>98</c:v>
                  </c:pt>
                  <c:pt idx="2">
                    <c:v>99</c:v>
                  </c:pt>
                  <c:pt idx="3">
                    <c:v>00</c:v>
                  </c:pt>
                  <c:pt idx="4">
                    <c:v>01</c:v>
                  </c:pt>
                  <c:pt idx="5">
                    <c:v>02</c:v>
                  </c:pt>
                  <c:pt idx="6">
                    <c:v>03</c:v>
                  </c:pt>
                  <c:pt idx="7">
                    <c:v>04</c:v>
                  </c:pt>
                  <c:pt idx="8">
                    <c:v>05</c:v>
                  </c:pt>
                  <c:pt idx="9">
                    <c:v>06</c:v>
                  </c:pt>
                  <c:pt idx="10">
                    <c:v>07</c:v>
                  </c:pt>
                  <c:pt idx="11">
                    <c:v>08</c:v>
                  </c:pt>
                  <c:pt idx="12">
                    <c:v>09</c:v>
                  </c:pt>
                  <c:pt idx="13">
                    <c:v>10</c:v>
                  </c:pt>
                  <c:pt idx="14">
                    <c:v>11</c:v>
                  </c:pt>
                  <c:pt idx="15">
                    <c:v>12</c:v>
                  </c:pt>
                  <c:pt idx="16">
                    <c:v>13</c:v>
                  </c:pt>
                  <c:pt idx="17">
                    <c:v>14</c:v>
                  </c:pt>
                  <c:pt idx="18">
                    <c:v>15</c:v>
                  </c:pt>
                  <c:pt idx="19">
                    <c:v>16</c:v>
                  </c:pt>
                  <c:pt idx="20">
                    <c:v>17</c:v>
                  </c:pt>
                  <c:pt idx="21">
                    <c:v>18</c:v>
                  </c:pt>
                  <c:pt idx="22">
                    <c:v>19</c:v>
                  </c:pt>
                  <c:pt idx="23">
                    <c:v>20</c:v>
                  </c:pt>
                </c:lvl>
              </c:multiLvlStrCache>
            </c:multiLvlStrRef>
          </c:cat>
          <c:val>
            <c:numRef>
              <c:f>'cint-max'!$M$2:$M$27</c:f>
              <c:numCache>
                <c:formatCode>General</c:formatCode>
                <c:ptCount val="24"/>
                <c:pt idx="0">
                  <c:v>0.1875</c:v>
                </c:pt>
                <c:pt idx="1">
                  <c:v>0.1796875</c:v>
                </c:pt>
                <c:pt idx="2">
                  <c:v>0.2290625</c:v>
                </c:pt>
                <c:pt idx="3">
                  <c:v>0.46875</c:v>
                </c:pt>
                <c:pt idx="4">
                  <c:v>0.40625</c:v>
                </c:pt>
                <c:pt idx="5">
                  <c:v>0.95843750000000005</c:v>
                </c:pt>
                <c:pt idx="6">
                  <c:v>1</c:v>
                </c:pt>
                <c:pt idx="7">
                  <c:v>1.06</c:v>
                </c:pt>
                <c:pt idx="8">
                  <c:v>0.875</c:v>
                </c:pt>
                <c:pt idx="9">
                  <c:v>0.91656249999999995</c:v>
                </c:pt>
                <c:pt idx="10">
                  <c:v>0.98687499999999995</c:v>
                </c:pt>
                <c:pt idx="11">
                  <c:v>1</c:v>
                </c:pt>
                <c:pt idx="12">
                  <c:v>1.0415624999999999</c:v>
                </c:pt>
                <c:pt idx="13">
                  <c:v>1.3125</c:v>
                </c:pt>
                <c:pt idx="14">
                  <c:v>1.5</c:v>
                </c:pt>
                <c:pt idx="15">
                  <c:v>0.90625</c:v>
                </c:pt>
                <c:pt idx="16">
                  <c:v>1.03125</c:v>
                </c:pt>
                <c:pt idx="17">
                  <c:v>1.0625</c:v>
                </c:pt>
                <c:pt idx="18">
                  <c:v>1.40625</c:v>
                </c:pt>
                <c:pt idx="19">
                  <c:v>1.25</c:v>
                </c:pt>
                <c:pt idx="20">
                  <c:v>1</c:v>
                </c:pt>
                <c:pt idx="21">
                  <c:v>1.1875</c:v>
                </c:pt>
                <c:pt idx="22">
                  <c:v>1.0625</c:v>
                </c:pt>
                <c:pt idx="23">
                  <c:v>1.0625</c:v>
                </c:pt>
              </c:numCache>
            </c:numRef>
          </c:val>
          <c:smooth val="0"/>
          <c:extLst>
            <c:ext xmlns:c16="http://schemas.microsoft.com/office/drawing/2014/chart" uri="{C3380CC4-5D6E-409C-BE32-E72D297353CC}">
              <c16:uniqueId val="{00000000-17D8-41FA-BC87-7AA87CCC59A2}"/>
            </c:ext>
          </c:extLst>
        </c:ser>
        <c:dLbls>
          <c:showLegendKey val="0"/>
          <c:showVal val="0"/>
          <c:showCatName val="0"/>
          <c:showSerName val="0"/>
          <c:showPercent val="0"/>
          <c:showBubbleSize val="0"/>
        </c:dLbls>
        <c:marker val="1"/>
        <c:smooth val="0"/>
        <c:axId val="600388648"/>
        <c:axId val="600387864"/>
      </c:lineChart>
      <c:catAx>
        <c:axId val="60038864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600387864"/>
        <c:crosses val="autoZero"/>
        <c:auto val="1"/>
        <c:lblAlgn val="ctr"/>
        <c:lblOffset val="100"/>
        <c:noMultiLvlLbl val="0"/>
      </c:catAx>
      <c:valAx>
        <c:axId val="600387864"/>
        <c:scaling>
          <c:logBase val="10"/>
          <c:orientation val="minMax"/>
          <c:max val="2"/>
          <c:min val="0.1"/>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ja-JP"/>
          </a:p>
        </c:txPr>
        <c:crossAx val="6003886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2026/5/18</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3548328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27</a:t>
            </a:fld>
            <a:endParaRPr kumimoji="1" lang="ja-JP" altLang="en-US"/>
          </a:p>
        </p:txBody>
      </p:sp>
    </p:spTree>
    <p:extLst>
      <p:ext uri="{BB962C8B-B14F-4D97-AF65-F5344CB8AC3E}">
        <p14:creationId xmlns:p14="http://schemas.microsoft.com/office/powerpoint/2010/main" val="3255924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28</a:t>
            </a:fld>
            <a:endParaRPr kumimoji="1" lang="ja-JP" altLang="en-US"/>
          </a:p>
        </p:txBody>
      </p:sp>
    </p:spTree>
    <p:extLst>
      <p:ext uri="{BB962C8B-B14F-4D97-AF65-F5344CB8AC3E}">
        <p14:creationId xmlns:p14="http://schemas.microsoft.com/office/powerpoint/2010/main" val="3620140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29</a:t>
            </a:fld>
            <a:endParaRPr kumimoji="1" lang="ja-JP" altLang="en-US"/>
          </a:p>
        </p:txBody>
      </p:sp>
    </p:spTree>
    <p:extLst>
      <p:ext uri="{BB962C8B-B14F-4D97-AF65-F5344CB8AC3E}">
        <p14:creationId xmlns:p14="http://schemas.microsoft.com/office/powerpoint/2010/main" val="3815392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30</a:t>
            </a:fld>
            <a:endParaRPr kumimoji="1" lang="ja-JP" altLang="en-US"/>
          </a:p>
        </p:txBody>
      </p:sp>
    </p:spTree>
    <p:extLst>
      <p:ext uri="{BB962C8B-B14F-4D97-AF65-F5344CB8AC3E}">
        <p14:creationId xmlns:p14="http://schemas.microsoft.com/office/powerpoint/2010/main" val="1422712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31</a:t>
            </a:fld>
            <a:endParaRPr kumimoji="1" lang="ja-JP" altLang="en-US"/>
          </a:p>
        </p:txBody>
      </p:sp>
    </p:spTree>
    <p:extLst>
      <p:ext uri="{BB962C8B-B14F-4D97-AF65-F5344CB8AC3E}">
        <p14:creationId xmlns:p14="http://schemas.microsoft.com/office/powerpoint/2010/main" val="1654184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32</a:t>
            </a:fld>
            <a:endParaRPr kumimoji="1" lang="ja-JP" altLang="en-US"/>
          </a:p>
        </p:txBody>
      </p:sp>
    </p:spTree>
    <p:extLst>
      <p:ext uri="{BB962C8B-B14F-4D97-AF65-F5344CB8AC3E}">
        <p14:creationId xmlns:p14="http://schemas.microsoft.com/office/powerpoint/2010/main" val="720693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33</a:t>
            </a:fld>
            <a:endParaRPr kumimoji="1" lang="ja-JP" altLang="en-US"/>
          </a:p>
        </p:txBody>
      </p:sp>
    </p:spTree>
    <p:extLst>
      <p:ext uri="{BB962C8B-B14F-4D97-AF65-F5344CB8AC3E}">
        <p14:creationId xmlns:p14="http://schemas.microsoft.com/office/powerpoint/2010/main" val="1205126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34</a:t>
            </a:fld>
            <a:endParaRPr kumimoji="1" lang="ja-JP" altLang="en-US"/>
          </a:p>
        </p:txBody>
      </p:sp>
    </p:spTree>
    <p:extLst>
      <p:ext uri="{BB962C8B-B14F-4D97-AF65-F5344CB8AC3E}">
        <p14:creationId xmlns:p14="http://schemas.microsoft.com/office/powerpoint/2010/main" val="1113147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35</a:t>
            </a:fld>
            <a:endParaRPr kumimoji="1" lang="ja-JP" altLang="en-US"/>
          </a:p>
        </p:txBody>
      </p:sp>
    </p:spTree>
    <p:extLst>
      <p:ext uri="{BB962C8B-B14F-4D97-AF65-F5344CB8AC3E}">
        <p14:creationId xmlns:p14="http://schemas.microsoft.com/office/powerpoint/2010/main" val="2851275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36</a:t>
            </a:fld>
            <a:endParaRPr kumimoji="1" lang="ja-JP" altLang="en-US"/>
          </a:p>
        </p:txBody>
      </p:sp>
    </p:spTree>
    <p:extLst>
      <p:ext uri="{BB962C8B-B14F-4D97-AF65-F5344CB8AC3E}">
        <p14:creationId xmlns:p14="http://schemas.microsoft.com/office/powerpoint/2010/main" val="19222524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37</a:t>
            </a:fld>
            <a:endParaRPr kumimoji="1" lang="ja-JP" altLang="en-US"/>
          </a:p>
        </p:txBody>
      </p:sp>
    </p:spTree>
    <p:extLst>
      <p:ext uri="{BB962C8B-B14F-4D97-AF65-F5344CB8AC3E}">
        <p14:creationId xmlns:p14="http://schemas.microsoft.com/office/powerpoint/2010/main" val="975747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41</a:t>
            </a:fld>
            <a:endParaRPr kumimoji="1" lang="ja-JP" altLang="en-US"/>
          </a:p>
        </p:txBody>
      </p:sp>
    </p:spTree>
    <p:extLst>
      <p:ext uri="{BB962C8B-B14F-4D97-AF65-F5344CB8AC3E}">
        <p14:creationId xmlns:p14="http://schemas.microsoft.com/office/powerpoint/2010/main" val="2643899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42</a:t>
            </a:fld>
            <a:endParaRPr kumimoji="1" lang="ja-JP" altLang="en-US"/>
          </a:p>
        </p:txBody>
      </p:sp>
    </p:spTree>
    <p:extLst>
      <p:ext uri="{BB962C8B-B14F-4D97-AF65-F5344CB8AC3E}">
        <p14:creationId xmlns:p14="http://schemas.microsoft.com/office/powerpoint/2010/main" val="15630979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ヘッダー プレースホルダ 3"/>
          <p:cNvSpPr>
            <a:spLocks noGrp="1"/>
          </p:cNvSpPr>
          <p:nvPr>
            <p:ph type="hdr" sz="quarter" idx="10"/>
          </p:nvPr>
        </p:nvSpPr>
        <p:spPr/>
        <p:txBody>
          <a:bodyPr/>
          <a:lstStyle/>
          <a:p>
            <a:r>
              <a:rPr lang="ja-JP" altLang="en-US"/>
              <a:t>*</a:t>
            </a:r>
            <a:endParaRPr lang="ja-JP" altLang="en-US" sz="1200"/>
          </a:p>
        </p:txBody>
      </p:sp>
      <p:sp>
        <p:nvSpPr>
          <p:cNvPr id="5" name="日付プレースホルダ 4"/>
          <p:cNvSpPr>
            <a:spLocks noGrp="1"/>
          </p:cNvSpPr>
          <p:nvPr>
            <p:ph type="dt" idx="11"/>
          </p:nvPr>
        </p:nvSpPr>
        <p:spPr/>
        <p:txBody>
          <a:bodyPr/>
          <a:lstStyle/>
          <a:p>
            <a:r>
              <a:rPr lang="ja-JP" altLang="en-US"/>
              <a:t>07/16/96</a:t>
            </a:r>
            <a:endParaRPr lang="ja-JP" altLang="en-US" sz="1200"/>
          </a:p>
        </p:txBody>
      </p:sp>
      <p:sp>
        <p:nvSpPr>
          <p:cNvPr id="6" name="フッター プレースホルダ 5"/>
          <p:cNvSpPr>
            <a:spLocks noGrp="1"/>
          </p:cNvSpPr>
          <p:nvPr>
            <p:ph type="ftr" sz="quarter" idx="12"/>
          </p:nvPr>
        </p:nvSpPr>
        <p:spPr/>
        <p:txBody>
          <a:bodyPr/>
          <a:lstStyle/>
          <a:p>
            <a:r>
              <a:rPr lang="ja-JP" altLang="en-US"/>
              <a:t>*</a:t>
            </a:r>
            <a:endParaRPr lang="ja-JP" altLang="en-US" sz="1200"/>
          </a:p>
        </p:txBody>
      </p:sp>
      <p:sp>
        <p:nvSpPr>
          <p:cNvPr id="7" name="スライド番号プレースホルダ 6"/>
          <p:cNvSpPr>
            <a:spLocks noGrp="1"/>
          </p:cNvSpPr>
          <p:nvPr>
            <p:ph type="sldNum" sz="quarter" idx="13"/>
          </p:nvPr>
        </p:nvSpPr>
        <p:spPr/>
        <p:txBody>
          <a:bodyPr/>
          <a:lstStyle/>
          <a:p>
            <a:r>
              <a:rPr lang="ja-JP" altLang="en-US"/>
              <a:t>##</a:t>
            </a:r>
            <a:endParaRPr lang="ja-JP" altLang="en-US" sz="1200"/>
          </a:p>
        </p:txBody>
      </p:sp>
    </p:spTree>
    <p:extLst>
      <p:ext uri="{BB962C8B-B14F-4D97-AF65-F5344CB8AC3E}">
        <p14:creationId xmlns:p14="http://schemas.microsoft.com/office/powerpoint/2010/main" val="7138388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ヘッダー プレースホルダ 3"/>
          <p:cNvSpPr>
            <a:spLocks noGrp="1"/>
          </p:cNvSpPr>
          <p:nvPr>
            <p:ph type="hdr" sz="quarter" idx="10"/>
          </p:nvPr>
        </p:nvSpPr>
        <p:spPr/>
        <p:txBody>
          <a:bodyPr/>
          <a:lstStyle/>
          <a:p>
            <a:r>
              <a:rPr lang="ja-JP" altLang="en-US"/>
              <a:t>*</a:t>
            </a:r>
            <a:endParaRPr lang="ja-JP" altLang="en-US" sz="1200"/>
          </a:p>
        </p:txBody>
      </p:sp>
      <p:sp>
        <p:nvSpPr>
          <p:cNvPr id="5" name="日付プレースホルダ 4"/>
          <p:cNvSpPr>
            <a:spLocks noGrp="1"/>
          </p:cNvSpPr>
          <p:nvPr>
            <p:ph type="dt" idx="11"/>
          </p:nvPr>
        </p:nvSpPr>
        <p:spPr/>
        <p:txBody>
          <a:bodyPr/>
          <a:lstStyle/>
          <a:p>
            <a:r>
              <a:rPr lang="ja-JP" altLang="en-US"/>
              <a:t>07/16/96</a:t>
            </a:r>
            <a:endParaRPr lang="ja-JP" altLang="en-US" sz="1200"/>
          </a:p>
        </p:txBody>
      </p:sp>
      <p:sp>
        <p:nvSpPr>
          <p:cNvPr id="6" name="フッター プレースホルダ 5"/>
          <p:cNvSpPr>
            <a:spLocks noGrp="1"/>
          </p:cNvSpPr>
          <p:nvPr>
            <p:ph type="ftr" sz="quarter" idx="12"/>
          </p:nvPr>
        </p:nvSpPr>
        <p:spPr/>
        <p:txBody>
          <a:bodyPr/>
          <a:lstStyle/>
          <a:p>
            <a:r>
              <a:rPr lang="ja-JP" altLang="en-US"/>
              <a:t>*</a:t>
            </a:r>
            <a:endParaRPr lang="ja-JP" altLang="en-US" sz="1200"/>
          </a:p>
        </p:txBody>
      </p:sp>
      <p:sp>
        <p:nvSpPr>
          <p:cNvPr id="7" name="スライド番号プレースホルダ 6"/>
          <p:cNvSpPr>
            <a:spLocks noGrp="1"/>
          </p:cNvSpPr>
          <p:nvPr>
            <p:ph type="sldNum" sz="quarter" idx="13"/>
          </p:nvPr>
        </p:nvSpPr>
        <p:spPr/>
        <p:txBody>
          <a:bodyPr/>
          <a:lstStyle/>
          <a:p>
            <a:r>
              <a:rPr lang="ja-JP" altLang="en-US"/>
              <a:t>##</a:t>
            </a:r>
            <a:endParaRPr lang="ja-JP" altLang="en-US" sz="1200"/>
          </a:p>
        </p:txBody>
      </p:sp>
    </p:spTree>
    <p:extLst>
      <p:ext uri="{BB962C8B-B14F-4D97-AF65-F5344CB8AC3E}">
        <p14:creationId xmlns:p14="http://schemas.microsoft.com/office/powerpoint/2010/main" val="2686561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ヘッダー プレースホルダ 3"/>
          <p:cNvSpPr>
            <a:spLocks noGrp="1"/>
          </p:cNvSpPr>
          <p:nvPr>
            <p:ph type="hdr" sz="quarter" idx="10"/>
          </p:nvPr>
        </p:nvSpPr>
        <p:spPr/>
        <p:txBody>
          <a:bodyPr/>
          <a:lstStyle/>
          <a:p>
            <a:r>
              <a:rPr lang="ja-JP" altLang="en-US"/>
              <a:t>*</a:t>
            </a:r>
            <a:endParaRPr lang="ja-JP" altLang="en-US" sz="1200"/>
          </a:p>
        </p:txBody>
      </p:sp>
      <p:sp>
        <p:nvSpPr>
          <p:cNvPr id="5" name="日付プレースホルダ 4"/>
          <p:cNvSpPr>
            <a:spLocks noGrp="1"/>
          </p:cNvSpPr>
          <p:nvPr>
            <p:ph type="dt" idx="11"/>
          </p:nvPr>
        </p:nvSpPr>
        <p:spPr/>
        <p:txBody>
          <a:bodyPr/>
          <a:lstStyle/>
          <a:p>
            <a:r>
              <a:rPr lang="ja-JP" altLang="en-US"/>
              <a:t>07/16/96</a:t>
            </a:r>
            <a:endParaRPr lang="ja-JP" altLang="en-US" sz="1200"/>
          </a:p>
        </p:txBody>
      </p:sp>
      <p:sp>
        <p:nvSpPr>
          <p:cNvPr id="6" name="フッター プレースホルダ 5"/>
          <p:cNvSpPr>
            <a:spLocks noGrp="1"/>
          </p:cNvSpPr>
          <p:nvPr>
            <p:ph type="ftr" sz="quarter" idx="12"/>
          </p:nvPr>
        </p:nvSpPr>
        <p:spPr/>
        <p:txBody>
          <a:bodyPr/>
          <a:lstStyle/>
          <a:p>
            <a:r>
              <a:rPr lang="ja-JP" altLang="en-US"/>
              <a:t>*</a:t>
            </a:r>
            <a:endParaRPr lang="ja-JP" altLang="en-US" sz="1200"/>
          </a:p>
        </p:txBody>
      </p:sp>
      <p:sp>
        <p:nvSpPr>
          <p:cNvPr id="7" name="スライド番号プレースホルダ 6"/>
          <p:cNvSpPr>
            <a:spLocks noGrp="1"/>
          </p:cNvSpPr>
          <p:nvPr>
            <p:ph type="sldNum" sz="quarter" idx="13"/>
          </p:nvPr>
        </p:nvSpPr>
        <p:spPr/>
        <p:txBody>
          <a:bodyPr/>
          <a:lstStyle/>
          <a:p>
            <a:r>
              <a:rPr lang="ja-JP" altLang="en-US"/>
              <a:t>##</a:t>
            </a:r>
            <a:endParaRPr lang="ja-JP" altLang="en-US" sz="1200"/>
          </a:p>
        </p:txBody>
      </p:sp>
    </p:spTree>
    <p:extLst>
      <p:ext uri="{BB962C8B-B14F-4D97-AF65-F5344CB8AC3E}">
        <p14:creationId xmlns:p14="http://schemas.microsoft.com/office/powerpoint/2010/main" val="2795612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 name="正方形/長方形 1">
            <a:extLst>
              <a:ext uri="{FF2B5EF4-FFF2-40B4-BE49-F238E27FC236}">
                <a16:creationId xmlns:a16="http://schemas.microsoft.com/office/drawing/2014/main" id="{813827C5-4275-31A2-853D-AD2CF14BBA9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3" name="直線コネクタ 2">
            <a:extLst>
              <a:ext uri="{FF2B5EF4-FFF2-40B4-BE49-F238E27FC236}">
                <a16:creationId xmlns:a16="http://schemas.microsoft.com/office/drawing/2014/main" id="{7B0AFE8A-4F74-BD8B-20D9-616B7AE7DADC}"/>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4" name="正方形/長方形 3">
            <a:extLst>
              <a:ext uri="{FF2B5EF4-FFF2-40B4-BE49-F238E27FC236}">
                <a16:creationId xmlns:a16="http://schemas.microsoft.com/office/drawing/2014/main" id="{11CAED90-8BCF-EEF7-7551-9410E8F2C2C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7" name="直線コネクタ 6">
            <a:extLst>
              <a:ext uri="{FF2B5EF4-FFF2-40B4-BE49-F238E27FC236}">
                <a16:creationId xmlns:a16="http://schemas.microsoft.com/office/drawing/2014/main" id="{AA6324B9-77F8-EC31-6C3B-5D9B58641456}"/>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8" name="正方形/長方形 7">
            <a:extLst>
              <a:ext uri="{FF2B5EF4-FFF2-40B4-BE49-F238E27FC236}">
                <a16:creationId xmlns:a16="http://schemas.microsoft.com/office/drawing/2014/main" id="{7F3D3427-5051-5379-015F-3E42D5A44B63}"/>
              </a:ext>
            </a:extLst>
          </p:cNvPr>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9" name="直線コネクタ 8">
            <a:extLst>
              <a:ext uri="{FF2B5EF4-FFF2-40B4-BE49-F238E27FC236}">
                <a16:creationId xmlns:a16="http://schemas.microsoft.com/office/drawing/2014/main" id="{AED9C875-ACB9-9A82-3D2E-F8FE4B2ACA89}"/>
              </a:ext>
            </a:extLst>
          </p:cNvPr>
          <p:cNvCxnSpPr/>
          <p:nvPr userDrawn="1"/>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119349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730097" cy="5219751"/>
          </a:xfrm>
        </p:spPr>
        <p:txBody>
          <a:bodyPr/>
          <a:lstStyle>
            <a:lvl2pPr>
              <a:buClr>
                <a:schemeClr val="accent5">
                  <a:lumMod val="60000"/>
                  <a:lumOff val="40000"/>
                </a:schemeClr>
              </a:buClr>
              <a:defRPr/>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2" name="Rectangle 20">
            <a:extLst>
              <a:ext uri="{FF2B5EF4-FFF2-40B4-BE49-F238E27FC236}">
                <a16:creationId xmlns:a16="http://schemas.microsoft.com/office/drawing/2014/main" id="{7D04F621-C209-E75B-F5AE-4EC68827B138}"/>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3" name="Rectangle 20">
            <a:extLst>
              <a:ext uri="{FF2B5EF4-FFF2-40B4-BE49-F238E27FC236}">
                <a16:creationId xmlns:a16="http://schemas.microsoft.com/office/drawing/2014/main" id="{C404F010-FD53-825B-58ED-3AB5C6FF9F3B}"/>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4" name="Rectangle 20">
            <a:extLst>
              <a:ext uri="{FF2B5EF4-FFF2-40B4-BE49-F238E27FC236}">
                <a16:creationId xmlns:a16="http://schemas.microsoft.com/office/drawing/2014/main" id="{09277AEF-3306-EB14-319D-C9936A20E391}"/>
              </a:ext>
            </a:extLst>
          </p:cNvPr>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31531541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325947" y="2078985"/>
            <a:ext cx="9600107" cy="990011"/>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7A61BF30-B8F3-19FE-7662-81071F95A583}"/>
              </a:ext>
            </a:extLst>
          </p:cNvPr>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12541897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2" y="1088975"/>
            <a:ext cx="10080112"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3" name="正方形/長方形 2">
            <a:extLst>
              <a:ext uri="{FF2B5EF4-FFF2-40B4-BE49-F238E27FC236}">
                <a16:creationId xmlns:a16="http://schemas.microsoft.com/office/drawing/2014/main" id="{20B7F19E-FA20-B8CB-C604-8C1C29606C6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725FB03B-A980-D697-F9FB-906D55B002FA}"/>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2D5F1A73-A3EB-E252-17CF-30B89F3C7AE0}"/>
              </a:ext>
            </a:extLst>
          </p:cNvPr>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174298406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5">
            <a:lumMod val="60000"/>
            <a:lumOff val="40000"/>
          </a:schemeClr>
        </a:buClr>
        <a:buSzPct val="9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5">
            <a:lumMod val="60000"/>
            <a:lumOff val="40000"/>
          </a:schemeClr>
        </a:buClr>
        <a:buSzPct val="70000"/>
        <a:buFont typeface="Segoe UI" panose="020B0502040204020203" pitchFamily="34" charset="0"/>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chemeClr val="accent5">
            <a:lumMod val="60000"/>
            <a:lumOff val="40000"/>
          </a:schemeClr>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link.springer.com/book/10.1007/978-3-030-76871-3"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github.com/rsd-devel/rsd"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docs.google.com/spreadsheets/d/1Xte7HdUVfoAGcITWzx-sBQG_ObaNQO3kbH5fV5HD7oo/edit?usp=drive_link"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1988985"/>
            <a:ext cx="8460094" cy="630007"/>
          </a:xfrm>
        </p:spPr>
        <p:txBody>
          <a:bodyPr/>
          <a:lstStyle/>
          <a:p>
            <a:r>
              <a:rPr lang="ja-JP" altLang="en-US" sz="2800" dirty="0"/>
              <a:t>先進計算機構成論 </a:t>
            </a:r>
            <a:r>
              <a:rPr lang="en-US" altLang="ja-JP" sz="2800" dirty="0"/>
              <a:t>03</a:t>
            </a:r>
            <a:endParaRPr lang="ja-JP" altLang="en-US" sz="2800" dirty="0"/>
          </a:p>
        </p:txBody>
      </p:sp>
      <p:sp>
        <p:nvSpPr>
          <p:cNvPr id="6" name="サブタイトル 2"/>
          <p:cNvSpPr txBox="1">
            <a:spLocks/>
          </p:cNvSpPr>
          <p:nvPr/>
        </p:nvSpPr>
        <p:spPr bwMode="auto">
          <a:xfrm>
            <a:off x="2405960" y="3699003"/>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nSpc>
                <a:spcPct val="100000"/>
              </a:lnSpc>
            </a:pPr>
            <a:r>
              <a:rPr lang="ja-JP" altLang="en-US" kern="0" dirty="0"/>
              <a:t>東京大学大学院 情報理工学系研究科 創造情報学専攻</a:t>
            </a:r>
            <a:endParaRPr lang="en-US" altLang="ja-JP" kern="0" dirty="0"/>
          </a:p>
          <a:p>
            <a:pPr>
              <a:lnSpc>
                <a:spcPct val="100000"/>
              </a:lnSpc>
            </a:pPr>
            <a:r>
              <a:rPr lang="ja-JP" altLang="en-US" kern="0" dirty="0"/>
              <a:t>塩谷 亮太 </a:t>
            </a:r>
            <a:endParaRPr lang="en-US" altLang="ja-JP" kern="0" dirty="0"/>
          </a:p>
          <a:p>
            <a:pPr>
              <a:lnSpc>
                <a:spcPct val="100000"/>
              </a:lnSpc>
            </a:pPr>
            <a:r>
              <a:rPr lang="en-US" altLang="ja-JP" kern="0" dirty="0"/>
              <a:t>shioya@ci.i.u-tokyo.ac.jp</a:t>
            </a:r>
            <a:endParaRPr lang="ja-JP" altLang="en-US" kern="0" dirty="0"/>
          </a:p>
        </p:txBody>
      </p:sp>
    </p:spTree>
    <p:extLst>
      <p:ext uri="{BB962C8B-B14F-4D97-AF65-F5344CB8AC3E}">
        <p14:creationId xmlns:p14="http://schemas.microsoft.com/office/powerpoint/2010/main" val="10178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15948" y="0"/>
            <a:ext cx="10776052" cy="908972"/>
          </a:xfrm>
        </p:spPr>
        <p:txBody>
          <a:bodyPr/>
          <a:lstStyle/>
          <a:p>
            <a:r>
              <a:rPr lang="ja-JP" altLang="en-US" dirty="0"/>
              <a:t>今日の内容</a:t>
            </a:r>
          </a:p>
        </p:txBody>
      </p:sp>
      <p:sp>
        <p:nvSpPr>
          <p:cNvPr id="3" name="テキスト プレースホルダー 2"/>
          <p:cNvSpPr>
            <a:spLocks noGrp="1"/>
          </p:cNvSpPr>
          <p:nvPr>
            <p:ph type="body" sz="quarter" idx="10"/>
          </p:nvPr>
        </p:nvSpPr>
        <p:spPr>
          <a:xfrm>
            <a:off x="1775952" y="1088974"/>
            <a:ext cx="8730097" cy="5219751"/>
          </a:xfrm>
        </p:spPr>
        <p:txBody>
          <a:bodyPr/>
          <a:lstStyle/>
          <a:p>
            <a:r>
              <a:rPr lang="ja-JP" altLang="en-US" dirty="0"/>
              <a:t>回路の消費電力の補足</a:t>
            </a:r>
            <a:endParaRPr lang="en-US" altLang="ja-JP" dirty="0"/>
          </a:p>
          <a:p>
            <a:pPr marL="817200" lvl="1" indent="-457200">
              <a:buFont typeface="+mj-lt"/>
              <a:buAutoNum type="arabicPeriod"/>
            </a:pPr>
            <a:r>
              <a:rPr lang="ja-JP" altLang="en-US" dirty="0"/>
              <a:t>アーキテクチャの違いによる消費電力の違い</a:t>
            </a:r>
            <a:endParaRPr lang="en-US" altLang="ja-JP" dirty="0"/>
          </a:p>
          <a:p>
            <a:pPr marL="817200" lvl="1" indent="-457200">
              <a:buFont typeface="+mj-lt"/>
              <a:buAutoNum type="arabicPeriod"/>
            </a:pPr>
            <a:r>
              <a:rPr lang="en-US" altLang="ja-JP" dirty="0"/>
              <a:t>FPGA </a:t>
            </a:r>
            <a:r>
              <a:rPr lang="ja-JP" altLang="en-US" dirty="0"/>
              <a:t>による回路</a:t>
            </a:r>
            <a:endParaRPr lang="en-US" altLang="ja-JP" dirty="0"/>
          </a:p>
          <a:p>
            <a:pPr marL="817200" lvl="1" indent="-457200">
              <a:buFont typeface="+mj-lt"/>
              <a:buAutoNum type="arabicPeriod"/>
            </a:pPr>
            <a:r>
              <a:rPr lang="ja-JP" altLang="en-US" dirty="0"/>
              <a:t>（余談）ムーアの法則と周波数</a:t>
            </a:r>
            <a:endParaRPr lang="en-US" altLang="ja-JP" dirty="0"/>
          </a:p>
          <a:p>
            <a:r>
              <a:rPr lang="ja-JP" altLang="en-US" dirty="0"/>
              <a:t>パインプライン化の基本</a:t>
            </a:r>
          </a:p>
        </p:txBody>
      </p:sp>
    </p:spTree>
    <p:extLst>
      <p:ext uri="{BB962C8B-B14F-4D97-AF65-F5344CB8AC3E}">
        <p14:creationId xmlns:p14="http://schemas.microsoft.com/office/powerpoint/2010/main" val="39577825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dirty="0"/>
              <a:t>回路の消費電力の補足</a:t>
            </a:r>
            <a:endParaRPr lang="en-US" altLang="ja-JP" dirty="0"/>
          </a:p>
        </p:txBody>
      </p:sp>
    </p:spTree>
    <p:extLst>
      <p:ext uri="{BB962C8B-B14F-4D97-AF65-F5344CB8AC3E}">
        <p14:creationId xmlns:p14="http://schemas.microsoft.com/office/powerpoint/2010/main" val="610379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en-US" altLang="ja-JP" dirty="0"/>
              <a:t>CPU </a:t>
            </a:r>
            <a:r>
              <a:rPr kumimoji="1" lang="ja-JP" altLang="en-US" dirty="0"/>
              <a:t>やその他回路の消費電力について</a:t>
            </a:r>
          </a:p>
        </p:txBody>
      </p:sp>
      <p:sp>
        <p:nvSpPr>
          <p:cNvPr id="5" name="テキスト プレースホルダー 4"/>
          <p:cNvSpPr>
            <a:spLocks noGrp="1"/>
          </p:cNvSpPr>
          <p:nvPr>
            <p:ph type="body" sz="quarter" idx="10"/>
          </p:nvPr>
        </p:nvSpPr>
        <p:spPr/>
        <p:txBody>
          <a:bodyPr/>
          <a:lstStyle/>
          <a:p>
            <a:r>
              <a:rPr kumimoji="1" lang="ja-JP" altLang="en-US" dirty="0"/>
              <a:t>いくつか補足</a:t>
            </a:r>
            <a:endParaRPr kumimoji="1" lang="en-US" altLang="ja-JP" dirty="0"/>
          </a:p>
          <a:p>
            <a:pPr marL="817200" lvl="1" indent="-457200">
              <a:buFont typeface="+mj-lt"/>
              <a:buAutoNum type="arabicPeriod"/>
            </a:pPr>
            <a:r>
              <a:rPr kumimoji="1" lang="ja-JP" altLang="en-US" b="1" dirty="0">
                <a:solidFill>
                  <a:schemeClr val="accent5"/>
                </a:solidFill>
              </a:rPr>
              <a:t>アーキテクチャの違いによる</a:t>
            </a:r>
            <a:r>
              <a:rPr lang="ja-JP" altLang="en-US" b="1" dirty="0">
                <a:solidFill>
                  <a:schemeClr val="accent5"/>
                </a:solidFill>
              </a:rPr>
              <a:t>消費電力の違い</a:t>
            </a:r>
            <a:endParaRPr lang="en-US" altLang="ja-JP" b="1" dirty="0">
              <a:solidFill>
                <a:schemeClr val="accent5"/>
              </a:solidFill>
            </a:endParaRPr>
          </a:p>
          <a:p>
            <a:pPr marL="817200" lvl="1" indent="-457200">
              <a:buFont typeface="+mj-lt"/>
              <a:buAutoNum type="arabicPeriod"/>
            </a:pPr>
            <a:r>
              <a:rPr kumimoji="1" lang="en-US" altLang="ja-JP" dirty="0"/>
              <a:t>FPGA </a:t>
            </a:r>
            <a:r>
              <a:rPr kumimoji="1" lang="ja-JP" altLang="en-US" dirty="0"/>
              <a:t>による回路</a:t>
            </a:r>
            <a:endParaRPr kumimoji="1" lang="en-US" altLang="ja-JP" dirty="0"/>
          </a:p>
          <a:p>
            <a:pPr marL="817200" lvl="1" indent="-457200">
              <a:buFont typeface="+mj-lt"/>
              <a:buAutoNum type="arabicPeriod"/>
            </a:pPr>
            <a:r>
              <a:rPr lang="ja-JP" altLang="en-US" dirty="0"/>
              <a:t>（余談）ムーアの法則と周波数</a:t>
            </a:r>
            <a:endParaRPr kumimoji="1" lang="en-US" altLang="ja-JP" dirty="0"/>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4</a:t>
            </a:fld>
            <a:endParaRPr kumimoji="1" lang="ja-JP" altLang="en-US"/>
          </a:p>
        </p:txBody>
      </p:sp>
    </p:spTree>
    <p:extLst>
      <p:ext uri="{BB962C8B-B14F-4D97-AF65-F5344CB8AC3E}">
        <p14:creationId xmlns:p14="http://schemas.microsoft.com/office/powerpoint/2010/main" val="14019283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回路の遅延と消費エネルギー</a:t>
            </a:r>
            <a:endParaRPr lang="en-US" altLang="ja-JP" dirty="0"/>
          </a:p>
        </p:txBody>
      </p:sp>
      <mc:AlternateContent xmlns:mc="http://schemas.openxmlformats.org/markup-compatibility/2006" xmlns:a14="http://schemas.microsoft.com/office/drawing/2010/main">
        <mc:Choice Requires="a14">
          <p:sp>
            <p:nvSpPr>
              <p:cNvPr id="3" name="テキスト プレースホルダー 2"/>
              <p:cNvSpPr>
                <a:spLocks noGrp="1"/>
              </p:cNvSpPr>
              <p:nvPr>
                <p:ph type="body" sz="quarter" idx="10"/>
              </p:nvPr>
            </p:nvSpPr>
            <p:spPr/>
            <p:txBody>
              <a:bodyPr/>
              <a:lstStyle/>
              <a:p>
                <a:r>
                  <a:rPr lang="ja-JP" altLang="en-US" dirty="0"/>
                  <a:t>回路の消費エネルギー：</a:t>
                </a:r>
                <a:endParaRPr lang="en-US" altLang="ja-JP" dirty="0"/>
              </a:p>
              <a:p>
                <a:pPr lvl="1"/>
                <a:r>
                  <a:rPr lang="ja-JP" altLang="en-US" dirty="0"/>
                  <a:t>主にコンデンサへの充放電で消費</a:t>
                </a:r>
                <a:endParaRPr lang="en-US" altLang="ja-JP" dirty="0"/>
              </a:p>
              <a:p>
                <a:r>
                  <a:rPr kumimoji="1" lang="ja-JP" altLang="en-US" dirty="0"/>
                  <a:t>おおざっぱには，トランジスタ数に比例すると考えて良い</a:t>
                </a:r>
                <a:endParaRPr kumimoji="1" lang="en-US" altLang="ja-JP" dirty="0"/>
              </a:p>
              <a:p>
                <a:pPr lvl="1"/>
                <a:r>
                  <a:rPr kumimoji="1" lang="ja-JP" altLang="en-US" dirty="0"/>
                  <a:t>トランジスタ数が増えると，コンデンサが増える</a:t>
                </a:r>
                <a:endParaRPr kumimoji="1" lang="en-US" altLang="ja-JP" dirty="0"/>
              </a:p>
              <a:p>
                <a:pPr lvl="1"/>
                <a:r>
                  <a:rPr lang="ja-JP" altLang="en-US" dirty="0"/>
                  <a:t>トランジスタ数 </a:t>
                </a:r>
                <a14:m>
                  <m:oMath xmlns:m="http://schemas.openxmlformats.org/officeDocument/2006/math">
                    <m:r>
                      <a:rPr lang="en-US" altLang="ja-JP" i="1" dirty="0" smtClean="0">
                        <a:latin typeface="Cambria Math" panose="02040503050406030204" pitchFamily="18" charset="0"/>
                        <a:ea typeface="Cambria Math" panose="02040503050406030204" pitchFamily="18" charset="0"/>
                      </a:rPr>
                      <m:t>≒</m:t>
                    </m:r>
                  </m:oMath>
                </a14:m>
                <a:r>
                  <a:rPr lang="ja-JP" altLang="en-US" dirty="0"/>
                  <a:t> 回路面積</a:t>
                </a:r>
                <a:endParaRPr kumimoji="1" lang="ja-JP" altLang="en-US" dirty="0"/>
              </a:p>
            </p:txBody>
          </p:sp>
        </mc:Choice>
        <mc:Fallback xmlns="">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blipFill rotWithShape="0">
                <a:blip r:embed="rId2"/>
                <a:stretch>
                  <a:fillRect l="-66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241237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命令を処理するのに必要な回路</a:t>
            </a:r>
            <a:endParaRPr lang="ja-JP" altLang="en-US" dirty="0"/>
          </a:p>
        </p:txBody>
      </p:sp>
      <p:sp>
        <p:nvSpPr>
          <p:cNvPr id="3" name="テキスト プレースホルダー 2"/>
          <p:cNvSpPr>
            <a:spLocks noGrp="1"/>
          </p:cNvSpPr>
          <p:nvPr>
            <p:ph type="body" sz="quarter" idx="10"/>
          </p:nvPr>
        </p:nvSpPr>
        <p:spPr/>
        <p:txBody>
          <a:bodyPr/>
          <a:lstStyle/>
          <a:p>
            <a:r>
              <a:rPr lang="ja-JP" altLang="en-US" dirty="0"/>
              <a:t>内訳：</a:t>
            </a:r>
            <a:endParaRPr lang="en-US" altLang="ja-JP" dirty="0"/>
          </a:p>
          <a:p>
            <a:pPr lvl="1"/>
            <a:r>
              <a:rPr lang="ja-JP" altLang="en-US" dirty="0"/>
              <a:t>命令の読み出し</a:t>
            </a:r>
            <a:endParaRPr lang="en-US" altLang="ja-JP" dirty="0"/>
          </a:p>
          <a:p>
            <a:pPr lvl="1"/>
            <a:r>
              <a:rPr lang="ja-JP" altLang="en-US" dirty="0"/>
              <a:t>デコード</a:t>
            </a:r>
            <a:endParaRPr lang="en-US" altLang="ja-JP" dirty="0"/>
          </a:p>
          <a:p>
            <a:pPr lvl="1"/>
            <a:r>
              <a:rPr lang="ja-JP" altLang="en-US" dirty="0"/>
              <a:t>レジスタ読み書き</a:t>
            </a:r>
            <a:endParaRPr lang="en-US" altLang="ja-JP" dirty="0"/>
          </a:p>
          <a:p>
            <a:pPr lvl="1"/>
            <a:r>
              <a:rPr lang="ja-JP" altLang="en-US" dirty="0"/>
              <a:t>メモリの読み書き</a:t>
            </a:r>
            <a:endParaRPr lang="en-US" altLang="ja-JP" dirty="0"/>
          </a:p>
          <a:p>
            <a:pPr lvl="1"/>
            <a:r>
              <a:rPr lang="ja-JP" altLang="en-US" dirty="0"/>
              <a:t>（命令のスケジューリングや投機関係など</a:t>
            </a:r>
            <a:endParaRPr lang="en-US" altLang="ja-JP" dirty="0"/>
          </a:p>
          <a:p>
            <a:pPr lvl="1"/>
            <a:r>
              <a:rPr lang="ja-JP" altLang="en-US" dirty="0">
                <a:solidFill>
                  <a:schemeClr val="accent5"/>
                </a:solidFill>
              </a:rPr>
              <a:t>演算</a:t>
            </a:r>
          </a:p>
        </p:txBody>
      </p:sp>
      <p:sp>
        <p:nvSpPr>
          <p:cNvPr id="4" name="正方形/長方形 3"/>
          <p:cNvSpPr/>
          <p:nvPr/>
        </p:nvSpPr>
        <p:spPr bwMode="auto">
          <a:xfrm>
            <a:off x="8256025" y="2348989"/>
            <a:ext cx="2070023" cy="2790030"/>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8166024" y="1988984"/>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346026"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9336037" y="2528990"/>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8346026"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8346026"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8346026"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9418843" y="3436195"/>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8346026"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8346026" y="432901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706030"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1</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706030"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2</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16" name="正方形/長方形 15"/>
          <p:cNvSpPr/>
          <p:nvPr/>
        </p:nvSpPr>
        <p:spPr bwMode="auto">
          <a:xfrm>
            <a:off x="8706030"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17" name="正方形/長方形 16"/>
          <p:cNvSpPr/>
          <p:nvPr/>
        </p:nvSpPr>
        <p:spPr bwMode="auto">
          <a:xfrm>
            <a:off x="8706030"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18" name="正方形/長方形 17"/>
          <p:cNvSpPr/>
          <p:nvPr/>
        </p:nvSpPr>
        <p:spPr bwMode="auto">
          <a:xfrm>
            <a:off x="8706030"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706030" y="432901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9696041" y="2528990"/>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21" name="直線コネクタ 20"/>
          <p:cNvCxnSpPr/>
          <p:nvPr/>
        </p:nvCxnSpPr>
        <p:spPr bwMode="auto">
          <a:xfrm>
            <a:off x="9156035" y="2528990"/>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直線コネクタ 21"/>
          <p:cNvCxnSpPr/>
          <p:nvPr/>
        </p:nvCxnSpPr>
        <p:spPr bwMode="auto">
          <a:xfrm>
            <a:off x="9246036" y="2528990"/>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直線コネクタ 22"/>
          <p:cNvCxnSpPr/>
          <p:nvPr/>
        </p:nvCxnSpPr>
        <p:spPr bwMode="auto">
          <a:xfrm>
            <a:off x="9156035" y="3338999"/>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直線コネクタ 23"/>
          <p:cNvCxnSpPr/>
          <p:nvPr/>
        </p:nvCxnSpPr>
        <p:spPr bwMode="auto">
          <a:xfrm>
            <a:off x="9246037" y="3879005"/>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直線コネクタ 24"/>
          <p:cNvCxnSpPr/>
          <p:nvPr/>
        </p:nvCxnSpPr>
        <p:spPr bwMode="auto">
          <a:xfrm flipV="1">
            <a:off x="8886032" y="4779015"/>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直線コネクタ 25"/>
          <p:cNvCxnSpPr/>
          <p:nvPr/>
        </p:nvCxnSpPr>
        <p:spPr bwMode="auto">
          <a:xfrm flipH="1">
            <a:off x="8886034" y="4959017"/>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7" name="直線コネクタ 26"/>
          <p:cNvCxnSpPr/>
          <p:nvPr/>
        </p:nvCxnSpPr>
        <p:spPr bwMode="auto">
          <a:xfrm flipH="1">
            <a:off x="10056046" y="3609002"/>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直線コネクタ 27"/>
          <p:cNvCxnSpPr/>
          <p:nvPr/>
        </p:nvCxnSpPr>
        <p:spPr bwMode="auto">
          <a:xfrm flipV="1">
            <a:off x="10146047" y="3609003"/>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9" name="正方形/長方形 28"/>
          <p:cNvSpPr/>
          <p:nvPr/>
        </p:nvSpPr>
        <p:spPr bwMode="auto">
          <a:xfrm>
            <a:off x="9336037" y="3158997"/>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1</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9336037" y="3699003"/>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2</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10056045" y="342900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rgbClr val="FF0000"/>
                </a:solidFill>
                <a:latin typeface="メイリオ" panose="020B0604030504040204" pitchFamily="50" charset="-128"/>
                <a:ea typeface="メイリオ" panose="020B0604030504040204" pitchFamily="50" charset="-128"/>
              </a:rPr>
              <a:t>３</a:t>
            </a:r>
          </a:p>
        </p:txBody>
      </p:sp>
    </p:spTree>
    <p:extLst>
      <p:ext uri="{BB962C8B-B14F-4D97-AF65-F5344CB8AC3E}">
        <p14:creationId xmlns:p14="http://schemas.microsoft.com/office/powerpoint/2010/main" val="38599935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回路は命令制御と演算に大きく分けられる</a:t>
            </a:r>
          </a:p>
        </p:txBody>
      </p:sp>
      <p:sp>
        <p:nvSpPr>
          <p:cNvPr id="3" name="テキスト プレースホルダー 2"/>
          <p:cNvSpPr>
            <a:spLocks noGrp="1"/>
          </p:cNvSpPr>
          <p:nvPr>
            <p:ph type="body" sz="quarter" idx="10"/>
          </p:nvPr>
        </p:nvSpPr>
        <p:spPr>
          <a:xfrm>
            <a:off x="1775952" y="1268977"/>
            <a:ext cx="8640096" cy="5039749"/>
          </a:xfrm>
        </p:spPr>
        <p:txBody>
          <a:bodyPr/>
          <a:lstStyle/>
          <a:p>
            <a:r>
              <a:rPr lang="ja-JP" altLang="en-US" dirty="0"/>
              <a:t>命令制御：アーキテクチャによって大きく異なる</a:t>
            </a:r>
            <a:endParaRPr lang="en-US" altLang="ja-JP" dirty="0"/>
          </a:p>
          <a:p>
            <a:pPr lvl="1"/>
            <a:r>
              <a:rPr lang="ja-JP" altLang="en-US" dirty="0"/>
              <a:t>命令の読み出し</a:t>
            </a:r>
            <a:endParaRPr lang="en-US" altLang="ja-JP" dirty="0"/>
          </a:p>
          <a:p>
            <a:pPr lvl="1"/>
            <a:r>
              <a:rPr lang="ja-JP" altLang="en-US" dirty="0"/>
              <a:t>デコード</a:t>
            </a:r>
            <a:endParaRPr lang="en-US" altLang="ja-JP" dirty="0"/>
          </a:p>
          <a:p>
            <a:pPr lvl="1"/>
            <a:r>
              <a:rPr lang="ja-JP" altLang="en-US" dirty="0"/>
              <a:t>レジスタ読み書き</a:t>
            </a:r>
            <a:endParaRPr lang="en-US" altLang="ja-JP" dirty="0"/>
          </a:p>
          <a:p>
            <a:pPr lvl="1"/>
            <a:r>
              <a:rPr lang="ja-JP" altLang="en-US" dirty="0"/>
              <a:t>（命令のスケジューリングや投機関係など</a:t>
            </a:r>
            <a:endParaRPr lang="en-US" altLang="ja-JP" dirty="0"/>
          </a:p>
          <a:p>
            <a:r>
              <a:rPr lang="ja-JP" altLang="en-US" dirty="0"/>
              <a:t>演算：基本的に同じ</a:t>
            </a:r>
            <a:endParaRPr lang="en-US" altLang="ja-JP" dirty="0"/>
          </a:p>
          <a:p>
            <a:pPr lvl="1"/>
            <a:r>
              <a:rPr lang="ja-JP" altLang="en-US" dirty="0"/>
              <a:t>論理演算，算術演算，</a:t>
            </a:r>
            <a:r>
              <a:rPr kumimoji="1" lang="ja-JP" altLang="en-US" dirty="0"/>
              <a:t>浮動小数点演算</a:t>
            </a:r>
            <a:endParaRPr kumimoji="1" lang="en-US" altLang="ja-JP" dirty="0"/>
          </a:p>
          <a:p>
            <a:pPr lvl="1"/>
            <a:r>
              <a:rPr kumimoji="1" lang="ja-JP" altLang="en-US" dirty="0"/>
              <a:t>これら演算単体は，だいたいどのアーキでも同じことをする</a:t>
            </a:r>
            <a:endParaRPr kumimoji="1" lang="en-US" altLang="ja-JP" dirty="0"/>
          </a:p>
          <a:p>
            <a:pPr marL="0" indent="0">
              <a:buNone/>
            </a:pPr>
            <a:r>
              <a:rPr kumimoji="1" lang="ja-JP" altLang="en-US" dirty="0">
                <a:solidFill>
                  <a:schemeClr val="accent5"/>
                </a:solidFill>
              </a:rPr>
              <a:t>⇒ 命令制御部分をどれだけケチれるかが，アーキの効率を大きく決める</a:t>
            </a:r>
            <a:endParaRPr kumimoji="1" lang="en-US" altLang="ja-JP" dirty="0">
              <a:solidFill>
                <a:schemeClr val="accent5"/>
              </a:solidFill>
            </a:endParaRPr>
          </a:p>
        </p:txBody>
      </p:sp>
      <p:cxnSp>
        <p:nvCxnSpPr>
          <p:cNvPr id="5" name="直線矢印コネクタ 4"/>
          <p:cNvCxnSpPr/>
          <p:nvPr/>
        </p:nvCxnSpPr>
        <p:spPr bwMode="auto">
          <a:xfrm flipV="1">
            <a:off x="8976032" y="1718982"/>
            <a:ext cx="0" cy="2880031"/>
          </a:xfrm>
          <a:prstGeom prst="straightConnector1">
            <a:avLst/>
          </a:prstGeom>
          <a:ln>
            <a:solidFill>
              <a:schemeClr val="tx1">
                <a:lumMod val="75000"/>
                <a:lumOff val="25000"/>
              </a:schemeClr>
            </a:solidFill>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8" name="正方形/長方形 7"/>
          <p:cNvSpPr/>
          <p:nvPr/>
        </p:nvSpPr>
        <p:spPr bwMode="auto">
          <a:xfrm>
            <a:off x="9336036" y="1988984"/>
            <a:ext cx="720008" cy="171001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制御</a:t>
            </a:r>
          </a:p>
        </p:txBody>
      </p:sp>
      <p:sp>
        <p:nvSpPr>
          <p:cNvPr id="7" name="正方形/長方形 6"/>
          <p:cNvSpPr/>
          <p:nvPr/>
        </p:nvSpPr>
        <p:spPr bwMode="auto">
          <a:xfrm>
            <a:off x="9336036" y="3699003"/>
            <a:ext cx="720008" cy="900009"/>
          </a:xfrm>
          <a:prstGeom prst="rect">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演算</a:t>
            </a:r>
          </a:p>
        </p:txBody>
      </p:sp>
      <p:cxnSp>
        <p:nvCxnSpPr>
          <p:cNvPr id="10" name="直線コネクタ 9"/>
          <p:cNvCxnSpPr/>
          <p:nvPr/>
        </p:nvCxnSpPr>
        <p:spPr bwMode="auto">
          <a:xfrm>
            <a:off x="8976032" y="4599012"/>
            <a:ext cx="1440016" cy="0"/>
          </a:xfrm>
          <a:prstGeom prst="line">
            <a:avLst/>
          </a:prstGeom>
          <a:ln>
            <a:solidFill>
              <a:schemeClr val="tx1">
                <a:lumMod val="75000"/>
                <a:lumOff val="25000"/>
              </a:schemeClr>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2" name="正方形/長方形 11"/>
          <p:cNvSpPr/>
          <p:nvPr/>
        </p:nvSpPr>
        <p:spPr bwMode="auto">
          <a:xfrm rot="16200000">
            <a:off x="7761020" y="2033984"/>
            <a:ext cx="153001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ja-JP" altLang="en-US" dirty="0">
                <a:solidFill>
                  <a:schemeClr val="tx1">
                    <a:lumMod val="75000"/>
                    <a:lumOff val="25000"/>
                  </a:schemeClr>
                </a:solidFill>
                <a:latin typeface="メイリオ" panose="020B0604030504040204" pitchFamily="50" charset="-128"/>
                <a:ea typeface="メイリオ" panose="020B0604030504040204" pitchFamily="50" charset="-128"/>
              </a:rPr>
              <a:t>エネルギー</a:t>
            </a:r>
            <a:endParaRPr lang="en-US" altLang="ja-JP"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dirty="0">
                <a:solidFill>
                  <a:schemeClr val="tx1">
                    <a:lumMod val="75000"/>
                    <a:lumOff val="25000"/>
                  </a:schemeClr>
                </a:solidFill>
                <a:latin typeface="メイリオ" panose="020B0604030504040204" pitchFamily="50" charset="-128"/>
                <a:ea typeface="メイリオ" panose="020B0604030504040204" pitchFamily="50" charset="-128"/>
              </a:rPr>
              <a:t>回路面積</a:t>
            </a:r>
          </a:p>
        </p:txBody>
      </p:sp>
    </p:spTree>
    <p:extLst>
      <p:ext uri="{BB962C8B-B14F-4D97-AF65-F5344CB8AC3E}">
        <p14:creationId xmlns:p14="http://schemas.microsoft.com/office/powerpoint/2010/main" val="370558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いろいろな回路の規模</a:t>
            </a:r>
            <a:endParaRPr kumimoji="1" lang="ja-JP" altLang="en-US" dirty="0"/>
          </a:p>
        </p:txBody>
      </p:sp>
      <p:sp>
        <p:nvSpPr>
          <p:cNvPr id="3" name="テキスト プレースホルダー 2"/>
          <p:cNvSpPr>
            <a:spLocks noGrp="1"/>
          </p:cNvSpPr>
          <p:nvPr>
            <p:ph type="body" sz="quarter" idx="10"/>
          </p:nvPr>
        </p:nvSpPr>
        <p:spPr>
          <a:xfrm>
            <a:off x="2135939" y="1088975"/>
            <a:ext cx="8010089" cy="2069693"/>
          </a:xfrm>
        </p:spPr>
        <p:txBody>
          <a:bodyPr anchor="t"/>
          <a:lstStyle/>
          <a:p>
            <a:r>
              <a:rPr lang="en-US" altLang="ja-JP" dirty="0"/>
              <a:t>1bit NAND </a:t>
            </a:r>
            <a:r>
              <a:rPr lang="ja-JP" altLang="en-US" dirty="0"/>
              <a:t>演算器：</a:t>
            </a:r>
            <a:r>
              <a:rPr lang="en-US" altLang="ja-JP" dirty="0"/>
              <a:t>			4 </a:t>
            </a:r>
            <a:r>
              <a:rPr lang="ja-JP" altLang="en-US" dirty="0"/>
              <a:t>トランジスタ</a:t>
            </a:r>
            <a:br>
              <a:rPr lang="en-US" altLang="ja-JP" dirty="0"/>
            </a:br>
            <a:endParaRPr lang="en-US" altLang="ja-JP" dirty="0"/>
          </a:p>
          <a:p>
            <a:r>
              <a:rPr kumimoji="1" lang="en-US" altLang="ja-JP" dirty="0"/>
              <a:t>64bit </a:t>
            </a:r>
            <a:r>
              <a:rPr kumimoji="1" lang="ja-JP" altLang="en-US" dirty="0"/>
              <a:t>整数加算器：</a:t>
            </a:r>
            <a:r>
              <a:rPr kumimoji="1" lang="en-US" altLang="ja-JP" dirty="0"/>
              <a:t>			4k </a:t>
            </a:r>
            <a:r>
              <a:rPr kumimoji="1" lang="ja-JP" altLang="en-US" dirty="0"/>
              <a:t>トランジスタ</a:t>
            </a:r>
            <a:br>
              <a:rPr kumimoji="1" lang="en-US" altLang="ja-JP" dirty="0"/>
            </a:br>
            <a:endParaRPr kumimoji="1" lang="en-US" altLang="ja-JP" dirty="0"/>
          </a:p>
          <a:p>
            <a:r>
              <a:rPr kumimoji="1" lang="en-US" altLang="ja-JP" dirty="0"/>
              <a:t>MIPS R3000 </a:t>
            </a:r>
            <a:r>
              <a:rPr kumimoji="1" lang="ja-JP" altLang="en-US" dirty="0"/>
              <a:t>プロセッサ：</a:t>
            </a:r>
            <a:r>
              <a:rPr kumimoji="1" lang="en-US" altLang="ja-JP" dirty="0"/>
              <a:t>		115k </a:t>
            </a:r>
            <a:r>
              <a:rPr kumimoji="1" lang="ja-JP" altLang="en-US" dirty="0"/>
              <a:t>トランジスタ</a:t>
            </a:r>
            <a:br>
              <a:rPr kumimoji="1" lang="en-US" altLang="ja-JP" dirty="0"/>
            </a:br>
            <a:br>
              <a:rPr kumimoji="1" lang="en-US" altLang="ja-JP" dirty="0"/>
            </a:br>
            <a:endParaRPr kumimoji="1" lang="en-US" altLang="ja-JP" dirty="0"/>
          </a:p>
          <a:p>
            <a:r>
              <a:rPr lang="en-US" altLang="ja-JP" dirty="0"/>
              <a:t>64bit </a:t>
            </a:r>
            <a:r>
              <a:rPr lang="ja-JP" altLang="en-US" dirty="0"/>
              <a:t>浮動小数点</a:t>
            </a:r>
            <a:r>
              <a:rPr lang="en-US" altLang="ja-JP" dirty="0"/>
              <a:t> </a:t>
            </a:r>
            <a:r>
              <a:rPr lang="ja-JP" altLang="en-US" dirty="0"/>
              <a:t>乗算</a:t>
            </a:r>
            <a:r>
              <a:rPr lang="en-US" altLang="ja-JP" dirty="0"/>
              <a:t>+</a:t>
            </a:r>
            <a:r>
              <a:rPr lang="ja-JP" altLang="en-US" dirty="0"/>
              <a:t>加算器：</a:t>
            </a:r>
            <a:r>
              <a:rPr lang="en-US" altLang="ja-JP" dirty="0"/>
              <a:t>	68k</a:t>
            </a:r>
            <a:r>
              <a:rPr lang="ja-JP" altLang="en-US" dirty="0"/>
              <a:t>トランジスタ</a:t>
            </a:r>
            <a:br>
              <a:rPr lang="en-US" altLang="ja-JP" dirty="0"/>
            </a:br>
            <a:br>
              <a:rPr lang="en-US" altLang="ja-JP" dirty="0"/>
            </a:br>
            <a:br>
              <a:rPr lang="en-US" altLang="ja-JP" dirty="0"/>
            </a:br>
            <a:br>
              <a:rPr lang="en-US" altLang="ja-JP" dirty="0"/>
            </a:br>
            <a:r>
              <a:rPr lang="en-US" altLang="ja-JP" sz="1100" dirty="0"/>
              <a:t>Ryota Shioya, Masahiro Goshima, and Hideki Ando: A Front-end Execution Architecture for High Energy Efficiency, MICRO 2014.</a:t>
            </a:r>
            <a:br>
              <a:rPr lang="en-US" altLang="ja-JP" sz="1100" dirty="0"/>
            </a:br>
            <a:r>
              <a:rPr lang="en-US" altLang="ja-JP" sz="1100" dirty="0"/>
              <a:t>SOHN, </a:t>
            </a:r>
            <a:r>
              <a:rPr lang="en-US" altLang="ja-JP" sz="1100" dirty="0" err="1"/>
              <a:t>Jongwook</a:t>
            </a:r>
            <a:r>
              <a:rPr lang="en-US" altLang="ja-JP" sz="1100" dirty="0"/>
              <a:t>, et al.: Enhanced Floating-Point Multiply-Add with Full Denormal Support,</a:t>
            </a:r>
            <a:br>
              <a:rPr lang="en-US" altLang="ja-JP" sz="1100" dirty="0"/>
            </a:br>
            <a:r>
              <a:rPr lang="en-US" altLang="ja-JP" sz="1100" dirty="0"/>
              <a:t>ARITH 2023</a:t>
            </a:r>
            <a:endParaRPr kumimoji="1" lang="ja-JP" altLang="en-US" dirty="0"/>
          </a:p>
        </p:txBody>
      </p:sp>
      <p:sp>
        <p:nvSpPr>
          <p:cNvPr id="5" name="正方形/長方形 4"/>
          <p:cNvSpPr/>
          <p:nvPr/>
        </p:nvSpPr>
        <p:spPr bwMode="auto">
          <a:xfrm>
            <a:off x="2585961" y="2528990"/>
            <a:ext cx="180000" cy="18000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4" name="正方形/長方形 3"/>
          <p:cNvSpPr/>
          <p:nvPr/>
        </p:nvSpPr>
        <p:spPr bwMode="auto">
          <a:xfrm rot="5400000">
            <a:off x="3035969" y="4599011"/>
            <a:ext cx="450000" cy="1350014"/>
          </a:xfrm>
          <a:prstGeom prst="rect">
            <a:avLst/>
          </a:prstGeom>
          <a:gradFill flip="none"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0800000" scaled="1"/>
            <a:tileRect/>
          </a:gradFill>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13" name="正方形/長方形 12"/>
          <p:cNvSpPr/>
          <p:nvPr/>
        </p:nvSpPr>
        <p:spPr bwMode="auto">
          <a:xfrm rot="5400000">
            <a:off x="3305971" y="2888993"/>
            <a:ext cx="450000" cy="1890021"/>
          </a:xfrm>
          <a:prstGeom prst="rect">
            <a:avLst/>
          </a:prstGeom>
          <a:gradFill flip="none" rotWithShape="1">
            <a:lin ang="10800000" scaled="1"/>
            <a:tileRect/>
          </a:gradFill>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16" name="正方形/長方形 15"/>
          <p:cNvSpPr/>
          <p:nvPr/>
        </p:nvSpPr>
        <p:spPr bwMode="auto">
          <a:xfrm>
            <a:off x="2405959" y="1448978"/>
            <a:ext cx="2745030"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（小さすぎて見えない</a:t>
            </a:r>
          </a:p>
        </p:txBody>
      </p:sp>
    </p:spTree>
    <p:extLst>
      <p:ext uri="{BB962C8B-B14F-4D97-AF65-F5344CB8AC3E}">
        <p14:creationId xmlns:p14="http://schemas.microsoft.com/office/powerpoint/2010/main" val="17389310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回路規模の例からわかること</a:t>
            </a:r>
          </a:p>
        </p:txBody>
      </p:sp>
      <p:sp>
        <p:nvSpPr>
          <p:cNvPr id="3" name="テキスト プレースホルダー 2"/>
          <p:cNvSpPr>
            <a:spLocks noGrp="1"/>
          </p:cNvSpPr>
          <p:nvPr>
            <p:ph type="body" sz="quarter" idx="10"/>
          </p:nvPr>
        </p:nvSpPr>
        <p:spPr/>
        <p:txBody>
          <a:bodyPr/>
          <a:lstStyle/>
          <a:p>
            <a:r>
              <a:rPr kumimoji="1" lang="en-US" altLang="ja-JP" dirty="0"/>
              <a:t>MIPS </a:t>
            </a:r>
            <a:r>
              <a:rPr kumimoji="1" lang="ja-JP" altLang="en-US" dirty="0"/>
              <a:t>プロセッサ全体に対する相対的な大きさで考える：</a:t>
            </a:r>
            <a:endParaRPr kumimoji="1" lang="en-US" altLang="ja-JP" dirty="0"/>
          </a:p>
          <a:p>
            <a:pPr lvl="1"/>
            <a:endParaRPr kumimoji="1" lang="en-US" altLang="ja-JP" dirty="0"/>
          </a:p>
          <a:p>
            <a:pPr lvl="1"/>
            <a:r>
              <a:rPr kumimoji="1" lang="en-US" altLang="ja-JP" dirty="0"/>
              <a:t>1</a:t>
            </a:r>
            <a:r>
              <a:rPr kumimoji="1" lang="ja-JP" altLang="en-US" dirty="0"/>
              <a:t>ビット論理演算：</a:t>
            </a:r>
            <a:endParaRPr kumimoji="1" lang="en-US" altLang="ja-JP" dirty="0"/>
          </a:p>
          <a:p>
            <a:pPr lvl="2"/>
            <a:r>
              <a:rPr kumimoji="1" lang="ja-JP" altLang="en-US" dirty="0"/>
              <a:t>命令制御がほぼ全てを占める</a:t>
            </a:r>
            <a:endParaRPr kumimoji="1" lang="en-US" altLang="ja-JP" dirty="0"/>
          </a:p>
          <a:p>
            <a:pPr lvl="2"/>
            <a:endParaRPr kumimoji="1" lang="en-US" altLang="ja-JP" dirty="0"/>
          </a:p>
          <a:p>
            <a:pPr lvl="1"/>
            <a:r>
              <a:rPr kumimoji="1" lang="en-US" altLang="ja-JP" dirty="0"/>
              <a:t>64 </a:t>
            </a:r>
            <a:r>
              <a:rPr kumimoji="1" lang="ja-JP" altLang="en-US" dirty="0"/>
              <a:t>ビット加算</a:t>
            </a:r>
            <a:endParaRPr kumimoji="1" lang="en-US" altLang="ja-JP" dirty="0"/>
          </a:p>
          <a:p>
            <a:pPr lvl="2"/>
            <a:r>
              <a:rPr kumimoji="1" lang="ja-JP" altLang="en-US" dirty="0"/>
              <a:t>命令制御が大半を占める </a:t>
            </a:r>
            <a:br>
              <a:rPr kumimoji="1" lang="en-US" altLang="ja-JP" dirty="0"/>
            </a:br>
            <a:r>
              <a:rPr kumimoji="1" lang="ja-JP" altLang="en-US" dirty="0"/>
              <a:t>⇒ 専用回路にすると一桁ぐらい効率が上がりうる</a:t>
            </a:r>
            <a:endParaRPr kumimoji="1" lang="en-US" altLang="ja-JP" dirty="0"/>
          </a:p>
          <a:p>
            <a:pPr lvl="2"/>
            <a:endParaRPr kumimoji="1" lang="en-US" altLang="ja-JP" dirty="0"/>
          </a:p>
          <a:p>
            <a:pPr lvl="1"/>
            <a:r>
              <a:rPr kumimoji="1" lang="en-US" altLang="ja-JP" dirty="0"/>
              <a:t>FP </a:t>
            </a:r>
            <a:r>
              <a:rPr kumimoji="1" lang="ja-JP" altLang="en-US" dirty="0"/>
              <a:t>演算</a:t>
            </a:r>
            <a:endParaRPr kumimoji="1" lang="en-US" altLang="ja-JP" dirty="0"/>
          </a:p>
          <a:p>
            <a:pPr lvl="2"/>
            <a:r>
              <a:rPr kumimoji="1" lang="ja-JP" altLang="en-US" dirty="0"/>
              <a:t>演算器の方やや小さい</a:t>
            </a:r>
            <a:br>
              <a:rPr kumimoji="1" lang="en-US" altLang="ja-JP" dirty="0"/>
            </a:br>
            <a:r>
              <a:rPr kumimoji="1" lang="ja-JP" altLang="en-US" dirty="0"/>
              <a:t>⇒ 専用回路にすると２倍ぐらいは効率が良くなるかも</a:t>
            </a:r>
            <a:endParaRPr kumimoji="1" lang="en-US" altLang="ja-JP" dirty="0"/>
          </a:p>
          <a:p>
            <a:r>
              <a:rPr kumimoji="1" lang="ja-JP" altLang="en-US" dirty="0"/>
              <a:t>消費エネルギーも，これに準じた大きさとなる</a:t>
            </a:r>
          </a:p>
        </p:txBody>
      </p:sp>
    </p:spTree>
    <p:extLst>
      <p:ext uri="{BB962C8B-B14F-4D97-AF65-F5344CB8AC3E}">
        <p14:creationId xmlns:p14="http://schemas.microsoft.com/office/powerpoint/2010/main" val="41533919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AMD Bulldozer </a:t>
            </a:r>
            <a:r>
              <a:rPr kumimoji="1" lang="ja-JP" altLang="en-US" dirty="0"/>
              <a:t>のチップ写真</a:t>
            </a:r>
          </a:p>
        </p:txBody>
      </p:sp>
      <p:sp>
        <p:nvSpPr>
          <p:cNvPr id="3" name="テキスト プレースホルダー 2"/>
          <p:cNvSpPr>
            <a:spLocks noGrp="1"/>
          </p:cNvSpPr>
          <p:nvPr>
            <p:ph type="body" sz="quarter" idx="10"/>
          </p:nvPr>
        </p:nvSpPr>
        <p:spPr>
          <a:xfrm>
            <a:off x="2135956" y="5769027"/>
            <a:ext cx="8280092" cy="539699"/>
          </a:xfrm>
        </p:spPr>
        <p:txBody>
          <a:bodyPr/>
          <a:lstStyle/>
          <a:p>
            <a:r>
              <a:rPr lang="en-US" altLang="ja-JP" sz="1100" dirty="0"/>
              <a:t>Tim Fischer1 , Srikanth Arekapudi2 , Eric Busta1 , Carl Dietz3 , Michael Golden2 , Scott Hilker2 , Aaron Horiuchi1 , Kevin A. Hurd1 , Dave Johnson1 , Hugh McIntyre2 , Samuel Naffziger1 , James Vinh2 , Jonathan White4 , Kathryn Wilcox, Design Solutions for the Bulldozer 32nm SOI 2-Core Processor Module in an 8-Core CPU, ISSCC 2011 </a:t>
            </a:r>
            <a:r>
              <a:rPr lang="ja-JP" altLang="en-US" sz="1100" dirty="0"/>
              <a:t>より</a:t>
            </a:r>
          </a:p>
        </p:txBody>
      </p:sp>
      <p:pic>
        <p:nvPicPr>
          <p:cNvPr id="4" name="図 3"/>
          <p:cNvPicPr>
            <a:picLocks noChangeAspect="1"/>
          </p:cNvPicPr>
          <p:nvPr/>
        </p:nvPicPr>
        <p:blipFill>
          <a:blip r:embed="rId2"/>
          <a:stretch>
            <a:fillRect/>
          </a:stretch>
        </p:blipFill>
        <p:spPr>
          <a:xfrm>
            <a:off x="2495961" y="1268976"/>
            <a:ext cx="7492327" cy="3925378"/>
          </a:xfrm>
          <a:prstGeom prst="rect">
            <a:avLst/>
          </a:prstGeom>
        </p:spPr>
      </p:pic>
      <p:sp>
        <p:nvSpPr>
          <p:cNvPr id="6" name="正方形/長方形 5"/>
          <p:cNvSpPr/>
          <p:nvPr/>
        </p:nvSpPr>
        <p:spPr bwMode="auto">
          <a:xfrm>
            <a:off x="2765963" y="2798993"/>
            <a:ext cx="180002" cy="540006"/>
          </a:xfrm>
          <a:prstGeom prst="rect">
            <a:avLst/>
          </a:prstGeom>
          <a:solidFill>
            <a:schemeClr val="accent5">
              <a:lumMod val="50000"/>
              <a:alpha val="50000"/>
            </a:schemeClr>
          </a:solidFill>
          <a:ln>
            <a:solidFill>
              <a:srgbClr val="FFFFFF"/>
            </a:solidFill>
            <a:headEnd/>
            <a:tailEnd type="triangle" w="sm" len="med"/>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sz="800" b="1" dirty="0">
                <a:solidFill>
                  <a:schemeClr val="bg1"/>
                </a:solidFill>
                <a:latin typeface="+mn-ea"/>
              </a:rPr>
              <a:t>ALU</a:t>
            </a:r>
            <a:endParaRPr lang="ja-JP" altLang="en-US" sz="800" b="1" dirty="0">
              <a:solidFill>
                <a:schemeClr val="bg1"/>
              </a:solidFill>
              <a:latin typeface="+mn-ea"/>
            </a:endParaRPr>
          </a:p>
        </p:txBody>
      </p:sp>
      <p:sp>
        <p:nvSpPr>
          <p:cNvPr id="7" name="正方形/長方形 6"/>
          <p:cNvSpPr/>
          <p:nvPr/>
        </p:nvSpPr>
        <p:spPr bwMode="auto">
          <a:xfrm>
            <a:off x="6005999" y="2798993"/>
            <a:ext cx="180002" cy="540006"/>
          </a:xfrm>
          <a:prstGeom prst="rect">
            <a:avLst/>
          </a:prstGeom>
          <a:solidFill>
            <a:schemeClr val="accent5">
              <a:lumMod val="50000"/>
              <a:alpha val="50000"/>
            </a:schemeClr>
          </a:solidFill>
          <a:ln>
            <a:solidFill>
              <a:srgbClr val="FFFFFF"/>
            </a:solidFill>
            <a:headEnd/>
            <a:tailEnd type="triangle" w="sm" len="med"/>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sz="800" b="1" dirty="0">
                <a:solidFill>
                  <a:schemeClr val="bg1"/>
                </a:solidFill>
                <a:latin typeface="+mn-ea"/>
              </a:rPr>
              <a:t>ALU</a:t>
            </a:r>
            <a:endParaRPr lang="ja-JP" altLang="en-US" sz="800" b="1" dirty="0">
              <a:solidFill>
                <a:schemeClr val="bg1"/>
              </a:solidFill>
              <a:latin typeface="+mn-ea"/>
            </a:endParaRPr>
          </a:p>
        </p:txBody>
      </p:sp>
      <p:sp>
        <p:nvSpPr>
          <p:cNvPr id="8" name="正方形/長方形 7"/>
          <p:cNvSpPr/>
          <p:nvPr/>
        </p:nvSpPr>
        <p:spPr bwMode="auto">
          <a:xfrm>
            <a:off x="2675962" y="4329010"/>
            <a:ext cx="3420038" cy="720008"/>
          </a:xfrm>
          <a:prstGeom prst="rect">
            <a:avLst/>
          </a:prstGeom>
          <a:solidFill>
            <a:srgbClr val="9933FF">
              <a:alpha val="49804"/>
            </a:srgbClr>
          </a:solidFill>
          <a:ln>
            <a:solidFill>
              <a:srgbClr val="FFFFFF"/>
            </a:solidFill>
            <a:headEnd/>
            <a:tailEnd type="triangle" w="sm" len="med"/>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bg1"/>
                </a:solidFill>
                <a:latin typeface="+mn-ea"/>
              </a:rPr>
              <a:t>FPU</a:t>
            </a:r>
            <a:endParaRPr lang="ja-JP" altLang="en-US" sz="1400" b="1" dirty="0">
              <a:solidFill>
                <a:schemeClr val="bg1"/>
              </a:solidFill>
              <a:latin typeface="+mn-ea"/>
            </a:endParaRPr>
          </a:p>
        </p:txBody>
      </p:sp>
    </p:spTree>
    <p:extLst>
      <p:ext uri="{BB962C8B-B14F-4D97-AF65-F5344CB8AC3E}">
        <p14:creationId xmlns:p14="http://schemas.microsoft.com/office/powerpoint/2010/main" val="2835018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AMD </a:t>
            </a:r>
            <a:r>
              <a:rPr lang="ja-JP" altLang="ja-JP" dirty="0"/>
              <a:t>Steamroller </a:t>
            </a:r>
            <a:r>
              <a:rPr lang="ja-JP" altLang="en-US" dirty="0"/>
              <a:t>の消費電力</a:t>
            </a:r>
            <a:endParaRPr kumimoji="1" lang="ja-JP" altLang="en-US" dirty="0"/>
          </a:p>
        </p:txBody>
      </p:sp>
      <p:sp>
        <p:nvSpPr>
          <p:cNvPr id="3" name="テキスト プレースホルダー 2"/>
          <p:cNvSpPr>
            <a:spLocks noGrp="1"/>
          </p:cNvSpPr>
          <p:nvPr>
            <p:ph type="body" sz="quarter" idx="10"/>
          </p:nvPr>
        </p:nvSpPr>
        <p:spPr>
          <a:xfrm>
            <a:off x="2225957" y="4869017"/>
            <a:ext cx="8280092" cy="1439709"/>
          </a:xfrm>
        </p:spPr>
        <p:txBody>
          <a:bodyPr/>
          <a:lstStyle/>
          <a:p>
            <a:r>
              <a:rPr kumimoji="1" lang="en-US" altLang="ja-JP" dirty="0"/>
              <a:t>ALU</a:t>
            </a:r>
            <a:r>
              <a:rPr kumimoji="1" lang="ja-JP" altLang="en-US" dirty="0"/>
              <a:t>：整数演算器</a:t>
            </a:r>
            <a:endParaRPr kumimoji="1" lang="en-US" altLang="ja-JP" dirty="0"/>
          </a:p>
          <a:p>
            <a:pPr lvl="1"/>
            <a:r>
              <a:rPr kumimoji="1" lang="ja-JP" altLang="en-US" dirty="0"/>
              <a:t>全体からみると，大きな割合を占めていない</a:t>
            </a:r>
            <a:endParaRPr kumimoji="1" lang="en-US" altLang="ja-JP" dirty="0"/>
          </a:p>
          <a:p>
            <a:r>
              <a:rPr lang="en-US" altLang="ja-JP" dirty="0"/>
              <a:t>FPU</a:t>
            </a:r>
            <a:r>
              <a:rPr lang="ja-JP" altLang="en-US" dirty="0"/>
              <a:t>：</a:t>
            </a:r>
            <a:r>
              <a:rPr lang="en-US" altLang="ja-JP" dirty="0"/>
              <a:t>FP </a:t>
            </a:r>
            <a:r>
              <a:rPr lang="ja-JP" altLang="en-US" dirty="0"/>
              <a:t>演算器</a:t>
            </a:r>
            <a:endParaRPr lang="en-US" altLang="ja-JP" dirty="0"/>
          </a:p>
          <a:p>
            <a:pPr lvl="1"/>
            <a:r>
              <a:rPr lang="ja-JP" altLang="en-US" dirty="0"/>
              <a:t>稼働時（</a:t>
            </a:r>
            <a:r>
              <a:rPr lang="en-US" altLang="ja-JP" dirty="0"/>
              <a:t>Max FP</a:t>
            </a:r>
            <a:r>
              <a:rPr lang="ja-JP" altLang="en-US" dirty="0"/>
              <a:t>）には，かなり大きな割合を占める</a:t>
            </a:r>
            <a:endParaRPr kumimoji="1" lang="ja-JP" altLang="en-US" dirty="0"/>
          </a:p>
        </p:txBody>
      </p:sp>
      <p:pic>
        <p:nvPicPr>
          <p:cNvPr id="4" name="図 3"/>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025978" y="1088975"/>
            <a:ext cx="4230047" cy="3430063"/>
          </a:xfrm>
          <a:prstGeom prst="rect">
            <a:avLst/>
          </a:prstGeom>
        </p:spPr>
      </p:pic>
      <p:sp>
        <p:nvSpPr>
          <p:cNvPr id="5" name="円/楕円 4"/>
          <p:cNvSpPr/>
          <p:nvPr/>
        </p:nvSpPr>
        <p:spPr bwMode="auto">
          <a:xfrm>
            <a:off x="7086012" y="3068997"/>
            <a:ext cx="720008" cy="540006"/>
          </a:xfrm>
          <a:prstGeom prst="ellipse">
            <a:avLst/>
          </a:prstGeom>
          <a:noFill/>
          <a:ln>
            <a:solidFill>
              <a:srgbClr val="FF0000"/>
            </a:solidFill>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951128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エネルギーは</a:t>
            </a:r>
            <a:r>
              <a:rPr lang="ja-JP" altLang="en-US" dirty="0"/>
              <a:t>命令制御と演算の比率によって決まる</a:t>
            </a:r>
            <a:endParaRPr kumimoji="1" lang="ja-JP" altLang="en-US" dirty="0"/>
          </a:p>
        </p:txBody>
      </p:sp>
      <p:sp>
        <p:nvSpPr>
          <p:cNvPr id="3" name="テキスト プレースホルダー 2"/>
          <p:cNvSpPr>
            <a:spLocks noGrp="1"/>
          </p:cNvSpPr>
          <p:nvPr>
            <p:ph type="body" sz="quarter" idx="10"/>
          </p:nvPr>
        </p:nvSpPr>
        <p:spPr>
          <a:xfrm>
            <a:off x="1775952" y="1088975"/>
            <a:ext cx="8280092" cy="5219751"/>
          </a:xfrm>
        </p:spPr>
        <p:txBody>
          <a:bodyPr/>
          <a:lstStyle/>
          <a:p>
            <a:r>
              <a:rPr kumimoji="1" lang="en-US" altLang="ja-JP" dirty="0"/>
              <a:t>CPU</a:t>
            </a:r>
            <a:r>
              <a:rPr kumimoji="1" lang="ja-JP" altLang="en-US" dirty="0"/>
              <a:t>：演算以外の制御部分が大きい</a:t>
            </a:r>
            <a:endParaRPr kumimoji="1" lang="en-US" altLang="ja-JP" dirty="0"/>
          </a:p>
          <a:p>
            <a:pPr lvl="1"/>
            <a:r>
              <a:rPr kumimoji="1" lang="ja-JP" altLang="en-US" dirty="0"/>
              <a:t>基本１つの命令が１つのデータを操作</a:t>
            </a:r>
            <a:endParaRPr kumimoji="1" lang="en-US" altLang="ja-JP" dirty="0"/>
          </a:p>
          <a:p>
            <a:pPr lvl="1"/>
            <a:r>
              <a:rPr kumimoji="1" lang="ja-JP" altLang="en-US" dirty="0"/>
              <a:t>高速化のため命令の実行順を入れ替える等もする</a:t>
            </a:r>
            <a:endParaRPr kumimoji="1" lang="en-US" altLang="ja-JP" dirty="0"/>
          </a:p>
          <a:p>
            <a:r>
              <a:rPr lang="en-US" altLang="ja-JP" dirty="0"/>
              <a:t>GPU</a:t>
            </a:r>
            <a:r>
              <a:rPr lang="ja-JP" altLang="en-US" dirty="0"/>
              <a:t>：制御部分が相対的に小さい</a:t>
            </a:r>
            <a:endParaRPr lang="en-US" altLang="ja-JP" dirty="0"/>
          </a:p>
          <a:p>
            <a:pPr lvl="1"/>
            <a:r>
              <a:rPr lang="ja-JP" altLang="en-US" dirty="0">
                <a:solidFill>
                  <a:schemeClr val="accent5"/>
                </a:solidFill>
              </a:rPr>
              <a:t>１つの命令で多数のデータを操作</a:t>
            </a:r>
            <a:endParaRPr lang="en-US" altLang="ja-JP" dirty="0">
              <a:solidFill>
                <a:schemeClr val="accent5"/>
              </a:solidFill>
            </a:endParaRPr>
          </a:p>
          <a:p>
            <a:pPr lvl="1"/>
            <a:r>
              <a:rPr lang="ja-JP" altLang="en-US" dirty="0"/>
              <a:t>命令フェッチ</a:t>
            </a:r>
            <a:r>
              <a:rPr lang="en-US" altLang="ja-JP" dirty="0"/>
              <a:t>/</a:t>
            </a:r>
            <a:r>
              <a:rPr lang="ja-JP" altLang="en-US" dirty="0"/>
              <a:t>デコードなどに必要な分が減る</a:t>
            </a:r>
            <a:endParaRPr lang="en-US" altLang="ja-JP" dirty="0"/>
          </a:p>
          <a:p>
            <a:r>
              <a:rPr lang="ja-JP" altLang="en-US" dirty="0"/>
              <a:t>専用回路：制御部分やレジスタがない</a:t>
            </a:r>
            <a:endParaRPr lang="en-US" altLang="ja-JP" dirty="0"/>
          </a:p>
          <a:p>
            <a:pPr lvl="1"/>
            <a:r>
              <a:rPr kumimoji="1" lang="ja-JP" altLang="en-US" dirty="0"/>
              <a:t>そもそも命令で処理しない</a:t>
            </a:r>
            <a:endParaRPr kumimoji="1" lang="en-US" altLang="ja-JP" dirty="0"/>
          </a:p>
          <a:p>
            <a:pPr lvl="1"/>
            <a:r>
              <a:rPr lang="ja-JP" altLang="en-US" dirty="0">
                <a:solidFill>
                  <a:schemeClr val="accent5"/>
                </a:solidFill>
              </a:rPr>
              <a:t>演算器のみが繋がったような構造に流し込む</a:t>
            </a:r>
            <a:endParaRPr lang="en-US" altLang="ja-JP" dirty="0">
              <a:solidFill>
                <a:schemeClr val="accent5"/>
              </a:solidFill>
            </a:endParaRPr>
          </a:p>
          <a:p>
            <a:pPr lvl="1"/>
            <a:r>
              <a:rPr kumimoji="1" lang="ja-JP" altLang="en-US" dirty="0"/>
              <a:t>（演算器の幅自体をさらに最適化することもある</a:t>
            </a:r>
            <a:endParaRPr kumimoji="1" lang="ja-JP" altLang="en-US" dirty="0">
              <a:solidFill>
                <a:schemeClr val="accent5"/>
              </a:solidFill>
            </a:endParaRPr>
          </a:p>
        </p:txBody>
      </p:sp>
      <p:sp>
        <p:nvSpPr>
          <p:cNvPr id="4" name="正方形/長方形 3"/>
          <p:cNvSpPr/>
          <p:nvPr/>
        </p:nvSpPr>
        <p:spPr bwMode="auto">
          <a:xfrm>
            <a:off x="8256025" y="1268976"/>
            <a:ext cx="2070023" cy="2790030"/>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8166024" y="908971"/>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346026" y="1448977"/>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9336037" y="1448977"/>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8346026" y="1808981"/>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8346026" y="2168985"/>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8346026" y="2528989"/>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9418843" y="2356182"/>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8346026" y="2888993"/>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8346026" y="3248997"/>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706030" y="1448977"/>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1</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706030" y="1808981"/>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2</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16" name="正方形/長方形 15"/>
          <p:cNvSpPr/>
          <p:nvPr/>
        </p:nvSpPr>
        <p:spPr bwMode="auto">
          <a:xfrm>
            <a:off x="8706030" y="2168985"/>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17" name="正方形/長方形 16"/>
          <p:cNvSpPr/>
          <p:nvPr/>
        </p:nvSpPr>
        <p:spPr bwMode="auto">
          <a:xfrm>
            <a:off x="8706030" y="2528989"/>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18" name="正方形/長方形 17"/>
          <p:cNvSpPr/>
          <p:nvPr/>
        </p:nvSpPr>
        <p:spPr bwMode="auto">
          <a:xfrm>
            <a:off x="8706030" y="2888993"/>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706030" y="3248997"/>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9696041" y="1448977"/>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21" name="直線コネクタ 20"/>
          <p:cNvCxnSpPr/>
          <p:nvPr/>
        </p:nvCxnSpPr>
        <p:spPr bwMode="auto">
          <a:xfrm>
            <a:off x="9156035" y="1448977"/>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直線コネクタ 21"/>
          <p:cNvCxnSpPr/>
          <p:nvPr/>
        </p:nvCxnSpPr>
        <p:spPr bwMode="auto">
          <a:xfrm>
            <a:off x="9246036" y="1448977"/>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直線コネクタ 22"/>
          <p:cNvCxnSpPr/>
          <p:nvPr/>
        </p:nvCxnSpPr>
        <p:spPr bwMode="auto">
          <a:xfrm>
            <a:off x="9156035" y="2258986"/>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直線コネクタ 23"/>
          <p:cNvCxnSpPr/>
          <p:nvPr/>
        </p:nvCxnSpPr>
        <p:spPr bwMode="auto">
          <a:xfrm>
            <a:off x="9246037" y="2798992"/>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直線コネクタ 24"/>
          <p:cNvCxnSpPr/>
          <p:nvPr/>
        </p:nvCxnSpPr>
        <p:spPr bwMode="auto">
          <a:xfrm flipV="1">
            <a:off x="8886032" y="3699002"/>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直線コネクタ 25"/>
          <p:cNvCxnSpPr/>
          <p:nvPr/>
        </p:nvCxnSpPr>
        <p:spPr bwMode="auto">
          <a:xfrm flipH="1">
            <a:off x="8886034" y="3879004"/>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7" name="直線コネクタ 26"/>
          <p:cNvCxnSpPr/>
          <p:nvPr/>
        </p:nvCxnSpPr>
        <p:spPr bwMode="auto">
          <a:xfrm flipH="1">
            <a:off x="10056046" y="2528989"/>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直線コネクタ 27"/>
          <p:cNvCxnSpPr/>
          <p:nvPr/>
        </p:nvCxnSpPr>
        <p:spPr bwMode="auto">
          <a:xfrm flipV="1">
            <a:off x="10146047" y="2528990"/>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2" name="フローチャート: 手作業 31"/>
          <p:cNvSpPr/>
          <p:nvPr/>
        </p:nvSpPr>
        <p:spPr bwMode="auto">
          <a:xfrm rot="16200000">
            <a:off x="8878836" y="5866222"/>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8256024" y="522902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専用回路</a:t>
            </a:r>
          </a:p>
        </p:txBody>
      </p:sp>
      <p:sp>
        <p:nvSpPr>
          <p:cNvPr id="31" name="フローチャート: 手作業 30"/>
          <p:cNvSpPr/>
          <p:nvPr/>
        </p:nvSpPr>
        <p:spPr bwMode="auto">
          <a:xfrm rot="16200000">
            <a:off x="9418842" y="5866222"/>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34" name="フローチャート: 手作業 33"/>
          <p:cNvSpPr/>
          <p:nvPr/>
        </p:nvSpPr>
        <p:spPr bwMode="auto">
          <a:xfrm rot="16200000">
            <a:off x="8338830" y="5866222"/>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cxnSp>
        <p:nvCxnSpPr>
          <p:cNvPr id="35" name="直線コネクタ 34"/>
          <p:cNvCxnSpPr>
            <a:endCxn id="32" idx="0"/>
          </p:cNvCxnSpPr>
          <p:nvPr/>
        </p:nvCxnSpPr>
        <p:spPr bwMode="auto">
          <a:xfrm>
            <a:off x="8976032" y="6039030"/>
            <a:ext cx="180002" cy="7195"/>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6" name="直線コネクタ 35"/>
          <p:cNvCxnSpPr/>
          <p:nvPr/>
        </p:nvCxnSpPr>
        <p:spPr bwMode="auto">
          <a:xfrm>
            <a:off x="9516038" y="6039030"/>
            <a:ext cx="180002" cy="7195"/>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99107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使いやすさは，おおむね制御部分の大きさに比例</a:t>
            </a:r>
          </a:p>
        </p:txBody>
      </p:sp>
      <p:sp>
        <p:nvSpPr>
          <p:cNvPr id="4" name="テキスト プレースホルダー 2"/>
          <p:cNvSpPr>
            <a:spLocks noGrp="1"/>
          </p:cNvSpPr>
          <p:nvPr>
            <p:ph type="body" sz="quarter" idx="10"/>
          </p:nvPr>
        </p:nvSpPr>
        <p:spPr>
          <a:xfrm>
            <a:off x="1775952" y="1088975"/>
            <a:ext cx="8640096" cy="5219751"/>
          </a:xfrm>
        </p:spPr>
        <p:txBody>
          <a:bodyPr/>
          <a:lstStyle/>
          <a:p>
            <a:r>
              <a:rPr kumimoji="1" lang="en-US" altLang="ja-JP" dirty="0"/>
              <a:t>CPU</a:t>
            </a:r>
            <a:r>
              <a:rPr kumimoji="1" lang="ja-JP" altLang="en-US" dirty="0"/>
              <a:t>：制御部分が大きい</a:t>
            </a:r>
            <a:endParaRPr kumimoji="1" lang="en-US" altLang="ja-JP" dirty="0"/>
          </a:p>
          <a:p>
            <a:pPr lvl="1"/>
            <a:r>
              <a:rPr kumimoji="1" lang="ja-JP" altLang="en-US" dirty="0"/>
              <a:t>ほっといても，ハードが（ある程度）勝手に並列実行してくれる</a:t>
            </a:r>
            <a:endParaRPr kumimoji="1" lang="en-US" altLang="ja-JP" dirty="0"/>
          </a:p>
          <a:p>
            <a:pPr lvl="1"/>
            <a:r>
              <a:rPr kumimoji="1" lang="ja-JP" altLang="en-US" dirty="0"/>
              <a:t>プログラマは一番楽</a:t>
            </a:r>
            <a:endParaRPr kumimoji="1" lang="en-US" altLang="ja-JP" dirty="0"/>
          </a:p>
          <a:p>
            <a:r>
              <a:rPr lang="en-US" altLang="ja-JP" dirty="0"/>
              <a:t>GPU</a:t>
            </a:r>
            <a:r>
              <a:rPr lang="ja-JP" altLang="en-US" dirty="0"/>
              <a:t>：制御部分が小さい</a:t>
            </a:r>
            <a:endParaRPr lang="en-US" altLang="ja-JP" dirty="0"/>
          </a:p>
          <a:p>
            <a:pPr lvl="1"/>
            <a:r>
              <a:rPr lang="ja-JP" altLang="en-US" dirty="0"/>
              <a:t>単一の命令で複数のデータを操作</a:t>
            </a:r>
            <a:endParaRPr lang="en-US" altLang="ja-JP" dirty="0"/>
          </a:p>
          <a:p>
            <a:pPr lvl="1"/>
            <a:r>
              <a:rPr lang="ja-JP" altLang="en-US" dirty="0"/>
              <a:t>規則正しくデータが並んでいるようにお膳立てしないと</a:t>
            </a:r>
            <a:br>
              <a:rPr lang="en-US" altLang="ja-JP" dirty="0"/>
            </a:br>
            <a:r>
              <a:rPr lang="ja-JP" altLang="en-US" dirty="0"/>
              <a:t>性能がでない</a:t>
            </a:r>
            <a:endParaRPr lang="en-US" altLang="ja-JP" dirty="0"/>
          </a:p>
          <a:p>
            <a:r>
              <a:rPr lang="ja-JP" altLang="en-US" dirty="0"/>
              <a:t>専用回路：制御部分が（あまり）ない</a:t>
            </a:r>
            <a:endParaRPr lang="en-US" altLang="ja-JP" dirty="0"/>
          </a:p>
          <a:p>
            <a:pPr lvl="1"/>
            <a:r>
              <a:rPr kumimoji="1" lang="ja-JP" altLang="en-US" dirty="0"/>
              <a:t>そもそもプログラムを実行できない</a:t>
            </a:r>
            <a:endParaRPr kumimoji="1" lang="en-US" altLang="ja-JP" dirty="0"/>
          </a:p>
          <a:p>
            <a:pPr lvl="1"/>
            <a:r>
              <a:rPr kumimoji="1" lang="ja-JP" altLang="en-US" dirty="0"/>
              <a:t>目的ごとに回路の設計からしないといけない</a:t>
            </a:r>
          </a:p>
        </p:txBody>
      </p:sp>
    </p:spTree>
    <p:extLst>
      <p:ext uri="{BB962C8B-B14F-4D97-AF65-F5344CB8AC3E}">
        <p14:creationId xmlns:p14="http://schemas.microsoft.com/office/powerpoint/2010/main" val="1817894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54CA83-6BB3-452C-700D-F13D8EB6F9F3}"/>
              </a:ext>
            </a:extLst>
          </p:cNvPr>
          <p:cNvSpPr>
            <a:spLocks noGrp="1"/>
          </p:cNvSpPr>
          <p:nvPr>
            <p:ph type="title"/>
          </p:nvPr>
        </p:nvSpPr>
        <p:spPr/>
        <p:txBody>
          <a:bodyPr/>
          <a:lstStyle/>
          <a:p>
            <a:r>
              <a:rPr kumimoji="1" lang="ja-JP" altLang="en-US" dirty="0"/>
              <a:t>牧野先生のアーキテクチャの「効率」の定義</a:t>
            </a:r>
            <a:endParaRPr kumimoji="1" lang="en-US" dirty="0"/>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32BD9AB9-9A53-5F1E-011F-F42E03B8A5E2}"/>
                  </a:ext>
                </a:extLst>
              </p:cNvPr>
              <p:cNvSpPr>
                <a:spLocks noGrp="1"/>
              </p:cNvSpPr>
              <p:nvPr>
                <p:ph type="body" sz="quarter" idx="10"/>
              </p:nvPr>
            </p:nvSpPr>
            <p:spPr/>
            <p:txBody>
              <a:bodyPr/>
              <a:lstStyle/>
              <a:p>
                <a:r>
                  <a:rPr kumimoji="1" lang="en-US" dirty="0"/>
                  <a:t>Principles of High-Performance Processor Design </a:t>
                </a:r>
                <a:br>
                  <a:rPr kumimoji="1" lang="en-US" dirty="0"/>
                </a:br>
                <a:r>
                  <a:rPr kumimoji="1" lang="en-US" dirty="0"/>
                  <a:t>For High Performance Computing, Deep Neural Networks and Data Science</a:t>
                </a:r>
                <a:br>
                  <a:rPr kumimoji="1" lang="en-US" dirty="0"/>
                </a:br>
                <a:r>
                  <a:rPr kumimoji="1" lang="en-US" dirty="0"/>
                  <a:t>Junichiro Makino</a:t>
                </a:r>
                <a:br>
                  <a:rPr kumimoji="1" lang="en-US" dirty="0"/>
                </a:br>
                <a:r>
                  <a:rPr kumimoji="1" lang="en-US" dirty="0">
                    <a:hlinkClick r:id="rId2"/>
                  </a:rPr>
                  <a:t>https://link.springer.com/book/10.1007/978-3-030-76871-3</a:t>
                </a:r>
                <a:endParaRPr kumimoji="1" lang="en-US" dirty="0"/>
              </a:p>
              <a:p>
                <a:r>
                  <a:rPr kumimoji="1" lang="ja-JP" altLang="en-US" dirty="0"/>
                  <a:t>あるアーキテクチャにおいて，あるアプリケーションを実行する場合に，</a:t>
                </a:r>
                <a:endParaRPr kumimoji="1" lang="en-US" altLang="ja-JP" dirty="0"/>
              </a:p>
              <a:p>
                <a:pPr lvl="1"/>
                <a:r>
                  <a:rPr kumimoji="1" lang="en-US" altLang="ja-JP" dirty="0"/>
                  <a:t>FP </a:t>
                </a:r>
                <a:r>
                  <a:rPr kumimoji="1" lang="ja-JP" altLang="en-US" dirty="0"/>
                  <a:t>演算そのものに必要な最小のエネルギー：</a:t>
                </a:r>
                <a14:m>
                  <m:oMath xmlns:m="http://schemas.openxmlformats.org/officeDocument/2006/math">
                    <m:sSub>
                      <m:sSubPr>
                        <m:ctrlPr>
                          <a:rPr kumimoji="1" lang="en-US" altLang="ja-JP" i="1" dirty="0" smtClean="0">
                            <a:latin typeface="Cambria Math" panose="02040503050406030204" pitchFamily="18" charset="0"/>
                          </a:rPr>
                        </m:ctrlPr>
                      </m:sSubPr>
                      <m:e>
                        <m:r>
                          <a:rPr kumimoji="1" lang="en-US" altLang="ja-JP" i="1" dirty="0" smtClean="0">
                            <a:latin typeface="Cambria Math" panose="02040503050406030204" pitchFamily="18" charset="0"/>
                          </a:rPr>
                          <m:t>𝑃</m:t>
                        </m:r>
                      </m:e>
                      <m:sub>
                        <m:r>
                          <m:rPr>
                            <m:sty m:val="p"/>
                          </m:rPr>
                          <a:rPr kumimoji="1" lang="en-US" altLang="ja-JP" i="1" dirty="0" smtClean="0">
                            <a:latin typeface="Cambria Math" panose="02040503050406030204" pitchFamily="18" charset="0"/>
                          </a:rPr>
                          <m:t>min</m:t>
                        </m:r>
                      </m:sub>
                    </m:sSub>
                  </m:oMath>
                </a14:m>
                <a:endParaRPr kumimoji="1" lang="en-US" altLang="ja-JP" dirty="0"/>
              </a:p>
              <a:p>
                <a:pPr lvl="1"/>
                <a:r>
                  <a:rPr kumimoji="1" lang="ja-JP" altLang="en-US" i="1" dirty="0"/>
                  <a:t>実際に消費されたエネルギー：</a:t>
                </a:r>
                <a14:m>
                  <m:oMath xmlns:m="http://schemas.openxmlformats.org/officeDocument/2006/math">
                    <m:sSub>
                      <m:sSubPr>
                        <m:ctrlPr>
                          <a:rPr kumimoji="1" lang="en-US" altLang="ja-JP" i="1" dirty="0" smtClean="0">
                            <a:latin typeface="Cambria Math" panose="02040503050406030204" pitchFamily="18" charset="0"/>
                          </a:rPr>
                        </m:ctrlPr>
                      </m:sSubPr>
                      <m:e>
                        <m:r>
                          <a:rPr kumimoji="1" lang="en-US" altLang="ja-JP" i="1" dirty="0" smtClean="0">
                            <a:latin typeface="Cambria Math" panose="02040503050406030204" pitchFamily="18" charset="0"/>
                          </a:rPr>
                          <m:t>𝑃</m:t>
                        </m:r>
                      </m:e>
                      <m:sub>
                        <m:r>
                          <a:rPr kumimoji="1" lang="en-US" altLang="ja-JP" i="1" dirty="0" smtClean="0">
                            <a:latin typeface="Cambria Math" panose="02040503050406030204" pitchFamily="18" charset="0"/>
                          </a:rPr>
                          <m:t>𝑎𝑐𝑡𝑢𝑎𝑙</m:t>
                        </m:r>
                      </m:sub>
                    </m:sSub>
                  </m:oMath>
                </a14:m>
                <a:endParaRPr kumimoji="1" lang="en-US" altLang="ja-JP" i="1" dirty="0"/>
              </a:p>
              <a:p>
                <a:pPr lvl="1"/>
                <a:r>
                  <a:rPr kumimoji="1" lang="ja-JP" altLang="en-US" dirty="0"/>
                  <a:t>効率：</a:t>
                </a:r>
                <a14:m>
                  <m:oMath xmlns:m="http://schemas.openxmlformats.org/officeDocument/2006/math">
                    <m:sSub>
                      <m:sSubPr>
                        <m:ctrlPr>
                          <a:rPr kumimoji="1" lang="en-US" altLang="ja-JP" i="1" dirty="0" smtClean="0">
                            <a:latin typeface="Cambria Math" panose="02040503050406030204" pitchFamily="18" charset="0"/>
                          </a:rPr>
                        </m:ctrlPr>
                      </m:sSubPr>
                      <m:e>
                        <m:r>
                          <a:rPr kumimoji="1" lang="en-US" altLang="ja-JP" i="1" dirty="0" smtClean="0">
                            <a:latin typeface="Cambria Math" panose="02040503050406030204" pitchFamily="18" charset="0"/>
                          </a:rPr>
                          <m:t>𝑃</m:t>
                        </m:r>
                      </m:e>
                      <m:sub>
                        <m:r>
                          <m:rPr>
                            <m:sty m:val="p"/>
                          </m:rPr>
                          <a:rPr kumimoji="1" lang="en-US" altLang="ja-JP" i="1" dirty="0" smtClean="0">
                            <a:latin typeface="Cambria Math" panose="02040503050406030204" pitchFamily="18" charset="0"/>
                          </a:rPr>
                          <m:t>min</m:t>
                        </m:r>
                      </m:sub>
                    </m:sSub>
                    <m:r>
                      <a:rPr kumimoji="1" lang="en-US" altLang="ja-JP" i="1" dirty="0" smtClean="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i="1" dirty="0">
                            <a:latin typeface="Cambria Math" panose="02040503050406030204" pitchFamily="18" charset="0"/>
                          </a:rPr>
                          <m:t>𝑎𝑐𝑡𝑢𝑎𝑙</m:t>
                        </m:r>
                      </m:sub>
                    </m:sSub>
                  </m:oMath>
                </a14:m>
                <a:endParaRPr kumimoji="1" lang="en-US" dirty="0"/>
              </a:p>
              <a:p>
                <a:r>
                  <a:rPr kumimoji="1" lang="ja-JP" altLang="en-US" dirty="0"/>
                  <a:t>演算以外の余計なことをどれだけ減らすかが効率を決めるという点で，おおよそ同じ事を言っている</a:t>
                </a:r>
                <a:endParaRPr kumimoji="1" lang="en-US" dirty="0"/>
              </a:p>
            </p:txBody>
          </p:sp>
        </mc:Choice>
        <mc:Fallback xmlns="">
          <p:sp>
            <p:nvSpPr>
              <p:cNvPr id="3" name="テキスト プレースホルダー 2">
                <a:extLst>
                  <a:ext uri="{FF2B5EF4-FFF2-40B4-BE49-F238E27FC236}">
                    <a16:creationId xmlns:a16="http://schemas.microsoft.com/office/drawing/2014/main" id="{32BD9AB9-9A53-5F1E-011F-F42E03B8A5E2}"/>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662" b="-1051"/>
                </a:stretch>
              </a:blipFill>
            </p:spPr>
            <p:txBody>
              <a:bodyPr/>
              <a:lstStyle/>
              <a:p>
                <a:r>
                  <a:rPr lang="en-US">
                    <a:noFill/>
                  </a:rPr>
                  <a:t> </a:t>
                </a:r>
              </a:p>
            </p:txBody>
          </p:sp>
        </mc:Fallback>
      </mc:AlternateContent>
    </p:spTree>
    <p:extLst>
      <p:ext uri="{BB962C8B-B14F-4D97-AF65-F5344CB8AC3E}">
        <p14:creationId xmlns:p14="http://schemas.microsoft.com/office/powerpoint/2010/main" val="12125917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en-US" altLang="ja-JP" dirty="0"/>
              <a:t>CPU </a:t>
            </a:r>
            <a:r>
              <a:rPr kumimoji="1" lang="ja-JP" altLang="en-US" dirty="0"/>
              <a:t>やその他回路の消費電力について</a:t>
            </a:r>
          </a:p>
        </p:txBody>
      </p:sp>
      <p:sp>
        <p:nvSpPr>
          <p:cNvPr id="5" name="テキスト プレースホルダー 4"/>
          <p:cNvSpPr>
            <a:spLocks noGrp="1"/>
          </p:cNvSpPr>
          <p:nvPr>
            <p:ph type="body" sz="quarter" idx="10"/>
          </p:nvPr>
        </p:nvSpPr>
        <p:spPr/>
        <p:txBody>
          <a:bodyPr/>
          <a:lstStyle/>
          <a:p>
            <a:r>
              <a:rPr kumimoji="1" lang="ja-JP" altLang="en-US" dirty="0"/>
              <a:t>消費電力について</a:t>
            </a:r>
            <a:endParaRPr kumimoji="1" lang="en-US" altLang="ja-JP" dirty="0"/>
          </a:p>
          <a:p>
            <a:pPr marL="817200" lvl="1" indent="-457200">
              <a:buFont typeface="+mj-lt"/>
              <a:buAutoNum type="arabicPeriod"/>
            </a:pPr>
            <a:r>
              <a:rPr kumimoji="1" lang="ja-JP" altLang="en-US" dirty="0"/>
              <a:t>クロックの消費電力</a:t>
            </a:r>
            <a:endParaRPr kumimoji="1" lang="en-US" altLang="ja-JP" dirty="0"/>
          </a:p>
          <a:p>
            <a:pPr marL="817200" lvl="1" indent="-457200">
              <a:buFont typeface="+mj-lt"/>
              <a:buAutoNum type="arabicPeriod"/>
            </a:pPr>
            <a:r>
              <a:rPr kumimoji="1" lang="ja-JP" altLang="en-US" dirty="0"/>
              <a:t>アーキテクチャの違いによる</a:t>
            </a:r>
            <a:r>
              <a:rPr lang="ja-JP" altLang="en-US" dirty="0"/>
              <a:t>消費電力の違い</a:t>
            </a:r>
            <a:endParaRPr lang="en-US" altLang="ja-JP" dirty="0"/>
          </a:p>
          <a:p>
            <a:pPr marL="817200" lvl="1" indent="-457200">
              <a:buFont typeface="+mj-lt"/>
              <a:buAutoNum type="arabicPeriod"/>
            </a:pPr>
            <a:r>
              <a:rPr lang="en-US" altLang="ja-JP" b="1" dirty="0">
                <a:solidFill>
                  <a:schemeClr val="accent5"/>
                </a:solidFill>
              </a:rPr>
              <a:t>FPGA </a:t>
            </a:r>
            <a:r>
              <a:rPr lang="ja-JP" altLang="en-US" b="1" dirty="0">
                <a:solidFill>
                  <a:schemeClr val="accent5"/>
                </a:solidFill>
              </a:rPr>
              <a:t>による回路</a:t>
            </a:r>
            <a:endParaRPr lang="en-US" altLang="ja-JP" b="1" dirty="0">
              <a:solidFill>
                <a:schemeClr val="accent5"/>
              </a:solidFill>
            </a:endParaRPr>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15</a:t>
            </a:fld>
            <a:endParaRPr kumimoji="1" lang="ja-JP" altLang="en-US"/>
          </a:p>
        </p:txBody>
      </p:sp>
    </p:spTree>
    <p:extLst>
      <p:ext uri="{BB962C8B-B14F-4D97-AF65-F5344CB8AC3E}">
        <p14:creationId xmlns:p14="http://schemas.microsoft.com/office/powerpoint/2010/main" val="2947813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FPGA </a:t>
            </a:r>
            <a:r>
              <a:rPr kumimoji="1" lang="ja-JP" altLang="en-US" dirty="0"/>
              <a:t>の場合</a:t>
            </a:r>
          </a:p>
        </p:txBody>
      </p:sp>
      <p:sp>
        <p:nvSpPr>
          <p:cNvPr id="3" name="テキスト プレースホルダー 2"/>
          <p:cNvSpPr>
            <a:spLocks noGrp="1"/>
          </p:cNvSpPr>
          <p:nvPr>
            <p:ph type="body" sz="quarter" idx="10"/>
          </p:nvPr>
        </p:nvSpPr>
        <p:spPr/>
        <p:txBody>
          <a:bodyPr/>
          <a:lstStyle/>
          <a:p>
            <a:r>
              <a:rPr kumimoji="1" lang="en-US" altLang="ja-JP" dirty="0"/>
              <a:t>FPGA</a:t>
            </a:r>
            <a:r>
              <a:rPr kumimoji="1" lang="ja-JP" altLang="en-US" dirty="0"/>
              <a:t>：</a:t>
            </a:r>
            <a:r>
              <a:rPr kumimoji="1" lang="en-US" altLang="ja-JP" dirty="0"/>
              <a:t>F</a:t>
            </a:r>
            <a:r>
              <a:rPr lang="en-US" altLang="ja-JP" dirty="0"/>
              <a:t>ield-Programmable Gate Array</a:t>
            </a:r>
          </a:p>
          <a:p>
            <a:pPr lvl="1"/>
            <a:r>
              <a:rPr kumimoji="1" lang="ja-JP" altLang="en-US" dirty="0"/>
              <a:t>中身を書き換えることのできる回路</a:t>
            </a:r>
            <a:endParaRPr kumimoji="1" lang="en-US" altLang="ja-JP" dirty="0"/>
          </a:p>
          <a:p>
            <a:r>
              <a:rPr kumimoji="1" lang="en-US" altLang="ja-JP" dirty="0"/>
              <a:t>FPGA </a:t>
            </a:r>
            <a:r>
              <a:rPr kumimoji="1" lang="ja-JP" altLang="en-US" dirty="0"/>
              <a:t>で専用回路を作れば，いいことばかり？</a:t>
            </a:r>
            <a:endParaRPr kumimoji="1" lang="en-US" altLang="ja-JP" dirty="0"/>
          </a:p>
          <a:p>
            <a:pPr lvl="1"/>
            <a:r>
              <a:rPr kumimoji="1" lang="ja-JP" altLang="en-US" dirty="0"/>
              <a:t>設計の敷居が下がりつつ，電力効率もよくなる？</a:t>
            </a:r>
            <a:endParaRPr kumimoji="1" lang="en-US" altLang="ja-JP" dirty="0"/>
          </a:p>
          <a:p>
            <a:pPr lvl="1"/>
            <a:r>
              <a:rPr lang="en-US" altLang="ja-JP" dirty="0"/>
              <a:t>CPU </a:t>
            </a:r>
            <a:r>
              <a:rPr lang="ja-JP" altLang="en-US" dirty="0"/>
              <a:t>で実行されるプログラムの処理を専用回路に置き換える</a:t>
            </a:r>
            <a:endParaRPr lang="en-US" altLang="ja-JP" dirty="0"/>
          </a:p>
          <a:p>
            <a:r>
              <a:rPr kumimoji="1" lang="ja-JP" altLang="en-US" dirty="0"/>
              <a:t>そんなに単純な話ではない</a:t>
            </a:r>
            <a:endParaRPr kumimoji="1" lang="en-US" altLang="ja-JP" dirty="0"/>
          </a:p>
          <a:p>
            <a:pPr marL="817200" lvl="1" indent="-457200">
              <a:buFont typeface="+mj-lt"/>
              <a:buAutoNum type="arabicPeriod"/>
            </a:pPr>
            <a:r>
              <a:rPr lang="en-US" altLang="ja-JP" dirty="0"/>
              <a:t>FPGA </a:t>
            </a:r>
            <a:r>
              <a:rPr lang="ja-JP" altLang="en-US" dirty="0"/>
              <a:t>の仕組み</a:t>
            </a:r>
            <a:endParaRPr lang="en-US" altLang="ja-JP" dirty="0"/>
          </a:p>
          <a:p>
            <a:pPr marL="817200" lvl="1" indent="-457200">
              <a:buFont typeface="+mj-lt"/>
              <a:buAutoNum type="arabicPeriod"/>
            </a:pPr>
            <a:r>
              <a:rPr kumimoji="1" lang="en-US" altLang="ja-JP" dirty="0"/>
              <a:t>FPGA </a:t>
            </a:r>
            <a:r>
              <a:rPr kumimoji="1" lang="ja-JP" altLang="en-US" dirty="0"/>
              <a:t>でうまく行く場合と行かない場合</a:t>
            </a:r>
          </a:p>
        </p:txBody>
      </p:sp>
    </p:spTree>
    <p:extLst>
      <p:ext uri="{BB962C8B-B14F-4D97-AF65-F5344CB8AC3E}">
        <p14:creationId xmlns:p14="http://schemas.microsoft.com/office/powerpoint/2010/main" val="27958109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FPGA </a:t>
            </a:r>
            <a:r>
              <a:rPr kumimoji="1" lang="ja-JP" altLang="en-US" dirty="0"/>
              <a:t>の仕組み</a:t>
            </a:r>
          </a:p>
        </p:txBody>
      </p:sp>
      <p:sp>
        <p:nvSpPr>
          <p:cNvPr id="3" name="テキスト プレースホルダー 2"/>
          <p:cNvSpPr>
            <a:spLocks noGrp="1"/>
          </p:cNvSpPr>
          <p:nvPr>
            <p:ph type="body" sz="quarter" idx="10"/>
          </p:nvPr>
        </p:nvSpPr>
        <p:spPr>
          <a:xfrm>
            <a:off x="2135956" y="908972"/>
            <a:ext cx="8280092" cy="2790031"/>
          </a:xfrm>
        </p:spPr>
        <p:txBody>
          <a:bodyPr/>
          <a:lstStyle/>
          <a:p>
            <a:r>
              <a:rPr kumimoji="1" lang="ja-JP" altLang="en-US" dirty="0"/>
              <a:t>書き換え可能なテーブルにより，回路を実現</a:t>
            </a:r>
            <a:endParaRPr kumimoji="1" lang="en-US" altLang="ja-JP" dirty="0"/>
          </a:p>
          <a:p>
            <a:pPr lvl="1"/>
            <a:r>
              <a:rPr lang="en-US" altLang="ja-JP" dirty="0"/>
              <a:t>LUT</a:t>
            </a:r>
            <a:r>
              <a:rPr lang="ja-JP" altLang="en-US" dirty="0"/>
              <a:t>：</a:t>
            </a:r>
            <a:r>
              <a:rPr lang="en-US" altLang="ja-JP" dirty="0"/>
              <a:t>Look up Table</a:t>
            </a:r>
            <a:endParaRPr kumimoji="1" lang="en-US" altLang="ja-JP" dirty="0"/>
          </a:p>
          <a:p>
            <a:pPr lvl="2"/>
            <a:r>
              <a:rPr kumimoji="1" lang="ja-JP" altLang="en-US" dirty="0"/>
              <a:t>真理値表そのものを保持するテーブル</a:t>
            </a:r>
            <a:endParaRPr kumimoji="1" lang="en-US" altLang="ja-JP" dirty="0"/>
          </a:p>
          <a:p>
            <a:pPr lvl="2"/>
            <a:r>
              <a:rPr kumimoji="1" lang="ja-JP" altLang="en-US" dirty="0"/>
              <a:t>事前にこれを所望の回路の真理値表に設定しておく</a:t>
            </a:r>
            <a:endParaRPr kumimoji="1" lang="en-US" altLang="ja-JP" dirty="0"/>
          </a:p>
          <a:p>
            <a:pPr lvl="1"/>
            <a:r>
              <a:rPr kumimoji="1" lang="ja-JP" altLang="en-US" dirty="0"/>
              <a:t>入力をインデックスとして</a:t>
            </a:r>
            <a:r>
              <a:rPr lang="ja-JP" altLang="en-US" dirty="0"/>
              <a:t>テーブルにアクセスし，出力</a:t>
            </a:r>
            <a:endParaRPr lang="en-US" altLang="ja-JP" dirty="0"/>
          </a:p>
          <a:p>
            <a:pPr lvl="2"/>
            <a:r>
              <a:rPr kumimoji="1" lang="ja-JP" altLang="en-US" dirty="0"/>
              <a:t>下の </a:t>
            </a:r>
            <a:r>
              <a:rPr kumimoji="1" lang="en-US" altLang="ja-JP" dirty="0"/>
              <a:t>NAND </a:t>
            </a:r>
            <a:r>
              <a:rPr kumimoji="1" lang="ja-JP" altLang="en-US" dirty="0"/>
              <a:t>の場合，</a:t>
            </a:r>
            <a:r>
              <a:rPr kumimoji="1" lang="en-US" altLang="ja-JP" dirty="0"/>
              <a:t>a </a:t>
            </a:r>
            <a:r>
              <a:rPr kumimoji="1" lang="ja-JP" altLang="en-US" dirty="0"/>
              <a:t>と </a:t>
            </a:r>
            <a:r>
              <a:rPr kumimoji="1" lang="en-US" altLang="ja-JP" dirty="0"/>
              <a:t>b </a:t>
            </a:r>
            <a:r>
              <a:rPr kumimoji="1" lang="ja-JP" altLang="en-US" dirty="0"/>
              <a:t>の</a:t>
            </a:r>
            <a:r>
              <a:rPr kumimoji="1" lang="en-US" altLang="ja-JP" dirty="0"/>
              <a:t> 2</a:t>
            </a:r>
            <a:r>
              <a:rPr kumimoji="1" lang="ja-JP" altLang="en-US" dirty="0"/>
              <a:t>ビットのインデクス</a:t>
            </a:r>
          </a:p>
        </p:txBody>
      </p:sp>
      <p:sp>
        <p:nvSpPr>
          <p:cNvPr id="6" name="Line 12"/>
          <p:cNvSpPr>
            <a:spLocks noChangeShapeType="1"/>
          </p:cNvSpPr>
          <p:nvPr/>
        </p:nvSpPr>
        <p:spPr bwMode="auto">
          <a:xfrm flipV="1">
            <a:off x="3215970" y="4599013"/>
            <a:ext cx="247503" cy="1052"/>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7" name="Line 12"/>
          <p:cNvSpPr>
            <a:spLocks noChangeShapeType="1"/>
          </p:cNvSpPr>
          <p:nvPr/>
        </p:nvSpPr>
        <p:spPr bwMode="auto">
          <a:xfrm flipV="1">
            <a:off x="3215970" y="4239009"/>
            <a:ext cx="270003"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8" name="Line 12"/>
          <p:cNvSpPr>
            <a:spLocks noChangeShapeType="1"/>
          </p:cNvSpPr>
          <p:nvPr/>
        </p:nvSpPr>
        <p:spPr bwMode="auto">
          <a:xfrm flipV="1">
            <a:off x="4205981" y="4419011"/>
            <a:ext cx="247503" cy="1052"/>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pic>
        <p:nvPicPr>
          <p:cNvPr id="4" name="Picture 83" descr="NAND"/>
          <p:cNvPicPr>
            <a:picLocks noChangeAspect="1" noChangeArrowheads="1"/>
          </p:cNvPicPr>
          <p:nvPr/>
        </p:nvPicPr>
        <p:blipFill>
          <a:blip r:embed="rId2" cstate="print"/>
          <a:srcRect/>
          <a:stretch>
            <a:fillRect/>
          </a:stretch>
        </p:blipFill>
        <p:spPr bwMode="auto">
          <a:xfrm>
            <a:off x="3395971" y="4059008"/>
            <a:ext cx="1079500" cy="720725"/>
          </a:xfrm>
          <a:prstGeom prst="rect">
            <a:avLst/>
          </a:prstGeom>
          <a:noFill/>
        </p:spPr>
      </p:pic>
      <p:sp>
        <p:nvSpPr>
          <p:cNvPr id="9" name="正方形/長方形 8"/>
          <p:cNvSpPr/>
          <p:nvPr/>
        </p:nvSpPr>
        <p:spPr bwMode="auto">
          <a:xfrm>
            <a:off x="3215969" y="3789004"/>
            <a:ext cx="1350015"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NAND</a:t>
            </a:r>
            <a:endParaRPr lang="ja-JP" altLang="en-US" dirty="0">
              <a:ea typeface="メイリオ" panose="020B0604030504040204" pitchFamily="50" charset="-128"/>
            </a:endParaRPr>
          </a:p>
        </p:txBody>
      </p:sp>
      <p:graphicFrame>
        <p:nvGraphicFramePr>
          <p:cNvPr id="10" name="Group 383"/>
          <p:cNvGraphicFramePr>
            <a:graphicFrameLocks/>
          </p:cNvGraphicFramePr>
          <p:nvPr>
            <p:extLst>
              <p:ext uri="{D42A27DB-BD31-4B8C-83A1-F6EECF244321}">
                <p14:modId xmlns:p14="http://schemas.microsoft.com/office/powerpoint/2010/main" val="599586254"/>
              </p:ext>
            </p:extLst>
          </p:nvPr>
        </p:nvGraphicFramePr>
        <p:xfrm>
          <a:off x="5375992" y="4149008"/>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z</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1"/>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1"/>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1"/>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 name="Rectangle 151"/>
          <p:cNvSpPr>
            <a:spLocks noChangeArrowheads="1"/>
          </p:cNvSpPr>
          <p:nvPr/>
        </p:nvSpPr>
        <p:spPr bwMode="auto">
          <a:xfrm>
            <a:off x="5375992" y="3789005"/>
            <a:ext cx="1441450" cy="360005"/>
          </a:xfrm>
          <a:prstGeom prst="rect">
            <a:avLst/>
          </a:prstGeom>
          <a:noFill/>
          <a:ln w="28575">
            <a:noFill/>
            <a:miter lim="800000"/>
            <a:headEnd/>
            <a:tailEnd/>
          </a:ln>
          <a:effectLst/>
        </p:spPr>
        <p:txBody>
          <a:bodyPr wrap="none" anchor="ctr"/>
          <a:lstStyle/>
          <a:p>
            <a:pPr algn="ctr"/>
            <a:r>
              <a:rPr lang="ja-JP" altLang="en-US" dirty="0">
                <a:ea typeface="メイリオ" pitchFamily="50" charset="-128"/>
              </a:rPr>
              <a:t>真理値表</a:t>
            </a:r>
          </a:p>
        </p:txBody>
      </p:sp>
      <p:sp>
        <p:nvSpPr>
          <p:cNvPr id="12" name="Rectangle 18"/>
          <p:cNvSpPr>
            <a:spLocks noChangeArrowheads="1"/>
          </p:cNvSpPr>
          <p:nvPr/>
        </p:nvSpPr>
        <p:spPr bwMode="auto">
          <a:xfrm>
            <a:off x="2855966" y="4060237"/>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13" name="Rectangle 20"/>
          <p:cNvSpPr>
            <a:spLocks noChangeArrowheads="1"/>
          </p:cNvSpPr>
          <p:nvPr/>
        </p:nvSpPr>
        <p:spPr bwMode="auto">
          <a:xfrm>
            <a:off x="2855966" y="4419012"/>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sp>
        <p:nvSpPr>
          <p:cNvPr id="14" name="Rectangle 21"/>
          <p:cNvSpPr>
            <a:spLocks noChangeArrowheads="1"/>
          </p:cNvSpPr>
          <p:nvPr/>
        </p:nvSpPr>
        <p:spPr bwMode="auto">
          <a:xfrm>
            <a:off x="4475984" y="4239009"/>
            <a:ext cx="360363"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z</a:t>
            </a:r>
          </a:p>
        </p:txBody>
      </p:sp>
      <p:sp>
        <p:nvSpPr>
          <p:cNvPr id="15" name="正方形/長方形 14"/>
          <p:cNvSpPr/>
          <p:nvPr/>
        </p:nvSpPr>
        <p:spPr bwMode="auto">
          <a:xfrm>
            <a:off x="8346025" y="450901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ea typeface="メイリオ" panose="020B0604030504040204" pitchFamily="50" charset="-128"/>
              </a:rPr>
              <a:t>1</a:t>
            </a:r>
            <a:endParaRPr lang="ja-JP" altLang="en-US" dirty="0">
              <a:solidFill>
                <a:schemeClr val="bg1"/>
              </a:solidFill>
              <a:ea typeface="メイリオ" panose="020B0604030504040204" pitchFamily="50" charset="-128"/>
            </a:endParaRPr>
          </a:p>
        </p:txBody>
      </p:sp>
      <p:sp>
        <p:nvSpPr>
          <p:cNvPr id="16" name="正方形/長方形 15"/>
          <p:cNvSpPr/>
          <p:nvPr/>
        </p:nvSpPr>
        <p:spPr bwMode="auto">
          <a:xfrm>
            <a:off x="8346025" y="486901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ea typeface="メイリオ" panose="020B0604030504040204" pitchFamily="50" charset="-128"/>
              </a:rPr>
              <a:t>1</a:t>
            </a:r>
            <a:endParaRPr lang="ja-JP" altLang="en-US" dirty="0">
              <a:solidFill>
                <a:schemeClr val="bg1"/>
              </a:solidFill>
              <a:ea typeface="メイリオ" panose="020B0604030504040204" pitchFamily="50" charset="-128"/>
            </a:endParaRPr>
          </a:p>
        </p:txBody>
      </p:sp>
      <p:sp>
        <p:nvSpPr>
          <p:cNvPr id="17" name="正方形/長方形 16"/>
          <p:cNvSpPr/>
          <p:nvPr/>
        </p:nvSpPr>
        <p:spPr bwMode="auto">
          <a:xfrm>
            <a:off x="8346025" y="522902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ea typeface="メイリオ" panose="020B0604030504040204" pitchFamily="50" charset="-128"/>
              </a:rPr>
              <a:t>1</a:t>
            </a:r>
            <a:endParaRPr lang="ja-JP" altLang="en-US" dirty="0">
              <a:ea typeface="メイリオ" panose="020B0604030504040204" pitchFamily="50" charset="-128"/>
            </a:endParaRPr>
          </a:p>
        </p:txBody>
      </p:sp>
      <p:sp>
        <p:nvSpPr>
          <p:cNvPr id="18" name="正方形/長方形 17"/>
          <p:cNvSpPr/>
          <p:nvPr/>
        </p:nvSpPr>
        <p:spPr bwMode="auto">
          <a:xfrm>
            <a:off x="8346025" y="558902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ea typeface="メイリオ" panose="020B0604030504040204" pitchFamily="50" charset="-128"/>
              </a:rPr>
              <a:t>0</a:t>
            </a:r>
            <a:endParaRPr lang="ja-JP" altLang="en-US" dirty="0">
              <a:ea typeface="メイリオ" panose="020B0604030504040204" pitchFamily="50" charset="-128"/>
            </a:endParaRPr>
          </a:p>
        </p:txBody>
      </p:sp>
      <p:sp>
        <p:nvSpPr>
          <p:cNvPr id="19" name="Rectangle 151"/>
          <p:cNvSpPr>
            <a:spLocks noChangeArrowheads="1"/>
          </p:cNvSpPr>
          <p:nvPr/>
        </p:nvSpPr>
        <p:spPr bwMode="auto">
          <a:xfrm>
            <a:off x="7806019" y="3789005"/>
            <a:ext cx="1441450" cy="360005"/>
          </a:xfrm>
          <a:prstGeom prst="rect">
            <a:avLst/>
          </a:prstGeom>
          <a:noFill/>
          <a:ln w="28575">
            <a:noFill/>
            <a:miter lim="800000"/>
            <a:headEnd/>
            <a:tailEnd/>
          </a:ln>
          <a:effectLst/>
        </p:spPr>
        <p:txBody>
          <a:bodyPr wrap="none" anchor="ctr"/>
          <a:lstStyle/>
          <a:p>
            <a:pPr algn="ctr"/>
            <a:r>
              <a:rPr lang="en-US" altLang="ja-JP" dirty="0">
                <a:ea typeface="メイリオ" pitchFamily="50" charset="-128"/>
              </a:rPr>
              <a:t>LUT</a:t>
            </a:r>
            <a:endParaRPr lang="ja-JP" altLang="en-US" dirty="0">
              <a:ea typeface="メイリオ" pitchFamily="50" charset="-128"/>
            </a:endParaRPr>
          </a:p>
        </p:txBody>
      </p:sp>
      <p:cxnSp>
        <p:nvCxnSpPr>
          <p:cNvPr id="20" name="直線コネクタ 19"/>
          <p:cNvCxnSpPr/>
          <p:nvPr/>
        </p:nvCxnSpPr>
        <p:spPr bwMode="auto">
          <a:xfrm>
            <a:off x="8256024" y="4509012"/>
            <a:ext cx="0" cy="1440016"/>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直線コネクタ 21"/>
          <p:cNvCxnSpPr/>
          <p:nvPr/>
        </p:nvCxnSpPr>
        <p:spPr bwMode="auto">
          <a:xfrm>
            <a:off x="7806020" y="5049018"/>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直線コネクタ 22"/>
          <p:cNvCxnSpPr/>
          <p:nvPr/>
        </p:nvCxnSpPr>
        <p:spPr bwMode="auto">
          <a:xfrm>
            <a:off x="7806020" y="5409022"/>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ectangle 18"/>
          <p:cNvSpPr>
            <a:spLocks noChangeArrowheads="1"/>
          </p:cNvSpPr>
          <p:nvPr/>
        </p:nvSpPr>
        <p:spPr bwMode="auto">
          <a:xfrm>
            <a:off x="7446016" y="4870246"/>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25" name="Rectangle 20"/>
          <p:cNvSpPr>
            <a:spLocks noChangeArrowheads="1"/>
          </p:cNvSpPr>
          <p:nvPr/>
        </p:nvSpPr>
        <p:spPr bwMode="auto">
          <a:xfrm>
            <a:off x="7446016" y="5229021"/>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sp>
        <p:nvSpPr>
          <p:cNvPr id="26" name="Rectangle 21"/>
          <p:cNvSpPr>
            <a:spLocks noChangeArrowheads="1"/>
          </p:cNvSpPr>
          <p:nvPr/>
        </p:nvSpPr>
        <p:spPr bwMode="auto">
          <a:xfrm>
            <a:off x="8346026" y="6309032"/>
            <a:ext cx="360363"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z</a:t>
            </a:r>
          </a:p>
        </p:txBody>
      </p:sp>
      <p:cxnSp>
        <p:nvCxnSpPr>
          <p:cNvPr id="27" name="直線コネクタ 26"/>
          <p:cNvCxnSpPr>
            <a:stCxn id="18" idx="2"/>
          </p:cNvCxnSpPr>
          <p:nvPr/>
        </p:nvCxnSpPr>
        <p:spPr bwMode="auto">
          <a:xfrm>
            <a:off x="8526027" y="5949028"/>
            <a:ext cx="0" cy="360004"/>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78525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LUT </a:t>
            </a:r>
            <a:r>
              <a:rPr kumimoji="1" lang="ja-JP" altLang="en-US" dirty="0"/>
              <a:t>の回路量の見積もり</a:t>
            </a:r>
          </a:p>
        </p:txBody>
      </p:sp>
      <p:sp>
        <p:nvSpPr>
          <p:cNvPr id="3" name="テキスト プレースホルダー 2"/>
          <p:cNvSpPr>
            <a:spLocks noGrp="1"/>
          </p:cNvSpPr>
          <p:nvPr>
            <p:ph type="body" sz="quarter" idx="10"/>
          </p:nvPr>
        </p:nvSpPr>
        <p:spPr>
          <a:xfrm>
            <a:off x="2135956" y="5319021"/>
            <a:ext cx="8280092" cy="1169706"/>
          </a:xfrm>
        </p:spPr>
        <p:txBody>
          <a:bodyPr/>
          <a:lstStyle/>
          <a:p>
            <a:r>
              <a:rPr kumimoji="1" lang="ja-JP" altLang="en-US" dirty="0"/>
              <a:t>４エントリの </a:t>
            </a:r>
            <a:r>
              <a:rPr kumimoji="1" lang="en-US" altLang="ja-JP" dirty="0"/>
              <a:t>LUT </a:t>
            </a:r>
            <a:r>
              <a:rPr kumimoji="1" lang="ja-JP" altLang="en-US" dirty="0"/>
              <a:t>を </a:t>
            </a:r>
            <a:r>
              <a:rPr kumimoji="1" lang="en-US" altLang="ja-JP" dirty="0"/>
              <a:t>D-FF </a:t>
            </a:r>
            <a:r>
              <a:rPr kumimoji="1" lang="ja-JP" altLang="en-US" dirty="0"/>
              <a:t>で構成してみる</a:t>
            </a:r>
            <a:endParaRPr kumimoji="1" lang="en-US" altLang="ja-JP" dirty="0"/>
          </a:p>
          <a:p>
            <a:pPr lvl="1"/>
            <a:r>
              <a:rPr kumimoji="1" lang="ja-JP" altLang="en-US" dirty="0"/>
              <a:t>中身を憶える </a:t>
            </a:r>
            <a:r>
              <a:rPr kumimoji="1" lang="en-US" altLang="ja-JP" dirty="0"/>
              <a:t>4</a:t>
            </a:r>
            <a:r>
              <a:rPr kumimoji="1" lang="ja-JP" altLang="en-US" dirty="0"/>
              <a:t>つの </a:t>
            </a:r>
            <a:r>
              <a:rPr kumimoji="1" lang="en-US" altLang="ja-JP" dirty="0"/>
              <a:t>D-FF </a:t>
            </a:r>
          </a:p>
          <a:p>
            <a:pPr lvl="1"/>
            <a:r>
              <a:rPr kumimoji="1" lang="ja-JP" altLang="en-US" dirty="0"/>
              <a:t>場所を指定して選択する</a:t>
            </a:r>
            <a:r>
              <a:rPr kumimoji="1" lang="en-US" altLang="ja-JP" dirty="0"/>
              <a:t>2</a:t>
            </a:r>
            <a:r>
              <a:rPr kumimoji="1" lang="ja-JP" altLang="en-US" dirty="0"/>
              <a:t>段のマルチプレクサ</a:t>
            </a:r>
          </a:p>
        </p:txBody>
      </p:sp>
      <p:grpSp>
        <p:nvGrpSpPr>
          <p:cNvPr id="4" name="グループ化 3"/>
          <p:cNvGrpSpPr/>
          <p:nvPr/>
        </p:nvGrpSpPr>
        <p:grpSpPr>
          <a:xfrm>
            <a:off x="5825998" y="1538979"/>
            <a:ext cx="990011" cy="720008"/>
            <a:chOff x="6369707" y="1718772"/>
            <a:chExt cx="1441450" cy="1085855"/>
          </a:xfrm>
        </p:grpSpPr>
        <p:sp>
          <p:nvSpPr>
            <p:cNvPr id="5"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6"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7" name="Rectangle 7"/>
            <p:cNvSpPr>
              <a:spLocks noChangeArrowheads="1"/>
            </p:cNvSpPr>
            <p:nvPr/>
          </p:nvSpPr>
          <p:spPr bwMode="auto">
            <a:xfrm>
              <a:off x="6893871" y="1990236"/>
              <a:ext cx="360361" cy="360363"/>
            </a:xfrm>
            <a:prstGeom prst="rect">
              <a:avLst/>
            </a:prstGeom>
            <a:noFill/>
            <a:ln w="12700" algn="ctr">
              <a:noFill/>
              <a:miter lim="800000"/>
              <a:headEnd/>
              <a:tailEnd/>
            </a:ln>
            <a:effectLst/>
          </p:spPr>
          <p:txBody>
            <a:bodyPr wrap="none" lIns="90000" tIns="46800" rIns="90000" bIns="46800" anchor="ctr"/>
            <a:lstStyle/>
            <a:p>
              <a:pPr algn="ctr"/>
              <a:r>
                <a:rPr lang="en-US" altLang="ja-JP" sz="2400" dirty="0">
                  <a:solidFill>
                    <a:schemeClr val="accent5"/>
                  </a:solidFill>
                </a:rPr>
                <a:t>1</a:t>
              </a:r>
            </a:p>
          </p:txBody>
        </p:sp>
        <p:sp>
          <p:nvSpPr>
            <p:cNvPr id="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1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sp>
        <p:nvSpPr>
          <p:cNvPr id="38" name="Line 9"/>
          <p:cNvSpPr>
            <a:spLocks noChangeShapeType="1"/>
          </p:cNvSpPr>
          <p:nvPr/>
        </p:nvSpPr>
        <p:spPr bwMode="auto">
          <a:xfrm>
            <a:off x="7626018" y="2708992"/>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39" name="Line 9"/>
          <p:cNvSpPr>
            <a:spLocks noChangeShapeType="1"/>
          </p:cNvSpPr>
          <p:nvPr/>
        </p:nvSpPr>
        <p:spPr bwMode="auto">
          <a:xfrm>
            <a:off x="7626018" y="3609002"/>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0" name="フローチャート: 手作業 39"/>
          <p:cNvSpPr/>
          <p:nvPr/>
        </p:nvSpPr>
        <p:spPr bwMode="auto">
          <a:xfrm rot="16200000">
            <a:off x="7491016" y="3023996"/>
            <a:ext cx="1260014" cy="270003"/>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sp>
        <p:nvSpPr>
          <p:cNvPr id="41" name="Freeform 10"/>
          <p:cNvSpPr>
            <a:spLocks/>
          </p:cNvSpPr>
          <p:nvPr/>
        </p:nvSpPr>
        <p:spPr bwMode="auto">
          <a:xfrm flipH="1" flipV="1">
            <a:off x="7356013" y="2168986"/>
            <a:ext cx="270003" cy="54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cs typeface="Times New Roman" pitchFamily="18" charset="0"/>
            </a:endParaRPr>
          </a:p>
        </p:txBody>
      </p:sp>
      <p:sp>
        <p:nvSpPr>
          <p:cNvPr id="42" name="Freeform 10"/>
          <p:cNvSpPr>
            <a:spLocks/>
          </p:cNvSpPr>
          <p:nvPr/>
        </p:nvSpPr>
        <p:spPr bwMode="auto">
          <a:xfrm flipH="1">
            <a:off x="7356013" y="3609003"/>
            <a:ext cx="270003"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cs typeface="Times New Roman" pitchFamily="18" charset="0"/>
            </a:endParaRPr>
          </a:p>
        </p:txBody>
      </p:sp>
      <p:sp>
        <p:nvSpPr>
          <p:cNvPr id="43" name="Line 9"/>
          <p:cNvSpPr>
            <a:spLocks noChangeShapeType="1"/>
          </p:cNvSpPr>
          <p:nvPr/>
        </p:nvSpPr>
        <p:spPr bwMode="auto">
          <a:xfrm>
            <a:off x="8256025" y="3158997"/>
            <a:ext cx="450005" cy="0"/>
          </a:xfrm>
          <a:prstGeom prst="line">
            <a:avLst/>
          </a:prstGeom>
          <a:noFill/>
          <a:ln w="9525">
            <a:solidFill>
              <a:schemeClr val="tx1"/>
            </a:solidFill>
            <a:round/>
            <a:headEnd/>
            <a:tailEnd type="triangle" w="med" len="lg"/>
          </a:ln>
          <a:effectLst/>
        </p:spPr>
        <p:txBody>
          <a:bodyPr wrap="none" lIns="90000" tIns="46800" rIns="90000" bIns="46800" anchor="ctr"/>
          <a:lstStyle/>
          <a:p>
            <a:endParaRPr lang="ja-JP" altLang="en-US" sz="1200"/>
          </a:p>
        </p:txBody>
      </p:sp>
      <p:sp>
        <p:nvSpPr>
          <p:cNvPr id="44" name="Line 9"/>
          <p:cNvSpPr>
            <a:spLocks noChangeShapeType="1"/>
          </p:cNvSpPr>
          <p:nvPr/>
        </p:nvSpPr>
        <p:spPr bwMode="auto">
          <a:xfrm>
            <a:off x="6816008" y="1718981"/>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6" name="Line 9"/>
          <p:cNvSpPr>
            <a:spLocks noChangeShapeType="1"/>
          </p:cNvSpPr>
          <p:nvPr/>
        </p:nvSpPr>
        <p:spPr bwMode="auto">
          <a:xfrm>
            <a:off x="6816008" y="3519001"/>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7" name="Line 9"/>
          <p:cNvSpPr>
            <a:spLocks noChangeShapeType="1"/>
          </p:cNvSpPr>
          <p:nvPr/>
        </p:nvSpPr>
        <p:spPr bwMode="auto">
          <a:xfrm>
            <a:off x="6816008" y="4419011"/>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8" name="Line 9"/>
          <p:cNvSpPr>
            <a:spLocks noChangeShapeType="1"/>
          </p:cNvSpPr>
          <p:nvPr/>
        </p:nvSpPr>
        <p:spPr bwMode="auto">
          <a:xfrm>
            <a:off x="6816008" y="2618991"/>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aphicFrame>
        <p:nvGraphicFramePr>
          <p:cNvPr id="65" name="Group 383"/>
          <p:cNvGraphicFramePr>
            <a:graphicFrameLocks/>
          </p:cNvGraphicFramePr>
          <p:nvPr>
            <p:extLst>
              <p:ext uri="{D42A27DB-BD31-4B8C-83A1-F6EECF244321}">
                <p14:modId xmlns:p14="http://schemas.microsoft.com/office/powerpoint/2010/main" val="3555636134"/>
              </p:ext>
            </p:extLst>
          </p:nvPr>
        </p:nvGraphicFramePr>
        <p:xfrm>
          <a:off x="3035966" y="1988984"/>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z</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5"/>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5"/>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5"/>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5"/>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cxnSp>
        <p:nvCxnSpPr>
          <p:cNvPr id="66" name="直線コネクタ 65"/>
          <p:cNvCxnSpPr/>
          <p:nvPr/>
        </p:nvCxnSpPr>
        <p:spPr bwMode="auto">
          <a:xfrm>
            <a:off x="7266013" y="1538979"/>
            <a:ext cx="0" cy="198002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7" name="直線コネクタ 66"/>
          <p:cNvCxnSpPr/>
          <p:nvPr/>
        </p:nvCxnSpPr>
        <p:spPr bwMode="auto">
          <a:xfrm flipH="1">
            <a:off x="8166024" y="1538979"/>
            <a:ext cx="1" cy="108001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8" name="Rectangle 18"/>
          <p:cNvSpPr>
            <a:spLocks noChangeArrowheads="1"/>
          </p:cNvSpPr>
          <p:nvPr/>
        </p:nvSpPr>
        <p:spPr bwMode="auto">
          <a:xfrm>
            <a:off x="7986023" y="1088975"/>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69" name="Rectangle 20"/>
          <p:cNvSpPr>
            <a:spLocks noChangeArrowheads="1"/>
          </p:cNvSpPr>
          <p:nvPr/>
        </p:nvSpPr>
        <p:spPr bwMode="auto">
          <a:xfrm>
            <a:off x="7086012" y="1088975"/>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sp>
        <p:nvSpPr>
          <p:cNvPr id="37" name="フローチャート: 手作業 36"/>
          <p:cNvSpPr/>
          <p:nvPr/>
        </p:nvSpPr>
        <p:spPr bwMode="auto">
          <a:xfrm rot="16200000">
            <a:off x="6591006" y="3834005"/>
            <a:ext cx="1260014" cy="270003"/>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sp>
        <p:nvSpPr>
          <p:cNvPr id="36" name="フローチャート: 手作業 35"/>
          <p:cNvSpPr/>
          <p:nvPr/>
        </p:nvSpPr>
        <p:spPr bwMode="auto">
          <a:xfrm rot="16200000">
            <a:off x="6591006" y="2033985"/>
            <a:ext cx="1260014" cy="270003"/>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cxnSp>
        <p:nvCxnSpPr>
          <p:cNvPr id="73" name="直線コネクタ 72"/>
          <p:cNvCxnSpPr/>
          <p:nvPr/>
        </p:nvCxnSpPr>
        <p:spPr bwMode="auto">
          <a:xfrm>
            <a:off x="7266013" y="1448979"/>
            <a:ext cx="0" cy="270003"/>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76" name="Rectangle 20"/>
          <p:cNvSpPr>
            <a:spLocks noChangeArrowheads="1"/>
          </p:cNvSpPr>
          <p:nvPr/>
        </p:nvSpPr>
        <p:spPr bwMode="auto">
          <a:xfrm>
            <a:off x="8706031" y="2978996"/>
            <a:ext cx="360363" cy="360363"/>
          </a:xfrm>
          <a:prstGeom prst="rect">
            <a:avLst/>
          </a:prstGeom>
          <a:noFill/>
          <a:ln w="28575">
            <a:noFill/>
            <a:miter lim="800000"/>
            <a:headEnd/>
            <a:tailEnd/>
          </a:ln>
          <a:effectLst/>
        </p:spPr>
        <p:txBody>
          <a:bodyPr wrap="none" anchor="ctr"/>
          <a:lstStyle/>
          <a:p>
            <a:pPr algn="ctr"/>
            <a:r>
              <a:rPr lang="ja-JP" altLang="en-US" sz="2000" i="1" dirty="0" err="1">
                <a:ea typeface="MeiryoKe_PGothic" pitchFamily="50" charset="-128"/>
              </a:rPr>
              <a:t>ｚ</a:t>
            </a:r>
            <a:endParaRPr lang="en-US" altLang="ja-JP" sz="2000" i="1" dirty="0">
              <a:ea typeface="MeiryoKe_PGothic" pitchFamily="50" charset="-128"/>
            </a:endParaRPr>
          </a:p>
        </p:txBody>
      </p:sp>
      <p:sp>
        <p:nvSpPr>
          <p:cNvPr id="77" name="Rectangle 20"/>
          <p:cNvSpPr>
            <a:spLocks noChangeArrowheads="1"/>
          </p:cNvSpPr>
          <p:nvPr/>
        </p:nvSpPr>
        <p:spPr bwMode="auto">
          <a:xfrm>
            <a:off x="5285992" y="1178976"/>
            <a:ext cx="369525" cy="360363"/>
          </a:xfrm>
          <a:prstGeom prst="rect">
            <a:avLst/>
          </a:prstGeom>
          <a:noFill/>
          <a:ln w="28575">
            <a:noFill/>
            <a:miter lim="800000"/>
            <a:headEnd/>
            <a:tailEnd/>
          </a:ln>
          <a:effectLst/>
        </p:spPr>
        <p:txBody>
          <a:bodyPr wrap="none" anchor="ctr"/>
          <a:lstStyle/>
          <a:p>
            <a:pPr algn="ctr"/>
            <a:r>
              <a:rPr lang="ja-JP" altLang="en-US" sz="2000" dirty="0">
                <a:ea typeface="MeiryoKe_PGothic" pitchFamily="50" charset="-128"/>
              </a:rPr>
              <a:t>００</a:t>
            </a:r>
            <a:endParaRPr lang="en-US" altLang="ja-JP" sz="2000" dirty="0">
              <a:ea typeface="MeiryoKe_PGothic" pitchFamily="50" charset="-128"/>
            </a:endParaRPr>
          </a:p>
        </p:txBody>
      </p:sp>
      <p:sp>
        <p:nvSpPr>
          <p:cNvPr id="78" name="Rectangle 20"/>
          <p:cNvSpPr>
            <a:spLocks noChangeArrowheads="1"/>
          </p:cNvSpPr>
          <p:nvPr/>
        </p:nvSpPr>
        <p:spPr bwMode="auto">
          <a:xfrm>
            <a:off x="5285992" y="2168987"/>
            <a:ext cx="369525" cy="360363"/>
          </a:xfrm>
          <a:prstGeom prst="rect">
            <a:avLst/>
          </a:prstGeom>
          <a:noFill/>
          <a:ln w="28575">
            <a:noFill/>
            <a:miter lim="800000"/>
            <a:headEnd/>
            <a:tailEnd/>
          </a:ln>
          <a:effectLst/>
        </p:spPr>
        <p:txBody>
          <a:bodyPr wrap="none" anchor="ctr"/>
          <a:lstStyle/>
          <a:p>
            <a:pPr algn="ctr"/>
            <a:r>
              <a:rPr lang="ja-JP" altLang="en-US" sz="2000" dirty="0">
                <a:ea typeface="MeiryoKe_PGothic" pitchFamily="50" charset="-128"/>
              </a:rPr>
              <a:t>０１</a:t>
            </a:r>
            <a:endParaRPr lang="en-US" altLang="ja-JP" sz="2000" dirty="0">
              <a:ea typeface="MeiryoKe_PGothic" pitchFamily="50" charset="-128"/>
            </a:endParaRPr>
          </a:p>
        </p:txBody>
      </p:sp>
      <p:sp>
        <p:nvSpPr>
          <p:cNvPr id="79" name="Rectangle 20"/>
          <p:cNvSpPr>
            <a:spLocks noChangeArrowheads="1"/>
          </p:cNvSpPr>
          <p:nvPr/>
        </p:nvSpPr>
        <p:spPr bwMode="auto">
          <a:xfrm>
            <a:off x="5285992" y="3068997"/>
            <a:ext cx="369525" cy="360363"/>
          </a:xfrm>
          <a:prstGeom prst="rect">
            <a:avLst/>
          </a:prstGeom>
          <a:noFill/>
          <a:ln w="28575">
            <a:noFill/>
            <a:miter lim="800000"/>
            <a:headEnd/>
            <a:tailEnd/>
          </a:ln>
          <a:effectLst/>
        </p:spPr>
        <p:txBody>
          <a:bodyPr wrap="none" anchor="ctr"/>
          <a:lstStyle/>
          <a:p>
            <a:pPr algn="ctr"/>
            <a:r>
              <a:rPr lang="ja-JP" altLang="en-US" sz="2000" dirty="0">
                <a:ea typeface="MeiryoKe_PGothic" pitchFamily="50" charset="-128"/>
              </a:rPr>
              <a:t>１</a:t>
            </a:r>
            <a:r>
              <a:rPr lang="en-US" altLang="ja-JP" sz="2000" dirty="0">
                <a:ea typeface="MeiryoKe_PGothic" pitchFamily="50" charset="-128"/>
              </a:rPr>
              <a:t>0</a:t>
            </a:r>
          </a:p>
        </p:txBody>
      </p:sp>
      <p:sp>
        <p:nvSpPr>
          <p:cNvPr id="80" name="Rectangle 20"/>
          <p:cNvSpPr>
            <a:spLocks noChangeArrowheads="1"/>
          </p:cNvSpPr>
          <p:nvPr/>
        </p:nvSpPr>
        <p:spPr bwMode="auto">
          <a:xfrm>
            <a:off x="5285992" y="3969007"/>
            <a:ext cx="369525" cy="360363"/>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11</a:t>
            </a:r>
          </a:p>
        </p:txBody>
      </p:sp>
      <p:sp>
        <p:nvSpPr>
          <p:cNvPr id="81" name="Rectangle 20"/>
          <p:cNvSpPr>
            <a:spLocks noChangeArrowheads="1"/>
          </p:cNvSpPr>
          <p:nvPr/>
        </p:nvSpPr>
        <p:spPr bwMode="auto">
          <a:xfrm>
            <a:off x="5285992" y="908973"/>
            <a:ext cx="369525"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ab</a:t>
            </a:r>
          </a:p>
        </p:txBody>
      </p:sp>
      <p:cxnSp>
        <p:nvCxnSpPr>
          <p:cNvPr id="83" name="直線コネクタ 82"/>
          <p:cNvCxnSpPr/>
          <p:nvPr/>
        </p:nvCxnSpPr>
        <p:spPr bwMode="auto">
          <a:xfrm>
            <a:off x="5465993" y="908973"/>
            <a:ext cx="0" cy="3690041"/>
          </a:xfrm>
          <a:prstGeom prst="line">
            <a:avLst/>
          </a:prstGeom>
          <a:noFill/>
          <a:ln w="9525" cap="flat" cmpd="sng" algn="ctr">
            <a:solidFill>
              <a:schemeClr val="bg1">
                <a:lumMod val="65000"/>
              </a:schemeClr>
            </a:solidFill>
            <a:prstDash val="solid"/>
            <a:round/>
            <a:headEnd type="none" w="med" len="med"/>
            <a:tailEnd type="none" w="med" len="med"/>
          </a:ln>
          <a:effectLst/>
        </p:spPr>
      </p:cxnSp>
      <p:grpSp>
        <p:nvGrpSpPr>
          <p:cNvPr id="85" name="グループ化 84"/>
          <p:cNvGrpSpPr/>
          <p:nvPr/>
        </p:nvGrpSpPr>
        <p:grpSpPr>
          <a:xfrm>
            <a:off x="5825998" y="2438989"/>
            <a:ext cx="990011" cy="720008"/>
            <a:chOff x="6369707" y="1718772"/>
            <a:chExt cx="1441450" cy="1085855"/>
          </a:xfrm>
        </p:grpSpPr>
        <p:sp>
          <p:nvSpPr>
            <p:cNvPr id="86"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87"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88" name="Rectangle 7"/>
            <p:cNvSpPr>
              <a:spLocks noChangeArrowheads="1"/>
            </p:cNvSpPr>
            <p:nvPr/>
          </p:nvSpPr>
          <p:spPr bwMode="auto">
            <a:xfrm>
              <a:off x="6893871" y="1990236"/>
              <a:ext cx="360361" cy="360363"/>
            </a:xfrm>
            <a:prstGeom prst="rect">
              <a:avLst/>
            </a:prstGeom>
            <a:noFill/>
            <a:ln w="12700" algn="ctr">
              <a:noFill/>
              <a:miter lim="800000"/>
              <a:headEnd/>
              <a:tailEnd/>
            </a:ln>
            <a:effectLst/>
          </p:spPr>
          <p:txBody>
            <a:bodyPr wrap="none" lIns="90000" tIns="46800" rIns="90000" bIns="46800" anchor="ctr"/>
            <a:lstStyle/>
            <a:p>
              <a:pPr algn="ctr"/>
              <a:r>
                <a:rPr lang="en-US" altLang="ja-JP" sz="2400" dirty="0">
                  <a:solidFill>
                    <a:schemeClr val="accent5"/>
                  </a:solidFill>
                </a:rPr>
                <a:t>1</a:t>
              </a:r>
            </a:p>
          </p:txBody>
        </p:sp>
        <p:sp>
          <p:nvSpPr>
            <p:cNvPr id="8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9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grpSp>
        <p:nvGrpSpPr>
          <p:cNvPr id="91" name="グループ化 90"/>
          <p:cNvGrpSpPr/>
          <p:nvPr/>
        </p:nvGrpSpPr>
        <p:grpSpPr>
          <a:xfrm>
            <a:off x="5825998" y="3338999"/>
            <a:ext cx="990011" cy="720008"/>
            <a:chOff x="6369707" y="1718772"/>
            <a:chExt cx="1441450" cy="1085855"/>
          </a:xfrm>
        </p:grpSpPr>
        <p:sp>
          <p:nvSpPr>
            <p:cNvPr id="92"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93"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94" name="Rectangle 7"/>
            <p:cNvSpPr>
              <a:spLocks noChangeArrowheads="1"/>
            </p:cNvSpPr>
            <p:nvPr/>
          </p:nvSpPr>
          <p:spPr bwMode="auto">
            <a:xfrm>
              <a:off x="6893871" y="1990236"/>
              <a:ext cx="360361" cy="360363"/>
            </a:xfrm>
            <a:prstGeom prst="rect">
              <a:avLst/>
            </a:prstGeom>
            <a:noFill/>
            <a:ln w="12700" algn="ctr">
              <a:noFill/>
              <a:miter lim="800000"/>
              <a:headEnd/>
              <a:tailEnd/>
            </a:ln>
            <a:effectLst/>
          </p:spPr>
          <p:txBody>
            <a:bodyPr wrap="none" lIns="90000" tIns="46800" rIns="90000" bIns="46800" anchor="ctr"/>
            <a:lstStyle/>
            <a:p>
              <a:pPr algn="ctr"/>
              <a:r>
                <a:rPr lang="en-US" altLang="ja-JP" sz="2400" dirty="0">
                  <a:solidFill>
                    <a:schemeClr val="accent5"/>
                  </a:solidFill>
                </a:rPr>
                <a:t>1</a:t>
              </a:r>
            </a:p>
          </p:txBody>
        </p:sp>
        <p:sp>
          <p:nvSpPr>
            <p:cNvPr id="95"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96"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grpSp>
        <p:nvGrpSpPr>
          <p:cNvPr id="97" name="グループ化 96"/>
          <p:cNvGrpSpPr/>
          <p:nvPr/>
        </p:nvGrpSpPr>
        <p:grpSpPr>
          <a:xfrm>
            <a:off x="5825998" y="4239009"/>
            <a:ext cx="990011" cy="720008"/>
            <a:chOff x="6369707" y="1718772"/>
            <a:chExt cx="1441450" cy="1085855"/>
          </a:xfrm>
        </p:grpSpPr>
        <p:sp>
          <p:nvSpPr>
            <p:cNvPr id="98"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99"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100" name="Rectangle 7"/>
            <p:cNvSpPr>
              <a:spLocks noChangeArrowheads="1"/>
            </p:cNvSpPr>
            <p:nvPr/>
          </p:nvSpPr>
          <p:spPr bwMode="auto">
            <a:xfrm>
              <a:off x="6893871" y="1990236"/>
              <a:ext cx="360361" cy="360363"/>
            </a:xfrm>
            <a:prstGeom prst="rect">
              <a:avLst/>
            </a:prstGeom>
            <a:noFill/>
            <a:ln w="12700" algn="ctr">
              <a:noFill/>
              <a:miter lim="800000"/>
              <a:headEnd/>
              <a:tailEnd/>
            </a:ln>
            <a:effectLst/>
          </p:spPr>
          <p:txBody>
            <a:bodyPr wrap="none" lIns="90000" tIns="46800" rIns="90000" bIns="46800" anchor="ctr"/>
            <a:lstStyle/>
            <a:p>
              <a:pPr algn="ctr"/>
              <a:r>
                <a:rPr lang="en-US" altLang="ja-JP" sz="2400" dirty="0">
                  <a:solidFill>
                    <a:schemeClr val="accent5"/>
                  </a:solidFill>
                </a:rPr>
                <a:t>0</a:t>
              </a:r>
            </a:p>
          </p:txBody>
        </p:sp>
        <p:sp>
          <p:nvSpPr>
            <p:cNvPr id="101"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102"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sp>
        <p:nvSpPr>
          <p:cNvPr id="103" name="正方形/長方形 102"/>
          <p:cNvSpPr/>
          <p:nvPr/>
        </p:nvSpPr>
        <p:spPr bwMode="auto">
          <a:xfrm>
            <a:off x="3125968" y="1628980"/>
            <a:ext cx="1350015"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NAND</a:t>
            </a:r>
            <a:endParaRPr lang="ja-JP" altLang="en-US" dirty="0">
              <a:ea typeface="メイリオ" panose="020B0604030504040204" pitchFamily="50" charset="-128"/>
            </a:endParaRPr>
          </a:p>
        </p:txBody>
      </p:sp>
    </p:spTree>
    <p:extLst>
      <p:ext uri="{BB962C8B-B14F-4D97-AF65-F5344CB8AC3E}">
        <p14:creationId xmlns:p14="http://schemas.microsoft.com/office/powerpoint/2010/main" val="968437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D-FF</a:t>
            </a:r>
            <a:r>
              <a:rPr kumimoji="1" lang="ja-JP" altLang="en-US" dirty="0"/>
              <a:t>：トランジスタ </a:t>
            </a:r>
            <a:r>
              <a:rPr kumimoji="1" lang="en-US" altLang="ja-JP" dirty="0"/>
              <a:t>16</a:t>
            </a:r>
            <a:r>
              <a:rPr kumimoji="1" lang="ja-JP" altLang="en-US" dirty="0"/>
              <a:t>個</a:t>
            </a:r>
          </a:p>
        </p:txBody>
      </p:sp>
      <p:sp>
        <p:nvSpPr>
          <p:cNvPr id="4" name="Freeform 44"/>
          <p:cNvSpPr>
            <a:spLocks/>
          </p:cNvSpPr>
          <p:nvPr/>
        </p:nvSpPr>
        <p:spPr bwMode="auto">
          <a:xfrm>
            <a:off x="4224897" y="2707917"/>
            <a:ext cx="1600588"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5" name="Freeform 43"/>
          <p:cNvSpPr>
            <a:spLocks/>
          </p:cNvSpPr>
          <p:nvPr/>
        </p:nvSpPr>
        <p:spPr bwMode="auto">
          <a:xfrm>
            <a:off x="6384921" y="2707916"/>
            <a:ext cx="1601153" cy="721442"/>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6" name="Picture 30" descr="NOT"/>
          <p:cNvPicPr>
            <a:picLocks noChangeAspect="1" noChangeArrowheads="1"/>
          </p:cNvPicPr>
          <p:nvPr/>
        </p:nvPicPr>
        <p:blipFill>
          <a:blip r:embed="rId2" cstate="print"/>
          <a:srcRect/>
          <a:stretch>
            <a:fillRect/>
          </a:stretch>
        </p:blipFill>
        <p:spPr bwMode="auto">
          <a:xfrm flipH="1">
            <a:off x="4745985" y="2347555"/>
            <a:ext cx="717550" cy="720725"/>
          </a:xfrm>
          <a:prstGeom prst="rect">
            <a:avLst/>
          </a:prstGeom>
          <a:noFill/>
        </p:spPr>
      </p:pic>
      <p:pic>
        <p:nvPicPr>
          <p:cNvPr id="7" name="Picture 31" descr="NOT"/>
          <p:cNvPicPr>
            <a:picLocks noChangeAspect="1" noChangeArrowheads="1"/>
          </p:cNvPicPr>
          <p:nvPr/>
        </p:nvPicPr>
        <p:blipFill>
          <a:blip r:embed="rId2" cstate="print"/>
          <a:srcRect/>
          <a:stretch>
            <a:fillRect/>
          </a:stretch>
        </p:blipFill>
        <p:spPr bwMode="auto">
          <a:xfrm>
            <a:off x="4745985" y="3068280"/>
            <a:ext cx="717550" cy="720725"/>
          </a:xfrm>
          <a:prstGeom prst="rect">
            <a:avLst/>
          </a:prstGeom>
          <a:noFill/>
        </p:spPr>
      </p:pic>
      <p:pic>
        <p:nvPicPr>
          <p:cNvPr id="8" name="Picture 32" descr="NOT"/>
          <p:cNvPicPr>
            <a:picLocks noChangeAspect="1" noChangeArrowheads="1"/>
          </p:cNvPicPr>
          <p:nvPr/>
        </p:nvPicPr>
        <p:blipFill>
          <a:blip r:embed="rId2" cstate="print"/>
          <a:srcRect/>
          <a:stretch>
            <a:fillRect/>
          </a:stretch>
        </p:blipFill>
        <p:spPr bwMode="auto">
          <a:xfrm flipH="1">
            <a:off x="6906573" y="2347555"/>
            <a:ext cx="717550" cy="720725"/>
          </a:xfrm>
          <a:prstGeom prst="rect">
            <a:avLst/>
          </a:prstGeom>
          <a:noFill/>
        </p:spPr>
      </p:pic>
      <p:pic>
        <p:nvPicPr>
          <p:cNvPr id="9" name="Picture 33" descr="NOT"/>
          <p:cNvPicPr>
            <a:picLocks noChangeAspect="1" noChangeArrowheads="1"/>
          </p:cNvPicPr>
          <p:nvPr/>
        </p:nvPicPr>
        <p:blipFill>
          <a:blip r:embed="rId2" cstate="print"/>
          <a:srcRect/>
          <a:stretch>
            <a:fillRect/>
          </a:stretch>
        </p:blipFill>
        <p:spPr bwMode="auto">
          <a:xfrm>
            <a:off x="6906573" y="3068280"/>
            <a:ext cx="717550" cy="720725"/>
          </a:xfrm>
          <a:prstGeom prst="rect">
            <a:avLst/>
          </a:prstGeom>
          <a:noFill/>
        </p:spPr>
      </p:pic>
      <p:sp>
        <p:nvSpPr>
          <p:cNvPr id="10" name="Line 45"/>
          <p:cNvSpPr>
            <a:spLocks noChangeShapeType="1"/>
          </p:cNvSpPr>
          <p:nvPr/>
        </p:nvSpPr>
        <p:spPr bwMode="auto">
          <a:xfrm>
            <a:off x="5825486" y="3428640"/>
            <a:ext cx="739437" cy="718"/>
          </a:xfrm>
          <a:prstGeom prst="line">
            <a:avLst/>
          </a:prstGeom>
          <a:noFill/>
          <a:ln w="9525">
            <a:solidFill>
              <a:schemeClr val="tx1"/>
            </a:solidFill>
            <a:round/>
            <a:headEnd type="oval" w="sm" len="sm"/>
            <a:tailEnd type="triangle" w="med" len="med"/>
          </a:ln>
          <a:effectLst/>
        </p:spPr>
        <p:txBody>
          <a:bodyPr wrap="none" lIns="90000" tIns="46800" rIns="90000" bIns="46800" anchor="ctr"/>
          <a:lstStyle/>
          <a:p>
            <a:endParaRPr lang="ja-JP" altLang="en-US"/>
          </a:p>
        </p:txBody>
      </p:sp>
      <p:sp>
        <p:nvSpPr>
          <p:cNvPr id="11" name="Line 46"/>
          <p:cNvSpPr>
            <a:spLocks noChangeShapeType="1"/>
          </p:cNvSpPr>
          <p:nvPr/>
        </p:nvSpPr>
        <p:spPr bwMode="auto">
          <a:xfrm>
            <a:off x="3666486" y="3428640"/>
            <a:ext cx="738413" cy="718"/>
          </a:xfrm>
          <a:prstGeom prst="line">
            <a:avLst/>
          </a:prstGeom>
          <a:noFill/>
          <a:ln w="9525">
            <a:solidFill>
              <a:schemeClr val="tx1"/>
            </a:solidFill>
            <a:round/>
            <a:headEnd type="none" w="sm" len="sm"/>
            <a:tailEnd type="triangle" w="med" len="med"/>
          </a:ln>
          <a:effectLst/>
        </p:spPr>
        <p:txBody>
          <a:bodyPr wrap="none" lIns="90000" tIns="46800" rIns="90000" bIns="46800" anchor="ctr"/>
          <a:lstStyle/>
          <a:p>
            <a:endParaRPr lang="ja-JP" altLang="en-US"/>
          </a:p>
        </p:txBody>
      </p:sp>
      <p:sp>
        <p:nvSpPr>
          <p:cNvPr id="12" name="Line 56"/>
          <p:cNvSpPr>
            <a:spLocks noChangeShapeType="1"/>
          </p:cNvSpPr>
          <p:nvPr/>
        </p:nvSpPr>
        <p:spPr bwMode="auto">
          <a:xfrm>
            <a:off x="7986073" y="3428641"/>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13" name="Rectangle 58"/>
          <p:cNvSpPr>
            <a:spLocks noChangeArrowheads="1"/>
          </p:cNvSpPr>
          <p:nvPr/>
        </p:nvSpPr>
        <p:spPr bwMode="auto">
          <a:xfrm>
            <a:off x="3306123" y="3249254"/>
            <a:ext cx="360362"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14" name="Rectangle 59"/>
          <p:cNvSpPr>
            <a:spLocks noChangeArrowheads="1"/>
          </p:cNvSpPr>
          <p:nvPr/>
        </p:nvSpPr>
        <p:spPr bwMode="auto">
          <a:xfrm>
            <a:off x="8346436" y="3249254"/>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15" name="フローチャート: 手作業 14"/>
          <p:cNvSpPr/>
          <p:nvPr/>
        </p:nvSpPr>
        <p:spPr bwMode="auto">
          <a:xfrm rot="16200000">
            <a:off x="4269898" y="3294356"/>
            <a:ext cx="450005"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16" name="Freeform 10"/>
          <p:cNvSpPr>
            <a:spLocks/>
          </p:cNvSpPr>
          <p:nvPr/>
        </p:nvSpPr>
        <p:spPr bwMode="auto">
          <a:xfrm>
            <a:off x="4224896" y="3069354"/>
            <a:ext cx="180002" cy="18000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7" name="フローチャート: 手作業 16"/>
          <p:cNvSpPr/>
          <p:nvPr/>
        </p:nvSpPr>
        <p:spPr bwMode="auto">
          <a:xfrm rot="16200000">
            <a:off x="6429922" y="3294356"/>
            <a:ext cx="450005"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18" name="Freeform 10"/>
          <p:cNvSpPr>
            <a:spLocks/>
          </p:cNvSpPr>
          <p:nvPr/>
        </p:nvSpPr>
        <p:spPr bwMode="auto">
          <a:xfrm>
            <a:off x="6384920" y="2979353"/>
            <a:ext cx="180002"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grpSp>
        <p:nvGrpSpPr>
          <p:cNvPr id="48" name="グループ化 47"/>
          <p:cNvGrpSpPr/>
          <p:nvPr/>
        </p:nvGrpSpPr>
        <p:grpSpPr>
          <a:xfrm>
            <a:off x="4674902" y="5424879"/>
            <a:ext cx="1080010" cy="1170013"/>
            <a:chOff x="1871970" y="2562739"/>
            <a:chExt cx="1890019" cy="2559383"/>
          </a:xfrm>
        </p:grpSpPr>
        <p:grpSp>
          <p:nvGrpSpPr>
            <p:cNvPr id="21" name="グループ化 20"/>
            <p:cNvGrpSpPr/>
            <p:nvPr/>
          </p:nvGrpSpPr>
          <p:grpSpPr>
            <a:xfrm>
              <a:off x="2996967" y="4942097"/>
              <a:ext cx="360048" cy="180025"/>
              <a:chOff x="1736601" y="2511982"/>
              <a:chExt cx="360048" cy="180025"/>
            </a:xfrm>
          </p:grpSpPr>
          <p:cxnSp>
            <p:nvCxnSpPr>
              <p:cNvPr id="22" name="直線コネクタ 21"/>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5" name="グループ化 24"/>
            <p:cNvGrpSpPr/>
            <p:nvPr/>
          </p:nvGrpSpPr>
          <p:grpSpPr>
            <a:xfrm>
              <a:off x="2861981" y="4059007"/>
              <a:ext cx="270036" cy="360048"/>
              <a:chOff x="6282228" y="1988808"/>
              <a:chExt cx="270036" cy="360048"/>
            </a:xfrm>
          </p:grpSpPr>
          <p:cxnSp>
            <p:nvCxnSpPr>
              <p:cNvPr id="26" name="直線コネクタ 2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0" name="直線コネクタ 29"/>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33"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4"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35" name="グループ化 34"/>
            <p:cNvGrpSpPr/>
            <p:nvPr/>
          </p:nvGrpSpPr>
          <p:grpSpPr>
            <a:xfrm>
              <a:off x="2771980" y="2978995"/>
              <a:ext cx="360048" cy="360048"/>
              <a:chOff x="3131808" y="1628760"/>
              <a:chExt cx="360048" cy="360048"/>
            </a:xfrm>
          </p:grpSpPr>
          <p:cxnSp>
            <p:nvCxnSpPr>
              <p:cNvPr id="36" name="直線コネクタ 3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40" name="円/楕円 3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42" name="直線コネクタ 41"/>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76" name="グループ化 75"/>
          <p:cNvGrpSpPr/>
          <p:nvPr/>
        </p:nvGrpSpPr>
        <p:grpSpPr>
          <a:xfrm rot="10800000">
            <a:off x="4674902" y="4059366"/>
            <a:ext cx="1080010" cy="1170013"/>
            <a:chOff x="1871970" y="2562739"/>
            <a:chExt cx="1890019" cy="2559383"/>
          </a:xfrm>
        </p:grpSpPr>
        <p:grpSp>
          <p:nvGrpSpPr>
            <p:cNvPr id="77" name="グループ化 76"/>
            <p:cNvGrpSpPr/>
            <p:nvPr/>
          </p:nvGrpSpPr>
          <p:grpSpPr>
            <a:xfrm>
              <a:off x="2996967" y="4942097"/>
              <a:ext cx="360048" cy="180025"/>
              <a:chOff x="1736601" y="2511982"/>
              <a:chExt cx="360048" cy="180025"/>
            </a:xfrm>
          </p:grpSpPr>
          <p:cxnSp>
            <p:nvCxnSpPr>
              <p:cNvPr id="97" name="直線コネクタ 96"/>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9" name="直線コネクタ 98"/>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78" name="グループ化 77"/>
            <p:cNvGrpSpPr/>
            <p:nvPr/>
          </p:nvGrpSpPr>
          <p:grpSpPr>
            <a:xfrm>
              <a:off x="2861981" y="4059007"/>
              <a:ext cx="270036" cy="360048"/>
              <a:chOff x="6282228" y="1988808"/>
              <a:chExt cx="270036" cy="360048"/>
            </a:xfrm>
          </p:grpSpPr>
          <p:cxnSp>
            <p:nvCxnSpPr>
              <p:cNvPr id="93" name="直線コネクタ 9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4" name="直線コネクタ 9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5" name="直線コネクタ 9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9" name="直線コネクタ 78"/>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80" name="直線コネクタ 79"/>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81" name="直線コネクタ 80"/>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82"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83"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84" name="グループ化 83"/>
            <p:cNvGrpSpPr/>
            <p:nvPr/>
          </p:nvGrpSpPr>
          <p:grpSpPr>
            <a:xfrm>
              <a:off x="2771980" y="2978995"/>
              <a:ext cx="360048" cy="360048"/>
              <a:chOff x="3131808" y="1628760"/>
              <a:chExt cx="360048" cy="360048"/>
            </a:xfrm>
          </p:grpSpPr>
          <p:cxnSp>
            <p:nvCxnSpPr>
              <p:cNvPr id="88" name="直線コネクタ 8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9" name="直線コネクタ 8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0" name="直線コネクタ 8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1" name="直線コネクタ 9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92" name="円/楕円 9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85" name="直線コネクタ 84"/>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00" name="Line 46"/>
          <p:cNvSpPr>
            <a:spLocks noChangeShapeType="1"/>
          </p:cNvSpPr>
          <p:nvPr/>
        </p:nvSpPr>
        <p:spPr bwMode="auto">
          <a:xfrm flipV="1">
            <a:off x="5754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13" name="グループ化 112"/>
          <p:cNvGrpSpPr/>
          <p:nvPr/>
        </p:nvGrpSpPr>
        <p:grpSpPr>
          <a:xfrm rot="5400000">
            <a:off x="4089880" y="5829900"/>
            <a:ext cx="270041" cy="180007"/>
            <a:chOff x="1601967" y="3609002"/>
            <a:chExt cx="540039" cy="360048"/>
          </a:xfrm>
        </p:grpSpPr>
        <p:grpSp>
          <p:nvGrpSpPr>
            <p:cNvPr id="114" name="グループ化 113"/>
            <p:cNvGrpSpPr/>
            <p:nvPr/>
          </p:nvGrpSpPr>
          <p:grpSpPr>
            <a:xfrm rot="10800000">
              <a:off x="1871970" y="3609002"/>
              <a:ext cx="270036" cy="360048"/>
              <a:chOff x="6282228" y="1988808"/>
              <a:chExt cx="270036" cy="360048"/>
            </a:xfrm>
          </p:grpSpPr>
          <p:cxnSp>
            <p:nvCxnSpPr>
              <p:cNvPr id="121" name="直線コネクタ 12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 name="直線コネクタ 12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 name="直線コネクタ 12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 name="直線コネクタ 12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15" name="グループ化 114"/>
            <p:cNvGrpSpPr/>
            <p:nvPr/>
          </p:nvGrpSpPr>
          <p:grpSpPr>
            <a:xfrm>
              <a:off x="1601967" y="3609002"/>
              <a:ext cx="360048" cy="360048"/>
              <a:chOff x="3131808" y="1628760"/>
              <a:chExt cx="360048" cy="360048"/>
            </a:xfrm>
          </p:grpSpPr>
          <p:cxnSp>
            <p:nvCxnSpPr>
              <p:cNvPr id="116" name="直線コネクタ 11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7" name="直線コネクタ 11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8" name="直線コネクタ 11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9" name="直線コネクタ 11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0" name="円/楕円 11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25" name="グループ化 124"/>
          <p:cNvGrpSpPr/>
          <p:nvPr/>
        </p:nvGrpSpPr>
        <p:grpSpPr>
          <a:xfrm>
            <a:off x="4404900" y="5229379"/>
            <a:ext cx="270041" cy="180007"/>
            <a:chOff x="1601967" y="3609002"/>
            <a:chExt cx="540039" cy="360048"/>
          </a:xfrm>
        </p:grpSpPr>
        <p:grpSp>
          <p:nvGrpSpPr>
            <p:cNvPr id="126" name="グループ化 125"/>
            <p:cNvGrpSpPr/>
            <p:nvPr/>
          </p:nvGrpSpPr>
          <p:grpSpPr>
            <a:xfrm rot="10800000">
              <a:off x="1871970" y="3609002"/>
              <a:ext cx="270036" cy="360048"/>
              <a:chOff x="6282228" y="1988808"/>
              <a:chExt cx="270036" cy="360048"/>
            </a:xfrm>
          </p:grpSpPr>
          <p:cxnSp>
            <p:nvCxnSpPr>
              <p:cNvPr id="133" name="直線コネクタ 13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 name="直線コネクタ 13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5" name="直線コネクタ 13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6" name="直線コネクタ 13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7" name="グループ化 126"/>
            <p:cNvGrpSpPr/>
            <p:nvPr/>
          </p:nvGrpSpPr>
          <p:grpSpPr>
            <a:xfrm>
              <a:off x="1601967" y="3609002"/>
              <a:ext cx="360048" cy="360048"/>
              <a:chOff x="3131808" y="1628760"/>
              <a:chExt cx="360048" cy="360048"/>
            </a:xfrm>
          </p:grpSpPr>
          <p:cxnSp>
            <p:nvCxnSpPr>
              <p:cNvPr id="128" name="直線コネクタ 12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 name="直線コネクタ 12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 name="直線コネクタ 12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1" name="直線コネクタ 13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2" name="円/楕円 13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37" name="Line 46"/>
          <p:cNvSpPr>
            <a:spLocks noChangeShapeType="1"/>
          </p:cNvSpPr>
          <p:nvPr/>
        </p:nvSpPr>
        <p:spPr bwMode="auto">
          <a:xfrm>
            <a:off x="4314899"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8" name="Line 46"/>
          <p:cNvSpPr>
            <a:spLocks noChangeShapeType="1"/>
          </p:cNvSpPr>
          <p:nvPr/>
        </p:nvSpPr>
        <p:spPr bwMode="auto">
          <a:xfrm flipH="1" flipV="1">
            <a:off x="4569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39" name="Line 46"/>
          <p:cNvSpPr>
            <a:spLocks noChangeShapeType="1"/>
          </p:cNvSpPr>
          <p:nvPr/>
        </p:nvSpPr>
        <p:spPr bwMode="auto">
          <a:xfrm flipH="1" flipV="1">
            <a:off x="4553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40" name="Line 46"/>
          <p:cNvSpPr>
            <a:spLocks noChangeShapeType="1"/>
          </p:cNvSpPr>
          <p:nvPr/>
        </p:nvSpPr>
        <p:spPr bwMode="auto">
          <a:xfrm flipV="1">
            <a:off x="4541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42" name="Line 46"/>
          <p:cNvSpPr>
            <a:spLocks noChangeShapeType="1"/>
          </p:cNvSpPr>
          <p:nvPr/>
        </p:nvSpPr>
        <p:spPr bwMode="auto">
          <a:xfrm>
            <a:off x="3774894"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44" name="Line 46"/>
          <p:cNvSpPr>
            <a:spLocks noChangeShapeType="1"/>
          </p:cNvSpPr>
          <p:nvPr/>
        </p:nvSpPr>
        <p:spPr bwMode="auto">
          <a:xfrm flipV="1">
            <a:off x="5754915"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145" name="グループ化 144"/>
          <p:cNvGrpSpPr/>
          <p:nvPr/>
        </p:nvGrpSpPr>
        <p:grpSpPr>
          <a:xfrm>
            <a:off x="6744924" y="5424879"/>
            <a:ext cx="1080010" cy="1170013"/>
            <a:chOff x="1871970" y="2562739"/>
            <a:chExt cx="1890019" cy="2559383"/>
          </a:xfrm>
        </p:grpSpPr>
        <p:grpSp>
          <p:nvGrpSpPr>
            <p:cNvPr id="146" name="グループ化 145"/>
            <p:cNvGrpSpPr/>
            <p:nvPr/>
          </p:nvGrpSpPr>
          <p:grpSpPr>
            <a:xfrm>
              <a:off x="2996967" y="4942097"/>
              <a:ext cx="360048" cy="180025"/>
              <a:chOff x="1736601" y="2511982"/>
              <a:chExt cx="360048" cy="180025"/>
            </a:xfrm>
          </p:grpSpPr>
          <p:cxnSp>
            <p:nvCxnSpPr>
              <p:cNvPr id="166" name="直線コネクタ 165"/>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7" name="直線コネクタ 166"/>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8" name="直線コネクタ 167"/>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7" name="グループ化 146"/>
            <p:cNvGrpSpPr/>
            <p:nvPr/>
          </p:nvGrpSpPr>
          <p:grpSpPr>
            <a:xfrm>
              <a:off x="2861981" y="4059007"/>
              <a:ext cx="270036" cy="360048"/>
              <a:chOff x="6282228" y="1988808"/>
              <a:chExt cx="270036" cy="360048"/>
            </a:xfrm>
          </p:grpSpPr>
          <p:cxnSp>
            <p:nvCxnSpPr>
              <p:cNvPr id="162" name="直線コネクタ 16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3" name="直線コネクタ 16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4" name="直線コネクタ 16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5" name="直線コネクタ 16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48" name="直線コネクタ 147"/>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9" name="直線コネクタ 148"/>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0" name="直線コネクタ 149"/>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51"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2"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53" name="グループ化 152"/>
            <p:cNvGrpSpPr/>
            <p:nvPr/>
          </p:nvGrpSpPr>
          <p:grpSpPr>
            <a:xfrm>
              <a:off x="2771980" y="2978995"/>
              <a:ext cx="360048" cy="360048"/>
              <a:chOff x="3131808" y="1628760"/>
              <a:chExt cx="360048" cy="360048"/>
            </a:xfrm>
          </p:grpSpPr>
          <p:cxnSp>
            <p:nvCxnSpPr>
              <p:cNvPr id="157" name="直線コネクタ 15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8" name="直線コネクタ 15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9" name="直線コネクタ 15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0" name="直線コネクタ 15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61" name="円/楕円 16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54" name="直線コネクタ 153"/>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55" name="直線コネクタ 154"/>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6" name="直線コネクタ 155"/>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69" name="グループ化 168"/>
          <p:cNvGrpSpPr/>
          <p:nvPr/>
        </p:nvGrpSpPr>
        <p:grpSpPr>
          <a:xfrm rot="10800000">
            <a:off x="6744924" y="4059366"/>
            <a:ext cx="1080010" cy="1170013"/>
            <a:chOff x="1871970" y="2562739"/>
            <a:chExt cx="1890019" cy="2559383"/>
          </a:xfrm>
        </p:grpSpPr>
        <p:grpSp>
          <p:nvGrpSpPr>
            <p:cNvPr id="170" name="グループ化 169"/>
            <p:cNvGrpSpPr/>
            <p:nvPr/>
          </p:nvGrpSpPr>
          <p:grpSpPr>
            <a:xfrm>
              <a:off x="2996967" y="4942097"/>
              <a:ext cx="360048" cy="180025"/>
              <a:chOff x="1736601" y="2511982"/>
              <a:chExt cx="360048" cy="180025"/>
            </a:xfrm>
          </p:grpSpPr>
          <p:cxnSp>
            <p:nvCxnSpPr>
              <p:cNvPr id="190" name="直線コネクタ 189"/>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1" name="直線コネクタ 190"/>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2" name="直線コネクタ 191"/>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71" name="グループ化 170"/>
            <p:cNvGrpSpPr/>
            <p:nvPr/>
          </p:nvGrpSpPr>
          <p:grpSpPr>
            <a:xfrm>
              <a:off x="2861981" y="4059007"/>
              <a:ext cx="270036" cy="360048"/>
              <a:chOff x="6282228" y="1988808"/>
              <a:chExt cx="270036" cy="360048"/>
            </a:xfrm>
          </p:grpSpPr>
          <p:cxnSp>
            <p:nvCxnSpPr>
              <p:cNvPr id="186" name="直線コネクタ 18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7" name="直線コネクタ 18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8" name="直線コネクタ 18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9" name="直線コネクタ 18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72" name="直線コネクタ 171"/>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73" name="直線コネクタ 172"/>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74" name="直線コネクタ 173"/>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75"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76"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77" name="グループ化 176"/>
            <p:cNvGrpSpPr/>
            <p:nvPr/>
          </p:nvGrpSpPr>
          <p:grpSpPr>
            <a:xfrm>
              <a:off x="2771980" y="2978995"/>
              <a:ext cx="360048" cy="360048"/>
              <a:chOff x="3131808" y="1628760"/>
              <a:chExt cx="360048" cy="360048"/>
            </a:xfrm>
          </p:grpSpPr>
          <p:cxnSp>
            <p:nvCxnSpPr>
              <p:cNvPr id="181" name="直線コネクタ 180"/>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2" name="直線コネクタ 181"/>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3" name="直線コネクタ 182"/>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4" name="直線コネクタ 183"/>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85" name="円/楕円 184"/>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78" name="直線コネクタ 177"/>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79" name="直線コネクタ 178"/>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80" name="直線コネクタ 179"/>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93" name="Line 46"/>
          <p:cNvSpPr>
            <a:spLocks noChangeShapeType="1"/>
          </p:cNvSpPr>
          <p:nvPr/>
        </p:nvSpPr>
        <p:spPr bwMode="auto">
          <a:xfrm flipV="1">
            <a:off x="7824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94" name="グループ化 193"/>
          <p:cNvGrpSpPr/>
          <p:nvPr/>
        </p:nvGrpSpPr>
        <p:grpSpPr>
          <a:xfrm rot="5400000">
            <a:off x="6159902" y="5829900"/>
            <a:ext cx="270041" cy="180007"/>
            <a:chOff x="1601967" y="3609002"/>
            <a:chExt cx="540039" cy="360048"/>
          </a:xfrm>
        </p:grpSpPr>
        <p:grpSp>
          <p:nvGrpSpPr>
            <p:cNvPr id="195" name="グループ化 194"/>
            <p:cNvGrpSpPr/>
            <p:nvPr/>
          </p:nvGrpSpPr>
          <p:grpSpPr>
            <a:xfrm rot="10800000">
              <a:off x="1871970" y="3609002"/>
              <a:ext cx="270036" cy="360048"/>
              <a:chOff x="6282228" y="1988808"/>
              <a:chExt cx="270036" cy="360048"/>
            </a:xfrm>
          </p:grpSpPr>
          <p:cxnSp>
            <p:nvCxnSpPr>
              <p:cNvPr id="202" name="直線コネクタ 20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3" name="直線コネクタ 20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4" name="直線コネクタ 20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5" name="直線コネクタ 20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96" name="グループ化 195"/>
            <p:cNvGrpSpPr/>
            <p:nvPr/>
          </p:nvGrpSpPr>
          <p:grpSpPr>
            <a:xfrm>
              <a:off x="1601967" y="3609002"/>
              <a:ext cx="360048" cy="360048"/>
              <a:chOff x="3131808" y="1628760"/>
              <a:chExt cx="360048" cy="360048"/>
            </a:xfrm>
          </p:grpSpPr>
          <p:cxnSp>
            <p:nvCxnSpPr>
              <p:cNvPr id="197" name="直線コネクタ 19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8" name="直線コネクタ 19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9" name="直線コネクタ 19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0" name="直線コネクタ 19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01" name="円/楕円 20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206" name="グループ化 205"/>
          <p:cNvGrpSpPr/>
          <p:nvPr/>
        </p:nvGrpSpPr>
        <p:grpSpPr>
          <a:xfrm>
            <a:off x="6474922" y="5229379"/>
            <a:ext cx="270041" cy="180007"/>
            <a:chOff x="1601967" y="3609002"/>
            <a:chExt cx="540039" cy="360048"/>
          </a:xfrm>
        </p:grpSpPr>
        <p:grpSp>
          <p:nvGrpSpPr>
            <p:cNvPr id="207" name="グループ化 206"/>
            <p:cNvGrpSpPr/>
            <p:nvPr/>
          </p:nvGrpSpPr>
          <p:grpSpPr>
            <a:xfrm rot="10800000">
              <a:off x="1871970" y="3609002"/>
              <a:ext cx="270036" cy="360048"/>
              <a:chOff x="6282228" y="1988808"/>
              <a:chExt cx="270036" cy="360048"/>
            </a:xfrm>
          </p:grpSpPr>
          <p:cxnSp>
            <p:nvCxnSpPr>
              <p:cNvPr id="214" name="直線コネクタ 21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5" name="直線コネクタ 21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6" name="直線コネクタ 21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7" name="直線コネクタ 21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08" name="グループ化 207"/>
            <p:cNvGrpSpPr/>
            <p:nvPr/>
          </p:nvGrpSpPr>
          <p:grpSpPr>
            <a:xfrm>
              <a:off x="1601967" y="3609002"/>
              <a:ext cx="360048" cy="360048"/>
              <a:chOff x="3131808" y="1628760"/>
              <a:chExt cx="360048" cy="360048"/>
            </a:xfrm>
          </p:grpSpPr>
          <p:cxnSp>
            <p:nvCxnSpPr>
              <p:cNvPr id="209" name="直線コネクタ 20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0" name="直線コネクタ 20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1" name="直線コネクタ 21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2" name="直線コネクタ 21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13" name="円/楕円 21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218" name="Line 46"/>
          <p:cNvSpPr>
            <a:spLocks noChangeShapeType="1"/>
          </p:cNvSpPr>
          <p:nvPr/>
        </p:nvSpPr>
        <p:spPr bwMode="auto">
          <a:xfrm>
            <a:off x="6384921"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219" name="Line 46"/>
          <p:cNvSpPr>
            <a:spLocks noChangeShapeType="1"/>
          </p:cNvSpPr>
          <p:nvPr/>
        </p:nvSpPr>
        <p:spPr bwMode="auto">
          <a:xfrm flipH="1" flipV="1">
            <a:off x="6639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220" name="Line 46"/>
          <p:cNvSpPr>
            <a:spLocks noChangeShapeType="1"/>
          </p:cNvSpPr>
          <p:nvPr/>
        </p:nvSpPr>
        <p:spPr bwMode="auto">
          <a:xfrm flipH="1" flipV="1">
            <a:off x="6623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221" name="Line 46"/>
          <p:cNvSpPr>
            <a:spLocks noChangeShapeType="1"/>
          </p:cNvSpPr>
          <p:nvPr/>
        </p:nvSpPr>
        <p:spPr bwMode="auto">
          <a:xfrm flipV="1">
            <a:off x="6611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223" name="Line 46"/>
          <p:cNvSpPr>
            <a:spLocks noChangeShapeType="1"/>
          </p:cNvSpPr>
          <p:nvPr/>
        </p:nvSpPr>
        <p:spPr bwMode="auto">
          <a:xfrm flipV="1">
            <a:off x="7824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224" name="グループ化 223"/>
          <p:cNvGrpSpPr/>
          <p:nvPr/>
        </p:nvGrpSpPr>
        <p:grpSpPr>
          <a:xfrm>
            <a:off x="5555995" y="998973"/>
            <a:ext cx="990011" cy="720008"/>
            <a:chOff x="6369707" y="1718772"/>
            <a:chExt cx="1441450" cy="1085855"/>
          </a:xfrm>
        </p:grpSpPr>
        <p:sp>
          <p:nvSpPr>
            <p:cNvPr id="225"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226"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400"/>
            </a:p>
          </p:txBody>
        </p:sp>
        <p:sp>
          <p:nvSpPr>
            <p:cNvPr id="227"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q</a:t>
              </a:r>
              <a:endParaRPr lang="en-US" altLang="ja-JP" sz="1400" dirty="0"/>
            </a:p>
          </p:txBody>
        </p:sp>
        <p:sp>
          <p:nvSpPr>
            <p:cNvPr id="228"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400" i="1" dirty="0"/>
                <a:t>d</a:t>
              </a:r>
              <a:endParaRPr lang="en-US" altLang="ja-JP" sz="1400" dirty="0"/>
            </a:p>
          </p:txBody>
        </p:sp>
        <p:sp>
          <p:nvSpPr>
            <p:cNvPr id="22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400"/>
            </a:p>
          </p:txBody>
        </p:sp>
        <p:sp>
          <p:nvSpPr>
            <p:cNvPr id="23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231"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clk</a:t>
              </a:r>
              <a:endParaRPr lang="en-US" altLang="ja-JP" sz="1400" dirty="0"/>
            </a:p>
          </p:txBody>
        </p:sp>
      </p:grpSp>
    </p:spTree>
    <p:extLst>
      <p:ext uri="{BB962C8B-B14F-4D97-AF65-F5344CB8AC3E}">
        <p14:creationId xmlns:p14="http://schemas.microsoft.com/office/powerpoint/2010/main" val="375927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マルチプレクサ：トランジスタ </a:t>
            </a:r>
            <a:r>
              <a:rPr kumimoji="1" lang="en-US" altLang="ja-JP" dirty="0"/>
              <a:t>6</a:t>
            </a:r>
            <a:r>
              <a:rPr kumimoji="1" lang="ja-JP" altLang="en-US" dirty="0"/>
              <a:t>個</a:t>
            </a:r>
          </a:p>
        </p:txBody>
      </p:sp>
      <p:sp>
        <p:nvSpPr>
          <p:cNvPr id="232" name="Line 9"/>
          <p:cNvSpPr>
            <a:spLocks noChangeShapeType="1"/>
          </p:cNvSpPr>
          <p:nvPr/>
        </p:nvSpPr>
        <p:spPr bwMode="auto">
          <a:xfrm>
            <a:off x="5195991" y="1988984"/>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233" name="Line 9"/>
          <p:cNvSpPr>
            <a:spLocks noChangeShapeType="1"/>
          </p:cNvSpPr>
          <p:nvPr/>
        </p:nvSpPr>
        <p:spPr bwMode="auto">
          <a:xfrm>
            <a:off x="5195991" y="2708992"/>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234" name="Line 9"/>
          <p:cNvSpPr>
            <a:spLocks noChangeShapeType="1"/>
          </p:cNvSpPr>
          <p:nvPr/>
        </p:nvSpPr>
        <p:spPr bwMode="auto">
          <a:xfrm>
            <a:off x="5825998" y="2348988"/>
            <a:ext cx="450005" cy="0"/>
          </a:xfrm>
          <a:prstGeom prst="line">
            <a:avLst/>
          </a:prstGeom>
          <a:noFill/>
          <a:ln w="9525">
            <a:solidFill>
              <a:schemeClr val="tx1"/>
            </a:solidFill>
            <a:round/>
            <a:headEnd/>
            <a:tailEnd type="triangle" w="med" len="lg"/>
          </a:ln>
          <a:effectLst/>
        </p:spPr>
        <p:txBody>
          <a:bodyPr wrap="none" lIns="90000" tIns="46800" rIns="90000" bIns="46800" anchor="ctr"/>
          <a:lstStyle/>
          <a:p>
            <a:endParaRPr lang="ja-JP" altLang="en-US" sz="1200"/>
          </a:p>
        </p:txBody>
      </p:sp>
      <p:sp>
        <p:nvSpPr>
          <p:cNvPr id="222" name="フローチャート: 手作業 221"/>
          <p:cNvSpPr/>
          <p:nvPr/>
        </p:nvSpPr>
        <p:spPr bwMode="auto">
          <a:xfrm rot="16200000">
            <a:off x="5150990" y="2213987"/>
            <a:ext cx="1260014" cy="270003"/>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sp>
        <p:nvSpPr>
          <p:cNvPr id="310" name="Line 9"/>
          <p:cNvSpPr>
            <a:spLocks noChangeShapeType="1"/>
          </p:cNvSpPr>
          <p:nvPr/>
        </p:nvSpPr>
        <p:spPr bwMode="auto">
          <a:xfrm>
            <a:off x="5825998" y="1538979"/>
            <a:ext cx="0" cy="360004"/>
          </a:xfrm>
          <a:prstGeom prst="line">
            <a:avLst/>
          </a:prstGeom>
          <a:noFill/>
          <a:ln w="9525">
            <a:solidFill>
              <a:schemeClr val="tx1"/>
            </a:solidFill>
            <a:round/>
            <a:headEnd/>
            <a:tailEnd type="triangle" w="med" len="lg"/>
          </a:ln>
          <a:effectLst/>
        </p:spPr>
        <p:txBody>
          <a:bodyPr wrap="none" lIns="90000" tIns="46800" rIns="90000" bIns="46800" anchor="ctr"/>
          <a:lstStyle/>
          <a:p>
            <a:endParaRPr lang="ja-JP" altLang="en-US" sz="1200"/>
          </a:p>
        </p:txBody>
      </p:sp>
      <p:grpSp>
        <p:nvGrpSpPr>
          <p:cNvPr id="19" name="グループ化 18"/>
          <p:cNvGrpSpPr/>
          <p:nvPr/>
        </p:nvGrpSpPr>
        <p:grpSpPr>
          <a:xfrm>
            <a:off x="4745986" y="3789005"/>
            <a:ext cx="2521029" cy="1530055"/>
            <a:chOff x="2361128" y="5229020"/>
            <a:chExt cx="1489701" cy="810047"/>
          </a:xfrm>
        </p:grpSpPr>
        <p:grpSp>
          <p:nvGrpSpPr>
            <p:cNvPr id="286" name="グループ化 285"/>
            <p:cNvGrpSpPr/>
            <p:nvPr/>
          </p:nvGrpSpPr>
          <p:grpSpPr>
            <a:xfrm rot="16200000">
              <a:off x="2906965" y="5814043"/>
              <a:ext cx="270041" cy="180007"/>
              <a:chOff x="1601967" y="3609002"/>
              <a:chExt cx="540039" cy="360048"/>
            </a:xfrm>
          </p:grpSpPr>
          <p:grpSp>
            <p:nvGrpSpPr>
              <p:cNvPr id="287" name="グループ化 286"/>
              <p:cNvGrpSpPr/>
              <p:nvPr/>
            </p:nvGrpSpPr>
            <p:grpSpPr>
              <a:xfrm rot="10800000">
                <a:off x="1871970" y="3609002"/>
                <a:ext cx="270036" cy="360048"/>
                <a:chOff x="6282228" y="1988808"/>
                <a:chExt cx="270036" cy="360048"/>
              </a:xfrm>
            </p:grpSpPr>
            <p:cxnSp>
              <p:nvCxnSpPr>
                <p:cNvPr id="294" name="直線コネクタ 29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5" name="直線コネクタ 29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6" name="直線コネクタ 29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7" name="直線コネクタ 29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88" name="グループ化 287"/>
              <p:cNvGrpSpPr/>
              <p:nvPr/>
            </p:nvGrpSpPr>
            <p:grpSpPr>
              <a:xfrm>
                <a:off x="1601967" y="3609002"/>
                <a:ext cx="360048" cy="360048"/>
                <a:chOff x="3131808" y="1628760"/>
                <a:chExt cx="360048" cy="360048"/>
              </a:xfrm>
            </p:grpSpPr>
            <p:cxnSp>
              <p:nvCxnSpPr>
                <p:cNvPr id="289" name="直線コネクタ 28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0" name="直線コネクタ 28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1" name="直線コネクタ 29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2" name="直線コネクタ 29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93" name="円/楕円 29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298" name="グループ化 297"/>
            <p:cNvGrpSpPr/>
            <p:nvPr/>
          </p:nvGrpSpPr>
          <p:grpSpPr>
            <a:xfrm rot="5400000">
              <a:off x="2906965" y="5274037"/>
              <a:ext cx="270041" cy="180007"/>
              <a:chOff x="1601967" y="3609002"/>
              <a:chExt cx="540039" cy="360048"/>
            </a:xfrm>
          </p:grpSpPr>
          <p:grpSp>
            <p:nvGrpSpPr>
              <p:cNvPr id="299" name="グループ化 298"/>
              <p:cNvGrpSpPr/>
              <p:nvPr/>
            </p:nvGrpSpPr>
            <p:grpSpPr>
              <a:xfrm rot="10800000">
                <a:off x="1871970" y="3609002"/>
                <a:ext cx="270036" cy="360048"/>
                <a:chOff x="6282228" y="1988808"/>
                <a:chExt cx="270036" cy="360048"/>
              </a:xfrm>
            </p:grpSpPr>
            <p:cxnSp>
              <p:nvCxnSpPr>
                <p:cNvPr id="306" name="直線コネクタ 30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7" name="直線コネクタ 30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8" name="直線コネクタ 30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9" name="直線コネクタ 30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300" name="グループ化 299"/>
              <p:cNvGrpSpPr/>
              <p:nvPr/>
            </p:nvGrpSpPr>
            <p:grpSpPr>
              <a:xfrm>
                <a:off x="1601967" y="3609002"/>
                <a:ext cx="360048" cy="360048"/>
                <a:chOff x="3131808" y="1628760"/>
                <a:chExt cx="360048" cy="360048"/>
              </a:xfrm>
            </p:grpSpPr>
            <p:cxnSp>
              <p:nvCxnSpPr>
                <p:cNvPr id="301" name="直線コネクタ 300"/>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2" name="直線コネクタ 301"/>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3" name="直線コネクタ 302"/>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4" name="直線コネクタ 303"/>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305" name="円/楕円 304"/>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311" name="Line 46"/>
            <p:cNvSpPr>
              <a:spLocks noChangeShapeType="1"/>
            </p:cNvSpPr>
            <p:nvPr/>
          </p:nvSpPr>
          <p:spPr bwMode="auto">
            <a:xfrm flipH="1" flipV="1">
              <a:off x="3041983" y="5499022"/>
              <a:ext cx="0" cy="24777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312" name="Line 46"/>
            <p:cNvSpPr>
              <a:spLocks noChangeShapeType="1"/>
            </p:cNvSpPr>
            <p:nvPr/>
          </p:nvSpPr>
          <p:spPr bwMode="auto">
            <a:xfrm flipV="1">
              <a:off x="2681979" y="538577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313" name="Line 46"/>
            <p:cNvSpPr>
              <a:spLocks noChangeShapeType="1"/>
            </p:cNvSpPr>
            <p:nvPr/>
          </p:nvSpPr>
          <p:spPr bwMode="auto">
            <a:xfrm flipV="1">
              <a:off x="2681979"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314" name="Line 46"/>
            <p:cNvSpPr>
              <a:spLocks noChangeShapeType="1"/>
            </p:cNvSpPr>
            <p:nvPr/>
          </p:nvSpPr>
          <p:spPr bwMode="auto">
            <a:xfrm flipV="1">
              <a:off x="3131984"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315" name="Freeform 10"/>
            <p:cNvSpPr>
              <a:spLocks/>
            </p:cNvSpPr>
            <p:nvPr/>
          </p:nvSpPr>
          <p:spPr bwMode="auto">
            <a:xfrm rot="5400000" flipV="1">
              <a:off x="3019216" y="5498542"/>
              <a:ext cx="49554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17" name="Line 9"/>
            <p:cNvSpPr>
              <a:spLocks noChangeShapeType="1"/>
            </p:cNvSpPr>
            <p:nvPr/>
          </p:nvSpPr>
          <p:spPr bwMode="auto">
            <a:xfrm>
              <a:off x="3400824" y="5625038"/>
              <a:ext cx="450005" cy="0"/>
            </a:xfrm>
            <a:prstGeom prst="line">
              <a:avLst/>
            </a:prstGeom>
            <a:noFill/>
            <a:ln w="9525">
              <a:solidFill>
                <a:schemeClr val="tx1"/>
              </a:solidFill>
              <a:round/>
              <a:headEnd type="oval"/>
              <a:tailEnd type="triangle" w="med" len="lg"/>
            </a:ln>
            <a:effectLst/>
          </p:spPr>
          <p:txBody>
            <a:bodyPr wrap="none" lIns="90000" tIns="46800" rIns="90000" bIns="46800" anchor="ctr"/>
            <a:lstStyle/>
            <a:p>
              <a:endParaRPr lang="ja-JP" altLang="en-US" sz="1200"/>
            </a:p>
          </p:txBody>
        </p:sp>
        <p:sp>
          <p:nvSpPr>
            <p:cNvPr id="320" name="Line 46"/>
            <p:cNvSpPr>
              <a:spLocks noChangeShapeType="1"/>
            </p:cNvSpPr>
            <p:nvPr/>
          </p:nvSpPr>
          <p:spPr bwMode="auto">
            <a:xfrm flipV="1">
              <a:off x="2361128" y="5626621"/>
              <a:ext cx="680728" cy="0"/>
            </a:xfrm>
            <a:prstGeom prst="line">
              <a:avLst/>
            </a:prstGeom>
            <a:noFill/>
            <a:ln w="9525">
              <a:solidFill>
                <a:schemeClr val="tx1"/>
              </a:solidFill>
              <a:round/>
              <a:headEnd type="none" w="sm" len="sm"/>
              <a:tailEnd type="oval" w="med" len="med"/>
            </a:ln>
            <a:effectLst/>
          </p:spPr>
          <p:txBody>
            <a:bodyPr wrap="none" lIns="90000" tIns="46800" rIns="90000" bIns="46800" anchor="ctr"/>
            <a:lstStyle/>
            <a:p>
              <a:endParaRPr lang="ja-JP" altLang="en-US"/>
            </a:p>
          </p:txBody>
        </p:sp>
      </p:grpSp>
      <p:grpSp>
        <p:nvGrpSpPr>
          <p:cNvPr id="322" name="グループ化 321"/>
          <p:cNvGrpSpPr/>
          <p:nvPr/>
        </p:nvGrpSpPr>
        <p:grpSpPr>
          <a:xfrm>
            <a:off x="3035966" y="3803518"/>
            <a:ext cx="1712994" cy="1671274"/>
            <a:chOff x="1871970" y="2562739"/>
            <a:chExt cx="1890019" cy="2559383"/>
          </a:xfrm>
        </p:grpSpPr>
        <p:grpSp>
          <p:nvGrpSpPr>
            <p:cNvPr id="323" name="グループ化 322"/>
            <p:cNvGrpSpPr/>
            <p:nvPr/>
          </p:nvGrpSpPr>
          <p:grpSpPr>
            <a:xfrm>
              <a:off x="2996967" y="4942097"/>
              <a:ext cx="360048" cy="180025"/>
              <a:chOff x="1736601" y="2511982"/>
              <a:chExt cx="360048" cy="180025"/>
            </a:xfrm>
          </p:grpSpPr>
          <p:cxnSp>
            <p:nvCxnSpPr>
              <p:cNvPr id="343" name="直線コネクタ 342"/>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4" name="直線コネクタ 343"/>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5" name="直線コネクタ 344"/>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324" name="グループ化 323"/>
            <p:cNvGrpSpPr/>
            <p:nvPr/>
          </p:nvGrpSpPr>
          <p:grpSpPr>
            <a:xfrm>
              <a:off x="2861981" y="4059007"/>
              <a:ext cx="270036" cy="360048"/>
              <a:chOff x="6282228" y="1988808"/>
              <a:chExt cx="270036" cy="360048"/>
            </a:xfrm>
          </p:grpSpPr>
          <p:cxnSp>
            <p:nvCxnSpPr>
              <p:cNvPr id="339" name="直線コネクタ 33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0" name="直線コネクタ 33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1" name="直線コネクタ 34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2" name="直線コネクタ 34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25" name="直線コネクタ 324"/>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26" name="直線コネクタ 325"/>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27" name="直線コネクタ 326"/>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328"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29"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330" name="グループ化 329"/>
            <p:cNvGrpSpPr/>
            <p:nvPr/>
          </p:nvGrpSpPr>
          <p:grpSpPr>
            <a:xfrm>
              <a:off x="2771980" y="2978995"/>
              <a:ext cx="360048" cy="360048"/>
              <a:chOff x="3131808" y="1628760"/>
              <a:chExt cx="360048" cy="360048"/>
            </a:xfrm>
          </p:grpSpPr>
          <p:cxnSp>
            <p:nvCxnSpPr>
              <p:cNvPr id="334" name="直線コネクタ 33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35" name="直線コネクタ 33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36" name="直線コネクタ 33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37" name="直線コネクタ 33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338" name="円/楕円 33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331" name="直線コネクタ 330"/>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32" name="直線コネクタ 331"/>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33" name="直線コネクタ 332"/>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346" name="Rectangle 59"/>
          <p:cNvSpPr>
            <a:spLocks noChangeArrowheads="1"/>
          </p:cNvSpPr>
          <p:nvPr/>
        </p:nvSpPr>
        <p:spPr bwMode="auto">
          <a:xfrm>
            <a:off x="6276003" y="2168986"/>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o</a:t>
            </a:r>
          </a:p>
        </p:txBody>
      </p:sp>
      <p:sp>
        <p:nvSpPr>
          <p:cNvPr id="347" name="Rectangle 59"/>
          <p:cNvSpPr>
            <a:spLocks noChangeArrowheads="1"/>
          </p:cNvSpPr>
          <p:nvPr/>
        </p:nvSpPr>
        <p:spPr bwMode="auto">
          <a:xfrm>
            <a:off x="5735997" y="1178975"/>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s</a:t>
            </a:r>
          </a:p>
        </p:txBody>
      </p:sp>
      <p:sp>
        <p:nvSpPr>
          <p:cNvPr id="348" name="Rectangle 59"/>
          <p:cNvSpPr>
            <a:spLocks noChangeArrowheads="1"/>
          </p:cNvSpPr>
          <p:nvPr/>
        </p:nvSpPr>
        <p:spPr bwMode="auto">
          <a:xfrm>
            <a:off x="4925988" y="1718981"/>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i0</a:t>
            </a:r>
          </a:p>
        </p:txBody>
      </p:sp>
      <p:sp>
        <p:nvSpPr>
          <p:cNvPr id="349" name="Rectangle 59"/>
          <p:cNvSpPr>
            <a:spLocks noChangeArrowheads="1"/>
          </p:cNvSpPr>
          <p:nvPr/>
        </p:nvSpPr>
        <p:spPr bwMode="auto">
          <a:xfrm>
            <a:off x="4925988" y="2438989"/>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i1</a:t>
            </a:r>
          </a:p>
        </p:txBody>
      </p:sp>
      <p:sp>
        <p:nvSpPr>
          <p:cNvPr id="350" name="Rectangle 59"/>
          <p:cNvSpPr>
            <a:spLocks noChangeArrowheads="1"/>
          </p:cNvSpPr>
          <p:nvPr/>
        </p:nvSpPr>
        <p:spPr bwMode="auto">
          <a:xfrm>
            <a:off x="2765964" y="4329010"/>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s</a:t>
            </a:r>
          </a:p>
        </p:txBody>
      </p:sp>
      <p:sp>
        <p:nvSpPr>
          <p:cNvPr id="351" name="Rectangle 59"/>
          <p:cNvSpPr>
            <a:spLocks noChangeArrowheads="1"/>
          </p:cNvSpPr>
          <p:nvPr/>
        </p:nvSpPr>
        <p:spPr bwMode="auto">
          <a:xfrm>
            <a:off x="5738974" y="3429000"/>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s</a:t>
            </a:r>
          </a:p>
        </p:txBody>
      </p:sp>
      <p:sp>
        <p:nvSpPr>
          <p:cNvPr id="352" name="Rectangle 59"/>
          <p:cNvSpPr>
            <a:spLocks noChangeArrowheads="1"/>
          </p:cNvSpPr>
          <p:nvPr/>
        </p:nvSpPr>
        <p:spPr bwMode="auto">
          <a:xfrm>
            <a:off x="4928965" y="3879005"/>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i0</a:t>
            </a:r>
          </a:p>
        </p:txBody>
      </p:sp>
      <p:sp>
        <p:nvSpPr>
          <p:cNvPr id="353" name="Rectangle 59"/>
          <p:cNvSpPr>
            <a:spLocks noChangeArrowheads="1"/>
          </p:cNvSpPr>
          <p:nvPr/>
        </p:nvSpPr>
        <p:spPr bwMode="auto">
          <a:xfrm>
            <a:off x="4925988" y="4869016"/>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i1</a:t>
            </a:r>
          </a:p>
        </p:txBody>
      </p:sp>
      <p:sp>
        <p:nvSpPr>
          <p:cNvPr id="354" name="Rectangle 59"/>
          <p:cNvSpPr>
            <a:spLocks noChangeArrowheads="1"/>
          </p:cNvSpPr>
          <p:nvPr/>
        </p:nvSpPr>
        <p:spPr bwMode="auto">
          <a:xfrm>
            <a:off x="7358992" y="4329010"/>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o</a:t>
            </a:r>
          </a:p>
        </p:txBody>
      </p:sp>
      <p:sp>
        <p:nvSpPr>
          <p:cNvPr id="355" name="Rectangle 59"/>
          <p:cNvSpPr>
            <a:spLocks noChangeArrowheads="1"/>
          </p:cNvSpPr>
          <p:nvPr/>
        </p:nvSpPr>
        <p:spPr bwMode="auto">
          <a:xfrm>
            <a:off x="5738974" y="5229020"/>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s</a:t>
            </a:r>
          </a:p>
        </p:txBody>
      </p:sp>
    </p:spTree>
    <p:extLst>
      <p:ext uri="{BB962C8B-B14F-4D97-AF65-F5344CB8AC3E}">
        <p14:creationId xmlns:p14="http://schemas.microsoft.com/office/powerpoint/2010/main" val="20067703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LUT vs. NAND</a:t>
            </a:r>
            <a:br>
              <a:rPr lang="en-US" altLang="ja-JP" dirty="0"/>
            </a:br>
            <a:r>
              <a:rPr lang="ja-JP" altLang="en-US" sz="2000" dirty="0"/>
              <a:t>同じ回路を </a:t>
            </a:r>
            <a:r>
              <a:rPr lang="en-US" altLang="ja-JP" sz="2000" dirty="0"/>
              <a:t>LUT </a:t>
            </a:r>
            <a:r>
              <a:rPr lang="ja-JP" altLang="en-US" sz="2000" dirty="0"/>
              <a:t>で実現するのはものすごく効率が悪い</a:t>
            </a:r>
            <a:endParaRPr kumimoji="1" lang="ja-JP" altLang="en-US" dirty="0"/>
          </a:p>
        </p:txBody>
      </p:sp>
      <p:grpSp>
        <p:nvGrpSpPr>
          <p:cNvPr id="1618" name="グループ化 1617"/>
          <p:cNvGrpSpPr/>
          <p:nvPr/>
        </p:nvGrpSpPr>
        <p:grpSpPr>
          <a:xfrm>
            <a:off x="2675962" y="1718981"/>
            <a:ext cx="4318072" cy="5040056"/>
            <a:chOff x="793934" y="998973"/>
            <a:chExt cx="4318072" cy="5040056"/>
          </a:xfrm>
        </p:grpSpPr>
        <p:grpSp>
          <p:nvGrpSpPr>
            <p:cNvPr id="161" name="グループ化 160"/>
            <p:cNvGrpSpPr/>
            <p:nvPr/>
          </p:nvGrpSpPr>
          <p:grpSpPr>
            <a:xfrm>
              <a:off x="793934" y="998973"/>
              <a:ext cx="2070023" cy="1080012"/>
              <a:chOff x="2250893" y="4059365"/>
              <a:chExt cx="4590049" cy="2535526"/>
            </a:xfrm>
          </p:grpSpPr>
          <p:grpSp>
            <p:nvGrpSpPr>
              <p:cNvPr id="4" name="グループ化 3"/>
              <p:cNvGrpSpPr/>
              <p:nvPr/>
            </p:nvGrpSpPr>
            <p:grpSpPr>
              <a:xfrm>
                <a:off x="3150902" y="5424878"/>
                <a:ext cx="1080010" cy="1170013"/>
                <a:chOff x="1871970" y="2562739"/>
                <a:chExt cx="1890019" cy="2559383"/>
              </a:xfrm>
            </p:grpSpPr>
            <p:grpSp>
              <p:nvGrpSpPr>
                <p:cNvPr id="5" name="グループ化 4"/>
                <p:cNvGrpSpPr/>
                <p:nvPr/>
              </p:nvGrpSpPr>
              <p:grpSpPr>
                <a:xfrm>
                  <a:off x="2996967" y="4942097"/>
                  <a:ext cx="360048" cy="180025"/>
                  <a:chOff x="1736601" y="2511982"/>
                  <a:chExt cx="360048" cy="180025"/>
                </a:xfrm>
              </p:grpSpPr>
              <p:cxnSp>
                <p:nvCxnSpPr>
                  <p:cNvPr id="25" name="直線コネクタ 24"/>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 name="グループ化 5"/>
                <p:cNvGrpSpPr/>
                <p:nvPr/>
              </p:nvGrpSpPr>
              <p:grpSpPr>
                <a:xfrm>
                  <a:off x="2861981" y="4059007"/>
                  <a:ext cx="270036" cy="360048"/>
                  <a:chOff x="6282228" y="1988808"/>
                  <a:chExt cx="270036" cy="360048"/>
                </a:xfrm>
              </p:grpSpPr>
              <p:cxnSp>
                <p:nvCxnSpPr>
                  <p:cNvPr id="21" name="直線コネクタ 2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 name="直線コネクタ 6"/>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0"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2" name="グループ化 11"/>
                <p:cNvGrpSpPr/>
                <p:nvPr/>
              </p:nvGrpSpPr>
              <p:grpSpPr>
                <a:xfrm>
                  <a:off x="2771980" y="2978995"/>
                  <a:ext cx="360048" cy="360048"/>
                  <a:chOff x="3131808" y="1628760"/>
                  <a:chExt cx="360048" cy="360048"/>
                </a:xfrm>
              </p:grpSpPr>
              <p:cxnSp>
                <p:nvCxnSpPr>
                  <p:cNvPr id="16" name="直線コネクタ 1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0" name="円/楕円 1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3" name="直線コネクタ 12"/>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8" name="グループ化 27"/>
              <p:cNvGrpSpPr/>
              <p:nvPr/>
            </p:nvGrpSpPr>
            <p:grpSpPr>
              <a:xfrm rot="10800000">
                <a:off x="3150902" y="4059365"/>
                <a:ext cx="1080010" cy="1170013"/>
                <a:chOff x="1871970" y="2562739"/>
                <a:chExt cx="1890019" cy="2559383"/>
              </a:xfrm>
            </p:grpSpPr>
            <p:grpSp>
              <p:nvGrpSpPr>
                <p:cNvPr id="29" name="グループ化 28"/>
                <p:cNvGrpSpPr/>
                <p:nvPr/>
              </p:nvGrpSpPr>
              <p:grpSpPr>
                <a:xfrm>
                  <a:off x="2996967" y="4942097"/>
                  <a:ext cx="360048" cy="180025"/>
                  <a:chOff x="1736601" y="2511982"/>
                  <a:chExt cx="360048" cy="180025"/>
                </a:xfrm>
              </p:grpSpPr>
              <p:cxnSp>
                <p:nvCxnSpPr>
                  <p:cNvPr id="49" name="直線コネクタ 48"/>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30" name="グループ化 29"/>
                <p:cNvGrpSpPr/>
                <p:nvPr/>
              </p:nvGrpSpPr>
              <p:grpSpPr>
                <a:xfrm>
                  <a:off x="2861981" y="4059007"/>
                  <a:ext cx="270036" cy="360048"/>
                  <a:chOff x="6282228" y="1988808"/>
                  <a:chExt cx="270036" cy="360048"/>
                </a:xfrm>
              </p:grpSpPr>
              <p:cxnSp>
                <p:nvCxnSpPr>
                  <p:cNvPr id="45" name="直線コネクタ 44"/>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1" name="直線コネクタ 30"/>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34"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5"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36" name="グループ化 35"/>
                <p:cNvGrpSpPr/>
                <p:nvPr/>
              </p:nvGrpSpPr>
              <p:grpSpPr>
                <a:xfrm>
                  <a:off x="2771980" y="2978995"/>
                  <a:ext cx="360048" cy="360048"/>
                  <a:chOff x="3131808" y="1628760"/>
                  <a:chExt cx="360048" cy="360048"/>
                </a:xfrm>
              </p:grpSpPr>
              <p:cxnSp>
                <p:nvCxnSpPr>
                  <p:cNvPr id="40" name="直線コネクタ 39"/>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1" name="直線コネクタ 40"/>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44" name="円/楕円 43"/>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37" name="直線コネクタ 36"/>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52" name="Line 46"/>
              <p:cNvSpPr>
                <a:spLocks noChangeShapeType="1"/>
              </p:cNvSpPr>
              <p:nvPr/>
            </p:nvSpPr>
            <p:spPr bwMode="auto">
              <a:xfrm flipV="1">
                <a:off x="4230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53" name="グループ化 52"/>
              <p:cNvGrpSpPr/>
              <p:nvPr/>
            </p:nvGrpSpPr>
            <p:grpSpPr>
              <a:xfrm rot="5400000">
                <a:off x="2565879" y="5829899"/>
                <a:ext cx="270041" cy="180007"/>
                <a:chOff x="1601967" y="3609002"/>
                <a:chExt cx="540039" cy="360048"/>
              </a:xfrm>
            </p:grpSpPr>
            <p:grpSp>
              <p:nvGrpSpPr>
                <p:cNvPr id="54" name="グループ化 53"/>
                <p:cNvGrpSpPr/>
                <p:nvPr/>
              </p:nvGrpSpPr>
              <p:grpSpPr>
                <a:xfrm rot="10800000">
                  <a:off x="1871970" y="3609002"/>
                  <a:ext cx="270036" cy="360048"/>
                  <a:chOff x="6282228" y="1988808"/>
                  <a:chExt cx="270036" cy="360048"/>
                </a:xfrm>
              </p:grpSpPr>
              <p:cxnSp>
                <p:nvCxnSpPr>
                  <p:cNvPr id="61" name="直線コネクタ 6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3" name="直線コネクタ 6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55" name="グループ化 54"/>
                <p:cNvGrpSpPr/>
                <p:nvPr/>
              </p:nvGrpSpPr>
              <p:grpSpPr>
                <a:xfrm>
                  <a:off x="1601967" y="3609002"/>
                  <a:ext cx="360048" cy="360048"/>
                  <a:chOff x="3131808" y="1628760"/>
                  <a:chExt cx="360048" cy="360048"/>
                </a:xfrm>
              </p:grpSpPr>
              <p:cxnSp>
                <p:nvCxnSpPr>
                  <p:cNvPr id="56" name="直線コネクタ 5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7" name="直線コネクタ 5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60" name="円/楕円 5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65" name="グループ化 64"/>
              <p:cNvGrpSpPr/>
              <p:nvPr/>
            </p:nvGrpSpPr>
            <p:grpSpPr>
              <a:xfrm>
                <a:off x="2880899" y="5229378"/>
                <a:ext cx="270041" cy="180007"/>
                <a:chOff x="1601967" y="3609002"/>
                <a:chExt cx="540039" cy="360048"/>
              </a:xfrm>
            </p:grpSpPr>
            <p:grpSp>
              <p:nvGrpSpPr>
                <p:cNvPr id="66" name="グループ化 65"/>
                <p:cNvGrpSpPr/>
                <p:nvPr/>
              </p:nvGrpSpPr>
              <p:grpSpPr>
                <a:xfrm rot="10800000">
                  <a:off x="1871970" y="3609002"/>
                  <a:ext cx="270036" cy="360048"/>
                  <a:chOff x="6282228" y="1988808"/>
                  <a:chExt cx="270036" cy="360048"/>
                </a:xfrm>
              </p:grpSpPr>
              <p:cxnSp>
                <p:nvCxnSpPr>
                  <p:cNvPr id="73" name="直線コネクタ 7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4" name="直線コネクタ 7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5" name="直線コネクタ 7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6" name="直線コネクタ 7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7" name="グループ化 66"/>
                <p:cNvGrpSpPr/>
                <p:nvPr/>
              </p:nvGrpSpPr>
              <p:grpSpPr>
                <a:xfrm>
                  <a:off x="1601967" y="3609002"/>
                  <a:ext cx="360048" cy="360048"/>
                  <a:chOff x="3131808" y="1628760"/>
                  <a:chExt cx="360048" cy="360048"/>
                </a:xfrm>
              </p:grpSpPr>
              <p:cxnSp>
                <p:nvCxnSpPr>
                  <p:cNvPr id="68" name="直線コネクタ 6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9" name="直線コネクタ 6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0" name="直線コネクタ 6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72" name="円/楕円 7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77" name="Line 46"/>
              <p:cNvSpPr>
                <a:spLocks noChangeShapeType="1"/>
              </p:cNvSpPr>
              <p:nvPr/>
            </p:nvSpPr>
            <p:spPr bwMode="auto">
              <a:xfrm>
                <a:off x="2790898"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 name="Line 46"/>
              <p:cNvSpPr>
                <a:spLocks noChangeShapeType="1"/>
              </p:cNvSpPr>
              <p:nvPr/>
            </p:nvSpPr>
            <p:spPr bwMode="auto">
              <a:xfrm flipH="1" flipV="1">
                <a:off x="3045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79" name="Line 46"/>
              <p:cNvSpPr>
                <a:spLocks noChangeShapeType="1"/>
              </p:cNvSpPr>
              <p:nvPr/>
            </p:nvSpPr>
            <p:spPr bwMode="auto">
              <a:xfrm flipH="1" flipV="1">
                <a:off x="3029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80" name="Line 46"/>
              <p:cNvSpPr>
                <a:spLocks noChangeShapeType="1"/>
              </p:cNvSpPr>
              <p:nvPr/>
            </p:nvSpPr>
            <p:spPr bwMode="auto">
              <a:xfrm flipV="1">
                <a:off x="3017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81" name="Line 46"/>
              <p:cNvSpPr>
                <a:spLocks noChangeShapeType="1"/>
              </p:cNvSpPr>
              <p:nvPr/>
            </p:nvSpPr>
            <p:spPr bwMode="auto">
              <a:xfrm>
                <a:off x="2250893"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82" name="Line 46"/>
              <p:cNvSpPr>
                <a:spLocks noChangeShapeType="1"/>
              </p:cNvSpPr>
              <p:nvPr/>
            </p:nvSpPr>
            <p:spPr bwMode="auto">
              <a:xfrm flipV="1">
                <a:off x="4230914"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83" name="グループ化 82"/>
              <p:cNvGrpSpPr/>
              <p:nvPr/>
            </p:nvGrpSpPr>
            <p:grpSpPr>
              <a:xfrm>
                <a:off x="5220924" y="5424878"/>
                <a:ext cx="1080010" cy="1170013"/>
                <a:chOff x="1871970" y="2562739"/>
                <a:chExt cx="1890019" cy="2559383"/>
              </a:xfrm>
            </p:grpSpPr>
            <p:grpSp>
              <p:nvGrpSpPr>
                <p:cNvPr id="84" name="グループ化 83"/>
                <p:cNvGrpSpPr/>
                <p:nvPr/>
              </p:nvGrpSpPr>
              <p:grpSpPr>
                <a:xfrm>
                  <a:off x="2996967" y="4942097"/>
                  <a:ext cx="360048" cy="180025"/>
                  <a:chOff x="1736601" y="2511982"/>
                  <a:chExt cx="360048" cy="180025"/>
                </a:xfrm>
              </p:grpSpPr>
              <p:cxnSp>
                <p:nvCxnSpPr>
                  <p:cNvPr id="104" name="直線コネクタ 103"/>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5" name="直線コネクタ 104"/>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85" name="グループ化 84"/>
                <p:cNvGrpSpPr/>
                <p:nvPr/>
              </p:nvGrpSpPr>
              <p:grpSpPr>
                <a:xfrm>
                  <a:off x="2861981" y="4059007"/>
                  <a:ext cx="270036" cy="360048"/>
                  <a:chOff x="6282228" y="1988808"/>
                  <a:chExt cx="270036" cy="360048"/>
                </a:xfrm>
              </p:grpSpPr>
              <p:cxnSp>
                <p:nvCxnSpPr>
                  <p:cNvPr id="100" name="直線コネクタ 9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86" name="直線コネクタ 85"/>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88" name="直線コネクタ 87"/>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89"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90"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91" name="グループ化 90"/>
                <p:cNvGrpSpPr/>
                <p:nvPr/>
              </p:nvGrpSpPr>
              <p:grpSpPr>
                <a:xfrm>
                  <a:off x="2771980" y="2978995"/>
                  <a:ext cx="360048" cy="360048"/>
                  <a:chOff x="3131808" y="1628760"/>
                  <a:chExt cx="360048" cy="360048"/>
                </a:xfrm>
              </p:grpSpPr>
              <p:cxnSp>
                <p:nvCxnSpPr>
                  <p:cNvPr id="95" name="直線コネクタ 9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99" name="円/楕円 9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92" name="直線コネクタ 91"/>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93" name="直線コネクタ 92"/>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94" name="直線コネクタ 93"/>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07" name="グループ化 106"/>
              <p:cNvGrpSpPr/>
              <p:nvPr/>
            </p:nvGrpSpPr>
            <p:grpSpPr>
              <a:xfrm rot="10800000">
                <a:off x="5220924" y="4059365"/>
                <a:ext cx="1080010" cy="1170013"/>
                <a:chOff x="1871970" y="2562739"/>
                <a:chExt cx="1890019" cy="2559383"/>
              </a:xfrm>
            </p:grpSpPr>
            <p:grpSp>
              <p:nvGrpSpPr>
                <p:cNvPr id="108" name="グループ化 107"/>
                <p:cNvGrpSpPr/>
                <p:nvPr/>
              </p:nvGrpSpPr>
              <p:grpSpPr>
                <a:xfrm>
                  <a:off x="2996967" y="4942097"/>
                  <a:ext cx="360048" cy="180025"/>
                  <a:chOff x="1736601" y="2511982"/>
                  <a:chExt cx="360048" cy="180025"/>
                </a:xfrm>
              </p:grpSpPr>
              <p:cxnSp>
                <p:nvCxnSpPr>
                  <p:cNvPr id="128" name="直線コネクタ 127"/>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 name="直線コネクタ 128"/>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 name="直線コネクタ 129"/>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09" name="グループ化 108"/>
                <p:cNvGrpSpPr/>
                <p:nvPr/>
              </p:nvGrpSpPr>
              <p:grpSpPr>
                <a:xfrm>
                  <a:off x="2861981" y="4059007"/>
                  <a:ext cx="270036" cy="360048"/>
                  <a:chOff x="6282228" y="1988808"/>
                  <a:chExt cx="270036" cy="360048"/>
                </a:xfrm>
              </p:grpSpPr>
              <p:cxnSp>
                <p:nvCxnSpPr>
                  <p:cNvPr id="124" name="直線コネクタ 12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 name="直線コネクタ 12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6" name="直線コネクタ 12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 name="直線コネクタ 12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10" name="直線コネクタ 109"/>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1" name="直線コネクタ 110"/>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2" name="直線コネクタ 111"/>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13"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4"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15" name="グループ化 114"/>
                <p:cNvGrpSpPr/>
                <p:nvPr/>
              </p:nvGrpSpPr>
              <p:grpSpPr>
                <a:xfrm>
                  <a:off x="2771980" y="2978995"/>
                  <a:ext cx="360048" cy="360048"/>
                  <a:chOff x="3131808" y="1628760"/>
                  <a:chExt cx="360048" cy="360048"/>
                </a:xfrm>
              </p:grpSpPr>
              <p:cxnSp>
                <p:nvCxnSpPr>
                  <p:cNvPr id="119" name="直線コネクタ 11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0" name="直線コネクタ 11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1" name="直線コネクタ 12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 name="直線コネクタ 12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3" name="円/楕円 12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16" name="直線コネクタ 115"/>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7" name="直線コネクタ 116"/>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8" name="直線コネクタ 117"/>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31" name="Line 46"/>
              <p:cNvSpPr>
                <a:spLocks noChangeShapeType="1"/>
              </p:cNvSpPr>
              <p:nvPr/>
            </p:nvSpPr>
            <p:spPr bwMode="auto">
              <a:xfrm flipV="1">
                <a:off x="6300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32" name="グループ化 131"/>
              <p:cNvGrpSpPr/>
              <p:nvPr/>
            </p:nvGrpSpPr>
            <p:grpSpPr>
              <a:xfrm rot="5400000">
                <a:off x="4635901" y="5829899"/>
                <a:ext cx="270041" cy="180007"/>
                <a:chOff x="1601967" y="3609002"/>
                <a:chExt cx="540039" cy="360048"/>
              </a:xfrm>
            </p:grpSpPr>
            <p:grpSp>
              <p:nvGrpSpPr>
                <p:cNvPr id="133" name="グループ化 132"/>
                <p:cNvGrpSpPr/>
                <p:nvPr/>
              </p:nvGrpSpPr>
              <p:grpSpPr>
                <a:xfrm rot="10800000">
                  <a:off x="1871970" y="3609002"/>
                  <a:ext cx="270036" cy="360048"/>
                  <a:chOff x="6282228" y="1988808"/>
                  <a:chExt cx="270036" cy="360048"/>
                </a:xfrm>
              </p:grpSpPr>
              <p:cxnSp>
                <p:nvCxnSpPr>
                  <p:cNvPr id="140" name="直線コネクタ 13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 name="直線コネクタ 14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2" name="直線コネクタ 14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 name="直線コネクタ 14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4" name="グループ化 133"/>
                <p:cNvGrpSpPr/>
                <p:nvPr/>
              </p:nvGrpSpPr>
              <p:grpSpPr>
                <a:xfrm>
                  <a:off x="1601967" y="3609002"/>
                  <a:ext cx="360048" cy="360048"/>
                  <a:chOff x="3131808" y="1628760"/>
                  <a:chExt cx="360048" cy="360048"/>
                </a:xfrm>
              </p:grpSpPr>
              <p:cxnSp>
                <p:nvCxnSpPr>
                  <p:cNvPr id="135" name="直線コネクタ 13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6" name="直線コネクタ 13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 name="直線コネクタ 13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 name="直線コネクタ 13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9" name="円/楕円 13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44" name="グループ化 143"/>
              <p:cNvGrpSpPr/>
              <p:nvPr/>
            </p:nvGrpSpPr>
            <p:grpSpPr>
              <a:xfrm>
                <a:off x="4950921" y="5229378"/>
                <a:ext cx="270041" cy="180007"/>
                <a:chOff x="1601967" y="3609002"/>
                <a:chExt cx="540039" cy="360048"/>
              </a:xfrm>
            </p:grpSpPr>
            <p:grpSp>
              <p:nvGrpSpPr>
                <p:cNvPr id="145" name="グループ化 144"/>
                <p:cNvGrpSpPr/>
                <p:nvPr/>
              </p:nvGrpSpPr>
              <p:grpSpPr>
                <a:xfrm rot="10800000">
                  <a:off x="1871970" y="3609002"/>
                  <a:ext cx="270036" cy="360048"/>
                  <a:chOff x="6282228" y="1988808"/>
                  <a:chExt cx="270036" cy="360048"/>
                </a:xfrm>
              </p:grpSpPr>
              <p:cxnSp>
                <p:nvCxnSpPr>
                  <p:cNvPr id="152" name="直線コネクタ 15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3" name="直線コネクタ 15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4" name="直線コネクタ 15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 name="直線コネクタ 15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6" name="グループ化 145"/>
                <p:cNvGrpSpPr/>
                <p:nvPr/>
              </p:nvGrpSpPr>
              <p:grpSpPr>
                <a:xfrm>
                  <a:off x="1601967" y="3609002"/>
                  <a:ext cx="360048" cy="360048"/>
                  <a:chOff x="3131808" y="1628760"/>
                  <a:chExt cx="360048" cy="360048"/>
                </a:xfrm>
              </p:grpSpPr>
              <p:cxnSp>
                <p:nvCxnSpPr>
                  <p:cNvPr id="147" name="直線コネクタ 14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8" name="直線コネクタ 14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9" name="直線コネクタ 14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 name="直線コネクタ 14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51" name="円/楕円 15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56" name="Line 46"/>
              <p:cNvSpPr>
                <a:spLocks noChangeShapeType="1"/>
              </p:cNvSpPr>
              <p:nvPr/>
            </p:nvSpPr>
            <p:spPr bwMode="auto">
              <a:xfrm>
                <a:off x="4860920"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7" name="Line 46"/>
              <p:cNvSpPr>
                <a:spLocks noChangeShapeType="1"/>
              </p:cNvSpPr>
              <p:nvPr/>
            </p:nvSpPr>
            <p:spPr bwMode="auto">
              <a:xfrm flipH="1" flipV="1">
                <a:off x="5115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58" name="Line 46"/>
              <p:cNvSpPr>
                <a:spLocks noChangeShapeType="1"/>
              </p:cNvSpPr>
              <p:nvPr/>
            </p:nvSpPr>
            <p:spPr bwMode="auto">
              <a:xfrm flipH="1" flipV="1">
                <a:off x="5099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9" name="Line 46"/>
              <p:cNvSpPr>
                <a:spLocks noChangeShapeType="1"/>
              </p:cNvSpPr>
              <p:nvPr/>
            </p:nvSpPr>
            <p:spPr bwMode="auto">
              <a:xfrm flipV="1">
                <a:off x="5087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60" name="Line 46"/>
              <p:cNvSpPr>
                <a:spLocks noChangeShapeType="1"/>
              </p:cNvSpPr>
              <p:nvPr/>
            </p:nvSpPr>
            <p:spPr bwMode="auto">
              <a:xfrm flipV="1">
                <a:off x="6300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grpSp>
          <p:nvGrpSpPr>
            <p:cNvPr id="162" name="グループ化 161"/>
            <p:cNvGrpSpPr/>
            <p:nvPr/>
          </p:nvGrpSpPr>
          <p:grpSpPr>
            <a:xfrm>
              <a:off x="793934" y="2348988"/>
              <a:ext cx="2070023" cy="1080012"/>
              <a:chOff x="2250893" y="4059365"/>
              <a:chExt cx="4590049" cy="2535526"/>
            </a:xfrm>
          </p:grpSpPr>
          <p:grpSp>
            <p:nvGrpSpPr>
              <p:cNvPr id="163" name="グループ化 162"/>
              <p:cNvGrpSpPr/>
              <p:nvPr/>
            </p:nvGrpSpPr>
            <p:grpSpPr>
              <a:xfrm>
                <a:off x="3150902" y="5424878"/>
                <a:ext cx="1080010" cy="1170013"/>
                <a:chOff x="1871970" y="2562739"/>
                <a:chExt cx="1890019" cy="2559383"/>
              </a:xfrm>
            </p:grpSpPr>
            <p:grpSp>
              <p:nvGrpSpPr>
                <p:cNvPr id="297" name="グループ化 296"/>
                <p:cNvGrpSpPr/>
                <p:nvPr/>
              </p:nvGrpSpPr>
              <p:grpSpPr>
                <a:xfrm>
                  <a:off x="2996967" y="4942097"/>
                  <a:ext cx="360048" cy="180025"/>
                  <a:chOff x="1736601" y="2511982"/>
                  <a:chExt cx="360048" cy="180025"/>
                </a:xfrm>
              </p:grpSpPr>
              <p:cxnSp>
                <p:nvCxnSpPr>
                  <p:cNvPr id="317" name="直線コネクタ 316"/>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8" name="直線コネクタ 317"/>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9" name="直線コネクタ 318"/>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98" name="グループ化 297"/>
                <p:cNvGrpSpPr/>
                <p:nvPr/>
              </p:nvGrpSpPr>
              <p:grpSpPr>
                <a:xfrm>
                  <a:off x="2861981" y="4059007"/>
                  <a:ext cx="270036" cy="360048"/>
                  <a:chOff x="6282228" y="1988808"/>
                  <a:chExt cx="270036" cy="360048"/>
                </a:xfrm>
              </p:grpSpPr>
              <p:cxnSp>
                <p:nvCxnSpPr>
                  <p:cNvPr id="313" name="直線コネクタ 31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4" name="直線コネクタ 31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5" name="直線コネクタ 31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6" name="直線コネクタ 31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99" name="直線コネクタ 298"/>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00" name="直線コネクタ 299"/>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01" name="直線コネクタ 300"/>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302"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03"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304" name="グループ化 303"/>
                <p:cNvGrpSpPr/>
                <p:nvPr/>
              </p:nvGrpSpPr>
              <p:grpSpPr>
                <a:xfrm>
                  <a:off x="2771980" y="2978995"/>
                  <a:ext cx="360048" cy="360048"/>
                  <a:chOff x="3131808" y="1628760"/>
                  <a:chExt cx="360048" cy="360048"/>
                </a:xfrm>
              </p:grpSpPr>
              <p:cxnSp>
                <p:nvCxnSpPr>
                  <p:cNvPr id="308" name="直線コネクタ 30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9" name="直線コネクタ 30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0" name="直線コネクタ 30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1" name="直線コネクタ 31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312" name="円/楕円 31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305" name="直線コネクタ 304"/>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06" name="直線コネクタ 305"/>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07" name="直線コネクタ 306"/>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64" name="グループ化 163"/>
              <p:cNvGrpSpPr/>
              <p:nvPr/>
            </p:nvGrpSpPr>
            <p:grpSpPr>
              <a:xfrm rot="10800000">
                <a:off x="3150902" y="4059365"/>
                <a:ext cx="1080010" cy="1170013"/>
                <a:chOff x="1871970" y="2562739"/>
                <a:chExt cx="1890019" cy="2559383"/>
              </a:xfrm>
            </p:grpSpPr>
            <p:grpSp>
              <p:nvGrpSpPr>
                <p:cNvPr id="274" name="グループ化 273"/>
                <p:cNvGrpSpPr/>
                <p:nvPr/>
              </p:nvGrpSpPr>
              <p:grpSpPr>
                <a:xfrm>
                  <a:off x="2996967" y="4942097"/>
                  <a:ext cx="360048" cy="180025"/>
                  <a:chOff x="1736601" y="2511982"/>
                  <a:chExt cx="360048" cy="180025"/>
                </a:xfrm>
              </p:grpSpPr>
              <p:cxnSp>
                <p:nvCxnSpPr>
                  <p:cNvPr id="294" name="直線コネクタ 293"/>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5" name="直線コネクタ 294"/>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6" name="直線コネクタ 295"/>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75" name="グループ化 274"/>
                <p:cNvGrpSpPr/>
                <p:nvPr/>
              </p:nvGrpSpPr>
              <p:grpSpPr>
                <a:xfrm>
                  <a:off x="2861981" y="4059007"/>
                  <a:ext cx="270036" cy="360048"/>
                  <a:chOff x="6282228" y="1988808"/>
                  <a:chExt cx="270036" cy="360048"/>
                </a:xfrm>
              </p:grpSpPr>
              <p:cxnSp>
                <p:nvCxnSpPr>
                  <p:cNvPr id="290" name="直線コネクタ 28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1" name="直線コネクタ 29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2" name="直線コネクタ 29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3" name="直線コネクタ 29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76" name="直線コネクタ 275"/>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77" name="直線コネクタ 276"/>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78" name="直線コネクタ 277"/>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279"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80"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81" name="グループ化 280"/>
                <p:cNvGrpSpPr/>
                <p:nvPr/>
              </p:nvGrpSpPr>
              <p:grpSpPr>
                <a:xfrm>
                  <a:off x="2771980" y="2978995"/>
                  <a:ext cx="360048" cy="360048"/>
                  <a:chOff x="3131808" y="1628760"/>
                  <a:chExt cx="360048" cy="360048"/>
                </a:xfrm>
              </p:grpSpPr>
              <p:cxnSp>
                <p:nvCxnSpPr>
                  <p:cNvPr id="285" name="直線コネクタ 28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6" name="直線コネクタ 28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7" name="直線コネクタ 28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8" name="直線コネクタ 28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89" name="円/楕円 28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82" name="直線コネクタ 281"/>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83" name="直線コネクタ 282"/>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84" name="直線コネクタ 283"/>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65" name="Line 46"/>
              <p:cNvSpPr>
                <a:spLocks noChangeShapeType="1"/>
              </p:cNvSpPr>
              <p:nvPr/>
            </p:nvSpPr>
            <p:spPr bwMode="auto">
              <a:xfrm flipV="1">
                <a:off x="4230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66" name="グループ化 165"/>
              <p:cNvGrpSpPr/>
              <p:nvPr/>
            </p:nvGrpSpPr>
            <p:grpSpPr>
              <a:xfrm rot="5400000">
                <a:off x="2565879" y="5829899"/>
                <a:ext cx="270041" cy="180007"/>
                <a:chOff x="1601967" y="3609002"/>
                <a:chExt cx="540039" cy="360048"/>
              </a:xfrm>
            </p:grpSpPr>
            <p:grpSp>
              <p:nvGrpSpPr>
                <p:cNvPr id="263" name="グループ化 262"/>
                <p:cNvGrpSpPr/>
                <p:nvPr/>
              </p:nvGrpSpPr>
              <p:grpSpPr>
                <a:xfrm rot="10800000">
                  <a:off x="1871970" y="3609002"/>
                  <a:ext cx="270036" cy="360048"/>
                  <a:chOff x="6282228" y="1988808"/>
                  <a:chExt cx="270036" cy="360048"/>
                </a:xfrm>
              </p:grpSpPr>
              <p:cxnSp>
                <p:nvCxnSpPr>
                  <p:cNvPr id="270" name="直線コネクタ 26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1" name="直線コネクタ 27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2" name="直線コネクタ 27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3" name="直線コネクタ 27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64" name="グループ化 263"/>
                <p:cNvGrpSpPr/>
                <p:nvPr/>
              </p:nvGrpSpPr>
              <p:grpSpPr>
                <a:xfrm>
                  <a:off x="1601967" y="3609002"/>
                  <a:ext cx="360048" cy="360048"/>
                  <a:chOff x="3131808" y="1628760"/>
                  <a:chExt cx="360048" cy="360048"/>
                </a:xfrm>
              </p:grpSpPr>
              <p:cxnSp>
                <p:nvCxnSpPr>
                  <p:cNvPr id="265" name="直線コネクタ 26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6" name="直線コネクタ 26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7" name="直線コネクタ 26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8" name="直線コネクタ 26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69" name="円/楕円 26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67" name="グループ化 166"/>
              <p:cNvGrpSpPr/>
              <p:nvPr/>
            </p:nvGrpSpPr>
            <p:grpSpPr>
              <a:xfrm>
                <a:off x="2880899" y="5229378"/>
                <a:ext cx="270041" cy="180007"/>
                <a:chOff x="1601967" y="3609002"/>
                <a:chExt cx="540039" cy="360048"/>
              </a:xfrm>
            </p:grpSpPr>
            <p:grpSp>
              <p:nvGrpSpPr>
                <p:cNvPr id="252" name="グループ化 251"/>
                <p:cNvGrpSpPr/>
                <p:nvPr/>
              </p:nvGrpSpPr>
              <p:grpSpPr>
                <a:xfrm rot="10800000">
                  <a:off x="1871970" y="3609002"/>
                  <a:ext cx="270036" cy="360048"/>
                  <a:chOff x="6282228" y="1988808"/>
                  <a:chExt cx="270036" cy="360048"/>
                </a:xfrm>
              </p:grpSpPr>
              <p:cxnSp>
                <p:nvCxnSpPr>
                  <p:cNvPr id="259" name="直線コネクタ 25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0" name="直線コネクタ 25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1" name="直線コネクタ 26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2" name="直線コネクタ 26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53" name="グループ化 252"/>
                <p:cNvGrpSpPr/>
                <p:nvPr/>
              </p:nvGrpSpPr>
              <p:grpSpPr>
                <a:xfrm>
                  <a:off x="1601967" y="3609002"/>
                  <a:ext cx="360048" cy="360048"/>
                  <a:chOff x="3131808" y="1628760"/>
                  <a:chExt cx="360048" cy="360048"/>
                </a:xfrm>
              </p:grpSpPr>
              <p:cxnSp>
                <p:nvCxnSpPr>
                  <p:cNvPr id="254" name="直線コネクタ 25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5" name="直線コネクタ 25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6" name="直線コネクタ 25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7" name="直線コネクタ 25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58" name="円/楕円 25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68" name="Line 46"/>
              <p:cNvSpPr>
                <a:spLocks noChangeShapeType="1"/>
              </p:cNvSpPr>
              <p:nvPr/>
            </p:nvSpPr>
            <p:spPr bwMode="auto">
              <a:xfrm>
                <a:off x="2790898"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69" name="Line 46"/>
              <p:cNvSpPr>
                <a:spLocks noChangeShapeType="1"/>
              </p:cNvSpPr>
              <p:nvPr/>
            </p:nvSpPr>
            <p:spPr bwMode="auto">
              <a:xfrm flipH="1" flipV="1">
                <a:off x="3045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70" name="Line 46"/>
              <p:cNvSpPr>
                <a:spLocks noChangeShapeType="1"/>
              </p:cNvSpPr>
              <p:nvPr/>
            </p:nvSpPr>
            <p:spPr bwMode="auto">
              <a:xfrm flipH="1" flipV="1">
                <a:off x="3029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71" name="Line 46"/>
              <p:cNvSpPr>
                <a:spLocks noChangeShapeType="1"/>
              </p:cNvSpPr>
              <p:nvPr/>
            </p:nvSpPr>
            <p:spPr bwMode="auto">
              <a:xfrm flipV="1">
                <a:off x="3017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72" name="Line 46"/>
              <p:cNvSpPr>
                <a:spLocks noChangeShapeType="1"/>
              </p:cNvSpPr>
              <p:nvPr/>
            </p:nvSpPr>
            <p:spPr bwMode="auto">
              <a:xfrm>
                <a:off x="2250893"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73" name="Line 46"/>
              <p:cNvSpPr>
                <a:spLocks noChangeShapeType="1"/>
              </p:cNvSpPr>
              <p:nvPr/>
            </p:nvSpPr>
            <p:spPr bwMode="auto">
              <a:xfrm flipV="1">
                <a:off x="4230914"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174" name="グループ化 173"/>
              <p:cNvGrpSpPr/>
              <p:nvPr/>
            </p:nvGrpSpPr>
            <p:grpSpPr>
              <a:xfrm>
                <a:off x="5220924" y="5424878"/>
                <a:ext cx="1080010" cy="1170013"/>
                <a:chOff x="1871970" y="2562739"/>
                <a:chExt cx="1890019" cy="2559383"/>
              </a:xfrm>
            </p:grpSpPr>
            <p:grpSp>
              <p:nvGrpSpPr>
                <p:cNvPr id="229" name="グループ化 228"/>
                <p:cNvGrpSpPr/>
                <p:nvPr/>
              </p:nvGrpSpPr>
              <p:grpSpPr>
                <a:xfrm>
                  <a:off x="2996967" y="4942097"/>
                  <a:ext cx="360048" cy="180025"/>
                  <a:chOff x="1736601" y="2511982"/>
                  <a:chExt cx="360048" cy="180025"/>
                </a:xfrm>
              </p:grpSpPr>
              <p:cxnSp>
                <p:nvCxnSpPr>
                  <p:cNvPr id="249" name="直線コネクタ 248"/>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0" name="直線コネクタ 249"/>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1" name="直線コネクタ 250"/>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30" name="グループ化 229"/>
                <p:cNvGrpSpPr/>
                <p:nvPr/>
              </p:nvGrpSpPr>
              <p:grpSpPr>
                <a:xfrm>
                  <a:off x="2861981" y="4059007"/>
                  <a:ext cx="270036" cy="360048"/>
                  <a:chOff x="6282228" y="1988808"/>
                  <a:chExt cx="270036" cy="360048"/>
                </a:xfrm>
              </p:grpSpPr>
              <p:cxnSp>
                <p:nvCxnSpPr>
                  <p:cNvPr id="245" name="直線コネクタ 244"/>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6" name="直線コネクタ 245"/>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7" name="直線コネクタ 246"/>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8" name="直線コネクタ 247"/>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31" name="直線コネクタ 230"/>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32" name="直線コネクタ 231"/>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33" name="直線コネクタ 232"/>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234"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35"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36" name="グループ化 235"/>
                <p:cNvGrpSpPr/>
                <p:nvPr/>
              </p:nvGrpSpPr>
              <p:grpSpPr>
                <a:xfrm>
                  <a:off x="2771980" y="2978995"/>
                  <a:ext cx="360048" cy="360048"/>
                  <a:chOff x="3131808" y="1628760"/>
                  <a:chExt cx="360048" cy="360048"/>
                </a:xfrm>
              </p:grpSpPr>
              <p:cxnSp>
                <p:nvCxnSpPr>
                  <p:cNvPr id="240" name="直線コネクタ 239"/>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1" name="直線コネクタ 240"/>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2" name="直線コネクタ 241"/>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3" name="直線コネクタ 242"/>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44" name="円/楕円 243"/>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37" name="直線コネクタ 236"/>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38" name="直線コネクタ 237"/>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39" name="直線コネクタ 238"/>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75" name="グループ化 174"/>
              <p:cNvGrpSpPr/>
              <p:nvPr/>
            </p:nvGrpSpPr>
            <p:grpSpPr>
              <a:xfrm rot="10800000">
                <a:off x="5220924" y="4059365"/>
                <a:ext cx="1080010" cy="1170013"/>
                <a:chOff x="1871970" y="2562739"/>
                <a:chExt cx="1890019" cy="2559383"/>
              </a:xfrm>
            </p:grpSpPr>
            <p:grpSp>
              <p:nvGrpSpPr>
                <p:cNvPr id="206" name="グループ化 205"/>
                <p:cNvGrpSpPr/>
                <p:nvPr/>
              </p:nvGrpSpPr>
              <p:grpSpPr>
                <a:xfrm>
                  <a:off x="2996967" y="4942097"/>
                  <a:ext cx="360048" cy="180025"/>
                  <a:chOff x="1736601" y="2511982"/>
                  <a:chExt cx="360048" cy="180025"/>
                </a:xfrm>
              </p:grpSpPr>
              <p:cxnSp>
                <p:nvCxnSpPr>
                  <p:cNvPr id="226" name="直線コネクタ 225"/>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7" name="直線コネクタ 226"/>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8" name="直線コネクタ 227"/>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07" name="グループ化 206"/>
                <p:cNvGrpSpPr/>
                <p:nvPr/>
              </p:nvGrpSpPr>
              <p:grpSpPr>
                <a:xfrm>
                  <a:off x="2861981" y="4059007"/>
                  <a:ext cx="270036" cy="360048"/>
                  <a:chOff x="6282228" y="1988808"/>
                  <a:chExt cx="270036" cy="360048"/>
                </a:xfrm>
              </p:grpSpPr>
              <p:cxnSp>
                <p:nvCxnSpPr>
                  <p:cNvPr id="222" name="直線コネクタ 22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3" name="直線コネクタ 22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4" name="直線コネクタ 22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5" name="直線コネクタ 22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08" name="直線コネクタ 207"/>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09" name="直線コネクタ 208"/>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10" name="直線コネクタ 209"/>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211"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12"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13" name="グループ化 212"/>
                <p:cNvGrpSpPr/>
                <p:nvPr/>
              </p:nvGrpSpPr>
              <p:grpSpPr>
                <a:xfrm>
                  <a:off x="2771980" y="2978995"/>
                  <a:ext cx="360048" cy="360048"/>
                  <a:chOff x="3131808" y="1628760"/>
                  <a:chExt cx="360048" cy="360048"/>
                </a:xfrm>
              </p:grpSpPr>
              <p:cxnSp>
                <p:nvCxnSpPr>
                  <p:cNvPr id="217" name="直線コネクタ 21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8" name="直線コネクタ 21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9" name="直線コネクタ 21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0" name="直線コネクタ 21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21" name="円/楕円 22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14" name="直線コネクタ 213"/>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15" name="直線コネクタ 214"/>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16" name="直線コネクタ 215"/>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76" name="Line 46"/>
              <p:cNvSpPr>
                <a:spLocks noChangeShapeType="1"/>
              </p:cNvSpPr>
              <p:nvPr/>
            </p:nvSpPr>
            <p:spPr bwMode="auto">
              <a:xfrm flipV="1">
                <a:off x="6300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77" name="グループ化 176"/>
              <p:cNvGrpSpPr/>
              <p:nvPr/>
            </p:nvGrpSpPr>
            <p:grpSpPr>
              <a:xfrm rot="5400000">
                <a:off x="4635901" y="5829899"/>
                <a:ext cx="270041" cy="180007"/>
                <a:chOff x="1601967" y="3609002"/>
                <a:chExt cx="540039" cy="360048"/>
              </a:xfrm>
            </p:grpSpPr>
            <p:grpSp>
              <p:nvGrpSpPr>
                <p:cNvPr id="195" name="グループ化 194"/>
                <p:cNvGrpSpPr/>
                <p:nvPr/>
              </p:nvGrpSpPr>
              <p:grpSpPr>
                <a:xfrm rot="10800000">
                  <a:off x="1871970" y="3609002"/>
                  <a:ext cx="270036" cy="360048"/>
                  <a:chOff x="6282228" y="1988808"/>
                  <a:chExt cx="270036" cy="360048"/>
                </a:xfrm>
              </p:grpSpPr>
              <p:cxnSp>
                <p:nvCxnSpPr>
                  <p:cNvPr id="202" name="直線コネクタ 20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3" name="直線コネクタ 20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4" name="直線コネクタ 20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5" name="直線コネクタ 20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96" name="グループ化 195"/>
                <p:cNvGrpSpPr/>
                <p:nvPr/>
              </p:nvGrpSpPr>
              <p:grpSpPr>
                <a:xfrm>
                  <a:off x="1601967" y="3609002"/>
                  <a:ext cx="360048" cy="360048"/>
                  <a:chOff x="3131808" y="1628760"/>
                  <a:chExt cx="360048" cy="360048"/>
                </a:xfrm>
              </p:grpSpPr>
              <p:cxnSp>
                <p:nvCxnSpPr>
                  <p:cNvPr id="197" name="直線コネクタ 19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8" name="直線コネクタ 19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9" name="直線コネクタ 19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0" name="直線コネクタ 19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01" name="円/楕円 20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78" name="グループ化 177"/>
              <p:cNvGrpSpPr/>
              <p:nvPr/>
            </p:nvGrpSpPr>
            <p:grpSpPr>
              <a:xfrm>
                <a:off x="4950921" y="5229378"/>
                <a:ext cx="270041" cy="180007"/>
                <a:chOff x="1601967" y="3609002"/>
                <a:chExt cx="540039" cy="360048"/>
              </a:xfrm>
            </p:grpSpPr>
            <p:grpSp>
              <p:nvGrpSpPr>
                <p:cNvPr id="184" name="グループ化 183"/>
                <p:cNvGrpSpPr/>
                <p:nvPr/>
              </p:nvGrpSpPr>
              <p:grpSpPr>
                <a:xfrm rot="10800000">
                  <a:off x="1871970" y="3609002"/>
                  <a:ext cx="270036" cy="360048"/>
                  <a:chOff x="6282228" y="1988808"/>
                  <a:chExt cx="270036" cy="360048"/>
                </a:xfrm>
              </p:grpSpPr>
              <p:cxnSp>
                <p:nvCxnSpPr>
                  <p:cNvPr id="191" name="直線コネクタ 19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2" name="直線コネクタ 19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3" name="直線コネクタ 19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4" name="直線コネクタ 19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85" name="グループ化 184"/>
                <p:cNvGrpSpPr/>
                <p:nvPr/>
              </p:nvGrpSpPr>
              <p:grpSpPr>
                <a:xfrm>
                  <a:off x="1601967" y="3609002"/>
                  <a:ext cx="360048" cy="360048"/>
                  <a:chOff x="3131808" y="1628760"/>
                  <a:chExt cx="360048" cy="360048"/>
                </a:xfrm>
              </p:grpSpPr>
              <p:cxnSp>
                <p:nvCxnSpPr>
                  <p:cNvPr id="186" name="直線コネクタ 18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7" name="直線コネクタ 18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8" name="直線コネクタ 18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9" name="直線コネクタ 18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90" name="円/楕円 18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79" name="Line 46"/>
              <p:cNvSpPr>
                <a:spLocks noChangeShapeType="1"/>
              </p:cNvSpPr>
              <p:nvPr/>
            </p:nvSpPr>
            <p:spPr bwMode="auto">
              <a:xfrm>
                <a:off x="4860920"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80" name="Line 46"/>
              <p:cNvSpPr>
                <a:spLocks noChangeShapeType="1"/>
              </p:cNvSpPr>
              <p:nvPr/>
            </p:nvSpPr>
            <p:spPr bwMode="auto">
              <a:xfrm flipH="1" flipV="1">
                <a:off x="5115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81" name="Line 46"/>
              <p:cNvSpPr>
                <a:spLocks noChangeShapeType="1"/>
              </p:cNvSpPr>
              <p:nvPr/>
            </p:nvSpPr>
            <p:spPr bwMode="auto">
              <a:xfrm flipH="1" flipV="1">
                <a:off x="5099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82" name="Line 46"/>
              <p:cNvSpPr>
                <a:spLocks noChangeShapeType="1"/>
              </p:cNvSpPr>
              <p:nvPr/>
            </p:nvSpPr>
            <p:spPr bwMode="auto">
              <a:xfrm flipV="1">
                <a:off x="5087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83" name="Line 46"/>
              <p:cNvSpPr>
                <a:spLocks noChangeShapeType="1"/>
              </p:cNvSpPr>
              <p:nvPr/>
            </p:nvSpPr>
            <p:spPr bwMode="auto">
              <a:xfrm flipV="1">
                <a:off x="6300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grpSp>
          <p:nvGrpSpPr>
            <p:cNvPr id="698" name="グループ化 697"/>
            <p:cNvGrpSpPr/>
            <p:nvPr/>
          </p:nvGrpSpPr>
          <p:grpSpPr>
            <a:xfrm>
              <a:off x="2593954" y="2078985"/>
              <a:ext cx="1276461" cy="720046"/>
              <a:chOff x="4034971" y="2618991"/>
              <a:chExt cx="2838485" cy="1530055"/>
            </a:xfrm>
          </p:grpSpPr>
          <p:grpSp>
            <p:nvGrpSpPr>
              <p:cNvPr id="636" name="グループ化 635"/>
              <p:cNvGrpSpPr/>
              <p:nvPr/>
            </p:nvGrpSpPr>
            <p:grpSpPr>
              <a:xfrm>
                <a:off x="5112005" y="2618991"/>
                <a:ext cx="1761451" cy="1530055"/>
                <a:chOff x="2361128" y="5229020"/>
                <a:chExt cx="1040859" cy="810047"/>
              </a:xfrm>
            </p:grpSpPr>
            <p:grpSp>
              <p:nvGrpSpPr>
                <p:cNvPr id="637" name="グループ化 636"/>
                <p:cNvGrpSpPr/>
                <p:nvPr/>
              </p:nvGrpSpPr>
              <p:grpSpPr>
                <a:xfrm rot="16200000">
                  <a:off x="2906965" y="5814043"/>
                  <a:ext cx="270041" cy="180007"/>
                  <a:chOff x="1601967" y="3609002"/>
                  <a:chExt cx="540039" cy="360048"/>
                </a:xfrm>
              </p:grpSpPr>
              <p:grpSp>
                <p:nvGrpSpPr>
                  <p:cNvPr id="657" name="グループ化 656"/>
                  <p:cNvGrpSpPr/>
                  <p:nvPr/>
                </p:nvGrpSpPr>
                <p:grpSpPr>
                  <a:xfrm rot="10800000">
                    <a:off x="1871970" y="3609002"/>
                    <a:ext cx="270036" cy="360048"/>
                    <a:chOff x="6282228" y="1988808"/>
                    <a:chExt cx="270036" cy="360048"/>
                  </a:xfrm>
                </p:grpSpPr>
                <p:cxnSp>
                  <p:nvCxnSpPr>
                    <p:cNvPr id="664" name="直線コネクタ 66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5" name="直線コネクタ 66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6" name="直線コネクタ 66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7" name="直線コネクタ 66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58" name="グループ化 657"/>
                  <p:cNvGrpSpPr/>
                  <p:nvPr/>
                </p:nvGrpSpPr>
                <p:grpSpPr>
                  <a:xfrm>
                    <a:off x="1601967" y="3609002"/>
                    <a:ext cx="360048" cy="360048"/>
                    <a:chOff x="3131808" y="1628760"/>
                    <a:chExt cx="360048" cy="360048"/>
                  </a:xfrm>
                </p:grpSpPr>
                <p:cxnSp>
                  <p:nvCxnSpPr>
                    <p:cNvPr id="659" name="直線コネクタ 65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0" name="直線コネクタ 65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1" name="直線コネクタ 66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2" name="直線コネクタ 66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663" name="円/楕円 66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638" name="グループ化 637"/>
                <p:cNvGrpSpPr/>
                <p:nvPr/>
              </p:nvGrpSpPr>
              <p:grpSpPr>
                <a:xfrm rot="5400000">
                  <a:off x="2906965" y="5274037"/>
                  <a:ext cx="270041" cy="180007"/>
                  <a:chOff x="1601967" y="3609002"/>
                  <a:chExt cx="540039" cy="360048"/>
                </a:xfrm>
              </p:grpSpPr>
              <p:grpSp>
                <p:nvGrpSpPr>
                  <p:cNvPr id="646" name="グループ化 645"/>
                  <p:cNvGrpSpPr/>
                  <p:nvPr/>
                </p:nvGrpSpPr>
                <p:grpSpPr>
                  <a:xfrm rot="10800000">
                    <a:off x="1871970" y="3609002"/>
                    <a:ext cx="270036" cy="360048"/>
                    <a:chOff x="6282228" y="1988808"/>
                    <a:chExt cx="270036" cy="360048"/>
                  </a:xfrm>
                </p:grpSpPr>
                <p:cxnSp>
                  <p:nvCxnSpPr>
                    <p:cNvPr id="653" name="直線コネクタ 65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4" name="直線コネクタ 65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5" name="直線コネクタ 65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6" name="直線コネクタ 65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47" name="グループ化 646"/>
                  <p:cNvGrpSpPr/>
                  <p:nvPr/>
                </p:nvGrpSpPr>
                <p:grpSpPr>
                  <a:xfrm>
                    <a:off x="1601967" y="3609002"/>
                    <a:ext cx="360048" cy="360048"/>
                    <a:chOff x="3131808" y="1628760"/>
                    <a:chExt cx="360048" cy="360048"/>
                  </a:xfrm>
                </p:grpSpPr>
                <p:cxnSp>
                  <p:nvCxnSpPr>
                    <p:cNvPr id="648" name="直線コネクタ 64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49" name="直線コネクタ 64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0" name="直線コネクタ 64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1" name="直線コネクタ 65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652" name="円/楕円 65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639" name="Line 46"/>
                <p:cNvSpPr>
                  <a:spLocks noChangeShapeType="1"/>
                </p:cNvSpPr>
                <p:nvPr/>
              </p:nvSpPr>
              <p:spPr bwMode="auto">
                <a:xfrm flipH="1" flipV="1">
                  <a:off x="3041983" y="5499022"/>
                  <a:ext cx="0" cy="24777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640" name="Line 46"/>
                <p:cNvSpPr>
                  <a:spLocks noChangeShapeType="1"/>
                </p:cNvSpPr>
                <p:nvPr/>
              </p:nvSpPr>
              <p:spPr bwMode="auto">
                <a:xfrm flipV="1">
                  <a:off x="2681979" y="538577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641" name="Line 46"/>
                <p:cNvSpPr>
                  <a:spLocks noChangeShapeType="1"/>
                </p:cNvSpPr>
                <p:nvPr/>
              </p:nvSpPr>
              <p:spPr bwMode="auto">
                <a:xfrm flipV="1">
                  <a:off x="2681979"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642" name="Line 46"/>
                <p:cNvSpPr>
                  <a:spLocks noChangeShapeType="1"/>
                </p:cNvSpPr>
                <p:nvPr/>
              </p:nvSpPr>
              <p:spPr bwMode="auto">
                <a:xfrm flipV="1">
                  <a:off x="3131984"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643" name="Freeform 10"/>
                <p:cNvSpPr>
                  <a:spLocks/>
                </p:cNvSpPr>
                <p:nvPr/>
              </p:nvSpPr>
              <p:spPr bwMode="auto">
                <a:xfrm rot="5400000" flipV="1">
                  <a:off x="3019216" y="5498542"/>
                  <a:ext cx="49554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45" name="Line 46"/>
                <p:cNvSpPr>
                  <a:spLocks noChangeShapeType="1"/>
                </p:cNvSpPr>
                <p:nvPr/>
              </p:nvSpPr>
              <p:spPr bwMode="auto">
                <a:xfrm flipV="1">
                  <a:off x="2361128" y="5626621"/>
                  <a:ext cx="680728" cy="0"/>
                </a:xfrm>
                <a:prstGeom prst="line">
                  <a:avLst/>
                </a:prstGeom>
                <a:noFill/>
                <a:ln w="9525">
                  <a:solidFill>
                    <a:schemeClr val="tx1"/>
                  </a:solidFill>
                  <a:round/>
                  <a:headEnd type="none" w="sm" len="sm"/>
                  <a:tailEnd type="oval" w="sm" len="sm"/>
                </a:ln>
                <a:effectLst/>
              </p:spPr>
              <p:txBody>
                <a:bodyPr wrap="none" lIns="90000" tIns="46800" rIns="90000" bIns="46800" anchor="ctr"/>
                <a:lstStyle/>
                <a:p>
                  <a:endParaRPr lang="ja-JP" altLang="en-US"/>
                </a:p>
              </p:txBody>
            </p:sp>
          </p:grpSp>
          <p:grpSp>
            <p:nvGrpSpPr>
              <p:cNvPr id="668" name="グループ化 667"/>
              <p:cNvGrpSpPr/>
              <p:nvPr/>
            </p:nvGrpSpPr>
            <p:grpSpPr>
              <a:xfrm>
                <a:off x="4034971" y="2850249"/>
                <a:ext cx="1080010" cy="1170013"/>
                <a:chOff x="1871970" y="2562739"/>
                <a:chExt cx="1890019" cy="2559383"/>
              </a:xfrm>
            </p:grpSpPr>
            <p:grpSp>
              <p:nvGrpSpPr>
                <p:cNvPr id="669" name="グループ化 668"/>
                <p:cNvGrpSpPr/>
                <p:nvPr/>
              </p:nvGrpSpPr>
              <p:grpSpPr>
                <a:xfrm>
                  <a:off x="2996967" y="4942097"/>
                  <a:ext cx="360048" cy="180025"/>
                  <a:chOff x="1736601" y="2511982"/>
                  <a:chExt cx="360048" cy="180025"/>
                </a:xfrm>
              </p:grpSpPr>
              <p:cxnSp>
                <p:nvCxnSpPr>
                  <p:cNvPr id="689" name="直線コネクタ 688"/>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90" name="直線コネクタ 689"/>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91" name="直線コネクタ 690"/>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70" name="グループ化 669"/>
                <p:cNvGrpSpPr/>
                <p:nvPr/>
              </p:nvGrpSpPr>
              <p:grpSpPr>
                <a:xfrm>
                  <a:off x="2861981" y="4059007"/>
                  <a:ext cx="270036" cy="360048"/>
                  <a:chOff x="6282228" y="1988808"/>
                  <a:chExt cx="270036" cy="360048"/>
                </a:xfrm>
              </p:grpSpPr>
              <p:cxnSp>
                <p:nvCxnSpPr>
                  <p:cNvPr id="685" name="直線コネクタ 684"/>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6" name="直線コネクタ 685"/>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7" name="直線コネクタ 686"/>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8" name="直線コネクタ 687"/>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671" name="直線コネクタ 670"/>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72" name="直線コネクタ 671"/>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673" name="直線コネクタ 672"/>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674"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75"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676" name="グループ化 675"/>
                <p:cNvGrpSpPr/>
                <p:nvPr/>
              </p:nvGrpSpPr>
              <p:grpSpPr>
                <a:xfrm>
                  <a:off x="2771980" y="2978995"/>
                  <a:ext cx="360048" cy="360048"/>
                  <a:chOff x="3131808" y="1628760"/>
                  <a:chExt cx="360048" cy="360048"/>
                </a:xfrm>
              </p:grpSpPr>
              <p:cxnSp>
                <p:nvCxnSpPr>
                  <p:cNvPr id="680" name="直線コネクタ 679"/>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1" name="直線コネクタ 680"/>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2" name="直線コネクタ 681"/>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3" name="直線コネクタ 682"/>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684" name="円/楕円 683"/>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677" name="直線コネクタ 676"/>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78" name="直線コネクタ 677"/>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679" name="直線コネクタ 678"/>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grpSp>
          <p:nvGrpSpPr>
            <p:cNvPr id="756" name="グループ化 755"/>
            <p:cNvGrpSpPr/>
            <p:nvPr/>
          </p:nvGrpSpPr>
          <p:grpSpPr>
            <a:xfrm>
              <a:off x="3493964" y="3338999"/>
              <a:ext cx="1618042" cy="720046"/>
              <a:chOff x="4034971" y="2618991"/>
              <a:chExt cx="3598064" cy="1530055"/>
            </a:xfrm>
          </p:grpSpPr>
          <p:grpSp>
            <p:nvGrpSpPr>
              <p:cNvPr id="757" name="グループ化 756"/>
              <p:cNvGrpSpPr/>
              <p:nvPr/>
            </p:nvGrpSpPr>
            <p:grpSpPr>
              <a:xfrm>
                <a:off x="5112006" y="2618991"/>
                <a:ext cx="2521029" cy="1530055"/>
                <a:chOff x="2361128" y="5229020"/>
                <a:chExt cx="1489701" cy="810047"/>
              </a:xfrm>
            </p:grpSpPr>
            <p:grpSp>
              <p:nvGrpSpPr>
                <p:cNvPr id="782" name="グループ化 781"/>
                <p:cNvGrpSpPr/>
                <p:nvPr/>
              </p:nvGrpSpPr>
              <p:grpSpPr>
                <a:xfrm rot="16200000">
                  <a:off x="2906965" y="5814043"/>
                  <a:ext cx="270041" cy="180007"/>
                  <a:chOff x="1601967" y="3609002"/>
                  <a:chExt cx="540039" cy="360048"/>
                </a:xfrm>
              </p:grpSpPr>
              <p:grpSp>
                <p:nvGrpSpPr>
                  <p:cNvPr id="802" name="グループ化 801"/>
                  <p:cNvGrpSpPr/>
                  <p:nvPr/>
                </p:nvGrpSpPr>
                <p:grpSpPr>
                  <a:xfrm rot="10800000">
                    <a:off x="1871970" y="3609002"/>
                    <a:ext cx="270036" cy="360048"/>
                    <a:chOff x="6282228" y="1988808"/>
                    <a:chExt cx="270036" cy="360048"/>
                  </a:xfrm>
                </p:grpSpPr>
                <p:cxnSp>
                  <p:nvCxnSpPr>
                    <p:cNvPr id="809" name="直線コネクタ 80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10" name="直線コネクタ 80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11" name="直線コネクタ 81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12" name="直線コネクタ 81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803" name="グループ化 802"/>
                  <p:cNvGrpSpPr/>
                  <p:nvPr/>
                </p:nvGrpSpPr>
                <p:grpSpPr>
                  <a:xfrm>
                    <a:off x="1601967" y="3609002"/>
                    <a:ext cx="360048" cy="360048"/>
                    <a:chOff x="3131808" y="1628760"/>
                    <a:chExt cx="360048" cy="360048"/>
                  </a:xfrm>
                </p:grpSpPr>
                <p:cxnSp>
                  <p:nvCxnSpPr>
                    <p:cNvPr id="804" name="直線コネクタ 80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5" name="直線コネクタ 80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6" name="直線コネクタ 80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7" name="直線コネクタ 80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808" name="円/楕円 80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783" name="グループ化 782"/>
                <p:cNvGrpSpPr/>
                <p:nvPr/>
              </p:nvGrpSpPr>
              <p:grpSpPr>
                <a:xfrm rot="5400000">
                  <a:off x="2906965" y="5274037"/>
                  <a:ext cx="270041" cy="180007"/>
                  <a:chOff x="1601967" y="3609002"/>
                  <a:chExt cx="540039" cy="360048"/>
                </a:xfrm>
              </p:grpSpPr>
              <p:grpSp>
                <p:nvGrpSpPr>
                  <p:cNvPr id="791" name="グループ化 790"/>
                  <p:cNvGrpSpPr/>
                  <p:nvPr/>
                </p:nvGrpSpPr>
                <p:grpSpPr>
                  <a:xfrm rot="10800000">
                    <a:off x="1871970" y="3609002"/>
                    <a:ext cx="270036" cy="360048"/>
                    <a:chOff x="6282228" y="1988808"/>
                    <a:chExt cx="270036" cy="360048"/>
                  </a:xfrm>
                </p:grpSpPr>
                <p:cxnSp>
                  <p:nvCxnSpPr>
                    <p:cNvPr id="798" name="直線コネクタ 797"/>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9" name="直線コネクタ 798"/>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0" name="直線コネクタ 799"/>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1" name="直線コネクタ 800"/>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792" name="グループ化 791"/>
                  <p:cNvGrpSpPr/>
                  <p:nvPr/>
                </p:nvGrpSpPr>
                <p:grpSpPr>
                  <a:xfrm>
                    <a:off x="1601967" y="3609002"/>
                    <a:ext cx="360048" cy="360048"/>
                    <a:chOff x="3131808" y="1628760"/>
                    <a:chExt cx="360048" cy="360048"/>
                  </a:xfrm>
                </p:grpSpPr>
                <p:cxnSp>
                  <p:nvCxnSpPr>
                    <p:cNvPr id="793" name="直線コネクタ 792"/>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4" name="直線コネクタ 793"/>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5" name="直線コネクタ 794"/>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6" name="直線コネクタ 795"/>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797" name="円/楕円 796"/>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784" name="Line 46"/>
                <p:cNvSpPr>
                  <a:spLocks noChangeShapeType="1"/>
                </p:cNvSpPr>
                <p:nvPr/>
              </p:nvSpPr>
              <p:spPr bwMode="auto">
                <a:xfrm flipH="1" flipV="1">
                  <a:off x="3041983" y="5499022"/>
                  <a:ext cx="0" cy="24777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5" name="Line 46"/>
                <p:cNvSpPr>
                  <a:spLocks noChangeShapeType="1"/>
                </p:cNvSpPr>
                <p:nvPr/>
              </p:nvSpPr>
              <p:spPr bwMode="auto">
                <a:xfrm flipV="1">
                  <a:off x="2681979" y="538577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6" name="Line 46"/>
                <p:cNvSpPr>
                  <a:spLocks noChangeShapeType="1"/>
                </p:cNvSpPr>
                <p:nvPr/>
              </p:nvSpPr>
              <p:spPr bwMode="auto">
                <a:xfrm flipV="1">
                  <a:off x="2681979"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7" name="Line 46"/>
                <p:cNvSpPr>
                  <a:spLocks noChangeShapeType="1"/>
                </p:cNvSpPr>
                <p:nvPr/>
              </p:nvSpPr>
              <p:spPr bwMode="auto">
                <a:xfrm flipV="1">
                  <a:off x="3131984"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8" name="Freeform 10"/>
                <p:cNvSpPr>
                  <a:spLocks/>
                </p:cNvSpPr>
                <p:nvPr/>
              </p:nvSpPr>
              <p:spPr bwMode="auto">
                <a:xfrm rot="5400000" flipV="1">
                  <a:off x="3019216" y="5498542"/>
                  <a:ext cx="49554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89" name="Line 9"/>
                <p:cNvSpPr>
                  <a:spLocks noChangeShapeType="1"/>
                </p:cNvSpPr>
                <p:nvPr/>
              </p:nvSpPr>
              <p:spPr bwMode="auto">
                <a:xfrm>
                  <a:off x="3400824" y="5625038"/>
                  <a:ext cx="450005" cy="0"/>
                </a:xfrm>
                <a:prstGeom prst="line">
                  <a:avLst/>
                </a:prstGeom>
                <a:noFill/>
                <a:ln w="9525">
                  <a:solidFill>
                    <a:schemeClr val="tx1"/>
                  </a:solidFill>
                  <a:round/>
                  <a:headEnd type="oval"/>
                  <a:tailEnd type="triangle" w="med" len="lg"/>
                </a:ln>
                <a:effectLst/>
              </p:spPr>
              <p:txBody>
                <a:bodyPr wrap="none" lIns="90000" tIns="46800" rIns="90000" bIns="46800" anchor="ctr"/>
                <a:lstStyle/>
                <a:p>
                  <a:endParaRPr lang="ja-JP" altLang="en-US" sz="1200"/>
                </a:p>
              </p:txBody>
            </p:sp>
            <p:sp>
              <p:nvSpPr>
                <p:cNvPr id="790" name="Line 46"/>
                <p:cNvSpPr>
                  <a:spLocks noChangeShapeType="1"/>
                </p:cNvSpPr>
                <p:nvPr/>
              </p:nvSpPr>
              <p:spPr bwMode="auto">
                <a:xfrm flipV="1">
                  <a:off x="2361128" y="5626621"/>
                  <a:ext cx="680728" cy="0"/>
                </a:xfrm>
                <a:prstGeom prst="line">
                  <a:avLst/>
                </a:prstGeom>
                <a:noFill/>
                <a:ln w="9525">
                  <a:solidFill>
                    <a:schemeClr val="tx1"/>
                  </a:solidFill>
                  <a:round/>
                  <a:headEnd type="none" w="sm" len="sm"/>
                  <a:tailEnd type="oval" w="med" len="med"/>
                </a:ln>
                <a:effectLst/>
              </p:spPr>
              <p:txBody>
                <a:bodyPr wrap="none" lIns="90000" tIns="46800" rIns="90000" bIns="46800" anchor="ctr"/>
                <a:lstStyle/>
                <a:p>
                  <a:endParaRPr lang="ja-JP" altLang="en-US"/>
                </a:p>
              </p:txBody>
            </p:sp>
          </p:grpSp>
          <p:grpSp>
            <p:nvGrpSpPr>
              <p:cNvPr id="758" name="グループ化 757"/>
              <p:cNvGrpSpPr/>
              <p:nvPr/>
            </p:nvGrpSpPr>
            <p:grpSpPr>
              <a:xfrm>
                <a:off x="4034971" y="2850249"/>
                <a:ext cx="1080010" cy="1170013"/>
                <a:chOff x="1871970" y="2562739"/>
                <a:chExt cx="1890019" cy="2559383"/>
              </a:xfrm>
            </p:grpSpPr>
            <p:grpSp>
              <p:nvGrpSpPr>
                <p:cNvPr id="759" name="グループ化 758"/>
                <p:cNvGrpSpPr/>
                <p:nvPr/>
              </p:nvGrpSpPr>
              <p:grpSpPr>
                <a:xfrm>
                  <a:off x="2996967" y="4942097"/>
                  <a:ext cx="360048" cy="180025"/>
                  <a:chOff x="1736601" y="2511982"/>
                  <a:chExt cx="360048" cy="180025"/>
                </a:xfrm>
              </p:grpSpPr>
              <p:cxnSp>
                <p:nvCxnSpPr>
                  <p:cNvPr id="779" name="直線コネクタ 778"/>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80" name="直線コネクタ 779"/>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81" name="直線コネクタ 780"/>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760" name="グループ化 759"/>
                <p:cNvGrpSpPr/>
                <p:nvPr/>
              </p:nvGrpSpPr>
              <p:grpSpPr>
                <a:xfrm>
                  <a:off x="2861981" y="4059007"/>
                  <a:ext cx="270036" cy="360048"/>
                  <a:chOff x="6282228" y="1988808"/>
                  <a:chExt cx="270036" cy="360048"/>
                </a:xfrm>
              </p:grpSpPr>
              <p:cxnSp>
                <p:nvCxnSpPr>
                  <p:cNvPr id="775" name="直線コネクタ 774"/>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6" name="直線コネクタ 775"/>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7" name="直線コネクタ 776"/>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8" name="直線コネクタ 777"/>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61" name="直線コネクタ 760"/>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762" name="直線コネクタ 761"/>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763" name="直線コネクタ 762"/>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764"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65"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766" name="グループ化 765"/>
                <p:cNvGrpSpPr/>
                <p:nvPr/>
              </p:nvGrpSpPr>
              <p:grpSpPr>
                <a:xfrm>
                  <a:off x="2771980" y="2978995"/>
                  <a:ext cx="360048" cy="360048"/>
                  <a:chOff x="3131808" y="1628760"/>
                  <a:chExt cx="360048" cy="360048"/>
                </a:xfrm>
              </p:grpSpPr>
              <p:cxnSp>
                <p:nvCxnSpPr>
                  <p:cNvPr id="770" name="直線コネクタ 769"/>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1" name="直線コネクタ 770"/>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2" name="直線コネクタ 771"/>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3" name="直線コネクタ 772"/>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774" name="円/楕円 773"/>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767" name="直線コネクタ 766"/>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768" name="直線コネクタ 767"/>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769" name="直線コネクタ 768"/>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sp>
          <p:nvSpPr>
            <p:cNvPr id="814" name="Freeform 10"/>
            <p:cNvSpPr>
              <a:spLocks/>
            </p:cNvSpPr>
            <p:nvPr/>
          </p:nvSpPr>
          <p:spPr bwMode="auto">
            <a:xfrm rot="5400000" flipV="1">
              <a:off x="2872962" y="1799980"/>
              <a:ext cx="432000"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815" name="Freeform 10"/>
            <p:cNvSpPr>
              <a:spLocks/>
            </p:cNvSpPr>
            <p:nvPr/>
          </p:nvSpPr>
          <p:spPr bwMode="auto">
            <a:xfrm rot="5400000" flipH="1" flipV="1">
              <a:off x="2836962" y="2673996"/>
              <a:ext cx="504000" cy="45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grpSp>
          <p:nvGrpSpPr>
            <p:cNvPr id="1191" name="グループ化 1190"/>
            <p:cNvGrpSpPr/>
            <p:nvPr/>
          </p:nvGrpSpPr>
          <p:grpSpPr>
            <a:xfrm>
              <a:off x="793934" y="3609002"/>
              <a:ext cx="2070023" cy="1080012"/>
              <a:chOff x="2250893" y="4059365"/>
              <a:chExt cx="4590049" cy="2535526"/>
            </a:xfrm>
          </p:grpSpPr>
          <p:grpSp>
            <p:nvGrpSpPr>
              <p:cNvPr id="1192" name="グループ化 1191"/>
              <p:cNvGrpSpPr/>
              <p:nvPr/>
            </p:nvGrpSpPr>
            <p:grpSpPr>
              <a:xfrm>
                <a:off x="3150902" y="5424878"/>
                <a:ext cx="1080010" cy="1170013"/>
                <a:chOff x="1871970" y="2562739"/>
                <a:chExt cx="1890019" cy="2559383"/>
              </a:xfrm>
            </p:grpSpPr>
            <p:grpSp>
              <p:nvGrpSpPr>
                <p:cNvPr id="1326" name="グループ化 1325"/>
                <p:cNvGrpSpPr/>
                <p:nvPr/>
              </p:nvGrpSpPr>
              <p:grpSpPr>
                <a:xfrm>
                  <a:off x="2996967" y="4942097"/>
                  <a:ext cx="360048" cy="180025"/>
                  <a:chOff x="1736601" y="2511982"/>
                  <a:chExt cx="360048" cy="180025"/>
                </a:xfrm>
              </p:grpSpPr>
              <p:cxnSp>
                <p:nvCxnSpPr>
                  <p:cNvPr id="1346" name="直線コネクタ 1345"/>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7" name="直線コネクタ 1346"/>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8" name="直線コネクタ 1347"/>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27" name="グループ化 1326"/>
                <p:cNvGrpSpPr/>
                <p:nvPr/>
              </p:nvGrpSpPr>
              <p:grpSpPr>
                <a:xfrm>
                  <a:off x="2861981" y="4059007"/>
                  <a:ext cx="270036" cy="360048"/>
                  <a:chOff x="6282228" y="1988808"/>
                  <a:chExt cx="270036" cy="360048"/>
                </a:xfrm>
              </p:grpSpPr>
              <p:cxnSp>
                <p:nvCxnSpPr>
                  <p:cNvPr id="1342" name="直線コネクタ 134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3" name="直線コネクタ 134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4" name="直線コネクタ 134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5" name="直線コネクタ 134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28" name="直線コネクタ 1327"/>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29" name="直線コネクタ 1328"/>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30" name="直線コネクタ 1329"/>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331"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332"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333" name="グループ化 1332"/>
                <p:cNvGrpSpPr/>
                <p:nvPr/>
              </p:nvGrpSpPr>
              <p:grpSpPr>
                <a:xfrm>
                  <a:off x="2771980" y="2978995"/>
                  <a:ext cx="360048" cy="360048"/>
                  <a:chOff x="3131808" y="1628760"/>
                  <a:chExt cx="360048" cy="360048"/>
                </a:xfrm>
              </p:grpSpPr>
              <p:cxnSp>
                <p:nvCxnSpPr>
                  <p:cNvPr id="1337" name="直線コネクタ 133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38" name="直線コネクタ 133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39" name="直線コネクタ 133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0" name="直線コネクタ 133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41" name="円/楕円 134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334" name="直線コネクタ 1333"/>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35" name="直線コネクタ 1334"/>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36" name="直線コネクタ 1335"/>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193" name="グループ化 1192"/>
              <p:cNvGrpSpPr/>
              <p:nvPr/>
            </p:nvGrpSpPr>
            <p:grpSpPr>
              <a:xfrm rot="10800000">
                <a:off x="3150902" y="4059365"/>
                <a:ext cx="1080010" cy="1170013"/>
                <a:chOff x="1871970" y="2562739"/>
                <a:chExt cx="1890019" cy="2559383"/>
              </a:xfrm>
            </p:grpSpPr>
            <p:grpSp>
              <p:nvGrpSpPr>
                <p:cNvPr id="1303" name="グループ化 1302"/>
                <p:cNvGrpSpPr/>
                <p:nvPr/>
              </p:nvGrpSpPr>
              <p:grpSpPr>
                <a:xfrm>
                  <a:off x="2996967" y="4942097"/>
                  <a:ext cx="360048" cy="180025"/>
                  <a:chOff x="1736601" y="2511982"/>
                  <a:chExt cx="360048" cy="180025"/>
                </a:xfrm>
              </p:grpSpPr>
              <p:cxnSp>
                <p:nvCxnSpPr>
                  <p:cNvPr id="1323" name="直線コネクタ 1322"/>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4" name="直線コネクタ 1323"/>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5" name="直線コネクタ 1324"/>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04" name="グループ化 1303"/>
                <p:cNvGrpSpPr/>
                <p:nvPr/>
              </p:nvGrpSpPr>
              <p:grpSpPr>
                <a:xfrm>
                  <a:off x="2861981" y="4059007"/>
                  <a:ext cx="270036" cy="360048"/>
                  <a:chOff x="6282228" y="1988808"/>
                  <a:chExt cx="270036" cy="360048"/>
                </a:xfrm>
              </p:grpSpPr>
              <p:cxnSp>
                <p:nvCxnSpPr>
                  <p:cNvPr id="1319" name="直線コネクタ 131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0" name="直線コネクタ 131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1" name="直線コネクタ 132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2" name="直線コネクタ 132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05" name="直線コネクタ 1304"/>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06" name="直線コネクタ 1305"/>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07" name="直線コネクタ 1306"/>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308"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309"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310" name="グループ化 1309"/>
                <p:cNvGrpSpPr/>
                <p:nvPr/>
              </p:nvGrpSpPr>
              <p:grpSpPr>
                <a:xfrm>
                  <a:off x="2771980" y="2978995"/>
                  <a:ext cx="360048" cy="360048"/>
                  <a:chOff x="3131808" y="1628760"/>
                  <a:chExt cx="360048" cy="360048"/>
                </a:xfrm>
              </p:grpSpPr>
              <p:cxnSp>
                <p:nvCxnSpPr>
                  <p:cNvPr id="1314" name="直線コネクタ 131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15" name="直線コネクタ 131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16" name="直線コネクタ 131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17" name="直線コネクタ 131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18" name="円/楕円 131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311" name="直線コネクタ 1310"/>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12" name="直線コネクタ 1311"/>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13" name="直線コネクタ 1312"/>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194" name="Line 46"/>
              <p:cNvSpPr>
                <a:spLocks noChangeShapeType="1"/>
              </p:cNvSpPr>
              <p:nvPr/>
            </p:nvSpPr>
            <p:spPr bwMode="auto">
              <a:xfrm flipV="1">
                <a:off x="4230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195" name="グループ化 1194"/>
              <p:cNvGrpSpPr/>
              <p:nvPr/>
            </p:nvGrpSpPr>
            <p:grpSpPr>
              <a:xfrm rot="5400000">
                <a:off x="2565879" y="5829899"/>
                <a:ext cx="270041" cy="180007"/>
                <a:chOff x="1601967" y="3609002"/>
                <a:chExt cx="540039" cy="360048"/>
              </a:xfrm>
            </p:grpSpPr>
            <p:grpSp>
              <p:nvGrpSpPr>
                <p:cNvPr id="1292" name="グループ化 1291"/>
                <p:cNvGrpSpPr/>
                <p:nvPr/>
              </p:nvGrpSpPr>
              <p:grpSpPr>
                <a:xfrm rot="10800000">
                  <a:off x="1871970" y="3609002"/>
                  <a:ext cx="270036" cy="360048"/>
                  <a:chOff x="6282228" y="1988808"/>
                  <a:chExt cx="270036" cy="360048"/>
                </a:xfrm>
              </p:grpSpPr>
              <p:cxnSp>
                <p:nvCxnSpPr>
                  <p:cNvPr id="1299" name="直線コネクタ 129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0" name="直線コネクタ 129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1" name="直線コネクタ 130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2" name="直線コネクタ 130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93" name="グループ化 1292"/>
                <p:cNvGrpSpPr/>
                <p:nvPr/>
              </p:nvGrpSpPr>
              <p:grpSpPr>
                <a:xfrm>
                  <a:off x="1601967" y="3609002"/>
                  <a:ext cx="360048" cy="360048"/>
                  <a:chOff x="3131808" y="1628760"/>
                  <a:chExt cx="360048" cy="360048"/>
                </a:xfrm>
              </p:grpSpPr>
              <p:cxnSp>
                <p:nvCxnSpPr>
                  <p:cNvPr id="1294" name="直線コネクタ 129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5" name="直線コネクタ 129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6" name="直線コネクタ 129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7" name="直線コネクタ 129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98" name="円/楕円 129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196" name="グループ化 1195"/>
              <p:cNvGrpSpPr/>
              <p:nvPr/>
            </p:nvGrpSpPr>
            <p:grpSpPr>
              <a:xfrm>
                <a:off x="2880899" y="5229378"/>
                <a:ext cx="270041" cy="180007"/>
                <a:chOff x="1601967" y="3609002"/>
                <a:chExt cx="540039" cy="360048"/>
              </a:xfrm>
            </p:grpSpPr>
            <p:grpSp>
              <p:nvGrpSpPr>
                <p:cNvPr id="1281" name="グループ化 1280"/>
                <p:cNvGrpSpPr/>
                <p:nvPr/>
              </p:nvGrpSpPr>
              <p:grpSpPr>
                <a:xfrm rot="10800000">
                  <a:off x="1871970" y="3609002"/>
                  <a:ext cx="270036" cy="360048"/>
                  <a:chOff x="6282228" y="1988808"/>
                  <a:chExt cx="270036" cy="360048"/>
                </a:xfrm>
              </p:grpSpPr>
              <p:cxnSp>
                <p:nvCxnSpPr>
                  <p:cNvPr id="1288" name="直線コネクタ 1287"/>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9" name="直線コネクタ 1288"/>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0" name="直線コネクタ 1289"/>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1" name="直線コネクタ 1290"/>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82" name="グループ化 1281"/>
                <p:cNvGrpSpPr/>
                <p:nvPr/>
              </p:nvGrpSpPr>
              <p:grpSpPr>
                <a:xfrm>
                  <a:off x="1601967" y="3609002"/>
                  <a:ext cx="360048" cy="360048"/>
                  <a:chOff x="3131808" y="1628760"/>
                  <a:chExt cx="360048" cy="360048"/>
                </a:xfrm>
              </p:grpSpPr>
              <p:cxnSp>
                <p:nvCxnSpPr>
                  <p:cNvPr id="1283" name="直線コネクタ 1282"/>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4" name="直線コネクタ 1283"/>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5" name="直線コネクタ 1284"/>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6" name="直線コネクタ 1285"/>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87" name="円/楕円 1286"/>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197" name="Line 46"/>
              <p:cNvSpPr>
                <a:spLocks noChangeShapeType="1"/>
              </p:cNvSpPr>
              <p:nvPr/>
            </p:nvSpPr>
            <p:spPr bwMode="auto">
              <a:xfrm>
                <a:off x="2790898"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198" name="Line 46"/>
              <p:cNvSpPr>
                <a:spLocks noChangeShapeType="1"/>
              </p:cNvSpPr>
              <p:nvPr/>
            </p:nvSpPr>
            <p:spPr bwMode="auto">
              <a:xfrm flipH="1" flipV="1">
                <a:off x="3045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199" name="Line 46"/>
              <p:cNvSpPr>
                <a:spLocks noChangeShapeType="1"/>
              </p:cNvSpPr>
              <p:nvPr/>
            </p:nvSpPr>
            <p:spPr bwMode="auto">
              <a:xfrm flipH="1" flipV="1">
                <a:off x="3029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00" name="Line 46"/>
              <p:cNvSpPr>
                <a:spLocks noChangeShapeType="1"/>
              </p:cNvSpPr>
              <p:nvPr/>
            </p:nvSpPr>
            <p:spPr bwMode="auto">
              <a:xfrm flipV="1">
                <a:off x="3017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01" name="Line 46"/>
              <p:cNvSpPr>
                <a:spLocks noChangeShapeType="1"/>
              </p:cNvSpPr>
              <p:nvPr/>
            </p:nvSpPr>
            <p:spPr bwMode="auto">
              <a:xfrm>
                <a:off x="2250893"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02" name="Line 46"/>
              <p:cNvSpPr>
                <a:spLocks noChangeShapeType="1"/>
              </p:cNvSpPr>
              <p:nvPr/>
            </p:nvSpPr>
            <p:spPr bwMode="auto">
              <a:xfrm flipV="1">
                <a:off x="4230914"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1203" name="グループ化 1202"/>
              <p:cNvGrpSpPr/>
              <p:nvPr/>
            </p:nvGrpSpPr>
            <p:grpSpPr>
              <a:xfrm>
                <a:off x="5220924" y="5424878"/>
                <a:ext cx="1080010" cy="1170013"/>
                <a:chOff x="1871970" y="2562739"/>
                <a:chExt cx="1890019" cy="2559383"/>
              </a:xfrm>
            </p:grpSpPr>
            <p:grpSp>
              <p:nvGrpSpPr>
                <p:cNvPr id="1258" name="グループ化 1257"/>
                <p:cNvGrpSpPr/>
                <p:nvPr/>
              </p:nvGrpSpPr>
              <p:grpSpPr>
                <a:xfrm>
                  <a:off x="2996967" y="4942097"/>
                  <a:ext cx="360048" cy="180025"/>
                  <a:chOff x="1736601" y="2511982"/>
                  <a:chExt cx="360048" cy="180025"/>
                </a:xfrm>
              </p:grpSpPr>
              <p:cxnSp>
                <p:nvCxnSpPr>
                  <p:cNvPr id="1278" name="直線コネクタ 1277"/>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9" name="直線コネクタ 1278"/>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0" name="直線コネクタ 1279"/>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59" name="グループ化 1258"/>
                <p:cNvGrpSpPr/>
                <p:nvPr/>
              </p:nvGrpSpPr>
              <p:grpSpPr>
                <a:xfrm>
                  <a:off x="2861981" y="4059007"/>
                  <a:ext cx="270036" cy="360048"/>
                  <a:chOff x="6282228" y="1988808"/>
                  <a:chExt cx="270036" cy="360048"/>
                </a:xfrm>
              </p:grpSpPr>
              <p:cxnSp>
                <p:nvCxnSpPr>
                  <p:cNvPr id="1274" name="直線コネクタ 127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5" name="直線コネクタ 127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6" name="直線コネクタ 127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7" name="直線コネクタ 127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260" name="直線コネクタ 1259"/>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61" name="直線コネクタ 1260"/>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262" name="直線コネクタ 1261"/>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263"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264"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265" name="グループ化 1264"/>
                <p:cNvGrpSpPr/>
                <p:nvPr/>
              </p:nvGrpSpPr>
              <p:grpSpPr>
                <a:xfrm>
                  <a:off x="2771980" y="2978995"/>
                  <a:ext cx="360048" cy="360048"/>
                  <a:chOff x="3131808" y="1628760"/>
                  <a:chExt cx="360048" cy="360048"/>
                </a:xfrm>
              </p:grpSpPr>
              <p:cxnSp>
                <p:nvCxnSpPr>
                  <p:cNvPr id="1269" name="直線コネクタ 126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0" name="直線コネクタ 126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1" name="直線コネクタ 127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2" name="直線コネクタ 127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73" name="円/楕円 127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266" name="直線コネクタ 1265"/>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67" name="直線コネクタ 1266"/>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268" name="直線コネクタ 1267"/>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04" name="グループ化 1203"/>
              <p:cNvGrpSpPr/>
              <p:nvPr/>
            </p:nvGrpSpPr>
            <p:grpSpPr>
              <a:xfrm rot="10800000">
                <a:off x="5220924" y="4059365"/>
                <a:ext cx="1080010" cy="1170013"/>
                <a:chOff x="1871970" y="2562739"/>
                <a:chExt cx="1890019" cy="2559383"/>
              </a:xfrm>
            </p:grpSpPr>
            <p:grpSp>
              <p:nvGrpSpPr>
                <p:cNvPr id="1235" name="グループ化 1234"/>
                <p:cNvGrpSpPr/>
                <p:nvPr/>
              </p:nvGrpSpPr>
              <p:grpSpPr>
                <a:xfrm>
                  <a:off x="2996967" y="4942097"/>
                  <a:ext cx="360048" cy="180025"/>
                  <a:chOff x="1736601" y="2511982"/>
                  <a:chExt cx="360048" cy="180025"/>
                </a:xfrm>
              </p:grpSpPr>
              <p:cxnSp>
                <p:nvCxnSpPr>
                  <p:cNvPr id="1255" name="直線コネクタ 1254"/>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6" name="直線コネクタ 1255"/>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7" name="直線コネクタ 1256"/>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36" name="グループ化 1235"/>
                <p:cNvGrpSpPr/>
                <p:nvPr/>
              </p:nvGrpSpPr>
              <p:grpSpPr>
                <a:xfrm>
                  <a:off x="2861981" y="4059007"/>
                  <a:ext cx="270036" cy="360048"/>
                  <a:chOff x="6282228" y="1988808"/>
                  <a:chExt cx="270036" cy="360048"/>
                </a:xfrm>
              </p:grpSpPr>
              <p:cxnSp>
                <p:nvCxnSpPr>
                  <p:cNvPr id="1251" name="直線コネクタ 125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2" name="直線コネクタ 125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3" name="直線コネクタ 125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4" name="直線コネクタ 125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237" name="直線コネクタ 1236"/>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38" name="直線コネクタ 1237"/>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239" name="直線コネクタ 1238"/>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240"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241"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242" name="グループ化 1241"/>
                <p:cNvGrpSpPr/>
                <p:nvPr/>
              </p:nvGrpSpPr>
              <p:grpSpPr>
                <a:xfrm>
                  <a:off x="2771980" y="2978995"/>
                  <a:ext cx="360048" cy="360048"/>
                  <a:chOff x="3131808" y="1628760"/>
                  <a:chExt cx="360048" cy="360048"/>
                </a:xfrm>
              </p:grpSpPr>
              <p:cxnSp>
                <p:nvCxnSpPr>
                  <p:cNvPr id="1246" name="直線コネクタ 124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7" name="直線コネクタ 124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8" name="直線コネクタ 124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9" name="直線コネクタ 124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50" name="円/楕円 124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243" name="直線コネクタ 1242"/>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44" name="直線コネクタ 1243"/>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245" name="直線コネクタ 1244"/>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205" name="Line 46"/>
              <p:cNvSpPr>
                <a:spLocks noChangeShapeType="1"/>
              </p:cNvSpPr>
              <p:nvPr/>
            </p:nvSpPr>
            <p:spPr bwMode="auto">
              <a:xfrm flipV="1">
                <a:off x="6300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206" name="グループ化 1205"/>
              <p:cNvGrpSpPr/>
              <p:nvPr/>
            </p:nvGrpSpPr>
            <p:grpSpPr>
              <a:xfrm rot="5400000">
                <a:off x="4635901" y="5829899"/>
                <a:ext cx="270041" cy="180007"/>
                <a:chOff x="1601967" y="3609002"/>
                <a:chExt cx="540039" cy="360048"/>
              </a:xfrm>
            </p:grpSpPr>
            <p:grpSp>
              <p:nvGrpSpPr>
                <p:cNvPr id="1224" name="グループ化 1223"/>
                <p:cNvGrpSpPr/>
                <p:nvPr/>
              </p:nvGrpSpPr>
              <p:grpSpPr>
                <a:xfrm rot="10800000">
                  <a:off x="1871970" y="3609002"/>
                  <a:ext cx="270036" cy="360048"/>
                  <a:chOff x="6282228" y="1988808"/>
                  <a:chExt cx="270036" cy="360048"/>
                </a:xfrm>
              </p:grpSpPr>
              <p:cxnSp>
                <p:nvCxnSpPr>
                  <p:cNvPr id="1231" name="直線コネクタ 123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2" name="直線コネクタ 123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3" name="直線コネクタ 123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4" name="直線コネクタ 123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25" name="グループ化 1224"/>
                <p:cNvGrpSpPr/>
                <p:nvPr/>
              </p:nvGrpSpPr>
              <p:grpSpPr>
                <a:xfrm>
                  <a:off x="1601967" y="3609002"/>
                  <a:ext cx="360048" cy="360048"/>
                  <a:chOff x="3131808" y="1628760"/>
                  <a:chExt cx="360048" cy="360048"/>
                </a:xfrm>
              </p:grpSpPr>
              <p:cxnSp>
                <p:nvCxnSpPr>
                  <p:cNvPr id="1226" name="直線コネクタ 122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7" name="直線コネクタ 122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8" name="直線コネクタ 122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9" name="直線コネクタ 122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30" name="円/楕円 122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207" name="グループ化 1206"/>
              <p:cNvGrpSpPr/>
              <p:nvPr/>
            </p:nvGrpSpPr>
            <p:grpSpPr>
              <a:xfrm>
                <a:off x="4950921" y="5229378"/>
                <a:ext cx="270041" cy="180007"/>
                <a:chOff x="1601967" y="3609002"/>
                <a:chExt cx="540039" cy="360048"/>
              </a:xfrm>
            </p:grpSpPr>
            <p:grpSp>
              <p:nvGrpSpPr>
                <p:cNvPr id="1213" name="グループ化 1212"/>
                <p:cNvGrpSpPr/>
                <p:nvPr/>
              </p:nvGrpSpPr>
              <p:grpSpPr>
                <a:xfrm rot="10800000">
                  <a:off x="1871970" y="3609002"/>
                  <a:ext cx="270036" cy="360048"/>
                  <a:chOff x="6282228" y="1988808"/>
                  <a:chExt cx="270036" cy="360048"/>
                </a:xfrm>
              </p:grpSpPr>
              <p:cxnSp>
                <p:nvCxnSpPr>
                  <p:cNvPr id="1220" name="直線コネクタ 121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1" name="直線コネクタ 122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2" name="直線コネクタ 122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3" name="直線コネクタ 122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14" name="グループ化 1213"/>
                <p:cNvGrpSpPr/>
                <p:nvPr/>
              </p:nvGrpSpPr>
              <p:grpSpPr>
                <a:xfrm>
                  <a:off x="1601967" y="3609002"/>
                  <a:ext cx="360048" cy="360048"/>
                  <a:chOff x="3131808" y="1628760"/>
                  <a:chExt cx="360048" cy="360048"/>
                </a:xfrm>
              </p:grpSpPr>
              <p:cxnSp>
                <p:nvCxnSpPr>
                  <p:cNvPr id="1215" name="直線コネクタ 121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16" name="直線コネクタ 121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17" name="直線コネクタ 121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18" name="直線コネクタ 121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19" name="円/楕円 121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208" name="Line 46"/>
              <p:cNvSpPr>
                <a:spLocks noChangeShapeType="1"/>
              </p:cNvSpPr>
              <p:nvPr/>
            </p:nvSpPr>
            <p:spPr bwMode="auto">
              <a:xfrm>
                <a:off x="4860920"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09" name="Line 46"/>
              <p:cNvSpPr>
                <a:spLocks noChangeShapeType="1"/>
              </p:cNvSpPr>
              <p:nvPr/>
            </p:nvSpPr>
            <p:spPr bwMode="auto">
              <a:xfrm flipH="1" flipV="1">
                <a:off x="5115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210" name="Line 46"/>
              <p:cNvSpPr>
                <a:spLocks noChangeShapeType="1"/>
              </p:cNvSpPr>
              <p:nvPr/>
            </p:nvSpPr>
            <p:spPr bwMode="auto">
              <a:xfrm flipH="1" flipV="1">
                <a:off x="5099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11" name="Line 46"/>
              <p:cNvSpPr>
                <a:spLocks noChangeShapeType="1"/>
              </p:cNvSpPr>
              <p:nvPr/>
            </p:nvSpPr>
            <p:spPr bwMode="auto">
              <a:xfrm flipV="1">
                <a:off x="5087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12" name="Line 46"/>
              <p:cNvSpPr>
                <a:spLocks noChangeShapeType="1"/>
              </p:cNvSpPr>
              <p:nvPr/>
            </p:nvSpPr>
            <p:spPr bwMode="auto">
              <a:xfrm flipV="1">
                <a:off x="6300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grpSp>
          <p:nvGrpSpPr>
            <p:cNvPr id="1349" name="グループ化 1348"/>
            <p:cNvGrpSpPr/>
            <p:nvPr/>
          </p:nvGrpSpPr>
          <p:grpSpPr>
            <a:xfrm>
              <a:off x="793934" y="4959017"/>
              <a:ext cx="2070023" cy="1080012"/>
              <a:chOff x="2250893" y="4059365"/>
              <a:chExt cx="4590049" cy="2535526"/>
            </a:xfrm>
          </p:grpSpPr>
          <p:grpSp>
            <p:nvGrpSpPr>
              <p:cNvPr id="1350" name="グループ化 1349"/>
              <p:cNvGrpSpPr/>
              <p:nvPr/>
            </p:nvGrpSpPr>
            <p:grpSpPr>
              <a:xfrm>
                <a:off x="3150902" y="5424878"/>
                <a:ext cx="1080010" cy="1170013"/>
                <a:chOff x="1871970" y="2562739"/>
                <a:chExt cx="1890019" cy="2559383"/>
              </a:xfrm>
            </p:grpSpPr>
            <p:grpSp>
              <p:nvGrpSpPr>
                <p:cNvPr id="1484" name="グループ化 1483"/>
                <p:cNvGrpSpPr/>
                <p:nvPr/>
              </p:nvGrpSpPr>
              <p:grpSpPr>
                <a:xfrm>
                  <a:off x="2996967" y="4942097"/>
                  <a:ext cx="360048" cy="180025"/>
                  <a:chOff x="1736601" y="2511982"/>
                  <a:chExt cx="360048" cy="180025"/>
                </a:xfrm>
              </p:grpSpPr>
              <p:cxnSp>
                <p:nvCxnSpPr>
                  <p:cNvPr id="1504" name="直線コネクタ 1503"/>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5" name="直線コネクタ 1504"/>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6" name="直線コネクタ 1505"/>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85" name="グループ化 1484"/>
                <p:cNvGrpSpPr/>
                <p:nvPr/>
              </p:nvGrpSpPr>
              <p:grpSpPr>
                <a:xfrm>
                  <a:off x="2861981" y="4059007"/>
                  <a:ext cx="270036" cy="360048"/>
                  <a:chOff x="6282228" y="1988808"/>
                  <a:chExt cx="270036" cy="360048"/>
                </a:xfrm>
              </p:grpSpPr>
              <p:cxnSp>
                <p:nvCxnSpPr>
                  <p:cNvPr id="1500" name="直線コネクタ 149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1" name="直線コネクタ 150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2" name="直線コネクタ 150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3" name="直線コネクタ 150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486" name="直線コネクタ 1485"/>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87" name="直線コネクタ 1486"/>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88" name="直線コネクタ 1487"/>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489"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90"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91" name="グループ化 1490"/>
                <p:cNvGrpSpPr/>
                <p:nvPr/>
              </p:nvGrpSpPr>
              <p:grpSpPr>
                <a:xfrm>
                  <a:off x="2771980" y="2978995"/>
                  <a:ext cx="360048" cy="360048"/>
                  <a:chOff x="3131808" y="1628760"/>
                  <a:chExt cx="360048" cy="360048"/>
                </a:xfrm>
              </p:grpSpPr>
              <p:cxnSp>
                <p:nvCxnSpPr>
                  <p:cNvPr id="1495" name="直線コネクタ 149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96" name="直線コネクタ 149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97" name="直線コネクタ 149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98" name="直線コネクタ 149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99" name="円/楕円 149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492" name="直線コネクタ 1491"/>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93" name="直線コネクタ 1492"/>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94" name="直線コネクタ 1493"/>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51" name="グループ化 1350"/>
              <p:cNvGrpSpPr/>
              <p:nvPr/>
            </p:nvGrpSpPr>
            <p:grpSpPr>
              <a:xfrm rot="10800000">
                <a:off x="3150902" y="4059365"/>
                <a:ext cx="1080010" cy="1170013"/>
                <a:chOff x="1871970" y="2562739"/>
                <a:chExt cx="1890019" cy="2559383"/>
              </a:xfrm>
            </p:grpSpPr>
            <p:grpSp>
              <p:nvGrpSpPr>
                <p:cNvPr id="1461" name="グループ化 1460"/>
                <p:cNvGrpSpPr/>
                <p:nvPr/>
              </p:nvGrpSpPr>
              <p:grpSpPr>
                <a:xfrm>
                  <a:off x="2996967" y="4942097"/>
                  <a:ext cx="360048" cy="180025"/>
                  <a:chOff x="1736601" y="2511982"/>
                  <a:chExt cx="360048" cy="180025"/>
                </a:xfrm>
              </p:grpSpPr>
              <p:cxnSp>
                <p:nvCxnSpPr>
                  <p:cNvPr id="1481" name="直線コネクタ 1480"/>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82" name="直線コネクタ 1481"/>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83" name="直線コネクタ 1482"/>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62" name="グループ化 1461"/>
                <p:cNvGrpSpPr/>
                <p:nvPr/>
              </p:nvGrpSpPr>
              <p:grpSpPr>
                <a:xfrm>
                  <a:off x="2861981" y="4059007"/>
                  <a:ext cx="270036" cy="360048"/>
                  <a:chOff x="6282228" y="1988808"/>
                  <a:chExt cx="270036" cy="360048"/>
                </a:xfrm>
              </p:grpSpPr>
              <p:cxnSp>
                <p:nvCxnSpPr>
                  <p:cNvPr id="1477" name="直線コネクタ 1476"/>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8" name="直線コネクタ 1477"/>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9" name="直線コネクタ 1478"/>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80" name="直線コネクタ 1479"/>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463" name="直線コネクタ 1462"/>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64" name="直線コネクタ 1463"/>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65" name="直線コネクタ 1464"/>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466"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67"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68" name="グループ化 1467"/>
                <p:cNvGrpSpPr/>
                <p:nvPr/>
              </p:nvGrpSpPr>
              <p:grpSpPr>
                <a:xfrm>
                  <a:off x="2771980" y="2978995"/>
                  <a:ext cx="360048" cy="360048"/>
                  <a:chOff x="3131808" y="1628760"/>
                  <a:chExt cx="360048" cy="360048"/>
                </a:xfrm>
              </p:grpSpPr>
              <p:cxnSp>
                <p:nvCxnSpPr>
                  <p:cNvPr id="1472" name="直線コネクタ 1471"/>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3" name="直線コネクタ 1472"/>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4" name="直線コネクタ 1473"/>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5" name="直線コネクタ 1474"/>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76" name="円/楕円 1475"/>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469" name="直線コネクタ 1468"/>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70" name="直線コネクタ 1469"/>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71" name="直線コネクタ 1470"/>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352" name="Line 46"/>
              <p:cNvSpPr>
                <a:spLocks noChangeShapeType="1"/>
              </p:cNvSpPr>
              <p:nvPr/>
            </p:nvSpPr>
            <p:spPr bwMode="auto">
              <a:xfrm flipV="1">
                <a:off x="4230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353" name="グループ化 1352"/>
              <p:cNvGrpSpPr/>
              <p:nvPr/>
            </p:nvGrpSpPr>
            <p:grpSpPr>
              <a:xfrm rot="5400000">
                <a:off x="2565879" y="5829899"/>
                <a:ext cx="270041" cy="180007"/>
                <a:chOff x="1601967" y="3609002"/>
                <a:chExt cx="540039" cy="360048"/>
              </a:xfrm>
            </p:grpSpPr>
            <p:grpSp>
              <p:nvGrpSpPr>
                <p:cNvPr id="1450" name="グループ化 1449"/>
                <p:cNvGrpSpPr/>
                <p:nvPr/>
              </p:nvGrpSpPr>
              <p:grpSpPr>
                <a:xfrm rot="10800000">
                  <a:off x="1871970" y="3609002"/>
                  <a:ext cx="270036" cy="360048"/>
                  <a:chOff x="6282228" y="1988808"/>
                  <a:chExt cx="270036" cy="360048"/>
                </a:xfrm>
              </p:grpSpPr>
              <p:cxnSp>
                <p:nvCxnSpPr>
                  <p:cNvPr id="1457" name="直線コネクタ 1456"/>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8" name="直線コネクタ 1457"/>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9" name="直線コネクタ 1458"/>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60" name="直線コネクタ 1459"/>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51" name="グループ化 1450"/>
                <p:cNvGrpSpPr/>
                <p:nvPr/>
              </p:nvGrpSpPr>
              <p:grpSpPr>
                <a:xfrm>
                  <a:off x="1601967" y="3609002"/>
                  <a:ext cx="360048" cy="360048"/>
                  <a:chOff x="3131808" y="1628760"/>
                  <a:chExt cx="360048" cy="360048"/>
                </a:xfrm>
              </p:grpSpPr>
              <p:cxnSp>
                <p:nvCxnSpPr>
                  <p:cNvPr id="1452" name="直線コネクタ 1451"/>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3" name="直線コネクタ 1452"/>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4" name="直線コネクタ 1453"/>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5" name="直線コネクタ 1454"/>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56" name="円/楕円 1455"/>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354" name="グループ化 1353"/>
              <p:cNvGrpSpPr/>
              <p:nvPr/>
            </p:nvGrpSpPr>
            <p:grpSpPr>
              <a:xfrm>
                <a:off x="2880899" y="5229378"/>
                <a:ext cx="270041" cy="180007"/>
                <a:chOff x="1601967" y="3609002"/>
                <a:chExt cx="540039" cy="360048"/>
              </a:xfrm>
            </p:grpSpPr>
            <p:grpSp>
              <p:nvGrpSpPr>
                <p:cNvPr id="1439" name="グループ化 1438"/>
                <p:cNvGrpSpPr/>
                <p:nvPr/>
              </p:nvGrpSpPr>
              <p:grpSpPr>
                <a:xfrm rot="10800000">
                  <a:off x="1871970" y="3609002"/>
                  <a:ext cx="270036" cy="360048"/>
                  <a:chOff x="6282228" y="1988808"/>
                  <a:chExt cx="270036" cy="360048"/>
                </a:xfrm>
              </p:grpSpPr>
              <p:cxnSp>
                <p:nvCxnSpPr>
                  <p:cNvPr id="1446" name="直線コネクタ 144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7" name="直線コネクタ 144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8" name="直線コネクタ 144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9" name="直線コネクタ 144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40" name="グループ化 1439"/>
                <p:cNvGrpSpPr/>
                <p:nvPr/>
              </p:nvGrpSpPr>
              <p:grpSpPr>
                <a:xfrm>
                  <a:off x="1601967" y="3609002"/>
                  <a:ext cx="360048" cy="360048"/>
                  <a:chOff x="3131808" y="1628760"/>
                  <a:chExt cx="360048" cy="360048"/>
                </a:xfrm>
              </p:grpSpPr>
              <p:cxnSp>
                <p:nvCxnSpPr>
                  <p:cNvPr id="1441" name="直線コネクタ 1440"/>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2" name="直線コネクタ 1441"/>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3" name="直線コネクタ 1442"/>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4" name="直線コネクタ 1443"/>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45" name="円/楕円 1444"/>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355" name="Line 46"/>
              <p:cNvSpPr>
                <a:spLocks noChangeShapeType="1"/>
              </p:cNvSpPr>
              <p:nvPr/>
            </p:nvSpPr>
            <p:spPr bwMode="auto">
              <a:xfrm>
                <a:off x="2790898"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56" name="Line 46"/>
              <p:cNvSpPr>
                <a:spLocks noChangeShapeType="1"/>
              </p:cNvSpPr>
              <p:nvPr/>
            </p:nvSpPr>
            <p:spPr bwMode="auto">
              <a:xfrm flipH="1" flipV="1">
                <a:off x="3045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357" name="Line 46"/>
              <p:cNvSpPr>
                <a:spLocks noChangeShapeType="1"/>
              </p:cNvSpPr>
              <p:nvPr/>
            </p:nvSpPr>
            <p:spPr bwMode="auto">
              <a:xfrm flipH="1" flipV="1">
                <a:off x="3029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58" name="Line 46"/>
              <p:cNvSpPr>
                <a:spLocks noChangeShapeType="1"/>
              </p:cNvSpPr>
              <p:nvPr/>
            </p:nvSpPr>
            <p:spPr bwMode="auto">
              <a:xfrm flipV="1">
                <a:off x="3017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59" name="Line 46"/>
              <p:cNvSpPr>
                <a:spLocks noChangeShapeType="1"/>
              </p:cNvSpPr>
              <p:nvPr/>
            </p:nvSpPr>
            <p:spPr bwMode="auto">
              <a:xfrm>
                <a:off x="2250893"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60" name="Line 46"/>
              <p:cNvSpPr>
                <a:spLocks noChangeShapeType="1"/>
              </p:cNvSpPr>
              <p:nvPr/>
            </p:nvSpPr>
            <p:spPr bwMode="auto">
              <a:xfrm flipV="1">
                <a:off x="4230914"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1361" name="グループ化 1360"/>
              <p:cNvGrpSpPr/>
              <p:nvPr/>
            </p:nvGrpSpPr>
            <p:grpSpPr>
              <a:xfrm>
                <a:off x="5220924" y="5424878"/>
                <a:ext cx="1080010" cy="1170013"/>
                <a:chOff x="1871970" y="2562739"/>
                <a:chExt cx="1890019" cy="2559383"/>
              </a:xfrm>
            </p:grpSpPr>
            <p:grpSp>
              <p:nvGrpSpPr>
                <p:cNvPr id="1416" name="グループ化 1415"/>
                <p:cNvGrpSpPr/>
                <p:nvPr/>
              </p:nvGrpSpPr>
              <p:grpSpPr>
                <a:xfrm>
                  <a:off x="2996967" y="4942097"/>
                  <a:ext cx="360048" cy="180025"/>
                  <a:chOff x="1736601" y="2511982"/>
                  <a:chExt cx="360048" cy="180025"/>
                </a:xfrm>
              </p:grpSpPr>
              <p:cxnSp>
                <p:nvCxnSpPr>
                  <p:cNvPr id="1436" name="直線コネクタ 1435"/>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7" name="直線コネクタ 1436"/>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8" name="直線コネクタ 1437"/>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17" name="グループ化 1416"/>
                <p:cNvGrpSpPr/>
                <p:nvPr/>
              </p:nvGrpSpPr>
              <p:grpSpPr>
                <a:xfrm>
                  <a:off x="2861981" y="4059007"/>
                  <a:ext cx="270036" cy="360048"/>
                  <a:chOff x="6282228" y="1988808"/>
                  <a:chExt cx="270036" cy="360048"/>
                </a:xfrm>
              </p:grpSpPr>
              <p:cxnSp>
                <p:nvCxnSpPr>
                  <p:cNvPr id="1432" name="直線コネクタ 143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3" name="直線コネクタ 143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4" name="直線コネクタ 143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5" name="直線コネクタ 143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418" name="直線コネクタ 1417"/>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19" name="直線コネクタ 1418"/>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20" name="直線コネクタ 1419"/>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421"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22"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23" name="グループ化 1422"/>
                <p:cNvGrpSpPr/>
                <p:nvPr/>
              </p:nvGrpSpPr>
              <p:grpSpPr>
                <a:xfrm>
                  <a:off x="2771980" y="2978995"/>
                  <a:ext cx="360048" cy="360048"/>
                  <a:chOff x="3131808" y="1628760"/>
                  <a:chExt cx="360048" cy="360048"/>
                </a:xfrm>
              </p:grpSpPr>
              <p:cxnSp>
                <p:nvCxnSpPr>
                  <p:cNvPr id="1427" name="直線コネクタ 142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28" name="直線コネクタ 142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29" name="直線コネクタ 142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0" name="直線コネクタ 142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31" name="円/楕円 143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424" name="直線コネクタ 1423"/>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25" name="直線コネクタ 1424"/>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26" name="直線コネクタ 1425"/>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62" name="グループ化 1361"/>
              <p:cNvGrpSpPr/>
              <p:nvPr/>
            </p:nvGrpSpPr>
            <p:grpSpPr>
              <a:xfrm rot="10800000">
                <a:off x="5220924" y="4059365"/>
                <a:ext cx="1080010" cy="1170013"/>
                <a:chOff x="1871970" y="2562739"/>
                <a:chExt cx="1890019" cy="2559383"/>
              </a:xfrm>
            </p:grpSpPr>
            <p:grpSp>
              <p:nvGrpSpPr>
                <p:cNvPr id="1393" name="グループ化 1392"/>
                <p:cNvGrpSpPr/>
                <p:nvPr/>
              </p:nvGrpSpPr>
              <p:grpSpPr>
                <a:xfrm>
                  <a:off x="2996967" y="4942097"/>
                  <a:ext cx="360048" cy="180025"/>
                  <a:chOff x="1736601" y="2511982"/>
                  <a:chExt cx="360048" cy="180025"/>
                </a:xfrm>
              </p:grpSpPr>
              <p:cxnSp>
                <p:nvCxnSpPr>
                  <p:cNvPr id="1413" name="直線コネクタ 1412"/>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4" name="直線コネクタ 1413"/>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5" name="直線コネクタ 1414"/>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94" name="グループ化 1393"/>
                <p:cNvGrpSpPr/>
                <p:nvPr/>
              </p:nvGrpSpPr>
              <p:grpSpPr>
                <a:xfrm>
                  <a:off x="2861981" y="4059007"/>
                  <a:ext cx="270036" cy="360048"/>
                  <a:chOff x="6282228" y="1988808"/>
                  <a:chExt cx="270036" cy="360048"/>
                </a:xfrm>
              </p:grpSpPr>
              <p:cxnSp>
                <p:nvCxnSpPr>
                  <p:cNvPr id="1409" name="直線コネクタ 140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0" name="直線コネクタ 140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1" name="直線コネクタ 141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2" name="直線コネクタ 141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95" name="直線コネクタ 1394"/>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96" name="直線コネクタ 1395"/>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97" name="直線コネクタ 1396"/>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398"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399"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00" name="グループ化 1399"/>
                <p:cNvGrpSpPr/>
                <p:nvPr/>
              </p:nvGrpSpPr>
              <p:grpSpPr>
                <a:xfrm>
                  <a:off x="2771980" y="2978995"/>
                  <a:ext cx="360048" cy="360048"/>
                  <a:chOff x="3131808" y="1628760"/>
                  <a:chExt cx="360048" cy="360048"/>
                </a:xfrm>
              </p:grpSpPr>
              <p:cxnSp>
                <p:nvCxnSpPr>
                  <p:cNvPr id="1404" name="直線コネクタ 140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05" name="直線コネクタ 140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06" name="直線コネクタ 140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07" name="直線コネクタ 140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08" name="円/楕円 140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401" name="直線コネクタ 1400"/>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02" name="直線コネクタ 1401"/>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03" name="直線コネクタ 1402"/>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363" name="Line 46"/>
              <p:cNvSpPr>
                <a:spLocks noChangeShapeType="1"/>
              </p:cNvSpPr>
              <p:nvPr/>
            </p:nvSpPr>
            <p:spPr bwMode="auto">
              <a:xfrm flipV="1">
                <a:off x="6300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364" name="グループ化 1363"/>
              <p:cNvGrpSpPr/>
              <p:nvPr/>
            </p:nvGrpSpPr>
            <p:grpSpPr>
              <a:xfrm rot="5400000">
                <a:off x="4635901" y="5829899"/>
                <a:ext cx="270041" cy="180007"/>
                <a:chOff x="1601967" y="3609002"/>
                <a:chExt cx="540039" cy="360048"/>
              </a:xfrm>
            </p:grpSpPr>
            <p:grpSp>
              <p:nvGrpSpPr>
                <p:cNvPr id="1382" name="グループ化 1381"/>
                <p:cNvGrpSpPr/>
                <p:nvPr/>
              </p:nvGrpSpPr>
              <p:grpSpPr>
                <a:xfrm rot="10800000">
                  <a:off x="1871970" y="3609002"/>
                  <a:ext cx="270036" cy="360048"/>
                  <a:chOff x="6282228" y="1988808"/>
                  <a:chExt cx="270036" cy="360048"/>
                </a:xfrm>
              </p:grpSpPr>
              <p:cxnSp>
                <p:nvCxnSpPr>
                  <p:cNvPr id="1389" name="直線コネクタ 138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90" name="直線コネクタ 138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91" name="直線コネクタ 139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92" name="直線コネクタ 139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83" name="グループ化 1382"/>
                <p:cNvGrpSpPr/>
                <p:nvPr/>
              </p:nvGrpSpPr>
              <p:grpSpPr>
                <a:xfrm>
                  <a:off x="1601967" y="3609002"/>
                  <a:ext cx="360048" cy="360048"/>
                  <a:chOff x="3131808" y="1628760"/>
                  <a:chExt cx="360048" cy="360048"/>
                </a:xfrm>
              </p:grpSpPr>
              <p:cxnSp>
                <p:nvCxnSpPr>
                  <p:cNvPr id="1384" name="直線コネクタ 138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5" name="直線コネクタ 138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6" name="直線コネクタ 138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7" name="直線コネクタ 138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88" name="円/楕円 138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365" name="グループ化 1364"/>
              <p:cNvGrpSpPr/>
              <p:nvPr/>
            </p:nvGrpSpPr>
            <p:grpSpPr>
              <a:xfrm>
                <a:off x="4950921" y="5229378"/>
                <a:ext cx="270041" cy="180007"/>
                <a:chOff x="1601967" y="3609002"/>
                <a:chExt cx="540039" cy="360048"/>
              </a:xfrm>
            </p:grpSpPr>
            <p:grpSp>
              <p:nvGrpSpPr>
                <p:cNvPr id="1371" name="グループ化 1370"/>
                <p:cNvGrpSpPr/>
                <p:nvPr/>
              </p:nvGrpSpPr>
              <p:grpSpPr>
                <a:xfrm rot="10800000">
                  <a:off x="1871970" y="3609002"/>
                  <a:ext cx="270036" cy="360048"/>
                  <a:chOff x="6282228" y="1988808"/>
                  <a:chExt cx="270036" cy="360048"/>
                </a:xfrm>
              </p:grpSpPr>
              <p:cxnSp>
                <p:nvCxnSpPr>
                  <p:cNvPr id="1378" name="直線コネクタ 1377"/>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9" name="直線コネクタ 1378"/>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0" name="直線コネクタ 1379"/>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1" name="直線コネクタ 1380"/>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72" name="グループ化 1371"/>
                <p:cNvGrpSpPr/>
                <p:nvPr/>
              </p:nvGrpSpPr>
              <p:grpSpPr>
                <a:xfrm>
                  <a:off x="1601967" y="3609002"/>
                  <a:ext cx="360048" cy="360048"/>
                  <a:chOff x="3131808" y="1628760"/>
                  <a:chExt cx="360048" cy="360048"/>
                </a:xfrm>
              </p:grpSpPr>
              <p:cxnSp>
                <p:nvCxnSpPr>
                  <p:cNvPr id="1373" name="直線コネクタ 1372"/>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4" name="直線コネクタ 1373"/>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5" name="直線コネクタ 1374"/>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6" name="直線コネクタ 1375"/>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77" name="円/楕円 1376"/>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366" name="Line 46"/>
              <p:cNvSpPr>
                <a:spLocks noChangeShapeType="1"/>
              </p:cNvSpPr>
              <p:nvPr/>
            </p:nvSpPr>
            <p:spPr bwMode="auto">
              <a:xfrm>
                <a:off x="4860920"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67" name="Line 46"/>
              <p:cNvSpPr>
                <a:spLocks noChangeShapeType="1"/>
              </p:cNvSpPr>
              <p:nvPr/>
            </p:nvSpPr>
            <p:spPr bwMode="auto">
              <a:xfrm flipH="1" flipV="1">
                <a:off x="5115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368" name="Line 46"/>
              <p:cNvSpPr>
                <a:spLocks noChangeShapeType="1"/>
              </p:cNvSpPr>
              <p:nvPr/>
            </p:nvSpPr>
            <p:spPr bwMode="auto">
              <a:xfrm flipH="1" flipV="1">
                <a:off x="5099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69" name="Line 46"/>
              <p:cNvSpPr>
                <a:spLocks noChangeShapeType="1"/>
              </p:cNvSpPr>
              <p:nvPr/>
            </p:nvSpPr>
            <p:spPr bwMode="auto">
              <a:xfrm flipV="1">
                <a:off x="5087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70" name="Line 46"/>
              <p:cNvSpPr>
                <a:spLocks noChangeShapeType="1"/>
              </p:cNvSpPr>
              <p:nvPr/>
            </p:nvSpPr>
            <p:spPr bwMode="auto">
              <a:xfrm flipV="1">
                <a:off x="6300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grpSp>
          <p:nvGrpSpPr>
            <p:cNvPr id="1507" name="グループ化 1506"/>
            <p:cNvGrpSpPr/>
            <p:nvPr/>
          </p:nvGrpSpPr>
          <p:grpSpPr>
            <a:xfrm>
              <a:off x="2593954" y="4689014"/>
              <a:ext cx="1276461" cy="720046"/>
              <a:chOff x="4034971" y="2618991"/>
              <a:chExt cx="2838485" cy="1530055"/>
            </a:xfrm>
          </p:grpSpPr>
          <p:grpSp>
            <p:nvGrpSpPr>
              <p:cNvPr id="1508" name="グループ化 1507"/>
              <p:cNvGrpSpPr/>
              <p:nvPr/>
            </p:nvGrpSpPr>
            <p:grpSpPr>
              <a:xfrm>
                <a:off x="5112005" y="2618991"/>
                <a:ext cx="1761451" cy="1530055"/>
                <a:chOff x="2361128" y="5229020"/>
                <a:chExt cx="1040859" cy="810047"/>
              </a:xfrm>
            </p:grpSpPr>
            <p:grpSp>
              <p:nvGrpSpPr>
                <p:cNvPr id="1533" name="グループ化 1532"/>
                <p:cNvGrpSpPr/>
                <p:nvPr/>
              </p:nvGrpSpPr>
              <p:grpSpPr>
                <a:xfrm rot="16200000">
                  <a:off x="2906965" y="5814043"/>
                  <a:ext cx="270041" cy="180007"/>
                  <a:chOff x="1601967" y="3609002"/>
                  <a:chExt cx="540039" cy="360048"/>
                </a:xfrm>
              </p:grpSpPr>
              <p:grpSp>
                <p:nvGrpSpPr>
                  <p:cNvPr id="1553" name="グループ化 1552"/>
                  <p:cNvGrpSpPr/>
                  <p:nvPr/>
                </p:nvGrpSpPr>
                <p:grpSpPr>
                  <a:xfrm rot="10800000">
                    <a:off x="1871970" y="3609002"/>
                    <a:ext cx="270036" cy="360048"/>
                    <a:chOff x="6282228" y="1988808"/>
                    <a:chExt cx="270036" cy="360048"/>
                  </a:xfrm>
                </p:grpSpPr>
                <p:cxnSp>
                  <p:nvCxnSpPr>
                    <p:cNvPr id="1560" name="直線コネクタ 155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61" name="直線コネクタ 156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62" name="直線コネクタ 156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63" name="直線コネクタ 156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554" name="グループ化 1553"/>
                  <p:cNvGrpSpPr/>
                  <p:nvPr/>
                </p:nvGrpSpPr>
                <p:grpSpPr>
                  <a:xfrm>
                    <a:off x="1601967" y="3609002"/>
                    <a:ext cx="360048" cy="360048"/>
                    <a:chOff x="3131808" y="1628760"/>
                    <a:chExt cx="360048" cy="360048"/>
                  </a:xfrm>
                </p:grpSpPr>
                <p:cxnSp>
                  <p:nvCxnSpPr>
                    <p:cNvPr id="1555" name="直線コネクタ 155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6" name="直線コネクタ 155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7" name="直線コネクタ 155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8" name="直線コネクタ 155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559" name="円/楕円 155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534" name="グループ化 1533"/>
                <p:cNvGrpSpPr/>
                <p:nvPr/>
              </p:nvGrpSpPr>
              <p:grpSpPr>
                <a:xfrm rot="5400000">
                  <a:off x="2906965" y="5274037"/>
                  <a:ext cx="270041" cy="180007"/>
                  <a:chOff x="1601967" y="3609002"/>
                  <a:chExt cx="540039" cy="360048"/>
                </a:xfrm>
              </p:grpSpPr>
              <p:grpSp>
                <p:nvGrpSpPr>
                  <p:cNvPr id="1542" name="グループ化 1541"/>
                  <p:cNvGrpSpPr/>
                  <p:nvPr/>
                </p:nvGrpSpPr>
                <p:grpSpPr>
                  <a:xfrm rot="10800000">
                    <a:off x="1871970" y="3609002"/>
                    <a:ext cx="270036" cy="360048"/>
                    <a:chOff x="6282228" y="1988808"/>
                    <a:chExt cx="270036" cy="360048"/>
                  </a:xfrm>
                </p:grpSpPr>
                <p:cxnSp>
                  <p:nvCxnSpPr>
                    <p:cNvPr id="1549" name="直線コネクタ 154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0" name="直線コネクタ 154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1" name="直線コネクタ 155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2" name="直線コネクタ 155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543" name="グループ化 1542"/>
                  <p:cNvGrpSpPr/>
                  <p:nvPr/>
                </p:nvGrpSpPr>
                <p:grpSpPr>
                  <a:xfrm>
                    <a:off x="1601967" y="3609002"/>
                    <a:ext cx="360048" cy="360048"/>
                    <a:chOff x="3131808" y="1628760"/>
                    <a:chExt cx="360048" cy="360048"/>
                  </a:xfrm>
                </p:grpSpPr>
                <p:cxnSp>
                  <p:nvCxnSpPr>
                    <p:cNvPr id="1544" name="直線コネクタ 154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45" name="直線コネクタ 154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46" name="直線コネクタ 154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47" name="直線コネクタ 154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548" name="円/楕円 154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535" name="Line 46"/>
                <p:cNvSpPr>
                  <a:spLocks noChangeShapeType="1"/>
                </p:cNvSpPr>
                <p:nvPr/>
              </p:nvSpPr>
              <p:spPr bwMode="auto">
                <a:xfrm flipH="1" flipV="1">
                  <a:off x="3041983" y="5499022"/>
                  <a:ext cx="0" cy="24777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36" name="Line 46"/>
                <p:cNvSpPr>
                  <a:spLocks noChangeShapeType="1"/>
                </p:cNvSpPr>
                <p:nvPr/>
              </p:nvSpPr>
              <p:spPr bwMode="auto">
                <a:xfrm flipV="1">
                  <a:off x="2681979" y="538577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37" name="Line 46"/>
                <p:cNvSpPr>
                  <a:spLocks noChangeShapeType="1"/>
                </p:cNvSpPr>
                <p:nvPr/>
              </p:nvSpPr>
              <p:spPr bwMode="auto">
                <a:xfrm flipV="1">
                  <a:off x="2681979"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38" name="Line 46"/>
                <p:cNvSpPr>
                  <a:spLocks noChangeShapeType="1"/>
                </p:cNvSpPr>
                <p:nvPr/>
              </p:nvSpPr>
              <p:spPr bwMode="auto">
                <a:xfrm flipV="1">
                  <a:off x="3131984"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39" name="Freeform 10"/>
                <p:cNvSpPr>
                  <a:spLocks/>
                </p:cNvSpPr>
                <p:nvPr/>
              </p:nvSpPr>
              <p:spPr bwMode="auto">
                <a:xfrm rot="5400000" flipV="1">
                  <a:off x="3019216" y="5498542"/>
                  <a:ext cx="49554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41" name="Line 46"/>
                <p:cNvSpPr>
                  <a:spLocks noChangeShapeType="1"/>
                </p:cNvSpPr>
                <p:nvPr/>
              </p:nvSpPr>
              <p:spPr bwMode="auto">
                <a:xfrm flipV="1">
                  <a:off x="2361128" y="5626621"/>
                  <a:ext cx="680728" cy="0"/>
                </a:xfrm>
                <a:prstGeom prst="line">
                  <a:avLst/>
                </a:prstGeom>
                <a:noFill/>
                <a:ln w="9525">
                  <a:solidFill>
                    <a:schemeClr val="tx1"/>
                  </a:solidFill>
                  <a:round/>
                  <a:headEnd type="none" w="sm" len="sm"/>
                  <a:tailEnd type="oval" w="sm" len="sm"/>
                </a:ln>
                <a:effectLst/>
              </p:spPr>
              <p:txBody>
                <a:bodyPr wrap="none" lIns="90000" tIns="46800" rIns="90000" bIns="46800" anchor="ctr"/>
                <a:lstStyle/>
                <a:p>
                  <a:endParaRPr lang="ja-JP" altLang="en-US"/>
                </a:p>
              </p:txBody>
            </p:sp>
          </p:grpSp>
          <p:grpSp>
            <p:nvGrpSpPr>
              <p:cNvPr id="1509" name="グループ化 1508"/>
              <p:cNvGrpSpPr/>
              <p:nvPr/>
            </p:nvGrpSpPr>
            <p:grpSpPr>
              <a:xfrm>
                <a:off x="4034971" y="2850249"/>
                <a:ext cx="1080010" cy="1170013"/>
                <a:chOff x="1871970" y="2562739"/>
                <a:chExt cx="1890019" cy="2559383"/>
              </a:xfrm>
            </p:grpSpPr>
            <p:grpSp>
              <p:nvGrpSpPr>
                <p:cNvPr id="1510" name="グループ化 1509"/>
                <p:cNvGrpSpPr/>
                <p:nvPr/>
              </p:nvGrpSpPr>
              <p:grpSpPr>
                <a:xfrm>
                  <a:off x="2996967" y="4942097"/>
                  <a:ext cx="360048" cy="180025"/>
                  <a:chOff x="1736601" y="2511982"/>
                  <a:chExt cx="360048" cy="180025"/>
                </a:xfrm>
              </p:grpSpPr>
              <p:cxnSp>
                <p:nvCxnSpPr>
                  <p:cNvPr id="1530" name="直線コネクタ 1529"/>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31" name="直線コネクタ 1530"/>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32" name="直線コネクタ 1531"/>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511" name="グループ化 1510"/>
                <p:cNvGrpSpPr/>
                <p:nvPr/>
              </p:nvGrpSpPr>
              <p:grpSpPr>
                <a:xfrm>
                  <a:off x="2861981" y="4059007"/>
                  <a:ext cx="270036" cy="360048"/>
                  <a:chOff x="6282228" y="1988808"/>
                  <a:chExt cx="270036" cy="360048"/>
                </a:xfrm>
              </p:grpSpPr>
              <p:cxnSp>
                <p:nvCxnSpPr>
                  <p:cNvPr id="1526" name="直線コネクタ 152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27" name="直線コネクタ 152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28" name="直線コネクタ 152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29" name="直線コネクタ 152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12" name="直線コネクタ 1511"/>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513" name="直線コネクタ 1512"/>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14" name="直線コネクタ 1513"/>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515"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16"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517" name="グループ化 1516"/>
                <p:cNvGrpSpPr/>
                <p:nvPr/>
              </p:nvGrpSpPr>
              <p:grpSpPr>
                <a:xfrm>
                  <a:off x="2771980" y="2978995"/>
                  <a:ext cx="360048" cy="360048"/>
                  <a:chOff x="3131808" y="1628760"/>
                  <a:chExt cx="360048" cy="360048"/>
                </a:xfrm>
              </p:grpSpPr>
              <p:cxnSp>
                <p:nvCxnSpPr>
                  <p:cNvPr id="1521" name="直線コネクタ 1520"/>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22" name="直線コネクタ 1521"/>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23" name="直線コネクタ 1522"/>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24" name="直線コネクタ 1523"/>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525" name="円/楕円 1524"/>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518" name="直線コネクタ 1517"/>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519" name="直線コネクタ 1518"/>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20" name="直線コネクタ 1519"/>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sp>
          <p:nvSpPr>
            <p:cNvPr id="1564" name="Freeform 10"/>
            <p:cNvSpPr>
              <a:spLocks/>
            </p:cNvSpPr>
            <p:nvPr/>
          </p:nvSpPr>
          <p:spPr bwMode="auto">
            <a:xfrm rot="5400000" flipV="1">
              <a:off x="2872962" y="4410009"/>
              <a:ext cx="432000"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65" name="Freeform 10"/>
            <p:cNvSpPr>
              <a:spLocks/>
            </p:cNvSpPr>
            <p:nvPr/>
          </p:nvSpPr>
          <p:spPr bwMode="auto">
            <a:xfrm rot="5400000" flipH="1" flipV="1">
              <a:off x="2836962" y="5284025"/>
              <a:ext cx="504000" cy="45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66" name="Freeform 10"/>
            <p:cNvSpPr>
              <a:spLocks/>
            </p:cNvSpPr>
            <p:nvPr/>
          </p:nvSpPr>
          <p:spPr bwMode="auto">
            <a:xfrm rot="5400000" flipV="1">
              <a:off x="3518734" y="2781975"/>
              <a:ext cx="1044000" cy="35803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67" name="Freeform 10"/>
            <p:cNvSpPr>
              <a:spLocks/>
            </p:cNvSpPr>
            <p:nvPr/>
          </p:nvSpPr>
          <p:spPr bwMode="auto">
            <a:xfrm rot="5400000" flipH="1" flipV="1">
              <a:off x="3460859" y="4303114"/>
              <a:ext cx="1152000" cy="36577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grpSp>
      <p:grpSp>
        <p:nvGrpSpPr>
          <p:cNvPr id="1617" name="グループ化 1616"/>
          <p:cNvGrpSpPr/>
          <p:nvPr/>
        </p:nvGrpSpPr>
        <p:grpSpPr>
          <a:xfrm>
            <a:off x="8166023" y="1808983"/>
            <a:ext cx="804384" cy="1260035"/>
            <a:chOff x="6012016" y="1268976"/>
            <a:chExt cx="2340026" cy="4140067"/>
          </a:xfrm>
        </p:grpSpPr>
        <p:grpSp>
          <p:nvGrpSpPr>
            <p:cNvPr id="1568" name="グループ化 1567"/>
            <p:cNvGrpSpPr/>
            <p:nvPr/>
          </p:nvGrpSpPr>
          <p:grpSpPr>
            <a:xfrm>
              <a:off x="7002027" y="5229019"/>
              <a:ext cx="360048" cy="180024"/>
              <a:chOff x="1691616" y="2708904"/>
              <a:chExt cx="360048" cy="180024"/>
            </a:xfrm>
          </p:grpSpPr>
          <p:cxnSp>
            <p:nvCxnSpPr>
              <p:cNvPr id="1569" name="直線コネクタ 1568"/>
              <p:cNvCxnSpPr/>
              <p:nvPr/>
            </p:nvCxnSpPr>
            <p:spPr>
              <a:xfrm flipV="1">
                <a:off x="1691616" y="2708904"/>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70" name="直線コネクタ 1569"/>
              <p:cNvCxnSpPr/>
              <p:nvPr/>
            </p:nvCxnSpPr>
            <p:spPr>
              <a:xfrm flipV="1">
                <a:off x="1759125" y="2798916"/>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71" name="直線コネクタ 1570"/>
              <p:cNvCxnSpPr/>
              <p:nvPr/>
            </p:nvCxnSpPr>
            <p:spPr>
              <a:xfrm flipV="1">
                <a:off x="1826634" y="2888928"/>
                <a:ext cx="9001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572" name="グループ化 1571"/>
            <p:cNvGrpSpPr/>
            <p:nvPr/>
          </p:nvGrpSpPr>
          <p:grpSpPr>
            <a:xfrm>
              <a:off x="6912026" y="4149007"/>
              <a:ext cx="270036" cy="360048"/>
              <a:chOff x="6282228" y="1988808"/>
              <a:chExt cx="270036" cy="360048"/>
            </a:xfrm>
          </p:grpSpPr>
          <p:cxnSp>
            <p:nvCxnSpPr>
              <p:cNvPr id="1573" name="直線コネクタ 157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74" name="直線コネクタ 157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75" name="直線コネクタ 157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76" name="直線コネクタ 157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77" name="直線コネクタ 1576"/>
            <p:cNvCxnSpPr/>
            <p:nvPr/>
          </p:nvCxnSpPr>
          <p:spPr>
            <a:xfrm flipV="1">
              <a:off x="7182029" y="2708992"/>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78" name="直線コネクタ 1577"/>
            <p:cNvCxnSpPr/>
            <p:nvPr/>
          </p:nvCxnSpPr>
          <p:spPr>
            <a:xfrm flipV="1">
              <a:off x="7182029" y="4509012"/>
              <a:ext cx="0" cy="720007"/>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579" name="Line 9"/>
            <p:cNvSpPr>
              <a:spLocks noChangeShapeType="1"/>
            </p:cNvSpPr>
            <p:nvPr/>
          </p:nvSpPr>
          <p:spPr bwMode="auto">
            <a:xfrm>
              <a:off x="6372020" y="4329008"/>
              <a:ext cx="540006" cy="1"/>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580" name="グループ化 1579"/>
            <p:cNvGrpSpPr/>
            <p:nvPr/>
          </p:nvGrpSpPr>
          <p:grpSpPr>
            <a:xfrm>
              <a:off x="6462021" y="1988984"/>
              <a:ext cx="360048" cy="360048"/>
              <a:chOff x="3131808" y="1628760"/>
              <a:chExt cx="360048" cy="360048"/>
            </a:xfrm>
          </p:grpSpPr>
          <p:cxnSp>
            <p:nvCxnSpPr>
              <p:cNvPr id="1581" name="直線コネクタ 1580"/>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82" name="直線コネクタ 1581"/>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83" name="直線コネクタ 1582"/>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84" name="直線コネクタ 1583"/>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585" name="円/楕円 1584"/>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586" name="直線コネクタ 1585"/>
            <p:cNvCxnSpPr/>
            <p:nvPr/>
          </p:nvCxnSpPr>
          <p:spPr>
            <a:xfrm flipV="1">
              <a:off x="7182029" y="1268976"/>
              <a:ext cx="0" cy="36000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87" name="直線コネクタ 1586"/>
            <p:cNvCxnSpPr/>
            <p:nvPr/>
          </p:nvCxnSpPr>
          <p:spPr>
            <a:xfrm>
              <a:off x="7002027" y="126897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nvGrpSpPr>
            <p:cNvPr id="1590" name="グループ化 1589"/>
            <p:cNvGrpSpPr/>
            <p:nvPr/>
          </p:nvGrpSpPr>
          <p:grpSpPr>
            <a:xfrm>
              <a:off x="6912026" y="3429000"/>
              <a:ext cx="270036" cy="360048"/>
              <a:chOff x="6282228" y="1988808"/>
              <a:chExt cx="270036" cy="360048"/>
            </a:xfrm>
          </p:grpSpPr>
          <p:cxnSp>
            <p:nvCxnSpPr>
              <p:cNvPr id="1591" name="直線コネクタ 159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92" name="直線コネクタ 159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93" name="直線コネクタ 159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94" name="直線コネクタ 159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595" name="Line 9"/>
            <p:cNvSpPr>
              <a:spLocks noChangeShapeType="1"/>
            </p:cNvSpPr>
            <p:nvPr/>
          </p:nvSpPr>
          <p:spPr bwMode="auto">
            <a:xfrm>
              <a:off x="7182029" y="3789004"/>
              <a:ext cx="1" cy="360003"/>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596" name="Line 9"/>
            <p:cNvSpPr>
              <a:spLocks noChangeShapeType="1"/>
            </p:cNvSpPr>
            <p:nvPr/>
          </p:nvSpPr>
          <p:spPr bwMode="auto">
            <a:xfrm>
              <a:off x="6372020" y="3609002"/>
              <a:ext cx="540006"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599" name="Line 9"/>
            <p:cNvSpPr>
              <a:spLocks noChangeShapeType="1"/>
            </p:cNvSpPr>
            <p:nvPr/>
          </p:nvSpPr>
          <p:spPr bwMode="auto">
            <a:xfrm>
              <a:off x="6012016" y="2168986"/>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601" name="グループ化 1600"/>
            <p:cNvGrpSpPr/>
            <p:nvPr/>
          </p:nvGrpSpPr>
          <p:grpSpPr>
            <a:xfrm rot="10800000">
              <a:off x="7542033" y="1988984"/>
              <a:ext cx="360048" cy="360048"/>
              <a:chOff x="3131808" y="1628760"/>
              <a:chExt cx="360048" cy="360048"/>
            </a:xfrm>
          </p:grpSpPr>
          <p:cxnSp>
            <p:nvCxnSpPr>
              <p:cNvPr id="1602" name="直線コネクタ 1601"/>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03" name="直線コネクタ 1602"/>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04" name="直線コネクタ 1603"/>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05" name="直線コネクタ 1604"/>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606" name="円/楕円 1605"/>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sp>
          <p:nvSpPr>
            <p:cNvPr id="1607" name="Line 9"/>
            <p:cNvSpPr>
              <a:spLocks noChangeShapeType="1"/>
            </p:cNvSpPr>
            <p:nvPr/>
          </p:nvSpPr>
          <p:spPr bwMode="auto">
            <a:xfrm>
              <a:off x="7902037" y="2168986"/>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609" name="Freeform 10"/>
            <p:cNvSpPr>
              <a:spLocks/>
            </p:cNvSpPr>
            <p:nvPr/>
          </p:nvSpPr>
          <p:spPr bwMode="auto">
            <a:xfrm rot="16200000" flipV="1">
              <a:off x="7002027" y="2168986"/>
              <a:ext cx="360004"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10" name="直線コネクタ 1609"/>
            <p:cNvCxnSpPr/>
            <p:nvPr/>
          </p:nvCxnSpPr>
          <p:spPr>
            <a:xfrm>
              <a:off x="7182029" y="3068996"/>
              <a:ext cx="630005" cy="0"/>
            </a:xfrm>
            <a:prstGeom prst="line">
              <a:avLst/>
            </a:prstGeom>
            <a:ln w="3175" cap="rnd">
              <a:solidFill>
                <a:srgbClr val="000000"/>
              </a:solidFill>
              <a:headEnd type="oval"/>
            </a:ln>
          </p:spPr>
          <p:style>
            <a:lnRef idx="1">
              <a:schemeClr val="accent1"/>
            </a:lnRef>
            <a:fillRef idx="0">
              <a:schemeClr val="accent1"/>
            </a:fillRef>
            <a:effectRef idx="0">
              <a:schemeClr val="accent1"/>
            </a:effectRef>
            <a:fontRef idx="minor">
              <a:schemeClr val="tx1"/>
            </a:fontRef>
          </p:style>
        </p:cxnSp>
        <p:sp>
          <p:nvSpPr>
            <p:cNvPr id="1611" name="Freeform 10"/>
            <p:cNvSpPr>
              <a:spLocks/>
            </p:cNvSpPr>
            <p:nvPr/>
          </p:nvSpPr>
          <p:spPr bwMode="auto">
            <a:xfrm rot="16200000" flipH="1" flipV="1">
              <a:off x="7002027" y="1448978"/>
              <a:ext cx="360004"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12" name="直線コネクタ 1611"/>
            <p:cNvCxnSpPr/>
            <p:nvPr/>
          </p:nvCxnSpPr>
          <p:spPr>
            <a:xfrm flipV="1">
              <a:off x="7542033" y="1628980"/>
              <a:ext cx="0" cy="36000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613" name="直線コネクタ 1612"/>
            <p:cNvCxnSpPr/>
            <p:nvPr/>
          </p:nvCxnSpPr>
          <p:spPr>
            <a:xfrm flipV="1">
              <a:off x="7542033" y="2348988"/>
              <a:ext cx="0" cy="36000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grpSp>
      <p:sp>
        <p:nvSpPr>
          <p:cNvPr id="1619" name="正方形/長方形 1618"/>
          <p:cNvSpPr/>
          <p:nvPr/>
        </p:nvSpPr>
        <p:spPr bwMode="auto">
          <a:xfrm>
            <a:off x="7896021" y="1088974"/>
            <a:ext cx="1350015"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NAND</a:t>
            </a:r>
            <a:r>
              <a:rPr lang="ja-JP" altLang="en-US" dirty="0">
                <a:ea typeface="メイリオ" panose="020B0604030504040204" pitchFamily="50" charset="-128"/>
              </a:rPr>
              <a:t>：４</a:t>
            </a:r>
          </a:p>
        </p:txBody>
      </p:sp>
      <p:sp>
        <p:nvSpPr>
          <p:cNvPr id="1620" name="正方形/長方形 1619"/>
          <p:cNvSpPr/>
          <p:nvPr/>
        </p:nvSpPr>
        <p:spPr bwMode="auto">
          <a:xfrm>
            <a:off x="2675962" y="1088974"/>
            <a:ext cx="2520028"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LUT</a:t>
            </a:r>
            <a:r>
              <a:rPr lang="ja-JP" altLang="en-US" dirty="0">
                <a:ea typeface="メイリオ" panose="020B0604030504040204" pitchFamily="50" charset="-128"/>
              </a:rPr>
              <a:t>：</a:t>
            </a:r>
            <a:r>
              <a:rPr lang="en-US" altLang="ja-JP" dirty="0">
                <a:ea typeface="メイリオ" panose="020B0604030504040204" pitchFamily="50" charset="-128"/>
              </a:rPr>
              <a:t>16*4+6*3=82</a:t>
            </a:r>
            <a:endParaRPr lang="ja-JP" altLang="en-US" dirty="0">
              <a:ea typeface="メイリオ" panose="020B0604030504040204" pitchFamily="50" charset="-128"/>
            </a:endParaRPr>
          </a:p>
        </p:txBody>
      </p:sp>
      <p:sp>
        <p:nvSpPr>
          <p:cNvPr id="3" name="正方形/長方形 2"/>
          <p:cNvSpPr/>
          <p:nvPr/>
        </p:nvSpPr>
        <p:spPr>
          <a:xfrm>
            <a:off x="5915998" y="6039030"/>
            <a:ext cx="4572000" cy="646331"/>
          </a:xfrm>
          <a:prstGeom prst="rect">
            <a:avLst/>
          </a:prstGeom>
        </p:spPr>
        <p:txBody>
          <a:bodyPr>
            <a:spAutoFit/>
          </a:bodyPr>
          <a:lstStyle/>
          <a:p>
            <a:r>
              <a:rPr lang="ja-JP" altLang="en-US" dirty="0"/>
              <a:t>（注：実際にはもう少しトランジスタ数の</a:t>
            </a:r>
            <a:endParaRPr lang="en-US" altLang="ja-JP" dirty="0"/>
          </a:p>
          <a:p>
            <a:r>
              <a:rPr lang="ja-JP" altLang="en-US" dirty="0"/>
              <a:t>　少ない回路でできています</a:t>
            </a:r>
          </a:p>
        </p:txBody>
      </p:sp>
    </p:spTree>
    <p:extLst>
      <p:ext uri="{BB962C8B-B14F-4D97-AF65-F5344CB8AC3E}">
        <p14:creationId xmlns:p14="http://schemas.microsoft.com/office/powerpoint/2010/main" val="16889333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LUT </a:t>
            </a:r>
            <a:r>
              <a:rPr kumimoji="1" lang="ja-JP" altLang="en-US" dirty="0"/>
              <a:t>で回路を構成した場合</a:t>
            </a:r>
          </a:p>
        </p:txBody>
      </p:sp>
      <p:sp>
        <p:nvSpPr>
          <p:cNvPr id="3" name="テキスト プレースホルダー 2"/>
          <p:cNvSpPr>
            <a:spLocks noGrp="1"/>
          </p:cNvSpPr>
          <p:nvPr>
            <p:ph type="body" sz="quarter" idx="10"/>
          </p:nvPr>
        </p:nvSpPr>
        <p:spPr/>
        <p:txBody>
          <a:bodyPr/>
          <a:lstStyle/>
          <a:p>
            <a:r>
              <a:rPr lang="ja-JP" altLang="en-US" dirty="0"/>
              <a:t>このほかに，</a:t>
            </a:r>
            <a:r>
              <a:rPr lang="en-US" altLang="ja-JP" dirty="0"/>
              <a:t>LUT </a:t>
            </a:r>
            <a:r>
              <a:rPr lang="ja-JP" altLang="en-US" dirty="0"/>
              <a:t>間を結合するためのネットワークも必要</a:t>
            </a:r>
          </a:p>
          <a:p>
            <a:r>
              <a:rPr lang="ja-JP" altLang="en-US" dirty="0"/>
              <a:t>結果として，直接回路を作るより１～２桁は下記の特性が悪化</a:t>
            </a:r>
            <a:endParaRPr lang="en-US" altLang="ja-JP" dirty="0"/>
          </a:p>
          <a:p>
            <a:pPr lvl="1"/>
            <a:r>
              <a:rPr lang="ja-JP" altLang="en-US" dirty="0"/>
              <a:t>回路面積</a:t>
            </a:r>
            <a:endParaRPr lang="en-US" altLang="ja-JP" dirty="0"/>
          </a:p>
          <a:p>
            <a:pPr lvl="1"/>
            <a:r>
              <a:rPr lang="ja-JP" altLang="en-US" dirty="0"/>
              <a:t>遅延</a:t>
            </a:r>
            <a:endParaRPr lang="en-US" altLang="ja-JP" dirty="0"/>
          </a:p>
          <a:p>
            <a:pPr lvl="1"/>
            <a:r>
              <a:rPr lang="ja-JP" altLang="en-US" dirty="0"/>
              <a:t>エネルギー</a:t>
            </a:r>
            <a:endParaRPr lang="en-US" altLang="ja-JP" dirty="0"/>
          </a:p>
        </p:txBody>
      </p:sp>
    </p:spTree>
    <p:extLst>
      <p:ext uri="{BB962C8B-B14F-4D97-AF65-F5344CB8AC3E}">
        <p14:creationId xmlns:p14="http://schemas.microsoft.com/office/powerpoint/2010/main" val="30240527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CPU </a:t>
            </a:r>
            <a:r>
              <a:rPr lang="ja-JP" altLang="en-US" dirty="0"/>
              <a:t>から </a:t>
            </a:r>
            <a:r>
              <a:rPr lang="en-US" altLang="ja-JP" dirty="0"/>
              <a:t>FPGA </a:t>
            </a:r>
            <a:r>
              <a:rPr lang="ja-JP" altLang="en-US" dirty="0"/>
              <a:t>にしたときに良い場合・悪い場合</a:t>
            </a:r>
            <a:endParaRPr kumimoji="1" lang="ja-JP" altLang="en-US" dirty="0"/>
          </a:p>
        </p:txBody>
      </p:sp>
      <p:sp>
        <p:nvSpPr>
          <p:cNvPr id="3" name="テキスト プレースホルダー 2"/>
          <p:cNvSpPr>
            <a:spLocks noGrp="1"/>
          </p:cNvSpPr>
          <p:nvPr>
            <p:ph type="body" sz="quarter" idx="10"/>
          </p:nvPr>
        </p:nvSpPr>
        <p:spPr>
          <a:xfrm>
            <a:off x="2135957" y="2348989"/>
            <a:ext cx="8010089" cy="3239729"/>
          </a:xfrm>
        </p:spPr>
        <p:txBody>
          <a:bodyPr anchor="t"/>
          <a:lstStyle/>
          <a:p>
            <a:r>
              <a:rPr lang="en-US" altLang="ja-JP" sz="1800" dirty="0"/>
              <a:t>1bit NAND </a:t>
            </a:r>
            <a:r>
              <a:rPr lang="ja-JP" altLang="en-US" sz="1800" dirty="0"/>
              <a:t>演算器：</a:t>
            </a:r>
            <a:r>
              <a:rPr lang="en-US" altLang="ja-JP" sz="1800" dirty="0"/>
              <a:t>			4 </a:t>
            </a:r>
            <a:r>
              <a:rPr lang="ja-JP" altLang="en-US" sz="1800" dirty="0"/>
              <a:t>トランジスタ</a:t>
            </a:r>
            <a:endParaRPr lang="en-US" altLang="ja-JP" sz="1800" dirty="0"/>
          </a:p>
          <a:p>
            <a:pPr lvl="1"/>
            <a:r>
              <a:rPr lang="en-US" altLang="ja-JP" sz="1800" dirty="0"/>
              <a:t>LUT </a:t>
            </a:r>
            <a:r>
              <a:rPr lang="ja-JP" altLang="en-US" sz="1800" dirty="0"/>
              <a:t>によって </a:t>
            </a:r>
            <a:r>
              <a:rPr lang="en-US" altLang="ja-JP" sz="1800" dirty="0"/>
              <a:t>82 </a:t>
            </a:r>
            <a:r>
              <a:rPr lang="ja-JP" altLang="en-US" sz="1800" dirty="0"/>
              <a:t>トランジスタになっても十分上記より小さい</a:t>
            </a:r>
            <a:br>
              <a:rPr lang="en-US" altLang="ja-JP" sz="1800" dirty="0"/>
            </a:br>
            <a:endParaRPr lang="en-US" altLang="ja-JP" sz="1800" dirty="0"/>
          </a:p>
          <a:p>
            <a:r>
              <a:rPr lang="en-US" altLang="ja-JP" sz="1800" dirty="0"/>
              <a:t>64bit </a:t>
            </a:r>
            <a:r>
              <a:rPr lang="ja-JP" altLang="en-US" sz="1800" dirty="0"/>
              <a:t>整数加算器：</a:t>
            </a:r>
            <a:r>
              <a:rPr lang="en-US" altLang="ja-JP" sz="1800" dirty="0"/>
              <a:t>			4k </a:t>
            </a:r>
            <a:r>
              <a:rPr lang="ja-JP" altLang="en-US" sz="1800" dirty="0"/>
              <a:t>トランジスタ</a:t>
            </a:r>
            <a:endParaRPr lang="en-US" altLang="ja-JP" sz="1800" dirty="0"/>
          </a:p>
          <a:p>
            <a:pPr lvl="1"/>
            <a:r>
              <a:rPr lang="en-US" altLang="ja-JP" sz="1800" dirty="0"/>
              <a:t>20</a:t>
            </a:r>
            <a:r>
              <a:rPr lang="ja-JP" altLang="en-US" sz="1800" dirty="0"/>
              <a:t>倍大きくなり </a:t>
            </a:r>
            <a:r>
              <a:rPr lang="en-US" altLang="ja-JP" sz="1800" dirty="0"/>
              <a:t>80k </a:t>
            </a:r>
            <a:r>
              <a:rPr lang="ja-JP" altLang="en-US" sz="1800" dirty="0"/>
              <a:t>になると，</a:t>
            </a:r>
            <a:r>
              <a:rPr lang="en-US" altLang="ja-JP" sz="1800" dirty="0"/>
              <a:t>MIPS </a:t>
            </a:r>
            <a:r>
              <a:rPr lang="ja-JP" altLang="en-US" sz="1800" dirty="0"/>
              <a:t>でやるのとほとんど変わらない</a:t>
            </a:r>
            <a:br>
              <a:rPr lang="en-US" altLang="ja-JP" sz="1800" dirty="0"/>
            </a:br>
            <a:endParaRPr lang="en-US" altLang="ja-JP" sz="1800" dirty="0"/>
          </a:p>
          <a:p>
            <a:r>
              <a:rPr lang="en-US" altLang="ja-JP" sz="1800" dirty="0"/>
              <a:t>64bit </a:t>
            </a:r>
            <a:r>
              <a:rPr lang="ja-JP" altLang="en-US" sz="1800" dirty="0"/>
              <a:t>浮動小数点</a:t>
            </a:r>
            <a:r>
              <a:rPr lang="en-US" altLang="ja-JP" sz="1800" dirty="0"/>
              <a:t> </a:t>
            </a:r>
            <a:r>
              <a:rPr lang="ja-JP" altLang="en-US" sz="1800" dirty="0"/>
              <a:t>乗算</a:t>
            </a:r>
            <a:r>
              <a:rPr lang="en-US" altLang="ja-JP" sz="1800" dirty="0"/>
              <a:t>+</a:t>
            </a:r>
            <a:r>
              <a:rPr lang="ja-JP" altLang="en-US" sz="1800" dirty="0"/>
              <a:t>加算器：</a:t>
            </a:r>
            <a:r>
              <a:rPr lang="en-US" altLang="ja-JP" sz="1800" dirty="0"/>
              <a:t>	68k</a:t>
            </a:r>
            <a:r>
              <a:rPr lang="ja-JP" altLang="en-US" sz="1800" dirty="0"/>
              <a:t>トランジスタ</a:t>
            </a:r>
            <a:endParaRPr lang="en-US" altLang="ja-JP" sz="1800" dirty="0"/>
          </a:p>
          <a:p>
            <a:pPr lvl="1"/>
            <a:r>
              <a:rPr lang="en-US" altLang="ja-JP" sz="1800" dirty="0"/>
              <a:t>FPGA </a:t>
            </a:r>
            <a:r>
              <a:rPr lang="ja-JP" altLang="en-US" sz="1800" dirty="0"/>
              <a:t>にすると巨大になりすぎるし，何もおいしくない</a:t>
            </a:r>
          </a:p>
        </p:txBody>
      </p:sp>
      <p:sp>
        <p:nvSpPr>
          <p:cNvPr id="5" name="正方形/長方形 4"/>
          <p:cNvSpPr/>
          <p:nvPr/>
        </p:nvSpPr>
        <p:spPr bwMode="auto">
          <a:xfrm>
            <a:off x="2945965" y="4599013"/>
            <a:ext cx="180000" cy="18000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13" name="正方形/長方形 12"/>
          <p:cNvSpPr/>
          <p:nvPr/>
        </p:nvSpPr>
        <p:spPr bwMode="auto">
          <a:xfrm rot="5400000">
            <a:off x="3665975" y="998972"/>
            <a:ext cx="450000" cy="1890021"/>
          </a:xfrm>
          <a:prstGeom prst="rect">
            <a:avLst/>
          </a:prstGeom>
          <a:gradFill flip="none" rotWithShape="1">
            <a:lin ang="10800000" scaled="1"/>
            <a:tileRect/>
          </a:gradFill>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16" name="正方形/長方形 15"/>
          <p:cNvSpPr/>
          <p:nvPr/>
        </p:nvSpPr>
        <p:spPr bwMode="auto">
          <a:xfrm>
            <a:off x="2675962" y="3158997"/>
            <a:ext cx="2745030"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（小さすぎて見えない</a:t>
            </a:r>
          </a:p>
        </p:txBody>
      </p:sp>
      <p:sp>
        <p:nvSpPr>
          <p:cNvPr id="8" name="テキスト プレースホルダー 2"/>
          <p:cNvSpPr txBox="1">
            <a:spLocks/>
          </p:cNvSpPr>
          <p:nvPr/>
        </p:nvSpPr>
        <p:spPr bwMode="auto">
          <a:xfrm>
            <a:off x="2135957" y="908973"/>
            <a:ext cx="8010089" cy="89970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sz="1800" kern="0" dirty="0"/>
              <a:t>MIPS R3000 </a:t>
            </a:r>
            <a:r>
              <a:rPr lang="ja-JP" altLang="en-US" sz="1800" kern="0" dirty="0"/>
              <a:t>プロセッサ：</a:t>
            </a:r>
            <a:r>
              <a:rPr lang="en-US" altLang="ja-JP" sz="1800" kern="0" dirty="0"/>
              <a:t>		115k </a:t>
            </a:r>
            <a:r>
              <a:rPr lang="ja-JP" altLang="en-US" sz="1800" kern="0" dirty="0"/>
              <a:t>トランジスタ</a:t>
            </a:r>
            <a:endParaRPr lang="en-US" altLang="ja-JP" sz="1800" kern="0" dirty="0"/>
          </a:p>
          <a:p>
            <a:pPr lvl="1"/>
            <a:r>
              <a:rPr lang="ja-JP" altLang="en-US" sz="1800" kern="0" dirty="0"/>
              <a:t>これの上で動くプログラムを </a:t>
            </a:r>
            <a:r>
              <a:rPr lang="en-US" altLang="ja-JP" sz="1800" kern="0" dirty="0"/>
              <a:t>FPGA </a:t>
            </a:r>
            <a:r>
              <a:rPr lang="ja-JP" altLang="en-US" sz="1800" kern="0" dirty="0"/>
              <a:t>に置き換えた場合を考える</a:t>
            </a:r>
          </a:p>
        </p:txBody>
      </p:sp>
      <p:sp>
        <p:nvSpPr>
          <p:cNvPr id="10" name="正方形/長方形 9"/>
          <p:cNvSpPr/>
          <p:nvPr/>
        </p:nvSpPr>
        <p:spPr bwMode="auto">
          <a:xfrm>
            <a:off x="2945965" y="4599013"/>
            <a:ext cx="1800000" cy="360000"/>
          </a:xfrm>
          <a:prstGeom prst="rect">
            <a:avLst/>
          </a:prstGeom>
          <a:noFill/>
          <a:ln w="25400">
            <a:prstDash val="solid"/>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11" name="正方形/長方形 10"/>
          <p:cNvSpPr/>
          <p:nvPr/>
        </p:nvSpPr>
        <p:spPr bwMode="auto">
          <a:xfrm>
            <a:off x="2945966" y="5859028"/>
            <a:ext cx="6750075" cy="1890020"/>
          </a:xfrm>
          <a:prstGeom prst="rect">
            <a:avLst/>
          </a:prstGeom>
          <a:noFill/>
          <a:ln w="25400" cmpd="sng">
            <a:solidFill>
              <a:schemeClr val="accent6"/>
            </a:solidFill>
            <a:prstDash val="solid"/>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cxnSp>
        <p:nvCxnSpPr>
          <p:cNvPr id="7" name="直線矢印コネクタ 6"/>
          <p:cNvCxnSpPr/>
          <p:nvPr/>
        </p:nvCxnSpPr>
        <p:spPr bwMode="auto">
          <a:xfrm>
            <a:off x="3215968" y="4689014"/>
            <a:ext cx="1440016" cy="180002"/>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4" name="直線矢印コネクタ 13"/>
          <p:cNvCxnSpPr>
            <a:cxnSpLocks/>
          </p:cNvCxnSpPr>
          <p:nvPr/>
        </p:nvCxnSpPr>
        <p:spPr bwMode="auto">
          <a:xfrm>
            <a:off x="4475982" y="6039030"/>
            <a:ext cx="4860054" cy="1530017"/>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sp>
        <p:nvSpPr>
          <p:cNvPr id="6" name="正方形/長方形 5">
            <a:extLst>
              <a:ext uri="{FF2B5EF4-FFF2-40B4-BE49-F238E27FC236}">
                <a16:creationId xmlns:a16="http://schemas.microsoft.com/office/drawing/2014/main" id="{DCE419F0-AF1A-773D-09AF-F05853020E4E}"/>
              </a:ext>
            </a:extLst>
          </p:cNvPr>
          <p:cNvSpPr/>
          <p:nvPr/>
        </p:nvSpPr>
        <p:spPr bwMode="auto">
          <a:xfrm rot="5400000">
            <a:off x="3395972" y="5409020"/>
            <a:ext cx="450000" cy="1350014"/>
          </a:xfrm>
          <a:prstGeom prst="rect">
            <a:avLst/>
          </a:prstGeom>
          <a:gradFill flip="none"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0800000" scaled="1"/>
            <a:tileRect/>
          </a:gradFill>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6642557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FPGA </a:t>
            </a:r>
            <a:r>
              <a:rPr kumimoji="1" lang="ja-JP" altLang="en-US" dirty="0"/>
              <a:t>の特性のまとめ</a:t>
            </a:r>
          </a:p>
        </p:txBody>
      </p:sp>
      <p:sp>
        <p:nvSpPr>
          <p:cNvPr id="3" name="テキスト プレースホルダー 2"/>
          <p:cNvSpPr>
            <a:spLocks noGrp="1"/>
          </p:cNvSpPr>
          <p:nvPr>
            <p:ph type="body" sz="quarter" idx="10"/>
          </p:nvPr>
        </p:nvSpPr>
        <p:spPr>
          <a:xfrm>
            <a:off x="1775952" y="1088975"/>
            <a:ext cx="8892048" cy="5219751"/>
          </a:xfrm>
        </p:spPr>
        <p:txBody>
          <a:bodyPr/>
          <a:lstStyle/>
          <a:p>
            <a:r>
              <a:rPr lang="ja-JP" altLang="en-US" dirty="0"/>
              <a:t>トレードオフによって，最終的な優劣がきまる</a:t>
            </a:r>
            <a:endParaRPr lang="en-US" altLang="ja-JP" dirty="0"/>
          </a:p>
          <a:p>
            <a:pPr lvl="1"/>
            <a:r>
              <a:rPr lang="en-US" altLang="ja-JP" dirty="0"/>
              <a:t>FPGA </a:t>
            </a:r>
            <a:r>
              <a:rPr lang="ja-JP" altLang="en-US" dirty="0"/>
              <a:t>良い点：専用回路をくめば，</a:t>
            </a:r>
            <a:r>
              <a:rPr lang="ja-JP" altLang="en-US" dirty="0">
                <a:solidFill>
                  <a:schemeClr val="accent5"/>
                </a:solidFill>
              </a:rPr>
              <a:t>命令制御に必要な資源が不要</a:t>
            </a:r>
            <a:endParaRPr lang="en-US" altLang="ja-JP" dirty="0">
              <a:solidFill>
                <a:schemeClr val="accent5"/>
              </a:solidFill>
            </a:endParaRPr>
          </a:p>
          <a:p>
            <a:pPr lvl="2"/>
            <a:r>
              <a:rPr lang="ja-JP" altLang="en-US" dirty="0"/>
              <a:t>データの受け渡のためのレジスタ・ファイルなども不要になる</a:t>
            </a:r>
            <a:endParaRPr lang="en-US" altLang="ja-JP" dirty="0"/>
          </a:p>
          <a:p>
            <a:pPr lvl="1"/>
            <a:r>
              <a:rPr lang="en-US" altLang="ja-JP" dirty="0"/>
              <a:t>FPGA </a:t>
            </a:r>
            <a:r>
              <a:rPr lang="ja-JP" altLang="en-US" dirty="0"/>
              <a:t>悪い点：</a:t>
            </a:r>
            <a:r>
              <a:rPr lang="ja-JP" altLang="en-US" dirty="0">
                <a:solidFill>
                  <a:schemeClr val="accent5"/>
                </a:solidFill>
              </a:rPr>
              <a:t>回路としては一般に１桁から２桁程度性能が悪化</a:t>
            </a:r>
            <a:endParaRPr lang="en-US" altLang="ja-JP" dirty="0">
              <a:solidFill>
                <a:schemeClr val="accent5"/>
              </a:solidFill>
            </a:endParaRPr>
          </a:p>
          <a:p>
            <a:r>
              <a:rPr kumimoji="1" lang="ja-JP" altLang="en-US" dirty="0"/>
              <a:t>演算の種類と複雑さで </a:t>
            </a:r>
            <a:r>
              <a:rPr kumimoji="1" lang="en-US" altLang="ja-JP" dirty="0"/>
              <a:t>FPGA </a:t>
            </a:r>
            <a:r>
              <a:rPr kumimoji="1" lang="ja-JP" altLang="en-US" dirty="0"/>
              <a:t>化したときにおいしいかどうかは決まる</a:t>
            </a:r>
            <a:endParaRPr kumimoji="1" lang="en-US" altLang="ja-JP" dirty="0"/>
          </a:p>
          <a:p>
            <a:pPr lvl="1"/>
            <a:r>
              <a:rPr kumimoji="1" lang="ja-JP" altLang="en-US" dirty="0"/>
              <a:t>既に </a:t>
            </a:r>
            <a:r>
              <a:rPr kumimoji="1" lang="en-US" altLang="ja-JP" dirty="0"/>
              <a:t>CPU </a:t>
            </a:r>
            <a:r>
              <a:rPr kumimoji="1" lang="ja-JP" altLang="en-US" dirty="0"/>
              <a:t>や </a:t>
            </a:r>
            <a:r>
              <a:rPr kumimoji="1" lang="en-US" altLang="ja-JP" dirty="0"/>
              <a:t>GPU </a:t>
            </a:r>
            <a:r>
              <a:rPr kumimoji="1" lang="ja-JP" altLang="en-US" dirty="0"/>
              <a:t>に演算器が載っているような </a:t>
            </a:r>
            <a:r>
              <a:rPr kumimoji="1" lang="en-US" altLang="ja-JP" dirty="0"/>
              <a:t>FP </a:t>
            </a:r>
            <a:r>
              <a:rPr kumimoji="1" lang="ja-JP" altLang="en-US" dirty="0"/>
              <a:t>演算などは</a:t>
            </a:r>
            <a:br>
              <a:rPr kumimoji="1" lang="en-US" altLang="ja-JP" dirty="0"/>
            </a:br>
            <a:r>
              <a:rPr kumimoji="1" lang="ja-JP" altLang="en-US" dirty="0"/>
              <a:t>逆効果になりかねない</a:t>
            </a:r>
            <a:endParaRPr kumimoji="1" lang="en-US" altLang="ja-JP" dirty="0"/>
          </a:p>
          <a:p>
            <a:r>
              <a:rPr lang="ja-JP" altLang="en-US" dirty="0"/>
              <a:t>なお実際には，よく使われる回路は，</a:t>
            </a:r>
            <a:r>
              <a:rPr lang="en-US" altLang="ja-JP" dirty="0"/>
              <a:t>FPGA </a:t>
            </a:r>
            <a:r>
              <a:rPr lang="ja-JP" altLang="en-US" dirty="0"/>
              <a:t>では </a:t>
            </a:r>
            <a:r>
              <a:rPr lang="en-US" altLang="ja-JP" dirty="0"/>
              <a:t>LUT </a:t>
            </a:r>
            <a:r>
              <a:rPr lang="ja-JP" altLang="en-US" dirty="0"/>
              <a:t>ではないものが入っていることも多い</a:t>
            </a:r>
            <a:endParaRPr lang="en-US" altLang="ja-JP" dirty="0"/>
          </a:p>
          <a:p>
            <a:pPr lvl="1"/>
            <a:r>
              <a:rPr lang="ja-JP" altLang="en-US" dirty="0"/>
              <a:t>加算器や乗算器などは専用の回路が入っている</a:t>
            </a:r>
            <a:endParaRPr kumimoji="1" lang="en-US" altLang="ja-JP" dirty="0"/>
          </a:p>
        </p:txBody>
      </p:sp>
    </p:spTree>
    <p:extLst>
      <p:ext uri="{BB962C8B-B14F-4D97-AF65-F5344CB8AC3E}">
        <p14:creationId xmlns:p14="http://schemas.microsoft.com/office/powerpoint/2010/main" val="3149928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ここまでのまとめ</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アーキテクチャの違いによる消費電力の違い</a:t>
            </a:r>
            <a:endParaRPr lang="en-US" altLang="ja-JP" dirty="0"/>
          </a:p>
          <a:p>
            <a:pPr lvl="1"/>
            <a:r>
              <a:rPr lang="ja-JP" altLang="en-US" dirty="0"/>
              <a:t>回路は命令制御と演算に大きく分けられる</a:t>
            </a:r>
            <a:endParaRPr lang="en-US" altLang="ja-JP" dirty="0"/>
          </a:p>
          <a:p>
            <a:pPr lvl="1"/>
            <a:r>
              <a:rPr lang="ja-JP" altLang="en-US" dirty="0"/>
              <a:t>命令制御に回路を割くと消費電力が大きくなるが，</a:t>
            </a:r>
            <a:br>
              <a:rPr lang="en-US" altLang="ja-JP" dirty="0"/>
            </a:br>
            <a:r>
              <a:rPr lang="ja-JP" altLang="en-US" dirty="0"/>
              <a:t>プログラマは楽に</a:t>
            </a:r>
            <a:endParaRPr lang="en-US" altLang="ja-JP" dirty="0"/>
          </a:p>
          <a:p>
            <a:pPr marL="457200" indent="-457200">
              <a:buFont typeface="+mj-lt"/>
              <a:buAutoNum type="arabicPeriod"/>
            </a:pPr>
            <a:r>
              <a:rPr lang="en-US" altLang="ja-JP" dirty="0"/>
              <a:t>FPGA </a:t>
            </a:r>
            <a:r>
              <a:rPr lang="ja-JP" altLang="en-US" dirty="0"/>
              <a:t>による回路</a:t>
            </a:r>
            <a:endParaRPr lang="en-US" altLang="ja-JP" dirty="0"/>
          </a:p>
          <a:p>
            <a:pPr lvl="1"/>
            <a:r>
              <a:rPr kumimoji="1" lang="en-US" altLang="ja-JP" dirty="0"/>
              <a:t>FPGA </a:t>
            </a:r>
            <a:r>
              <a:rPr kumimoji="1" lang="ja-JP" altLang="en-US" dirty="0"/>
              <a:t>は直接回路を作るのと比べるとかなり効率が悪い</a:t>
            </a:r>
            <a:endParaRPr kumimoji="1" lang="en-US" altLang="ja-JP" dirty="0"/>
          </a:p>
          <a:p>
            <a:pPr lvl="1"/>
            <a:r>
              <a:rPr kumimoji="1" lang="en-US" altLang="ja-JP" dirty="0"/>
              <a:t>CPU </a:t>
            </a:r>
            <a:r>
              <a:rPr kumimoji="1" lang="ja-JP" altLang="en-US" dirty="0"/>
              <a:t>で動いているプログラムを </a:t>
            </a:r>
            <a:r>
              <a:rPr kumimoji="1" lang="en-US" altLang="ja-JP" dirty="0"/>
              <a:t>FPGA </a:t>
            </a:r>
            <a:r>
              <a:rPr kumimoji="1" lang="ja-JP" altLang="en-US" dirty="0"/>
              <a:t>の専用回路にした場合，</a:t>
            </a:r>
            <a:br>
              <a:rPr kumimoji="1" lang="en-US" altLang="ja-JP" dirty="0"/>
            </a:br>
            <a:r>
              <a:rPr kumimoji="1" lang="ja-JP" altLang="en-US" dirty="0"/>
              <a:t>おいしいかどうかは演算の複雑さで決まる</a:t>
            </a:r>
          </a:p>
        </p:txBody>
      </p:sp>
    </p:spTree>
    <p:extLst>
      <p:ext uri="{BB962C8B-B14F-4D97-AF65-F5344CB8AC3E}">
        <p14:creationId xmlns:p14="http://schemas.microsoft.com/office/powerpoint/2010/main" val="36516023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余談：ムーアの法則と周波数</a:t>
            </a:r>
          </a:p>
        </p:txBody>
      </p:sp>
    </p:spTree>
    <p:extLst>
      <p:ext uri="{BB962C8B-B14F-4D97-AF65-F5344CB8AC3E}">
        <p14:creationId xmlns:p14="http://schemas.microsoft.com/office/powerpoint/2010/main" val="9077970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クロック周波数</a:t>
            </a:r>
          </a:p>
        </p:txBody>
      </p:sp>
      <p:sp>
        <p:nvSpPr>
          <p:cNvPr id="3" name="テキスト プレースホルダー 2"/>
          <p:cNvSpPr>
            <a:spLocks noGrp="1"/>
          </p:cNvSpPr>
          <p:nvPr>
            <p:ph type="body" sz="quarter" idx="10"/>
          </p:nvPr>
        </p:nvSpPr>
        <p:spPr>
          <a:xfrm>
            <a:off x="2135957" y="1448979"/>
            <a:ext cx="8010089" cy="1439709"/>
          </a:xfrm>
        </p:spPr>
        <p:txBody>
          <a:bodyPr/>
          <a:lstStyle/>
          <a:p>
            <a:r>
              <a:rPr kumimoji="1" lang="en-US" altLang="ja-JP" dirty="0"/>
              <a:t>CPU </a:t>
            </a:r>
            <a:r>
              <a:rPr kumimoji="1" lang="ja-JP" altLang="en-US" dirty="0"/>
              <a:t>のクロック周波数：</a:t>
            </a:r>
            <a:endParaRPr kumimoji="1" lang="en-US" altLang="ja-JP" dirty="0"/>
          </a:p>
          <a:p>
            <a:pPr lvl="1"/>
            <a:r>
              <a:rPr lang="ja-JP" altLang="en-US" dirty="0"/>
              <a:t>１秒間に何回処理を行えるかを表す</a:t>
            </a:r>
          </a:p>
          <a:p>
            <a:pPr lvl="1"/>
            <a:r>
              <a:rPr lang="ja-JP" altLang="en-US" dirty="0"/>
              <a:t>性能を大きく左右</a:t>
            </a:r>
            <a:endParaRPr lang="en-US" altLang="ja-JP" dirty="0"/>
          </a:p>
          <a:p>
            <a:r>
              <a:rPr lang="en-US" altLang="ja-JP" dirty="0"/>
              <a:t>2002</a:t>
            </a:r>
            <a:r>
              <a:rPr lang="ja-JP" altLang="en-US" dirty="0"/>
              <a:t>年頃からほぼ上がっていない</a:t>
            </a:r>
            <a:endParaRPr lang="en-US" altLang="ja-JP" dirty="0"/>
          </a:p>
          <a:p>
            <a:pPr lvl="1"/>
            <a:r>
              <a:rPr lang="ja-JP" altLang="en-US" dirty="0"/>
              <a:t>（実はここ数年はまた少し上がってきてはいる</a:t>
            </a:r>
            <a:endParaRPr lang="en-US" altLang="ja-JP" dirty="0"/>
          </a:p>
        </p:txBody>
      </p:sp>
      <p:graphicFrame>
        <p:nvGraphicFramePr>
          <p:cNvPr id="6" name="グラフ 5">
            <a:extLst>
              <a:ext uri="{FF2B5EF4-FFF2-40B4-BE49-F238E27FC236}">
                <a16:creationId xmlns:a16="http://schemas.microsoft.com/office/drawing/2014/main" id="{ABC134D7-8341-4B3D-8F4D-CEB7DECC6C2F}"/>
              </a:ext>
            </a:extLst>
          </p:cNvPr>
          <p:cNvGraphicFramePr>
            <a:graphicFrameLocks/>
          </p:cNvGraphicFramePr>
          <p:nvPr>
            <p:extLst>
              <p:ext uri="{D42A27DB-BD31-4B8C-83A1-F6EECF244321}">
                <p14:modId xmlns:p14="http://schemas.microsoft.com/office/powerpoint/2010/main" val="581308462"/>
              </p:ext>
            </p:extLst>
          </p:nvPr>
        </p:nvGraphicFramePr>
        <p:xfrm>
          <a:off x="3395970" y="3519002"/>
          <a:ext cx="5154800" cy="297003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584494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周波数向上がストップ</a:t>
            </a:r>
            <a:endParaRPr lang="en-US" altLang="ja-JP" dirty="0"/>
          </a:p>
        </p:txBody>
      </p:sp>
      <p:sp>
        <p:nvSpPr>
          <p:cNvPr id="3" name="テキスト プレースホルダー 2"/>
          <p:cNvSpPr>
            <a:spLocks noGrp="1"/>
          </p:cNvSpPr>
          <p:nvPr>
            <p:ph type="body" sz="quarter" idx="10"/>
          </p:nvPr>
        </p:nvSpPr>
        <p:spPr/>
        <p:txBody>
          <a:bodyPr/>
          <a:lstStyle/>
          <a:p>
            <a:r>
              <a:rPr lang="ja-JP" altLang="en-US" dirty="0">
                <a:solidFill>
                  <a:schemeClr val="accent5"/>
                </a:solidFill>
              </a:rPr>
              <a:t>なぜ？ → 電圧が下げられなくなったから</a:t>
            </a:r>
            <a:endParaRPr lang="en-US" altLang="ja-JP" dirty="0">
              <a:solidFill>
                <a:schemeClr val="accent5"/>
              </a:solidFill>
            </a:endParaRPr>
          </a:p>
          <a:p>
            <a:pPr lvl="1"/>
            <a:r>
              <a:rPr lang="ja-JP" altLang="en-US" dirty="0"/>
              <a:t>エネルギーの壁にぶつかった</a:t>
            </a:r>
            <a:endParaRPr lang="en-US" altLang="ja-JP" dirty="0"/>
          </a:p>
          <a:p>
            <a:pPr lvl="1"/>
            <a:endParaRPr lang="en-US" altLang="ja-JP" dirty="0"/>
          </a:p>
          <a:p>
            <a:pPr marL="457200" indent="-457200">
              <a:buFont typeface="+mj-lt"/>
              <a:buAutoNum type="arabicPeriod"/>
            </a:pPr>
            <a:r>
              <a:rPr lang="ja-JP" altLang="en-US" dirty="0"/>
              <a:t>半導体のスケーリング</a:t>
            </a:r>
            <a:endParaRPr lang="en-US" altLang="ja-JP" dirty="0"/>
          </a:p>
          <a:p>
            <a:pPr marL="457200" indent="-457200">
              <a:buFont typeface="+mj-lt"/>
              <a:buAutoNum type="arabicPeriod"/>
            </a:pPr>
            <a:r>
              <a:rPr lang="en-US" altLang="ja-JP" dirty="0"/>
              <a:t>CPU</a:t>
            </a:r>
            <a:r>
              <a:rPr lang="ja-JP" altLang="en-US" dirty="0"/>
              <a:t> の消費エネルギーとは何なのか</a:t>
            </a:r>
            <a:endParaRPr lang="en-US" altLang="ja-JP" dirty="0"/>
          </a:p>
          <a:p>
            <a:pPr marL="457200" indent="-457200">
              <a:buFont typeface="+mj-lt"/>
              <a:buAutoNum type="arabicPeriod"/>
            </a:pPr>
            <a:r>
              <a:rPr lang="ja-JP" altLang="en-US" dirty="0"/>
              <a:t>ダークシリコン問題</a:t>
            </a:r>
            <a:endParaRPr lang="en-US" altLang="ja-JP" dirty="0"/>
          </a:p>
        </p:txBody>
      </p:sp>
    </p:spTree>
    <p:extLst>
      <p:ext uri="{BB962C8B-B14F-4D97-AF65-F5344CB8AC3E}">
        <p14:creationId xmlns:p14="http://schemas.microsoft.com/office/powerpoint/2010/main" val="3874160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ムーアの法則</a:t>
            </a:r>
          </a:p>
        </p:txBody>
      </p:sp>
      <p:sp>
        <p:nvSpPr>
          <p:cNvPr id="3" name="テキスト プレースホルダー 2"/>
          <p:cNvSpPr>
            <a:spLocks noGrp="1"/>
          </p:cNvSpPr>
          <p:nvPr>
            <p:ph type="body" sz="quarter" idx="10"/>
          </p:nvPr>
        </p:nvSpPr>
        <p:spPr>
          <a:xfrm>
            <a:off x="1775952" y="1088975"/>
            <a:ext cx="8640096" cy="1530017"/>
          </a:xfrm>
        </p:spPr>
        <p:txBody>
          <a:bodyPr/>
          <a:lstStyle/>
          <a:p>
            <a:r>
              <a:rPr lang="ja-JP" altLang="en-US" dirty="0"/>
              <a:t>「半導体の集積度は</a:t>
            </a:r>
            <a:r>
              <a:rPr lang="en-US" altLang="ja-JP" dirty="0"/>
              <a:t>3</a:t>
            </a:r>
            <a:r>
              <a:rPr lang="ja-JP" altLang="en-US" dirty="0"/>
              <a:t>年ごとに</a:t>
            </a:r>
            <a:r>
              <a:rPr lang="en-US" altLang="ja-JP" dirty="0"/>
              <a:t>4</a:t>
            </a:r>
            <a:r>
              <a:rPr lang="ja-JP" altLang="en-US" dirty="0"/>
              <a:t>倍になる」</a:t>
            </a:r>
            <a:endParaRPr lang="en-US" altLang="ja-JP" dirty="0"/>
          </a:p>
          <a:p>
            <a:pPr lvl="1"/>
            <a:r>
              <a:rPr lang="ja-JP" altLang="en-US" dirty="0"/>
              <a:t>トランジスタのサイズを</a:t>
            </a:r>
            <a:r>
              <a:rPr lang="en-US" altLang="ja-JP" dirty="0"/>
              <a:t>1/2</a:t>
            </a:r>
            <a:r>
              <a:rPr lang="ja-JP" altLang="en-US" dirty="0"/>
              <a:t>に縮小（</a:t>
            </a:r>
            <a:r>
              <a:rPr lang="ja-JP" altLang="en-US" dirty="0">
                <a:solidFill>
                  <a:schemeClr val="accent5"/>
                </a:solidFill>
              </a:rPr>
              <a:t>スケーリング</a:t>
            </a:r>
            <a:r>
              <a:rPr lang="ja-JP" altLang="en-US" dirty="0"/>
              <a:t>）</a:t>
            </a:r>
            <a:br>
              <a:rPr lang="en-US" altLang="ja-JP" dirty="0"/>
            </a:br>
            <a:r>
              <a:rPr lang="ja-JP" altLang="en-US" dirty="0"/>
              <a:t>面積：</a:t>
            </a:r>
            <a:r>
              <a:rPr lang="en-US" altLang="ja-JP" dirty="0"/>
              <a:t>1/2 × 1/2 = 1/4 </a:t>
            </a:r>
          </a:p>
        </p:txBody>
      </p:sp>
      <p:sp>
        <p:nvSpPr>
          <p:cNvPr id="4" name="正方形/長方形 3"/>
          <p:cNvSpPr/>
          <p:nvPr/>
        </p:nvSpPr>
        <p:spPr bwMode="auto">
          <a:xfrm>
            <a:off x="3215968" y="2708993"/>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solidFill>
                <a:schemeClr val="tx1">
                  <a:lumMod val="65000"/>
                  <a:lumOff val="35000"/>
                </a:schemeClr>
              </a:solidFill>
            </a:endParaRPr>
          </a:p>
        </p:txBody>
      </p:sp>
      <p:sp>
        <p:nvSpPr>
          <p:cNvPr id="5" name="正方形/長方形 4"/>
          <p:cNvSpPr/>
          <p:nvPr/>
        </p:nvSpPr>
        <p:spPr bwMode="auto">
          <a:xfrm>
            <a:off x="7536016" y="2708993"/>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a:solidFill>
                <a:schemeClr val="tx1">
                  <a:lumMod val="65000"/>
                  <a:lumOff val="35000"/>
                </a:schemeClr>
              </a:solidFill>
            </a:endParaRPr>
          </a:p>
        </p:txBody>
      </p:sp>
      <p:sp>
        <p:nvSpPr>
          <p:cNvPr id="6" name="正方形/長方形 5"/>
          <p:cNvSpPr/>
          <p:nvPr/>
        </p:nvSpPr>
        <p:spPr bwMode="auto">
          <a:xfrm>
            <a:off x="3215968" y="2708994"/>
            <a:ext cx="720008" cy="720007"/>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2400" dirty="0">
                <a:solidFill>
                  <a:schemeClr val="tx1">
                    <a:lumMod val="65000"/>
                    <a:lumOff val="35000"/>
                  </a:schemeClr>
                </a:solidFill>
              </a:rPr>
              <a:t>Tr.</a:t>
            </a:r>
            <a:endParaRPr lang="ja-JP" altLang="en-US" sz="2400" dirty="0">
              <a:solidFill>
                <a:schemeClr val="tx1">
                  <a:lumMod val="65000"/>
                  <a:lumOff val="35000"/>
                </a:schemeClr>
              </a:solidFill>
            </a:endParaRPr>
          </a:p>
        </p:txBody>
      </p:sp>
      <p:sp>
        <p:nvSpPr>
          <p:cNvPr id="7" name="正方形/長方形 6"/>
          <p:cNvSpPr/>
          <p:nvPr/>
        </p:nvSpPr>
        <p:spPr bwMode="auto">
          <a:xfrm>
            <a:off x="3935976" y="2708992"/>
            <a:ext cx="720008" cy="720008"/>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2400" dirty="0">
                <a:solidFill>
                  <a:schemeClr val="tx1">
                    <a:lumMod val="65000"/>
                    <a:lumOff val="35000"/>
                  </a:schemeClr>
                </a:solidFill>
              </a:rPr>
              <a:t>Tr.</a:t>
            </a:r>
            <a:endParaRPr lang="ja-JP" altLang="en-US" sz="2400" dirty="0">
              <a:solidFill>
                <a:schemeClr val="tx1">
                  <a:lumMod val="65000"/>
                  <a:lumOff val="35000"/>
                </a:schemeClr>
              </a:solidFill>
            </a:endParaRPr>
          </a:p>
        </p:txBody>
      </p:sp>
      <p:sp>
        <p:nvSpPr>
          <p:cNvPr id="8" name="正方形/長方形 7"/>
          <p:cNvSpPr/>
          <p:nvPr/>
        </p:nvSpPr>
        <p:spPr bwMode="auto">
          <a:xfrm>
            <a:off x="3215968" y="3429002"/>
            <a:ext cx="720008" cy="720007"/>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2400" dirty="0">
                <a:solidFill>
                  <a:schemeClr val="tx1">
                    <a:lumMod val="65000"/>
                    <a:lumOff val="35000"/>
                  </a:schemeClr>
                </a:solidFill>
              </a:rPr>
              <a:t>Tr.</a:t>
            </a:r>
            <a:endParaRPr lang="ja-JP" altLang="en-US" sz="2400" dirty="0">
              <a:solidFill>
                <a:schemeClr val="tx1">
                  <a:lumMod val="65000"/>
                  <a:lumOff val="35000"/>
                </a:schemeClr>
              </a:solidFill>
            </a:endParaRPr>
          </a:p>
        </p:txBody>
      </p:sp>
      <p:sp>
        <p:nvSpPr>
          <p:cNvPr id="9" name="正方形/長方形 8"/>
          <p:cNvSpPr/>
          <p:nvPr/>
        </p:nvSpPr>
        <p:spPr bwMode="auto">
          <a:xfrm>
            <a:off x="3935976" y="3429001"/>
            <a:ext cx="720008" cy="720007"/>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2400" dirty="0">
                <a:solidFill>
                  <a:schemeClr val="tx1">
                    <a:lumMod val="65000"/>
                    <a:lumOff val="35000"/>
                  </a:schemeClr>
                </a:solidFill>
              </a:rPr>
              <a:t>Tr.</a:t>
            </a:r>
            <a:endParaRPr lang="ja-JP" altLang="en-US" sz="2400" dirty="0">
              <a:solidFill>
                <a:schemeClr val="tx1">
                  <a:lumMod val="65000"/>
                  <a:lumOff val="35000"/>
                </a:schemeClr>
              </a:solidFill>
            </a:endParaRPr>
          </a:p>
        </p:txBody>
      </p:sp>
      <p:sp>
        <p:nvSpPr>
          <p:cNvPr id="10" name="正方形/長方形 9"/>
          <p:cNvSpPr/>
          <p:nvPr/>
        </p:nvSpPr>
        <p:spPr bwMode="auto">
          <a:xfrm>
            <a:off x="7536015" y="3789005"/>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11" name="正方形/長方形 10"/>
          <p:cNvSpPr/>
          <p:nvPr/>
        </p:nvSpPr>
        <p:spPr bwMode="auto">
          <a:xfrm>
            <a:off x="7896019" y="3789005"/>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12" name="正方形/長方形 11"/>
          <p:cNvSpPr/>
          <p:nvPr/>
        </p:nvSpPr>
        <p:spPr bwMode="auto">
          <a:xfrm>
            <a:off x="7536015" y="3429001"/>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13" name="正方形/長方形 12"/>
          <p:cNvSpPr/>
          <p:nvPr/>
        </p:nvSpPr>
        <p:spPr bwMode="auto">
          <a:xfrm>
            <a:off x="7896019" y="3429001"/>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14" name="正方形/長方形 13"/>
          <p:cNvSpPr/>
          <p:nvPr/>
        </p:nvSpPr>
        <p:spPr bwMode="auto">
          <a:xfrm>
            <a:off x="7536015" y="3068997"/>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15" name="正方形/長方形 14"/>
          <p:cNvSpPr/>
          <p:nvPr/>
        </p:nvSpPr>
        <p:spPr bwMode="auto">
          <a:xfrm>
            <a:off x="7896019" y="3068997"/>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16" name="正方形/長方形 15"/>
          <p:cNvSpPr/>
          <p:nvPr/>
        </p:nvSpPr>
        <p:spPr bwMode="auto">
          <a:xfrm>
            <a:off x="7536015" y="2708993"/>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17" name="正方形/長方形 16"/>
          <p:cNvSpPr/>
          <p:nvPr/>
        </p:nvSpPr>
        <p:spPr bwMode="auto">
          <a:xfrm>
            <a:off x="7896019" y="2708993"/>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18" name="正方形/長方形 17"/>
          <p:cNvSpPr/>
          <p:nvPr/>
        </p:nvSpPr>
        <p:spPr bwMode="auto">
          <a:xfrm>
            <a:off x="8256023" y="3789005"/>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19" name="正方形/長方形 18"/>
          <p:cNvSpPr/>
          <p:nvPr/>
        </p:nvSpPr>
        <p:spPr bwMode="auto">
          <a:xfrm>
            <a:off x="8616027" y="3789005"/>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20" name="正方形/長方形 19"/>
          <p:cNvSpPr/>
          <p:nvPr/>
        </p:nvSpPr>
        <p:spPr bwMode="auto">
          <a:xfrm>
            <a:off x="8256024" y="3429001"/>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21" name="正方形/長方形 20"/>
          <p:cNvSpPr/>
          <p:nvPr/>
        </p:nvSpPr>
        <p:spPr bwMode="auto">
          <a:xfrm>
            <a:off x="8616027" y="3429001"/>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22" name="正方形/長方形 21"/>
          <p:cNvSpPr/>
          <p:nvPr/>
        </p:nvSpPr>
        <p:spPr bwMode="auto">
          <a:xfrm>
            <a:off x="8256023" y="3068997"/>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23" name="正方形/長方形 22"/>
          <p:cNvSpPr/>
          <p:nvPr/>
        </p:nvSpPr>
        <p:spPr bwMode="auto">
          <a:xfrm>
            <a:off x="8616027" y="3068997"/>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24" name="正方形/長方形 23"/>
          <p:cNvSpPr/>
          <p:nvPr/>
        </p:nvSpPr>
        <p:spPr bwMode="auto">
          <a:xfrm>
            <a:off x="8256023" y="2708993"/>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25" name="正方形/長方形 24"/>
          <p:cNvSpPr/>
          <p:nvPr/>
        </p:nvSpPr>
        <p:spPr bwMode="auto">
          <a:xfrm>
            <a:off x="8616027" y="2708993"/>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r>
              <a:rPr lang="en-US" altLang="ja-JP" sz="1600" dirty="0">
                <a:solidFill>
                  <a:schemeClr val="tx1">
                    <a:lumMod val="65000"/>
                    <a:lumOff val="35000"/>
                  </a:schemeClr>
                </a:solidFill>
              </a:rPr>
              <a:t>Tr.</a:t>
            </a:r>
            <a:endParaRPr lang="ja-JP" altLang="en-US" sz="1600" dirty="0">
              <a:solidFill>
                <a:schemeClr val="tx1">
                  <a:lumMod val="65000"/>
                  <a:lumOff val="35000"/>
                </a:schemeClr>
              </a:solidFill>
            </a:endParaRPr>
          </a:p>
        </p:txBody>
      </p:sp>
      <p:sp>
        <p:nvSpPr>
          <p:cNvPr id="26" name="右矢印 25"/>
          <p:cNvSpPr/>
          <p:nvPr/>
        </p:nvSpPr>
        <p:spPr bwMode="auto">
          <a:xfrm>
            <a:off x="5555994" y="3158998"/>
            <a:ext cx="1080012"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sp>
        <p:nvSpPr>
          <p:cNvPr id="27" name="正方形/長方形 26"/>
          <p:cNvSpPr/>
          <p:nvPr/>
        </p:nvSpPr>
        <p:spPr bwMode="auto">
          <a:xfrm>
            <a:off x="5645995" y="378900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400" dirty="0">
                <a:solidFill>
                  <a:schemeClr val="tx1">
                    <a:lumMod val="65000"/>
                    <a:lumOff val="35000"/>
                  </a:schemeClr>
                </a:solidFill>
              </a:rPr>
              <a:t>3</a:t>
            </a:r>
            <a:r>
              <a:rPr lang="ja-JP" altLang="en-US" sz="2400" dirty="0">
                <a:solidFill>
                  <a:schemeClr val="tx1">
                    <a:lumMod val="65000"/>
                    <a:lumOff val="35000"/>
                  </a:schemeClr>
                </a:solidFill>
              </a:rPr>
              <a:t>年後</a:t>
            </a:r>
          </a:p>
        </p:txBody>
      </p:sp>
      <p:sp>
        <p:nvSpPr>
          <p:cNvPr id="28" name="正方形/長方形 27"/>
          <p:cNvSpPr/>
          <p:nvPr/>
        </p:nvSpPr>
        <p:spPr bwMode="auto">
          <a:xfrm>
            <a:off x="3575972" y="405900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000" dirty="0">
                <a:solidFill>
                  <a:schemeClr val="tx1">
                    <a:lumMod val="65000"/>
                    <a:lumOff val="35000"/>
                  </a:schemeClr>
                </a:solidFill>
              </a:rPr>
              <a:t>4 </a:t>
            </a:r>
            <a:r>
              <a:rPr lang="ja-JP" altLang="en-US" sz="2000" dirty="0">
                <a:solidFill>
                  <a:schemeClr val="tx1">
                    <a:lumMod val="65000"/>
                    <a:lumOff val="35000"/>
                  </a:schemeClr>
                </a:solidFill>
              </a:rPr>
              <a:t>トランジスタ</a:t>
            </a:r>
          </a:p>
        </p:txBody>
      </p:sp>
      <p:sp>
        <p:nvSpPr>
          <p:cNvPr id="29" name="正方形/長方形 28"/>
          <p:cNvSpPr/>
          <p:nvPr/>
        </p:nvSpPr>
        <p:spPr bwMode="auto">
          <a:xfrm>
            <a:off x="7896020" y="405900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000" dirty="0">
                <a:solidFill>
                  <a:schemeClr val="tx1">
                    <a:lumMod val="65000"/>
                    <a:lumOff val="35000"/>
                  </a:schemeClr>
                </a:solidFill>
              </a:rPr>
              <a:t>16 </a:t>
            </a:r>
            <a:r>
              <a:rPr lang="ja-JP" altLang="en-US" sz="2000" dirty="0">
                <a:solidFill>
                  <a:schemeClr val="tx1">
                    <a:lumMod val="65000"/>
                    <a:lumOff val="35000"/>
                  </a:schemeClr>
                </a:solidFill>
              </a:rPr>
              <a:t>トランジスタ</a:t>
            </a:r>
          </a:p>
        </p:txBody>
      </p:sp>
      <p:sp>
        <p:nvSpPr>
          <p:cNvPr id="31" name="テキスト プレースホルダー 2"/>
          <p:cNvSpPr txBox="1">
            <a:spLocks/>
          </p:cNvSpPr>
          <p:nvPr/>
        </p:nvSpPr>
        <p:spPr bwMode="auto">
          <a:xfrm>
            <a:off x="1865953" y="4869017"/>
            <a:ext cx="8550095" cy="153001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6666FF"/>
              </a:buClr>
              <a:buSzPct val="80000"/>
              <a:buFont typeface="MeiryoKe_PGothic" panose="020B0604030504040204" pitchFamily="50" charset="-128"/>
              <a:buChar char="◇"/>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rgbClr val="9BBB57"/>
              </a:buClr>
              <a:buSzPct val="120000"/>
              <a:buFont typeface="Segoe UI" panose="020B0502040204020203" pitchFamily="34" charset="0"/>
              <a:buChar char="□"/>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sz="2000" kern="0" dirty="0">
                <a:solidFill>
                  <a:schemeClr val="accent5"/>
                </a:solidFill>
              </a:rPr>
              <a:t>すごいけど，数が増えるだけなの？</a:t>
            </a:r>
            <a:endParaRPr lang="en-US" altLang="ja-JP" sz="2000" kern="0" dirty="0">
              <a:solidFill>
                <a:schemeClr val="accent5"/>
              </a:solidFill>
            </a:endParaRPr>
          </a:p>
        </p:txBody>
      </p:sp>
    </p:spTree>
    <p:extLst>
      <p:ext uri="{BB962C8B-B14F-4D97-AF65-F5344CB8AC3E}">
        <p14:creationId xmlns:p14="http://schemas.microsoft.com/office/powerpoint/2010/main" val="2152389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スケーリングの効果</a:t>
            </a:r>
          </a:p>
        </p:txBody>
      </p:sp>
      <p:sp>
        <p:nvSpPr>
          <p:cNvPr id="3" name="テキスト プレースホルダー 2"/>
          <p:cNvSpPr>
            <a:spLocks noGrp="1"/>
          </p:cNvSpPr>
          <p:nvPr>
            <p:ph type="body" sz="quarter" idx="10"/>
          </p:nvPr>
        </p:nvSpPr>
        <p:spPr/>
        <p:txBody>
          <a:bodyPr/>
          <a:lstStyle/>
          <a:p>
            <a:r>
              <a:rPr lang="ja-JP" altLang="en-US" dirty="0"/>
              <a:t>トランジスタあたりで，</a:t>
            </a:r>
            <a:endParaRPr lang="en-US" altLang="ja-JP" dirty="0"/>
          </a:p>
          <a:p>
            <a:pPr lvl="1"/>
            <a:r>
              <a:rPr lang="ja-JP" altLang="en-US" dirty="0"/>
              <a:t>消費エネルギーは </a:t>
            </a:r>
            <a:r>
              <a:rPr lang="en-US" altLang="ja-JP" dirty="0">
                <a:solidFill>
                  <a:schemeClr val="accent5"/>
                </a:solidFill>
              </a:rPr>
              <a:t>1/8 </a:t>
            </a:r>
            <a:r>
              <a:rPr lang="ja-JP" altLang="en-US" dirty="0"/>
              <a:t>に</a:t>
            </a:r>
            <a:endParaRPr lang="en-US" altLang="ja-JP" dirty="0"/>
          </a:p>
          <a:p>
            <a:pPr lvl="1"/>
            <a:r>
              <a:rPr lang="ja-JP" altLang="en-US" dirty="0"/>
              <a:t>遅延も </a:t>
            </a:r>
            <a:r>
              <a:rPr lang="en-US" altLang="ja-JP" dirty="0">
                <a:solidFill>
                  <a:schemeClr val="accent5"/>
                </a:solidFill>
              </a:rPr>
              <a:t>1/2 </a:t>
            </a:r>
            <a:r>
              <a:rPr lang="ja-JP" altLang="en-US" dirty="0">
                <a:solidFill>
                  <a:schemeClr val="accent5"/>
                </a:solidFill>
              </a:rPr>
              <a:t>に</a:t>
            </a:r>
            <a:endParaRPr lang="en-US" altLang="ja-JP" dirty="0">
              <a:solidFill>
                <a:schemeClr val="accent5"/>
              </a:solidFill>
            </a:endParaRPr>
          </a:p>
          <a:p>
            <a:r>
              <a:rPr lang="ja-JP" altLang="en-US" dirty="0"/>
              <a:t>等価回路を使って説明</a:t>
            </a:r>
            <a:endParaRPr lang="en-US" altLang="ja-JP" dirty="0"/>
          </a:p>
          <a:p>
            <a:endParaRPr kumimoji="1" lang="ja-JP" altLang="en-US" dirty="0"/>
          </a:p>
        </p:txBody>
      </p:sp>
      <p:sp>
        <p:nvSpPr>
          <p:cNvPr id="4" name="テキスト プレースホルダー 2"/>
          <p:cNvSpPr txBox="1">
            <a:spLocks/>
          </p:cNvSpPr>
          <p:nvPr/>
        </p:nvSpPr>
        <p:spPr bwMode="auto">
          <a:xfrm>
            <a:off x="1775952" y="4869017"/>
            <a:ext cx="8892048" cy="153001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6666FF"/>
              </a:buClr>
              <a:buSzPct val="80000"/>
              <a:buFont typeface="MeiryoKe_PGothic" panose="020B0604030504040204" pitchFamily="50" charset="-128"/>
              <a:buChar char="◇"/>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rgbClr val="9BBB57"/>
              </a:buClr>
              <a:buSzPct val="120000"/>
              <a:buFont typeface="Segoe UI" panose="020B0502040204020203" pitchFamily="34" charset="0"/>
              <a:buChar char="□"/>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endParaRPr lang="en-US" altLang="ja-JP" dirty="0"/>
          </a:p>
        </p:txBody>
      </p:sp>
    </p:spTree>
    <p:extLst>
      <p:ext uri="{BB962C8B-B14F-4D97-AF65-F5344CB8AC3E}">
        <p14:creationId xmlns:p14="http://schemas.microsoft.com/office/powerpoint/2010/main" val="18446505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CMOS </a:t>
            </a:r>
            <a:r>
              <a:rPr kumimoji="1" lang="ja-JP" altLang="en-US" dirty="0"/>
              <a:t>ゲート</a:t>
            </a:r>
            <a:r>
              <a:rPr lang="ja-JP" altLang="en-US" dirty="0"/>
              <a:t>の等価回路</a:t>
            </a:r>
            <a:endParaRPr kumimoji="1" lang="ja-JP" altLang="en-US" dirty="0"/>
          </a:p>
        </p:txBody>
      </p:sp>
      <p:sp>
        <p:nvSpPr>
          <p:cNvPr id="3" name="テキスト プレースホルダー 2"/>
          <p:cNvSpPr>
            <a:spLocks noGrp="1"/>
          </p:cNvSpPr>
          <p:nvPr>
            <p:ph type="body" sz="quarter" idx="10"/>
          </p:nvPr>
        </p:nvSpPr>
        <p:spPr>
          <a:xfrm>
            <a:off x="2225958" y="4779016"/>
            <a:ext cx="8262041" cy="1439709"/>
          </a:xfrm>
        </p:spPr>
        <p:txBody>
          <a:bodyPr/>
          <a:lstStyle/>
          <a:p>
            <a:r>
              <a:rPr lang="ja-JP" altLang="en-US" dirty="0"/>
              <a:t>コンデンサと，連動したスイッチによって表せる</a:t>
            </a:r>
            <a:endParaRPr lang="en-US" altLang="ja-JP" dirty="0"/>
          </a:p>
          <a:p>
            <a:pPr lvl="1"/>
            <a:r>
              <a:rPr lang="ja-JP" altLang="en-US" dirty="0"/>
              <a:t>充電：下のスイッチが</a:t>
            </a:r>
            <a:r>
              <a:rPr lang="en-US" altLang="ja-JP" dirty="0"/>
              <a:t>ON</a:t>
            </a:r>
          </a:p>
          <a:p>
            <a:pPr lvl="1"/>
            <a:r>
              <a:rPr lang="ja-JP" altLang="en-US" dirty="0"/>
              <a:t>放電：上のスイッチが</a:t>
            </a:r>
            <a:r>
              <a:rPr lang="en-US" altLang="ja-JP" dirty="0"/>
              <a:t>ON</a:t>
            </a:r>
          </a:p>
          <a:p>
            <a:r>
              <a:rPr lang="en-US" altLang="ja-JP" dirty="0"/>
              <a:t>CPU </a:t>
            </a:r>
            <a:r>
              <a:rPr lang="ja-JP" altLang="en-US" dirty="0"/>
              <a:t>の計算で消費されるエネルギー：</a:t>
            </a:r>
            <a:endParaRPr lang="en-US" altLang="ja-JP" dirty="0"/>
          </a:p>
          <a:p>
            <a:pPr lvl="1"/>
            <a:r>
              <a:rPr lang="ja-JP" altLang="en-US" dirty="0">
                <a:solidFill>
                  <a:schemeClr val="accent5"/>
                </a:solidFill>
              </a:rPr>
              <a:t>スイッチ </a:t>
            </a:r>
            <a:r>
              <a:rPr lang="en-US" altLang="ja-JP" dirty="0">
                <a:solidFill>
                  <a:schemeClr val="accent5"/>
                </a:solidFill>
              </a:rPr>
              <a:t>ON/OFF </a:t>
            </a:r>
            <a:r>
              <a:rPr lang="ja-JP" altLang="en-US" dirty="0">
                <a:solidFill>
                  <a:schemeClr val="accent5"/>
                </a:solidFill>
              </a:rPr>
              <a:t>するためのコンデンサへの充放電</a:t>
            </a:r>
            <a:endParaRPr lang="en-US" altLang="ja-JP" dirty="0">
              <a:solidFill>
                <a:schemeClr val="accent5"/>
              </a:solidFill>
            </a:endParaRPr>
          </a:p>
          <a:p>
            <a:pPr lvl="1"/>
            <a:endParaRPr lang="en-US" altLang="ja-JP" dirty="0"/>
          </a:p>
        </p:txBody>
      </p:sp>
      <p:grpSp>
        <p:nvGrpSpPr>
          <p:cNvPr id="4" name="グループ化 3"/>
          <p:cNvGrpSpPr/>
          <p:nvPr/>
        </p:nvGrpSpPr>
        <p:grpSpPr>
          <a:xfrm rot="5400000">
            <a:off x="7960477" y="2094803"/>
            <a:ext cx="67531" cy="337533"/>
            <a:chOff x="3401870" y="728700"/>
            <a:chExt cx="180020" cy="405045"/>
          </a:xfrm>
        </p:grpSpPr>
        <p:cxnSp>
          <p:nvCxnSpPr>
            <p:cNvPr id="5" name="直線コネクタ 4"/>
            <p:cNvCxnSpPr/>
            <p:nvPr/>
          </p:nvCxnSpPr>
          <p:spPr>
            <a:xfrm>
              <a:off x="3401870" y="773705"/>
              <a:ext cx="180020" cy="45005"/>
            </a:xfrm>
            <a:prstGeom prst="line">
              <a:avLst/>
            </a:prstGeom>
            <a:ln w="1270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 name="直線コネクタ 5"/>
            <p:cNvCxnSpPr/>
            <p:nvPr/>
          </p:nvCxnSpPr>
          <p:spPr>
            <a:xfrm flipV="1">
              <a:off x="3401870" y="818710"/>
              <a:ext cx="180020" cy="45006"/>
            </a:xfrm>
            <a:prstGeom prst="line">
              <a:avLst/>
            </a:prstGeom>
            <a:ln w="1270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p:cNvCxnSpPr/>
            <p:nvPr/>
          </p:nvCxnSpPr>
          <p:spPr>
            <a:xfrm>
              <a:off x="3401870" y="863715"/>
              <a:ext cx="180020" cy="45005"/>
            </a:xfrm>
            <a:prstGeom prst="line">
              <a:avLst/>
            </a:prstGeom>
            <a:ln w="1270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flipV="1">
              <a:off x="3401870" y="908720"/>
              <a:ext cx="180020" cy="45006"/>
            </a:xfrm>
            <a:prstGeom prst="line">
              <a:avLst/>
            </a:prstGeom>
            <a:ln w="1270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3401870" y="953725"/>
              <a:ext cx="180020" cy="45005"/>
            </a:xfrm>
            <a:prstGeom prst="line">
              <a:avLst/>
            </a:prstGeom>
            <a:ln w="1270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flipV="1">
              <a:off x="3401870" y="998730"/>
              <a:ext cx="180020" cy="45006"/>
            </a:xfrm>
            <a:prstGeom prst="line">
              <a:avLst/>
            </a:prstGeom>
            <a:ln w="1270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3401870" y="1043735"/>
              <a:ext cx="180020" cy="45005"/>
            </a:xfrm>
            <a:prstGeom prst="line">
              <a:avLst/>
            </a:prstGeom>
            <a:ln w="1270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flipV="1">
              <a:off x="3491880" y="1088741"/>
              <a:ext cx="90010" cy="45004"/>
            </a:xfrm>
            <a:prstGeom prst="line">
              <a:avLst/>
            </a:prstGeom>
            <a:ln w="1270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flipV="1">
              <a:off x="3401870" y="728700"/>
              <a:ext cx="90010" cy="45006"/>
            </a:xfrm>
            <a:prstGeom prst="line">
              <a:avLst/>
            </a:prstGeom>
            <a:ln w="1270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4" name="グループ化 13"/>
          <p:cNvGrpSpPr/>
          <p:nvPr/>
        </p:nvGrpSpPr>
        <p:grpSpPr>
          <a:xfrm rot="10800000">
            <a:off x="5735996" y="2348988"/>
            <a:ext cx="270036" cy="360048"/>
            <a:chOff x="1871640" y="1988808"/>
            <a:chExt cx="270036" cy="360048"/>
          </a:xfrm>
        </p:grpSpPr>
        <p:cxnSp>
          <p:nvCxnSpPr>
            <p:cNvPr id="15" name="直線コネクタ 14"/>
            <p:cNvCxnSpPr/>
            <p:nvPr/>
          </p:nvCxnSpPr>
          <p:spPr>
            <a:xfrm>
              <a:off x="18716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flipH="1">
              <a:off x="2051664"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18716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flipH="1">
              <a:off x="2141676"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31" name="グループ化 30"/>
          <p:cNvGrpSpPr/>
          <p:nvPr/>
        </p:nvGrpSpPr>
        <p:grpSpPr>
          <a:xfrm rot="16200000">
            <a:off x="5189524" y="1995452"/>
            <a:ext cx="726521" cy="353582"/>
            <a:chOff x="2675342" y="2348879"/>
            <a:chExt cx="906547" cy="360041"/>
          </a:xfrm>
        </p:grpSpPr>
        <p:sp>
          <p:nvSpPr>
            <p:cNvPr id="32" name="フリーフォーム 31"/>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33" name="フリーフォーム 32"/>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pic>
        <p:nvPicPr>
          <p:cNvPr id="34" name="Picture 28" descr="NOT"/>
          <p:cNvPicPr>
            <a:picLocks noChangeAspect="1" noChangeArrowheads="1"/>
          </p:cNvPicPr>
          <p:nvPr/>
        </p:nvPicPr>
        <p:blipFill>
          <a:blip r:embed="rId3"/>
          <a:srcRect/>
          <a:stretch>
            <a:fillRect/>
          </a:stretch>
        </p:blipFill>
        <p:spPr bwMode="auto">
          <a:xfrm>
            <a:off x="2495960" y="1808983"/>
            <a:ext cx="717550" cy="720725"/>
          </a:xfrm>
          <a:prstGeom prst="rect">
            <a:avLst/>
          </a:prstGeom>
          <a:noFill/>
        </p:spPr>
      </p:pic>
      <p:cxnSp>
        <p:nvCxnSpPr>
          <p:cNvPr id="35" name="直線コネクタ 34"/>
          <p:cNvCxnSpPr/>
          <p:nvPr/>
        </p:nvCxnSpPr>
        <p:spPr>
          <a:xfrm flipH="1" flipV="1">
            <a:off x="2135957" y="2168986"/>
            <a:ext cx="450293" cy="98"/>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p:nvCxnSpPr>
        <p:spPr>
          <a:xfrm flipH="1">
            <a:off x="3125968" y="2168986"/>
            <a:ext cx="450005" cy="0"/>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40" name="グループ化 152"/>
          <p:cNvGrpSpPr/>
          <p:nvPr/>
        </p:nvGrpSpPr>
        <p:grpSpPr>
          <a:xfrm>
            <a:off x="5915998" y="2978995"/>
            <a:ext cx="180002" cy="90001"/>
            <a:chOff x="3643306" y="4500570"/>
            <a:chExt cx="428628" cy="144464"/>
          </a:xfrm>
        </p:grpSpPr>
        <p:cxnSp>
          <p:nvCxnSpPr>
            <p:cNvPr id="41" name="直線コネクタ 40"/>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2" name="直線コネクタ 41"/>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3" name="直線コネクタ 42"/>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44" name="直線コネクタ 43"/>
          <p:cNvCxnSpPr/>
          <p:nvPr/>
        </p:nvCxnSpPr>
        <p:spPr>
          <a:xfrm flipV="1">
            <a:off x="6006000" y="2708993"/>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3" name="グループ化 22"/>
          <p:cNvGrpSpPr/>
          <p:nvPr/>
        </p:nvGrpSpPr>
        <p:grpSpPr>
          <a:xfrm rot="10800000">
            <a:off x="5645996" y="1628980"/>
            <a:ext cx="360048" cy="360048"/>
            <a:chOff x="4662012" y="908664"/>
            <a:chExt cx="360048" cy="360048"/>
          </a:xfrm>
        </p:grpSpPr>
        <p:cxnSp>
          <p:nvCxnSpPr>
            <p:cNvPr id="24" name="直線コネクタ 23"/>
            <p:cNvCxnSpPr/>
            <p:nvPr/>
          </p:nvCxnSpPr>
          <p:spPr>
            <a:xfrm>
              <a:off x="4662012" y="908664"/>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p:nvPr/>
          </p:nvCxnSpPr>
          <p:spPr>
            <a:xfrm flipH="1">
              <a:off x="4842036"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a:off x="4662012" y="1268712"/>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flipH="1">
              <a:off x="4932048"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8" name="円/楕円 27"/>
            <p:cNvSpPr/>
            <p:nvPr/>
          </p:nvSpPr>
          <p:spPr>
            <a:xfrm flipH="1">
              <a:off x="4932048" y="1043682"/>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49" name="直線コネクタ 48"/>
          <p:cNvCxnSpPr/>
          <p:nvPr/>
        </p:nvCxnSpPr>
        <p:spPr>
          <a:xfrm flipV="1">
            <a:off x="4835986" y="2168986"/>
            <a:ext cx="539898" cy="18"/>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51" name="グループ化 50"/>
          <p:cNvGrpSpPr/>
          <p:nvPr/>
        </p:nvGrpSpPr>
        <p:grpSpPr>
          <a:xfrm rot="16200000" flipV="1">
            <a:off x="5960998" y="2033985"/>
            <a:ext cx="360004" cy="270003"/>
            <a:chOff x="2675342" y="2348879"/>
            <a:chExt cx="906547" cy="360041"/>
          </a:xfrm>
        </p:grpSpPr>
        <p:sp>
          <p:nvSpPr>
            <p:cNvPr id="52" name="フリーフォーム 51"/>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53" name="フリーフォーム 52"/>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cxnSp>
        <p:nvCxnSpPr>
          <p:cNvPr id="54" name="直線コネクタ 53"/>
          <p:cNvCxnSpPr/>
          <p:nvPr/>
        </p:nvCxnSpPr>
        <p:spPr>
          <a:xfrm flipH="1">
            <a:off x="6276002" y="2168986"/>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56" name="グループ化 55"/>
          <p:cNvGrpSpPr/>
          <p:nvPr/>
        </p:nvGrpSpPr>
        <p:grpSpPr>
          <a:xfrm>
            <a:off x="5915998" y="1268977"/>
            <a:ext cx="180020" cy="360033"/>
            <a:chOff x="4481992" y="1268760"/>
            <a:chExt cx="180020" cy="360033"/>
          </a:xfrm>
        </p:grpSpPr>
        <p:cxnSp>
          <p:nvCxnSpPr>
            <p:cNvPr id="57" name="直線コネクタ 56"/>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直線コネクタ 57"/>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59" name="右矢印 58"/>
          <p:cNvSpPr/>
          <p:nvPr/>
        </p:nvSpPr>
        <p:spPr bwMode="auto">
          <a:xfrm>
            <a:off x="3935976" y="1898984"/>
            <a:ext cx="720008"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grpSp>
        <p:nvGrpSpPr>
          <p:cNvPr id="66" name="グループ化 65"/>
          <p:cNvGrpSpPr/>
          <p:nvPr/>
        </p:nvGrpSpPr>
        <p:grpSpPr>
          <a:xfrm>
            <a:off x="9066033" y="1538979"/>
            <a:ext cx="270012" cy="450012"/>
            <a:chOff x="5787000" y="1944000"/>
            <a:chExt cx="270012" cy="450012"/>
          </a:xfrm>
        </p:grpSpPr>
        <p:cxnSp>
          <p:nvCxnSpPr>
            <p:cNvPr id="61" name="直線コネクタ 60"/>
            <p:cNvCxnSpPr/>
            <p:nvPr/>
          </p:nvCxnSpPr>
          <p:spPr>
            <a:xfrm>
              <a:off x="5787000" y="1989000"/>
              <a:ext cx="225004" cy="360003"/>
            </a:xfrm>
            <a:prstGeom prst="line">
              <a:avLst/>
            </a:prstGeom>
            <a:ln w="38100"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0" name="円/楕円 59"/>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63" name="円/楕円 62"/>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67" name="グループ化 66"/>
          <p:cNvGrpSpPr/>
          <p:nvPr/>
        </p:nvGrpSpPr>
        <p:grpSpPr>
          <a:xfrm>
            <a:off x="9246035" y="2528990"/>
            <a:ext cx="90012" cy="450012"/>
            <a:chOff x="5967000" y="1944000"/>
            <a:chExt cx="90012" cy="450012"/>
          </a:xfrm>
        </p:grpSpPr>
        <p:cxnSp>
          <p:nvCxnSpPr>
            <p:cNvPr id="68" name="直線コネクタ 67"/>
            <p:cNvCxnSpPr>
              <a:stCxn id="70" idx="0"/>
            </p:cNvCxnSpPr>
            <p:nvPr/>
          </p:nvCxnSpPr>
          <p:spPr>
            <a:xfrm>
              <a:off x="5967000" y="1989006"/>
              <a:ext cx="45004" cy="35999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9" name="円/楕円 68"/>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70" name="円/楕円 69"/>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72" name="グループ化 152"/>
          <p:cNvGrpSpPr/>
          <p:nvPr/>
        </p:nvGrpSpPr>
        <p:grpSpPr>
          <a:xfrm>
            <a:off x="9201754" y="3248998"/>
            <a:ext cx="180002" cy="90001"/>
            <a:chOff x="3643306" y="4500570"/>
            <a:chExt cx="428628" cy="144464"/>
          </a:xfrm>
        </p:grpSpPr>
        <p:cxnSp>
          <p:nvCxnSpPr>
            <p:cNvPr id="73" name="直線コネクタ 72"/>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74" name="直線コネクタ 73"/>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75" name="直線コネクタ 74"/>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76" name="直線コネクタ 75"/>
          <p:cNvCxnSpPr/>
          <p:nvPr/>
        </p:nvCxnSpPr>
        <p:spPr>
          <a:xfrm flipV="1">
            <a:off x="9291756" y="2978996"/>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77" name="グループ化 76"/>
          <p:cNvGrpSpPr/>
          <p:nvPr/>
        </p:nvGrpSpPr>
        <p:grpSpPr>
          <a:xfrm>
            <a:off x="9201754" y="1178976"/>
            <a:ext cx="180020" cy="360033"/>
            <a:chOff x="4481992" y="1268760"/>
            <a:chExt cx="180020" cy="360033"/>
          </a:xfrm>
        </p:grpSpPr>
        <p:cxnSp>
          <p:nvCxnSpPr>
            <p:cNvPr id="78" name="直線コネクタ 77"/>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80" name="直線コネクタ 79"/>
          <p:cNvCxnSpPr/>
          <p:nvPr/>
        </p:nvCxnSpPr>
        <p:spPr>
          <a:xfrm flipV="1">
            <a:off x="9291756" y="1988984"/>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6" name="直線コネクタ 85"/>
          <p:cNvCxnSpPr/>
          <p:nvPr/>
        </p:nvCxnSpPr>
        <p:spPr>
          <a:xfrm flipH="1">
            <a:off x="9291755" y="2258987"/>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87" name="グループ化 86"/>
          <p:cNvGrpSpPr/>
          <p:nvPr/>
        </p:nvGrpSpPr>
        <p:grpSpPr>
          <a:xfrm rot="10800000">
            <a:off x="8346025" y="2078985"/>
            <a:ext cx="90012" cy="360048"/>
            <a:chOff x="2051664" y="1988808"/>
            <a:chExt cx="90012" cy="360048"/>
          </a:xfrm>
        </p:grpSpPr>
        <p:cxnSp>
          <p:nvCxnSpPr>
            <p:cNvPr id="89" name="直線コネクタ 88"/>
            <p:cNvCxnSpPr/>
            <p:nvPr/>
          </p:nvCxnSpPr>
          <p:spPr>
            <a:xfrm flipH="1">
              <a:off x="2051664"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1" name="直線コネクタ 90"/>
            <p:cNvCxnSpPr/>
            <p:nvPr/>
          </p:nvCxnSpPr>
          <p:spPr>
            <a:xfrm flipH="1">
              <a:off x="2141676"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92" name="グループ化 152"/>
          <p:cNvGrpSpPr/>
          <p:nvPr/>
        </p:nvGrpSpPr>
        <p:grpSpPr>
          <a:xfrm>
            <a:off x="8616028" y="3248999"/>
            <a:ext cx="180002" cy="90001"/>
            <a:chOff x="3643306" y="4500570"/>
            <a:chExt cx="428628" cy="144464"/>
          </a:xfrm>
        </p:grpSpPr>
        <p:cxnSp>
          <p:nvCxnSpPr>
            <p:cNvPr id="93" name="直線コネクタ 92"/>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94" name="直線コネクタ 93"/>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95" name="直線コネクタ 94"/>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96" name="フリーフォーム 95"/>
          <p:cNvSpPr/>
          <p:nvPr/>
        </p:nvSpPr>
        <p:spPr bwMode="auto">
          <a:xfrm rot="5400000" flipH="1">
            <a:off x="8076022" y="2618991"/>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latin typeface="Arial Narrow" pitchFamily="34" charset="0"/>
              <a:ea typeface="メイリオ" pitchFamily="50" charset="-128"/>
            </a:endParaRPr>
          </a:p>
        </p:txBody>
      </p:sp>
      <p:cxnSp>
        <p:nvCxnSpPr>
          <p:cNvPr id="97" name="直線コネクタ 96"/>
          <p:cNvCxnSpPr/>
          <p:nvPr/>
        </p:nvCxnSpPr>
        <p:spPr>
          <a:xfrm>
            <a:off x="8166023" y="2258987"/>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8" name="右矢印 97"/>
          <p:cNvSpPr/>
          <p:nvPr/>
        </p:nvSpPr>
        <p:spPr bwMode="auto">
          <a:xfrm>
            <a:off x="6816008" y="1898984"/>
            <a:ext cx="720008"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cxnSp>
        <p:nvCxnSpPr>
          <p:cNvPr id="100" name="直線コネクタ 99"/>
          <p:cNvCxnSpPr/>
          <p:nvPr/>
        </p:nvCxnSpPr>
        <p:spPr>
          <a:xfrm>
            <a:off x="7626017" y="2258987"/>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1" name="正方形/長方形 80"/>
          <p:cNvSpPr/>
          <p:nvPr/>
        </p:nvSpPr>
        <p:spPr bwMode="auto">
          <a:xfrm>
            <a:off x="2675962" y="324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400" dirty="0">
                <a:solidFill>
                  <a:schemeClr val="tx1">
                    <a:lumMod val="65000"/>
                    <a:lumOff val="35000"/>
                  </a:schemeClr>
                </a:solidFill>
              </a:rPr>
              <a:t>NOT</a:t>
            </a:r>
            <a:r>
              <a:rPr lang="ja-JP" altLang="en-US" sz="2400" dirty="0">
                <a:solidFill>
                  <a:schemeClr val="tx1">
                    <a:lumMod val="65000"/>
                    <a:lumOff val="35000"/>
                  </a:schemeClr>
                </a:solidFill>
              </a:rPr>
              <a:t>ゲート</a:t>
            </a:r>
          </a:p>
        </p:txBody>
      </p:sp>
      <p:sp>
        <p:nvSpPr>
          <p:cNvPr id="82" name="正方形/長方形 81"/>
          <p:cNvSpPr/>
          <p:nvPr/>
        </p:nvSpPr>
        <p:spPr bwMode="auto">
          <a:xfrm>
            <a:off x="5645995" y="324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400" dirty="0">
                <a:solidFill>
                  <a:schemeClr val="tx1">
                    <a:lumMod val="65000"/>
                    <a:lumOff val="35000"/>
                  </a:schemeClr>
                </a:solidFill>
              </a:rPr>
              <a:t>CMOS </a:t>
            </a:r>
            <a:endParaRPr lang="ja-JP" altLang="en-US" sz="2400" dirty="0">
              <a:solidFill>
                <a:schemeClr val="tx1">
                  <a:lumMod val="65000"/>
                  <a:lumOff val="35000"/>
                </a:schemeClr>
              </a:solidFill>
            </a:endParaRPr>
          </a:p>
        </p:txBody>
      </p:sp>
      <p:sp>
        <p:nvSpPr>
          <p:cNvPr id="83" name="正方形/長方形 82"/>
          <p:cNvSpPr/>
          <p:nvPr/>
        </p:nvSpPr>
        <p:spPr bwMode="auto">
          <a:xfrm>
            <a:off x="8436026" y="324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000" dirty="0">
                <a:solidFill>
                  <a:schemeClr val="tx1">
                    <a:lumMod val="65000"/>
                    <a:lumOff val="35000"/>
                  </a:schemeClr>
                </a:solidFill>
              </a:rPr>
              <a:t>等価回路</a:t>
            </a:r>
          </a:p>
        </p:txBody>
      </p:sp>
      <p:sp>
        <p:nvSpPr>
          <p:cNvPr id="84" name="正方形/長方形 83"/>
          <p:cNvSpPr/>
          <p:nvPr/>
        </p:nvSpPr>
        <p:spPr bwMode="auto">
          <a:xfrm>
            <a:off x="8436026" y="81897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000" dirty="0">
                <a:solidFill>
                  <a:schemeClr val="tx1">
                    <a:lumMod val="75000"/>
                    <a:lumOff val="25000"/>
                  </a:schemeClr>
                </a:solidFill>
              </a:rPr>
              <a:t>電源</a:t>
            </a:r>
          </a:p>
        </p:txBody>
      </p:sp>
    </p:spTree>
    <p:extLst>
      <p:ext uri="{BB962C8B-B14F-4D97-AF65-F5344CB8AC3E}">
        <p14:creationId xmlns:p14="http://schemas.microsoft.com/office/powerpoint/2010/main" val="18820431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消費エネルギーと遅延</a:t>
            </a:r>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2135957" y="1178976"/>
                <a:ext cx="8010089" cy="5219751"/>
              </a:xfrm>
            </p:spPr>
            <p:txBody>
              <a:bodyPr/>
              <a:lstStyle/>
              <a:p>
                <a:r>
                  <a:rPr lang="ja-JP" altLang="en-US" dirty="0"/>
                  <a:t>コンデンサへの充電に必要なエネルギー</a:t>
                </a:r>
                <a:endParaRPr lang="en-US" altLang="ja-JP" dirty="0"/>
              </a:p>
              <a:p>
                <a:pPr lvl="1"/>
                <a14:m>
                  <m:oMath xmlns:m="http://schemas.openxmlformats.org/officeDocument/2006/math">
                    <m:f>
                      <m:fPr>
                        <m:ctrlPr>
                          <a:rPr lang="en-US" altLang="ja-JP" i="1" dirty="0" smtClean="0">
                            <a:solidFill>
                              <a:schemeClr val="accent5"/>
                            </a:solidFill>
                            <a:latin typeface="Cambria Math" panose="02040503050406030204" pitchFamily="18" charset="0"/>
                          </a:rPr>
                        </m:ctrlPr>
                      </m:fPr>
                      <m:num>
                        <m:r>
                          <a:rPr lang="en-US" altLang="ja-JP" i="1" dirty="0" smtClean="0">
                            <a:solidFill>
                              <a:schemeClr val="accent5"/>
                            </a:solidFill>
                            <a:latin typeface="Cambria Math" panose="02040503050406030204" pitchFamily="18" charset="0"/>
                          </a:rPr>
                          <m:t>1</m:t>
                        </m:r>
                      </m:num>
                      <m:den>
                        <m:r>
                          <a:rPr lang="en-US" altLang="ja-JP" i="1" dirty="0" smtClean="0">
                            <a:solidFill>
                              <a:schemeClr val="accent5"/>
                            </a:solidFill>
                            <a:latin typeface="Cambria Math" panose="02040503050406030204" pitchFamily="18" charset="0"/>
                          </a:rPr>
                          <m:t>2</m:t>
                        </m:r>
                      </m:den>
                    </m:f>
                    <m:r>
                      <a:rPr lang="en-US" altLang="ja-JP" i="1" dirty="0" smtClean="0">
                        <a:solidFill>
                          <a:schemeClr val="accent5"/>
                        </a:solidFill>
                        <a:latin typeface="Cambria Math" panose="02040503050406030204" pitchFamily="18" charset="0"/>
                      </a:rPr>
                      <m:t> </m:t>
                    </m:r>
                    <m:r>
                      <a:rPr lang="en-US" altLang="ja-JP" i="1" dirty="0" smtClean="0">
                        <a:solidFill>
                          <a:schemeClr val="accent5"/>
                        </a:solidFill>
                        <a:latin typeface="Cambria Math" panose="02040503050406030204" pitchFamily="18" charset="0"/>
                      </a:rPr>
                      <m:t>𝐶</m:t>
                    </m:r>
                    <m:sSup>
                      <m:sSupPr>
                        <m:ctrlPr>
                          <a:rPr lang="en-US" altLang="ja-JP" i="1" dirty="0" smtClean="0">
                            <a:solidFill>
                              <a:schemeClr val="accent5"/>
                            </a:solidFill>
                            <a:latin typeface="Cambria Math" panose="02040503050406030204" pitchFamily="18" charset="0"/>
                          </a:rPr>
                        </m:ctrlPr>
                      </m:sSupPr>
                      <m:e>
                        <m:r>
                          <a:rPr lang="en-US" altLang="ja-JP" i="1" dirty="0" smtClean="0">
                            <a:solidFill>
                              <a:schemeClr val="accent5"/>
                            </a:solidFill>
                            <a:latin typeface="Cambria Math" panose="02040503050406030204" pitchFamily="18" charset="0"/>
                          </a:rPr>
                          <m:t>𝑉</m:t>
                        </m:r>
                      </m:e>
                      <m:sup>
                        <m:r>
                          <a:rPr lang="en-US" altLang="ja-JP" i="1" dirty="0" smtClean="0">
                            <a:solidFill>
                              <a:schemeClr val="accent5"/>
                            </a:solidFill>
                            <a:latin typeface="Cambria Math" panose="02040503050406030204" pitchFamily="18" charset="0"/>
                          </a:rPr>
                          <m:t>2</m:t>
                        </m:r>
                      </m:sup>
                    </m:sSup>
                  </m:oMath>
                </a14:m>
                <a:endParaRPr lang="en-US" altLang="ja-JP" dirty="0">
                  <a:solidFill>
                    <a:schemeClr val="accent5"/>
                  </a:solidFill>
                </a:endParaRPr>
              </a:p>
              <a:p>
                <a:r>
                  <a:rPr lang="ja-JP" altLang="en-US" i="0" dirty="0">
                    <a:latin typeface="+mj-lt"/>
                  </a:rPr>
                  <a:t>サイズと電圧を</a:t>
                </a:r>
                <a14:m>
                  <m:oMath xmlns:m="http://schemas.openxmlformats.org/officeDocument/2006/math">
                    <m:r>
                      <a:rPr lang="en-US" altLang="ja-JP" b="0" i="1" dirty="0" smtClean="0">
                        <a:solidFill>
                          <a:schemeClr val="accent5"/>
                        </a:solidFill>
                        <a:latin typeface="Cambria Math" panose="02040503050406030204" pitchFamily="18" charset="0"/>
                      </a:rPr>
                      <m:t> </m:t>
                    </m:r>
                    <m:r>
                      <a:rPr lang="en-US" altLang="ja-JP" i="1" dirty="0" smtClean="0">
                        <a:latin typeface="Cambria Math" panose="02040503050406030204" pitchFamily="18" charset="0"/>
                      </a:rPr>
                      <m:t>1/</m:t>
                    </m:r>
                    <m:r>
                      <a:rPr lang="en-US" altLang="ja-JP" i="1" dirty="0" smtClean="0">
                        <a:latin typeface="Cambria Math" panose="02040503050406030204" pitchFamily="18" charset="0"/>
                      </a:rPr>
                      <m:t>𝐾</m:t>
                    </m:r>
                  </m:oMath>
                </a14:m>
                <a:r>
                  <a:rPr lang="ja-JP" altLang="en-US" dirty="0"/>
                  <a:t> 倍にスケーリングした場合</a:t>
                </a:r>
                <a:endParaRPr lang="en-US" altLang="ja-JP" dirty="0"/>
              </a:p>
              <a:p>
                <a:pPr lvl="1"/>
                <a:r>
                  <a:rPr lang="en-US" altLang="ja-JP" dirty="0"/>
                  <a:t>C: </a:t>
                </a:r>
                <a:r>
                  <a:rPr lang="ja-JP" altLang="en-US" dirty="0"/>
                  <a:t>　</a:t>
                </a:r>
                <a:r>
                  <a:rPr lang="en-US" altLang="ja-JP" dirty="0"/>
                  <a:t>		</a:t>
                </a:r>
                <a14:m>
                  <m:oMath xmlns:m="http://schemas.openxmlformats.org/officeDocument/2006/math">
                    <m:r>
                      <a:rPr lang="en-US" altLang="ja-JP" i="1" dirty="0" smtClean="0">
                        <a:latin typeface="Cambria Math" panose="02040503050406030204" pitchFamily="18" charset="0"/>
                      </a:rPr>
                      <m:t>1/</m:t>
                    </m:r>
                    <m:r>
                      <a:rPr lang="en-US" altLang="ja-JP" i="1" dirty="0" smtClean="0">
                        <a:latin typeface="Cambria Math" panose="02040503050406030204" pitchFamily="18" charset="0"/>
                      </a:rPr>
                      <m:t>𝐾</m:t>
                    </m:r>
                  </m:oMath>
                </a14:m>
                <a:r>
                  <a:rPr lang="en-US" altLang="ja-JP" dirty="0"/>
                  <a:t>  </a:t>
                </a:r>
                <a:r>
                  <a:rPr lang="ja-JP" altLang="en-US" sz="1600" dirty="0"/>
                  <a:t>（面積 </a:t>
                </a:r>
                <a14:m>
                  <m:oMath xmlns:m="http://schemas.openxmlformats.org/officeDocument/2006/math">
                    <m:r>
                      <a:rPr lang="en-US" altLang="ja-JP" sz="1600" i="1" dirty="0">
                        <a:latin typeface="Cambria Math" panose="02040503050406030204" pitchFamily="18" charset="0"/>
                      </a:rPr>
                      <m:t>1/</m:t>
                    </m:r>
                    <m:sSup>
                      <m:sSupPr>
                        <m:ctrlPr>
                          <a:rPr lang="en-US" altLang="ja-JP" sz="1600" i="1" dirty="0">
                            <a:latin typeface="Cambria Math" panose="02040503050406030204" pitchFamily="18" charset="0"/>
                          </a:rPr>
                        </m:ctrlPr>
                      </m:sSupPr>
                      <m:e>
                        <m:r>
                          <a:rPr lang="en-US" altLang="ja-JP" sz="1600" i="1" dirty="0">
                            <a:latin typeface="Cambria Math" panose="02040503050406030204" pitchFamily="18" charset="0"/>
                          </a:rPr>
                          <m:t>𝐾</m:t>
                        </m:r>
                      </m:e>
                      <m:sup>
                        <m:r>
                          <a:rPr lang="en-US" altLang="ja-JP" sz="1600" i="1" dirty="0">
                            <a:latin typeface="Cambria Math" panose="02040503050406030204" pitchFamily="18" charset="0"/>
                          </a:rPr>
                          <m:t>2</m:t>
                        </m:r>
                      </m:sup>
                    </m:sSup>
                  </m:oMath>
                </a14:m>
                <a:r>
                  <a:rPr lang="en-US" altLang="ja-JP" sz="1600" dirty="0"/>
                  <a:t>, </a:t>
                </a:r>
                <a:r>
                  <a:rPr lang="ja-JP" altLang="en-US" sz="1600" dirty="0"/>
                  <a:t>厚さ </a:t>
                </a:r>
                <a14:m>
                  <m:oMath xmlns:m="http://schemas.openxmlformats.org/officeDocument/2006/math">
                    <m:r>
                      <a:rPr lang="en-US" altLang="ja-JP" sz="1600" i="1" dirty="0">
                        <a:latin typeface="Cambria Math" panose="02040503050406030204" pitchFamily="18" charset="0"/>
                      </a:rPr>
                      <m:t>1/</m:t>
                    </m:r>
                    <m:r>
                      <a:rPr lang="en-US" altLang="ja-JP" sz="1600" i="1" dirty="0">
                        <a:latin typeface="Cambria Math" panose="02040503050406030204" pitchFamily="18" charset="0"/>
                      </a:rPr>
                      <m:t>𝐾</m:t>
                    </m:r>
                  </m:oMath>
                </a14:m>
                <a:r>
                  <a:rPr lang="en-US" altLang="ja-JP" sz="1600" dirty="0"/>
                  <a:t> </a:t>
                </a:r>
                <a:r>
                  <a:rPr lang="ja-JP" altLang="en-US" sz="1600" dirty="0"/>
                  <a:t>より）</a:t>
                </a:r>
                <a:endParaRPr lang="en-US" altLang="ja-JP" dirty="0"/>
              </a:p>
              <a:p>
                <a:pPr lvl="1"/>
                <a:r>
                  <a:rPr lang="en-US" altLang="ja-JP" dirty="0">
                    <a:solidFill>
                      <a:schemeClr val="accent5"/>
                    </a:solidFill>
                  </a:rPr>
                  <a:t>V: </a:t>
                </a:r>
                <a:r>
                  <a:rPr lang="ja-JP" altLang="en-US" dirty="0"/>
                  <a:t>　</a:t>
                </a:r>
                <a:r>
                  <a:rPr lang="en-US" altLang="ja-JP" dirty="0"/>
                  <a:t>		</a:t>
                </a:r>
                <a14:m>
                  <m:oMath xmlns:m="http://schemas.openxmlformats.org/officeDocument/2006/math">
                    <m:r>
                      <a:rPr lang="en-US" altLang="ja-JP" i="1" dirty="0" smtClean="0">
                        <a:solidFill>
                          <a:schemeClr val="accent5"/>
                        </a:solidFill>
                        <a:latin typeface="Cambria Math" panose="02040503050406030204" pitchFamily="18" charset="0"/>
                      </a:rPr>
                      <m:t>1/</m:t>
                    </m:r>
                    <m:r>
                      <a:rPr lang="en-US" altLang="ja-JP" i="1" dirty="0" smtClean="0">
                        <a:solidFill>
                          <a:schemeClr val="accent5"/>
                        </a:solidFill>
                        <a:latin typeface="Cambria Math" panose="02040503050406030204" pitchFamily="18" charset="0"/>
                      </a:rPr>
                      <m:t>𝐾</m:t>
                    </m:r>
                  </m:oMath>
                </a14:m>
                <a:endParaRPr lang="en-US" altLang="ja-JP" dirty="0">
                  <a:solidFill>
                    <a:schemeClr val="accent5"/>
                  </a:solidFill>
                </a:endParaRPr>
              </a:p>
              <a:p>
                <a:pPr lvl="1"/>
                <a:r>
                  <a:rPr lang="ja-JP" altLang="en-US" dirty="0">
                    <a:solidFill>
                      <a:schemeClr val="accent5"/>
                    </a:solidFill>
                  </a:rPr>
                  <a:t>エネルギー：</a:t>
                </a:r>
                <a:r>
                  <a:rPr lang="en-US" altLang="ja-JP" dirty="0">
                    <a:solidFill>
                      <a:schemeClr val="accent5"/>
                    </a:solidFill>
                  </a:rPr>
                  <a:t>	</a:t>
                </a:r>
                <a14:m>
                  <m:oMath xmlns:m="http://schemas.openxmlformats.org/officeDocument/2006/math">
                    <m:r>
                      <a:rPr lang="en-US" altLang="ja-JP" i="1" dirty="0" smtClean="0">
                        <a:solidFill>
                          <a:schemeClr val="accent5"/>
                        </a:solidFill>
                        <a:latin typeface="Cambria Math" panose="02040503050406030204" pitchFamily="18" charset="0"/>
                      </a:rPr>
                      <m:t>1/</m:t>
                    </m:r>
                    <m:sSup>
                      <m:sSupPr>
                        <m:ctrlPr>
                          <a:rPr lang="en-US" altLang="ja-JP" i="1" dirty="0" smtClean="0">
                            <a:solidFill>
                              <a:schemeClr val="accent5"/>
                            </a:solidFill>
                            <a:latin typeface="Cambria Math" panose="02040503050406030204" pitchFamily="18" charset="0"/>
                          </a:rPr>
                        </m:ctrlPr>
                      </m:sSupPr>
                      <m:e>
                        <m:r>
                          <a:rPr lang="en-US" altLang="ja-JP" i="1" dirty="0" smtClean="0">
                            <a:solidFill>
                              <a:schemeClr val="accent5"/>
                            </a:solidFill>
                            <a:latin typeface="Cambria Math" panose="02040503050406030204" pitchFamily="18" charset="0"/>
                          </a:rPr>
                          <m:t>𝐾</m:t>
                        </m:r>
                      </m:e>
                      <m:sup>
                        <m:r>
                          <a:rPr lang="en-US" altLang="ja-JP" i="1" dirty="0" smtClean="0">
                            <a:solidFill>
                              <a:schemeClr val="accent5"/>
                            </a:solidFill>
                            <a:latin typeface="Cambria Math" panose="02040503050406030204" pitchFamily="18" charset="0"/>
                          </a:rPr>
                          <m:t>3</m:t>
                        </m:r>
                      </m:sup>
                    </m:sSup>
                  </m:oMath>
                </a14:m>
                <a:endParaRPr lang="en-US" altLang="ja-JP" dirty="0">
                  <a:solidFill>
                    <a:schemeClr val="accent5"/>
                  </a:solidFill>
                </a:endParaRPr>
              </a:p>
              <a:p>
                <a:r>
                  <a:rPr lang="en-US" altLang="ja-JP" dirty="0"/>
                  <a:t>C </a:t>
                </a:r>
                <a:r>
                  <a:rPr lang="ja-JP" altLang="en-US" dirty="0"/>
                  <a:t>が小さくなり充電にかかる時間が減るので，遅延も </a:t>
                </a:r>
                <a14:m>
                  <m:oMath xmlns:m="http://schemas.openxmlformats.org/officeDocument/2006/math">
                    <m:r>
                      <a:rPr lang="en-US" altLang="ja-JP" i="1" dirty="0" smtClean="0">
                        <a:latin typeface="Cambria Math" panose="02040503050406030204" pitchFamily="18" charset="0"/>
                      </a:rPr>
                      <m:t>1/</m:t>
                    </m:r>
                    <m:r>
                      <a:rPr lang="en-US" altLang="ja-JP" i="1" dirty="0" smtClean="0">
                        <a:latin typeface="Cambria Math" panose="02040503050406030204" pitchFamily="18" charset="0"/>
                      </a:rPr>
                      <m:t>𝐾</m:t>
                    </m:r>
                  </m:oMath>
                </a14:m>
                <a:r>
                  <a:rPr lang="en-US" altLang="ja-JP" dirty="0"/>
                  <a:t> </a:t>
                </a:r>
                <a:r>
                  <a:rPr lang="ja-JP" altLang="en-US" dirty="0"/>
                  <a:t>に</a:t>
                </a:r>
                <a:endParaRPr lang="en-US" altLang="ja-JP" dirty="0"/>
              </a:p>
              <a:p>
                <a:pPr lvl="1"/>
                <a:r>
                  <a:rPr lang="ja-JP" altLang="en-US" dirty="0"/>
                  <a:t>結果として，周波数は </a:t>
                </a:r>
                <a14:m>
                  <m:oMath xmlns:m="http://schemas.openxmlformats.org/officeDocument/2006/math">
                    <m:r>
                      <a:rPr lang="en-US" altLang="ja-JP" i="1" dirty="0" smtClean="0">
                        <a:latin typeface="Cambria Math" panose="02040503050406030204" pitchFamily="18" charset="0"/>
                      </a:rPr>
                      <m:t>𝐾</m:t>
                    </m:r>
                  </m:oMath>
                </a14:m>
                <a:r>
                  <a:rPr lang="en-US" altLang="ja-JP" dirty="0"/>
                  <a:t> </a:t>
                </a:r>
                <a:r>
                  <a:rPr lang="ja-JP" altLang="en-US" dirty="0"/>
                  <a:t>倍に</a:t>
                </a:r>
                <a:endParaRPr lang="en-US" altLang="ja-JP" dirty="0"/>
              </a:p>
              <a:p>
                <a:r>
                  <a:rPr lang="ja-JP" altLang="en-US" dirty="0"/>
                  <a:t>（実際は配線などにも </a:t>
                </a:r>
                <a:r>
                  <a:rPr lang="en-US" altLang="ja-JP" dirty="0"/>
                  <a:t>C </a:t>
                </a:r>
                <a:r>
                  <a:rPr lang="ja-JP" altLang="en-US" dirty="0"/>
                  <a:t>が存在するので，もう少し複雑</a:t>
                </a:r>
                <a:endParaRPr lang="en-US" altLang="ja-JP" dirty="0"/>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2135957" y="1178976"/>
                <a:ext cx="8010089" cy="5219751"/>
              </a:xfrm>
              <a:blipFill>
                <a:blip r:embed="rId3"/>
                <a:stretch>
                  <a:fillRect l="-68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853275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チップ全体の消費エネルギー</a:t>
            </a:r>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2135957" y="1088975"/>
                <a:ext cx="8370093" cy="5219751"/>
              </a:xfrm>
            </p:spPr>
            <p:txBody>
              <a:bodyPr/>
              <a:lstStyle/>
              <a:p>
                <a14:m>
                  <m:oMath xmlns:m="http://schemas.openxmlformats.org/officeDocument/2006/math">
                    <m:r>
                      <a:rPr lang="en-US" altLang="ja-JP" i="1" dirty="0" smtClean="0">
                        <a:latin typeface="Cambria Math" panose="02040503050406030204" pitchFamily="18" charset="0"/>
                      </a:rPr>
                      <m:t>1/</m:t>
                    </m:r>
                    <m:r>
                      <a:rPr lang="en-US" altLang="ja-JP" i="1" dirty="0" smtClean="0">
                        <a:latin typeface="Cambria Math" panose="02040503050406030204" pitchFamily="18" charset="0"/>
                      </a:rPr>
                      <m:t>𝐾</m:t>
                    </m:r>
                  </m:oMath>
                </a14:m>
                <a:r>
                  <a:rPr lang="en-US" altLang="ja-JP" dirty="0"/>
                  <a:t> </a:t>
                </a:r>
                <a:r>
                  <a:rPr lang="ja-JP" altLang="en-US" dirty="0"/>
                  <a:t>倍にスケーリングした場合，チップ全体では，</a:t>
                </a:r>
                <a:endParaRPr lang="en-US" altLang="ja-JP" dirty="0"/>
              </a:p>
              <a:p>
                <a:pPr lvl="1"/>
                <a:r>
                  <a:rPr lang="ja-JP" altLang="en-US" dirty="0"/>
                  <a:t>個々のトランジスタのエネルギー：　</a:t>
                </a:r>
                <a:r>
                  <a:rPr lang="en-US" altLang="ja-JP" dirty="0"/>
                  <a:t>	</a:t>
                </a:r>
                <a14:m>
                  <m:oMath xmlns:m="http://schemas.openxmlformats.org/officeDocument/2006/math">
                    <m:r>
                      <a:rPr lang="en-US" altLang="ja-JP" i="1" dirty="0" smtClean="0">
                        <a:latin typeface="Cambria Math" panose="02040503050406030204" pitchFamily="18" charset="0"/>
                      </a:rPr>
                      <m:t>1/</m:t>
                    </m:r>
                    <m:sSup>
                      <m:sSupPr>
                        <m:ctrlPr>
                          <a:rPr lang="en-US" altLang="ja-JP" i="1" dirty="0" smtClean="0">
                            <a:latin typeface="Cambria Math" panose="02040503050406030204" pitchFamily="18" charset="0"/>
                          </a:rPr>
                        </m:ctrlPr>
                      </m:sSupPr>
                      <m:e>
                        <m:r>
                          <a:rPr lang="en-US" altLang="ja-JP" i="1" dirty="0" smtClean="0">
                            <a:latin typeface="Cambria Math" panose="02040503050406030204" pitchFamily="18" charset="0"/>
                          </a:rPr>
                          <m:t>𝐾</m:t>
                        </m:r>
                      </m:e>
                      <m:sup>
                        <m:r>
                          <a:rPr lang="en-US" altLang="ja-JP" i="1" dirty="0" smtClean="0">
                            <a:latin typeface="Cambria Math" panose="02040503050406030204" pitchFamily="18" charset="0"/>
                          </a:rPr>
                          <m:t>3</m:t>
                        </m:r>
                      </m:sup>
                    </m:sSup>
                  </m:oMath>
                </a14:m>
                <a:endParaRPr lang="en-US" altLang="ja-JP" dirty="0"/>
              </a:p>
              <a:p>
                <a:pPr lvl="1"/>
                <a:r>
                  <a:rPr lang="ja-JP" altLang="en-US" dirty="0"/>
                  <a:t>トランジスタの個数：　</a:t>
                </a:r>
                <a:r>
                  <a:rPr lang="en-US" altLang="ja-JP" dirty="0"/>
                  <a:t>			</a:t>
                </a:r>
                <a14:m>
                  <m:oMath xmlns:m="http://schemas.openxmlformats.org/officeDocument/2006/math">
                    <m:sSup>
                      <m:sSupPr>
                        <m:ctrlPr>
                          <a:rPr lang="en-US" altLang="ja-JP" i="1" dirty="0" smtClean="0">
                            <a:latin typeface="Cambria Math" panose="02040503050406030204" pitchFamily="18" charset="0"/>
                          </a:rPr>
                        </m:ctrlPr>
                      </m:sSupPr>
                      <m:e>
                        <m:r>
                          <a:rPr lang="en-US" altLang="ja-JP" i="1" dirty="0" smtClean="0">
                            <a:latin typeface="Cambria Math" panose="02040503050406030204" pitchFamily="18" charset="0"/>
                          </a:rPr>
                          <m:t>𝐾</m:t>
                        </m:r>
                      </m:e>
                      <m:sup>
                        <m:r>
                          <a:rPr lang="en-US" altLang="ja-JP" i="1" dirty="0" smtClean="0">
                            <a:latin typeface="Cambria Math" panose="02040503050406030204" pitchFamily="18" charset="0"/>
                          </a:rPr>
                          <m:t>2</m:t>
                        </m:r>
                      </m:sup>
                    </m:sSup>
                  </m:oMath>
                </a14:m>
                <a:endParaRPr lang="en-US" altLang="ja-JP" dirty="0"/>
              </a:p>
              <a:p>
                <a:pPr lvl="1"/>
                <a:r>
                  <a:rPr lang="ja-JP" altLang="en-US" dirty="0"/>
                  <a:t>周波数（動作回数）：　</a:t>
                </a:r>
                <a:r>
                  <a:rPr lang="en-US" altLang="ja-JP" dirty="0"/>
                  <a:t>			</a:t>
                </a:r>
                <a14:m>
                  <m:oMath xmlns:m="http://schemas.openxmlformats.org/officeDocument/2006/math">
                    <m:r>
                      <a:rPr lang="en-US" altLang="ja-JP" i="1" dirty="0">
                        <a:latin typeface="Cambria Math" panose="02040503050406030204" pitchFamily="18" charset="0"/>
                      </a:rPr>
                      <m:t>𝐾</m:t>
                    </m:r>
                  </m:oMath>
                </a14:m>
                <a:endParaRPr lang="en-US" altLang="ja-JP" dirty="0"/>
              </a:p>
              <a:p>
                <a:pPr lvl="1"/>
                <a:r>
                  <a:rPr lang="ja-JP" altLang="en-US" dirty="0"/>
                  <a:t>全体の消費エネルギー：</a:t>
                </a:r>
                <a:r>
                  <a:rPr lang="en-US" altLang="ja-JP" dirty="0"/>
                  <a:t>			</a:t>
                </a:r>
                <a14:m>
                  <m:oMath xmlns:m="http://schemas.openxmlformats.org/officeDocument/2006/math">
                    <m:r>
                      <a:rPr lang="en-US" altLang="ja-JP" i="1" dirty="0" smtClean="0">
                        <a:solidFill>
                          <a:schemeClr val="accent5"/>
                        </a:solidFill>
                        <a:latin typeface="Cambria Math" panose="02040503050406030204" pitchFamily="18" charset="0"/>
                      </a:rPr>
                      <m:t>1</m:t>
                    </m:r>
                  </m:oMath>
                </a14:m>
                <a:endParaRPr lang="en-US" altLang="ja-JP" dirty="0">
                  <a:solidFill>
                    <a:schemeClr val="accent5"/>
                  </a:solidFill>
                </a:endParaRPr>
              </a:p>
              <a:p>
                <a:r>
                  <a:rPr lang="ja-JP" altLang="en-US" dirty="0"/>
                  <a:t>まとめると，スケーリングによって</a:t>
                </a:r>
                <a:endParaRPr lang="en-US" altLang="ja-JP" dirty="0"/>
              </a:p>
              <a:p>
                <a:pPr lvl="1"/>
                <a:r>
                  <a:rPr lang="ja-JP" altLang="en-US" dirty="0">
                    <a:solidFill>
                      <a:schemeClr val="accent5"/>
                    </a:solidFill>
                  </a:rPr>
                  <a:t>同じ大きさのチップに搭載できる回路量が増えるのはもちろん，</a:t>
                </a:r>
                <a:endParaRPr lang="en-US" altLang="ja-JP" dirty="0">
                  <a:solidFill>
                    <a:schemeClr val="accent5"/>
                  </a:solidFill>
                </a:endParaRPr>
              </a:p>
              <a:p>
                <a:pPr lvl="1"/>
                <a:r>
                  <a:rPr lang="ja-JP" altLang="en-US" dirty="0">
                    <a:solidFill>
                      <a:schemeClr val="accent5"/>
                    </a:solidFill>
                  </a:rPr>
                  <a:t>消費エネルギーは一定のまま，</a:t>
                </a:r>
                <a:endParaRPr lang="en-US" altLang="ja-JP" dirty="0">
                  <a:solidFill>
                    <a:schemeClr val="accent5"/>
                  </a:solidFill>
                </a:endParaRPr>
              </a:p>
              <a:p>
                <a:pPr lvl="1"/>
                <a:r>
                  <a:rPr lang="ja-JP" altLang="en-US" dirty="0">
                    <a:solidFill>
                      <a:schemeClr val="accent5"/>
                    </a:solidFill>
                  </a:rPr>
                  <a:t>周波数もすごい向上！</a:t>
                </a:r>
                <a:endParaRPr lang="en-US" altLang="ja-JP" dirty="0">
                  <a:solidFill>
                    <a:schemeClr val="accent5"/>
                  </a:solidFill>
                </a:endParaRPr>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2135957" y="1088975"/>
                <a:ext cx="8370093" cy="5219751"/>
              </a:xfrm>
              <a:blipFill>
                <a:blip r:embed="rId3"/>
                <a:stretch>
                  <a:fillRect l="-65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5014071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ところが，電圧が下げられなくなった</a:t>
            </a:r>
            <a:r>
              <a:rPr kumimoji="1" lang="en-US" altLang="ja-JP" dirty="0"/>
              <a:t>…</a:t>
            </a:r>
            <a:br>
              <a:rPr kumimoji="1" lang="en-US" altLang="ja-JP" dirty="0"/>
            </a:br>
            <a:r>
              <a:rPr lang="ja-JP" altLang="en-US" sz="1800" dirty="0"/>
              <a:t>グラフは </a:t>
            </a:r>
            <a:r>
              <a:rPr lang="en-US" altLang="ja-JP" sz="1800" dirty="0"/>
              <a:t>[Sato17] </a:t>
            </a:r>
            <a:r>
              <a:rPr lang="ja-JP" altLang="en-US" sz="1800" dirty="0"/>
              <a:t>より</a:t>
            </a:r>
            <a:endParaRPr kumimoji="1" lang="ja-JP" altLang="en-US" dirty="0"/>
          </a:p>
        </p:txBody>
      </p:sp>
      <p:sp>
        <p:nvSpPr>
          <p:cNvPr id="5" name="テキスト プレースホルダー 2"/>
          <p:cNvSpPr txBox="1">
            <a:spLocks/>
          </p:cNvSpPr>
          <p:nvPr/>
        </p:nvSpPr>
        <p:spPr bwMode="auto">
          <a:xfrm>
            <a:off x="2136001" y="5229000"/>
            <a:ext cx="8010089" cy="98970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6666FF"/>
              </a:buClr>
              <a:buSzPct val="80000"/>
              <a:buFont typeface="MeiryoKe_PGothic" panose="020B0604030504040204" pitchFamily="50" charset="-128"/>
              <a:buChar char="◇"/>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rgbClr val="9BBB57"/>
              </a:buClr>
              <a:buSzPct val="120000"/>
              <a:buFont typeface="Segoe UI" panose="020B0502040204020203" pitchFamily="34" charset="0"/>
              <a:buChar char="□"/>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400">
                <a:solidFill>
                  <a:schemeClr val="tx1">
                    <a:lumMod val="65000"/>
                    <a:lumOff val="3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sz="2000" kern="0" dirty="0">
                <a:solidFill>
                  <a:schemeClr val="tx1">
                    <a:lumMod val="75000"/>
                    <a:lumOff val="25000"/>
                  </a:schemeClr>
                </a:solidFill>
              </a:rPr>
              <a:t>2000 </a:t>
            </a:r>
            <a:r>
              <a:rPr lang="ja-JP" altLang="en-US" sz="2000" kern="0" dirty="0">
                <a:solidFill>
                  <a:schemeClr val="tx1">
                    <a:lumMod val="75000"/>
                    <a:lumOff val="25000"/>
                  </a:schemeClr>
                </a:solidFill>
              </a:rPr>
              <a:t>年過ぎから，電圧低下がほぼとまった</a:t>
            </a:r>
            <a:endParaRPr lang="en-US" altLang="ja-JP" sz="2000" kern="0" dirty="0">
              <a:solidFill>
                <a:schemeClr val="tx1">
                  <a:lumMod val="75000"/>
                  <a:lumOff val="25000"/>
                </a:schemeClr>
              </a:solidFill>
            </a:endParaRPr>
          </a:p>
          <a:p>
            <a:pPr lvl="1"/>
            <a:r>
              <a:rPr lang="ja-JP" altLang="en-US" sz="2000" kern="0" dirty="0">
                <a:solidFill>
                  <a:schemeClr val="tx1">
                    <a:lumMod val="75000"/>
                    <a:lumOff val="25000"/>
                  </a:schemeClr>
                </a:solidFill>
              </a:rPr>
              <a:t>電圧が下がりすぎて，</a:t>
            </a:r>
            <a:r>
              <a:rPr lang="en-US" altLang="ja-JP" sz="2000" kern="0" dirty="0">
                <a:solidFill>
                  <a:schemeClr val="tx1">
                    <a:lumMod val="75000"/>
                    <a:lumOff val="25000"/>
                  </a:schemeClr>
                </a:solidFill>
              </a:rPr>
              <a:t>ON / OFF </a:t>
            </a:r>
            <a:r>
              <a:rPr lang="ja-JP" altLang="en-US" sz="2000" kern="0" dirty="0">
                <a:solidFill>
                  <a:schemeClr val="tx1">
                    <a:lumMod val="75000"/>
                    <a:lumOff val="25000"/>
                  </a:schemeClr>
                </a:solidFill>
              </a:rPr>
              <a:t>の境界の閾値が </a:t>
            </a:r>
            <a:r>
              <a:rPr lang="en-US" altLang="ja-JP" sz="2000" kern="0" dirty="0">
                <a:solidFill>
                  <a:schemeClr val="tx1">
                    <a:lumMod val="75000"/>
                    <a:lumOff val="25000"/>
                  </a:schemeClr>
                </a:solidFill>
              </a:rPr>
              <a:t>0V </a:t>
            </a:r>
            <a:r>
              <a:rPr lang="ja-JP" altLang="en-US" sz="2000" kern="0" dirty="0">
                <a:solidFill>
                  <a:schemeClr val="tx1">
                    <a:lumMod val="75000"/>
                    <a:lumOff val="25000"/>
                  </a:schemeClr>
                </a:solidFill>
              </a:rPr>
              <a:t>付近に</a:t>
            </a:r>
            <a:endParaRPr lang="en-US" altLang="ja-JP" sz="2000" kern="0" dirty="0">
              <a:solidFill>
                <a:schemeClr val="tx1">
                  <a:lumMod val="75000"/>
                  <a:lumOff val="25000"/>
                </a:schemeClr>
              </a:solidFill>
            </a:endParaRPr>
          </a:p>
          <a:p>
            <a:pPr lvl="1"/>
            <a:r>
              <a:rPr lang="en-US" altLang="ja-JP" sz="2000" kern="0" dirty="0">
                <a:solidFill>
                  <a:schemeClr val="tx1">
                    <a:lumMod val="75000"/>
                    <a:lumOff val="25000"/>
                  </a:schemeClr>
                </a:solidFill>
              </a:rPr>
              <a:t>OFF </a:t>
            </a:r>
            <a:r>
              <a:rPr lang="ja-JP" altLang="en-US" sz="2000" kern="0" dirty="0">
                <a:solidFill>
                  <a:schemeClr val="tx1">
                    <a:lumMod val="75000"/>
                    <a:lumOff val="25000"/>
                  </a:schemeClr>
                </a:solidFill>
              </a:rPr>
              <a:t>にしたいときも，閾値との距離がとれない</a:t>
            </a:r>
            <a:endParaRPr lang="en-US" altLang="ja-JP" sz="2000" kern="0" dirty="0">
              <a:solidFill>
                <a:schemeClr val="tx1">
                  <a:lumMod val="75000"/>
                  <a:lumOff val="25000"/>
                </a:schemeClr>
              </a:solidFill>
            </a:endParaRPr>
          </a:p>
          <a:p>
            <a:pPr lvl="1"/>
            <a:r>
              <a:rPr lang="ja-JP" altLang="en-US" sz="2000" kern="0" dirty="0">
                <a:solidFill>
                  <a:schemeClr val="tx1">
                    <a:lumMod val="75000"/>
                    <a:lumOff val="25000"/>
                  </a:schemeClr>
                </a:solidFill>
              </a:rPr>
              <a:t>微妙に </a:t>
            </a:r>
            <a:r>
              <a:rPr lang="en-US" altLang="ja-JP" sz="2000" kern="0" dirty="0">
                <a:solidFill>
                  <a:schemeClr val="tx1">
                    <a:lumMod val="75000"/>
                    <a:lumOff val="25000"/>
                  </a:schemeClr>
                </a:solidFill>
              </a:rPr>
              <a:t>ON </a:t>
            </a:r>
            <a:r>
              <a:rPr lang="ja-JP" altLang="en-US" sz="2000" kern="0" dirty="0">
                <a:solidFill>
                  <a:schemeClr val="tx1">
                    <a:lumMod val="75000"/>
                    <a:lumOff val="25000"/>
                  </a:schemeClr>
                </a:solidFill>
              </a:rPr>
              <a:t>になり電流が漏れてしまう（リーク電流という）</a:t>
            </a:r>
            <a:endParaRPr lang="en-US" altLang="ja-JP" sz="2000" kern="0" dirty="0">
              <a:solidFill>
                <a:schemeClr val="tx1">
                  <a:lumMod val="75000"/>
                  <a:lumOff val="25000"/>
                </a:schemeClr>
              </a:solidFill>
            </a:endParaRPr>
          </a:p>
        </p:txBody>
      </p:sp>
      <p:sp>
        <p:nvSpPr>
          <p:cNvPr id="11" name="Line 3"/>
          <p:cNvSpPr>
            <a:spLocks noChangeShapeType="1"/>
          </p:cNvSpPr>
          <p:nvPr/>
        </p:nvSpPr>
        <p:spPr bwMode="auto">
          <a:xfrm>
            <a:off x="3050520" y="4339552"/>
            <a:ext cx="6930436" cy="0"/>
          </a:xfrm>
          <a:prstGeom prst="line">
            <a:avLst/>
          </a:prstGeom>
          <a:noFill/>
          <a:ln w="15875">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12" name="Line 5"/>
          <p:cNvSpPr>
            <a:spLocks noChangeShapeType="1"/>
          </p:cNvSpPr>
          <p:nvPr/>
        </p:nvSpPr>
        <p:spPr bwMode="auto">
          <a:xfrm flipV="1">
            <a:off x="3059219" y="950200"/>
            <a:ext cx="0" cy="3389373"/>
          </a:xfrm>
          <a:prstGeom prst="line">
            <a:avLst/>
          </a:prstGeom>
          <a:noFill/>
          <a:ln w="15875">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13" name="Line 6"/>
          <p:cNvSpPr>
            <a:spLocks noChangeShapeType="1"/>
          </p:cNvSpPr>
          <p:nvPr/>
        </p:nvSpPr>
        <p:spPr bwMode="auto">
          <a:xfrm flipV="1">
            <a:off x="3059221" y="4206655"/>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14" name="Line 7"/>
          <p:cNvSpPr>
            <a:spLocks noChangeShapeType="1"/>
          </p:cNvSpPr>
          <p:nvPr/>
        </p:nvSpPr>
        <p:spPr bwMode="auto">
          <a:xfrm flipV="1">
            <a:off x="3059221" y="4078026"/>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15" name="Line 8"/>
          <p:cNvSpPr>
            <a:spLocks noChangeShapeType="1"/>
          </p:cNvSpPr>
          <p:nvPr/>
        </p:nvSpPr>
        <p:spPr bwMode="auto">
          <a:xfrm flipV="1">
            <a:off x="3059221" y="3947254"/>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16" name="Line 9"/>
          <p:cNvSpPr>
            <a:spLocks noChangeShapeType="1"/>
          </p:cNvSpPr>
          <p:nvPr/>
        </p:nvSpPr>
        <p:spPr bwMode="auto">
          <a:xfrm flipV="1">
            <a:off x="3059221" y="3812193"/>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17" name="Line 10"/>
          <p:cNvSpPr>
            <a:spLocks noChangeShapeType="1"/>
          </p:cNvSpPr>
          <p:nvPr/>
        </p:nvSpPr>
        <p:spPr bwMode="auto">
          <a:xfrm flipV="1">
            <a:off x="3059221" y="3550648"/>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18" name="Line 11"/>
          <p:cNvSpPr>
            <a:spLocks noChangeShapeType="1"/>
          </p:cNvSpPr>
          <p:nvPr/>
        </p:nvSpPr>
        <p:spPr bwMode="auto">
          <a:xfrm flipV="1">
            <a:off x="3059221" y="3417731"/>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19" name="Line 12"/>
          <p:cNvSpPr>
            <a:spLocks noChangeShapeType="1"/>
          </p:cNvSpPr>
          <p:nvPr/>
        </p:nvSpPr>
        <p:spPr bwMode="auto">
          <a:xfrm flipV="1">
            <a:off x="3059221" y="3286958"/>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20" name="Line 13"/>
          <p:cNvSpPr>
            <a:spLocks noChangeShapeType="1"/>
          </p:cNvSpPr>
          <p:nvPr/>
        </p:nvSpPr>
        <p:spPr bwMode="auto">
          <a:xfrm flipV="1">
            <a:off x="3059221" y="3160455"/>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21" name="Line 16"/>
          <p:cNvSpPr>
            <a:spLocks noChangeShapeType="1"/>
          </p:cNvSpPr>
          <p:nvPr/>
        </p:nvSpPr>
        <p:spPr bwMode="auto">
          <a:xfrm>
            <a:off x="3059235" y="3029681"/>
            <a:ext cx="101541" cy="0"/>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22" name="Line 17"/>
          <p:cNvSpPr>
            <a:spLocks noChangeShapeType="1"/>
          </p:cNvSpPr>
          <p:nvPr/>
        </p:nvSpPr>
        <p:spPr bwMode="auto">
          <a:xfrm>
            <a:off x="3059235" y="2384392"/>
            <a:ext cx="101541" cy="0"/>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23" name="Line 18"/>
          <p:cNvSpPr>
            <a:spLocks noChangeShapeType="1"/>
          </p:cNvSpPr>
          <p:nvPr/>
        </p:nvSpPr>
        <p:spPr bwMode="auto">
          <a:xfrm>
            <a:off x="3059235" y="1728385"/>
            <a:ext cx="101541" cy="0"/>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24" name="Line 19"/>
          <p:cNvSpPr>
            <a:spLocks noChangeShapeType="1"/>
          </p:cNvSpPr>
          <p:nvPr/>
        </p:nvSpPr>
        <p:spPr bwMode="auto">
          <a:xfrm flipV="1">
            <a:off x="3059221" y="2901056"/>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25" name="Line 20"/>
          <p:cNvSpPr>
            <a:spLocks noChangeShapeType="1"/>
          </p:cNvSpPr>
          <p:nvPr/>
        </p:nvSpPr>
        <p:spPr bwMode="auto">
          <a:xfrm flipV="1">
            <a:off x="3059221" y="2768135"/>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26" name="Line 21"/>
          <p:cNvSpPr>
            <a:spLocks noChangeShapeType="1"/>
          </p:cNvSpPr>
          <p:nvPr/>
        </p:nvSpPr>
        <p:spPr bwMode="auto">
          <a:xfrm flipV="1">
            <a:off x="3059221" y="2639526"/>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27" name="Line 22"/>
          <p:cNvSpPr>
            <a:spLocks noChangeShapeType="1"/>
          </p:cNvSpPr>
          <p:nvPr/>
        </p:nvSpPr>
        <p:spPr bwMode="auto">
          <a:xfrm flipV="1">
            <a:off x="3059221" y="2506609"/>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28" name="Line 23"/>
          <p:cNvSpPr>
            <a:spLocks noChangeShapeType="1"/>
          </p:cNvSpPr>
          <p:nvPr/>
        </p:nvSpPr>
        <p:spPr bwMode="auto">
          <a:xfrm flipV="1">
            <a:off x="3059221" y="2249351"/>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29" name="Line 24"/>
          <p:cNvSpPr>
            <a:spLocks noChangeShapeType="1"/>
          </p:cNvSpPr>
          <p:nvPr/>
        </p:nvSpPr>
        <p:spPr bwMode="auto">
          <a:xfrm flipV="1">
            <a:off x="3059221" y="2118579"/>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30" name="Line 25"/>
          <p:cNvSpPr>
            <a:spLocks noChangeShapeType="1"/>
          </p:cNvSpPr>
          <p:nvPr/>
        </p:nvSpPr>
        <p:spPr bwMode="auto">
          <a:xfrm flipV="1">
            <a:off x="3059221" y="1989950"/>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31" name="Line 26"/>
          <p:cNvSpPr>
            <a:spLocks noChangeShapeType="1"/>
          </p:cNvSpPr>
          <p:nvPr/>
        </p:nvSpPr>
        <p:spPr bwMode="auto">
          <a:xfrm flipV="1">
            <a:off x="3059221" y="1854889"/>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32" name="Line 27"/>
          <p:cNvSpPr>
            <a:spLocks noChangeShapeType="1"/>
          </p:cNvSpPr>
          <p:nvPr/>
        </p:nvSpPr>
        <p:spPr bwMode="auto">
          <a:xfrm flipV="1">
            <a:off x="3059221" y="1599760"/>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33" name="Line 28"/>
          <p:cNvSpPr>
            <a:spLocks noChangeShapeType="1"/>
          </p:cNvSpPr>
          <p:nvPr/>
        </p:nvSpPr>
        <p:spPr bwMode="auto">
          <a:xfrm flipV="1">
            <a:off x="3059221" y="1473290"/>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34" name="Line 29"/>
          <p:cNvSpPr>
            <a:spLocks noChangeShapeType="1"/>
          </p:cNvSpPr>
          <p:nvPr/>
        </p:nvSpPr>
        <p:spPr bwMode="auto">
          <a:xfrm flipV="1">
            <a:off x="3054868" y="1342517"/>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35" name="Line 30"/>
          <p:cNvSpPr>
            <a:spLocks noChangeShapeType="1"/>
          </p:cNvSpPr>
          <p:nvPr/>
        </p:nvSpPr>
        <p:spPr bwMode="auto">
          <a:xfrm flipV="1">
            <a:off x="3059221" y="1209601"/>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36" name="Line 31"/>
          <p:cNvSpPr>
            <a:spLocks noChangeShapeType="1"/>
          </p:cNvSpPr>
          <p:nvPr/>
        </p:nvSpPr>
        <p:spPr bwMode="auto">
          <a:xfrm flipV="1">
            <a:off x="3054868" y="952343"/>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37" name="Line 32"/>
          <p:cNvSpPr>
            <a:spLocks noChangeShapeType="1"/>
          </p:cNvSpPr>
          <p:nvPr/>
        </p:nvSpPr>
        <p:spPr bwMode="auto">
          <a:xfrm>
            <a:off x="3059235" y="1078808"/>
            <a:ext cx="101541" cy="0"/>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38" name="Line 33"/>
          <p:cNvSpPr>
            <a:spLocks noChangeShapeType="1"/>
          </p:cNvSpPr>
          <p:nvPr/>
        </p:nvSpPr>
        <p:spPr bwMode="auto">
          <a:xfrm flipV="1">
            <a:off x="3276808"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39" name="Line 34"/>
          <p:cNvSpPr>
            <a:spLocks noChangeShapeType="1"/>
          </p:cNvSpPr>
          <p:nvPr/>
        </p:nvSpPr>
        <p:spPr bwMode="auto">
          <a:xfrm flipV="1">
            <a:off x="3485692"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40" name="Line 35"/>
          <p:cNvSpPr>
            <a:spLocks noChangeShapeType="1"/>
          </p:cNvSpPr>
          <p:nvPr/>
        </p:nvSpPr>
        <p:spPr bwMode="auto">
          <a:xfrm flipV="1">
            <a:off x="3694578"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41" name="Line 36"/>
          <p:cNvSpPr>
            <a:spLocks noChangeShapeType="1"/>
          </p:cNvSpPr>
          <p:nvPr/>
        </p:nvSpPr>
        <p:spPr bwMode="auto">
          <a:xfrm flipV="1">
            <a:off x="3909265"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42" name="Line 37"/>
          <p:cNvSpPr>
            <a:spLocks noChangeShapeType="1"/>
          </p:cNvSpPr>
          <p:nvPr/>
        </p:nvSpPr>
        <p:spPr bwMode="auto">
          <a:xfrm flipV="1">
            <a:off x="4332838"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43" name="Line 38"/>
          <p:cNvSpPr>
            <a:spLocks noChangeShapeType="1"/>
          </p:cNvSpPr>
          <p:nvPr/>
        </p:nvSpPr>
        <p:spPr bwMode="auto">
          <a:xfrm flipV="1">
            <a:off x="4544624"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44" name="Line 39"/>
          <p:cNvSpPr>
            <a:spLocks noChangeShapeType="1"/>
          </p:cNvSpPr>
          <p:nvPr/>
        </p:nvSpPr>
        <p:spPr bwMode="auto">
          <a:xfrm flipV="1">
            <a:off x="4753509"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45" name="Line 40"/>
          <p:cNvSpPr>
            <a:spLocks noChangeShapeType="1"/>
          </p:cNvSpPr>
          <p:nvPr/>
        </p:nvSpPr>
        <p:spPr bwMode="auto">
          <a:xfrm flipV="1">
            <a:off x="4962394"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46" name="Line 41"/>
          <p:cNvSpPr>
            <a:spLocks noChangeShapeType="1"/>
          </p:cNvSpPr>
          <p:nvPr/>
        </p:nvSpPr>
        <p:spPr bwMode="auto">
          <a:xfrm flipV="1">
            <a:off x="5385966"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47" name="Line 42"/>
          <p:cNvSpPr>
            <a:spLocks noChangeShapeType="1"/>
          </p:cNvSpPr>
          <p:nvPr/>
        </p:nvSpPr>
        <p:spPr bwMode="auto">
          <a:xfrm flipV="1">
            <a:off x="5594852"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48" name="Line 43"/>
          <p:cNvSpPr>
            <a:spLocks noChangeShapeType="1"/>
          </p:cNvSpPr>
          <p:nvPr/>
        </p:nvSpPr>
        <p:spPr bwMode="auto">
          <a:xfrm flipV="1">
            <a:off x="5806638"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49" name="Line 44"/>
          <p:cNvSpPr>
            <a:spLocks noChangeShapeType="1"/>
          </p:cNvSpPr>
          <p:nvPr/>
        </p:nvSpPr>
        <p:spPr bwMode="auto">
          <a:xfrm flipV="1">
            <a:off x="6018424"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50" name="Line 45"/>
          <p:cNvSpPr>
            <a:spLocks noChangeShapeType="1"/>
          </p:cNvSpPr>
          <p:nvPr/>
        </p:nvSpPr>
        <p:spPr bwMode="auto">
          <a:xfrm flipV="1">
            <a:off x="6441996"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51" name="Line 46"/>
          <p:cNvSpPr>
            <a:spLocks noChangeShapeType="1"/>
          </p:cNvSpPr>
          <p:nvPr/>
        </p:nvSpPr>
        <p:spPr bwMode="auto">
          <a:xfrm flipV="1">
            <a:off x="6653782"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52" name="Line 47"/>
          <p:cNvSpPr>
            <a:spLocks noChangeShapeType="1"/>
          </p:cNvSpPr>
          <p:nvPr/>
        </p:nvSpPr>
        <p:spPr bwMode="auto">
          <a:xfrm flipV="1">
            <a:off x="6856865"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53" name="Line 48"/>
          <p:cNvSpPr>
            <a:spLocks noChangeShapeType="1"/>
          </p:cNvSpPr>
          <p:nvPr/>
        </p:nvSpPr>
        <p:spPr bwMode="auto">
          <a:xfrm flipV="1">
            <a:off x="7068651"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54" name="Line 49"/>
          <p:cNvSpPr>
            <a:spLocks noChangeShapeType="1"/>
          </p:cNvSpPr>
          <p:nvPr/>
        </p:nvSpPr>
        <p:spPr bwMode="auto">
          <a:xfrm flipV="1">
            <a:off x="7492224"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55" name="Line 50"/>
          <p:cNvSpPr>
            <a:spLocks noChangeShapeType="1"/>
          </p:cNvSpPr>
          <p:nvPr/>
        </p:nvSpPr>
        <p:spPr bwMode="auto">
          <a:xfrm flipV="1">
            <a:off x="7698207"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56" name="Line 51"/>
          <p:cNvSpPr>
            <a:spLocks noChangeShapeType="1"/>
          </p:cNvSpPr>
          <p:nvPr/>
        </p:nvSpPr>
        <p:spPr bwMode="auto">
          <a:xfrm flipV="1">
            <a:off x="7912894"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57" name="Line 52"/>
          <p:cNvSpPr>
            <a:spLocks noChangeShapeType="1"/>
          </p:cNvSpPr>
          <p:nvPr/>
        </p:nvSpPr>
        <p:spPr bwMode="auto">
          <a:xfrm flipV="1">
            <a:off x="8118879"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58" name="Line 53"/>
          <p:cNvSpPr>
            <a:spLocks noChangeShapeType="1"/>
          </p:cNvSpPr>
          <p:nvPr/>
        </p:nvSpPr>
        <p:spPr bwMode="auto">
          <a:xfrm flipV="1">
            <a:off x="8542451" y="4305252"/>
            <a:ext cx="0" cy="34301"/>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grpSp>
        <p:nvGrpSpPr>
          <p:cNvPr id="59" name="図形グループ 54"/>
          <p:cNvGrpSpPr/>
          <p:nvPr/>
        </p:nvGrpSpPr>
        <p:grpSpPr>
          <a:xfrm>
            <a:off x="8757145" y="4305252"/>
            <a:ext cx="417770" cy="34301"/>
            <a:chOff x="8088313" y="5826125"/>
            <a:chExt cx="457200" cy="50800"/>
          </a:xfrm>
        </p:grpSpPr>
        <p:sp>
          <p:nvSpPr>
            <p:cNvPr id="60" name="Line 54"/>
            <p:cNvSpPr>
              <a:spLocks noChangeShapeType="1"/>
            </p:cNvSpPr>
            <p:nvPr/>
          </p:nvSpPr>
          <p:spPr bwMode="auto">
            <a:xfrm flipV="1">
              <a:off x="8088313" y="5826125"/>
              <a:ext cx="0" cy="50800"/>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61" name="Line 55"/>
            <p:cNvSpPr>
              <a:spLocks noChangeShapeType="1"/>
            </p:cNvSpPr>
            <p:nvPr/>
          </p:nvSpPr>
          <p:spPr bwMode="auto">
            <a:xfrm flipV="1">
              <a:off x="8313738" y="5826125"/>
              <a:ext cx="0" cy="50800"/>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62" name="Line 56"/>
            <p:cNvSpPr>
              <a:spLocks noChangeShapeType="1"/>
            </p:cNvSpPr>
            <p:nvPr/>
          </p:nvSpPr>
          <p:spPr bwMode="auto">
            <a:xfrm flipV="1">
              <a:off x="8545513" y="5826125"/>
              <a:ext cx="0" cy="50800"/>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grpSp>
      <p:sp>
        <p:nvSpPr>
          <p:cNvPr id="63" name="Line 57"/>
          <p:cNvSpPr>
            <a:spLocks noChangeShapeType="1"/>
          </p:cNvSpPr>
          <p:nvPr/>
        </p:nvSpPr>
        <p:spPr bwMode="auto">
          <a:xfrm flipV="1">
            <a:off x="4115249" y="4279527"/>
            <a:ext cx="0" cy="60027"/>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64" name="Line 58"/>
          <p:cNvSpPr>
            <a:spLocks noChangeShapeType="1"/>
          </p:cNvSpPr>
          <p:nvPr/>
        </p:nvSpPr>
        <p:spPr bwMode="auto">
          <a:xfrm flipV="1">
            <a:off x="5171278" y="4275239"/>
            <a:ext cx="0" cy="60027"/>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65" name="Line 59"/>
          <p:cNvSpPr>
            <a:spLocks noChangeShapeType="1"/>
          </p:cNvSpPr>
          <p:nvPr/>
        </p:nvSpPr>
        <p:spPr bwMode="auto">
          <a:xfrm flipV="1">
            <a:off x="6224408" y="4275239"/>
            <a:ext cx="0" cy="60027"/>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66" name="Line 60"/>
          <p:cNvSpPr>
            <a:spLocks noChangeShapeType="1"/>
          </p:cNvSpPr>
          <p:nvPr/>
        </p:nvSpPr>
        <p:spPr bwMode="auto">
          <a:xfrm flipV="1">
            <a:off x="7283338" y="4275239"/>
            <a:ext cx="0" cy="60027"/>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67" name="Line 61"/>
          <p:cNvSpPr>
            <a:spLocks noChangeShapeType="1"/>
          </p:cNvSpPr>
          <p:nvPr/>
        </p:nvSpPr>
        <p:spPr bwMode="auto">
          <a:xfrm flipV="1">
            <a:off x="8327763" y="4279527"/>
            <a:ext cx="0" cy="60027"/>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68" name="Line 62"/>
          <p:cNvSpPr>
            <a:spLocks noChangeShapeType="1"/>
          </p:cNvSpPr>
          <p:nvPr/>
        </p:nvSpPr>
        <p:spPr bwMode="auto">
          <a:xfrm flipV="1">
            <a:off x="9375090" y="4275239"/>
            <a:ext cx="0" cy="60027"/>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70" name="Rectangle 68"/>
          <p:cNvSpPr>
            <a:spLocks noChangeArrowheads="1"/>
          </p:cNvSpPr>
          <p:nvPr/>
        </p:nvSpPr>
        <p:spPr bwMode="auto">
          <a:xfrm>
            <a:off x="3427685" y="1942786"/>
            <a:ext cx="124751" cy="92184"/>
          </a:xfrm>
          <a:prstGeom prst="rect">
            <a:avLst/>
          </a:prstGeom>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ja-JP" altLang="en-US">
              <a:cs typeface="Arial" charset="0"/>
            </a:endParaRPr>
          </a:p>
        </p:txBody>
      </p:sp>
      <p:sp>
        <p:nvSpPr>
          <p:cNvPr id="73" name="Line 75"/>
          <p:cNvSpPr>
            <a:spLocks noChangeShapeType="1"/>
          </p:cNvSpPr>
          <p:nvPr/>
        </p:nvSpPr>
        <p:spPr bwMode="auto">
          <a:xfrm>
            <a:off x="3053431" y="1074540"/>
            <a:ext cx="432276" cy="911122"/>
          </a:xfrm>
          <a:prstGeom prst="line">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pPr>
              <a:defRPr/>
            </a:pPr>
            <a:endParaRPr lang="ja-JP" altLang="en-US">
              <a:latin typeface="Arial"/>
              <a:ea typeface="+mj-ea"/>
              <a:cs typeface="Arial"/>
            </a:endParaRPr>
          </a:p>
        </p:txBody>
      </p:sp>
      <p:sp>
        <p:nvSpPr>
          <p:cNvPr id="74" name="Line 77"/>
          <p:cNvSpPr>
            <a:spLocks noChangeShapeType="1"/>
          </p:cNvSpPr>
          <p:nvPr/>
        </p:nvSpPr>
        <p:spPr bwMode="auto">
          <a:xfrm>
            <a:off x="3485692" y="1985662"/>
            <a:ext cx="417770" cy="392318"/>
          </a:xfrm>
          <a:prstGeom prst="line">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pPr>
              <a:defRPr/>
            </a:pPr>
            <a:endParaRPr lang="ja-JP" altLang="en-US">
              <a:latin typeface="Arial"/>
              <a:ea typeface="+mj-ea"/>
              <a:cs typeface="Arial"/>
            </a:endParaRPr>
          </a:p>
        </p:txBody>
      </p:sp>
      <p:sp>
        <p:nvSpPr>
          <p:cNvPr id="75" name="Line 78"/>
          <p:cNvSpPr>
            <a:spLocks noChangeShapeType="1"/>
          </p:cNvSpPr>
          <p:nvPr/>
        </p:nvSpPr>
        <p:spPr bwMode="auto">
          <a:xfrm>
            <a:off x="3912166" y="2377980"/>
            <a:ext cx="417770" cy="392318"/>
          </a:xfrm>
          <a:prstGeom prst="line">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pPr>
              <a:defRPr/>
            </a:pPr>
            <a:endParaRPr lang="ja-JP" altLang="en-US">
              <a:latin typeface="Arial"/>
              <a:ea typeface="+mj-ea"/>
              <a:cs typeface="Arial"/>
            </a:endParaRPr>
          </a:p>
        </p:txBody>
      </p:sp>
      <p:sp>
        <p:nvSpPr>
          <p:cNvPr id="77" name="Line 80"/>
          <p:cNvSpPr>
            <a:spLocks noChangeShapeType="1"/>
          </p:cNvSpPr>
          <p:nvPr/>
        </p:nvSpPr>
        <p:spPr bwMode="auto">
          <a:xfrm>
            <a:off x="4765114" y="2763848"/>
            <a:ext cx="617952" cy="0"/>
          </a:xfrm>
          <a:prstGeom prst="line">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pPr>
              <a:defRPr/>
            </a:pPr>
            <a:endParaRPr lang="ja-JP" altLang="en-US">
              <a:latin typeface="Arial"/>
              <a:ea typeface="+mj-ea"/>
              <a:cs typeface="Arial"/>
            </a:endParaRPr>
          </a:p>
        </p:txBody>
      </p:sp>
      <p:sp>
        <p:nvSpPr>
          <p:cNvPr id="78" name="Line 81"/>
          <p:cNvSpPr>
            <a:spLocks noChangeShapeType="1"/>
          </p:cNvSpPr>
          <p:nvPr/>
        </p:nvSpPr>
        <p:spPr bwMode="auto">
          <a:xfrm>
            <a:off x="5383065" y="2770280"/>
            <a:ext cx="644062" cy="135060"/>
          </a:xfrm>
          <a:prstGeom prst="line">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pPr>
              <a:defRPr/>
            </a:pPr>
            <a:endParaRPr lang="ja-JP" altLang="en-US">
              <a:latin typeface="Arial"/>
              <a:ea typeface="+mj-ea"/>
              <a:cs typeface="Arial"/>
            </a:endParaRPr>
          </a:p>
        </p:txBody>
      </p:sp>
      <p:sp>
        <p:nvSpPr>
          <p:cNvPr id="88" name="Rectangle 69"/>
          <p:cNvSpPr>
            <a:spLocks noChangeArrowheads="1"/>
          </p:cNvSpPr>
          <p:nvPr/>
        </p:nvSpPr>
        <p:spPr bwMode="auto">
          <a:xfrm>
            <a:off x="3851257" y="2335104"/>
            <a:ext cx="124751" cy="92184"/>
          </a:xfrm>
          <a:prstGeom prst="rect">
            <a:avLst/>
          </a:prstGeom>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ja-JP" altLang="en-US">
              <a:cs typeface="Arial" charset="0"/>
            </a:endParaRPr>
          </a:p>
        </p:txBody>
      </p:sp>
      <p:sp>
        <p:nvSpPr>
          <p:cNvPr id="118" name="Rectangle 145"/>
          <p:cNvSpPr>
            <a:spLocks noChangeArrowheads="1"/>
          </p:cNvSpPr>
          <p:nvPr/>
        </p:nvSpPr>
        <p:spPr bwMode="auto">
          <a:xfrm>
            <a:off x="4655985" y="2258987"/>
            <a:ext cx="1688487" cy="3022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wrap="none" lIns="0" anchor="ctr"/>
          <a:lstStyle/>
          <a:p>
            <a:r>
              <a:rPr lang="en-US" altLang="ja-JP" b="1" dirty="0">
                <a:solidFill>
                  <a:schemeClr val="accent5"/>
                </a:solidFill>
                <a:cs typeface="Arial" charset="0"/>
              </a:rPr>
              <a:t>Present Values</a:t>
            </a:r>
            <a:endParaRPr lang="ja-JP" altLang="en-US" sz="2000" b="1" dirty="0">
              <a:solidFill>
                <a:schemeClr val="accent5"/>
              </a:solidFill>
              <a:cs typeface="Arial" charset="0"/>
            </a:endParaRPr>
          </a:p>
        </p:txBody>
      </p:sp>
      <p:sp>
        <p:nvSpPr>
          <p:cNvPr id="120" name="Text Box 149"/>
          <p:cNvSpPr txBox="1">
            <a:spLocks noChangeArrowheads="1"/>
          </p:cNvSpPr>
          <p:nvPr/>
        </p:nvSpPr>
        <p:spPr bwMode="auto">
          <a:xfrm>
            <a:off x="2861944" y="4348148"/>
            <a:ext cx="696284"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a:solidFill>
                  <a:schemeClr val="tx1">
                    <a:lumMod val="75000"/>
                    <a:lumOff val="25000"/>
                  </a:schemeClr>
                </a:solidFill>
                <a:cs typeface="Arial" charset="0"/>
              </a:rPr>
              <a:t>1995</a:t>
            </a:r>
          </a:p>
        </p:txBody>
      </p:sp>
      <p:sp>
        <p:nvSpPr>
          <p:cNvPr id="121" name="Text Box 150"/>
          <p:cNvSpPr txBox="1">
            <a:spLocks noChangeArrowheads="1"/>
          </p:cNvSpPr>
          <p:nvPr/>
        </p:nvSpPr>
        <p:spPr bwMode="auto">
          <a:xfrm>
            <a:off x="3891864" y="4348148"/>
            <a:ext cx="696284"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dirty="0">
                <a:solidFill>
                  <a:schemeClr val="tx1">
                    <a:lumMod val="75000"/>
                    <a:lumOff val="25000"/>
                  </a:schemeClr>
                </a:solidFill>
                <a:cs typeface="Arial" charset="0"/>
              </a:rPr>
              <a:t>2000</a:t>
            </a:r>
          </a:p>
        </p:txBody>
      </p:sp>
      <p:sp>
        <p:nvSpPr>
          <p:cNvPr id="122" name="Text Box 151"/>
          <p:cNvSpPr txBox="1">
            <a:spLocks noChangeArrowheads="1"/>
          </p:cNvSpPr>
          <p:nvPr/>
        </p:nvSpPr>
        <p:spPr bwMode="auto">
          <a:xfrm>
            <a:off x="4938215" y="4354580"/>
            <a:ext cx="696284"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dirty="0">
                <a:solidFill>
                  <a:schemeClr val="tx1">
                    <a:lumMod val="75000"/>
                    <a:lumOff val="25000"/>
                  </a:schemeClr>
                </a:solidFill>
                <a:cs typeface="Arial" charset="0"/>
              </a:rPr>
              <a:t>2005</a:t>
            </a:r>
          </a:p>
        </p:txBody>
      </p:sp>
      <p:sp>
        <p:nvSpPr>
          <p:cNvPr id="123" name="Text Box 152"/>
          <p:cNvSpPr txBox="1">
            <a:spLocks noChangeArrowheads="1"/>
          </p:cNvSpPr>
          <p:nvPr/>
        </p:nvSpPr>
        <p:spPr bwMode="auto">
          <a:xfrm>
            <a:off x="6015521" y="4348148"/>
            <a:ext cx="696284"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dirty="0">
                <a:solidFill>
                  <a:schemeClr val="tx1">
                    <a:lumMod val="75000"/>
                    <a:lumOff val="25000"/>
                  </a:schemeClr>
                </a:solidFill>
                <a:cs typeface="Arial" charset="0"/>
              </a:rPr>
              <a:t>2010</a:t>
            </a:r>
          </a:p>
        </p:txBody>
      </p:sp>
      <p:sp>
        <p:nvSpPr>
          <p:cNvPr id="124" name="Text Box 153"/>
          <p:cNvSpPr txBox="1">
            <a:spLocks noChangeArrowheads="1"/>
          </p:cNvSpPr>
          <p:nvPr/>
        </p:nvSpPr>
        <p:spPr bwMode="auto">
          <a:xfrm>
            <a:off x="7052209" y="4348148"/>
            <a:ext cx="696284"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dirty="0">
                <a:solidFill>
                  <a:schemeClr val="tx1">
                    <a:lumMod val="75000"/>
                    <a:lumOff val="25000"/>
                  </a:schemeClr>
                </a:solidFill>
                <a:cs typeface="Arial" charset="0"/>
              </a:rPr>
              <a:t>2015</a:t>
            </a:r>
          </a:p>
        </p:txBody>
      </p:sp>
      <p:sp>
        <p:nvSpPr>
          <p:cNvPr id="125" name="Text Box 154"/>
          <p:cNvSpPr txBox="1">
            <a:spLocks noChangeArrowheads="1"/>
          </p:cNvSpPr>
          <p:nvPr/>
        </p:nvSpPr>
        <p:spPr bwMode="auto">
          <a:xfrm>
            <a:off x="8090836" y="4348148"/>
            <a:ext cx="696284"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a:solidFill>
                  <a:schemeClr val="tx1">
                    <a:lumMod val="75000"/>
                    <a:lumOff val="25000"/>
                  </a:schemeClr>
                </a:solidFill>
                <a:cs typeface="Arial" charset="0"/>
              </a:rPr>
              <a:t>2020</a:t>
            </a:r>
          </a:p>
        </p:txBody>
      </p:sp>
      <p:sp>
        <p:nvSpPr>
          <p:cNvPr id="126" name="Text Box 155"/>
          <p:cNvSpPr txBox="1">
            <a:spLocks noChangeArrowheads="1"/>
          </p:cNvSpPr>
          <p:nvPr/>
        </p:nvSpPr>
        <p:spPr bwMode="auto">
          <a:xfrm>
            <a:off x="9143967" y="4348148"/>
            <a:ext cx="696284"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dirty="0">
                <a:solidFill>
                  <a:schemeClr val="tx1">
                    <a:lumMod val="75000"/>
                    <a:lumOff val="25000"/>
                  </a:schemeClr>
                </a:solidFill>
                <a:cs typeface="Arial" charset="0"/>
              </a:rPr>
              <a:t>2025</a:t>
            </a:r>
          </a:p>
        </p:txBody>
      </p:sp>
      <p:sp>
        <p:nvSpPr>
          <p:cNvPr id="128" name="Text Box 157"/>
          <p:cNvSpPr txBox="1">
            <a:spLocks noChangeArrowheads="1"/>
          </p:cNvSpPr>
          <p:nvPr/>
        </p:nvSpPr>
        <p:spPr bwMode="auto">
          <a:xfrm>
            <a:off x="2733920" y="4163780"/>
            <a:ext cx="330735"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rIns="0" b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a:solidFill>
                  <a:schemeClr val="tx1">
                    <a:lumMod val="75000"/>
                    <a:lumOff val="25000"/>
                  </a:schemeClr>
                </a:solidFill>
                <a:cs typeface="Arial" charset="0"/>
              </a:rPr>
              <a:t>0</a:t>
            </a:r>
          </a:p>
        </p:txBody>
      </p:sp>
      <p:sp>
        <p:nvSpPr>
          <p:cNvPr id="129" name="Text Box 158"/>
          <p:cNvSpPr txBox="1">
            <a:spLocks noChangeArrowheads="1"/>
          </p:cNvSpPr>
          <p:nvPr/>
        </p:nvSpPr>
        <p:spPr bwMode="auto">
          <a:xfrm>
            <a:off x="2603367" y="3527067"/>
            <a:ext cx="409066"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rIns="0" b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a:solidFill>
                  <a:schemeClr val="tx1">
                    <a:lumMod val="75000"/>
                    <a:lumOff val="25000"/>
                  </a:schemeClr>
                </a:solidFill>
                <a:cs typeface="Arial" charset="0"/>
              </a:rPr>
              <a:t>0.5</a:t>
            </a:r>
          </a:p>
        </p:txBody>
      </p:sp>
      <p:sp>
        <p:nvSpPr>
          <p:cNvPr id="130" name="Text Box 159"/>
          <p:cNvSpPr txBox="1">
            <a:spLocks noChangeArrowheads="1"/>
          </p:cNvSpPr>
          <p:nvPr/>
        </p:nvSpPr>
        <p:spPr bwMode="auto">
          <a:xfrm>
            <a:off x="2594668" y="2883904"/>
            <a:ext cx="409066"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rIns="0" b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dirty="0">
                <a:solidFill>
                  <a:schemeClr val="tx1">
                    <a:lumMod val="75000"/>
                    <a:lumOff val="25000"/>
                  </a:schemeClr>
                </a:solidFill>
                <a:cs typeface="Arial" charset="0"/>
              </a:rPr>
              <a:t>1.0</a:t>
            </a:r>
          </a:p>
        </p:txBody>
      </p:sp>
      <p:sp>
        <p:nvSpPr>
          <p:cNvPr id="131" name="Text Box 160"/>
          <p:cNvSpPr txBox="1">
            <a:spLocks noChangeArrowheads="1"/>
          </p:cNvSpPr>
          <p:nvPr/>
        </p:nvSpPr>
        <p:spPr bwMode="auto">
          <a:xfrm>
            <a:off x="2594668" y="2227914"/>
            <a:ext cx="409066"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rIns="0" b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a:solidFill>
                  <a:schemeClr val="tx1">
                    <a:lumMod val="75000"/>
                    <a:lumOff val="25000"/>
                  </a:schemeClr>
                </a:solidFill>
                <a:cs typeface="Arial" charset="0"/>
              </a:rPr>
              <a:t>1.5</a:t>
            </a:r>
          </a:p>
        </p:txBody>
      </p:sp>
      <p:sp>
        <p:nvSpPr>
          <p:cNvPr id="132" name="Text Box 161"/>
          <p:cNvSpPr txBox="1">
            <a:spLocks noChangeArrowheads="1"/>
          </p:cNvSpPr>
          <p:nvPr/>
        </p:nvSpPr>
        <p:spPr bwMode="auto">
          <a:xfrm>
            <a:off x="2603367" y="1578320"/>
            <a:ext cx="409066"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rIns="0" b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a:solidFill>
                  <a:schemeClr val="tx1">
                    <a:lumMod val="75000"/>
                    <a:lumOff val="25000"/>
                  </a:schemeClr>
                </a:solidFill>
                <a:cs typeface="Arial" charset="0"/>
              </a:rPr>
              <a:t>2.0</a:t>
            </a:r>
          </a:p>
        </p:txBody>
      </p:sp>
      <p:sp>
        <p:nvSpPr>
          <p:cNvPr id="133" name="Text Box 162"/>
          <p:cNvSpPr txBox="1">
            <a:spLocks noChangeArrowheads="1"/>
          </p:cNvSpPr>
          <p:nvPr/>
        </p:nvSpPr>
        <p:spPr bwMode="auto">
          <a:xfrm>
            <a:off x="2585961" y="915882"/>
            <a:ext cx="409066"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rIns="0" b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1800" dirty="0">
                <a:solidFill>
                  <a:schemeClr val="tx1">
                    <a:lumMod val="75000"/>
                    <a:lumOff val="25000"/>
                  </a:schemeClr>
                </a:solidFill>
                <a:cs typeface="Arial" charset="0"/>
              </a:rPr>
              <a:t>2.5</a:t>
            </a:r>
          </a:p>
        </p:txBody>
      </p:sp>
      <p:sp>
        <p:nvSpPr>
          <p:cNvPr id="134" name="Text Box 163"/>
          <p:cNvSpPr txBox="1">
            <a:spLocks noChangeArrowheads="1"/>
          </p:cNvSpPr>
          <p:nvPr/>
        </p:nvSpPr>
        <p:spPr bwMode="auto">
          <a:xfrm rot="16200000">
            <a:off x="1108840" y="2244833"/>
            <a:ext cx="2270301"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0"/>
              </a:spcBef>
            </a:pPr>
            <a:r>
              <a:rPr lang="en-US" altLang="ja-JP" sz="2000" b="1" dirty="0">
                <a:solidFill>
                  <a:schemeClr val="tx1">
                    <a:lumMod val="75000"/>
                    <a:lumOff val="25000"/>
                  </a:schemeClr>
                </a:solidFill>
                <a:cs typeface="Arial" charset="0"/>
              </a:rPr>
              <a:t>Power Supply Voltage (V)</a:t>
            </a:r>
            <a:endParaRPr lang="ja-JP" altLang="en-US" sz="2000" b="1" dirty="0">
              <a:solidFill>
                <a:schemeClr val="tx1">
                  <a:lumMod val="75000"/>
                  <a:lumOff val="25000"/>
                </a:schemeClr>
              </a:solidFill>
              <a:cs typeface="Arial" charset="0"/>
            </a:endParaRPr>
          </a:p>
        </p:txBody>
      </p:sp>
      <p:sp>
        <p:nvSpPr>
          <p:cNvPr id="142" name="Line 64"/>
          <p:cNvSpPr>
            <a:spLocks noChangeShapeType="1"/>
          </p:cNvSpPr>
          <p:nvPr/>
        </p:nvSpPr>
        <p:spPr bwMode="auto">
          <a:xfrm>
            <a:off x="3065024" y="3029681"/>
            <a:ext cx="6904326"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pPr>
              <a:defRPr/>
            </a:pPr>
            <a:endParaRPr lang="ja-JP" altLang="en-US" dirty="0">
              <a:latin typeface="Arial"/>
              <a:ea typeface="+mj-ea"/>
              <a:cs typeface="Arial"/>
            </a:endParaRPr>
          </a:p>
        </p:txBody>
      </p:sp>
      <p:sp>
        <p:nvSpPr>
          <p:cNvPr id="144" name="正方形/長方形 156"/>
          <p:cNvSpPr>
            <a:spLocks noChangeArrowheads="1"/>
          </p:cNvSpPr>
          <p:nvPr/>
        </p:nvSpPr>
        <p:spPr bwMode="auto">
          <a:xfrm>
            <a:off x="3215969" y="3609003"/>
            <a:ext cx="263137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altLang="ja-JP" sz="1200" b="1" dirty="0">
                <a:solidFill>
                  <a:schemeClr val="tx1">
                    <a:lumMod val="75000"/>
                    <a:lumOff val="25000"/>
                  </a:schemeClr>
                </a:solidFill>
                <a:cs typeface="Arial" charset="0"/>
              </a:rPr>
              <a:t>ITRS: The International Technology Roadmap for Semiconductor</a:t>
            </a:r>
            <a:endParaRPr lang="ja-JP" altLang="en-US" sz="1200" b="1" dirty="0">
              <a:solidFill>
                <a:schemeClr val="tx1">
                  <a:lumMod val="75000"/>
                  <a:lumOff val="25000"/>
                </a:schemeClr>
              </a:solidFill>
              <a:cs typeface="Arial" charset="0"/>
            </a:endParaRPr>
          </a:p>
        </p:txBody>
      </p:sp>
      <p:sp>
        <p:nvSpPr>
          <p:cNvPr id="147" name="Line 81"/>
          <p:cNvSpPr>
            <a:spLocks noChangeShapeType="1"/>
          </p:cNvSpPr>
          <p:nvPr/>
        </p:nvSpPr>
        <p:spPr bwMode="auto">
          <a:xfrm>
            <a:off x="6027132" y="2907484"/>
            <a:ext cx="641161" cy="314069"/>
          </a:xfrm>
          <a:prstGeom prst="line">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pPr>
              <a:defRPr/>
            </a:pPr>
            <a:endParaRPr lang="ja-JP" altLang="en-US">
              <a:latin typeface="Arial"/>
              <a:ea typeface="+mj-ea"/>
              <a:cs typeface="Arial"/>
            </a:endParaRPr>
          </a:p>
        </p:txBody>
      </p:sp>
      <p:sp>
        <p:nvSpPr>
          <p:cNvPr id="149" name="Line 5"/>
          <p:cNvSpPr>
            <a:spLocks noChangeShapeType="1"/>
          </p:cNvSpPr>
          <p:nvPr/>
        </p:nvSpPr>
        <p:spPr bwMode="auto">
          <a:xfrm flipV="1">
            <a:off x="3059219" y="792698"/>
            <a:ext cx="0" cy="3389373"/>
          </a:xfrm>
          <a:prstGeom prst="line">
            <a:avLst/>
          </a:prstGeom>
          <a:noFill/>
          <a:ln w="15875">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150" name="Line 9"/>
          <p:cNvSpPr>
            <a:spLocks noChangeShapeType="1"/>
          </p:cNvSpPr>
          <p:nvPr/>
        </p:nvSpPr>
        <p:spPr bwMode="auto">
          <a:xfrm flipV="1">
            <a:off x="3059221" y="3683858"/>
            <a:ext cx="46419" cy="2144"/>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158" name="Rectangle 73"/>
          <p:cNvSpPr>
            <a:spLocks noChangeArrowheads="1"/>
          </p:cNvSpPr>
          <p:nvPr/>
        </p:nvSpPr>
        <p:spPr bwMode="auto">
          <a:xfrm>
            <a:off x="6582908" y="3174324"/>
            <a:ext cx="124751" cy="92184"/>
          </a:xfrm>
          <a:prstGeom prst="rect">
            <a:avLst/>
          </a:prstGeom>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ja-JP" altLang="en-US">
              <a:cs typeface="Arial" charset="0"/>
            </a:endParaRPr>
          </a:p>
        </p:txBody>
      </p:sp>
      <p:sp>
        <p:nvSpPr>
          <p:cNvPr id="159" name="Line 81"/>
          <p:cNvSpPr>
            <a:spLocks noChangeShapeType="1"/>
          </p:cNvSpPr>
          <p:nvPr/>
        </p:nvSpPr>
        <p:spPr bwMode="auto">
          <a:xfrm>
            <a:off x="6848446" y="3217239"/>
            <a:ext cx="433552" cy="39254"/>
          </a:xfrm>
          <a:prstGeom prst="lin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pPr>
              <a:defRPr/>
            </a:pPr>
            <a:endParaRPr lang="ja-JP" altLang="en-US" dirty="0">
              <a:latin typeface="Arial"/>
              <a:ea typeface="+mj-ea"/>
              <a:cs typeface="Arial"/>
            </a:endParaRPr>
          </a:p>
        </p:txBody>
      </p:sp>
      <p:sp>
        <p:nvSpPr>
          <p:cNvPr id="160" name="Line 81"/>
          <p:cNvSpPr>
            <a:spLocks noChangeShapeType="1"/>
          </p:cNvSpPr>
          <p:nvPr/>
        </p:nvSpPr>
        <p:spPr bwMode="auto">
          <a:xfrm>
            <a:off x="7261508" y="3253556"/>
            <a:ext cx="428634" cy="28354"/>
          </a:xfrm>
          <a:prstGeom prst="lin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pPr>
              <a:defRPr/>
            </a:pPr>
            <a:endParaRPr lang="ja-JP" altLang="en-US" dirty="0">
              <a:latin typeface="Arial"/>
              <a:ea typeface="+mj-ea"/>
              <a:cs typeface="Arial"/>
            </a:endParaRPr>
          </a:p>
        </p:txBody>
      </p:sp>
      <p:sp>
        <p:nvSpPr>
          <p:cNvPr id="161" name="Line 81"/>
          <p:cNvSpPr>
            <a:spLocks noChangeShapeType="1"/>
          </p:cNvSpPr>
          <p:nvPr/>
        </p:nvSpPr>
        <p:spPr bwMode="auto">
          <a:xfrm>
            <a:off x="7708992" y="3286278"/>
            <a:ext cx="399129" cy="35620"/>
          </a:xfrm>
          <a:prstGeom prst="lin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pPr>
              <a:defRPr/>
            </a:pPr>
            <a:endParaRPr lang="ja-JP" altLang="en-US" dirty="0">
              <a:latin typeface="Arial"/>
              <a:ea typeface="+mj-ea"/>
              <a:cs typeface="Arial"/>
            </a:endParaRPr>
          </a:p>
        </p:txBody>
      </p:sp>
      <p:sp>
        <p:nvSpPr>
          <p:cNvPr id="162" name="Line 81"/>
          <p:cNvSpPr>
            <a:spLocks noChangeShapeType="1"/>
          </p:cNvSpPr>
          <p:nvPr/>
        </p:nvSpPr>
        <p:spPr bwMode="auto">
          <a:xfrm>
            <a:off x="8117958" y="3321900"/>
            <a:ext cx="422896" cy="39971"/>
          </a:xfrm>
          <a:prstGeom prst="lin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pPr>
              <a:defRPr/>
            </a:pPr>
            <a:endParaRPr lang="ja-JP" altLang="en-US" dirty="0">
              <a:latin typeface="Arial"/>
              <a:ea typeface="+mj-ea"/>
              <a:cs typeface="Arial"/>
            </a:endParaRPr>
          </a:p>
        </p:txBody>
      </p:sp>
      <p:sp>
        <p:nvSpPr>
          <p:cNvPr id="163" name="Line 81"/>
          <p:cNvSpPr>
            <a:spLocks noChangeShapeType="1"/>
          </p:cNvSpPr>
          <p:nvPr/>
        </p:nvSpPr>
        <p:spPr bwMode="auto">
          <a:xfrm>
            <a:off x="8561242" y="3369137"/>
            <a:ext cx="393391" cy="32703"/>
          </a:xfrm>
          <a:prstGeom prst="lin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pPr>
              <a:defRPr/>
            </a:pPr>
            <a:endParaRPr lang="ja-JP" altLang="en-US" dirty="0">
              <a:latin typeface="Arial"/>
              <a:ea typeface="+mj-ea"/>
              <a:cs typeface="Arial"/>
            </a:endParaRPr>
          </a:p>
        </p:txBody>
      </p:sp>
      <p:sp>
        <p:nvSpPr>
          <p:cNvPr id="164" name="Line 81"/>
          <p:cNvSpPr>
            <a:spLocks noChangeShapeType="1"/>
          </p:cNvSpPr>
          <p:nvPr/>
        </p:nvSpPr>
        <p:spPr bwMode="auto">
          <a:xfrm>
            <a:off x="8963751" y="3405455"/>
            <a:ext cx="413061" cy="47237"/>
          </a:xfrm>
          <a:prstGeom prst="lin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pPr>
              <a:defRPr/>
            </a:pPr>
            <a:endParaRPr lang="ja-JP" altLang="en-US" dirty="0">
              <a:latin typeface="Arial"/>
              <a:ea typeface="+mj-ea"/>
              <a:cs typeface="Arial"/>
            </a:endParaRPr>
          </a:p>
        </p:txBody>
      </p:sp>
      <p:sp>
        <p:nvSpPr>
          <p:cNvPr id="165" name="Text Box 147"/>
          <p:cNvSpPr txBox="1">
            <a:spLocks noChangeArrowheads="1"/>
          </p:cNvSpPr>
          <p:nvPr/>
        </p:nvSpPr>
        <p:spPr bwMode="auto">
          <a:xfrm>
            <a:off x="7266013" y="3519001"/>
            <a:ext cx="2259678" cy="338554"/>
          </a:xfrm>
          <a:prstGeom prst="rect">
            <a:avLst/>
          </a:prstGeom>
          <a:noFill/>
          <a:ln>
            <a:noFill/>
          </a:ln>
        </p:spPr>
        <p:txBody>
          <a:bodyPr wrap="square" lIns="0">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spcBef>
                <a:spcPct val="5000"/>
              </a:spcBef>
            </a:pPr>
            <a:r>
              <a:rPr lang="ja-JP" altLang="en-US" sz="1600" b="1" dirty="0">
                <a:solidFill>
                  <a:schemeClr val="accent3">
                    <a:lumMod val="75000"/>
                  </a:schemeClr>
                </a:solidFill>
                <a:cs typeface="Arial" charset="0"/>
              </a:rPr>
              <a:t>ＩＴＲＳ</a:t>
            </a:r>
            <a:r>
              <a:rPr lang="en-US" altLang="ja-JP" sz="1600" b="1" dirty="0">
                <a:solidFill>
                  <a:schemeClr val="accent3">
                    <a:lumMod val="75000"/>
                  </a:schemeClr>
                </a:solidFill>
                <a:cs typeface="Arial" charset="0"/>
              </a:rPr>
              <a:t>, 2013 Prediction </a:t>
            </a:r>
            <a:endParaRPr lang="ja-JP" altLang="en-US" sz="1600" b="1" dirty="0">
              <a:solidFill>
                <a:schemeClr val="accent3">
                  <a:lumMod val="75000"/>
                </a:schemeClr>
              </a:solidFill>
              <a:cs typeface="Arial" charset="0"/>
            </a:endParaRPr>
          </a:p>
        </p:txBody>
      </p:sp>
      <p:sp>
        <p:nvSpPr>
          <p:cNvPr id="169" name="Oval 105"/>
          <p:cNvSpPr>
            <a:spLocks noChangeArrowheads="1"/>
          </p:cNvSpPr>
          <p:nvPr/>
        </p:nvSpPr>
        <p:spPr bwMode="auto">
          <a:xfrm>
            <a:off x="9093729" y="3374177"/>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70" name="Oval 105"/>
          <p:cNvSpPr>
            <a:spLocks noChangeArrowheads="1"/>
          </p:cNvSpPr>
          <p:nvPr/>
        </p:nvSpPr>
        <p:spPr bwMode="auto">
          <a:xfrm>
            <a:off x="8675959" y="3331301"/>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71" name="Oval 105"/>
          <p:cNvSpPr>
            <a:spLocks noChangeArrowheads="1"/>
          </p:cNvSpPr>
          <p:nvPr/>
        </p:nvSpPr>
        <p:spPr bwMode="auto">
          <a:xfrm>
            <a:off x="8269793" y="3291282"/>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72" name="Oval 105"/>
          <p:cNvSpPr>
            <a:spLocks noChangeArrowheads="1"/>
          </p:cNvSpPr>
          <p:nvPr/>
        </p:nvSpPr>
        <p:spPr bwMode="auto">
          <a:xfrm>
            <a:off x="7861442" y="3248817"/>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73" name="Oval 105"/>
          <p:cNvSpPr>
            <a:spLocks noChangeArrowheads="1"/>
          </p:cNvSpPr>
          <p:nvPr/>
        </p:nvSpPr>
        <p:spPr bwMode="auto">
          <a:xfrm>
            <a:off x="7447077" y="3210900"/>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74" name="Oval 105"/>
          <p:cNvSpPr>
            <a:spLocks noChangeArrowheads="1"/>
          </p:cNvSpPr>
          <p:nvPr/>
        </p:nvSpPr>
        <p:spPr bwMode="auto">
          <a:xfrm>
            <a:off x="7040911" y="3168023"/>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75" name="Line 81"/>
          <p:cNvSpPr>
            <a:spLocks noChangeShapeType="1"/>
          </p:cNvSpPr>
          <p:nvPr/>
        </p:nvSpPr>
        <p:spPr bwMode="auto">
          <a:xfrm>
            <a:off x="9393122" y="3454048"/>
            <a:ext cx="390551" cy="30123"/>
          </a:xfrm>
          <a:prstGeom prst="lin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pPr>
              <a:defRPr/>
            </a:pPr>
            <a:endParaRPr lang="ja-JP" altLang="en-US" dirty="0">
              <a:latin typeface="Arial"/>
              <a:ea typeface="+mj-ea"/>
              <a:cs typeface="Arial"/>
            </a:endParaRPr>
          </a:p>
        </p:txBody>
      </p:sp>
      <p:sp>
        <p:nvSpPr>
          <p:cNvPr id="176" name="Line 81"/>
          <p:cNvSpPr>
            <a:spLocks noChangeShapeType="1"/>
          </p:cNvSpPr>
          <p:nvPr/>
        </p:nvSpPr>
        <p:spPr bwMode="auto">
          <a:xfrm>
            <a:off x="9779946" y="3485491"/>
            <a:ext cx="224217" cy="4397"/>
          </a:xfrm>
          <a:prstGeom prst="lin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pPr>
              <a:defRPr/>
            </a:pPr>
            <a:endParaRPr lang="ja-JP" altLang="en-US" dirty="0">
              <a:latin typeface="Arial"/>
              <a:ea typeface="+mj-ea"/>
              <a:cs typeface="Arial"/>
            </a:endParaRPr>
          </a:p>
        </p:txBody>
      </p:sp>
      <p:grpSp>
        <p:nvGrpSpPr>
          <p:cNvPr id="177" name="図形グループ 173"/>
          <p:cNvGrpSpPr/>
          <p:nvPr/>
        </p:nvGrpSpPr>
        <p:grpSpPr>
          <a:xfrm>
            <a:off x="9573341" y="4308111"/>
            <a:ext cx="417770" cy="34301"/>
            <a:chOff x="8088313" y="5826125"/>
            <a:chExt cx="457200" cy="50800"/>
          </a:xfrm>
        </p:grpSpPr>
        <p:sp>
          <p:nvSpPr>
            <p:cNvPr id="178" name="Line 54"/>
            <p:cNvSpPr>
              <a:spLocks noChangeShapeType="1"/>
            </p:cNvSpPr>
            <p:nvPr/>
          </p:nvSpPr>
          <p:spPr bwMode="auto">
            <a:xfrm flipV="1">
              <a:off x="8088313" y="5826125"/>
              <a:ext cx="0" cy="50800"/>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179" name="Line 55"/>
            <p:cNvSpPr>
              <a:spLocks noChangeShapeType="1"/>
            </p:cNvSpPr>
            <p:nvPr/>
          </p:nvSpPr>
          <p:spPr bwMode="auto">
            <a:xfrm flipV="1">
              <a:off x="8313738" y="5826125"/>
              <a:ext cx="0" cy="50800"/>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sp>
          <p:nvSpPr>
            <p:cNvPr id="180" name="Line 56"/>
            <p:cNvSpPr>
              <a:spLocks noChangeShapeType="1"/>
            </p:cNvSpPr>
            <p:nvPr/>
          </p:nvSpPr>
          <p:spPr bwMode="auto">
            <a:xfrm flipV="1">
              <a:off x="8545513" y="5826125"/>
              <a:ext cx="0" cy="50800"/>
            </a:xfrm>
            <a:prstGeom prst="line">
              <a:avLst/>
            </a:prstGeom>
            <a:noFill/>
            <a:ln w="12700">
              <a:solidFill>
                <a:schemeClr val="tx1"/>
              </a:solidFill>
              <a:round/>
              <a:headEnd/>
              <a:tailEnd/>
            </a:ln>
            <a:effectLst/>
          </p:spPr>
          <p:txBody>
            <a:bodyPr/>
            <a:lstStyle/>
            <a:p>
              <a:pPr>
                <a:defRPr/>
              </a:pPr>
              <a:endParaRPr lang="ja-JP" altLang="en-US">
                <a:solidFill>
                  <a:schemeClr val="tx1">
                    <a:lumMod val="75000"/>
                    <a:lumOff val="25000"/>
                  </a:schemeClr>
                </a:solidFill>
                <a:latin typeface="Arial"/>
                <a:ea typeface="+mj-ea"/>
                <a:cs typeface="Arial"/>
              </a:endParaRPr>
            </a:p>
          </p:txBody>
        </p:sp>
      </p:grpSp>
      <p:cxnSp>
        <p:nvCxnSpPr>
          <p:cNvPr id="181" name="直線コネクタ 180"/>
          <p:cNvCxnSpPr/>
          <p:nvPr/>
        </p:nvCxnSpPr>
        <p:spPr>
          <a:xfrm>
            <a:off x="4745985" y="1182587"/>
            <a:ext cx="0" cy="424083"/>
          </a:xfrm>
          <a:prstGeom prst="line">
            <a:avLst/>
          </a:prstGeom>
          <a:ln w="19050" cmpd="sng">
            <a:solidFill>
              <a:schemeClr val="tx1">
                <a:lumMod val="50000"/>
                <a:lumOff val="50000"/>
              </a:schemeClr>
            </a:solidFill>
            <a:prstDash val="sysDash"/>
          </a:ln>
          <a:effectLst/>
        </p:spPr>
        <p:style>
          <a:lnRef idx="2">
            <a:schemeClr val="accent1"/>
          </a:lnRef>
          <a:fillRef idx="0">
            <a:schemeClr val="accent1"/>
          </a:fillRef>
          <a:effectRef idx="1">
            <a:schemeClr val="accent1"/>
          </a:effectRef>
          <a:fontRef idx="minor">
            <a:schemeClr val="tx1"/>
          </a:fontRef>
        </p:style>
      </p:cxnSp>
      <p:sp>
        <p:nvSpPr>
          <p:cNvPr id="182" name="下矢印 181"/>
          <p:cNvSpPr>
            <a:spLocks noChangeArrowheads="1"/>
          </p:cNvSpPr>
          <p:nvPr/>
        </p:nvSpPr>
        <p:spPr bwMode="auto">
          <a:xfrm rot="16200000">
            <a:off x="5072580" y="1037493"/>
            <a:ext cx="86160" cy="701095"/>
          </a:xfrm>
          <a:prstGeom prst="downArrow">
            <a:avLst>
              <a:gd name="adj1" fmla="val 50000"/>
              <a:gd name="adj2" fmla="val 49996"/>
            </a:avLst>
          </a:prstGeom>
          <a:solidFill>
            <a:schemeClr val="bg1">
              <a:lumMod val="50000"/>
            </a:schemeClr>
          </a:solidFill>
          <a:ln w="9525">
            <a:solidFill>
              <a:srgbClr val="7F7F7F"/>
            </a:solidFill>
            <a:miter lim="800000"/>
            <a:headEnd/>
            <a:tailEnd/>
          </a:ln>
          <a:effectLst/>
        </p:spPr>
        <p:txBody>
          <a:bodyPr anchor="ctr"/>
          <a:lstStyle/>
          <a:p>
            <a:pPr algn="ctr">
              <a:defRPr/>
            </a:pPr>
            <a:endParaRPr lang="ja-JP" altLang="en-US" dirty="0">
              <a:solidFill>
                <a:schemeClr val="lt1"/>
              </a:solidFill>
            </a:endParaRPr>
          </a:p>
        </p:txBody>
      </p:sp>
      <p:cxnSp>
        <p:nvCxnSpPr>
          <p:cNvPr id="183" name="直線コネクタ 182"/>
          <p:cNvCxnSpPr/>
          <p:nvPr/>
        </p:nvCxnSpPr>
        <p:spPr>
          <a:xfrm>
            <a:off x="5606141" y="1583587"/>
            <a:ext cx="0" cy="336061"/>
          </a:xfrm>
          <a:prstGeom prst="line">
            <a:avLst/>
          </a:prstGeom>
          <a:ln w="19050" cmpd="sng">
            <a:solidFill>
              <a:schemeClr val="tx1">
                <a:lumMod val="50000"/>
                <a:lumOff val="50000"/>
              </a:schemeClr>
            </a:solidFill>
            <a:prstDash val="sysDash"/>
          </a:ln>
          <a:effectLst/>
        </p:spPr>
        <p:style>
          <a:lnRef idx="2">
            <a:schemeClr val="accent1"/>
          </a:lnRef>
          <a:fillRef idx="0">
            <a:schemeClr val="accent1"/>
          </a:fillRef>
          <a:effectRef idx="1">
            <a:schemeClr val="accent1"/>
          </a:effectRef>
          <a:fontRef idx="minor">
            <a:schemeClr val="tx1"/>
          </a:fontRef>
        </p:style>
      </p:cxnSp>
      <p:sp>
        <p:nvSpPr>
          <p:cNvPr id="184" name="下矢印 183"/>
          <p:cNvSpPr>
            <a:spLocks noChangeArrowheads="1"/>
          </p:cNvSpPr>
          <p:nvPr/>
        </p:nvSpPr>
        <p:spPr bwMode="auto">
          <a:xfrm rot="16200000">
            <a:off x="5924813" y="1390567"/>
            <a:ext cx="86160" cy="701095"/>
          </a:xfrm>
          <a:prstGeom prst="downArrow">
            <a:avLst>
              <a:gd name="adj1" fmla="val 50000"/>
              <a:gd name="adj2" fmla="val 49996"/>
            </a:avLst>
          </a:prstGeom>
          <a:solidFill>
            <a:schemeClr val="bg1">
              <a:lumMod val="50000"/>
            </a:schemeClr>
          </a:solidFill>
          <a:ln w="9525">
            <a:solidFill>
              <a:srgbClr val="7F7F7F"/>
            </a:solidFill>
            <a:miter lim="800000"/>
            <a:headEnd/>
            <a:tailEnd/>
          </a:ln>
          <a:effectLst/>
        </p:spPr>
        <p:txBody>
          <a:bodyPr anchor="ctr"/>
          <a:lstStyle/>
          <a:p>
            <a:pPr algn="ctr">
              <a:defRPr/>
            </a:pPr>
            <a:endParaRPr lang="ja-JP" altLang="en-US" dirty="0">
              <a:solidFill>
                <a:schemeClr val="lt1"/>
              </a:solidFill>
            </a:endParaRPr>
          </a:p>
        </p:txBody>
      </p:sp>
      <p:cxnSp>
        <p:nvCxnSpPr>
          <p:cNvPr id="186" name="直線コネクタ 185"/>
          <p:cNvCxnSpPr/>
          <p:nvPr/>
        </p:nvCxnSpPr>
        <p:spPr>
          <a:xfrm>
            <a:off x="6430792" y="1812593"/>
            <a:ext cx="0" cy="446394"/>
          </a:xfrm>
          <a:prstGeom prst="line">
            <a:avLst/>
          </a:prstGeom>
          <a:ln w="19050" cmpd="sng">
            <a:solidFill>
              <a:schemeClr val="tx1">
                <a:lumMod val="50000"/>
                <a:lumOff val="50000"/>
              </a:schemeClr>
            </a:solidFill>
            <a:prstDash val="sysDash"/>
          </a:ln>
          <a:effectLst/>
        </p:spPr>
        <p:style>
          <a:lnRef idx="2">
            <a:schemeClr val="accent1"/>
          </a:lnRef>
          <a:fillRef idx="0">
            <a:schemeClr val="accent1"/>
          </a:fillRef>
          <a:effectRef idx="1">
            <a:schemeClr val="accent1"/>
          </a:effectRef>
          <a:fontRef idx="minor">
            <a:schemeClr val="tx1"/>
          </a:fontRef>
        </p:style>
      </p:cxnSp>
      <p:sp>
        <p:nvSpPr>
          <p:cNvPr id="187" name="下矢印 186"/>
          <p:cNvSpPr>
            <a:spLocks noChangeArrowheads="1"/>
          </p:cNvSpPr>
          <p:nvPr/>
        </p:nvSpPr>
        <p:spPr bwMode="auto">
          <a:xfrm rot="16200000">
            <a:off x="6749463" y="1686213"/>
            <a:ext cx="86160" cy="701095"/>
          </a:xfrm>
          <a:prstGeom prst="downArrow">
            <a:avLst>
              <a:gd name="adj1" fmla="val 50000"/>
              <a:gd name="adj2" fmla="val 49996"/>
            </a:avLst>
          </a:prstGeom>
          <a:solidFill>
            <a:schemeClr val="bg1">
              <a:lumMod val="50000"/>
            </a:schemeClr>
          </a:solidFill>
          <a:ln w="9525">
            <a:solidFill>
              <a:srgbClr val="7F7F7F"/>
            </a:solidFill>
            <a:miter lim="800000"/>
            <a:headEnd/>
            <a:tailEnd/>
          </a:ln>
          <a:effectLst/>
        </p:spPr>
        <p:txBody>
          <a:bodyPr anchor="ctr"/>
          <a:lstStyle/>
          <a:p>
            <a:pPr algn="ctr">
              <a:defRPr/>
            </a:pPr>
            <a:endParaRPr lang="ja-JP" altLang="en-US" dirty="0">
              <a:solidFill>
                <a:schemeClr val="lt1"/>
              </a:solidFill>
            </a:endParaRPr>
          </a:p>
        </p:txBody>
      </p:sp>
      <p:sp>
        <p:nvSpPr>
          <p:cNvPr id="188" name="テキスト ボックス 187"/>
          <p:cNvSpPr txBox="1"/>
          <p:nvPr/>
        </p:nvSpPr>
        <p:spPr>
          <a:xfrm>
            <a:off x="4717851" y="1009785"/>
            <a:ext cx="2319674" cy="338554"/>
          </a:xfrm>
          <a:prstGeom prst="rect">
            <a:avLst/>
          </a:prstGeom>
          <a:noFill/>
        </p:spPr>
        <p:txBody>
          <a:bodyPr wrap="none" rtlCol="0">
            <a:spAutoFit/>
          </a:bodyPr>
          <a:lstStyle/>
          <a:p>
            <a:r>
              <a:rPr lang="en-US" altLang="ja-JP" sz="1600" dirty="0"/>
              <a:t>Strained Silicon (90 nm)</a:t>
            </a:r>
            <a:endParaRPr lang="ja-JP" altLang="en-US" sz="1600" dirty="0"/>
          </a:p>
        </p:txBody>
      </p:sp>
      <p:sp>
        <p:nvSpPr>
          <p:cNvPr id="189" name="テキスト ボックス 188"/>
          <p:cNvSpPr txBox="1"/>
          <p:nvPr/>
        </p:nvSpPr>
        <p:spPr>
          <a:xfrm>
            <a:off x="5555994" y="1362588"/>
            <a:ext cx="2597186" cy="338554"/>
          </a:xfrm>
          <a:prstGeom prst="rect">
            <a:avLst/>
          </a:prstGeom>
          <a:noFill/>
        </p:spPr>
        <p:txBody>
          <a:bodyPr wrap="none" rtlCol="0">
            <a:spAutoFit/>
          </a:bodyPr>
          <a:lstStyle/>
          <a:p>
            <a:r>
              <a:rPr lang="en-US" altLang="ja-JP" sz="1600" dirty="0"/>
              <a:t>High-k Metal Gate (45 nm)</a:t>
            </a:r>
            <a:endParaRPr lang="ja-JP" altLang="en-US" sz="1600" dirty="0"/>
          </a:p>
        </p:txBody>
      </p:sp>
      <p:sp>
        <p:nvSpPr>
          <p:cNvPr id="190" name="テキスト ボックス 189"/>
          <p:cNvSpPr txBox="1"/>
          <p:nvPr/>
        </p:nvSpPr>
        <p:spPr>
          <a:xfrm>
            <a:off x="6366004" y="1722592"/>
            <a:ext cx="1648015" cy="338554"/>
          </a:xfrm>
          <a:prstGeom prst="rect">
            <a:avLst/>
          </a:prstGeom>
          <a:noFill/>
        </p:spPr>
        <p:txBody>
          <a:bodyPr wrap="none" rtlCol="0">
            <a:spAutoFit/>
          </a:bodyPr>
          <a:lstStyle/>
          <a:p>
            <a:r>
              <a:rPr lang="en-US" altLang="ja-JP" sz="1600" dirty="0"/>
              <a:t>Tri-Gate (22 nm)</a:t>
            </a:r>
            <a:endParaRPr lang="ja-JP" altLang="en-US" sz="1600" dirty="0"/>
          </a:p>
        </p:txBody>
      </p:sp>
      <p:sp>
        <p:nvSpPr>
          <p:cNvPr id="191" name="Line 80"/>
          <p:cNvSpPr>
            <a:spLocks noChangeShapeType="1"/>
          </p:cNvSpPr>
          <p:nvPr/>
        </p:nvSpPr>
        <p:spPr bwMode="auto">
          <a:xfrm>
            <a:off x="4310495" y="2767048"/>
            <a:ext cx="450005" cy="0"/>
          </a:xfrm>
          <a:prstGeom prst="line">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pPr>
              <a:defRPr/>
            </a:pPr>
            <a:endParaRPr lang="ja-JP" altLang="en-US">
              <a:latin typeface="Arial"/>
              <a:ea typeface="+mj-ea"/>
              <a:cs typeface="Arial"/>
            </a:endParaRPr>
          </a:p>
        </p:txBody>
      </p:sp>
      <p:sp>
        <p:nvSpPr>
          <p:cNvPr id="152" name="Oval 105"/>
          <p:cNvSpPr>
            <a:spLocks noChangeArrowheads="1"/>
          </p:cNvSpPr>
          <p:nvPr/>
        </p:nvSpPr>
        <p:spPr bwMode="auto">
          <a:xfrm>
            <a:off x="7245226" y="3193050"/>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53" name="Oval 105"/>
          <p:cNvSpPr>
            <a:spLocks noChangeArrowheads="1"/>
          </p:cNvSpPr>
          <p:nvPr/>
        </p:nvSpPr>
        <p:spPr bwMode="auto">
          <a:xfrm>
            <a:off x="7628885" y="3228050"/>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54" name="Oval 105"/>
          <p:cNvSpPr>
            <a:spLocks noChangeArrowheads="1"/>
          </p:cNvSpPr>
          <p:nvPr/>
        </p:nvSpPr>
        <p:spPr bwMode="auto">
          <a:xfrm>
            <a:off x="8058723" y="3265967"/>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55" name="Oval 105"/>
          <p:cNvSpPr>
            <a:spLocks noChangeArrowheads="1"/>
          </p:cNvSpPr>
          <p:nvPr/>
        </p:nvSpPr>
        <p:spPr bwMode="auto">
          <a:xfrm>
            <a:off x="8469616" y="3303885"/>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56" name="Oval 105"/>
          <p:cNvSpPr>
            <a:spLocks noChangeArrowheads="1"/>
          </p:cNvSpPr>
          <p:nvPr/>
        </p:nvSpPr>
        <p:spPr bwMode="auto">
          <a:xfrm>
            <a:off x="8872379" y="3344718"/>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57" name="Oval 105"/>
          <p:cNvSpPr>
            <a:spLocks noChangeArrowheads="1"/>
          </p:cNvSpPr>
          <p:nvPr/>
        </p:nvSpPr>
        <p:spPr bwMode="auto">
          <a:xfrm>
            <a:off x="9298745" y="3388469"/>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51" name="Oval 105"/>
          <p:cNvSpPr>
            <a:spLocks noChangeArrowheads="1"/>
          </p:cNvSpPr>
          <p:nvPr/>
        </p:nvSpPr>
        <p:spPr bwMode="auto">
          <a:xfrm>
            <a:off x="6776549" y="3147083"/>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66" name="Oval 105"/>
          <p:cNvSpPr>
            <a:spLocks noChangeArrowheads="1"/>
          </p:cNvSpPr>
          <p:nvPr/>
        </p:nvSpPr>
        <p:spPr bwMode="auto">
          <a:xfrm>
            <a:off x="9704910" y="3425628"/>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67" name="Oval 105"/>
          <p:cNvSpPr>
            <a:spLocks noChangeArrowheads="1"/>
          </p:cNvSpPr>
          <p:nvPr/>
        </p:nvSpPr>
        <p:spPr bwMode="auto">
          <a:xfrm>
            <a:off x="9909927" y="3437062"/>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168" name="Oval 105"/>
          <p:cNvSpPr>
            <a:spLocks noChangeArrowheads="1"/>
          </p:cNvSpPr>
          <p:nvPr/>
        </p:nvSpPr>
        <p:spPr bwMode="auto">
          <a:xfrm>
            <a:off x="9503762" y="3417053"/>
            <a:ext cx="153763" cy="113622"/>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ja-JP" altLang="en-US" dirty="0">
              <a:cs typeface="Arial" charset="0"/>
            </a:endParaRPr>
          </a:p>
        </p:txBody>
      </p:sp>
      <p:sp>
        <p:nvSpPr>
          <p:cNvPr id="71" name="Rectangle 72"/>
          <p:cNvSpPr>
            <a:spLocks noChangeArrowheads="1"/>
          </p:cNvSpPr>
          <p:nvPr/>
        </p:nvSpPr>
        <p:spPr bwMode="auto">
          <a:xfrm>
            <a:off x="5330859" y="2725260"/>
            <a:ext cx="124751" cy="92184"/>
          </a:xfrm>
          <a:prstGeom prst="rect">
            <a:avLst/>
          </a:prstGeom>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ja-JP" altLang="en-US">
              <a:cs typeface="Arial" charset="0"/>
            </a:endParaRPr>
          </a:p>
        </p:txBody>
      </p:sp>
      <p:sp>
        <p:nvSpPr>
          <p:cNvPr id="72" name="Rectangle 73"/>
          <p:cNvSpPr>
            <a:spLocks noChangeArrowheads="1"/>
          </p:cNvSpPr>
          <p:nvPr/>
        </p:nvSpPr>
        <p:spPr bwMode="auto">
          <a:xfrm>
            <a:off x="5963317" y="2858176"/>
            <a:ext cx="124751" cy="92184"/>
          </a:xfrm>
          <a:prstGeom prst="rect">
            <a:avLst/>
          </a:prstGeom>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ja-JP" altLang="en-US">
              <a:cs typeface="Arial" charset="0"/>
            </a:endParaRPr>
          </a:p>
        </p:txBody>
      </p:sp>
      <p:sp>
        <p:nvSpPr>
          <p:cNvPr id="81" name="Rectangle 70"/>
          <p:cNvSpPr>
            <a:spLocks noChangeArrowheads="1"/>
          </p:cNvSpPr>
          <p:nvPr/>
        </p:nvSpPr>
        <p:spPr bwMode="auto">
          <a:xfrm>
            <a:off x="4271928" y="2723115"/>
            <a:ext cx="124751" cy="92184"/>
          </a:xfrm>
          <a:prstGeom prst="rect">
            <a:avLst/>
          </a:prstGeom>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ja-JP" altLang="en-US">
              <a:cs typeface="Arial" charset="0"/>
            </a:endParaRPr>
          </a:p>
        </p:txBody>
      </p:sp>
      <p:sp>
        <p:nvSpPr>
          <p:cNvPr id="84" name="Rectangle 71"/>
          <p:cNvSpPr>
            <a:spLocks noChangeArrowheads="1"/>
          </p:cNvSpPr>
          <p:nvPr/>
        </p:nvSpPr>
        <p:spPr bwMode="auto">
          <a:xfrm>
            <a:off x="4701303" y="2729547"/>
            <a:ext cx="124751" cy="92184"/>
          </a:xfrm>
          <a:prstGeom prst="rect">
            <a:avLst/>
          </a:prstGeom>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ja-JP" altLang="en-US">
              <a:cs typeface="Arial" charset="0"/>
            </a:endParaRPr>
          </a:p>
        </p:txBody>
      </p:sp>
      <p:sp>
        <p:nvSpPr>
          <p:cNvPr id="69" name="Rectangle 67"/>
          <p:cNvSpPr>
            <a:spLocks noChangeArrowheads="1"/>
          </p:cNvSpPr>
          <p:nvPr/>
        </p:nvSpPr>
        <p:spPr bwMode="auto">
          <a:xfrm>
            <a:off x="2998310" y="1031645"/>
            <a:ext cx="124751" cy="92184"/>
          </a:xfrm>
          <a:prstGeom prst="rect">
            <a:avLst/>
          </a:prstGeom>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ja-JP" altLang="en-US">
              <a:solidFill>
                <a:schemeClr val="tx1">
                  <a:lumMod val="75000"/>
                  <a:lumOff val="25000"/>
                </a:schemeClr>
              </a:solidFill>
              <a:cs typeface="Arial" charset="0"/>
            </a:endParaRPr>
          </a:p>
        </p:txBody>
      </p:sp>
    </p:spTree>
    <p:extLst>
      <p:ext uri="{BB962C8B-B14F-4D97-AF65-F5344CB8AC3E}">
        <p14:creationId xmlns:p14="http://schemas.microsoft.com/office/powerpoint/2010/main" val="42521461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電圧が下がらないとどうなるのか</a:t>
            </a:r>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1850338" y="1088975"/>
                <a:ext cx="8820098" cy="5219751"/>
              </a:xfrm>
            </p:spPr>
            <p:txBody>
              <a:bodyPr/>
              <a:lstStyle/>
              <a:p>
                <a14:m>
                  <m:oMath xmlns:m="http://schemas.openxmlformats.org/officeDocument/2006/math">
                    <m:r>
                      <a:rPr lang="en-US" altLang="ja-JP" i="1" dirty="0">
                        <a:latin typeface="Cambria Math" panose="02040503050406030204" pitchFamily="18" charset="0"/>
                      </a:rPr>
                      <m:t>1/</m:t>
                    </m:r>
                    <m:r>
                      <a:rPr lang="en-US" altLang="ja-JP" i="1" dirty="0">
                        <a:latin typeface="Cambria Math" panose="02040503050406030204" pitchFamily="18" charset="0"/>
                      </a:rPr>
                      <m:t>𝐾</m:t>
                    </m:r>
                  </m:oMath>
                </a14:m>
                <a:r>
                  <a:rPr lang="ja-JP" altLang="en-US" dirty="0"/>
                  <a:t> 倍にスケーリングした場合</a:t>
                </a:r>
                <a:endParaRPr lang="en-US" altLang="ja-JP" dirty="0"/>
              </a:p>
              <a:p>
                <a:pPr lvl="1"/>
                <a:r>
                  <a:rPr lang="ja-JP" altLang="en-US" dirty="0"/>
                  <a:t>回路面積</a:t>
                </a:r>
                <a:r>
                  <a:rPr lang="en-US" altLang="ja-JP" dirty="0"/>
                  <a:t>:		</a:t>
                </a:r>
                <a14:m>
                  <m:oMath xmlns:m="http://schemas.openxmlformats.org/officeDocument/2006/math">
                    <m:r>
                      <a:rPr lang="en-US" altLang="ja-JP" i="1" dirty="0">
                        <a:latin typeface="Cambria Math" panose="02040503050406030204" pitchFamily="18" charset="0"/>
                      </a:rPr>
                      <m:t>1/</m:t>
                    </m:r>
                    <m:sSup>
                      <m:sSupPr>
                        <m:ctrlPr>
                          <a:rPr lang="en-US" altLang="ja-JP" i="1" dirty="0">
                            <a:latin typeface="Cambria Math" panose="02040503050406030204" pitchFamily="18" charset="0"/>
                          </a:rPr>
                        </m:ctrlPr>
                      </m:sSupPr>
                      <m:e>
                        <m:r>
                          <a:rPr lang="en-US" altLang="ja-JP" i="1" dirty="0">
                            <a:latin typeface="Cambria Math" panose="02040503050406030204" pitchFamily="18" charset="0"/>
                          </a:rPr>
                          <m:t>𝐾</m:t>
                        </m:r>
                      </m:e>
                      <m:sup>
                        <m:r>
                          <a:rPr lang="en-US" altLang="ja-JP" i="1" dirty="0">
                            <a:latin typeface="Cambria Math" panose="02040503050406030204" pitchFamily="18" charset="0"/>
                          </a:rPr>
                          <m:t>2</m:t>
                        </m:r>
                      </m:sup>
                    </m:sSup>
                  </m:oMath>
                </a14:m>
                <a:r>
                  <a:rPr lang="ja-JP" altLang="en-US" dirty="0"/>
                  <a:t>→  </a:t>
                </a:r>
                <a14:m>
                  <m:oMath xmlns:m="http://schemas.openxmlformats.org/officeDocument/2006/math">
                    <m:r>
                      <a:rPr lang="en-US" altLang="ja-JP" i="1" dirty="0">
                        <a:latin typeface="Cambria Math" panose="02040503050406030204" pitchFamily="18" charset="0"/>
                      </a:rPr>
                      <m:t>1/</m:t>
                    </m:r>
                    <m:sSup>
                      <m:sSupPr>
                        <m:ctrlPr>
                          <a:rPr lang="en-US" altLang="ja-JP" i="1" dirty="0">
                            <a:latin typeface="Cambria Math" panose="02040503050406030204" pitchFamily="18" charset="0"/>
                          </a:rPr>
                        </m:ctrlPr>
                      </m:sSupPr>
                      <m:e>
                        <m:r>
                          <a:rPr lang="en-US" altLang="ja-JP" i="1" dirty="0">
                            <a:latin typeface="Cambria Math" panose="02040503050406030204" pitchFamily="18" charset="0"/>
                          </a:rPr>
                          <m:t>𝐾</m:t>
                        </m:r>
                      </m:e>
                      <m:sup>
                        <m:r>
                          <a:rPr lang="en-US" altLang="ja-JP" i="1" dirty="0">
                            <a:latin typeface="Cambria Math" panose="02040503050406030204" pitchFamily="18" charset="0"/>
                          </a:rPr>
                          <m:t>2</m:t>
                        </m:r>
                      </m:sup>
                    </m:sSup>
                  </m:oMath>
                </a14:m>
                <a:endParaRPr lang="en-US" altLang="ja-JP" dirty="0"/>
              </a:p>
              <a:p>
                <a:r>
                  <a:rPr lang="ja-JP" altLang="en-US" dirty="0"/>
                  <a:t>トランジスタ１個の１回のスイッチにかかるエネルギー</a:t>
                </a:r>
                <a:endParaRPr lang="en-US" altLang="ja-JP" dirty="0"/>
              </a:p>
              <a:p>
                <a:pPr lvl="1"/>
                <a:r>
                  <a:rPr lang="en-US" altLang="ja-JP" dirty="0"/>
                  <a:t>C: </a:t>
                </a:r>
                <a:r>
                  <a:rPr lang="ja-JP" altLang="en-US" dirty="0"/>
                  <a:t>　</a:t>
                </a:r>
                <a:r>
                  <a:rPr lang="en-US" altLang="ja-JP" dirty="0"/>
                  <a:t>		</a:t>
                </a:r>
                <a14:m>
                  <m:oMath xmlns:m="http://schemas.openxmlformats.org/officeDocument/2006/math">
                    <m:r>
                      <a:rPr lang="en-US" altLang="ja-JP" i="1" dirty="0">
                        <a:latin typeface="Cambria Math" panose="02040503050406030204" pitchFamily="18" charset="0"/>
                      </a:rPr>
                      <m:t>1/</m:t>
                    </m:r>
                    <m:r>
                      <a:rPr lang="en-US" altLang="ja-JP" i="1" dirty="0">
                        <a:latin typeface="Cambria Math" panose="02040503050406030204" pitchFamily="18" charset="0"/>
                      </a:rPr>
                      <m:t>𝐾</m:t>
                    </m:r>
                  </m:oMath>
                </a14:m>
                <a:r>
                  <a:rPr lang="en-US" altLang="ja-JP" dirty="0"/>
                  <a:t>      </a:t>
                </a:r>
                <a:r>
                  <a:rPr lang="ja-JP" altLang="en-US" dirty="0"/>
                  <a:t>→  </a:t>
                </a:r>
                <a14:m>
                  <m:oMath xmlns:m="http://schemas.openxmlformats.org/officeDocument/2006/math">
                    <m:r>
                      <a:rPr lang="en-US" altLang="ja-JP" i="1" dirty="0">
                        <a:latin typeface="Cambria Math" panose="02040503050406030204" pitchFamily="18" charset="0"/>
                      </a:rPr>
                      <m:t>1/</m:t>
                    </m:r>
                    <m:r>
                      <a:rPr lang="en-US" altLang="ja-JP" i="1" dirty="0">
                        <a:latin typeface="Cambria Math" panose="02040503050406030204" pitchFamily="18" charset="0"/>
                      </a:rPr>
                      <m:t>𝐾</m:t>
                    </m:r>
                  </m:oMath>
                </a14:m>
                <a:endParaRPr lang="en-US" altLang="ja-JP" dirty="0"/>
              </a:p>
              <a:p>
                <a:pPr lvl="1"/>
                <a:r>
                  <a:rPr lang="en-US" altLang="ja-JP" dirty="0"/>
                  <a:t>V: </a:t>
                </a:r>
                <a:r>
                  <a:rPr lang="ja-JP" altLang="en-US" dirty="0"/>
                  <a:t>　</a:t>
                </a:r>
                <a:r>
                  <a:rPr lang="en-US" altLang="ja-JP" dirty="0"/>
                  <a:t>		</a:t>
                </a:r>
                <a14:m>
                  <m:oMath xmlns:m="http://schemas.openxmlformats.org/officeDocument/2006/math">
                    <m:r>
                      <a:rPr lang="en-US" altLang="ja-JP" i="1" dirty="0">
                        <a:latin typeface="Cambria Math" panose="02040503050406030204" pitchFamily="18" charset="0"/>
                      </a:rPr>
                      <m:t>1/</m:t>
                    </m:r>
                    <m:r>
                      <a:rPr lang="en-US" altLang="ja-JP" i="1" dirty="0">
                        <a:latin typeface="Cambria Math" panose="02040503050406030204" pitchFamily="18" charset="0"/>
                      </a:rPr>
                      <m:t>𝐾</m:t>
                    </m:r>
                  </m:oMath>
                </a14:m>
                <a:r>
                  <a:rPr lang="en-US" altLang="ja-JP" dirty="0">
                    <a:solidFill>
                      <a:schemeClr val="accent5"/>
                    </a:solidFill>
                  </a:rPr>
                  <a:t>      </a:t>
                </a:r>
                <a:r>
                  <a:rPr lang="ja-JP" altLang="en-US" dirty="0"/>
                  <a:t>→</a:t>
                </a:r>
                <a:r>
                  <a:rPr lang="ja-JP" altLang="en-US" dirty="0">
                    <a:solidFill>
                      <a:schemeClr val="accent5"/>
                    </a:solidFill>
                  </a:rPr>
                  <a:t>  </a:t>
                </a:r>
                <a:r>
                  <a:rPr lang="en-US" altLang="ja-JP" dirty="0">
                    <a:solidFill>
                      <a:schemeClr val="accent5"/>
                    </a:solidFill>
                  </a:rPr>
                  <a:t>1</a:t>
                </a:r>
              </a:p>
              <a:p>
                <a:pPr lvl="1"/>
                <a:r>
                  <a:rPr lang="ja-JP" altLang="en-US" dirty="0"/>
                  <a:t>エネルギー：</a:t>
                </a:r>
                <a:r>
                  <a:rPr lang="en-US" altLang="ja-JP" dirty="0">
                    <a:solidFill>
                      <a:schemeClr val="accent5"/>
                    </a:solidFill>
                  </a:rPr>
                  <a:t>	</a:t>
                </a:r>
                <a14:m>
                  <m:oMath xmlns:m="http://schemas.openxmlformats.org/officeDocument/2006/math">
                    <m:r>
                      <a:rPr lang="en-US" altLang="ja-JP" i="1" dirty="0">
                        <a:latin typeface="Cambria Math" panose="02040503050406030204" pitchFamily="18" charset="0"/>
                      </a:rPr>
                      <m:t>1/</m:t>
                    </m:r>
                    <m:sSup>
                      <m:sSupPr>
                        <m:ctrlPr>
                          <a:rPr lang="en-US" altLang="ja-JP" i="1" dirty="0">
                            <a:latin typeface="Cambria Math" panose="02040503050406030204" pitchFamily="18" charset="0"/>
                          </a:rPr>
                        </m:ctrlPr>
                      </m:sSupPr>
                      <m:e>
                        <m:r>
                          <a:rPr lang="en-US" altLang="ja-JP" i="1" dirty="0">
                            <a:latin typeface="Cambria Math" panose="02040503050406030204" pitchFamily="18" charset="0"/>
                          </a:rPr>
                          <m:t>𝐾</m:t>
                        </m:r>
                      </m:e>
                      <m:sup>
                        <m:r>
                          <a:rPr lang="en-US" altLang="ja-JP" i="1" dirty="0">
                            <a:latin typeface="Cambria Math" panose="02040503050406030204" pitchFamily="18" charset="0"/>
                          </a:rPr>
                          <m:t>3</m:t>
                        </m:r>
                      </m:sup>
                    </m:sSup>
                  </m:oMath>
                </a14:m>
                <a:r>
                  <a:rPr lang="en-US" altLang="ja-JP" dirty="0"/>
                  <a:t>    </a:t>
                </a:r>
                <a:r>
                  <a:rPr lang="ja-JP" altLang="en-US" dirty="0"/>
                  <a:t>→  </a:t>
                </a:r>
                <a:r>
                  <a:rPr lang="en-US" altLang="ja-JP" dirty="0">
                    <a:solidFill>
                      <a:schemeClr val="accent5"/>
                    </a:solidFill>
                  </a:rPr>
                  <a:t>1/K  </a:t>
                </a:r>
                <a:r>
                  <a:rPr lang="ja-JP" altLang="en-US" dirty="0"/>
                  <a:t>（</a:t>
                </a:r>
                <a14:m>
                  <m:oMath xmlns:m="http://schemas.openxmlformats.org/officeDocument/2006/math">
                    <m:r>
                      <a:rPr lang="en-US" altLang="ja-JP" i="1" dirty="0">
                        <a:latin typeface="Cambria Math" panose="02040503050406030204" pitchFamily="18" charset="0"/>
                      </a:rPr>
                      <m:t>𝐸</m:t>
                    </m:r>
                    <m:r>
                      <a:rPr lang="en-US" altLang="ja-JP" i="1" dirty="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i="1" dirty="0">
                            <a:latin typeface="Cambria Math" panose="02040503050406030204" pitchFamily="18" charset="0"/>
                          </a:rPr>
                          <m:t>2</m:t>
                        </m:r>
                      </m:den>
                    </m:f>
                    <m:r>
                      <a:rPr lang="en-US" altLang="ja-JP" i="1" dirty="0">
                        <a:latin typeface="Cambria Math" panose="02040503050406030204" pitchFamily="18" charset="0"/>
                      </a:rPr>
                      <m:t>𝐶</m:t>
                    </m:r>
                    <m:sSup>
                      <m:sSupPr>
                        <m:ctrlPr>
                          <a:rPr lang="en-US" altLang="ja-JP" i="1" dirty="0">
                            <a:latin typeface="Cambria Math" panose="02040503050406030204" pitchFamily="18" charset="0"/>
                          </a:rPr>
                        </m:ctrlPr>
                      </m:sSupPr>
                      <m:e>
                        <m:r>
                          <a:rPr lang="en-US" altLang="ja-JP" i="1" dirty="0">
                            <a:latin typeface="Cambria Math" panose="02040503050406030204" pitchFamily="18" charset="0"/>
                          </a:rPr>
                          <m:t>𝑉</m:t>
                        </m:r>
                      </m:e>
                      <m:sup>
                        <m:r>
                          <a:rPr lang="en-US" altLang="ja-JP" i="1" dirty="0">
                            <a:latin typeface="Cambria Math" panose="02040503050406030204" pitchFamily="18" charset="0"/>
                          </a:rPr>
                          <m:t>2</m:t>
                        </m:r>
                      </m:sup>
                    </m:sSup>
                  </m:oMath>
                </a14:m>
                <a:r>
                  <a:rPr lang="ja-JP" altLang="en-US" dirty="0"/>
                  <a:t>より）</a:t>
                </a:r>
                <a:endParaRPr lang="en-US" altLang="ja-JP" dirty="0"/>
              </a:p>
              <a:p>
                <a:pPr marL="360000" lvl="1">
                  <a:spcBef>
                    <a:spcPts val="2400"/>
                  </a:spcBef>
                  <a:spcAft>
                    <a:spcPts val="600"/>
                  </a:spcAft>
                  <a:buClr>
                    <a:schemeClr val="accent5"/>
                  </a:buClr>
                  <a:buSzTx/>
                  <a:buFont typeface="Wingdings" panose="05000000000000000000" pitchFamily="2" charset="2"/>
                  <a:buChar char="n"/>
                </a:pPr>
                <a:r>
                  <a:rPr lang="ja-JP" altLang="en-US" dirty="0"/>
                  <a:t>トランジスタ１個の単位時間あたりのエネルギー</a:t>
                </a:r>
                <a:endParaRPr lang="en-US" altLang="ja-JP" dirty="0"/>
              </a:p>
              <a:p>
                <a:pPr lvl="1"/>
                <a:r>
                  <a:rPr lang="ja-JP" altLang="en-US" dirty="0"/>
                  <a:t>スイッチ１回：　　</a:t>
                </a:r>
                <a:r>
                  <a:rPr lang="en-US" altLang="ja-JP" dirty="0"/>
                  <a:t>	</a:t>
                </a:r>
                <a14:m>
                  <m:oMath xmlns:m="http://schemas.openxmlformats.org/officeDocument/2006/math">
                    <m:r>
                      <a:rPr lang="en-US" altLang="ja-JP" i="1" dirty="0">
                        <a:latin typeface="Cambria Math" panose="02040503050406030204" pitchFamily="18" charset="0"/>
                      </a:rPr>
                      <m:t>1/</m:t>
                    </m:r>
                    <m:sSup>
                      <m:sSupPr>
                        <m:ctrlPr>
                          <a:rPr lang="en-US" altLang="ja-JP" i="1" dirty="0">
                            <a:latin typeface="Cambria Math" panose="02040503050406030204" pitchFamily="18" charset="0"/>
                          </a:rPr>
                        </m:ctrlPr>
                      </m:sSupPr>
                      <m:e>
                        <m:r>
                          <a:rPr lang="en-US" altLang="ja-JP" i="1" dirty="0">
                            <a:latin typeface="Cambria Math" panose="02040503050406030204" pitchFamily="18" charset="0"/>
                          </a:rPr>
                          <m:t>𝐾</m:t>
                        </m:r>
                      </m:e>
                      <m:sup>
                        <m:r>
                          <a:rPr lang="en-US" altLang="ja-JP" i="1" dirty="0">
                            <a:latin typeface="Cambria Math" panose="02040503050406030204" pitchFamily="18" charset="0"/>
                          </a:rPr>
                          <m:t>3</m:t>
                        </m:r>
                      </m:sup>
                    </m:sSup>
                  </m:oMath>
                </a14:m>
                <a:r>
                  <a:rPr lang="en-US" altLang="ja-JP" dirty="0"/>
                  <a:t>   </a:t>
                </a:r>
                <a:r>
                  <a:rPr lang="ja-JP" altLang="en-US" dirty="0"/>
                  <a:t>→  </a:t>
                </a:r>
                <a14:m>
                  <m:oMath xmlns:m="http://schemas.openxmlformats.org/officeDocument/2006/math">
                    <m:r>
                      <a:rPr lang="en-US" altLang="ja-JP" i="1" dirty="0">
                        <a:solidFill>
                          <a:schemeClr val="accent5"/>
                        </a:solidFill>
                        <a:latin typeface="Cambria Math" panose="02040503050406030204" pitchFamily="18" charset="0"/>
                      </a:rPr>
                      <m:t>1/</m:t>
                    </m:r>
                    <m:r>
                      <a:rPr lang="en-US" altLang="ja-JP" i="1" dirty="0">
                        <a:solidFill>
                          <a:schemeClr val="accent5"/>
                        </a:solidFill>
                        <a:latin typeface="Cambria Math" panose="02040503050406030204" pitchFamily="18" charset="0"/>
                      </a:rPr>
                      <m:t>𝐾</m:t>
                    </m:r>
                  </m:oMath>
                </a14:m>
                <a:endParaRPr lang="en-US" altLang="ja-JP" dirty="0">
                  <a:solidFill>
                    <a:schemeClr val="accent5"/>
                  </a:solidFill>
                </a:endParaRPr>
              </a:p>
              <a:p>
                <a:pPr lvl="1"/>
                <a:r>
                  <a:rPr lang="ja-JP" altLang="en-US" dirty="0"/>
                  <a:t>周波数（動作回数）：　</a:t>
                </a:r>
                <a:r>
                  <a:rPr lang="en-US" altLang="ja-JP" dirty="0"/>
                  <a:t>	</a:t>
                </a:r>
                <a14:m>
                  <m:oMath xmlns:m="http://schemas.openxmlformats.org/officeDocument/2006/math">
                    <m:r>
                      <a:rPr lang="en-US" altLang="ja-JP" i="1" dirty="0">
                        <a:latin typeface="Cambria Math" panose="02040503050406030204" pitchFamily="18" charset="0"/>
                      </a:rPr>
                      <m:t>𝐾</m:t>
                    </m:r>
                  </m:oMath>
                </a14:m>
                <a:r>
                  <a:rPr lang="en-US" altLang="ja-JP" dirty="0"/>
                  <a:t>         </a:t>
                </a:r>
                <a:r>
                  <a:rPr lang="ja-JP" altLang="en-US" dirty="0"/>
                  <a:t>→  </a:t>
                </a:r>
                <a14:m>
                  <m:oMath xmlns:m="http://schemas.openxmlformats.org/officeDocument/2006/math">
                    <m:r>
                      <a:rPr lang="en-US" altLang="ja-JP" i="1" dirty="0">
                        <a:latin typeface="Cambria Math" panose="02040503050406030204" pitchFamily="18" charset="0"/>
                      </a:rPr>
                      <m:t>𝐾</m:t>
                    </m:r>
                  </m:oMath>
                </a14:m>
                <a:endParaRPr lang="en-US" altLang="ja-JP" dirty="0"/>
              </a:p>
              <a:p>
                <a:pPr lvl="1"/>
                <a:r>
                  <a:rPr lang="ja-JP" altLang="en-US" dirty="0"/>
                  <a:t>エネルギー：</a:t>
                </a:r>
                <a:r>
                  <a:rPr lang="en-US" altLang="ja-JP" dirty="0">
                    <a:solidFill>
                      <a:schemeClr val="accent5"/>
                    </a:solidFill>
                  </a:rPr>
                  <a:t>		</a:t>
                </a:r>
                <a14:m>
                  <m:oMath xmlns:m="http://schemas.openxmlformats.org/officeDocument/2006/math">
                    <m:r>
                      <a:rPr lang="en-US" altLang="ja-JP" i="1" dirty="0">
                        <a:latin typeface="Cambria Math" panose="02040503050406030204" pitchFamily="18" charset="0"/>
                      </a:rPr>
                      <m:t>1/</m:t>
                    </m:r>
                    <m:sSup>
                      <m:sSupPr>
                        <m:ctrlPr>
                          <a:rPr lang="en-US" altLang="ja-JP" i="1" dirty="0">
                            <a:latin typeface="Cambria Math" panose="02040503050406030204" pitchFamily="18" charset="0"/>
                          </a:rPr>
                        </m:ctrlPr>
                      </m:sSupPr>
                      <m:e>
                        <m:r>
                          <a:rPr lang="en-US" altLang="ja-JP" i="1" dirty="0">
                            <a:latin typeface="Cambria Math" panose="02040503050406030204" pitchFamily="18" charset="0"/>
                          </a:rPr>
                          <m:t>𝐾</m:t>
                        </m:r>
                      </m:e>
                      <m:sup>
                        <m:r>
                          <a:rPr lang="en-US" altLang="ja-JP" i="1" dirty="0">
                            <a:latin typeface="Cambria Math" panose="02040503050406030204" pitchFamily="18" charset="0"/>
                          </a:rPr>
                          <m:t>2</m:t>
                        </m:r>
                      </m:sup>
                    </m:sSup>
                  </m:oMath>
                </a14:m>
                <a:r>
                  <a:rPr lang="en-US" altLang="ja-JP" dirty="0">
                    <a:solidFill>
                      <a:schemeClr val="accent5"/>
                    </a:solidFill>
                  </a:rPr>
                  <a:t>   </a:t>
                </a:r>
                <a:r>
                  <a:rPr lang="ja-JP" altLang="en-US" dirty="0"/>
                  <a:t>→ </a:t>
                </a:r>
                <a:r>
                  <a:rPr lang="en-US" altLang="ja-JP" dirty="0">
                    <a:solidFill>
                      <a:schemeClr val="accent5"/>
                    </a:solidFill>
                  </a:rPr>
                  <a:t>1</a:t>
                </a:r>
              </a:p>
              <a:p>
                <a:r>
                  <a:rPr lang="ja-JP" altLang="en-US" dirty="0">
                    <a:solidFill>
                      <a:schemeClr val="accent5"/>
                    </a:solidFill>
                  </a:rPr>
                  <a:t>トランジスタは小さくなったのに，エネルギーが減ってない！</a:t>
                </a:r>
                <a:endParaRPr lang="en-US" altLang="ja-JP" dirty="0">
                  <a:solidFill>
                    <a:schemeClr val="accent5"/>
                  </a:solidFill>
                </a:endParaRPr>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1850338" y="1088975"/>
                <a:ext cx="8820098" cy="5219751"/>
              </a:xfrm>
              <a:blipFill>
                <a:blip r:embed="rId3"/>
                <a:stretch>
                  <a:fillRect l="-622" t="-3855" b="-572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7126019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行き着く先：</a:t>
            </a:r>
            <a:r>
              <a:rPr kumimoji="1" lang="ja-JP" altLang="en-US" dirty="0"/>
              <a:t>ダークシリコン</a:t>
            </a:r>
            <a:br>
              <a:rPr kumimoji="1" lang="en-US" altLang="ja-JP" dirty="0"/>
            </a:br>
            <a:r>
              <a:rPr lang="en-US" altLang="ja-JP" sz="1800" dirty="0"/>
              <a:t>[Goulding10, </a:t>
            </a:r>
            <a:r>
              <a:rPr kumimoji="0" lang="en-US" altLang="ja-JP" sz="1800" dirty="0"/>
              <a:t>Esmaeilzadeh12]</a:t>
            </a:r>
            <a:endParaRPr lang="ja-JP" altLang="en-US" sz="3200" dirty="0"/>
          </a:p>
        </p:txBody>
      </p:sp>
      <p:sp>
        <p:nvSpPr>
          <p:cNvPr id="10" name="テキスト プレースホルダー 9"/>
          <p:cNvSpPr>
            <a:spLocks noGrp="1"/>
          </p:cNvSpPr>
          <p:nvPr>
            <p:ph type="body" sz="quarter" idx="10"/>
          </p:nvPr>
        </p:nvSpPr>
        <p:spPr>
          <a:xfrm>
            <a:off x="2135957" y="1179283"/>
            <a:ext cx="8010089" cy="5219751"/>
          </a:xfrm>
        </p:spPr>
        <p:txBody>
          <a:bodyPr/>
          <a:lstStyle/>
          <a:p>
            <a:r>
              <a:rPr lang="ja-JP" altLang="en-US" dirty="0"/>
              <a:t>トランジスタは小さくなったのに，エネルギーが減らない！</a:t>
            </a:r>
            <a:endParaRPr lang="en-US" altLang="ja-JP" dirty="0"/>
          </a:p>
          <a:p>
            <a:pPr lvl="1"/>
            <a:r>
              <a:rPr lang="ja-JP" altLang="en-US" dirty="0"/>
              <a:t>サイズだけ小さくして，電圧を下げていないから</a:t>
            </a:r>
            <a:endParaRPr lang="en-US" altLang="ja-JP" dirty="0"/>
          </a:p>
          <a:p>
            <a:r>
              <a:rPr lang="ja-JP" altLang="en-US" dirty="0"/>
              <a:t>電力密度があがってしまう</a:t>
            </a:r>
            <a:endParaRPr lang="en-US" altLang="ja-JP" dirty="0"/>
          </a:p>
          <a:p>
            <a:pPr lvl="1"/>
            <a:r>
              <a:rPr lang="ja-JP" altLang="en-US" dirty="0"/>
              <a:t>スケール前のチップ全体と，スケール後の赤い部分は</a:t>
            </a:r>
            <a:br>
              <a:rPr lang="en-US" altLang="ja-JP" dirty="0"/>
            </a:br>
            <a:r>
              <a:rPr lang="ja-JP" altLang="en-US" dirty="0"/>
              <a:t>同じエネルギーを消費</a:t>
            </a:r>
            <a:endParaRPr lang="en-US" altLang="ja-JP" dirty="0"/>
          </a:p>
          <a:p>
            <a:endParaRPr lang="en-US" altLang="ja-JP" dirty="0"/>
          </a:p>
          <a:p>
            <a:endParaRPr lang="en-US" altLang="ja-JP" dirty="0"/>
          </a:p>
          <a:p>
            <a:r>
              <a:rPr lang="ja-JP" altLang="en-US" dirty="0"/>
              <a:t>チップへの電力供給はもう限界で，これ以上増やせない</a:t>
            </a:r>
            <a:endParaRPr lang="en-US" altLang="ja-JP" dirty="0"/>
          </a:p>
          <a:p>
            <a:pPr lvl="1"/>
            <a:r>
              <a:rPr lang="ja-JP" altLang="en-US" dirty="0"/>
              <a:t>電源ピンに流せる電流量や冷却能力の限界</a:t>
            </a:r>
            <a:endParaRPr lang="en-US" altLang="ja-JP" dirty="0"/>
          </a:p>
          <a:p>
            <a:pPr lvl="1"/>
            <a:r>
              <a:rPr lang="ja-JP" altLang="en-US" dirty="0"/>
              <a:t>使えない（</a:t>
            </a:r>
            <a:r>
              <a:rPr lang="ja-JP" altLang="en-US" dirty="0">
                <a:solidFill>
                  <a:schemeClr val="accent5"/>
                </a:solidFill>
              </a:rPr>
              <a:t>ダーク</a:t>
            </a:r>
            <a:r>
              <a:rPr lang="ja-JP" altLang="en-US" dirty="0"/>
              <a:t>）シリコンが</a:t>
            </a:r>
            <a:r>
              <a:rPr lang="en-US" altLang="ja-JP" dirty="0"/>
              <a:t>…</a:t>
            </a:r>
          </a:p>
        </p:txBody>
      </p:sp>
      <p:sp>
        <p:nvSpPr>
          <p:cNvPr id="4" name="正方形/長方形 3"/>
          <p:cNvSpPr/>
          <p:nvPr/>
        </p:nvSpPr>
        <p:spPr bwMode="auto">
          <a:xfrm>
            <a:off x="3125967" y="3429001"/>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solidFill>
                <a:schemeClr val="tx1">
                  <a:lumMod val="65000"/>
                  <a:lumOff val="35000"/>
                </a:schemeClr>
              </a:solidFill>
            </a:endParaRPr>
          </a:p>
        </p:txBody>
      </p:sp>
      <p:sp>
        <p:nvSpPr>
          <p:cNvPr id="5" name="正方形/長方形 4"/>
          <p:cNvSpPr/>
          <p:nvPr/>
        </p:nvSpPr>
        <p:spPr bwMode="auto">
          <a:xfrm>
            <a:off x="7446015" y="3429001"/>
            <a:ext cx="1440016" cy="1440016"/>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a:solidFill>
                <a:schemeClr val="tx1">
                  <a:lumMod val="65000"/>
                  <a:lumOff val="35000"/>
                </a:schemeClr>
              </a:solidFill>
            </a:endParaRPr>
          </a:p>
        </p:txBody>
      </p:sp>
      <p:sp>
        <p:nvSpPr>
          <p:cNvPr id="6" name="正方形/長方形 5"/>
          <p:cNvSpPr/>
          <p:nvPr/>
        </p:nvSpPr>
        <p:spPr bwMode="auto">
          <a:xfrm>
            <a:off x="3125967" y="3429002"/>
            <a:ext cx="720008" cy="720007"/>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2400" dirty="0">
              <a:solidFill>
                <a:schemeClr val="tx1">
                  <a:lumMod val="65000"/>
                  <a:lumOff val="35000"/>
                </a:schemeClr>
              </a:solidFill>
            </a:endParaRPr>
          </a:p>
        </p:txBody>
      </p:sp>
      <p:sp>
        <p:nvSpPr>
          <p:cNvPr id="7" name="正方形/長方形 6"/>
          <p:cNvSpPr/>
          <p:nvPr/>
        </p:nvSpPr>
        <p:spPr bwMode="auto">
          <a:xfrm>
            <a:off x="3845975" y="3429000"/>
            <a:ext cx="720008" cy="720008"/>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2400" dirty="0">
              <a:solidFill>
                <a:schemeClr val="tx1">
                  <a:lumMod val="65000"/>
                  <a:lumOff val="35000"/>
                </a:schemeClr>
              </a:solidFill>
            </a:endParaRPr>
          </a:p>
        </p:txBody>
      </p:sp>
      <p:sp>
        <p:nvSpPr>
          <p:cNvPr id="8" name="正方形/長方形 7"/>
          <p:cNvSpPr/>
          <p:nvPr/>
        </p:nvSpPr>
        <p:spPr bwMode="auto">
          <a:xfrm>
            <a:off x="3125967" y="4149010"/>
            <a:ext cx="720008" cy="720007"/>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2400" dirty="0">
              <a:solidFill>
                <a:schemeClr val="tx1">
                  <a:lumMod val="65000"/>
                  <a:lumOff val="35000"/>
                </a:schemeClr>
              </a:solidFill>
            </a:endParaRPr>
          </a:p>
        </p:txBody>
      </p:sp>
      <p:sp>
        <p:nvSpPr>
          <p:cNvPr id="9" name="正方形/長方形 8"/>
          <p:cNvSpPr/>
          <p:nvPr/>
        </p:nvSpPr>
        <p:spPr bwMode="auto">
          <a:xfrm>
            <a:off x="3845975" y="4149009"/>
            <a:ext cx="720008" cy="720007"/>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2400" dirty="0">
              <a:solidFill>
                <a:schemeClr val="tx1">
                  <a:lumMod val="65000"/>
                  <a:lumOff val="35000"/>
                </a:schemeClr>
              </a:solidFill>
            </a:endParaRPr>
          </a:p>
        </p:txBody>
      </p:sp>
      <p:sp>
        <p:nvSpPr>
          <p:cNvPr id="16" name="正方形/長方形 15"/>
          <p:cNvSpPr/>
          <p:nvPr/>
        </p:nvSpPr>
        <p:spPr bwMode="auto">
          <a:xfrm>
            <a:off x="7446014" y="3429001"/>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26" name="右矢印 25"/>
          <p:cNvSpPr/>
          <p:nvPr/>
        </p:nvSpPr>
        <p:spPr bwMode="auto">
          <a:xfrm>
            <a:off x="5465993" y="3879006"/>
            <a:ext cx="1080012"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sp>
        <p:nvSpPr>
          <p:cNvPr id="27" name="正方形/長方形 26"/>
          <p:cNvSpPr/>
          <p:nvPr/>
        </p:nvSpPr>
        <p:spPr bwMode="auto">
          <a:xfrm>
            <a:off x="7806019" y="3429001"/>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28" name="正方形/長方形 27"/>
          <p:cNvSpPr/>
          <p:nvPr/>
        </p:nvSpPr>
        <p:spPr bwMode="auto">
          <a:xfrm>
            <a:off x="7446015" y="3789005"/>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29" name="正方形/長方形 28"/>
          <p:cNvSpPr/>
          <p:nvPr/>
        </p:nvSpPr>
        <p:spPr bwMode="auto">
          <a:xfrm>
            <a:off x="7806019" y="3789005"/>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30" name="正方形/長方形 29"/>
          <p:cNvSpPr/>
          <p:nvPr/>
        </p:nvSpPr>
        <p:spPr bwMode="auto">
          <a:xfrm>
            <a:off x="8166023" y="3429001"/>
            <a:ext cx="360004" cy="360003"/>
          </a:xfrm>
          <a:prstGeom prst="rect">
            <a:avLst/>
          </a:prstGeom>
          <a:solidFill>
            <a:schemeClr val="tx1">
              <a:lumMod val="85000"/>
              <a:lumOff val="15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31" name="正方形/長方形 30"/>
          <p:cNvSpPr/>
          <p:nvPr/>
        </p:nvSpPr>
        <p:spPr bwMode="auto">
          <a:xfrm>
            <a:off x="8526028" y="3429001"/>
            <a:ext cx="360004" cy="360003"/>
          </a:xfrm>
          <a:prstGeom prst="rect">
            <a:avLst/>
          </a:prstGeom>
          <a:solidFill>
            <a:schemeClr val="tx1">
              <a:lumMod val="85000"/>
              <a:lumOff val="15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32" name="正方形/長方形 31"/>
          <p:cNvSpPr/>
          <p:nvPr/>
        </p:nvSpPr>
        <p:spPr bwMode="auto">
          <a:xfrm>
            <a:off x="8166024" y="3789005"/>
            <a:ext cx="360004" cy="360003"/>
          </a:xfrm>
          <a:prstGeom prst="rect">
            <a:avLst/>
          </a:prstGeom>
          <a:solidFill>
            <a:schemeClr val="tx1">
              <a:lumMod val="85000"/>
              <a:lumOff val="15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33" name="正方形/長方形 32"/>
          <p:cNvSpPr/>
          <p:nvPr/>
        </p:nvSpPr>
        <p:spPr bwMode="auto">
          <a:xfrm>
            <a:off x="8526028" y="3789005"/>
            <a:ext cx="360004" cy="360003"/>
          </a:xfrm>
          <a:prstGeom prst="rect">
            <a:avLst/>
          </a:prstGeom>
          <a:solidFill>
            <a:schemeClr val="tx1">
              <a:lumMod val="85000"/>
              <a:lumOff val="15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34" name="正方形/長方形 33"/>
          <p:cNvSpPr/>
          <p:nvPr/>
        </p:nvSpPr>
        <p:spPr bwMode="auto">
          <a:xfrm>
            <a:off x="7446015" y="4149009"/>
            <a:ext cx="360004" cy="360003"/>
          </a:xfrm>
          <a:prstGeom prst="rect">
            <a:avLst/>
          </a:prstGeom>
          <a:solidFill>
            <a:schemeClr val="tx1">
              <a:lumMod val="85000"/>
              <a:lumOff val="15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35" name="正方形/長方形 34"/>
          <p:cNvSpPr/>
          <p:nvPr/>
        </p:nvSpPr>
        <p:spPr bwMode="auto">
          <a:xfrm>
            <a:off x="7806020" y="4149009"/>
            <a:ext cx="360004" cy="360003"/>
          </a:xfrm>
          <a:prstGeom prst="rect">
            <a:avLst/>
          </a:prstGeom>
          <a:solidFill>
            <a:schemeClr val="tx1">
              <a:lumMod val="85000"/>
              <a:lumOff val="15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36" name="正方形/長方形 35"/>
          <p:cNvSpPr/>
          <p:nvPr/>
        </p:nvSpPr>
        <p:spPr bwMode="auto">
          <a:xfrm>
            <a:off x="7446016" y="4509013"/>
            <a:ext cx="360004" cy="360003"/>
          </a:xfrm>
          <a:prstGeom prst="rect">
            <a:avLst/>
          </a:prstGeom>
          <a:solidFill>
            <a:schemeClr val="tx1">
              <a:lumMod val="85000"/>
              <a:lumOff val="15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37" name="正方形/長方形 36"/>
          <p:cNvSpPr/>
          <p:nvPr/>
        </p:nvSpPr>
        <p:spPr bwMode="auto">
          <a:xfrm>
            <a:off x="7806020" y="4509013"/>
            <a:ext cx="360004" cy="360003"/>
          </a:xfrm>
          <a:prstGeom prst="rect">
            <a:avLst/>
          </a:prstGeom>
          <a:solidFill>
            <a:schemeClr val="tx1">
              <a:lumMod val="85000"/>
              <a:lumOff val="15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38" name="正方形/長方形 37"/>
          <p:cNvSpPr/>
          <p:nvPr/>
        </p:nvSpPr>
        <p:spPr bwMode="auto">
          <a:xfrm>
            <a:off x="8166022" y="4149009"/>
            <a:ext cx="360004" cy="360003"/>
          </a:xfrm>
          <a:prstGeom prst="rect">
            <a:avLst/>
          </a:prstGeom>
          <a:solidFill>
            <a:schemeClr val="tx1">
              <a:lumMod val="85000"/>
              <a:lumOff val="15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39" name="正方形/長方形 38"/>
          <p:cNvSpPr/>
          <p:nvPr/>
        </p:nvSpPr>
        <p:spPr bwMode="auto">
          <a:xfrm>
            <a:off x="8526027" y="4149009"/>
            <a:ext cx="360004" cy="360003"/>
          </a:xfrm>
          <a:prstGeom prst="rect">
            <a:avLst/>
          </a:prstGeom>
          <a:solidFill>
            <a:schemeClr val="tx1">
              <a:lumMod val="85000"/>
              <a:lumOff val="15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40" name="正方形/長方形 39"/>
          <p:cNvSpPr/>
          <p:nvPr/>
        </p:nvSpPr>
        <p:spPr bwMode="auto">
          <a:xfrm>
            <a:off x="8166023" y="4509013"/>
            <a:ext cx="360004" cy="360003"/>
          </a:xfrm>
          <a:prstGeom prst="rect">
            <a:avLst/>
          </a:prstGeom>
          <a:solidFill>
            <a:schemeClr val="tx1">
              <a:lumMod val="85000"/>
              <a:lumOff val="15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41" name="正方形/長方形 40"/>
          <p:cNvSpPr/>
          <p:nvPr/>
        </p:nvSpPr>
        <p:spPr bwMode="auto">
          <a:xfrm>
            <a:off x="8526027" y="4509013"/>
            <a:ext cx="360004" cy="360003"/>
          </a:xfrm>
          <a:prstGeom prst="rect">
            <a:avLst/>
          </a:prstGeom>
          <a:solidFill>
            <a:schemeClr val="tx1">
              <a:lumMod val="85000"/>
              <a:lumOff val="15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Tree>
    <p:extLst>
      <p:ext uri="{BB962C8B-B14F-4D97-AF65-F5344CB8AC3E}">
        <p14:creationId xmlns:p14="http://schemas.microsoft.com/office/powerpoint/2010/main" val="13881532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正方形/長方形 41"/>
          <p:cNvSpPr/>
          <p:nvPr/>
        </p:nvSpPr>
        <p:spPr bwMode="auto">
          <a:xfrm>
            <a:off x="7536017"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a:solidFill>
                <a:schemeClr val="tx1">
                  <a:lumMod val="65000"/>
                  <a:lumOff val="35000"/>
                </a:schemeClr>
              </a:solidFill>
            </a:endParaRPr>
          </a:p>
        </p:txBody>
      </p:sp>
      <p:sp>
        <p:nvSpPr>
          <p:cNvPr id="2" name="タイトル 1"/>
          <p:cNvSpPr>
            <a:spLocks noGrp="1"/>
          </p:cNvSpPr>
          <p:nvPr>
            <p:ph type="title"/>
          </p:nvPr>
        </p:nvSpPr>
        <p:spPr/>
        <p:txBody>
          <a:bodyPr/>
          <a:lstStyle/>
          <a:p>
            <a:r>
              <a:rPr kumimoji="1" lang="ja-JP" altLang="en-US" dirty="0"/>
              <a:t>とはいえ，いまのところ</a:t>
            </a:r>
          </a:p>
        </p:txBody>
      </p:sp>
      <p:sp>
        <p:nvSpPr>
          <p:cNvPr id="10" name="テキスト プレースホルダー 9"/>
          <p:cNvSpPr>
            <a:spLocks noGrp="1"/>
          </p:cNvSpPr>
          <p:nvPr>
            <p:ph type="body" sz="quarter" idx="10"/>
          </p:nvPr>
        </p:nvSpPr>
        <p:spPr>
          <a:xfrm>
            <a:off x="2135957" y="4239010"/>
            <a:ext cx="8010089" cy="1259707"/>
          </a:xfrm>
        </p:spPr>
        <p:txBody>
          <a:bodyPr/>
          <a:lstStyle/>
          <a:p>
            <a:r>
              <a:rPr kumimoji="1" lang="ja-JP" altLang="en-US" dirty="0"/>
              <a:t>まだ，ダークにまでは至っていない</a:t>
            </a:r>
            <a:endParaRPr kumimoji="1" lang="en-US" altLang="ja-JP" dirty="0"/>
          </a:p>
          <a:p>
            <a:pPr lvl="1"/>
            <a:r>
              <a:rPr lang="ja-JP" altLang="en-US" dirty="0"/>
              <a:t>デバイス技術が進歩</a:t>
            </a:r>
            <a:endParaRPr lang="en-US" altLang="ja-JP" dirty="0"/>
          </a:p>
          <a:p>
            <a:pPr lvl="1"/>
            <a:r>
              <a:rPr lang="ja-JP" altLang="en-US" dirty="0"/>
              <a:t>電圧が一応ちろちろ下がってはいる</a:t>
            </a:r>
            <a:endParaRPr lang="en-US" altLang="ja-JP" dirty="0"/>
          </a:p>
          <a:p>
            <a:pPr lvl="1"/>
            <a:r>
              <a:rPr lang="ja-JP" altLang="en-US" dirty="0"/>
              <a:t>周波数を上げなくした</a:t>
            </a:r>
            <a:endParaRPr lang="en-US" altLang="ja-JP" dirty="0"/>
          </a:p>
          <a:p>
            <a:pPr lvl="2"/>
            <a:r>
              <a:rPr lang="ja-JP" altLang="en-US" dirty="0"/>
              <a:t>動作回数が減るので，電力にダイレクトに効く</a:t>
            </a:r>
            <a:endParaRPr lang="en-US" altLang="ja-JP" dirty="0"/>
          </a:p>
          <a:p>
            <a:pPr lvl="1"/>
            <a:r>
              <a:rPr lang="ja-JP" altLang="en-US" dirty="0"/>
              <a:t>あまりスイッチ（充放電）しないキャッシュなどを</a:t>
            </a:r>
            <a:br>
              <a:rPr lang="en-US" altLang="ja-JP" dirty="0"/>
            </a:br>
            <a:r>
              <a:rPr lang="ja-JP" altLang="en-US" dirty="0"/>
              <a:t>多めに入れた</a:t>
            </a:r>
            <a:endParaRPr lang="en-US" altLang="ja-JP" dirty="0"/>
          </a:p>
          <a:p>
            <a:r>
              <a:rPr lang="ja-JP" altLang="en-US" dirty="0">
                <a:solidFill>
                  <a:schemeClr val="accent5"/>
                </a:solidFill>
              </a:rPr>
              <a:t>まとめ：電圧が下げられなくなったので，電力密度増大をおさえるために周波数を上げるのをやめた</a:t>
            </a:r>
            <a:endParaRPr lang="en-US" altLang="ja-JP" dirty="0">
              <a:solidFill>
                <a:schemeClr val="accent5"/>
              </a:solidFill>
            </a:endParaRPr>
          </a:p>
        </p:txBody>
      </p:sp>
      <p:sp>
        <p:nvSpPr>
          <p:cNvPr id="4" name="正方形/長方形 3"/>
          <p:cNvSpPr/>
          <p:nvPr/>
        </p:nvSpPr>
        <p:spPr bwMode="auto">
          <a:xfrm>
            <a:off x="3215968"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solidFill>
                <a:schemeClr val="tx1">
                  <a:lumMod val="65000"/>
                  <a:lumOff val="35000"/>
                </a:schemeClr>
              </a:solidFill>
            </a:endParaRPr>
          </a:p>
        </p:txBody>
      </p:sp>
      <p:sp>
        <p:nvSpPr>
          <p:cNvPr id="6" name="正方形/長方形 5"/>
          <p:cNvSpPr/>
          <p:nvPr/>
        </p:nvSpPr>
        <p:spPr bwMode="auto">
          <a:xfrm>
            <a:off x="3215968" y="1268978"/>
            <a:ext cx="720008" cy="720007"/>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2400" dirty="0">
              <a:solidFill>
                <a:schemeClr val="tx1">
                  <a:lumMod val="65000"/>
                  <a:lumOff val="35000"/>
                </a:schemeClr>
              </a:solidFill>
            </a:endParaRPr>
          </a:p>
        </p:txBody>
      </p:sp>
      <p:sp>
        <p:nvSpPr>
          <p:cNvPr id="7" name="正方形/長方形 6"/>
          <p:cNvSpPr/>
          <p:nvPr/>
        </p:nvSpPr>
        <p:spPr bwMode="auto">
          <a:xfrm>
            <a:off x="3935976" y="1268976"/>
            <a:ext cx="720008" cy="720008"/>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2400" dirty="0">
              <a:solidFill>
                <a:schemeClr val="tx1">
                  <a:lumMod val="65000"/>
                  <a:lumOff val="35000"/>
                </a:schemeClr>
              </a:solidFill>
            </a:endParaRPr>
          </a:p>
        </p:txBody>
      </p:sp>
      <p:sp>
        <p:nvSpPr>
          <p:cNvPr id="8" name="正方形/長方形 7"/>
          <p:cNvSpPr/>
          <p:nvPr/>
        </p:nvSpPr>
        <p:spPr bwMode="auto">
          <a:xfrm>
            <a:off x="3215968" y="1988986"/>
            <a:ext cx="720008" cy="720007"/>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2400" dirty="0">
              <a:solidFill>
                <a:schemeClr val="tx1">
                  <a:lumMod val="65000"/>
                  <a:lumOff val="35000"/>
                </a:schemeClr>
              </a:solidFill>
            </a:endParaRPr>
          </a:p>
        </p:txBody>
      </p:sp>
      <p:sp>
        <p:nvSpPr>
          <p:cNvPr id="9" name="正方形/長方形 8"/>
          <p:cNvSpPr/>
          <p:nvPr/>
        </p:nvSpPr>
        <p:spPr bwMode="auto">
          <a:xfrm>
            <a:off x="3935976" y="1988985"/>
            <a:ext cx="720008" cy="720007"/>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2400" dirty="0">
              <a:solidFill>
                <a:schemeClr val="tx1">
                  <a:lumMod val="65000"/>
                  <a:lumOff val="35000"/>
                </a:schemeClr>
              </a:solidFill>
            </a:endParaRPr>
          </a:p>
        </p:txBody>
      </p:sp>
      <p:sp>
        <p:nvSpPr>
          <p:cNvPr id="43" name="正方形/長方形 42"/>
          <p:cNvSpPr/>
          <p:nvPr/>
        </p:nvSpPr>
        <p:spPr bwMode="auto">
          <a:xfrm>
            <a:off x="7536016" y="1268977"/>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44" name="正方形/長方形 43"/>
          <p:cNvSpPr/>
          <p:nvPr/>
        </p:nvSpPr>
        <p:spPr bwMode="auto">
          <a:xfrm>
            <a:off x="7896021" y="1268977"/>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45" name="正方形/長方形 44"/>
          <p:cNvSpPr/>
          <p:nvPr/>
        </p:nvSpPr>
        <p:spPr bwMode="auto">
          <a:xfrm>
            <a:off x="7536017" y="1628981"/>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46" name="正方形/長方形 45"/>
          <p:cNvSpPr/>
          <p:nvPr/>
        </p:nvSpPr>
        <p:spPr bwMode="auto">
          <a:xfrm>
            <a:off x="7896021" y="1628981"/>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59" name="正方形/長方形 58"/>
          <p:cNvSpPr/>
          <p:nvPr/>
        </p:nvSpPr>
        <p:spPr bwMode="auto">
          <a:xfrm>
            <a:off x="7536016" y="1988986"/>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60" name="正方形/長方形 59"/>
          <p:cNvSpPr/>
          <p:nvPr/>
        </p:nvSpPr>
        <p:spPr bwMode="auto">
          <a:xfrm>
            <a:off x="7896021" y="1988986"/>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61" name="正方形/長方形 60"/>
          <p:cNvSpPr/>
          <p:nvPr/>
        </p:nvSpPr>
        <p:spPr bwMode="auto">
          <a:xfrm>
            <a:off x="7536017" y="2348990"/>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62" name="正方形/長方形 61"/>
          <p:cNvSpPr/>
          <p:nvPr/>
        </p:nvSpPr>
        <p:spPr bwMode="auto">
          <a:xfrm>
            <a:off x="7896021" y="2348990"/>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64" name="正方形/長方形 63"/>
          <p:cNvSpPr/>
          <p:nvPr/>
        </p:nvSpPr>
        <p:spPr bwMode="auto">
          <a:xfrm>
            <a:off x="8256025" y="1268978"/>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65" name="正方形/長方形 64"/>
          <p:cNvSpPr/>
          <p:nvPr/>
        </p:nvSpPr>
        <p:spPr bwMode="auto">
          <a:xfrm>
            <a:off x="8616030" y="1268978"/>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66" name="正方形/長方形 65"/>
          <p:cNvSpPr/>
          <p:nvPr/>
        </p:nvSpPr>
        <p:spPr bwMode="auto">
          <a:xfrm>
            <a:off x="8256026" y="1628982"/>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67" name="正方形/長方形 66"/>
          <p:cNvSpPr/>
          <p:nvPr/>
        </p:nvSpPr>
        <p:spPr bwMode="auto">
          <a:xfrm>
            <a:off x="8616030" y="1628982"/>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68" name="正方形/長方形 67"/>
          <p:cNvSpPr/>
          <p:nvPr/>
        </p:nvSpPr>
        <p:spPr bwMode="auto">
          <a:xfrm>
            <a:off x="8256025" y="1988987"/>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69" name="正方形/長方形 68"/>
          <p:cNvSpPr/>
          <p:nvPr/>
        </p:nvSpPr>
        <p:spPr bwMode="auto">
          <a:xfrm>
            <a:off x="8616030" y="1988987"/>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70" name="正方形/長方形 69"/>
          <p:cNvSpPr/>
          <p:nvPr/>
        </p:nvSpPr>
        <p:spPr bwMode="auto">
          <a:xfrm>
            <a:off x="8256026" y="2348991"/>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71" name="正方形/長方形 70"/>
          <p:cNvSpPr/>
          <p:nvPr/>
        </p:nvSpPr>
        <p:spPr bwMode="auto">
          <a:xfrm>
            <a:off x="8616030" y="2348991"/>
            <a:ext cx="360004" cy="360003"/>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t"/>
          <a:lstStyle/>
          <a:p>
            <a:pPr algn="ctr"/>
            <a:endParaRPr lang="ja-JP" altLang="en-US" sz="1600" dirty="0">
              <a:solidFill>
                <a:schemeClr val="tx1">
                  <a:lumMod val="65000"/>
                  <a:lumOff val="35000"/>
                </a:schemeClr>
              </a:solidFill>
            </a:endParaRPr>
          </a:p>
        </p:txBody>
      </p:sp>
      <p:sp>
        <p:nvSpPr>
          <p:cNvPr id="72" name="右矢印 71"/>
          <p:cNvSpPr/>
          <p:nvPr/>
        </p:nvSpPr>
        <p:spPr bwMode="auto">
          <a:xfrm>
            <a:off x="5555994" y="1718982"/>
            <a:ext cx="1080012"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spTree>
    <p:extLst>
      <p:ext uri="{BB962C8B-B14F-4D97-AF65-F5344CB8AC3E}">
        <p14:creationId xmlns:p14="http://schemas.microsoft.com/office/powerpoint/2010/main" val="2038616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ここまでのまとめ</a:t>
            </a:r>
          </a:p>
        </p:txBody>
      </p:sp>
      <p:sp>
        <p:nvSpPr>
          <p:cNvPr id="3" name="テキスト プレースホルダー 2"/>
          <p:cNvSpPr>
            <a:spLocks noGrp="1"/>
          </p:cNvSpPr>
          <p:nvPr>
            <p:ph type="body" sz="quarter" idx="10"/>
          </p:nvPr>
        </p:nvSpPr>
        <p:spPr/>
        <p:txBody>
          <a:bodyPr/>
          <a:lstStyle/>
          <a:p>
            <a:r>
              <a:rPr lang="ja-JP" altLang="en-US" dirty="0"/>
              <a:t>回路の消費エネルギー</a:t>
            </a:r>
            <a:endParaRPr lang="en-US" altLang="ja-JP" dirty="0"/>
          </a:p>
          <a:p>
            <a:pPr marL="817200" lvl="1" indent="-457200">
              <a:buFont typeface="+mj-lt"/>
              <a:buAutoNum type="arabicPeriod"/>
            </a:pPr>
            <a:r>
              <a:rPr lang="ja-JP" altLang="en-US" dirty="0"/>
              <a:t>アーキテクチャの違いによる消費電力の違い</a:t>
            </a:r>
            <a:endParaRPr lang="en-US" altLang="ja-JP" dirty="0"/>
          </a:p>
          <a:p>
            <a:pPr marL="817200" lvl="1" indent="-457200">
              <a:buFont typeface="+mj-lt"/>
              <a:buAutoNum type="arabicPeriod"/>
            </a:pPr>
            <a:r>
              <a:rPr lang="en-US" altLang="ja-JP" dirty="0"/>
              <a:t>FPGA </a:t>
            </a:r>
            <a:r>
              <a:rPr lang="ja-JP" altLang="en-US" dirty="0"/>
              <a:t>による回路</a:t>
            </a:r>
            <a:endParaRPr lang="en-US" altLang="ja-JP" dirty="0"/>
          </a:p>
          <a:p>
            <a:pPr marL="817200" lvl="1" indent="-457200">
              <a:buFont typeface="+mj-lt"/>
              <a:buAutoNum type="arabicPeriod"/>
            </a:pPr>
            <a:r>
              <a:rPr lang="ja-JP" altLang="en-US" dirty="0"/>
              <a:t>（余談）ムーアの法則と周波数</a:t>
            </a:r>
            <a:endParaRPr kumimoji="1" lang="en-US" altLang="ja-JP" dirty="0"/>
          </a:p>
        </p:txBody>
      </p:sp>
    </p:spTree>
    <p:extLst>
      <p:ext uri="{BB962C8B-B14F-4D97-AF65-F5344CB8AC3E}">
        <p14:creationId xmlns:p14="http://schemas.microsoft.com/office/powerpoint/2010/main" val="2239991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a:xfrm>
            <a:off x="2135956" y="2078985"/>
            <a:ext cx="7920088" cy="540006"/>
          </a:xfrm>
        </p:spPr>
        <p:txBody>
          <a:bodyPr/>
          <a:lstStyle/>
          <a:p>
            <a:r>
              <a:rPr kumimoji="1" lang="ja-JP" altLang="en-US" b="1" dirty="0"/>
              <a:t>命令パイプライン</a:t>
            </a:r>
            <a:endParaRPr lang="ja-JP" altLang="en-US" b="1" dirty="0"/>
          </a:p>
        </p:txBody>
      </p:sp>
    </p:spTree>
    <p:extLst>
      <p:ext uri="{BB962C8B-B14F-4D97-AF65-F5344CB8AC3E}">
        <p14:creationId xmlns:p14="http://schemas.microsoft.com/office/powerpoint/2010/main" val="1469584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命令パイプライン</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シングル・サイクル・プロセッサの動作</a:t>
            </a:r>
            <a:endParaRPr kumimoji="1" lang="en-US" altLang="ja-JP" dirty="0"/>
          </a:p>
          <a:p>
            <a:pPr lvl="1"/>
            <a:r>
              <a:rPr lang="ja-JP" altLang="en-US" dirty="0"/>
              <a:t>パイプライン化を前提とした構造のものを使って復習</a:t>
            </a:r>
            <a:endParaRPr lang="en-US" altLang="ja-JP" dirty="0"/>
          </a:p>
          <a:p>
            <a:pPr lvl="1"/>
            <a:r>
              <a:rPr lang="ja-JP" altLang="en-US" dirty="0"/>
              <a:t>全ての命令の処理が１サイクルで完結</a:t>
            </a:r>
            <a:endParaRPr lang="en-US" altLang="ja-JP" dirty="0"/>
          </a:p>
          <a:p>
            <a:pPr marL="457200" indent="-457200">
              <a:buFont typeface="+mj-lt"/>
              <a:buAutoNum type="arabicPeriod"/>
            </a:pPr>
            <a:r>
              <a:rPr kumimoji="1" lang="ja-JP" altLang="en-US" dirty="0"/>
              <a:t>上記のパイプライン化</a:t>
            </a:r>
            <a:endParaRPr kumimoji="1" lang="en-US" altLang="ja-JP" dirty="0"/>
          </a:p>
          <a:p>
            <a:pPr marL="817200" lvl="1" indent="-457200">
              <a:buFont typeface="+mj-lt"/>
              <a:buAutoNum type="arabicPeriod"/>
            </a:pPr>
            <a:r>
              <a:rPr kumimoji="1" lang="ja-JP" altLang="en-US" dirty="0"/>
              <a:t>具体的にどうパイプライン化するか</a:t>
            </a:r>
            <a:endParaRPr kumimoji="1" lang="en-US" altLang="ja-JP" dirty="0"/>
          </a:p>
          <a:p>
            <a:pPr marL="457200" indent="-457200">
              <a:buFont typeface="+mj-lt"/>
              <a:buAutoNum type="arabicPeriod"/>
            </a:pPr>
            <a:r>
              <a:rPr lang="ja-JP" altLang="en-US" dirty="0"/>
              <a:t>（次回以降）ハザード</a:t>
            </a:r>
            <a:endParaRPr kumimoji="1" lang="ja-JP" altLang="en-US" dirty="0"/>
          </a:p>
        </p:txBody>
      </p:sp>
    </p:spTree>
    <p:extLst>
      <p:ext uri="{BB962C8B-B14F-4D97-AF65-F5344CB8AC3E}">
        <p14:creationId xmlns:p14="http://schemas.microsoft.com/office/powerpoint/2010/main" val="40309595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導入：工場のラインを考える</a:t>
            </a:r>
          </a:p>
        </p:txBody>
      </p:sp>
      <p:sp>
        <p:nvSpPr>
          <p:cNvPr id="4" name="テキスト プレースホルダー 3"/>
          <p:cNvSpPr>
            <a:spLocks noGrp="1"/>
          </p:cNvSpPr>
          <p:nvPr>
            <p:ph type="body" sz="quarter" idx="10"/>
          </p:nvPr>
        </p:nvSpPr>
        <p:spPr>
          <a:xfrm>
            <a:off x="2135956" y="4239009"/>
            <a:ext cx="8280092" cy="2069716"/>
          </a:xfrm>
        </p:spPr>
        <p:txBody>
          <a:bodyPr/>
          <a:lstStyle/>
          <a:p>
            <a:r>
              <a:rPr kumimoji="1" lang="ja-JP" altLang="en-US" dirty="0"/>
              <a:t>ベルトコンベアのラインの上を製品が流れていく</a:t>
            </a:r>
            <a:endParaRPr kumimoji="1" lang="en-US" altLang="ja-JP" dirty="0"/>
          </a:p>
          <a:p>
            <a:pPr lvl="1"/>
            <a:r>
              <a:rPr kumimoji="1" lang="ja-JP" altLang="en-US" dirty="0"/>
              <a:t>４人の人が，それぞれの工程の作業をおこなって完成</a:t>
            </a:r>
            <a:endParaRPr kumimoji="1" lang="en-US" altLang="ja-JP" dirty="0"/>
          </a:p>
          <a:p>
            <a:r>
              <a:rPr lang="ja-JP" altLang="en-US" dirty="0"/>
              <a:t>上のように</a:t>
            </a:r>
            <a:r>
              <a:rPr lang="en-US" altLang="ja-JP" dirty="0"/>
              <a:t>1</a:t>
            </a:r>
            <a:r>
              <a:rPr lang="ja-JP" altLang="en-US" dirty="0" err="1"/>
              <a:t>つしか</a:t>
            </a:r>
            <a:r>
              <a:rPr lang="ja-JP" altLang="en-US" dirty="0"/>
              <a:t>製品をながさないと，</a:t>
            </a:r>
            <a:endParaRPr lang="en-US" altLang="ja-JP" dirty="0"/>
          </a:p>
          <a:p>
            <a:pPr lvl="1"/>
            <a:r>
              <a:rPr lang="ja-JP" altLang="en-US" dirty="0"/>
              <a:t>各人は他の人が作業している間はヒマ</a:t>
            </a:r>
            <a:endParaRPr kumimoji="1" lang="ja-JP" altLang="en-US" dirty="0"/>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41" name="グループ化 40"/>
          <p:cNvGrpSpPr/>
          <p:nvPr/>
        </p:nvGrpSpPr>
        <p:grpSpPr>
          <a:xfrm>
            <a:off x="2135957" y="2978995"/>
            <a:ext cx="720009" cy="360004"/>
            <a:chOff x="6372020" y="3699004"/>
            <a:chExt cx="720009" cy="360004"/>
          </a:xfrm>
        </p:grpSpPr>
        <p:sp>
          <p:nvSpPr>
            <p:cNvPr id="42" name="角丸四角形 41"/>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44" name="角丸四角形 43"/>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96" name="正方形/長方形 95"/>
          <p:cNvSpPr/>
          <p:nvPr/>
        </p:nvSpPr>
        <p:spPr bwMode="auto">
          <a:xfrm>
            <a:off x="1775952" y="2438990"/>
            <a:ext cx="1152128" cy="1710019"/>
          </a:xfrm>
          <a:prstGeom prst="rect">
            <a:avLst/>
          </a:prstGeom>
          <a:solidFill>
            <a:schemeClr val="bg1"/>
          </a:solidFill>
          <a:ln>
            <a:solidFill>
              <a:schemeClr val="bg1"/>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sz="20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42070692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38778E-17 1.85185E-6 L 0.15764 1.85185E-6 " pathEditMode="relative" rAng="0" ptsTypes="AA">
                                      <p:cBhvr>
                                        <p:cTn id="6" dur="1000" fill="hold"/>
                                        <p:tgtEl>
                                          <p:spTgt spid="41"/>
                                        </p:tgtEl>
                                        <p:attrNameLst>
                                          <p:attrName>ppt_x</p:attrName>
                                          <p:attrName>ppt_y</p:attrName>
                                        </p:attrNameLst>
                                      </p:cBhvr>
                                      <p:rCtr x="7882"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15764 1.85185E-6 L 0.3151 1.85185E-6 " pathEditMode="relative" rAng="0" ptsTypes="AA">
                                      <p:cBhvr>
                                        <p:cTn id="10" dur="1000" fill="hold"/>
                                        <p:tgtEl>
                                          <p:spTgt spid="41"/>
                                        </p:tgtEl>
                                        <p:attrNameLst>
                                          <p:attrName>ppt_x</p:attrName>
                                          <p:attrName>ppt_y</p:attrName>
                                        </p:attrNameLst>
                                      </p:cBhvr>
                                      <p:rCtr x="7865"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3151 1.85185E-6 L 0.4724 1.85185E-6 " pathEditMode="relative" rAng="0" ptsTypes="AA">
                                      <p:cBhvr>
                                        <p:cTn id="14" dur="1000" fill="hold"/>
                                        <p:tgtEl>
                                          <p:spTgt spid="41"/>
                                        </p:tgtEl>
                                        <p:attrNameLst>
                                          <p:attrName>ppt_x</p:attrName>
                                          <p:attrName>ppt_y</p:attrName>
                                        </p:attrNameLst>
                                      </p:cBhvr>
                                      <p:rCtr x="7865"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4724 1.85185E-6 L 0.62986 1.85185E-6 " pathEditMode="relative" rAng="0" ptsTypes="AA">
                                      <p:cBhvr>
                                        <p:cTn id="18" dur="1000" fill="hold"/>
                                        <p:tgtEl>
                                          <p:spTgt spid="41"/>
                                        </p:tgtEl>
                                        <p:attrNameLst>
                                          <p:attrName>ppt_x</p:attrName>
                                          <p:attrName>ppt_y</p:attrName>
                                        </p:attrNameLst>
                                      </p:cBhvr>
                                      <p:rCtr x="786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導入：工場のラインを考える</a:t>
            </a:r>
            <a:endParaRPr kumimoji="1" lang="ja-JP" altLang="en-US" dirty="0"/>
          </a:p>
        </p:txBody>
      </p:sp>
      <p:sp>
        <p:nvSpPr>
          <p:cNvPr id="58" name="コンテンツ プレースホルダー 57"/>
          <p:cNvSpPr>
            <a:spLocks noGrp="1"/>
          </p:cNvSpPr>
          <p:nvPr>
            <p:ph idx="4294967295"/>
          </p:nvPr>
        </p:nvSpPr>
        <p:spPr>
          <a:xfrm>
            <a:off x="2045955" y="4869017"/>
            <a:ext cx="8460094" cy="1369161"/>
          </a:xfrm>
          <a:prstGeom prst="rect">
            <a:avLst/>
          </a:prstGeom>
        </p:spPr>
        <p:txBody>
          <a:bodyPr/>
          <a:lstStyle/>
          <a:p>
            <a:r>
              <a:rPr lang="ja-JP" altLang="en-US" dirty="0"/>
              <a:t>実際の工場：複数の製品を同時に流す</a:t>
            </a:r>
            <a:endParaRPr lang="en-US" altLang="ja-JP" dirty="0"/>
          </a:p>
          <a:p>
            <a:pPr lvl="1"/>
            <a:r>
              <a:rPr lang="ja-JP" altLang="en-US" dirty="0"/>
              <a:t>各工程を並列して処理することによりスループットを向上</a:t>
            </a:r>
            <a:endParaRPr lang="en-US" altLang="ja-JP" dirty="0"/>
          </a:p>
          <a:p>
            <a:pPr lvl="1"/>
            <a:r>
              <a:rPr lang="ja-JP" altLang="en-US" dirty="0"/>
              <a:t>さっきの</a:t>
            </a:r>
            <a:r>
              <a:rPr lang="en-US" altLang="ja-JP" dirty="0"/>
              <a:t>4</a:t>
            </a:r>
            <a:r>
              <a:rPr lang="ja-JP" altLang="en-US" dirty="0"/>
              <a:t>倍の速度で製品ができあがっていく</a:t>
            </a:r>
            <a:endParaRPr lang="en-US" altLang="ja-JP" dirty="0"/>
          </a:p>
          <a:p>
            <a:r>
              <a:rPr lang="ja-JP" altLang="en-US" dirty="0"/>
              <a:t>これが </a:t>
            </a:r>
            <a:r>
              <a:rPr lang="ja-JP" altLang="en-US" dirty="0">
                <a:solidFill>
                  <a:schemeClr val="accent5"/>
                </a:solidFill>
              </a:rPr>
              <a:t>命令パイプライン</a:t>
            </a:r>
            <a:endParaRPr lang="en-US" altLang="ja-JP" dirty="0">
              <a:solidFill>
                <a:schemeClr val="tx1">
                  <a:lumMod val="85000"/>
                  <a:lumOff val="15000"/>
                </a:schemeClr>
              </a:solidFill>
            </a:endParaRPr>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6" name="グループ化 5"/>
          <p:cNvGrpSpPr/>
          <p:nvPr/>
        </p:nvGrpSpPr>
        <p:grpSpPr>
          <a:xfrm>
            <a:off x="-3624108" y="2978996"/>
            <a:ext cx="6480073" cy="360005"/>
            <a:chOff x="611956" y="3699003"/>
            <a:chExt cx="6480073" cy="360005"/>
          </a:xfrm>
        </p:grpSpPr>
        <p:sp>
          <p:nvSpPr>
            <p:cNvPr id="90" name="角丸四角形 89"/>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1" name="角丸四角形 90"/>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2" name="角丸四角形 91"/>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3" name="角丸四角形 92"/>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4" name="角丸四角形 93"/>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7" name="正方形/長方形 6"/>
          <p:cNvSpPr/>
          <p:nvPr/>
        </p:nvSpPr>
        <p:spPr bwMode="auto">
          <a:xfrm>
            <a:off x="0" y="2817094"/>
            <a:ext cx="3017685"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Tree>
    <p:extLst>
      <p:ext uri="{BB962C8B-B14F-4D97-AF65-F5344CB8AC3E}">
        <p14:creationId xmlns:p14="http://schemas.microsoft.com/office/powerpoint/2010/main" val="35921509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5.55556E-7 1.85185E-6 L 0.15764 1.85185E-6 " pathEditMode="relative" rAng="0" ptsTypes="AA">
                                      <p:cBhvr>
                                        <p:cTn id="6" dur="1000" fill="hold"/>
                                        <p:tgtEl>
                                          <p:spTgt spid="6"/>
                                        </p:tgtEl>
                                        <p:attrNameLst>
                                          <p:attrName>ppt_x</p:attrName>
                                          <p:attrName>ppt_y</p:attrName>
                                        </p:attrNameLst>
                                      </p:cBhvr>
                                      <p:rCtr x="7882"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15764 1.85185E-6 L 0.3151 1.85185E-6 " pathEditMode="relative" rAng="0" ptsTypes="AA">
                                      <p:cBhvr>
                                        <p:cTn id="10" dur="1000" fill="hold"/>
                                        <p:tgtEl>
                                          <p:spTgt spid="6"/>
                                        </p:tgtEl>
                                        <p:attrNameLst>
                                          <p:attrName>ppt_x</p:attrName>
                                          <p:attrName>ppt_y</p:attrName>
                                        </p:attrNameLst>
                                      </p:cBhvr>
                                      <p:rCtr x="7865"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3151 1.85185E-6 L 0.4724 1.85185E-6 " pathEditMode="relative" rAng="0" ptsTypes="AA">
                                      <p:cBhvr>
                                        <p:cTn id="14" dur="1000" fill="hold"/>
                                        <p:tgtEl>
                                          <p:spTgt spid="6"/>
                                        </p:tgtEl>
                                        <p:attrNameLst>
                                          <p:attrName>ppt_x</p:attrName>
                                          <p:attrName>ppt_y</p:attrName>
                                        </p:attrNameLst>
                                      </p:cBhvr>
                                      <p:rCtr x="7865"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4724 1.85185E-6 L 0.62986 1.85185E-6 " pathEditMode="relative" rAng="0" ptsTypes="AA">
                                      <p:cBhvr>
                                        <p:cTn id="18" dur="1000" fill="hold"/>
                                        <p:tgtEl>
                                          <p:spTgt spid="6"/>
                                        </p:tgtEl>
                                        <p:attrNameLst>
                                          <p:attrName>ppt_x</p:attrName>
                                          <p:attrName>ppt_y</p:attrName>
                                        </p:attrNameLst>
                                      </p:cBhvr>
                                      <p:rCtr x="786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 name="直線コネクタ 92"/>
          <p:cNvCxnSpPr/>
          <p:nvPr/>
        </p:nvCxnSpPr>
        <p:spPr bwMode="auto">
          <a:xfrm flipH="1">
            <a:off x="8436028" y="3338999"/>
            <a:ext cx="360003" cy="0"/>
          </a:xfrm>
          <a:prstGeom prst="line">
            <a:avLst/>
          </a:prstGeom>
          <a:noFill/>
          <a:ln w="9525" cap="flat" cmpd="sng" algn="ctr">
            <a:solidFill>
              <a:schemeClr val="tx1"/>
            </a:solidFill>
            <a:prstDash val="dash"/>
            <a:round/>
            <a:headEnd type="none" w="med" len="med"/>
            <a:tailEnd type="none" w="med" len="med"/>
          </a:ln>
          <a:effectLst/>
        </p:spPr>
      </p:cxnSp>
      <p:cxnSp>
        <p:nvCxnSpPr>
          <p:cNvPr id="89" name="直線コネクタ 88"/>
          <p:cNvCxnSpPr/>
          <p:nvPr/>
        </p:nvCxnSpPr>
        <p:spPr bwMode="auto">
          <a:xfrm>
            <a:off x="6456005" y="2618991"/>
            <a:ext cx="450005" cy="0"/>
          </a:xfrm>
          <a:prstGeom prst="line">
            <a:avLst/>
          </a:prstGeom>
          <a:noFill/>
          <a:ln w="9525" cap="flat" cmpd="sng" algn="ctr">
            <a:solidFill>
              <a:schemeClr val="tx1"/>
            </a:solidFill>
            <a:prstDash val="dash"/>
            <a:round/>
            <a:headEnd type="none" w="med" len="med"/>
            <a:tailEnd type="none" w="med" len="med"/>
          </a:ln>
          <a:effectLst/>
        </p:spPr>
      </p:cxnSp>
      <p:cxnSp>
        <p:nvCxnSpPr>
          <p:cNvPr id="86" name="直線コネクタ 85"/>
          <p:cNvCxnSpPr/>
          <p:nvPr/>
        </p:nvCxnSpPr>
        <p:spPr bwMode="auto">
          <a:xfrm>
            <a:off x="4655985" y="1988984"/>
            <a:ext cx="450005"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パイプライン化による性能向上</a:t>
            </a:r>
            <a:endParaRPr kumimoji="1" lang="ja-JP" altLang="en-US" dirty="0"/>
          </a:p>
        </p:txBody>
      </p:sp>
      <p:grpSp>
        <p:nvGrpSpPr>
          <p:cNvPr id="5" name="グループ化 4"/>
          <p:cNvGrpSpPr/>
          <p:nvPr/>
        </p:nvGrpSpPr>
        <p:grpSpPr>
          <a:xfrm>
            <a:off x="2729869" y="1845004"/>
            <a:ext cx="2073428" cy="431940"/>
            <a:chOff x="971600" y="5445224"/>
            <a:chExt cx="7256909" cy="576064"/>
          </a:xfrm>
        </p:grpSpPr>
        <p:sp>
          <p:nvSpPr>
            <p:cNvPr id="6" name="平行四辺形 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平行四辺形 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cxnSp>
        <p:nvCxnSpPr>
          <p:cNvPr id="96" name="直線矢印コネクタ 95"/>
          <p:cNvCxnSpPr/>
          <p:nvPr/>
        </p:nvCxnSpPr>
        <p:spPr bwMode="auto">
          <a:xfrm>
            <a:off x="2225957" y="1628980"/>
            <a:ext cx="6480720"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98" name="直線コネクタ 97"/>
          <p:cNvCxnSpPr/>
          <p:nvPr/>
        </p:nvCxnSpPr>
        <p:spPr bwMode="auto">
          <a:xfrm>
            <a:off x="5555994" y="5859027"/>
            <a:ext cx="360004" cy="0"/>
          </a:xfrm>
          <a:prstGeom prst="line">
            <a:avLst/>
          </a:prstGeom>
          <a:noFill/>
          <a:ln w="9525" cap="flat" cmpd="sng" algn="ctr">
            <a:solidFill>
              <a:schemeClr val="tx1"/>
            </a:solidFill>
            <a:prstDash val="dash"/>
            <a:round/>
            <a:headEnd type="none" w="med" len="med"/>
            <a:tailEnd type="none" w="med" len="med"/>
          </a:ln>
          <a:effectLst/>
        </p:spPr>
      </p:cxnSp>
      <p:cxnSp>
        <p:nvCxnSpPr>
          <p:cNvPr id="99" name="直線コネクタ 98"/>
          <p:cNvCxnSpPr/>
          <p:nvPr/>
        </p:nvCxnSpPr>
        <p:spPr bwMode="auto">
          <a:xfrm flipV="1">
            <a:off x="4835986" y="4599013"/>
            <a:ext cx="360004" cy="4708"/>
          </a:xfrm>
          <a:prstGeom prst="line">
            <a:avLst/>
          </a:prstGeom>
          <a:noFill/>
          <a:ln w="9525" cap="flat" cmpd="sng" algn="ctr">
            <a:solidFill>
              <a:schemeClr val="tx1"/>
            </a:solidFill>
            <a:prstDash val="dash"/>
            <a:round/>
            <a:headEnd type="none" w="med" len="med"/>
            <a:tailEnd type="none" w="med" len="med"/>
          </a:ln>
          <a:effectLst/>
        </p:spPr>
      </p:cxnSp>
      <p:cxnSp>
        <p:nvCxnSpPr>
          <p:cNvPr id="100" name="直線コネクタ 99"/>
          <p:cNvCxnSpPr/>
          <p:nvPr/>
        </p:nvCxnSpPr>
        <p:spPr bwMode="auto">
          <a:xfrm>
            <a:off x="5195990" y="5229020"/>
            <a:ext cx="360004" cy="0"/>
          </a:xfrm>
          <a:prstGeom prst="line">
            <a:avLst/>
          </a:prstGeom>
          <a:noFill/>
          <a:ln w="9525" cap="flat" cmpd="sng" algn="ctr">
            <a:solidFill>
              <a:schemeClr val="tx1"/>
            </a:solidFill>
            <a:prstDash val="dash"/>
            <a:round/>
            <a:headEnd type="none" w="med" len="med"/>
            <a:tailEnd type="none" w="med" len="med"/>
          </a:ln>
          <a:effectLst/>
        </p:spPr>
      </p:cxnSp>
      <p:cxnSp>
        <p:nvCxnSpPr>
          <p:cNvPr id="143" name="直線矢印コネクタ 142"/>
          <p:cNvCxnSpPr/>
          <p:nvPr/>
        </p:nvCxnSpPr>
        <p:spPr bwMode="auto">
          <a:xfrm>
            <a:off x="2153949" y="4221268"/>
            <a:ext cx="6480720"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2135957" y="1178975"/>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2045956" y="3789004"/>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grpSp>
        <p:nvGrpSpPr>
          <p:cNvPr id="172" name="グループ化 171"/>
          <p:cNvGrpSpPr/>
          <p:nvPr/>
        </p:nvGrpSpPr>
        <p:grpSpPr>
          <a:xfrm>
            <a:off x="2766252" y="4437148"/>
            <a:ext cx="2091745" cy="360040"/>
            <a:chOff x="1832183" y="2276872"/>
            <a:chExt cx="2091745" cy="360040"/>
          </a:xfrm>
        </p:grpSpPr>
        <p:grpSp>
          <p:nvGrpSpPr>
            <p:cNvPr id="173" name="グループ化 172"/>
            <p:cNvGrpSpPr/>
            <p:nvPr/>
          </p:nvGrpSpPr>
          <p:grpSpPr>
            <a:xfrm>
              <a:off x="1832183" y="2276872"/>
              <a:ext cx="576064" cy="360040"/>
              <a:chOff x="971600" y="5445224"/>
              <a:chExt cx="7256909" cy="576064"/>
            </a:xfrm>
          </p:grpSpPr>
          <p:sp>
            <p:nvSpPr>
              <p:cNvPr id="183" name="平行四辺形 18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4" name="平行四辺形 183"/>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4" name="グループ化 173"/>
            <p:cNvGrpSpPr/>
            <p:nvPr/>
          </p:nvGrpSpPr>
          <p:grpSpPr>
            <a:xfrm>
              <a:off x="2336239" y="2276872"/>
              <a:ext cx="571610" cy="360040"/>
              <a:chOff x="683976" y="5445224"/>
              <a:chExt cx="7200800" cy="576064"/>
            </a:xfrm>
          </p:grpSpPr>
          <p:sp>
            <p:nvSpPr>
              <p:cNvPr id="181" name="平行四辺形 180"/>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2" name="平行四辺形 181"/>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5" name="グループ化 174"/>
            <p:cNvGrpSpPr/>
            <p:nvPr/>
          </p:nvGrpSpPr>
          <p:grpSpPr>
            <a:xfrm>
              <a:off x="2840295" y="2276872"/>
              <a:ext cx="571610" cy="360040"/>
              <a:chOff x="396352" y="5445224"/>
              <a:chExt cx="7200800" cy="576064"/>
            </a:xfrm>
          </p:grpSpPr>
          <p:sp>
            <p:nvSpPr>
              <p:cNvPr id="179" name="平行四辺形 178"/>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0" name="平行四辺形 179"/>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6" name="グループ化 175"/>
            <p:cNvGrpSpPr/>
            <p:nvPr/>
          </p:nvGrpSpPr>
          <p:grpSpPr>
            <a:xfrm>
              <a:off x="3344351" y="2276872"/>
              <a:ext cx="579577" cy="360040"/>
              <a:chOff x="120602" y="5445224"/>
              <a:chExt cx="7200800" cy="576064"/>
            </a:xfrm>
          </p:grpSpPr>
          <p:sp>
            <p:nvSpPr>
              <p:cNvPr id="177" name="平行四辺形 176"/>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8" name="平行四辺形 177"/>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85" name="グループ化 184"/>
          <p:cNvGrpSpPr/>
          <p:nvPr/>
        </p:nvGrpSpPr>
        <p:grpSpPr>
          <a:xfrm>
            <a:off x="3126256" y="5067155"/>
            <a:ext cx="2091745" cy="360040"/>
            <a:chOff x="1832183" y="2276872"/>
            <a:chExt cx="2091745" cy="360040"/>
          </a:xfrm>
        </p:grpSpPr>
        <p:grpSp>
          <p:nvGrpSpPr>
            <p:cNvPr id="186" name="グループ化 185"/>
            <p:cNvGrpSpPr/>
            <p:nvPr/>
          </p:nvGrpSpPr>
          <p:grpSpPr>
            <a:xfrm>
              <a:off x="1832183" y="2276872"/>
              <a:ext cx="576064" cy="360040"/>
              <a:chOff x="971600" y="5445224"/>
              <a:chExt cx="7256909" cy="576064"/>
            </a:xfrm>
          </p:grpSpPr>
          <p:sp>
            <p:nvSpPr>
              <p:cNvPr id="196" name="平行四辺形 19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7" name="平行四辺形 19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7" name="グループ化 186"/>
            <p:cNvGrpSpPr/>
            <p:nvPr/>
          </p:nvGrpSpPr>
          <p:grpSpPr>
            <a:xfrm>
              <a:off x="2336239" y="2276872"/>
              <a:ext cx="571610" cy="360040"/>
              <a:chOff x="683976" y="5445224"/>
              <a:chExt cx="7200800" cy="576064"/>
            </a:xfrm>
          </p:grpSpPr>
          <p:sp>
            <p:nvSpPr>
              <p:cNvPr id="194" name="平行四辺形 193"/>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5" name="平行四辺形 194"/>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8" name="グループ化 187"/>
            <p:cNvGrpSpPr/>
            <p:nvPr/>
          </p:nvGrpSpPr>
          <p:grpSpPr>
            <a:xfrm>
              <a:off x="2840295" y="2276872"/>
              <a:ext cx="571610" cy="360040"/>
              <a:chOff x="396352" y="5445224"/>
              <a:chExt cx="7200800" cy="576064"/>
            </a:xfrm>
          </p:grpSpPr>
          <p:sp>
            <p:nvSpPr>
              <p:cNvPr id="192" name="平行四辺形 191"/>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3" name="平行四辺形 192"/>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9" name="グループ化 188"/>
            <p:cNvGrpSpPr/>
            <p:nvPr/>
          </p:nvGrpSpPr>
          <p:grpSpPr>
            <a:xfrm>
              <a:off x="3344351" y="2276872"/>
              <a:ext cx="579577" cy="360040"/>
              <a:chOff x="120602" y="5445224"/>
              <a:chExt cx="7200800" cy="576064"/>
            </a:xfrm>
          </p:grpSpPr>
          <p:sp>
            <p:nvSpPr>
              <p:cNvPr id="190" name="平行四辺形 189"/>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1" name="平行四辺形 190"/>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98" name="グループ化 197"/>
          <p:cNvGrpSpPr/>
          <p:nvPr/>
        </p:nvGrpSpPr>
        <p:grpSpPr>
          <a:xfrm>
            <a:off x="3486260" y="5697162"/>
            <a:ext cx="2091745" cy="360040"/>
            <a:chOff x="1832183" y="2276872"/>
            <a:chExt cx="2091745" cy="360040"/>
          </a:xfrm>
        </p:grpSpPr>
        <p:grpSp>
          <p:nvGrpSpPr>
            <p:cNvPr id="199" name="グループ化 198"/>
            <p:cNvGrpSpPr/>
            <p:nvPr/>
          </p:nvGrpSpPr>
          <p:grpSpPr>
            <a:xfrm>
              <a:off x="1832183" y="2276872"/>
              <a:ext cx="576064" cy="360040"/>
              <a:chOff x="971600" y="5445224"/>
              <a:chExt cx="7256909" cy="576064"/>
            </a:xfrm>
          </p:grpSpPr>
          <p:sp>
            <p:nvSpPr>
              <p:cNvPr id="209" name="平行四辺形 20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10" name="平行四辺形 209"/>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0" name="グループ化 199"/>
            <p:cNvGrpSpPr/>
            <p:nvPr/>
          </p:nvGrpSpPr>
          <p:grpSpPr>
            <a:xfrm>
              <a:off x="2336239" y="2276872"/>
              <a:ext cx="571610" cy="360040"/>
              <a:chOff x="683976" y="5445224"/>
              <a:chExt cx="7200800" cy="576064"/>
            </a:xfrm>
          </p:grpSpPr>
          <p:sp>
            <p:nvSpPr>
              <p:cNvPr id="207" name="平行四辺形 206"/>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8" name="平行四辺形 207"/>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1" name="グループ化 200"/>
            <p:cNvGrpSpPr/>
            <p:nvPr/>
          </p:nvGrpSpPr>
          <p:grpSpPr>
            <a:xfrm>
              <a:off x="2840295" y="2276872"/>
              <a:ext cx="571610" cy="360040"/>
              <a:chOff x="396352" y="5445224"/>
              <a:chExt cx="7200800" cy="576064"/>
            </a:xfrm>
          </p:grpSpPr>
          <p:sp>
            <p:nvSpPr>
              <p:cNvPr id="205" name="平行四辺形 204"/>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6" name="平行四辺形 205"/>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2" name="グループ化 201"/>
            <p:cNvGrpSpPr/>
            <p:nvPr/>
          </p:nvGrpSpPr>
          <p:grpSpPr>
            <a:xfrm>
              <a:off x="3344351" y="2276872"/>
              <a:ext cx="579577" cy="360040"/>
              <a:chOff x="120602" y="5445224"/>
              <a:chExt cx="7200800" cy="576064"/>
            </a:xfrm>
          </p:grpSpPr>
          <p:sp>
            <p:nvSpPr>
              <p:cNvPr id="203" name="平行四辺形 202"/>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4" name="平行四辺形 203"/>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sp>
        <p:nvSpPr>
          <p:cNvPr id="212" name="角丸四角形 211"/>
          <p:cNvSpPr/>
          <p:nvPr/>
        </p:nvSpPr>
        <p:spPr bwMode="auto">
          <a:xfrm>
            <a:off x="5105989" y="180898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3" name="角丸四角形 212"/>
          <p:cNvSpPr/>
          <p:nvPr/>
        </p:nvSpPr>
        <p:spPr bwMode="auto">
          <a:xfrm>
            <a:off x="6906009" y="2438989"/>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4" name="角丸四角形 213"/>
          <p:cNvSpPr/>
          <p:nvPr/>
        </p:nvSpPr>
        <p:spPr bwMode="auto">
          <a:xfrm>
            <a:off x="8796030" y="315899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6" name="角丸四角形 215"/>
          <p:cNvSpPr/>
          <p:nvPr/>
        </p:nvSpPr>
        <p:spPr bwMode="auto">
          <a:xfrm>
            <a:off x="5195990" y="4419011"/>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7" name="角丸四角形 216"/>
          <p:cNvSpPr/>
          <p:nvPr/>
        </p:nvSpPr>
        <p:spPr bwMode="auto">
          <a:xfrm>
            <a:off x="5555994" y="5049018"/>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8" name="角丸四角形 217"/>
          <p:cNvSpPr/>
          <p:nvPr/>
        </p:nvSpPr>
        <p:spPr bwMode="auto">
          <a:xfrm>
            <a:off x="5915998" y="567902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nvGrpSpPr>
          <p:cNvPr id="97" name="グループ化 96"/>
          <p:cNvGrpSpPr/>
          <p:nvPr/>
        </p:nvGrpSpPr>
        <p:grpSpPr>
          <a:xfrm>
            <a:off x="4529889" y="2456946"/>
            <a:ext cx="2073428" cy="431940"/>
            <a:chOff x="971600" y="5445224"/>
            <a:chExt cx="7256909" cy="576064"/>
          </a:xfrm>
        </p:grpSpPr>
        <p:sp>
          <p:nvSpPr>
            <p:cNvPr id="101" name="平行四辺形 10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2" name="平行四辺形 101"/>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3" name="グループ化 102"/>
          <p:cNvGrpSpPr/>
          <p:nvPr/>
        </p:nvGrpSpPr>
        <p:grpSpPr>
          <a:xfrm>
            <a:off x="6419910" y="3176954"/>
            <a:ext cx="2073428" cy="431940"/>
            <a:chOff x="971600" y="5445224"/>
            <a:chExt cx="7256909" cy="576064"/>
          </a:xfrm>
        </p:grpSpPr>
        <p:sp>
          <p:nvSpPr>
            <p:cNvPr id="104" name="平行四辺形 10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5" name="平行四辺形 104"/>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6" name="正方形/長方形 105"/>
          <p:cNvSpPr/>
          <p:nvPr/>
        </p:nvSpPr>
        <p:spPr>
          <a:xfrm>
            <a:off x="7626018" y="2438989"/>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2082093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a:xfrm>
            <a:off x="2135956" y="2528990"/>
            <a:ext cx="7920088" cy="540006"/>
          </a:xfrm>
        </p:spPr>
        <p:txBody>
          <a:bodyPr/>
          <a:lstStyle/>
          <a:p>
            <a:r>
              <a:rPr kumimoji="1" lang="ja-JP" altLang="en-US" b="1" dirty="0"/>
              <a:t>シングル・サイクル・プロセッサの動作</a:t>
            </a:r>
            <a:endParaRPr lang="ja-JP" altLang="en-US" dirty="0"/>
          </a:p>
        </p:txBody>
      </p:sp>
    </p:spTree>
    <p:extLst>
      <p:ext uri="{BB962C8B-B14F-4D97-AF65-F5344CB8AC3E}">
        <p14:creationId xmlns:p14="http://schemas.microsoft.com/office/powerpoint/2010/main" val="3347102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もくじ</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b="1" dirty="0"/>
              <a:t>シングル・サイクル・プロセッサの動作</a:t>
            </a:r>
            <a:endParaRPr kumimoji="1" lang="en-US" altLang="ja-JP" b="1" dirty="0"/>
          </a:p>
          <a:p>
            <a:pPr lvl="1"/>
            <a:r>
              <a:rPr lang="ja-JP" altLang="en-US" dirty="0"/>
              <a:t>パイプライン化を前提とした構造のものを使って復習</a:t>
            </a:r>
            <a:endParaRPr lang="en-US" altLang="ja-JP" dirty="0"/>
          </a:p>
          <a:p>
            <a:pPr lvl="1"/>
            <a:r>
              <a:rPr lang="ja-JP" altLang="en-US" dirty="0"/>
              <a:t>全ての命令の処理が１サイクルで完結</a:t>
            </a:r>
            <a:endParaRPr lang="en-US" altLang="ja-JP" dirty="0"/>
          </a:p>
          <a:p>
            <a:pPr marL="457200" indent="-457200">
              <a:buFont typeface="+mj-lt"/>
              <a:buAutoNum type="arabicPeriod"/>
            </a:pPr>
            <a:r>
              <a:rPr kumimoji="1" lang="ja-JP" altLang="en-US" dirty="0"/>
              <a:t>上記のパイプライン化</a:t>
            </a:r>
            <a:endParaRPr kumimoji="1" lang="en-US" altLang="ja-JP" dirty="0"/>
          </a:p>
          <a:p>
            <a:pPr marL="817200" lvl="1" indent="-457200">
              <a:buFont typeface="+mj-lt"/>
              <a:buAutoNum type="arabicPeriod"/>
            </a:pPr>
            <a:r>
              <a:rPr kumimoji="1" lang="ja-JP" altLang="en-US" dirty="0"/>
              <a:t>具体的にどうパイプライン化するか</a:t>
            </a:r>
            <a:endParaRPr kumimoji="1" lang="en-US" altLang="ja-JP" dirty="0"/>
          </a:p>
          <a:p>
            <a:pPr marL="457200" indent="-457200">
              <a:buFont typeface="+mj-lt"/>
              <a:buAutoNum type="arabicPeriod"/>
            </a:pPr>
            <a:r>
              <a:rPr lang="ja-JP" altLang="en-US" dirty="0"/>
              <a:t>（次回以降）ハザード</a:t>
            </a:r>
            <a:endParaRPr kumimoji="1" lang="ja-JP" altLang="en-US" dirty="0"/>
          </a:p>
        </p:txBody>
      </p:sp>
    </p:spTree>
    <p:extLst>
      <p:ext uri="{BB962C8B-B14F-4D97-AF65-F5344CB8AC3E}">
        <p14:creationId xmlns:p14="http://schemas.microsoft.com/office/powerpoint/2010/main" val="2338412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ベースとなるシングル・サイクル・プロセッサ</a:t>
            </a:r>
            <a:endParaRPr kumimoji="1" lang="ja-JP" altLang="en-US" dirty="0"/>
          </a:p>
        </p:txBody>
      </p:sp>
      <p:sp>
        <p:nvSpPr>
          <p:cNvPr id="3" name="テキスト プレースホルダー 2"/>
          <p:cNvSpPr>
            <a:spLocks noGrp="1"/>
          </p:cNvSpPr>
          <p:nvPr>
            <p:ph type="body" sz="quarter" idx="10"/>
          </p:nvPr>
        </p:nvSpPr>
        <p:spPr>
          <a:xfrm>
            <a:off x="2135956" y="4689015"/>
            <a:ext cx="8280092" cy="1259707"/>
          </a:xfrm>
        </p:spPr>
        <p:txBody>
          <a:bodyPr anchor="t"/>
          <a:lstStyle/>
          <a:p>
            <a:r>
              <a:rPr kumimoji="1" lang="ja-JP" altLang="en-US" dirty="0"/>
              <a:t>以前説明したものとの違い：</a:t>
            </a:r>
            <a:endParaRPr kumimoji="1" lang="en-US" altLang="ja-JP" dirty="0"/>
          </a:p>
          <a:p>
            <a:pPr lvl="1"/>
            <a:r>
              <a:rPr kumimoji="1" lang="ja-JP" altLang="en-US" dirty="0"/>
              <a:t>メモリが命令メモリとデータメモリに別れている</a:t>
            </a:r>
          </a:p>
          <a:p>
            <a:pPr lvl="1"/>
            <a:r>
              <a:rPr kumimoji="1" lang="ja-JP" altLang="en-US" dirty="0"/>
              <a:t>算術 </a:t>
            </a:r>
            <a:r>
              <a:rPr kumimoji="1" lang="en-US" altLang="ja-JP" dirty="0"/>
              <a:t>&amp; </a:t>
            </a:r>
            <a:r>
              <a:rPr kumimoji="1" lang="ja-JP" altLang="en-US" dirty="0"/>
              <a:t>論理演算，ロード，ストアのみを実行可能</a:t>
            </a:r>
            <a:endParaRPr kumimoji="1" lang="en-US" altLang="ja-JP" dirty="0"/>
          </a:p>
          <a:p>
            <a:pPr lvl="2"/>
            <a:r>
              <a:rPr kumimoji="1" lang="ja-JP" altLang="en-US" dirty="0"/>
              <a:t>分岐とジャンプは，簡単のために今は考えない</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3" name="正方形/長方形 22"/>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24" name="正方形/長方形 23"/>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25"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7" name="正方形/長方形 26"/>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8" name="正方形/長方形 27"/>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9" name="正方形/長方形 28"/>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30" name="正方形/長方形 29"/>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accent5"/>
                </a:solidFill>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34"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5"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6" name="直線矢印コネクタ 35"/>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8" name="直線矢印コネクタ 37"/>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41" name="正方形/長方形 40"/>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42" name="正方形/長方形 41"/>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accent5"/>
                </a:solidFill>
                <a:latin typeface="メイリオ" panose="020B0604030504040204" pitchFamily="50" charset="-128"/>
                <a:ea typeface="メイリオ" panose="020B0604030504040204" pitchFamily="50" charset="-128"/>
              </a:rPr>
              <a:t>データ・メモリ</a:t>
            </a:r>
          </a:p>
        </p:txBody>
      </p:sp>
      <p:sp>
        <p:nvSpPr>
          <p:cNvPr id="43"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5"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6" name="正方形/長方形 45"/>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7" name="直線矢印コネクタ 46"/>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8" name="直線矢印コネクタ 47"/>
          <p:cNvCxnSpPr>
            <a:endCxn id="34"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50"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8" name="正方形/長方形 77"/>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813319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955954" y="0"/>
            <a:ext cx="8712046" cy="908972"/>
          </a:xfrm>
        </p:spPr>
        <p:txBody>
          <a:bodyPr/>
          <a:lstStyle/>
          <a:p>
            <a:r>
              <a:rPr lang="ja-JP" altLang="en-US" dirty="0"/>
              <a:t>命令の実行フェーズ</a:t>
            </a:r>
          </a:p>
        </p:txBody>
      </p:sp>
      <p:sp>
        <p:nvSpPr>
          <p:cNvPr id="3" name="コンテンツ プレースホルダー 2"/>
          <p:cNvSpPr>
            <a:spLocks noGrp="1"/>
          </p:cNvSpPr>
          <p:nvPr>
            <p:ph type="body" sz="quarter" idx="10"/>
          </p:nvPr>
        </p:nvSpPr>
        <p:spPr>
          <a:xfrm>
            <a:off x="2135956" y="1088975"/>
            <a:ext cx="8280092" cy="5220057"/>
          </a:xfrm>
        </p:spPr>
        <p:txBody>
          <a:bodyPr/>
          <a:lstStyle/>
          <a:p>
            <a:r>
              <a:rPr lang="ja-JP" altLang="en-US" dirty="0"/>
              <a:t>実行フェーズ</a:t>
            </a:r>
            <a:endParaRPr lang="en-US" altLang="ja-JP" dirty="0"/>
          </a:p>
          <a:p>
            <a:pPr marL="817200" lvl="1" indent="-457200">
              <a:buFont typeface="+mj-lt"/>
              <a:buAutoNum type="arabicPeriod"/>
            </a:pPr>
            <a:r>
              <a:rPr lang="ja-JP" altLang="en-US" dirty="0"/>
              <a:t>フェッチ</a:t>
            </a:r>
            <a:endParaRPr lang="en-US" altLang="ja-JP" dirty="0"/>
          </a:p>
          <a:p>
            <a:pPr marL="817200" lvl="1" indent="-457200">
              <a:buFont typeface="+mj-lt"/>
              <a:buAutoNum type="arabicPeriod"/>
            </a:pPr>
            <a:r>
              <a:rPr lang="ja-JP" altLang="en-US" dirty="0"/>
              <a:t>デコード</a:t>
            </a:r>
            <a:endParaRPr lang="en-US" altLang="ja-JP" dirty="0"/>
          </a:p>
          <a:p>
            <a:pPr marL="817200" lvl="1" indent="-457200">
              <a:buFont typeface="+mj-lt"/>
              <a:buAutoNum type="arabicPeriod"/>
            </a:pPr>
            <a:r>
              <a:rPr lang="ja-JP" altLang="en-US" dirty="0"/>
              <a:t>レジスタ読み出し</a:t>
            </a:r>
            <a:endParaRPr lang="en-US" altLang="ja-JP" dirty="0"/>
          </a:p>
          <a:p>
            <a:pPr marL="817200" lvl="1" indent="-457200">
              <a:buFont typeface="+mj-lt"/>
              <a:buAutoNum type="arabicPeriod"/>
            </a:pPr>
            <a:r>
              <a:rPr lang="ja-JP" altLang="en-US" dirty="0"/>
              <a:t>実行</a:t>
            </a:r>
            <a:endParaRPr lang="en-US" altLang="ja-JP" dirty="0"/>
          </a:p>
          <a:p>
            <a:pPr marL="817200" lvl="1" indent="-457200">
              <a:buFont typeface="+mj-lt"/>
              <a:buAutoNum type="arabicPeriod"/>
            </a:pPr>
            <a:r>
              <a:rPr lang="ja-JP" altLang="en-US" dirty="0"/>
              <a:t>レジスタ書き戻し</a:t>
            </a:r>
            <a:endParaRPr lang="en-US" altLang="ja-JP" dirty="0"/>
          </a:p>
          <a:p>
            <a:r>
              <a:rPr lang="en-US" altLang="ja-JP" dirty="0"/>
              <a:t>RISC-V </a:t>
            </a:r>
            <a:r>
              <a:rPr lang="ja-JP" altLang="en-US" dirty="0"/>
              <a:t>の加算命令を実行する流れをざっとみる</a:t>
            </a:r>
            <a:endParaRPr lang="en-US" altLang="ja-JP" dirty="0"/>
          </a:p>
        </p:txBody>
      </p:sp>
    </p:spTree>
    <p:extLst>
      <p:ext uri="{BB962C8B-B14F-4D97-AF65-F5344CB8AC3E}">
        <p14:creationId xmlns:p14="http://schemas.microsoft.com/office/powerpoint/2010/main" val="2044734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命令フェッチ</a:t>
            </a:r>
            <a:endParaRPr kumimoji="1" lang="ja-JP" altLang="en-US" dirty="0"/>
          </a:p>
        </p:txBody>
      </p:sp>
      <p:sp>
        <p:nvSpPr>
          <p:cNvPr id="3" name="テキスト プレースホルダー 2"/>
          <p:cNvSpPr>
            <a:spLocks noGrp="1"/>
          </p:cNvSpPr>
          <p:nvPr>
            <p:ph type="body" sz="quarter" idx="10"/>
          </p:nvPr>
        </p:nvSpPr>
        <p:spPr>
          <a:xfrm>
            <a:off x="1775952" y="4599013"/>
            <a:ext cx="8280092" cy="2023864"/>
          </a:xfrm>
        </p:spPr>
        <p:txBody>
          <a:bodyPr anchor="t"/>
          <a:lstStyle/>
          <a:p>
            <a:r>
              <a:rPr lang="ja-JP" altLang="en-US" dirty="0"/>
              <a:t>命令メモリから命令を読み出す</a:t>
            </a:r>
            <a:endParaRPr lang="en-US" altLang="ja-JP" dirty="0"/>
          </a:p>
          <a:p>
            <a:pPr lvl="1"/>
            <a:r>
              <a:rPr lang="ja-JP" altLang="en-US" dirty="0"/>
              <a:t>命令メモリを順に読んでいくため，</a:t>
            </a:r>
            <a:r>
              <a:rPr lang="en-US" altLang="ja-JP" dirty="0"/>
              <a:t>PC </a:t>
            </a:r>
            <a:r>
              <a:rPr lang="ja-JP" altLang="en-US" dirty="0"/>
              <a:t>は毎サイクル加算される</a:t>
            </a:r>
            <a:endParaRPr lang="en-US" altLang="ja-JP" dirty="0"/>
          </a:p>
          <a:p>
            <a:pPr lvl="1"/>
            <a:r>
              <a:rPr lang="ja-JP" altLang="en-US" dirty="0"/>
              <a:t>足している４は，</a:t>
            </a:r>
            <a:r>
              <a:rPr lang="en-US" altLang="ja-JP" dirty="0"/>
              <a:t>RSIC-V </a:t>
            </a:r>
            <a:r>
              <a:rPr lang="ja-JP" altLang="en-US" dirty="0"/>
              <a:t>では命令の幅が４バイトだから</a:t>
            </a:r>
            <a:endParaRPr lang="en-US" altLang="ja-JP" dirty="0"/>
          </a:p>
          <a:p>
            <a:pPr lvl="1"/>
            <a:r>
              <a:rPr lang="ja-JP" altLang="en-US" dirty="0"/>
              <a:t>基本的に，この部分はどの命令でも変わらない</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sp>
        <p:nvSpPr>
          <p:cNvPr id="23" name="正方形/長方形 22"/>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24" name="正方形/長方形 23"/>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49" name="直線矢印コネクタ 48"/>
          <p:cNvCxnSpPr/>
          <p:nvPr/>
        </p:nvCxnSpPr>
        <p:spPr bwMode="auto">
          <a:xfrm>
            <a:off x="3935976" y="3429000"/>
            <a:ext cx="360004" cy="0"/>
          </a:xfrm>
          <a:prstGeom prst="straightConnector1">
            <a:avLst/>
          </a:prstGeom>
          <a:noFill/>
          <a:ln w="9525" cap="flat" cmpd="sng" algn="ctr">
            <a:solidFill>
              <a:schemeClr val="accent6"/>
            </a:solidFill>
            <a:prstDash val="solid"/>
            <a:round/>
            <a:headEnd type="none" w="med" len="med"/>
            <a:tailEnd type="triangle"/>
          </a:ln>
          <a:effectLst/>
        </p:spPr>
      </p:cxnSp>
      <p:sp>
        <p:nvSpPr>
          <p:cNvPr id="51" name="正方形/長方形 50"/>
          <p:cNvSpPr/>
          <p:nvPr/>
        </p:nvSpPr>
        <p:spPr bwMode="auto">
          <a:xfrm>
            <a:off x="4295981"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命令データ</a:t>
            </a:r>
          </a:p>
        </p:txBody>
      </p:sp>
      <p:sp>
        <p:nvSpPr>
          <p:cNvPr id="52" name="正方形/長方形 51"/>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991320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命令デコード</a:t>
            </a:r>
            <a:endParaRPr kumimoji="1" lang="ja-JP" altLang="en-US" dirty="0"/>
          </a:p>
        </p:txBody>
      </p:sp>
      <p:sp>
        <p:nvSpPr>
          <p:cNvPr id="3" name="テキスト プレースホルダー 2"/>
          <p:cNvSpPr>
            <a:spLocks noGrp="1"/>
          </p:cNvSpPr>
          <p:nvPr>
            <p:ph type="body" sz="quarter" idx="10"/>
          </p:nvPr>
        </p:nvSpPr>
        <p:spPr>
          <a:xfrm>
            <a:off x="2135956" y="5319022"/>
            <a:ext cx="8280092" cy="1350014"/>
          </a:xfrm>
        </p:spPr>
        <p:txBody>
          <a:bodyPr anchor="t"/>
          <a:lstStyle/>
          <a:p>
            <a:r>
              <a:rPr kumimoji="1" lang="ja-JP" altLang="en-US" dirty="0"/>
              <a:t>取り出した命令からレジスタ番号を表す部分のビットを取り出す</a:t>
            </a:r>
            <a:endParaRPr kumimoji="1" lang="en-US" altLang="ja-JP" dirty="0"/>
          </a:p>
          <a:p>
            <a:pPr lvl="1"/>
            <a:r>
              <a:rPr lang="ja-JP" altLang="en-US" dirty="0"/>
              <a:t>ソース（</a:t>
            </a:r>
            <a:r>
              <a:rPr lang="en-US" altLang="ja-JP" dirty="0"/>
              <a:t>rs1, rs2</a:t>
            </a:r>
            <a:r>
              <a:rPr lang="ja-JP" altLang="en-US" dirty="0"/>
              <a:t>）とディスティネーション（</a:t>
            </a:r>
            <a:r>
              <a:rPr lang="en-US" altLang="ja-JP" dirty="0" err="1"/>
              <a:t>rd</a:t>
            </a:r>
            <a:r>
              <a:rPr lang="ja-JP" altLang="en-US" dirty="0"/>
              <a:t>）</a:t>
            </a:r>
            <a:endParaRPr kumimoji="1" lang="ja-JP" altLang="en-US"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sp>
        <p:nvSpPr>
          <p:cNvPr id="24" name="正方形/長方形 23"/>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49" name="直線矢印コネクタ 48"/>
          <p:cNvCxnSpPr/>
          <p:nvPr/>
        </p:nvCxnSpPr>
        <p:spPr bwMode="auto">
          <a:xfrm>
            <a:off x="393597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51" name="Freeform 10"/>
          <p:cNvSpPr>
            <a:spLocks/>
          </p:cNvSpPr>
          <p:nvPr/>
        </p:nvSpPr>
        <p:spPr bwMode="auto">
          <a:xfrm flipV="1">
            <a:off x="4295981" y="3248997"/>
            <a:ext cx="360004" cy="72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2" name="直線矢印コネクタ 51"/>
          <p:cNvCxnSpPr/>
          <p:nvPr/>
        </p:nvCxnSpPr>
        <p:spPr bwMode="auto">
          <a:xfrm>
            <a:off x="4295981" y="3609002"/>
            <a:ext cx="360004" cy="0"/>
          </a:xfrm>
          <a:prstGeom prst="straightConnector1">
            <a:avLst/>
          </a:prstGeom>
          <a:noFill/>
          <a:ln w="9525" cap="flat" cmpd="sng" algn="ctr">
            <a:solidFill>
              <a:schemeClr val="tx1"/>
            </a:solidFill>
            <a:prstDash val="solid"/>
            <a:round/>
            <a:headEnd type="oval" w="sm" len="sm"/>
            <a:tailEnd type="triangle"/>
          </a:ln>
          <a:effectLst/>
        </p:spPr>
      </p:cxnSp>
      <p:sp>
        <p:nvSpPr>
          <p:cNvPr id="53" name="正方形/長方形 52"/>
          <p:cNvSpPr/>
          <p:nvPr/>
        </p:nvSpPr>
        <p:spPr bwMode="auto">
          <a:xfrm>
            <a:off x="4655985"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400" b="1" dirty="0">
                <a:solidFill>
                  <a:schemeClr val="accent6"/>
                </a:solidFill>
                <a:latin typeface="メイリオ" panose="020B0604030504040204" pitchFamily="50" charset="-128"/>
                <a:ea typeface="メイリオ" panose="020B0604030504040204" pitchFamily="50" charset="-128"/>
              </a:rPr>
              <a:t>レジスタ番号（</a:t>
            </a:r>
            <a:r>
              <a:rPr lang="en-US" altLang="ja-JP" sz="1400" b="1" dirty="0" err="1">
                <a:solidFill>
                  <a:schemeClr val="accent6"/>
                </a:solidFill>
                <a:latin typeface="メイリオ" panose="020B0604030504040204" pitchFamily="50" charset="-128"/>
                <a:ea typeface="メイリオ" panose="020B0604030504040204" pitchFamily="50" charset="-128"/>
              </a:rPr>
              <a:t>rd</a:t>
            </a:r>
            <a:r>
              <a:rPr lang="ja-JP" altLang="en-US" sz="1400" b="1" dirty="0">
                <a:solidFill>
                  <a:schemeClr val="accent6"/>
                </a:solidFill>
                <a:latin typeface="メイリオ" panose="020B0604030504040204" pitchFamily="50" charset="-128"/>
                <a:ea typeface="メイリオ" panose="020B0604030504040204" pitchFamily="50" charset="-128"/>
              </a:rPr>
              <a:t>）</a:t>
            </a:r>
          </a:p>
        </p:txBody>
      </p:sp>
      <p:sp>
        <p:nvSpPr>
          <p:cNvPr id="54" name="正方形/長方形 53"/>
          <p:cNvSpPr/>
          <p:nvPr/>
        </p:nvSpPr>
        <p:spPr bwMode="auto">
          <a:xfrm>
            <a:off x="4655985"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400" b="1" dirty="0">
                <a:solidFill>
                  <a:schemeClr val="accent6"/>
                </a:solidFill>
                <a:latin typeface="メイリオ" panose="020B0604030504040204" pitchFamily="50" charset="-128"/>
                <a:ea typeface="メイリオ" panose="020B0604030504040204" pitchFamily="50" charset="-128"/>
              </a:rPr>
              <a:t>レジスタ番号（</a:t>
            </a:r>
            <a:r>
              <a:rPr lang="en-US" altLang="ja-JP" sz="1400" b="1" dirty="0">
                <a:solidFill>
                  <a:schemeClr val="accent6"/>
                </a:solidFill>
                <a:latin typeface="メイリオ" panose="020B0604030504040204" pitchFamily="50" charset="-128"/>
                <a:ea typeface="メイリオ" panose="020B0604030504040204" pitchFamily="50" charset="-128"/>
              </a:rPr>
              <a:t>rs1</a:t>
            </a:r>
            <a:r>
              <a:rPr lang="ja-JP" altLang="en-US" sz="1400" b="1" dirty="0">
                <a:solidFill>
                  <a:schemeClr val="accent6"/>
                </a:solidFill>
                <a:latin typeface="メイリオ" panose="020B0604030504040204" pitchFamily="50" charset="-128"/>
                <a:ea typeface="メイリオ" panose="020B0604030504040204" pitchFamily="50" charset="-128"/>
              </a:rPr>
              <a:t>）</a:t>
            </a:r>
          </a:p>
        </p:txBody>
      </p:sp>
      <p:sp>
        <p:nvSpPr>
          <p:cNvPr id="55" name="正方形/長方形 54"/>
          <p:cNvSpPr/>
          <p:nvPr/>
        </p:nvSpPr>
        <p:spPr bwMode="auto">
          <a:xfrm>
            <a:off x="4655985"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400" b="1" dirty="0">
                <a:solidFill>
                  <a:schemeClr val="accent6"/>
                </a:solidFill>
                <a:latin typeface="メイリオ" panose="020B0604030504040204" pitchFamily="50" charset="-128"/>
                <a:ea typeface="メイリオ" panose="020B0604030504040204" pitchFamily="50" charset="-128"/>
              </a:rPr>
              <a:t>レジスタ番号（</a:t>
            </a:r>
            <a:r>
              <a:rPr lang="en-US" altLang="ja-JP" sz="1400" b="1" dirty="0">
                <a:solidFill>
                  <a:schemeClr val="accent6"/>
                </a:solidFill>
                <a:latin typeface="メイリオ" panose="020B0604030504040204" pitchFamily="50" charset="-128"/>
                <a:ea typeface="メイリオ" panose="020B0604030504040204" pitchFamily="50" charset="-128"/>
              </a:rPr>
              <a:t>rs2</a:t>
            </a:r>
            <a:r>
              <a:rPr lang="ja-JP" altLang="en-US" sz="1400" b="1" dirty="0">
                <a:solidFill>
                  <a:schemeClr val="accent6"/>
                </a:solidFill>
                <a:latin typeface="メイリオ" panose="020B0604030504040204" pitchFamily="50" charset="-128"/>
                <a:ea typeface="メイリオ" panose="020B0604030504040204" pitchFamily="50" charset="-128"/>
              </a:rPr>
              <a:t>）</a:t>
            </a:r>
          </a:p>
        </p:txBody>
      </p:sp>
      <p:cxnSp>
        <p:nvCxnSpPr>
          <p:cNvPr id="56" name="直線矢印コネクタ 55"/>
          <p:cNvCxnSpPr/>
          <p:nvPr/>
        </p:nvCxnSpPr>
        <p:spPr bwMode="auto">
          <a:xfrm>
            <a:off x="4295981" y="3969006"/>
            <a:ext cx="360004" cy="0"/>
          </a:xfrm>
          <a:prstGeom prst="straightConnector1">
            <a:avLst/>
          </a:prstGeom>
          <a:noFill/>
          <a:ln w="9525" cap="flat" cmpd="sng" algn="ctr">
            <a:solidFill>
              <a:schemeClr val="tx1"/>
            </a:solidFill>
            <a:prstDash val="solid"/>
            <a:round/>
            <a:headEnd type="none" w="sm" len="sm"/>
            <a:tailEnd type="triangle"/>
          </a:ln>
          <a:effectLst/>
        </p:spPr>
      </p:cxnSp>
      <p:sp>
        <p:nvSpPr>
          <p:cNvPr id="57" name="Text Box 30"/>
          <p:cNvSpPr txBox="1">
            <a:spLocks noChangeArrowheads="1"/>
          </p:cNvSpPr>
          <p:nvPr/>
        </p:nvSpPr>
        <p:spPr bwMode="auto">
          <a:xfrm>
            <a:off x="7176012" y="4869016"/>
            <a:ext cx="1080116"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err="1"/>
              <a:t>rd</a:t>
            </a:r>
            <a:endParaRPr lang="en-US" altLang="ja-JP" sz="1600" dirty="0"/>
          </a:p>
        </p:txBody>
      </p:sp>
      <p:sp>
        <p:nvSpPr>
          <p:cNvPr id="58" name="Text Box 31"/>
          <p:cNvSpPr txBox="1">
            <a:spLocks noChangeArrowheads="1"/>
          </p:cNvSpPr>
          <p:nvPr/>
        </p:nvSpPr>
        <p:spPr bwMode="auto">
          <a:xfrm>
            <a:off x="8256024" y="4869016"/>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0110011</a:t>
            </a:r>
          </a:p>
        </p:txBody>
      </p:sp>
      <p:sp>
        <p:nvSpPr>
          <p:cNvPr id="59" name="Text Box 27"/>
          <p:cNvSpPr txBox="1">
            <a:spLocks noChangeArrowheads="1"/>
          </p:cNvSpPr>
          <p:nvPr/>
        </p:nvSpPr>
        <p:spPr bwMode="auto">
          <a:xfrm>
            <a:off x="2495961" y="4869016"/>
            <a:ext cx="1710019"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0000000</a:t>
            </a:r>
            <a:endParaRPr lang="ja-JP" altLang="ja-JP" sz="1600" dirty="0"/>
          </a:p>
        </p:txBody>
      </p:sp>
      <p:sp>
        <p:nvSpPr>
          <p:cNvPr id="60" name="Text Box 27"/>
          <p:cNvSpPr txBox="1">
            <a:spLocks noChangeArrowheads="1"/>
          </p:cNvSpPr>
          <p:nvPr/>
        </p:nvSpPr>
        <p:spPr bwMode="auto">
          <a:xfrm>
            <a:off x="4205979" y="4869016"/>
            <a:ext cx="1079500"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a:t>rs2</a:t>
            </a:r>
            <a:endParaRPr lang="ja-JP" altLang="ja-JP" sz="1600" dirty="0"/>
          </a:p>
        </p:txBody>
      </p:sp>
      <p:sp>
        <p:nvSpPr>
          <p:cNvPr id="61" name="Text Box 28"/>
          <p:cNvSpPr txBox="1">
            <a:spLocks noChangeArrowheads="1"/>
          </p:cNvSpPr>
          <p:nvPr/>
        </p:nvSpPr>
        <p:spPr bwMode="auto">
          <a:xfrm>
            <a:off x="5285992" y="4869016"/>
            <a:ext cx="1080115"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a:t>rs1</a:t>
            </a:r>
          </a:p>
        </p:txBody>
      </p:sp>
      <p:sp>
        <p:nvSpPr>
          <p:cNvPr id="62" name="Text Box 29"/>
          <p:cNvSpPr txBox="1">
            <a:spLocks noChangeArrowheads="1"/>
          </p:cNvSpPr>
          <p:nvPr/>
        </p:nvSpPr>
        <p:spPr bwMode="auto">
          <a:xfrm>
            <a:off x="6366003" y="4869016"/>
            <a:ext cx="810111"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a:t>
            </a:r>
          </a:p>
        </p:txBody>
      </p:sp>
      <p:sp>
        <p:nvSpPr>
          <p:cNvPr id="64" name="正方形/長方形 63"/>
          <p:cNvSpPr/>
          <p:nvPr/>
        </p:nvSpPr>
        <p:spPr bwMode="auto">
          <a:xfrm>
            <a:off x="2405959" y="4599013"/>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ADD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65" name="正方形/長方形 6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138177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レジスタ読み出し</a:t>
            </a:r>
            <a:endParaRPr kumimoji="1" lang="ja-JP" altLang="en-US" dirty="0"/>
          </a:p>
        </p:txBody>
      </p:sp>
      <p:sp>
        <p:nvSpPr>
          <p:cNvPr id="3" name="テキスト プレースホルダー 2"/>
          <p:cNvSpPr>
            <a:spLocks noGrp="1"/>
          </p:cNvSpPr>
          <p:nvPr>
            <p:ph type="body" sz="quarter" idx="10"/>
          </p:nvPr>
        </p:nvSpPr>
        <p:spPr>
          <a:xfrm>
            <a:off x="2135956" y="4689015"/>
            <a:ext cx="8280092" cy="1259707"/>
          </a:xfrm>
        </p:spPr>
        <p:txBody>
          <a:bodyPr anchor="t"/>
          <a:lstStyle/>
          <a:p>
            <a:r>
              <a:rPr lang="ja-JP" altLang="en-US" dirty="0"/>
              <a:t>デコードで得られたレジスタ番号を使って </a:t>
            </a:r>
            <a:r>
              <a:rPr lang="en-US" altLang="ja-JP" dirty="0"/>
              <a:t>RF </a:t>
            </a:r>
            <a:r>
              <a:rPr lang="ja-JP" altLang="en-US" dirty="0"/>
              <a:t>にアクセス</a:t>
            </a:r>
            <a:endParaRPr lang="en-US" altLang="ja-JP" dirty="0"/>
          </a:p>
          <a:p>
            <a:pPr lvl="1"/>
            <a:r>
              <a:rPr lang="ja-JP" altLang="en-US" dirty="0"/>
              <a:t>ソース・オペランドの値を読み出す</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5"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8" name="正方形/長方形 27"/>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a:t>
            </a:r>
            <a:r>
              <a:rPr lang="en-US" altLang="ja-JP" sz="1200" dirty="0" err="1">
                <a:latin typeface="メイリオ" panose="020B0604030504040204" pitchFamily="50" charset="-128"/>
                <a:ea typeface="メイリオ" panose="020B0604030504040204" pitchFamily="50" charset="-128"/>
              </a:rPr>
              <a:t>rd</a:t>
            </a:r>
            <a:r>
              <a:rPr lang="en-US"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(rs1)</a:t>
            </a:r>
            <a:endParaRPr lang="ja-JP" altLang="en-US" sz="1200"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(rs2)</a:t>
            </a:r>
            <a:endParaRPr lang="ja-JP" altLang="en-US" sz="1200"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accent6"/>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accent6"/>
            </a:solidFill>
            <a:prstDash val="solid"/>
            <a:round/>
            <a:headEnd type="none" w="sm" len="sm"/>
            <a:tailEnd type="triangle"/>
          </a:ln>
          <a:effectLst/>
        </p:spPr>
      </p:cxn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6816008"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レジスタの値（</a:t>
            </a:r>
            <a:r>
              <a:rPr lang="en-US" altLang="ja-JP" sz="1600" b="1" dirty="0">
                <a:solidFill>
                  <a:schemeClr val="accent6"/>
                </a:solidFill>
                <a:latin typeface="メイリオ" panose="020B0604030504040204" pitchFamily="50" charset="-128"/>
                <a:ea typeface="メイリオ" panose="020B0604030504040204" pitchFamily="50" charset="-128"/>
              </a:rPr>
              <a:t>rs1</a:t>
            </a:r>
            <a:r>
              <a:rPr lang="ja-JP" altLang="en-US" sz="1600" b="1" dirty="0">
                <a:solidFill>
                  <a:schemeClr val="accent6"/>
                </a:solidFill>
                <a:latin typeface="メイリオ" panose="020B0604030504040204" pitchFamily="50" charset="-128"/>
                <a:ea typeface="メイリオ" panose="020B0604030504040204" pitchFamily="50" charset="-128"/>
              </a:rPr>
              <a:t>）</a:t>
            </a:r>
          </a:p>
        </p:txBody>
      </p:sp>
      <p:sp>
        <p:nvSpPr>
          <p:cNvPr id="51" name="正方形/長方形 50"/>
          <p:cNvSpPr/>
          <p:nvPr/>
        </p:nvSpPr>
        <p:spPr bwMode="auto">
          <a:xfrm>
            <a:off x="6816008"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レジスタの値（</a:t>
            </a:r>
            <a:r>
              <a:rPr lang="en-US" altLang="ja-JP" sz="1600" b="1" dirty="0">
                <a:solidFill>
                  <a:schemeClr val="accent6"/>
                </a:solidFill>
                <a:latin typeface="メイリオ" panose="020B0604030504040204" pitchFamily="50" charset="-128"/>
                <a:ea typeface="メイリオ" panose="020B0604030504040204" pitchFamily="50" charset="-128"/>
              </a:rPr>
              <a:t>rs2</a:t>
            </a:r>
            <a:r>
              <a:rPr lang="ja-JP" altLang="en-US" sz="1600" b="1" dirty="0">
                <a:solidFill>
                  <a:schemeClr val="accent6"/>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1703030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実行</a:t>
            </a:r>
          </a:p>
        </p:txBody>
      </p:sp>
      <p:sp>
        <p:nvSpPr>
          <p:cNvPr id="3" name="テキスト プレースホルダー 2"/>
          <p:cNvSpPr>
            <a:spLocks noGrp="1"/>
          </p:cNvSpPr>
          <p:nvPr>
            <p:ph type="body" sz="quarter" idx="10"/>
          </p:nvPr>
        </p:nvSpPr>
        <p:spPr>
          <a:xfrm>
            <a:off x="2135956" y="4689015"/>
            <a:ext cx="8280092" cy="1259707"/>
          </a:xfrm>
        </p:spPr>
        <p:txBody>
          <a:bodyPr anchor="t"/>
          <a:lstStyle/>
          <a:p>
            <a:r>
              <a:rPr lang="en-US" altLang="ja-JP" dirty="0"/>
              <a:t>RF </a:t>
            </a:r>
            <a:r>
              <a:rPr lang="ja-JP" altLang="en-US" dirty="0"/>
              <a:t>から読みだした２つの値を加算</a:t>
            </a:r>
            <a:endParaRPr lang="en-US" altLang="ja-JP"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6" y="3158996"/>
            <a:ext cx="1260015"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5"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7" name="正方形/長方形 26"/>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endParaRPr lang="ja-JP" altLang="en-US" sz="1200"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cxnSp>
        <p:nvCxnSpPr>
          <p:cNvPr id="49" name="直線矢印コネクタ 48"/>
          <p:cNvCxnSpPr/>
          <p:nvPr/>
        </p:nvCxnSpPr>
        <p:spPr bwMode="auto">
          <a:xfrm>
            <a:off x="7536017" y="3519001"/>
            <a:ext cx="450005" cy="0"/>
          </a:xfrm>
          <a:prstGeom prst="straightConnector1">
            <a:avLst/>
          </a:prstGeom>
          <a:noFill/>
          <a:ln w="9525" cap="flat" cmpd="sng" algn="ctr">
            <a:solidFill>
              <a:schemeClr val="accent6"/>
            </a:solidFill>
            <a:prstDash val="solid"/>
            <a:round/>
            <a:headEnd type="none" w="sm" len="sm"/>
            <a:tailEnd type="triangle"/>
          </a:ln>
          <a:effectLst/>
        </p:spPr>
      </p:cxnSp>
      <p:sp>
        <p:nvSpPr>
          <p:cNvPr id="51" name="正方形/長方形 50"/>
          <p:cNvSpPr/>
          <p:nvPr/>
        </p:nvSpPr>
        <p:spPr bwMode="auto">
          <a:xfrm>
            <a:off x="7986021" y="333899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加算の結果</a:t>
            </a:r>
          </a:p>
        </p:txBody>
      </p:sp>
      <p:sp>
        <p:nvSpPr>
          <p:cNvPr id="52" name="正方形/長方形 51"/>
          <p:cNvSpPr/>
          <p:nvPr/>
        </p:nvSpPr>
        <p:spPr bwMode="auto">
          <a:xfrm>
            <a:off x="6186001"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値（</a:t>
            </a:r>
            <a:r>
              <a:rPr lang="en-US" altLang="ja-JP" sz="1600" b="1" dirty="0">
                <a:solidFill>
                  <a:schemeClr val="accent6"/>
                </a:solidFill>
                <a:latin typeface="メイリオ" panose="020B0604030504040204" pitchFamily="50" charset="-128"/>
                <a:ea typeface="メイリオ" panose="020B0604030504040204" pitchFamily="50" charset="-128"/>
              </a:rPr>
              <a:t>rs1</a:t>
            </a:r>
            <a:r>
              <a:rPr lang="ja-JP" altLang="en-US" sz="1600" b="1" dirty="0">
                <a:solidFill>
                  <a:schemeClr val="accent6"/>
                </a:solidFill>
                <a:latin typeface="メイリオ" panose="020B0604030504040204" pitchFamily="50" charset="-128"/>
                <a:ea typeface="メイリオ" panose="020B0604030504040204" pitchFamily="50" charset="-128"/>
              </a:rPr>
              <a:t>）</a:t>
            </a:r>
          </a:p>
        </p:txBody>
      </p:sp>
      <p:sp>
        <p:nvSpPr>
          <p:cNvPr id="53" name="正方形/長方形 52"/>
          <p:cNvSpPr/>
          <p:nvPr/>
        </p:nvSpPr>
        <p:spPr bwMode="auto">
          <a:xfrm>
            <a:off x="6186001" y="360900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値（</a:t>
            </a:r>
            <a:r>
              <a:rPr lang="en-US" altLang="ja-JP" sz="1600" b="1" dirty="0">
                <a:solidFill>
                  <a:schemeClr val="accent6"/>
                </a:solidFill>
                <a:latin typeface="メイリオ" panose="020B0604030504040204" pitchFamily="50" charset="-128"/>
                <a:ea typeface="メイリオ" panose="020B0604030504040204" pitchFamily="50" charset="-128"/>
              </a:rPr>
              <a:t>rs2</a:t>
            </a:r>
            <a:r>
              <a:rPr lang="ja-JP" altLang="en-US" sz="1600" b="1" dirty="0">
                <a:solidFill>
                  <a:schemeClr val="accent6"/>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3249010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レジスタ書き戻し</a:t>
            </a:r>
            <a:endParaRPr kumimoji="1" lang="ja-JP" altLang="en-US" dirty="0"/>
          </a:p>
        </p:txBody>
      </p:sp>
      <p:sp>
        <p:nvSpPr>
          <p:cNvPr id="3" name="テキスト プレースホルダー 2"/>
          <p:cNvSpPr>
            <a:spLocks noGrp="1"/>
          </p:cNvSpPr>
          <p:nvPr>
            <p:ph type="body" sz="quarter" idx="10"/>
          </p:nvPr>
        </p:nvSpPr>
        <p:spPr>
          <a:xfrm>
            <a:off x="2135956" y="4689015"/>
            <a:ext cx="8280092" cy="1259707"/>
          </a:xfrm>
        </p:spPr>
        <p:txBody>
          <a:bodyPr anchor="t"/>
          <a:lstStyle/>
          <a:p>
            <a:r>
              <a:rPr lang="ja-JP" altLang="en-US" dirty="0"/>
              <a:t>加算の結果をレジスタ・ファイルに書き戻す</a:t>
            </a:r>
            <a:endParaRPr lang="en-US" altLang="ja-JP" dirty="0"/>
          </a:p>
          <a:p>
            <a:pPr lvl="1"/>
            <a:r>
              <a:rPr lang="ja-JP" altLang="en-US" dirty="0"/>
              <a:t>データ・メモリには用がないので何もしない</a:t>
            </a:r>
            <a:endParaRPr lang="en-US" altLang="ja-JP"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5"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7" name="正方形/長方形 26"/>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書き込みデータ</a:t>
            </a:r>
          </a:p>
        </p:txBody>
      </p:sp>
      <p:sp>
        <p:nvSpPr>
          <p:cNvPr id="28" name="正方形/長方形 27"/>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書き</a:t>
            </a:r>
            <a:r>
              <a:rPr lang="en-US" altLang="ja-JP" sz="1200" b="1" dirty="0">
                <a:solidFill>
                  <a:schemeClr val="accent6"/>
                </a:solidFill>
                <a:latin typeface="メイリオ" panose="020B0604030504040204" pitchFamily="50" charset="-128"/>
                <a:ea typeface="メイリオ" panose="020B0604030504040204" pitchFamily="50" charset="-128"/>
              </a:rPr>
              <a:t>REG</a:t>
            </a:r>
            <a:r>
              <a:rPr lang="ja-JP" altLang="en-US" sz="1200" b="1" dirty="0">
                <a:solidFill>
                  <a:schemeClr val="accent6"/>
                </a:solidFill>
                <a:latin typeface="メイリオ" panose="020B0604030504040204" pitchFamily="50" charset="-128"/>
                <a:ea typeface="メイリオ" panose="020B0604030504040204" pitchFamily="50" charset="-128"/>
              </a:rPr>
              <a:t>番号</a:t>
            </a: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34"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5"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6" name="直線矢印コネクタ 35"/>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8" name="直線矢印コネクタ 37"/>
          <p:cNvCxnSpPr/>
          <p:nvPr/>
        </p:nvCxnSpPr>
        <p:spPr bwMode="auto">
          <a:xfrm>
            <a:off x="7536016" y="3429000"/>
            <a:ext cx="540006" cy="0"/>
          </a:xfrm>
          <a:prstGeom prst="straightConnector1">
            <a:avLst/>
          </a:prstGeom>
          <a:noFill/>
          <a:ln w="9525" cap="flat" cmpd="sng" algn="ctr">
            <a:solidFill>
              <a:schemeClr val="accent6"/>
            </a:solidFill>
            <a:prstDash val="solid"/>
            <a:round/>
            <a:headEnd type="none" w="sm" len="sm"/>
            <a:tailEnd type="non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42" name="正方形/長方形 41"/>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43"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47" name="直線矢印コネクタ 46"/>
          <p:cNvCxnSpPr/>
          <p:nvPr/>
        </p:nvCxnSpPr>
        <p:spPr bwMode="auto">
          <a:xfrm>
            <a:off x="10056044" y="2438989"/>
            <a:ext cx="0" cy="360004"/>
          </a:xfrm>
          <a:prstGeom prst="straightConnector1">
            <a:avLst/>
          </a:prstGeom>
          <a:noFill/>
          <a:ln w="38100" cap="flat" cmpd="sng" algn="ctr">
            <a:solidFill>
              <a:schemeClr val="accent6"/>
            </a:solidFill>
            <a:prstDash val="solid"/>
            <a:round/>
            <a:headEnd type="none" w="sm" len="sm"/>
            <a:tailEnd type="none"/>
          </a:ln>
          <a:effectLst/>
        </p:spPr>
      </p:cxnSp>
      <p:cxnSp>
        <p:nvCxnSpPr>
          <p:cNvPr id="48" name="直線矢印コネクタ 47"/>
          <p:cNvCxnSpPr>
            <a:endCxn id="34" idx="0"/>
          </p:cNvCxnSpPr>
          <p:nvPr/>
        </p:nvCxnSpPr>
        <p:spPr bwMode="auto">
          <a:xfrm flipH="1">
            <a:off x="4475983" y="2258987"/>
            <a:ext cx="6030067" cy="0"/>
          </a:xfrm>
          <a:prstGeom prst="straightConnector1">
            <a:avLst/>
          </a:prstGeom>
          <a:noFill/>
          <a:ln w="9525" cap="flat" cmpd="sng" algn="ctr">
            <a:solidFill>
              <a:schemeClr val="accent6"/>
            </a:solidFill>
            <a:prstDash val="solid"/>
            <a:round/>
            <a:headEnd type="none" w="sm" len="sm"/>
            <a:tailEnd type="none"/>
          </a:ln>
          <a:effectLst/>
        </p:spPr>
      </p:cxnSp>
      <p:sp>
        <p:nvSpPr>
          <p:cNvPr id="50" name="Freeform 10"/>
          <p:cNvSpPr>
            <a:spLocks/>
          </p:cNvSpPr>
          <p:nvPr/>
        </p:nvSpPr>
        <p:spPr bwMode="auto">
          <a:xfrm rot="10800000" flipH="1">
            <a:off x="8076022" y="2528985"/>
            <a:ext cx="1980022" cy="90001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cxnSp>
        <p:nvCxnSpPr>
          <p:cNvPr id="49" name="直線矢印コネクタ 48"/>
          <p:cNvCxnSpPr/>
          <p:nvPr/>
        </p:nvCxnSpPr>
        <p:spPr bwMode="auto">
          <a:xfrm>
            <a:off x="8076022" y="2978995"/>
            <a:ext cx="180002" cy="0"/>
          </a:xfrm>
          <a:prstGeom prst="straightConnector1">
            <a:avLst/>
          </a:prstGeom>
          <a:noFill/>
          <a:ln w="9525" cap="flat" cmpd="sng" algn="ctr">
            <a:solidFill>
              <a:schemeClr val="tx1"/>
            </a:solidFill>
            <a:prstDash val="solid"/>
            <a:round/>
            <a:headEnd type="none" w="sm" len="sm"/>
            <a:tailEnd type="triangle"/>
          </a:ln>
          <a:effectLst/>
        </p:spPr>
      </p:cxnSp>
    </p:spTree>
    <p:extLst>
      <p:ext uri="{BB962C8B-B14F-4D97-AF65-F5344CB8AC3E}">
        <p14:creationId xmlns:p14="http://schemas.microsoft.com/office/powerpoint/2010/main" val="37575773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ロードの場合：メモリ・アクセスが加わる</a:t>
            </a:r>
          </a:p>
        </p:txBody>
      </p:sp>
      <p:sp>
        <p:nvSpPr>
          <p:cNvPr id="3" name="テキスト プレースホルダー 2"/>
          <p:cNvSpPr>
            <a:spLocks noGrp="1"/>
          </p:cNvSpPr>
          <p:nvPr>
            <p:ph type="body" sz="quarter" idx="10"/>
          </p:nvPr>
        </p:nvSpPr>
        <p:spPr>
          <a:xfrm>
            <a:off x="2135956" y="5769334"/>
            <a:ext cx="8280092" cy="719701"/>
          </a:xfrm>
        </p:spPr>
        <p:txBody>
          <a:bodyPr/>
          <a:lstStyle/>
          <a:p>
            <a:r>
              <a:rPr kumimoji="1" lang="ja-JP" altLang="en-US" dirty="0"/>
              <a:t>加算命令との違い：</a:t>
            </a:r>
            <a:endParaRPr kumimoji="1" lang="en-US" altLang="ja-JP" dirty="0"/>
          </a:p>
          <a:p>
            <a:pPr lvl="1"/>
            <a:r>
              <a:rPr kumimoji="1" lang="ja-JP" altLang="en-US" dirty="0"/>
              <a:t>アドレスの計算（</a:t>
            </a:r>
            <a:r>
              <a:rPr lang="en-US" altLang="ja-JP" dirty="0">
                <a:solidFill>
                  <a:schemeClr val="tx1">
                    <a:lumMod val="85000"/>
                    <a:lumOff val="15000"/>
                  </a:schemeClr>
                </a:solidFill>
                <a:latin typeface="Consolas" panose="020B0609020204030204" pitchFamily="49" charset="0"/>
              </a:rPr>
              <a:t>x[rs1] + immediate</a:t>
            </a:r>
            <a:r>
              <a:rPr kumimoji="1" lang="ja-JP" altLang="en-US" dirty="0"/>
              <a:t>）を </a:t>
            </a:r>
            <a:r>
              <a:rPr kumimoji="1" lang="en-US" altLang="ja-JP" dirty="0"/>
              <a:t>ALU </a:t>
            </a:r>
            <a:r>
              <a:rPr kumimoji="1" lang="ja-JP" altLang="en-US" dirty="0"/>
              <a:t>でやる</a:t>
            </a:r>
            <a:endParaRPr kumimoji="1" lang="en-US" altLang="ja-JP" dirty="0"/>
          </a:p>
          <a:p>
            <a:pPr lvl="1"/>
            <a:r>
              <a:rPr kumimoji="1" lang="ja-JP" altLang="en-US" dirty="0"/>
              <a:t>得られたアドレスでデータ・メモリにアクセス</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書き込みデータ</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accent6"/>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accent6"/>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accent6"/>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accent6"/>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Text Box 30"/>
          <p:cNvSpPr txBox="1">
            <a:spLocks noChangeArrowheads="1"/>
          </p:cNvSpPr>
          <p:nvPr/>
        </p:nvSpPr>
        <p:spPr bwMode="auto">
          <a:xfrm>
            <a:off x="6906010" y="5049018"/>
            <a:ext cx="1080116"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err="1"/>
              <a:t>rd</a:t>
            </a:r>
            <a:endParaRPr lang="en-US" altLang="ja-JP" sz="1600" dirty="0"/>
          </a:p>
        </p:txBody>
      </p:sp>
      <p:sp>
        <p:nvSpPr>
          <p:cNvPr id="47" name="Text Box 31"/>
          <p:cNvSpPr txBox="1">
            <a:spLocks noChangeArrowheads="1"/>
          </p:cNvSpPr>
          <p:nvPr/>
        </p:nvSpPr>
        <p:spPr bwMode="auto">
          <a:xfrm>
            <a:off x="7986022" y="5049018"/>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0000011</a:t>
            </a:r>
          </a:p>
        </p:txBody>
      </p:sp>
      <p:sp>
        <p:nvSpPr>
          <p:cNvPr id="48" name="Text Box 28"/>
          <p:cNvSpPr txBox="1">
            <a:spLocks noChangeArrowheads="1"/>
          </p:cNvSpPr>
          <p:nvPr/>
        </p:nvSpPr>
        <p:spPr bwMode="auto">
          <a:xfrm>
            <a:off x="5015990" y="5049018"/>
            <a:ext cx="1080115"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a:t>rs1</a:t>
            </a:r>
          </a:p>
        </p:txBody>
      </p:sp>
      <p:sp>
        <p:nvSpPr>
          <p:cNvPr id="49" name="Text Box 29"/>
          <p:cNvSpPr txBox="1">
            <a:spLocks noChangeArrowheads="1"/>
          </p:cNvSpPr>
          <p:nvPr/>
        </p:nvSpPr>
        <p:spPr bwMode="auto">
          <a:xfrm>
            <a:off x="6096001" y="5049018"/>
            <a:ext cx="810111"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010</a:t>
            </a:r>
          </a:p>
        </p:txBody>
      </p:sp>
      <p:sp>
        <p:nvSpPr>
          <p:cNvPr id="50" name="正方形/長方形 49"/>
          <p:cNvSpPr/>
          <p:nvPr/>
        </p:nvSpPr>
        <p:spPr bwMode="auto">
          <a:xfrm>
            <a:off x="2135957" y="477901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LW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(x[rs1] + immediate)</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51" name="Text Box 27"/>
          <p:cNvSpPr txBox="1">
            <a:spLocks noChangeArrowheads="1"/>
          </p:cNvSpPr>
          <p:nvPr/>
        </p:nvSpPr>
        <p:spPr bwMode="auto">
          <a:xfrm>
            <a:off x="2225959" y="5049018"/>
            <a:ext cx="2790031"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sz="1600" dirty="0"/>
              <a:t>immediate[11:0]</a:t>
            </a:r>
            <a:endParaRPr lang="ja-JP" altLang="ja-JP" sz="1600" dirty="0"/>
          </a:p>
        </p:txBody>
      </p:sp>
      <p:sp>
        <p:nvSpPr>
          <p:cNvPr id="52" name="正方形/長方形 5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書き</a:t>
            </a:r>
            <a:r>
              <a:rPr lang="en-US" altLang="ja-JP" sz="1200" b="1" dirty="0">
                <a:solidFill>
                  <a:schemeClr val="accent6"/>
                </a:solidFill>
                <a:latin typeface="メイリオ" panose="020B0604030504040204" pitchFamily="50" charset="-128"/>
                <a:ea typeface="メイリオ" panose="020B0604030504040204" pitchFamily="50" charset="-128"/>
              </a:rPr>
              <a:t>REG</a:t>
            </a:r>
            <a:r>
              <a:rPr lang="ja-JP" altLang="en-US" sz="1200" b="1" dirty="0">
                <a:solidFill>
                  <a:schemeClr val="accent6"/>
                </a:solidFill>
                <a:latin typeface="メイリオ" panose="020B0604030504040204" pitchFamily="50" charset="-128"/>
                <a:ea typeface="メイリオ" panose="020B0604030504040204" pitchFamily="50" charset="-128"/>
              </a:rPr>
              <a:t>番号 </a:t>
            </a:r>
            <a:r>
              <a:rPr lang="en-US" altLang="ja-JP" sz="1200" b="1" dirty="0">
                <a:solidFill>
                  <a:schemeClr val="accent6"/>
                </a:solidFill>
                <a:latin typeface="メイリオ" panose="020B0604030504040204" pitchFamily="50" charset="-128"/>
                <a:ea typeface="メイリオ" panose="020B0604030504040204" pitchFamily="50" charset="-128"/>
              </a:rPr>
              <a:t>(</a:t>
            </a:r>
            <a:r>
              <a:rPr lang="en-US" altLang="ja-JP" sz="1200" b="1" dirty="0" err="1">
                <a:solidFill>
                  <a:schemeClr val="accent6"/>
                </a:solidFill>
                <a:latin typeface="メイリオ" panose="020B0604030504040204" pitchFamily="50" charset="-128"/>
                <a:ea typeface="メイリオ" panose="020B0604030504040204" pitchFamily="50" charset="-128"/>
              </a:rPr>
              <a:t>rd</a:t>
            </a:r>
            <a:r>
              <a:rPr lang="en-US" altLang="ja-JP" sz="1200" b="1" dirty="0">
                <a:solidFill>
                  <a:schemeClr val="accent6"/>
                </a:solidFill>
                <a:latin typeface="メイリオ" panose="020B0604030504040204" pitchFamily="50" charset="-128"/>
                <a:ea typeface="メイリオ" panose="020B0604030504040204" pitchFamily="50" charset="-128"/>
              </a:rPr>
              <a:t>)</a:t>
            </a:r>
            <a:endParaRPr lang="ja-JP" altLang="en-US" sz="1200" b="1" dirty="0">
              <a:solidFill>
                <a:schemeClr val="accent6"/>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23893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各処理は基本的には左から右に流れる</a:t>
            </a:r>
            <a:endParaRPr kumimoji="1" lang="ja-JP" altLang="en-US" dirty="0"/>
          </a:p>
        </p:txBody>
      </p:sp>
      <p:sp>
        <p:nvSpPr>
          <p:cNvPr id="3" name="テキスト プレースホルダー 2"/>
          <p:cNvSpPr>
            <a:spLocks noGrp="1"/>
          </p:cNvSpPr>
          <p:nvPr>
            <p:ph type="body" sz="quarter" idx="10"/>
          </p:nvPr>
        </p:nvSpPr>
        <p:spPr>
          <a:xfrm>
            <a:off x="2135956" y="5049019"/>
            <a:ext cx="8280092" cy="899703"/>
          </a:xfrm>
        </p:spPr>
        <p:txBody>
          <a:bodyPr anchor="t"/>
          <a:lstStyle/>
          <a:p>
            <a:r>
              <a:rPr kumimoji="1" lang="ja-JP" altLang="en-US" dirty="0"/>
              <a:t>特定のユニットで仕事をしている間，他の部分は遊んでいる</a:t>
            </a:r>
            <a:endParaRPr kumimoji="1" lang="en-US" altLang="ja-JP" dirty="0"/>
          </a:p>
          <a:p>
            <a:r>
              <a:rPr kumimoji="1" lang="ja-JP" altLang="en-US" dirty="0"/>
              <a:t>パイプライン化</a:t>
            </a:r>
            <a:endParaRPr kumimoji="1" lang="en-US" altLang="ja-JP" dirty="0"/>
          </a:p>
          <a:p>
            <a:pPr lvl="1"/>
            <a:r>
              <a:rPr kumimoji="1" lang="ja-JP" altLang="en-US" dirty="0"/>
              <a:t>これをもとに，導入で話したように処理をオーバーラップさせる</a:t>
            </a:r>
            <a:endParaRPr kumimoji="1" lang="en-US" altLang="ja-JP"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3" name="正方形/長方形 22"/>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24" name="正方形/長方形 23"/>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25"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7" name="正方形/長方形 26"/>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8" name="正方形/長方形 27"/>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9" name="正方形/長方形 28"/>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30" name="正方形/長方形 29"/>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34"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5"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6" name="直線矢印コネクタ 35"/>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8" name="直線矢印コネクタ 37"/>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41" name="正方形/長方形 40"/>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42" name="正方形/長方形 41"/>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43"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5"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6" name="正方形/長方形 45"/>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7" name="直線矢印コネクタ 46"/>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8" name="直線矢印コネクタ 47"/>
          <p:cNvCxnSpPr>
            <a:endCxn id="34"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50"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8" name="正方形/長方形 77"/>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13" name="角丸四角形 12"/>
          <p:cNvSpPr/>
          <p:nvPr/>
        </p:nvSpPr>
        <p:spPr bwMode="auto">
          <a:xfrm>
            <a:off x="1524000" y="1178976"/>
            <a:ext cx="2520028" cy="3330037"/>
          </a:xfrm>
          <a:prstGeom prst="roundRect">
            <a:avLst>
              <a:gd name="adj" fmla="val 7749"/>
            </a:avLst>
          </a:prstGeom>
          <a:noFill/>
          <a:ln w="28575">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4295980" y="1178976"/>
            <a:ext cx="1980022" cy="3330037"/>
          </a:xfrm>
          <a:prstGeom prst="roundRect">
            <a:avLst>
              <a:gd name="adj" fmla="val 7749"/>
            </a:avLst>
          </a:prstGeom>
          <a:noFill/>
          <a:ln w="28575">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1" name="角丸四角形 50"/>
          <p:cNvSpPr/>
          <p:nvPr/>
        </p:nvSpPr>
        <p:spPr bwMode="auto">
          <a:xfrm>
            <a:off x="6456004" y="1178976"/>
            <a:ext cx="1530018" cy="3330037"/>
          </a:xfrm>
          <a:prstGeom prst="roundRect">
            <a:avLst>
              <a:gd name="adj" fmla="val 7749"/>
            </a:avLst>
          </a:prstGeom>
          <a:noFill/>
          <a:ln w="28575">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2" name="角丸四角形 51"/>
          <p:cNvSpPr/>
          <p:nvPr/>
        </p:nvSpPr>
        <p:spPr bwMode="auto">
          <a:xfrm>
            <a:off x="8166023" y="1178976"/>
            <a:ext cx="2070022" cy="3330037"/>
          </a:xfrm>
          <a:prstGeom prst="roundRect">
            <a:avLst>
              <a:gd name="adj" fmla="val 7749"/>
            </a:avLst>
          </a:prstGeom>
          <a:noFill/>
          <a:ln w="28575">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3" name="正方形/長方形 52"/>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IF</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ID</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6" name="正方形/長方形 55"/>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EX</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MEM</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WB</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9" name="角丸四角形 58"/>
          <p:cNvSpPr/>
          <p:nvPr/>
        </p:nvSpPr>
        <p:spPr bwMode="auto">
          <a:xfrm>
            <a:off x="2855964" y="2798993"/>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spTree>
    <p:extLst>
      <p:ext uri="{BB962C8B-B14F-4D97-AF65-F5344CB8AC3E}">
        <p14:creationId xmlns:p14="http://schemas.microsoft.com/office/powerpoint/2010/main" val="40664398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5.55556E-7 7.40741E-7 L 0.23611 0.00023 " pathEditMode="relative" rAng="0" ptsTypes="AA">
                                      <p:cBhvr>
                                        <p:cTn id="6" dur="1000" fill="hold"/>
                                        <p:tgtEl>
                                          <p:spTgt spid="59"/>
                                        </p:tgtEl>
                                        <p:attrNameLst>
                                          <p:attrName>ppt_x</p:attrName>
                                          <p:attrName>ppt_y</p:attrName>
                                        </p:attrNameLst>
                                      </p:cBhvr>
                                      <p:rCtr x="11806"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0.23611 0.00023 L 0.43299 0.00023 " pathEditMode="relative" rAng="0" ptsTypes="AA">
                                      <p:cBhvr>
                                        <p:cTn id="10" dur="1000" fill="hold"/>
                                        <p:tgtEl>
                                          <p:spTgt spid="59"/>
                                        </p:tgtEl>
                                        <p:attrNameLst>
                                          <p:attrName>ppt_x</p:attrName>
                                          <p:attrName>ppt_y</p:attrName>
                                        </p:attrNameLst>
                                      </p:cBhvr>
                                      <p:rCtr x="9844"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2" nodeType="clickEffect">
                                  <p:stCondLst>
                                    <p:cond delay="0"/>
                                  </p:stCondLst>
                                  <p:childTnLst>
                                    <p:animMotion origin="layout" path="M 0.43299 0.00023 L 0.64965 0.00023 " pathEditMode="relative" rAng="0" ptsTypes="AA">
                                      <p:cBhvr>
                                        <p:cTn id="14" dur="1000" fill="hold"/>
                                        <p:tgtEl>
                                          <p:spTgt spid="59"/>
                                        </p:tgtEl>
                                        <p:attrNameLst>
                                          <p:attrName>ppt_x</p:attrName>
                                          <p:attrName>ppt_y</p:attrName>
                                        </p:attrNameLst>
                                      </p:cBhvr>
                                      <p:rCtr x="1083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9" grpId="1" animBg="1"/>
      <p:bldP spid="59" grpId="2"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a:xfrm>
            <a:off x="2135956" y="2528990"/>
            <a:ext cx="7920088" cy="540006"/>
          </a:xfrm>
        </p:spPr>
        <p:txBody>
          <a:bodyPr/>
          <a:lstStyle/>
          <a:p>
            <a:r>
              <a:rPr kumimoji="1" lang="ja-JP" altLang="en-US" b="1" dirty="0"/>
              <a:t>パイプライン化</a:t>
            </a:r>
            <a:endParaRPr kumimoji="1" lang="en-US" altLang="ja-JP" b="1" dirty="0"/>
          </a:p>
        </p:txBody>
      </p:sp>
    </p:spTree>
    <p:extLst>
      <p:ext uri="{BB962C8B-B14F-4D97-AF65-F5344CB8AC3E}">
        <p14:creationId xmlns:p14="http://schemas.microsoft.com/office/powerpoint/2010/main" val="30347901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もくじ</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シングル・サイクル・プロセッサの動作</a:t>
            </a:r>
            <a:endParaRPr kumimoji="1" lang="en-US" altLang="ja-JP" dirty="0"/>
          </a:p>
          <a:p>
            <a:pPr lvl="1"/>
            <a:r>
              <a:rPr lang="ja-JP" altLang="en-US" dirty="0"/>
              <a:t>パイプライン化を前提とした構造のものを使って復習</a:t>
            </a:r>
            <a:endParaRPr lang="en-US" altLang="ja-JP" dirty="0"/>
          </a:p>
          <a:p>
            <a:pPr lvl="1"/>
            <a:r>
              <a:rPr lang="ja-JP" altLang="en-US" dirty="0"/>
              <a:t>全ての命令の処理が１サイクルで完結</a:t>
            </a:r>
            <a:endParaRPr lang="en-US" altLang="ja-JP" dirty="0"/>
          </a:p>
          <a:p>
            <a:pPr marL="457200" indent="-457200">
              <a:buFont typeface="+mj-lt"/>
              <a:buAutoNum type="arabicPeriod"/>
            </a:pPr>
            <a:r>
              <a:rPr kumimoji="1" lang="ja-JP" altLang="en-US" b="1" dirty="0"/>
              <a:t>上記のパイプライン化</a:t>
            </a:r>
            <a:endParaRPr kumimoji="1" lang="en-US" altLang="ja-JP" b="1" dirty="0"/>
          </a:p>
          <a:p>
            <a:pPr marL="817200" lvl="1" indent="-457200">
              <a:buFont typeface="+mj-lt"/>
              <a:buAutoNum type="arabicPeriod"/>
            </a:pPr>
            <a:r>
              <a:rPr kumimoji="1" lang="ja-JP" altLang="en-US" dirty="0"/>
              <a:t>具体的にどうパイプライン化するか</a:t>
            </a:r>
            <a:endParaRPr kumimoji="1" lang="en-US" altLang="ja-JP" dirty="0"/>
          </a:p>
          <a:p>
            <a:pPr marL="457200" indent="-457200">
              <a:buFont typeface="+mj-lt"/>
              <a:buAutoNum type="arabicPeriod"/>
            </a:pPr>
            <a:r>
              <a:rPr lang="ja-JP" altLang="en-US" dirty="0"/>
              <a:t>（次回以降）ハザード</a:t>
            </a:r>
            <a:endParaRPr kumimoji="1" lang="ja-JP" altLang="en-US" dirty="0"/>
          </a:p>
        </p:txBody>
      </p:sp>
    </p:spTree>
    <p:extLst>
      <p:ext uri="{BB962C8B-B14F-4D97-AF65-F5344CB8AC3E}">
        <p14:creationId xmlns:p14="http://schemas.microsoft.com/office/powerpoint/2010/main" val="41120566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a:t>
            </a:r>
          </a:p>
        </p:txBody>
      </p:sp>
      <p:sp>
        <p:nvSpPr>
          <p:cNvPr id="3" name="テキスト プレースホルダー 2"/>
          <p:cNvSpPr>
            <a:spLocks noGrp="1"/>
          </p:cNvSpPr>
          <p:nvPr>
            <p:ph type="body" sz="quarter" idx="10"/>
          </p:nvPr>
        </p:nvSpPr>
        <p:spPr/>
        <p:txBody>
          <a:bodyPr/>
          <a:lstStyle/>
          <a:p>
            <a:r>
              <a:rPr lang="ja-JP" altLang="en-US" dirty="0"/>
              <a:t>回路のまとまりをオーバラップさせる単位にする</a:t>
            </a:r>
            <a:endParaRPr lang="en-US" altLang="ja-JP" dirty="0"/>
          </a:p>
          <a:p>
            <a:pPr lvl="1"/>
            <a:r>
              <a:rPr lang="ja-JP" altLang="en-US" dirty="0"/>
              <a:t>この単位を</a:t>
            </a:r>
            <a:r>
              <a:rPr lang="ja-JP" altLang="en-US" dirty="0">
                <a:solidFill>
                  <a:schemeClr val="accent5"/>
                </a:solidFill>
              </a:rPr>
              <a:t>ステージ</a:t>
            </a:r>
            <a:r>
              <a:rPr lang="ja-JP" altLang="en-US" dirty="0"/>
              <a:t>と呼ぶ</a:t>
            </a:r>
            <a:endParaRPr lang="en-US" altLang="ja-JP" dirty="0"/>
          </a:p>
          <a:p>
            <a:r>
              <a:rPr lang="ja-JP" altLang="en-US" dirty="0"/>
              <a:t>ステージ</a:t>
            </a:r>
            <a:endParaRPr lang="en-US" altLang="ja-JP" dirty="0"/>
          </a:p>
          <a:p>
            <a:pPr marL="817200" lvl="1" indent="-457200">
              <a:buFont typeface="+mj-lt"/>
              <a:buAutoNum type="arabicPeriod"/>
            </a:pPr>
            <a:r>
              <a:rPr lang="en-US" altLang="ja-JP" dirty="0"/>
              <a:t>IF</a:t>
            </a:r>
            <a:r>
              <a:rPr lang="ja-JP" altLang="en-US" dirty="0"/>
              <a:t>：　  命令フェッチ</a:t>
            </a:r>
            <a:endParaRPr lang="en-US" altLang="ja-JP" dirty="0"/>
          </a:p>
          <a:p>
            <a:pPr marL="817200" lvl="1" indent="-457200">
              <a:buFont typeface="+mj-lt"/>
              <a:buAutoNum type="arabicPeriod"/>
            </a:pPr>
            <a:r>
              <a:rPr lang="en-US" altLang="ja-JP" dirty="0"/>
              <a:t>ID</a:t>
            </a:r>
            <a:r>
              <a:rPr lang="ja-JP" altLang="en-US" dirty="0"/>
              <a:t>：　 デコードとレジスタ読み出し</a:t>
            </a:r>
            <a:endParaRPr lang="en-US" altLang="ja-JP" dirty="0"/>
          </a:p>
          <a:p>
            <a:pPr marL="817200" lvl="1" indent="-457200">
              <a:buFont typeface="+mj-lt"/>
              <a:buAutoNum type="arabicPeriod"/>
            </a:pPr>
            <a:r>
              <a:rPr lang="en-US" altLang="ja-JP" dirty="0"/>
              <a:t>EX</a:t>
            </a:r>
            <a:r>
              <a:rPr lang="ja-JP" altLang="en-US" dirty="0"/>
              <a:t>：　 実行</a:t>
            </a:r>
            <a:endParaRPr lang="en-US" altLang="ja-JP" dirty="0"/>
          </a:p>
          <a:p>
            <a:pPr marL="817200" lvl="1" indent="-457200">
              <a:buFont typeface="+mj-lt"/>
              <a:buAutoNum type="arabicPeriod"/>
            </a:pPr>
            <a:r>
              <a:rPr lang="en-US" altLang="ja-JP" dirty="0"/>
              <a:t>MEM</a:t>
            </a:r>
            <a:r>
              <a:rPr lang="ja-JP" altLang="en-US" dirty="0"/>
              <a:t>：メモリ・アクセス</a:t>
            </a:r>
            <a:endParaRPr lang="en-US" altLang="ja-JP" dirty="0"/>
          </a:p>
          <a:p>
            <a:pPr marL="817200" lvl="1" indent="-457200">
              <a:buFont typeface="+mj-lt"/>
              <a:buAutoNum type="arabicPeriod"/>
            </a:pPr>
            <a:r>
              <a:rPr lang="en-US" altLang="ja-JP" dirty="0"/>
              <a:t>WB</a:t>
            </a:r>
            <a:r>
              <a:rPr lang="ja-JP" altLang="en-US" dirty="0"/>
              <a:t>：　レジスタ書き込み</a:t>
            </a:r>
            <a:endParaRPr lang="en-US" altLang="ja-JP" dirty="0"/>
          </a:p>
          <a:p>
            <a:pPr lvl="1"/>
            <a:endParaRPr lang="en-US" altLang="ja-JP" dirty="0"/>
          </a:p>
          <a:p>
            <a:endParaRPr kumimoji="1" lang="ja-JP" altLang="en-US" dirty="0"/>
          </a:p>
        </p:txBody>
      </p:sp>
    </p:spTree>
    <p:extLst>
      <p:ext uri="{BB962C8B-B14F-4D97-AF65-F5344CB8AC3E}">
        <p14:creationId xmlns:p14="http://schemas.microsoft.com/office/powerpoint/2010/main" val="10240367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r>
              <a:rPr lang="ja-JP" altLang="en-US" dirty="0"/>
              <a:t>命令パイプラインの実行の様子</a:t>
            </a:r>
            <a:endParaRPr lang="en-US" altLang="ja-JP" dirty="0"/>
          </a:p>
        </p:txBody>
      </p:sp>
      <p:sp>
        <p:nvSpPr>
          <p:cNvPr id="202755" name="Rectangle 3"/>
          <p:cNvSpPr>
            <a:spLocks noChangeArrowheads="1"/>
          </p:cNvSpPr>
          <p:nvPr/>
        </p:nvSpPr>
        <p:spPr bwMode="auto">
          <a:xfrm>
            <a:off x="3665538" y="1268977"/>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cxnSp>
        <p:nvCxnSpPr>
          <p:cNvPr id="202756" name="AutoShape 4"/>
          <p:cNvCxnSpPr>
            <a:cxnSpLocks noChangeShapeType="1"/>
            <a:stCxn id="202755" idx="3"/>
            <a:endCxn id="202757" idx="1"/>
          </p:cNvCxnSpPr>
          <p:nvPr/>
        </p:nvCxnSpPr>
        <p:spPr bwMode="auto">
          <a:xfrm>
            <a:off x="4224338" y="1540438"/>
            <a:ext cx="500062" cy="0"/>
          </a:xfrm>
          <a:prstGeom prst="straightConnector1">
            <a:avLst/>
          </a:prstGeom>
          <a:ln>
            <a:headEnd/>
            <a:tailEnd type="triangle" w="med" len="lg"/>
          </a:ln>
        </p:spPr>
        <p:style>
          <a:lnRef idx="2">
            <a:schemeClr val="dk1"/>
          </a:lnRef>
          <a:fillRef idx="0">
            <a:schemeClr val="dk1"/>
          </a:fillRef>
          <a:effectRef idx="1">
            <a:schemeClr val="dk1"/>
          </a:effectRef>
          <a:fontRef idx="minor">
            <a:schemeClr val="tx1"/>
          </a:fontRef>
        </p:style>
      </p:cxnSp>
      <p:sp>
        <p:nvSpPr>
          <p:cNvPr id="202757" name="Rectangle 5"/>
          <p:cNvSpPr>
            <a:spLocks noChangeArrowheads="1"/>
          </p:cNvSpPr>
          <p:nvPr/>
        </p:nvSpPr>
        <p:spPr bwMode="auto">
          <a:xfrm>
            <a:off x="4743450" y="1268977"/>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cxnSp>
        <p:nvCxnSpPr>
          <p:cNvPr id="202758" name="AutoShape 6"/>
          <p:cNvCxnSpPr>
            <a:cxnSpLocks noChangeShapeType="1"/>
            <a:stCxn id="202757" idx="3"/>
            <a:endCxn id="202759" idx="1"/>
          </p:cNvCxnSpPr>
          <p:nvPr/>
        </p:nvCxnSpPr>
        <p:spPr bwMode="auto">
          <a:xfrm>
            <a:off x="5302251" y="1540438"/>
            <a:ext cx="504825" cy="0"/>
          </a:xfrm>
          <a:prstGeom prst="straightConnector1">
            <a:avLst/>
          </a:prstGeom>
          <a:ln>
            <a:headEnd/>
            <a:tailEnd type="triangle" w="med" len="lg"/>
          </a:ln>
        </p:spPr>
        <p:style>
          <a:lnRef idx="2">
            <a:schemeClr val="dk1"/>
          </a:lnRef>
          <a:fillRef idx="0">
            <a:schemeClr val="dk1"/>
          </a:fillRef>
          <a:effectRef idx="1">
            <a:schemeClr val="dk1"/>
          </a:effectRef>
          <a:fontRef idx="minor">
            <a:schemeClr val="tx1"/>
          </a:fontRef>
        </p:style>
      </p:cxnSp>
      <p:sp>
        <p:nvSpPr>
          <p:cNvPr id="202759" name="Rectangle 7"/>
          <p:cNvSpPr>
            <a:spLocks noChangeArrowheads="1"/>
          </p:cNvSpPr>
          <p:nvPr/>
        </p:nvSpPr>
        <p:spPr bwMode="auto">
          <a:xfrm>
            <a:off x="5826125" y="1268977"/>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cxnSp>
        <p:nvCxnSpPr>
          <p:cNvPr id="202760" name="AutoShape 8"/>
          <p:cNvCxnSpPr>
            <a:cxnSpLocks noChangeShapeType="1"/>
            <a:stCxn id="202759" idx="3"/>
            <a:endCxn id="202761" idx="1"/>
          </p:cNvCxnSpPr>
          <p:nvPr/>
        </p:nvCxnSpPr>
        <p:spPr bwMode="auto">
          <a:xfrm>
            <a:off x="6384925" y="1540438"/>
            <a:ext cx="501650" cy="0"/>
          </a:xfrm>
          <a:prstGeom prst="straightConnector1">
            <a:avLst/>
          </a:prstGeom>
          <a:ln>
            <a:headEnd/>
            <a:tailEnd type="triangle" w="med" len="lg"/>
          </a:ln>
        </p:spPr>
        <p:style>
          <a:lnRef idx="2">
            <a:schemeClr val="dk1"/>
          </a:lnRef>
          <a:fillRef idx="0">
            <a:schemeClr val="dk1"/>
          </a:fillRef>
          <a:effectRef idx="1">
            <a:schemeClr val="dk1"/>
          </a:effectRef>
          <a:fontRef idx="minor">
            <a:schemeClr val="tx1"/>
          </a:fontRef>
        </p:style>
      </p:cxnSp>
      <p:sp>
        <p:nvSpPr>
          <p:cNvPr id="202761" name="Rectangle 9"/>
          <p:cNvSpPr>
            <a:spLocks noChangeArrowheads="1"/>
          </p:cNvSpPr>
          <p:nvPr/>
        </p:nvSpPr>
        <p:spPr bwMode="auto">
          <a:xfrm>
            <a:off x="6905625" y="1268977"/>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cxnSp>
        <p:nvCxnSpPr>
          <p:cNvPr id="202762" name="AutoShape 10"/>
          <p:cNvCxnSpPr>
            <a:cxnSpLocks noChangeShapeType="1"/>
            <a:stCxn id="202761" idx="3"/>
            <a:endCxn id="202763" idx="1"/>
          </p:cNvCxnSpPr>
          <p:nvPr/>
        </p:nvCxnSpPr>
        <p:spPr bwMode="auto">
          <a:xfrm>
            <a:off x="7464425" y="1540438"/>
            <a:ext cx="503238" cy="0"/>
          </a:xfrm>
          <a:prstGeom prst="straightConnector1">
            <a:avLst/>
          </a:prstGeom>
          <a:ln>
            <a:headEnd/>
            <a:tailEnd type="triangle" w="med" len="lg"/>
          </a:ln>
        </p:spPr>
        <p:style>
          <a:lnRef idx="2">
            <a:schemeClr val="dk1"/>
          </a:lnRef>
          <a:fillRef idx="0">
            <a:schemeClr val="dk1"/>
          </a:fillRef>
          <a:effectRef idx="1">
            <a:schemeClr val="dk1"/>
          </a:effectRef>
          <a:fontRef idx="minor">
            <a:schemeClr val="tx1"/>
          </a:fontRef>
        </p:style>
      </p:cxnSp>
      <p:sp>
        <p:nvSpPr>
          <p:cNvPr id="202763" name="Rectangle 11"/>
          <p:cNvSpPr>
            <a:spLocks noChangeArrowheads="1"/>
          </p:cNvSpPr>
          <p:nvPr/>
        </p:nvSpPr>
        <p:spPr bwMode="auto">
          <a:xfrm>
            <a:off x="7986713" y="1268977"/>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sp>
        <p:nvSpPr>
          <p:cNvPr id="202764" name="Rectangle 12"/>
          <p:cNvSpPr>
            <a:spLocks noChangeArrowheads="1"/>
          </p:cNvSpPr>
          <p:nvPr/>
        </p:nvSpPr>
        <p:spPr bwMode="auto">
          <a:xfrm>
            <a:off x="3756026" y="1899214"/>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dirty="0"/>
              <a:t>IF</a:t>
            </a:r>
          </a:p>
        </p:txBody>
      </p:sp>
      <p:sp>
        <p:nvSpPr>
          <p:cNvPr id="202765" name="Rectangle 13"/>
          <p:cNvSpPr>
            <a:spLocks noChangeArrowheads="1"/>
          </p:cNvSpPr>
          <p:nvPr/>
        </p:nvSpPr>
        <p:spPr bwMode="auto">
          <a:xfrm>
            <a:off x="4835526" y="1899214"/>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a:t>ID</a:t>
            </a:r>
          </a:p>
        </p:txBody>
      </p:sp>
      <p:sp>
        <p:nvSpPr>
          <p:cNvPr id="202766" name="Rectangle 14"/>
          <p:cNvSpPr>
            <a:spLocks noChangeArrowheads="1"/>
          </p:cNvSpPr>
          <p:nvPr/>
        </p:nvSpPr>
        <p:spPr bwMode="auto">
          <a:xfrm>
            <a:off x="5915026" y="1899214"/>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a:t>EX</a:t>
            </a:r>
          </a:p>
        </p:txBody>
      </p:sp>
      <p:sp>
        <p:nvSpPr>
          <p:cNvPr id="202767" name="Rectangle 15"/>
          <p:cNvSpPr>
            <a:spLocks noChangeArrowheads="1"/>
          </p:cNvSpPr>
          <p:nvPr/>
        </p:nvSpPr>
        <p:spPr bwMode="auto">
          <a:xfrm>
            <a:off x="6994526" y="1899214"/>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a:t>MEM</a:t>
            </a:r>
          </a:p>
        </p:txBody>
      </p:sp>
      <p:sp>
        <p:nvSpPr>
          <p:cNvPr id="202768" name="Rectangle 16"/>
          <p:cNvSpPr>
            <a:spLocks noChangeArrowheads="1"/>
          </p:cNvSpPr>
          <p:nvPr/>
        </p:nvSpPr>
        <p:spPr bwMode="auto">
          <a:xfrm>
            <a:off x="8074026" y="1899214"/>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a:t>WB</a:t>
            </a:r>
          </a:p>
        </p:txBody>
      </p:sp>
      <p:grpSp>
        <p:nvGrpSpPr>
          <p:cNvPr id="202769" name="Group 17"/>
          <p:cNvGrpSpPr>
            <a:grpSpLocks/>
          </p:cNvGrpSpPr>
          <p:nvPr/>
        </p:nvGrpSpPr>
        <p:grpSpPr bwMode="auto">
          <a:xfrm>
            <a:off x="-2725738" y="1357876"/>
            <a:ext cx="5761038" cy="360362"/>
            <a:chOff x="725" y="1876"/>
            <a:chExt cx="3629" cy="227"/>
          </a:xfrm>
        </p:grpSpPr>
        <p:sp>
          <p:nvSpPr>
            <p:cNvPr id="202770" name="Rectangle 18"/>
            <p:cNvSpPr>
              <a:spLocks noChangeArrowheads="1"/>
            </p:cNvSpPr>
            <p:nvPr/>
          </p:nvSpPr>
          <p:spPr bwMode="auto">
            <a:xfrm>
              <a:off x="4127"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I0</a:t>
              </a:r>
            </a:p>
          </p:txBody>
        </p:sp>
        <p:sp>
          <p:nvSpPr>
            <p:cNvPr id="202771" name="Rectangle 19"/>
            <p:cNvSpPr>
              <a:spLocks noChangeArrowheads="1"/>
            </p:cNvSpPr>
            <p:nvPr/>
          </p:nvSpPr>
          <p:spPr bwMode="auto">
            <a:xfrm>
              <a:off x="3447"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I1</a:t>
              </a:r>
            </a:p>
          </p:txBody>
        </p:sp>
        <p:sp>
          <p:nvSpPr>
            <p:cNvPr id="202772" name="Rectangle 20"/>
            <p:cNvSpPr>
              <a:spLocks noChangeArrowheads="1"/>
            </p:cNvSpPr>
            <p:nvPr/>
          </p:nvSpPr>
          <p:spPr bwMode="auto">
            <a:xfrm>
              <a:off x="2767"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I2</a:t>
              </a:r>
            </a:p>
          </p:txBody>
        </p:sp>
        <p:sp>
          <p:nvSpPr>
            <p:cNvPr id="202773" name="Rectangle 21"/>
            <p:cNvSpPr>
              <a:spLocks noChangeArrowheads="1"/>
            </p:cNvSpPr>
            <p:nvPr/>
          </p:nvSpPr>
          <p:spPr bwMode="auto">
            <a:xfrm>
              <a:off x="2086"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I3</a:t>
              </a:r>
            </a:p>
          </p:txBody>
        </p:sp>
        <p:sp>
          <p:nvSpPr>
            <p:cNvPr id="202774" name="Rectangle 22"/>
            <p:cNvSpPr>
              <a:spLocks noChangeArrowheads="1"/>
            </p:cNvSpPr>
            <p:nvPr/>
          </p:nvSpPr>
          <p:spPr bwMode="auto">
            <a:xfrm>
              <a:off x="1406"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I4</a:t>
              </a:r>
            </a:p>
          </p:txBody>
        </p:sp>
        <p:sp>
          <p:nvSpPr>
            <p:cNvPr id="202775" name="Rectangle 23"/>
            <p:cNvSpPr>
              <a:spLocks noChangeArrowheads="1"/>
            </p:cNvSpPr>
            <p:nvPr/>
          </p:nvSpPr>
          <p:spPr bwMode="auto">
            <a:xfrm>
              <a:off x="725"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I5</a:t>
              </a:r>
            </a:p>
          </p:txBody>
        </p:sp>
      </p:grpSp>
      <p:sp>
        <p:nvSpPr>
          <p:cNvPr id="202776" name="Rectangle 24"/>
          <p:cNvSpPr>
            <a:spLocks noChangeArrowheads="1"/>
          </p:cNvSpPr>
          <p:nvPr/>
        </p:nvSpPr>
        <p:spPr bwMode="auto">
          <a:xfrm>
            <a:off x="2944813" y="2708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09" name="Rectangle 57"/>
          <p:cNvSpPr>
            <a:spLocks noChangeArrowheads="1"/>
          </p:cNvSpPr>
          <p:nvPr/>
        </p:nvSpPr>
        <p:spPr bwMode="auto">
          <a:xfrm>
            <a:off x="2316163" y="2799326"/>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I0</a:t>
            </a:r>
          </a:p>
        </p:txBody>
      </p:sp>
      <p:sp>
        <p:nvSpPr>
          <p:cNvPr id="202810" name="Rectangle 58"/>
          <p:cNvSpPr>
            <a:spLocks noChangeArrowheads="1"/>
          </p:cNvSpPr>
          <p:nvPr/>
        </p:nvSpPr>
        <p:spPr bwMode="auto">
          <a:xfrm>
            <a:off x="2316163" y="3429564"/>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I1</a:t>
            </a:r>
          </a:p>
        </p:txBody>
      </p:sp>
      <p:sp>
        <p:nvSpPr>
          <p:cNvPr id="202811" name="Rectangle 59"/>
          <p:cNvSpPr>
            <a:spLocks noChangeArrowheads="1"/>
          </p:cNvSpPr>
          <p:nvPr/>
        </p:nvSpPr>
        <p:spPr bwMode="auto">
          <a:xfrm>
            <a:off x="2316163" y="4058214"/>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I2</a:t>
            </a:r>
          </a:p>
        </p:txBody>
      </p:sp>
      <p:sp>
        <p:nvSpPr>
          <p:cNvPr id="202812" name="Rectangle 60"/>
          <p:cNvSpPr>
            <a:spLocks noChangeArrowheads="1"/>
          </p:cNvSpPr>
          <p:nvPr/>
        </p:nvSpPr>
        <p:spPr bwMode="auto">
          <a:xfrm>
            <a:off x="2316163" y="4688451"/>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I3</a:t>
            </a:r>
          </a:p>
        </p:txBody>
      </p:sp>
      <p:sp>
        <p:nvSpPr>
          <p:cNvPr id="202813" name="Rectangle 61"/>
          <p:cNvSpPr>
            <a:spLocks noChangeArrowheads="1"/>
          </p:cNvSpPr>
          <p:nvPr/>
        </p:nvSpPr>
        <p:spPr bwMode="auto">
          <a:xfrm>
            <a:off x="2316163" y="5318689"/>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I4</a:t>
            </a:r>
          </a:p>
        </p:txBody>
      </p:sp>
      <p:sp>
        <p:nvSpPr>
          <p:cNvPr id="202815" name="Line 63"/>
          <p:cNvSpPr>
            <a:spLocks noChangeShapeType="1"/>
          </p:cNvSpPr>
          <p:nvPr/>
        </p:nvSpPr>
        <p:spPr bwMode="auto">
          <a:xfrm>
            <a:off x="2765426" y="2527863"/>
            <a:ext cx="7470775" cy="0"/>
          </a:xfrm>
          <a:prstGeom prst="line">
            <a:avLst/>
          </a:prstGeom>
          <a:noFill/>
          <a:ln w="38100">
            <a:solidFill>
              <a:schemeClr val="tx1"/>
            </a:solidFill>
            <a:round/>
            <a:headEnd/>
            <a:tailEnd type="stealth" w="med" len="lg"/>
          </a:ln>
          <a:effectLst/>
        </p:spPr>
        <p:txBody>
          <a:bodyPr wrap="none" lIns="93600" tIns="46800" rIns="93600" bIns="46800" anchor="ctr"/>
          <a:lstStyle/>
          <a:p>
            <a:endParaRPr lang="ja-JP" altLang="en-US"/>
          </a:p>
        </p:txBody>
      </p:sp>
      <p:sp>
        <p:nvSpPr>
          <p:cNvPr id="202817" name="Rectangle 65"/>
          <p:cNvSpPr>
            <a:spLocks noChangeArrowheads="1"/>
          </p:cNvSpPr>
          <p:nvPr/>
        </p:nvSpPr>
        <p:spPr bwMode="auto">
          <a:xfrm>
            <a:off x="3665538" y="2708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18" name="Rectangle 66"/>
          <p:cNvSpPr>
            <a:spLocks noChangeArrowheads="1"/>
          </p:cNvSpPr>
          <p:nvPr/>
        </p:nvSpPr>
        <p:spPr bwMode="auto">
          <a:xfrm>
            <a:off x="4378325" y="27056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19" name="Rectangle 67"/>
          <p:cNvSpPr>
            <a:spLocks noChangeArrowheads="1"/>
          </p:cNvSpPr>
          <p:nvPr/>
        </p:nvSpPr>
        <p:spPr bwMode="auto">
          <a:xfrm>
            <a:off x="5091113" y="27024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20" name="Rectangle 68"/>
          <p:cNvSpPr>
            <a:spLocks noChangeArrowheads="1"/>
          </p:cNvSpPr>
          <p:nvPr/>
        </p:nvSpPr>
        <p:spPr bwMode="auto">
          <a:xfrm>
            <a:off x="5803900" y="26993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21" name="Rectangle 69"/>
          <p:cNvSpPr>
            <a:spLocks noChangeArrowheads="1"/>
          </p:cNvSpPr>
          <p:nvPr/>
        </p:nvSpPr>
        <p:spPr bwMode="auto">
          <a:xfrm>
            <a:off x="3665538" y="333907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02822" name="Rectangle 70"/>
          <p:cNvSpPr>
            <a:spLocks noChangeArrowheads="1"/>
          </p:cNvSpPr>
          <p:nvPr/>
        </p:nvSpPr>
        <p:spPr bwMode="auto">
          <a:xfrm>
            <a:off x="4378325" y="33359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23" name="Rectangle 71"/>
          <p:cNvSpPr>
            <a:spLocks noChangeArrowheads="1"/>
          </p:cNvSpPr>
          <p:nvPr/>
        </p:nvSpPr>
        <p:spPr bwMode="auto">
          <a:xfrm>
            <a:off x="5091113" y="333272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24" name="Rectangle 72"/>
          <p:cNvSpPr>
            <a:spLocks noChangeArrowheads="1"/>
          </p:cNvSpPr>
          <p:nvPr/>
        </p:nvSpPr>
        <p:spPr bwMode="auto">
          <a:xfrm>
            <a:off x="5803900" y="33295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25" name="Rectangle 73"/>
          <p:cNvSpPr>
            <a:spLocks noChangeArrowheads="1"/>
          </p:cNvSpPr>
          <p:nvPr/>
        </p:nvSpPr>
        <p:spPr bwMode="auto">
          <a:xfrm>
            <a:off x="6546850" y="33470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26" name="Rectangle 74"/>
          <p:cNvSpPr>
            <a:spLocks noChangeArrowheads="1"/>
          </p:cNvSpPr>
          <p:nvPr/>
        </p:nvSpPr>
        <p:spPr bwMode="auto">
          <a:xfrm>
            <a:off x="4378325" y="39661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27" name="Rectangle 75"/>
          <p:cNvSpPr>
            <a:spLocks noChangeArrowheads="1"/>
          </p:cNvSpPr>
          <p:nvPr/>
        </p:nvSpPr>
        <p:spPr bwMode="auto">
          <a:xfrm>
            <a:off x="5091113" y="3962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28" name="Rectangle 76"/>
          <p:cNvSpPr>
            <a:spLocks noChangeArrowheads="1"/>
          </p:cNvSpPr>
          <p:nvPr/>
        </p:nvSpPr>
        <p:spPr bwMode="auto">
          <a:xfrm>
            <a:off x="5803900" y="39597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29" name="Rectangle 77"/>
          <p:cNvSpPr>
            <a:spLocks noChangeArrowheads="1"/>
          </p:cNvSpPr>
          <p:nvPr/>
        </p:nvSpPr>
        <p:spPr bwMode="auto">
          <a:xfrm>
            <a:off x="6546850" y="39772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30" name="Rectangle 78"/>
          <p:cNvSpPr>
            <a:spLocks noChangeArrowheads="1"/>
          </p:cNvSpPr>
          <p:nvPr/>
        </p:nvSpPr>
        <p:spPr bwMode="auto">
          <a:xfrm>
            <a:off x="7265988" y="39693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31" name="Rectangle 79"/>
          <p:cNvSpPr>
            <a:spLocks noChangeArrowheads="1"/>
          </p:cNvSpPr>
          <p:nvPr/>
        </p:nvSpPr>
        <p:spPr bwMode="auto">
          <a:xfrm>
            <a:off x="5091113" y="45932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32" name="Rectangle 80"/>
          <p:cNvSpPr>
            <a:spLocks noChangeArrowheads="1"/>
          </p:cNvSpPr>
          <p:nvPr/>
        </p:nvSpPr>
        <p:spPr bwMode="auto">
          <a:xfrm>
            <a:off x="5803900" y="459002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33" name="Rectangle 81"/>
          <p:cNvSpPr>
            <a:spLocks noChangeArrowheads="1"/>
          </p:cNvSpPr>
          <p:nvPr/>
        </p:nvSpPr>
        <p:spPr bwMode="auto">
          <a:xfrm>
            <a:off x="6546850" y="46074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34" name="Rectangle 82"/>
          <p:cNvSpPr>
            <a:spLocks noChangeArrowheads="1"/>
          </p:cNvSpPr>
          <p:nvPr/>
        </p:nvSpPr>
        <p:spPr bwMode="auto">
          <a:xfrm>
            <a:off x="7265988" y="45995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35" name="Rectangle 83"/>
          <p:cNvSpPr>
            <a:spLocks noChangeArrowheads="1"/>
          </p:cNvSpPr>
          <p:nvPr/>
        </p:nvSpPr>
        <p:spPr bwMode="auto">
          <a:xfrm>
            <a:off x="7986713" y="45995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36" name="Rectangle 84"/>
          <p:cNvSpPr>
            <a:spLocks noChangeArrowheads="1"/>
          </p:cNvSpPr>
          <p:nvPr/>
        </p:nvSpPr>
        <p:spPr bwMode="auto">
          <a:xfrm>
            <a:off x="5803900" y="52202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37" name="Rectangle 85"/>
          <p:cNvSpPr>
            <a:spLocks noChangeArrowheads="1"/>
          </p:cNvSpPr>
          <p:nvPr/>
        </p:nvSpPr>
        <p:spPr bwMode="auto">
          <a:xfrm>
            <a:off x="6546850" y="523772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38" name="Rectangle 86"/>
          <p:cNvSpPr>
            <a:spLocks noChangeArrowheads="1"/>
          </p:cNvSpPr>
          <p:nvPr/>
        </p:nvSpPr>
        <p:spPr bwMode="auto">
          <a:xfrm>
            <a:off x="7265988" y="52297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39" name="Rectangle 87"/>
          <p:cNvSpPr>
            <a:spLocks noChangeArrowheads="1"/>
          </p:cNvSpPr>
          <p:nvPr/>
        </p:nvSpPr>
        <p:spPr bwMode="auto">
          <a:xfrm>
            <a:off x="7986713" y="52297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40" name="Rectangle 88"/>
          <p:cNvSpPr>
            <a:spLocks noChangeArrowheads="1"/>
          </p:cNvSpPr>
          <p:nvPr/>
        </p:nvSpPr>
        <p:spPr bwMode="auto">
          <a:xfrm>
            <a:off x="8705850" y="52297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41" name="Rectangle 89"/>
          <p:cNvSpPr>
            <a:spLocks noChangeArrowheads="1"/>
          </p:cNvSpPr>
          <p:nvPr/>
        </p:nvSpPr>
        <p:spPr bwMode="auto">
          <a:xfrm>
            <a:off x="6546850"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42" name="Rectangle 90"/>
          <p:cNvSpPr>
            <a:spLocks noChangeArrowheads="1"/>
          </p:cNvSpPr>
          <p:nvPr/>
        </p:nvSpPr>
        <p:spPr bwMode="auto">
          <a:xfrm>
            <a:off x="7265988"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43" name="Rectangle 91"/>
          <p:cNvSpPr>
            <a:spLocks noChangeArrowheads="1"/>
          </p:cNvSpPr>
          <p:nvPr/>
        </p:nvSpPr>
        <p:spPr bwMode="auto">
          <a:xfrm>
            <a:off x="7986713"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44" name="Rectangle 92"/>
          <p:cNvSpPr>
            <a:spLocks noChangeArrowheads="1"/>
          </p:cNvSpPr>
          <p:nvPr/>
        </p:nvSpPr>
        <p:spPr bwMode="auto">
          <a:xfrm>
            <a:off x="8705850"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45" name="Rectangle 93"/>
          <p:cNvSpPr>
            <a:spLocks noChangeArrowheads="1"/>
          </p:cNvSpPr>
          <p:nvPr/>
        </p:nvSpPr>
        <p:spPr bwMode="auto">
          <a:xfrm>
            <a:off x="9426575"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46" name="Rectangle 94"/>
          <p:cNvSpPr>
            <a:spLocks noChangeArrowheads="1"/>
          </p:cNvSpPr>
          <p:nvPr/>
        </p:nvSpPr>
        <p:spPr bwMode="auto">
          <a:xfrm>
            <a:off x="2316163" y="5948926"/>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I5</a:t>
            </a:r>
          </a:p>
        </p:txBody>
      </p:sp>
      <p:sp>
        <p:nvSpPr>
          <p:cNvPr id="202847" name="Rectangle 95"/>
          <p:cNvSpPr>
            <a:spLocks noChangeArrowheads="1"/>
          </p:cNvSpPr>
          <p:nvPr/>
        </p:nvSpPr>
        <p:spPr bwMode="auto">
          <a:xfrm>
            <a:off x="2855914" y="2618351"/>
            <a:ext cx="719137" cy="3789362"/>
          </a:xfrm>
          <a:prstGeom prst="rect">
            <a:avLst/>
          </a:prstGeom>
          <a:solidFill>
            <a:schemeClr val="accent5">
              <a:lumMod val="20000"/>
              <a:lumOff val="80000"/>
              <a:alpha val="50000"/>
            </a:schemeClr>
          </a:solidFill>
          <a:ln w="38100">
            <a:solidFill>
              <a:schemeClr val="accent5"/>
            </a:solidFill>
            <a:miter lim="800000"/>
            <a:headEnd/>
            <a:tailEnd type="none" w="med" len="lg"/>
          </a:ln>
          <a:effectLst/>
        </p:spPr>
        <p:txBody>
          <a:bodyPr wrap="none" lIns="93600" tIns="46800" rIns="93600" bIns="46800" anchor="ctr"/>
          <a:lstStyle/>
          <a:p>
            <a:pPr algn="ctr"/>
            <a:endParaRPr lang="ja-JP" altLang="en-US"/>
          </a:p>
        </p:txBody>
      </p:sp>
      <p:sp>
        <p:nvSpPr>
          <p:cNvPr id="202848" name="Rectangle 96"/>
          <p:cNvSpPr>
            <a:spLocks noChangeArrowheads="1"/>
          </p:cNvSpPr>
          <p:nvPr/>
        </p:nvSpPr>
        <p:spPr bwMode="auto">
          <a:xfrm>
            <a:off x="9875838" y="2078601"/>
            <a:ext cx="360362" cy="360362"/>
          </a:xfrm>
          <a:prstGeom prst="rect">
            <a:avLst/>
          </a:prstGeom>
          <a:noFill/>
          <a:ln w="12700">
            <a:noFill/>
            <a:miter lim="800000"/>
            <a:headEnd/>
            <a:tailEnd/>
          </a:ln>
          <a:effectLst/>
        </p:spPr>
        <p:txBody>
          <a:bodyPr wrap="none" lIns="93600" tIns="46800" rIns="93600" bIns="46800" anchor="ctr"/>
          <a:lstStyle/>
          <a:p>
            <a:r>
              <a:rPr lang="en-US" altLang="ja-JP" sz="2000"/>
              <a:t>cycle</a:t>
            </a:r>
          </a:p>
        </p:txBody>
      </p:sp>
    </p:spTree>
    <p:extLst>
      <p:ext uri="{BB962C8B-B14F-4D97-AF65-F5344CB8AC3E}">
        <p14:creationId xmlns:p14="http://schemas.microsoft.com/office/powerpoint/2010/main" val="26493967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2.77778E-6 -4.07407E-6 L 0.11805 0.00024 " pathEditMode="relative" rAng="0" ptsTypes="AA">
                                      <p:cBhvr>
                                        <p:cTn id="6" dur="2000" fill="hold"/>
                                        <p:tgtEl>
                                          <p:spTgt spid="202769"/>
                                        </p:tgtEl>
                                        <p:attrNameLst>
                                          <p:attrName>ppt_x</p:attrName>
                                          <p:attrName>ppt_y</p:attrName>
                                        </p:attrNameLst>
                                      </p:cBhvr>
                                      <p:rCtr x="5903" y="0"/>
                                    </p:animMotion>
                                  </p:childTnLst>
                                </p:cTn>
                              </p:par>
                              <p:par>
                                <p:cTn id="7" presetID="10" presetClass="entr" presetSubtype="0" fill="hold" grpId="0" nodeType="withEffect">
                                  <p:stCondLst>
                                    <p:cond delay="0"/>
                                  </p:stCondLst>
                                  <p:childTnLst>
                                    <p:set>
                                      <p:cBhvr>
                                        <p:cTn id="8" dur="1" fill="hold">
                                          <p:stCondLst>
                                            <p:cond delay="0"/>
                                          </p:stCondLst>
                                        </p:cTn>
                                        <p:tgtEl>
                                          <p:spTgt spid="202847"/>
                                        </p:tgtEl>
                                        <p:attrNameLst>
                                          <p:attrName>style.visibility</p:attrName>
                                        </p:attrNameLst>
                                      </p:cBhvr>
                                      <p:to>
                                        <p:strVal val="visible"/>
                                      </p:to>
                                    </p:set>
                                    <p:animEffect transition="in" filter="fade">
                                      <p:cBhvr>
                                        <p:cTn id="9" dur="2000"/>
                                        <p:tgtEl>
                                          <p:spTgt spid="202847"/>
                                        </p:tgtEl>
                                      </p:cBhvr>
                                    </p:animEffec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11805 0.00024 L 0.23628 0.00024 " pathEditMode="relative" rAng="0" ptsTypes="AA">
                                      <p:cBhvr>
                                        <p:cTn id="13" dur="2000" fill="hold"/>
                                        <p:tgtEl>
                                          <p:spTgt spid="202769"/>
                                        </p:tgtEl>
                                        <p:attrNameLst>
                                          <p:attrName>ppt_x</p:attrName>
                                          <p:attrName>ppt_y</p:attrName>
                                        </p:attrNameLst>
                                      </p:cBhvr>
                                      <p:rCtr x="5903" y="0"/>
                                    </p:animMotion>
                                  </p:childTnLst>
                                </p:cTn>
                              </p:par>
                              <p:par>
                                <p:cTn id="14" presetID="63" presetClass="path" presetSubtype="0" accel="50000" decel="50000" fill="hold" grpId="1" nodeType="withEffect">
                                  <p:stCondLst>
                                    <p:cond delay="0"/>
                                  </p:stCondLst>
                                  <p:childTnLst>
                                    <p:animMotion origin="layout" path="M 4.16667E-6 -3.7037E-7 L 0.07882 -0.00046 " pathEditMode="relative" rAng="0" ptsTypes="AA">
                                      <p:cBhvr>
                                        <p:cTn id="15" dur="2000" fill="hold"/>
                                        <p:tgtEl>
                                          <p:spTgt spid="202847"/>
                                        </p:tgtEl>
                                        <p:attrNameLst>
                                          <p:attrName>ppt_x</p:attrName>
                                          <p:attrName>ppt_y</p:attrName>
                                        </p:attrNameLst>
                                      </p:cBhvr>
                                      <p:rCtr x="3941" y="-23"/>
                                    </p:animMotion>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nodeType="clickEffect">
                                  <p:stCondLst>
                                    <p:cond delay="0"/>
                                  </p:stCondLst>
                                  <p:childTnLst>
                                    <p:animMotion origin="layout" path="M 0.23628 0.00024 L 0.35434 0.00024 " pathEditMode="relative" rAng="0" ptsTypes="AA">
                                      <p:cBhvr>
                                        <p:cTn id="19" dur="2000" fill="hold"/>
                                        <p:tgtEl>
                                          <p:spTgt spid="202769"/>
                                        </p:tgtEl>
                                        <p:attrNameLst>
                                          <p:attrName>ppt_x</p:attrName>
                                          <p:attrName>ppt_y</p:attrName>
                                        </p:attrNameLst>
                                      </p:cBhvr>
                                      <p:rCtr x="5903" y="0"/>
                                    </p:animMotion>
                                  </p:childTnLst>
                                </p:cTn>
                              </p:par>
                              <p:par>
                                <p:cTn id="20" presetID="63" presetClass="path" presetSubtype="0" accel="50000" decel="50000" fill="hold" grpId="2" nodeType="withEffect">
                                  <p:stCondLst>
                                    <p:cond delay="0"/>
                                  </p:stCondLst>
                                  <p:childTnLst>
                                    <p:animMotion origin="layout" path="M 0.07882 -0.00046 L 0.15763 -0.00046 " pathEditMode="relative" rAng="0" ptsTypes="AA">
                                      <p:cBhvr>
                                        <p:cTn id="21" dur="2000" fill="hold"/>
                                        <p:tgtEl>
                                          <p:spTgt spid="202847"/>
                                        </p:tgtEl>
                                        <p:attrNameLst>
                                          <p:attrName>ppt_x</p:attrName>
                                          <p:attrName>ppt_y</p:attrName>
                                        </p:attrNameLst>
                                      </p:cBhvr>
                                      <p:rCtr x="3941" y="0"/>
                                    </p:animMotion>
                                  </p:childTnLst>
                                </p:cTn>
                              </p:par>
                            </p:childTnLst>
                          </p:cTn>
                        </p:par>
                      </p:childTnLst>
                    </p:cTn>
                  </p:par>
                  <p:par>
                    <p:cTn id="22" fill="hold">
                      <p:stCondLst>
                        <p:cond delay="indefinite"/>
                      </p:stCondLst>
                      <p:childTnLst>
                        <p:par>
                          <p:cTn id="23" fill="hold">
                            <p:stCondLst>
                              <p:cond delay="0"/>
                            </p:stCondLst>
                            <p:childTnLst>
                              <p:par>
                                <p:cTn id="24" presetID="63" presetClass="path" presetSubtype="0" accel="50000" decel="50000" fill="hold" nodeType="clickEffect">
                                  <p:stCondLst>
                                    <p:cond delay="0"/>
                                  </p:stCondLst>
                                  <p:childTnLst>
                                    <p:animMotion origin="layout" path="M 0.35434 0.00024 L 0.47239 0.00024 " pathEditMode="relative" rAng="0" ptsTypes="AA">
                                      <p:cBhvr>
                                        <p:cTn id="25" dur="2000" fill="hold"/>
                                        <p:tgtEl>
                                          <p:spTgt spid="202769"/>
                                        </p:tgtEl>
                                        <p:attrNameLst>
                                          <p:attrName>ppt_x</p:attrName>
                                          <p:attrName>ppt_y</p:attrName>
                                        </p:attrNameLst>
                                      </p:cBhvr>
                                      <p:rCtr x="5903" y="0"/>
                                    </p:animMotion>
                                  </p:childTnLst>
                                </p:cTn>
                              </p:par>
                              <p:par>
                                <p:cTn id="26" presetID="63" presetClass="path" presetSubtype="0" accel="50000" decel="50000" fill="hold" grpId="3" nodeType="withEffect">
                                  <p:stCondLst>
                                    <p:cond delay="0"/>
                                  </p:stCondLst>
                                  <p:childTnLst>
                                    <p:animMotion origin="layout" path="M 0.15763 -0.00046 L 0.23628 -0.00046 " pathEditMode="relative" rAng="0" ptsTypes="AA">
                                      <p:cBhvr>
                                        <p:cTn id="27" dur="2000" fill="hold"/>
                                        <p:tgtEl>
                                          <p:spTgt spid="202847"/>
                                        </p:tgtEl>
                                        <p:attrNameLst>
                                          <p:attrName>ppt_x</p:attrName>
                                          <p:attrName>ppt_y</p:attrName>
                                        </p:attrNameLst>
                                      </p:cBhvr>
                                      <p:rCtr x="3924" y="0"/>
                                    </p:animMotion>
                                  </p:childTnLst>
                                </p:cTn>
                              </p:par>
                            </p:childTnLst>
                          </p:cTn>
                        </p:par>
                      </p:childTnLst>
                    </p:cTn>
                  </p:par>
                  <p:par>
                    <p:cTn id="28" fill="hold">
                      <p:stCondLst>
                        <p:cond delay="indefinite"/>
                      </p:stCondLst>
                      <p:childTnLst>
                        <p:par>
                          <p:cTn id="29" fill="hold">
                            <p:stCondLst>
                              <p:cond delay="0"/>
                            </p:stCondLst>
                            <p:childTnLst>
                              <p:par>
                                <p:cTn id="30" presetID="63" presetClass="path" presetSubtype="0" accel="50000" decel="50000" fill="hold" nodeType="clickEffect">
                                  <p:stCondLst>
                                    <p:cond delay="0"/>
                                  </p:stCondLst>
                                  <p:childTnLst>
                                    <p:animMotion origin="layout" path="M 0.47239 0.00024 L 0.59062 0.00024 " pathEditMode="relative" rAng="0" ptsTypes="AA">
                                      <p:cBhvr>
                                        <p:cTn id="31" dur="2000" fill="hold"/>
                                        <p:tgtEl>
                                          <p:spTgt spid="202769"/>
                                        </p:tgtEl>
                                        <p:attrNameLst>
                                          <p:attrName>ppt_x</p:attrName>
                                          <p:attrName>ppt_y</p:attrName>
                                        </p:attrNameLst>
                                      </p:cBhvr>
                                      <p:rCtr x="5903" y="0"/>
                                    </p:animMotion>
                                  </p:childTnLst>
                                </p:cTn>
                              </p:par>
                              <p:par>
                                <p:cTn id="32" presetID="63" presetClass="path" presetSubtype="0" accel="50000" decel="50000" fill="hold" grpId="4" nodeType="withEffect">
                                  <p:stCondLst>
                                    <p:cond delay="0"/>
                                  </p:stCondLst>
                                  <p:childTnLst>
                                    <p:animMotion origin="layout" path="M 0.23628 -0.00046 L 0.3151 -0.00046 " pathEditMode="relative" rAng="0" ptsTypes="AA">
                                      <p:cBhvr>
                                        <p:cTn id="33" dur="2000" fill="hold"/>
                                        <p:tgtEl>
                                          <p:spTgt spid="202847"/>
                                        </p:tgtEl>
                                        <p:attrNameLst>
                                          <p:attrName>ppt_x</p:attrName>
                                          <p:attrName>ppt_y</p:attrName>
                                        </p:attrNameLst>
                                      </p:cBhvr>
                                      <p:rCtr x="3941" y="0"/>
                                    </p:animMotion>
                                  </p:childTnLst>
                                </p:cTn>
                              </p:par>
                            </p:childTnLst>
                          </p:cTn>
                        </p:par>
                      </p:childTnLst>
                    </p:cTn>
                  </p:par>
                  <p:par>
                    <p:cTn id="34" fill="hold">
                      <p:stCondLst>
                        <p:cond delay="indefinite"/>
                      </p:stCondLst>
                      <p:childTnLst>
                        <p:par>
                          <p:cTn id="35" fill="hold">
                            <p:stCondLst>
                              <p:cond delay="0"/>
                            </p:stCondLst>
                            <p:childTnLst>
                              <p:par>
                                <p:cTn id="36" presetID="63" presetClass="path" presetSubtype="0" accel="50000" decel="50000" fill="hold" nodeType="clickEffect">
                                  <p:stCondLst>
                                    <p:cond delay="0"/>
                                  </p:stCondLst>
                                  <p:childTnLst>
                                    <p:animMotion origin="layout" path="M 0.59062 0.00024 L 0.70868 0.00024 " pathEditMode="relative" rAng="0" ptsTypes="AA">
                                      <p:cBhvr>
                                        <p:cTn id="37" dur="2000" fill="hold"/>
                                        <p:tgtEl>
                                          <p:spTgt spid="202769"/>
                                        </p:tgtEl>
                                        <p:attrNameLst>
                                          <p:attrName>ppt_x</p:attrName>
                                          <p:attrName>ppt_y</p:attrName>
                                        </p:attrNameLst>
                                      </p:cBhvr>
                                      <p:rCtr x="5903" y="0"/>
                                    </p:animMotion>
                                  </p:childTnLst>
                                </p:cTn>
                              </p:par>
                              <p:par>
                                <p:cTn id="38" presetID="63" presetClass="path" presetSubtype="0" accel="50000" decel="50000" fill="hold" grpId="5" nodeType="withEffect">
                                  <p:stCondLst>
                                    <p:cond delay="0"/>
                                  </p:stCondLst>
                                  <p:childTnLst>
                                    <p:animMotion origin="layout" path="M 0.3151 -0.00046 L 0.39392 -0.00046 " pathEditMode="relative" rAng="0" ptsTypes="AA">
                                      <p:cBhvr>
                                        <p:cTn id="39" dur="2000" fill="hold"/>
                                        <p:tgtEl>
                                          <p:spTgt spid="202847"/>
                                        </p:tgtEl>
                                        <p:attrNameLst>
                                          <p:attrName>ppt_x</p:attrName>
                                          <p:attrName>ppt_y</p:attrName>
                                        </p:attrNameLst>
                                      </p:cBhvr>
                                      <p:rCtr x="394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847" grpId="0" animBg="1"/>
      <p:bldP spid="202847" grpId="1" animBg="1"/>
      <p:bldP spid="202847" grpId="2" animBg="1"/>
      <p:bldP spid="202847" grpId="3" animBg="1"/>
      <p:bldP spid="202847" grpId="4" animBg="1"/>
      <p:bldP spid="202847" grpId="5"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r>
              <a:rPr lang="ja-JP" altLang="en-US" dirty="0"/>
              <a:t>パイプライン・チャートの見方</a:t>
            </a:r>
            <a:br>
              <a:rPr lang="en-US" altLang="ja-JP" dirty="0"/>
            </a:br>
            <a:r>
              <a:rPr lang="ja-JP" altLang="en-US" sz="2000" dirty="0"/>
              <a:t>ここから先で多用されるので重要</a:t>
            </a:r>
            <a:endParaRPr lang="en-US" altLang="ja-JP" dirty="0"/>
          </a:p>
        </p:txBody>
      </p:sp>
      <p:sp>
        <p:nvSpPr>
          <p:cNvPr id="2" name="テキスト プレースホルダー 1"/>
          <p:cNvSpPr>
            <a:spLocks noGrp="1"/>
          </p:cNvSpPr>
          <p:nvPr>
            <p:ph type="body" sz="quarter" idx="10"/>
          </p:nvPr>
        </p:nvSpPr>
        <p:spPr>
          <a:xfrm>
            <a:off x="1415948" y="5409023"/>
            <a:ext cx="9144000" cy="539699"/>
          </a:xfrm>
        </p:spPr>
        <p:txBody>
          <a:bodyPr/>
          <a:lstStyle/>
          <a:p>
            <a:pPr lvl="1"/>
            <a:r>
              <a:rPr kumimoji="1" lang="ja-JP" altLang="en-US" dirty="0"/>
              <a:t>左から右にむかって時間は進む</a:t>
            </a:r>
            <a:endParaRPr kumimoji="1" lang="en-US" altLang="ja-JP" dirty="0"/>
          </a:p>
          <a:p>
            <a:pPr lvl="1"/>
            <a:r>
              <a:rPr kumimoji="1" lang="ja-JP" altLang="en-US" dirty="0"/>
              <a:t>上から下にむかって命令が実行順に置かれる</a:t>
            </a:r>
            <a:endParaRPr kumimoji="1" lang="en-US" altLang="ja-JP" dirty="0"/>
          </a:p>
          <a:p>
            <a:pPr lvl="1"/>
            <a:r>
              <a:rPr kumimoji="1" lang="ja-JP" altLang="en-US" dirty="0"/>
              <a:t>各ステージを表す四角は左側にある命令がその時そこにいることを示す</a:t>
            </a:r>
            <a:endParaRPr kumimoji="1" lang="en-US" altLang="ja-JP" dirty="0"/>
          </a:p>
          <a:p>
            <a:pPr lvl="2"/>
            <a:r>
              <a:rPr kumimoji="1" lang="ja-JP" altLang="en-US" dirty="0"/>
              <a:t>上記では２サイクル目に，</a:t>
            </a:r>
            <a:r>
              <a:rPr kumimoji="1" lang="en-US" altLang="ja-JP" dirty="0"/>
              <a:t>I0 </a:t>
            </a:r>
            <a:r>
              <a:rPr kumimoji="1" lang="ja-JP" altLang="en-US" dirty="0"/>
              <a:t>が </a:t>
            </a:r>
            <a:r>
              <a:rPr kumimoji="1" lang="en-US" altLang="ja-JP" dirty="0"/>
              <a:t>ID </a:t>
            </a:r>
            <a:r>
              <a:rPr kumimoji="1" lang="ja-JP" altLang="en-US" dirty="0"/>
              <a:t>に，</a:t>
            </a:r>
            <a:r>
              <a:rPr kumimoji="1" lang="en-US" altLang="ja-JP" dirty="0"/>
              <a:t>I1 </a:t>
            </a:r>
            <a:r>
              <a:rPr kumimoji="1" lang="ja-JP" altLang="en-US" dirty="0"/>
              <a:t>が </a:t>
            </a:r>
            <a:r>
              <a:rPr kumimoji="1" lang="en-US" altLang="ja-JP" dirty="0"/>
              <a:t>IF </a:t>
            </a:r>
            <a:r>
              <a:rPr kumimoji="1" lang="ja-JP" altLang="en-US" dirty="0"/>
              <a:t>で処理されている</a:t>
            </a:r>
            <a:endParaRPr lang="en-US" altLang="ja-JP" dirty="0"/>
          </a:p>
        </p:txBody>
      </p:sp>
      <p:sp>
        <p:nvSpPr>
          <p:cNvPr id="202776" name="Rectangle 24"/>
          <p:cNvSpPr>
            <a:spLocks noChangeArrowheads="1"/>
          </p:cNvSpPr>
          <p:nvPr/>
        </p:nvSpPr>
        <p:spPr bwMode="auto">
          <a:xfrm>
            <a:off x="2674272" y="14398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09" name="Rectangle 57"/>
          <p:cNvSpPr>
            <a:spLocks noChangeArrowheads="1"/>
          </p:cNvSpPr>
          <p:nvPr/>
        </p:nvSpPr>
        <p:spPr bwMode="auto">
          <a:xfrm>
            <a:off x="2045622" y="1530376"/>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I0</a:t>
            </a:r>
          </a:p>
        </p:txBody>
      </p:sp>
      <p:sp>
        <p:nvSpPr>
          <p:cNvPr id="202810" name="Rectangle 58"/>
          <p:cNvSpPr>
            <a:spLocks noChangeArrowheads="1"/>
          </p:cNvSpPr>
          <p:nvPr/>
        </p:nvSpPr>
        <p:spPr bwMode="auto">
          <a:xfrm>
            <a:off x="2045622" y="2160614"/>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I1</a:t>
            </a:r>
          </a:p>
        </p:txBody>
      </p:sp>
      <p:sp>
        <p:nvSpPr>
          <p:cNvPr id="202811" name="Rectangle 59"/>
          <p:cNvSpPr>
            <a:spLocks noChangeArrowheads="1"/>
          </p:cNvSpPr>
          <p:nvPr/>
        </p:nvSpPr>
        <p:spPr bwMode="auto">
          <a:xfrm>
            <a:off x="2045622" y="2789264"/>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I2</a:t>
            </a:r>
          </a:p>
        </p:txBody>
      </p:sp>
      <p:sp>
        <p:nvSpPr>
          <p:cNvPr id="202812" name="Rectangle 60"/>
          <p:cNvSpPr>
            <a:spLocks noChangeArrowheads="1"/>
          </p:cNvSpPr>
          <p:nvPr/>
        </p:nvSpPr>
        <p:spPr bwMode="auto">
          <a:xfrm>
            <a:off x="2045622" y="3419501"/>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I3</a:t>
            </a:r>
          </a:p>
        </p:txBody>
      </p:sp>
      <p:sp>
        <p:nvSpPr>
          <p:cNvPr id="202813" name="Rectangle 61"/>
          <p:cNvSpPr>
            <a:spLocks noChangeArrowheads="1"/>
          </p:cNvSpPr>
          <p:nvPr/>
        </p:nvSpPr>
        <p:spPr bwMode="auto">
          <a:xfrm>
            <a:off x="2045622" y="4049739"/>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I4</a:t>
            </a:r>
          </a:p>
        </p:txBody>
      </p:sp>
      <p:sp>
        <p:nvSpPr>
          <p:cNvPr id="202815" name="Line 63"/>
          <p:cNvSpPr>
            <a:spLocks noChangeShapeType="1"/>
          </p:cNvSpPr>
          <p:nvPr/>
        </p:nvSpPr>
        <p:spPr bwMode="auto">
          <a:xfrm>
            <a:off x="2494885" y="1258913"/>
            <a:ext cx="7470775" cy="0"/>
          </a:xfrm>
          <a:prstGeom prst="line">
            <a:avLst/>
          </a:prstGeom>
          <a:noFill/>
          <a:ln w="38100">
            <a:solidFill>
              <a:schemeClr val="tx1"/>
            </a:solidFill>
            <a:round/>
            <a:headEnd/>
            <a:tailEnd type="stealth" w="med" len="lg"/>
          </a:ln>
          <a:effectLst/>
        </p:spPr>
        <p:txBody>
          <a:bodyPr wrap="none" lIns="93600" tIns="46800" rIns="93600" bIns="46800" anchor="ctr"/>
          <a:lstStyle/>
          <a:p>
            <a:endParaRPr lang="ja-JP" altLang="en-US"/>
          </a:p>
        </p:txBody>
      </p:sp>
      <p:sp>
        <p:nvSpPr>
          <p:cNvPr id="202817" name="Rectangle 65"/>
          <p:cNvSpPr>
            <a:spLocks noChangeArrowheads="1"/>
          </p:cNvSpPr>
          <p:nvPr/>
        </p:nvSpPr>
        <p:spPr bwMode="auto">
          <a:xfrm>
            <a:off x="3394997" y="14398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18" name="Rectangle 66"/>
          <p:cNvSpPr>
            <a:spLocks noChangeArrowheads="1"/>
          </p:cNvSpPr>
          <p:nvPr/>
        </p:nvSpPr>
        <p:spPr bwMode="auto">
          <a:xfrm>
            <a:off x="4107784" y="14367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19" name="Rectangle 67"/>
          <p:cNvSpPr>
            <a:spLocks noChangeArrowheads="1"/>
          </p:cNvSpPr>
          <p:nvPr/>
        </p:nvSpPr>
        <p:spPr bwMode="auto">
          <a:xfrm>
            <a:off x="4820572" y="14335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20" name="Rectangle 68"/>
          <p:cNvSpPr>
            <a:spLocks noChangeArrowheads="1"/>
          </p:cNvSpPr>
          <p:nvPr/>
        </p:nvSpPr>
        <p:spPr bwMode="auto">
          <a:xfrm>
            <a:off x="5533359" y="14303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21" name="Rectangle 69"/>
          <p:cNvSpPr>
            <a:spLocks noChangeArrowheads="1"/>
          </p:cNvSpPr>
          <p:nvPr/>
        </p:nvSpPr>
        <p:spPr bwMode="auto">
          <a:xfrm>
            <a:off x="3394997" y="207012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02822" name="Rectangle 70"/>
          <p:cNvSpPr>
            <a:spLocks noChangeArrowheads="1"/>
          </p:cNvSpPr>
          <p:nvPr/>
        </p:nvSpPr>
        <p:spPr bwMode="auto">
          <a:xfrm>
            <a:off x="4107784" y="20669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23" name="Rectangle 71"/>
          <p:cNvSpPr>
            <a:spLocks noChangeArrowheads="1"/>
          </p:cNvSpPr>
          <p:nvPr/>
        </p:nvSpPr>
        <p:spPr bwMode="auto">
          <a:xfrm>
            <a:off x="4820572" y="206377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24" name="Rectangle 72"/>
          <p:cNvSpPr>
            <a:spLocks noChangeArrowheads="1"/>
          </p:cNvSpPr>
          <p:nvPr/>
        </p:nvSpPr>
        <p:spPr bwMode="auto">
          <a:xfrm>
            <a:off x="5533359" y="20606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25" name="Rectangle 73"/>
          <p:cNvSpPr>
            <a:spLocks noChangeArrowheads="1"/>
          </p:cNvSpPr>
          <p:nvPr/>
        </p:nvSpPr>
        <p:spPr bwMode="auto">
          <a:xfrm>
            <a:off x="6276309" y="20780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26" name="Rectangle 74"/>
          <p:cNvSpPr>
            <a:spLocks noChangeArrowheads="1"/>
          </p:cNvSpPr>
          <p:nvPr/>
        </p:nvSpPr>
        <p:spPr bwMode="auto">
          <a:xfrm>
            <a:off x="4107784" y="26971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27" name="Rectangle 75"/>
          <p:cNvSpPr>
            <a:spLocks noChangeArrowheads="1"/>
          </p:cNvSpPr>
          <p:nvPr/>
        </p:nvSpPr>
        <p:spPr bwMode="auto">
          <a:xfrm>
            <a:off x="4820572" y="26940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28" name="Rectangle 76"/>
          <p:cNvSpPr>
            <a:spLocks noChangeArrowheads="1"/>
          </p:cNvSpPr>
          <p:nvPr/>
        </p:nvSpPr>
        <p:spPr bwMode="auto">
          <a:xfrm>
            <a:off x="5533359" y="2690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29" name="Rectangle 77"/>
          <p:cNvSpPr>
            <a:spLocks noChangeArrowheads="1"/>
          </p:cNvSpPr>
          <p:nvPr/>
        </p:nvSpPr>
        <p:spPr bwMode="auto">
          <a:xfrm>
            <a:off x="6276309" y="27083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30" name="Rectangle 78"/>
          <p:cNvSpPr>
            <a:spLocks noChangeArrowheads="1"/>
          </p:cNvSpPr>
          <p:nvPr/>
        </p:nvSpPr>
        <p:spPr bwMode="auto">
          <a:xfrm>
            <a:off x="6995447" y="27003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31" name="Rectangle 79"/>
          <p:cNvSpPr>
            <a:spLocks noChangeArrowheads="1"/>
          </p:cNvSpPr>
          <p:nvPr/>
        </p:nvSpPr>
        <p:spPr bwMode="auto">
          <a:xfrm>
            <a:off x="4820572" y="33242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32" name="Rectangle 80"/>
          <p:cNvSpPr>
            <a:spLocks noChangeArrowheads="1"/>
          </p:cNvSpPr>
          <p:nvPr/>
        </p:nvSpPr>
        <p:spPr bwMode="auto">
          <a:xfrm>
            <a:off x="5533359" y="332107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33" name="Rectangle 81"/>
          <p:cNvSpPr>
            <a:spLocks noChangeArrowheads="1"/>
          </p:cNvSpPr>
          <p:nvPr/>
        </p:nvSpPr>
        <p:spPr bwMode="auto">
          <a:xfrm>
            <a:off x="6276309" y="33385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34" name="Rectangle 82"/>
          <p:cNvSpPr>
            <a:spLocks noChangeArrowheads="1"/>
          </p:cNvSpPr>
          <p:nvPr/>
        </p:nvSpPr>
        <p:spPr bwMode="auto">
          <a:xfrm>
            <a:off x="6995447" y="33306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35" name="Rectangle 83"/>
          <p:cNvSpPr>
            <a:spLocks noChangeArrowheads="1"/>
          </p:cNvSpPr>
          <p:nvPr/>
        </p:nvSpPr>
        <p:spPr bwMode="auto">
          <a:xfrm>
            <a:off x="7716172" y="33306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36" name="Rectangle 84"/>
          <p:cNvSpPr>
            <a:spLocks noChangeArrowheads="1"/>
          </p:cNvSpPr>
          <p:nvPr/>
        </p:nvSpPr>
        <p:spPr bwMode="auto">
          <a:xfrm>
            <a:off x="5533359" y="39513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37" name="Rectangle 85"/>
          <p:cNvSpPr>
            <a:spLocks noChangeArrowheads="1"/>
          </p:cNvSpPr>
          <p:nvPr/>
        </p:nvSpPr>
        <p:spPr bwMode="auto">
          <a:xfrm>
            <a:off x="6276309" y="396877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38" name="Rectangle 86"/>
          <p:cNvSpPr>
            <a:spLocks noChangeArrowheads="1"/>
          </p:cNvSpPr>
          <p:nvPr/>
        </p:nvSpPr>
        <p:spPr bwMode="auto">
          <a:xfrm>
            <a:off x="6995447" y="3960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39" name="Rectangle 87"/>
          <p:cNvSpPr>
            <a:spLocks noChangeArrowheads="1"/>
          </p:cNvSpPr>
          <p:nvPr/>
        </p:nvSpPr>
        <p:spPr bwMode="auto">
          <a:xfrm>
            <a:off x="7716172" y="3960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40" name="Rectangle 88"/>
          <p:cNvSpPr>
            <a:spLocks noChangeArrowheads="1"/>
          </p:cNvSpPr>
          <p:nvPr/>
        </p:nvSpPr>
        <p:spPr bwMode="auto">
          <a:xfrm>
            <a:off x="8435309" y="3960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47" name="Rectangle 95"/>
          <p:cNvSpPr>
            <a:spLocks noChangeArrowheads="1"/>
          </p:cNvSpPr>
          <p:nvPr/>
        </p:nvSpPr>
        <p:spPr bwMode="auto">
          <a:xfrm>
            <a:off x="3305970" y="1358978"/>
            <a:ext cx="719137" cy="3150035"/>
          </a:xfrm>
          <a:prstGeom prst="rect">
            <a:avLst/>
          </a:prstGeom>
          <a:solidFill>
            <a:schemeClr val="accent5">
              <a:lumMod val="20000"/>
              <a:lumOff val="80000"/>
              <a:alpha val="50000"/>
            </a:schemeClr>
          </a:solidFill>
          <a:ln w="38100">
            <a:solidFill>
              <a:schemeClr val="accent5"/>
            </a:solidFill>
            <a:miter lim="800000"/>
            <a:headEnd/>
            <a:tailEnd type="none" w="med" len="lg"/>
          </a:ln>
          <a:effectLst/>
        </p:spPr>
        <p:txBody>
          <a:bodyPr wrap="none" lIns="93600" tIns="46800" rIns="93600" bIns="46800" anchor="ctr"/>
          <a:lstStyle/>
          <a:p>
            <a:pPr algn="ctr"/>
            <a:endParaRPr lang="ja-JP" altLang="en-US"/>
          </a:p>
        </p:txBody>
      </p:sp>
      <p:sp>
        <p:nvSpPr>
          <p:cNvPr id="202848" name="Rectangle 96"/>
          <p:cNvSpPr>
            <a:spLocks noChangeArrowheads="1"/>
          </p:cNvSpPr>
          <p:nvPr/>
        </p:nvSpPr>
        <p:spPr bwMode="auto">
          <a:xfrm>
            <a:off x="9605297" y="809651"/>
            <a:ext cx="360362" cy="360362"/>
          </a:xfrm>
          <a:prstGeom prst="rect">
            <a:avLst/>
          </a:prstGeom>
          <a:noFill/>
          <a:ln w="12700">
            <a:noFill/>
            <a:miter lim="800000"/>
            <a:headEnd/>
            <a:tailEnd/>
          </a:ln>
          <a:effectLst/>
        </p:spPr>
        <p:txBody>
          <a:bodyPr wrap="none" lIns="93600" tIns="46800" rIns="93600" bIns="46800" anchor="ctr"/>
          <a:lstStyle/>
          <a:p>
            <a:r>
              <a:rPr lang="en-US" altLang="ja-JP" sz="2000"/>
              <a:t>cycle</a:t>
            </a:r>
          </a:p>
        </p:txBody>
      </p:sp>
    </p:spTree>
    <p:extLst>
      <p:ext uri="{BB962C8B-B14F-4D97-AF65-F5344CB8AC3E}">
        <p14:creationId xmlns:p14="http://schemas.microsoft.com/office/powerpoint/2010/main" val="1190741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7" name="直線コネクタ 126"/>
          <p:cNvCxnSpPr/>
          <p:nvPr/>
        </p:nvCxnSpPr>
        <p:spPr bwMode="auto">
          <a:xfrm>
            <a:off x="2045955" y="2168986"/>
            <a:ext cx="720080"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パイプライン化による性能（スループット）向上</a:t>
            </a:r>
            <a:endParaRPr kumimoji="1" lang="ja-JP" altLang="en-US" dirty="0"/>
          </a:p>
        </p:txBody>
      </p:sp>
      <p:cxnSp>
        <p:nvCxnSpPr>
          <p:cNvPr id="96" name="直線矢印コネクタ 95"/>
          <p:cNvCxnSpPr/>
          <p:nvPr/>
        </p:nvCxnSpPr>
        <p:spPr bwMode="auto">
          <a:xfrm>
            <a:off x="2225958" y="1628980"/>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43" name="直線矢印コネクタ 142"/>
          <p:cNvCxnSpPr/>
          <p:nvPr/>
        </p:nvCxnSpPr>
        <p:spPr bwMode="auto">
          <a:xfrm>
            <a:off x="2135957" y="4599013"/>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2135957" y="1178975"/>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2027963" y="4166749"/>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sp>
        <p:nvSpPr>
          <p:cNvPr id="128" name="角丸四角形 127"/>
          <p:cNvSpPr/>
          <p:nvPr/>
        </p:nvSpPr>
        <p:spPr bwMode="auto">
          <a:xfrm>
            <a:off x="1671471" y="2024826"/>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cxnSp>
        <p:nvCxnSpPr>
          <p:cNvPr id="132" name="直線コネクタ 131"/>
          <p:cNvCxnSpPr>
            <a:endCxn id="169" idx="1"/>
          </p:cNvCxnSpPr>
          <p:nvPr/>
        </p:nvCxnSpPr>
        <p:spPr bwMode="auto">
          <a:xfrm flipV="1">
            <a:off x="2045956" y="2888992"/>
            <a:ext cx="2970033" cy="2"/>
          </a:xfrm>
          <a:prstGeom prst="line">
            <a:avLst/>
          </a:prstGeom>
          <a:noFill/>
          <a:ln w="9525" cap="flat" cmpd="sng" algn="ctr">
            <a:solidFill>
              <a:schemeClr val="tx1"/>
            </a:solidFill>
            <a:prstDash val="dash"/>
            <a:round/>
            <a:headEnd type="none" w="med" len="med"/>
            <a:tailEnd type="none" w="med" len="med"/>
          </a:ln>
          <a:effectLst/>
        </p:spPr>
      </p:cxnSp>
      <p:sp>
        <p:nvSpPr>
          <p:cNvPr id="133" name="角丸四角形 132"/>
          <p:cNvSpPr/>
          <p:nvPr/>
        </p:nvSpPr>
        <p:spPr bwMode="auto">
          <a:xfrm>
            <a:off x="1671471" y="2744834"/>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cxnSp>
        <p:nvCxnSpPr>
          <p:cNvPr id="134" name="直線コネクタ 133"/>
          <p:cNvCxnSpPr/>
          <p:nvPr/>
        </p:nvCxnSpPr>
        <p:spPr bwMode="auto">
          <a:xfrm>
            <a:off x="2045956" y="3519001"/>
            <a:ext cx="5310059" cy="0"/>
          </a:xfrm>
          <a:prstGeom prst="line">
            <a:avLst/>
          </a:prstGeom>
          <a:noFill/>
          <a:ln w="9525" cap="flat" cmpd="sng" algn="ctr">
            <a:solidFill>
              <a:schemeClr val="tx1"/>
            </a:solidFill>
            <a:prstDash val="dash"/>
            <a:round/>
            <a:headEnd type="none" w="med" len="med"/>
            <a:tailEnd type="none" w="med" len="med"/>
          </a:ln>
          <a:effectLst/>
        </p:spPr>
      </p:cxnSp>
      <p:sp>
        <p:nvSpPr>
          <p:cNvPr id="135" name="角丸四角形 134"/>
          <p:cNvSpPr/>
          <p:nvPr/>
        </p:nvSpPr>
        <p:spPr bwMode="auto">
          <a:xfrm>
            <a:off x="1671471" y="3374841"/>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36" name="直線コネクタ 135"/>
          <p:cNvCxnSpPr/>
          <p:nvPr/>
        </p:nvCxnSpPr>
        <p:spPr bwMode="auto">
          <a:xfrm>
            <a:off x="2060435" y="4923175"/>
            <a:ext cx="720080" cy="0"/>
          </a:xfrm>
          <a:prstGeom prst="line">
            <a:avLst/>
          </a:prstGeom>
          <a:noFill/>
          <a:ln w="9525" cap="flat" cmpd="sng" algn="ctr">
            <a:solidFill>
              <a:schemeClr val="tx1"/>
            </a:solidFill>
            <a:prstDash val="dash"/>
            <a:round/>
            <a:headEnd type="none" w="med" len="med"/>
            <a:tailEnd type="none" w="med" len="med"/>
          </a:ln>
          <a:effectLst/>
        </p:spPr>
      </p:cxnSp>
      <p:sp>
        <p:nvSpPr>
          <p:cNvPr id="137" name="角丸四角形 136"/>
          <p:cNvSpPr/>
          <p:nvPr/>
        </p:nvSpPr>
        <p:spPr bwMode="auto">
          <a:xfrm>
            <a:off x="1685951" y="4779015"/>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sp>
        <p:nvSpPr>
          <p:cNvPr id="138" name="角丸四角形 137"/>
          <p:cNvSpPr/>
          <p:nvPr/>
        </p:nvSpPr>
        <p:spPr bwMode="auto">
          <a:xfrm>
            <a:off x="1685951" y="5499023"/>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sp>
        <p:nvSpPr>
          <p:cNvPr id="139" name="角丸四角形 138"/>
          <p:cNvSpPr/>
          <p:nvPr/>
        </p:nvSpPr>
        <p:spPr bwMode="auto">
          <a:xfrm>
            <a:off x="1685951" y="6129030"/>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40" name="直線コネクタ 139"/>
          <p:cNvCxnSpPr>
            <a:endCxn id="150" idx="1"/>
          </p:cNvCxnSpPr>
          <p:nvPr/>
        </p:nvCxnSpPr>
        <p:spPr bwMode="auto">
          <a:xfrm>
            <a:off x="2135956" y="5679025"/>
            <a:ext cx="1080012" cy="2"/>
          </a:xfrm>
          <a:prstGeom prst="line">
            <a:avLst/>
          </a:prstGeom>
          <a:noFill/>
          <a:ln w="9525" cap="flat" cmpd="sng" algn="ctr">
            <a:solidFill>
              <a:schemeClr val="tx1"/>
            </a:solidFill>
            <a:prstDash val="dash"/>
            <a:round/>
            <a:headEnd type="none" w="med" len="med"/>
            <a:tailEnd type="none" w="med" len="med"/>
          </a:ln>
          <a:effectLst/>
        </p:spPr>
      </p:cxnSp>
      <p:cxnSp>
        <p:nvCxnSpPr>
          <p:cNvPr id="141" name="直線コネクタ 140"/>
          <p:cNvCxnSpPr>
            <a:stCxn id="139" idx="3"/>
            <a:endCxn id="157" idx="1"/>
          </p:cNvCxnSpPr>
          <p:nvPr/>
        </p:nvCxnSpPr>
        <p:spPr bwMode="auto">
          <a:xfrm flipV="1">
            <a:off x="2118251" y="6309030"/>
            <a:ext cx="1547722" cy="2"/>
          </a:xfrm>
          <a:prstGeom prst="line">
            <a:avLst/>
          </a:prstGeom>
          <a:noFill/>
          <a:ln w="9525" cap="flat" cmpd="sng" algn="ctr">
            <a:solidFill>
              <a:schemeClr val="tx1"/>
            </a:solidFill>
            <a:prstDash val="dash"/>
            <a:round/>
            <a:headEnd type="none" w="med" len="med"/>
            <a:tailEnd type="none" w="med" len="med"/>
          </a:ln>
          <a:effectLst/>
        </p:spPr>
      </p:cxnSp>
      <p:grpSp>
        <p:nvGrpSpPr>
          <p:cNvPr id="13" name="グループ化 12"/>
          <p:cNvGrpSpPr/>
          <p:nvPr/>
        </p:nvGrpSpPr>
        <p:grpSpPr>
          <a:xfrm>
            <a:off x="2765963" y="4779015"/>
            <a:ext cx="2160020" cy="360000"/>
            <a:chOff x="4481999" y="4959017"/>
            <a:chExt cx="2160020" cy="360000"/>
          </a:xfrm>
        </p:grpSpPr>
        <p:sp>
          <p:nvSpPr>
            <p:cNvPr id="142"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4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47"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48"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49" name="グループ化 148"/>
          <p:cNvGrpSpPr/>
          <p:nvPr/>
        </p:nvGrpSpPr>
        <p:grpSpPr>
          <a:xfrm>
            <a:off x="3215968" y="5499027"/>
            <a:ext cx="2160020" cy="360000"/>
            <a:chOff x="4481999" y="4959017"/>
            <a:chExt cx="2160020" cy="360000"/>
          </a:xfrm>
        </p:grpSpPr>
        <p:sp>
          <p:nvSpPr>
            <p:cNvPr id="15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54"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5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56" name="グループ化 155"/>
          <p:cNvGrpSpPr/>
          <p:nvPr/>
        </p:nvGrpSpPr>
        <p:grpSpPr>
          <a:xfrm>
            <a:off x="3665973" y="6129030"/>
            <a:ext cx="2160020" cy="360000"/>
            <a:chOff x="4481999" y="4959017"/>
            <a:chExt cx="2160020" cy="360000"/>
          </a:xfrm>
        </p:grpSpPr>
        <p:sp>
          <p:nvSpPr>
            <p:cNvPr id="157"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8"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9"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0"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1"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62" name="グループ化 161"/>
          <p:cNvGrpSpPr/>
          <p:nvPr/>
        </p:nvGrpSpPr>
        <p:grpSpPr>
          <a:xfrm>
            <a:off x="2765963" y="1988984"/>
            <a:ext cx="2160020" cy="360000"/>
            <a:chOff x="4481999" y="4959017"/>
            <a:chExt cx="2160020" cy="360000"/>
          </a:xfrm>
        </p:grpSpPr>
        <p:sp>
          <p:nvSpPr>
            <p:cNvPr id="163"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6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6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6"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7"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68" name="グループ化 167"/>
          <p:cNvGrpSpPr/>
          <p:nvPr/>
        </p:nvGrpSpPr>
        <p:grpSpPr>
          <a:xfrm>
            <a:off x="5015988" y="2708992"/>
            <a:ext cx="2160020" cy="360000"/>
            <a:chOff x="4481999" y="4959017"/>
            <a:chExt cx="2160020" cy="360000"/>
          </a:xfrm>
        </p:grpSpPr>
        <p:sp>
          <p:nvSpPr>
            <p:cNvPr id="169"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70"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71"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11"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1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219" name="グループ化 218"/>
          <p:cNvGrpSpPr/>
          <p:nvPr/>
        </p:nvGrpSpPr>
        <p:grpSpPr>
          <a:xfrm>
            <a:off x="7266013" y="3338999"/>
            <a:ext cx="2160020" cy="360000"/>
            <a:chOff x="4481999" y="4959017"/>
            <a:chExt cx="2160020" cy="360000"/>
          </a:xfrm>
        </p:grpSpPr>
        <p:sp>
          <p:nvSpPr>
            <p:cNvPr id="22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2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2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23"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24"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spTree>
    <p:extLst>
      <p:ext uri="{BB962C8B-B14F-4D97-AF65-F5344CB8AC3E}">
        <p14:creationId xmlns:p14="http://schemas.microsoft.com/office/powerpoint/2010/main" val="40391040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余談：実際の </a:t>
            </a:r>
            <a:r>
              <a:rPr kumimoji="1" lang="en-US" altLang="ja-JP" dirty="0"/>
              <a:t>CPU </a:t>
            </a:r>
            <a:r>
              <a:rPr kumimoji="1" lang="ja-JP" altLang="en-US" dirty="0"/>
              <a:t>を実行した場合のパイプライン</a:t>
            </a:r>
          </a:p>
        </p:txBody>
      </p:sp>
      <p:sp>
        <p:nvSpPr>
          <p:cNvPr id="3" name="テキスト プレースホルダー 2"/>
          <p:cNvSpPr>
            <a:spLocks noGrp="1"/>
          </p:cNvSpPr>
          <p:nvPr>
            <p:ph type="body" sz="quarter" idx="10"/>
          </p:nvPr>
        </p:nvSpPr>
        <p:spPr>
          <a:xfrm>
            <a:off x="2135956" y="5409023"/>
            <a:ext cx="8280092" cy="899703"/>
          </a:xfrm>
        </p:spPr>
        <p:txBody>
          <a:bodyPr/>
          <a:lstStyle/>
          <a:p>
            <a:r>
              <a:rPr kumimoji="1" lang="ja-JP" altLang="en-US" dirty="0"/>
              <a:t>塩谷が開発している </a:t>
            </a:r>
            <a:r>
              <a:rPr kumimoji="1" lang="en-US" altLang="ja-JP" dirty="0"/>
              <a:t>RISC-V CPU</a:t>
            </a:r>
            <a:r>
              <a:rPr lang="ja-JP" altLang="en-US" dirty="0"/>
              <a:t>（</a:t>
            </a:r>
            <a:r>
              <a:rPr lang="en-US" altLang="ja-JP" dirty="0"/>
              <a:t>RSD</a:t>
            </a:r>
            <a:r>
              <a:rPr lang="ja-JP" altLang="en-US" dirty="0"/>
              <a:t>）</a:t>
            </a:r>
            <a:r>
              <a:rPr kumimoji="1" lang="ja-JP" altLang="en-US" dirty="0"/>
              <a:t>の実行を可視化したもの</a:t>
            </a:r>
            <a:endParaRPr kumimoji="1" lang="en-US" altLang="ja-JP" dirty="0"/>
          </a:p>
          <a:p>
            <a:pPr lvl="1"/>
            <a:r>
              <a:rPr kumimoji="1" lang="en-US" altLang="ja-JP" dirty="0">
                <a:hlinkClick r:id="rId2"/>
              </a:rPr>
              <a:t>https://github.com/rsd-devel/rsd</a:t>
            </a:r>
            <a:endParaRPr lang="en-US" altLang="ja-JP" dirty="0"/>
          </a:p>
          <a:p>
            <a:pPr lvl="1"/>
            <a:r>
              <a:rPr lang="en-US" altLang="ja-JP" dirty="0"/>
              <a:t>out-of-order </a:t>
            </a:r>
            <a:r>
              <a:rPr lang="ja-JP" altLang="en-US" dirty="0"/>
              <a:t>実行をしているので，途中からプログラム順とは</a:t>
            </a:r>
            <a:br>
              <a:rPr lang="en-US" altLang="ja-JP" dirty="0"/>
            </a:br>
            <a:r>
              <a:rPr lang="ja-JP" altLang="en-US" dirty="0"/>
              <a:t>異なるタイミングで実行が進んでいる</a:t>
            </a:r>
            <a:endParaRPr kumimoji="1" lang="ja-JP" altLang="en-US" dirty="0"/>
          </a:p>
        </p:txBody>
      </p:sp>
      <p:pic>
        <p:nvPicPr>
          <p:cNvPr id="4" name="図 3"/>
          <p:cNvPicPr>
            <a:picLocks noChangeAspect="1"/>
          </p:cNvPicPr>
          <p:nvPr/>
        </p:nvPicPr>
        <p:blipFill>
          <a:blip r:embed="rId3"/>
          <a:stretch>
            <a:fillRect/>
          </a:stretch>
        </p:blipFill>
        <p:spPr>
          <a:xfrm>
            <a:off x="2765964" y="998973"/>
            <a:ext cx="6708853" cy="3960044"/>
          </a:xfrm>
          <a:prstGeom prst="rect">
            <a:avLst/>
          </a:prstGeom>
        </p:spPr>
      </p:pic>
    </p:spTree>
    <p:extLst>
      <p:ext uri="{BB962C8B-B14F-4D97-AF65-F5344CB8AC3E}">
        <p14:creationId xmlns:p14="http://schemas.microsoft.com/office/powerpoint/2010/main" val="581280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r>
              <a:rPr lang="ja-JP" altLang="en-US"/>
              <a:t>パイプライン化の効果</a:t>
            </a:r>
            <a:endParaRPr lang="ja-JP" altLang="en-US" dirty="0"/>
          </a:p>
        </p:txBody>
      </p:sp>
      <p:sp>
        <p:nvSpPr>
          <p:cNvPr id="204803" name="Rectangle 3"/>
          <p:cNvSpPr>
            <a:spLocks noGrp="1" noChangeArrowheads="1"/>
          </p:cNvSpPr>
          <p:nvPr>
            <p:ph type="body" idx="10"/>
          </p:nvPr>
        </p:nvSpPr>
        <p:spPr>
          <a:xfrm>
            <a:off x="2135188" y="1089025"/>
            <a:ext cx="8280400" cy="5219700"/>
          </a:xfrm>
        </p:spPr>
        <p:txBody>
          <a:bodyPr/>
          <a:lstStyle/>
          <a:p>
            <a:r>
              <a:rPr lang="ja-JP" altLang="en-US" dirty="0"/>
              <a:t>レイテンシ </a:t>
            </a:r>
            <a:r>
              <a:rPr lang="en-US" altLang="ja-JP" dirty="0"/>
              <a:t>(latency)</a:t>
            </a:r>
            <a:r>
              <a:rPr lang="ja-JP" altLang="en-US" dirty="0"/>
              <a:t>：</a:t>
            </a:r>
            <a:r>
              <a:rPr lang="en-US" altLang="ja-JP" dirty="0"/>
              <a:t>	</a:t>
            </a:r>
            <a:r>
              <a:rPr lang="ja-JP" altLang="en-US" dirty="0"/>
              <a:t>　</a:t>
            </a:r>
            <a:r>
              <a:rPr lang="ja-JP" altLang="en-US" dirty="0">
                <a:solidFill>
                  <a:schemeClr val="accent5"/>
                </a:solidFill>
              </a:rPr>
              <a:t>短くならない（か，やや延びる）</a:t>
            </a:r>
            <a:endParaRPr lang="en-US" altLang="ja-JP" dirty="0">
              <a:solidFill>
                <a:schemeClr val="accent5"/>
              </a:solidFill>
            </a:endParaRPr>
          </a:p>
          <a:p>
            <a:pPr lvl="1"/>
            <a:r>
              <a:rPr lang="ja-JP" altLang="en-US" dirty="0"/>
              <a:t>一続きの処理が始まってから終わるまでにかかる時間</a:t>
            </a:r>
            <a:endParaRPr lang="en-US" altLang="ja-JP" dirty="0"/>
          </a:p>
          <a:p>
            <a:pPr lvl="1"/>
            <a:r>
              <a:rPr lang="ja-JP" altLang="en-US" dirty="0"/>
              <a:t>この場合，</a:t>
            </a:r>
            <a:r>
              <a:rPr lang="en-US" altLang="ja-JP" dirty="0"/>
              <a:t>1</a:t>
            </a:r>
            <a:r>
              <a:rPr lang="ja-JP" altLang="en-US" dirty="0"/>
              <a:t>命令の始まりから終わりまでの処理時間</a:t>
            </a:r>
            <a:endParaRPr lang="en-US" altLang="ja-JP" dirty="0"/>
          </a:p>
          <a:p>
            <a:pPr lvl="1"/>
            <a:r>
              <a:rPr lang="ja-JP" altLang="en-US" dirty="0"/>
              <a:t>原理的に短くならない（ステージ間に</a:t>
            </a:r>
            <a:r>
              <a:rPr lang="en-US" altLang="ja-JP" dirty="0"/>
              <a:t>FF </a:t>
            </a:r>
            <a:r>
              <a:rPr lang="ja-JP" altLang="en-US" dirty="0"/>
              <a:t>が入る分のびる）</a:t>
            </a:r>
          </a:p>
          <a:p>
            <a:r>
              <a:rPr lang="ja-JP" altLang="en-US" dirty="0"/>
              <a:t>スループット </a:t>
            </a:r>
            <a:r>
              <a:rPr lang="en-US" altLang="ja-JP" dirty="0"/>
              <a:t>(throughput)</a:t>
            </a:r>
            <a:r>
              <a:rPr lang="ja-JP" altLang="en-US" dirty="0"/>
              <a:t>：　</a:t>
            </a:r>
            <a:r>
              <a:rPr lang="ja-JP" altLang="en-US" dirty="0">
                <a:solidFill>
                  <a:schemeClr val="accent5"/>
                </a:solidFill>
              </a:rPr>
              <a:t>ステージ数倍だけ上がる</a:t>
            </a:r>
            <a:endParaRPr lang="en-US" altLang="ja-JP" dirty="0">
              <a:solidFill>
                <a:schemeClr val="accent5"/>
              </a:solidFill>
            </a:endParaRPr>
          </a:p>
          <a:p>
            <a:pPr lvl="1"/>
            <a:r>
              <a:rPr lang="ja-JP" altLang="en-US" dirty="0"/>
              <a:t>単位時間当たりの処理量</a:t>
            </a:r>
            <a:endParaRPr lang="en-US" altLang="ja-JP" dirty="0"/>
          </a:p>
          <a:p>
            <a:pPr lvl="1"/>
            <a:r>
              <a:rPr lang="ja-JP" altLang="en-US" dirty="0"/>
              <a:t>この場合，単位時間あたりに実行される命令数</a:t>
            </a:r>
          </a:p>
        </p:txBody>
      </p:sp>
    </p:spTree>
    <p:extLst>
      <p:ext uri="{BB962C8B-B14F-4D97-AF65-F5344CB8AC3E}">
        <p14:creationId xmlns:p14="http://schemas.microsoft.com/office/powerpoint/2010/main" val="4452132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ステージを「どこで」切るか</a:t>
            </a:r>
          </a:p>
        </p:txBody>
      </p:sp>
      <p:sp>
        <p:nvSpPr>
          <p:cNvPr id="3" name="テキスト プレースホルダー 2"/>
          <p:cNvSpPr>
            <a:spLocks noGrp="1"/>
          </p:cNvSpPr>
          <p:nvPr>
            <p:ph type="body" sz="quarter" idx="10"/>
          </p:nvPr>
        </p:nvSpPr>
        <p:spPr>
          <a:xfrm>
            <a:off x="2135956" y="1088975"/>
            <a:ext cx="8280092" cy="2430027"/>
          </a:xfrm>
        </p:spPr>
        <p:txBody>
          <a:bodyPr anchor="t"/>
          <a:lstStyle/>
          <a:p>
            <a:r>
              <a:rPr lang="ja-JP" altLang="en-US" dirty="0"/>
              <a:t>大きな回路のまとまりをステージにする</a:t>
            </a:r>
            <a:endParaRPr lang="en-US" altLang="ja-JP" dirty="0"/>
          </a:p>
          <a:p>
            <a:pPr lvl="1"/>
            <a:r>
              <a:rPr lang="ja-JP" altLang="en-US" dirty="0"/>
              <a:t>回路のまとまりが大きい → 遅延も大きい</a:t>
            </a:r>
            <a:endParaRPr lang="en-US" altLang="ja-JP" dirty="0"/>
          </a:p>
          <a:p>
            <a:r>
              <a:rPr lang="ja-JP" altLang="en-US" dirty="0"/>
              <a:t>この遅延の大きさが揃っていないと，綺麗にうごかない</a:t>
            </a:r>
            <a:endParaRPr lang="en-US" altLang="ja-JP" dirty="0"/>
          </a:p>
          <a:p>
            <a:pPr lvl="1"/>
            <a:r>
              <a:rPr kumimoji="1" lang="ja-JP" altLang="en-US" dirty="0"/>
              <a:t>パイプライン全体は，一番遅いステージの遅延にあわせて動く</a:t>
            </a:r>
            <a:endParaRPr kumimoji="1" lang="en-US" altLang="ja-JP" dirty="0"/>
          </a:p>
          <a:p>
            <a:pPr lvl="1"/>
            <a:r>
              <a:rPr kumimoji="1" lang="ja-JP" altLang="en-US" dirty="0"/>
              <a:t>他の人が仕事が終わったからと言って，先に送れない</a:t>
            </a:r>
            <a:endParaRPr kumimoji="1" lang="en-US" altLang="ja-JP" dirty="0"/>
          </a:p>
          <a:p>
            <a:r>
              <a:rPr kumimoji="1" lang="ja-JP" altLang="en-US" dirty="0"/>
              <a:t>良くない例：緑の人だけ仕事が多いので，全体が動かせない</a:t>
            </a:r>
            <a:endParaRPr kumimoji="1" lang="en-US" altLang="ja-JP" dirty="0"/>
          </a:p>
        </p:txBody>
      </p:sp>
      <p:grpSp>
        <p:nvGrpSpPr>
          <p:cNvPr id="4" name="グループ化 3"/>
          <p:cNvGrpSpPr/>
          <p:nvPr/>
        </p:nvGrpSpPr>
        <p:grpSpPr>
          <a:xfrm>
            <a:off x="2405959" y="5949028"/>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3845975" y="5949028"/>
            <a:ext cx="2880032"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603350" y="5949028"/>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043510" y="5949028"/>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367799" y="508448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5982" y="5139019"/>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6567077" y="5103069"/>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007237" y="510306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1" name="角丸四角形吹き出し 20"/>
          <p:cNvSpPr/>
          <p:nvPr/>
        </p:nvSpPr>
        <p:spPr bwMode="auto">
          <a:xfrm>
            <a:off x="5015989" y="4419011"/>
            <a:ext cx="2430027" cy="432646"/>
          </a:xfrm>
          <a:prstGeom prst="wedgeRoundRectCallout">
            <a:avLst>
              <a:gd name="adj1" fmla="val -43365"/>
              <a:gd name="adj2" fmla="val 13472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なんか仕事おおいんだけど</a:t>
            </a:r>
          </a:p>
        </p:txBody>
      </p:sp>
      <p:sp>
        <p:nvSpPr>
          <p:cNvPr id="22" name="角丸四角形吹き出し 21"/>
          <p:cNvSpPr/>
          <p:nvPr/>
        </p:nvSpPr>
        <p:spPr bwMode="auto">
          <a:xfrm>
            <a:off x="2855964" y="4419011"/>
            <a:ext cx="1260014" cy="432646"/>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はよせんかい</a:t>
            </a:r>
          </a:p>
        </p:txBody>
      </p:sp>
      <p:sp>
        <p:nvSpPr>
          <p:cNvPr id="23" name="角丸四角形 22"/>
          <p:cNvSpPr/>
          <p:nvPr/>
        </p:nvSpPr>
        <p:spPr bwMode="auto">
          <a:xfrm>
            <a:off x="4835986" y="585902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4" name="角丸四角形 23"/>
          <p:cNvSpPr/>
          <p:nvPr/>
        </p:nvSpPr>
        <p:spPr bwMode="auto">
          <a:xfrm>
            <a:off x="3035966" y="585902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5" name="角丸四角形 24"/>
          <p:cNvSpPr/>
          <p:nvPr/>
        </p:nvSpPr>
        <p:spPr bwMode="auto">
          <a:xfrm>
            <a:off x="6963066" y="585902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6" name="角丸四角形 25"/>
          <p:cNvSpPr/>
          <p:nvPr/>
        </p:nvSpPr>
        <p:spPr bwMode="auto">
          <a:xfrm>
            <a:off x="8313081" y="585902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7" name="角丸四角形吹き出し 26"/>
          <p:cNvSpPr/>
          <p:nvPr/>
        </p:nvSpPr>
        <p:spPr bwMode="auto">
          <a:xfrm>
            <a:off x="8796030" y="4419011"/>
            <a:ext cx="1260014" cy="432646"/>
          </a:xfrm>
          <a:prstGeom prst="wedgeRoundRectCallout">
            <a:avLst>
              <a:gd name="adj1" fmla="val -51493"/>
              <a:gd name="adj2" fmla="val 13979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まだー？</a:t>
            </a:r>
          </a:p>
        </p:txBody>
      </p:sp>
    </p:spTree>
    <p:extLst>
      <p:ext uri="{BB962C8B-B14F-4D97-AF65-F5344CB8AC3E}">
        <p14:creationId xmlns:p14="http://schemas.microsoft.com/office/powerpoint/2010/main" val="11125374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ステージを「どこで」切るか</a:t>
            </a:r>
          </a:p>
        </p:txBody>
      </p:sp>
      <p:sp>
        <p:nvSpPr>
          <p:cNvPr id="3" name="テキスト プレースホルダー 2"/>
          <p:cNvSpPr>
            <a:spLocks noGrp="1"/>
          </p:cNvSpPr>
          <p:nvPr>
            <p:ph type="body" sz="quarter" idx="10"/>
          </p:nvPr>
        </p:nvSpPr>
        <p:spPr/>
        <p:txBody>
          <a:bodyPr/>
          <a:lstStyle/>
          <a:p>
            <a:r>
              <a:rPr lang="ja-JP" altLang="en-US" dirty="0"/>
              <a:t>ステージ</a:t>
            </a:r>
            <a:endParaRPr lang="en-US" altLang="ja-JP" dirty="0"/>
          </a:p>
          <a:p>
            <a:pPr marL="817200" lvl="1" indent="-457200">
              <a:buFont typeface="+mj-lt"/>
              <a:buAutoNum type="arabicPeriod"/>
            </a:pPr>
            <a:r>
              <a:rPr lang="en-US" altLang="ja-JP" dirty="0"/>
              <a:t>IF</a:t>
            </a:r>
            <a:r>
              <a:rPr lang="ja-JP" altLang="en-US" dirty="0"/>
              <a:t>：　  命令フェッチ</a:t>
            </a:r>
            <a:endParaRPr lang="en-US" altLang="ja-JP" dirty="0"/>
          </a:p>
          <a:p>
            <a:pPr marL="817200" lvl="1" indent="-457200">
              <a:buFont typeface="+mj-lt"/>
              <a:buAutoNum type="arabicPeriod"/>
            </a:pPr>
            <a:r>
              <a:rPr lang="en-US" altLang="ja-JP" dirty="0"/>
              <a:t>ID</a:t>
            </a:r>
            <a:r>
              <a:rPr lang="ja-JP" altLang="en-US" dirty="0"/>
              <a:t>：　 デコードとレジスタ読み出し</a:t>
            </a:r>
            <a:endParaRPr lang="en-US" altLang="ja-JP" dirty="0"/>
          </a:p>
          <a:p>
            <a:pPr marL="817200" lvl="1" indent="-457200">
              <a:buFont typeface="+mj-lt"/>
              <a:buAutoNum type="arabicPeriod"/>
            </a:pPr>
            <a:r>
              <a:rPr lang="en-US" altLang="ja-JP" dirty="0"/>
              <a:t>EX</a:t>
            </a:r>
            <a:r>
              <a:rPr lang="ja-JP" altLang="en-US" dirty="0"/>
              <a:t>：　 実行</a:t>
            </a:r>
            <a:endParaRPr lang="en-US" altLang="ja-JP" dirty="0"/>
          </a:p>
          <a:p>
            <a:pPr marL="817200" lvl="1" indent="-457200">
              <a:buFont typeface="+mj-lt"/>
              <a:buAutoNum type="arabicPeriod"/>
            </a:pPr>
            <a:r>
              <a:rPr lang="en-US" altLang="ja-JP" dirty="0"/>
              <a:t>MEM</a:t>
            </a:r>
            <a:r>
              <a:rPr lang="ja-JP" altLang="en-US" dirty="0"/>
              <a:t>：メモリ・アクセス</a:t>
            </a:r>
            <a:endParaRPr lang="en-US" altLang="ja-JP" dirty="0"/>
          </a:p>
          <a:p>
            <a:pPr marL="817200" lvl="1" indent="-457200">
              <a:buFont typeface="+mj-lt"/>
              <a:buAutoNum type="arabicPeriod"/>
            </a:pPr>
            <a:r>
              <a:rPr lang="en-US" altLang="ja-JP" dirty="0"/>
              <a:t>WB</a:t>
            </a:r>
            <a:r>
              <a:rPr lang="ja-JP" altLang="en-US" dirty="0"/>
              <a:t>：　レジスタ書き込み</a:t>
            </a:r>
            <a:endParaRPr lang="en-US" altLang="ja-JP" dirty="0"/>
          </a:p>
          <a:p>
            <a:r>
              <a:rPr kumimoji="1" lang="ja-JP" altLang="en-US" dirty="0"/>
              <a:t>上記では，デコードとレジスタ読み出しが </a:t>
            </a:r>
            <a:r>
              <a:rPr kumimoji="1" lang="en-US" altLang="ja-JP" dirty="0"/>
              <a:t>ID </a:t>
            </a:r>
            <a:r>
              <a:rPr kumimoji="1" lang="ja-JP" altLang="en-US" dirty="0"/>
              <a:t>ステージにまとめられている</a:t>
            </a:r>
            <a:endParaRPr kumimoji="1" lang="en-US" altLang="ja-JP" dirty="0"/>
          </a:p>
          <a:p>
            <a:pPr lvl="1"/>
            <a:r>
              <a:rPr kumimoji="1" lang="ja-JP" altLang="en-US" dirty="0"/>
              <a:t>デコードにかかる遅延はほとんどない</a:t>
            </a:r>
            <a:endParaRPr kumimoji="1" lang="en-US" altLang="ja-JP" dirty="0"/>
          </a:p>
          <a:p>
            <a:pPr lvl="1"/>
            <a:r>
              <a:rPr kumimoji="1" lang="ja-JP" altLang="en-US" dirty="0"/>
              <a:t>読み出した命令からオペランドを取り出すのは，単に信号線を繋ぐだけで良い</a:t>
            </a:r>
          </a:p>
        </p:txBody>
      </p:sp>
    </p:spTree>
    <p:extLst>
      <p:ext uri="{BB962C8B-B14F-4D97-AF65-F5344CB8AC3E}">
        <p14:creationId xmlns:p14="http://schemas.microsoft.com/office/powerpoint/2010/main" val="38007623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ステージを「どうやって」切るか</a:t>
            </a:r>
          </a:p>
        </p:txBody>
      </p:sp>
      <p:sp>
        <p:nvSpPr>
          <p:cNvPr id="3" name="テキスト プレースホルダー 2"/>
          <p:cNvSpPr>
            <a:spLocks noGrp="1"/>
          </p:cNvSpPr>
          <p:nvPr>
            <p:ph type="body" sz="quarter" idx="10"/>
          </p:nvPr>
        </p:nvSpPr>
        <p:spPr>
          <a:xfrm>
            <a:off x="2135956" y="1088975"/>
            <a:ext cx="8280092" cy="2430027"/>
          </a:xfrm>
        </p:spPr>
        <p:txBody>
          <a:bodyPr anchor="t"/>
          <a:lstStyle/>
          <a:p>
            <a:r>
              <a:rPr kumimoji="1" lang="ja-JP" altLang="en-US" dirty="0"/>
              <a:t>シングル・サイクル・プロセッサの回路に適当に間隔をあけて命令を流せばよいというものもない</a:t>
            </a:r>
            <a:endParaRPr kumimoji="1" lang="en-US" altLang="ja-JP" dirty="0"/>
          </a:p>
          <a:p>
            <a:pPr marL="457200" indent="-457200">
              <a:buFont typeface="+mj-lt"/>
              <a:buAutoNum type="arabicPeriod"/>
            </a:pPr>
            <a:r>
              <a:rPr kumimoji="1" lang="ja-JP" altLang="en-US" dirty="0"/>
              <a:t>各ステージを完全に同じ長さにすることは凄く難しい</a:t>
            </a:r>
            <a:endParaRPr kumimoji="1" lang="en-US" altLang="ja-JP" dirty="0"/>
          </a:p>
          <a:p>
            <a:pPr lvl="1"/>
            <a:r>
              <a:rPr kumimoji="1" lang="ja-JP" altLang="en-US" dirty="0"/>
              <a:t>同じ長さ</a:t>
            </a:r>
            <a:r>
              <a:rPr kumimoji="1" lang="en-US" altLang="ja-JP" dirty="0"/>
              <a:t>=</a:t>
            </a:r>
            <a:r>
              <a:rPr kumimoji="1" lang="ja-JP" altLang="en-US" dirty="0"/>
              <a:t>同じ遅延</a:t>
            </a:r>
            <a:r>
              <a:rPr kumimoji="1" lang="en-US" altLang="ja-JP" dirty="0"/>
              <a:t>=</a:t>
            </a:r>
            <a:r>
              <a:rPr kumimoji="1" lang="ja-JP" altLang="en-US" dirty="0"/>
              <a:t>全く同じ段数の組み合わせ回路</a:t>
            </a:r>
            <a:endParaRPr kumimoji="1" lang="en-US" altLang="ja-JP" dirty="0"/>
          </a:p>
          <a:p>
            <a:pPr marL="457200" indent="-457200">
              <a:buFont typeface="+mj-lt"/>
              <a:buAutoNum type="arabicPeriod"/>
            </a:pPr>
            <a:r>
              <a:rPr kumimoji="1" lang="ja-JP" altLang="en-US" dirty="0"/>
              <a:t>長いステージであっても信号は絶えず変化する可能性がある</a:t>
            </a:r>
            <a:endParaRPr kumimoji="1" lang="en-US" altLang="ja-JP" dirty="0"/>
          </a:p>
          <a:p>
            <a:pPr lvl="1"/>
            <a:r>
              <a:rPr kumimoji="1" lang="ja-JP" altLang="en-US" dirty="0"/>
              <a:t>短いパスから順に出力に反映される</a:t>
            </a:r>
            <a:endParaRPr kumimoji="1" lang="en-US" altLang="ja-JP" dirty="0"/>
          </a:p>
          <a:p>
            <a:pPr lvl="1"/>
            <a:r>
              <a:rPr kumimoji="1" lang="ja-JP" altLang="en-US" dirty="0"/>
              <a:t>たとえば下の回路で </a:t>
            </a:r>
            <a:r>
              <a:rPr kumimoji="1" lang="en-US" altLang="ja-JP" i="1" dirty="0" err="1"/>
              <a:t>a,b,c,d</a:t>
            </a:r>
            <a:r>
              <a:rPr kumimoji="1" lang="en-US" altLang="ja-JP" i="1" dirty="0"/>
              <a:t> </a:t>
            </a:r>
            <a:r>
              <a:rPr kumimoji="1" lang="ja-JP" altLang="en-US" i="1" dirty="0"/>
              <a:t>が全て変化したとすると，</a:t>
            </a:r>
            <a:br>
              <a:rPr kumimoji="1" lang="en-US" altLang="ja-JP" i="1" dirty="0"/>
            </a:br>
            <a:r>
              <a:rPr kumimoji="1" lang="ja-JP" altLang="en-US" dirty="0"/>
              <a:t>まず </a:t>
            </a:r>
            <a:r>
              <a:rPr kumimoji="1" lang="en-US" altLang="ja-JP" i="1" dirty="0"/>
              <a:t>d </a:t>
            </a:r>
            <a:r>
              <a:rPr kumimoji="1" lang="ja-JP" altLang="en-US" i="1" dirty="0"/>
              <a:t>の変化が </a:t>
            </a:r>
            <a:r>
              <a:rPr kumimoji="1" lang="en-US" altLang="ja-JP" i="1" dirty="0"/>
              <a:t>z </a:t>
            </a:r>
            <a:r>
              <a:rPr kumimoji="1" lang="ja-JP" altLang="en-US" i="1" dirty="0"/>
              <a:t>に反映し，次に </a:t>
            </a:r>
            <a:r>
              <a:rPr kumimoji="1" lang="en-US" altLang="ja-JP" i="1" dirty="0"/>
              <a:t>d </a:t>
            </a:r>
            <a:r>
              <a:rPr kumimoji="1" lang="ja-JP" altLang="en-US" i="1" dirty="0"/>
              <a:t>が･･･</a:t>
            </a:r>
            <a:endParaRPr kumimoji="1" lang="en-US" altLang="ja-JP" dirty="0"/>
          </a:p>
        </p:txBody>
      </p:sp>
      <p:sp>
        <p:nvSpPr>
          <p:cNvPr id="29" name="Line 9"/>
          <p:cNvSpPr>
            <a:spLocks noChangeShapeType="1"/>
          </p:cNvSpPr>
          <p:nvPr/>
        </p:nvSpPr>
        <p:spPr bwMode="auto">
          <a:xfrm>
            <a:off x="4296108" y="4958044"/>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0" name="Line 10"/>
          <p:cNvSpPr>
            <a:spLocks noChangeShapeType="1"/>
          </p:cNvSpPr>
          <p:nvPr/>
        </p:nvSpPr>
        <p:spPr bwMode="auto">
          <a:xfrm>
            <a:off x="4296108" y="5318406"/>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1" name="Line 11"/>
          <p:cNvSpPr>
            <a:spLocks noChangeShapeType="1"/>
          </p:cNvSpPr>
          <p:nvPr/>
        </p:nvSpPr>
        <p:spPr bwMode="auto">
          <a:xfrm>
            <a:off x="5286708" y="513743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2" name="Line 12"/>
          <p:cNvSpPr>
            <a:spLocks noChangeShapeType="1"/>
          </p:cNvSpPr>
          <p:nvPr/>
        </p:nvSpPr>
        <p:spPr bwMode="auto">
          <a:xfrm flipV="1">
            <a:off x="5736125" y="5138661"/>
            <a:ext cx="89873" cy="973"/>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3" name="Line 13"/>
          <p:cNvSpPr>
            <a:spLocks noChangeShapeType="1"/>
          </p:cNvSpPr>
          <p:nvPr/>
        </p:nvSpPr>
        <p:spPr bwMode="auto">
          <a:xfrm flipV="1">
            <a:off x="5556123" y="5498664"/>
            <a:ext cx="269875" cy="133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4" name="Line 14"/>
          <p:cNvSpPr>
            <a:spLocks noChangeShapeType="1"/>
          </p:cNvSpPr>
          <p:nvPr/>
        </p:nvSpPr>
        <p:spPr bwMode="auto">
          <a:xfrm flipV="1">
            <a:off x="6456005" y="5318662"/>
            <a:ext cx="358775" cy="158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5" name="Rectangle 18"/>
          <p:cNvSpPr>
            <a:spLocks noChangeArrowheads="1"/>
          </p:cNvSpPr>
          <p:nvPr/>
        </p:nvSpPr>
        <p:spPr bwMode="auto">
          <a:xfrm>
            <a:off x="3935746" y="4778657"/>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36" name="Rectangle 20"/>
          <p:cNvSpPr>
            <a:spLocks noChangeArrowheads="1"/>
          </p:cNvSpPr>
          <p:nvPr/>
        </p:nvSpPr>
        <p:spPr bwMode="auto">
          <a:xfrm>
            <a:off x="3935746" y="5137432"/>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pic>
        <p:nvPicPr>
          <p:cNvPr id="43" name="Picture 7" descr="OR"/>
          <p:cNvPicPr>
            <a:picLocks noChangeAspect="1" noChangeArrowheads="1"/>
          </p:cNvPicPr>
          <p:nvPr/>
        </p:nvPicPr>
        <p:blipFill>
          <a:blip r:embed="rId2" cstate="print"/>
          <a:srcRect/>
          <a:stretch>
            <a:fillRect/>
          </a:stretch>
        </p:blipFill>
        <p:spPr bwMode="auto">
          <a:xfrm>
            <a:off x="5645995" y="4958658"/>
            <a:ext cx="1079500" cy="717550"/>
          </a:xfrm>
          <a:prstGeom prst="rect">
            <a:avLst/>
          </a:prstGeom>
          <a:noFill/>
        </p:spPr>
      </p:pic>
      <p:pic>
        <p:nvPicPr>
          <p:cNvPr id="45" name="Picture 6" descr="AND"/>
          <p:cNvPicPr>
            <a:picLocks noChangeAspect="1" noChangeArrowheads="1"/>
          </p:cNvPicPr>
          <p:nvPr/>
        </p:nvPicPr>
        <p:blipFill>
          <a:blip r:embed="rId3" cstate="print"/>
          <a:srcRect/>
          <a:stretch>
            <a:fillRect/>
          </a:stretch>
        </p:blipFill>
        <p:spPr bwMode="auto">
          <a:xfrm>
            <a:off x="4565983" y="4778657"/>
            <a:ext cx="1079500" cy="720725"/>
          </a:xfrm>
          <a:prstGeom prst="rect">
            <a:avLst/>
          </a:prstGeom>
          <a:noFill/>
        </p:spPr>
      </p:pic>
      <p:sp>
        <p:nvSpPr>
          <p:cNvPr id="46" name="Line 10"/>
          <p:cNvSpPr>
            <a:spLocks noChangeShapeType="1"/>
          </p:cNvSpPr>
          <p:nvPr/>
        </p:nvSpPr>
        <p:spPr bwMode="auto">
          <a:xfrm>
            <a:off x="6546133" y="567841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47" name="Picture 6" descr="AND"/>
          <p:cNvPicPr>
            <a:picLocks noChangeAspect="1" noChangeArrowheads="1"/>
          </p:cNvPicPr>
          <p:nvPr/>
        </p:nvPicPr>
        <p:blipFill>
          <a:blip r:embed="rId3" cstate="print"/>
          <a:srcRect/>
          <a:stretch>
            <a:fillRect/>
          </a:stretch>
        </p:blipFill>
        <p:spPr bwMode="auto">
          <a:xfrm>
            <a:off x="6726007" y="5138661"/>
            <a:ext cx="1079500" cy="720725"/>
          </a:xfrm>
          <a:prstGeom prst="rect">
            <a:avLst/>
          </a:prstGeom>
          <a:noFill/>
        </p:spPr>
      </p:pic>
      <p:sp>
        <p:nvSpPr>
          <p:cNvPr id="48" name="Line 13"/>
          <p:cNvSpPr>
            <a:spLocks noChangeShapeType="1"/>
          </p:cNvSpPr>
          <p:nvPr/>
        </p:nvSpPr>
        <p:spPr bwMode="auto">
          <a:xfrm flipV="1">
            <a:off x="5555995" y="5498664"/>
            <a:ext cx="231" cy="18000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9" name="Line 13"/>
          <p:cNvSpPr>
            <a:spLocks noChangeShapeType="1"/>
          </p:cNvSpPr>
          <p:nvPr/>
        </p:nvSpPr>
        <p:spPr bwMode="auto">
          <a:xfrm>
            <a:off x="4295981" y="5678666"/>
            <a:ext cx="1260014"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0" name="Line 13"/>
          <p:cNvSpPr>
            <a:spLocks noChangeShapeType="1"/>
          </p:cNvSpPr>
          <p:nvPr/>
        </p:nvSpPr>
        <p:spPr bwMode="auto">
          <a:xfrm>
            <a:off x="4295981" y="6038670"/>
            <a:ext cx="2250025"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1" name="Line 13"/>
          <p:cNvSpPr>
            <a:spLocks noChangeShapeType="1"/>
          </p:cNvSpPr>
          <p:nvPr/>
        </p:nvSpPr>
        <p:spPr bwMode="auto">
          <a:xfrm flipV="1">
            <a:off x="6546006" y="5678666"/>
            <a:ext cx="231" cy="360004"/>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2" name="Rectangle 20"/>
          <p:cNvSpPr>
            <a:spLocks noChangeArrowheads="1"/>
          </p:cNvSpPr>
          <p:nvPr/>
        </p:nvSpPr>
        <p:spPr bwMode="auto">
          <a:xfrm>
            <a:off x="3935977" y="5498665"/>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c</a:t>
            </a:r>
          </a:p>
        </p:txBody>
      </p:sp>
      <p:sp>
        <p:nvSpPr>
          <p:cNvPr id="53" name="Rectangle 20"/>
          <p:cNvSpPr>
            <a:spLocks noChangeArrowheads="1"/>
          </p:cNvSpPr>
          <p:nvPr/>
        </p:nvSpPr>
        <p:spPr bwMode="auto">
          <a:xfrm>
            <a:off x="3935977" y="5858669"/>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d</a:t>
            </a:r>
          </a:p>
        </p:txBody>
      </p:sp>
      <p:sp>
        <p:nvSpPr>
          <p:cNvPr id="54" name="Line 10"/>
          <p:cNvSpPr>
            <a:spLocks noChangeShapeType="1"/>
          </p:cNvSpPr>
          <p:nvPr/>
        </p:nvSpPr>
        <p:spPr bwMode="auto">
          <a:xfrm>
            <a:off x="7536017" y="5498664"/>
            <a:ext cx="270003"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6" name="Rectangle 20"/>
          <p:cNvSpPr>
            <a:spLocks noChangeArrowheads="1"/>
          </p:cNvSpPr>
          <p:nvPr/>
        </p:nvSpPr>
        <p:spPr bwMode="auto">
          <a:xfrm>
            <a:off x="7806020" y="5318663"/>
            <a:ext cx="360363" cy="360363"/>
          </a:xfrm>
          <a:prstGeom prst="rect">
            <a:avLst/>
          </a:prstGeom>
          <a:noFill/>
          <a:ln w="28575">
            <a:noFill/>
            <a:miter lim="800000"/>
            <a:headEnd/>
            <a:tailEnd/>
          </a:ln>
          <a:effectLst/>
        </p:spPr>
        <p:txBody>
          <a:bodyPr wrap="none" anchor="ctr"/>
          <a:lstStyle/>
          <a:p>
            <a:pPr algn="ctr"/>
            <a:r>
              <a:rPr lang="ja-JP" altLang="en-US" sz="2000" i="1" dirty="0" err="1">
                <a:ea typeface="MeiryoKe_PGothic" pitchFamily="50" charset="-128"/>
              </a:rPr>
              <a:t>ｚ</a:t>
            </a:r>
            <a:endParaRPr lang="en-US" altLang="ja-JP" sz="2000" i="1" dirty="0">
              <a:ea typeface="MeiryoKe_PGothic" pitchFamily="50" charset="-128"/>
            </a:endParaRPr>
          </a:p>
        </p:txBody>
      </p:sp>
    </p:spTree>
    <p:extLst>
      <p:ext uri="{BB962C8B-B14F-4D97-AF65-F5344CB8AC3E}">
        <p14:creationId xmlns:p14="http://schemas.microsoft.com/office/powerpoint/2010/main" val="3278008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パイプライン化（オーバーラップ）の実現方法</a:t>
            </a:r>
          </a:p>
        </p:txBody>
      </p:sp>
      <p:sp>
        <p:nvSpPr>
          <p:cNvPr id="3" name="テキスト プレースホルダー 2"/>
          <p:cNvSpPr>
            <a:spLocks noGrp="1"/>
          </p:cNvSpPr>
          <p:nvPr>
            <p:ph type="body" sz="quarter" idx="10"/>
          </p:nvPr>
        </p:nvSpPr>
        <p:spPr>
          <a:xfrm>
            <a:off x="1595951" y="5589024"/>
            <a:ext cx="8820098" cy="449698"/>
          </a:xfrm>
        </p:spPr>
        <p:txBody>
          <a:bodyPr/>
          <a:lstStyle/>
          <a:p>
            <a:pPr lvl="1"/>
            <a:r>
              <a:rPr kumimoji="1" lang="ja-JP" altLang="en-US" dirty="0"/>
              <a:t>各ステージの間に，</a:t>
            </a:r>
            <a:r>
              <a:rPr kumimoji="1" lang="en-US" altLang="ja-JP" dirty="0"/>
              <a:t>D-FF</a:t>
            </a:r>
            <a:r>
              <a:rPr kumimoji="1" lang="ja-JP" altLang="en-US" dirty="0"/>
              <a:t>（オレンジの四角）をいれる</a:t>
            </a:r>
            <a:endParaRPr kumimoji="1" lang="en-US" altLang="ja-JP" dirty="0"/>
          </a:p>
          <a:p>
            <a:pPr lvl="2"/>
            <a:r>
              <a:rPr kumimoji="1" lang="en-US" altLang="ja-JP" dirty="0"/>
              <a:t>WB </a:t>
            </a:r>
            <a:r>
              <a:rPr kumimoji="1" lang="ja-JP" altLang="en-US" dirty="0"/>
              <a:t>の書き込みについては，レジスタ・ファイル自体が</a:t>
            </a:r>
            <a:br>
              <a:rPr kumimoji="1" lang="en-US" altLang="ja-JP" dirty="0"/>
            </a:br>
            <a:r>
              <a:rPr kumimoji="1" lang="ja-JP" altLang="en-US" dirty="0"/>
              <a:t>クロックに同期して書き込みが行われるので </a:t>
            </a:r>
            <a:r>
              <a:rPr kumimoji="1" lang="en-US" altLang="ja-JP" dirty="0"/>
              <a:t>D-FF </a:t>
            </a:r>
            <a:r>
              <a:rPr kumimoji="1" lang="ja-JP" altLang="en-US" dirty="0"/>
              <a:t>は不要</a:t>
            </a:r>
            <a:endParaRPr kumimoji="1" lang="en-US" altLang="ja-JP" dirty="0"/>
          </a:p>
          <a:p>
            <a:pPr lvl="1"/>
            <a:r>
              <a:rPr kumimoji="1" lang="ja-JP" altLang="en-US" dirty="0"/>
              <a:t>各ステージの処理が早く終わっても，次のクロックまでは </a:t>
            </a:r>
            <a:r>
              <a:rPr kumimoji="1" lang="en-US" altLang="ja-JP" dirty="0"/>
              <a:t>D-FF </a:t>
            </a:r>
            <a:r>
              <a:rPr kumimoji="1" lang="ja-JP" altLang="en-US" dirty="0"/>
              <a:t>で</a:t>
            </a:r>
            <a:br>
              <a:rPr kumimoji="1" lang="en-US" altLang="ja-JP" dirty="0"/>
            </a:br>
            <a:r>
              <a:rPr kumimoji="1" lang="ja-JP" altLang="en-US" dirty="0"/>
              <a:t>信号の伝搬は止まる</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2" name="正方形/長方形 2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3" name="正方形/長方形 22"/>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角丸四角形 45"/>
          <p:cNvSpPr/>
          <p:nvPr/>
        </p:nvSpPr>
        <p:spPr bwMode="auto">
          <a:xfrm>
            <a:off x="1524000" y="1178976"/>
            <a:ext cx="252002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4295980" y="1178976"/>
            <a:ext cx="198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6456004" y="1178976"/>
            <a:ext cx="153001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8166023" y="1178976"/>
            <a:ext cx="207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5" name="角丸四角形 54"/>
          <p:cNvSpPr/>
          <p:nvPr/>
        </p:nvSpPr>
        <p:spPr bwMode="auto">
          <a:xfrm>
            <a:off x="2855964" y="279899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grpSp>
        <p:nvGrpSpPr>
          <p:cNvPr id="58" name="グループ化 57"/>
          <p:cNvGrpSpPr/>
          <p:nvPr/>
        </p:nvGrpSpPr>
        <p:grpSpPr>
          <a:xfrm>
            <a:off x="4025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63" name="正方形/長方形 62"/>
          <p:cNvSpPr/>
          <p:nvPr/>
        </p:nvSpPr>
        <p:spPr bwMode="auto">
          <a:xfrm>
            <a:off x="6186001" y="2438989"/>
            <a:ext cx="360004"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1" y="4419011"/>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7626017" y="2438989"/>
            <a:ext cx="360004"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7" y="4419011"/>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149395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5.55556E-7 7.40741E-7 L 0.23611 0.00023 " pathEditMode="relative" rAng="0" ptsTypes="AA">
                                      <p:cBhvr>
                                        <p:cTn id="6" dur="1000" fill="hold"/>
                                        <p:tgtEl>
                                          <p:spTgt spid="55"/>
                                        </p:tgtEl>
                                        <p:attrNameLst>
                                          <p:attrName>ppt_x</p:attrName>
                                          <p:attrName>ppt_y</p:attrName>
                                        </p:attrNameLst>
                                      </p:cBhvr>
                                      <p:rCtr x="11806"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0.23611 0.00023 L 0.43299 0.00023 " pathEditMode="relative" rAng="0" ptsTypes="AA">
                                      <p:cBhvr>
                                        <p:cTn id="10" dur="1000" fill="hold"/>
                                        <p:tgtEl>
                                          <p:spTgt spid="55"/>
                                        </p:tgtEl>
                                        <p:attrNameLst>
                                          <p:attrName>ppt_x</p:attrName>
                                          <p:attrName>ppt_y</p:attrName>
                                        </p:attrNameLst>
                                      </p:cBhvr>
                                      <p:rCtr x="9844"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2" nodeType="clickEffect">
                                  <p:stCondLst>
                                    <p:cond delay="0"/>
                                  </p:stCondLst>
                                  <p:childTnLst>
                                    <p:animMotion origin="layout" path="M 0.43299 0.00023 L 0.64965 0.00023 " pathEditMode="relative" rAng="0" ptsTypes="AA">
                                      <p:cBhvr>
                                        <p:cTn id="14" dur="1000" fill="hold"/>
                                        <p:tgtEl>
                                          <p:spTgt spid="55"/>
                                        </p:tgtEl>
                                        <p:attrNameLst>
                                          <p:attrName>ppt_x</p:attrName>
                                          <p:attrName>ppt_y</p:attrName>
                                        </p:attrNameLst>
                                      </p:cBhvr>
                                      <p:rCtr x="1083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5" grpId="1" animBg="1"/>
      <p:bldP spid="55" grpId="2"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余談：非同期回路やウェーブ・パイプライン</a:t>
            </a:r>
          </a:p>
        </p:txBody>
      </p:sp>
      <p:sp>
        <p:nvSpPr>
          <p:cNvPr id="3" name="テキスト プレースホルダー 2"/>
          <p:cNvSpPr>
            <a:spLocks noGrp="1"/>
          </p:cNvSpPr>
          <p:nvPr>
            <p:ph type="body" sz="quarter" idx="10"/>
          </p:nvPr>
        </p:nvSpPr>
        <p:spPr/>
        <p:txBody>
          <a:bodyPr/>
          <a:lstStyle/>
          <a:p>
            <a:r>
              <a:rPr kumimoji="1" lang="ja-JP" altLang="en-US" dirty="0"/>
              <a:t>クロックによる同期化を使わずにパイプラインを作る方法も</a:t>
            </a:r>
            <a:br>
              <a:rPr kumimoji="1" lang="en-US" altLang="ja-JP" dirty="0"/>
            </a:br>
            <a:r>
              <a:rPr kumimoji="1" lang="ja-JP" altLang="en-US" dirty="0"/>
              <a:t>あるにはある</a:t>
            </a:r>
            <a:endParaRPr kumimoji="1" lang="en-US" altLang="ja-JP" dirty="0"/>
          </a:p>
          <a:p>
            <a:r>
              <a:rPr kumimoji="1" lang="ja-JP" altLang="en-US" dirty="0"/>
              <a:t>やり方：</a:t>
            </a:r>
            <a:endParaRPr kumimoji="1" lang="en-US" altLang="ja-JP" dirty="0"/>
          </a:p>
          <a:p>
            <a:pPr marL="817200" lvl="1" indent="-457200">
              <a:buFont typeface="+mj-lt"/>
              <a:buAutoNum type="arabicPeriod"/>
            </a:pPr>
            <a:r>
              <a:rPr kumimoji="1" lang="ja-JP" altLang="en-US" dirty="0"/>
              <a:t>色々な方法でステージ間の遅延の大きさを気合いで揃える</a:t>
            </a:r>
            <a:endParaRPr kumimoji="1" lang="en-US" altLang="ja-JP" dirty="0"/>
          </a:p>
          <a:p>
            <a:pPr marL="817200" lvl="1" indent="-457200">
              <a:buFont typeface="+mj-lt"/>
              <a:buAutoNum type="arabicPeriod"/>
            </a:pPr>
            <a:r>
              <a:rPr kumimoji="1" lang="ja-JP" altLang="en-US" dirty="0"/>
              <a:t>一定間隔でデータを流す</a:t>
            </a:r>
            <a:endParaRPr kumimoji="1" lang="en-US" altLang="ja-JP" dirty="0"/>
          </a:p>
          <a:p>
            <a:r>
              <a:rPr kumimoji="1" lang="ja-JP" altLang="en-US" dirty="0"/>
              <a:t>設計 </a:t>
            </a:r>
            <a:r>
              <a:rPr kumimoji="1" lang="en-US" altLang="ja-JP" dirty="0"/>
              <a:t>&amp; </a:t>
            </a:r>
            <a:r>
              <a:rPr kumimoji="1" lang="ja-JP" altLang="en-US" dirty="0"/>
              <a:t>動作させることがすごく難しいので，主流ではない</a:t>
            </a:r>
            <a:endParaRPr kumimoji="1" lang="en-US" altLang="ja-JP" dirty="0"/>
          </a:p>
          <a:p>
            <a:pPr lvl="1"/>
            <a:r>
              <a:rPr kumimoji="1" lang="ja-JP" altLang="en-US" dirty="0"/>
              <a:t>特に，高速動作がかなり難しい</a:t>
            </a:r>
            <a:endParaRPr kumimoji="1" lang="en-US" altLang="ja-JP" dirty="0"/>
          </a:p>
        </p:txBody>
      </p:sp>
    </p:spTree>
    <p:extLst>
      <p:ext uri="{BB962C8B-B14F-4D97-AF65-F5344CB8AC3E}">
        <p14:creationId xmlns:p14="http://schemas.microsoft.com/office/powerpoint/2010/main" val="2731787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7"/>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 </a:t>
            </a:r>
            <a:r>
              <a:rPr lang="en-US" altLang="ja-JP" dirty="0"/>
              <a:t>UTOL </a:t>
            </a:r>
            <a:r>
              <a:rPr lang="ja-JP" altLang="en-US" dirty="0"/>
              <a:t>の出席欄に書いてください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 ：</a:t>
            </a:r>
            <a:r>
              <a:rPr lang="en-US" altLang="ja-JP" dirty="0"/>
              <a:t>arc</a:t>
            </a:r>
          </a:p>
          <a:p>
            <a:r>
              <a:rPr lang="ja-JP" altLang="en-US" dirty="0"/>
              <a:t>意見や内容へのリクエストもあったら書いてください</a:t>
            </a:r>
            <a:endParaRPr lang="en-US" altLang="ja-JP" dirty="0"/>
          </a:p>
          <a:p>
            <a:r>
              <a:rPr lang="en-US" altLang="ja-JP" dirty="0">
                <a:solidFill>
                  <a:schemeClr val="accent5"/>
                </a:solidFill>
              </a:rPr>
              <a:t>UTOL </a:t>
            </a:r>
            <a:r>
              <a:rPr lang="ja-JP" altLang="en-US" dirty="0">
                <a:solidFill>
                  <a:schemeClr val="accent5"/>
                </a:solidFill>
              </a:rPr>
              <a:t>の出席の締め切りは来週の講義開始までに設定してあります</a:t>
            </a:r>
            <a:endParaRPr lang="en-US" altLang="ja-JP" dirty="0">
              <a:solidFill>
                <a:schemeClr val="accent5"/>
              </a:solidFill>
            </a:endParaRPr>
          </a:p>
          <a:p>
            <a:pPr lvl="1"/>
            <a:r>
              <a:rPr lang="ja-JP" altLang="en-US" dirty="0"/>
              <a:t>仕様上「遅刻」表示になりますが，特に減点等しません</a:t>
            </a:r>
            <a:endParaRPr lang="en-US" altLang="ja-JP" dirty="0"/>
          </a:p>
          <a:p>
            <a:pPr lvl="1"/>
            <a:r>
              <a:rPr lang="ja-JP" altLang="en-US" dirty="0"/>
              <a:t>来週の講義開始までは感想や質問などを受け付けます</a:t>
            </a:r>
          </a:p>
        </p:txBody>
      </p:sp>
    </p:spTree>
    <p:extLst>
      <p:ext uri="{BB962C8B-B14F-4D97-AF65-F5344CB8AC3E}">
        <p14:creationId xmlns:p14="http://schemas.microsoft.com/office/powerpoint/2010/main" val="3225474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D92FC6-C481-4334-E992-204B439ABF09}"/>
              </a:ext>
            </a:extLst>
          </p:cNvPr>
          <p:cNvSpPr>
            <a:spLocks noGrp="1"/>
          </p:cNvSpPr>
          <p:nvPr>
            <p:ph type="title"/>
          </p:nvPr>
        </p:nvSpPr>
        <p:spPr/>
        <p:txBody>
          <a:bodyPr/>
          <a:lstStyle/>
          <a:p>
            <a:r>
              <a:rPr lang="ja-JP" altLang="en-US" dirty="0"/>
              <a:t>出席</a:t>
            </a:r>
            <a:endParaRPr kumimoji="1" lang="ja-JP" altLang="en-US" dirty="0"/>
          </a:p>
        </p:txBody>
      </p:sp>
      <p:sp>
        <p:nvSpPr>
          <p:cNvPr id="3" name="テキスト プレースホルダー 2">
            <a:extLst>
              <a:ext uri="{FF2B5EF4-FFF2-40B4-BE49-F238E27FC236}">
                <a16:creationId xmlns:a16="http://schemas.microsoft.com/office/drawing/2014/main" id="{BA87AF6B-357A-C55C-6782-832EA49BA99E}"/>
              </a:ext>
            </a:extLst>
          </p:cNvPr>
          <p:cNvSpPr>
            <a:spLocks noGrp="1"/>
          </p:cNvSpPr>
          <p:nvPr>
            <p:ph type="body" sz="quarter" idx="10"/>
          </p:nvPr>
        </p:nvSpPr>
        <p:spPr/>
        <p:txBody>
          <a:bodyPr/>
          <a:lstStyle/>
          <a:p>
            <a:r>
              <a:rPr lang="ja-JP" altLang="en-US" dirty="0">
                <a:solidFill>
                  <a:schemeClr val="accent6"/>
                </a:solidFill>
              </a:rPr>
              <a:t>以下のスプレッドシートの自分の席のところに学籍番号を書いてください</a:t>
            </a:r>
            <a:endParaRPr kumimoji="1" lang="en-US" altLang="ja-JP" dirty="0">
              <a:hlinkClick r:id="rId2"/>
            </a:endParaRPr>
          </a:p>
          <a:p>
            <a:pPr lvl="1"/>
            <a:r>
              <a:rPr kumimoji="1" lang="en-US" altLang="ja-JP" dirty="0">
                <a:hlinkClick r:id="rId2"/>
              </a:rPr>
              <a:t>https://docs.google.com/spreadsheets/d/1Xte7HdUVfoAGcITWzx-sBQG_ObaNQO3kbH5fV5HD7oo/edit?usp=drive_link</a:t>
            </a:r>
            <a:endParaRPr kumimoji="1" lang="en-US" altLang="ja-JP" dirty="0"/>
          </a:p>
          <a:p>
            <a:pPr lvl="1"/>
            <a:r>
              <a:rPr lang="ja-JP" altLang="en-US" dirty="0"/>
              <a:t>学生側から見た場合の配置で（画面上が教団側），席の対応する行と列のところに書いてください</a:t>
            </a:r>
            <a:endParaRPr lang="en-US" altLang="ja-JP" dirty="0"/>
          </a:p>
          <a:p>
            <a:endParaRPr kumimoji="1" lang="ja-JP" altLang="en-US" dirty="0"/>
          </a:p>
        </p:txBody>
      </p:sp>
    </p:spTree>
    <p:extLst>
      <p:ext uri="{BB962C8B-B14F-4D97-AF65-F5344CB8AC3E}">
        <p14:creationId xmlns:p14="http://schemas.microsoft.com/office/powerpoint/2010/main" val="3642383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45BA461-EB4B-6344-0363-EBCE1294355D}"/>
              </a:ext>
            </a:extLst>
          </p:cNvPr>
          <p:cNvSpPr>
            <a:spLocks noGrp="1"/>
          </p:cNvSpPr>
          <p:nvPr>
            <p:ph type="ctrTitle"/>
          </p:nvPr>
        </p:nvSpPr>
        <p:spPr>
          <a:xfrm>
            <a:off x="2225957" y="2078985"/>
            <a:ext cx="7920088" cy="540006"/>
          </a:xfrm>
        </p:spPr>
        <p:txBody>
          <a:bodyPr/>
          <a:lstStyle/>
          <a:p>
            <a:r>
              <a:rPr lang="ja-JP" altLang="en-US" dirty="0"/>
              <a:t>質問や感想</a:t>
            </a:r>
            <a:endParaRPr lang="en-US" dirty="0"/>
          </a:p>
        </p:txBody>
      </p:sp>
      <p:sp>
        <p:nvSpPr>
          <p:cNvPr id="5" name="字幕 4">
            <a:extLst>
              <a:ext uri="{FF2B5EF4-FFF2-40B4-BE49-F238E27FC236}">
                <a16:creationId xmlns:a16="http://schemas.microsoft.com/office/drawing/2014/main" id="{ED090A9F-2FB3-DADA-E31B-D2E1712125A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117258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5A414C-87A9-99D0-CE1B-BADF8EC02333}"/>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9A013C08-4527-EFCA-0DC5-ADF302714590}"/>
              </a:ext>
            </a:extLst>
          </p:cNvPr>
          <p:cNvSpPr>
            <a:spLocks noGrp="1"/>
          </p:cNvSpPr>
          <p:nvPr>
            <p:ph type="body" sz="quarter" idx="10"/>
          </p:nvPr>
        </p:nvSpPr>
        <p:spPr/>
        <p:txBody>
          <a:bodyPr anchor="ctr"/>
          <a:lstStyle/>
          <a:p>
            <a:r>
              <a:rPr lang="ja-JP" altLang="en-US" dirty="0"/>
              <a:t>完備性の話は学部の実験で一回言及されていたけどあんまり納得しなかったのですが、一回自分で示してみたいですね。</a:t>
            </a:r>
            <a:r>
              <a:rPr lang="en-US" altLang="ja-JP" dirty="0"/>
              <a:t>CMOS</a:t>
            </a:r>
            <a:r>
              <a:rPr lang="ja-JP" altLang="en-US" dirty="0"/>
              <a:t>を水流システムに例える部分は楽しかったです。だいぶ分かりやすくて直感的に理解できました。</a:t>
            </a:r>
          </a:p>
          <a:p>
            <a:endParaRPr kumimoji="1" lang="ja-JP" altLang="en-US" dirty="0"/>
          </a:p>
        </p:txBody>
      </p:sp>
    </p:spTree>
    <p:extLst>
      <p:ext uri="{BB962C8B-B14F-4D97-AF65-F5344CB8AC3E}">
        <p14:creationId xmlns:p14="http://schemas.microsoft.com/office/powerpoint/2010/main" val="7098451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8AAB2-F6B9-3196-7E04-91E4C88B589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484765E-721B-788D-11DD-4552911F8041}"/>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22AE3697-EFD9-BCAA-7FE0-9E19F780EC33}"/>
              </a:ext>
            </a:extLst>
          </p:cNvPr>
          <p:cNvSpPr>
            <a:spLocks noGrp="1"/>
          </p:cNvSpPr>
          <p:nvPr>
            <p:ph type="body" sz="quarter" idx="10"/>
          </p:nvPr>
        </p:nvSpPr>
        <p:spPr/>
        <p:txBody>
          <a:bodyPr anchor="ctr"/>
          <a:lstStyle/>
          <a:p>
            <a:r>
              <a:rPr lang="en-US" altLang="ja-JP" dirty="0"/>
              <a:t>CMOS</a:t>
            </a:r>
            <a:r>
              <a:rPr lang="ja-JP" altLang="en-US" dirty="0"/>
              <a:t>の水流への例えは非常に分かりやすいですね。</a:t>
            </a:r>
            <a:r>
              <a:rPr lang="en-US" altLang="ja-JP" dirty="0"/>
              <a:t>D-FF</a:t>
            </a:r>
            <a:r>
              <a:rPr lang="ja-JP" altLang="en-US" dirty="0"/>
              <a:t>がメモリのような動きをすることは習いましたが、その具体的な動作は今回初めて習いました。だから</a:t>
            </a:r>
            <a:r>
              <a:rPr lang="en-US" altLang="ja-JP" dirty="0"/>
              <a:t>FLIP FLOP</a:t>
            </a:r>
            <a:r>
              <a:rPr lang="ja-JP" altLang="en-US" dirty="0"/>
              <a:t>ですね。</a:t>
            </a:r>
          </a:p>
          <a:p>
            <a:endParaRPr kumimoji="1" lang="ja-JP" altLang="en-US" dirty="0"/>
          </a:p>
        </p:txBody>
      </p:sp>
    </p:spTree>
    <p:extLst>
      <p:ext uri="{BB962C8B-B14F-4D97-AF65-F5344CB8AC3E}">
        <p14:creationId xmlns:p14="http://schemas.microsoft.com/office/powerpoint/2010/main" val="32319480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FD1DD-E837-BE4D-5CE9-EDF7E1A5EB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DD8A7B-9991-59F8-2302-1C56E93F3363}"/>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91C0655B-84BA-C55B-CC2D-E1F65C559F11}"/>
              </a:ext>
            </a:extLst>
          </p:cNvPr>
          <p:cNvSpPr>
            <a:spLocks noGrp="1"/>
          </p:cNvSpPr>
          <p:nvPr>
            <p:ph type="body" sz="quarter" idx="10"/>
          </p:nvPr>
        </p:nvSpPr>
        <p:spPr/>
        <p:txBody>
          <a:bodyPr anchor="ctr"/>
          <a:lstStyle/>
          <a:p>
            <a:r>
              <a:rPr lang="ja-JP" altLang="en-US" dirty="0"/>
              <a:t>マインクラフトでプロセッサを作る動画を見てこの分野を志した面もあるので、言及してくださって嬉しかった。</a:t>
            </a:r>
            <a:endParaRPr lang="en-US" altLang="ja-JP" dirty="0"/>
          </a:p>
          <a:p>
            <a:r>
              <a:rPr lang="en-US" altLang="ja-JP" dirty="0"/>
              <a:t>Minecraft</a:t>
            </a:r>
            <a:r>
              <a:rPr lang="ja-JP" altLang="en-US" dirty="0"/>
              <a:t>がはじめて論理回路に触れるきっかけだったので講義で紹介されて懐かしい気分になりました。</a:t>
            </a:r>
          </a:p>
          <a:p>
            <a:endParaRPr kumimoji="1" lang="ja-JP" altLang="en-US" dirty="0"/>
          </a:p>
        </p:txBody>
      </p:sp>
    </p:spTree>
    <p:extLst>
      <p:ext uri="{BB962C8B-B14F-4D97-AF65-F5344CB8AC3E}">
        <p14:creationId xmlns:p14="http://schemas.microsoft.com/office/powerpoint/2010/main" val="26547169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0297E-BBA7-D9A4-D023-EB3127C6D4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7323AAE-88EF-107E-B5DA-EA5E80E587ED}"/>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0AE70EF6-4627-FE08-31A8-5AB891FEA49B}"/>
              </a:ext>
            </a:extLst>
          </p:cNvPr>
          <p:cNvSpPr>
            <a:spLocks noGrp="1"/>
          </p:cNvSpPr>
          <p:nvPr>
            <p:ph type="body" sz="quarter" idx="10"/>
          </p:nvPr>
        </p:nvSpPr>
        <p:spPr/>
        <p:txBody>
          <a:bodyPr anchor="ctr"/>
          <a:lstStyle/>
          <a:p>
            <a:r>
              <a:rPr lang="en-US" altLang="ja-JP" dirty="0"/>
              <a:t>CMOS</a:t>
            </a:r>
            <a:r>
              <a:rPr lang="ja-JP" altLang="en-US" dirty="0"/>
              <a:t>じゃない汎用プロセッサを作ってみたくなりました、水流とか、機械構造（ラッチ）とか、リレーとか、、</a:t>
            </a:r>
            <a:endParaRPr kumimoji="1" lang="ja-JP" altLang="en-US" dirty="0"/>
          </a:p>
        </p:txBody>
      </p:sp>
    </p:spTree>
    <p:extLst>
      <p:ext uri="{BB962C8B-B14F-4D97-AF65-F5344CB8AC3E}">
        <p14:creationId xmlns:p14="http://schemas.microsoft.com/office/powerpoint/2010/main" val="18133694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BCEE1-2DFB-6D02-56D0-041390CDC6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13B275-0E7C-46FB-E9AC-17D53AD89070}"/>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68C48DCC-D4ED-111B-610C-FAB19614F91A}"/>
              </a:ext>
            </a:extLst>
          </p:cNvPr>
          <p:cNvSpPr>
            <a:spLocks noGrp="1"/>
          </p:cNvSpPr>
          <p:nvPr>
            <p:ph type="body" sz="quarter" idx="10"/>
          </p:nvPr>
        </p:nvSpPr>
        <p:spPr/>
        <p:txBody>
          <a:bodyPr anchor="ctr"/>
          <a:lstStyle/>
          <a:p>
            <a:r>
              <a:rPr lang="ja-JP" altLang="en-US" dirty="0"/>
              <a:t>消費電力は設計する上で大切な要素ですが、論理合成結果のみだけの電力だと実際に動かした時の消費電力とズレることが多いので、そこがなんとかなると嬉しいとずっと思っています。</a:t>
            </a:r>
            <a:r>
              <a:rPr lang="en-US" altLang="ja-JP" dirty="0"/>
              <a:t>(</a:t>
            </a:r>
            <a:r>
              <a:rPr lang="ja-JP" altLang="en-US" dirty="0"/>
              <a:t>チップが動作しないことがザラにあるので</a:t>
            </a:r>
            <a:r>
              <a:rPr lang="en-US" altLang="ja-JP" dirty="0"/>
              <a:t>)</a:t>
            </a:r>
            <a:endParaRPr kumimoji="1" lang="ja-JP" altLang="en-US" dirty="0"/>
          </a:p>
        </p:txBody>
      </p:sp>
    </p:spTree>
    <p:extLst>
      <p:ext uri="{BB962C8B-B14F-4D97-AF65-F5344CB8AC3E}">
        <p14:creationId xmlns:p14="http://schemas.microsoft.com/office/powerpoint/2010/main" val="20498392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A8429-334D-3F90-1AE5-C43FDA73D3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3DB770-317C-040E-97C5-8777E7355952}"/>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99C3BD6B-57A4-1075-BB2A-C57984925998}"/>
              </a:ext>
            </a:extLst>
          </p:cNvPr>
          <p:cNvSpPr>
            <a:spLocks noGrp="1"/>
          </p:cNvSpPr>
          <p:nvPr>
            <p:ph type="body" sz="quarter" idx="10"/>
          </p:nvPr>
        </p:nvSpPr>
        <p:spPr/>
        <p:txBody>
          <a:bodyPr anchor="ctr"/>
          <a:lstStyle/>
          <a:p>
            <a:r>
              <a:rPr lang="ja-JP" altLang="en-US" dirty="0"/>
              <a:t>とくに面白かったのは、水流を用いた回路の説明です。これまでにも電気回路を水流にたとえる説明を見たことはありますが、今回の講義ではその比喩がかなり細かいところまで対応していて、とても納得感がありました。単に「電流は水の流れのようなもの」と説明するだけでなく、タンクに水が溜まることや、栓の開閉、パイプに水が残ることなどを使って、</a:t>
            </a:r>
            <a:r>
              <a:rPr lang="en-US" altLang="ja-JP" dirty="0"/>
              <a:t>CMOS </a:t>
            </a:r>
            <a:r>
              <a:rPr lang="ja-JP" altLang="en-US" dirty="0"/>
              <a:t>のスイッチングや消費エネルギーの違いまで説明していた点が特に分かりやすかったです。</a:t>
            </a:r>
            <a:r>
              <a:rPr lang="en-US" altLang="ja-JP" dirty="0"/>
              <a:t>CPU </a:t>
            </a:r>
            <a:r>
              <a:rPr lang="ja-JP" altLang="en-US" dirty="0"/>
              <a:t>が電力を消費する理由を、抽象的な式だけでなく、物理的なイメージとして理解できたのは大きな収穫でした。</a:t>
            </a:r>
            <a:endParaRPr kumimoji="1" lang="ja-JP" altLang="en-US" dirty="0"/>
          </a:p>
        </p:txBody>
      </p:sp>
    </p:spTree>
    <p:extLst>
      <p:ext uri="{BB962C8B-B14F-4D97-AF65-F5344CB8AC3E}">
        <p14:creationId xmlns:p14="http://schemas.microsoft.com/office/powerpoint/2010/main" val="5857253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05276-EDA9-C357-A873-19A989D248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C248185-F5FF-0A2B-ABFA-5D1A933134FB}"/>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43BC3516-A09F-D116-D572-CE29CE9D990B}"/>
              </a:ext>
            </a:extLst>
          </p:cNvPr>
          <p:cNvSpPr>
            <a:spLocks noGrp="1"/>
          </p:cNvSpPr>
          <p:nvPr>
            <p:ph type="body" sz="quarter" idx="10"/>
          </p:nvPr>
        </p:nvSpPr>
        <p:spPr/>
        <p:txBody>
          <a:bodyPr anchor="ctr"/>
          <a:lstStyle/>
          <a:p>
            <a:endParaRPr lang="ja-JP" altLang="en-US" dirty="0"/>
          </a:p>
          <a:p>
            <a:r>
              <a:rPr lang="ja-JP" altLang="en-US" dirty="0"/>
              <a:t>半導体が微細化すると</a:t>
            </a:r>
            <a:r>
              <a:rPr lang="en-US" altLang="ja-JP" dirty="0"/>
              <a:t>1</a:t>
            </a:r>
            <a:r>
              <a:rPr lang="ja-JP" altLang="en-US" dirty="0"/>
              <a:t>素子あたりの電気量が減るかと思ったのですが</a:t>
            </a:r>
            <a:r>
              <a:rPr lang="en-US" altLang="ja-JP" dirty="0"/>
              <a:t>, </a:t>
            </a:r>
            <a:r>
              <a:rPr lang="ja-JP" altLang="en-US" dirty="0"/>
              <a:t>これは誤解でしょうか</a:t>
            </a:r>
            <a:r>
              <a:rPr lang="en-US" altLang="ja-JP" dirty="0"/>
              <a:t>?</a:t>
            </a:r>
            <a:r>
              <a:rPr lang="ja-JP" altLang="en-US" dirty="0"/>
              <a:t>また</a:t>
            </a:r>
            <a:r>
              <a:rPr lang="en-US" altLang="ja-JP" dirty="0"/>
              <a:t>, </a:t>
            </a:r>
            <a:r>
              <a:rPr lang="ja-JP" altLang="en-US" dirty="0"/>
              <a:t>消費電力が増えているのは素子あたりの電気量は減るが素子をおける面積が増えるために消費電力が高まっていると思ったのですがこの理解はただしいでしょうか</a:t>
            </a:r>
            <a:r>
              <a:rPr lang="en-US" altLang="ja-JP" dirty="0"/>
              <a:t>?</a:t>
            </a:r>
            <a:endParaRPr kumimoji="1" lang="ja-JP" altLang="en-US" dirty="0"/>
          </a:p>
        </p:txBody>
      </p:sp>
    </p:spTree>
    <p:extLst>
      <p:ext uri="{BB962C8B-B14F-4D97-AF65-F5344CB8AC3E}">
        <p14:creationId xmlns:p14="http://schemas.microsoft.com/office/powerpoint/2010/main" val="5709384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BF3CF-F58E-03B2-C651-7D0427940BA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3D07A0-727F-36B1-EE5B-8B402628242E}"/>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B5BB02E3-622E-06DB-9CD0-22B7AD92824C}"/>
              </a:ext>
            </a:extLst>
          </p:cNvPr>
          <p:cNvSpPr>
            <a:spLocks noGrp="1"/>
          </p:cNvSpPr>
          <p:nvPr>
            <p:ph type="body" sz="quarter" idx="10"/>
          </p:nvPr>
        </p:nvSpPr>
        <p:spPr/>
        <p:txBody>
          <a:bodyPr anchor="ctr"/>
          <a:lstStyle/>
          <a:p>
            <a:r>
              <a:rPr lang="ja-JP" altLang="en-US" dirty="0"/>
              <a:t>・</a:t>
            </a:r>
            <a:r>
              <a:rPr lang="en-US" altLang="ja-JP" dirty="0" err="1"/>
              <a:t>nand</a:t>
            </a:r>
            <a:r>
              <a:rPr lang="ja-JP" altLang="en-US" dirty="0"/>
              <a:t>ゲートができればコンピュータが作れる </a:t>
            </a:r>
            <a:r>
              <a:rPr lang="en-US" altLang="ja-JP" dirty="0"/>
              <a:t>(</a:t>
            </a:r>
            <a:r>
              <a:rPr lang="ja-JP" altLang="en-US" dirty="0"/>
              <a:t>今日何度か主張されていたこと</a:t>
            </a:r>
            <a:r>
              <a:rPr lang="en-US" altLang="ja-JP" dirty="0"/>
              <a:t>)</a:t>
            </a:r>
            <a:br>
              <a:rPr lang="en-US" altLang="ja-JP" dirty="0"/>
            </a:br>
            <a:r>
              <a:rPr lang="ja-JP" altLang="en-US" dirty="0"/>
              <a:t>・</a:t>
            </a:r>
            <a:r>
              <a:rPr lang="en-US" altLang="ja-JP" dirty="0" err="1"/>
              <a:t>nand</a:t>
            </a:r>
            <a:r>
              <a:rPr lang="ja-JP" altLang="en-US" dirty="0"/>
              <a:t>ゲートができればチューリング完全なシステムが構築可能</a:t>
            </a:r>
            <a:br>
              <a:rPr lang="en-US" altLang="ja-JP" dirty="0"/>
            </a:br>
            <a:r>
              <a:rPr lang="ja-JP" altLang="en-US" dirty="0"/>
              <a:t>この辺りの主張について、厳密な用語の指す意味も含めて復習しようと思った</a:t>
            </a:r>
            <a:br>
              <a:rPr lang="en-US" altLang="ja-JP" dirty="0"/>
            </a:br>
            <a:r>
              <a:rPr lang="en-US" altLang="ja-JP" dirty="0"/>
              <a:t>(</a:t>
            </a:r>
            <a:r>
              <a:rPr lang="ja-JP" altLang="en-US" dirty="0"/>
              <a:t>どちらも正しいと思っているが文脈が違うのでは？とも感じている</a:t>
            </a:r>
            <a:r>
              <a:rPr lang="en-US" altLang="ja-JP" dirty="0"/>
              <a:t>)</a:t>
            </a:r>
            <a:endParaRPr kumimoji="1" lang="ja-JP" altLang="en-US" dirty="0"/>
          </a:p>
        </p:txBody>
      </p:sp>
    </p:spTree>
    <p:extLst>
      <p:ext uri="{BB962C8B-B14F-4D97-AF65-F5344CB8AC3E}">
        <p14:creationId xmlns:p14="http://schemas.microsoft.com/office/powerpoint/2010/main" val="3447150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32E3D-2C25-BF5A-4336-3B689576D1E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FCF2B6C-491F-DC2F-DF6D-426D0541AAA1}"/>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506211F1-4B38-E144-2E31-6C6874110D97}"/>
              </a:ext>
            </a:extLst>
          </p:cNvPr>
          <p:cNvSpPr>
            <a:spLocks noGrp="1"/>
          </p:cNvSpPr>
          <p:nvPr>
            <p:ph type="body" sz="quarter" idx="10"/>
          </p:nvPr>
        </p:nvSpPr>
        <p:spPr/>
        <p:txBody>
          <a:bodyPr anchor="ctr"/>
          <a:lstStyle/>
          <a:p>
            <a:r>
              <a:rPr lang="ja-JP" altLang="en-US" dirty="0"/>
              <a:t>そういえばマインクラフトでも各種ゲートの概念を作れる投稿を最近見かけましたね</a:t>
            </a:r>
          </a:p>
          <a:p>
            <a:endParaRPr kumimoji="1" lang="ja-JP" altLang="en-US" dirty="0"/>
          </a:p>
        </p:txBody>
      </p:sp>
    </p:spTree>
    <p:extLst>
      <p:ext uri="{BB962C8B-B14F-4D97-AF65-F5344CB8AC3E}">
        <p14:creationId xmlns:p14="http://schemas.microsoft.com/office/powerpoint/2010/main" val="2551576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769CA-7771-ED9F-03B5-DEE324BF31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306CA7-77AC-EA0E-AB59-FA4593D87290}"/>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ED67884C-241C-D73D-8897-1543F4B3F352}"/>
              </a:ext>
            </a:extLst>
          </p:cNvPr>
          <p:cNvSpPr>
            <a:spLocks noGrp="1"/>
          </p:cNvSpPr>
          <p:nvPr>
            <p:ph type="body" sz="quarter" idx="10"/>
          </p:nvPr>
        </p:nvSpPr>
        <p:spPr/>
        <p:txBody>
          <a:bodyPr anchor="ctr"/>
          <a:lstStyle/>
          <a:p>
            <a:r>
              <a:rPr lang="en-US" altLang="ja-JP" dirty="0"/>
              <a:t>LLM</a:t>
            </a:r>
            <a:r>
              <a:rPr lang="ja-JP" altLang="en-US" dirty="0"/>
              <a:t>が普及して以来、</a:t>
            </a:r>
            <a:r>
              <a:rPr lang="en-US" altLang="ja-JP" dirty="0"/>
              <a:t>Linux Kernel </a:t>
            </a:r>
            <a:r>
              <a:rPr lang="ja-JP" altLang="en-US" dirty="0"/>
              <a:t>へのコントリビュートが大幅に増えているように、</a:t>
            </a:r>
            <a:r>
              <a:rPr lang="en-US" altLang="ja-JP" dirty="0"/>
              <a:t>RISC-V</a:t>
            </a:r>
            <a:r>
              <a:rPr lang="ja-JP" altLang="en-US" dirty="0"/>
              <a:t>界隈も設計レベルではより活発になるのではと思いました。</a:t>
            </a:r>
          </a:p>
          <a:p>
            <a:endParaRPr kumimoji="1" lang="ja-JP" altLang="en-US" dirty="0"/>
          </a:p>
        </p:txBody>
      </p:sp>
    </p:spTree>
    <p:extLst>
      <p:ext uri="{BB962C8B-B14F-4D97-AF65-F5344CB8AC3E}">
        <p14:creationId xmlns:p14="http://schemas.microsoft.com/office/powerpoint/2010/main" val="8531723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35622-4D11-57B6-2865-221FE4000A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64C95F-F16D-0F21-CDC9-76F318669A33}"/>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17CF63C3-0A22-81BB-FEDA-C86B07545C64}"/>
              </a:ext>
            </a:extLst>
          </p:cNvPr>
          <p:cNvSpPr>
            <a:spLocks noGrp="1"/>
          </p:cNvSpPr>
          <p:nvPr>
            <p:ph type="body" sz="quarter" idx="10"/>
          </p:nvPr>
        </p:nvSpPr>
        <p:spPr/>
        <p:txBody>
          <a:bodyPr anchor="ctr"/>
          <a:lstStyle/>
          <a:p>
            <a:r>
              <a:rPr lang="en-US" altLang="ja-JP" dirty="0"/>
              <a:t>CMOS</a:t>
            </a:r>
            <a:r>
              <a:rPr lang="ja-JP" altLang="en-US" dirty="0"/>
              <a:t>の水流を用いた説明が非常にわかりやすかったです。ここ一年ほどでキオクシアの株が大きく伸びた要因の一つに</a:t>
            </a:r>
            <a:r>
              <a:rPr lang="en-US" altLang="ja-JP" dirty="0"/>
              <a:t>NAND</a:t>
            </a:r>
            <a:r>
              <a:rPr lang="ja-JP" altLang="en-US" dirty="0"/>
              <a:t>が評価されたことがあり</a:t>
            </a:r>
            <a:r>
              <a:rPr lang="en-US" altLang="ja-JP" dirty="0"/>
              <a:t>, </a:t>
            </a:r>
            <a:r>
              <a:rPr lang="ja-JP" altLang="en-US" dirty="0"/>
              <a:t>「</a:t>
            </a:r>
            <a:r>
              <a:rPr lang="en-US" altLang="ja-JP" dirty="0"/>
              <a:t>NAND</a:t>
            </a:r>
            <a:r>
              <a:rPr lang="ja-JP" altLang="en-US" dirty="0"/>
              <a:t>ごときでそんな評価されるんだ」と思ってましたが</a:t>
            </a:r>
            <a:r>
              <a:rPr lang="en-US" altLang="ja-JP" dirty="0"/>
              <a:t>, NAND</a:t>
            </a:r>
            <a:r>
              <a:rPr lang="ja-JP" altLang="en-US" dirty="0"/>
              <a:t>がコンピュータの礎になる最重要な論理ゲートであることが分かり少し合点しました。</a:t>
            </a:r>
            <a:endParaRPr kumimoji="1" lang="ja-JP" altLang="en-US" dirty="0"/>
          </a:p>
        </p:txBody>
      </p:sp>
    </p:spTree>
    <p:extLst>
      <p:ext uri="{BB962C8B-B14F-4D97-AF65-F5344CB8AC3E}">
        <p14:creationId xmlns:p14="http://schemas.microsoft.com/office/powerpoint/2010/main" val="5626935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6F443-8BAD-7C59-3920-79DA4C2CCC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52CDDE-9F44-BF07-B8EA-59FAD8A3F25B}"/>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0384832A-6B12-AEE9-2C76-78DB94A1D644}"/>
              </a:ext>
            </a:extLst>
          </p:cNvPr>
          <p:cNvSpPr>
            <a:spLocks noGrp="1"/>
          </p:cNvSpPr>
          <p:nvPr>
            <p:ph type="body" sz="quarter" idx="10"/>
          </p:nvPr>
        </p:nvSpPr>
        <p:spPr/>
        <p:txBody>
          <a:bodyPr anchor="ctr"/>
          <a:lstStyle/>
          <a:p>
            <a:r>
              <a:rPr lang="en-US" altLang="ja-JP" dirty="0"/>
              <a:t>5/7</a:t>
            </a:r>
            <a:r>
              <a:rPr lang="ja-JP" altLang="en-US" dirty="0"/>
              <a:t>（木）の休講による講義スケジュールの変更があるか、または自習やオンデマンドで補われるか伺いたいです。</a:t>
            </a:r>
            <a:endParaRPr kumimoji="1" lang="ja-JP" altLang="en-US" dirty="0"/>
          </a:p>
        </p:txBody>
      </p:sp>
    </p:spTree>
    <p:extLst>
      <p:ext uri="{BB962C8B-B14F-4D97-AF65-F5344CB8AC3E}">
        <p14:creationId xmlns:p14="http://schemas.microsoft.com/office/powerpoint/2010/main" val="41409932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F4AB6-FB49-A24D-10B2-C7CC9FAFCA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789524-8C3D-3C0F-5F8D-B65F13600150}"/>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C838590C-899D-85D2-433E-A63977BE782C}"/>
              </a:ext>
            </a:extLst>
          </p:cNvPr>
          <p:cNvSpPr>
            <a:spLocks noGrp="1"/>
          </p:cNvSpPr>
          <p:nvPr>
            <p:ph type="body" sz="quarter" idx="10"/>
          </p:nvPr>
        </p:nvSpPr>
        <p:spPr/>
        <p:txBody>
          <a:bodyPr anchor="ctr"/>
          <a:lstStyle/>
          <a:p>
            <a:r>
              <a:rPr lang="ja-JP" altLang="en-US" dirty="0"/>
              <a:t>クロックの配線の話について、確かに同期クロックって大変だなと理解しました。自分が使っている</a:t>
            </a:r>
            <a:r>
              <a:rPr lang="en-US" altLang="ja-JP" dirty="0"/>
              <a:t>100</a:t>
            </a:r>
            <a:r>
              <a:rPr lang="ja-JP" altLang="en-US" dirty="0"/>
              <a:t>万</a:t>
            </a:r>
            <a:r>
              <a:rPr lang="en-US" altLang="ja-JP" dirty="0"/>
              <a:t>PE</a:t>
            </a:r>
            <a:r>
              <a:rPr lang="ja-JP" altLang="en-US" dirty="0"/>
              <a:t>を</a:t>
            </a:r>
            <a:r>
              <a:rPr lang="en-US" altLang="ja-JP" dirty="0"/>
              <a:t>1</a:t>
            </a:r>
            <a:r>
              <a:rPr lang="ja-JP" altLang="en-US" dirty="0"/>
              <a:t>チップに搭載したアーキテクチャでは、各</a:t>
            </a:r>
            <a:r>
              <a:rPr lang="en-US" altLang="ja-JP" dirty="0"/>
              <a:t>PE</a:t>
            </a:r>
            <a:r>
              <a:rPr lang="ja-JP" altLang="en-US" dirty="0"/>
              <a:t>が </a:t>
            </a:r>
            <a:r>
              <a:rPr lang="en-US" altLang="ja-JP" dirty="0"/>
              <a:t>independent clock </a:t>
            </a:r>
            <a:r>
              <a:rPr lang="ja-JP" altLang="en-US" dirty="0"/>
              <a:t>を持っていることも納得です。（極論、クロック周波数が同じであれば問題ないと思うので）</a:t>
            </a:r>
            <a:endParaRPr kumimoji="1" lang="ja-JP" altLang="en-US" dirty="0"/>
          </a:p>
        </p:txBody>
      </p:sp>
    </p:spTree>
    <p:extLst>
      <p:ext uri="{BB962C8B-B14F-4D97-AF65-F5344CB8AC3E}">
        <p14:creationId xmlns:p14="http://schemas.microsoft.com/office/powerpoint/2010/main" val="35157224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7245D-9239-C8A1-3423-7F34891572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838382-AD39-8891-BC5B-40A23C8C2610}"/>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6DBA88CB-DE4B-E9CB-1069-4EF7872F3E47}"/>
              </a:ext>
            </a:extLst>
          </p:cNvPr>
          <p:cNvSpPr>
            <a:spLocks noGrp="1"/>
          </p:cNvSpPr>
          <p:nvPr>
            <p:ph type="body" sz="quarter" idx="10"/>
          </p:nvPr>
        </p:nvSpPr>
        <p:spPr/>
        <p:txBody>
          <a:bodyPr anchor="ctr"/>
          <a:lstStyle/>
          <a:p>
            <a:r>
              <a:rPr lang="en-US" altLang="ja-JP" dirty="0"/>
              <a:t>CMOS</a:t>
            </a:r>
            <a:r>
              <a:rPr lang="ja-JP" altLang="en-US" dirty="0"/>
              <a:t>半導体などの原理を、水が流れる様子などを用いて説明して頂いたのは非常に分かりやすかったです。最後の方で紹介していた半導体デバイスなどの効率的な</a:t>
            </a:r>
            <a:r>
              <a:rPr lang="en-US" altLang="ja-JP" dirty="0"/>
              <a:t>3D</a:t>
            </a:r>
            <a:r>
              <a:rPr lang="ja-JP" altLang="en-US" dirty="0"/>
              <a:t>配置方法などは、具体的にどのようなものがあるのですか。</a:t>
            </a:r>
            <a:endParaRPr kumimoji="1" lang="ja-JP" altLang="en-US" dirty="0"/>
          </a:p>
        </p:txBody>
      </p:sp>
    </p:spTree>
    <p:extLst>
      <p:ext uri="{BB962C8B-B14F-4D97-AF65-F5344CB8AC3E}">
        <p14:creationId xmlns:p14="http://schemas.microsoft.com/office/powerpoint/2010/main" val="6270320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3">
      <a:dk1>
        <a:sysClr val="windowText" lastClr="000000"/>
      </a:dk1>
      <a:lt1>
        <a:sysClr val="window" lastClr="FFFFFF"/>
      </a:lt1>
      <a:dk2>
        <a:srgbClr val="F4EB00"/>
      </a:dk2>
      <a:lt2>
        <a:srgbClr val="C4FF4A"/>
      </a:lt2>
      <a:accent1>
        <a:srgbClr val="5782B5"/>
      </a:accent1>
      <a:accent2>
        <a:srgbClr val="B65A58"/>
      </a:accent2>
      <a:accent3>
        <a:srgbClr val="81945C"/>
      </a:accent3>
      <a:accent4>
        <a:srgbClr val="5C6994"/>
      </a:accent4>
      <a:accent5>
        <a:srgbClr val="4E8EA2"/>
      </a:accent5>
      <a:accent6>
        <a:srgbClr val="C77D63"/>
      </a:accent6>
      <a:hlink>
        <a:srgbClr val="3A3AC6"/>
      </a:hlink>
      <a:folHlink>
        <a:srgbClr val="631D63"/>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aco-shioya-02</Template>
  <TotalTime>57065</TotalTime>
  <Words>5182</Words>
  <Application>Microsoft Office PowerPoint</Application>
  <PresentationFormat>ワイド画面</PresentationFormat>
  <Paragraphs>913</Paragraphs>
  <Slides>84</Slides>
  <Notes>17</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84</vt:i4>
      </vt:variant>
    </vt:vector>
  </HeadingPairs>
  <TitlesOfParts>
    <vt:vector size="98" baseType="lpstr">
      <vt:lpstr>HG丸ｺﾞｼｯｸM-PRO</vt:lpstr>
      <vt:lpstr>MeiryoKe_PGothic</vt:lpstr>
      <vt:lpstr>ＭＳ Ｐゴシック</vt:lpstr>
      <vt:lpstr>メイリオ</vt:lpstr>
      <vt:lpstr>Arial</vt:lpstr>
      <vt:lpstr>Arial Narrow</vt:lpstr>
      <vt:lpstr>Calibri</vt:lpstr>
      <vt:lpstr>Cambria Math</vt:lpstr>
      <vt:lpstr>Consolas</vt:lpstr>
      <vt:lpstr>Courier New</vt:lpstr>
      <vt:lpstr>Segoe UI</vt:lpstr>
      <vt:lpstr>Times New Roman</vt:lpstr>
      <vt:lpstr>Wingdings</vt:lpstr>
      <vt:lpstr>cerulean</vt:lpstr>
      <vt:lpstr>先進計算機構成論 03</vt:lpstr>
      <vt:lpstr>今日の内容</vt:lpstr>
      <vt:lpstr>回路の消費電力の補足</vt:lpstr>
      <vt:lpstr>CPU やその他回路の消費電力について</vt:lpstr>
      <vt:lpstr>回路の遅延と消費エネルギー</vt:lpstr>
      <vt:lpstr>命令を処理するのに必要な回路</vt:lpstr>
      <vt:lpstr>回路は命令制御と演算に大きく分けられる</vt:lpstr>
      <vt:lpstr>いろいろな回路の規模</vt:lpstr>
      <vt:lpstr>回路規模の例からわかること</vt:lpstr>
      <vt:lpstr>AMD Bulldozer のチップ写真</vt:lpstr>
      <vt:lpstr>AMD Steamroller の消費電力</vt:lpstr>
      <vt:lpstr>エネルギーは命令制御と演算の比率によって決まる</vt:lpstr>
      <vt:lpstr>使いやすさは，おおむね制御部分の大きさに比例</vt:lpstr>
      <vt:lpstr>牧野先生のアーキテクチャの「効率」の定義</vt:lpstr>
      <vt:lpstr>CPU やその他回路の消費電力について</vt:lpstr>
      <vt:lpstr>FPGA の場合</vt:lpstr>
      <vt:lpstr>FPGA の仕組み</vt:lpstr>
      <vt:lpstr>LUT の回路量の見積もり</vt:lpstr>
      <vt:lpstr>D-FF：トランジスタ 16個</vt:lpstr>
      <vt:lpstr>マルチプレクサ：トランジスタ 6個</vt:lpstr>
      <vt:lpstr>LUT vs. NAND 同じ回路を LUT で実現するのはものすごく効率が悪い</vt:lpstr>
      <vt:lpstr>LUT で回路を構成した場合</vt:lpstr>
      <vt:lpstr>CPU から FPGA にしたときに良い場合・悪い場合</vt:lpstr>
      <vt:lpstr>FPGA の特性のまとめ</vt:lpstr>
      <vt:lpstr>ここまでのまとめ</vt:lpstr>
      <vt:lpstr>余談：ムーアの法則と周波数</vt:lpstr>
      <vt:lpstr>クロック周波数</vt:lpstr>
      <vt:lpstr>周波数向上がストップ</vt:lpstr>
      <vt:lpstr>ムーアの法則</vt:lpstr>
      <vt:lpstr>スケーリングの効果</vt:lpstr>
      <vt:lpstr>CMOS ゲートの等価回路</vt:lpstr>
      <vt:lpstr>消費エネルギーと遅延</vt:lpstr>
      <vt:lpstr>チップ全体の消費エネルギー</vt:lpstr>
      <vt:lpstr>ところが，電圧が下げられなくなった… グラフは [Sato17] より</vt:lpstr>
      <vt:lpstr>電圧が下がらないとどうなるのか</vt:lpstr>
      <vt:lpstr>行き着く先：ダークシリコン [Goulding10, Esmaeilzadeh12]</vt:lpstr>
      <vt:lpstr>とはいえ，いまのところ</vt:lpstr>
      <vt:lpstr>ここまでのまとめ</vt:lpstr>
      <vt:lpstr>命令パイプライン</vt:lpstr>
      <vt:lpstr>命令パイプライン</vt:lpstr>
      <vt:lpstr>導入：工場のラインを考える</vt:lpstr>
      <vt:lpstr>導入：工場のラインを考える</vt:lpstr>
      <vt:lpstr>パイプライン化による性能向上</vt:lpstr>
      <vt:lpstr>シングル・サイクル・プロセッサの動作</vt:lpstr>
      <vt:lpstr>もくじ</vt:lpstr>
      <vt:lpstr>ベースとなるシングル・サイクル・プロセッサ</vt:lpstr>
      <vt:lpstr>命令の実行フェーズ</vt:lpstr>
      <vt:lpstr>命令フェッチ</vt:lpstr>
      <vt:lpstr>命令デコード</vt:lpstr>
      <vt:lpstr>レジスタ読み出し</vt:lpstr>
      <vt:lpstr>実行</vt:lpstr>
      <vt:lpstr>レジスタ書き戻し</vt:lpstr>
      <vt:lpstr>ロードの場合：メモリ・アクセスが加わる</vt:lpstr>
      <vt:lpstr>各処理は基本的には左から右に流れる</vt:lpstr>
      <vt:lpstr>パイプライン化</vt:lpstr>
      <vt:lpstr>もくじ</vt:lpstr>
      <vt:lpstr>パイプライン化</vt:lpstr>
      <vt:lpstr>命令パイプラインの実行の様子</vt:lpstr>
      <vt:lpstr>パイプライン・チャートの見方 ここから先で多用されるので重要</vt:lpstr>
      <vt:lpstr>パイプライン化による性能（スループット）向上</vt:lpstr>
      <vt:lpstr>余談：実際の CPU を実行した場合のパイプライン</vt:lpstr>
      <vt:lpstr>パイプライン化の効果</vt:lpstr>
      <vt:lpstr>ステージを「どこで」切るか</vt:lpstr>
      <vt:lpstr>ステージを「どこで」切るか</vt:lpstr>
      <vt:lpstr>ステージを「どうやって」切るか</vt:lpstr>
      <vt:lpstr>パイプライン化（オーバーラップ）の実現方法</vt:lpstr>
      <vt:lpstr>余談：非同期回路やウェーブ・パイプライン</vt:lpstr>
      <vt:lpstr>出欠と感想</vt:lpstr>
      <vt:lpstr>出席</vt:lpstr>
      <vt:lpstr>質問や感想</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11048</cp:revision>
  <cp:lastPrinted>2014-12-10T13:40:48Z</cp:lastPrinted>
  <dcterms:created xsi:type="dcterms:W3CDTF">2014-11-17T10:53:59Z</dcterms:created>
  <dcterms:modified xsi:type="dcterms:W3CDTF">2026-05-18T05:51:37Z</dcterms:modified>
</cp:coreProperties>
</file>