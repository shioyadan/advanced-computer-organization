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9" r:id="rId1"/>
  </p:sldMasterIdLst>
  <p:notesMasterIdLst>
    <p:notesMasterId r:id="rId104"/>
  </p:notesMasterIdLst>
  <p:sldIdLst>
    <p:sldId id="440" r:id="rId2"/>
    <p:sldId id="518" r:id="rId3"/>
    <p:sldId id="573" r:id="rId4"/>
    <p:sldId id="569" r:id="rId5"/>
    <p:sldId id="629" r:id="rId6"/>
    <p:sldId id="575" r:id="rId7"/>
    <p:sldId id="580" r:id="rId8"/>
    <p:sldId id="565" r:id="rId9"/>
    <p:sldId id="576" r:id="rId10"/>
    <p:sldId id="574" r:id="rId11"/>
    <p:sldId id="572" r:id="rId12"/>
    <p:sldId id="585" r:id="rId13"/>
    <p:sldId id="579" r:id="rId14"/>
    <p:sldId id="581" r:id="rId15"/>
    <p:sldId id="578" r:id="rId16"/>
    <p:sldId id="586" r:id="rId17"/>
    <p:sldId id="587" r:id="rId18"/>
    <p:sldId id="591" r:id="rId19"/>
    <p:sldId id="590" r:id="rId20"/>
    <p:sldId id="593" r:id="rId21"/>
    <p:sldId id="598" r:id="rId22"/>
    <p:sldId id="596" r:id="rId23"/>
    <p:sldId id="599" r:id="rId24"/>
    <p:sldId id="600" r:id="rId25"/>
    <p:sldId id="601" r:id="rId26"/>
    <p:sldId id="602" r:id="rId27"/>
    <p:sldId id="588" r:id="rId28"/>
    <p:sldId id="589" r:id="rId29"/>
    <p:sldId id="603" r:id="rId30"/>
    <p:sldId id="609" r:id="rId31"/>
    <p:sldId id="605" r:id="rId32"/>
    <p:sldId id="606" r:id="rId33"/>
    <p:sldId id="604" r:id="rId34"/>
    <p:sldId id="607" r:id="rId35"/>
    <p:sldId id="631" r:id="rId36"/>
    <p:sldId id="608" r:id="rId37"/>
    <p:sldId id="611" r:id="rId38"/>
    <p:sldId id="610" r:id="rId39"/>
    <p:sldId id="612" r:id="rId40"/>
    <p:sldId id="630" r:id="rId41"/>
    <p:sldId id="613" r:id="rId42"/>
    <p:sldId id="614" r:id="rId43"/>
    <p:sldId id="615" r:id="rId44"/>
    <p:sldId id="616" r:id="rId45"/>
    <p:sldId id="617" r:id="rId46"/>
    <p:sldId id="620" r:id="rId47"/>
    <p:sldId id="618" r:id="rId48"/>
    <p:sldId id="632" r:id="rId49"/>
    <p:sldId id="619" r:id="rId50"/>
    <p:sldId id="621" r:id="rId51"/>
    <p:sldId id="634" r:id="rId52"/>
    <p:sldId id="622" r:id="rId53"/>
    <p:sldId id="623" r:id="rId54"/>
    <p:sldId id="624" r:id="rId55"/>
    <p:sldId id="625" r:id="rId56"/>
    <p:sldId id="635" r:id="rId57"/>
    <p:sldId id="638" r:id="rId58"/>
    <p:sldId id="637" r:id="rId59"/>
    <p:sldId id="636" r:id="rId60"/>
    <p:sldId id="436" r:id="rId61"/>
    <p:sldId id="679" r:id="rId62"/>
    <p:sldId id="641" r:id="rId63"/>
    <p:sldId id="626" r:id="rId64"/>
    <p:sldId id="628" r:id="rId65"/>
    <p:sldId id="642" r:id="rId66"/>
    <p:sldId id="647" r:id="rId67"/>
    <p:sldId id="643" r:id="rId68"/>
    <p:sldId id="640" r:id="rId69"/>
    <p:sldId id="659" r:id="rId70"/>
    <p:sldId id="644" r:id="rId71"/>
    <p:sldId id="646" r:id="rId72"/>
    <p:sldId id="645" r:id="rId73"/>
    <p:sldId id="658" r:id="rId74"/>
    <p:sldId id="648" r:id="rId75"/>
    <p:sldId id="639" r:id="rId76"/>
    <p:sldId id="627" r:id="rId77"/>
    <p:sldId id="854" r:id="rId78"/>
    <p:sldId id="855" r:id="rId79"/>
    <p:sldId id="878" r:id="rId80"/>
    <p:sldId id="877" r:id="rId81"/>
    <p:sldId id="665" r:id="rId82"/>
    <p:sldId id="856" r:id="rId83"/>
    <p:sldId id="857" r:id="rId84"/>
    <p:sldId id="858" r:id="rId85"/>
    <p:sldId id="864" r:id="rId86"/>
    <p:sldId id="859" r:id="rId87"/>
    <p:sldId id="860" r:id="rId88"/>
    <p:sldId id="861" r:id="rId89"/>
    <p:sldId id="862" r:id="rId90"/>
    <p:sldId id="863" r:id="rId91"/>
    <p:sldId id="865" r:id="rId92"/>
    <p:sldId id="866" r:id="rId93"/>
    <p:sldId id="867" r:id="rId94"/>
    <p:sldId id="868" r:id="rId95"/>
    <p:sldId id="869" r:id="rId96"/>
    <p:sldId id="870" r:id="rId97"/>
    <p:sldId id="871" r:id="rId98"/>
    <p:sldId id="872" r:id="rId99"/>
    <p:sldId id="873" r:id="rId100"/>
    <p:sldId id="874" r:id="rId101"/>
    <p:sldId id="875" r:id="rId102"/>
    <p:sldId id="876" r:id="rId10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933FF"/>
    <a:srgbClr val="FF9900"/>
    <a:srgbClr val="009999"/>
    <a:srgbClr val="4E4EF6"/>
    <a:srgbClr val="006699"/>
    <a:srgbClr val="FFFFFF"/>
    <a:srgbClr val="31869D"/>
    <a:srgbClr val="4444E8"/>
    <a:srgbClr val="5555FF"/>
    <a:srgbClr val="414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00" autoAdjust="0"/>
    <p:restoredTop sz="96862" autoAdjust="0"/>
  </p:normalViewPr>
  <p:slideViewPr>
    <p:cSldViewPr>
      <p:cViewPr varScale="1">
        <p:scale>
          <a:sx n="161" d="100"/>
          <a:sy n="161" d="100"/>
        </p:scale>
        <p:origin x="360" y="88"/>
      </p:cViewPr>
      <p:guideLst>
        <p:guide orient="horz" pos="2160"/>
        <p:guide pos="3840"/>
      </p:guideLst>
    </p:cSldViewPr>
  </p:slideViewPr>
  <p:outlineViewPr>
    <p:cViewPr>
      <p:scale>
        <a:sx n="33" d="100"/>
        <a:sy n="33" d="100"/>
      </p:scale>
      <p:origin x="0" y="-22210"/>
    </p:cViewPr>
  </p:outlineViewPr>
  <p:notesTextViewPr>
    <p:cViewPr>
      <p:scale>
        <a:sx n="100" d="100"/>
        <a:sy n="100" d="100"/>
      </p:scale>
      <p:origin x="0" y="0"/>
    </p:cViewPr>
  </p:notesTextViewPr>
  <p:notesViewPr>
    <p:cSldViewPr>
      <p:cViewPr varScale="1">
        <p:scale>
          <a:sx n="65" d="100"/>
          <a:sy n="65" d="100"/>
        </p:scale>
        <p:origin x="2386" y="62"/>
      </p:cViewPr>
      <p:guideLst/>
    </p:cSldViewPr>
  </p:notesViewPr>
  <p:gridSpacing cx="90001" cy="90001"/>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col"/>
        <c:grouping val="clustered"/>
        <c:varyColors val="0"/>
        <c:ser>
          <c:idx val="0"/>
          <c:order val="0"/>
          <c:tx>
            <c:strRef>
              <c:f>IPC!$C$1</c:f>
              <c:strCache>
                <c:ptCount val="1"/>
                <c:pt idx="0">
                  <c:v>InO 発行</c:v>
                </c:pt>
              </c:strCache>
            </c:strRef>
          </c:tx>
          <c:spPr>
            <a:gradFill rotWithShape="1">
              <a:gsLst>
                <a:gs pos="0">
                  <a:schemeClr val="accent1">
                    <a:tint val="77000"/>
                    <a:shade val="51000"/>
                    <a:satMod val="130000"/>
                  </a:schemeClr>
                </a:gs>
                <a:gs pos="80000">
                  <a:schemeClr val="accent1">
                    <a:tint val="77000"/>
                    <a:shade val="93000"/>
                    <a:satMod val="130000"/>
                  </a:schemeClr>
                </a:gs>
                <a:gs pos="100000">
                  <a:schemeClr val="accent1">
                    <a:tint val="77000"/>
                    <a:shade val="94000"/>
                    <a:satMod val="135000"/>
                  </a:schemeClr>
                </a:gs>
              </a:gsLst>
              <a:lin ang="16200000" scaled="0"/>
            </a:gradFill>
            <a:ln>
              <a:noFill/>
            </a:ln>
            <a:effectLst>
              <a:outerShdw blurRad="40000" dist="23000" dir="5400000" rotWithShape="0">
                <a:srgbClr val="000000">
                  <a:alpha val="35000"/>
                </a:srgbClr>
              </a:outerShdw>
            </a:effectLst>
          </c:spPr>
          <c:invertIfNegative val="0"/>
          <c:cat>
            <c:multiLvlStrRef>
              <c:f>IPC!$A$2:$B$33</c:f>
              <c:multiLvlStrCache>
                <c:ptCount val="32"/>
                <c:lvl>
                  <c:pt idx="0">
                    <c:v>astar</c:v>
                  </c:pt>
                  <c:pt idx="1">
                    <c:v>bzip2</c:v>
                  </c:pt>
                  <c:pt idx="2">
                    <c:v>gcc</c:v>
                  </c:pt>
                  <c:pt idx="3">
                    <c:v>gobmk</c:v>
                  </c:pt>
                  <c:pt idx="4">
                    <c:v>h264ref</c:v>
                  </c:pt>
                  <c:pt idx="5">
                    <c:v>hmmer</c:v>
                  </c:pt>
                  <c:pt idx="6">
                    <c:v>libquantum</c:v>
                  </c:pt>
                  <c:pt idx="7">
                    <c:v>mcf</c:v>
                  </c:pt>
                  <c:pt idx="8">
                    <c:v>omnetpp</c:v>
                  </c:pt>
                  <c:pt idx="9">
                    <c:v>perlbench</c:v>
                  </c:pt>
                  <c:pt idx="10">
                    <c:v>sjeng</c:v>
                  </c:pt>
                  <c:pt idx="11">
                    <c:v>xalancbmk</c:v>
                  </c:pt>
                  <c:pt idx="12">
                    <c:v>mean(INT)</c:v>
                  </c:pt>
                  <c:pt idx="13">
                    <c:v>GemsFDTD</c:v>
                  </c:pt>
                  <c:pt idx="14">
                    <c:v>bwaves</c:v>
                  </c:pt>
                  <c:pt idx="15">
                    <c:v>cactusADM</c:v>
                  </c:pt>
                  <c:pt idx="16">
                    <c:v>calculix</c:v>
                  </c:pt>
                  <c:pt idx="17">
                    <c:v>dealII</c:v>
                  </c:pt>
                  <c:pt idx="18">
                    <c:v>gamess</c:v>
                  </c:pt>
                  <c:pt idx="19">
                    <c:v>gromacs</c:v>
                  </c:pt>
                  <c:pt idx="20">
                    <c:v>lbm</c:v>
                  </c:pt>
                  <c:pt idx="21">
                    <c:v>leslie3d</c:v>
                  </c:pt>
                  <c:pt idx="22">
                    <c:v>milc</c:v>
                  </c:pt>
                  <c:pt idx="23">
                    <c:v>namd</c:v>
                  </c:pt>
                  <c:pt idx="24">
                    <c:v>povray</c:v>
                  </c:pt>
                  <c:pt idx="25">
                    <c:v>soplex</c:v>
                  </c:pt>
                  <c:pt idx="26">
                    <c:v>sphinx3</c:v>
                  </c:pt>
                  <c:pt idx="27">
                    <c:v>tonto</c:v>
                  </c:pt>
                  <c:pt idx="28">
                    <c:v>wrf</c:v>
                  </c:pt>
                  <c:pt idx="29">
                    <c:v>zeusmp</c:v>
                  </c:pt>
                  <c:pt idx="30">
                    <c:v>mean(FP)</c:v>
                  </c:pt>
                  <c:pt idx="31">
                    <c:v>mean</c:v>
                  </c:pt>
                </c:lvl>
                <c:lvl>
                  <c:pt idx="0">
                    <c:v>int</c:v>
                  </c:pt>
                  <c:pt idx="13">
                    <c:v>fp</c:v>
                  </c:pt>
                  <c:pt idx="31">
                    <c:v>all</c:v>
                  </c:pt>
                </c:lvl>
              </c:multiLvlStrCache>
            </c:multiLvlStrRef>
          </c:cat>
          <c:val>
            <c:numRef>
              <c:f>IPC!$C$2:$C$33</c:f>
              <c:numCache>
                <c:formatCode>General</c:formatCode>
                <c:ptCount val="32"/>
                <c:pt idx="0">
                  <c:v>0.55487452113815305</c:v>
                </c:pt>
                <c:pt idx="1">
                  <c:v>0.58628925478404503</c:v>
                </c:pt>
                <c:pt idx="2">
                  <c:v>0.57042584043820799</c:v>
                </c:pt>
                <c:pt idx="3">
                  <c:v>0.61334264312471198</c:v>
                </c:pt>
                <c:pt idx="4">
                  <c:v>0.52159940315706699</c:v>
                </c:pt>
                <c:pt idx="5">
                  <c:v>0.51690837780230003</c:v>
                </c:pt>
                <c:pt idx="6">
                  <c:v>0.747059111807441</c:v>
                </c:pt>
                <c:pt idx="7">
                  <c:v>0.79359143910451202</c:v>
                </c:pt>
                <c:pt idx="8">
                  <c:v>0.45118409404694698</c:v>
                </c:pt>
                <c:pt idx="9">
                  <c:v>0.68444549720468395</c:v>
                </c:pt>
                <c:pt idx="10">
                  <c:v>0.61398253439738404</c:v>
                </c:pt>
                <c:pt idx="11">
                  <c:v>0.82330973267066498</c:v>
                </c:pt>
                <c:pt idx="12">
                  <c:v>0.61344688492697397</c:v>
                </c:pt>
                <c:pt idx="13">
                  <c:v>0.55146292323205703</c:v>
                </c:pt>
                <c:pt idx="14">
                  <c:v>0.75756924879496401</c:v>
                </c:pt>
                <c:pt idx="15">
                  <c:v>0.75872906668150397</c:v>
                </c:pt>
                <c:pt idx="16">
                  <c:v>0.54168254170387098</c:v>
                </c:pt>
                <c:pt idx="17">
                  <c:v>0.86072679684885001</c:v>
                </c:pt>
                <c:pt idx="18">
                  <c:v>0.53646095419906303</c:v>
                </c:pt>
                <c:pt idx="19">
                  <c:v>0.80030240893118298</c:v>
                </c:pt>
                <c:pt idx="20">
                  <c:v>0.53736379255428202</c:v>
                </c:pt>
                <c:pt idx="21">
                  <c:v>0.44601636633148201</c:v>
                </c:pt>
                <c:pt idx="22">
                  <c:v>0.56915713605913598</c:v>
                </c:pt>
                <c:pt idx="23">
                  <c:v>0.60899702922163601</c:v>
                </c:pt>
                <c:pt idx="24">
                  <c:v>0.61109726519932706</c:v>
                </c:pt>
                <c:pt idx="25">
                  <c:v>0.71876050580812001</c:v>
                </c:pt>
                <c:pt idx="26">
                  <c:v>0.57337252429969898</c:v>
                </c:pt>
                <c:pt idx="27">
                  <c:v>0.57164619036292297</c:v>
                </c:pt>
                <c:pt idx="28">
                  <c:v>0.53333594734400303</c:v>
                </c:pt>
                <c:pt idx="29">
                  <c:v>0.43626585447171501</c:v>
                </c:pt>
                <c:pt idx="30">
                  <c:v>0.60149180540432801</c:v>
                </c:pt>
                <c:pt idx="31">
                  <c:v>0.60641021485116997</c:v>
                </c:pt>
              </c:numCache>
            </c:numRef>
          </c:val>
          <c:extLst>
            <c:ext xmlns:c16="http://schemas.microsoft.com/office/drawing/2014/chart" uri="{C3380CC4-5D6E-409C-BE32-E72D297353CC}">
              <c16:uniqueId val="{00000000-D0EF-426D-82E1-105F89D24085}"/>
            </c:ext>
          </c:extLst>
        </c:ser>
        <c:ser>
          <c:idx val="1"/>
          <c:order val="1"/>
          <c:tx>
            <c:strRef>
              <c:f>IPC!$D$1</c:f>
              <c:strCache>
                <c:ptCount val="1"/>
                <c:pt idx="0">
                  <c:v>OoO 発行</c:v>
                </c:pt>
              </c:strCache>
            </c:strRef>
          </c:tx>
          <c:spPr>
            <a:gradFill rotWithShape="1">
              <a:gsLst>
                <a:gs pos="0">
                  <a:schemeClr val="accent1">
                    <a:shade val="76000"/>
                    <a:shade val="51000"/>
                    <a:satMod val="130000"/>
                  </a:schemeClr>
                </a:gs>
                <a:gs pos="80000">
                  <a:schemeClr val="accent1">
                    <a:shade val="76000"/>
                    <a:shade val="93000"/>
                    <a:satMod val="130000"/>
                  </a:schemeClr>
                </a:gs>
                <a:gs pos="100000">
                  <a:schemeClr val="accent1">
                    <a:shade val="76000"/>
                    <a:shade val="94000"/>
                    <a:satMod val="135000"/>
                  </a:schemeClr>
                </a:gs>
              </a:gsLst>
              <a:lin ang="16200000" scaled="0"/>
            </a:gradFill>
            <a:ln>
              <a:noFill/>
            </a:ln>
            <a:effectLst>
              <a:outerShdw blurRad="40000" dist="23000" dir="5400000" rotWithShape="0">
                <a:srgbClr val="000000">
                  <a:alpha val="35000"/>
                </a:srgbClr>
              </a:outerShdw>
            </a:effectLst>
          </c:spPr>
          <c:invertIfNegative val="0"/>
          <c:cat>
            <c:multiLvlStrRef>
              <c:f>IPC!$A$2:$B$33</c:f>
              <c:multiLvlStrCache>
                <c:ptCount val="32"/>
                <c:lvl>
                  <c:pt idx="0">
                    <c:v>astar</c:v>
                  </c:pt>
                  <c:pt idx="1">
                    <c:v>bzip2</c:v>
                  </c:pt>
                  <c:pt idx="2">
                    <c:v>gcc</c:v>
                  </c:pt>
                  <c:pt idx="3">
                    <c:v>gobmk</c:v>
                  </c:pt>
                  <c:pt idx="4">
                    <c:v>h264ref</c:v>
                  </c:pt>
                  <c:pt idx="5">
                    <c:v>hmmer</c:v>
                  </c:pt>
                  <c:pt idx="6">
                    <c:v>libquantum</c:v>
                  </c:pt>
                  <c:pt idx="7">
                    <c:v>mcf</c:v>
                  </c:pt>
                  <c:pt idx="8">
                    <c:v>omnetpp</c:v>
                  </c:pt>
                  <c:pt idx="9">
                    <c:v>perlbench</c:v>
                  </c:pt>
                  <c:pt idx="10">
                    <c:v>sjeng</c:v>
                  </c:pt>
                  <c:pt idx="11">
                    <c:v>xalancbmk</c:v>
                  </c:pt>
                  <c:pt idx="12">
                    <c:v>mean(INT)</c:v>
                  </c:pt>
                  <c:pt idx="13">
                    <c:v>GemsFDTD</c:v>
                  </c:pt>
                  <c:pt idx="14">
                    <c:v>bwaves</c:v>
                  </c:pt>
                  <c:pt idx="15">
                    <c:v>cactusADM</c:v>
                  </c:pt>
                  <c:pt idx="16">
                    <c:v>calculix</c:v>
                  </c:pt>
                  <c:pt idx="17">
                    <c:v>dealII</c:v>
                  </c:pt>
                  <c:pt idx="18">
                    <c:v>gamess</c:v>
                  </c:pt>
                  <c:pt idx="19">
                    <c:v>gromacs</c:v>
                  </c:pt>
                  <c:pt idx="20">
                    <c:v>lbm</c:v>
                  </c:pt>
                  <c:pt idx="21">
                    <c:v>leslie3d</c:v>
                  </c:pt>
                  <c:pt idx="22">
                    <c:v>milc</c:v>
                  </c:pt>
                  <c:pt idx="23">
                    <c:v>namd</c:v>
                  </c:pt>
                  <c:pt idx="24">
                    <c:v>povray</c:v>
                  </c:pt>
                  <c:pt idx="25">
                    <c:v>soplex</c:v>
                  </c:pt>
                  <c:pt idx="26">
                    <c:v>sphinx3</c:v>
                  </c:pt>
                  <c:pt idx="27">
                    <c:v>tonto</c:v>
                  </c:pt>
                  <c:pt idx="28">
                    <c:v>wrf</c:v>
                  </c:pt>
                  <c:pt idx="29">
                    <c:v>zeusmp</c:v>
                  </c:pt>
                  <c:pt idx="30">
                    <c:v>mean(FP)</c:v>
                  </c:pt>
                  <c:pt idx="31">
                    <c:v>mean</c:v>
                  </c:pt>
                </c:lvl>
                <c:lvl>
                  <c:pt idx="0">
                    <c:v>int</c:v>
                  </c:pt>
                  <c:pt idx="13">
                    <c:v>fp</c:v>
                  </c:pt>
                  <c:pt idx="31">
                    <c:v>all</c:v>
                  </c:pt>
                </c:lvl>
              </c:multiLvlStrCache>
            </c:multiLvlStrRef>
          </c:cat>
          <c:val>
            <c:numRef>
              <c:f>IPC!$D$2:$D$33</c:f>
              <c:numCache>
                <c:formatCode>General</c:formatCode>
                <c:ptCount val="32"/>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numCache>
            </c:numRef>
          </c:val>
          <c:extLst>
            <c:ext xmlns:c16="http://schemas.microsoft.com/office/drawing/2014/chart" uri="{C3380CC4-5D6E-409C-BE32-E72D297353CC}">
              <c16:uniqueId val="{00000001-D0EF-426D-82E1-105F89D24085}"/>
            </c:ext>
          </c:extLst>
        </c:ser>
        <c:dLbls>
          <c:showLegendKey val="0"/>
          <c:showVal val="0"/>
          <c:showCatName val="0"/>
          <c:showSerName val="0"/>
          <c:showPercent val="0"/>
          <c:showBubbleSize val="0"/>
        </c:dLbls>
        <c:gapWidth val="100"/>
        <c:overlap val="-24"/>
        <c:axId val="790658576"/>
        <c:axId val="790655048"/>
      </c:barChart>
      <c:catAx>
        <c:axId val="790658576"/>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ja-JP"/>
          </a:p>
        </c:txPr>
        <c:crossAx val="790655048"/>
        <c:crosses val="autoZero"/>
        <c:auto val="1"/>
        <c:lblAlgn val="ctr"/>
        <c:lblOffset val="100"/>
        <c:noMultiLvlLbl val="0"/>
      </c:catAx>
      <c:valAx>
        <c:axId val="790655048"/>
        <c:scaling>
          <c:orientation val="minMax"/>
          <c:max val="1"/>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ja-JP"/>
          </a:p>
        </c:txPr>
        <c:crossAx val="7906585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ea"/>
              <a:ea typeface="+mn-ea"/>
              <a:cs typeface="+mn-cs"/>
            </a:defRPr>
          </a:pPr>
          <a:endParaRPr lang="ja-JP"/>
        </a:p>
      </c:txPr>
    </c:legend>
    <c:plotVisOnly val="1"/>
    <c:dispBlanksAs val="gap"/>
    <c:showDLblsOverMax val="0"/>
  </c:chart>
  <c:spPr>
    <a:noFill/>
    <a:ln>
      <a:noFill/>
    </a:ln>
    <a:effectLst/>
  </c:spPr>
  <c:txPr>
    <a:bodyPr/>
    <a:lstStyle/>
    <a:p>
      <a:pPr>
        <a:defRPr sz="1200">
          <a:latin typeface="+mn-lt"/>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1">
  <a:schemeClr val="accent1"/>
</cs:colorStyle>
</file>

<file path=ppt/charts/style1.xml><?xml version="1.0" encoding="utf-8"?>
<cs:chartStyle xmlns:cs="http://schemas.microsoft.com/office/drawing/2012/chartStyle" xmlns:a="http://schemas.openxmlformats.org/drawingml/2006/main" id="207">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BE53D4-1A7B-4FFE-8A95-4265B045F058}" type="datetimeFigureOut">
              <a:rPr kumimoji="1" lang="ja-JP" altLang="en-US" smtClean="0"/>
              <a:t>2026/7/13</a:t>
            </a:fld>
            <a:endParaRPr kumimoji="1" lang="ja-JP" altLang="en-US"/>
          </a:p>
        </p:txBody>
      </p:sp>
      <p:sp>
        <p:nvSpPr>
          <p:cNvPr id="4" name="スライド イメージ プレースホルダー 3"/>
          <p:cNvSpPr>
            <a:spLocks noGrp="1" noRot="1" noChangeAspect="1"/>
          </p:cNvSpPr>
          <p:nvPr>
            <p:ph type="sldImg" idx="2"/>
          </p:nvPr>
        </p:nvSpPr>
        <p:spPr>
          <a:xfrm>
            <a:off x="-50800" y="161925"/>
            <a:ext cx="6959600" cy="39147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A5F4D4-1F28-49A5-8AEE-E46B08553EC4}" type="slidenum">
              <a:rPr kumimoji="1" lang="ja-JP" altLang="en-US" smtClean="0"/>
              <a:t>‹#›</a:t>
            </a:fld>
            <a:endParaRPr kumimoji="1" lang="ja-JP" altLang="en-US"/>
          </a:p>
        </p:txBody>
      </p:sp>
    </p:spTree>
    <p:extLst>
      <p:ext uri="{BB962C8B-B14F-4D97-AF65-F5344CB8AC3E}">
        <p14:creationId xmlns:p14="http://schemas.microsoft.com/office/powerpoint/2010/main" val="169212330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1</a:t>
            </a:fld>
            <a:endParaRPr kumimoji="1" lang="ja-JP" altLang="en-US"/>
          </a:p>
        </p:txBody>
      </p:sp>
    </p:spTree>
    <p:extLst>
      <p:ext uri="{BB962C8B-B14F-4D97-AF65-F5344CB8AC3E}">
        <p14:creationId xmlns:p14="http://schemas.microsoft.com/office/powerpoint/2010/main" val="3548328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35943" y="278965"/>
            <a:ext cx="10560117" cy="2340026"/>
          </a:xfrm>
          <a:prstGeom prst="rect">
            <a:avLst/>
          </a:prstGeom>
        </p:spPr>
        <p:txBody>
          <a:bodyPr anchor="ctr"/>
          <a:lstStyle>
            <a:lvl1pPr algn="ctr">
              <a:defRPr sz="3200" b="1">
                <a:solidFill>
                  <a:schemeClr val="bg1"/>
                </a:solidFill>
              </a:defRPr>
            </a:lvl1pPr>
          </a:lstStyle>
          <a:p>
            <a:r>
              <a:rPr lang="ja-JP" altLang="en-US"/>
              <a:t>マスター タイトルの書式設定</a:t>
            </a:r>
            <a:endParaRPr lang="ja-JP" altLang="en-US" dirty="0"/>
          </a:p>
        </p:txBody>
      </p:sp>
      <p:sp>
        <p:nvSpPr>
          <p:cNvPr id="7171" name="Rectangle 3"/>
          <p:cNvSpPr>
            <a:spLocks noGrp="1" noChangeArrowheads="1"/>
          </p:cNvSpPr>
          <p:nvPr>
            <p:ph type="subTitle" idx="1"/>
          </p:nvPr>
        </p:nvSpPr>
        <p:spPr>
          <a:xfrm>
            <a:off x="2255957" y="4149008"/>
            <a:ext cx="9600107" cy="1440017"/>
          </a:xfrm>
        </p:spPr>
        <p:txBody>
          <a:bodyPr anchor="b"/>
          <a:lstStyle>
            <a:lvl1pPr marL="0" indent="0" algn="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sp>
        <p:nvSpPr>
          <p:cNvPr id="5" name="正方形/長方形 4"/>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6" name="直線コネクタ 5"/>
          <p:cNvCxnSpPr>
            <a:cxnSpLocks/>
          </p:cNvCxnSpPr>
          <p:nvPr/>
        </p:nvCxnSpPr>
        <p:spPr bwMode="auto">
          <a:xfrm>
            <a:off x="695940" y="3068996"/>
            <a:ext cx="10710119" cy="0"/>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2" name="正方形/長方形 1">
            <a:extLst>
              <a:ext uri="{FF2B5EF4-FFF2-40B4-BE49-F238E27FC236}">
                <a16:creationId xmlns:a16="http://schemas.microsoft.com/office/drawing/2014/main" id="{813827C5-4275-31A2-853D-AD2CF14BBA98}"/>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3" name="直線コネクタ 2">
            <a:extLst>
              <a:ext uri="{FF2B5EF4-FFF2-40B4-BE49-F238E27FC236}">
                <a16:creationId xmlns:a16="http://schemas.microsoft.com/office/drawing/2014/main" id="{7B0AFE8A-4F74-BD8B-20D9-616B7AE7DADC}"/>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4" name="正方形/長方形 3">
            <a:extLst>
              <a:ext uri="{FF2B5EF4-FFF2-40B4-BE49-F238E27FC236}">
                <a16:creationId xmlns:a16="http://schemas.microsoft.com/office/drawing/2014/main" id="{11CAED90-8BCF-EEF7-7551-9410E8F2C2C7}"/>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7" name="直線コネクタ 6">
            <a:extLst>
              <a:ext uri="{FF2B5EF4-FFF2-40B4-BE49-F238E27FC236}">
                <a16:creationId xmlns:a16="http://schemas.microsoft.com/office/drawing/2014/main" id="{AA6324B9-77F8-EC31-6C3B-5D9B58641456}"/>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8" name="正方形/長方形 7">
            <a:extLst>
              <a:ext uri="{FF2B5EF4-FFF2-40B4-BE49-F238E27FC236}">
                <a16:creationId xmlns:a16="http://schemas.microsoft.com/office/drawing/2014/main" id="{7F3D3427-5051-5379-015F-3E42D5A44B63}"/>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9" name="直線コネクタ 8">
            <a:extLst>
              <a:ext uri="{FF2B5EF4-FFF2-40B4-BE49-F238E27FC236}">
                <a16:creationId xmlns:a16="http://schemas.microsoft.com/office/drawing/2014/main" id="{AED9C875-ACB9-9A82-3D2E-F8FE4B2ACA89}"/>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0" name="正方形/長方形 9">
            <a:extLst>
              <a:ext uri="{FF2B5EF4-FFF2-40B4-BE49-F238E27FC236}">
                <a16:creationId xmlns:a16="http://schemas.microsoft.com/office/drawing/2014/main" id="{3BFBD119-9076-BF7C-BD08-925CA913FF2C}"/>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1" name="直線コネクタ 10">
            <a:extLst>
              <a:ext uri="{FF2B5EF4-FFF2-40B4-BE49-F238E27FC236}">
                <a16:creationId xmlns:a16="http://schemas.microsoft.com/office/drawing/2014/main" id="{DD8AB707-DF2C-A333-49BD-B518A1D16921}"/>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2" name="正方形/長方形 11">
            <a:extLst>
              <a:ext uri="{FF2B5EF4-FFF2-40B4-BE49-F238E27FC236}">
                <a16:creationId xmlns:a16="http://schemas.microsoft.com/office/drawing/2014/main" id="{F35DEA87-3111-62FA-4EC7-0AD84F069EAF}"/>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3" name="直線コネクタ 12">
            <a:extLst>
              <a:ext uri="{FF2B5EF4-FFF2-40B4-BE49-F238E27FC236}">
                <a16:creationId xmlns:a16="http://schemas.microsoft.com/office/drawing/2014/main" id="{85E03A68-7ED4-41E0-532F-2B44665BCBCA}"/>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4" name="正方形/長方形 13">
            <a:extLst>
              <a:ext uri="{FF2B5EF4-FFF2-40B4-BE49-F238E27FC236}">
                <a16:creationId xmlns:a16="http://schemas.microsoft.com/office/drawing/2014/main" id="{4A24F767-FA26-C866-507F-01791519F368}"/>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5" name="直線コネクタ 14">
            <a:extLst>
              <a:ext uri="{FF2B5EF4-FFF2-40B4-BE49-F238E27FC236}">
                <a16:creationId xmlns:a16="http://schemas.microsoft.com/office/drawing/2014/main" id="{38E68845-EB2D-EE38-5889-988B24D97BDB}"/>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6" name="正方形/長方形 15">
            <a:extLst>
              <a:ext uri="{FF2B5EF4-FFF2-40B4-BE49-F238E27FC236}">
                <a16:creationId xmlns:a16="http://schemas.microsoft.com/office/drawing/2014/main" id="{47F277F3-AE92-5D11-0D1E-467B017A25A7}"/>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7" name="直線コネクタ 16">
            <a:extLst>
              <a:ext uri="{FF2B5EF4-FFF2-40B4-BE49-F238E27FC236}">
                <a16:creationId xmlns:a16="http://schemas.microsoft.com/office/drawing/2014/main" id="{2805FD21-9F7D-18C8-080F-5B5500934327}"/>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8" name="正方形/長方形 17">
            <a:extLst>
              <a:ext uri="{FF2B5EF4-FFF2-40B4-BE49-F238E27FC236}">
                <a16:creationId xmlns:a16="http://schemas.microsoft.com/office/drawing/2014/main" id="{6B4ABD85-BC66-BB01-C141-099CEF24BE5C}"/>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9" name="直線コネクタ 18">
            <a:extLst>
              <a:ext uri="{FF2B5EF4-FFF2-40B4-BE49-F238E27FC236}">
                <a16:creationId xmlns:a16="http://schemas.microsoft.com/office/drawing/2014/main" id="{857B707E-B4ED-CD2A-AC8B-D3ED99482C8B}"/>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20" name="正方形/長方形 19">
            <a:extLst>
              <a:ext uri="{FF2B5EF4-FFF2-40B4-BE49-F238E27FC236}">
                <a16:creationId xmlns:a16="http://schemas.microsoft.com/office/drawing/2014/main" id="{E208B079-DAB0-15CC-9FEF-BBC8F09FC621}"/>
              </a:ext>
            </a:extLst>
          </p:cNvPr>
          <p:cNvSpPr/>
          <p:nvPr userDrawn="1"/>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22" name="直線コネクタ 21">
            <a:extLst>
              <a:ext uri="{FF2B5EF4-FFF2-40B4-BE49-F238E27FC236}">
                <a16:creationId xmlns:a16="http://schemas.microsoft.com/office/drawing/2014/main" id="{B82A9ED7-B981-51DB-2952-5D218C661795}"/>
              </a:ext>
            </a:extLst>
          </p:cNvPr>
          <p:cNvCxnSpPr/>
          <p:nvPr userDrawn="1"/>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689687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1775952" y="1088974"/>
            <a:ext cx="8730097" cy="5219751"/>
          </a:xfrm>
        </p:spPr>
        <p:txBody>
          <a:bodyPr/>
          <a:lstStyle>
            <a:lvl2pPr>
              <a:buClr>
                <a:schemeClr val="accent5">
                  <a:lumMod val="60000"/>
                  <a:lumOff val="40000"/>
                </a:schemeClr>
              </a:buClr>
              <a:defRPr/>
            </a:lvl2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6"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2" name="Rectangle 20">
            <a:extLst>
              <a:ext uri="{FF2B5EF4-FFF2-40B4-BE49-F238E27FC236}">
                <a16:creationId xmlns:a16="http://schemas.microsoft.com/office/drawing/2014/main" id="{7D04F621-C209-E75B-F5AE-4EC68827B138}"/>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3" name="Rectangle 20">
            <a:extLst>
              <a:ext uri="{FF2B5EF4-FFF2-40B4-BE49-F238E27FC236}">
                <a16:creationId xmlns:a16="http://schemas.microsoft.com/office/drawing/2014/main" id="{C404F010-FD53-825B-58ED-3AB5C6FF9F3B}"/>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4" name="Rectangle 20">
            <a:extLst>
              <a:ext uri="{FF2B5EF4-FFF2-40B4-BE49-F238E27FC236}">
                <a16:creationId xmlns:a16="http://schemas.microsoft.com/office/drawing/2014/main" id="{09277AEF-3306-EB14-319D-C9936A20E391}"/>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7" name="Rectangle 20">
            <a:extLst>
              <a:ext uri="{FF2B5EF4-FFF2-40B4-BE49-F238E27FC236}">
                <a16:creationId xmlns:a16="http://schemas.microsoft.com/office/drawing/2014/main" id="{5F8EB56A-100F-AF7A-C776-9434171D2CF6}"/>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9" name="Rectangle 20">
            <a:extLst>
              <a:ext uri="{FF2B5EF4-FFF2-40B4-BE49-F238E27FC236}">
                <a16:creationId xmlns:a16="http://schemas.microsoft.com/office/drawing/2014/main" id="{21464E23-801D-B360-03E1-8AB3FB913351}"/>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0" name="Rectangle 20">
            <a:extLst>
              <a:ext uri="{FF2B5EF4-FFF2-40B4-BE49-F238E27FC236}">
                <a16:creationId xmlns:a16="http://schemas.microsoft.com/office/drawing/2014/main" id="{81270656-CD82-6EA3-336A-BF27E9713A0A}"/>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1" name="Rectangle 20">
            <a:extLst>
              <a:ext uri="{FF2B5EF4-FFF2-40B4-BE49-F238E27FC236}">
                <a16:creationId xmlns:a16="http://schemas.microsoft.com/office/drawing/2014/main" id="{8B74BD12-FE4A-7592-F482-564B7CB45DC4}"/>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3" name="Rectangle 20">
            <a:extLst>
              <a:ext uri="{FF2B5EF4-FFF2-40B4-BE49-F238E27FC236}">
                <a16:creationId xmlns:a16="http://schemas.microsoft.com/office/drawing/2014/main" id="{4AE287FC-9A2D-646E-63FD-F371B5A6F195}"/>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4" name="Rectangle 20">
            <a:extLst>
              <a:ext uri="{FF2B5EF4-FFF2-40B4-BE49-F238E27FC236}">
                <a16:creationId xmlns:a16="http://schemas.microsoft.com/office/drawing/2014/main" id="{CF205A66-4801-FAEF-1396-B7E897579D2D}"/>
              </a:ext>
            </a:extLst>
          </p:cNvPr>
          <p:cNvSpPr txBox="1">
            <a:spLocks noChangeArrowheads="1"/>
          </p:cNvSpPr>
          <p:nvPr userDrawn="1"/>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30262255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セクションタイトル">
    <p:bg>
      <p:bgPr>
        <a:solidFill>
          <a:schemeClr val="accent5"/>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dirty="0"/>
          </a:p>
        </p:txBody>
      </p:sp>
      <p:sp>
        <p:nvSpPr>
          <p:cNvPr id="3" name="タイトル 2"/>
          <p:cNvSpPr>
            <a:spLocks noGrp="1"/>
          </p:cNvSpPr>
          <p:nvPr>
            <p:ph type="title"/>
          </p:nvPr>
        </p:nvSpPr>
        <p:spPr>
          <a:xfrm>
            <a:off x="1325947" y="2078985"/>
            <a:ext cx="9600107" cy="990011"/>
          </a:xfrm>
        </p:spPr>
        <p:txBody>
          <a:bodyPr anchor="b"/>
          <a:lstStyle>
            <a:lvl1pPr algn="ctr">
              <a:defRPr sz="3200" b="0"/>
            </a:lvl1pPr>
          </a:lstStyle>
          <a:p>
            <a:r>
              <a:rPr kumimoji="1" lang="ja-JP" altLang="en-US"/>
              <a:t>マスター タイトルの書式設定</a:t>
            </a:r>
            <a:endParaRPr kumimoji="1" lang="ja-JP" altLang="en-US" dirty="0"/>
          </a:p>
        </p:txBody>
      </p:sp>
      <p:cxnSp>
        <p:nvCxnSpPr>
          <p:cNvPr id="5" name="直線コネクタ 4">
            <a:extLst>
              <a:ext uri="{FF2B5EF4-FFF2-40B4-BE49-F238E27FC236}">
                <a16:creationId xmlns:a16="http://schemas.microsoft.com/office/drawing/2014/main" id="{7A61BF30-B8F3-19FE-7662-81071F95A583}"/>
              </a:ext>
            </a:extLst>
          </p:cNvPr>
          <p:cNvCxnSpPr>
            <a:cxnSpLocks/>
          </p:cNvCxnSpPr>
          <p:nvPr/>
        </p:nvCxnSpPr>
        <p:spPr bwMode="auto">
          <a:xfrm>
            <a:off x="695940" y="3068996"/>
            <a:ext cx="10710119" cy="0"/>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3449392867"/>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cSld name="タイトルのみ">
    <p:spTree>
      <p:nvGrpSpPr>
        <p:cNvPr id="1" name=""/>
        <p:cNvGrpSpPr/>
        <p:nvPr/>
      </p:nvGrpSpPr>
      <p:grpSpPr>
        <a:xfrm>
          <a:off x="0" y="0"/>
          <a:ext cx="0" cy="0"/>
          <a:chOff x="0" y="0"/>
          <a:chExt cx="0" cy="0"/>
        </a:xfrm>
      </p:grpSpPr>
      <p:sp>
        <p:nvSpPr>
          <p:cNvPr id="3" name="スライド番号プレースホルダ 2"/>
          <p:cNvSpPr>
            <a:spLocks noGrp="1"/>
          </p:cNvSpPr>
          <p:nvPr>
            <p:ph type="sldNum" sz="quarter" idx="10"/>
          </p:nvPr>
        </p:nvSpPr>
        <p:spPr/>
        <p:txBody>
          <a:bodyPr/>
          <a:lstStyle>
            <a:lvl1pPr>
              <a:defRPr>
                <a:solidFill>
                  <a:srgbClr val="686D6D"/>
                </a:solidFill>
              </a:defRPr>
            </a:lvl1pPr>
          </a:lstStyle>
          <a:p>
            <a:fld id="{D2D8002D-B5B0-4BAC-B1F6-782DDCCE6D9C}" type="slidenum">
              <a:rPr kumimoji="1" lang="ja-JP" altLang="en-US" smtClean="0"/>
              <a:pPr/>
              <a:t>‹#›</a:t>
            </a:fld>
            <a:endParaRPr kumimoji="1" lang="ja-JP" altLang="en-US" dirty="0"/>
          </a:p>
        </p:txBody>
      </p:sp>
      <p:sp>
        <p:nvSpPr>
          <p:cNvPr id="5" name="タイトル 4"/>
          <p:cNvSpPr>
            <a:spLocks noGrp="1"/>
          </p:cNvSpPr>
          <p:nvPr>
            <p:ph type="title"/>
          </p:nvPr>
        </p:nvSpPr>
        <p:spPr/>
        <p:txBody>
          <a:bodyPr/>
          <a:lstStyle>
            <a:lvl1pPr>
              <a:defRPr>
                <a:solidFill>
                  <a:schemeClr val="bg1"/>
                </a:solidFill>
              </a:defRPr>
            </a:lvl1p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66741031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1_セクションタイトル">
    <p:bg>
      <p:bgPr>
        <a:solidFill>
          <a:schemeClr val="bg1"/>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tx1">
                    <a:lumMod val="75000"/>
                    <a:lumOff val="25000"/>
                  </a:schemeClr>
                </a:solidFill>
              </a:defRPr>
            </a:lvl1pPr>
          </a:lstStyle>
          <a:p>
            <a:fld id="{D2D8002D-B5B0-4BAC-B1F6-782DDCCE6D9C}" type="slidenum">
              <a:rPr kumimoji="1" lang="ja-JP" altLang="en-US" smtClean="0"/>
              <a:pPr/>
              <a:t>‹#›</a:t>
            </a:fld>
            <a:endParaRPr kumimoji="1" lang="ja-JP" altLang="en-US" dirty="0"/>
          </a:p>
        </p:txBody>
      </p:sp>
    </p:spTree>
    <p:extLst>
      <p:ext uri="{BB962C8B-B14F-4D97-AF65-F5344CB8AC3E}">
        <p14:creationId xmlns:p14="http://schemas.microsoft.com/office/powerpoint/2010/main" val="349712010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4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 2"/>
          <p:cNvSpPr>
            <a:spLocks noGrp="1"/>
          </p:cNvSpPr>
          <p:nvPr>
            <p:ph idx="1"/>
          </p:nvPr>
        </p:nvSpPr>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4" name="スライド番号プレースホルダ 3"/>
          <p:cNvSpPr>
            <a:spLocks noGrp="1"/>
          </p:cNvSpPr>
          <p:nvPr>
            <p:ph type="sldNum" sz="quarter" idx="10"/>
          </p:nvPr>
        </p:nvSpPr>
        <p:spPr/>
        <p:txBody>
          <a:bodyPr/>
          <a:lstStyle>
            <a:lvl1pPr>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39921392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1775952" y="1088975"/>
            <a:ext cx="10080112"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22" name="Rectangle 2"/>
          <p:cNvSpPr>
            <a:spLocks noGrp="1" noChangeArrowheads="1"/>
          </p:cNvSpPr>
          <p:nvPr>
            <p:ph type="title"/>
          </p:nvPr>
        </p:nvSpPr>
        <p:spPr bwMode="auto">
          <a:xfrm>
            <a:off x="575939" y="0"/>
            <a:ext cx="11616061"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pPr/>
              <a:t>‹#›</a:t>
            </a:fld>
            <a:endParaRPr kumimoji="1" lang="ja-JP" altLang="en-US" dirty="0"/>
          </a:p>
        </p:txBody>
      </p:sp>
      <p:sp>
        <p:nvSpPr>
          <p:cNvPr id="6" name="正方形/長方形 5"/>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3" name="正方形/長方形 2">
            <a:extLst>
              <a:ext uri="{FF2B5EF4-FFF2-40B4-BE49-F238E27FC236}">
                <a16:creationId xmlns:a16="http://schemas.microsoft.com/office/drawing/2014/main" id="{20B7F19E-FA20-B8CB-C604-8C1C29606C60}"/>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4" name="正方形/長方形 3">
            <a:extLst>
              <a:ext uri="{FF2B5EF4-FFF2-40B4-BE49-F238E27FC236}">
                <a16:creationId xmlns:a16="http://schemas.microsoft.com/office/drawing/2014/main" id="{725FB03B-A980-D697-F9FB-906D55B002FA}"/>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5" name="正方形/長方形 4">
            <a:extLst>
              <a:ext uri="{FF2B5EF4-FFF2-40B4-BE49-F238E27FC236}">
                <a16:creationId xmlns:a16="http://schemas.microsoft.com/office/drawing/2014/main" id="{2D5F1A73-A3EB-E252-17CF-30B89F3C7AE0}"/>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7" name="正方形/長方形 6">
            <a:extLst>
              <a:ext uri="{FF2B5EF4-FFF2-40B4-BE49-F238E27FC236}">
                <a16:creationId xmlns:a16="http://schemas.microsoft.com/office/drawing/2014/main" id="{95778E54-A5E7-1B8D-DD56-A347FE5638C8}"/>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8" name="正方形/長方形 7">
            <a:extLst>
              <a:ext uri="{FF2B5EF4-FFF2-40B4-BE49-F238E27FC236}">
                <a16:creationId xmlns:a16="http://schemas.microsoft.com/office/drawing/2014/main" id="{0CA006FA-2EAF-700F-1F1E-1AD9A8AD1F46}"/>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9" name="正方形/長方形 8">
            <a:extLst>
              <a:ext uri="{FF2B5EF4-FFF2-40B4-BE49-F238E27FC236}">
                <a16:creationId xmlns:a16="http://schemas.microsoft.com/office/drawing/2014/main" id="{47ED5B20-1F5A-CCD9-B341-F10DC8DB9BD0}"/>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10" name="正方形/長方形 9">
            <a:extLst>
              <a:ext uri="{FF2B5EF4-FFF2-40B4-BE49-F238E27FC236}">
                <a16:creationId xmlns:a16="http://schemas.microsoft.com/office/drawing/2014/main" id="{513A4EA7-B0C7-F2FA-C2FF-AF0641317DDD}"/>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11" name="正方形/長方形 10">
            <a:extLst>
              <a:ext uri="{FF2B5EF4-FFF2-40B4-BE49-F238E27FC236}">
                <a16:creationId xmlns:a16="http://schemas.microsoft.com/office/drawing/2014/main" id="{2C3F1916-7D9A-A0C8-BED1-38D0AECBED5E}"/>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12" name="正方形/長方形 11">
            <a:extLst>
              <a:ext uri="{FF2B5EF4-FFF2-40B4-BE49-F238E27FC236}">
                <a16:creationId xmlns:a16="http://schemas.microsoft.com/office/drawing/2014/main" id="{C777E1F9-3302-41CA-7596-74879D2A9087}"/>
              </a:ext>
            </a:extLst>
          </p:cNvPr>
          <p:cNvSpPr/>
          <p:nvPr userDrawn="1"/>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92157000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Lst>
  <p:hf hdr="0" ftr="0" dt="0"/>
  <p:txStyles>
    <p:titleStyle>
      <a:lvl1pPr algn="l" rtl="0" eaLnBrk="1" fontAlgn="base" hangingPunct="1">
        <a:spcBef>
          <a:spcPct val="0"/>
        </a:spcBef>
        <a:spcAft>
          <a:spcPct val="0"/>
        </a:spcAft>
        <a:defRPr kumimoji="1" sz="28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5">
            <a:lumMod val="60000"/>
            <a:lumOff val="40000"/>
          </a:schemeClr>
        </a:buClr>
        <a:buSzPct val="9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5">
            <a:lumMod val="60000"/>
            <a:lumOff val="40000"/>
          </a:schemeClr>
        </a:buClr>
        <a:buSzPct val="70000"/>
        <a:buFont typeface="Segoe UI" panose="020B0502040204020203" pitchFamily="34" charset="0"/>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chemeClr val="accent5">
            <a:lumMod val="60000"/>
            <a:lumOff val="40000"/>
          </a:schemeClr>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hyperlink" Target="https://docs.google.com/spreadsheets/d/1i0bKA1Kc1Q7LkBjUOqE_9eknfiOEaCf1ghw4MIyDTLU/edit?usp=drive_link"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865953" y="1988985"/>
            <a:ext cx="8460094" cy="630007"/>
          </a:xfrm>
        </p:spPr>
        <p:txBody>
          <a:bodyPr/>
          <a:lstStyle/>
          <a:p>
            <a:r>
              <a:rPr lang="ja-JP" altLang="en-US" sz="2800" dirty="0"/>
              <a:t>先進計算機構成論 </a:t>
            </a:r>
            <a:r>
              <a:rPr lang="en-US" altLang="ja-JP" sz="2800" dirty="0"/>
              <a:t>09</a:t>
            </a:r>
            <a:endParaRPr lang="ja-JP" altLang="en-US" sz="2800" dirty="0"/>
          </a:p>
        </p:txBody>
      </p:sp>
      <p:sp>
        <p:nvSpPr>
          <p:cNvPr id="6" name="サブタイトル 2"/>
          <p:cNvSpPr txBox="1">
            <a:spLocks/>
          </p:cNvSpPr>
          <p:nvPr/>
        </p:nvSpPr>
        <p:spPr bwMode="auto">
          <a:xfrm>
            <a:off x="2405960" y="3699003"/>
            <a:ext cx="7650085" cy="54000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marL="0" indent="0" algn="r" rtl="0" eaLnBrk="1" fontAlgn="base" hangingPunct="1">
              <a:lnSpc>
                <a:spcPct val="150000"/>
              </a:lnSpc>
              <a:spcBef>
                <a:spcPts val="0"/>
              </a:spcBef>
              <a:spcAft>
                <a:spcPts val="0"/>
              </a:spcAft>
              <a:buClr>
                <a:schemeClr val="accent5"/>
              </a:buClr>
              <a:buFont typeface="Wingdings" pitchFamily="2" charset="2"/>
              <a:buNone/>
              <a:tabLst>
                <a:tab pos="2057400" algn="l"/>
              </a:tabLst>
              <a:defRPr kumimoji="1" sz="2000">
                <a:solidFill>
                  <a:schemeClr val="bg1"/>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a:lnSpc>
                <a:spcPct val="100000"/>
              </a:lnSpc>
            </a:pPr>
            <a:r>
              <a:rPr lang="ja-JP" altLang="en-US" kern="0" dirty="0"/>
              <a:t>東京大学大学院 情報理工学系研究科 創造情報学専攻</a:t>
            </a:r>
            <a:endParaRPr lang="en-US" altLang="ja-JP" kern="0" dirty="0"/>
          </a:p>
          <a:p>
            <a:pPr>
              <a:lnSpc>
                <a:spcPct val="100000"/>
              </a:lnSpc>
            </a:pPr>
            <a:r>
              <a:rPr lang="ja-JP" altLang="en-US" kern="0" dirty="0"/>
              <a:t>塩谷 亮太 </a:t>
            </a:r>
            <a:endParaRPr lang="en-US" altLang="ja-JP" kern="0" dirty="0"/>
          </a:p>
          <a:p>
            <a:pPr>
              <a:lnSpc>
                <a:spcPct val="100000"/>
              </a:lnSpc>
            </a:pPr>
            <a:r>
              <a:rPr lang="en-US" altLang="ja-JP" kern="0" dirty="0"/>
              <a:t>shioya@ci.i.u-tokyo.ac.jp</a:t>
            </a:r>
            <a:endParaRPr lang="ja-JP" altLang="en-US" kern="0" dirty="0"/>
          </a:p>
        </p:txBody>
      </p:sp>
    </p:spTree>
    <p:extLst>
      <p:ext uri="{BB962C8B-B14F-4D97-AF65-F5344CB8AC3E}">
        <p14:creationId xmlns:p14="http://schemas.microsoft.com/office/powerpoint/2010/main" val="101780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前回の内容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命令の並列実行</a:t>
            </a:r>
            <a:endParaRPr lang="en-US" altLang="ja-JP" dirty="0"/>
          </a:p>
          <a:p>
            <a:pPr marL="457200" indent="-457200">
              <a:buFont typeface="+mj-lt"/>
              <a:buAutoNum type="arabicPeriod"/>
            </a:pPr>
            <a:r>
              <a:rPr lang="ja-JP" altLang="en-US" dirty="0"/>
              <a:t>データ依存</a:t>
            </a:r>
            <a:endParaRPr lang="en-US" altLang="ja-JP" dirty="0"/>
          </a:p>
          <a:p>
            <a:pPr marL="457200" indent="-457200">
              <a:buFont typeface="+mj-lt"/>
              <a:buAutoNum type="arabicPeriod"/>
            </a:pPr>
            <a:r>
              <a:rPr lang="ja-JP" altLang="en-US" dirty="0"/>
              <a:t>静的命令スケジューリングと </a:t>
            </a:r>
            <a:r>
              <a:rPr lang="en-US" altLang="ja-JP" dirty="0"/>
              <a:t>VLIW</a:t>
            </a:r>
          </a:p>
        </p:txBody>
      </p:sp>
    </p:spTree>
    <p:extLst>
      <p:ext uri="{BB962C8B-B14F-4D97-AF65-F5344CB8AC3E}">
        <p14:creationId xmlns:p14="http://schemas.microsoft.com/office/powerpoint/2010/main" val="28645315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今回の内容</a:t>
            </a:r>
          </a:p>
        </p:txBody>
      </p:sp>
      <p:sp>
        <p:nvSpPr>
          <p:cNvPr id="3" name="テキスト プレースホルダー 2"/>
          <p:cNvSpPr>
            <a:spLocks noGrp="1"/>
          </p:cNvSpPr>
          <p:nvPr>
            <p:ph type="body" sz="quarter" idx="10"/>
          </p:nvPr>
        </p:nvSpPr>
        <p:spPr/>
        <p:txBody>
          <a:bodyPr/>
          <a:lstStyle/>
          <a:p>
            <a:r>
              <a:rPr kumimoji="1" lang="ja-JP" altLang="en-US" dirty="0"/>
              <a:t>動的命令スケジューリング</a:t>
            </a:r>
            <a:endParaRPr kumimoji="1" lang="en-US" altLang="ja-JP" dirty="0"/>
          </a:p>
          <a:p>
            <a:pPr lvl="1"/>
            <a:endParaRPr kumimoji="1" lang="ja-JP" altLang="en-US" dirty="0"/>
          </a:p>
        </p:txBody>
      </p:sp>
    </p:spTree>
    <p:extLst>
      <p:ext uri="{BB962C8B-B14F-4D97-AF65-F5344CB8AC3E}">
        <p14:creationId xmlns:p14="http://schemas.microsoft.com/office/powerpoint/2010/main" val="35695142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動的命令スケジューリング</a:t>
            </a:r>
            <a:endParaRPr kumimoji="1" lang="ja-JP" altLang="en-US" dirty="0"/>
          </a:p>
        </p:txBody>
      </p:sp>
      <p:sp>
        <p:nvSpPr>
          <p:cNvPr id="3" name="テキスト プレースホルダー 2"/>
          <p:cNvSpPr>
            <a:spLocks noGrp="1"/>
          </p:cNvSpPr>
          <p:nvPr>
            <p:ph type="body" sz="quarter" idx="10"/>
          </p:nvPr>
        </p:nvSpPr>
        <p:spPr/>
        <p:txBody>
          <a:bodyPr/>
          <a:lstStyle/>
          <a:p>
            <a:r>
              <a:rPr kumimoji="1" lang="en-US" altLang="ja-JP" dirty="0"/>
              <a:t>CPU </a:t>
            </a:r>
            <a:r>
              <a:rPr kumimoji="1" lang="ja-JP" altLang="en-US" dirty="0"/>
              <a:t>により，うまく</a:t>
            </a:r>
            <a:r>
              <a:rPr lang="ja-JP" altLang="en-US" dirty="0"/>
              <a:t>並列実行できるように命令を並びかえる方法</a:t>
            </a:r>
            <a:br>
              <a:rPr lang="en-US" altLang="ja-JP" dirty="0"/>
            </a:br>
            <a:endParaRPr lang="en-US" altLang="ja-JP" dirty="0"/>
          </a:p>
          <a:p>
            <a:pPr lvl="1"/>
            <a:r>
              <a:rPr lang="ja-JP" altLang="en-US" dirty="0"/>
              <a:t>静的命令スケジューリング</a:t>
            </a:r>
            <a:endParaRPr lang="en-US" altLang="ja-JP" dirty="0"/>
          </a:p>
          <a:p>
            <a:pPr lvl="2"/>
            <a:r>
              <a:rPr lang="ja-JP" altLang="en-US" dirty="0"/>
              <a:t>事前にコンパイラなどで命令を並び替えておく</a:t>
            </a:r>
            <a:endParaRPr lang="en-US" altLang="ja-JP" dirty="0"/>
          </a:p>
          <a:p>
            <a:pPr lvl="2"/>
            <a:r>
              <a:rPr lang="en-US" altLang="ja-JP" dirty="0"/>
              <a:t>CPU </a:t>
            </a:r>
            <a:r>
              <a:rPr lang="ja-JP" altLang="en-US" dirty="0"/>
              <a:t>からみると実行順は変化しない</a:t>
            </a:r>
            <a:br>
              <a:rPr lang="en-US" altLang="ja-JP" dirty="0"/>
            </a:br>
            <a:endParaRPr lang="en-US" altLang="ja-JP" dirty="0"/>
          </a:p>
          <a:p>
            <a:pPr lvl="1"/>
            <a:r>
              <a:rPr lang="ja-JP" altLang="en-US" dirty="0"/>
              <a:t>動的命令スケジューリング</a:t>
            </a:r>
            <a:endParaRPr lang="en-US" altLang="ja-JP" dirty="0"/>
          </a:p>
          <a:p>
            <a:pPr lvl="2"/>
            <a:r>
              <a:rPr lang="en-US" altLang="ja-JP" dirty="0"/>
              <a:t>CPU </a:t>
            </a:r>
            <a:r>
              <a:rPr lang="ja-JP" altLang="en-US" dirty="0"/>
              <a:t>が実行時に命令の実行順を並び替える</a:t>
            </a:r>
            <a:endParaRPr lang="en-US" altLang="ja-JP" dirty="0"/>
          </a:p>
          <a:p>
            <a:pPr lvl="2"/>
            <a:r>
              <a:rPr lang="ja-JP" altLang="en-US" dirty="0"/>
              <a:t>（以降では動的スケジューリングとも呼ぶ）</a:t>
            </a:r>
          </a:p>
        </p:txBody>
      </p:sp>
    </p:spTree>
    <p:extLst>
      <p:ext uri="{BB962C8B-B14F-4D97-AF65-F5344CB8AC3E}">
        <p14:creationId xmlns:p14="http://schemas.microsoft.com/office/powerpoint/2010/main" val="6259761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動的命令スケジューリング</a:t>
            </a:r>
            <a:endParaRPr kumimoji="1" lang="ja-JP" altLang="en-US" dirty="0"/>
          </a:p>
        </p:txBody>
      </p:sp>
      <p:sp>
        <p:nvSpPr>
          <p:cNvPr id="3" name="テキスト プレースホルダー 2"/>
          <p:cNvSpPr>
            <a:spLocks noGrp="1"/>
          </p:cNvSpPr>
          <p:nvPr>
            <p:ph type="body" sz="quarter" idx="10"/>
          </p:nvPr>
        </p:nvSpPr>
        <p:spPr/>
        <p:txBody>
          <a:bodyPr/>
          <a:lstStyle/>
          <a:p>
            <a:r>
              <a:rPr lang="ja-JP" altLang="en-US" dirty="0"/>
              <a:t>スカラとスーパスカラ</a:t>
            </a:r>
            <a:endParaRPr lang="en-US" altLang="ja-JP" dirty="0"/>
          </a:p>
          <a:p>
            <a:pPr lvl="1"/>
            <a:r>
              <a:rPr lang="ja-JP" altLang="en-US" dirty="0"/>
              <a:t>スカラ： １サイクルに単一の命令を実行</a:t>
            </a:r>
            <a:endParaRPr lang="en-US" altLang="ja-JP" dirty="0"/>
          </a:p>
          <a:p>
            <a:pPr lvl="2"/>
            <a:r>
              <a:rPr lang="ja-JP" altLang="en-US" dirty="0"/>
              <a:t>基本的に </a:t>
            </a:r>
            <a:r>
              <a:rPr lang="en-US" altLang="ja-JP" dirty="0"/>
              <a:t>in-order </a:t>
            </a:r>
          </a:p>
          <a:p>
            <a:pPr lvl="1"/>
            <a:r>
              <a:rPr lang="ja-JP" altLang="en-US" dirty="0"/>
              <a:t>スーパスカラ：１サイクルに複数の命令を同時実行</a:t>
            </a:r>
            <a:endParaRPr lang="en-US" altLang="ja-JP" dirty="0"/>
          </a:p>
          <a:p>
            <a:pPr lvl="2"/>
            <a:r>
              <a:rPr lang="en-US" altLang="ja-JP" dirty="0"/>
              <a:t>in-order </a:t>
            </a:r>
            <a:r>
              <a:rPr lang="ja-JP" altLang="en-US" dirty="0"/>
              <a:t>と </a:t>
            </a:r>
            <a:r>
              <a:rPr lang="en-US" altLang="ja-JP" dirty="0"/>
              <a:t>out-of-order </a:t>
            </a:r>
            <a:r>
              <a:rPr lang="ja-JP" altLang="en-US" dirty="0"/>
              <a:t>がある</a:t>
            </a:r>
            <a:endParaRPr lang="en-US" altLang="ja-JP" dirty="0"/>
          </a:p>
          <a:p>
            <a:r>
              <a:rPr lang="ja-JP" altLang="en-US" dirty="0"/>
              <a:t>動的スケジューリングは上記とは直行した概念</a:t>
            </a:r>
            <a:endParaRPr lang="en-US" altLang="ja-JP" dirty="0"/>
          </a:p>
          <a:p>
            <a:pPr lvl="1"/>
            <a:r>
              <a:rPr lang="en-US" altLang="ja-JP" dirty="0"/>
              <a:t>…</a:t>
            </a:r>
            <a:r>
              <a:rPr lang="ja-JP" altLang="en-US" dirty="0"/>
              <a:t>ではあるが，普通は動的スケジューリングを行う </a:t>
            </a:r>
            <a:r>
              <a:rPr lang="en-US" altLang="ja-JP" dirty="0"/>
              <a:t>CPU </a:t>
            </a:r>
            <a:r>
              <a:rPr lang="ja-JP" altLang="en-US" dirty="0"/>
              <a:t>は</a:t>
            </a:r>
            <a:br>
              <a:rPr lang="en-US" altLang="ja-JP" dirty="0"/>
            </a:br>
            <a:r>
              <a:rPr lang="ja-JP" altLang="en-US" dirty="0"/>
              <a:t>みんなスーパスカラ</a:t>
            </a:r>
            <a:endParaRPr lang="en-US" altLang="ja-JP" dirty="0"/>
          </a:p>
          <a:p>
            <a:pPr lvl="1"/>
            <a:r>
              <a:rPr lang="ja-JP" altLang="en-US" dirty="0"/>
              <a:t>スカラで動的スケジューリングをやっても，複雑さの割に</a:t>
            </a:r>
            <a:br>
              <a:rPr lang="en-US" altLang="ja-JP" dirty="0"/>
            </a:br>
            <a:r>
              <a:rPr lang="ja-JP" altLang="en-US" dirty="0"/>
              <a:t>あまり性能がでないからだと思う</a:t>
            </a:r>
            <a:endParaRPr lang="en-US" altLang="ja-JP" dirty="0"/>
          </a:p>
          <a:p>
            <a:r>
              <a:rPr lang="ja-JP" altLang="en-US" dirty="0"/>
              <a:t>現在主流の高性能な </a:t>
            </a:r>
            <a:r>
              <a:rPr lang="en-US" altLang="ja-JP" dirty="0"/>
              <a:t>CPU </a:t>
            </a:r>
            <a:r>
              <a:rPr lang="ja-JP" altLang="en-US" dirty="0"/>
              <a:t>は，基本的にみなこのタイプ</a:t>
            </a:r>
            <a:endParaRPr lang="en-US" altLang="ja-JP" dirty="0"/>
          </a:p>
        </p:txBody>
      </p:sp>
    </p:spTree>
    <p:extLst>
      <p:ext uri="{BB962C8B-B14F-4D97-AF65-F5344CB8AC3E}">
        <p14:creationId xmlns:p14="http://schemas.microsoft.com/office/powerpoint/2010/main" val="16927131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言葉の定義１</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発行（</a:t>
            </a:r>
            <a:r>
              <a:rPr kumimoji="1" lang="en-US" altLang="ja-JP" dirty="0"/>
              <a:t>issue</a:t>
            </a:r>
            <a:r>
              <a:rPr kumimoji="1" lang="ja-JP" altLang="en-US" dirty="0"/>
              <a:t>）</a:t>
            </a:r>
            <a:endParaRPr kumimoji="1" lang="en-US" altLang="ja-JP" dirty="0"/>
          </a:p>
          <a:p>
            <a:pPr lvl="1"/>
            <a:r>
              <a:rPr kumimoji="1" lang="ja-JP" altLang="en-US" dirty="0"/>
              <a:t>演算器に命令を送信すること</a:t>
            </a:r>
            <a:endParaRPr kumimoji="1" lang="en-US" altLang="ja-JP" dirty="0"/>
          </a:p>
          <a:p>
            <a:r>
              <a:rPr kumimoji="1" lang="ja-JP" altLang="en-US" dirty="0"/>
              <a:t>完了（</a:t>
            </a:r>
            <a:r>
              <a:rPr kumimoji="1" lang="en-US" altLang="ja-JP" dirty="0"/>
              <a:t>complete</a:t>
            </a:r>
            <a:r>
              <a:rPr kumimoji="1" lang="ja-JP" altLang="en-US" dirty="0"/>
              <a:t>）</a:t>
            </a:r>
            <a:endParaRPr kumimoji="1" lang="en-US" altLang="ja-JP" dirty="0"/>
          </a:p>
          <a:p>
            <a:pPr lvl="1"/>
            <a:r>
              <a:rPr kumimoji="1" lang="ja-JP" altLang="en-US" dirty="0"/>
              <a:t>演算が終わり，レジスタ・ファイルへ結果を書き込むこと</a:t>
            </a:r>
            <a:endParaRPr kumimoji="1" lang="en-US" altLang="ja-JP" dirty="0"/>
          </a:p>
          <a:p>
            <a:pPr lvl="1"/>
            <a:r>
              <a:rPr lang="ja-JP" altLang="en-US" dirty="0"/>
              <a:t>投機状態を確定させる </a:t>
            </a:r>
            <a:r>
              <a:rPr lang="en-US" altLang="ja-JP" dirty="0"/>
              <a:t>commit </a:t>
            </a:r>
            <a:r>
              <a:rPr lang="ja-JP" altLang="en-US" dirty="0"/>
              <a:t>とは違うので注意</a:t>
            </a:r>
            <a:endParaRPr kumimoji="1" lang="ja-JP" altLang="en-US" dirty="0"/>
          </a:p>
        </p:txBody>
      </p:sp>
    </p:spTree>
    <p:extLst>
      <p:ext uri="{BB962C8B-B14F-4D97-AF65-F5344CB8AC3E}">
        <p14:creationId xmlns:p14="http://schemas.microsoft.com/office/powerpoint/2010/main" val="20770462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スカラのパイプラインを使って説明</a:t>
            </a:r>
          </a:p>
        </p:txBody>
      </p:sp>
      <p:sp>
        <p:nvSpPr>
          <p:cNvPr id="3" name="テキスト プレースホルダー 2"/>
          <p:cNvSpPr>
            <a:spLocks noGrp="1"/>
          </p:cNvSpPr>
          <p:nvPr>
            <p:ph type="body" sz="quarter" idx="10"/>
          </p:nvPr>
        </p:nvSpPr>
        <p:spPr>
          <a:xfrm>
            <a:off x="2135956" y="1088975"/>
            <a:ext cx="8280092" cy="3960044"/>
          </a:xfrm>
        </p:spPr>
        <p:txBody>
          <a:bodyPr/>
          <a:lstStyle/>
          <a:p>
            <a:r>
              <a:rPr kumimoji="1" lang="ja-JP" altLang="en-US" dirty="0"/>
              <a:t>以降で使うパイプラインの構造</a:t>
            </a:r>
            <a:endParaRPr kumimoji="1" lang="en-US" altLang="ja-JP" dirty="0"/>
          </a:p>
          <a:p>
            <a:pPr lvl="1"/>
            <a:r>
              <a:rPr lang="ja-JP" altLang="en-US" dirty="0"/>
              <a:t>簡単にするため，</a:t>
            </a:r>
            <a:r>
              <a:rPr lang="en-US" altLang="ja-JP" dirty="0"/>
              <a:t>MEM </a:t>
            </a:r>
            <a:r>
              <a:rPr lang="ja-JP" altLang="en-US" dirty="0"/>
              <a:t>ステージはない</a:t>
            </a:r>
            <a:endParaRPr lang="en-US" altLang="ja-JP" dirty="0"/>
          </a:p>
          <a:p>
            <a:pPr lvl="1"/>
            <a:r>
              <a:rPr lang="en-US" altLang="ja-JP" dirty="0"/>
              <a:t>ID </a:t>
            </a:r>
            <a:r>
              <a:rPr lang="ja-JP" altLang="en-US" dirty="0"/>
              <a:t>ステージの後に，発行のための </a:t>
            </a:r>
            <a:r>
              <a:rPr lang="en-US" altLang="ja-JP" dirty="0"/>
              <a:t>IS</a:t>
            </a:r>
            <a:r>
              <a:rPr lang="ja-JP" altLang="en-US" dirty="0"/>
              <a:t>（</a:t>
            </a:r>
            <a:r>
              <a:rPr lang="en-US" altLang="ja-JP" dirty="0"/>
              <a:t>issue</a:t>
            </a:r>
            <a:r>
              <a:rPr lang="ja-JP" altLang="en-US" dirty="0"/>
              <a:t>）ステージを設ける</a:t>
            </a:r>
            <a:endParaRPr lang="en-US" altLang="ja-JP" dirty="0"/>
          </a:p>
          <a:p>
            <a:r>
              <a:rPr lang="ja-JP" altLang="en-US" dirty="0">
                <a:solidFill>
                  <a:schemeClr val="accent5"/>
                </a:solidFill>
              </a:rPr>
              <a:t>レジスタは </a:t>
            </a:r>
            <a:r>
              <a:rPr lang="en-US" altLang="ja-JP" dirty="0">
                <a:solidFill>
                  <a:schemeClr val="accent5"/>
                </a:solidFill>
              </a:rPr>
              <a:t>ID </a:t>
            </a:r>
            <a:r>
              <a:rPr lang="ja-JP" altLang="en-US" dirty="0">
                <a:solidFill>
                  <a:schemeClr val="accent5"/>
                </a:solidFill>
              </a:rPr>
              <a:t>の時点では読まず，</a:t>
            </a:r>
            <a:r>
              <a:rPr lang="en-US" altLang="ja-JP" dirty="0">
                <a:solidFill>
                  <a:schemeClr val="accent5"/>
                </a:solidFill>
              </a:rPr>
              <a:t>IS </a:t>
            </a:r>
            <a:r>
              <a:rPr lang="ja-JP" altLang="en-US" dirty="0">
                <a:solidFill>
                  <a:schemeClr val="accent5"/>
                </a:solidFill>
              </a:rPr>
              <a:t>で読む</a:t>
            </a:r>
            <a:endParaRPr lang="en-US" altLang="ja-JP" dirty="0">
              <a:solidFill>
                <a:schemeClr val="accent5"/>
              </a:solidFill>
            </a:endParaRPr>
          </a:p>
          <a:p>
            <a:pPr lvl="1"/>
            <a:r>
              <a:rPr lang="ja-JP" altLang="en-US" dirty="0"/>
              <a:t>説明の簡単化のため，このスライドではそうすることにする</a:t>
            </a:r>
            <a:endParaRPr lang="en-US" altLang="ja-JP" dirty="0"/>
          </a:p>
          <a:p>
            <a:pPr lvl="1"/>
            <a:r>
              <a:rPr lang="ja-JP" altLang="en-US" dirty="0"/>
              <a:t>「発行」はあくまで演算器へ命令を送り出すことであり，</a:t>
            </a:r>
            <a:br>
              <a:rPr lang="en-US" altLang="ja-JP" dirty="0"/>
            </a:br>
            <a:r>
              <a:rPr lang="ja-JP" altLang="en-US" dirty="0"/>
              <a:t>本来はレジスタ読み出しの意味を含まない</a:t>
            </a:r>
            <a:endParaRPr lang="en-US" altLang="ja-JP" dirty="0"/>
          </a:p>
        </p:txBody>
      </p:sp>
      <p:sp>
        <p:nvSpPr>
          <p:cNvPr id="19" name="Rectangle 69">
            <a:extLst>
              <a:ext uri="{FF2B5EF4-FFF2-40B4-BE49-F238E27FC236}">
                <a16:creationId xmlns:a16="http://schemas.microsoft.com/office/drawing/2014/main" id="{064181C0-A479-4BFE-91C3-86BA61782701}"/>
              </a:ext>
            </a:extLst>
          </p:cNvPr>
          <p:cNvSpPr>
            <a:spLocks noChangeArrowheads="1"/>
          </p:cNvSpPr>
          <p:nvPr/>
        </p:nvSpPr>
        <p:spPr bwMode="auto">
          <a:xfrm>
            <a:off x="2495956" y="522902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0" name="Rectangle 70">
            <a:extLst>
              <a:ext uri="{FF2B5EF4-FFF2-40B4-BE49-F238E27FC236}">
                <a16:creationId xmlns:a16="http://schemas.microsoft.com/office/drawing/2014/main" id="{C1729A68-8D8F-40FC-BE50-856265845B76}"/>
              </a:ext>
            </a:extLst>
          </p:cNvPr>
          <p:cNvSpPr>
            <a:spLocks noChangeArrowheads="1"/>
          </p:cNvSpPr>
          <p:nvPr/>
        </p:nvSpPr>
        <p:spPr bwMode="auto">
          <a:xfrm>
            <a:off x="2945961" y="522902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1" name="Rectangle 71">
            <a:extLst>
              <a:ext uri="{FF2B5EF4-FFF2-40B4-BE49-F238E27FC236}">
                <a16:creationId xmlns:a16="http://schemas.microsoft.com/office/drawing/2014/main" id="{97DAC72C-88F9-456B-BDEC-9585C4894CE7}"/>
              </a:ext>
            </a:extLst>
          </p:cNvPr>
          <p:cNvSpPr>
            <a:spLocks noChangeArrowheads="1"/>
          </p:cNvSpPr>
          <p:nvPr/>
        </p:nvSpPr>
        <p:spPr bwMode="auto">
          <a:xfrm>
            <a:off x="3845975" y="5229020"/>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2" name="Rectangle 73">
            <a:extLst>
              <a:ext uri="{FF2B5EF4-FFF2-40B4-BE49-F238E27FC236}">
                <a16:creationId xmlns:a16="http://schemas.microsoft.com/office/drawing/2014/main" id="{7F02805A-0154-4997-BF91-2BD5B47C0491}"/>
              </a:ext>
            </a:extLst>
          </p:cNvPr>
          <p:cNvSpPr>
            <a:spLocks noChangeArrowheads="1"/>
          </p:cNvSpPr>
          <p:nvPr/>
        </p:nvSpPr>
        <p:spPr bwMode="auto">
          <a:xfrm>
            <a:off x="4295980" y="5229020"/>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23" name="Rectangle 70">
            <a:extLst>
              <a:ext uri="{FF2B5EF4-FFF2-40B4-BE49-F238E27FC236}">
                <a16:creationId xmlns:a16="http://schemas.microsoft.com/office/drawing/2014/main" id="{A3B2020C-D689-40B9-AAF8-F3C9ECD2E951}"/>
              </a:ext>
            </a:extLst>
          </p:cNvPr>
          <p:cNvSpPr>
            <a:spLocks noChangeArrowheads="1"/>
          </p:cNvSpPr>
          <p:nvPr/>
        </p:nvSpPr>
        <p:spPr bwMode="auto">
          <a:xfrm>
            <a:off x="3395966" y="5229020"/>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cxnSp>
        <p:nvCxnSpPr>
          <p:cNvPr id="24" name="直線矢印コネクタ 23">
            <a:extLst>
              <a:ext uri="{FF2B5EF4-FFF2-40B4-BE49-F238E27FC236}">
                <a16:creationId xmlns:a16="http://schemas.microsoft.com/office/drawing/2014/main" id="{03AFD60D-5E9A-41F7-96CA-C8602DDC1422}"/>
              </a:ext>
            </a:extLst>
          </p:cNvPr>
          <p:cNvCxnSpPr>
            <a:endCxn id="23" idx="2"/>
          </p:cNvCxnSpPr>
          <p:nvPr/>
        </p:nvCxnSpPr>
        <p:spPr bwMode="auto">
          <a:xfrm flipH="1" flipV="1">
            <a:off x="3575966" y="5589020"/>
            <a:ext cx="6" cy="360008"/>
          </a:xfrm>
          <a:prstGeom prst="straightConnector1">
            <a:avLst/>
          </a:prstGeom>
          <a:noFill/>
          <a:ln w="9525" cap="flat" cmpd="sng" algn="ctr">
            <a:solidFill>
              <a:schemeClr val="tx1">
                <a:lumMod val="75000"/>
                <a:lumOff val="25000"/>
              </a:schemeClr>
            </a:solidFill>
            <a:prstDash val="solid"/>
            <a:round/>
            <a:headEnd type="none" w="med" len="med"/>
            <a:tailEnd type="triangle"/>
          </a:ln>
          <a:effectLst/>
        </p:spPr>
      </p:cxnSp>
      <p:cxnSp>
        <p:nvCxnSpPr>
          <p:cNvPr id="25" name="直線矢印コネクタ 24">
            <a:extLst>
              <a:ext uri="{FF2B5EF4-FFF2-40B4-BE49-F238E27FC236}">
                <a16:creationId xmlns:a16="http://schemas.microsoft.com/office/drawing/2014/main" id="{8816F7DB-883F-49D3-B776-73677A55B4F2}"/>
              </a:ext>
            </a:extLst>
          </p:cNvPr>
          <p:cNvCxnSpPr/>
          <p:nvPr/>
        </p:nvCxnSpPr>
        <p:spPr bwMode="auto">
          <a:xfrm flipH="1" flipV="1">
            <a:off x="4475982" y="5589024"/>
            <a:ext cx="6" cy="360008"/>
          </a:xfrm>
          <a:prstGeom prst="straightConnector1">
            <a:avLst/>
          </a:prstGeom>
          <a:noFill/>
          <a:ln w="9525" cap="flat" cmpd="sng" algn="ctr">
            <a:solidFill>
              <a:schemeClr val="tx1">
                <a:lumMod val="75000"/>
                <a:lumOff val="25000"/>
              </a:schemeClr>
            </a:solidFill>
            <a:prstDash val="solid"/>
            <a:round/>
            <a:headEnd type="none" w="med" len="med"/>
            <a:tailEnd type="triangle"/>
          </a:ln>
          <a:effectLst/>
        </p:spPr>
      </p:cxnSp>
      <p:sp>
        <p:nvSpPr>
          <p:cNvPr id="26" name="正方形/長方形 25">
            <a:extLst>
              <a:ext uri="{FF2B5EF4-FFF2-40B4-BE49-F238E27FC236}">
                <a16:creationId xmlns:a16="http://schemas.microsoft.com/office/drawing/2014/main" id="{C7339904-F26D-4BC0-A45F-7D6880AC4093}"/>
              </a:ext>
            </a:extLst>
          </p:cNvPr>
          <p:cNvSpPr/>
          <p:nvPr/>
        </p:nvSpPr>
        <p:spPr bwMode="auto">
          <a:xfrm>
            <a:off x="3395970" y="5949028"/>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t"/>
          <a:lstStyle/>
          <a:p>
            <a:r>
              <a:rPr lang="ja-JP" altLang="en-US" sz="1600" dirty="0">
                <a:solidFill>
                  <a:schemeClr val="tx1">
                    <a:lumMod val="75000"/>
                    <a:lumOff val="25000"/>
                  </a:schemeClr>
                </a:solidFill>
              </a:rPr>
              <a:t>発行</a:t>
            </a:r>
            <a:endParaRPr lang="en-US" altLang="ja-JP" sz="1600" dirty="0">
              <a:solidFill>
                <a:schemeClr val="tx1">
                  <a:lumMod val="75000"/>
                  <a:lumOff val="25000"/>
                </a:schemeClr>
              </a:solidFill>
            </a:endParaRPr>
          </a:p>
          <a:p>
            <a:r>
              <a:rPr lang="en-US" altLang="ja-JP" sz="1600" dirty="0">
                <a:solidFill>
                  <a:schemeClr val="tx1">
                    <a:lumMod val="75000"/>
                    <a:lumOff val="25000"/>
                  </a:schemeClr>
                </a:solidFill>
              </a:rPr>
              <a:t>(issue)</a:t>
            </a:r>
            <a:endParaRPr lang="ja-JP" altLang="en-US" sz="1600" dirty="0">
              <a:solidFill>
                <a:schemeClr val="tx1">
                  <a:lumMod val="75000"/>
                  <a:lumOff val="25000"/>
                </a:schemeClr>
              </a:solidFill>
            </a:endParaRPr>
          </a:p>
        </p:txBody>
      </p:sp>
      <p:sp>
        <p:nvSpPr>
          <p:cNvPr id="27" name="正方形/長方形 26">
            <a:extLst>
              <a:ext uri="{FF2B5EF4-FFF2-40B4-BE49-F238E27FC236}">
                <a16:creationId xmlns:a16="http://schemas.microsoft.com/office/drawing/2014/main" id="{74ACABCB-2782-4C8F-A8A0-70C1BA42809A}"/>
              </a:ext>
            </a:extLst>
          </p:cNvPr>
          <p:cNvSpPr/>
          <p:nvPr/>
        </p:nvSpPr>
        <p:spPr bwMode="auto">
          <a:xfrm>
            <a:off x="4295980" y="5949028"/>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t"/>
          <a:lstStyle/>
          <a:p>
            <a:r>
              <a:rPr lang="ja-JP" altLang="en-US" sz="1600" dirty="0">
                <a:solidFill>
                  <a:schemeClr val="tx1">
                    <a:lumMod val="75000"/>
                    <a:lumOff val="25000"/>
                  </a:schemeClr>
                </a:solidFill>
              </a:rPr>
              <a:t>完了</a:t>
            </a:r>
            <a:endParaRPr lang="en-US" altLang="ja-JP" sz="1600" dirty="0">
              <a:solidFill>
                <a:schemeClr val="tx1">
                  <a:lumMod val="75000"/>
                  <a:lumOff val="25000"/>
                </a:schemeClr>
              </a:solidFill>
            </a:endParaRPr>
          </a:p>
          <a:p>
            <a:r>
              <a:rPr lang="en-US" altLang="ja-JP" sz="1600" dirty="0">
                <a:solidFill>
                  <a:schemeClr val="tx1">
                    <a:lumMod val="75000"/>
                    <a:lumOff val="25000"/>
                  </a:schemeClr>
                </a:solidFill>
              </a:rPr>
              <a:t>(complete)</a:t>
            </a:r>
            <a:endParaRPr lang="ja-JP" altLang="en-US" sz="1600" dirty="0">
              <a:solidFill>
                <a:schemeClr val="tx1">
                  <a:lumMod val="75000"/>
                  <a:lumOff val="25000"/>
                </a:schemeClr>
              </a:solidFill>
            </a:endParaRPr>
          </a:p>
        </p:txBody>
      </p:sp>
    </p:spTree>
    <p:extLst>
      <p:ext uri="{BB962C8B-B14F-4D97-AF65-F5344CB8AC3E}">
        <p14:creationId xmlns:p14="http://schemas.microsoft.com/office/powerpoint/2010/main" val="24989153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言葉の定義２</a:t>
            </a:r>
            <a:endParaRPr lang="en-US" altLang="ja-JP" dirty="0"/>
          </a:p>
        </p:txBody>
      </p:sp>
      <p:sp>
        <p:nvSpPr>
          <p:cNvPr id="3" name="テキスト プレースホルダー 2"/>
          <p:cNvSpPr>
            <a:spLocks noGrp="1"/>
          </p:cNvSpPr>
          <p:nvPr>
            <p:ph type="body" sz="quarter" idx="10"/>
          </p:nvPr>
        </p:nvSpPr>
        <p:spPr>
          <a:xfrm>
            <a:off x="2135956" y="1538980"/>
            <a:ext cx="8280092" cy="1710019"/>
          </a:xfrm>
        </p:spPr>
        <p:txBody>
          <a:bodyPr/>
          <a:lstStyle/>
          <a:p>
            <a:r>
              <a:rPr lang="ja-JP" altLang="en-US" dirty="0"/>
              <a:t>並び替えに関係する用語：</a:t>
            </a:r>
            <a:endParaRPr lang="en-US" altLang="ja-JP" dirty="0"/>
          </a:p>
          <a:p>
            <a:pPr lvl="1"/>
            <a:r>
              <a:rPr lang="en-US" altLang="ja-JP" dirty="0"/>
              <a:t>in-order</a:t>
            </a:r>
            <a:r>
              <a:rPr lang="ja-JP" altLang="en-US" dirty="0"/>
              <a:t>（</a:t>
            </a:r>
            <a:r>
              <a:rPr lang="en-US" altLang="ja-JP" dirty="0" err="1"/>
              <a:t>InO</a:t>
            </a:r>
            <a:r>
              <a:rPr lang="ja-JP" altLang="en-US" dirty="0"/>
              <a:t>）：</a:t>
            </a:r>
            <a:r>
              <a:rPr lang="en-US" altLang="ja-JP" dirty="0"/>
              <a:t>	</a:t>
            </a:r>
            <a:r>
              <a:rPr lang="ja-JP" altLang="en-US" dirty="0"/>
              <a:t>プログラム内の実行順のこと</a:t>
            </a:r>
            <a:endParaRPr lang="en-US" altLang="ja-JP" dirty="0"/>
          </a:p>
          <a:p>
            <a:pPr lvl="1"/>
            <a:r>
              <a:rPr lang="en-US" altLang="ja-JP" dirty="0"/>
              <a:t>out-of-order</a:t>
            </a:r>
            <a:r>
              <a:rPr lang="ja-JP" altLang="en-US" dirty="0"/>
              <a:t>（</a:t>
            </a:r>
            <a:r>
              <a:rPr lang="en-US" altLang="ja-JP" dirty="0"/>
              <a:t>OoO</a:t>
            </a:r>
            <a:r>
              <a:rPr lang="ja-JP" altLang="en-US" dirty="0"/>
              <a:t>）：</a:t>
            </a:r>
            <a:r>
              <a:rPr lang="en-US" altLang="ja-JP" dirty="0"/>
              <a:t>	</a:t>
            </a:r>
            <a:r>
              <a:rPr lang="ja-JP" altLang="en-US" dirty="0"/>
              <a:t>上記とは違う順番のこと</a:t>
            </a:r>
            <a:endParaRPr lang="en-US" altLang="ja-JP" dirty="0"/>
          </a:p>
          <a:p>
            <a:pPr lvl="2"/>
            <a:r>
              <a:rPr lang="ja-JP" altLang="en-US" dirty="0"/>
              <a:t>（一般には公共性の高い機器が故障してることを言うらしい</a:t>
            </a:r>
          </a:p>
        </p:txBody>
      </p:sp>
      <p:pic>
        <p:nvPicPr>
          <p:cNvPr id="1026" name="Picture 2" descr="https://lh3.googleusercontent.com/KaPBNSX_DHiQ8IF03R1362TR5-H8ATwFOtG3jVRnzL1iJh4vK5kNQc_hZud9oFk9OB9I63caDOAAnukYaH6-NWr9JrZ5jDw8ZCQ1EpdZ4fx7bG41wzDasUnCu7xPOH3-_qpqoptmL4ZmS-WLkTICbioEoMpsol8Dkjsjdw08lgUEqf4i0Oqz0Ar8fK35QmYshSpwFzzRX4I9gU1wmCd4iLlJxolsjupw93R7wJRqywRB_X2Iz1nWc1Jg7LqxVjnemzlNcR2MER3P5GRqDA3DTSzUkbWb_IfChqUkO-i6FyT4izgxgruRLoUN2-CLKUIUQcFd1t9cyGlv3V0V_pnFLYk1CG8LwFfymNOHz9eafuyn_Y9Nz6OlzfK241SXiNf7vhYN53VNrno1byGGawm4Xj0blxrayIaAvFBfFTXvRzI5l_j98Q6H0qoJwkT1sTB6RU6_pDLAYQrWAfj3kqfZWDwdf3dNodEusxbV7iMDZP0KcHvHBYC_1bsVumqZHeqlTOzb79fJdFZ8jzfColXU5yqJ3JpEsxtnYbQGLjyhm0T__bob-Qp7bJHGeFyuTE6VBW9hArtHra_jpZTfQw1SOV5tQvDkN2McF1nUbVj7lfuKPP4lhzJCj4Uz5cNCRwkh2Qz1Kw6d-nobhs3ouZ84eQ9jjxXnmXE=w596-h1058-no"/>
          <p:cNvPicPr>
            <a:picLocks noChangeAspect="1" noChangeArrowheads="1"/>
          </p:cNvPicPr>
          <p:nvPr/>
        </p:nvPicPr>
        <p:blipFill rotWithShape="1">
          <a:blip r:embed="rId2">
            <a:extLst>
              <a:ext uri="{28A0092B-C50C-407E-A947-70E740481C1C}">
                <a14:useLocalDpi xmlns:a14="http://schemas.microsoft.com/office/drawing/2010/main" val="0"/>
              </a:ext>
            </a:extLst>
          </a:blip>
          <a:srcRect l="-859" t="27401" b="32851"/>
          <a:stretch/>
        </p:blipFill>
        <p:spPr bwMode="auto">
          <a:xfrm>
            <a:off x="2495960" y="3519001"/>
            <a:ext cx="3600040" cy="2522737"/>
          </a:xfrm>
          <a:prstGeom prst="rect">
            <a:avLst/>
          </a:prstGeom>
          <a:noFill/>
          <a:extLst>
            <a:ext uri="{909E8E84-426E-40DD-AFC4-6F175D3DCCD1}">
              <a14:hiddenFill xmlns:a14="http://schemas.microsoft.com/office/drawing/2010/main">
                <a:solidFill>
                  <a:srgbClr val="FFFFFF"/>
                </a:solidFill>
              </a14:hiddenFill>
            </a:ext>
          </a:extLst>
        </p:spPr>
      </p:pic>
      <p:pic>
        <p:nvPicPr>
          <p:cNvPr id="4" name="図 3" descr="文字の書かれた紙&#10;&#10;AI 生成コンテンツは誤りを含む可能性があります。">
            <a:extLst>
              <a:ext uri="{FF2B5EF4-FFF2-40B4-BE49-F238E27FC236}">
                <a16:creationId xmlns:a16="http://schemas.microsoft.com/office/drawing/2014/main" id="{496BE86A-7B28-4D0D-DBA1-95A8DBC6452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366002" y="3490903"/>
            <a:ext cx="3510039" cy="2642853"/>
          </a:xfrm>
          <a:prstGeom prst="rect">
            <a:avLst/>
          </a:prstGeom>
        </p:spPr>
      </p:pic>
    </p:spTree>
    <p:extLst>
      <p:ext uri="{BB962C8B-B14F-4D97-AF65-F5344CB8AC3E}">
        <p14:creationId xmlns:p14="http://schemas.microsoft.com/office/powerpoint/2010/main" val="24939408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動的スケジューリングを行う </a:t>
            </a:r>
            <a:r>
              <a:rPr kumimoji="1" lang="en-US" altLang="ja-JP" dirty="0"/>
              <a:t>CPU </a:t>
            </a:r>
            <a:r>
              <a:rPr kumimoji="1" lang="ja-JP" altLang="en-US" dirty="0"/>
              <a:t>の分類</a:t>
            </a:r>
          </a:p>
        </p:txBody>
      </p:sp>
      <p:sp>
        <p:nvSpPr>
          <p:cNvPr id="3" name="テキスト プレースホルダー 2"/>
          <p:cNvSpPr>
            <a:spLocks noGrp="1"/>
          </p:cNvSpPr>
          <p:nvPr>
            <p:ph type="body" sz="quarter" idx="10"/>
          </p:nvPr>
        </p:nvSpPr>
        <p:spPr/>
        <p:txBody>
          <a:bodyPr/>
          <a:lstStyle/>
          <a:p>
            <a:r>
              <a:rPr lang="ja-JP" altLang="en-US" dirty="0"/>
              <a:t>発行と完了の順序によって分類</a:t>
            </a:r>
            <a:r>
              <a:rPr kumimoji="1" lang="ja-JP" altLang="en-US" dirty="0"/>
              <a:t>できる</a:t>
            </a:r>
            <a:endParaRPr kumimoji="1" lang="en-US" altLang="ja-JP" dirty="0"/>
          </a:p>
          <a:p>
            <a:pPr lvl="1"/>
            <a:r>
              <a:rPr kumimoji="1" lang="ja-JP" altLang="en-US" dirty="0"/>
              <a:t>それぞれを </a:t>
            </a:r>
            <a:r>
              <a:rPr kumimoji="1" lang="en-US" altLang="ja-JP" dirty="0"/>
              <a:t>in-order </a:t>
            </a:r>
            <a:r>
              <a:rPr kumimoji="1" lang="ja-JP" altLang="en-US" dirty="0"/>
              <a:t>に行うか</a:t>
            </a:r>
            <a:r>
              <a:rPr kumimoji="1" lang="en-US" altLang="ja-JP" dirty="0"/>
              <a:t> out-of-order</a:t>
            </a:r>
            <a:r>
              <a:rPr kumimoji="1" lang="ja-JP" altLang="en-US" dirty="0"/>
              <a:t>（</a:t>
            </a:r>
            <a:r>
              <a:rPr kumimoji="1" lang="en-US" altLang="ja-JP" dirty="0"/>
              <a:t>OoO</a:t>
            </a:r>
            <a:r>
              <a:rPr kumimoji="1" lang="ja-JP" altLang="en-US" dirty="0"/>
              <a:t>）に行うか</a:t>
            </a:r>
            <a:endParaRPr kumimoji="1" lang="en-US" altLang="ja-JP" dirty="0"/>
          </a:p>
          <a:p>
            <a:r>
              <a:rPr kumimoji="1" lang="ja-JP" altLang="en-US" dirty="0"/>
              <a:t>上記分類の結果としてスケジューリング能力が決まる</a:t>
            </a:r>
            <a:endParaRPr kumimoji="1" lang="en-US" altLang="ja-JP" dirty="0"/>
          </a:p>
          <a:p>
            <a:pPr lvl="1"/>
            <a:r>
              <a:rPr kumimoji="1" lang="ja-JP" altLang="en-US" dirty="0"/>
              <a:t>命令の並び替えを許すか？</a:t>
            </a:r>
            <a:endParaRPr kumimoji="1" lang="en-US" altLang="ja-JP" dirty="0"/>
          </a:p>
          <a:p>
            <a:pPr lvl="1"/>
            <a:r>
              <a:rPr lang="ja-JP" altLang="en-US" dirty="0"/>
              <a:t>偽の依存を超えて並び替えを許すか？</a:t>
            </a:r>
            <a:endParaRPr kumimoji="1" lang="en-US" altLang="ja-JP" dirty="0"/>
          </a:p>
          <a:p>
            <a:pPr lvl="1"/>
            <a:r>
              <a:rPr kumimoji="1" lang="ja-JP" altLang="en-US" dirty="0"/>
              <a:t>（真の依存には必ず従う必要がある</a:t>
            </a:r>
            <a:endParaRPr kumimoji="1" lang="en-US" altLang="ja-JP" dirty="0"/>
          </a:p>
        </p:txBody>
      </p:sp>
    </p:spTree>
    <p:extLst>
      <p:ext uri="{BB962C8B-B14F-4D97-AF65-F5344CB8AC3E}">
        <p14:creationId xmlns:p14="http://schemas.microsoft.com/office/powerpoint/2010/main" val="37044648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真の依存と偽の依存</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真の依存（</a:t>
            </a:r>
            <a:r>
              <a:rPr lang="en-US" altLang="ja-JP" dirty="0"/>
              <a:t>RAW: Read after Write</a:t>
            </a:r>
            <a:r>
              <a:rPr lang="ja-JP" altLang="en-US" dirty="0"/>
              <a:t>）：</a:t>
            </a:r>
            <a:endParaRPr lang="en-US" altLang="ja-JP" dirty="0"/>
          </a:p>
          <a:p>
            <a:pPr marL="360000" lvl="1" indent="0">
              <a:buNone/>
            </a:pPr>
            <a:r>
              <a:rPr lang="en-US" altLang="ja-JP" dirty="0">
                <a:latin typeface="Consolas" panose="020B0609020204030204" pitchFamily="49" charset="0"/>
              </a:rPr>
              <a:t>I1: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x2+1 </a:t>
            </a:r>
            <a:br>
              <a:rPr lang="en-US" altLang="ja-JP" dirty="0">
                <a:latin typeface="Consolas" panose="020B0609020204030204" pitchFamily="49" charset="0"/>
              </a:rPr>
            </a:br>
            <a:r>
              <a:rPr lang="en-US" altLang="ja-JP" dirty="0">
                <a:latin typeface="Consolas" panose="020B0609020204030204" pitchFamily="49" charset="0"/>
              </a:rPr>
              <a:t>I2: add x3</a:t>
            </a:r>
            <a:r>
              <a:rPr lang="ja-JP" altLang="en-US" dirty="0">
                <a:latin typeface="Consolas" panose="020B0609020204030204" pitchFamily="49" charset="0"/>
              </a:rPr>
              <a:t>←</a:t>
            </a:r>
            <a:r>
              <a:rPr lang="en-US" altLang="ja-JP" b="1" dirty="0">
                <a:solidFill>
                  <a:schemeClr val="accent5"/>
                </a:solidFill>
                <a:latin typeface="Consolas" panose="020B0609020204030204" pitchFamily="49" charset="0"/>
              </a:rPr>
              <a:t>x1</a:t>
            </a:r>
            <a:r>
              <a:rPr lang="en-US" altLang="ja-JP" dirty="0">
                <a:latin typeface="Consolas" panose="020B0609020204030204" pitchFamily="49" charset="0"/>
              </a:rPr>
              <a:t>+1 </a:t>
            </a:r>
            <a:endParaRPr lang="ja-JP" altLang="en-US" dirty="0"/>
          </a:p>
          <a:p>
            <a:pPr marL="457200" indent="-457200">
              <a:buFont typeface="+mj-lt"/>
              <a:buAutoNum type="arabicPeriod"/>
            </a:pPr>
            <a:r>
              <a:rPr lang="ja-JP" altLang="en-US" dirty="0"/>
              <a:t>逆依存（</a:t>
            </a:r>
            <a:r>
              <a:rPr lang="en-US" altLang="ja-JP" dirty="0"/>
              <a:t>WAR: Write after Read</a:t>
            </a:r>
            <a:r>
              <a:rPr lang="ja-JP" altLang="en-US" dirty="0"/>
              <a:t>）：</a:t>
            </a:r>
            <a:endParaRPr lang="en-US" altLang="ja-JP" dirty="0"/>
          </a:p>
          <a:p>
            <a:pPr marL="360000" lvl="1" indent="0">
              <a:buNone/>
            </a:pPr>
            <a:r>
              <a:rPr lang="en-US" altLang="ja-JP" dirty="0">
                <a:latin typeface="Consolas" panose="020B0609020204030204" pitchFamily="49" charset="0"/>
              </a:rPr>
              <a:t>I1: add x2</a:t>
            </a:r>
            <a:r>
              <a:rPr lang="ja-JP" altLang="en-US" dirty="0">
                <a:latin typeface="Consolas" panose="020B0609020204030204" pitchFamily="49" charset="0"/>
              </a:rPr>
              <a:t>←</a:t>
            </a:r>
            <a:r>
              <a:rPr lang="en-US" altLang="ja-JP" b="1" dirty="0">
                <a:solidFill>
                  <a:schemeClr val="accent5"/>
                </a:solidFill>
                <a:latin typeface="Consolas" panose="020B0609020204030204" pitchFamily="49" charset="0"/>
              </a:rPr>
              <a:t>x1</a:t>
            </a:r>
            <a:r>
              <a:rPr lang="en-US" altLang="ja-JP" dirty="0">
                <a:latin typeface="Consolas" panose="020B0609020204030204" pitchFamily="49" charset="0"/>
              </a:rPr>
              <a:t>+1 </a:t>
            </a:r>
            <a:br>
              <a:rPr lang="en-US" altLang="ja-JP" dirty="0">
                <a:latin typeface="Consolas" panose="020B0609020204030204" pitchFamily="49" charset="0"/>
              </a:rPr>
            </a:br>
            <a:r>
              <a:rPr lang="en-US" altLang="ja-JP" dirty="0">
                <a:latin typeface="Consolas" panose="020B0609020204030204" pitchFamily="49" charset="0"/>
              </a:rPr>
              <a:t>I2: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x3+1 </a:t>
            </a:r>
          </a:p>
          <a:p>
            <a:pPr marL="457200" indent="-457200">
              <a:buFont typeface="+mj-lt"/>
              <a:buAutoNum type="arabicPeriod"/>
            </a:pPr>
            <a:r>
              <a:rPr lang="ja-JP" altLang="en-US" dirty="0"/>
              <a:t>出力依存（</a:t>
            </a:r>
            <a:r>
              <a:rPr lang="en-US" altLang="ja-JP" dirty="0"/>
              <a:t>WAW: Write after Write</a:t>
            </a:r>
            <a:r>
              <a:rPr lang="ja-JP" altLang="en-US" dirty="0"/>
              <a:t>）：</a:t>
            </a:r>
            <a:endParaRPr lang="en-US" altLang="ja-JP" dirty="0"/>
          </a:p>
          <a:p>
            <a:pPr marL="360000" lvl="1" indent="0">
              <a:buNone/>
            </a:pPr>
            <a:r>
              <a:rPr lang="en-US" altLang="ja-JP" dirty="0">
                <a:latin typeface="Consolas" panose="020B0609020204030204" pitchFamily="49" charset="0"/>
              </a:rPr>
              <a:t>I1: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x2+1 </a:t>
            </a:r>
            <a:br>
              <a:rPr lang="en-US" altLang="ja-JP" dirty="0">
                <a:latin typeface="Consolas" panose="020B0609020204030204" pitchFamily="49" charset="0"/>
              </a:rPr>
            </a:br>
            <a:r>
              <a:rPr lang="en-US" altLang="ja-JP" dirty="0">
                <a:latin typeface="Consolas" panose="020B0609020204030204" pitchFamily="49" charset="0"/>
              </a:rPr>
              <a:t>I2: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x3+1 </a:t>
            </a:r>
            <a:endParaRPr kumimoji="1" lang="ja-JP" altLang="en-US" dirty="0"/>
          </a:p>
        </p:txBody>
      </p:sp>
    </p:spTree>
    <p:extLst>
      <p:ext uri="{BB962C8B-B14F-4D97-AF65-F5344CB8AC3E}">
        <p14:creationId xmlns:p14="http://schemas.microsoft.com/office/powerpoint/2010/main" val="11499346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スケジューリング方法の分類</a:t>
            </a:r>
          </a:p>
        </p:txBody>
      </p:sp>
      <p:sp>
        <p:nvSpPr>
          <p:cNvPr id="3" name="テキスト プレースホルダー 2"/>
          <p:cNvSpPr>
            <a:spLocks noGrp="1"/>
          </p:cNvSpPr>
          <p:nvPr>
            <p:ph type="body" sz="quarter" idx="10"/>
          </p:nvPr>
        </p:nvSpPr>
        <p:spPr>
          <a:xfrm>
            <a:off x="3215968" y="1538979"/>
            <a:ext cx="6840076" cy="5219751"/>
          </a:xfrm>
        </p:spPr>
        <p:txBody>
          <a:bodyPr/>
          <a:lstStyle/>
          <a:p>
            <a:pPr marL="457200" indent="-457200">
              <a:buFont typeface="+mj-lt"/>
              <a:buAutoNum type="arabicPeriod"/>
            </a:pPr>
            <a:r>
              <a:rPr kumimoji="1" lang="en-US" altLang="ja-JP" dirty="0">
                <a:solidFill>
                  <a:schemeClr val="accent5"/>
                </a:solidFill>
              </a:rPr>
              <a:t>in-order </a:t>
            </a:r>
            <a:r>
              <a:rPr kumimoji="1" lang="ja-JP" altLang="en-US" dirty="0">
                <a:solidFill>
                  <a:schemeClr val="accent5"/>
                </a:solidFill>
              </a:rPr>
              <a:t>発行</a:t>
            </a:r>
            <a:r>
              <a:rPr kumimoji="1" lang="en-US" altLang="ja-JP" dirty="0"/>
              <a:t>/</a:t>
            </a:r>
            <a:r>
              <a:rPr lang="en-US" altLang="ja-JP" dirty="0">
                <a:solidFill>
                  <a:schemeClr val="accent5"/>
                </a:solidFill>
              </a:rPr>
              <a:t>in-order </a:t>
            </a:r>
            <a:r>
              <a:rPr lang="ja-JP" altLang="en-US" dirty="0">
                <a:solidFill>
                  <a:schemeClr val="accent5"/>
                </a:solidFill>
              </a:rPr>
              <a:t>完了</a:t>
            </a:r>
            <a:endParaRPr lang="en-US" altLang="ja-JP" dirty="0">
              <a:solidFill>
                <a:schemeClr val="accent5"/>
              </a:solidFill>
            </a:endParaRPr>
          </a:p>
          <a:p>
            <a:pPr lvl="1"/>
            <a:r>
              <a:rPr lang="ja-JP" altLang="en-US" dirty="0"/>
              <a:t>プログラム順に従って実行</a:t>
            </a:r>
            <a:br>
              <a:rPr lang="en-US" altLang="ja-JP" dirty="0"/>
            </a:br>
            <a:r>
              <a:rPr lang="ja-JP" altLang="en-US" dirty="0"/>
              <a:t>（動的スケジューリングなし）</a:t>
            </a:r>
            <a:endParaRPr lang="en-US" altLang="ja-JP" dirty="0"/>
          </a:p>
          <a:p>
            <a:pPr marL="457200" indent="-457200">
              <a:buFont typeface="+mj-lt"/>
              <a:buAutoNum type="arabicPeriod"/>
            </a:pPr>
            <a:r>
              <a:rPr lang="en-US" altLang="ja-JP" dirty="0">
                <a:solidFill>
                  <a:schemeClr val="accent5"/>
                </a:solidFill>
              </a:rPr>
              <a:t>in-order </a:t>
            </a:r>
            <a:r>
              <a:rPr lang="ja-JP" altLang="en-US" dirty="0">
                <a:solidFill>
                  <a:schemeClr val="accent5"/>
                </a:solidFill>
              </a:rPr>
              <a:t>発行</a:t>
            </a:r>
            <a:r>
              <a:rPr lang="en-US" altLang="ja-JP" dirty="0"/>
              <a:t>/</a:t>
            </a:r>
            <a:r>
              <a:rPr lang="en-US" altLang="ja-JP" dirty="0">
                <a:solidFill>
                  <a:schemeClr val="accent6"/>
                </a:solidFill>
              </a:rPr>
              <a:t>out-of-order </a:t>
            </a:r>
            <a:r>
              <a:rPr lang="ja-JP" altLang="en-US" dirty="0">
                <a:solidFill>
                  <a:schemeClr val="accent6"/>
                </a:solidFill>
              </a:rPr>
              <a:t>完了</a:t>
            </a:r>
            <a:endParaRPr lang="en-US" altLang="ja-JP" dirty="0">
              <a:solidFill>
                <a:schemeClr val="accent6"/>
              </a:solidFill>
            </a:endParaRPr>
          </a:p>
          <a:p>
            <a:pPr lvl="1"/>
            <a:r>
              <a:rPr lang="ja-JP" altLang="en-US" dirty="0"/>
              <a:t>真の依存と偽の依存を守る範囲で並び替えて実行</a:t>
            </a:r>
            <a:endParaRPr lang="en-US" altLang="ja-JP" dirty="0"/>
          </a:p>
          <a:p>
            <a:pPr lvl="1"/>
            <a:r>
              <a:rPr lang="en-US" altLang="ja-JP" dirty="0"/>
              <a:t>In-order </a:t>
            </a:r>
            <a:r>
              <a:rPr lang="ja-JP" altLang="en-US" dirty="0"/>
              <a:t>スーパスカラ </a:t>
            </a:r>
            <a:r>
              <a:rPr lang="en-US" altLang="ja-JP" dirty="0"/>
              <a:t>CPU </a:t>
            </a:r>
            <a:r>
              <a:rPr lang="ja-JP" altLang="en-US" dirty="0"/>
              <a:t>や </a:t>
            </a:r>
            <a:r>
              <a:rPr lang="en-US" altLang="ja-JP" dirty="0"/>
              <a:t>GPU </a:t>
            </a:r>
            <a:r>
              <a:rPr lang="ja-JP" altLang="en-US" dirty="0"/>
              <a:t>は大体これ</a:t>
            </a:r>
            <a:endParaRPr lang="en-US" altLang="ja-JP" dirty="0"/>
          </a:p>
          <a:p>
            <a:pPr marL="457200" indent="-457200">
              <a:buFont typeface="+mj-lt"/>
              <a:buAutoNum type="arabicPeriod"/>
            </a:pPr>
            <a:r>
              <a:rPr lang="en-US" altLang="ja-JP" dirty="0">
                <a:solidFill>
                  <a:schemeClr val="accent6"/>
                </a:solidFill>
              </a:rPr>
              <a:t>out-of-order </a:t>
            </a:r>
            <a:r>
              <a:rPr lang="ja-JP" altLang="en-US" dirty="0">
                <a:solidFill>
                  <a:schemeClr val="accent6"/>
                </a:solidFill>
              </a:rPr>
              <a:t>発行</a:t>
            </a:r>
            <a:r>
              <a:rPr lang="en-US" altLang="ja-JP" dirty="0"/>
              <a:t>/</a:t>
            </a:r>
            <a:r>
              <a:rPr lang="en-US" altLang="ja-JP" dirty="0">
                <a:solidFill>
                  <a:schemeClr val="accent6"/>
                </a:solidFill>
              </a:rPr>
              <a:t>out-of-order </a:t>
            </a:r>
            <a:r>
              <a:rPr lang="ja-JP" altLang="en-US" dirty="0">
                <a:solidFill>
                  <a:schemeClr val="accent6"/>
                </a:solidFill>
              </a:rPr>
              <a:t>完了</a:t>
            </a:r>
            <a:endParaRPr lang="en-US" altLang="ja-JP" dirty="0">
              <a:solidFill>
                <a:schemeClr val="accent6"/>
              </a:solidFill>
            </a:endParaRPr>
          </a:p>
          <a:p>
            <a:pPr lvl="1"/>
            <a:r>
              <a:rPr lang="ja-JP" altLang="en-US" dirty="0"/>
              <a:t>真の依存のみを守って並び替えて実行</a:t>
            </a:r>
            <a:endParaRPr lang="en-US" altLang="ja-JP" dirty="0"/>
          </a:p>
          <a:p>
            <a:pPr lvl="1"/>
            <a:r>
              <a:rPr lang="ja-JP" altLang="en-US" dirty="0"/>
              <a:t>高性能 </a:t>
            </a:r>
            <a:r>
              <a:rPr lang="en-US" altLang="ja-JP" dirty="0"/>
              <a:t>CPU </a:t>
            </a:r>
            <a:r>
              <a:rPr lang="ja-JP" altLang="en-US" dirty="0"/>
              <a:t>は大体これ</a:t>
            </a:r>
            <a:endParaRPr lang="en-US" altLang="ja-JP" dirty="0"/>
          </a:p>
          <a:p>
            <a:pPr marL="0" indent="0">
              <a:buNone/>
            </a:pPr>
            <a:r>
              <a:rPr lang="ja-JP" altLang="en-US" dirty="0"/>
              <a:t>（</a:t>
            </a:r>
            <a:r>
              <a:rPr lang="en-US" altLang="ja-JP" dirty="0"/>
              <a:t>out-of-order </a:t>
            </a:r>
            <a:r>
              <a:rPr lang="ja-JP" altLang="en-US" dirty="0"/>
              <a:t>発行</a:t>
            </a:r>
            <a:r>
              <a:rPr lang="en-US" altLang="ja-JP" dirty="0"/>
              <a:t>/in-order </a:t>
            </a:r>
            <a:r>
              <a:rPr lang="ja-JP" altLang="en-US" dirty="0"/>
              <a:t>完了の組み合わせは</a:t>
            </a:r>
            <a:br>
              <a:rPr lang="en-US" altLang="ja-JP" dirty="0"/>
            </a:br>
            <a:r>
              <a:rPr lang="ja-JP" altLang="en-US" dirty="0"/>
              <a:t>　おそらく意味がない</a:t>
            </a:r>
            <a:endParaRPr lang="en-US" altLang="ja-JP" dirty="0"/>
          </a:p>
        </p:txBody>
      </p:sp>
      <p:cxnSp>
        <p:nvCxnSpPr>
          <p:cNvPr id="4" name="直線矢印コネクタ 3"/>
          <p:cNvCxnSpPr/>
          <p:nvPr/>
        </p:nvCxnSpPr>
        <p:spPr bwMode="auto">
          <a:xfrm>
            <a:off x="2495960" y="1538979"/>
            <a:ext cx="0" cy="3420038"/>
          </a:xfrm>
          <a:prstGeom prst="straightConnector1">
            <a:avLst/>
          </a:prstGeom>
          <a:ln>
            <a:solidFill>
              <a:schemeClr val="tx1">
                <a:lumMod val="75000"/>
                <a:lumOff val="25000"/>
              </a:schemeClr>
            </a:solidFill>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5" name="角丸四角形吹き出し 4"/>
          <p:cNvSpPr/>
          <p:nvPr/>
        </p:nvSpPr>
        <p:spPr bwMode="auto">
          <a:xfrm>
            <a:off x="1775952" y="108897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Arial Narrow" panose="020B0606020202030204" pitchFamily="34" charset="0"/>
              </a:rPr>
              <a:t>簡単・低性能</a:t>
            </a:r>
          </a:p>
        </p:txBody>
      </p:sp>
      <p:sp>
        <p:nvSpPr>
          <p:cNvPr id="8" name="角丸四角形吹き出し 7"/>
          <p:cNvSpPr/>
          <p:nvPr/>
        </p:nvSpPr>
        <p:spPr bwMode="auto">
          <a:xfrm>
            <a:off x="1775952" y="4959018"/>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Arial Narrow" panose="020B0606020202030204" pitchFamily="34" charset="0"/>
              </a:rPr>
              <a:t>複雑・高性能</a:t>
            </a:r>
          </a:p>
        </p:txBody>
      </p:sp>
    </p:spTree>
    <p:extLst>
      <p:ext uri="{BB962C8B-B14F-4D97-AF65-F5344CB8AC3E}">
        <p14:creationId xmlns:p14="http://schemas.microsoft.com/office/powerpoint/2010/main" val="20181342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スケジューリング方法の分類</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en-US" altLang="ja-JP" b="1" dirty="0">
                <a:solidFill>
                  <a:schemeClr val="accent5"/>
                </a:solidFill>
              </a:rPr>
              <a:t>in-order </a:t>
            </a:r>
            <a:r>
              <a:rPr kumimoji="1" lang="ja-JP" altLang="en-US" b="1" dirty="0">
                <a:solidFill>
                  <a:schemeClr val="accent5"/>
                </a:solidFill>
              </a:rPr>
              <a:t>発行</a:t>
            </a:r>
            <a:r>
              <a:rPr kumimoji="1" lang="en-US" altLang="ja-JP" b="1" dirty="0">
                <a:solidFill>
                  <a:schemeClr val="accent5"/>
                </a:solidFill>
              </a:rPr>
              <a:t>/</a:t>
            </a:r>
            <a:r>
              <a:rPr lang="en-US" altLang="ja-JP" b="1" dirty="0">
                <a:solidFill>
                  <a:schemeClr val="accent5"/>
                </a:solidFill>
              </a:rPr>
              <a:t>in-order </a:t>
            </a:r>
            <a:r>
              <a:rPr lang="ja-JP" altLang="en-US" b="1" dirty="0">
                <a:solidFill>
                  <a:schemeClr val="accent5"/>
                </a:solidFill>
              </a:rPr>
              <a:t>完了</a:t>
            </a:r>
            <a:endParaRPr lang="en-US" altLang="ja-JP" b="1" dirty="0">
              <a:solidFill>
                <a:schemeClr val="accent5"/>
              </a:solidFill>
            </a:endParaRPr>
          </a:p>
          <a:p>
            <a:pPr marL="457200" indent="-457200">
              <a:buFont typeface="+mj-lt"/>
              <a:buAutoNum type="arabicPeriod"/>
            </a:pPr>
            <a:r>
              <a:rPr lang="en-US" altLang="ja-JP" dirty="0"/>
              <a:t>in-order </a:t>
            </a:r>
            <a:r>
              <a:rPr lang="ja-JP" altLang="en-US" dirty="0"/>
              <a:t>発行</a:t>
            </a:r>
            <a:r>
              <a:rPr lang="en-US" altLang="ja-JP" dirty="0"/>
              <a:t>/out-of-order </a:t>
            </a:r>
            <a:r>
              <a:rPr lang="ja-JP" altLang="en-US" dirty="0"/>
              <a:t>完了</a:t>
            </a:r>
            <a:endParaRPr lang="en-US" altLang="ja-JP" dirty="0"/>
          </a:p>
          <a:p>
            <a:pPr marL="457200" indent="-457200">
              <a:buFont typeface="+mj-lt"/>
              <a:buAutoNum type="arabicPeriod"/>
            </a:pPr>
            <a:r>
              <a:rPr lang="en-US" altLang="ja-JP" dirty="0"/>
              <a:t>out-of-order </a:t>
            </a:r>
            <a:r>
              <a:rPr lang="ja-JP" altLang="en-US" dirty="0"/>
              <a:t>発行</a:t>
            </a:r>
            <a:r>
              <a:rPr lang="en-US" altLang="ja-JP" dirty="0"/>
              <a:t>/out-of-order </a:t>
            </a:r>
            <a:r>
              <a:rPr lang="ja-JP" altLang="en-US" dirty="0"/>
              <a:t>完了</a:t>
            </a:r>
            <a:endParaRPr lang="en-US" altLang="ja-JP" dirty="0"/>
          </a:p>
        </p:txBody>
      </p:sp>
    </p:spTree>
    <p:extLst>
      <p:ext uri="{BB962C8B-B14F-4D97-AF65-F5344CB8AC3E}">
        <p14:creationId xmlns:p14="http://schemas.microsoft.com/office/powerpoint/2010/main" val="618544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in-order </a:t>
            </a:r>
            <a:r>
              <a:rPr lang="ja-JP" altLang="en-US" dirty="0"/>
              <a:t>発行</a:t>
            </a:r>
            <a:r>
              <a:rPr lang="en-US" altLang="ja-JP" dirty="0"/>
              <a:t>/in-order </a:t>
            </a:r>
            <a:r>
              <a:rPr lang="ja-JP" altLang="en-US" dirty="0"/>
              <a:t>完了</a:t>
            </a:r>
            <a:endParaRPr kumimoji="1" lang="ja-JP" altLang="en-US" dirty="0"/>
          </a:p>
        </p:txBody>
      </p:sp>
      <p:sp>
        <p:nvSpPr>
          <p:cNvPr id="3" name="テキスト プレースホルダー 2"/>
          <p:cNvSpPr>
            <a:spLocks noGrp="1"/>
          </p:cNvSpPr>
          <p:nvPr>
            <p:ph type="body" sz="quarter" idx="10"/>
          </p:nvPr>
        </p:nvSpPr>
        <p:spPr>
          <a:xfrm>
            <a:off x="2135956" y="1088975"/>
            <a:ext cx="8280092" cy="2160024"/>
          </a:xfrm>
        </p:spPr>
        <p:txBody>
          <a:bodyPr/>
          <a:lstStyle/>
          <a:p>
            <a:r>
              <a:rPr kumimoji="1" lang="ja-JP" altLang="en-US" dirty="0"/>
              <a:t>動作：レイテンシが長い命令が来たらパイプラインをストール</a:t>
            </a:r>
            <a:endParaRPr kumimoji="1" lang="en-US" altLang="ja-JP" dirty="0"/>
          </a:p>
          <a:p>
            <a:pPr lvl="1"/>
            <a:r>
              <a:rPr lang="ja-JP" altLang="en-US" dirty="0"/>
              <a:t>依存関係とかに関係なく，問答無用でとめる</a:t>
            </a:r>
            <a:endParaRPr lang="en-US" altLang="ja-JP" dirty="0"/>
          </a:p>
          <a:p>
            <a:r>
              <a:rPr kumimoji="1" lang="ja-JP" altLang="en-US" dirty="0"/>
              <a:t>通常の命令よりレイテンシが伸びる分だけとめる</a:t>
            </a:r>
            <a:endParaRPr kumimoji="1" lang="en-US" altLang="ja-JP" dirty="0"/>
          </a:p>
          <a:p>
            <a:pPr lvl="1"/>
            <a:r>
              <a:rPr kumimoji="1" lang="ja-JP" altLang="en-US" dirty="0"/>
              <a:t>下記の場合，</a:t>
            </a:r>
            <a:r>
              <a:rPr kumimoji="1" lang="en-US" altLang="ja-JP" dirty="0" err="1"/>
              <a:t>mul</a:t>
            </a:r>
            <a:r>
              <a:rPr kumimoji="1" lang="en-US" altLang="ja-JP" dirty="0"/>
              <a:t> </a:t>
            </a:r>
            <a:r>
              <a:rPr kumimoji="1" lang="ja-JP" altLang="en-US" dirty="0"/>
              <a:t>の遅延は </a:t>
            </a:r>
            <a:r>
              <a:rPr kumimoji="1" lang="en-US" altLang="ja-JP" dirty="0"/>
              <a:t>4</a:t>
            </a:r>
            <a:r>
              <a:rPr lang="ja-JP" altLang="en-US" dirty="0"/>
              <a:t> サイクルなので </a:t>
            </a:r>
            <a:r>
              <a:rPr lang="en-US" altLang="ja-JP" dirty="0"/>
              <a:t>4 - 1=3 </a:t>
            </a:r>
            <a:r>
              <a:rPr lang="ja-JP" altLang="en-US" dirty="0"/>
              <a:t>サイクル</a:t>
            </a:r>
            <a:endParaRPr kumimoji="1" lang="ja-JP" altLang="en-US" dirty="0"/>
          </a:p>
        </p:txBody>
      </p:sp>
      <p:cxnSp>
        <p:nvCxnSpPr>
          <p:cNvPr id="4" name="直線コネクタ 3"/>
          <p:cNvCxnSpPr>
            <a:endCxn id="9" idx="1"/>
          </p:cNvCxnSpPr>
          <p:nvPr/>
        </p:nvCxnSpPr>
        <p:spPr bwMode="auto">
          <a:xfrm flipV="1">
            <a:off x="4115979" y="4779013"/>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4115978" y="4329010"/>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4655984"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 name="Rectangle 70"/>
          <p:cNvSpPr>
            <a:spLocks noChangeArrowheads="1"/>
          </p:cNvSpPr>
          <p:nvPr/>
        </p:nvSpPr>
        <p:spPr bwMode="auto">
          <a:xfrm>
            <a:off x="5105989"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8" name="Rectangle 71"/>
          <p:cNvSpPr>
            <a:spLocks noChangeArrowheads="1"/>
          </p:cNvSpPr>
          <p:nvPr/>
        </p:nvSpPr>
        <p:spPr bwMode="auto">
          <a:xfrm>
            <a:off x="6006003" y="414900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9" name="Rectangle 69"/>
          <p:cNvSpPr>
            <a:spLocks noChangeArrowheads="1"/>
          </p:cNvSpPr>
          <p:nvPr/>
        </p:nvSpPr>
        <p:spPr bwMode="auto">
          <a:xfrm>
            <a:off x="5105989" y="459901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0" name="Rectangle 70"/>
          <p:cNvSpPr>
            <a:spLocks noChangeArrowheads="1"/>
          </p:cNvSpPr>
          <p:nvPr/>
        </p:nvSpPr>
        <p:spPr bwMode="auto">
          <a:xfrm>
            <a:off x="5555998" y="459901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11" name="Rectangle 71"/>
          <p:cNvSpPr>
            <a:spLocks noChangeArrowheads="1"/>
          </p:cNvSpPr>
          <p:nvPr/>
        </p:nvSpPr>
        <p:spPr bwMode="auto">
          <a:xfrm>
            <a:off x="7806023" y="4599013"/>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2" name="Rectangle 73"/>
          <p:cNvSpPr>
            <a:spLocks noChangeArrowheads="1"/>
          </p:cNvSpPr>
          <p:nvPr/>
        </p:nvSpPr>
        <p:spPr bwMode="auto">
          <a:xfrm>
            <a:off x="8256028" y="4599013"/>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13" name="Rectangle 69"/>
          <p:cNvSpPr>
            <a:spLocks noChangeArrowheads="1"/>
          </p:cNvSpPr>
          <p:nvPr/>
        </p:nvSpPr>
        <p:spPr bwMode="auto">
          <a:xfrm>
            <a:off x="5555998" y="504901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4" name="Rectangle 70"/>
          <p:cNvSpPr>
            <a:spLocks noChangeArrowheads="1"/>
          </p:cNvSpPr>
          <p:nvPr/>
        </p:nvSpPr>
        <p:spPr bwMode="auto">
          <a:xfrm>
            <a:off x="7356014" y="504901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5" name="Rectangle 71"/>
          <p:cNvSpPr>
            <a:spLocks noChangeArrowheads="1"/>
          </p:cNvSpPr>
          <p:nvPr/>
        </p:nvSpPr>
        <p:spPr bwMode="auto">
          <a:xfrm>
            <a:off x="8256028" y="504901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6" name="Rectangle 73"/>
          <p:cNvSpPr>
            <a:spLocks noChangeArrowheads="1"/>
          </p:cNvSpPr>
          <p:nvPr/>
        </p:nvSpPr>
        <p:spPr bwMode="auto">
          <a:xfrm>
            <a:off x="8706033" y="5049018"/>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cxnSp>
        <p:nvCxnSpPr>
          <p:cNvPr id="17" name="直線コネクタ 16"/>
          <p:cNvCxnSpPr>
            <a:endCxn id="13" idx="1"/>
          </p:cNvCxnSpPr>
          <p:nvPr/>
        </p:nvCxnSpPr>
        <p:spPr bwMode="auto">
          <a:xfrm flipV="1">
            <a:off x="4115978" y="5229018"/>
            <a:ext cx="1440020" cy="2"/>
          </a:xfrm>
          <a:prstGeom prst="line">
            <a:avLst/>
          </a:prstGeom>
          <a:noFill/>
          <a:ln w="9525" cap="flat" cmpd="sng" algn="ctr">
            <a:solidFill>
              <a:schemeClr val="tx1"/>
            </a:solidFill>
            <a:prstDash val="dash"/>
            <a:round/>
            <a:headEnd type="none" w="med" len="med"/>
            <a:tailEnd type="none" w="med" len="med"/>
          </a:ln>
          <a:effectLst/>
        </p:spPr>
      </p:cxnSp>
      <p:sp>
        <p:nvSpPr>
          <p:cNvPr id="18" name="Rectangle 73"/>
          <p:cNvSpPr>
            <a:spLocks noChangeArrowheads="1"/>
          </p:cNvSpPr>
          <p:nvPr/>
        </p:nvSpPr>
        <p:spPr bwMode="auto">
          <a:xfrm>
            <a:off x="7806023" y="4149008"/>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22" name="Rectangle 71"/>
          <p:cNvSpPr>
            <a:spLocks noChangeArrowheads="1"/>
          </p:cNvSpPr>
          <p:nvPr/>
        </p:nvSpPr>
        <p:spPr bwMode="auto">
          <a:xfrm>
            <a:off x="6456008" y="414900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3" name="Rectangle 71"/>
          <p:cNvSpPr>
            <a:spLocks noChangeArrowheads="1"/>
          </p:cNvSpPr>
          <p:nvPr/>
        </p:nvSpPr>
        <p:spPr bwMode="auto">
          <a:xfrm>
            <a:off x="6906013" y="414900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4" name="Rectangle 71"/>
          <p:cNvSpPr>
            <a:spLocks noChangeArrowheads="1"/>
          </p:cNvSpPr>
          <p:nvPr/>
        </p:nvSpPr>
        <p:spPr bwMode="auto">
          <a:xfrm>
            <a:off x="7356018" y="414900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5" name="Rectangle 70"/>
          <p:cNvSpPr>
            <a:spLocks noChangeArrowheads="1"/>
          </p:cNvSpPr>
          <p:nvPr/>
        </p:nvSpPr>
        <p:spPr bwMode="auto">
          <a:xfrm>
            <a:off x="5555994" y="4149008"/>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26" name="Rectangle 70"/>
          <p:cNvSpPr>
            <a:spLocks noChangeArrowheads="1"/>
          </p:cNvSpPr>
          <p:nvPr/>
        </p:nvSpPr>
        <p:spPr bwMode="auto">
          <a:xfrm>
            <a:off x="7356014" y="4599013"/>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27" name="Rectangle 70"/>
          <p:cNvSpPr>
            <a:spLocks noChangeArrowheads="1"/>
          </p:cNvSpPr>
          <p:nvPr/>
        </p:nvSpPr>
        <p:spPr bwMode="auto">
          <a:xfrm>
            <a:off x="7806019" y="5049018"/>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28" name="Rectangle 73"/>
          <p:cNvSpPr>
            <a:spLocks noChangeArrowheads="1"/>
          </p:cNvSpPr>
          <p:nvPr/>
        </p:nvSpPr>
        <p:spPr bwMode="auto">
          <a:xfrm>
            <a:off x="6006003" y="459901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9" name="Rectangle 73"/>
          <p:cNvSpPr>
            <a:spLocks noChangeArrowheads="1"/>
          </p:cNvSpPr>
          <p:nvPr/>
        </p:nvSpPr>
        <p:spPr bwMode="auto">
          <a:xfrm>
            <a:off x="6456008" y="459901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0" name="Rectangle 73"/>
          <p:cNvSpPr>
            <a:spLocks noChangeArrowheads="1"/>
          </p:cNvSpPr>
          <p:nvPr/>
        </p:nvSpPr>
        <p:spPr bwMode="auto">
          <a:xfrm>
            <a:off x="6906013" y="459901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2" name="Rectangle 73"/>
          <p:cNvSpPr>
            <a:spLocks noChangeArrowheads="1"/>
          </p:cNvSpPr>
          <p:nvPr/>
        </p:nvSpPr>
        <p:spPr bwMode="auto">
          <a:xfrm>
            <a:off x="6006003" y="504901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3" name="Rectangle 73"/>
          <p:cNvSpPr>
            <a:spLocks noChangeArrowheads="1"/>
          </p:cNvSpPr>
          <p:nvPr/>
        </p:nvSpPr>
        <p:spPr bwMode="auto">
          <a:xfrm>
            <a:off x="6456008" y="504901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4" name="Rectangle 73"/>
          <p:cNvSpPr>
            <a:spLocks noChangeArrowheads="1"/>
          </p:cNvSpPr>
          <p:nvPr/>
        </p:nvSpPr>
        <p:spPr bwMode="auto">
          <a:xfrm>
            <a:off x="6906013" y="504901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cxnSp>
        <p:nvCxnSpPr>
          <p:cNvPr id="36" name="直線コネクタ 35"/>
          <p:cNvCxnSpPr/>
          <p:nvPr/>
        </p:nvCxnSpPr>
        <p:spPr bwMode="auto">
          <a:xfrm>
            <a:off x="5969718" y="3969007"/>
            <a:ext cx="0" cy="1710019"/>
          </a:xfrm>
          <a:prstGeom prst="line">
            <a:avLst/>
          </a:prstGeom>
          <a:ln>
            <a:solidFill>
              <a:schemeClr val="tx1">
                <a:lumMod val="75000"/>
                <a:lumOff val="2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37" name="直線コネクタ 36"/>
          <p:cNvCxnSpPr/>
          <p:nvPr/>
        </p:nvCxnSpPr>
        <p:spPr bwMode="auto">
          <a:xfrm>
            <a:off x="7312476" y="3969007"/>
            <a:ext cx="0" cy="1710019"/>
          </a:xfrm>
          <a:prstGeom prst="line">
            <a:avLst/>
          </a:prstGeom>
          <a:ln>
            <a:solidFill>
              <a:schemeClr val="tx1">
                <a:lumMod val="75000"/>
                <a:lumOff val="2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39" name="直線矢印コネクタ 38"/>
          <p:cNvCxnSpPr/>
          <p:nvPr/>
        </p:nvCxnSpPr>
        <p:spPr bwMode="auto">
          <a:xfrm>
            <a:off x="6006003" y="4059007"/>
            <a:ext cx="1260014" cy="0"/>
          </a:xfrm>
          <a:prstGeom prst="straightConnector1">
            <a:avLst/>
          </a:prstGeom>
          <a:noFill/>
          <a:ln w="9525" cap="flat" cmpd="sng" algn="ctr">
            <a:solidFill>
              <a:schemeClr val="tx1">
                <a:lumMod val="75000"/>
                <a:lumOff val="25000"/>
              </a:schemeClr>
            </a:solidFill>
            <a:prstDash val="solid"/>
            <a:round/>
            <a:headEnd type="triangle"/>
            <a:tailEnd type="triangle"/>
          </a:ln>
          <a:effectLst/>
        </p:spPr>
      </p:cxnSp>
      <p:sp>
        <p:nvSpPr>
          <p:cNvPr id="40" name="正方形/長方形 39"/>
          <p:cNvSpPr/>
          <p:nvPr/>
        </p:nvSpPr>
        <p:spPr bwMode="auto">
          <a:xfrm>
            <a:off x="3305969" y="4149008"/>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I1: </a:t>
            </a:r>
            <a:r>
              <a:rPr lang="en-US" altLang="ja-JP" sz="1600" dirty="0" err="1">
                <a:latin typeface="Consolas" panose="020B0609020204030204" pitchFamily="49" charset="0"/>
              </a:rPr>
              <a:t>mul</a:t>
            </a:r>
            <a:r>
              <a:rPr lang="en-US" altLang="ja-JP" sz="1600" dirty="0">
                <a:latin typeface="Consolas" panose="020B0609020204030204" pitchFamily="49" charset="0"/>
              </a:rPr>
              <a:t> </a:t>
            </a:r>
            <a:r>
              <a:rPr lang="en-US" altLang="ja-JP" sz="1600" dirty="0">
                <a:solidFill>
                  <a:schemeClr val="accent4"/>
                </a:solidFill>
                <a:latin typeface="Consolas" panose="020B0609020204030204" pitchFamily="49" charset="0"/>
              </a:rPr>
              <a:t>x1</a:t>
            </a:r>
            <a:r>
              <a:rPr lang="ja-JP" altLang="en-US" sz="1600" dirty="0">
                <a:latin typeface="Consolas" panose="020B0609020204030204" pitchFamily="49" charset="0"/>
              </a:rPr>
              <a:t>←</a:t>
            </a:r>
            <a:r>
              <a:rPr lang="en-US" altLang="ja-JP" sz="1600" dirty="0">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41" name="正方形/長方形 40"/>
          <p:cNvSpPr/>
          <p:nvPr/>
        </p:nvSpPr>
        <p:spPr bwMode="auto">
          <a:xfrm>
            <a:off x="3305969" y="4599013"/>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I2: add </a:t>
            </a:r>
            <a:r>
              <a:rPr lang="en-US" altLang="ja-JP" sz="1600" dirty="0">
                <a:solidFill>
                  <a:schemeClr val="accent4"/>
                </a:solidFill>
                <a:latin typeface="Consolas" panose="020B0609020204030204" pitchFamily="49" charset="0"/>
              </a:rPr>
              <a:t>x1</a:t>
            </a:r>
            <a:r>
              <a:rPr lang="ja-JP" altLang="en-US" sz="1600" dirty="0">
                <a:latin typeface="Consolas" panose="020B0609020204030204" pitchFamily="49" charset="0"/>
              </a:rPr>
              <a:t>←</a:t>
            </a:r>
            <a:r>
              <a:rPr lang="en-US" altLang="ja-JP" sz="1600" dirty="0">
                <a:solidFill>
                  <a:schemeClr val="accent3">
                    <a:lumMod val="75000"/>
                  </a:schemeClr>
                </a:solidFill>
                <a:latin typeface="Consolas" panose="020B0609020204030204" pitchFamily="49" charset="0"/>
              </a:rPr>
              <a:t>x3</a:t>
            </a:r>
            <a:r>
              <a:rPr lang="en-US" altLang="ja-JP" sz="1600" dirty="0">
                <a:latin typeface="Consolas" panose="020B0609020204030204" pitchFamily="49" charset="0"/>
              </a:rPr>
              <a:t>+1</a:t>
            </a:r>
            <a:endParaRPr lang="ja-JP" altLang="en-US" sz="1600" dirty="0"/>
          </a:p>
        </p:txBody>
      </p:sp>
      <p:sp>
        <p:nvSpPr>
          <p:cNvPr id="42" name="正方形/長方形 41"/>
          <p:cNvSpPr/>
          <p:nvPr/>
        </p:nvSpPr>
        <p:spPr bwMode="auto">
          <a:xfrm>
            <a:off x="3305969" y="5049018"/>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I3: sub </a:t>
            </a:r>
            <a:r>
              <a:rPr lang="en-US" altLang="ja-JP" sz="1600" dirty="0">
                <a:solidFill>
                  <a:schemeClr val="accent3">
                    <a:lumMod val="75000"/>
                  </a:schemeClr>
                </a:solidFill>
                <a:latin typeface="Consolas" panose="020B0609020204030204" pitchFamily="49" charset="0"/>
              </a:rPr>
              <a:t>x3</a:t>
            </a:r>
            <a:r>
              <a:rPr lang="ja-JP" altLang="en-US" sz="1600" dirty="0">
                <a:latin typeface="Consolas" panose="020B0609020204030204" pitchFamily="49" charset="0"/>
              </a:rPr>
              <a:t>←</a:t>
            </a:r>
            <a:r>
              <a:rPr lang="en-US" altLang="ja-JP" sz="1600" dirty="0">
                <a:latin typeface="Consolas" panose="020B0609020204030204" pitchFamily="49" charset="0"/>
              </a:rPr>
              <a:t>x1-1</a:t>
            </a:r>
            <a:endParaRPr lang="ja-JP" altLang="en-US" sz="1600" dirty="0"/>
          </a:p>
        </p:txBody>
      </p:sp>
    </p:spTree>
    <p:extLst>
      <p:ext uri="{BB962C8B-B14F-4D97-AF65-F5344CB8AC3E}">
        <p14:creationId xmlns:p14="http://schemas.microsoft.com/office/powerpoint/2010/main" val="29479420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単純なスカラ・パイプラインの動作と同じ</a:t>
            </a:r>
          </a:p>
        </p:txBody>
      </p:sp>
      <p:sp>
        <p:nvSpPr>
          <p:cNvPr id="3" name="テキスト プレースホルダー 2"/>
          <p:cNvSpPr>
            <a:spLocks noGrp="1"/>
          </p:cNvSpPr>
          <p:nvPr>
            <p:ph type="body" sz="quarter" idx="10"/>
          </p:nvPr>
        </p:nvSpPr>
        <p:spPr>
          <a:xfrm>
            <a:off x="2135956" y="1088975"/>
            <a:ext cx="8280092" cy="2160024"/>
          </a:xfrm>
        </p:spPr>
        <p:txBody>
          <a:bodyPr/>
          <a:lstStyle/>
          <a:p>
            <a:r>
              <a:rPr kumimoji="1" lang="ja-JP" altLang="en-US" dirty="0"/>
              <a:t>レイテンシが長い命令現れた場合には，世界中が止まる</a:t>
            </a:r>
            <a:endParaRPr kumimoji="1" lang="en-US" altLang="ja-JP" dirty="0"/>
          </a:p>
          <a:p>
            <a:pPr lvl="1"/>
            <a:r>
              <a:rPr kumimoji="1" lang="en-US" altLang="ja-JP" dirty="0"/>
              <a:t>= </a:t>
            </a:r>
            <a:r>
              <a:rPr kumimoji="1" lang="ja-JP" altLang="en-US" dirty="0"/>
              <a:t>１サイクルの命令のみでパイプラインで実行してるのと等価</a:t>
            </a:r>
            <a:endParaRPr kumimoji="1" lang="en-US" altLang="ja-JP" dirty="0"/>
          </a:p>
          <a:p>
            <a:r>
              <a:rPr kumimoji="1" lang="ja-JP" altLang="en-US" dirty="0"/>
              <a:t>あらゆる追い越しは原理的に起きず，真</a:t>
            </a:r>
            <a:r>
              <a:rPr kumimoji="1" lang="en-US" altLang="ja-JP" dirty="0"/>
              <a:t>&amp;</a:t>
            </a:r>
            <a:r>
              <a:rPr kumimoji="1" lang="ja-JP" altLang="en-US" dirty="0"/>
              <a:t>偽 の依存は常に守られる</a:t>
            </a:r>
          </a:p>
        </p:txBody>
      </p:sp>
      <p:sp>
        <p:nvSpPr>
          <p:cNvPr id="6" name="Rectangle 69"/>
          <p:cNvSpPr>
            <a:spLocks noChangeArrowheads="1"/>
          </p:cNvSpPr>
          <p:nvPr/>
        </p:nvSpPr>
        <p:spPr bwMode="auto">
          <a:xfrm>
            <a:off x="1775952"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 name="Rectangle 70"/>
          <p:cNvSpPr>
            <a:spLocks noChangeArrowheads="1"/>
          </p:cNvSpPr>
          <p:nvPr/>
        </p:nvSpPr>
        <p:spPr bwMode="auto">
          <a:xfrm>
            <a:off x="2225957"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8" name="Rectangle 71"/>
          <p:cNvSpPr>
            <a:spLocks noChangeArrowheads="1"/>
          </p:cNvSpPr>
          <p:nvPr/>
        </p:nvSpPr>
        <p:spPr bwMode="auto">
          <a:xfrm>
            <a:off x="3125971" y="414900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9" name="Rectangle 69"/>
          <p:cNvSpPr>
            <a:spLocks noChangeArrowheads="1"/>
          </p:cNvSpPr>
          <p:nvPr/>
        </p:nvSpPr>
        <p:spPr bwMode="auto">
          <a:xfrm>
            <a:off x="2225957" y="459901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0" name="Rectangle 70"/>
          <p:cNvSpPr>
            <a:spLocks noChangeArrowheads="1"/>
          </p:cNvSpPr>
          <p:nvPr/>
        </p:nvSpPr>
        <p:spPr bwMode="auto">
          <a:xfrm>
            <a:off x="2675966" y="459901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11" name="Rectangle 71"/>
          <p:cNvSpPr>
            <a:spLocks noChangeArrowheads="1"/>
          </p:cNvSpPr>
          <p:nvPr/>
        </p:nvSpPr>
        <p:spPr bwMode="auto">
          <a:xfrm>
            <a:off x="4925991" y="4599013"/>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2" name="Rectangle 73"/>
          <p:cNvSpPr>
            <a:spLocks noChangeArrowheads="1"/>
          </p:cNvSpPr>
          <p:nvPr/>
        </p:nvSpPr>
        <p:spPr bwMode="auto">
          <a:xfrm>
            <a:off x="5375996" y="4599013"/>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13" name="Rectangle 69"/>
          <p:cNvSpPr>
            <a:spLocks noChangeArrowheads="1"/>
          </p:cNvSpPr>
          <p:nvPr/>
        </p:nvSpPr>
        <p:spPr bwMode="auto">
          <a:xfrm>
            <a:off x="2675966" y="504901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4" name="Rectangle 70"/>
          <p:cNvSpPr>
            <a:spLocks noChangeArrowheads="1"/>
          </p:cNvSpPr>
          <p:nvPr/>
        </p:nvSpPr>
        <p:spPr bwMode="auto">
          <a:xfrm>
            <a:off x="4475982" y="504901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5" name="Rectangle 71"/>
          <p:cNvSpPr>
            <a:spLocks noChangeArrowheads="1"/>
          </p:cNvSpPr>
          <p:nvPr/>
        </p:nvSpPr>
        <p:spPr bwMode="auto">
          <a:xfrm>
            <a:off x="5375996" y="504901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6" name="Rectangle 73"/>
          <p:cNvSpPr>
            <a:spLocks noChangeArrowheads="1"/>
          </p:cNvSpPr>
          <p:nvPr/>
        </p:nvSpPr>
        <p:spPr bwMode="auto">
          <a:xfrm>
            <a:off x="5826001" y="5049018"/>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18" name="Rectangle 73"/>
          <p:cNvSpPr>
            <a:spLocks noChangeArrowheads="1"/>
          </p:cNvSpPr>
          <p:nvPr/>
        </p:nvSpPr>
        <p:spPr bwMode="auto">
          <a:xfrm>
            <a:off x="4925991" y="4149008"/>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22" name="Rectangle 71"/>
          <p:cNvSpPr>
            <a:spLocks noChangeArrowheads="1"/>
          </p:cNvSpPr>
          <p:nvPr/>
        </p:nvSpPr>
        <p:spPr bwMode="auto">
          <a:xfrm>
            <a:off x="3575976" y="414900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3" name="Rectangle 71"/>
          <p:cNvSpPr>
            <a:spLocks noChangeArrowheads="1"/>
          </p:cNvSpPr>
          <p:nvPr/>
        </p:nvSpPr>
        <p:spPr bwMode="auto">
          <a:xfrm>
            <a:off x="4025981" y="414900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4" name="Rectangle 71"/>
          <p:cNvSpPr>
            <a:spLocks noChangeArrowheads="1"/>
          </p:cNvSpPr>
          <p:nvPr/>
        </p:nvSpPr>
        <p:spPr bwMode="auto">
          <a:xfrm>
            <a:off x="4475986" y="414900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5" name="Rectangle 70"/>
          <p:cNvSpPr>
            <a:spLocks noChangeArrowheads="1"/>
          </p:cNvSpPr>
          <p:nvPr/>
        </p:nvSpPr>
        <p:spPr bwMode="auto">
          <a:xfrm>
            <a:off x="2675962" y="4149008"/>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26" name="Rectangle 70"/>
          <p:cNvSpPr>
            <a:spLocks noChangeArrowheads="1"/>
          </p:cNvSpPr>
          <p:nvPr/>
        </p:nvSpPr>
        <p:spPr bwMode="auto">
          <a:xfrm>
            <a:off x="4475982" y="4599013"/>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27" name="Rectangle 70"/>
          <p:cNvSpPr>
            <a:spLocks noChangeArrowheads="1"/>
          </p:cNvSpPr>
          <p:nvPr/>
        </p:nvSpPr>
        <p:spPr bwMode="auto">
          <a:xfrm>
            <a:off x="4925987" y="5049018"/>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28" name="Rectangle 73"/>
          <p:cNvSpPr>
            <a:spLocks noChangeArrowheads="1"/>
          </p:cNvSpPr>
          <p:nvPr/>
        </p:nvSpPr>
        <p:spPr bwMode="auto">
          <a:xfrm>
            <a:off x="3125971" y="459901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9" name="Rectangle 73"/>
          <p:cNvSpPr>
            <a:spLocks noChangeArrowheads="1"/>
          </p:cNvSpPr>
          <p:nvPr/>
        </p:nvSpPr>
        <p:spPr bwMode="auto">
          <a:xfrm>
            <a:off x="3575976" y="459901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0" name="Rectangle 73"/>
          <p:cNvSpPr>
            <a:spLocks noChangeArrowheads="1"/>
          </p:cNvSpPr>
          <p:nvPr/>
        </p:nvSpPr>
        <p:spPr bwMode="auto">
          <a:xfrm>
            <a:off x="4025981" y="459901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2" name="Rectangle 73"/>
          <p:cNvSpPr>
            <a:spLocks noChangeArrowheads="1"/>
          </p:cNvSpPr>
          <p:nvPr/>
        </p:nvSpPr>
        <p:spPr bwMode="auto">
          <a:xfrm>
            <a:off x="3125971" y="504901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3" name="Rectangle 73"/>
          <p:cNvSpPr>
            <a:spLocks noChangeArrowheads="1"/>
          </p:cNvSpPr>
          <p:nvPr/>
        </p:nvSpPr>
        <p:spPr bwMode="auto">
          <a:xfrm>
            <a:off x="3575976" y="504901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4" name="Rectangle 73"/>
          <p:cNvSpPr>
            <a:spLocks noChangeArrowheads="1"/>
          </p:cNvSpPr>
          <p:nvPr/>
        </p:nvSpPr>
        <p:spPr bwMode="auto">
          <a:xfrm>
            <a:off x="4025981" y="504901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cxnSp>
        <p:nvCxnSpPr>
          <p:cNvPr id="36" name="直線コネクタ 35"/>
          <p:cNvCxnSpPr/>
          <p:nvPr/>
        </p:nvCxnSpPr>
        <p:spPr bwMode="auto">
          <a:xfrm>
            <a:off x="3089686" y="3969007"/>
            <a:ext cx="0" cy="1710019"/>
          </a:xfrm>
          <a:prstGeom prst="line">
            <a:avLst/>
          </a:prstGeom>
          <a:ln>
            <a:solidFill>
              <a:schemeClr val="tx1">
                <a:lumMod val="75000"/>
                <a:lumOff val="2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37" name="直線コネクタ 36"/>
          <p:cNvCxnSpPr/>
          <p:nvPr/>
        </p:nvCxnSpPr>
        <p:spPr bwMode="auto">
          <a:xfrm>
            <a:off x="4432444" y="3969007"/>
            <a:ext cx="0" cy="1710019"/>
          </a:xfrm>
          <a:prstGeom prst="line">
            <a:avLst/>
          </a:prstGeom>
          <a:ln>
            <a:solidFill>
              <a:schemeClr val="tx1">
                <a:lumMod val="75000"/>
                <a:lumOff val="2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39" name="直線矢印コネクタ 38"/>
          <p:cNvCxnSpPr/>
          <p:nvPr/>
        </p:nvCxnSpPr>
        <p:spPr bwMode="auto">
          <a:xfrm>
            <a:off x="3125971" y="4059007"/>
            <a:ext cx="1260014" cy="0"/>
          </a:xfrm>
          <a:prstGeom prst="straightConnector1">
            <a:avLst/>
          </a:prstGeom>
          <a:noFill/>
          <a:ln w="9525" cap="flat" cmpd="sng" algn="ctr">
            <a:solidFill>
              <a:schemeClr val="tx1">
                <a:lumMod val="75000"/>
                <a:lumOff val="25000"/>
              </a:schemeClr>
            </a:solidFill>
            <a:prstDash val="solid"/>
            <a:round/>
            <a:headEnd type="triangle"/>
            <a:tailEnd type="triangle"/>
          </a:ln>
          <a:effectLst/>
        </p:spPr>
      </p:cxnSp>
      <p:sp>
        <p:nvSpPr>
          <p:cNvPr id="40" name="Rectangle 69"/>
          <p:cNvSpPr>
            <a:spLocks noChangeArrowheads="1"/>
          </p:cNvSpPr>
          <p:nvPr/>
        </p:nvSpPr>
        <p:spPr bwMode="auto">
          <a:xfrm>
            <a:off x="7176008"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1" name="Rectangle 70"/>
          <p:cNvSpPr>
            <a:spLocks noChangeArrowheads="1"/>
          </p:cNvSpPr>
          <p:nvPr/>
        </p:nvSpPr>
        <p:spPr bwMode="auto">
          <a:xfrm>
            <a:off x="7626013"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43" name="Rectangle 69"/>
          <p:cNvSpPr>
            <a:spLocks noChangeArrowheads="1"/>
          </p:cNvSpPr>
          <p:nvPr/>
        </p:nvSpPr>
        <p:spPr bwMode="auto">
          <a:xfrm>
            <a:off x="7626013" y="459901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4" name="Rectangle 70"/>
          <p:cNvSpPr>
            <a:spLocks noChangeArrowheads="1"/>
          </p:cNvSpPr>
          <p:nvPr/>
        </p:nvSpPr>
        <p:spPr bwMode="auto">
          <a:xfrm>
            <a:off x="8076022" y="459901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45" name="Rectangle 71"/>
          <p:cNvSpPr>
            <a:spLocks noChangeArrowheads="1"/>
          </p:cNvSpPr>
          <p:nvPr/>
        </p:nvSpPr>
        <p:spPr bwMode="auto">
          <a:xfrm>
            <a:off x="8976032" y="4599013"/>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46" name="Rectangle 73"/>
          <p:cNvSpPr>
            <a:spLocks noChangeArrowheads="1"/>
          </p:cNvSpPr>
          <p:nvPr/>
        </p:nvSpPr>
        <p:spPr bwMode="auto">
          <a:xfrm>
            <a:off x="9426037" y="4599013"/>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47" name="Rectangle 69"/>
          <p:cNvSpPr>
            <a:spLocks noChangeArrowheads="1"/>
          </p:cNvSpPr>
          <p:nvPr/>
        </p:nvSpPr>
        <p:spPr bwMode="auto">
          <a:xfrm>
            <a:off x="8076022" y="504901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8" name="Rectangle 70"/>
          <p:cNvSpPr>
            <a:spLocks noChangeArrowheads="1"/>
          </p:cNvSpPr>
          <p:nvPr/>
        </p:nvSpPr>
        <p:spPr bwMode="auto">
          <a:xfrm>
            <a:off x="8526023" y="504901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49" name="Rectangle 71"/>
          <p:cNvSpPr>
            <a:spLocks noChangeArrowheads="1"/>
          </p:cNvSpPr>
          <p:nvPr/>
        </p:nvSpPr>
        <p:spPr bwMode="auto">
          <a:xfrm>
            <a:off x="9426037" y="504901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50" name="Rectangle 73"/>
          <p:cNvSpPr>
            <a:spLocks noChangeArrowheads="1"/>
          </p:cNvSpPr>
          <p:nvPr/>
        </p:nvSpPr>
        <p:spPr bwMode="auto">
          <a:xfrm>
            <a:off x="9876042" y="5049018"/>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51" name="Rectangle 73"/>
          <p:cNvSpPr>
            <a:spLocks noChangeArrowheads="1"/>
          </p:cNvSpPr>
          <p:nvPr/>
        </p:nvSpPr>
        <p:spPr bwMode="auto">
          <a:xfrm>
            <a:off x="8976032" y="4149008"/>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54" name="Rectangle 71"/>
          <p:cNvSpPr>
            <a:spLocks noChangeArrowheads="1"/>
          </p:cNvSpPr>
          <p:nvPr/>
        </p:nvSpPr>
        <p:spPr bwMode="auto">
          <a:xfrm>
            <a:off x="8526027" y="414900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55" name="Rectangle 70"/>
          <p:cNvSpPr>
            <a:spLocks noChangeArrowheads="1"/>
          </p:cNvSpPr>
          <p:nvPr/>
        </p:nvSpPr>
        <p:spPr bwMode="auto">
          <a:xfrm>
            <a:off x="8076018" y="4149008"/>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56" name="Rectangle 70"/>
          <p:cNvSpPr>
            <a:spLocks noChangeArrowheads="1"/>
          </p:cNvSpPr>
          <p:nvPr/>
        </p:nvSpPr>
        <p:spPr bwMode="auto">
          <a:xfrm>
            <a:off x="8526023" y="4599013"/>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57" name="Rectangle 70"/>
          <p:cNvSpPr>
            <a:spLocks noChangeArrowheads="1"/>
          </p:cNvSpPr>
          <p:nvPr/>
        </p:nvSpPr>
        <p:spPr bwMode="auto">
          <a:xfrm>
            <a:off x="8976028" y="5049018"/>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67" name="下矢印 66"/>
          <p:cNvSpPr/>
          <p:nvPr/>
        </p:nvSpPr>
        <p:spPr bwMode="auto">
          <a:xfrm rot="16200000">
            <a:off x="6321003" y="4374011"/>
            <a:ext cx="540006" cy="630007"/>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39202548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in-order </a:t>
            </a:r>
            <a:r>
              <a:rPr lang="ja-JP" altLang="en-US" dirty="0"/>
              <a:t>発行</a:t>
            </a:r>
            <a:r>
              <a:rPr lang="en-US" altLang="ja-JP" dirty="0"/>
              <a:t>/in-order </a:t>
            </a:r>
            <a:r>
              <a:rPr lang="ja-JP" altLang="en-US" dirty="0"/>
              <a:t>完了</a:t>
            </a:r>
            <a:endParaRPr kumimoji="1" lang="ja-JP" altLang="en-US" dirty="0"/>
          </a:p>
        </p:txBody>
      </p:sp>
      <p:sp>
        <p:nvSpPr>
          <p:cNvPr id="3" name="テキスト プレースホルダー 2"/>
          <p:cNvSpPr>
            <a:spLocks noGrp="1"/>
          </p:cNvSpPr>
          <p:nvPr>
            <p:ph type="body" sz="quarter" idx="10"/>
          </p:nvPr>
        </p:nvSpPr>
        <p:spPr>
          <a:xfrm>
            <a:off x="2135956" y="1088975"/>
            <a:ext cx="8280092" cy="450005"/>
          </a:xfrm>
        </p:spPr>
        <p:txBody>
          <a:bodyPr anchor="t"/>
          <a:lstStyle/>
          <a:p>
            <a:pPr marL="457200" indent="-457200">
              <a:buFont typeface="+mj-lt"/>
              <a:buAutoNum type="arabicPeriod"/>
            </a:pPr>
            <a:r>
              <a:rPr kumimoji="1" lang="ja-JP" altLang="en-US" dirty="0"/>
              <a:t>発行が </a:t>
            </a:r>
            <a:r>
              <a:rPr kumimoji="1" lang="en-US" altLang="ja-JP" dirty="0"/>
              <a:t>in-order</a:t>
            </a:r>
          </a:p>
          <a:p>
            <a:pPr lvl="1"/>
            <a:r>
              <a:rPr kumimoji="1" lang="ja-JP" altLang="en-US" dirty="0"/>
              <a:t>ある命令の </a:t>
            </a:r>
            <a:r>
              <a:rPr kumimoji="1" lang="en-US" altLang="ja-JP" dirty="0">
                <a:solidFill>
                  <a:schemeClr val="accent5"/>
                </a:solidFill>
              </a:rPr>
              <a:t>IS</a:t>
            </a:r>
            <a:r>
              <a:rPr kumimoji="1" lang="en-US" altLang="ja-JP" dirty="0"/>
              <a:t> </a:t>
            </a:r>
            <a:r>
              <a:rPr kumimoji="1" lang="ja-JP" altLang="en-US" dirty="0"/>
              <a:t>が終わった後に，次の命令の </a:t>
            </a:r>
            <a:r>
              <a:rPr kumimoji="1" lang="en-US" altLang="ja-JP" dirty="0"/>
              <a:t>IS</a:t>
            </a:r>
            <a:r>
              <a:rPr kumimoji="1" lang="ja-JP" altLang="en-US" dirty="0"/>
              <a:t>（と</a:t>
            </a:r>
            <a:r>
              <a:rPr kumimoji="1" lang="en-US" altLang="ja-JP" dirty="0">
                <a:solidFill>
                  <a:schemeClr val="accent5"/>
                </a:solidFill>
              </a:rPr>
              <a:t>WB</a:t>
            </a:r>
            <a:r>
              <a:rPr kumimoji="1" lang="ja-JP" altLang="en-US" dirty="0"/>
              <a:t>）が来る</a:t>
            </a:r>
            <a:endParaRPr kumimoji="1" lang="en-US" altLang="ja-JP" dirty="0"/>
          </a:p>
          <a:p>
            <a:pPr lvl="1"/>
            <a:r>
              <a:rPr lang="ja-JP" altLang="en-US" dirty="0"/>
              <a:t>逆依存（</a:t>
            </a:r>
            <a:r>
              <a:rPr lang="en-US" altLang="ja-JP" dirty="0"/>
              <a:t>WAR</a:t>
            </a:r>
            <a:r>
              <a:rPr lang="ja-JP" altLang="en-US" dirty="0"/>
              <a:t>）が守られる</a:t>
            </a:r>
            <a:endParaRPr lang="en-US" altLang="ja-JP" dirty="0"/>
          </a:p>
          <a:p>
            <a:pPr lvl="2"/>
            <a:r>
              <a:rPr kumimoji="1" lang="en-US" altLang="ja-JP" dirty="0"/>
              <a:t>write-after</a:t>
            </a:r>
            <a:r>
              <a:rPr lang="en-US" altLang="ja-JP" dirty="0"/>
              <a:t>-read </a:t>
            </a:r>
            <a:r>
              <a:rPr lang="ja-JP" altLang="en-US" dirty="0"/>
              <a:t>の違反が起きない</a:t>
            </a:r>
            <a:endParaRPr kumimoji="1" lang="en-US" altLang="ja-JP" dirty="0"/>
          </a:p>
          <a:p>
            <a:pPr marL="457200" indent="-457200">
              <a:buFont typeface="+mj-lt"/>
              <a:buAutoNum type="arabicPeriod"/>
            </a:pPr>
            <a:r>
              <a:rPr lang="ja-JP" altLang="en-US" dirty="0"/>
              <a:t>完了が </a:t>
            </a:r>
            <a:r>
              <a:rPr lang="en-US" altLang="ja-JP" dirty="0"/>
              <a:t>in-order</a:t>
            </a:r>
          </a:p>
          <a:p>
            <a:pPr lvl="1"/>
            <a:r>
              <a:rPr lang="ja-JP" altLang="en-US" dirty="0"/>
              <a:t>ある命令の </a:t>
            </a:r>
            <a:r>
              <a:rPr lang="en-US" altLang="ja-JP" dirty="0">
                <a:solidFill>
                  <a:schemeClr val="accent5"/>
                </a:solidFill>
              </a:rPr>
              <a:t>WB</a:t>
            </a:r>
            <a:r>
              <a:rPr lang="en-US" altLang="ja-JP" dirty="0"/>
              <a:t> </a:t>
            </a:r>
            <a:r>
              <a:rPr lang="ja-JP" altLang="en-US" dirty="0"/>
              <a:t>が終わった後に，次の命令の </a:t>
            </a:r>
            <a:r>
              <a:rPr lang="en-US" altLang="ja-JP" dirty="0">
                <a:solidFill>
                  <a:schemeClr val="accent5"/>
                </a:solidFill>
              </a:rPr>
              <a:t>WB</a:t>
            </a:r>
            <a:r>
              <a:rPr lang="en-US" altLang="ja-JP" dirty="0"/>
              <a:t> </a:t>
            </a:r>
            <a:r>
              <a:rPr lang="ja-JP" altLang="en-US" dirty="0"/>
              <a:t>が来る</a:t>
            </a:r>
            <a:endParaRPr lang="en-US" altLang="ja-JP" dirty="0"/>
          </a:p>
          <a:p>
            <a:pPr lvl="1"/>
            <a:r>
              <a:rPr kumimoji="1" lang="ja-JP" altLang="en-US" dirty="0"/>
              <a:t>出力依存（</a:t>
            </a:r>
            <a:r>
              <a:rPr kumimoji="1" lang="en-US" altLang="ja-JP" dirty="0"/>
              <a:t>WAW</a:t>
            </a:r>
            <a:r>
              <a:rPr kumimoji="1" lang="ja-JP" altLang="en-US" dirty="0"/>
              <a:t>）が守られる</a:t>
            </a:r>
            <a:endParaRPr kumimoji="1" lang="en-US" altLang="ja-JP" dirty="0"/>
          </a:p>
          <a:p>
            <a:pPr lvl="2"/>
            <a:r>
              <a:rPr lang="en-US" altLang="ja-JP" dirty="0"/>
              <a:t>write-after-write </a:t>
            </a:r>
            <a:r>
              <a:rPr lang="ja-JP" altLang="en-US" dirty="0"/>
              <a:t>の違反が起きない</a:t>
            </a:r>
            <a:endParaRPr kumimoji="1" lang="ja-JP" altLang="en-US" dirty="0"/>
          </a:p>
        </p:txBody>
      </p:sp>
      <p:cxnSp>
        <p:nvCxnSpPr>
          <p:cNvPr id="31" name="直線コネクタ 30"/>
          <p:cNvCxnSpPr>
            <a:endCxn id="37" idx="1"/>
          </p:cNvCxnSpPr>
          <p:nvPr/>
        </p:nvCxnSpPr>
        <p:spPr bwMode="auto">
          <a:xfrm flipV="1">
            <a:off x="4115975" y="5589022"/>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32" name="直線コネクタ 31"/>
          <p:cNvCxnSpPr/>
          <p:nvPr/>
        </p:nvCxnSpPr>
        <p:spPr bwMode="auto">
          <a:xfrm>
            <a:off x="4115974" y="5139019"/>
            <a:ext cx="720080" cy="0"/>
          </a:xfrm>
          <a:prstGeom prst="line">
            <a:avLst/>
          </a:prstGeom>
          <a:noFill/>
          <a:ln w="9525" cap="flat" cmpd="sng" algn="ctr">
            <a:solidFill>
              <a:schemeClr val="tx1"/>
            </a:solidFill>
            <a:prstDash val="dash"/>
            <a:round/>
            <a:headEnd type="none" w="med" len="med"/>
            <a:tailEnd type="none" w="med" len="med"/>
          </a:ln>
          <a:effectLst/>
        </p:spPr>
      </p:cxnSp>
      <p:sp>
        <p:nvSpPr>
          <p:cNvPr id="33" name="Rectangle 69"/>
          <p:cNvSpPr>
            <a:spLocks noChangeArrowheads="1"/>
          </p:cNvSpPr>
          <p:nvPr/>
        </p:nvSpPr>
        <p:spPr bwMode="auto">
          <a:xfrm>
            <a:off x="4655980"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35" name="Rectangle 70"/>
          <p:cNvSpPr>
            <a:spLocks noChangeArrowheads="1"/>
          </p:cNvSpPr>
          <p:nvPr/>
        </p:nvSpPr>
        <p:spPr bwMode="auto">
          <a:xfrm>
            <a:off x="5105985"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36" name="Rectangle 71"/>
          <p:cNvSpPr>
            <a:spLocks noChangeArrowheads="1"/>
          </p:cNvSpPr>
          <p:nvPr/>
        </p:nvSpPr>
        <p:spPr bwMode="auto">
          <a:xfrm>
            <a:off x="6005999" y="495901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37" name="Rectangle 69"/>
          <p:cNvSpPr>
            <a:spLocks noChangeArrowheads="1"/>
          </p:cNvSpPr>
          <p:nvPr/>
        </p:nvSpPr>
        <p:spPr bwMode="auto">
          <a:xfrm>
            <a:off x="5105985" y="540902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2" name="Rectangle 70"/>
          <p:cNvSpPr>
            <a:spLocks noChangeArrowheads="1"/>
          </p:cNvSpPr>
          <p:nvPr/>
        </p:nvSpPr>
        <p:spPr bwMode="auto">
          <a:xfrm>
            <a:off x="5555994" y="540902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43" name="Rectangle 71"/>
          <p:cNvSpPr>
            <a:spLocks noChangeArrowheads="1"/>
          </p:cNvSpPr>
          <p:nvPr/>
        </p:nvSpPr>
        <p:spPr bwMode="auto">
          <a:xfrm>
            <a:off x="7806019" y="5409022"/>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44" name="Rectangle 73"/>
          <p:cNvSpPr>
            <a:spLocks noChangeArrowheads="1"/>
          </p:cNvSpPr>
          <p:nvPr/>
        </p:nvSpPr>
        <p:spPr bwMode="auto">
          <a:xfrm>
            <a:off x="8256024" y="5409022"/>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45" name="Rectangle 69"/>
          <p:cNvSpPr>
            <a:spLocks noChangeArrowheads="1"/>
          </p:cNvSpPr>
          <p:nvPr/>
        </p:nvSpPr>
        <p:spPr bwMode="auto">
          <a:xfrm>
            <a:off x="5555994" y="585902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6" name="Rectangle 70"/>
          <p:cNvSpPr>
            <a:spLocks noChangeArrowheads="1"/>
          </p:cNvSpPr>
          <p:nvPr/>
        </p:nvSpPr>
        <p:spPr bwMode="auto">
          <a:xfrm>
            <a:off x="7356010" y="585902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47" name="Rectangle 71"/>
          <p:cNvSpPr>
            <a:spLocks noChangeArrowheads="1"/>
          </p:cNvSpPr>
          <p:nvPr/>
        </p:nvSpPr>
        <p:spPr bwMode="auto">
          <a:xfrm>
            <a:off x="8256024" y="585902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48" name="Rectangle 73"/>
          <p:cNvSpPr>
            <a:spLocks noChangeArrowheads="1"/>
          </p:cNvSpPr>
          <p:nvPr/>
        </p:nvSpPr>
        <p:spPr bwMode="auto">
          <a:xfrm>
            <a:off x="8706029" y="5859027"/>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cxnSp>
        <p:nvCxnSpPr>
          <p:cNvPr id="49" name="直線コネクタ 48"/>
          <p:cNvCxnSpPr>
            <a:stCxn id="56" idx="3"/>
            <a:endCxn id="45" idx="1"/>
          </p:cNvCxnSpPr>
          <p:nvPr/>
        </p:nvCxnSpPr>
        <p:spPr bwMode="auto">
          <a:xfrm flipV="1">
            <a:off x="4115974" y="6039027"/>
            <a:ext cx="1440020" cy="2"/>
          </a:xfrm>
          <a:prstGeom prst="line">
            <a:avLst/>
          </a:prstGeom>
          <a:noFill/>
          <a:ln w="9525" cap="flat" cmpd="sng" algn="ctr">
            <a:solidFill>
              <a:schemeClr val="tx1"/>
            </a:solidFill>
            <a:prstDash val="dash"/>
            <a:round/>
            <a:headEnd type="none" w="med" len="med"/>
            <a:tailEnd type="none" w="med" len="med"/>
          </a:ln>
          <a:effectLst/>
        </p:spPr>
      </p:cxnSp>
      <p:sp>
        <p:nvSpPr>
          <p:cNvPr id="50" name="Rectangle 73"/>
          <p:cNvSpPr>
            <a:spLocks noChangeArrowheads="1"/>
          </p:cNvSpPr>
          <p:nvPr/>
        </p:nvSpPr>
        <p:spPr bwMode="auto">
          <a:xfrm>
            <a:off x="7806019" y="4959017"/>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51" name="正方形/長方形 50"/>
          <p:cNvSpPr/>
          <p:nvPr/>
        </p:nvSpPr>
        <p:spPr bwMode="auto">
          <a:xfrm>
            <a:off x="3395966" y="495901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I1: </a:t>
            </a:r>
            <a:r>
              <a:rPr lang="en-US" altLang="ja-JP" sz="1600" dirty="0" err="1">
                <a:latin typeface="Consolas" panose="020B0609020204030204" pitchFamily="49" charset="0"/>
              </a:rPr>
              <a:t>mul</a:t>
            </a:r>
            <a:r>
              <a:rPr lang="en-US" altLang="ja-JP" sz="1600" dirty="0">
                <a:latin typeface="Consolas" panose="020B0609020204030204" pitchFamily="49" charset="0"/>
              </a:rPr>
              <a:t> </a:t>
            </a:r>
            <a:r>
              <a:rPr lang="en-US" altLang="ja-JP" sz="1600" dirty="0">
                <a:solidFill>
                  <a:schemeClr val="accent4"/>
                </a:solidFill>
                <a:latin typeface="Consolas" panose="020B0609020204030204" pitchFamily="49" charset="0"/>
              </a:rPr>
              <a:t>x1</a:t>
            </a:r>
            <a:r>
              <a:rPr lang="ja-JP" altLang="en-US" sz="1600" dirty="0">
                <a:latin typeface="Consolas" panose="020B0609020204030204" pitchFamily="49" charset="0"/>
              </a:rPr>
              <a:t>←</a:t>
            </a:r>
            <a:r>
              <a:rPr lang="en-US" altLang="ja-JP" sz="1600" dirty="0">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52" name="正方形/長方形 51"/>
          <p:cNvSpPr/>
          <p:nvPr/>
        </p:nvSpPr>
        <p:spPr bwMode="auto">
          <a:xfrm>
            <a:off x="3395966" y="540902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I2: add </a:t>
            </a:r>
            <a:r>
              <a:rPr lang="en-US" altLang="ja-JP" sz="1600" dirty="0">
                <a:solidFill>
                  <a:schemeClr val="accent4"/>
                </a:solidFill>
                <a:latin typeface="Consolas" panose="020B0609020204030204" pitchFamily="49" charset="0"/>
              </a:rPr>
              <a:t>x1</a:t>
            </a:r>
            <a:r>
              <a:rPr lang="ja-JP" altLang="en-US" sz="1600" dirty="0">
                <a:latin typeface="Consolas" panose="020B0609020204030204" pitchFamily="49" charset="0"/>
              </a:rPr>
              <a:t>←</a:t>
            </a:r>
            <a:r>
              <a:rPr lang="en-US" altLang="ja-JP" sz="1600" dirty="0">
                <a:solidFill>
                  <a:schemeClr val="accent3">
                    <a:lumMod val="75000"/>
                  </a:schemeClr>
                </a:solidFill>
                <a:latin typeface="Consolas" panose="020B0609020204030204" pitchFamily="49" charset="0"/>
              </a:rPr>
              <a:t>x3</a:t>
            </a:r>
            <a:r>
              <a:rPr lang="en-US" altLang="ja-JP" sz="1600" dirty="0">
                <a:latin typeface="Consolas" panose="020B0609020204030204" pitchFamily="49" charset="0"/>
              </a:rPr>
              <a:t>+1</a:t>
            </a:r>
            <a:endParaRPr lang="ja-JP" altLang="en-US" sz="1600" dirty="0"/>
          </a:p>
        </p:txBody>
      </p:sp>
      <p:sp>
        <p:nvSpPr>
          <p:cNvPr id="56" name="正方形/長方形 55"/>
          <p:cNvSpPr/>
          <p:nvPr/>
        </p:nvSpPr>
        <p:spPr bwMode="auto">
          <a:xfrm>
            <a:off x="3395966" y="585902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I3: sub </a:t>
            </a:r>
            <a:r>
              <a:rPr lang="en-US" altLang="ja-JP" sz="1600" dirty="0">
                <a:solidFill>
                  <a:schemeClr val="accent3">
                    <a:lumMod val="75000"/>
                  </a:schemeClr>
                </a:solidFill>
                <a:latin typeface="Consolas" panose="020B0609020204030204" pitchFamily="49" charset="0"/>
              </a:rPr>
              <a:t>x3</a:t>
            </a:r>
            <a:r>
              <a:rPr lang="ja-JP" altLang="en-US" sz="1600" dirty="0">
                <a:latin typeface="Consolas" panose="020B0609020204030204" pitchFamily="49" charset="0"/>
              </a:rPr>
              <a:t>←</a:t>
            </a:r>
            <a:r>
              <a:rPr lang="en-US" altLang="ja-JP" sz="1600" dirty="0">
                <a:latin typeface="Consolas" panose="020B0609020204030204" pitchFamily="49" charset="0"/>
              </a:rPr>
              <a:t>x1-1</a:t>
            </a:r>
            <a:endParaRPr lang="ja-JP" altLang="en-US" sz="1600" dirty="0"/>
          </a:p>
        </p:txBody>
      </p:sp>
      <p:sp>
        <p:nvSpPr>
          <p:cNvPr id="57" name="Rectangle 71"/>
          <p:cNvSpPr>
            <a:spLocks noChangeArrowheads="1"/>
          </p:cNvSpPr>
          <p:nvPr/>
        </p:nvSpPr>
        <p:spPr bwMode="auto">
          <a:xfrm>
            <a:off x="6456004" y="495901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58" name="Rectangle 71"/>
          <p:cNvSpPr>
            <a:spLocks noChangeArrowheads="1"/>
          </p:cNvSpPr>
          <p:nvPr/>
        </p:nvSpPr>
        <p:spPr bwMode="auto">
          <a:xfrm>
            <a:off x="6906009" y="495901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59" name="Rectangle 71"/>
          <p:cNvSpPr>
            <a:spLocks noChangeArrowheads="1"/>
          </p:cNvSpPr>
          <p:nvPr/>
        </p:nvSpPr>
        <p:spPr bwMode="auto">
          <a:xfrm>
            <a:off x="7356014" y="495901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63" name="Rectangle 70"/>
          <p:cNvSpPr>
            <a:spLocks noChangeArrowheads="1"/>
          </p:cNvSpPr>
          <p:nvPr/>
        </p:nvSpPr>
        <p:spPr bwMode="auto">
          <a:xfrm>
            <a:off x="5555990" y="4959017"/>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67" name="Rectangle 70"/>
          <p:cNvSpPr>
            <a:spLocks noChangeArrowheads="1"/>
          </p:cNvSpPr>
          <p:nvPr/>
        </p:nvSpPr>
        <p:spPr bwMode="auto">
          <a:xfrm>
            <a:off x="7356010" y="5409022"/>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68" name="Rectangle 70"/>
          <p:cNvSpPr>
            <a:spLocks noChangeArrowheads="1"/>
          </p:cNvSpPr>
          <p:nvPr/>
        </p:nvSpPr>
        <p:spPr bwMode="auto">
          <a:xfrm>
            <a:off x="7806015" y="5859027"/>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69" name="Rectangle 73"/>
          <p:cNvSpPr>
            <a:spLocks noChangeArrowheads="1"/>
          </p:cNvSpPr>
          <p:nvPr/>
        </p:nvSpPr>
        <p:spPr bwMode="auto">
          <a:xfrm>
            <a:off x="6005999" y="5409022"/>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70" name="Rectangle 73"/>
          <p:cNvSpPr>
            <a:spLocks noChangeArrowheads="1"/>
          </p:cNvSpPr>
          <p:nvPr/>
        </p:nvSpPr>
        <p:spPr bwMode="auto">
          <a:xfrm>
            <a:off x="6456004" y="5409022"/>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71" name="Rectangle 73"/>
          <p:cNvSpPr>
            <a:spLocks noChangeArrowheads="1"/>
          </p:cNvSpPr>
          <p:nvPr/>
        </p:nvSpPr>
        <p:spPr bwMode="auto">
          <a:xfrm>
            <a:off x="6906009" y="5409022"/>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72" name="Rectangle 73"/>
          <p:cNvSpPr>
            <a:spLocks noChangeArrowheads="1"/>
          </p:cNvSpPr>
          <p:nvPr/>
        </p:nvSpPr>
        <p:spPr bwMode="auto">
          <a:xfrm>
            <a:off x="6005999" y="5859027"/>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73" name="Rectangle 73"/>
          <p:cNvSpPr>
            <a:spLocks noChangeArrowheads="1"/>
          </p:cNvSpPr>
          <p:nvPr/>
        </p:nvSpPr>
        <p:spPr bwMode="auto">
          <a:xfrm>
            <a:off x="6456004" y="5859027"/>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74" name="Rectangle 73"/>
          <p:cNvSpPr>
            <a:spLocks noChangeArrowheads="1"/>
          </p:cNvSpPr>
          <p:nvPr/>
        </p:nvSpPr>
        <p:spPr bwMode="auto">
          <a:xfrm>
            <a:off x="6906009" y="5859027"/>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Tree>
    <p:extLst>
      <p:ext uri="{BB962C8B-B14F-4D97-AF65-F5344CB8AC3E}">
        <p14:creationId xmlns:p14="http://schemas.microsoft.com/office/powerpoint/2010/main" val="21124427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in-order </a:t>
            </a:r>
            <a:r>
              <a:rPr lang="ja-JP" altLang="en-US" dirty="0"/>
              <a:t>発行</a:t>
            </a:r>
            <a:r>
              <a:rPr lang="en-US" altLang="ja-JP" dirty="0"/>
              <a:t>/in-order </a:t>
            </a:r>
            <a:r>
              <a:rPr lang="ja-JP" altLang="en-US" dirty="0"/>
              <a:t>完了</a:t>
            </a:r>
            <a:endParaRPr kumimoji="1" lang="ja-JP" altLang="en-US" dirty="0"/>
          </a:p>
        </p:txBody>
      </p:sp>
      <p:sp>
        <p:nvSpPr>
          <p:cNvPr id="3" name="テキスト プレースホルダー 2"/>
          <p:cNvSpPr>
            <a:spLocks noGrp="1"/>
          </p:cNvSpPr>
          <p:nvPr>
            <p:ph type="body" sz="quarter" idx="10"/>
          </p:nvPr>
        </p:nvSpPr>
        <p:spPr>
          <a:xfrm>
            <a:off x="2135956" y="1088975"/>
            <a:ext cx="8280092" cy="450005"/>
          </a:xfrm>
        </p:spPr>
        <p:txBody>
          <a:bodyPr anchor="t"/>
          <a:lstStyle/>
          <a:p>
            <a:r>
              <a:rPr kumimoji="1" lang="ja-JP" altLang="en-US" dirty="0"/>
              <a:t>性能は最も低い</a:t>
            </a:r>
            <a:endParaRPr kumimoji="1" lang="en-US" altLang="ja-JP" dirty="0"/>
          </a:p>
          <a:p>
            <a:pPr lvl="1"/>
            <a:r>
              <a:rPr kumimoji="1" lang="en-US" altLang="ja-JP" dirty="0" err="1"/>
              <a:t>mul</a:t>
            </a:r>
            <a:r>
              <a:rPr kumimoji="1" lang="en-US" altLang="ja-JP" dirty="0"/>
              <a:t> </a:t>
            </a:r>
            <a:r>
              <a:rPr kumimoji="1" lang="ja-JP" altLang="en-US" dirty="0"/>
              <a:t>と依存がない命令であっても，</a:t>
            </a:r>
            <a:r>
              <a:rPr kumimoji="1" lang="en-US" altLang="ja-JP" dirty="0" err="1"/>
              <a:t>mul</a:t>
            </a:r>
            <a:r>
              <a:rPr kumimoji="1" lang="en-US" altLang="ja-JP" dirty="0"/>
              <a:t> </a:t>
            </a:r>
            <a:r>
              <a:rPr kumimoji="1" lang="ja-JP" altLang="en-US" dirty="0"/>
              <a:t>の完了を待たされる</a:t>
            </a:r>
            <a:endParaRPr kumimoji="1" lang="en-US" altLang="ja-JP" dirty="0"/>
          </a:p>
          <a:p>
            <a:pPr lvl="1"/>
            <a:r>
              <a:rPr kumimoji="1" lang="ja-JP" altLang="en-US" dirty="0"/>
              <a:t>しかし，最も単純</a:t>
            </a:r>
            <a:endParaRPr kumimoji="1" lang="en-US" altLang="ja-JP" dirty="0"/>
          </a:p>
          <a:p>
            <a:r>
              <a:rPr lang="en-US" altLang="ja-JP" dirty="0">
                <a:latin typeface="Consolas" panose="020B0609020204030204" pitchFamily="49" charset="0"/>
              </a:rPr>
              <a:t>I1 </a:t>
            </a:r>
            <a:r>
              <a:rPr lang="ja-JP" altLang="en-US" dirty="0">
                <a:latin typeface="Consolas" panose="020B0609020204030204" pitchFamily="49" charset="0"/>
              </a:rPr>
              <a:t>に対し，以下は全員待たされる</a:t>
            </a:r>
            <a:endParaRPr kumimoji="1" lang="en-US" altLang="ja-JP" dirty="0"/>
          </a:p>
          <a:p>
            <a:pPr lvl="1"/>
            <a:r>
              <a:rPr lang="en-US" altLang="ja-JP" dirty="0">
                <a:latin typeface="Consolas" panose="020B0609020204030204" pitchFamily="49" charset="0"/>
              </a:rPr>
              <a:t>I2: </a:t>
            </a:r>
            <a:r>
              <a:rPr lang="ja-JP" altLang="en-US" dirty="0">
                <a:latin typeface="Consolas" panose="020B0609020204030204" pitchFamily="49" charset="0"/>
              </a:rPr>
              <a:t>出力依存</a:t>
            </a:r>
            <a:endParaRPr lang="en-US" altLang="ja-JP" dirty="0">
              <a:latin typeface="Consolas" panose="020B0609020204030204" pitchFamily="49" charset="0"/>
            </a:endParaRPr>
          </a:p>
          <a:p>
            <a:pPr lvl="1"/>
            <a:r>
              <a:rPr kumimoji="1" lang="en-US" altLang="ja-JP" dirty="0">
                <a:latin typeface="Consolas" panose="020B0609020204030204" pitchFamily="49" charset="0"/>
              </a:rPr>
              <a:t>I3: </a:t>
            </a:r>
            <a:r>
              <a:rPr kumimoji="1" lang="ja-JP" altLang="en-US" dirty="0">
                <a:latin typeface="Consolas" panose="020B0609020204030204" pitchFamily="49" charset="0"/>
              </a:rPr>
              <a:t>逆依存</a:t>
            </a:r>
            <a:endParaRPr kumimoji="1" lang="en-US" altLang="ja-JP" dirty="0">
              <a:latin typeface="Consolas" panose="020B0609020204030204" pitchFamily="49" charset="0"/>
            </a:endParaRPr>
          </a:p>
          <a:p>
            <a:pPr lvl="1"/>
            <a:r>
              <a:rPr lang="en-US" altLang="ja-JP" dirty="0">
                <a:latin typeface="Consolas" panose="020B0609020204030204" pitchFamily="49" charset="0"/>
              </a:rPr>
              <a:t>I4: </a:t>
            </a:r>
            <a:r>
              <a:rPr lang="ja-JP" altLang="en-US" dirty="0">
                <a:latin typeface="Consolas" panose="020B0609020204030204" pitchFamily="49" charset="0"/>
              </a:rPr>
              <a:t>依存なし</a:t>
            </a:r>
            <a:endParaRPr kumimoji="1" lang="ja-JP" altLang="en-US" dirty="0"/>
          </a:p>
        </p:txBody>
      </p:sp>
      <p:cxnSp>
        <p:nvCxnSpPr>
          <p:cNvPr id="38" name="直線コネクタ 37"/>
          <p:cNvCxnSpPr>
            <a:endCxn id="54" idx="1"/>
          </p:cNvCxnSpPr>
          <p:nvPr/>
        </p:nvCxnSpPr>
        <p:spPr bwMode="auto">
          <a:xfrm flipV="1">
            <a:off x="4115979" y="5319019"/>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39" name="直線コネクタ 38"/>
          <p:cNvCxnSpPr/>
          <p:nvPr/>
        </p:nvCxnSpPr>
        <p:spPr bwMode="auto">
          <a:xfrm>
            <a:off x="4115978" y="4869016"/>
            <a:ext cx="720080" cy="0"/>
          </a:xfrm>
          <a:prstGeom prst="line">
            <a:avLst/>
          </a:prstGeom>
          <a:noFill/>
          <a:ln w="9525" cap="flat" cmpd="sng" algn="ctr">
            <a:solidFill>
              <a:schemeClr val="tx1"/>
            </a:solidFill>
            <a:prstDash val="dash"/>
            <a:round/>
            <a:headEnd type="none" w="med" len="med"/>
            <a:tailEnd type="none" w="med" len="med"/>
          </a:ln>
          <a:effectLst/>
        </p:spPr>
      </p:cxnSp>
      <p:sp>
        <p:nvSpPr>
          <p:cNvPr id="40" name="Rectangle 69"/>
          <p:cNvSpPr>
            <a:spLocks noChangeArrowheads="1"/>
          </p:cNvSpPr>
          <p:nvPr/>
        </p:nvSpPr>
        <p:spPr bwMode="auto">
          <a:xfrm>
            <a:off x="4655984" y="468901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1" name="Rectangle 70"/>
          <p:cNvSpPr>
            <a:spLocks noChangeArrowheads="1"/>
          </p:cNvSpPr>
          <p:nvPr/>
        </p:nvSpPr>
        <p:spPr bwMode="auto">
          <a:xfrm>
            <a:off x="5105989" y="468901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53" name="Rectangle 71"/>
          <p:cNvSpPr>
            <a:spLocks noChangeArrowheads="1"/>
          </p:cNvSpPr>
          <p:nvPr/>
        </p:nvSpPr>
        <p:spPr bwMode="auto">
          <a:xfrm>
            <a:off x="6006003" y="468901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54" name="Rectangle 69"/>
          <p:cNvSpPr>
            <a:spLocks noChangeArrowheads="1"/>
          </p:cNvSpPr>
          <p:nvPr/>
        </p:nvSpPr>
        <p:spPr bwMode="auto">
          <a:xfrm>
            <a:off x="5105989" y="513901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55" name="Rectangle 70"/>
          <p:cNvSpPr>
            <a:spLocks noChangeArrowheads="1"/>
          </p:cNvSpPr>
          <p:nvPr/>
        </p:nvSpPr>
        <p:spPr bwMode="auto">
          <a:xfrm>
            <a:off x="5555998" y="513901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60" name="Rectangle 71"/>
          <p:cNvSpPr>
            <a:spLocks noChangeArrowheads="1"/>
          </p:cNvSpPr>
          <p:nvPr/>
        </p:nvSpPr>
        <p:spPr bwMode="auto">
          <a:xfrm>
            <a:off x="7806023" y="5139019"/>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61" name="Rectangle 73"/>
          <p:cNvSpPr>
            <a:spLocks noChangeArrowheads="1"/>
          </p:cNvSpPr>
          <p:nvPr/>
        </p:nvSpPr>
        <p:spPr bwMode="auto">
          <a:xfrm>
            <a:off x="8256028" y="5139019"/>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62" name="Rectangle 69"/>
          <p:cNvSpPr>
            <a:spLocks noChangeArrowheads="1"/>
          </p:cNvSpPr>
          <p:nvPr/>
        </p:nvSpPr>
        <p:spPr bwMode="auto">
          <a:xfrm>
            <a:off x="5555998" y="558902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64" name="Rectangle 70"/>
          <p:cNvSpPr>
            <a:spLocks noChangeArrowheads="1"/>
          </p:cNvSpPr>
          <p:nvPr/>
        </p:nvSpPr>
        <p:spPr bwMode="auto">
          <a:xfrm>
            <a:off x="7356014" y="558902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65" name="Rectangle 71"/>
          <p:cNvSpPr>
            <a:spLocks noChangeArrowheads="1"/>
          </p:cNvSpPr>
          <p:nvPr/>
        </p:nvSpPr>
        <p:spPr bwMode="auto">
          <a:xfrm>
            <a:off x="8256028" y="558902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66" name="Rectangle 73"/>
          <p:cNvSpPr>
            <a:spLocks noChangeArrowheads="1"/>
          </p:cNvSpPr>
          <p:nvPr/>
        </p:nvSpPr>
        <p:spPr bwMode="auto">
          <a:xfrm>
            <a:off x="8706033" y="5589024"/>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cxnSp>
        <p:nvCxnSpPr>
          <p:cNvPr id="78" name="直線コネクタ 77"/>
          <p:cNvCxnSpPr>
            <a:endCxn id="62" idx="1"/>
          </p:cNvCxnSpPr>
          <p:nvPr/>
        </p:nvCxnSpPr>
        <p:spPr bwMode="auto">
          <a:xfrm flipV="1">
            <a:off x="4115978" y="5769024"/>
            <a:ext cx="1440020" cy="2"/>
          </a:xfrm>
          <a:prstGeom prst="line">
            <a:avLst/>
          </a:prstGeom>
          <a:noFill/>
          <a:ln w="9525" cap="flat" cmpd="sng" algn="ctr">
            <a:solidFill>
              <a:schemeClr val="tx1"/>
            </a:solidFill>
            <a:prstDash val="dash"/>
            <a:round/>
            <a:headEnd type="none" w="med" len="med"/>
            <a:tailEnd type="none" w="med" len="med"/>
          </a:ln>
          <a:effectLst/>
        </p:spPr>
      </p:cxnSp>
      <p:sp>
        <p:nvSpPr>
          <p:cNvPr id="79" name="Rectangle 73"/>
          <p:cNvSpPr>
            <a:spLocks noChangeArrowheads="1"/>
          </p:cNvSpPr>
          <p:nvPr/>
        </p:nvSpPr>
        <p:spPr bwMode="auto">
          <a:xfrm>
            <a:off x="7806023" y="4689014"/>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83" name="Rectangle 71"/>
          <p:cNvSpPr>
            <a:spLocks noChangeArrowheads="1"/>
          </p:cNvSpPr>
          <p:nvPr/>
        </p:nvSpPr>
        <p:spPr bwMode="auto">
          <a:xfrm>
            <a:off x="6456008" y="468901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84" name="Rectangle 71"/>
          <p:cNvSpPr>
            <a:spLocks noChangeArrowheads="1"/>
          </p:cNvSpPr>
          <p:nvPr/>
        </p:nvSpPr>
        <p:spPr bwMode="auto">
          <a:xfrm>
            <a:off x="6906013" y="468901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85" name="Rectangle 71"/>
          <p:cNvSpPr>
            <a:spLocks noChangeArrowheads="1"/>
          </p:cNvSpPr>
          <p:nvPr/>
        </p:nvSpPr>
        <p:spPr bwMode="auto">
          <a:xfrm>
            <a:off x="7356018" y="468901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86" name="Rectangle 70"/>
          <p:cNvSpPr>
            <a:spLocks noChangeArrowheads="1"/>
          </p:cNvSpPr>
          <p:nvPr/>
        </p:nvSpPr>
        <p:spPr bwMode="auto">
          <a:xfrm>
            <a:off x="5555994" y="4689014"/>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87" name="Rectangle 70"/>
          <p:cNvSpPr>
            <a:spLocks noChangeArrowheads="1"/>
          </p:cNvSpPr>
          <p:nvPr/>
        </p:nvSpPr>
        <p:spPr bwMode="auto">
          <a:xfrm>
            <a:off x="7356014" y="5139019"/>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88" name="Rectangle 70"/>
          <p:cNvSpPr>
            <a:spLocks noChangeArrowheads="1"/>
          </p:cNvSpPr>
          <p:nvPr/>
        </p:nvSpPr>
        <p:spPr bwMode="auto">
          <a:xfrm>
            <a:off x="7806019" y="5589024"/>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89" name="Rectangle 73"/>
          <p:cNvSpPr>
            <a:spLocks noChangeArrowheads="1"/>
          </p:cNvSpPr>
          <p:nvPr/>
        </p:nvSpPr>
        <p:spPr bwMode="auto">
          <a:xfrm>
            <a:off x="6006003" y="513901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90" name="Rectangle 73"/>
          <p:cNvSpPr>
            <a:spLocks noChangeArrowheads="1"/>
          </p:cNvSpPr>
          <p:nvPr/>
        </p:nvSpPr>
        <p:spPr bwMode="auto">
          <a:xfrm>
            <a:off x="6456008" y="513901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91" name="Rectangle 73"/>
          <p:cNvSpPr>
            <a:spLocks noChangeArrowheads="1"/>
          </p:cNvSpPr>
          <p:nvPr/>
        </p:nvSpPr>
        <p:spPr bwMode="auto">
          <a:xfrm>
            <a:off x="6906013" y="513901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92" name="Rectangle 73"/>
          <p:cNvSpPr>
            <a:spLocks noChangeArrowheads="1"/>
          </p:cNvSpPr>
          <p:nvPr/>
        </p:nvSpPr>
        <p:spPr bwMode="auto">
          <a:xfrm>
            <a:off x="6006003" y="5589024"/>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93" name="Rectangle 73"/>
          <p:cNvSpPr>
            <a:spLocks noChangeArrowheads="1"/>
          </p:cNvSpPr>
          <p:nvPr/>
        </p:nvSpPr>
        <p:spPr bwMode="auto">
          <a:xfrm>
            <a:off x="6456008" y="5589024"/>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94" name="Rectangle 73"/>
          <p:cNvSpPr>
            <a:spLocks noChangeArrowheads="1"/>
          </p:cNvSpPr>
          <p:nvPr/>
        </p:nvSpPr>
        <p:spPr bwMode="auto">
          <a:xfrm>
            <a:off x="6906013" y="5589024"/>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98" name="正方形/長方形 97"/>
          <p:cNvSpPr/>
          <p:nvPr/>
        </p:nvSpPr>
        <p:spPr bwMode="auto">
          <a:xfrm>
            <a:off x="3395970" y="468901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I1: </a:t>
            </a:r>
            <a:r>
              <a:rPr lang="en-US" altLang="ja-JP" sz="1600" dirty="0" err="1">
                <a:latin typeface="Consolas" panose="020B0609020204030204" pitchFamily="49" charset="0"/>
              </a:rPr>
              <a:t>mul</a:t>
            </a:r>
            <a:r>
              <a:rPr lang="en-US" altLang="ja-JP" sz="1600" dirty="0">
                <a:latin typeface="Consolas" panose="020B0609020204030204" pitchFamily="49" charset="0"/>
              </a:rPr>
              <a:t> </a:t>
            </a:r>
            <a:r>
              <a:rPr lang="en-US" altLang="ja-JP" sz="1600" dirty="0">
                <a:solidFill>
                  <a:schemeClr val="accent4"/>
                </a:solidFill>
                <a:latin typeface="Consolas" panose="020B0609020204030204" pitchFamily="49" charset="0"/>
              </a:rPr>
              <a:t>x1</a:t>
            </a:r>
            <a:r>
              <a:rPr lang="ja-JP" altLang="en-US" sz="1600" dirty="0">
                <a:latin typeface="Consolas" panose="020B0609020204030204" pitchFamily="49" charset="0"/>
              </a:rPr>
              <a:t>←</a:t>
            </a:r>
            <a:r>
              <a:rPr lang="en-US" altLang="ja-JP" sz="1600" dirty="0">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99" name="正方形/長方形 98"/>
          <p:cNvSpPr/>
          <p:nvPr/>
        </p:nvSpPr>
        <p:spPr bwMode="auto">
          <a:xfrm>
            <a:off x="3395970" y="513901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I2: add </a:t>
            </a:r>
            <a:r>
              <a:rPr lang="en-US" altLang="ja-JP" sz="1600" dirty="0">
                <a:solidFill>
                  <a:schemeClr val="accent4"/>
                </a:solidFill>
                <a:latin typeface="Consolas" panose="020B0609020204030204" pitchFamily="49" charset="0"/>
              </a:rPr>
              <a:t>x1</a:t>
            </a:r>
            <a:r>
              <a:rPr lang="ja-JP" altLang="en-US" sz="1600" dirty="0">
                <a:latin typeface="Consolas" panose="020B0609020204030204" pitchFamily="49" charset="0"/>
              </a:rPr>
              <a:t>←</a:t>
            </a:r>
            <a:r>
              <a:rPr lang="en-US" altLang="ja-JP" sz="1600" dirty="0">
                <a:solidFill>
                  <a:schemeClr val="accent3">
                    <a:lumMod val="75000"/>
                  </a:schemeClr>
                </a:solidFill>
                <a:latin typeface="Consolas" panose="020B0609020204030204" pitchFamily="49" charset="0"/>
              </a:rPr>
              <a:t>x3</a:t>
            </a:r>
            <a:r>
              <a:rPr lang="en-US" altLang="ja-JP" sz="1600" dirty="0">
                <a:latin typeface="Consolas" panose="020B0609020204030204" pitchFamily="49" charset="0"/>
              </a:rPr>
              <a:t>+1</a:t>
            </a:r>
            <a:endParaRPr lang="ja-JP" altLang="en-US" sz="1600" dirty="0"/>
          </a:p>
        </p:txBody>
      </p:sp>
      <p:sp>
        <p:nvSpPr>
          <p:cNvPr id="100" name="正方形/長方形 99"/>
          <p:cNvSpPr/>
          <p:nvPr/>
        </p:nvSpPr>
        <p:spPr bwMode="auto">
          <a:xfrm>
            <a:off x="3395970" y="558902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I3: sub </a:t>
            </a:r>
            <a:r>
              <a:rPr lang="en-US" altLang="ja-JP" sz="1600" dirty="0">
                <a:solidFill>
                  <a:schemeClr val="accent3">
                    <a:lumMod val="75000"/>
                  </a:schemeClr>
                </a:solidFill>
                <a:latin typeface="Consolas" panose="020B0609020204030204" pitchFamily="49" charset="0"/>
              </a:rPr>
              <a:t>x3</a:t>
            </a:r>
            <a:r>
              <a:rPr lang="ja-JP" altLang="en-US" sz="1600" dirty="0">
                <a:latin typeface="Consolas" panose="020B0609020204030204" pitchFamily="49" charset="0"/>
              </a:rPr>
              <a:t>←</a:t>
            </a:r>
            <a:r>
              <a:rPr lang="en-US" altLang="ja-JP" sz="1600" dirty="0">
                <a:latin typeface="Consolas" panose="020B0609020204030204" pitchFamily="49" charset="0"/>
              </a:rPr>
              <a:t>x1-1</a:t>
            </a:r>
            <a:endParaRPr lang="ja-JP" altLang="en-US" sz="1600" dirty="0"/>
          </a:p>
        </p:txBody>
      </p:sp>
      <p:sp>
        <p:nvSpPr>
          <p:cNvPr id="101" name="Rectangle 69"/>
          <p:cNvSpPr>
            <a:spLocks noChangeArrowheads="1"/>
          </p:cNvSpPr>
          <p:nvPr/>
        </p:nvSpPr>
        <p:spPr bwMode="auto">
          <a:xfrm>
            <a:off x="7356014" y="603902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02" name="Rectangle 70"/>
          <p:cNvSpPr>
            <a:spLocks noChangeArrowheads="1"/>
          </p:cNvSpPr>
          <p:nvPr/>
        </p:nvSpPr>
        <p:spPr bwMode="auto">
          <a:xfrm>
            <a:off x="7806015" y="603902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03" name="Rectangle 71"/>
          <p:cNvSpPr>
            <a:spLocks noChangeArrowheads="1"/>
          </p:cNvSpPr>
          <p:nvPr/>
        </p:nvSpPr>
        <p:spPr bwMode="auto">
          <a:xfrm>
            <a:off x="8706029" y="6039029"/>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04" name="Rectangle 73"/>
          <p:cNvSpPr>
            <a:spLocks noChangeArrowheads="1"/>
          </p:cNvSpPr>
          <p:nvPr/>
        </p:nvSpPr>
        <p:spPr bwMode="auto">
          <a:xfrm>
            <a:off x="9156034" y="6039029"/>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cxnSp>
        <p:nvCxnSpPr>
          <p:cNvPr id="105" name="直線コネクタ 104"/>
          <p:cNvCxnSpPr>
            <a:stCxn id="110" idx="3"/>
            <a:endCxn id="101" idx="1"/>
          </p:cNvCxnSpPr>
          <p:nvPr/>
        </p:nvCxnSpPr>
        <p:spPr bwMode="auto">
          <a:xfrm flipV="1">
            <a:off x="4115978" y="6219029"/>
            <a:ext cx="3240036" cy="2"/>
          </a:xfrm>
          <a:prstGeom prst="line">
            <a:avLst/>
          </a:prstGeom>
          <a:noFill/>
          <a:ln w="9525" cap="flat" cmpd="sng" algn="ctr">
            <a:solidFill>
              <a:schemeClr val="tx1"/>
            </a:solidFill>
            <a:prstDash val="dash"/>
            <a:round/>
            <a:headEnd type="none" w="med" len="med"/>
            <a:tailEnd type="none" w="med" len="med"/>
          </a:ln>
          <a:effectLst/>
        </p:spPr>
      </p:cxnSp>
      <p:sp>
        <p:nvSpPr>
          <p:cNvPr id="106" name="Rectangle 70"/>
          <p:cNvSpPr>
            <a:spLocks noChangeArrowheads="1"/>
          </p:cNvSpPr>
          <p:nvPr/>
        </p:nvSpPr>
        <p:spPr bwMode="auto">
          <a:xfrm>
            <a:off x="8256020" y="6039029"/>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110" name="正方形/長方形 109"/>
          <p:cNvSpPr/>
          <p:nvPr/>
        </p:nvSpPr>
        <p:spPr bwMode="auto">
          <a:xfrm>
            <a:off x="3395970" y="603902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I4: and </a:t>
            </a:r>
            <a:r>
              <a:rPr lang="en-US" altLang="ja-JP" sz="1600" dirty="0">
                <a:solidFill>
                  <a:schemeClr val="tx1">
                    <a:lumMod val="75000"/>
                    <a:lumOff val="25000"/>
                  </a:schemeClr>
                </a:solidFill>
                <a:latin typeface="Consolas" panose="020B0609020204030204" pitchFamily="49" charset="0"/>
              </a:rPr>
              <a:t>x6</a:t>
            </a:r>
            <a:r>
              <a:rPr lang="ja-JP" altLang="en-US" sz="1600" dirty="0">
                <a:latin typeface="Consolas" panose="020B0609020204030204" pitchFamily="49" charset="0"/>
              </a:rPr>
              <a:t>←</a:t>
            </a:r>
            <a:r>
              <a:rPr lang="en-US" altLang="ja-JP" sz="1600" dirty="0">
                <a:latin typeface="Consolas" panose="020B0609020204030204" pitchFamily="49" charset="0"/>
              </a:rPr>
              <a:t>x7&amp;1</a:t>
            </a:r>
            <a:endParaRPr lang="ja-JP" altLang="en-US" sz="1600" dirty="0"/>
          </a:p>
        </p:txBody>
      </p:sp>
    </p:spTree>
    <p:extLst>
      <p:ext uri="{BB962C8B-B14F-4D97-AF65-F5344CB8AC3E}">
        <p14:creationId xmlns:p14="http://schemas.microsoft.com/office/powerpoint/2010/main" val="33412638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動的スケジューリングを行うプロセッサの分類</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en-US" altLang="ja-JP" dirty="0"/>
              <a:t>in-order </a:t>
            </a:r>
            <a:r>
              <a:rPr kumimoji="1" lang="ja-JP" altLang="en-US" dirty="0"/>
              <a:t>発行</a:t>
            </a:r>
            <a:r>
              <a:rPr kumimoji="1" lang="en-US" altLang="ja-JP" dirty="0"/>
              <a:t>/</a:t>
            </a:r>
            <a:r>
              <a:rPr lang="en-US" altLang="ja-JP" dirty="0"/>
              <a:t>in-order </a:t>
            </a:r>
            <a:r>
              <a:rPr lang="ja-JP" altLang="en-US" dirty="0"/>
              <a:t>完了</a:t>
            </a:r>
            <a:endParaRPr lang="en-US" altLang="ja-JP" dirty="0"/>
          </a:p>
          <a:p>
            <a:pPr marL="457200" indent="-457200">
              <a:buFont typeface="+mj-lt"/>
              <a:buAutoNum type="arabicPeriod"/>
            </a:pPr>
            <a:r>
              <a:rPr lang="en-US" altLang="ja-JP" dirty="0">
                <a:solidFill>
                  <a:schemeClr val="accent5"/>
                </a:solidFill>
              </a:rPr>
              <a:t>in-order </a:t>
            </a:r>
            <a:r>
              <a:rPr lang="ja-JP" altLang="en-US" dirty="0">
                <a:solidFill>
                  <a:schemeClr val="accent5"/>
                </a:solidFill>
              </a:rPr>
              <a:t>発行</a:t>
            </a:r>
            <a:r>
              <a:rPr lang="en-US" altLang="ja-JP" dirty="0">
                <a:solidFill>
                  <a:schemeClr val="accent5"/>
                </a:solidFill>
              </a:rPr>
              <a:t>/out-of-order </a:t>
            </a:r>
            <a:r>
              <a:rPr lang="ja-JP" altLang="en-US" dirty="0">
                <a:solidFill>
                  <a:schemeClr val="accent5"/>
                </a:solidFill>
              </a:rPr>
              <a:t>完了</a:t>
            </a:r>
            <a:endParaRPr lang="en-US" altLang="ja-JP" dirty="0">
              <a:solidFill>
                <a:schemeClr val="accent5"/>
              </a:solidFill>
            </a:endParaRPr>
          </a:p>
          <a:p>
            <a:pPr marL="457200" indent="-457200">
              <a:buFont typeface="+mj-lt"/>
              <a:buAutoNum type="arabicPeriod"/>
            </a:pPr>
            <a:r>
              <a:rPr lang="en-US" altLang="ja-JP" dirty="0"/>
              <a:t>out-of-order </a:t>
            </a:r>
            <a:r>
              <a:rPr lang="ja-JP" altLang="en-US" dirty="0"/>
              <a:t>発行</a:t>
            </a:r>
            <a:r>
              <a:rPr lang="en-US" altLang="ja-JP" dirty="0"/>
              <a:t>/out-of-order </a:t>
            </a:r>
            <a:r>
              <a:rPr lang="ja-JP" altLang="en-US" dirty="0"/>
              <a:t>完了</a:t>
            </a:r>
            <a:endParaRPr lang="en-US" altLang="ja-JP" dirty="0"/>
          </a:p>
        </p:txBody>
      </p:sp>
    </p:spTree>
    <p:extLst>
      <p:ext uri="{BB962C8B-B14F-4D97-AF65-F5344CB8AC3E}">
        <p14:creationId xmlns:p14="http://schemas.microsoft.com/office/powerpoint/2010/main" val="705239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モチベーション：依存がない命令を裏で実行したい</a:t>
            </a:r>
            <a:endParaRPr kumimoji="1" lang="ja-JP" altLang="en-US" dirty="0"/>
          </a:p>
        </p:txBody>
      </p:sp>
      <p:sp>
        <p:nvSpPr>
          <p:cNvPr id="3" name="テキスト プレースホルダー 2"/>
          <p:cNvSpPr>
            <a:spLocks noGrp="1"/>
          </p:cNvSpPr>
          <p:nvPr>
            <p:ph type="body" sz="quarter" idx="10"/>
          </p:nvPr>
        </p:nvSpPr>
        <p:spPr>
          <a:xfrm>
            <a:off x="1955955" y="3879006"/>
            <a:ext cx="8370093" cy="2790031"/>
          </a:xfrm>
        </p:spPr>
        <p:txBody>
          <a:bodyPr anchor="t"/>
          <a:lstStyle/>
          <a:p>
            <a:r>
              <a:rPr lang="en-US" altLang="ja-JP" dirty="0">
                <a:latin typeface="Consolas" panose="020B0609020204030204" pitchFamily="49" charset="0"/>
              </a:rPr>
              <a:t>I2 </a:t>
            </a:r>
            <a:r>
              <a:rPr lang="ja-JP" altLang="en-US" dirty="0">
                <a:latin typeface="Consolas" panose="020B0609020204030204" pitchFamily="49" charset="0"/>
              </a:rPr>
              <a:t>は </a:t>
            </a:r>
            <a:r>
              <a:rPr lang="en-US" altLang="ja-JP" dirty="0">
                <a:latin typeface="Consolas" panose="020B0609020204030204" pitchFamily="49" charset="0"/>
              </a:rPr>
              <a:t>I1 </a:t>
            </a:r>
            <a:r>
              <a:rPr lang="ja-JP" altLang="en-US" dirty="0">
                <a:latin typeface="Consolas" panose="020B0609020204030204" pitchFamily="49" charset="0"/>
              </a:rPr>
              <a:t>に対して真の依存も偽の依存もない</a:t>
            </a:r>
            <a:endParaRPr lang="en-US" altLang="ja-JP" dirty="0">
              <a:latin typeface="Consolas" panose="020B0609020204030204" pitchFamily="49" charset="0"/>
            </a:endParaRPr>
          </a:p>
          <a:p>
            <a:pPr lvl="1"/>
            <a:r>
              <a:rPr kumimoji="1" lang="ja-JP" altLang="en-US" dirty="0"/>
              <a:t>したがって，</a:t>
            </a:r>
            <a:r>
              <a:rPr lang="en-US" altLang="ja-JP" dirty="0">
                <a:latin typeface="Consolas" panose="020B0609020204030204" pitchFamily="49" charset="0"/>
              </a:rPr>
              <a:t>I1 </a:t>
            </a:r>
            <a:r>
              <a:rPr lang="ja-JP" altLang="en-US" dirty="0">
                <a:latin typeface="Consolas" panose="020B0609020204030204" pitchFamily="49" charset="0"/>
              </a:rPr>
              <a:t>の完了を待たずに </a:t>
            </a:r>
            <a:r>
              <a:rPr lang="en-US" altLang="ja-JP" dirty="0">
                <a:latin typeface="Consolas" panose="020B0609020204030204" pitchFamily="49" charset="0"/>
              </a:rPr>
              <a:t>I2 </a:t>
            </a:r>
            <a:r>
              <a:rPr lang="ja-JP" altLang="en-US" dirty="0">
                <a:latin typeface="Consolas" panose="020B0609020204030204" pitchFamily="49" charset="0"/>
              </a:rPr>
              <a:t>を発行しても</a:t>
            </a:r>
            <a:br>
              <a:rPr lang="en-US" altLang="ja-JP" dirty="0">
                <a:latin typeface="Consolas" panose="020B0609020204030204" pitchFamily="49" charset="0"/>
              </a:rPr>
            </a:br>
            <a:r>
              <a:rPr lang="ja-JP" altLang="en-US" dirty="0">
                <a:latin typeface="Consolas" panose="020B0609020204030204" pitchFamily="49" charset="0"/>
              </a:rPr>
              <a:t>動作の正しさは保たれる</a:t>
            </a:r>
            <a:endParaRPr lang="en-US" altLang="ja-JP" dirty="0">
              <a:latin typeface="Consolas" panose="020B0609020204030204" pitchFamily="49" charset="0"/>
            </a:endParaRPr>
          </a:p>
          <a:p>
            <a:pPr lvl="1"/>
            <a:r>
              <a:rPr lang="ja-JP" altLang="en-US" dirty="0">
                <a:latin typeface="Consolas" panose="020B0609020204030204" pitchFamily="49" charset="0"/>
              </a:rPr>
              <a:t>なんとかして，</a:t>
            </a:r>
            <a:r>
              <a:rPr lang="en-US" altLang="ja-JP" dirty="0">
                <a:latin typeface="Consolas" panose="020B0609020204030204" pitchFamily="49" charset="0"/>
              </a:rPr>
              <a:t>I2 </a:t>
            </a:r>
            <a:r>
              <a:rPr lang="ja-JP" altLang="en-US" dirty="0">
                <a:latin typeface="Consolas" panose="020B0609020204030204" pitchFamily="49" charset="0"/>
              </a:rPr>
              <a:t>を </a:t>
            </a:r>
            <a:r>
              <a:rPr lang="en-US" altLang="ja-JP" dirty="0">
                <a:latin typeface="Consolas" panose="020B0609020204030204" pitchFamily="49" charset="0"/>
              </a:rPr>
              <a:t>I1 </a:t>
            </a:r>
            <a:r>
              <a:rPr lang="ja-JP" altLang="en-US" dirty="0">
                <a:latin typeface="Consolas" panose="020B0609020204030204" pitchFamily="49" charset="0"/>
              </a:rPr>
              <a:t>の裏で並列に実行したい</a:t>
            </a:r>
            <a:endParaRPr lang="en-US" altLang="ja-JP" dirty="0">
              <a:latin typeface="Consolas" panose="020B0609020204030204" pitchFamily="49" charset="0"/>
            </a:endParaRPr>
          </a:p>
          <a:p>
            <a:r>
              <a:rPr kumimoji="1" lang="ja-JP" altLang="en-US" dirty="0"/>
              <a:t>方針：</a:t>
            </a:r>
            <a:endParaRPr kumimoji="1" lang="en-US" altLang="ja-JP" dirty="0"/>
          </a:p>
          <a:p>
            <a:pPr lvl="1"/>
            <a:r>
              <a:rPr kumimoji="1" lang="ja-JP" altLang="en-US" dirty="0"/>
              <a:t>命令毎に依存の有無を確かめながら適宜ストール </a:t>
            </a:r>
            <a:r>
              <a:rPr kumimoji="1" lang="en-US" altLang="ja-JP" dirty="0"/>
              <a:t>or </a:t>
            </a:r>
            <a:r>
              <a:rPr kumimoji="1" lang="ja-JP" altLang="en-US" dirty="0"/>
              <a:t>発行を行う</a:t>
            </a:r>
          </a:p>
        </p:txBody>
      </p:sp>
      <p:cxnSp>
        <p:nvCxnSpPr>
          <p:cNvPr id="42" name="直線コネクタ 41">
            <a:extLst>
              <a:ext uri="{FF2B5EF4-FFF2-40B4-BE49-F238E27FC236}">
                <a16:creationId xmlns:a16="http://schemas.microsoft.com/office/drawing/2014/main" id="{EA4B81B5-5F29-4A3B-A527-CD4964BED4D1}"/>
              </a:ext>
            </a:extLst>
          </p:cNvPr>
          <p:cNvCxnSpPr/>
          <p:nvPr/>
        </p:nvCxnSpPr>
        <p:spPr bwMode="auto">
          <a:xfrm flipV="1">
            <a:off x="4475983" y="1718979"/>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43" name="直線コネクタ 42">
            <a:extLst>
              <a:ext uri="{FF2B5EF4-FFF2-40B4-BE49-F238E27FC236}">
                <a16:creationId xmlns:a16="http://schemas.microsoft.com/office/drawing/2014/main" id="{1016ACDB-D8D6-45CA-8AB4-238E16781BB9}"/>
              </a:ext>
            </a:extLst>
          </p:cNvPr>
          <p:cNvCxnSpPr/>
          <p:nvPr/>
        </p:nvCxnSpPr>
        <p:spPr bwMode="auto">
          <a:xfrm>
            <a:off x="4475982" y="1268976"/>
            <a:ext cx="720080" cy="0"/>
          </a:xfrm>
          <a:prstGeom prst="line">
            <a:avLst/>
          </a:prstGeom>
          <a:noFill/>
          <a:ln w="9525" cap="flat" cmpd="sng" algn="ctr">
            <a:solidFill>
              <a:schemeClr val="tx1"/>
            </a:solidFill>
            <a:prstDash val="dash"/>
            <a:round/>
            <a:headEnd type="none" w="med" len="med"/>
            <a:tailEnd type="none" w="med" len="med"/>
          </a:ln>
          <a:effectLst/>
        </p:spPr>
      </p:cxnSp>
      <p:sp>
        <p:nvSpPr>
          <p:cNvPr id="44" name="正方形/長方形 43">
            <a:extLst>
              <a:ext uri="{FF2B5EF4-FFF2-40B4-BE49-F238E27FC236}">
                <a16:creationId xmlns:a16="http://schemas.microsoft.com/office/drawing/2014/main" id="{907AFE65-AF5D-47A2-AAFC-18F9D38DD18E}"/>
              </a:ext>
            </a:extLst>
          </p:cNvPr>
          <p:cNvSpPr/>
          <p:nvPr/>
        </p:nvSpPr>
        <p:spPr bwMode="auto">
          <a:xfrm>
            <a:off x="3755974" y="108897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I1: </a:t>
            </a:r>
            <a:r>
              <a:rPr lang="en-US" altLang="ja-JP" sz="1600" dirty="0" err="1">
                <a:solidFill>
                  <a:schemeClr val="tx1">
                    <a:lumMod val="75000"/>
                    <a:lumOff val="25000"/>
                  </a:schemeClr>
                </a:solidFill>
                <a:latin typeface="Consolas" panose="020B0609020204030204" pitchFamily="49" charset="0"/>
              </a:rPr>
              <a:t>mul</a:t>
            </a:r>
            <a:r>
              <a:rPr lang="en-US" altLang="ja-JP" sz="1600" dirty="0">
                <a:solidFill>
                  <a:schemeClr val="tx1">
                    <a:lumMod val="75000"/>
                    <a:lumOff val="25000"/>
                  </a:schemeClr>
                </a:solidFill>
                <a:latin typeface="Consolas" panose="020B0609020204030204" pitchFamily="49" charset="0"/>
              </a:rPr>
              <a:t> x1</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45" name="Rectangle 69">
            <a:extLst>
              <a:ext uri="{FF2B5EF4-FFF2-40B4-BE49-F238E27FC236}">
                <a16:creationId xmlns:a16="http://schemas.microsoft.com/office/drawing/2014/main" id="{05D63425-5422-4457-9A9D-C567BBA1E8D3}"/>
              </a:ext>
            </a:extLst>
          </p:cNvPr>
          <p:cNvSpPr>
            <a:spLocks noChangeArrowheads="1"/>
          </p:cNvSpPr>
          <p:nvPr/>
        </p:nvSpPr>
        <p:spPr bwMode="auto">
          <a:xfrm>
            <a:off x="5015988" y="108897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8" name="Rectangle 70">
            <a:extLst>
              <a:ext uri="{FF2B5EF4-FFF2-40B4-BE49-F238E27FC236}">
                <a16:creationId xmlns:a16="http://schemas.microsoft.com/office/drawing/2014/main" id="{FEE8FE08-3A43-4235-A958-83CF83152873}"/>
              </a:ext>
            </a:extLst>
          </p:cNvPr>
          <p:cNvSpPr>
            <a:spLocks noChangeArrowheads="1"/>
          </p:cNvSpPr>
          <p:nvPr/>
        </p:nvSpPr>
        <p:spPr bwMode="auto">
          <a:xfrm>
            <a:off x="5465993" y="108897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49" name="Rectangle 71">
            <a:extLst>
              <a:ext uri="{FF2B5EF4-FFF2-40B4-BE49-F238E27FC236}">
                <a16:creationId xmlns:a16="http://schemas.microsoft.com/office/drawing/2014/main" id="{B01845E7-FC37-4CA2-99AD-03A01F154468}"/>
              </a:ext>
            </a:extLst>
          </p:cNvPr>
          <p:cNvSpPr>
            <a:spLocks noChangeArrowheads="1"/>
          </p:cNvSpPr>
          <p:nvPr/>
        </p:nvSpPr>
        <p:spPr bwMode="auto">
          <a:xfrm>
            <a:off x="6366007" y="108897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50" name="Rectangle 69">
            <a:extLst>
              <a:ext uri="{FF2B5EF4-FFF2-40B4-BE49-F238E27FC236}">
                <a16:creationId xmlns:a16="http://schemas.microsoft.com/office/drawing/2014/main" id="{1B0D47CD-6D24-404D-ACFF-28345334C6A0}"/>
              </a:ext>
            </a:extLst>
          </p:cNvPr>
          <p:cNvSpPr>
            <a:spLocks noChangeArrowheads="1"/>
          </p:cNvSpPr>
          <p:nvPr/>
        </p:nvSpPr>
        <p:spPr bwMode="auto">
          <a:xfrm>
            <a:off x="5465993" y="153897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51" name="Rectangle 70">
            <a:extLst>
              <a:ext uri="{FF2B5EF4-FFF2-40B4-BE49-F238E27FC236}">
                <a16:creationId xmlns:a16="http://schemas.microsoft.com/office/drawing/2014/main" id="{6923A79A-8C20-4D23-93F5-05F2AA4DCCA2}"/>
              </a:ext>
            </a:extLst>
          </p:cNvPr>
          <p:cNvSpPr>
            <a:spLocks noChangeArrowheads="1"/>
          </p:cNvSpPr>
          <p:nvPr/>
        </p:nvSpPr>
        <p:spPr bwMode="auto">
          <a:xfrm>
            <a:off x="5916002" y="153897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52" name="Rectangle 71">
            <a:extLst>
              <a:ext uri="{FF2B5EF4-FFF2-40B4-BE49-F238E27FC236}">
                <a16:creationId xmlns:a16="http://schemas.microsoft.com/office/drawing/2014/main" id="{9923F032-EC18-4386-9B61-89669E6F5401}"/>
              </a:ext>
            </a:extLst>
          </p:cNvPr>
          <p:cNvSpPr>
            <a:spLocks noChangeArrowheads="1"/>
          </p:cNvSpPr>
          <p:nvPr/>
        </p:nvSpPr>
        <p:spPr bwMode="auto">
          <a:xfrm>
            <a:off x="8166027" y="1538979"/>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53" name="Rectangle 73">
            <a:extLst>
              <a:ext uri="{FF2B5EF4-FFF2-40B4-BE49-F238E27FC236}">
                <a16:creationId xmlns:a16="http://schemas.microsoft.com/office/drawing/2014/main" id="{D4DEA255-E759-495A-9E90-062D16E4B5DE}"/>
              </a:ext>
            </a:extLst>
          </p:cNvPr>
          <p:cNvSpPr>
            <a:spLocks noChangeArrowheads="1"/>
          </p:cNvSpPr>
          <p:nvPr/>
        </p:nvSpPr>
        <p:spPr bwMode="auto">
          <a:xfrm>
            <a:off x="8616032" y="1538979"/>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54" name="Rectangle 73">
            <a:extLst>
              <a:ext uri="{FF2B5EF4-FFF2-40B4-BE49-F238E27FC236}">
                <a16:creationId xmlns:a16="http://schemas.microsoft.com/office/drawing/2014/main" id="{64F8E34C-5FAD-48BC-A9F0-F0148AE1636B}"/>
              </a:ext>
            </a:extLst>
          </p:cNvPr>
          <p:cNvSpPr>
            <a:spLocks noChangeArrowheads="1"/>
          </p:cNvSpPr>
          <p:nvPr/>
        </p:nvSpPr>
        <p:spPr bwMode="auto">
          <a:xfrm>
            <a:off x="8166027" y="1088974"/>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55" name="Rectangle 71">
            <a:extLst>
              <a:ext uri="{FF2B5EF4-FFF2-40B4-BE49-F238E27FC236}">
                <a16:creationId xmlns:a16="http://schemas.microsoft.com/office/drawing/2014/main" id="{89053C4A-5FDF-44F4-ADCD-AFE67FEC84EE}"/>
              </a:ext>
            </a:extLst>
          </p:cNvPr>
          <p:cNvSpPr>
            <a:spLocks noChangeArrowheads="1"/>
          </p:cNvSpPr>
          <p:nvPr/>
        </p:nvSpPr>
        <p:spPr bwMode="auto">
          <a:xfrm>
            <a:off x="6816012" y="108897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56" name="Rectangle 71">
            <a:extLst>
              <a:ext uri="{FF2B5EF4-FFF2-40B4-BE49-F238E27FC236}">
                <a16:creationId xmlns:a16="http://schemas.microsoft.com/office/drawing/2014/main" id="{C875BE06-5564-4DE2-AE8B-21C9B96BAAEA}"/>
              </a:ext>
            </a:extLst>
          </p:cNvPr>
          <p:cNvSpPr>
            <a:spLocks noChangeArrowheads="1"/>
          </p:cNvSpPr>
          <p:nvPr/>
        </p:nvSpPr>
        <p:spPr bwMode="auto">
          <a:xfrm>
            <a:off x="7266017" y="108897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57" name="Rectangle 71">
            <a:extLst>
              <a:ext uri="{FF2B5EF4-FFF2-40B4-BE49-F238E27FC236}">
                <a16:creationId xmlns:a16="http://schemas.microsoft.com/office/drawing/2014/main" id="{C8A1C351-EA57-472B-9E79-DE71808E96C2}"/>
              </a:ext>
            </a:extLst>
          </p:cNvPr>
          <p:cNvSpPr>
            <a:spLocks noChangeArrowheads="1"/>
          </p:cNvSpPr>
          <p:nvPr/>
        </p:nvSpPr>
        <p:spPr bwMode="auto">
          <a:xfrm>
            <a:off x="7716022" y="108897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58" name="Rectangle 70">
            <a:extLst>
              <a:ext uri="{FF2B5EF4-FFF2-40B4-BE49-F238E27FC236}">
                <a16:creationId xmlns:a16="http://schemas.microsoft.com/office/drawing/2014/main" id="{C2A8D1B7-2AE8-4C55-AD46-F6D8D83BC466}"/>
              </a:ext>
            </a:extLst>
          </p:cNvPr>
          <p:cNvSpPr>
            <a:spLocks noChangeArrowheads="1"/>
          </p:cNvSpPr>
          <p:nvPr/>
        </p:nvSpPr>
        <p:spPr bwMode="auto">
          <a:xfrm>
            <a:off x="5915998" y="1088974"/>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59" name="Rectangle 70">
            <a:extLst>
              <a:ext uri="{FF2B5EF4-FFF2-40B4-BE49-F238E27FC236}">
                <a16:creationId xmlns:a16="http://schemas.microsoft.com/office/drawing/2014/main" id="{8EA79953-5341-421C-A484-B366749D518F}"/>
              </a:ext>
            </a:extLst>
          </p:cNvPr>
          <p:cNvSpPr>
            <a:spLocks noChangeArrowheads="1"/>
          </p:cNvSpPr>
          <p:nvPr/>
        </p:nvSpPr>
        <p:spPr bwMode="auto">
          <a:xfrm>
            <a:off x="7716018" y="1538979"/>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60" name="Rectangle 73">
            <a:extLst>
              <a:ext uri="{FF2B5EF4-FFF2-40B4-BE49-F238E27FC236}">
                <a16:creationId xmlns:a16="http://schemas.microsoft.com/office/drawing/2014/main" id="{40B7FD6D-1C4D-4C03-BEA7-F6E3DB04A153}"/>
              </a:ext>
            </a:extLst>
          </p:cNvPr>
          <p:cNvSpPr>
            <a:spLocks noChangeArrowheads="1"/>
          </p:cNvSpPr>
          <p:nvPr/>
        </p:nvSpPr>
        <p:spPr bwMode="auto">
          <a:xfrm>
            <a:off x="6366007" y="153897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61" name="Rectangle 73">
            <a:extLst>
              <a:ext uri="{FF2B5EF4-FFF2-40B4-BE49-F238E27FC236}">
                <a16:creationId xmlns:a16="http://schemas.microsoft.com/office/drawing/2014/main" id="{56D35743-5C28-45D8-B79F-96D9549452E8}"/>
              </a:ext>
            </a:extLst>
          </p:cNvPr>
          <p:cNvSpPr>
            <a:spLocks noChangeArrowheads="1"/>
          </p:cNvSpPr>
          <p:nvPr/>
        </p:nvSpPr>
        <p:spPr bwMode="auto">
          <a:xfrm>
            <a:off x="6816012" y="153897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62" name="Rectangle 73">
            <a:extLst>
              <a:ext uri="{FF2B5EF4-FFF2-40B4-BE49-F238E27FC236}">
                <a16:creationId xmlns:a16="http://schemas.microsoft.com/office/drawing/2014/main" id="{05F8C9BF-1436-42F5-ABEE-DFD89699727F}"/>
              </a:ext>
            </a:extLst>
          </p:cNvPr>
          <p:cNvSpPr>
            <a:spLocks noChangeArrowheads="1"/>
          </p:cNvSpPr>
          <p:nvPr/>
        </p:nvSpPr>
        <p:spPr bwMode="auto">
          <a:xfrm>
            <a:off x="7266017" y="153897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63" name="正方形/長方形 62">
            <a:extLst>
              <a:ext uri="{FF2B5EF4-FFF2-40B4-BE49-F238E27FC236}">
                <a16:creationId xmlns:a16="http://schemas.microsoft.com/office/drawing/2014/main" id="{A809BC0A-1937-4CF6-9D89-8A1F82AFF370}"/>
              </a:ext>
            </a:extLst>
          </p:cNvPr>
          <p:cNvSpPr/>
          <p:nvPr/>
        </p:nvSpPr>
        <p:spPr bwMode="auto">
          <a:xfrm>
            <a:off x="3755974" y="153897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I2: sub x5</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x6-1</a:t>
            </a:r>
            <a:endParaRPr lang="ja-JP" altLang="en-US" sz="1600" dirty="0">
              <a:solidFill>
                <a:schemeClr val="tx1">
                  <a:lumMod val="75000"/>
                  <a:lumOff val="25000"/>
                </a:schemeClr>
              </a:solidFill>
            </a:endParaRPr>
          </a:p>
        </p:txBody>
      </p:sp>
      <p:cxnSp>
        <p:nvCxnSpPr>
          <p:cNvPr id="64" name="直線コネクタ 63">
            <a:extLst>
              <a:ext uri="{FF2B5EF4-FFF2-40B4-BE49-F238E27FC236}">
                <a16:creationId xmlns:a16="http://schemas.microsoft.com/office/drawing/2014/main" id="{536F1CFC-A56F-4834-B43C-E46B0806A6B0}"/>
              </a:ext>
            </a:extLst>
          </p:cNvPr>
          <p:cNvCxnSpPr/>
          <p:nvPr/>
        </p:nvCxnSpPr>
        <p:spPr bwMode="auto">
          <a:xfrm flipV="1">
            <a:off x="4475987" y="3518999"/>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65" name="直線コネクタ 64">
            <a:extLst>
              <a:ext uri="{FF2B5EF4-FFF2-40B4-BE49-F238E27FC236}">
                <a16:creationId xmlns:a16="http://schemas.microsoft.com/office/drawing/2014/main" id="{46E7CEA4-A0A8-4589-8CCA-EAB20C6AA442}"/>
              </a:ext>
            </a:extLst>
          </p:cNvPr>
          <p:cNvCxnSpPr/>
          <p:nvPr/>
        </p:nvCxnSpPr>
        <p:spPr bwMode="auto">
          <a:xfrm>
            <a:off x="4475986" y="3068996"/>
            <a:ext cx="720080" cy="0"/>
          </a:xfrm>
          <a:prstGeom prst="line">
            <a:avLst/>
          </a:prstGeom>
          <a:noFill/>
          <a:ln w="9525" cap="flat" cmpd="sng" algn="ctr">
            <a:solidFill>
              <a:schemeClr val="tx1"/>
            </a:solidFill>
            <a:prstDash val="dash"/>
            <a:round/>
            <a:headEnd type="none" w="med" len="med"/>
            <a:tailEnd type="none" w="med" len="med"/>
          </a:ln>
          <a:effectLst/>
        </p:spPr>
      </p:cxnSp>
      <p:sp>
        <p:nvSpPr>
          <p:cNvPr id="66" name="正方形/長方形 65">
            <a:extLst>
              <a:ext uri="{FF2B5EF4-FFF2-40B4-BE49-F238E27FC236}">
                <a16:creationId xmlns:a16="http://schemas.microsoft.com/office/drawing/2014/main" id="{B0546ACE-011E-4245-B623-78964FF632F4}"/>
              </a:ext>
            </a:extLst>
          </p:cNvPr>
          <p:cNvSpPr/>
          <p:nvPr/>
        </p:nvSpPr>
        <p:spPr bwMode="auto">
          <a:xfrm>
            <a:off x="3755978" y="288899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I1: </a:t>
            </a:r>
            <a:r>
              <a:rPr lang="en-US" altLang="ja-JP" sz="1600" dirty="0" err="1">
                <a:solidFill>
                  <a:schemeClr val="tx1">
                    <a:lumMod val="75000"/>
                    <a:lumOff val="25000"/>
                  </a:schemeClr>
                </a:solidFill>
                <a:latin typeface="Consolas" panose="020B0609020204030204" pitchFamily="49" charset="0"/>
              </a:rPr>
              <a:t>mul</a:t>
            </a:r>
            <a:r>
              <a:rPr lang="en-US" altLang="ja-JP" sz="1600" dirty="0">
                <a:solidFill>
                  <a:schemeClr val="tx1">
                    <a:lumMod val="75000"/>
                    <a:lumOff val="25000"/>
                  </a:schemeClr>
                </a:solidFill>
                <a:latin typeface="Consolas" panose="020B0609020204030204" pitchFamily="49" charset="0"/>
              </a:rPr>
              <a:t> x1</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67" name="Rectangle 69">
            <a:extLst>
              <a:ext uri="{FF2B5EF4-FFF2-40B4-BE49-F238E27FC236}">
                <a16:creationId xmlns:a16="http://schemas.microsoft.com/office/drawing/2014/main" id="{28DDFE98-C188-415B-8172-CDF3E054B819}"/>
              </a:ext>
            </a:extLst>
          </p:cNvPr>
          <p:cNvSpPr>
            <a:spLocks noChangeArrowheads="1"/>
          </p:cNvSpPr>
          <p:nvPr/>
        </p:nvSpPr>
        <p:spPr bwMode="auto">
          <a:xfrm>
            <a:off x="5015992" y="288899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68" name="Rectangle 70">
            <a:extLst>
              <a:ext uri="{FF2B5EF4-FFF2-40B4-BE49-F238E27FC236}">
                <a16:creationId xmlns:a16="http://schemas.microsoft.com/office/drawing/2014/main" id="{13AC95B5-9A2B-410D-8E12-5643F3137686}"/>
              </a:ext>
            </a:extLst>
          </p:cNvPr>
          <p:cNvSpPr>
            <a:spLocks noChangeArrowheads="1"/>
          </p:cNvSpPr>
          <p:nvPr/>
        </p:nvSpPr>
        <p:spPr bwMode="auto">
          <a:xfrm>
            <a:off x="5465997" y="288899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69" name="Rectangle 71">
            <a:extLst>
              <a:ext uri="{FF2B5EF4-FFF2-40B4-BE49-F238E27FC236}">
                <a16:creationId xmlns:a16="http://schemas.microsoft.com/office/drawing/2014/main" id="{F2093039-2980-42DA-A434-DF78FF703B43}"/>
              </a:ext>
            </a:extLst>
          </p:cNvPr>
          <p:cNvSpPr>
            <a:spLocks noChangeArrowheads="1"/>
          </p:cNvSpPr>
          <p:nvPr/>
        </p:nvSpPr>
        <p:spPr bwMode="auto">
          <a:xfrm>
            <a:off x="6366011" y="288899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70" name="Rectangle 69">
            <a:extLst>
              <a:ext uri="{FF2B5EF4-FFF2-40B4-BE49-F238E27FC236}">
                <a16:creationId xmlns:a16="http://schemas.microsoft.com/office/drawing/2014/main" id="{E131A40F-5E10-4CEC-94AF-C7D8A20BC7E7}"/>
              </a:ext>
            </a:extLst>
          </p:cNvPr>
          <p:cNvSpPr>
            <a:spLocks noChangeArrowheads="1"/>
          </p:cNvSpPr>
          <p:nvPr/>
        </p:nvSpPr>
        <p:spPr bwMode="auto">
          <a:xfrm>
            <a:off x="5465997" y="333899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1" name="Rectangle 70">
            <a:extLst>
              <a:ext uri="{FF2B5EF4-FFF2-40B4-BE49-F238E27FC236}">
                <a16:creationId xmlns:a16="http://schemas.microsoft.com/office/drawing/2014/main" id="{98F4E1BB-093A-4789-B0CA-4B9ECC3BD773}"/>
              </a:ext>
            </a:extLst>
          </p:cNvPr>
          <p:cNvSpPr>
            <a:spLocks noChangeArrowheads="1"/>
          </p:cNvSpPr>
          <p:nvPr/>
        </p:nvSpPr>
        <p:spPr bwMode="auto">
          <a:xfrm>
            <a:off x="5916006" y="333899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72" name="Rectangle 71">
            <a:extLst>
              <a:ext uri="{FF2B5EF4-FFF2-40B4-BE49-F238E27FC236}">
                <a16:creationId xmlns:a16="http://schemas.microsoft.com/office/drawing/2014/main" id="{F9232B2E-B894-4754-BBB1-64DD38447DA1}"/>
              </a:ext>
            </a:extLst>
          </p:cNvPr>
          <p:cNvSpPr>
            <a:spLocks noChangeArrowheads="1"/>
          </p:cNvSpPr>
          <p:nvPr/>
        </p:nvSpPr>
        <p:spPr bwMode="auto">
          <a:xfrm>
            <a:off x="6816016" y="3338999"/>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73" name="Rectangle 73">
            <a:extLst>
              <a:ext uri="{FF2B5EF4-FFF2-40B4-BE49-F238E27FC236}">
                <a16:creationId xmlns:a16="http://schemas.microsoft.com/office/drawing/2014/main" id="{968B76D8-5B6F-4517-B99F-E81D58C5BE87}"/>
              </a:ext>
            </a:extLst>
          </p:cNvPr>
          <p:cNvSpPr>
            <a:spLocks noChangeArrowheads="1"/>
          </p:cNvSpPr>
          <p:nvPr/>
        </p:nvSpPr>
        <p:spPr bwMode="auto">
          <a:xfrm>
            <a:off x="7266021" y="3338999"/>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74" name="Rectangle 73">
            <a:extLst>
              <a:ext uri="{FF2B5EF4-FFF2-40B4-BE49-F238E27FC236}">
                <a16:creationId xmlns:a16="http://schemas.microsoft.com/office/drawing/2014/main" id="{929A30AB-361A-4206-A7C6-64CDCDFAB683}"/>
              </a:ext>
            </a:extLst>
          </p:cNvPr>
          <p:cNvSpPr>
            <a:spLocks noChangeArrowheads="1"/>
          </p:cNvSpPr>
          <p:nvPr/>
        </p:nvSpPr>
        <p:spPr bwMode="auto">
          <a:xfrm>
            <a:off x="8166031" y="2888994"/>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75" name="Rectangle 71">
            <a:extLst>
              <a:ext uri="{FF2B5EF4-FFF2-40B4-BE49-F238E27FC236}">
                <a16:creationId xmlns:a16="http://schemas.microsoft.com/office/drawing/2014/main" id="{CEEC3CBF-E6E6-4381-A0F7-5CC2CFACAF2F}"/>
              </a:ext>
            </a:extLst>
          </p:cNvPr>
          <p:cNvSpPr>
            <a:spLocks noChangeArrowheads="1"/>
          </p:cNvSpPr>
          <p:nvPr/>
        </p:nvSpPr>
        <p:spPr bwMode="auto">
          <a:xfrm>
            <a:off x="6816016" y="288899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76" name="Rectangle 71">
            <a:extLst>
              <a:ext uri="{FF2B5EF4-FFF2-40B4-BE49-F238E27FC236}">
                <a16:creationId xmlns:a16="http://schemas.microsoft.com/office/drawing/2014/main" id="{597C4781-2859-40D9-911B-02ACA524390A}"/>
              </a:ext>
            </a:extLst>
          </p:cNvPr>
          <p:cNvSpPr>
            <a:spLocks noChangeArrowheads="1"/>
          </p:cNvSpPr>
          <p:nvPr/>
        </p:nvSpPr>
        <p:spPr bwMode="auto">
          <a:xfrm>
            <a:off x="7266021" y="288899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78" name="Rectangle 71">
            <a:extLst>
              <a:ext uri="{FF2B5EF4-FFF2-40B4-BE49-F238E27FC236}">
                <a16:creationId xmlns:a16="http://schemas.microsoft.com/office/drawing/2014/main" id="{365A1960-5EBB-405A-B1A0-5D704E176348}"/>
              </a:ext>
            </a:extLst>
          </p:cNvPr>
          <p:cNvSpPr>
            <a:spLocks noChangeArrowheads="1"/>
          </p:cNvSpPr>
          <p:nvPr/>
        </p:nvSpPr>
        <p:spPr bwMode="auto">
          <a:xfrm>
            <a:off x="7716026" y="288899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79" name="Rectangle 70">
            <a:extLst>
              <a:ext uri="{FF2B5EF4-FFF2-40B4-BE49-F238E27FC236}">
                <a16:creationId xmlns:a16="http://schemas.microsoft.com/office/drawing/2014/main" id="{FBA17F0F-B468-4594-817B-90D528279778}"/>
              </a:ext>
            </a:extLst>
          </p:cNvPr>
          <p:cNvSpPr>
            <a:spLocks noChangeArrowheads="1"/>
          </p:cNvSpPr>
          <p:nvPr/>
        </p:nvSpPr>
        <p:spPr bwMode="auto">
          <a:xfrm>
            <a:off x="5916002" y="2888994"/>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80" name="Rectangle 70">
            <a:extLst>
              <a:ext uri="{FF2B5EF4-FFF2-40B4-BE49-F238E27FC236}">
                <a16:creationId xmlns:a16="http://schemas.microsoft.com/office/drawing/2014/main" id="{DE6A36A2-6327-4753-A1AF-ED3CEC283C7E}"/>
              </a:ext>
            </a:extLst>
          </p:cNvPr>
          <p:cNvSpPr>
            <a:spLocks noChangeArrowheads="1"/>
          </p:cNvSpPr>
          <p:nvPr/>
        </p:nvSpPr>
        <p:spPr bwMode="auto">
          <a:xfrm>
            <a:off x="6366007" y="3338999"/>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81" name="正方形/長方形 80">
            <a:extLst>
              <a:ext uri="{FF2B5EF4-FFF2-40B4-BE49-F238E27FC236}">
                <a16:creationId xmlns:a16="http://schemas.microsoft.com/office/drawing/2014/main" id="{AD7E7689-6DBF-47ED-95BF-6CAE4B5E55D4}"/>
              </a:ext>
            </a:extLst>
          </p:cNvPr>
          <p:cNvSpPr/>
          <p:nvPr/>
        </p:nvSpPr>
        <p:spPr bwMode="auto">
          <a:xfrm>
            <a:off x="3755978" y="333899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I2: sub x5</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x6-1</a:t>
            </a:r>
            <a:endParaRPr lang="ja-JP" altLang="en-US" sz="1600" dirty="0">
              <a:solidFill>
                <a:schemeClr val="tx1">
                  <a:lumMod val="75000"/>
                  <a:lumOff val="25000"/>
                </a:schemeClr>
              </a:solidFill>
            </a:endParaRPr>
          </a:p>
        </p:txBody>
      </p:sp>
      <p:sp>
        <p:nvSpPr>
          <p:cNvPr id="82" name="下矢印 4">
            <a:extLst>
              <a:ext uri="{FF2B5EF4-FFF2-40B4-BE49-F238E27FC236}">
                <a16:creationId xmlns:a16="http://schemas.microsoft.com/office/drawing/2014/main" id="{A41E0484-B48C-41D3-86C5-7B906BE43306}"/>
              </a:ext>
            </a:extLst>
          </p:cNvPr>
          <p:cNvSpPr/>
          <p:nvPr/>
        </p:nvSpPr>
        <p:spPr bwMode="auto">
          <a:xfrm>
            <a:off x="6546010" y="2078986"/>
            <a:ext cx="630007" cy="630007"/>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27626593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スコアボードによるストールの判定</a:t>
            </a:r>
          </a:p>
        </p:txBody>
      </p:sp>
      <p:sp>
        <p:nvSpPr>
          <p:cNvPr id="3" name="テキスト プレースホルダー 2"/>
          <p:cNvSpPr>
            <a:spLocks noGrp="1"/>
          </p:cNvSpPr>
          <p:nvPr>
            <p:ph type="body" sz="quarter" idx="10"/>
          </p:nvPr>
        </p:nvSpPr>
        <p:spPr>
          <a:xfrm>
            <a:off x="2135956" y="1088975"/>
            <a:ext cx="8280092" cy="3330037"/>
          </a:xfrm>
        </p:spPr>
        <p:txBody>
          <a:bodyPr/>
          <a:lstStyle/>
          <a:p>
            <a:r>
              <a:rPr kumimoji="1" lang="ja-JP" altLang="en-US" dirty="0"/>
              <a:t>スコアボード（</a:t>
            </a:r>
            <a:r>
              <a:rPr kumimoji="1" lang="en-US" altLang="ja-JP" dirty="0"/>
              <a:t>Scoreboard</a:t>
            </a:r>
            <a:r>
              <a:rPr kumimoji="1" lang="ja-JP" altLang="en-US" dirty="0"/>
              <a:t>）</a:t>
            </a:r>
            <a:endParaRPr kumimoji="1" lang="en-US" altLang="ja-JP" dirty="0"/>
          </a:p>
          <a:p>
            <a:pPr lvl="1"/>
            <a:r>
              <a:rPr kumimoji="1" lang="ja-JP" altLang="en-US" dirty="0"/>
              <a:t>レジスタや演算器などの状態を保持するテーブル群</a:t>
            </a:r>
            <a:endParaRPr kumimoji="1" lang="en-US" altLang="ja-JP" dirty="0"/>
          </a:p>
          <a:p>
            <a:pPr lvl="2"/>
            <a:r>
              <a:rPr kumimoji="1" lang="ja-JP" altLang="en-US" dirty="0"/>
              <a:t>各資源が現在，使用可能か不能かを保持</a:t>
            </a:r>
            <a:endParaRPr kumimoji="1" lang="en-US" altLang="ja-JP" dirty="0"/>
          </a:p>
          <a:p>
            <a:pPr lvl="1"/>
            <a:r>
              <a:rPr kumimoji="1" lang="ja-JP" altLang="en-US" dirty="0"/>
              <a:t>今回は簡単にレジスタが使用可能かだけを考えることにする</a:t>
            </a:r>
            <a:endParaRPr kumimoji="1" lang="en-US" altLang="ja-JP" dirty="0"/>
          </a:p>
          <a:p>
            <a:r>
              <a:rPr kumimoji="1" lang="ja-JP" altLang="en-US" dirty="0"/>
              <a:t>レジスタ状態：</a:t>
            </a:r>
            <a:endParaRPr kumimoji="1" lang="en-US" altLang="ja-JP" dirty="0"/>
          </a:p>
          <a:p>
            <a:pPr lvl="1"/>
            <a:r>
              <a:rPr kumimoji="1" lang="ja-JP" altLang="en-US" dirty="0"/>
              <a:t>各レジスタの値が現在利用可能かを </a:t>
            </a:r>
            <a:r>
              <a:rPr kumimoji="1" lang="en-US" altLang="ja-JP" dirty="0"/>
              <a:t>1</a:t>
            </a:r>
            <a:r>
              <a:rPr lang="ja-JP" altLang="en-US" dirty="0"/>
              <a:t> </a:t>
            </a:r>
            <a:r>
              <a:rPr kumimoji="1" lang="en-US" altLang="ja-JP" dirty="0"/>
              <a:t>bit </a:t>
            </a:r>
            <a:r>
              <a:rPr kumimoji="1" lang="ja-JP" altLang="en-US" dirty="0"/>
              <a:t>のフラグで保持</a:t>
            </a:r>
            <a:endParaRPr kumimoji="1" lang="en-US" altLang="ja-JP" dirty="0"/>
          </a:p>
          <a:p>
            <a:pPr lvl="1"/>
            <a:r>
              <a:rPr kumimoji="1" lang="ja-JP" altLang="en-US" dirty="0"/>
              <a:t>１なら現在使用可能，０なら実行結果の書き込み待ち</a:t>
            </a:r>
            <a:endParaRPr kumimoji="1" lang="en-US" altLang="ja-JP" dirty="0"/>
          </a:p>
          <a:p>
            <a:pPr lvl="2"/>
            <a:r>
              <a:rPr lang="ja-JP" altLang="en-US" dirty="0"/>
              <a:t>（文献によってはは </a:t>
            </a:r>
            <a:r>
              <a:rPr lang="en-US" altLang="ja-JP" dirty="0"/>
              <a:t>1/0 </a:t>
            </a:r>
            <a:r>
              <a:rPr lang="ja-JP" altLang="en-US" dirty="0"/>
              <a:t>が反転していることもある）</a:t>
            </a:r>
            <a:endParaRPr kumimoji="1" lang="en-US" altLang="ja-JP" dirty="0"/>
          </a:p>
        </p:txBody>
      </p:sp>
      <p:sp>
        <p:nvSpPr>
          <p:cNvPr id="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4959017"/>
            <a:ext cx="720008" cy="180002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4959017"/>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0x123</a:t>
            </a:r>
            <a:endParaRPr lang="ja-JP" altLang="en-US" sz="1600" dirty="0">
              <a:latin typeface="+mn-ea"/>
              <a:ea typeface="+mn-ea"/>
            </a:endParaRPr>
          </a:p>
        </p:txBody>
      </p:sp>
      <p:sp>
        <p:nvSpPr>
          <p:cNvPr id="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5319021"/>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200" dirty="0">
                <a:latin typeface="+mn-ea"/>
                <a:ea typeface="+mn-ea"/>
              </a:rPr>
              <a:t>結果待ち</a:t>
            </a:r>
          </a:p>
        </p:txBody>
      </p:sp>
      <p:sp>
        <p:nvSpPr>
          <p:cNvPr id="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5679025"/>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6039029"/>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835986" y="4599013"/>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600" dirty="0">
                <a:latin typeface="+mn-ea"/>
                <a:ea typeface="+mn-ea"/>
              </a:rPr>
              <a:t>レジスタ・ファイル</a:t>
            </a:r>
          </a:p>
        </p:txBody>
      </p:sp>
      <p:sp>
        <p:nvSpPr>
          <p:cNvPr id="1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906009" y="4959017"/>
            <a:ext cx="360000" cy="180002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1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906009" y="4959017"/>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906009"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0</a:t>
            </a:r>
            <a:endParaRPr lang="ja-JP" altLang="en-US" sz="1600" dirty="0">
              <a:latin typeface="+mn-ea"/>
              <a:ea typeface="+mn-ea"/>
            </a:endParaRPr>
          </a:p>
        </p:txBody>
      </p:sp>
      <p:sp>
        <p:nvSpPr>
          <p:cNvPr id="1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906009"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a:t>
            </a:r>
            <a:endParaRPr lang="ja-JP" altLang="en-US" sz="1600" dirty="0">
              <a:latin typeface="+mn-ea"/>
              <a:ea typeface="+mn-ea"/>
            </a:endParaRPr>
          </a:p>
        </p:txBody>
      </p:sp>
      <p:sp>
        <p:nvSpPr>
          <p:cNvPr id="1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906009"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1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726007" y="4599013"/>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600" dirty="0">
                <a:latin typeface="+mn-ea"/>
                <a:ea typeface="+mn-ea"/>
              </a:rPr>
              <a:t>スコアボード</a:t>
            </a:r>
          </a:p>
        </p:txBody>
      </p:sp>
      <p:sp>
        <p:nvSpPr>
          <p:cNvPr id="1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4959017"/>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x1</a:t>
            </a:r>
            <a:endParaRPr lang="ja-JP" altLang="en-US" sz="1600" dirty="0">
              <a:latin typeface="+mn-ea"/>
              <a:ea typeface="+mn-ea"/>
            </a:endParaRPr>
          </a:p>
        </p:txBody>
      </p:sp>
      <p:sp>
        <p:nvSpPr>
          <p:cNvPr id="1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5319021"/>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x2</a:t>
            </a:r>
            <a:endParaRPr lang="ja-JP" altLang="en-US" sz="1600" dirty="0">
              <a:latin typeface="+mn-ea"/>
              <a:ea typeface="+mn-ea"/>
            </a:endParaRPr>
          </a:p>
        </p:txBody>
      </p:sp>
      <p:sp>
        <p:nvSpPr>
          <p:cNvPr id="1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5679025"/>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a:t>
            </a:r>
            <a:endParaRPr lang="ja-JP" altLang="en-US" sz="1600" dirty="0">
              <a:latin typeface="+mn-ea"/>
              <a:ea typeface="+mn-ea"/>
            </a:endParaRPr>
          </a:p>
        </p:txBody>
      </p:sp>
    </p:spTree>
    <p:extLst>
      <p:ext uri="{BB962C8B-B14F-4D97-AF65-F5344CB8AC3E}">
        <p14:creationId xmlns:p14="http://schemas.microsoft.com/office/powerpoint/2010/main" val="41243426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スコアボードの更新とストール</a:t>
            </a:r>
            <a:endParaRPr kumimoji="1" lang="ja-JP" altLang="en-US" dirty="0"/>
          </a:p>
        </p:txBody>
      </p:sp>
      <p:sp>
        <p:nvSpPr>
          <p:cNvPr id="3" name="テキスト プレースホルダー 2"/>
          <p:cNvSpPr>
            <a:spLocks noGrp="1"/>
          </p:cNvSpPr>
          <p:nvPr>
            <p:ph type="body" sz="quarter" idx="10"/>
          </p:nvPr>
        </p:nvSpPr>
        <p:spPr>
          <a:xfrm>
            <a:off x="2135956" y="1628980"/>
            <a:ext cx="8280092" cy="1620018"/>
          </a:xfrm>
        </p:spPr>
        <p:txBody>
          <a:bodyPr/>
          <a:lstStyle/>
          <a:p>
            <a:r>
              <a:rPr lang="ja-JP" altLang="en-US" dirty="0"/>
              <a:t>更新：</a:t>
            </a:r>
            <a:endParaRPr lang="en-US" altLang="ja-JP" dirty="0"/>
          </a:p>
          <a:p>
            <a:pPr lvl="1"/>
            <a:r>
              <a:rPr lang="ja-JP" altLang="en-US" dirty="0"/>
              <a:t>長いレイテンシの命令がデコードされた場合，</a:t>
            </a:r>
            <a:br>
              <a:rPr lang="en-US" altLang="ja-JP" dirty="0"/>
            </a:br>
            <a:r>
              <a:rPr lang="ja-JP" altLang="en-US" dirty="0"/>
              <a:t>それが終わるまでそのディスティネーションを使用不能にする</a:t>
            </a:r>
            <a:endParaRPr lang="en-US" altLang="ja-JP" dirty="0"/>
          </a:p>
          <a:p>
            <a:r>
              <a:rPr lang="ja-JP" altLang="en-US" dirty="0"/>
              <a:t>スコアボードが以下のいずれかの場合にパイプラインをストール</a:t>
            </a:r>
            <a:endParaRPr lang="en-US" altLang="ja-JP" dirty="0"/>
          </a:p>
          <a:p>
            <a:pPr marL="817200" lvl="1" indent="-457200">
              <a:buFont typeface="+mj-lt"/>
              <a:buAutoNum type="arabicPeriod"/>
            </a:pPr>
            <a:r>
              <a:rPr lang="ja-JP" altLang="en-US" dirty="0"/>
              <a:t>ソース・オペランドが使用不能</a:t>
            </a:r>
            <a:endParaRPr lang="en-US" altLang="ja-JP" dirty="0"/>
          </a:p>
          <a:p>
            <a:pPr marL="817200" lvl="1" indent="-457200">
              <a:buFont typeface="+mj-lt"/>
              <a:buAutoNum type="arabicPeriod"/>
            </a:pPr>
            <a:r>
              <a:rPr lang="ja-JP" altLang="en-US" dirty="0"/>
              <a:t>ディスティネーション・オペランドが使用不能</a:t>
            </a:r>
            <a:endParaRPr lang="en-US" altLang="ja-JP" dirty="0"/>
          </a:p>
        </p:txBody>
      </p:sp>
      <p:cxnSp>
        <p:nvCxnSpPr>
          <p:cNvPr id="4" name="直線コネクタ 3"/>
          <p:cNvCxnSpPr/>
          <p:nvPr/>
        </p:nvCxnSpPr>
        <p:spPr bwMode="auto">
          <a:xfrm>
            <a:off x="4115974" y="5769026"/>
            <a:ext cx="720080" cy="0"/>
          </a:xfrm>
          <a:prstGeom prst="line">
            <a:avLst/>
          </a:prstGeom>
          <a:noFill/>
          <a:ln w="9525" cap="flat" cmpd="sng" algn="ctr">
            <a:solidFill>
              <a:schemeClr val="tx1"/>
            </a:solidFill>
            <a:prstDash val="dash"/>
            <a:round/>
            <a:headEnd type="none" w="med" len="med"/>
            <a:tailEnd type="none" w="med" len="med"/>
          </a:ln>
          <a:effectLst/>
        </p:spPr>
      </p:cxnSp>
      <p:sp>
        <p:nvSpPr>
          <p:cNvPr id="5" name="Rectangle 69"/>
          <p:cNvSpPr>
            <a:spLocks noChangeArrowheads="1"/>
          </p:cNvSpPr>
          <p:nvPr/>
        </p:nvSpPr>
        <p:spPr bwMode="auto">
          <a:xfrm>
            <a:off x="4655980" y="558902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6" name="Rectangle 70"/>
          <p:cNvSpPr>
            <a:spLocks noChangeArrowheads="1"/>
          </p:cNvSpPr>
          <p:nvPr/>
        </p:nvSpPr>
        <p:spPr bwMode="auto">
          <a:xfrm>
            <a:off x="5105985" y="558902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7" name="Rectangle 71"/>
          <p:cNvSpPr>
            <a:spLocks noChangeArrowheads="1"/>
          </p:cNvSpPr>
          <p:nvPr/>
        </p:nvSpPr>
        <p:spPr bwMode="auto">
          <a:xfrm>
            <a:off x="6005999" y="558902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8" name="Rectangle 73"/>
          <p:cNvSpPr>
            <a:spLocks noChangeArrowheads="1"/>
          </p:cNvSpPr>
          <p:nvPr/>
        </p:nvSpPr>
        <p:spPr bwMode="auto">
          <a:xfrm>
            <a:off x="7806019" y="5589024"/>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9" name="Rectangle 71"/>
          <p:cNvSpPr>
            <a:spLocks noChangeArrowheads="1"/>
          </p:cNvSpPr>
          <p:nvPr/>
        </p:nvSpPr>
        <p:spPr bwMode="auto">
          <a:xfrm>
            <a:off x="6456004" y="558902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10" name="Rectangle 71"/>
          <p:cNvSpPr>
            <a:spLocks noChangeArrowheads="1"/>
          </p:cNvSpPr>
          <p:nvPr/>
        </p:nvSpPr>
        <p:spPr bwMode="auto">
          <a:xfrm>
            <a:off x="6906009" y="558902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11" name="Rectangle 71"/>
          <p:cNvSpPr>
            <a:spLocks noChangeArrowheads="1"/>
          </p:cNvSpPr>
          <p:nvPr/>
        </p:nvSpPr>
        <p:spPr bwMode="auto">
          <a:xfrm>
            <a:off x="7356014" y="558902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12" name="Rectangle 70"/>
          <p:cNvSpPr>
            <a:spLocks noChangeArrowheads="1"/>
          </p:cNvSpPr>
          <p:nvPr/>
        </p:nvSpPr>
        <p:spPr bwMode="auto">
          <a:xfrm>
            <a:off x="5555990" y="5589024"/>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13" name="正方形/長方形 12"/>
          <p:cNvSpPr/>
          <p:nvPr/>
        </p:nvSpPr>
        <p:spPr bwMode="auto">
          <a:xfrm>
            <a:off x="3395966" y="558902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I1: </a:t>
            </a:r>
            <a:r>
              <a:rPr lang="en-US" altLang="ja-JP" sz="1600" dirty="0" err="1">
                <a:solidFill>
                  <a:schemeClr val="tx1">
                    <a:lumMod val="75000"/>
                    <a:lumOff val="25000"/>
                  </a:schemeClr>
                </a:solidFill>
                <a:latin typeface="Consolas" panose="020B0609020204030204" pitchFamily="49" charset="0"/>
              </a:rPr>
              <a:t>mul</a:t>
            </a:r>
            <a:r>
              <a:rPr lang="en-US" altLang="ja-JP" sz="1600" dirty="0">
                <a:solidFill>
                  <a:schemeClr val="tx1">
                    <a:lumMod val="75000"/>
                    <a:lumOff val="25000"/>
                  </a:schemeClr>
                </a:solidFill>
                <a:latin typeface="Consolas" panose="020B0609020204030204" pitchFamily="49" charset="0"/>
              </a:rPr>
              <a:t> </a:t>
            </a:r>
            <a:r>
              <a:rPr lang="en-US" altLang="ja-JP" sz="1600" dirty="0">
                <a:solidFill>
                  <a:schemeClr val="accent4"/>
                </a:solidFill>
                <a:latin typeface="Consolas" panose="020B0609020204030204" pitchFamily="49" charset="0"/>
              </a:rPr>
              <a:t>x1</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accent3">
                    <a:lumMod val="75000"/>
                  </a:schemeClr>
                </a:solidFill>
                <a:latin typeface="Consolas" panose="020B0609020204030204" pitchFamily="49" charset="0"/>
              </a:rPr>
              <a:t>x2</a:t>
            </a:r>
            <a:r>
              <a:rPr lang="en-US" altLang="ja-JP" sz="1600" dirty="0">
                <a:solidFill>
                  <a:schemeClr val="tx1">
                    <a:lumMod val="75000"/>
                    <a:lumOff val="25000"/>
                  </a:schemeClr>
                </a:solidFill>
                <a:latin typeface="Consolas" panose="020B0609020204030204" pitchFamily="49" charset="0"/>
              </a:rPr>
              <a:t>*4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15" name="下矢印 14"/>
          <p:cNvSpPr/>
          <p:nvPr/>
        </p:nvSpPr>
        <p:spPr bwMode="auto">
          <a:xfrm>
            <a:off x="5105989" y="5049019"/>
            <a:ext cx="360004" cy="450005"/>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6" name="下矢印 15"/>
          <p:cNvSpPr/>
          <p:nvPr/>
        </p:nvSpPr>
        <p:spPr bwMode="auto">
          <a:xfrm>
            <a:off x="6906009" y="5049019"/>
            <a:ext cx="360004" cy="450005"/>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 name="正方形/長方形 16"/>
          <p:cNvSpPr/>
          <p:nvPr/>
        </p:nvSpPr>
        <p:spPr bwMode="auto">
          <a:xfrm>
            <a:off x="4655984" y="441901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ja-JP" altLang="en-US" sz="1600" dirty="0">
                <a:solidFill>
                  <a:schemeClr val="tx1">
                    <a:lumMod val="75000"/>
                    <a:lumOff val="25000"/>
                  </a:schemeClr>
                </a:solidFill>
                <a:latin typeface="Consolas" panose="020B0609020204030204" pitchFamily="49" charset="0"/>
              </a:rPr>
              <a:t>スコアボードの</a:t>
            </a:r>
            <a:br>
              <a:rPr lang="en-US" altLang="ja-JP" sz="1600" dirty="0">
                <a:solidFill>
                  <a:schemeClr val="tx1">
                    <a:lumMod val="75000"/>
                    <a:lumOff val="25000"/>
                  </a:schemeClr>
                </a:solidFill>
                <a:latin typeface="Consolas" panose="020B0609020204030204" pitchFamily="49" charset="0"/>
              </a:rPr>
            </a:br>
            <a:r>
              <a:rPr lang="en-US" altLang="ja-JP" sz="1600" dirty="0">
                <a:solidFill>
                  <a:schemeClr val="tx1">
                    <a:lumMod val="75000"/>
                    <a:lumOff val="25000"/>
                  </a:schemeClr>
                </a:solidFill>
                <a:latin typeface="Consolas" panose="020B0609020204030204" pitchFamily="49" charset="0"/>
              </a:rPr>
              <a:t>x1 </a:t>
            </a:r>
            <a:r>
              <a:rPr lang="ja-JP" altLang="en-US" sz="1600" dirty="0">
                <a:solidFill>
                  <a:schemeClr val="tx1">
                    <a:lumMod val="75000"/>
                    <a:lumOff val="25000"/>
                  </a:schemeClr>
                </a:solidFill>
                <a:latin typeface="Consolas" panose="020B0609020204030204" pitchFamily="49" charset="0"/>
              </a:rPr>
              <a:t>を </a:t>
            </a:r>
            <a:r>
              <a:rPr lang="en-US" altLang="ja-JP" sz="1600" dirty="0">
                <a:solidFill>
                  <a:schemeClr val="tx1">
                    <a:lumMod val="75000"/>
                    <a:lumOff val="25000"/>
                  </a:schemeClr>
                </a:solidFill>
                <a:latin typeface="Consolas" panose="020B0609020204030204" pitchFamily="49" charset="0"/>
              </a:rPr>
              <a:t>0 </a:t>
            </a:r>
            <a:r>
              <a:rPr lang="ja-JP" altLang="en-US" sz="1600" dirty="0">
                <a:solidFill>
                  <a:schemeClr val="tx1">
                    <a:lumMod val="75000"/>
                    <a:lumOff val="25000"/>
                  </a:schemeClr>
                </a:solidFill>
                <a:latin typeface="Consolas" panose="020B0609020204030204" pitchFamily="49" charset="0"/>
              </a:rPr>
              <a:t>にして</a:t>
            </a:r>
            <a:endParaRPr lang="en-US" altLang="ja-JP" sz="1600" dirty="0">
              <a:solidFill>
                <a:schemeClr val="tx1">
                  <a:lumMod val="75000"/>
                  <a:lumOff val="25000"/>
                </a:schemeClr>
              </a:solidFill>
              <a:latin typeface="Consolas" panose="020B0609020204030204" pitchFamily="49" charset="0"/>
            </a:endParaRPr>
          </a:p>
          <a:p>
            <a:r>
              <a:rPr lang="ja-JP" altLang="en-US" sz="1600" dirty="0">
                <a:solidFill>
                  <a:schemeClr val="tx1">
                    <a:lumMod val="75000"/>
                    <a:lumOff val="25000"/>
                  </a:schemeClr>
                </a:solidFill>
                <a:latin typeface="Consolas" panose="020B0609020204030204" pitchFamily="49" charset="0"/>
              </a:rPr>
              <a:t>使用不能に</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18" name="正方形/長方形 17"/>
          <p:cNvSpPr/>
          <p:nvPr/>
        </p:nvSpPr>
        <p:spPr bwMode="auto">
          <a:xfrm>
            <a:off x="6636006" y="441901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ja-JP" altLang="en-US" sz="1600" dirty="0">
                <a:solidFill>
                  <a:schemeClr val="tx1">
                    <a:lumMod val="75000"/>
                    <a:lumOff val="25000"/>
                  </a:schemeClr>
                </a:solidFill>
                <a:latin typeface="Consolas" panose="020B0609020204030204" pitchFamily="49" charset="0"/>
              </a:rPr>
              <a:t>スコアボードの</a:t>
            </a:r>
            <a:br>
              <a:rPr lang="en-US" altLang="ja-JP" sz="1600" dirty="0">
                <a:solidFill>
                  <a:schemeClr val="tx1">
                    <a:lumMod val="75000"/>
                    <a:lumOff val="25000"/>
                  </a:schemeClr>
                </a:solidFill>
                <a:latin typeface="Consolas" panose="020B0609020204030204" pitchFamily="49" charset="0"/>
              </a:rPr>
            </a:br>
            <a:r>
              <a:rPr lang="en-US" altLang="ja-JP" sz="1600" dirty="0">
                <a:solidFill>
                  <a:schemeClr val="tx1">
                    <a:lumMod val="75000"/>
                    <a:lumOff val="25000"/>
                  </a:schemeClr>
                </a:solidFill>
                <a:latin typeface="Consolas" panose="020B0609020204030204" pitchFamily="49" charset="0"/>
              </a:rPr>
              <a:t>x1 </a:t>
            </a:r>
            <a:r>
              <a:rPr lang="ja-JP" altLang="en-US" sz="1600" dirty="0">
                <a:solidFill>
                  <a:schemeClr val="tx1">
                    <a:lumMod val="75000"/>
                    <a:lumOff val="25000"/>
                  </a:schemeClr>
                </a:solidFill>
                <a:latin typeface="Consolas" panose="020B0609020204030204" pitchFamily="49" charset="0"/>
              </a:rPr>
              <a:t>を </a:t>
            </a:r>
            <a:r>
              <a:rPr lang="en-US" altLang="ja-JP" sz="1600" dirty="0">
                <a:solidFill>
                  <a:schemeClr val="tx1">
                    <a:lumMod val="75000"/>
                    <a:lumOff val="25000"/>
                  </a:schemeClr>
                </a:solidFill>
                <a:latin typeface="Consolas" panose="020B0609020204030204" pitchFamily="49" charset="0"/>
              </a:rPr>
              <a:t>1 </a:t>
            </a:r>
            <a:r>
              <a:rPr lang="ja-JP" altLang="en-US" sz="1600" dirty="0">
                <a:solidFill>
                  <a:schemeClr val="tx1">
                    <a:lumMod val="75000"/>
                    <a:lumOff val="25000"/>
                  </a:schemeClr>
                </a:solidFill>
                <a:latin typeface="Consolas" panose="020B0609020204030204" pitchFamily="49" charset="0"/>
              </a:rPr>
              <a:t>にして</a:t>
            </a:r>
            <a:endParaRPr lang="en-US" altLang="ja-JP" sz="1600" dirty="0">
              <a:solidFill>
                <a:schemeClr val="tx1">
                  <a:lumMod val="75000"/>
                  <a:lumOff val="25000"/>
                </a:schemeClr>
              </a:solidFill>
              <a:latin typeface="Consolas" panose="020B0609020204030204" pitchFamily="49" charset="0"/>
            </a:endParaRPr>
          </a:p>
          <a:p>
            <a:r>
              <a:rPr lang="ja-JP" altLang="en-US" sz="1600" dirty="0">
                <a:solidFill>
                  <a:schemeClr val="tx1">
                    <a:lumMod val="75000"/>
                    <a:lumOff val="25000"/>
                  </a:schemeClr>
                </a:solidFill>
                <a:latin typeface="Consolas" panose="020B0609020204030204" pitchFamily="49" charset="0"/>
              </a:rPr>
              <a:t>使用可能に</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cxnSp>
        <p:nvCxnSpPr>
          <p:cNvPr id="19" name="直線コネクタ 18"/>
          <p:cNvCxnSpPr/>
          <p:nvPr/>
        </p:nvCxnSpPr>
        <p:spPr bwMode="auto">
          <a:xfrm>
            <a:off x="7318844" y="5049019"/>
            <a:ext cx="0" cy="1710019"/>
          </a:xfrm>
          <a:prstGeom prst="line">
            <a:avLst/>
          </a:prstGeom>
          <a:ln>
            <a:solidFill>
              <a:schemeClr val="tx1">
                <a:lumMod val="75000"/>
                <a:lumOff val="2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20" name="直線コネクタ 19"/>
          <p:cNvCxnSpPr/>
          <p:nvPr/>
        </p:nvCxnSpPr>
        <p:spPr bwMode="auto">
          <a:xfrm>
            <a:off x="5503956" y="5049019"/>
            <a:ext cx="0" cy="1710019"/>
          </a:xfrm>
          <a:prstGeom prst="line">
            <a:avLst/>
          </a:prstGeom>
          <a:ln>
            <a:solidFill>
              <a:schemeClr val="tx1">
                <a:lumMod val="75000"/>
                <a:lumOff val="2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21" name="直線矢印コネクタ 20"/>
          <p:cNvCxnSpPr/>
          <p:nvPr/>
        </p:nvCxnSpPr>
        <p:spPr bwMode="auto">
          <a:xfrm>
            <a:off x="5555995" y="6669036"/>
            <a:ext cx="1710019" cy="0"/>
          </a:xfrm>
          <a:prstGeom prst="straightConnector1">
            <a:avLst/>
          </a:prstGeom>
          <a:noFill/>
          <a:ln w="9525" cap="flat" cmpd="sng" algn="ctr">
            <a:solidFill>
              <a:schemeClr val="tx1">
                <a:lumMod val="75000"/>
                <a:lumOff val="25000"/>
              </a:schemeClr>
            </a:solidFill>
            <a:prstDash val="solid"/>
            <a:round/>
            <a:headEnd type="triangle"/>
            <a:tailEnd type="triangle"/>
          </a:ln>
          <a:effectLst/>
        </p:spPr>
      </p:cxnSp>
      <p:sp>
        <p:nvSpPr>
          <p:cNvPr id="23" name="Rectangle 69"/>
          <p:cNvSpPr>
            <a:spLocks noChangeArrowheads="1"/>
          </p:cNvSpPr>
          <p:nvPr/>
        </p:nvSpPr>
        <p:spPr bwMode="auto">
          <a:xfrm>
            <a:off x="5105985" y="603902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4" name="Rectangle 70"/>
          <p:cNvSpPr>
            <a:spLocks noChangeArrowheads="1"/>
          </p:cNvSpPr>
          <p:nvPr/>
        </p:nvSpPr>
        <p:spPr bwMode="auto">
          <a:xfrm>
            <a:off x="5555994" y="603902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25" name="Rectangle 71"/>
          <p:cNvSpPr>
            <a:spLocks noChangeArrowheads="1"/>
          </p:cNvSpPr>
          <p:nvPr/>
        </p:nvSpPr>
        <p:spPr bwMode="auto">
          <a:xfrm>
            <a:off x="7806812" y="6039029"/>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26" name="Rectangle 73"/>
          <p:cNvSpPr>
            <a:spLocks noChangeArrowheads="1"/>
          </p:cNvSpPr>
          <p:nvPr/>
        </p:nvSpPr>
        <p:spPr bwMode="auto">
          <a:xfrm>
            <a:off x="8256817" y="6039029"/>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27" name="Rectangle 70"/>
          <p:cNvSpPr>
            <a:spLocks noChangeArrowheads="1"/>
          </p:cNvSpPr>
          <p:nvPr/>
        </p:nvSpPr>
        <p:spPr bwMode="auto">
          <a:xfrm>
            <a:off x="7356803" y="6039029"/>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29" name="Rectangle 73"/>
          <p:cNvSpPr>
            <a:spLocks noChangeArrowheads="1"/>
          </p:cNvSpPr>
          <p:nvPr/>
        </p:nvSpPr>
        <p:spPr bwMode="auto">
          <a:xfrm>
            <a:off x="6005999" y="603902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0" name="Rectangle 73"/>
          <p:cNvSpPr>
            <a:spLocks noChangeArrowheads="1"/>
          </p:cNvSpPr>
          <p:nvPr/>
        </p:nvSpPr>
        <p:spPr bwMode="auto">
          <a:xfrm>
            <a:off x="6456004" y="603902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1" name="Rectangle 73"/>
          <p:cNvSpPr>
            <a:spLocks noChangeArrowheads="1"/>
          </p:cNvSpPr>
          <p:nvPr/>
        </p:nvSpPr>
        <p:spPr bwMode="auto">
          <a:xfrm>
            <a:off x="6906009" y="603902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Tree>
    <p:extLst>
      <p:ext uri="{BB962C8B-B14F-4D97-AF65-F5344CB8AC3E}">
        <p14:creationId xmlns:p14="http://schemas.microsoft.com/office/powerpoint/2010/main" val="41786691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スコアボードによるストールの判定</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真の依存がある場合</a:t>
            </a:r>
            <a:endParaRPr kumimoji="1" lang="en-US" altLang="ja-JP" dirty="0"/>
          </a:p>
          <a:p>
            <a:pPr marL="457200" indent="-457200">
              <a:buFont typeface="+mj-lt"/>
              <a:buAutoNum type="arabicPeriod"/>
            </a:pPr>
            <a:r>
              <a:rPr kumimoji="1" lang="ja-JP" altLang="en-US" dirty="0"/>
              <a:t>出力依存がある場合</a:t>
            </a:r>
            <a:endParaRPr kumimoji="1" lang="en-US" altLang="ja-JP" dirty="0"/>
          </a:p>
          <a:p>
            <a:pPr marL="457200" indent="-457200">
              <a:buFont typeface="+mj-lt"/>
              <a:buAutoNum type="arabicPeriod"/>
            </a:pPr>
            <a:r>
              <a:rPr kumimoji="1" lang="ja-JP" altLang="en-US" dirty="0"/>
              <a:t>逆依存がある場合</a:t>
            </a:r>
            <a:endParaRPr kumimoji="1" lang="en-US" altLang="ja-JP" dirty="0"/>
          </a:p>
          <a:p>
            <a:pPr marL="457200" indent="-457200">
              <a:buFont typeface="+mj-lt"/>
              <a:buAutoNum type="arabicPeriod"/>
            </a:pPr>
            <a:r>
              <a:rPr kumimoji="1" lang="ja-JP" altLang="en-US" dirty="0"/>
              <a:t>依存がない場合</a:t>
            </a:r>
            <a:endParaRPr kumimoji="1" lang="en-US" altLang="ja-JP" dirty="0"/>
          </a:p>
          <a:p>
            <a:pPr marL="457200" indent="-457200">
              <a:buFont typeface="+mj-lt"/>
              <a:buAutoNum type="arabicPeriod"/>
            </a:pPr>
            <a:endParaRPr kumimoji="1" lang="en-US" altLang="ja-JP" dirty="0"/>
          </a:p>
          <a:p>
            <a:r>
              <a:rPr kumimoji="1" lang="ja-JP" altLang="en-US" dirty="0"/>
              <a:t>上記それぞれの場合に，</a:t>
            </a:r>
            <a:br>
              <a:rPr kumimoji="1" lang="en-US" altLang="ja-JP" dirty="0"/>
            </a:br>
            <a:r>
              <a:rPr kumimoji="1" lang="ja-JP" altLang="en-US" dirty="0"/>
              <a:t>ソースとディスティネーションの状態を元に説明</a:t>
            </a:r>
          </a:p>
        </p:txBody>
      </p:sp>
    </p:spTree>
    <p:extLst>
      <p:ext uri="{BB962C8B-B14F-4D97-AF65-F5344CB8AC3E}">
        <p14:creationId xmlns:p14="http://schemas.microsoft.com/office/powerpoint/2010/main" val="3033028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1. </a:t>
            </a:r>
            <a:r>
              <a:rPr lang="ja-JP" altLang="en-US" dirty="0"/>
              <a:t>真の依存がある場合</a:t>
            </a:r>
            <a:endParaRPr kumimoji="1" lang="ja-JP" altLang="en-US" dirty="0"/>
          </a:p>
        </p:txBody>
      </p:sp>
      <p:sp>
        <p:nvSpPr>
          <p:cNvPr id="3" name="テキスト プレースホルダー 2"/>
          <p:cNvSpPr>
            <a:spLocks noGrp="1"/>
          </p:cNvSpPr>
          <p:nvPr>
            <p:ph type="body" sz="quarter" idx="10"/>
          </p:nvPr>
        </p:nvSpPr>
        <p:spPr>
          <a:xfrm>
            <a:off x="2135956" y="1088974"/>
            <a:ext cx="8280092" cy="1620018"/>
          </a:xfrm>
        </p:spPr>
        <p:txBody>
          <a:bodyPr/>
          <a:lstStyle/>
          <a:p>
            <a:r>
              <a:rPr lang="en-US" altLang="ja-JP" dirty="0">
                <a:latin typeface="Consolas" panose="020B0609020204030204" pitchFamily="49" charset="0"/>
              </a:rPr>
              <a:t>I2 </a:t>
            </a:r>
            <a:r>
              <a:rPr lang="ja-JP" altLang="en-US" dirty="0">
                <a:latin typeface="Consolas" panose="020B0609020204030204" pitchFamily="49" charset="0"/>
              </a:rPr>
              <a:t>の</a:t>
            </a:r>
            <a:r>
              <a:rPr lang="ja-JP" altLang="en-US" dirty="0"/>
              <a:t>デコード時：</a:t>
            </a:r>
            <a:endParaRPr lang="en-US" altLang="ja-JP" dirty="0">
              <a:latin typeface="Consolas" panose="020B0609020204030204" pitchFamily="49" charset="0"/>
            </a:endParaRPr>
          </a:p>
          <a:p>
            <a:pPr marL="817200" lvl="1" indent="-457200">
              <a:buFont typeface="+mj-lt"/>
              <a:buAutoNum type="arabicPeriod"/>
            </a:pPr>
            <a:r>
              <a:rPr lang="ja-JP" altLang="en-US" dirty="0"/>
              <a:t>ソースの </a:t>
            </a:r>
            <a:r>
              <a:rPr lang="en-US" altLang="ja-JP" dirty="0"/>
              <a:t>x1 </a:t>
            </a:r>
            <a:r>
              <a:rPr lang="ja-JP" altLang="en-US" dirty="0"/>
              <a:t>が使用可能になるまでストール</a:t>
            </a:r>
            <a:endParaRPr lang="en-US" altLang="ja-JP" dirty="0"/>
          </a:p>
          <a:p>
            <a:pPr lvl="2"/>
            <a:r>
              <a:rPr lang="ja-JP" altLang="en-US" dirty="0"/>
              <a:t>真の依存が守られる</a:t>
            </a:r>
            <a:endParaRPr lang="en-US" altLang="ja-JP" dirty="0"/>
          </a:p>
          <a:p>
            <a:pPr marL="817200" lvl="1" indent="-457200">
              <a:buFont typeface="+mj-lt"/>
              <a:buAutoNum type="arabicPeriod"/>
            </a:pPr>
            <a:r>
              <a:rPr lang="ja-JP" altLang="en-US" dirty="0"/>
              <a:t>ディスティネーションの </a:t>
            </a:r>
            <a:r>
              <a:rPr lang="en-US" altLang="ja-JP" dirty="0"/>
              <a:t>x3 </a:t>
            </a:r>
            <a:r>
              <a:rPr lang="ja-JP" altLang="en-US" dirty="0"/>
              <a:t>は使用可能なので問題ない</a:t>
            </a:r>
            <a:endParaRPr lang="en-US" altLang="ja-JP" dirty="0"/>
          </a:p>
        </p:txBody>
      </p:sp>
      <p:cxnSp>
        <p:nvCxnSpPr>
          <p:cNvPr id="4" name="直線コネクタ 3"/>
          <p:cNvCxnSpPr/>
          <p:nvPr/>
        </p:nvCxnSpPr>
        <p:spPr bwMode="auto">
          <a:xfrm>
            <a:off x="4205182" y="4239009"/>
            <a:ext cx="720080" cy="0"/>
          </a:xfrm>
          <a:prstGeom prst="line">
            <a:avLst/>
          </a:prstGeom>
          <a:noFill/>
          <a:ln w="9525" cap="flat" cmpd="sng" algn="ctr">
            <a:solidFill>
              <a:schemeClr val="tx1"/>
            </a:solidFill>
            <a:prstDash val="dash"/>
            <a:round/>
            <a:headEnd type="none" w="med" len="med"/>
            <a:tailEnd type="none" w="med" len="med"/>
          </a:ln>
          <a:effectLst/>
        </p:spPr>
      </p:cxnSp>
      <p:sp>
        <p:nvSpPr>
          <p:cNvPr id="5" name="Rectangle 69"/>
          <p:cNvSpPr>
            <a:spLocks noChangeArrowheads="1"/>
          </p:cNvSpPr>
          <p:nvPr/>
        </p:nvSpPr>
        <p:spPr bwMode="auto">
          <a:xfrm>
            <a:off x="4745188" y="405900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6" name="Rectangle 70"/>
          <p:cNvSpPr>
            <a:spLocks noChangeArrowheads="1"/>
          </p:cNvSpPr>
          <p:nvPr/>
        </p:nvSpPr>
        <p:spPr bwMode="auto">
          <a:xfrm>
            <a:off x="5195193" y="405900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7" name="Rectangle 71"/>
          <p:cNvSpPr>
            <a:spLocks noChangeArrowheads="1"/>
          </p:cNvSpPr>
          <p:nvPr/>
        </p:nvSpPr>
        <p:spPr bwMode="auto">
          <a:xfrm>
            <a:off x="6095207" y="405900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8" name="Rectangle 73"/>
          <p:cNvSpPr>
            <a:spLocks noChangeArrowheads="1"/>
          </p:cNvSpPr>
          <p:nvPr/>
        </p:nvSpPr>
        <p:spPr bwMode="auto">
          <a:xfrm>
            <a:off x="7895227" y="4059007"/>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9" name="Rectangle 71"/>
          <p:cNvSpPr>
            <a:spLocks noChangeArrowheads="1"/>
          </p:cNvSpPr>
          <p:nvPr/>
        </p:nvSpPr>
        <p:spPr bwMode="auto">
          <a:xfrm>
            <a:off x="6545212" y="405900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10" name="Rectangle 71"/>
          <p:cNvSpPr>
            <a:spLocks noChangeArrowheads="1"/>
          </p:cNvSpPr>
          <p:nvPr/>
        </p:nvSpPr>
        <p:spPr bwMode="auto">
          <a:xfrm>
            <a:off x="6995217" y="405900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11" name="Rectangle 71"/>
          <p:cNvSpPr>
            <a:spLocks noChangeArrowheads="1"/>
          </p:cNvSpPr>
          <p:nvPr/>
        </p:nvSpPr>
        <p:spPr bwMode="auto">
          <a:xfrm>
            <a:off x="7445222" y="405900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12" name="Rectangle 70"/>
          <p:cNvSpPr>
            <a:spLocks noChangeArrowheads="1"/>
          </p:cNvSpPr>
          <p:nvPr/>
        </p:nvSpPr>
        <p:spPr bwMode="auto">
          <a:xfrm>
            <a:off x="5645198" y="4059007"/>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13" name="正方形/長方形 12"/>
          <p:cNvSpPr/>
          <p:nvPr/>
        </p:nvSpPr>
        <p:spPr bwMode="auto">
          <a:xfrm>
            <a:off x="3485174" y="405900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I1: </a:t>
            </a:r>
            <a:r>
              <a:rPr lang="en-US" altLang="ja-JP" sz="1600" dirty="0" err="1">
                <a:solidFill>
                  <a:schemeClr val="tx1">
                    <a:lumMod val="75000"/>
                    <a:lumOff val="25000"/>
                  </a:schemeClr>
                </a:solidFill>
                <a:latin typeface="Consolas" panose="020B0609020204030204" pitchFamily="49" charset="0"/>
              </a:rPr>
              <a:t>mul</a:t>
            </a:r>
            <a:r>
              <a:rPr lang="en-US" altLang="ja-JP" sz="1600" dirty="0">
                <a:solidFill>
                  <a:schemeClr val="tx1">
                    <a:lumMod val="75000"/>
                    <a:lumOff val="25000"/>
                  </a:schemeClr>
                </a:solidFill>
                <a:latin typeface="Consolas" panose="020B0609020204030204" pitchFamily="49" charset="0"/>
              </a:rPr>
              <a:t> </a:t>
            </a:r>
            <a:r>
              <a:rPr lang="en-US" altLang="ja-JP" sz="1600" b="1" dirty="0">
                <a:solidFill>
                  <a:schemeClr val="accent5"/>
                </a:solidFill>
                <a:latin typeface="Consolas" panose="020B0609020204030204" pitchFamily="49" charset="0"/>
              </a:rPr>
              <a:t>x1</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15" name="下矢印 14"/>
          <p:cNvSpPr/>
          <p:nvPr/>
        </p:nvSpPr>
        <p:spPr bwMode="auto">
          <a:xfrm>
            <a:off x="5195197" y="3519002"/>
            <a:ext cx="360004" cy="450005"/>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6" name="下矢印 15"/>
          <p:cNvSpPr/>
          <p:nvPr/>
        </p:nvSpPr>
        <p:spPr bwMode="auto">
          <a:xfrm>
            <a:off x="6995217" y="3519002"/>
            <a:ext cx="360004" cy="450005"/>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 name="正方形/長方形 16"/>
          <p:cNvSpPr/>
          <p:nvPr/>
        </p:nvSpPr>
        <p:spPr bwMode="auto">
          <a:xfrm>
            <a:off x="4745192" y="306899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Consolas" panose="020B0609020204030204" pitchFamily="49" charset="0"/>
              </a:rPr>
              <a:t>x1 </a:t>
            </a:r>
            <a:r>
              <a:rPr lang="ja-JP" altLang="en-US" sz="1600" dirty="0">
                <a:solidFill>
                  <a:schemeClr val="tx1">
                    <a:lumMod val="75000"/>
                    <a:lumOff val="25000"/>
                  </a:schemeClr>
                </a:solidFill>
                <a:latin typeface="Consolas" panose="020B0609020204030204" pitchFamily="49" charset="0"/>
              </a:rPr>
              <a:t>を </a:t>
            </a:r>
            <a:r>
              <a:rPr lang="en-US" altLang="ja-JP" sz="1600" dirty="0">
                <a:solidFill>
                  <a:schemeClr val="tx1">
                    <a:lumMod val="75000"/>
                    <a:lumOff val="25000"/>
                  </a:schemeClr>
                </a:solidFill>
                <a:latin typeface="Consolas" panose="020B0609020204030204" pitchFamily="49" charset="0"/>
              </a:rPr>
              <a:t>0 </a:t>
            </a:r>
            <a:r>
              <a:rPr lang="ja-JP" altLang="en-US" sz="1600" dirty="0">
                <a:solidFill>
                  <a:schemeClr val="tx1">
                    <a:lumMod val="75000"/>
                    <a:lumOff val="25000"/>
                  </a:schemeClr>
                </a:solidFill>
                <a:latin typeface="Consolas" panose="020B0609020204030204" pitchFamily="49" charset="0"/>
              </a:rPr>
              <a:t>にして</a:t>
            </a:r>
            <a:endParaRPr lang="en-US" altLang="ja-JP" sz="1600" dirty="0">
              <a:solidFill>
                <a:schemeClr val="tx1">
                  <a:lumMod val="75000"/>
                  <a:lumOff val="25000"/>
                </a:schemeClr>
              </a:solidFill>
              <a:latin typeface="Consolas" panose="020B0609020204030204" pitchFamily="49" charset="0"/>
            </a:endParaRPr>
          </a:p>
          <a:p>
            <a:r>
              <a:rPr lang="ja-JP" altLang="en-US" sz="1600" dirty="0">
                <a:solidFill>
                  <a:schemeClr val="tx1">
                    <a:lumMod val="75000"/>
                    <a:lumOff val="25000"/>
                  </a:schemeClr>
                </a:solidFill>
                <a:latin typeface="Consolas" panose="020B0609020204030204" pitchFamily="49" charset="0"/>
              </a:rPr>
              <a:t>使用不能に</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18" name="正方形/長方形 17"/>
          <p:cNvSpPr/>
          <p:nvPr/>
        </p:nvSpPr>
        <p:spPr bwMode="auto">
          <a:xfrm>
            <a:off x="6725214" y="306899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Consolas" panose="020B0609020204030204" pitchFamily="49" charset="0"/>
              </a:rPr>
              <a:t>x1 </a:t>
            </a:r>
            <a:r>
              <a:rPr lang="ja-JP" altLang="en-US" sz="1600" dirty="0">
                <a:solidFill>
                  <a:schemeClr val="tx1">
                    <a:lumMod val="75000"/>
                    <a:lumOff val="25000"/>
                  </a:schemeClr>
                </a:solidFill>
                <a:latin typeface="Consolas" panose="020B0609020204030204" pitchFamily="49" charset="0"/>
              </a:rPr>
              <a:t>を </a:t>
            </a:r>
            <a:r>
              <a:rPr lang="en-US" altLang="ja-JP" sz="1600" dirty="0">
                <a:solidFill>
                  <a:schemeClr val="tx1">
                    <a:lumMod val="75000"/>
                    <a:lumOff val="25000"/>
                  </a:schemeClr>
                </a:solidFill>
                <a:latin typeface="Consolas" panose="020B0609020204030204" pitchFamily="49" charset="0"/>
              </a:rPr>
              <a:t>1 </a:t>
            </a:r>
            <a:r>
              <a:rPr lang="ja-JP" altLang="en-US" sz="1600" dirty="0">
                <a:solidFill>
                  <a:schemeClr val="tx1">
                    <a:lumMod val="75000"/>
                    <a:lumOff val="25000"/>
                  </a:schemeClr>
                </a:solidFill>
                <a:latin typeface="Consolas" panose="020B0609020204030204" pitchFamily="49" charset="0"/>
              </a:rPr>
              <a:t>にして</a:t>
            </a:r>
            <a:endParaRPr lang="en-US" altLang="ja-JP" sz="1600" dirty="0">
              <a:solidFill>
                <a:schemeClr val="tx1">
                  <a:lumMod val="75000"/>
                  <a:lumOff val="25000"/>
                </a:schemeClr>
              </a:solidFill>
              <a:latin typeface="Consolas" panose="020B0609020204030204" pitchFamily="49" charset="0"/>
            </a:endParaRPr>
          </a:p>
          <a:p>
            <a:r>
              <a:rPr lang="ja-JP" altLang="en-US" sz="1600" dirty="0">
                <a:solidFill>
                  <a:schemeClr val="tx1">
                    <a:lumMod val="75000"/>
                    <a:lumOff val="25000"/>
                  </a:schemeClr>
                </a:solidFill>
                <a:latin typeface="Consolas" panose="020B0609020204030204" pitchFamily="49" charset="0"/>
              </a:rPr>
              <a:t>使用可能に</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cxnSp>
        <p:nvCxnSpPr>
          <p:cNvPr id="19" name="直線コネクタ 18"/>
          <p:cNvCxnSpPr/>
          <p:nvPr/>
        </p:nvCxnSpPr>
        <p:spPr bwMode="auto">
          <a:xfrm>
            <a:off x="7408052" y="3519002"/>
            <a:ext cx="0" cy="1710019"/>
          </a:xfrm>
          <a:prstGeom prst="line">
            <a:avLst/>
          </a:prstGeom>
          <a:ln>
            <a:solidFill>
              <a:schemeClr val="tx1">
                <a:lumMod val="75000"/>
                <a:lumOff val="2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20" name="直線コネクタ 19"/>
          <p:cNvCxnSpPr/>
          <p:nvPr/>
        </p:nvCxnSpPr>
        <p:spPr bwMode="auto">
          <a:xfrm>
            <a:off x="5593164" y="3519002"/>
            <a:ext cx="0" cy="1710019"/>
          </a:xfrm>
          <a:prstGeom prst="line">
            <a:avLst/>
          </a:prstGeom>
          <a:ln>
            <a:solidFill>
              <a:schemeClr val="tx1">
                <a:lumMod val="75000"/>
                <a:lumOff val="2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21" name="直線矢印コネクタ 20"/>
          <p:cNvCxnSpPr/>
          <p:nvPr/>
        </p:nvCxnSpPr>
        <p:spPr bwMode="auto">
          <a:xfrm>
            <a:off x="5645203" y="5139019"/>
            <a:ext cx="1710019" cy="0"/>
          </a:xfrm>
          <a:prstGeom prst="straightConnector1">
            <a:avLst/>
          </a:prstGeom>
          <a:noFill/>
          <a:ln w="9525" cap="flat" cmpd="sng" algn="ctr">
            <a:solidFill>
              <a:schemeClr val="tx1">
                <a:lumMod val="75000"/>
                <a:lumOff val="25000"/>
              </a:schemeClr>
            </a:solidFill>
            <a:prstDash val="solid"/>
            <a:round/>
            <a:headEnd type="triangle"/>
            <a:tailEnd type="triangle"/>
          </a:ln>
          <a:effectLst/>
        </p:spPr>
      </p:cxnSp>
      <p:sp>
        <p:nvSpPr>
          <p:cNvPr id="23" name="Rectangle 69"/>
          <p:cNvSpPr>
            <a:spLocks noChangeArrowheads="1"/>
          </p:cNvSpPr>
          <p:nvPr/>
        </p:nvSpPr>
        <p:spPr bwMode="auto">
          <a:xfrm>
            <a:off x="5195193" y="450901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4" name="Rectangle 70"/>
          <p:cNvSpPr>
            <a:spLocks noChangeArrowheads="1"/>
          </p:cNvSpPr>
          <p:nvPr/>
        </p:nvSpPr>
        <p:spPr bwMode="auto">
          <a:xfrm>
            <a:off x="5645202" y="450901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25" name="Rectangle 71"/>
          <p:cNvSpPr>
            <a:spLocks noChangeArrowheads="1"/>
          </p:cNvSpPr>
          <p:nvPr/>
        </p:nvSpPr>
        <p:spPr bwMode="auto">
          <a:xfrm>
            <a:off x="7896020" y="4509012"/>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26" name="Rectangle 73"/>
          <p:cNvSpPr>
            <a:spLocks noChangeArrowheads="1"/>
          </p:cNvSpPr>
          <p:nvPr/>
        </p:nvSpPr>
        <p:spPr bwMode="auto">
          <a:xfrm>
            <a:off x="8346025" y="4509012"/>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27" name="Rectangle 70"/>
          <p:cNvSpPr>
            <a:spLocks noChangeArrowheads="1"/>
          </p:cNvSpPr>
          <p:nvPr/>
        </p:nvSpPr>
        <p:spPr bwMode="auto">
          <a:xfrm>
            <a:off x="7446011" y="4509012"/>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29" name="Rectangle 73"/>
          <p:cNvSpPr>
            <a:spLocks noChangeArrowheads="1"/>
          </p:cNvSpPr>
          <p:nvPr/>
        </p:nvSpPr>
        <p:spPr bwMode="auto">
          <a:xfrm>
            <a:off x="6095207" y="4509012"/>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0" name="Rectangle 73"/>
          <p:cNvSpPr>
            <a:spLocks noChangeArrowheads="1"/>
          </p:cNvSpPr>
          <p:nvPr/>
        </p:nvSpPr>
        <p:spPr bwMode="auto">
          <a:xfrm>
            <a:off x="6545212" y="4509012"/>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1" name="Rectangle 73"/>
          <p:cNvSpPr>
            <a:spLocks noChangeArrowheads="1"/>
          </p:cNvSpPr>
          <p:nvPr/>
        </p:nvSpPr>
        <p:spPr bwMode="auto">
          <a:xfrm>
            <a:off x="6995217" y="4509012"/>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2765963" y="5319021"/>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600" dirty="0">
                <a:latin typeface="+mn-ea"/>
                <a:ea typeface="+mn-ea"/>
              </a:rPr>
              <a:t>スコアボードの状態</a:t>
            </a:r>
          </a:p>
        </p:txBody>
      </p:sp>
      <p:sp>
        <p:nvSpPr>
          <p:cNvPr id="3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025977" y="5319021"/>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x1</a:t>
            </a:r>
            <a:endParaRPr lang="ja-JP" altLang="en-US" sz="1600" dirty="0">
              <a:latin typeface="+mn-ea"/>
              <a:ea typeface="+mn-ea"/>
            </a:endParaRPr>
          </a:p>
        </p:txBody>
      </p:sp>
      <p:sp>
        <p:nvSpPr>
          <p:cNvPr id="3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025977" y="5679025"/>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x2</a:t>
            </a:r>
            <a:endParaRPr lang="ja-JP" altLang="en-US" sz="1600" dirty="0">
              <a:latin typeface="+mn-ea"/>
              <a:ea typeface="+mn-ea"/>
            </a:endParaRPr>
          </a:p>
        </p:txBody>
      </p:sp>
      <p:sp>
        <p:nvSpPr>
          <p:cNvPr id="76" name="正方形/長方形 75"/>
          <p:cNvSpPr/>
          <p:nvPr/>
        </p:nvSpPr>
        <p:spPr bwMode="auto">
          <a:xfrm>
            <a:off x="3485971" y="441901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I2: add x3</a:t>
            </a:r>
            <a:r>
              <a:rPr lang="ja-JP" altLang="en-US" sz="1600" dirty="0">
                <a:solidFill>
                  <a:schemeClr val="tx1">
                    <a:lumMod val="75000"/>
                    <a:lumOff val="25000"/>
                  </a:schemeClr>
                </a:solidFill>
                <a:latin typeface="Consolas" panose="020B0609020204030204" pitchFamily="49" charset="0"/>
              </a:rPr>
              <a:t>←</a:t>
            </a:r>
            <a:r>
              <a:rPr lang="en-US" altLang="ja-JP" sz="1600" b="1" dirty="0">
                <a:solidFill>
                  <a:schemeClr val="accent5"/>
                </a:solidFill>
                <a:latin typeface="Consolas" panose="020B0609020204030204" pitchFamily="49" charset="0"/>
              </a:rPr>
              <a:t>x1+</a:t>
            </a:r>
            <a:r>
              <a:rPr lang="en-US" altLang="ja-JP" sz="1600" dirty="0">
                <a:solidFill>
                  <a:schemeClr val="tx1">
                    <a:lumMod val="75000"/>
                    <a:lumOff val="25000"/>
                  </a:schemeClr>
                </a:solidFill>
                <a:latin typeface="Consolas" panose="020B0609020204030204" pitchFamily="49" charset="0"/>
              </a:rPr>
              <a:t>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7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745985"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7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745985"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7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745985"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8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745985"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8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025977" y="5319021"/>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x1</a:t>
            </a:r>
            <a:endParaRPr lang="ja-JP" altLang="en-US" sz="1600" dirty="0">
              <a:latin typeface="+mn-ea"/>
              <a:ea typeface="+mn-ea"/>
            </a:endParaRPr>
          </a:p>
        </p:txBody>
      </p:sp>
      <p:sp>
        <p:nvSpPr>
          <p:cNvPr id="8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025977" y="5679025"/>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x2</a:t>
            </a:r>
            <a:endParaRPr lang="ja-JP" altLang="en-US" sz="1600" dirty="0">
              <a:latin typeface="+mn-ea"/>
              <a:ea typeface="+mn-ea"/>
            </a:endParaRPr>
          </a:p>
        </p:txBody>
      </p:sp>
      <p:sp>
        <p:nvSpPr>
          <p:cNvPr id="8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195990"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8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195990"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8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195990"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8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195990"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8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645995"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8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645995"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b="1" dirty="0">
                <a:solidFill>
                  <a:schemeClr val="accent5"/>
                </a:solidFill>
                <a:latin typeface="+mn-ea"/>
                <a:ea typeface="+mn-ea"/>
              </a:rPr>
              <a:t>0</a:t>
            </a:r>
            <a:endParaRPr lang="ja-JP" altLang="en-US" sz="1600" b="1" dirty="0">
              <a:solidFill>
                <a:schemeClr val="accent5"/>
              </a:solidFill>
              <a:latin typeface="+mn-ea"/>
              <a:ea typeface="+mn-ea"/>
            </a:endParaRPr>
          </a:p>
        </p:txBody>
      </p:sp>
      <p:sp>
        <p:nvSpPr>
          <p:cNvPr id="8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645995"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645995"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096000"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9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096000"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b="1" dirty="0">
                <a:solidFill>
                  <a:schemeClr val="accent5"/>
                </a:solidFill>
                <a:latin typeface="+mn-ea"/>
                <a:ea typeface="+mn-ea"/>
              </a:rPr>
              <a:t>0</a:t>
            </a:r>
            <a:endParaRPr lang="ja-JP" altLang="en-US" sz="1600" b="1" dirty="0">
              <a:solidFill>
                <a:schemeClr val="accent5"/>
              </a:solidFill>
              <a:latin typeface="+mn-ea"/>
              <a:ea typeface="+mn-ea"/>
            </a:endParaRPr>
          </a:p>
        </p:txBody>
      </p:sp>
      <p:sp>
        <p:nvSpPr>
          <p:cNvPr id="9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096000"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096000"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546005"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9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546005"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b="1" dirty="0">
                <a:solidFill>
                  <a:schemeClr val="accent5"/>
                </a:solidFill>
                <a:latin typeface="+mn-ea"/>
                <a:ea typeface="+mn-ea"/>
              </a:rPr>
              <a:t>0</a:t>
            </a:r>
            <a:endParaRPr lang="ja-JP" altLang="en-US" sz="1600" b="1" dirty="0">
              <a:solidFill>
                <a:schemeClr val="accent5"/>
              </a:solidFill>
              <a:latin typeface="+mn-ea"/>
              <a:ea typeface="+mn-ea"/>
            </a:endParaRPr>
          </a:p>
        </p:txBody>
      </p:sp>
      <p:sp>
        <p:nvSpPr>
          <p:cNvPr id="9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546005"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546005"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996010"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10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996010"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b="1" dirty="0">
                <a:solidFill>
                  <a:schemeClr val="accent5"/>
                </a:solidFill>
                <a:latin typeface="+mn-ea"/>
                <a:ea typeface="+mn-ea"/>
              </a:rPr>
              <a:t>0</a:t>
            </a:r>
            <a:endParaRPr lang="ja-JP" altLang="en-US" sz="1600" b="1" dirty="0">
              <a:solidFill>
                <a:schemeClr val="accent5"/>
              </a:solidFill>
              <a:latin typeface="+mn-ea"/>
              <a:ea typeface="+mn-ea"/>
            </a:endParaRPr>
          </a:p>
        </p:txBody>
      </p:sp>
      <p:sp>
        <p:nvSpPr>
          <p:cNvPr id="10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996010"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996010"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446015"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10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446015"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446015"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446015"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896020"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10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896020"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896020"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1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896020"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1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8346025"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11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8346025"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1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8346025"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1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8346025"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1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025977" y="6039029"/>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x3</a:t>
            </a:r>
            <a:endParaRPr lang="ja-JP" altLang="en-US" sz="1600" dirty="0">
              <a:latin typeface="+mn-ea"/>
              <a:ea typeface="+mn-ea"/>
            </a:endParaRPr>
          </a:p>
        </p:txBody>
      </p:sp>
    </p:spTree>
    <p:extLst>
      <p:ext uri="{BB962C8B-B14F-4D97-AF65-F5344CB8AC3E}">
        <p14:creationId xmlns:p14="http://schemas.microsoft.com/office/powerpoint/2010/main" val="24937860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2. </a:t>
            </a:r>
            <a:r>
              <a:rPr lang="ja-JP" altLang="en-US" dirty="0"/>
              <a:t>出力依存（</a:t>
            </a:r>
            <a:r>
              <a:rPr lang="en-US" altLang="ja-JP" dirty="0"/>
              <a:t>WAW</a:t>
            </a:r>
            <a:r>
              <a:rPr lang="ja-JP" altLang="en-US" dirty="0"/>
              <a:t>）がある場合</a:t>
            </a:r>
            <a:endParaRPr kumimoji="1" lang="ja-JP" altLang="en-US" dirty="0"/>
          </a:p>
        </p:txBody>
      </p:sp>
      <p:sp>
        <p:nvSpPr>
          <p:cNvPr id="3" name="テキスト プレースホルダー 2"/>
          <p:cNvSpPr>
            <a:spLocks noGrp="1"/>
          </p:cNvSpPr>
          <p:nvPr>
            <p:ph type="body" sz="quarter" idx="10"/>
          </p:nvPr>
        </p:nvSpPr>
        <p:spPr>
          <a:xfrm>
            <a:off x="2135956" y="1088974"/>
            <a:ext cx="8280092" cy="1620018"/>
          </a:xfrm>
        </p:spPr>
        <p:txBody>
          <a:bodyPr/>
          <a:lstStyle/>
          <a:p>
            <a:r>
              <a:rPr lang="en-US" altLang="ja-JP" dirty="0">
                <a:latin typeface="Consolas" panose="020B0609020204030204" pitchFamily="49" charset="0"/>
              </a:rPr>
              <a:t>I2 </a:t>
            </a:r>
            <a:r>
              <a:rPr lang="ja-JP" altLang="en-US" dirty="0">
                <a:latin typeface="Consolas" panose="020B0609020204030204" pitchFamily="49" charset="0"/>
              </a:rPr>
              <a:t>の</a:t>
            </a:r>
            <a:r>
              <a:rPr lang="ja-JP" altLang="en-US" dirty="0"/>
              <a:t>デコード時：</a:t>
            </a:r>
            <a:endParaRPr lang="en-US" altLang="ja-JP" dirty="0">
              <a:latin typeface="Consolas" panose="020B0609020204030204" pitchFamily="49" charset="0"/>
            </a:endParaRPr>
          </a:p>
          <a:p>
            <a:pPr marL="817200" lvl="1" indent="-457200">
              <a:buFont typeface="+mj-lt"/>
              <a:buAutoNum type="arabicPeriod"/>
            </a:pPr>
            <a:r>
              <a:rPr lang="ja-JP" altLang="en-US" dirty="0"/>
              <a:t>ソースの </a:t>
            </a:r>
            <a:r>
              <a:rPr lang="en-US" altLang="ja-JP" dirty="0"/>
              <a:t>x3 </a:t>
            </a:r>
            <a:r>
              <a:rPr lang="ja-JP" altLang="en-US" dirty="0"/>
              <a:t>は使用可能なので問題ない</a:t>
            </a:r>
            <a:endParaRPr lang="en-US" altLang="ja-JP" dirty="0"/>
          </a:p>
          <a:p>
            <a:pPr marL="817200" lvl="1" indent="-457200">
              <a:buFont typeface="+mj-lt"/>
              <a:buAutoNum type="arabicPeriod"/>
            </a:pPr>
            <a:r>
              <a:rPr lang="ja-JP" altLang="en-US" dirty="0"/>
              <a:t>ディスティネーションの </a:t>
            </a:r>
            <a:r>
              <a:rPr lang="en-US" altLang="ja-JP" dirty="0"/>
              <a:t>x1 </a:t>
            </a:r>
            <a:r>
              <a:rPr lang="ja-JP" altLang="en-US" dirty="0"/>
              <a:t>が使用可能になるまで待つ</a:t>
            </a:r>
            <a:endParaRPr lang="en-US" altLang="ja-JP" dirty="0"/>
          </a:p>
          <a:p>
            <a:pPr lvl="2"/>
            <a:r>
              <a:rPr lang="ja-JP" altLang="en-US" dirty="0"/>
              <a:t>出力依存が守られる </a:t>
            </a:r>
            <a:r>
              <a:rPr lang="en-US" altLang="ja-JP" dirty="0"/>
              <a:t>= </a:t>
            </a:r>
            <a:r>
              <a:rPr lang="ja-JP" altLang="en-US" dirty="0"/>
              <a:t>同じレジスタへの書き込みが </a:t>
            </a:r>
            <a:r>
              <a:rPr lang="en-US" altLang="ja-JP" dirty="0"/>
              <a:t>in-order </a:t>
            </a:r>
          </a:p>
        </p:txBody>
      </p:sp>
      <p:cxnSp>
        <p:nvCxnSpPr>
          <p:cNvPr id="4" name="直線コネクタ 3"/>
          <p:cNvCxnSpPr/>
          <p:nvPr/>
        </p:nvCxnSpPr>
        <p:spPr bwMode="auto">
          <a:xfrm>
            <a:off x="4205182" y="4239009"/>
            <a:ext cx="720080" cy="0"/>
          </a:xfrm>
          <a:prstGeom prst="line">
            <a:avLst/>
          </a:prstGeom>
          <a:noFill/>
          <a:ln w="9525" cap="flat" cmpd="sng" algn="ctr">
            <a:solidFill>
              <a:schemeClr val="tx1"/>
            </a:solidFill>
            <a:prstDash val="dash"/>
            <a:round/>
            <a:headEnd type="none" w="med" len="med"/>
            <a:tailEnd type="none" w="med" len="med"/>
          </a:ln>
          <a:effectLst/>
        </p:spPr>
      </p:cxnSp>
      <p:sp>
        <p:nvSpPr>
          <p:cNvPr id="5" name="Rectangle 69"/>
          <p:cNvSpPr>
            <a:spLocks noChangeArrowheads="1"/>
          </p:cNvSpPr>
          <p:nvPr/>
        </p:nvSpPr>
        <p:spPr bwMode="auto">
          <a:xfrm>
            <a:off x="4745188" y="405900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6" name="Rectangle 70"/>
          <p:cNvSpPr>
            <a:spLocks noChangeArrowheads="1"/>
          </p:cNvSpPr>
          <p:nvPr/>
        </p:nvSpPr>
        <p:spPr bwMode="auto">
          <a:xfrm>
            <a:off x="5195193" y="405900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7" name="Rectangle 71"/>
          <p:cNvSpPr>
            <a:spLocks noChangeArrowheads="1"/>
          </p:cNvSpPr>
          <p:nvPr/>
        </p:nvSpPr>
        <p:spPr bwMode="auto">
          <a:xfrm>
            <a:off x="6095207" y="405900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8" name="Rectangle 73"/>
          <p:cNvSpPr>
            <a:spLocks noChangeArrowheads="1"/>
          </p:cNvSpPr>
          <p:nvPr/>
        </p:nvSpPr>
        <p:spPr bwMode="auto">
          <a:xfrm>
            <a:off x="7895227" y="4059007"/>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9" name="Rectangle 71"/>
          <p:cNvSpPr>
            <a:spLocks noChangeArrowheads="1"/>
          </p:cNvSpPr>
          <p:nvPr/>
        </p:nvSpPr>
        <p:spPr bwMode="auto">
          <a:xfrm>
            <a:off x="6545212" y="405900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10" name="Rectangle 71"/>
          <p:cNvSpPr>
            <a:spLocks noChangeArrowheads="1"/>
          </p:cNvSpPr>
          <p:nvPr/>
        </p:nvSpPr>
        <p:spPr bwMode="auto">
          <a:xfrm>
            <a:off x="6995217" y="405900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11" name="Rectangle 71"/>
          <p:cNvSpPr>
            <a:spLocks noChangeArrowheads="1"/>
          </p:cNvSpPr>
          <p:nvPr/>
        </p:nvSpPr>
        <p:spPr bwMode="auto">
          <a:xfrm>
            <a:off x="7445222" y="405900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12" name="Rectangle 70"/>
          <p:cNvSpPr>
            <a:spLocks noChangeArrowheads="1"/>
          </p:cNvSpPr>
          <p:nvPr/>
        </p:nvSpPr>
        <p:spPr bwMode="auto">
          <a:xfrm>
            <a:off x="5645198" y="4059007"/>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13" name="正方形/長方形 12"/>
          <p:cNvSpPr/>
          <p:nvPr/>
        </p:nvSpPr>
        <p:spPr bwMode="auto">
          <a:xfrm>
            <a:off x="3485174" y="405900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I1: </a:t>
            </a:r>
            <a:r>
              <a:rPr lang="en-US" altLang="ja-JP" sz="1600" dirty="0" err="1">
                <a:solidFill>
                  <a:schemeClr val="tx1">
                    <a:lumMod val="75000"/>
                    <a:lumOff val="25000"/>
                  </a:schemeClr>
                </a:solidFill>
                <a:latin typeface="Consolas" panose="020B0609020204030204" pitchFamily="49" charset="0"/>
              </a:rPr>
              <a:t>mul</a:t>
            </a:r>
            <a:r>
              <a:rPr lang="en-US" altLang="ja-JP" sz="1600" dirty="0">
                <a:solidFill>
                  <a:schemeClr val="tx1">
                    <a:lumMod val="75000"/>
                    <a:lumOff val="25000"/>
                  </a:schemeClr>
                </a:solidFill>
                <a:latin typeface="Consolas" panose="020B0609020204030204" pitchFamily="49" charset="0"/>
              </a:rPr>
              <a:t> </a:t>
            </a:r>
            <a:r>
              <a:rPr lang="en-US" altLang="ja-JP" sz="1600" b="1" dirty="0">
                <a:solidFill>
                  <a:schemeClr val="accent5"/>
                </a:solidFill>
                <a:latin typeface="Consolas" panose="020B0609020204030204" pitchFamily="49" charset="0"/>
              </a:rPr>
              <a:t>x1</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15" name="下矢印 14"/>
          <p:cNvSpPr/>
          <p:nvPr/>
        </p:nvSpPr>
        <p:spPr bwMode="auto">
          <a:xfrm>
            <a:off x="5195197" y="3519002"/>
            <a:ext cx="360004" cy="450005"/>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6" name="下矢印 15"/>
          <p:cNvSpPr/>
          <p:nvPr/>
        </p:nvSpPr>
        <p:spPr bwMode="auto">
          <a:xfrm>
            <a:off x="6995217" y="3519002"/>
            <a:ext cx="360004" cy="450005"/>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 name="正方形/長方形 16"/>
          <p:cNvSpPr/>
          <p:nvPr/>
        </p:nvSpPr>
        <p:spPr bwMode="auto">
          <a:xfrm>
            <a:off x="4745192" y="306899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Consolas" panose="020B0609020204030204" pitchFamily="49" charset="0"/>
              </a:rPr>
              <a:t>x1 </a:t>
            </a:r>
            <a:r>
              <a:rPr lang="ja-JP" altLang="en-US" sz="1600" dirty="0">
                <a:solidFill>
                  <a:schemeClr val="tx1">
                    <a:lumMod val="75000"/>
                    <a:lumOff val="25000"/>
                  </a:schemeClr>
                </a:solidFill>
                <a:latin typeface="Consolas" panose="020B0609020204030204" pitchFamily="49" charset="0"/>
              </a:rPr>
              <a:t>を </a:t>
            </a:r>
            <a:r>
              <a:rPr lang="en-US" altLang="ja-JP" sz="1600" dirty="0">
                <a:solidFill>
                  <a:schemeClr val="tx1">
                    <a:lumMod val="75000"/>
                    <a:lumOff val="25000"/>
                  </a:schemeClr>
                </a:solidFill>
                <a:latin typeface="Consolas" panose="020B0609020204030204" pitchFamily="49" charset="0"/>
              </a:rPr>
              <a:t>0 </a:t>
            </a:r>
            <a:r>
              <a:rPr lang="ja-JP" altLang="en-US" sz="1600" dirty="0">
                <a:solidFill>
                  <a:schemeClr val="tx1">
                    <a:lumMod val="75000"/>
                    <a:lumOff val="25000"/>
                  </a:schemeClr>
                </a:solidFill>
                <a:latin typeface="Consolas" panose="020B0609020204030204" pitchFamily="49" charset="0"/>
              </a:rPr>
              <a:t>にして</a:t>
            </a:r>
            <a:endParaRPr lang="en-US" altLang="ja-JP" sz="1600" dirty="0">
              <a:solidFill>
                <a:schemeClr val="tx1">
                  <a:lumMod val="75000"/>
                  <a:lumOff val="25000"/>
                </a:schemeClr>
              </a:solidFill>
              <a:latin typeface="Consolas" panose="020B0609020204030204" pitchFamily="49" charset="0"/>
            </a:endParaRPr>
          </a:p>
          <a:p>
            <a:r>
              <a:rPr lang="ja-JP" altLang="en-US" sz="1600" dirty="0">
                <a:solidFill>
                  <a:schemeClr val="tx1">
                    <a:lumMod val="75000"/>
                    <a:lumOff val="25000"/>
                  </a:schemeClr>
                </a:solidFill>
                <a:latin typeface="Consolas" panose="020B0609020204030204" pitchFamily="49" charset="0"/>
              </a:rPr>
              <a:t>使用不能に</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18" name="正方形/長方形 17"/>
          <p:cNvSpPr/>
          <p:nvPr/>
        </p:nvSpPr>
        <p:spPr bwMode="auto">
          <a:xfrm>
            <a:off x="6725214" y="306899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Consolas" panose="020B0609020204030204" pitchFamily="49" charset="0"/>
              </a:rPr>
              <a:t>x1 </a:t>
            </a:r>
            <a:r>
              <a:rPr lang="ja-JP" altLang="en-US" sz="1600" dirty="0">
                <a:solidFill>
                  <a:schemeClr val="tx1">
                    <a:lumMod val="75000"/>
                    <a:lumOff val="25000"/>
                  </a:schemeClr>
                </a:solidFill>
                <a:latin typeface="Consolas" panose="020B0609020204030204" pitchFamily="49" charset="0"/>
              </a:rPr>
              <a:t>を </a:t>
            </a:r>
            <a:r>
              <a:rPr lang="en-US" altLang="ja-JP" sz="1600" dirty="0">
                <a:solidFill>
                  <a:schemeClr val="tx1">
                    <a:lumMod val="75000"/>
                    <a:lumOff val="25000"/>
                  </a:schemeClr>
                </a:solidFill>
                <a:latin typeface="Consolas" panose="020B0609020204030204" pitchFamily="49" charset="0"/>
              </a:rPr>
              <a:t>1 </a:t>
            </a:r>
            <a:r>
              <a:rPr lang="ja-JP" altLang="en-US" sz="1600" dirty="0">
                <a:solidFill>
                  <a:schemeClr val="tx1">
                    <a:lumMod val="75000"/>
                    <a:lumOff val="25000"/>
                  </a:schemeClr>
                </a:solidFill>
                <a:latin typeface="Consolas" panose="020B0609020204030204" pitchFamily="49" charset="0"/>
              </a:rPr>
              <a:t>にして</a:t>
            </a:r>
            <a:endParaRPr lang="en-US" altLang="ja-JP" sz="1600" dirty="0">
              <a:solidFill>
                <a:schemeClr val="tx1">
                  <a:lumMod val="75000"/>
                  <a:lumOff val="25000"/>
                </a:schemeClr>
              </a:solidFill>
              <a:latin typeface="Consolas" panose="020B0609020204030204" pitchFamily="49" charset="0"/>
            </a:endParaRPr>
          </a:p>
          <a:p>
            <a:r>
              <a:rPr lang="ja-JP" altLang="en-US" sz="1600" dirty="0">
                <a:solidFill>
                  <a:schemeClr val="tx1">
                    <a:lumMod val="75000"/>
                    <a:lumOff val="25000"/>
                  </a:schemeClr>
                </a:solidFill>
                <a:latin typeface="Consolas" panose="020B0609020204030204" pitchFamily="49" charset="0"/>
              </a:rPr>
              <a:t>使用可能に</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cxnSp>
        <p:nvCxnSpPr>
          <p:cNvPr id="19" name="直線コネクタ 18"/>
          <p:cNvCxnSpPr/>
          <p:nvPr/>
        </p:nvCxnSpPr>
        <p:spPr bwMode="auto">
          <a:xfrm>
            <a:off x="7408052" y="3519002"/>
            <a:ext cx="0" cy="1710019"/>
          </a:xfrm>
          <a:prstGeom prst="line">
            <a:avLst/>
          </a:prstGeom>
          <a:ln>
            <a:solidFill>
              <a:schemeClr val="tx1">
                <a:lumMod val="75000"/>
                <a:lumOff val="2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20" name="直線コネクタ 19"/>
          <p:cNvCxnSpPr/>
          <p:nvPr/>
        </p:nvCxnSpPr>
        <p:spPr bwMode="auto">
          <a:xfrm>
            <a:off x="5593164" y="3519002"/>
            <a:ext cx="0" cy="1710019"/>
          </a:xfrm>
          <a:prstGeom prst="line">
            <a:avLst/>
          </a:prstGeom>
          <a:ln>
            <a:solidFill>
              <a:schemeClr val="tx1">
                <a:lumMod val="75000"/>
                <a:lumOff val="2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21" name="直線矢印コネクタ 20"/>
          <p:cNvCxnSpPr/>
          <p:nvPr/>
        </p:nvCxnSpPr>
        <p:spPr bwMode="auto">
          <a:xfrm>
            <a:off x="5645203" y="5139019"/>
            <a:ext cx="1710019" cy="0"/>
          </a:xfrm>
          <a:prstGeom prst="straightConnector1">
            <a:avLst/>
          </a:prstGeom>
          <a:noFill/>
          <a:ln w="9525" cap="flat" cmpd="sng" algn="ctr">
            <a:solidFill>
              <a:schemeClr val="tx1">
                <a:lumMod val="75000"/>
                <a:lumOff val="25000"/>
              </a:schemeClr>
            </a:solidFill>
            <a:prstDash val="solid"/>
            <a:round/>
            <a:headEnd type="triangle"/>
            <a:tailEnd type="triangle"/>
          </a:ln>
          <a:effectLst/>
        </p:spPr>
      </p:cxnSp>
      <p:sp>
        <p:nvSpPr>
          <p:cNvPr id="23" name="Rectangle 69"/>
          <p:cNvSpPr>
            <a:spLocks noChangeArrowheads="1"/>
          </p:cNvSpPr>
          <p:nvPr/>
        </p:nvSpPr>
        <p:spPr bwMode="auto">
          <a:xfrm>
            <a:off x="5195193" y="450901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4" name="Rectangle 70"/>
          <p:cNvSpPr>
            <a:spLocks noChangeArrowheads="1"/>
          </p:cNvSpPr>
          <p:nvPr/>
        </p:nvSpPr>
        <p:spPr bwMode="auto">
          <a:xfrm>
            <a:off x="5645202" y="450901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25" name="Rectangle 71"/>
          <p:cNvSpPr>
            <a:spLocks noChangeArrowheads="1"/>
          </p:cNvSpPr>
          <p:nvPr/>
        </p:nvSpPr>
        <p:spPr bwMode="auto">
          <a:xfrm>
            <a:off x="7896020" y="4509012"/>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26" name="Rectangle 73"/>
          <p:cNvSpPr>
            <a:spLocks noChangeArrowheads="1"/>
          </p:cNvSpPr>
          <p:nvPr/>
        </p:nvSpPr>
        <p:spPr bwMode="auto">
          <a:xfrm>
            <a:off x="8346025" y="4509012"/>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27" name="Rectangle 70"/>
          <p:cNvSpPr>
            <a:spLocks noChangeArrowheads="1"/>
          </p:cNvSpPr>
          <p:nvPr/>
        </p:nvSpPr>
        <p:spPr bwMode="auto">
          <a:xfrm>
            <a:off x="7446011" y="4509012"/>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29" name="Rectangle 73"/>
          <p:cNvSpPr>
            <a:spLocks noChangeArrowheads="1"/>
          </p:cNvSpPr>
          <p:nvPr/>
        </p:nvSpPr>
        <p:spPr bwMode="auto">
          <a:xfrm>
            <a:off x="6095207" y="4509012"/>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0" name="Rectangle 73"/>
          <p:cNvSpPr>
            <a:spLocks noChangeArrowheads="1"/>
          </p:cNvSpPr>
          <p:nvPr/>
        </p:nvSpPr>
        <p:spPr bwMode="auto">
          <a:xfrm>
            <a:off x="6545212" y="4509012"/>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1" name="Rectangle 73"/>
          <p:cNvSpPr>
            <a:spLocks noChangeArrowheads="1"/>
          </p:cNvSpPr>
          <p:nvPr/>
        </p:nvSpPr>
        <p:spPr bwMode="auto">
          <a:xfrm>
            <a:off x="6995217" y="4509012"/>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2765963" y="5319021"/>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600" dirty="0">
                <a:latin typeface="+mn-ea"/>
                <a:ea typeface="+mn-ea"/>
              </a:rPr>
              <a:t>スコアボードの状態</a:t>
            </a:r>
          </a:p>
        </p:txBody>
      </p:sp>
      <p:sp>
        <p:nvSpPr>
          <p:cNvPr id="3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025977" y="5319021"/>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x1</a:t>
            </a:r>
            <a:endParaRPr lang="ja-JP" altLang="en-US" sz="1600" dirty="0">
              <a:latin typeface="+mn-ea"/>
              <a:ea typeface="+mn-ea"/>
            </a:endParaRPr>
          </a:p>
        </p:txBody>
      </p:sp>
      <p:sp>
        <p:nvSpPr>
          <p:cNvPr id="3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025977" y="5679025"/>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x2</a:t>
            </a:r>
            <a:endParaRPr lang="ja-JP" altLang="en-US" sz="1600" dirty="0">
              <a:latin typeface="+mn-ea"/>
              <a:ea typeface="+mn-ea"/>
            </a:endParaRPr>
          </a:p>
        </p:txBody>
      </p:sp>
      <p:sp>
        <p:nvSpPr>
          <p:cNvPr id="76" name="正方形/長方形 75"/>
          <p:cNvSpPr/>
          <p:nvPr/>
        </p:nvSpPr>
        <p:spPr bwMode="auto">
          <a:xfrm>
            <a:off x="3485971" y="441901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I2: sub </a:t>
            </a:r>
            <a:r>
              <a:rPr lang="en-US" altLang="ja-JP" sz="1600" b="1" dirty="0">
                <a:solidFill>
                  <a:schemeClr val="accent5"/>
                </a:solidFill>
                <a:latin typeface="Consolas" panose="020B0609020204030204" pitchFamily="49" charset="0"/>
              </a:rPr>
              <a:t>x1</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x3-1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7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745985"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7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745985"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7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745985"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8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745985"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8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025977" y="5319021"/>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x1</a:t>
            </a:r>
            <a:endParaRPr lang="ja-JP" altLang="en-US" sz="1600" dirty="0">
              <a:latin typeface="+mn-ea"/>
              <a:ea typeface="+mn-ea"/>
            </a:endParaRPr>
          </a:p>
        </p:txBody>
      </p:sp>
      <p:sp>
        <p:nvSpPr>
          <p:cNvPr id="8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025977" y="5679025"/>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x2</a:t>
            </a:r>
            <a:endParaRPr lang="ja-JP" altLang="en-US" sz="1600" dirty="0">
              <a:latin typeface="+mn-ea"/>
              <a:ea typeface="+mn-ea"/>
            </a:endParaRPr>
          </a:p>
        </p:txBody>
      </p:sp>
      <p:sp>
        <p:nvSpPr>
          <p:cNvPr id="8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195990"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8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195990"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8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195990"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8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195990"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8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645995"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8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645995"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b="1" dirty="0">
                <a:solidFill>
                  <a:schemeClr val="accent5"/>
                </a:solidFill>
                <a:latin typeface="+mn-ea"/>
                <a:ea typeface="+mn-ea"/>
              </a:rPr>
              <a:t>0</a:t>
            </a:r>
            <a:endParaRPr lang="ja-JP" altLang="en-US" sz="1600" b="1" dirty="0">
              <a:solidFill>
                <a:schemeClr val="accent5"/>
              </a:solidFill>
              <a:latin typeface="+mn-ea"/>
              <a:ea typeface="+mn-ea"/>
            </a:endParaRPr>
          </a:p>
        </p:txBody>
      </p:sp>
      <p:sp>
        <p:nvSpPr>
          <p:cNvPr id="8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645995"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645995"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096000"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9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096000"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b="1" dirty="0">
                <a:solidFill>
                  <a:schemeClr val="accent5"/>
                </a:solidFill>
                <a:latin typeface="+mn-ea"/>
                <a:ea typeface="+mn-ea"/>
              </a:rPr>
              <a:t>0</a:t>
            </a:r>
            <a:endParaRPr lang="ja-JP" altLang="en-US" sz="1600" b="1" dirty="0">
              <a:solidFill>
                <a:schemeClr val="accent5"/>
              </a:solidFill>
              <a:latin typeface="+mn-ea"/>
              <a:ea typeface="+mn-ea"/>
            </a:endParaRPr>
          </a:p>
        </p:txBody>
      </p:sp>
      <p:sp>
        <p:nvSpPr>
          <p:cNvPr id="9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096000"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096000"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546005"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9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546005"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b="1" dirty="0">
                <a:solidFill>
                  <a:schemeClr val="accent5"/>
                </a:solidFill>
                <a:latin typeface="+mn-ea"/>
                <a:ea typeface="+mn-ea"/>
              </a:rPr>
              <a:t>0</a:t>
            </a:r>
            <a:endParaRPr lang="ja-JP" altLang="en-US" sz="1600" b="1" dirty="0">
              <a:solidFill>
                <a:schemeClr val="accent5"/>
              </a:solidFill>
              <a:latin typeface="+mn-ea"/>
              <a:ea typeface="+mn-ea"/>
            </a:endParaRPr>
          </a:p>
        </p:txBody>
      </p:sp>
      <p:sp>
        <p:nvSpPr>
          <p:cNvPr id="9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546005"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546005"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996010"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10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996010"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b="1" dirty="0">
                <a:solidFill>
                  <a:schemeClr val="accent5"/>
                </a:solidFill>
                <a:latin typeface="+mn-ea"/>
                <a:ea typeface="+mn-ea"/>
              </a:rPr>
              <a:t>0</a:t>
            </a:r>
            <a:endParaRPr lang="ja-JP" altLang="en-US" sz="1600" b="1" dirty="0">
              <a:solidFill>
                <a:schemeClr val="accent5"/>
              </a:solidFill>
              <a:latin typeface="+mn-ea"/>
              <a:ea typeface="+mn-ea"/>
            </a:endParaRPr>
          </a:p>
        </p:txBody>
      </p:sp>
      <p:sp>
        <p:nvSpPr>
          <p:cNvPr id="10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996010"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996010"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446015"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10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446015"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446015"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446015"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896020"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10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896020"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896020"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1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896020"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1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8346025"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11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8346025"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1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8346025"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1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8346025"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1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025977" y="6039029"/>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x3</a:t>
            </a:r>
            <a:endParaRPr lang="ja-JP" altLang="en-US" sz="1600" dirty="0">
              <a:latin typeface="+mn-ea"/>
              <a:ea typeface="+mn-ea"/>
            </a:endParaRPr>
          </a:p>
        </p:txBody>
      </p:sp>
    </p:spTree>
    <p:extLst>
      <p:ext uri="{BB962C8B-B14F-4D97-AF65-F5344CB8AC3E}">
        <p14:creationId xmlns:p14="http://schemas.microsoft.com/office/powerpoint/2010/main" val="9463531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3. </a:t>
            </a:r>
            <a:r>
              <a:rPr lang="ja-JP" altLang="en-US" dirty="0"/>
              <a:t>逆依存（</a:t>
            </a:r>
            <a:r>
              <a:rPr lang="en-US" altLang="ja-JP" dirty="0"/>
              <a:t>WAR</a:t>
            </a:r>
            <a:r>
              <a:rPr lang="ja-JP" altLang="en-US" dirty="0"/>
              <a:t>）がある場合</a:t>
            </a:r>
            <a:endParaRPr kumimoji="1" lang="ja-JP" altLang="en-US" dirty="0"/>
          </a:p>
        </p:txBody>
      </p:sp>
      <p:sp>
        <p:nvSpPr>
          <p:cNvPr id="3" name="テキスト プレースホルダー 2"/>
          <p:cNvSpPr>
            <a:spLocks noGrp="1"/>
          </p:cNvSpPr>
          <p:nvPr>
            <p:ph type="body" sz="quarter" idx="10"/>
          </p:nvPr>
        </p:nvSpPr>
        <p:spPr>
          <a:xfrm>
            <a:off x="2135956" y="1088974"/>
            <a:ext cx="8280092" cy="1620018"/>
          </a:xfrm>
        </p:spPr>
        <p:txBody>
          <a:bodyPr/>
          <a:lstStyle/>
          <a:p>
            <a:r>
              <a:rPr lang="en-US" altLang="ja-JP" dirty="0">
                <a:latin typeface="Consolas" panose="020B0609020204030204" pitchFamily="49" charset="0"/>
              </a:rPr>
              <a:t>I2 </a:t>
            </a:r>
            <a:r>
              <a:rPr lang="ja-JP" altLang="en-US" dirty="0">
                <a:latin typeface="Consolas" panose="020B0609020204030204" pitchFamily="49" charset="0"/>
              </a:rPr>
              <a:t>の</a:t>
            </a:r>
            <a:r>
              <a:rPr lang="ja-JP" altLang="en-US" dirty="0"/>
              <a:t>デコード時：</a:t>
            </a:r>
            <a:endParaRPr lang="en-US" altLang="ja-JP" dirty="0">
              <a:latin typeface="Consolas" panose="020B0609020204030204" pitchFamily="49" charset="0"/>
            </a:endParaRPr>
          </a:p>
          <a:p>
            <a:pPr lvl="1"/>
            <a:r>
              <a:rPr lang="ja-JP" altLang="en-US" dirty="0"/>
              <a:t>ソース </a:t>
            </a:r>
            <a:r>
              <a:rPr lang="en-US" altLang="ja-JP" dirty="0"/>
              <a:t>x3 </a:t>
            </a:r>
            <a:r>
              <a:rPr lang="ja-JP" altLang="en-US" dirty="0"/>
              <a:t>とディスティネーション </a:t>
            </a:r>
            <a:r>
              <a:rPr lang="en-US" altLang="ja-JP" dirty="0"/>
              <a:t>x2</a:t>
            </a:r>
            <a:r>
              <a:rPr lang="ja-JP" altLang="en-US" dirty="0"/>
              <a:t> 共に使用可能なので，</a:t>
            </a:r>
            <a:br>
              <a:rPr lang="en-US" altLang="ja-JP" dirty="0"/>
            </a:br>
            <a:r>
              <a:rPr lang="ja-JP" altLang="en-US" dirty="0"/>
              <a:t>そのまま発行できる</a:t>
            </a:r>
          </a:p>
          <a:p>
            <a:pPr lvl="1"/>
            <a:r>
              <a:rPr lang="en-US" altLang="ja-JP" dirty="0"/>
              <a:t>WB </a:t>
            </a:r>
            <a:r>
              <a:rPr lang="ja-JP" altLang="en-US" dirty="0"/>
              <a:t>の時系列が逆転するが，最終的に辻褄はあう</a:t>
            </a:r>
            <a:endParaRPr lang="en-US" altLang="ja-JP" dirty="0"/>
          </a:p>
        </p:txBody>
      </p:sp>
      <p:cxnSp>
        <p:nvCxnSpPr>
          <p:cNvPr id="4" name="直線コネクタ 3"/>
          <p:cNvCxnSpPr/>
          <p:nvPr/>
        </p:nvCxnSpPr>
        <p:spPr bwMode="auto">
          <a:xfrm>
            <a:off x="4205182" y="4239009"/>
            <a:ext cx="720080" cy="0"/>
          </a:xfrm>
          <a:prstGeom prst="line">
            <a:avLst/>
          </a:prstGeom>
          <a:noFill/>
          <a:ln w="9525" cap="flat" cmpd="sng" algn="ctr">
            <a:solidFill>
              <a:schemeClr val="tx1"/>
            </a:solidFill>
            <a:prstDash val="dash"/>
            <a:round/>
            <a:headEnd type="none" w="med" len="med"/>
            <a:tailEnd type="none" w="med" len="med"/>
          </a:ln>
          <a:effectLst/>
        </p:spPr>
      </p:cxnSp>
      <p:sp>
        <p:nvSpPr>
          <p:cNvPr id="5" name="Rectangle 69"/>
          <p:cNvSpPr>
            <a:spLocks noChangeArrowheads="1"/>
          </p:cNvSpPr>
          <p:nvPr/>
        </p:nvSpPr>
        <p:spPr bwMode="auto">
          <a:xfrm>
            <a:off x="4745188" y="405900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6" name="Rectangle 70"/>
          <p:cNvSpPr>
            <a:spLocks noChangeArrowheads="1"/>
          </p:cNvSpPr>
          <p:nvPr/>
        </p:nvSpPr>
        <p:spPr bwMode="auto">
          <a:xfrm>
            <a:off x="5195193" y="405900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7" name="Rectangle 71"/>
          <p:cNvSpPr>
            <a:spLocks noChangeArrowheads="1"/>
          </p:cNvSpPr>
          <p:nvPr/>
        </p:nvSpPr>
        <p:spPr bwMode="auto">
          <a:xfrm>
            <a:off x="6095207" y="405900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8" name="Rectangle 73"/>
          <p:cNvSpPr>
            <a:spLocks noChangeArrowheads="1"/>
          </p:cNvSpPr>
          <p:nvPr/>
        </p:nvSpPr>
        <p:spPr bwMode="auto">
          <a:xfrm>
            <a:off x="7895227" y="4059007"/>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9" name="Rectangle 71"/>
          <p:cNvSpPr>
            <a:spLocks noChangeArrowheads="1"/>
          </p:cNvSpPr>
          <p:nvPr/>
        </p:nvSpPr>
        <p:spPr bwMode="auto">
          <a:xfrm>
            <a:off x="6545212" y="405900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10" name="Rectangle 71"/>
          <p:cNvSpPr>
            <a:spLocks noChangeArrowheads="1"/>
          </p:cNvSpPr>
          <p:nvPr/>
        </p:nvSpPr>
        <p:spPr bwMode="auto">
          <a:xfrm>
            <a:off x="6995217" y="405900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11" name="Rectangle 71"/>
          <p:cNvSpPr>
            <a:spLocks noChangeArrowheads="1"/>
          </p:cNvSpPr>
          <p:nvPr/>
        </p:nvSpPr>
        <p:spPr bwMode="auto">
          <a:xfrm>
            <a:off x="7445222" y="405900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12" name="Rectangle 70"/>
          <p:cNvSpPr>
            <a:spLocks noChangeArrowheads="1"/>
          </p:cNvSpPr>
          <p:nvPr/>
        </p:nvSpPr>
        <p:spPr bwMode="auto">
          <a:xfrm>
            <a:off x="5645198" y="4059007"/>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13" name="正方形/長方形 12"/>
          <p:cNvSpPr/>
          <p:nvPr/>
        </p:nvSpPr>
        <p:spPr bwMode="auto">
          <a:xfrm>
            <a:off x="3485174" y="405900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I1: </a:t>
            </a:r>
            <a:r>
              <a:rPr lang="en-US" altLang="ja-JP" sz="1600" dirty="0" err="1">
                <a:solidFill>
                  <a:schemeClr val="tx1">
                    <a:lumMod val="75000"/>
                    <a:lumOff val="25000"/>
                  </a:schemeClr>
                </a:solidFill>
                <a:latin typeface="Consolas" panose="020B0609020204030204" pitchFamily="49" charset="0"/>
              </a:rPr>
              <a:t>mul</a:t>
            </a:r>
            <a:r>
              <a:rPr lang="en-US" altLang="ja-JP" sz="1600" dirty="0">
                <a:solidFill>
                  <a:schemeClr val="tx1">
                    <a:lumMod val="75000"/>
                    <a:lumOff val="25000"/>
                  </a:schemeClr>
                </a:solidFill>
                <a:latin typeface="Consolas" panose="020B0609020204030204" pitchFamily="49" charset="0"/>
              </a:rPr>
              <a:t> </a:t>
            </a:r>
            <a:r>
              <a:rPr lang="en-US" altLang="ja-JP" sz="1600" b="1" dirty="0">
                <a:solidFill>
                  <a:schemeClr val="accent5"/>
                </a:solidFill>
                <a:latin typeface="Consolas" panose="020B0609020204030204" pitchFamily="49" charset="0"/>
              </a:rPr>
              <a:t>x1</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accent4"/>
                </a:solidFill>
                <a:latin typeface="Consolas" panose="020B0609020204030204" pitchFamily="49" charset="0"/>
              </a:rPr>
              <a:t>x2</a:t>
            </a:r>
            <a:r>
              <a:rPr lang="en-US" altLang="ja-JP" sz="1600" dirty="0">
                <a:solidFill>
                  <a:schemeClr val="tx1">
                    <a:lumMod val="75000"/>
                    <a:lumOff val="25000"/>
                  </a:schemeClr>
                </a:solidFill>
                <a:latin typeface="Consolas" panose="020B0609020204030204" pitchFamily="49" charset="0"/>
              </a:rPr>
              <a:t>*4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15" name="下矢印 14"/>
          <p:cNvSpPr/>
          <p:nvPr/>
        </p:nvSpPr>
        <p:spPr bwMode="auto">
          <a:xfrm>
            <a:off x="5195197" y="3519002"/>
            <a:ext cx="360004" cy="450005"/>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6" name="下矢印 15"/>
          <p:cNvSpPr/>
          <p:nvPr/>
        </p:nvSpPr>
        <p:spPr bwMode="auto">
          <a:xfrm>
            <a:off x="6995217" y="3519002"/>
            <a:ext cx="360004" cy="450005"/>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 name="正方形/長方形 16"/>
          <p:cNvSpPr/>
          <p:nvPr/>
        </p:nvSpPr>
        <p:spPr bwMode="auto">
          <a:xfrm>
            <a:off x="4745192" y="306899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Consolas" panose="020B0609020204030204" pitchFamily="49" charset="0"/>
              </a:rPr>
              <a:t>x1 </a:t>
            </a:r>
            <a:r>
              <a:rPr lang="ja-JP" altLang="en-US" sz="1600" dirty="0">
                <a:solidFill>
                  <a:schemeClr val="tx1">
                    <a:lumMod val="75000"/>
                    <a:lumOff val="25000"/>
                  </a:schemeClr>
                </a:solidFill>
                <a:latin typeface="Consolas" panose="020B0609020204030204" pitchFamily="49" charset="0"/>
              </a:rPr>
              <a:t>を </a:t>
            </a:r>
            <a:r>
              <a:rPr lang="en-US" altLang="ja-JP" sz="1600" dirty="0">
                <a:solidFill>
                  <a:schemeClr val="tx1">
                    <a:lumMod val="75000"/>
                    <a:lumOff val="25000"/>
                  </a:schemeClr>
                </a:solidFill>
                <a:latin typeface="Consolas" panose="020B0609020204030204" pitchFamily="49" charset="0"/>
              </a:rPr>
              <a:t>0 </a:t>
            </a:r>
            <a:r>
              <a:rPr lang="ja-JP" altLang="en-US" sz="1600" dirty="0">
                <a:solidFill>
                  <a:schemeClr val="tx1">
                    <a:lumMod val="75000"/>
                    <a:lumOff val="25000"/>
                  </a:schemeClr>
                </a:solidFill>
                <a:latin typeface="Consolas" panose="020B0609020204030204" pitchFamily="49" charset="0"/>
              </a:rPr>
              <a:t>にして</a:t>
            </a:r>
            <a:endParaRPr lang="en-US" altLang="ja-JP" sz="1600" dirty="0">
              <a:solidFill>
                <a:schemeClr val="tx1">
                  <a:lumMod val="75000"/>
                  <a:lumOff val="25000"/>
                </a:schemeClr>
              </a:solidFill>
              <a:latin typeface="Consolas" panose="020B0609020204030204" pitchFamily="49" charset="0"/>
            </a:endParaRPr>
          </a:p>
          <a:p>
            <a:r>
              <a:rPr lang="ja-JP" altLang="en-US" sz="1600" dirty="0">
                <a:solidFill>
                  <a:schemeClr val="tx1">
                    <a:lumMod val="75000"/>
                    <a:lumOff val="25000"/>
                  </a:schemeClr>
                </a:solidFill>
                <a:latin typeface="Consolas" panose="020B0609020204030204" pitchFamily="49" charset="0"/>
              </a:rPr>
              <a:t>使用不能に</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18" name="正方形/長方形 17"/>
          <p:cNvSpPr/>
          <p:nvPr/>
        </p:nvSpPr>
        <p:spPr bwMode="auto">
          <a:xfrm>
            <a:off x="6725214" y="306899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Consolas" panose="020B0609020204030204" pitchFamily="49" charset="0"/>
              </a:rPr>
              <a:t>x1 </a:t>
            </a:r>
            <a:r>
              <a:rPr lang="ja-JP" altLang="en-US" sz="1600" dirty="0">
                <a:solidFill>
                  <a:schemeClr val="tx1">
                    <a:lumMod val="75000"/>
                    <a:lumOff val="25000"/>
                  </a:schemeClr>
                </a:solidFill>
                <a:latin typeface="Consolas" panose="020B0609020204030204" pitchFamily="49" charset="0"/>
              </a:rPr>
              <a:t>を </a:t>
            </a:r>
            <a:r>
              <a:rPr lang="en-US" altLang="ja-JP" sz="1600" dirty="0">
                <a:solidFill>
                  <a:schemeClr val="tx1">
                    <a:lumMod val="75000"/>
                    <a:lumOff val="25000"/>
                  </a:schemeClr>
                </a:solidFill>
                <a:latin typeface="Consolas" panose="020B0609020204030204" pitchFamily="49" charset="0"/>
              </a:rPr>
              <a:t>1 </a:t>
            </a:r>
            <a:r>
              <a:rPr lang="ja-JP" altLang="en-US" sz="1600" dirty="0">
                <a:solidFill>
                  <a:schemeClr val="tx1">
                    <a:lumMod val="75000"/>
                    <a:lumOff val="25000"/>
                  </a:schemeClr>
                </a:solidFill>
                <a:latin typeface="Consolas" panose="020B0609020204030204" pitchFamily="49" charset="0"/>
              </a:rPr>
              <a:t>にして</a:t>
            </a:r>
            <a:endParaRPr lang="en-US" altLang="ja-JP" sz="1600" dirty="0">
              <a:solidFill>
                <a:schemeClr val="tx1">
                  <a:lumMod val="75000"/>
                  <a:lumOff val="25000"/>
                </a:schemeClr>
              </a:solidFill>
              <a:latin typeface="Consolas" panose="020B0609020204030204" pitchFamily="49" charset="0"/>
            </a:endParaRPr>
          </a:p>
          <a:p>
            <a:r>
              <a:rPr lang="ja-JP" altLang="en-US" sz="1600" dirty="0">
                <a:solidFill>
                  <a:schemeClr val="tx1">
                    <a:lumMod val="75000"/>
                    <a:lumOff val="25000"/>
                  </a:schemeClr>
                </a:solidFill>
                <a:latin typeface="Consolas" panose="020B0609020204030204" pitchFamily="49" charset="0"/>
              </a:rPr>
              <a:t>使用可能に</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cxnSp>
        <p:nvCxnSpPr>
          <p:cNvPr id="19" name="直線コネクタ 18"/>
          <p:cNvCxnSpPr/>
          <p:nvPr/>
        </p:nvCxnSpPr>
        <p:spPr bwMode="auto">
          <a:xfrm>
            <a:off x="7408052" y="3519002"/>
            <a:ext cx="0" cy="1710019"/>
          </a:xfrm>
          <a:prstGeom prst="line">
            <a:avLst/>
          </a:prstGeom>
          <a:ln>
            <a:solidFill>
              <a:schemeClr val="tx1">
                <a:lumMod val="75000"/>
                <a:lumOff val="2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20" name="直線コネクタ 19"/>
          <p:cNvCxnSpPr/>
          <p:nvPr/>
        </p:nvCxnSpPr>
        <p:spPr bwMode="auto">
          <a:xfrm>
            <a:off x="5593164" y="3519002"/>
            <a:ext cx="0" cy="1710019"/>
          </a:xfrm>
          <a:prstGeom prst="line">
            <a:avLst/>
          </a:prstGeom>
          <a:ln>
            <a:solidFill>
              <a:schemeClr val="tx1">
                <a:lumMod val="75000"/>
                <a:lumOff val="2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sp>
        <p:nvSpPr>
          <p:cNvPr id="23" name="Rectangle 69"/>
          <p:cNvSpPr>
            <a:spLocks noChangeArrowheads="1"/>
          </p:cNvSpPr>
          <p:nvPr/>
        </p:nvSpPr>
        <p:spPr bwMode="auto">
          <a:xfrm>
            <a:off x="5195193" y="450901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4" name="Rectangle 70"/>
          <p:cNvSpPr>
            <a:spLocks noChangeArrowheads="1"/>
          </p:cNvSpPr>
          <p:nvPr/>
        </p:nvSpPr>
        <p:spPr bwMode="auto">
          <a:xfrm>
            <a:off x="5645202" y="450901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25" name="Rectangle 71"/>
          <p:cNvSpPr>
            <a:spLocks noChangeArrowheads="1"/>
          </p:cNvSpPr>
          <p:nvPr/>
        </p:nvSpPr>
        <p:spPr bwMode="auto">
          <a:xfrm>
            <a:off x="6546009" y="4509012"/>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26" name="Rectangle 73"/>
          <p:cNvSpPr>
            <a:spLocks noChangeArrowheads="1"/>
          </p:cNvSpPr>
          <p:nvPr/>
        </p:nvSpPr>
        <p:spPr bwMode="auto">
          <a:xfrm>
            <a:off x="6996014" y="4509012"/>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27" name="Rectangle 70"/>
          <p:cNvSpPr>
            <a:spLocks noChangeArrowheads="1"/>
          </p:cNvSpPr>
          <p:nvPr/>
        </p:nvSpPr>
        <p:spPr bwMode="auto">
          <a:xfrm>
            <a:off x="6096000" y="4509012"/>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3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2765963" y="5319021"/>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600" dirty="0">
                <a:latin typeface="+mn-ea"/>
                <a:ea typeface="+mn-ea"/>
              </a:rPr>
              <a:t>スコアボードの状態</a:t>
            </a:r>
          </a:p>
        </p:txBody>
      </p:sp>
      <p:sp>
        <p:nvSpPr>
          <p:cNvPr id="3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025977" y="5319021"/>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x1</a:t>
            </a:r>
            <a:endParaRPr lang="ja-JP" altLang="en-US" sz="1600" dirty="0">
              <a:latin typeface="+mn-ea"/>
              <a:ea typeface="+mn-ea"/>
            </a:endParaRPr>
          </a:p>
        </p:txBody>
      </p:sp>
      <p:sp>
        <p:nvSpPr>
          <p:cNvPr id="3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025977" y="5679025"/>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x2</a:t>
            </a:r>
            <a:endParaRPr lang="ja-JP" altLang="en-US" sz="1600" dirty="0">
              <a:latin typeface="+mn-ea"/>
              <a:ea typeface="+mn-ea"/>
            </a:endParaRPr>
          </a:p>
        </p:txBody>
      </p:sp>
      <p:sp>
        <p:nvSpPr>
          <p:cNvPr id="76" name="正方形/長方形 75"/>
          <p:cNvSpPr/>
          <p:nvPr/>
        </p:nvSpPr>
        <p:spPr bwMode="auto">
          <a:xfrm>
            <a:off x="3485971" y="441901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I2: sub </a:t>
            </a:r>
            <a:r>
              <a:rPr lang="en-US" altLang="ja-JP" sz="1600" b="1" dirty="0">
                <a:solidFill>
                  <a:schemeClr val="accent4"/>
                </a:solidFill>
                <a:latin typeface="Consolas" panose="020B0609020204030204" pitchFamily="49" charset="0"/>
              </a:rPr>
              <a:t>x2</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x3-1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7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745985"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7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745985"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7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745985"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8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745985"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8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025977" y="5319021"/>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x1</a:t>
            </a:r>
            <a:endParaRPr lang="ja-JP" altLang="en-US" sz="1600" dirty="0">
              <a:latin typeface="+mn-ea"/>
              <a:ea typeface="+mn-ea"/>
            </a:endParaRPr>
          </a:p>
        </p:txBody>
      </p:sp>
      <p:sp>
        <p:nvSpPr>
          <p:cNvPr id="8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025977" y="5679025"/>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x2</a:t>
            </a:r>
            <a:endParaRPr lang="ja-JP" altLang="en-US" sz="1600" dirty="0">
              <a:latin typeface="+mn-ea"/>
              <a:ea typeface="+mn-ea"/>
            </a:endParaRPr>
          </a:p>
        </p:txBody>
      </p:sp>
      <p:sp>
        <p:nvSpPr>
          <p:cNvPr id="8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195990"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8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195990"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8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195990"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8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195990"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8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645995"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8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645995"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b="1" dirty="0">
                <a:solidFill>
                  <a:schemeClr val="accent5"/>
                </a:solidFill>
                <a:latin typeface="+mn-ea"/>
                <a:ea typeface="+mn-ea"/>
              </a:rPr>
              <a:t>0</a:t>
            </a:r>
            <a:endParaRPr lang="ja-JP" altLang="en-US" sz="1600" b="1" dirty="0">
              <a:solidFill>
                <a:schemeClr val="accent5"/>
              </a:solidFill>
              <a:latin typeface="+mn-ea"/>
              <a:ea typeface="+mn-ea"/>
            </a:endParaRPr>
          </a:p>
        </p:txBody>
      </p:sp>
      <p:sp>
        <p:nvSpPr>
          <p:cNvPr id="8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645995"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645995"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096000"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9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096000"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b="1" dirty="0">
                <a:solidFill>
                  <a:schemeClr val="accent5"/>
                </a:solidFill>
                <a:latin typeface="+mn-ea"/>
                <a:ea typeface="+mn-ea"/>
              </a:rPr>
              <a:t>0</a:t>
            </a:r>
            <a:endParaRPr lang="ja-JP" altLang="en-US" sz="1600" b="1" dirty="0">
              <a:solidFill>
                <a:schemeClr val="accent5"/>
              </a:solidFill>
              <a:latin typeface="+mn-ea"/>
              <a:ea typeface="+mn-ea"/>
            </a:endParaRPr>
          </a:p>
        </p:txBody>
      </p:sp>
      <p:sp>
        <p:nvSpPr>
          <p:cNvPr id="9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096000"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096000"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546005"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9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546005"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b="1" dirty="0">
                <a:solidFill>
                  <a:schemeClr val="accent5"/>
                </a:solidFill>
                <a:latin typeface="+mn-ea"/>
                <a:ea typeface="+mn-ea"/>
              </a:rPr>
              <a:t>0</a:t>
            </a:r>
            <a:endParaRPr lang="ja-JP" altLang="en-US" sz="1600" b="1" dirty="0">
              <a:solidFill>
                <a:schemeClr val="accent5"/>
              </a:solidFill>
              <a:latin typeface="+mn-ea"/>
              <a:ea typeface="+mn-ea"/>
            </a:endParaRPr>
          </a:p>
        </p:txBody>
      </p:sp>
      <p:sp>
        <p:nvSpPr>
          <p:cNvPr id="9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546005"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546005"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996010"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10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996010"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b="1" dirty="0">
                <a:solidFill>
                  <a:schemeClr val="accent5"/>
                </a:solidFill>
                <a:latin typeface="+mn-ea"/>
                <a:ea typeface="+mn-ea"/>
              </a:rPr>
              <a:t>0</a:t>
            </a:r>
            <a:endParaRPr lang="ja-JP" altLang="en-US" sz="1600" b="1" dirty="0">
              <a:solidFill>
                <a:schemeClr val="accent5"/>
              </a:solidFill>
              <a:latin typeface="+mn-ea"/>
              <a:ea typeface="+mn-ea"/>
            </a:endParaRPr>
          </a:p>
        </p:txBody>
      </p:sp>
      <p:sp>
        <p:nvSpPr>
          <p:cNvPr id="10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996010"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996010"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446015"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10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446015"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446015"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446015"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896020"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10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896020"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896020"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1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896020"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1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8346025"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11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8346025"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1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8346025"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1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8346025"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1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025977" y="6039029"/>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x3</a:t>
            </a:r>
            <a:endParaRPr lang="ja-JP" altLang="en-US" sz="1600" dirty="0">
              <a:latin typeface="+mn-ea"/>
              <a:ea typeface="+mn-ea"/>
            </a:endParaRPr>
          </a:p>
        </p:txBody>
      </p:sp>
    </p:spTree>
    <p:extLst>
      <p:ext uri="{BB962C8B-B14F-4D97-AF65-F5344CB8AC3E}">
        <p14:creationId xmlns:p14="http://schemas.microsoft.com/office/powerpoint/2010/main" val="24049712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4. </a:t>
            </a:r>
            <a:r>
              <a:rPr lang="ja-JP" altLang="en-US" dirty="0"/>
              <a:t>依存がない場合</a:t>
            </a:r>
            <a:endParaRPr kumimoji="1" lang="ja-JP" altLang="en-US" dirty="0"/>
          </a:p>
        </p:txBody>
      </p:sp>
      <p:sp>
        <p:nvSpPr>
          <p:cNvPr id="3" name="テキスト プレースホルダー 2"/>
          <p:cNvSpPr>
            <a:spLocks noGrp="1"/>
          </p:cNvSpPr>
          <p:nvPr>
            <p:ph type="body" sz="quarter" idx="10"/>
          </p:nvPr>
        </p:nvSpPr>
        <p:spPr>
          <a:xfrm>
            <a:off x="2135956" y="1088974"/>
            <a:ext cx="8280092" cy="1620018"/>
          </a:xfrm>
        </p:spPr>
        <p:txBody>
          <a:bodyPr/>
          <a:lstStyle/>
          <a:p>
            <a:r>
              <a:rPr lang="en-US" altLang="ja-JP" dirty="0">
                <a:latin typeface="Consolas" panose="020B0609020204030204" pitchFamily="49" charset="0"/>
              </a:rPr>
              <a:t>I2 </a:t>
            </a:r>
            <a:r>
              <a:rPr lang="ja-JP" altLang="en-US" dirty="0">
                <a:latin typeface="Consolas" panose="020B0609020204030204" pitchFamily="49" charset="0"/>
              </a:rPr>
              <a:t>の</a:t>
            </a:r>
            <a:r>
              <a:rPr lang="ja-JP" altLang="en-US" dirty="0"/>
              <a:t>デコード時：</a:t>
            </a:r>
            <a:endParaRPr lang="en-US" altLang="ja-JP" dirty="0">
              <a:latin typeface="Consolas" panose="020B0609020204030204" pitchFamily="49" charset="0"/>
            </a:endParaRPr>
          </a:p>
          <a:p>
            <a:pPr lvl="1"/>
            <a:r>
              <a:rPr lang="ja-JP" altLang="en-US" dirty="0"/>
              <a:t>ソース </a:t>
            </a:r>
            <a:r>
              <a:rPr lang="en-US" altLang="ja-JP" dirty="0"/>
              <a:t>x2 </a:t>
            </a:r>
            <a:r>
              <a:rPr lang="ja-JP" altLang="en-US" dirty="0"/>
              <a:t>とディスティネーション </a:t>
            </a:r>
            <a:r>
              <a:rPr lang="en-US" altLang="ja-JP" dirty="0"/>
              <a:t>x3</a:t>
            </a:r>
            <a:r>
              <a:rPr lang="ja-JP" altLang="en-US" dirty="0"/>
              <a:t> 共に使用可能なので，</a:t>
            </a:r>
            <a:br>
              <a:rPr lang="en-US" altLang="ja-JP" dirty="0"/>
            </a:br>
            <a:r>
              <a:rPr lang="ja-JP" altLang="en-US" dirty="0"/>
              <a:t>そのまま発行できる</a:t>
            </a:r>
            <a:endParaRPr lang="en-US" altLang="ja-JP" dirty="0"/>
          </a:p>
          <a:p>
            <a:pPr lvl="1"/>
            <a:r>
              <a:rPr lang="en-US" altLang="ja-JP" dirty="0"/>
              <a:t>WB </a:t>
            </a:r>
            <a:r>
              <a:rPr lang="ja-JP" altLang="en-US" dirty="0"/>
              <a:t>の時系列が逆転するが，最終的に辻褄はあう</a:t>
            </a:r>
            <a:endParaRPr lang="en-US" altLang="ja-JP" dirty="0"/>
          </a:p>
        </p:txBody>
      </p:sp>
      <p:cxnSp>
        <p:nvCxnSpPr>
          <p:cNvPr id="4" name="直線コネクタ 3"/>
          <p:cNvCxnSpPr/>
          <p:nvPr/>
        </p:nvCxnSpPr>
        <p:spPr bwMode="auto">
          <a:xfrm>
            <a:off x="4205182" y="4239009"/>
            <a:ext cx="720080" cy="0"/>
          </a:xfrm>
          <a:prstGeom prst="line">
            <a:avLst/>
          </a:prstGeom>
          <a:noFill/>
          <a:ln w="9525" cap="flat" cmpd="sng" algn="ctr">
            <a:solidFill>
              <a:schemeClr val="tx1"/>
            </a:solidFill>
            <a:prstDash val="dash"/>
            <a:round/>
            <a:headEnd type="none" w="med" len="med"/>
            <a:tailEnd type="none" w="med" len="med"/>
          </a:ln>
          <a:effectLst/>
        </p:spPr>
      </p:cxnSp>
      <p:sp>
        <p:nvSpPr>
          <p:cNvPr id="5" name="Rectangle 69"/>
          <p:cNvSpPr>
            <a:spLocks noChangeArrowheads="1"/>
          </p:cNvSpPr>
          <p:nvPr/>
        </p:nvSpPr>
        <p:spPr bwMode="auto">
          <a:xfrm>
            <a:off x="4745188" y="405900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6" name="Rectangle 70"/>
          <p:cNvSpPr>
            <a:spLocks noChangeArrowheads="1"/>
          </p:cNvSpPr>
          <p:nvPr/>
        </p:nvSpPr>
        <p:spPr bwMode="auto">
          <a:xfrm>
            <a:off x="5195193" y="405900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7" name="Rectangle 71"/>
          <p:cNvSpPr>
            <a:spLocks noChangeArrowheads="1"/>
          </p:cNvSpPr>
          <p:nvPr/>
        </p:nvSpPr>
        <p:spPr bwMode="auto">
          <a:xfrm>
            <a:off x="6095207" y="405900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8" name="Rectangle 73"/>
          <p:cNvSpPr>
            <a:spLocks noChangeArrowheads="1"/>
          </p:cNvSpPr>
          <p:nvPr/>
        </p:nvSpPr>
        <p:spPr bwMode="auto">
          <a:xfrm>
            <a:off x="7895227" y="4059007"/>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9" name="Rectangle 71"/>
          <p:cNvSpPr>
            <a:spLocks noChangeArrowheads="1"/>
          </p:cNvSpPr>
          <p:nvPr/>
        </p:nvSpPr>
        <p:spPr bwMode="auto">
          <a:xfrm>
            <a:off x="6545212" y="405900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10" name="Rectangle 71"/>
          <p:cNvSpPr>
            <a:spLocks noChangeArrowheads="1"/>
          </p:cNvSpPr>
          <p:nvPr/>
        </p:nvSpPr>
        <p:spPr bwMode="auto">
          <a:xfrm>
            <a:off x="6995217" y="405900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11" name="Rectangle 71"/>
          <p:cNvSpPr>
            <a:spLocks noChangeArrowheads="1"/>
          </p:cNvSpPr>
          <p:nvPr/>
        </p:nvSpPr>
        <p:spPr bwMode="auto">
          <a:xfrm>
            <a:off x="7445222" y="405900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12" name="Rectangle 70"/>
          <p:cNvSpPr>
            <a:spLocks noChangeArrowheads="1"/>
          </p:cNvSpPr>
          <p:nvPr/>
        </p:nvSpPr>
        <p:spPr bwMode="auto">
          <a:xfrm>
            <a:off x="5645198" y="4059007"/>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13" name="正方形/長方形 12"/>
          <p:cNvSpPr/>
          <p:nvPr/>
        </p:nvSpPr>
        <p:spPr bwMode="auto">
          <a:xfrm>
            <a:off x="3485174" y="405900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I1: </a:t>
            </a:r>
            <a:r>
              <a:rPr lang="en-US" altLang="ja-JP" sz="1600" dirty="0" err="1">
                <a:solidFill>
                  <a:schemeClr val="tx1">
                    <a:lumMod val="75000"/>
                    <a:lumOff val="25000"/>
                  </a:schemeClr>
                </a:solidFill>
                <a:latin typeface="Consolas" panose="020B0609020204030204" pitchFamily="49" charset="0"/>
              </a:rPr>
              <a:t>mul</a:t>
            </a:r>
            <a:r>
              <a:rPr lang="en-US" altLang="ja-JP" sz="1600" dirty="0">
                <a:solidFill>
                  <a:schemeClr val="tx1">
                    <a:lumMod val="75000"/>
                    <a:lumOff val="25000"/>
                  </a:schemeClr>
                </a:solidFill>
                <a:latin typeface="Consolas" panose="020B0609020204030204" pitchFamily="49" charset="0"/>
              </a:rPr>
              <a:t> </a:t>
            </a:r>
            <a:r>
              <a:rPr lang="en-US" altLang="ja-JP" sz="1600" b="1" dirty="0">
                <a:solidFill>
                  <a:schemeClr val="accent5"/>
                </a:solidFill>
                <a:latin typeface="Consolas" panose="020B0609020204030204" pitchFamily="49" charset="0"/>
              </a:rPr>
              <a:t>x1</a:t>
            </a:r>
            <a:r>
              <a:rPr lang="ja-JP" altLang="en-US" sz="1600" dirty="0">
                <a:solidFill>
                  <a:schemeClr val="tx1">
                    <a:lumMod val="75000"/>
                    <a:lumOff val="25000"/>
                  </a:schemeClr>
                </a:solidFill>
                <a:latin typeface="Consolas" panose="020B0609020204030204" pitchFamily="49" charset="0"/>
              </a:rPr>
              <a:t>←</a:t>
            </a:r>
            <a:r>
              <a:rPr lang="en-US" altLang="ja-JP" sz="1600" b="1" dirty="0">
                <a:solidFill>
                  <a:schemeClr val="accent4"/>
                </a:solidFill>
                <a:latin typeface="Consolas" panose="020B0609020204030204" pitchFamily="49" charset="0"/>
              </a:rPr>
              <a:t>x2</a:t>
            </a:r>
            <a:r>
              <a:rPr lang="en-US" altLang="ja-JP" sz="1600" dirty="0">
                <a:solidFill>
                  <a:schemeClr val="tx1">
                    <a:lumMod val="75000"/>
                    <a:lumOff val="25000"/>
                  </a:schemeClr>
                </a:solidFill>
                <a:latin typeface="Consolas" panose="020B0609020204030204" pitchFamily="49" charset="0"/>
              </a:rPr>
              <a:t>*4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15" name="下矢印 14"/>
          <p:cNvSpPr/>
          <p:nvPr/>
        </p:nvSpPr>
        <p:spPr bwMode="auto">
          <a:xfrm>
            <a:off x="5195197" y="3519002"/>
            <a:ext cx="360004" cy="450005"/>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6" name="下矢印 15"/>
          <p:cNvSpPr/>
          <p:nvPr/>
        </p:nvSpPr>
        <p:spPr bwMode="auto">
          <a:xfrm>
            <a:off x="6995217" y="3519002"/>
            <a:ext cx="360004" cy="450005"/>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 name="正方形/長方形 16"/>
          <p:cNvSpPr/>
          <p:nvPr/>
        </p:nvSpPr>
        <p:spPr bwMode="auto">
          <a:xfrm>
            <a:off x="4745192" y="306899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Consolas" panose="020B0609020204030204" pitchFamily="49" charset="0"/>
              </a:rPr>
              <a:t>x1 </a:t>
            </a:r>
            <a:r>
              <a:rPr lang="ja-JP" altLang="en-US" sz="1600" dirty="0">
                <a:solidFill>
                  <a:schemeClr val="tx1">
                    <a:lumMod val="75000"/>
                    <a:lumOff val="25000"/>
                  </a:schemeClr>
                </a:solidFill>
                <a:latin typeface="Consolas" panose="020B0609020204030204" pitchFamily="49" charset="0"/>
              </a:rPr>
              <a:t>を </a:t>
            </a:r>
            <a:r>
              <a:rPr lang="en-US" altLang="ja-JP" sz="1600" dirty="0">
                <a:solidFill>
                  <a:schemeClr val="tx1">
                    <a:lumMod val="75000"/>
                    <a:lumOff val="25000"/>
                  </a:schemeClr>
                </a:solidFill>
                <a:latin typeface="Consolas" panose="020B0609020204030204" pitchFamily="49" charset="0"/>
              </a:rPr>
              <a:t>0 </a:t>
            </a:r>
            <a:r>
              <a:rPr lang="ja-JP" altLang="en-US" sz="1600" dirty="0">
                <a:solidFill>
                  <a:schemeClr val="tx1">
                    <a:lumMod val="75000"/>
                    <a:lumOff val="25000"/>
                  </a:schemeClr>
                </a:solidFill>
                <a:latin typeface="Consolas" panose="020B0609020204030204" pitchFamily="49" charset="0"/>
              </a:rPr>
              <a:t>にして</a:t>
            </a:r>
            <a:endParaRPr lang="en-US" altLang="ja-JP" sz="1600" dirty="0">
              <a:solidFill>
                <a:schemeClr val="tx1">
                  <a:lumMod val="75000"/>
                  <a:lumOff val="25000"/>
                </a:schemeClr>
              </a:solidFill>
              <a:latin typeface="Consolas" panose="020B0609020204030204" pitchFamily="49" charset="0"/>
            </a:endParaRPr>
          </a:p>
          <a:p>
            <a:r>
              <a:rPr lang="ja-JP" altLang="en-US" sz="1600" dirty="0">
                <a:solidFill>
                  <a:schemeClr val="tx1">
                    <a:lumMod val="75000"/>
                    <a:lumOff val="25000"/>
                  </a:schemeClr>
                </a:solidFill>
                <a:latin typeface="Consolas" panose="020B0609020204030204" pitchFamily="49" charset="0"/>
              </a:rPr>
              <a:t>使用不能に</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18" name="正方形/長方形 17"/>
          <p:cNvSpPr/>
          <p:nvPr/>
        </p:nvSpPr>
        <p:spPr bwMode="auto">
          <a:xfrm>
            <a:off x="6725214" y="306899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Consolas" panose="020B0609020204030204" pitchFamily="49" charset="0"/>
              </a:rPr>
              <a:t>x1 </a:t>
            </a:r>
            <a:r>
              <a:rPr lang="ja-JP" altLang="en-US" sz="1600" dirty="0">
                <a:solidFill>
                  <a:schemeClr val="tx1">
                    <a:lumMod val="75000"/>
                    <a:lumOff val="25000"/>
                  </a:schemeClr>
                </a:solidFill>
                <a:latin typeface="Consolas" panose="020B0609020204030204" pitchFamily="49" charset="0"/>
              </a:rPr>
              <a:t>を </a:t>
            </a:r>
            <a:r>
              <a:rPr lang="en-US" altLang="ja-JP" sz="1600" dirty="0">
                <a:solidFill>
                  <a:schemeClr val="tx1">
                    <a:lumMod val="75000"/>
                    <a:lumOff val="25000"/>
                  </a:schemeClr>
                </a:solidFill>
                <a:latin typeface="Consolas" panose="020B0609020204030204" pitchFamily="49" charset="0"/>
              </a:rPr>
              <a:t>1 </a:t>
            </a:r>
            <a:r>
              <a:rPr lang="ja-JP" altLang="en-US" sz="1600" dirty="0">
                <a:solidFill>
                  <a:schemeClr val="tx1">
                    <a:lumMod val="75000"/>
                    <a:lumOff val="25000"/>
                  </a:schemeClr>
                </a:solidFill>
                <a:latin typeface="Consolas" panose="020B0609020204030204" pitchFamily="49" charset="0"/>
              </a:rPr>
              <a:t>にして</a:t>
            </a:r>
            <a:endParaRPr lang="en-US" altLang="ja-JP" sz="1600" dirty="0">
              <a:solidFill>
                <a:schemeClr val="tx1">
                  <a:lumMod val="75000"/>
                  <a:lumOff val="25000"/>
                </a:schemeClr>
              </a:solidFill>
              <a:latin typeface="Consolas" panose="020B0609020204030204" pitchFamily="49" charset="0"/>
            </a:endParaRPr>
          </a:p>
          <a:p>
            <a:r>
              <a:rPr lang="ja-JP" altLang="en-US" sz="1600" dirty="0">
                <a:solidFill>
                  <a:schemeClr val="tx1">
                    <a:lumMod val="75000"/>
                    <a:lumOff val="25000"/>
                  </a:schemeClr>
                </a:solidFill>
                <a:latin typeface="Consolas" panose="020B0609020204030204" pitchFamily="49" charset="0"/>
              </a:rPr>
              <a:t>使用可能に</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cxnSp>
        <p:nvCxnSpPr>
          <p:cNvPr id="19" name="直線コネクタ 18"/>
          <p:cNvCxnSpPr/>
          <p:nvPr/>
        </p:nvCxnSpPr>
        <p:spPr bwMode="auto">
          <a:xfrm>
            <a:off x="7408052" y="3519002"/>
            <a:ext cx="0" cy="1710019"/>
          </a:xfrm>
          <a:prstGeom prst="line">
            <a:avLst/>
          </a:prstGeom>
          <a:ln>
            <a:solidFill>
              <a:schemeClr val="tx1">
                <a:lumMod val="75000"/>
                <a:lumOff val="2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20" name="直線コネクタ 19"/>
          <p:cNvCxnSpPr/>
          <p:nvPr/>
        </p:nvCxnSpPr>
        <p:spPr bwMode="auto">
          <a:xfrm>
            <a:off x="5593164" y="3519002"/>
            <a:ext cx="0" cy="1710019"/>
          </a:xfrm>
          <a:prstGeom prst="line">
            <a:avLst/>
          </a:prstGeom>
          <a:ln>
            <a:solidFill>
              <a:schemeClr val="tx1">
                <a:lumMod val="75000"/>
                <a:lumOff val="25000"/>
              </a:schemeClr>
            </a:solidFill>
            <a:headEnd type="none" w="med" len="med"/>
            <a:tailEnd type="none" w="med" len="med"/>
          </a:ln>
        </p:spPr>
        <p:style>
          <a:lnRef idx="2">
            <a:schemeClr val="accent6"/>
          </a:lnRef>
          <a:fillRef idx="0">
            <a:schemeClr val="accent6"/>
          </a:fillRef>
          <a:effectRef idx="1">
            <a:schemeClr val="accent6"/>
          </a:effectRef>
          <a:fontRef idx="minor">
            <a:schemeClr val="tx1"/>
          </a:fontRef>
        </p:style>
      </p:cxnSp>
      <p:sp>
        <p:nvSpPr>
          <p:cNvPr id="23" name="Rectangle 69"/>
          <p:cNvSpPr>
            <a:spLocks noChangeArrowheads="1"/>
          </p:cNvSpPr>
          <p:nvPr/>
        </p:nvSpPr>
        <p:spPr bwMode="auto">
          <a:xfrm>
            <a:off x="5195193" y="450901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4" name="Rectangle 70"/>
          <p:cNvSpPr>
            <a:spLocks noChangeArrowheads="1"/>
          </p:cNvSpPr>
          <p:nvPr/>
        </p:nvSpPr>
        <p:spPr bwMode="auto">
          <a:xfrm>
            <a:off x="5645202" y="450901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25" name="Rectangle 71"/>
          <p:cNvSpPr>
            <a:spLocks noChangeArrowheads="1"/>
          </p:cNvSpPr>
          <p:nvPr/>
        </p:nvSpPr>
        <p:spPr bwMode="auto">
          <a:xfrm>
            <a:off x="6546009" y="4509012"/>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26" name="Rectangle 73"/>
          <p:cNvSpPr>
            <a:spLocks noChangeArrowheads="1"/>
          </p:cNvSpPr>
          <p:nvPr/>
        </p:nvSpPr>
        <p:spPr bwMode="auto">
          <a:xfrm>
            <a:off x="6996014" y="4509012"/>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27" name="Rectangle 70"/>
          <p:cNvSpPr>
            <a:spLocks noChangeArrowheads="1"/>
          </p:cNvSpPr>
          <p:nvPr/>
        </p:nvSpPr>
        <p:spPr bwMode="auto">
          <a:xfrm>
            <a:off x="6096000" y="4509012"/>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3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2765963" y="5319021"/>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600" dirty="0">
                <a:latin typeface="+mn-ea"/>
                <a:ea typeface="+mn-ea"/>
              </a:rPr>
              <a:t>スコアボードの状態</a:t>
            </a:r>
          </a:p>
        </p:txBody>
      </p:sp>
      <p:sp>
        <p:nvSpPr>
          <p:cNvPr id="3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025977" y="5319021"/>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x1</a:t>
            </a:r>
            <a:endParaRPr lang="ja-JP" altLang="en-US" sz="1600" dirty="0">
              <a:latin typeface="+mn-ea"/>
              <a:ea typeface="+mn-ea"/>
            </a:endParaRPr>
          </a:p>
        </p:txBody>
      </p:sp>
      <p:sp>
        <p:nvSpPr>
          <p:cNvPr id="3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025977" y="5679025"/>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x2</a:t>
            </a:r>
            <a:endParaRPr lang="ja-JP" altLang="en-US" sz="1600" dirty="0">
              <a:latin typeface="+mn-ea"/>
              <a:ea typeface="+mn-ea"/>
            </a:endParaRPr>
          </a:p>
        </p:txBody>
      </p:sp>
      <p:sp>
        <p:nvSpPr>
          <p:cNvPr id="76" name="正方形/長方形 75"/>
          <p:cNvSpPr/>
          <p:nvPr/>
        </p:nvSpPr>
        <p:spPr bwMode="auto">
          <a:xfrm>
            <a:off x="3485971" y="441901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I2: sub </a:t>
            </a:r>
            <a:r>
              <a:rPr lang="en-US" altLang="ja-JP" sz="1600" b="1" dirty="0">
                <a:solidFill>
                  <a:schemeClr val="tx1">
                    <a:lumMod val="75000"/>
                    <a:lumOff val="25000"/>
                  </a:schemeClr>
                </a:solidFill>
                <a:latin typeface="Consolas" panose="020B0609020204030204" pitchFamily="49" charset="0"/>
              </a:rPr>
              <a:t>x3</a:t>
            </a:r>
            <a:r>
              <a:rPr lang="ja-JP" altLang="en-US" sz="1600" dirty="0">
                <a:solidFill>
                  <a:schemeClr val="tx1">
                    <a:lumMod val="75000"/>
                    <a:lumOff val="25000"/>
                  </a:schemeClr>
                </a:solidFill>
                <a:latin typeface="Consolas" panose="020B0609020204030204" pitchFamily="49" charset="0"/>
              </a:rPr>
              <a:t>←</a:t>
            </a:r>
            <a:r>
              <a:rPr lang="en-US" altLang="ja-JP" sz="1600" b="1" dirty="0">
                <a:solidFill>
                  <a:schemeClr val="accent4"/>
                </a:solidFill>
                <a:latin typeface="Consolas" panose="020B0609020204030204" pitchFamily="49" charset="0"/>
              </a:rPr>
              <a:t>x2</a:t>
            </a:r>
            <a:r>
              <a:rPr lang="en-US" altLang="ja-JP" sz="1600" dirty="0">
                <a:solidFill>
                  <a:schemeClr val="tx1">
                    <a:lumMod val="75000"/>
                    <a:lumOff val="25000"/>
                  </a:schemeClr>
                </a:solidFill>
                <a:latin typeface="Consolas" panose="020B0609020204030204" pitchFamily="49" charset="0"/>
              </a:rPr>
              <a:t>-1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7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745985"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7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745985"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7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745985"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8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745985"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8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025977" y="5319021"/>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x1</a:t>
            </a:r>
            <a:endParaRPr lang="ja-JP" altLang="en-US" sz="1600" dirty="0">
              <a:latin typeface="+mn-ea"/>
              <a:ea typeface="+mn-ea"/>
            </a:endParaRPr>
          </a:p>
        </p:txBody>
      </p:sp>
      <p:sp>
        <p:nvSpPr>
          <p:cNvPr id="8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025977" y="5679025"/>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x2</a:t>
            </a:r>
            <a:endParaRPr lang="ja-JP" altLang="en-US" sz="1600" dirty="0">
              <a:latin typeface="+mn-ea"/>
              <a:ea typeface="+mn-ea"/>
            </a:endParaRPr>
          </a:p>
        </p:txBody>
      </p:sp>
      <p:sp>
        <p:nvSpPr>
          <p:cNvPr id="8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195990"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8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195990"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8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195990"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8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195990"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8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645995"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8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645995"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b="1" dirty="0">
                <a:solidFill>
                  <a:schemeClr val="accent5"/>
                </a:solidFill>
                <a:latin typeface="+mn-ea"/>
                <a:ea typeface="+mn-ea"/>
              </a:rPr>
              <a:t>0</a:t>
            </a:r>
            <a:endParaRPr lang="ja-JP" altLang="en-US" sz="1600" b="1" dirty="0">
              <a:solidFill>
                <a:schemeClr val="accent5"/>
              </a:solidFill>
              <a:latin typeface="+mn-ea"/>
              <a:ea typeface="+mn-ea"/>
            </a:endParaRPr>
          </a:p>
        </p:txBody>
      </p:sp>
      <p:sp>
        <p:nvSpPr>
          <p:cNvPr id="8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645995"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645995"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096000"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9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096000"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b="1" dirty="0">
                <a:solidFill>
                  <a:schemeClr val="accent5"/>
                </a:solidFill>
                <a:latin typeface="+mn-ea"/>
                <a:ea typeface="+mn-ea"/>
              </a:rPr>
              <a:t>0</a:t>
            </a:r>
            <a:endParaRPr lang="ja-JP" altLang="en-US" sz="1600" b="1" dirty="0">
              <a:solidFill>
                <a:schemeClr val="accent5"/>
              </a:solidFill>
              <a:latin typeface="+mn-ea"/>
              <a:ea typeface="+mn-ea"/>
            </a:endParaRPr>
          </a:p>
        </p:txBody>
      </p:sp>
      <p:sp>
        <p:nvSpPr>
          <p:cNvPr id="9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096000"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096000"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546005"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9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546005"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b="1" dirty="0">
                <a:solidFill>
                  <a:schemeClr val="accent5"/>
                </a:solidFill>
                <a:latin typeface="+mn-ea"/>
                <a:ea typeface="+mn-ea"/>
              </a:rPr>
              <a:t>0</a:t>
            </a:r>
            <a:endParaRPr lang="ja-JP" altLang="en-US" sz="1600" b="1" dirty="0">
              <a:solidFill>
                <a:schemeClr val="accent5"/>
              </a:solidFill>
              <a:latin typeface="+mn-ea"/>
              <a:ea typeface="+mn-ea"/>
            </a:endParaRPr>
          </a:p>
        </p:txBody>
      </p:sp>
      <p:sp>
        <p:nvSpPr>
          <p:cNvPr id="9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546005"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546005"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9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996010"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10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996010"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b="1" dirty="0">
                <a:solidFill>
                  <a:schemeClr val="accent5"/>
                </a:solidFill>
                <a:latin typeface="+mn-ea"/>
                <a:ea typeface="+mn-ea"/>
              </a:rPr>
              <a:t>0</a:t>
            </a:r>
            <a:endParaRPr lang="ja-JP" altLang="en-US" sz="1600" b="1" dirty="0">
              <a:solidFill>
                <a:schemeClr val="accent5"/>
              </a:solidFill>
              <a:latin typeface="+mn-ea"/>
              <a:ea typeface="+mn-ea"/>
            </a:endParaRPr>
          </a:p>
        </p:txBody>
      </p:sp>
      <p:sp>
        <p:nvSpPr>
          <p:cNvPr id="10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996010"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996010"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446015"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10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446015"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446015"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446015"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896020"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10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896020"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0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896020"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1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7896020"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1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8346025" y="5319021"/>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11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8346025" y="531902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1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8346025" y="5679025"/>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1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8346025" y="603902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a:t>
            </a:r>
            <a:endParaRPr lang="ja-JP" altLang="en-US" sz="1600" dirty="0">
              <a:latin typeface="+mn-ea"/>
              <a:ea typeface="+mn-ea"/>
            </a:endParaRPr>
          </a:p>
        </p:txBody>
      </p:sp>
      <p:sp>
        <p:nvSpPr>
          <p:cNvPr id="11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025977" y="6039029"/>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x3</a:t>
            </a:r>
            <a:endParaRPr lang="ja-JP" altLang="en-US" sz="1600" dirty="0">
              <a:latin typeface="+mn-ea"/>
              <a:ea typeface="+mn-ea"/>
            </a:endParaRPr>
          </a:p>
        </p:txBody>
      </p:sp>
    </p:spTree>
    <p:extLst>
      <p:ext uri="{BB962C8B-B14F-4D97-AF65-F5344CB8AC3E}">
        <p14:creationId xmlns:p14="http://schemas.microsoft.com/office/powerpoint/2010/main" val="16757966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in-order </a:t>
            </a:r>
            <a:r>
              <a:rPr lang="ja-JP" altLang="en-US" dirty="0"/>
              <a:t>発行</a:t>
            </a:r>
            <a:r>
              <a:rPr lang="en-US" altLang="ja-JP" dirty="0"/>
              <a:t>/out-of-order </a:t>
            </a:r>
            <a:r>
              <a:rPr lang="ja-JP" altLang="en-US" dirty="0"/>
              <a:t>完了</a:t>
            </a:r>
          </a:p>
        </p:txBody>
      </p:sp>
      <p:sp>
        <p:nvSpPr>
          <p:cNvPr id="3" name="テキスト プレースホルダー 2"/>
          <p:cNvSpPr>
            <a:spLocks noGrp="1"/>
          </p:cNvSpPr>
          <p:nvPr>
            <p:ph type="body" sz="quarter" idx="10"/>
          </p:nvPr>
        </p:nvSpPr>
        <p:spPr>
          <a:xfrm>
            <a:off x="2135956" y="1088975"/>
            <a:ext cx="8280092" cy="450005"/>
          </a:xfrm>
        </p:spPr>
        <p:txBody>
          <a:bodyPr anchor="t"/>
          <a:lstStyle/>
          <a:p>
            <a:r>
              <a:rPr kumimoji="1" lang="ja-JP" altLang="en-US" dirty="0"/>
              <a:t>発行が </a:t>
            </a:r>
            <a:r>
              <a:rPr kumimoji="1" lang="en-US" altLang="ja-JP" dirty="0"/>
              <a:t>in-order </a:t>
            </a:r>
            <a:r>
              <a:rPr kumimoji="1" lang="ja-JP" altLang="en-US" dirty="0"/>
              <a:t>：</a:t>
            </a:r>
            <a:endParaRPr kumimoji="1" lang="en-US" altLang="ja-JP" dirty="0"/>
          </a:p>
          <a:p>
            <a:pPr lvl="1"/>
            <a:r>
              <a:rPr kumimoji="1" lang="ja-JP" altLang="en-US" dirty="0"/>
              <a:t>偽を含めて何らかの依存があると，発行をストール</a:t>
            </a:r>
            <a:endParaRPr kumimoji="1" lang="en-US" altLang="ja-JP" dirty="0"/>
          </a:p>
          <a:p>
            <a:pPr lvl="2"/>
            <a:r>
              <a:rPr kumimoji="1" lang="ja-JP" altLang="en-US" dirty="0"/>
              <a:t>ある命令の発行は，前の命令の発行を追い越せない</a:t>
            </a:r>
            <a:endParaRPr kumimoji="1" lang="en-US" altLang="ja-JP" dirty="0"/>
          </a:p>
          <a:p>
            <a:pPr lvl="1"/>
            <a:r>
              <a:rPr kumimoji="1" lang="ja-JP" altLang="en-US" dirty="0"/>
              <a:t>下図では，</a:t>
            </a:r>
            <a:r>
              <a:rPr kumimoji="1" lang="en-US" altLang="ja-JP" dirty="0"/>
              <a:t>IS </a:t>
            </a:r>
            <a:r>
              <a:rPr kumimoji="1" lang="ja-JP" altLang="en-US" dirty="0"/>
              <a:t>が必ず右下に伸びる</a:t>
            </a:r>
            <a:endParaRPr kumimoji="1" lang="en-US" altLang="ja-JP" dirty="0"/>
          </a:p>
          <a:p>
            <a:r>
              <a:rPr kumimoji="1" lang="ja-JP" altLang="en-US" dirty="0"/>
              <a:t>これにより，逆依存の違反は起きないことが保証される</a:t>
            </a:r>
            <a:endParaRPr kumimoji="1" lang="en-US" altLang="ja-JP" dirty="0"/>
          </a:p>
          <a:p>
            <a:pPr lvl="1"/>
            <a:r>
              <a:rPr lang="en-US" altLang="ja-JP" dirty="0"/>
              <a:t>IS </a:t>
            </a:r>
            <a:r>
              <a:rPr lang="ja-JP" altLang="en-US" dirty="0"/>
              <a:t>と次の命令の </a:t>
            </a:r>
            <a:r>
              <a:rPr lang="en-US" altLang="ja-JP" dirty="0"/>
              <a:t>IS </a:t>
            </a:r>
            <a:r>
              <a:rPr lang="ja-JP" altLang="en-US" dirty="0"/>
              <a:t>が </a:t>
            </a:r>
            <a:r>
              <a:rPr lang="en-US" altLang="ja-JP" dirty="0"/>
              <a:t>in-order </a:t>
            </a:r>
          </a:p>
          <a:p>
            <a:pPr lvl="1"/>
            <a:r>
              <a:rPr lang="en-US" altLang="ja-JP" dirty="0"/>
              <a:t>= IS </a:t>
            </a:r>
            <a:r>
              <a:rPr lang="ja-JP" altLang="en-US" dirty="0"/>
              <a:t>と次の命令の </a:t>
            </a:r>
            <a:r>
              <a:rPr lang="en-US" altLang="ja-JP" dirty="0"/>
              <a:t>WB </a:t>
            </a:r>
            <a:r>
              <a:rPr lang="ja-JP" altLang="en-US" dirty="0"/>
              <a:t>も </a:t>
            </a:r>
            <a:r>
              <a:rPr lang="en-US" altLang="ja-JP" dirty="0"/>
              <a:t>in-order </a:t>
            </a:r>
            <a:endParaRPr kumimoji="1" lang="en-US" altLang="ja-JP" dirty="0"/>
          </a:p>
        </p:txBody>
      </p:sp>
      <p:cxnSp>
        <p:nvCxnSpPr>
          <p:cNvPr id="38" name="直線コネクタ 37"/>
          <p:cNvCxnSpPr>
            <a:endCxn id="54" idx="1"/>
          </p:cNvCxnSpPr>
          <p:nvPr/>
        </p:nvCxnSpPr>
        <p:spPr bwMode="auto">
          <a:xfrm flipV="1">
            <a:off x="4115979" y="5319019"/>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39" name="直線コネクタ 38"/>
          <p:cNvCxnSpPr/>
          <p:nvPr/>
        </p:nvCxnSpPr>
        <p:spPr bwMode="auto">
          <a:xfrm>
            <a:off x="4115978" y="4869016"/>
            <a:ext cx="720080" cy="0"/>
          </a:xfrm>
          <a:prstGeom prst="line">
            <a:avLst/>
          </a:prstGeom>
          <a:noFill/>
          <a:ln w="9525" cap="flat" cmpd="sng" algn="ctr">
            <a:solidFill>
              <a:schemeClr val="tx1"/>
            </a:solidFill>
            <a:prstDash val="dash"/>
            <a:round/>
            <a:headEnd type="none" w="med" len="med"/>
            <a:tailEnd type="none" w="med" len="med"/>
          </a:ln>
          <a:effectLst/>
        </p:spPr>
      </p:cxnSp>
      <p:sp>
        <p:nvSpPr>
          <p:cNvPr id="40" name="Rectangle 69"/>
          <p:cNvSpPr>
            <a:spLocks noChangeArrowheads="1"/>
          </p:cNvSpPr>
          <p:nvPr/>
        </p:nvSpPr>
        <p:spPr bwMode="auto">
          <a:xfrm>
            <a:off x="4655984" y="468901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1" name="Rectangle 70"/>
          <p:cNvSpPr>
            <a:spLocks noChangeArrowheads="1"/>
          </p:cNvSpPr>
          <p:nvPr/>
        </p:nvSpPr>
        <p:spPr bwMode="auto">
          <a:xfrm>
            <a:off x="5105989" y="468901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53" name="Rectangle 71"/>
          <p:cNvSpPr>
            <a:spLocks noChangeArrowheads="1"/>
          </p:cNvSpPr>
          <p:nvPr/>
        </p:nvSpPr>
        <p:spPr bwMode="auto">
          <a:xfrm>
            <a:off x="6006003" y="468901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54" name="Rectangle 69"/>
          <p:cNvSpPr>
            <a:spLocks noChangeArrowheads="1"/>
          </p:cNvSpPr>
          <p:nvPr/>
        </p:nvSpPr>
        <p:spPr bwMode="auto">
          <a:xfrm>
            <a:off x="5105989" y="513901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55" name="Rectangle 70"/>
          <p:cNvSpPr>
            <a:spLocks noChangeArrowheads="1"/>
          </p:cNvSpPr>
          <p:nvPr/>
        </p:nvSpPr>
        <p:spPr bwMode="auto">
          <a:xfrm>
            <a:off x="5555998" y="513901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60" name="Rectangle 71"/>
          <p:cNvSpPr>
            <a:spLocks noChangeArrowheads="1"/>
          </p:cNvSpPr>
          <p:nvPr/>
        </p:nvSpPr>
        <p:spPr bwMode="auto">
          <a:xfrm>
            <a:off x="7806023" y="5139019"/>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61" name="Rectangle 73"/>
          <p:cNvSpPr>
            <a:spLocks noChangeArrowheads="1"/>
          </p:cNvSpPr>
          <p:nvPr/>
        </p:nvSpPr>
        <p:spPr bwMode="auto">
          <a:xfrm>
            <a:off x="8256028" y="5139019"/>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62" name="Rectangle 69"/>
          <p:cNvSpPr>
            <a:spLocks noChangeArrowheads="1"/>
          </p:cNvSpPr>
          <p:nvPr/>
        </p:nvSpPr>
        <p:spPr bwMode="auto">
          <a:xfrm>
            <a:off x="5555998" y="558902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64" name="Rectangle 70"/>
          <p:cNvSpPr>
            <a:spLocks noChangeArrowheads="1"/>
          </p:cNvSpPr>
          <p:nvPr/>
        </p:nvSpPr>
        <p:spPr bwMode="auto">
          <a:xfrm>
            <a:off x="7356014" y="558902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65" name="Rectangle 71"/>
          <p:cNvSpPr>
            <a:spLocks noChangeArrowheads="1"/>
          </p:cNvSpPr>
          <p:nvPr/>
        </p:nvSpPr>
        <p:spPr bwMode="auto">
          <a:xfrm>
            <a:off x="8256028" y="558902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66" name="Rectangle 73"/>
          <p:cNvSpPr>
            <a:spLocks noChangeArrowheads="1"/>
          </p:cNvSpPr>
          <p:nvPr/>
        </p:nvSpPr>
        <p:spPr bwMode="auto">
          <a:xfrm>
            <a:off x="8706033" y="5589024"/>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cxnSp>
        <p:nvCxnSpPr>
          <p:cNvPr id="67" name="直線コネクタ 66"/>
          <p:cNvCxnSpPr>
            <a:endCxn id="62" idx="1"/>
          </p:cNvCxnSpPr>
          <p:nvPr/>
        </p:nvCxnSpPr>
        <p:spPr bwMode="auto">
          <a:xfrm flipV="1">
            <a:off x="4115978" y="5769024"/>
            <a:ext cx="1440020" cy="2"/>
          </a:xfrm>
          <a:prstGeom prst="line">
            <a:avLst/>
          </a:prstGeom>
          <a:noFill/>
          <a:ln w="9525" cap="flat" cmpd="sng" algn="ctr">
            <a:solidFill>
              <a:schemeClr val="tx1"/>
            </a:solidFill>
            <a:prstDash val="dash"/>
            <a:round/>
            <a:headEnd type="none" w="med" len="med"/>
            <a:tailEnd type="none" w="med" len="med"/>
          </a:ln>
          <a:effectLst/>
        </p:spPr>
      </p:cxnSp>
      <p:sp>
        <p:nvSpPr>
          <p:cNvPr id="68" name="Rectangle 73"/>
          <p:cNvSpPr>
            <a:spLocks noChangeArrowheads="1"/>
          </p:cNvSpPr>
          <p:nvPr/>
        </p:nvSpPr>
        <p:spPr bwMode="auto">
          <a:xfrm>
            <a:off x="7806023" y="4689014"/>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69" name="Rectangle 71"/>
          <p:cNvSpPr>
            <a:spLocks noChangeArrowheads="1"/>
          </p:cNvSpPr>
          <p:nvPr/>
        </p:nvSpPr>
        <p:spPr bwMode="auto">
          <a:xfrm>
            <a:off x="6456008" y="468901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70" name="Rectangle 71"/>
          <p:cNvSpPr>
            <a:spLocks noChangeArrowheads="1"/>
          </p:cNvSpPr>
          <p:nvPr/>
        </p:nvSpPr>
        <p:spPr bwMode="auto">
          <a:xfrm>
            <a:off x="6906013" y="468901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71" name="Rectangle 71"/>
          <p:cNvSpPr>
            <a:spLocks noChangeArrowheads="1"/>
          </p:cNvSpPr>
          <p:nvPr/>
        </p:nvSpPr>
        <p:spPr bwMode="auto">
          <a:xfrm>
            <a:off x="7356018" y="468901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82" name="Rectangle 70"/>
          <p:cNvSpPr>
            <a:spLocks noChangeArrowheads="1"/>
          </p:cNvSpPr>
          <p:nvPr/>
        </p:nvSpPr>
        <p:spPr bwMode="auto">
          <a:xfrm>
            <a:off x="5555994" y="4689014"/>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83" name="Rectangle 70"/>
          <p:cNvSpPr>
            <a:spLocks noChangeArrowheads="1"/>
          </p:cNvSpPr>
          <p:nvPr/>
        </p:nvSpPr>
        <p:spPr bwMode="auto">
          <a:xfrm>
            <a:off x="7356014" y="5139019"/>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84" name="Rectangle 70"/>
          <p:cNvSpPr>
            <a:spLocks noChangeArrowheads="1"/>
          </p:cNvSpPr>
          <p:nvPr/>
        </p:nvSpPr>
        <p:spPr bwMode="auto">
          <a:xfrm>
            <a:off x="7806019" y="5589024"/>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85" name="Rectangle 73"/>
          <p:cNvSpPr>
            <a:spLocks noChangeArrowheads="1"/>
          </p:cNvSpPr>
          <p:nvPr/>
        </p:nvSpPr>
        <p:spPr bwMode="auto">
          <a:xfrm>
            <a:off x="6006003" y="513901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86" name="Rectangle 73"/>
          <p:cNvSpPr>
            <a:spLocks noChangeArrowheads="1"/>
          </p:cNvSpPr>
          <p:nvPr/>
        </p:nvSpPr>
        <p:spPr bwMode="auto">
          <a:xfrm>
            <a:off x="6456008" y="513901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87" name="Rectangle 73"/>
          <p:cNvSpPr>
            <a:spLocks noChangeArrowheads="1"/>
          </p:cNvSpPr>
          <p:nvPr/>
        </p:nvSpPr>
        <p:spPr bwMode="auto">
          <a:xfrm>
            <a:off x="6906013" y="513901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88" name="Rectangle 73"/>
          <p:cNvSpPr>
            <a:spLocks noChangeArrowheads="1"/>
          </p:cNvSpPr>
          <p:nvPr/>
        </p:nvSpPr>
        <p:spPr bwMode="auto">
          <a:xfrm>
            <a:off x="6006003" y="5589024"/>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89" name="Rectangle 73"/>
          <p:cNvSpPr>
            <a:spLocks noChangeArrowheads="1"/>
          </p:cNvSpPr>
          <p:nvPr/>
        </p:nvSpPr>
        <p:spPr bwMode="auto">
          <a:xfrm>
            <a:off x="6456008" y="5589024"/>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90" name="Rectangle 73"/>
          <p:cNvSpPr>
            <a:spLocks noChangeArrowheads="1"/>
          </p:cNvSpPr>
          <p:nvPr/>
        </p:nvSpPr>
        <p:spPr bwMode="auto">
          <a:xfrm>
            <a:off x="6906013" y="5589024"/>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91" name="正方形/長方形 90"/>
          <p:cNvSpPr/>
          <p:nvPr/>
        </p:nvSpPr>
        <p:spPr bwMode="auto">
          <a:xfrm>
            <a:off x="3395970" y="468901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I1: </a:t>
            </a:r>
            <a:r>
              <a:rPr lang="en-US" altLang="ja-JP" sz="1600" dirty="0" err="1">
                <a:latin typeface="Consolas" panose="020B0609020204030204" pitchFamily="49" charset="0"/>
              </a:rPr>
              <a:t>mul</a:t>
            </a:r>
            <a:r>
              <a:rPr lang="en-US" altLang="ja-JP" sz="1600" dirty="0">
                <a:latin typeface="Consolas" panose="020B0609020204030204" pitchFamily="49" charset="0"/>
              </a:rPr>
              <a:t> </a:t>
            </a:r>
            <a:r>
              <a:rPr lang="en-US" altLang="ja-JP" sz="1600" dirty="0">
                <a:solidFill>
                  <a:schemeClr val="accent4"/>
                </a:solidFill>
                <a:latin typeface="Consolas" panose="020B0609020204030204" pitchFamily="49" charset="0"/>
              </a:rPr>
              <a:t>x1</a:t>
            </a:r>
            <a:r>
              <a:rPr lang="ja-JP" altLang="en-US" sz="1600" dirty="0">
                <a:latin typeface="Consolas" panose="020B0609020204030204" pitchFamily="49" charset="0"/>
              </a:rPr>
              <a:t>←</a:t>
            </a:r>
            <a:r>
              <a:rPr lang="en-US" altLang="ja-JP" sz="1600" dirty="0">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92" name="正方形/長方形 91"/>
          <p:cNvSpPr/>
          <p:nvPr/>
        </p:nvSpPr>
        <p:spPr bwMode="auto">
          <a:xfrm>
            <a:off x="3395970" y="513901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I2: add </a:t>
            </a:r>
            <a:r>
              <a:rPr lang="en-US" altLang="ja-JP" sz="1600" dirty="0">
                <a:solidFill>
                  <a:schemeClr val="accent4"/>
                </a:solidFill>
                <a:latin typeface="Consolas" panose="020B0609020204030204" pitchFamily="49" charset="0"/>
              </a:rPr>
              <a:t>x1</a:t>
            </a:r>
            <a:r>
              <a:rPr lang="ja-JP" altLang="en-US" sz="1600" dirty="0">
                <a:latin typeface="Consolas" panose="020B0609020204030204" pitchFamily="49" charset="0"/>
              </a:rPr>
              <a:t>←</a:t>
            </a:r>
            <a:r>
              <a:rPr lang="en-US" altLang="ja-JP" sz="1600" dirty="0">
                <a:solidFill>
                  <a:schemeClr val="accent3">
                    <a:lumMod val="75000"/>
                  </a:schemeClr>
                </a:solidFill>
                <a:latin typeface="Consolas" panose="020B0609020204030204" pitchFamily="49" charset="0"/>
              </a:rPr>
              <a:t>x3</a:t>
            </a:r>
            <a:r>
              <a:rPr lang="en-US" altLang="ja-JP" sz="1600" dirty="0">
                <a:latin typeface="Consolas" panose="020B0609020204030204" pitchFamily="49" charset="0"/>
              </a:rPr>
              <a:t>+1</a:t>
            </a:r>
            <a:endParaRPr lang="ja-JP" altLang="en-US" sz="1600" dirty="0"/>
          </a:p>
        </p:txBody>
      </p:sp>
      <p:sp>
        <p:nvSpPr>
          <p:cNvPr id="93" name="正方形/長方形 92"/>
          <p:cNvSpPr/>
          <p:nvPr/>
        </p:nvSpPr>
        <p:spPr bwMode="auto">
          <a:xfrm>
            <a:off x="3395970" y="558902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I3: sub </a:t>
            </a:r>
            <a:r>
              <a:rPr lang="en-US" altLang="ja-JP" sz="1600" dirty="0">
                <a:solidFill>
                  <a:schemeClr val="accent3">
                    <a:lumMod val="75000"/>
                  </a:schemeClr>
                </a:solidFill>
                <a:latin typeface="Consolas" panose="020B0609020204030204" pitchFamily="49" charset="0"/>
              </a:rPr>
              <a:t>x3</a:t>
            </a:r>
            <a:r>
              <a:rPr lang="ja-JP" altLang="en-US" sz="1600" dirty="0">
                <a:latin typeface="Consolas" panose="020B0609020204030204" pitchFamily="49" charset="0"/>
              </a:rPr>
              <a:t>←</a:t>
            </a:r>
            <a:r>
              <a:rPr lang="en-US" altLang="ja-JP" sz="1600" dirty="0">
                <a:latin typeface="Consolas" panose="020B0609020204030204" pitchFamily="49" charset="0"/>
              </a:rPr>
              <a:t>x1-1</a:t>
            </a:r>
            <a:endParaRPr lang="ja-JP" altLang="en-US" sz="1600" dirty="0"/>
          </a:p>
        </p:txBody>
      </p:sp>
      <p:sp>
        <p:nvSpPr>
          <p:cNvPr id="94" name="Rectangle 69"/>
          <p:cNvSpPr>
            <a:spLocks noChangeArrowheads="1"/>
          </p:cNvSpPr>
          <p:nvPr/>
        </p:nvSpPr>
        <p:spPr bwMode="auto">
          <a:xfrm>
            <a:off x="7356014" y="603902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95" name="Rectangle 70"/>
          <p:cNvSpPr>
            <a:spLocks noChangeArrowheads="1"/>
          </p:cNvSpPr>
          <p:nvPr/>
        </p:nvSpPr>
        <p:spPr bwMode="auto">
          <a:xfrm>
            <a:off x="7806015" y="603902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96" name="Rectangle 71"/>
          <p:cNvSpPr>
            <a:spLocks noChangeArrowheads="1"/>
          </p:cNvSpPr>
          <p:nvPr/>
        </p:nvSpPr>
        <p:spPr bwMode="auto">
          <a:xfrm>
            <a:off x="8706029" y="6039029"/>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97" name="Rectangle 73"/>
          <p:cNvSpPr>
            <a:spLocks noChangeArrowheads="1"/>
          </p:cNvSpPr>
          <p:nvPr/>
        </p:nvSpPr>
        <p:spPr bwMode="auto">
          <a:xfrm>
            <a:off x="9156034" y="6039029"/>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cxnSp>
        <p:nvCxnSpPr>
          <p:cNvPr id="98" name="直線コネクタ 97"/>
          <p:cNvCxnSpPr>
            <a:stCxn id="100" idx="3"/>
            <a:endCxn id="94" idx="1"/>
          </p:cNvCxnSpPr>
          <p:nvPr/>
        </p:nvCxnSpPr>
        <p:spPr bwMode="auto">
          <a:xfrm flipV="1">
            <a:off x="4115978" y="6219029"/>
            <a:ext cx="3240036" cy="2"/>
          </a:xfrm>
          <a:prstGeom prst="line">
            <a:avLst/>
          </a:prstGeom>
          <a:noFill/>
          <a:ln w="9525" cap="flat" cmpd="sng" algn="ctr">
            <a:solidFill>
              <a:schemeClr val="tx1"/>
            </a:solidFill>
            <a:prstDash val="dash"/>
            <a:round/>
            <a:headEnd type="none" w="med" len="med"/>
            <a:tailEnd type="none" w="med" len="med"/>
          </a:ln>
          <a:effectLst/>
        </p:spPr>
      </p:cxnSp>
      <p:sp>
        <p:nvSpPr>
          <p:cNvPr id="99" name="Rectangle 70"/>
          <p:cNvSpPr>
            <a:spLocks noChangeArrowheads="1"/>
          </p:cNvSpPr>
          <p:nvPr/>
        </p:nvSpPr>
        <p:spPr bwMode="auto">
          <a:xfrm>
            <a:off x="8256020" y="6039029"/>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100" name="正方形/長方形 99"/>
          <p:cNvSpPr/>
          <p:nvPr/>
        </p:nvSpPr>
        <p:spPr bwMode="auto">
          <a:xfrm>
            <a:off x="3395970" y="603902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I3: and </a:t>
            </a:r>
            <a:r>
              <a:rPr lang="en-US" altLang="ja-JP" sz="1600" dirty="0">
                <a:solidFill>
                  <a:schemeClr val="tx1">
                    <a:lumMod val="75000"/>
                    <a:lumOff val="25000"/>
                  </a:schemeClr>
                </a:solidFill>
                <a:latin typeface="Consolas" panose="020B0609020204030204" pitchFamily="49" charset="0"/>
              </a:rPr>
              <a:t>x6</a:t>
            </a:r>
            <a:r>
              <a:rPr lang="ja-JP" altLang="en-US" sz="1600" dirty="0">
                <a:latin typeface="Consolas" panose="020B0609020204030204" pitchFamily="49" charset="0"/>
              </a:rPr>
              <a:t>←</a:t>
            </a:r>
            <a:r>
              <a:rPr lang="en-US" altLang="ja-JP" sz="1600" dirty="0">
                <a:latin typeface="Consolas" panose="020B0609020204030204" pitchFamily="49" charset="0"/>
              </a:rPr>
              <a:t>x7&amp;1</a:t>
            </a:r>
            <a:endParaRPr lang="ja-JP" altLang="en-US" sz="1600" dirty="0"/>
          </a:p>
        </p:txBody>
      </p:sp>
    </p:spTree>
    <p:extLst>
      <p:ext uri="{BB962C8B-B14F-4D97-AF65-F5344CB8AC3E}">
        <p14:creationId xmlns:p14="http://schemas.microsoft.com/office/powerpoint/2010/main" val="29764536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in-order </a:t>
            </a:r>
            <a:r>
              <a:rPr lang="ja-JP" altLang="en-US" dirty="0"/>
              <a:t>発行</a:t>
            </a:r>
            <a:r>
              <a:rPr lang="en-US" altLang="ja-JP" dirty="0"/>
              <a:t>/out-of-order </a:t>
            </a:r>
            <a:r>
              <a:rPr lang="ja-JP" altLang="en-US" dirty="0"/>
              <a:t>完了</a:t>
            </a:r>
          </a:p>
        </p:txBody>
      </p:sp>
      <p:sp>
        <p:nvSpPr>
          <p:cNvPr id="3" name="テキスト プレースホルダー 2"/>
          <p:cNvSpPr>
            <a:spLocks noGrp="1"/>
          </p:cNvSpPr>
          <p:nvPr>
            <p:ph type="body" sz="quarter" idx="10"/>
          </p:nvPr>
        </p:nvSpPr>
        <p:spPr>
          <a:xfrm>
            <a:off x="2135956" y="1088975"/>
            <a:ext cx="8280092" cy="450005"/>
          </a:xfrm>
        </p:spPr>
        <p:txBody>
          <a:bodyPr anchor="t"/>
          <a:lstStyle/>
          <a:p>
            <a:r>
              <a:rPr kumimoji="1" lang="ja-JP" altLang="en-US" dirty="0"/>
              <a:t>完了が </a:t>
            </a:r>
            <a:r>
              <a:rPr kumimoji="1" lang="en-US" altLang="ja-JP" dirty="0"/>
              <a:t>out-of-order</a:t>
            </a:r>
            <a:r>
              <a:rPr kumimoji="1" lang="ja-JP" altLang="en-US" dirty="0"/>
              <a:t>：</a:t>
            </a:r>
            <a:endParaRPr lang="ja-JP" altLang="en-US" dirty="0"/>
          </a:p>
          <a:p>
            <a:pPr lvl="1"/>
            <a:r>
              <a:rPr kumimoji="1" lang="ja-JP" altLang="en-US" dirty="0"/>
              <a:t>スコアボードでオペランドが使用可能なら発行</a:t>
            </a:r>
            <a:endParaRPr kumimoji="1" lang="en-US" altLang="ja-JP" dirty="0"/>
          </a:p>
          <a:p>
            <a:pPr lvl="2"/>
            <a:r>
              <a:rPr lang="ja-JP" altLang="en-US" dirty="0"/>
              <a:t>結果として</a:t>
            </a:r>
            <a:r>
              <a:rPr kumimoji="1" lang="ja-JP" altLang="en-US" dirty="0"/>
              <a:t>完了は </a:t>
            </a:r>
            <a:r>
              <a:rPr kumimoji="1" lang="en-US" altLang="ja-JP" dirty="0"/>
              <a:t>out-of-order </a:t>
            </a:r>
            <a:r>
              <a:rPr kumimoji="1" lang="ja-JP" altLang="en-US" dirty="0"/>
              <a:t>に</a:t>
            </a:r>
            <a:endParaRPr kumimoji="1" lang="en-US" altLang="ja-JP" dirty="0"/>
          </a:p>
          <a:p>
            <a:pPr lvl="1"/>
            <a:r>
              <a:rPr kumimoji="1" lang="ja-JP" altLang="en-US" dirty="0"/>
              <a:t>下図では，</a:t>
            </a:r>
            <a:r>
              <a:rPr kumimoji="1" lang="en-US" altLang="ja-JP" dirty="0"/>
              <a:t>WB </a:t>
            </a:r>
            <a:r>
              <a:rPr kumimoji="1" lang="ja-JP" altLang="en-US" dirty="0"/>
              <a:t>のタイミングは，命令の順序とは無関係</a:t>
            </a:r>
            <a:endParaRPr kumimoji="1" lang="en-US" altLang="ja-JP" dirty="0"/>
          </a:p>
          <a:p>
            <a:pPr lvl="2"/>
            <a:endParaRPr kumimoji="1" lang="en-US" altLang="ja-JP" dirty="0"/>
          </a:p>
        </p:txBody>
      </p:sp>
      <p:cxnSp>
        <p:nvCxnSpPr>
          <p:cNvPr id="31" name="直線コネクタ 30"/>
          <p:cNvCxnSpPr>
            <a:endCxn id="37" idx="1"/>
          </p:cNvCxnSpPr>
          <p:nvPr/>
        </p:nvCxnSpPr>
        <p:spPr bwMode="auto">
          <a:xfrm flipV="1">
            <a:off x="4115979" y="5139017"/>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32" name="直線コネクタ 31"/>
          <p:cNvCxnSpPr/>
          <p:nvPr/>
        </p:nvCxnSpPr>
        <p:spPr bwMode="auto">
          <a:xfrm>
            <a:off x="4115978" y="4689014"/>
            <a:ext cx="720080" cy="0"/>
          </a:xfrm>
          <a:prstGeom prst="line">
            <a:avLst/>
          </a:prstGeom>
          <a:noFill/>
          <a:ln w="9525" cap="flat" cmpd="sng" algn="ctr">
            <a:solidFill>
              <a:schemeClr val="tx1"/>
            </a:solidFill>
            <a:prstDash val="dash"/>
            <a:round/>
            <a:headEnd type="none" w="med" len="med"/>
            <a:tailEnd type="none" w="med" len="med"/>
          </a:ln>
          <a:effectLst/>
        </p:spPr>
      </p:cxnSp>
      <p:sp>
        <p:nvSpPr>
          <p:cNvPr id="33" name="Rectangle 69"/>
          <p:cNvSpPr>
            <a:spLocks noChangeArrowheads="1"/>
          </p:cNvSpPr>
          <p:nvPr/>
        </p:nvSpPr>
        <p:spPr bwMode="auto">
          <a:xfrm>
            <a:off x="4655984" y="450901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35" name="Rectangle 70"/>
          <p:cNvSpPr>
            <a:spLocks noChangeArrowheads="1"/>
          </p:cNvSpPr>
          <p:nvPr/>
        </p:nvSpPr>
        <p:spPr bwMode="auto">
          <a:xfrm>
            <a:off x="5105989" y="450901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36" name="Rectangle 71"/>
          <p:cNvSpPr>
            <a:spLocks noChangeArrowheads="1"/>
          </p:cNvSpPr>
          <p:nvPr/>
        </p:nvSpPr>
        <p:spPr bwMode="auto">
          <a:xfrm>
            <a:off x="6006003" y="4509012"/>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37" name="Rectangle 69"/>
          <p:cNvSpPr>
            <a:spLocks noChangeArrowheads="1"/>
          </p:cNvSpPr>
          <p:nvPr/>
        </p:nvSpPr>
        <p:spPr bwMode="auto">
          <a:xfrm>
            <a:off x="510598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2" name="Rectangle 70"/>
          <p:cNvSpPr>
            <a:spLocks noChangeArrowheads="1"/>
          </p:cNvSpPr>
          <p:nvPr/>
        </p:nvSpPr>
        <p:spPr bwMode="auto">
          <a:xfrm>
            <a:off x="5555998"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43" name="Rectangle 71"/>
          <p:cNvSpPr>
            <a:spLocks noChangeArrowheads="1"/>
          </p:cNvSpPr>
          <p:nvPr/>
        </p:nvSpPr>
        <p:spPr bwMode="auto">
          <a:xfrm>
            <a:off x="6456008" y="495901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44" name="Rectangle 73"/>
          <p:cNvSpPr>
            <a:spLocks noChangeArrowheads="1"/>
          </p:cNvSpPr>
          <p:nvPr/>
        </p:nvSpPr>
        <p:spPr bwMode="auto">
          <a:xfrm>
            <a:off x="6906013" y="4959017"/>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45" name="Rectangle 69"/>
          <p:cNvSpPr>
            <a:spLocks noChangeArrowheads="1"/>
          </p:cNvSpPr>
          <p:nvPr/>
        </p:nvSpPr>
        <p:spPr bwMode="auto">
          <a:xfrm>
            <a:off x="5555998" y="540902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6" name="Rectangle 70"/>
          <p:cNvSpPr>
            <a:spLocks noChangeArrowheads="1"/>
          </p:cNvSpPr>
          <p:nvPr/>
        </p:nvSpPr>
        <p:spPr bwMode="auto">
          <a:xfrm>
            <a:off x="6005999" y="540902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47" name="Rectangle 71"/>
          <p:cNvSpPr>
            <a:spLocks noChangeArrowheads="1"/>
          </p:cNvSpPr>
          <p:nvPr/>
        </p:nvSpPr>
        <p:spPr bwMode="auto">
          <a:xfrm>
            <a:off x="6906013" y="5409022"/>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48" name="Rectangle 73"/>
          <p:cNvSpPr>
            <a:spLocks noChangeArrowheads="1"/>
          </p:cNvSpPr>
          <p:nvPr/>
        </p:nvSpPr>
        <p:spPr bwMode="auto">
          <a:xfrm>
            <a:off x="7356018" y="5409022"/>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cxnSp>
        <p:nvCxnSpPr>
          <p:cNvPr id="49" name="直線コネクタ 48"/>
          <p:cNvCxnSpPr>
            <a:endCxn id="45" idx="1"/>
          </p:cNvCxnSpPr>
          <p:nvPr/>
        </p:nvCxnSpPr>
        <p:spPr bwMode="auto">
          <a:xfrm flipV="1">
            <a:off x="4115978" y="5589022"/>
            <a:ext cx="1440020" cy="2"/>
          </a:xfrm>
          <a:prstGeom prst="line">
            <a:avLst/>
          </a:prstGeom>
          <a:noFill/>
          <a:ln w="9525" cap="flat" cmpd="sng" algn="ctr">
            <a:solidFill>
              <a:schemeClr val="tx1"/>
            </a:solidFill>
            <a:prstDash val="dash"/>
            <a:round/>
            <a:headEnd type="none" w="med" len="med"/>
            <a:tailEnd type="none" w="med" len="med"/>
          </a:ln>
          <a:effectLst/>
        </p:spPr>
      </p:cxnSp>
      <p:sp>
        <p:nvSpPr>
          <p:cNvPr id="50" name="Rectangle 73"/>
          <p:cNvSpPr>
            <a:spLocks noChangeArrowheads="1"/>
          </p:cNvSpPr>
          <p:nvPr/>
        </p:nvSpPr>
        <p:spPr bwMode="auto">
          <a:xfrm>
            <a:off x="7806023" y="4509012"/>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51" name="Rectangle 71"/>
          <p:cNvSpPr>
            <a:spLocks noChangeArrowheads="1"/>
          </p:cNvSpPr>
          <p:nvPr/>
        </p:nvSpPr>
        <p:spPr bwMode="auto">
          <a:xfrm>
            <a:off x="6456008" y="4509012"/>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52" name="Rectangle 71"/>
          <p:cNvSpPr>
            <a:spLocks noChangeArrowheads="1"/>
          </p:cNvSpPr>
          <p:nvPr/>
        </p:nvSpPr>
        <p:spPr bwMode="auto">
          <a:xfrm>
            <a:off x="6906013" y="4509012"/>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56" name="Rectangle 71"/>
          <p:cNvSpPr>
            <a:spLocks noChangeArrowheads="1"/>
          </p:cNvSpPr>
          <p:nvPr/>
        </p:nvSpPr>
        <p:spPr bwMode="auto">
          <a:xfrm>
            <a:off x="7356018" y="4509012"/>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57" name="Rectangle 70"/>
          <p:cNvSpPr>
            <a:spLocks noChangeArrowheads="1"/>
          </p:cNvSpPr>
          <p:nvPr/>
        </p:nvSpPr>
        <p:spPr bwMode="auto">
          <a:xfrm>
            <a:off x="5555994" y="4509012"/>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58" name="Rectangle 70"/>
          <p:cNvSpPr>
            <a:spLocks noChangeArrowheads="1"/>
          </p:cNvSpPr>
          <p:nvPr/>
        </p:nvSpPr>
        <p:spPr bwMode="auto">
          <a:xfrm>
            <a:off x="6005999" y="4959017"/>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59" name="Rectangle 70"/>
          <p:cNvSpPr>
            <a:spLocks noChangeArrowheads="1"/>
          </p:cNvSpPr>
          <p:nvPr/>
        </p:nvSpPr>
        <p:spPr bwMode="auto">
          <a:xfrm>
            <a:off x="6456004" y="5409022"/>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63" name="Rectangle 73"/>
          <p:cNvSpPr>
            <a:spLocks noChangeArrowheads="1"/>
          </p:cNvSpPr>
          <p:nvPr/>
        </p:nvSpPr>
        <p:spPr bwMode="auto">
          <a:xfrm>
            <a:off x="6906009" y="5859027"/>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72" name="正方形/長方形 71"/>
          <p:cNvSpPr/>
          <p:nvPr/>
        </p:nvSpPr>
        <p:spPr bwMode="auto">
          <a:xfrm>
            <a:off x="3395970" y="450901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I1: </a:t>
            </a:r>
            <a:r>
              <a:rPr lang="en-US" altLang="ja-JP" sz="1600" dirty="0" err="1">
                <a:solidFill>
                  <a:schemeClr val="tx1">
                    <a:lumMod val="75000"/>
                    <a:lumOff val="25000"/>
                  </a:schemeClr>
                </a:solidFill>
                <a:latin typeface="Consolas" panose="020B0609020204030204" pitchFamily="49" charset="0"/>
              </a:rPr>
              <a:t>mul</a:t>
            </a:r>
            <a:r>
              <a:rPr lang="en-US" altLang="ja-JP" sz="1600" dirty="0">
                <a:solidFill>
                  <a:schemeClr val="tx1">
                    <a:lumMod val="75000"/>
                    <a:lumOff val="25000"/>
                  </a:schemeClr>
                </a:solidFill>
                <a:latin typeface="Consolas" panose="020B0609020204030204" pitchFamily="49" charset="0"/>
              </a:rPr>
              <a:t> </a:t>
            </a:r>
            <a:r>
              <a:rPr lang="en-US" altLang="ja-JP" sz="1600" dirty="0">
                <a:solidFill>
                  <a:schemeClr val="accent4"/>
                </a:solidFill>
                <a:latin typeface="Consolas" panose="020B0609020204030204" pitchFamily="49" charset="0"/>
              </a:rPr>
              <a:t>x1</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accent3">
                    <a:lumMod val="75000"/>
                  </a:schemeClr>
                </a:solidFill>
                <a:latin typeface="Consolas" panose="020B0609020204030204" pitchFamily="49" charset="0"/>
              </a:rPr>
              <a:t>x2</a:t>
            </a:r>
            <a:r>
              <a:rPr lang="en-US" altLang="ja-JP" sz="1600" dirty="0">
                <a:solidFill>
                  <a:schemeClr val="tx1">
                    <a:lumMod val="75000"/>
                    <a:lumOff val="25000"/>
                  </a:schemeClr>
                </a:solidFill>
                <a:latin typeface="Consolas" panose="020B0609020204030204" pitchFamily="49" charset="0"/>
              </a:rPr>
              <a:t>*4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73" name="正方形/長方形 72"/>
          <p:cNvSpPr/>
          <p:nvPr/>
        </p:nvSpPr>
        <p:spPr bwMode="auto">
          <a:xfrm>
            <a:off x="3395970" y="495901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I2: add </a:t>
            </a:r>
            <a:r>
              <a:rPr lang="en-US" altLang="ja-JP" sz="1600" dirty="0">
                <a:solidFill>
                  <a:schemeClr val="accent3">
                    <a:lumMod val="75000"/>
                  </a:schemeClr>
                </a:solidFill>
                <a:latin typeface="Consolas" panose="020B0609020204030204" pitchFamily="49" charset="0"/>
              </a:rPr>
              <a:t>x2</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x4+1</a:t>
            </a:r>
            <a:endParaRPr lang="ja-JP" altLang="en-US" sz="1600" dirty="0">
              <a:solidFill>
                <a:schemeClr val="tx1">
                  <a:lumMod val="75000"/>
                  <a:lumOff val="25000"/>
                </a:schemeClr>
              </a:solidFill>
            </a:endParaRPr>
          </a:p>
        </p:txBody>
      </p:sp>
      <p:sp>
        <p:nvSpPr>
          <p:cNvPr id="74" name="正方形/長方形 73"/>
          <p:cNvSpPr/>
          <p:nvPr/>
        </p:nvSpPr>
        <p:spPr bwMode="auto">
          <a:xfrm>
            <a:off x="3395970" y="540902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I3: sub x5</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x6-1</a:t>
            </a:r>
            <a:endParaRPr lang="ja-JP" altLang="en-US" sz="1600" dirty="0">
              <a:solidFill>
                <a:schemeClr val="tx1">
                  <a:lumMod val="75000"/>
                  <a:lumOff val="25000"/>
                </a:schemeClr>
              </a:solidFill>
            </a:endParaRPr>
          </a:p>
        </p:txBody>
      </p:sp>
      <p:sp>
        <p:nvSpPr>
          <p:cNvPr id="75" name="Rectangle 69"/>
          <p:cNvSpPr>
            <a:spLocks noChangeArrowheads="1"/>
          </p:cNvSpPr>
          <p:nvPr/>
        </p:nvSpPr>
        <p:spPr bwMode="auto">
          <a:xfrm>
            <a:off x="6005999" y="585902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6" name="Rectangle 70"/>
          <p:cNvSpPr>
            <a:spLocks noChangeArrowheads="1"/>
          </p:cNvSpPr>
          <p:nvPr/>
        </p:nvSpPr>
        <p:spPr bwMode="auto">
          <a:xfrm>
            <a:off x="6456000" y="585902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77" name="Rectangle 71"/>
          <p:cNvSpPr>
            <a:spLocks noChangeArrowheads="1"/>
          </p:cNvSpPr>
          <p:nvPr/>
        </p:nvSpPr>
        <p:spPr bwMode="auto">
          <a:xfrm>
            <a:off x="7806019" y="585902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78" name="Rectangle 73"/>
          <p:cNvSpPr>
            <a:spLocks noChangeArrowheads="1"/>
          </p:cNvSpPr>
          <p:nvPr/>
        </p:nvSpPr>
        <p:spPr bwMode="auto">
          <a:xfrm>
            <a:off x="8256024" y="5859027"/>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cxnSp>
        <p:nvCxnSpPr>
          <p:cNvPr id="79" name="直線コネクタ 78"/>
          <p:cNvCxnSpPr>
            <a:stCxn id="81" idx="3"/>
            <a:endCxn id="75" idx="1"/>
          </p:cNvCxnSpPr>
          <p:nvPr/>
        </p:nvCxnSpPr>
        <p:spPr bwMode="auto">
          <a:xfrm flipV="1">
            <a:off x="4115979" y="6039027"/>
            <a:ext cx="1890021" cy="2"/>
          </a:xfrm>
          <a:prstGeom prst="line">
            <a:avLst/>
          </a:prstGeom>
          <a:noFill/>
          <a:ln w="9525" cap="flat" cmpd="sng" algn="ctr">
            <a:solidFill>
              <a:schemeClr val="tx1"/>
            </a:solidFill>
            <a:prstDash val="dash"/>
            <a:round/>
            <a:headEnd type="none" w="med" len="med"/>
            <a:tailEnd type="none" w="med" len="med"/>
          </a:ln>
          <a:effectLst/>
        </p:spPr>
      </p:cxnSp>
      <p:sp>
        <p:nvSpPr>
          <p:cNvPr id="80" name="Rectangle 70"/>
          <p:cNvSpPr>
            <a:spLocks noChangeArrowheads="1"/>
          </p:cNvSpPr>
          <p:nvPr/>
        </p:nvSpPr>
        <p:spPr bwMode="auto">
          <a:xfrm>
            <a:off x="7356010" y="5859027"/>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81" name="正方形/長方形 80"/>
          <p:cNvSpPr/>
          <p:nvPr/>
        </p:nvSpPr>
        <p:spPr bwMode="auto">
          <a:xfrm>
            <a:off x="3395970" y="585902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I3: and </a:t>
            </a:r>
            <a:r>
              <a:rPr lang="en-US" altLang="ja-JP" sz="1600" dirty="0">
                <a:solidFill>
                  <a:schemeClr val="accent4"/>
                </a:solidFill>
                <a:latin typeface="Consolas" panose="020B0609020204030204" pitchFamily="49" charset="0"/>
              </a:rPr>
              <a:t>x1</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x3&amp;1</a:t>
            </a:r>
            <a:endParaRPr lang="ja-JP" altLang="en-US" sz="1600" dirty="0">
              <a:solidFill>
                <a:schemeClr val="tx1">
                  <a:lumMod val="75000"/>
                  <a:lumOff val="25000"/>
                </a:schemeClr>
              </a:solidFill>
            </a:endParaRPr>
          </a:p>
        </p:txBody>
      </p:sp>
    </p:spTree>
    <p:extLst>
      <p:ext uri="{BB962C8B-B14F-4D97-AF65-F5344CB8AC3E}">
        <p14:creationId xmlns:p14="http://schemas.microsoft.com/office/powerpoint/2010/main" val="18824514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in-order </a:t>
            </a:r>
            <a:r>
              <a:rPr lang="ja-JP" altLang="en-US" dirty="0"/>
              <a:t>発行</a:t>
            </a:r>
            <a:r>
              <a:rPr lang="en-US" altLang="ja-JP" dirty="0"/>
              <a:t>/out-of-order </a:t>
            </a:r>
            <a:r>
              <a:rPr lang="ja-JP" altLang="en-US" dirty="0"/>
              <a:t>完了</a:t>
            </a:r>
            <a:endParaRPr kumimoji="1" lang="ja-JP" altLang="en-US" dirty="0"/>
          </a:p>
        </p:txBody>
      </p:sp>
      <p:sp>
        <p:nvSpPr>
          <p:cNvPr id="3" name="テキスト プレースホルダー 2"/>
          <p:cNvSpPr>
            <a:spLocks noGrp="1"/>
          </p:cNvSpPr>
          <p:nvPr>
            <p:ph type="body" sz="quarter" idx="10"/>
          </p:nvPr>
        </p:nvSpPr>
        <p:spPr/>
        <p:txBody>
          <a:bodyPr/>
          <a:lstStyle/>
          <a:p>
            <a:r>
              <a:rPr lang="ja-JP" altLang="en-US" dirty="0"/>
              <a:t>一般に「</a:t>
            </a:r>
            <a:r>
              <a:rPr lang="en-US" altLang="ja-JP" dirty="0"/>
              <a:t>in-order </a:t>
            </a:r>
            <a:r>
              <a:rPr lang="ja-JP" altLang="en-US" dirty="0"/>
              <a:t>スーパスカラ </a:t>
            </a:r>
            <a:r>
              <a:rPr lang="en-US" altLang="ja-JP" dirty="0"/>
              <a:t>CPU</a:t>
            </a:r>
            <a:r>
              <a:rPr lang="ja-JP" altLang="en-US" dirty="0"/>
              <a:t>」と言った場合はこれのこと</a:t>
            </a:r>
            <a:endParaRPr lang="en-US" altLang="ja-JP" dirty="0"/>
          </a:p>
          <a:p>
            <a:pPr lvl="1"/>
            <a:r>
              <a:rPr lang="ja-JP" altLang="en-US" dirty="0"/>
              <a:t>一部でこれを「</a:t>
            </a:r>
            <a:r>
              <a:rPr lang="en-US" altLang="ja-JP" dirty="0"/>
              <a:t>out-of-order </a:t>
            </a:r>
            <a:r>
              <a:rPr lang="ja-JP" altLang="en-US" dirty="0"/>
              <a:t>実行」と呼んでいる場合があるが</a:t>
            </a:r>
            <a:br>
              <a:rPr lang="en-US" altLang="ja-JP" dirty="0"/>
            </a:br>
            <a:r>
              <a:rPr lang="ja-JP" altLang="en-US" dirty="0"/>
              <a:t>普通は違う</a:t>
            </a:r>
            <a:endParaRPr lang="en-US" altLang="ja-JP" dirty="0"/>
          </a:p>
          <a:p>
            <a:pPr lvl="1"/>
            <a:r>
              <a:rPr lang="en-US" altLang="ja-JP" dirty="0"/>
              <a:t>in-order </a:t>
            </a:r>
            <a:r>
              <a:rPr lang="ja-JP" altLang="en-US" dirty="0"/>
              <a:t>発行</a:t>
            </a:r>
            <a:r>
              <a:rPr lang="en-US" altLang="ja-JP" dirty="0"/>
              <a:t>/out-of-order </a:t>
            </a:r>
            <a:r>
              <a:rPr lang="ja-JP" altLang="en-US" dirty="0"/>
              <a:t>完了 が正確</a:t>
            </a:r>
            <a:endParaRPr lang="en-US" altLang="ja-JP" dirty="0"/>
          </a:p>
          <a:p>
            <a:r>
              <a:rPr lang="ja-JP" altLang="en-US" dirty="0"/>
              <a:t>比較的単純な構成で，</a:t>
            </a:r>
            <a:r>
              <a:rPr lang="ja-JP" altLang="en-US" dirty="0" err="1"/>
              <a:t>そこそこ</a:t>
            </a:r>
            <a:r>
              <a:rPr lang="ja-JP" altLang="en-US" dirty="0"/>
              <a:t>性能がでる</a:t>
            </a:r>
          </a:p>
          <a:p>
            <a:pPr lvl="1"/>
            <a:r>
              <a:rPr kumimoji="1" lang="ja-JP" altLang="en-US" dirty="0"/>
              <a:t>依存がなければ命令を追い越して実行できる</a:t>
            </a:r>
            <a:endParaRPr kumimoji="1" lang="en-US" altLang="ja-JP" dirty="0"/>
          </a:p>
          <a:p>
            <a:pPr lvl="2"/>
            <a:r>
              <a:rPr kumimoji="1" lang="ja-JP" altLang="en-US" dirty="0"/>
              <a:t>コンパイラが理想的にコードを吐けば，高い性能が出せる</a:t>
            </a:r>
            <a:endParaRPr kumimoji="1" lang="en-US" altLang="ja-JP" dirty="0"/>
          </a:p>
          <a:p>
            <a:pPr lvl="1"/>
            <a:r>
              <a:rPr kumimoji="1" lang="ja-JP" altLang="en-US" dirty="0"/>
              <a:t>スコアボードによる制御は比較的単純</a:t>
            </a:r>
            <a:endParaRPr kumimoji="1" lang="en-US" altLang="ja-JP" dirty="0"/>
          </a:p>
          <a:p>
            <a:r>
              <a:rPr lang="en-US" altLang="ja-JP" dirty="0"/>
              <a:t>ARM Cortex 5 </a:t>
            </a:r>
            <a:r>
              <a:rPr lang="ja-JP" altLang="en-US" dirty="0"/>
              <a:t>系統や </a:t>
            </a:r>
            <a:r>
              <a:rPr lang="en-US" altLang="ja-JP" dirty="0"/>
              <a:t>NVIDIA GPU </a:t>
            </a:r>
            <a:r>
              <a:rPr lang="ja-JP" altLang="en-US" dirty="0"/>
              <a:t>などはこの方式</a:t>
            </a:r>
            <a:endParaRPr kumimoji="1" lang="en-US" altLang="ja-JP" dirty="0"/>
          </a:p>
        </p:txBody>
      </p:sp>
    </p:spTree>
    <p:extLst>
      <p:ext uri="{BB962C8B-B14F-4D97-AF65-F5344CB8AC3E}">
        <p14:creationId xmlns:p14="http://schemas.microsoft.com/office/powerpoint/2010/main" val="37294684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動的スケジューリングを行うプロセッサの分類</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en-US" altLang="ja-JP" dirty="0"/>
              <a:t>in-order </a:t>
            </a:r>
            <a:r>
              <a:rPr kumimoji="1" lang="ja-JP" altLang="en-US" dirty="0"/>
              <a:t>発行</a:t>
            </a:r>
            <a:r>
              <a:rPr kumimoji="1" lang="en-US" altLang="ja-JP" dirty="0"/>
              <a:t>/</a:t>
            </a:r>
            <a:r>
              <a:rPr lang="en-US" altLang="ja-JP" dirty="0"/>
              <a:t>in-order </a:t>
            </a:r>
            <a:r>
              <a:rPr lang="ja-JP" altLang="en-US" dirty="0"/>
              <a:t>完了</a:t>
            </a:r>
            <a:endParaRPr lang="en-US" altLang="ja-JP" dirty="0"/>
          </a:p>
          <a:p>
            <a:pPr marL="457200" indent="-457200">
              <a:buFont typeface="+mj-lt"/>
              <a:buAutoNum type="arabicPeriod"/>
            </a:pPr>
            <a:r>
              <a:rPr lang="en-US" altLang="ja-JP" dirty="0"/>
              <a:t>in-order </a:t>
            </a:r>
            <a:r>
              <a:rPr lang="ja-JP" altLang="en-US" dirty="0"/>
              <a:t>発行</a:t>
            </a:r>
            <a:r>
              <a:rPr lang="en-US" altLang="ja-JP" dirty="0"/>
              <a:t>/out-of-order </a:t>
            </a:r>
            <a:r>
              <a:rPr lang="ja-JP" altLang="en-US" dirty="0"/>
              <a:t>完了</a:t>
            </a:r>
            <a:endParaRPr lang="en-US" altLang="ja-JP" dirty="0"/>
          </a:p>
          <a:p>
            <a:pPr marL="457200" indent="-457200">
              <a:buFont typeface="+mj-lt"/>
              <a:buAutoNum type="arabicPeriod"/>
            </a:pPr>
            <a:r>
              <a:rPr lang="en-US" altLang="ja-JP" dirty="0">
                <a:solidFill>
                  <a:schemeClr val="accent5"/>
                </a:solidFill>
              </a:rPr>
              <a:t>out-of-order </a:t>
            </a:r>
            <a:r>
              <a:rPr lang="ja-JP" altLang="en-US" dirty="0">
                <a:solidFill>
                  <a:schemeClr val="accent5"/>
                </a:solidFill>
              </a:rPr>
              <a:t>発行</a:t>
            </a:r>
            <a:r>
              <a:rPr lang="en-US" altLang="ja-JP" dirty="0">
                <a:solidFill>
                  <a:schemeClr val="accent5"/>
                </a:solidFill>
              </a:rPr>
              <a:t>/out-of-order </a:t>
            </a:r>
            <a:r>
              <a:rPr lang="ja-JP" altLang="en-US" dirty="0">
                <a:solidFill>
                  <a:schemeClr val="accent5"/>
                </a:solidFill>
              </a:rPr>
              <a:t>完了</a:t>
            </a:r>
            <a:endParaRPr lang="en-US" altLang="ja-JP" dirty="0">
              <a:solidFill>
                <a:schemeClr val="accent5"/>
              </a:solidFill>
            </a:endParaRPr>
          </a:p>
        </p:txBody>
      </p:sp>
    </p:spTree>
    <p:extLst>
      <p:ext uri="{BB962C8B-B14F-4D97-AF65-F5344CB8AC3E}">
        <p14:creationId xmlns:p14="http://schemas.microsoft.com/office/powerpoint/2010/main" val="37546777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out-of-order </a:t>
            </a:r>
            <a:r>
              <a:rPr lang="ja-JP" altLang="en-US" dirty="0"/>
              <a:t>発行</a:t>
            </a:r>
            <a:r>
              <a:rPr lang="en-US" altLang="ja-JP" dirty="0"/>
              <a:t>/out-of-order </a:t>
            </a:r>
            <a:r>
              <a:rPr lang="ja-JP" altLang="en-US" dirty="0"/>
              <a:t>完了</a:t>
            </a:r>
            <a:endParaRPr kumimoji="1" lang="ja-JP" altLang="en-US" dirty="0"/>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レジスタ・リネーム</a:t>
            </a:r>
            <a:endParaRPr kumimoji="1" lang="en-US" altLang="ja-JP" dirty="0"/>
          </a:p>
          <a:p>
            <a:pPr marL="457200" indent="-457200">
              <a:buFont typeface="+mj-lt"/>
              <a:buAutoNum type="arabicPeriod"/>
            </a:pPr>
            <a:r>
              <a:rPr lang="en-US" altLang="ja-JP" dirty="0"/>
              <a:t>out-of-order </a:t>
            </a:r>
            <a:r>
              <a:rPr lang="ja-JP" altLang="en-US" dirty="0"/>
              <a:t>発行機構</a:t>
            </a:r>
            <a:endParaRPr kumimoji="1" lang="ja-JP" altLang="en-US" dirty="0"/>
          </a:p>
        </p:txBody>
      </p:sp>
    </p:spTree>
    <p:extLst>
      <p:ext uri="{BB962C8B-B14F-4D97-AF65-F5344CB8AC3E}">
        <p14:creationId xmlns:p14="http://schemas.microsoft.com/office/powerpoint/2010/main" val="2519775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モチベーション</a:t>
            </a:r>
          </a:p>
        </p:txBody>
      </p:sp>
      <p:sp>
        <p:nvSpPr>
          <p:cNvPr id="3" name="テキスト プレースホルダー 2"/>
          <p:cNvSpPr>
            <a:spLocks noGrp="1"/>
          </p:cNvSpPr>
          <p:nvPr>
            <p:ph type="body" sz="quarter" idx="10"/>
          </p:nvPr>
        </p:nvSpPr>
        <p:spPr/>
        <p:txBody>
          <a:bodyPr/>
          <a:lstStyle/>
          <a:p>
            <a:r>
              <a:rPr lang="en-US" altLang="ja-JP" dirty="0"/>
              <a:t>in-order </a:t>
            </a:r>
            <a:r>
              <a:rPr lang="ja-JP" altLang="en-US" dirty="0"/>
              <a:t>発行</a:t>
            </a:r>
            <a:r>
              <a:rPr lang="en-US" altLang="ja-JP" dirty="0"/>
              <a:t>/ out-of-order </a:t>
            </a:r>
            <a:r>
              <a:rPr lang="ja-JP" altLang="en-US" dirty="0"/>
              <a:t>完了による，下記をなんとかしたい</a:t>
            </a:r>
            <a:endParaRPr lang="en-US" altLang="ja-JP" dirty="0"/>
          </a:p>
          <a:p>
            <a:pPr marL="817200" lvl="1" indent="-457200">
              <a:buFont typeface="+mj-lt"/>
              <a:buAutoNum type="arabicPeriod"/>
            </a:pPr>
            <a:r>
              <a:rPr lang="ja-JP" altLang="en-US" dirty="0"/>
              <a:t>出力依存（</a:t>
            </a:r>
            <a:r>
              <a:rPr lang="en-US" altLang="ja-JP" dirty="0"/>
              <a:t>WAW</a:t>
            </a:r>
            <a:r>
              <a:rPr lang="ja-JP" altLang="en-US" dirty="0"/>
              <a:t>）があると止まってしまう</a:t>
            </a:r>
            <a:endParaRPr lang="en-US" altLang="ja-JP" dirty="0"/>
          </a:p>
          <a:p>
            <a:pPr marL="817200" lvl="1" indent="-457200">
              <a:buFont typeface="+mj-lt"/>
              <a:buAutoNum type="arabicPeriod"/>
            </a:pPr>
            <a:r>
              <a:rPr lang="ja-JP" altLang="en-US" dirty="0"/>
              <a:t>なんらかの依存がある命令があるとそこで</a:t>
            </a:r>
            <a:br>
              <a:rPr lang="en-US" altLang="ja-JP" dirty="0"/>
            </a:br>
            <a:r>
              <a:rPr lang="ja-JP" altLang="en-US" dirty="0"/>
              <a:t>パイプライン全体が止まってしまう</a:t>
            </a:r>
            <a:endParaRPr lang="en-US" altLang="ja-JP" dirty="0"/>
          </a:p>
        </p:txBody>
      </p:sp>
    </p:spTree>
    <p:extLst>
      <p:ext uri="{BB962C8B-B14F-4D97-AF65-F5344CB8AC3E}">
        <p14:creationId xmlns:p14="http://schemas.microsoft.com/office/powerpoint/2010/main" val="1936298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1. </a:t>
            </a:r>
            <a:r>
              <a:rPr lang="ja-JP" altLang="en-US" dirty="0"/>
              <a:t>出力依存（</a:t>
            </a:r>
            <a:r>
              <a:rPr lang="en-US" altLang="ja-JP" dirty="0"/>
              <a:t>WAW</a:t>
            </a:r>
            <a:r>
              <a:rPr lang="ja-JP" altLang="en-US" dirty="0"/>
              <a:t>）があると止まってしまう</a:t>
            </a:r>
            <a:endParaRPr kumimoji="1" lang="ja-JP" altLang="en-US" dirty="0"/>
          </a:p>
        </p:txBody>
      </p:sp>
      <p:sp>
        <p:nvSpPr>
          <p:cNvPr id="63" name="テキスト プレースホルダー 62"/>
          <p:cNvSpPr>
            <a:spLocks noGrp="1"/>
          </p:cNvSpPr>
          <p:nvPr>
            <p:ph type="body" sz="quarter" idx="10"/>
          </p:nvPr>
        </p:nvSpPr>
        <p:spPr>
          <a:xfrm>
            <a:off x="2135956" y="1088975"/>
            <a:ext cx="8280092" cy="1800020"/>
          </a:xfrm>
        </p:spPr>
        <p:txBody>
          <a:bodyPr/>
          <a:lstStyle/>
          <a:p>
            <a:r>
              <a:rPr kumimoji="1" lang="ja-JP" altLang="en-US" dirty="0"/>
              <a:t>出力依存 </a:t>
            </a:r>
            <a:r>
              <a:rPr kumimoji="1" lang="en-US" altLang="ja-JP" dirty="0"/>
              <a:t>= </a:t>
            </a:r>
            <a:r>
              <a:rPr kumimoji="1" lang="ja-JP" altLang="en-US" dirty="0"/>
              <a:t>同じレジスタに書き込むことで発生する依存</a:t>
            </a:r>
            <a:endParaRPr kumimoji="1" lang="en-US" altLang="ja-JP" dirty="0"/>
          </a:p>
          <a:p>
            <a:pPr lvl="1"/>
            <a:r>
              <a:rPr lang="en-US" altLang="ja-JP" dirty="0">
                <a:latin typeface="Consolas" panose="020B0609020204030204" pitchFamily="49" charset="0"/>
              </a:rPr>
              <a:t>I2 </a:t>
            </a:r>
            <a:r>
              <a:rPr lang="ja-JP" altLang="en-US" dirty="0">
                <a:latin typeface="Consolas" panose="020B0609020204030204" pitchFamily="49" charset="0"/>
              </a:rPr>
              <a:t>の演算自体は </a:t>
            </a:r>
            <a:r>
              <a:rPr lang="en-US" altLang="ja-JP" dirty="0">
                <a:latin typeface="Consolas" panose="020B0609020204030204" pitchFamily="49" charset="0"/>
              </a:rPr>
              <a:t>I1 </a:t>
            </a:r>
            <a:r>
              <a:rPr lang="ja-JP" altLang="en-US" dirty="0">
                <a:latin typeface="Consolas" panose="020B0609020204030204" pitchFamily="49" charset="0"/>
              </a:rPr>
              <a:t>と関係なくできる</a:t>
            </a:r>
            <a:endParaRPr lang="en-US" altLang="ja-JP" dirty="0">
              <a:latin typeface="Consolas" panose="020B0609020204030204" pitchFamily="49" charset="0"/>
            </a:endParaRPr>
          </a:p>
          <a:p>
            <a:pPr lvl="1"/>
            <a:r>
              <a:rPr kumimoji="1" lang="ja-JP" altLang="en-US" dirty="0"/>
              <a:t>同じ場所に書き込むので，順序を揃えなければいけない</a:t>
            </a:r>
            <a:endParaRPr kumimoji="1" lang="en-US" altLang="ja-JP" dirty="0"/>
          </a:p>
          <a:p>
            <a:pPr lvl="2"/>
            <a:r>
              <a:rPr kumimoji="1" lang="ja-JP" altLang="en-US" dirty="0"/>
              <a:t>これをなんとかしたい</a:t>
            </a:r>
            <a:endParaRPr kumimoji="1" lang="en-US" altLang="ja-JP" dirty="0"/>
          </a:p>
        </p:txBody>
      </p:sp>
      <p:cxnSp>
        <p:nvCxnSpPr>
          <p:cNvPr id="4" name="直線コネクタ 3"/>
          <p:cNvCxnSpPr>
            <a:endCxn id="9" idx="1"/>
          </p:cNvCxnSpPr>
          <p:nvPr/>
        </p:nvCxnSpPr>
        <p:spPr bwMode="auto">
          <a:xfrm flipV="1">
            <a:off x="3935977" y="4059005"/>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3935976" y="3609002"/>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4475982" y="342900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 name="Rectangle 70"/>
          <p:cNvSpPr>
            <a:spLocks noChangeArrowheads="1"/>
          </p:cNvSpPr>
          <p:nvPr/>
        </p:nvSpPr>
        <p:spPr bwMode="auto">
          <a:xfrm>
            <a:off x="4925987" y="342900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8" name="Rectangle 71"/>
          <p:cNvSpPr>
            <a:spLocks noChangeArrowheads="1"/>
          </p:cNvSpPr>
          <p:nvPr/>
        </p:nvSpPr>
        <p:spPr bwMode="auto">
          <a:xfrm>
            <a:off x="5826001" y="3429000"/>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9" name="Rectangle 69"/>
          <p:cNvSpPr>
            <a:spLocks noChangeArrowheads="1"/>
          </p:cNvSpPr>
          <p:nvPr/>
        </p:nvSpPr>
        <p:spPr bwMode="auto">
          <a:xfrm>
            <a:off x="4925987" y="387900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0" name="Rectangle 70"/>
          <p:cNvSpPr>
            <a:spLocks noChangeArrowheads="1"/>
          </p:cNvSpPr>
          <p:nvPr/>
        </p:nvSpPr>
        <p:spPr bwMode="auto">
          <a:xfrm>
            <a:off x="5375996" y="387900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11" name="Rectangle 71"/>
          <p:cNvSpPr>
            <a:spLocks noChangeArrowheads="1"/>
          </p:cNvSpPr>
          <p:nvPr/>
        </p:nvSpPr>
        <p:spPr bwMode="auto">
          <a:xfrm>
            <a:off x="7626021" y="3879005"/>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2" name="Rectangle 73"/>
          <p:cNvSpPr>
            <a:spLocks noChangeArrowheads="1"/>
          </p:cNvSpPr>
          <p:nvPr/>
        </p:nvSpPr>
        <p:spPr bwMode="auto">
          <a:xfrm>
            <a:off x="8076026" y="3879005"/>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18" name="Rectangle 73"/>
          <p:cNvSpPr>
            <a:spLocks noChangeArrowheads="1"/>
          </p:cNvSpPr>
          <p:nvPr/>
        </p:nvSpPr>
        <p:spPr bwMode="auto">
          <a:xfrm>
            <a:off x="7626021" y="3429000"/>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19" name="Rectangle 71"/>
          <p:cNvSpPr>
            <a:spLocks noChangeArrowheads="1"/>
          </p:cNvSpPr>
          <p:nvPr/>
        </p:nvSpPr>
        <p:spPr bwMode="auto">
          <a:xfrm>
            <a:off x="6276006" y="3429000"/>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0" name="Rectangle 71"/>
          <p:cNvSpPr>
            <a:spLocks noChangeArrowheads="1"/>
          </p:cNvSpPr>
          <p:nvPr/>
        </p:nvSpPr>
        <p:spPr bwMode="auto">
          <a:xfrm>
            <a:off x="6726011" y="3429000"/>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1" name="Rectangle 71"/>
          <p:cNvSpPr>
            <a:spLocks noChangeArrowheads="1"/>
          </p:cNvSpPr>
          <p:nvPr/>
        </p:nvSpPr>
        <p:spPr bwMode="auto">
          <a:xfrm>
            <a:off x="7176016" y="3429000"/>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2" name="Rectangle 70"/>
          <p:cNvSpPr>
            <a:spLocks noChangeArrowheads="1"/>
          </p:cNvSpPr>
          <p:nvPr/>
        </p:nvSpPr>
        <p:spPr bwMode="auto">
          <a:xfrm>
            <a:off x="5375992" y="3429000"/>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23" name="Rectangle 70"/>
          <p:cNvSpPr>
            <a:spLocks noChangeArrowheads="1"/>
          </p:cNvSpPr>
          <p:nvPr/>
        </p:nvSpPr>
        <p:spPr bwMode="auto">
          <a:xfrm>
            <a:off x="7176012" y="3879005"/>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25" name="Rectangle 73"/>
          <p:cNvSpPr>
            <a:spLocks noChangeArrowheads="1"/>
          </p:cNvSpPr>
          <p:nvPr/>
        </p:nvSpPr>
        <p:spPr bwMode="auto">
          <a:xfrm>
            <a:off x="5826001" y="3879005"/>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6" name="Rectangle 73"/>
          <p:cNvSpPr>
            <a:spLocks noChangeArrowheads="1"/>
          </p:cNvSpPr>
          <p:nvPr/>
        </p:nvSpPr>
        <p:spPr bwMode="auto">
          <a:xfrm>
            <a:off x="6276006" y="3879005"/>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7" name="Rectangle 73"/>
          <p:cNvSpPr>
            <a:spLocks noChangeArrowheads="1"/>
          </p:cNvSpPr>
          <p:nvPr/>
        </p:nvSpPr>
        <p:spPr bwMode="auto">
          <a:xfrm>
            <a:off x="6726011" y="3879005"/>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1" name="正方形/長方形 30"/>
          <p:cNvSpPr/>
          <p:nvPr/>
        </p:nvSpPr>
        <p:spPr bwMode="auto">
          <a:xfrm>
            <a:off x="3215968" y="3429000"/>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I1: </a:t>
            </a:r>
            <a:r>
              <a:rPr lang="en-US" altLang="ja-JP" sz="1600" dirty="0" err="1">
                <a:latin typeface="Consolas" panose="020B0609020204030204" pitchFamily="49" charset="0"/>
              </a:rPr>
              <a:t>mul</a:t>
            </a:r>
            <a:r>
              <a:rPr lang="en-US" altLang="ja-JP" sz="1600" dirty="0">
                <a:latin typeface="Consolas" panose="020B0609020204030204" pitchFamily="49" charset="0"/>
              </a:rPr>
              <a:t> </a:t>
            </a:r>
            <a:r>
              <a:rPr lang="en-US" altLang="ja-JP" sz="1600" dirty="0">
                <a:solidFill>
                  <a:schemeClr val="accent4"/>
                </a:solidFill>
                <a:latin typeface="Consolas" panose="020B0609020204030204" pitchFamily="49" charset="0"/>
              </a:rPr>
              <a:t>x1</a:t>
            </a:r>
            <a:r>
              <a:rPr lang="ja-JP" altLang="en-US" sz="1600" dirty="0">
                <a:latin typeface="Consolas" panose="020B0609020204030204" pitchFamily="49" charset="0"/>
              </a:rPr>
              <a:t>←</a:t>
            </a:r>
            <a:r>
              <a:rPr lang="en-US" altLang="ja-JP" sz="1600" dirty="0">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32" name="正方形/長方形 31"/>
          <p:cNvSpPr/>
          <p:nvPr/>
        </p:nvSpPr>
        <p:spPr bwMode="auto">
          <a:xfrm>
            <a:off x="3215968" y="3879005"/>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I2: add </a:t>
            </a:r>
            <a:r>
              <a:rPr lang="en-US" altLang="ja-JP" sz="1600" dirty="0">
                <a:solidFill>
                  <a:schemeClr val="accent4"/>
                </a:solidFill>
                <a:latin typeface="Consolas" panose="020B0609020204030204" pitchFamily="49" charset="0"/>
              </a:rPr>
              <a:t>x1</a:t>
            </a:r>
            <a:r>
              <a:rPr lang="ja-JP" altLang="en-US" sz="1600" dirty="0">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x3</a:t>
            </a:r>
            <a:r>
              <a:rPr lang="en-US" altLang="ja-JP" sz="1600" dirty="0">
                <a:latin typeface="Consolas" panose="020B0609020204030204" pitchFamily="49" charset="0"/>
              </a:rPr>
              <a:t>+1</a:t>
            </a:r>
            <a:endParaRPr lang="ja-JP" altLang="en-US" sz="1600" dirty="0"/>
          </a:p>
        </p:txBody>
      </p:sp>
      <p:sp>
        <p:nvSpPr>
          <p:cNvPr id="41" name="下矢印 40"/>
          <p:cNvSpPr/>
          <p:nvPr/>
        </p:nvSpPr>
        <p:spPr bwMode="auto">
          <a:xfrm>
            <a:off x="5915999" y="4509013"/>
            <a:ext cx="450005" cy="450005"/>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42" name="直線コネクタ 41"/>
          <p:cNvCxnSpPr>
            <a:endCxn id="47" idx="1"/>
          </p:cNvCxnSpPr>
          <p:nvPr/>
        </p:nvCxnSpPr>
        <p:spPr bwMode="auto">
          <a:xfrm flipV="1">
            <a:off x="3935973" y="5859025"/>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43" name="直線コネクタ 42"/>
          <p:cNvCxnSpPr/>
          <p:nvPr/>
        </p:nvCxnSpPr>
        <p:spPr bwMode="auto">
          <a:xfrm>
            <a:off x="3935972" y="5409022"/>
            <a:ext cx="720080" cy="0"/>
          </a:xfrm>
          <a:prstGeom prst="line">
            <a:avLst/>
          </a:prstGeom>
          <a:noFill/>
          <a:ln w="9525" cap="flat" cmpd="sng" algn="ctr">
            <a:solidFill>
              <a:schemeClr val="tx1"/>
            </a:solidFill>
            <a:prstDash val="dash"/>
            <a:round/>
            <a:headEnd type="none" w="med" len="med"/>
            <a:tailEnd type="none" w="med" len="med"/>
          </a:ln>
          <a:effectLst/>
        </p:spPr>
      </p:cxnSp>
      <p:sp>
        <p:nvSpPr>
          <p:cNvPr id="44" name="Rectangle 69"/>
          <p:cNvSpPr>
            <a:spLocks noChangeArrowheads="1"/>
          </p:cNvSpPr>
          <p:nvPr/>
        </p:nvSpPr>
        <p:spPr bwMode="auto">
          <a:xfrm>
            <a:off x="4475978" y="522902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5" name="Rectangle 70"/>
          <p:cNvSpPr>
            <a:spLocks noChangeArrowheads="1"/>
          </p:cNvSpPr>
          <p:nvPr/>
        </p:nvSpPr>
        <p:spPr bwMode="auto">
          <a:xfrm>
            <a:off x="4925983" y="522902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46" name="Rectangle 71"/>
          <p:cNvSpPr>
            <a:spLocks noChangeArrowheads="1"/>
          </p:cNvSpPr>
          <p:nvPr/>
        </p:nvSpPr>
        <p:spPr bwMode="auto">
          <a:xfrm>
            <a:off x="5825997" y="5229020"/>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47" name="Rectangle 69"/>
          <p:cNvSpPr>
            <a:spLocks noChangeArrowheads="1"/>
          </p:cNvSpPr>
          <p:nvPr/>
        </p:nvSpPr>
        <p:spPr bwMode="auto">
          <a:xfrm>
            <a:off x="4925983" y="567902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8" name="Rectangle 70"/>
          <p:cNvSpPr>
            <a:spLocks noChangeArrowheads="1"/>
          </p:cNvSpPr>
          <p:nvPr/>
        </p:nvSpPr>
        <p:spPr bwMode="auto">
          <a:xfrm>
            <a:off x="5375992" y="567902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49" name="Rectangle 71"/>
          <p:cNvSpPr>
            <a:spLocks noChangeArrowheads="1"/>
          </p:cNvSpPr>
          <p:nvPr/>
        </p:nvSpPr>
        <p:spPr bwMode="auto">
          <a:xfrm>
            <a:off x="6276002" y="5679025"/>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50" name="Rectangle 73"/>
          <p:cNvSpPr>
            <a:spLocks noChangeArrowheads="1"/>
          </p:cNvSpPr>
          <p:nvPr/>
        </p:nvSpPr>
        <p:spPr bwMode="auto">
          <a:xfrm>
            <a:off x="6726007" y="5679025"/>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51" name="Rectangle 73"/>
          <p:cNvSpPr>
            <a:spLocks noChangeArrowheads="1"/>
          </p:cNvSpPr>
          <p:nvPr/>
        </p:nvSpPr>
        <p:spPr bwMode="auto">
          <a:xfrm>
            <a:off x="7626017" y="5229020"/>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52" name="Rectangle 71"/>
          <p:cNvSpPr>
            <a:spLocks noChangeArrowheads="1"/>
          </p:cNvSpPr>
          <p:nvPr/>
        </p:nvSpPr>
        <p:spPr bwMode="auto">
          <a:xfrm>
            <a:off x="6276002" y="5229020"/>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53" name="Rectangle 71"/>
          <p:cNvSpPr>
            <a:spLocks noChangeArrowheads="1"/>
          </p:cNvSpPr>
          <p:nvPr/>
        </p:nvSpPr>
        <p:spPr bwMode="auto">
          <a:xfrm>
            <a:off x="6726007" y="5229020"/>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54" name="Rectangle 71"/>
          <p:cNvSpPr>
            <a:spLocks noChangeArrowheads="1"/>
          </p:cNvSpPr>
          <p:nvPr/>
        </p:nvSpPr>
        <p:spPr bwMode="auto">
          <a:xfrm>
            <a:off x="7176012" y="5229020"/>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55" name="Rectangle 70"/>
          <p:cNvSpPr>
            <a:spLocks noChangeArrowheads="1"/>
          </p:cNvSpPr>
          <p:nvPr/>
        </p:nvSpPr>
        <p:spPr bwMode="auto">
          <a:xfrm>
            <a:off x="5375988" y="5229020"/>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56" name="Rectangle 70"/>
          <p:cNvSpPr>
            <a:spLocks noChangeArrowheads="1"/>
          </p:cNvSpPr>
          <p:nvPr/>
        </p:nvSpPr>
        <p:spPr bwMode="auto">
          <a:xfrm>
            <a:off x="5825993" y="5679025"/>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60" name="正方形/長方形 59"/>
          <p:cNvSpPr/>
          <p:nvPr/>
        </p:nvSpPr>
        <p:spPr bwMode="auto">
          <a:xfrm>
            <a:off x="3215964" y="5229020"/>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I1: </a:t>
            </a:r>
            <a:r>
              <a:rPr lang="en-US" altLang="ja-JP" sz="1600" dirty="0" err="1">
                <a:latin typeface="Consolas" panose="020B0609020204030204" pitchFamily="49" charset="0"/>
              </a:rPr>
              <a:t>mul</a:t>
            </a:r>
            <a:r>
              <a:rPr lang="en-US" altLang="ja-JP" sz="1600" dirty="0">
                <a:latin typeface="Consolas" panose="020B0609020204030204" pitchFamily="49" charset="0"/>
              </a:rPr>
              <a:t> </a:t>
            </a:r>
            <a:r>
              <a:rPr lang="en-US" altLang="ja-JP" sz="1600" dirty="0">
                <a:solidFill>
                  <a:schemeClr val="accent4"/>
                </a:solidFill>
                <a:latin typeface="Consolas" panose="020B0609020204030204" pitchFamily="49" charset="0"/>
              </a:rPr>
              <a:t>x1</a:t>
            </a:r>
            <a:r>
              <a:rPr lang="ja-JP" altLang="en-US" sz="1600" dirty="0">
                <a:latin typeface="Consolas" panose="020B0609020204030204" pitchFamily="49" charset="0"/>
              </a:rPr>
              <a:t>←</a:t>
            </a:r>
            <a:r>
              <a:rPr lang="en-US" altLang="ja-JP" sz="1600" dirty="0">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61" name="正方形/長方形 60"/>
          <p:cNvSpPr/>
          <p:nvPr/>
        </p:nvSpPr>
        <p:spPr bwMode="auto">
          <a:xfrm>
            <a:off x="3215964" y="5679025"/>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I2: add </a:t>
            </a:r>
            <a:r>
              <a:rPr lang="en-US" altLang="ja-JP" sz="1600" dirty="0">
                <a:solidFill>
                  <a:schemeClr val="accent4"/>
                </a:solidFill>
                <a:latin typeface="Consolas" panose="020B0609020204030204" pitchFamily="49" charset="0"/>
              </a:rPr>
              <a:t>x1</a:t>
            </a:r>
            <a:r>
              <a:rPr lang="ja-JP" altLang="en-US" sz="1600" dirty="0">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x3</a:t>
            </a:r>
            <a:r>
              <a:rPr lang="en-US" altLang="ja-JP" sz="1600" dirty="0">
                <a:latin typeface="Consolas" panose="020B0609020204030204" pitchFamily="49" charset="0"/>
              </a:rPr>
              <a:t>+1</a:t>
            </a:r>
            <a:endParaRPr lang="ja-JP" altLang="en-US" sz="1600" dirty="0"/>
          </a:p>
        </p:txBody>
      </p:sp>
    </p:spTree>
    <p:extLst>
      <p:ext uri="{BB962C8B-B14F-4D97-AF65-F5344CB8AC3E}">
        <p14:creationId xmlns:p14="http://schemas.microsoft.com/office/powerpoint/2010/main" val="21960504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2. </a:t>
            </a:r>
            <a:r>
              <a:rPr lang="ja-JP" altLang="en-US" dirty="0"/>
              <a:t>なんらかの依存がある命令があるとそこで</a:t>
            </a:r>
            <a:br>
              <a:rPr lang="en-US" altLang="ja-JP" dirty="0"/>
            </a:br>
            <a:r>
              <a:rPr lang="ja-JP" altLang="en-US" dirty="0"/>
              <a:t>パイプライン全体が止まってしまう</a:t>
            </a:r>
            <a:endParaRPr kumimoji="1" lang="ja-JP" altLang="en-US" dirty="0"/>
          </a:p>
        </p:txBody>
      </p:sp>
      <p:sp>
        <p:nvSpPr>
          <p:cNvPr id="3" name="テキスト プレースホルダー 2"/>
          <p:cNvSpPr>
            <a:spLocks noGrp="1"/>
          </p:cNvSpPr>
          <p:nvPr>
            <p:ph type="body" sz="quarter" idx="10"/>
          </p:nvPr>
        </p:nvSpPr>
        <p:spPr>
          <a:xfrm>
            <a:off x="2135956" y="998973"/>
            <a:ext cx="8280092" cy="1260014"/>
          </a:xfrm>
        </p:spPr>
        <p:txBody>
          <a:bodyPr/>
          <a:lstStyle/>
          <a:p>
            <a:r>
              <a:rPr lang="en-US" altLang="ja-JP" dirty="0">
                <a:latin typeface="Consolas" panose="020B0609020204030204" pitchFamily="49" charset="0"/>
              </a:rPr>
              <a:t>I3 </a:t>
            </a:r>
            <a:r>
              <a:rPr lang="ja-JP" altLang="en-US" dirty="0">
                <a:latin typeface="Consolas" panose="020B0609020204030204" pitchFamily="49" charset="0"/>
              </a:rPr>
              <a:t>と </a:t>
            </a:r>
            <a:r>
              <a:rPr lang="en-US" altLang="ja-JP" dirty="0">
                <a:latin typeface="Consolas" panose="020B0609020204030204" pitchFamily="49" charset="0"/>
              </a:rPr>
              <a:t>I4 </a:t>
            </a:r>
            <a:r>
              <a:rPr lang="ja-JP" altLang="en-US" dirty="0">
                <a:latin typeface="Consolas" panose="020B0609020204030204" pitchFamily="49" charset="0"/>
              </a:rPr>
              <a:t>は </a:t>
            </a:r>
            <a:r>
              <a:rPr lang="en-US" altLang="ja-JP" dirty="0">
                <a:latin typeface="Consolas" panose="020B0609020204030204" pitchFamily="49" charset="0"/>
              </a:rPr>
              <a:t>I1 </a:t>
            </a:r>
            <a:r>
              <a:rPr lang="ja-JP" altLang="en-US" dirty="0">
                <a:latin typeface="Consolas" panose="020B0609020204030204" pitchFamily="49" charset="0"/>
              </a:rPr>
              <a:t>と無関係なので，裏で実行したい</a:t>
            </a:r>
            <a:endParaRPr lang="en-US" altLang="ja-JP" dirty="0">
              <a:latin typeface="Consolas" panose="020B0609020204030204" pitchFamily="49" charset="0"/>
            </a:endParaRPr>
          </a:p>
          <a:p>
            <a:pPr lvl="1"/>
            <a:r>
              <a:rPr lang="ja-JP" altLang="en-US" dirty="0">
                <a:latin typeface="Consolas" panose="020B0609020204030204" pitchFamily="49" charset="0"/>
              </a:rPr>
              <a:t>真の依存がない場合は，発行を </a:t>
            </a:r>
            <a:r>
              <a:rPr lang="en-US" altLang="ja-JP" dirty="0">
                <a:latin typeface="Consolas" panose="020B0609020204030204" pitchFamily="49" charset="0"/>
              </a:rPr>
              <a:t>out-of-order </a:t>
            </a:r>
            <a:r>
              <a:rPr lang="ja-JP" altLang="en-US" dirty="0">
                <a:latin typeface="Consolas" panose="020B0609020204030204" pitchFamily="49" charset="0"/>
              </a:rPr>
              <a:t>に行いたい</a:t>
            </a:r>
            <a:endParaRPr lang="en-US" altLang="ja-JP" dirty="0">
              <a:latin typeface="Consolas" panose="020B0609020204030204" pitchFamily="49" charset="0"/>
            </a:endParaRPr>
          </a:p>
        </p:txBody>
      </p:sp>
      <p:cxnSp>
        <p:nvCxnSpPr>
          <p:cNvPr id="4" name="直線コネクタ 3"/>
          <p:cNvCxnSpPr>
            <a:endCxn id="9" idx="1"/>
          </p:cNvCxnSpPr>
          <p:nvPr/>
        </p:nvCxnSpPr>
        <p:spPr bwMode="auto">
          <a:xfrm flipV="1">
            <a:off x="3935977" y="2978993"/>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3935976" y="2528990"/>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4475982" y="234898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 name="Rectangle 70"/>
          <p:cNvSpPr>
            <a:spLocks noChangeArrowheads="1"/>
          </p:cNvSpPr>
          <p:nvPr/>
        </p:nvSpPr>
        <p:spPr bwMode="auto">
          <a:xfrm>
            <a:off x="4925987" y="234898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8" name="Rectangle 71"/>
          <p:cNvSpPr>
            <a:spLocks noChangeArrowheads="1"/>
          </p:cNvSpPr>
          <p:nvPr/>
        </p:nvSpPr>
        <p:spPr bwMode="auto">
          <a:xfrm>
            <a:off x="5826001" y="234898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9" name="Rectangle 69"/>
          <p:cNvSpPr>
            <a:spLocks noChangeArrowheads="1"/>
          </p:cNvSpPr>
          <p:nvPr/>
        </p:nvSpPr>
        <p:spPr bwMode="auto">
          <a:xfrm>
            <a:off x="4925987" y="279899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0" name="Rectangle 70"/>
          <p:cNvSpPr>
            <a:spLocks noChangeArrowheads="1"/>
          </p:cNvSpPr>
          <p:nvPr/>
        </p:nvSpPr>
        <p:spPr bwMode="auto">
          <a:xfrm>
            <a:off x="5375996" y="279899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11" name="Rectangle 71"/>
          <p:cNvSpPr>
            <a:spLocks noChangeArrowheads="1"/>
          </p:cNvSpPr>
          <p:nvPr/>
        </p:nvSpPr>
        <p:spPr bwMode="auto">
          <a:xfrm>
            <a:off x="7626021" y="2798993"/>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2" name="Rectangle 73"/>
          <p:cNvSpPr>
            <a:spLocks noChangeArrowheads="1"/>
          </p:cNvSpPr>
          <p:nvPr/>
        </p:nvSpPr>
        <p:spPr bwMode="auto">
          <a:xfrm>
            <a:off x="8076026" y="2798993"/>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13" name="Rectangle 69"/>
          <p:cNvSpPr>
            <a:spLocks noChangeArrowheads="1"/>
          </p:cNvSpPr>
          <p:nvPr/>
        </p:nvSpPr>
        <p:spPr bwMode="auto">
          <a:xfrm>
            <a:off x="5375996" y="324899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4" name="Rectangle 70"/>
          <p:cNvSpPr>
            <a:spLocks noChangeArrowheads="1"/>
          </p:cNvSpPr>
          <p:nvPr/>
        </p:nvSpPr>
        <p:spPr bwMode="auto">
          <a:xfrm>
            <a:off x="7176012" y="324899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5" name="Rectangle 71"/>
          <p:cNvSpPr>
            <a:spLocks noChangeArrowheads="1"/>
          </p:cNvSpPr>
          <p:nvPr/>
        </p:nvSpPr>
        <p:spPr bwMode="auto">
          <a:xfrm>
            <a:off x="8076026" y="324899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6" name="Rectangle 73"/>
          <p:cNvSpPr>
            <a:spLocks noChangeArrowheads="1"/>
          </p:cNvSpPr>
          <p:nvPr/>
        </p:nvSpPr>
        <p:spPr bwMode="auto">
          <a:xfrm>
            <a:off x="8526031" y="3248998"/>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cxnSp>
        <p:nvCxnSpPr>
          <p:cNvPr id="17" name="直線コネクタ 16"/>
          <p:cNvCxnSpPr>
            <a:endCxn id="13" idx="1"/>
          </p:cNvCxnSpPr>
          <p:nvPr/>
        </p:nvCxnSpPr>
        <p:spPr bwMode="auto">
          <a:xfrm flipV="1">
            <a:off x="3935976" y="3428998"/>
            <a:ext cx="1440020" cy="2"/>
          </a:xfrm>
          <a:prstGeom prst="line">
            <a:avLst/>
          </a:prstGeom>
          <a:noFill/>
          <a:ln w="9525" cap="flat" cmpd="sng" algn="ctr">
            <a:solidFill>
              <a:schemeClr val="tx1"/>
            </a:solidFill>
            <a:prstDash val="dash"/>
            <a:round/>
            <a:headEnd type="none" w="med" len="med"/>
            <a:tailEnd type="none" w="med" len="med"/>
          </a:ln>
          <a:effectLst/>
        </p:spPr>
      </p:cxnSp>
      <p:sp>
        <p:nvSpPr>
          <p:cNvPr id="18" name="Rectangle 73"/>
          <p:cNvSpPr>
            <a:spLocks noChangeArrowheads="1"/>
          </p:cNvSpPr>
          <p:nvPr/>
        </p:nvSpPr>
        <p:spPr bwMode="auto">
          <a:xfrm>
            <a:off x="7626021" y="2348988"/>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19" name="Rectangle 71"/>
          <p:cNvSpPr>
            <a:spLocks noChangeArrowheads="1"/>
          </p:cNvSpPr>
          <p:nvPr/>
        </p:nvSpPr>
        <p:spPr bwMode="auto">
          <a:xfrm>
            <a:off x="6276006" y="234898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0" name="Rectangle 71"/>
          <p:cNvSpPr>
            <a:spLocks noChangeArrowheads="1"/>
          </p:cNvSpPr>
          <p:nvPr/>
        </p:nvSpPr>
        <p:spPr bwMode="auto">
          <a:xfrm>
            <a:off x="6726011" y="234898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1" name="Rectangle 71"/>
          <p:cNvSpPr>
            <a:spLocks noChangeArrowheads="1"/>
          </p:cNvSpPr>
          <p:nvPr/>
        </p:nvSpPr>
        <p:spPr bwMode="auto">
          <a:xfrm>
            <a:off x="7176016" y="234898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2" name="Rectangle 70"/>
          <p:cNvSpPr>
            <a:spLocks noChangeArrowheads="1"/>
          </p:cNvSpPr>
          <p:nvPr/>
        </p:nvSpPr>
        <p:spPr bwMode="auto">
          <a:xfrm>
            <a:off x="5375992" y="2348988"/>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23" name="Rectangle 70"/>
          <p:cNvSpPr>
            <a:spLocks noChangeArrowheads="1"/>
          </p:cNvSpPr>
          <p:nvPr/>
        </p:nvSpPr>
        <p:spPr bwMode="auto">
          <a:xfrm>
            <a:off x="7176012" y="2798993"/>
            <a:ext cx="360000" cy="360000"/>
          </a:xfrm>
          <a:prstGeom prst="rect">
            <a:avLst/>
          </a:prstGeom>
          <a:ln w="38100">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24" name="Rectangle 70"/>
          <p:cNvSpPr>
            <a:spLocks noChangeArrowheads="1"/>
          </p:cNvSpPr>
          <p:nvPr/>
        </p:nvSpPr>
        <p:spPr bwMode="auto">
          <a:xfrm>
            <a:off x="7626017" y="3248998"/>
            <a:ext cx="360000" cy="360000"/>
          </a:xfrm>
          <a:prstGeom prst="rect">
            <a:avLst/>
          </a:prstGeom>
          <a:ln w="38100">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25" name="Rectangle 73"/>
          <p:cNvSpPr>
            <a:spLocks noChangeArrowheads="1"/>
          </p:cNvSpPr>
          <p:nvPr/>
        </p:nvSpPr>
        <p:spPr bwMode="auto">
          <a:xfrm>
            <a:off x="5826001" y="279899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6" name="Rectangle 73"/>
          <p:cNvSpPr>
            <a:spLocks noChangeArrowheads="1"/>
          </p:cNvSpPr>
          <p:nvPr/>
        </p:nvSpPr>
        <p:spPr bwMode="auto">
          <a:xfrm>
            <a:off x="6276006" y="279899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7" name="Rectangle 73"/>
          <p:cNvSpPr>
            <a:spLocks noChangeArrowheads="1"/>
          </p:cNvSpPr>
          <p:nvPr/>
        </p:nvSpPr>
        <p:spPr bwMode="auto">
          <a:xfrm>
            <a:off x="6726011" y="279899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8" name="Rectangle 73"/>
          <p:cNvSpPr>
            <a:spLocks noChangeArrowheads="1"/>
          </p:cNvSpPr>
          <p:nvPr/>
        </p:nvSpPr>
        <p:spPr bwMode="auto">
          <a:xfrm>
            <a:off x="5826001" y="324899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9" name="Rectangle 73"/>
          <p:cNvSpPr>
            <a:spLocks noChangeArrowheads="1"/>
          </p:cNvSpPr>
          <p:nvPr/>
        </p:nvSpPr>
        <p:spPr bwMode="auto">
          <a:xfrm>
            <a:off x="6276006" y="324899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0" name="Rectangle 73"/>
          <p:cNvSpPr>
            <a:spLocks noChangeArrowheads="1"/>
          </p:cNvSpPr>
          <p:nvPr/>
        </p:nvSpPr>
        <p:spPr bwMode="auto">
          <a:xfrm>
            <a:off x="6726011" y="324899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1" name="正方形/長方形 30"/>
          <p:cNvSpPr/>
          <p:nvPr/>
        </p:nvSpPr>
        <p:spPr bwMode="auto">
          <a:xfrm>
            <a:off x="3215968" y="2348988"/>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I1: </a:t>
            </a:r>
            <a:r>
              <a:rPr lang="en-US" altLang="ja-JP" sz="1600" dirty="0" err="1">
                <a:latin typeface="Consolas" panose="020B0609020204030204" pitchFamily="49" charset="0"/>
              </a:rPr>
              <a:t>mul</a:t>
            </a:r>
            <a:r>
              <a:rPr lang="en-US" altLang="ja-JP" sz="1600" dirty="0">
                <a:latin typeface="Consolas" panose="020B0609020204030204" pitchFamily="49" charset="0"/>
              </a:rPr>
              <a:t> </a:t>
            </a:r>
            <a:r>
              <a:rPr lang="en-US" altLang="ja-JP" sz="1600" b="1" dirty="0">
                <a:solidFill>
                  <a:schemeClr val="accent5"/>
                </a:solidFill>
                <a:latin typeface="Consolas" panose="020B0609020204030204" pitchFamily="49" charset="0"/>
              </a:rPr>
              <a:t>x1</a:t>
            </a:r>
            <a:r>
              <a:rPr lang="ja-JP" altLang="en-US" sz="1600" dirty="0">
                <a:latin typeface="Consolas" panose="020B0609020204030204" pitchFamily="49" charset="0"/>
              </a:rPr>
              <a:t>←</a:t>
            </a:r>
            <a:r>
              <a:rPr lang="en-US" altLang="ja-JP" sz="1600" dirty="0">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32" name="正方形/長方形 31"/>
          <p:cNvSpPr/>
          <p:nvPr/>
        </p:nvSpPr>
        <p:spPr bwMode="auto">
          <a:xfrm>
            <a:off x="3215968" y="2798993"/>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I2: add x3</a:t>
            </a:r>
            <a:r>
              <a:rPr lang="ja-JP" altLang="en-US" sz="1600" dirty="0">
                <a:latin typeface="Consolas" panose="020B0609020204030204" pitchFamily="49" charset="0"/>
              </a:rPr>
              <a:t>←</a:t>
            </a:r>
            <a:r>
              <a:rPr lang="en-US" altLang="ja-JP" sz="1600" b="1" dirty="0">
                <a:solidFill>
                  <a:schemeClr val="accent5"/>
                </a:solidFill>
                <a:latin typeface="Consolas" panose="020B0609020204030204" pitchFamily="49" charset="0"/>
              </a:rPr>
              <a:t>x1</a:t>
            </a:r>
            <a:r>
              <a:rPr lang="en-US" altLang="ja-JP" sz="1600" dirty="0">
                <a:latin typeface="Consolas" panose="020B0609020204030204" pitchFamily="49" charset="0"/>
              </a:rPr>
              <a:t>+1</a:t>
            </a:r>
            <a:endParaRPr lang="ja-JP" altLang="en-US" sz="1600" dirty="0"/>
          </a:p>
        </p:txBody>
      </p:sp>
      <p:sp>
        <p:nvSpPr>
          <p:cNvPr id="33" name="正方形/長方形 32"/>
          <p:cNvSpPr/>
          <p:nvPr/>
        </p:nvSpPr>
        <p:spPr bwMode="auto">
          <a:xfrm>
            <a:off x="3215968" y="3248998"/>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I3: sub x4</a:t>
            </a:r>
            <a:r>
              <a:rPr lang="ja-JP" altLang="en-US" sz="1600" dirty="0">
                <a:latin typeface="Consolas" panose="020B0609020204030204" pitchFamily="49" charset="0"/>
              </a:rPr>
              <a:t>←</a:t>
            </a:r>
            <a:r>
              <a:rPr lang="en-US" altLang="ja-JP" sz="1600" dirty="0">
                <a:latin typeface="Consolas" panose="020B0609020204030204" pitchFamily="49" charset="0"/>
              </a:rPr>
              <a:t>x5-1</a:t>
            </a:r>
            <a:endParaRPr lang="ja-JP" altLang="en-US" sz="1600" dirty="0"/>
          </a:p>
        </p:txBody>
      </p:sp>
      <p:sp>
        <p:nvSpPr>
          <p:cNvPr id="34" name="Rectangle 69"/>
          <p:cNvSpPr>
            <a:spLocks noChangeArrowheads="1"/>
          </p:cNvSpPr>
          <p:nvPr/>
        </p:nvSpPr>
        <p:spPr bwMode="auto">
          <a:xfrm>
            <a:off x="7176012" y="369900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35" name="Rectangle 70"/>
          <p:cNvSpPr>
            <a:spLocks noChangeArrowheads="1"/>
          </p:cNvSpPr>
          <p:nvPr/>
        </p:nvSpPr>
        <p:spPr bwMode="auto">
          <a:xfrm>
            <a:off x="7626013" y="369900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36" name="Rectangle 71"/>
          <p:cNvSpPr>
            <a:spLocks noChangeArrowheads="1"/>
          </p:cNvSpPr>
          <p:nvPr/>
        </p:nvSpPr>
        <p:spPr bwMode="auto">
          <a:xfrm>
            <a:off x="8526027" y="3699003"/>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37" name="Rectangle 73"/>
          <p:cNvSpPr>
            <a:spLocks noChangeArrowheads="1"/>
          </p:cNvSpPr>
          <p:nvPr/>
        </p:nvSpPr>
        <p:spPr bwMode="auto">
          <a:xfrm>
            <a:off x="8976032" y="3699003"/>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cxnSp>
        <p:nvCxnSpPr>
          <p:cNvPr id="38" name="直線コネクタ 37"/>
          <p:cNvCxnSpPr>
            <a:stCxn id="40" idx="3"/>
            <a:endCxn id="34" idx="1"/>
          </p:cNvCxnSpPr>
          <p:nvPr/>
        </p:nvCxnSpPr>
        <p:spPr bwMode="auto">
          <a:xfrm flipV="1">
            <a:off x="3935976" y="3879003"/>
            <a:ext cx="3240036" cy="2"/>
          </a:xfrm>
          <a:prstGeom prst="line">
            <a:avLst/>
          </a:prstGeom>
          <a:noFill/>
          <a:ln w="9525" cap="flat" cmpd="sng" algn="ctr">
            <a:solidFill>
              <a:schemeClr val="tx1"/>
            </a:solidFill>
            <a:prstDash val="dash"/>
            <a:round/>
            <a:headEnd type="none" w="med" len="med"/>
            <a:tailEnd type="none" w="med" len="med"/>
          </a:ln>
          <a:effectLst/>
        </p:spPr>
      </p:cxnSp>
      <p:sp>
        <p:nvSpPr>
          <p:cNvPr id="39" name="Rectangle 70"/>
          <p:cNvSpPr>
            <a:spLocks noChangeArrowheads="1"/>
          </p:cNvSpPr>
          <p:nvPr/>
        </p:nvSpPr>
        <p:spPr bwMode="auto">
          <a:xfrm>
            <a:off x="8076018" y="3699003"/>
            <a:ext cx="360000" cy="360000"/>
          </a:xfrm>
          <a:prstGeom prst="rect">
            <a:avLst/>
          </a:prstGeom>
          <a:ln w="38100">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40" name="正方形/長方形 39"/>
          <p:cNvSpPr/>
          <p:nvPr/>
        </p:nvSpPr>
        <p:spPr bwMode="auto">
          <a:xfrm>
            <a:off x="3215968" y="3699003"/>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I4: and </a:t>
            </a:r>
            <a:r>
              <a:rPr lang="en-US" altLang="ja-JP" sz="1600" dirty="0">
                <a:solidFill>
                  <a:schemeClr val="tx1">
                    <a:lumMod val="75000"/>
                    <a:lumOff val="25000"/>
                  </a:schemeClr>
                </a:solidFill>
                <a:latin typeface="Consolas" panose="020B0609020204030204" pitchFamily="49" charset="0"/>
              </a:rPr>
              <a:t>x6</a:t>
            </a:r>
            <a:r>
              <a:rPr lang="ja-JP" altLang="en-US" sz="1600" dirty="0">
                <a:latin typeface="Consolas" panose="020B0609020204030204" pitchFamily="49" charset="0"/>
              </a:rPr>
              <a:t>←</a:t>
            </a:r>
            <a:r>
              <a:rPr lang="en-US" altLang="ja-JP" sz="1600" dirty="0">
                <a:latin typeface="Consolas" panose="020B0609020204030204" pitchFamily="49" charset="0"/>
              </a:rPr>
              <a:t>x7&amp;1</a:t>
            </a:r>
            <a:endParaRPr lang="ja-JP" altLang="en-US" sz="1600" dirty="0"/>
          </a:p>
        </p:txBody>
      </p:sp>
      <p:sp>
        <p:nvSpPr>
          <p:cNvPr id="41" name="下矢印 40"/>
          <p:cNvSpPr/>
          <p:nvPr/>
        </p:nvSpPr>
        <p:spPr bwMode="auto">
          <a:xfrm>
            <a:off x="5915999" y="4059008"/>
            <a:ext cx="450005" cy="450005"/>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42" name="直線コネクタ 41"/>
          <p:cNvCxnSpPr>
            <a:endCxn id="47" idx="1"/>
          </p:cNvCxnSpPr>
          <p:nvPr/>
        </p:nvCxnSpPr>
        <p:spPr bwMode="auto">
          <a:xfrm flipV="1">
            <a:off x="3935977" y="5409022"/>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43" name="直線コネクタ 42"/>
          <p:cNvCxnSpPr/>
          <p:nvPr/>
        </p:nvCxnSpPr>
        <p:spPr bwMode="auto">
          <a:xfrm>
            <a:off x="3935976" y="4959019"/>
            <a:ext cx="720080" cy="0"/>
          </a:xfrm>
          <a:prstGeom prst="line">
            <a:avLst/>
          </a:prstGeom>
          <a:noFill/>
          <a:ln w="9525" cap="flat" cmpd="sng" algn="ctr">
            <a:solidFill>
              <a:schemeClr val="tx1"/>
            </a:solidFill>
            <a:prstDash val="dash"/>
            <a:round/>
            <a:headEnd type="none" w="med" len="med"/>
            <a:tailEnd type="none" w="med" len="med"/>
          </a:ln>
          <a:effectLst/>
        </p:spPr>
      </p:cxnSp>
      <p:sp>
        <p:nvSpPr>
          <p:cNvPr id="44" name="Rectangle 69"/>
          <p:cNvSpPr>
            <a:spLocks noChangeArrowheads="1"/>
          </p:cNvSpPr>
          <p:nvPr/>
        </p:nvSpPr>
        <p:spPr bwMode="auto">
          <a:xfrm>
            <a:off x="4475982" y="477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5" name="Rectangle 70"/>
          <p:cNvSpPr>
            <a:spLocks noChangeArrowheads="1"/>
          </p:cNvSpPr>
          <p:nvPr/>
        </p:nvSpPr>
        <p:spPr bwMode="auto">
          <a:xfrm>
            <a:off x="4925987" y="477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46" name="Rectangle 71"/>
          <p:cNvSpPr>
            <a:spLocks noChangeArrowheads="1"/>
          </p:cNvSpPr>
          <p:nvPr/>
        </p:nvSpPr>
        <p:spPr bwMode="auto">
          <a:xfrm>
            <a:off x="5826001" y="477901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47" name="Rectangle 69"/>
          <p:cNvSpPr>
            <a:spLocks noChangeArrowheads="1"/>
          </p:cNvSpPr>
          <p:nvPr/>
        </p:nvSpPr>
        <p:spPr bwMode="auto">
          <a:xfrm>
            <a:off x="4925987" y="522902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8" name="Rectangle 70"/>
          <p:cNvSpPr>
            <a:spLocks noChangeArrowheads="1"/>
          </p:cNvSpPr>
          <p:nvPr/>
        </p:nvSpPr>
        <p:spPr bwMode="auto">
          <a:xfrm>
            <a:off x="5375996" y="522902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49" name="Rectangle 71"/>
          <p:cNvSpPr>
            <a:spLocks noChangeArrowheads="1"/>
          </p:cNvSpPr>
          <p:nvPr/>
        </p:nvSpPr>
        <p:spPr bwMode="auto">
          <a:xfrm>
            <a:off x="7626021" y="5229022"/>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50" name="Rectangle 73"/>
          <p:cNvSpPr>
            <a:spLocks noChangeArrowheads="1"/>
          </p:cNvSpPr>
          <p:nvPr/>
        </p:nvSpPr>
        <p:spPr bwMode="auto">
          <a:xfrm>
            <a:off x="8076026" y="5229022"/>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51" name="Rectangle 69"/>
          <p:cNvSpPr>
            <a:spLocks noChangeArrowheads="1"/>
          </p:cNvSpPr>
          <p:nvPr/>
        </p:nvSpPr>
        <p:spPr bwMode="auto">
          <a:xfrm>
            <a:off x="5375996" y="567902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52" name="Rectangle 70"/>
          <p:cNvSpPr>
            <a:spLocks noChangeArrowheads="1"/>
          </p:cNvSpPr>
          <p:nvPr/>
        </p:nvSpPr>
        <p:spPr bwMode="auto">
          <a:xfrm>
            <a:off x="5825997" y="567902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53" name="Rectangle 71"/>
          <p:cNvSpPr>
            <a:spLocks noChangeArrowheads="1"/>
          </p:cNvSpPr>
          <p:nvPr/>
        </p:nvSpPr>
        <p:spPr bwMode="auto">
          <a:xfrm>
            <a:off x="6726011" y="5679025"/>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54" name="Rectangle 73"/>
          <p:cNvSpPr>
            <a:spLocks noChangeArrowheads="1"/>
          </p:cNvSpPr>
          <p:nvPr/>
        </p:nvSpPr>
        <p:spPr bwMode="auto">
          <a:xfrm>
            <a:off x="7176016" y="5679025"/>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cxnSp>
        <p:nvCxnSpPr>
          <p:cNvPr id="55" name="直線コネクタ 54"/>
          <p:cNvCxnSpPr>
            <a:endCxn id="51" idx="1"/>
          </p:cNvCxnSpPr>
          <p:nvPr/>
        </p:nvCxnSpPr>
        <p:spPr bwMode="auto">
          <a:xfrm flipV="1">
            <a:off x="3935976" y="5859027"/>
            <a:ext cx="1440020" cy="2"/>
          </a:xfrm>
          <a:prstGeom prst="line">
            <a:avLst/>
          </a:prstGeom>
          <a:noFill/>
          <a:ln w="9525" cap="flat" cmpd="sng" algn="ctr">
            <a:solidFill>
              <a:schemeClr val="tx1"/>
            </a:solidFill>
            <a:prstDash val="dash"/>
            <a:round/>
            <a:headEnd type="none" w="med" len="med"/>
            <a:tailEnd type="none" w="med" len="med"/>
          </a:ln>
          <a:effectLst/>
        </p:spPr>
      </p:cxnSp>
      <p:sp>
        <p:nvSpPr>
          <p:cNvPr id="56" name="Rectangle 73"/>
          <p:cNvSpPr>
            <a:spLocks noChangeArrowheads="1"/>
          </p:cNvSpPr>
          <p:nvPr/>
        </p:nvSpPr>
        <p:spPr bwMode="auto">
          <a:xfrm>
            <a:off x="7626021" y="4779017"/>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57" name="Rectangle 71"/>
          <p:cNvSpPr>
            <a:spLocks noChangeArrowheads="1"/>
          </p:cNvSpPr>
          <p:nvPr/>
        </p:nvSpPr>
        <p:spPr bwMode="auto">
          <a:xfrm>
            <a:off x="6276006" y="477901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58" name="Rectangle 71"/>
          <p:cNvSpPr>
            <a:spLocks noChangeArrowheads="1"/>
          </p:cNvSpPr>
          <p:nvPr/>
        </p:nvSpPr>
        <p:spPr bwMode="auto">
          <a:xfrm>
            <a:off x="6726011" y="477901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59" name="Rectangle 71"/>
          <p:cNvSpPr>
            <a:spLocks noChangeArrowheads="1"/>
          </p:cNvSpPr>
          <p:nvPr/>
        </p:nvSpPr>
        <p:spPr bwMode="auto">
          <a:xfrm>
            <a:off x="7176016" y="477901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60" name="Rectangle 70"/>
          <p:cNvSpPr>
            <a:spLocks noChangeArrowheads="1"/>
          </p:cNvSpPr>
          <p:nvPr/>
        </p:nvSpPr>
        <p:spPr bwMode="auto">
          <a:xfrm>
            <a:off x="5375992" y="4779017"/>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61" name="Rectangle 70"/>
          <p:cNvSpPr>
            <a:spLocks noChangeArrowheads="1"/>
          </p:cNvSpPr>
          <p:nvPr/>
        </p:nvSpPr>
        <p:spPr bwMode="auto">
          <a:xfrm>
            <a:off x="7176012" y="5229022"/>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62" name="Rectangle 70"/>
          <p:cNvSpPr>
            <a:spLocks noChangeArrowheads="1"/>
          </p:cNvSpPr>
          <p:nvPr/>
        </p:nvSpPr>
        <p:spPr bwMode="auto">
          <a:xfrm>
            <a:off x="6276002" y="5679025"/>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63" name="Rectangle 73"/>
          <p:cNvSpPr>
            <a:spLocks noChangeArrowheads="1"/>
          </p:cNvSpPr>
          <p:nvPr/>
        </p:nvSpPr>
        <p:spPr bwMode="auto">
          <a:xfrm>
            <a:off x="5826001" y="5229022"/>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64" name="Rectangle 73"/>
          <p:cNvSpPr>
            <a:spLocks noChangeArrowheads="1"/>
          </p:cNvSpPr>
          <p:nvPr/>
        </p:nvSpPr>
        <p:spPr bwMode="auto">
          <a:xfrm>
            <a:off x="6276006" y="5229022"/>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65" name="Rectangle 73"/>
          <p:cNvSpPr>
            <a:spLocks noChangeArrowheads="1"/>
          </p:cNvSpPr>
          <p:nvPr/>
        </p:nvSpPr>
        <p:spPr bwMode="auto">
          <a:xfrm>
            <a:off x="6726011" y="5229022"/>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69" name="正方形/長方形 68"/>
          <p:cNvSpPr/>
          <p:nvPr/>
        </p:nvSpPr>
        <p:spPr bwMode="auto">
          <a:xfrm>
            <a:off x="3215968" y="477901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I1: </a:t>
            </a:r>
            <a:r>
              <a:rPr lang="en-US" altLang="ja-JP" sz="1600" dirty="0" err="1">
                <a:latin typeface="Consolas" panose="020B0609020204030204" pitchFamily="49" charset="0"/>
              </a:rPr>
              <a:t>mul</a:t>
            </a:r>
            <a:r>
              <a:rPr lang="en-US" altLang="ja-JP" sz="1600" dirty="0">
                <a:latin typeface="Consolas" panose="020B0609020204030204" pitchFamily="49" charset="0"/>
              </a:rPr>
              <a:t> </a:t>
            </a:r>
            <a:r>
              <a:rPr lang="en-US" altLang="ja-JP" sz="1600" b="1" dirty="0">
                <a:solidFill>
                  <a:schemeClr val="accent5"/>
                </a:solidFill>
                <a:latin typeface="Consolas" panose="020B0609020204030204" pitchFamily="49" charset="0"/>
              </a:rPr>
              <a:t>x1</a:t>
            </a:r>
            <a:r>
              <a:rPr lang="ja-JP" altLang="en-US" sz="1600" dirty="0">
                <a:latin typeface="Consolas" panose="020B0609020204030204" pitchFamily="49" charset="0"/>
              </a:rPr>
              <a:t>←</a:t>
            </a:r>
            <a:r>
              <a:rPr lang="en-US" altLang="ja-JP" sz="1600" dirty="0">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70" name="正方形/長方形 69"/>
          <p:cNvSpPr/>
          <p:nvPr/>
        </p:nvSpPr>
        <p:spPr bwMode="auto">
          <a:xfrm>
            <a:off x="3215968" y="522902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I2: add x3</a:t>
            </a:r>
            <a:r>
              <a:rPr lang="ja-JP" altLang="en-US" sz="1600" dirty="0">
                <a:latin typeface="Consolas" panose="020B0609020204030204" pitchFamily="49" charset="0"/>
              </a:rPr>
              <a:t>←</a:t>
            </a:r>
            <a:r>
              <a:rPr lang="en-US" altLang="ja-JP" sz="1600" b="1" dirty="0">
                <a:solidFill>
                  <a:schemeClr val="accent5"/>
                </a:solidFill>
                <a:latin typeface="Consolas" panose="020B0609020204030204" pitchFamily="49" charset="0"/>
              </a:rPr>
              <a:t>x1</a:t>
            </a:r>
            <a:r>
              <a:rPr lang="en-US" altLang="ja-JP" sz="1600" dirty="0">
                <a:latin typeface="Consolas" panose="020B0609020204030204" pitchFamily="49" charset="0"/>
              </a:rPr>
              <a:t>+1</a:t>
            </a:r>
            <a:endParaRPr lang="ja-JP" altLang="en-US" sz="1600" dirty="0"/>
          </a:p>
        </p:txBody>
      </p:sp>
      <p:sp>
        <p:nvSpPr>
          <p:cNvPr id="71" name="正方形/長方形 70"/>
          <p:cNvSpPr/>
          <p:nvPr/>
        </p:nvSpPr>
        <p:spPr bwMode="auto">
          <a:xfrm>
            <a:off x="3215968" y="567902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I3: sub x4</a:t>
            </a:r>
            <a:r>
              <a:rPr lang="ja-JP" altLang="en-US" sz="1600" dirty="0">
                <a:latin typeface="Consolas" panose="020B0609020204030204" pitchFamily="49" charset="0"/>
              </a:rPr>
              <a:t>←</a:t>
            </a:r>
            <a:r>
              <a:rPr lang="en-US" altLang="ja-JP" sz="1600" dirty="0">
                <a:latin typeface="Consolas" panose="020B0609020204030204" pitchFamily="49" charset="0"/>
              </a:rPr>
              <a:t>x5-1</a:t>
            </a:r>
            <a:endParaRPr lang="ja-JP" altLang="en-US" sz="1600" dirty="0"/>
          </a:p>
        </p:txBody>
      </p:sp>
      <p:sp>
        <p:nvSpPr>
          <p:cNvPr id="72" name="Rectangle 69"/>
          <p:cNvSpPr>
            <a:spLocks noChangeArrowheads="1"/>
          </p:cNvSpPr>
          <p:nvPr/>
        </p:nvSpPr>
        <p:spPr bwMode="auto">
          <a:xfrm>
            <a:off x="5825997" y="612903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3" name="Rectangle 70"/>
          <p:cNvSpPr>
            <a:spLocks noChangeArrowheads="1"/>
          </p:cNvSpPr>
          <p:nvPr/>
        </p:nvSpPr>
        <p:spPr bwMode="auto">
          <a:xfrm>
            <a:off x="6275998" y="612903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74" name="Rectangle 71"/>
          <p:cNvSpPr>
            <a:spLocks noChangeArrowheads="1"/>
          </p:cNvSpPr>
          <p:nvPr/>
        </p:nvSpPr>
        <p:spPr bwMode="auto">
          <a:xfrm>
            <a:off x="7176012" y="6129030"/>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75" name="Rectangle 73"/>
          <p:cNvSpPr>
            <a:spLocks noChangeArrowheads="1"/>
          </p:cNvSpPr>
          <p:nvPr/>
        </p:nvSpPr>
        <p:spPr bwMode="auto">
          <a:xfrm>
            <a:off x="7626017" y="6129030"/>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cxnSp>
        <p:nvCxnSpPr>
          <p:cNvPr id="76" name="直線コネクタ 75"/>
          <p:cNvCxnSpPr>
            <a:stCxn id="78" idx="3"/>
            <a:endCxn id="72" idx="1"/>
          </p:cNvCxnSpPr>
          <p:nvPr/>
        </p:nvCxnSpPr>
        <p:spPr bwMode="auto">
          <a:xfrm flipV="1">
            <a:off x="3935977" y="6309030"/>
            <a:ext cx="1890021" cy="4"/>
          </a:xfrm>
          <a:prstGeom prst="line">
            <a:avLst/>
          </a:prstGeom>
          <a:noFill/>
          <a:ln w="9525" cap="flat" cmpd="sng" algn="ctr">
            <a:solidFill>
              <a:schemeClr val="tx1"/>
            </a:solidFill>
            <a:prstDash val="dash"/>
            <a:round/>
            <a:headEnd type="none" w="med" len="med"/>
            <a:tailEnd type="none" w="med" len="med"/>
          </a:ln>
          <a:effectLst/>
        </p:spPr>
      </p:cxnSp>
      <p:sp>
        <p:nvSpPr>
          <p:cNvPr id="77" name="Rectangle 70"/>
          <p:cNvSpPr>
            <a:spLocks noChangeArrowheads="1"/>
          </p:cNvSpPr>
          <p:nvPr/>
        </p:nvSpPr>
        <p:spPr bwMode="auto">
          <a:xfrm>
            <a:off x="6726003" y="6129030"/>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78" name="正方形/長方形 77"/>
          <p:cNvSpPr/>
          <p:nvPr/>
        </p:nvSpPr>
        <p:spPr bwMode="auto">
          <a:xfrm>
            <a:off x="3215968" y="612903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I4: and </a:t>
            </a:r>
            <a:r>
              <a:rPr lang="en-US" altLang="ja-JP" sz="1600" dirty="0">
                <a:solidFill>
                  <a:schemeClr val="tx1">
                    <a:lumMod val="75000"/>
                    <a:lumOff val="25000"/>
                  </a:schemeClr>
                </a:solidFill>
                <a:latin typeface="Consolas" panose="020B0609020204030204" pitchFamily="49" charset="0"/>
              </a:rPr>
              <a:t>x6</a:t>
            </a:r>
            <a:r>
              <a:rPr lang="ja-JP" altLang="en-US" sz="1600" dirty="0">
                <a:latin typeface="Consolas" panose="020B0609020204030204" pitchFamily="49" charset="0"/>
              </a:rPr>
              <a:t>←</a:t>
            </a:r>
            <a:r>
              <a:rPr lang="en-US" altLang="ja-JP" sz="1600" dirty="0">
                <a:latin typeface="Consolas" panose="020B0609020204030204" pitchFamily="49" charset="0"/>
              </a:rPr>
              <a:t>x7&amp;1</a:t>
            </a:r>
            <a:endParaRPr lang="ja-JP" altLang="en-US" sz="1600" dirty="0"/>
          </a:p>
        </p:txBody>
      </p:sp>
    </p:spTree>
    <p:extLst>
      <p:ext uri="{BB962C8B-B14F-4D97-AF65-F5344CB8AC3E}">
        <p14:creationId xmlns:p14="http://schemas.microsoft.com/office/powerpoint/2010/main" val="32412696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発行を </a:t>
            </a:r>
            <a:r>
              <a:rPr kumimoji="1" lang="en-US" altLang="ja-JP" dirty="0"/>
              <a:t>out-of-order </a:t>
            </a:r>
            <a:r>
              <a:rPr kumimoji="1" lang="ja-JP" altLang="en-US" dirty="0"/>
              <a:t>にした場合</a:t>
            </a:r>
          </a:p>
        </p:txBody>
      </p:sp>
      <p:sp>
        <p:nvSpPr>
          <p:cNvPr id="3" name="テキスト プレースホルダー 2"/>
          <p:cNvSpPr>
            <a:spLocks noGrp="1"/>
          </p:cNvSpPr>
          <p:nvPr>
            <p:ph type="body" sz="quarter" idx="10"/>
          </p:nvPr>
        </p:nvSpPr>
        <p:spPr>
          <a:xfrm>
            <a:off x="2135956" y="1088975"/>
            <a:ext cx="8280092" cy="2790031"/>
          </a:xfrm>
        </p:spPr>
        <p:txBody>
          <a:bodyPr/>
          <a:lstStyle/>
          <a:p>
            <a:r>
              <a:rPr kumimoji="1" lang="ja-JP" altLang="en-US" dirty="0"/>
              <a:t>発行を </a:t>
            </a:r>
            <a:r>
              <a:rPr kumimoji="1" lang="en-US" altLang="ja-JP" dirty="0"/>
              <a:t>out-of-order </a:t>
            </a:r>
            <a:r>
              <a:rPr kumimoji="1" lang="ja-JP" altLang="en-US" dirty="0"/>
              <a:t>にすると，逆依存（</a:t>
            </a:r>
            <a:r>
              <a:rPr kumimoji="1" lang="en-US" altLang="ja-JP" dirty="0"/>
              <a:t>WAR</a:t>
            </a:r>
            <a:r>
              <a:rPr kumimoji="1" lang="ja-JP" altLang="en-US" dirty="0"/>
              <a:t>）を守れない</a:t>
            </a:r>
            <a:endParaRPr kumimoji="1" lang="en-US" altLang="ja-JP" dirty="0"/>
          </a:p>
          <a:p>
            <a:pPr lvl="1"/>
            <a:r>
              <a:rPr lang="en-US" altLang="ja-JP" dirty="0">
                <a:latin typeface="Consolas" panose="020B0609020204030204" pitchFamily="49" charset="0"/>
              </a:rPr>
              <a:t>I3 </a:t>
            </a:r>
            <a:r>
              <a:rPr lang="ja-JP" altLang="en-US" dirty="0">
                <a:latin typeface="Consolas" panose="020B0609020204030204" pitchFamily="49" charset="0"/>
              </a:rPr>
              <a:t>が </a:t>
            </a:r>
            <a:r>
              <a:rPr lang="en-US" altLang="ja-JP" dirty="0">
                <a:latin typeface="Consolas" panose="020B0609020204030204" pitchFamily="49" charset="0"/>
              </a:rPr>
              <a:t>I2 </a:t>
            </a:r>
            <a:r>
              <a:rPr lang="ja-JP" altLang="en-US" dirty="0">
                <a:latin typeface="Consolas" panose="020B0609020204030204" pitchFamily="49" charset="0"/>
              </a:rPr>
              <a:t>よりも先に完了してしまう</a:t>
            </a:r>
            <a:endParaRPr lang="en-US" altLang="ja-JP" dirty="0">
              <a:latin typeface="Consolas" panose="020B0609020204030204" pitchFamily="49" charset="0"/>
            </a:endParaRPr>
          </a:p>
          <a:p>
            <a:r>
              <a:rPr kumimoji="1" lang="ja-JP" altLang="en-US" dirty="0">
                <a:solidFill>
                  <a:schemeClr val="accent5"/>
                </a:solidFill>
              </a:rPr>
              <a:t>発行を </a:t>
            </a:r>
            <a:r>
              <a:rPr kumimoji="1" lang="en-US" altLang="ja-JP" dirty="0">
                <a:solidFill>
                  <a:schemeClr val="accent5"/>
                </a:solidFill>
              </a:rPr>
              <a:t>in-order </a:t>
            </a:r>
            <a:r>
              <a:rPr kumimoji="1" lang="ja-JP" altLang="en-US" dirty="0">
                <a:solidFill>
                  <a:schemeClr val="accent5"/>
                </a:solidFill>
              </a:rPr>
              <a:t>にすることにより </a:t>
            </a:r>
            <a:r>
              <a:rPr lang="ja-JP" altLang="en-US" dirty="0">
                <a:solidFill>
                  <a:schemeClr val="accent5"/>
                </a:solidFill>
              </a:rPr>
              <a:t>逆依存 の違反を防いでいた</a:t>
            </a:r>
            <a:br>
              <a:rPr lang="en-US" altLang="ja-JP" dirty="0">
                <a:solidFill>
                  <a:schemeClr val="accent5"/>
                </a:solidFill>
              </a:rPr>
            </a:br>
            <a:r>
              <a:rPr lang="ja-JP" altLang="en-US" dirty="0">
                <a:solidFill>
                  <a:schemeClr val="accent5"/>
                </a:solidFill>
              </a:rPr>
              <a:t>とも言える</a:t>
            </a:r>
            <a:endParaRPr kumimoji="1" lang="ja-JP" altLang="en-US" dirty="0">
              <a:solidFill>
                <a:schemeClr val="accent5"/>
              </a:solidFill>
            </a:endParaRPr>
          </a:p>
        </p:txBody>
      </p:sp>
      <p:cxnSp>
        <p:nvCxnSpPr>
          <p:cNvPr id="4" name="直線コネクタ 3"/>
          <p:cNvCxnSpPr>
            <a:endCxn id="9" idx="1"/>
          </p:cNvCxnSpPr>
          <p:nvPr/>
        </p:nvCxnSpPr>
        <p:spPr bwMode="auto">
          <a:xfrm flipV="1">
            <a:off x="3935977" y="5409022"/>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3935976" y="4959019"/>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4475982" y="477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 name="Rectangle 70"/>
          <p:cNvSpPr>
            <a:spLocks noChangeArrowheads="1"/>
          </p:cNvSpPr>
          <p:nvPr/>
        </p:nvSpPr>
        <p:spPr bwMode="auto">
          <a:xfrm>
            <a:off x="4925987" y="477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8" name="Rectangle 71"/>
          <p:cNvSpPr>
            <a:spLocks noChangeArrowheads="1"/>
          </p:cNvSpPr>
          <p:nvPr/>
        </p:nvSpPr>
        <p:spPr bwMode="auto">
          <a:xfrm>
            <a:off x="5826001" y="477901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9" name="Rectangle 69"/>
          <p:cNvSpPr>
            <a:spLocks noChangeArrowheads="1"/>
          </p:cNvSpPr>
          <p:nvPr/>
        </p:nvSpPr>
        <p:spPr bwMode="auto">
          <a:xfrm>
            <a:off x="4925987" y="522902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0" name="Rectangle 70"/>
          <p:cNvSpPr>
            <a:spLocks noChangeArrowheads="1"/>
          </p:cNvSpPr>
          <p:nvPr/>
        </p:nvSpPr>
        <p:spPr bwMode="auto">
          <a:xfrm>
            <a:off x="5375996" y="522902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11" name="Rectangle 71"/>
          <p:cNvSpPr>
            <a:spLocks noChangeArrowheads="1"/>
          </p:cNvSpPr>
          <p:nvPr/>
        </p:nvSpPr>
        <p:spPr bwMode="auto">
          <a:xfrm>
            <a:off x="7626021" y="5229022"/>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2" name="Rectangle 73"/>
          <p:cNvSpPr>
            <a:spLocks noChangeArrowheads="1"/>
          </p:cNvSpPr>
          <p:nvPr/>
        </p:nvSpPr>
        <p:spPr bwMode="auto">
          <a:xfrm>
            <a:off x="8076026" y="5229022"/>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13" name="Rectangle 69"/>
          <p:cNvSpPr>
            <a:spLocks noChangeArrowheads="1"/>
          </p:cNvSpPr>
          <p:nvPr/>
        </p:nvSpPr>
        <p:spPr bwMode="auto">
          <a:xfrm>
            <a:off x="5375996" y="567902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4" name="Rectangle 70"/>
          <p:cNvSpPr>
            <a:spLocks noChangeArrowheads="1"/>
          </p:cNvSpPr>
          <p:nvPr/>
        </p:nvSpPr>
        <p:spPr bwMode="auto">
          <a:xfrm>
            <a:off x="5825997" y="567902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5" name="Rectangle 71"/>
          <p:cNvSpPr>
            <a:spLocks noChangeArrowheads="1"/>
          </p:cNvSpPr>
          <p:nvPr/>
        </p:nvSpPr>
        <p:spPr bwMode="auto">
          <a:xfrm>
            <a:off x="6726011" y="5679025"/>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6" name="Rectangle 73"/>
          <p:cNvSpPr>
            <a:spLocks noChangeArrowheads="1"/>
          </p:cNvSpPr>
          <p:nvPr/>
        </p:nvSpPr>
        <p:spPr bwMode="auto">
          <a:xfrm>
            <a:off x="7176016" y="5679025"/>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cxnSp>
        <p:nvCxnSpPr>
          <p:cNvPr id="17" name="直線コネクタ 16"/>
          <p:cNvCxnSpPr>
            <a:endCxn id="13" idx="1"/>
          </p:cNvCxnSpPr>
          <p:nvPr/>
        </p:nvCxnSpPr>
        <p:spPr bwMode="auto">
          <a:xfrm flipV="1">
            <a:off x="3935976" y="5859027"/>
            <a:ext cx="1440020" cy="2"/>
          </a:xfrm>
          <a:prstGeom prst="line">
            <a:avLst/>
          </a:prstGeom>
          <a:noFill/>
          <a:ln w="9525" cap="flat" cmpd="sng" algn="ctr">
            <a:solidFill>
              <a:schemeClr val="tx1"/>
            </a:solidFill>
            <a:prstDash val="dash"/>
            <a:round/>
            <a:headEnd type="none" w="med" len="med"/>
            <a:tailEnd type="none" w="med" len="med"/>
          </a:ln>
          <a:effectLst/>
        </p:spPr>
      </p:cxnSp>
      <p:sp>
        <p:nvSpPr>
          <p:cNvPr id="18" name="Rectangle 73"/>
          <p:cNvSpPr>
            <a:spLocks noChangeArrowheads="1"/>
          </p:cNvSpPr>
          <p:nvPr/>
        </p:nvSpPr>
        <p:spPr bwMode="auto">
          <a:xfrm>
            <a:off x="7626021" y="4779017"/>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19" name="Rectangle 71"/>
          <p:cNvSpPr>
            <a:spLocks noChangeArrowheads="1"/>
          </p:cNvSpPr>
          <p:nvPr/>
        </p:nvSpPr>
        <p:spPr bwMode="auto">
          <a:xfrm>
            <a:off x="6276006" y="477901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0" name="Rectangle 71"/>
          <p:cNvSpPr>
            <a:spLocks noChangeArrowheads="1"/>
          </p:cNvSpPr>
          <p:nvPr/>
        </p:nvSpPr>
        <p:spPr bwMode="auto">
          <a:xfrm>
            <a:off x="6726011" y="477901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1" name="Rectangle 71"/>
          <p:cNvSpPr>
            <a:spLocks noChangeArrowheads="1"/>
          </p:cNvSpPr>
          <p:nvPr/>
        </p:nvSpPr>
        <p:spPr bwMode="auto">
          <a:xfrm>
            <a:off x="7176016" y="4779017"/>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2" name="Rectangle 70"/>
          <p:cNvSpPr>
            <a:spLocks noChangeArrowheads="1"/>
          </p:cNvSpPr>
          <p:nvPr/>
        </p:nvSpPr>
        <p:spPr bwMode="auto">
          <a:xfrm>
            <a:off x="5375992" y="4779017"/>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23" name="Rectangle 70"/>
          <p:cNvSpPr>
            <a:spLocks noChangeArrowheads="1"/>
          </p:cNvSpPr>
          <p:nvPr/>
        </p:nvSpPr>
        <p:spPr bwMode="auto">
          <a:xfrm>
            <a:off x="7176012" y="5229022"/>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24" name="Rectangle 70"/>
          <p:cNvSpPr>
            <a:spLocks noChangeArrowheads="1"/>
          </p:cNvSpPr>
          <p:nvPr/>
        </p:nvSpPr>
        <p:spPr bwMode="auto">
          <a:xfrm>
            <a:off x="6276002" y="5679025"/>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25" name="Rectangle 73"/>
          <p:cNvSpPr>
            <a:spLocks noChangeArrowheads="1"/>
          </p:cNvSpPr>
          <p:nvPr/>
        </p:nvSpPr>
        <p:spPr bwMode="auto">
          <a:xfrm>
            <a:off x="5826001" y="5229022"/>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6" name="Rectangle 73"/>
          <p:cNvSpPr>
            <a:spLocks noChangeArrowheads="1"/>
          </p:cNvSpPr>
          <p:nvPr/>
        </p:nvSpPr>
        <p:spPr bwMode="auto">
          <a:xfrm>
            <a:off x="6276006" y="5229022"/>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7" name="Rectangle 73"/>
          <p:cNvSpPr>
            <a:spLocks noChangeArrowheads="1"/>
          </p:cNvSpPr>
          <p:nvPr/>
        </p:nvSpPr>
        <p:spPr bwMode="auto">
          <a:xfrm>
            <a:off x="6726011" y="5229022"/>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8" name="正方形/長方形 27"/>
          <p:cNvSpPr/>
          <p:nvPr/>
        </p:nvSpPr>
        <p:spPr bwMode="auto">
          <a:xfrm>
            <a:off x="3215968" y="477901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I1: </a:t>
            </a:r>
            <a:r>
              <a:rPr lang="en-US" altLang="ja-JP" sz="1600" dirty="0" err="1">
                <a:latin typeface="Consolas" panose="020B0609020204030204" pitchFamily="49" charset="0"/>
              </a:rPr>
              <a:t>mul</a:t>
            </a:r>
            <a:r>
              <a:rPr lang="en-US" altLang="ja-JP" sz="1600" dirty="0">
                <a:latin typeface="Consolas" panose="020B0609020204030204" pitchFamily="49" charset="0"/>
              </a:rPr>
              <a:t> </a:t>
            </a:r>
            <a:r>
              <a:rPr lang="en-US" altLang="ja-JP" sz="1600" b="1" dirty="0">
                <a:solidFill>
                  <a:schemeClr val="accent4"/>
                </a:solidFill>
                <a:latin typeface="Consolas" panose="020B0609020204030204" pitchFamily="49" charset="0"/>
              </a:rPr>
              <a:t>x3</a:t>
            </a:r>
            <a:r>
              <a:rPr lang="ja-JP" altLang="en-US" sz="1600" dirty="0">
                <a:latin typeface="Consolas" panose="020B0609020204030204" pitchFamily="49" charset="0"/>
              </a:rPr>
              <a:t>←</a:t>
            </a:r>
            <a:r>
              <a:rPr lang="en-US" altLang="ja-JP" sz="1600" dirty="0">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29" name="正方形/長方形 28"/>
          <p:cNvSpPr/>
          <p:nvPr/>
        </p:nvSpPr>
        <p:spPr bwMode="auto">
          <a:xfrm>
            <a:off x="3215968" y="522902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I2: add </a:t>
            </a:r>
            <a:r>
              <a:rPr lang="en-US" altLang="ja-JP" sz="1600" b="1" dirty="0">
                <a:solidFill>
                  <a:schemeClr val="accent4"/>
                </a:solidFill>
                <a:latin typeface="Consolas" panose="020B0609020204030204" pitchFamily="49" charset="0"/>
              </a:rPr>
              <a:t>x3</a:t>
            </a:r>
            <a:r>
              <a:rPr lang="ja-JP" altLang="en-US" sz="1600" dirty="0">
                <a:latin typeface="Consolas" panose="020B0609020204030204" pitchFamily="49" charset="0"/>
              </a:rPr>
              <a:t>←</a:t>
            </a:r>
            <a:r>
              <a:rPr lang="en-US" altLang="ja-JP" sz="1600" b="1" dirty="0">
                <a:solidFill>
                  <a:schemeClr val="accent5"/>
                </a:solidFill>
                <a:latin typeface="Consolas" panose="020B0609020204030204" pitchFamily="49" charset="0"/>
              </a:rPr>
              <a:t>x1</a:t>
            </a:r>
            <a:r>
              <a:rPr lang="en-US" altLang="ja-JP" sz="1600" dirty="0">
                <a:latin typeface="Consolas" panose="020B0609020204030204" pitchFamily="49" charset="0"/>
              </a:rPr>
              <a:t>+1</a:t>
            </a:r>
            <a:endParaRPr lang="ja-JP" altLang="en-US" sz="1600" dirty="0"/>
          </a:p>
        </p:txBody>
      </p:sp>
      <p:sp>
        <p:nvSpPr>
          <p:cNvPr id="30" name="正方形/長方形 29"/>
          <p:cNvSpPr/>
          <p:nvPr/>
        </p:nvSpPr>
        <p:spPr bwMode="auto">
          <a:xfrm>
            <a:off x="3215968" y="567902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I3: sub </a:t>
            </a:r>
            <a:r>
              <a:rPr lang="en-US" altLang="ja-JP" sz="1600" b="1" dirty="0">
                <a:solidFill>
                  <a:schemeClr val="accent5"/>
                </a:solidFill>
                <a:latin typeface="Consolas" panose="020B0609020204030204" pitchFamily="49" charset="0"/>
              </a:rPr>
              <a:t>x1</a:t>
            </a:r>
            <a:r>
              <a:rPr lang="ja-JP" altLang="en-US" sz="1600" dirty="0">
                <a:latin typeface="Consolas" panose="020B0609020204030204" pitchFamily="49" charset="0"/>
              </a:rPr>
              <a:t>←</a:t>
            </a:r>
            <a:r>
              <a:rPr lang="en-US" altLang="ja-JP" sz="1600" dirty="0">
                <a:latin typeface="Consolas" panose="020B0609020204030204" pitchFamily="49" charset="0"/>
              </a:rPr>
              <a:t>x5-1</a:t>
            </a:r>
            <a:endParaRPr lang="ja-JP" altLang="en-US" sz="1600" dirty="0"/>
          </a:p>
        </p:txBody>
      </p:sp>
      <p:sp>
        <p:nvSpPr>
          <p:cNvPr id="31" name="Rectangle 69"/>
          <p:cNvSpPr>
            <a:spLocks noChangeArrowheads="1"/>
          </p:cNvSpPr>
          <p:nvPr/>
        </p:nvSpPr>
        <p:spPr bwMode="auto">
          <a:xfrm>
            <a:off x="5825997" y="612903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32" name="Rectangle 70"/>
          <p:cNvSpPr>
            <a:spLocks noChangeArrowheads="1"/>
          </p:cNvSpPr>
          <p:nvPr/>
        </p:nvSpPr>
        <p:spPr bwMode="auto">
          <a:xfrm>
            <a:off x="6275998" y="612903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33" name="Rectangle 71"/>
          <p:cNvSpPr>
            <a:spLocks noChangeArrowheads="1"/>
          </p:cNvSpPr>
          <p:nvPr/>
        </p:nvSpPr>
        <p:spPr bwMode="auto">
          <a:xfrm>
            <a:off x="7176012" y="6129030"/>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34" name="Rectangle 73"/>
          <p:cNvSpPr>
            <a:spLocks noChangeArrowheads="1"/>
          </p:cNvSpPr>
          <p:nvPr/>
        </p:nvSpPr>
        <p:spPr bwMode="auto">
          <a:xfrm>
            <a:off x="7626017" y="6129030"/>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cxnSp>
        <p:nvCxnSpPr>
          <p:cNvPr id="35" name="直線コネクタ 34"/>
          <p:cNvCxnSpPr>
            <a:stCxn id="37" idx="3"/>
            <a:endCxn id="31" idx="1"/>
          </p:cNvCxnSpPr>
          <p:nvPr/>
        </p:nvCxnSpPr>
        <p:spPr bwMode="auto">
          <a:xfrm flipV="1">
            <a:off x="3935977" y="6309030"/>
            <a:ext cx="1890021" cy="4"/>
          </a:xfrm>
          <a:prstGeom prst="line">
            <a:avLst/>
          </a:prstGeom>
          <a:noFill/>
          <a:ln w="9525" cap="flat" cmpd="sng" algn="ctr">
            <a:solidFill>
              <a:schemeClr val="tx1"/>
            </a:solidFill>
            <a:prstDash val="dash"/>
            <a:round/>
            <a:headEnd type="none" w="med" len="med"/>
            <a:tailEnd type="none" w="med" len="med"/>
          </a:ln>
          <a:effectLst/>
        </p:spPr>
      </p:cxnSp>
      <p:sp>
        <p:nvSpPr>
          <p:cNvPr id="36" name="Rectangle 70"/>
          <p:cNvSpPr>
            <a:spLocks noChangeArrowheads="1"/>
          </p:cNvSpPr>
          <p:nvPr/>
        </p:nvSpPr>
        <p:spPr bwMode="auto">
          <a:xfrm>
            <a:off x="6726003" y="6129030"/>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37" name="正方形/長方形 36"/>
          <p:cNvSpPr/>
          <p:nvPr/>
        </p:nvSpPr>
        <p:spPr bwMode="auto">
          <a:xfrm>
            <a:off x="3215968" y="612903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I4: and </a:t>
            </a:r>
            <a:r>
              <a:rPr lang="en-US" altLang="ja-JP" sz="1600" dirty="0">
                <a:solidFill>
                  <a:schemeClr val="tx1">
                    <a:lumMod val="75000"/>
                    <a:lumOff val="25000"/>
                  </a:schemeClr>
                </a:solidFill>
                <a:latin typeface="Consolas" panose="020B0609020204030204" pitchFamily="49" charset="0"/>
              </a:rPr>
              <a:t>x6</a:t>
            </a:r>
            <a:r>
              <a:rPr lang="ja-JP" altLang="en-US" sz="1600" dirty="0">
                <a:latin typeface="Consolas" panose="020B0609020204030204" pitchFamily="49" charset="0"/>
              </a:rPr>
              <a:t>←</a:t>
            </a:r>
            <a:r>
              <a:rPr lang="en-US" altLang="ja-JP" sz="1600" dirty="0">
                <a:latin typeface="Consolas" panose="020B0609020204030204" pitchFamily="49" charset="0"/>
              </a:rPr>
              <a:t>x7&amp;1</a:t>
            </a:r>
            <a:endParaRPr lang="ja-JP" altLang="en-US" sz="1600" dirty="0"/>
          </a:p>
        </p:txBody>
      </p:sp>
    </p:spTree>
    <p:extLst>
      <p:ext uri="{BB962C8B-B14F-4D97-AF65-F5344CB8AC3E}">
        <p14:creationId xmlns:p14="http://schemas.microsoft.com/office/powerpoint/2010/main" val="26753942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43CB61-8611-42CA-808E-91C6420F0D8E}"/>
              </a:ext>
            </a:extLst>
          </p:cNvPr>
          <p:cNvSpPr>
            <a:spLocks noGrp="1"/>
          </p:cNvSpPr>
          <p:nvPr>
            <p:ph type="title"/>
          </p:nvPr>
        </p:nvSpPr>
        <p:spPr/>
        <p:txBody>
          <a:bodyPr/>
          <a:lstStyle/>
          <a:p>
            <a:r>
              <a:rPr kumimoji="1" lang="en-US" altLang="ja-JP" dirty="0"/>
              <a:t>out-of-order </a:t>
            </a:r>
            <a:r>
              <a:rPr kumimoji="1" lang="ja-JP" altLang="en-US" dirty="0"/>
              <a:t>発行を行う方式</a:t>
            </a:r>
          </a:p>
        </p:txBody>
      </p:sp>
      <p:sp>
        <p:nvSpPr>
          <p:cNvPr id="3" name="テキスト プレースホルダー 2">
            <a:extLst>
              <a:ext uri="{FF2B5EF4-FFF2-40B4-BE49-F238E27FC236}">
                <a16:creationId xmlns:a16="http://schemas.microsoft.com/office/drawing/2014/main" id="{5B9E841D-D061-43BF-863E-1FCAF9463A70}"/>
              </a:ext>
            </a:extLst>
          </p:cNvPr>
          <p:cNvSpPr>
            <a:spLocks noGrp="1"/>
          </p:cNvSpPr>
          <p:nvPr>
            <p:ph type="body" sz="quarter" idx="10"/>
          </p:nvPr>
        </p:nvSpPr>
        <p:spPr/>
        <p:txBody>
          <a:bodyPr/>
          <a:lstStyle/>
          <a:p>
            <a:pPr marL="457200" indent="-457200">
              <a:buFont typeface="+mj-lt"/>
              <a:buAutoNum type="arabicPeriod"/>
            </a:pPr>
            <a:r>
              <a:rPr lang="ja-JP" altLang="en-US" dirty="0"/>
              <a:t>トマスロ方式</a:t>
            </a:r>
            <a:endParaRPr lang="en-US" altLang="ja-JP" dirty="0"/>
          </a:p>
          <a:p>
            <a:pPr lvl="1"/>
            <a:r>
              <a:rPr lang="en-US" altLang="ja-JP" dirty="0"/>
              <a:t>IBM System/360 </a:t>
            </a:r>
            <a:r>
              <a:rPr lang="ja-JP" altLang="en-US" dirty="0"/>
              <a:t>で初めて実装された</a:t>
            </a:r>
            <a:endParaRPr lang="en-US" altLang="ja-JP" dirty="0"/>
          </a:p>
          <a:p>
            <a:pPr lvl="1"/>
            <a:r>
              <a:rPr kumimoji="1" lang="ja-JP" altLang="en-US" dirty="0"/>
              <a:t>トマスロ</a:t>
            </a:r>
            <a:r>
              <a:rPr lang="ja-JP" altLang="en-US" dirty="0"/>
              <a:t>（</a:t>
            </a:r>
            <a:r>
              <a:rPr lang="en-US" altLang="ja-JP" dirty="0" err="1"/>
              <a:t>Tomasulo</a:t>
            </a:r>
            <a:r>
              <a:rPr lang="ja-JP" altLang="en-US" dirty="0"/>
              <a:t>）のアルゴリズムとして知られる</a:t>
            </a:r>
            <a:endParaRPr lang="en-US" altLang="ja-JP" dirty="0"/>
          </a:p>
          <a:p>
            <a:pPr marL="457200" indent="-457200">
              <a:buFont typeface="+mj-lt"/>
              <a:buAutoNum type="arabicPeriod"/>
            </a:pPr>
            <a:r>
              <a:rPr kumimoji="1" lang="ja-JP" altLang="en-US" dirty="0"/>
              <a:t>物理レジスタ方式</a:t>
            </a:r>
            <a:endParaRPr kumimoji="1" lang="en-US" altLang="ja-JP" dirty="0"/>
          </a:p>
          <a:p>
            <a:pPr lvl="1"/>
            <a:r>
              <a:rPr kumimoji="1" lang="en-US" altLang="ja-JP" dirty="0"/>
              <a:t>MIPS R10000 </a:t>
            </a:r>
            <a:r>
              <a:rPr kumimoji="1" lang="ja-JP" altLang="en-US" dirty="0"/>
              <a:t>で初めて実装された（と思う）</a:t>
            </a:r>
            <a:endParaRPr kumimoji="1" lang="en-US" altLang="ja-JP" dirty="0"/>
          </a:p>
          <a:p>
            <a:r>
              <a:rPr lang="ja-JP" altLang="en-US" dirty="0"/>
              <a:t>現在主流なのは後者</a:t>
            </a:r>
            <a:endParaRPr lang="en-US" altLang="ja-JP" dirty="0"/>
          </a:p>
          <a:p>
            <a:pPr lvl="1"/>
            <a:r>
              <a:rPr lang="ja-JP" altLang="en-US" dirty="0"/>
              <a:t>構造がより単純で設計しやすく性能も出やすいから</a:t>
            </a:r>
            <a:endParaRPr lang="en-US" altLang="ja-JP" dirty="0"/>
          </a:p>
          <a:p>
            <a:pPr lvl="1"/>
            <a:r>
              <a:rPr lang="ja-JP" altLang="en-US" dirty="0"/>
              <a:t>文献では２者の関係があまり書かれていないが，</a:t>
            </a:r>
            <a:br>
              <a:rPr lang="en-US" altLang="ja-JP" dirty="0"/>
            </a:br>
            <a:r>
              <a:rPr lang="ja-JP" altLang="en-US" dirty="0"/>
              <a:t>これらはかなり構造が違う</a:t>
            </a:r>
            <a:endParaRPr lang="en-US" altLang="ja-JP" dirty="0"/>
          </a:p>
          <a:p>
            <a:r>
              <a:rPr kumimoji="1" lang="ja-JP" altLang="en-US" dirty="0">
                <a:solidFill>
                  <a:schemeClr val="accent5"/>
                </a:solidFill>
              </a:rPr>
              <a:t>とりあえず以降では後者の物理レジスタ方式の説明を行う</a:t>
            </a:r>
            <a:endParaRPr kumimoji="1" lang="en-US" altLang="ja-JP" dirty="0">
              <a:solidFill>
                <a:schemeClr val="accent5"/>
              </a:solidFill>
            </a:endParaRPr>
          </a:p>
        </p:txBody>
      </p:sp>
    </p:spTree>
    <p:extLst>
      <p:ext uri="{BB962C8B-B14F-4D97-AF65-F5344CB8AC3E}">
        <p14:creationId xmlns:p14="http://schemas.microsoft.com/office/powerpoint/2010/main" val="26126943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レジスタ・リネーム</a:t>
            </a:r>
          </a:p>
        </p:txBody>
      </p:sp>
      <p:sp>
        <p:nvSpPr>
          <p:cNvPr id="3" name="テキスト プレースホルダー 2"/>
          <p:cNvSpPr>
            <a:spLocks noGrp="1"/>
          </p:cNvSpPr>
          <p:nvPr>
            <p:ph type="body" sz="quarter" idx="10"/>
          </p:nvPr>
        </p:nvSpPr>
        <p:spPr>
          <a:xfrm>
            <a:off x="2135956" y="1268977"/>
            <a:ext cx="8280092" cy="3150035"/>
          </a:xfrm>
        </p:spPr>
        <p:txBody>
          <a:bodyPr/>
          <a:lstStyle/>
          <a:p>
            <a:r>
              <a:rPr kumimoji="1" lang="ja-JP" altLang="en-US" dirty="0"/>
              <a:t>目的：出力依存と逆依存を取り除く</a:t>
            </a:r>
            <a:endParaRPr kumimoji="1" lang="en-US" altLang="ja-JP" dirty="0"/>
          </a:p>
          <a:p>
            <a:pPr lvl="1"/>
            <a:r>
              <a:rPr kumimoji="1" lang="ja-JP" altLang="en-US" dirty="0"/>
              <a:t>真の依存にのみ従って発行を行うことができるように</a:t>
            </a:r>
            <a:endParaRPr kumimoji="1" lang="en-US" altLang="ja-JP" dirty="0"/>
          </a:p>
          <a:p>
            <a:r>
              <a:rPr lang="ja-JP" altLang="en-US" dirty="0"/>
              <a:t>方針：レジスタの名前を付け替える</a:t>
            </a:r>
            <a:endParaRPr lang="en-US" altLang="ja-JP" dirty="0"/>
          </a:p>
          <a:p>
            <a:pPr lvl="1"/>
            <a:r>
              <a:rPr kumimoji="1" lang="ja-JP" altLang="en-US" dirty="0"/>
              <a:t>偽の依存の原因 </a:t>
            </a:r>
            <a:r>
              <a:rPr kumimoji="1" lang="en-US" altLang="ja-JP" dirty="0"/>
              <a:t>= </a:t>
            </a:r>
            <a:r>
              <a:rPr kumimoji="1" lang="ja-JP" altLang="en-US" dirty="0">
                <a:solidFill>
                  <a:schemeClr val="accent5"/>
                </a:solidFill>
              </a:rPr>
              <a:t>同じレジスタの使い回し</a:t>
            </a:r>
            <a:endParaRPr kumimoji="1" lang="en-US" altLang="ja-JP" dirty="0">
              <a:solidFill>
                <a:schemeClr val="accent5"/>
              </a:solidFill>
            </a:endParaRPr>
          </a:p>
          <a:p>
            <a:pPr lvl="1"/>
            <a:r>
              <a:rPr kumimoji="1" lang="ja-JP" altLang="en-US" dirty="0"/>
              <a:t>ディスティネーションに専用のレジスタを動的に毎回新しく</a:t>
            </a:r>
            <a:br>
              <a:rPr kumimoji="1" lang="en-US" altLang="ja-JP" dirty="0"/>
            </a:br>
            <a:r>
              <a:rPr kumimoji="1" lang="ja-JP" altLang="en-US" dirty="0"/>
              <a:t>割り当てる</a:t>
            </a:r>
            <a:endParaRPr kumimoji="1" lang="en-US" altLang="ja-JP" dirty="0"/>
          </a:p>
          <a:p>
            <a:pPr lvl="2"/>
            <a:r>
              <a:rPr kumimoji="1" lang="ja-JP" altLang="en-US" dirty="0"/>
              <a:t>レジスタ番号がかぶらないので，</a:t>
            </a:r>
            <a:br>
              <a:rPr kumimoji="1" lang="en-US" altLang="ja-JP" dirty="0"/>
            </a:br>
            <a:r>
              <a:rPr kumimoji="1" lang="ja-JP" altLang="en-US" dirty="0"/>
              <a:t>他の命令との間で</a:t>
            </a:r>
            <a:r>
              <a:rPr lang="ja-JP" altLang="en-US" dirty="0"/>
              <a:t>出力依存や逆依存は生じなくなる</a:t>
            </a:r>
            <a:endParaRPr lang="en-US" altLang="ja-JP" dirty="0"/>
          </a:p>
        </p:txBody>
      </p:sp>
      <p:sp>
        <p:nvSpPr>
          <p:cNvPr id="4" name="正方形/長方形 3"/>
          <p:cNvSpPr/>
          <p:nvPr/>
        </p:nvSpPr>
        <p:spPr bwMode="auto">
          <a:xfrm>
            <a:off x="3935976" y="468901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I1: </a:t>
            </a:r>
            <a:r>
              <a:rPr lang="en-US" altLang="ja-JP" sz="1600" dirty="0" err="1">
                <a:latin typeface="Consolas" panose="020B0609020204030204" pitchFamily="49" charset="0"/>
              </a:rPr>
              <a:t>mul</a:t>
            </a:r>
            <a:r>
              <a:rPr lang="en-US" altLang="ja-JP" sz="1600" dirty="0">
                <a:latin typeface="Consolas" panose="020B0609020204030204" pitchFamily="49" charset="0"/>
              </a:rPr>
              <a:t> </a:t>
            </a:r>
            <a:r>
              <a:rPr lang="en-US" altLang="ja-JP" sz="1600" b="1" dirty="0">
                <a:solidFill>
                  <a:schemeClr val="accent4"/>
                </a:solidFill>
                <a:latin typeface="Consolas" panose="020B0609020204030204" pitchFamily="49" charset="0"/>
              </a:rPr>
              <a:t>x3</a:t>
            </a:r>
            <a:r>
              <a:rPr lang="ja-JP" altLang="en-US" sz="1600" dirty="0">
                <a:latin typeface="Consolas" panose="020B0609020204030204" pitchFamily="49" charset="0"/>
              </a:rPr>
              <a:t>←</a:t>
            </a:r>
            <a:r>
              <a:rPr lang="en-US" altLang="ja-JP" sz="1600" dirty="0">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5" name="正方形/長方形 4"/>
          <p:cNvSpPr/>
          <p:nvPr/>
        </p:nvSpPr>
        <p:spPr bwMode="auto">
          <a:xfrm>
            <a:off x="3935976" y="513901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I2: add </a:t>
            </a:r>
            <a:r>
              <a:rPr lang="en-US" altLang="ja-JP" sz="1600" b="1" dirty="0">
                <a:solidFill>
                  <a:schemeClr val="accent4"/>
                </a:solidFill>
                <a:latin typeface="Consolas" panose="020B0609020204030204" pitchFamily="49" charset="0"/>
              </a:rPr>
              <a:t>x3</a:t>
            </a:r>
            <a:r>
              <a:rPr lang="ja-JP" altLang="en-US" sz="1600" dirty="0">
                <a:latin typeface="Consolas" panose="020B0609020204030204" pitchFamily="49" charset="0"/>
              </a:rPr>
              <a:t>←</a:t>
            </a:r>
            <a:r>
              <a:rPr lang="en-US" altLang="ja-JP" sz="1600" b="1" dirty="0">
                <a:solidFill>
                  <a:schemeClr val="accent5"/>
                </a:solidFill>
                <a:latin typeface="Consolas" panose="020B0609020204030204" pitchFamily="49" charset="0"/>
              </a:rPr>
              <a:t>x1</a:t>
            </a:r>
            <a:r>
              <a:rPr lang="en-US" altLang="ja-JP" sz="1600" dirty="0">
                <a:latin typeface="Consolas" panose="020B0609020204030204" pitchFamily="49" charset="0"/>
              </a:rPr>
              <a:t>+1</a:t>
            </a:r>
            <a:endParaRPr lang="ja-JP" altLang="en-US" sz="1600" dirty="0"/>
          </a:p>
        </p:txBody>
      </p:sp>
      <p:sp>
        <p:nvSpPr>
          <p:cNvPr id="6" name="正方形/長方形 5"/>
          <p:cNvSpPr/>
          <p:nvPr/>
        </p:nvSpPr>
        <p:spPr bwMode="auto">
          <a:xfrm>
            <a:off x="3935976" y="558902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I3: sub </a:t>
            </a:r>
            <a:r>
              <a:rPr lang="en-US" altLang="ja-JP" sz="1600" b="1" dirty="0">
                <a:solidFill>
                  <a:schemeClr val="accent5"/>
                </a:solidFill>
                <a:latin typeface="Consolas" panose="020B0609020204030204" pitchFamily="49" charset="0"/>
              </a:rPr>
              <a:t>x1</a:t>
            </a:r>
            <a:r>
              <a:rPr lang="ja-JP" altLang="en-US" sz="1600" dirty="0">
                <a:latin typeface="Consolas" panose="020B0609020204030204" pitchFamily="49" charset="0"/>
              </a:rPr>
              <a:t>←</a:t>
            </a:r>
            <a:r>
              <a:rPr lang="en-US" altLang="ja-JP" sz="1600" dirty="0">
                <a:latin typeface="Consolas" panose="020B0609020204030204" pitchFamily="49" charset="0"/>
              </a:rPr>
              <a:t>x5-1</a:t>
            </a:r>
            <a:endParaRPr lang="ja-JP" altLang="en-US" sz="1600" dirty="0"/>
          </a:p>
        </p:txBody>
      </p:sp>
      <p:sp>
        <p:nvSpPr>
          <p:cNvPr id="7" name="正方形/長方形 6"/>
          <p:cNvSpPr/>
          <p:nvPr/>
        </p:nvSpPr>
        <p:spPr bwMode="auto">
          <a:xfrm>
            <a:off x="3935976" y="603902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I4: and </a:t>
            </a:r>
            <a:r>
              <a:rPr lang="en-US" altLang="ja-JP" sz="1600" dirty="0">
                <a:solidFill>
                  <a:schemeClr val="tx1">
                    <a:lumMod val="75000"/>
                    <a:lumOff val="25000"/>
                  </a:schemeClr>
                </a:solidFill>
                <a:latin typeface="Consolas" panose="020B0609020204030204" pitchFamily="49" charset="0"/>
              </a:rPr>
              <a:t>x6</a:t>
            </a:r>
            <a:r>
              <a:rPr lang="ja-JP" altLang="en-US" sz="1600" dirty="0">
                <a:latin typeface="Consolas" panose="020B0609020204030204" pitchFamily="49" charset="0"/>
              </a:rPr>
              <a:t>←</a:t>
            </a:r>
            <a:r>
              <a:rPr lang="en-US" altLang="ja-JP" sz="1600" dirty="0">
                <a:latin typeface="Consolas" panose="020B0609020204030204" pitchFamily="49" charset="0"/>
              </a:rPr>
              <a:t>x7&amp;1</a:t>
            </a:r>
            <a:endParaRPr lang="ja-JP" altLang="en-US" sz="1600" dirty="0"/>
          </a:p>
        </p:txBody>
      </p:sp>
      <p:sp>
        <p:nvSpPr>
          <p:cNvPr id="8" name="右矢印 7"/>
          <p:cNvSpPr/>
          <p:nvPr/>
        </p:nvSpPr>
        <p:spPr bwMode="auto">
          <a:xfrm>
            <a:off x="5195990" y="5229021"/>
            <a:ext cx="720008" cy="630007"/>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 name="正方形/長方形 8"/>
          <p:cNvSpPr/>
          <p:nvPr/>
        </p:nvSpPr>
        <p:spPr bwMode="auto">
          <a:xfrm>
            <a:off x="7626017" y="468901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I1: </a:t>
            </a:r>
            <a:r>
              <a:rPr lang="en-US" altLang="ja-JP" sz="1600" dirty="0" err="1">
                <a:solidFill>
                  <a:schemeClr val="tx1">
                    <a:lumMod val="75000"/>
                    <a:lumOff val="25000"/>
                  </a:schemeClr>
                </a:solidFill>
                <a:latin typeface="Consolas" panose="020B0609020204030204" pitchFamily="49" charset="0"/>
              </a:rPr>
              <a:t>mul</a:t>
            </a:r>
            <a:r>
              <a:rPr lang="en-US" altLang="ja-JP" sz="1600" dirty="0">
                <a:solidFill>
                  <a:schemeClr val="tx1">
                    <a:lumMod val="75000"/>
                    <a:lumOff val="25000"/>
                  </a:schemeClr>
                </a:solidFill>
                <a:latin typeface="Consolas" panose="020B0609020204030204" pitchFamily="49" charset="0"/>
              </a:rPr>
              <a:t> </a:t>
            </a:r>
            <a:r>
              <a:rPr lang="en-US" altLang="ja-JP" sz="1600" b="1" dirty="0">
                <a:solidFill>
                  <a:schemeClr val="accent6"/>
                </a:solidFill>
                <a:latin typeface="Consolas" panose="020B0609020204030204" pitchFamily="49" charset="0"/>
              </a:rPr>
              <a:t>p20</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p12*4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10" name="正方形/長方形 9"/>
          <p:cNvSpPr/>
          <p:nvPr/>
        </p:nvSpPr>
        <p:spPr bwMode="auto">
          <a:xfrm>
            <a:off x="7626017" y="513901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I2: add </a:t>
            </a:r>
            <a:r>
              <a:rPr lang="en-US" altLang="ja-JP" sz="1600" b="1" dirty="0">
                <a:solidFill>
                  <a:schemeClr val="accent6"/>
                </a:solidFill>
                <a:latin typeface="Consolas" panose="020B0609020204030204" pitchFamily="49" charset="0"/>
              </a:rPr>
              <a:t>p21</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p11+1</a:t>
            </a:r>
            <a:endParaRPr lang="ja-JP" altLang="en-US" sz="1600" dirty="0">
              <a:solidFill>
                <a:schemeClr val="tx1">
                  <a:lumMod val="75000"/>
                  <a:lumOff val="25000"/>
                </a:schemeClr>
              </a:solidFill>
            </a:endParaRPr>
          </a:p>
        </p:txBody>
      </p:sp>
      <p:sp>
        <p:nvSpPr>
          <p:cNvPr id="11" name="正方形/長方形 10"/>
          <p:cNvSpPr/>
          <p:nvPr/>
        </p:nvSpPr>
        <p:spPr bwMode="auto">
          <a:xfrm>
            <a:off x="7626017" y="558902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I3: sub </a:t>
            </a:r>
            <a:r>
              <a:rPr lang="en-US" altLang="ja-JP" sz="1600" b="1" dirty="0">
                <a:solidFill>
                  <a:schemeClr val="accent6"/>
                </a:solidFill>
                <a:latin typeface="Consolas" panose="020B0609020204030204" pitchFamily="49" charset="0"/>
              </a:rPr>
              <a:t>p22</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p15-1</a:t>
            </a:r>
            <a:endParaRPr lang="ja-JP" altLang="en-US" sz="1600" dirty="0">
              <a:solidFill>
                <a:schemeClr val="tx1">
                  <a:lumMod val="75000"/>
                  <a:lumOff val="25000"/>
                </a:schemeClr>
              </a:solidFill>
            </a:endParaRPr>
          </a:p>
        </p:txBody>
      </p:sp>
      <p:sp>
        <p:nvSpPr>
          <p:cNvPr id="12" name="正方形/長方形 11"/>
          <p:cNvSpPr/>
          <p:nvPr/>
        </p:nvSpPr>
        <p:spPr bwMode="auto">
          <a:xfrm>
            <a:off x="7626017" y="603902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I4: and </a:t>
            </a:r>
            <a:r>
              <a:rPr lang="en-US" altLang="ja-JP" sz="1600" b="1" dirty="0">
                <a:solidFill>
                  <a:schemeClr val="accent6"/>
                </a:solidFill>
                <a:latin typeface="Consolas" panose="020B0609020204030204" pitchFamily="49" charset="0"/>
              </a:rPr>
              <a:t>p23</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p17&amp;1</a:t>
            </a:r>
            <a:endParaRPr lang="ja-JP" altLang="en-US" sz="1600" dirty="0">
              <a:solidFill>
                <a:schemeClr val="tx1">
                  <a:lumMod val="75000"/>
                  <a:lumOff val="25000"/>
                </a:schemeClr>
              </a:solidFill>
            </a:endParaRPr>
          </a:p>
        </p:txBody>
      </p:sp>
    </p:spTree>
    <p:extLst>
      <p:ext uri="{BB962C8B-B14F-4D97-AF65-F5344CB8AC3E}">
        <p14:creationId xmlns:p14="http://schemas.microsoft.com/office/powerpoint/2010/main" val="31040706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レジスタ・リネーム</a:t>
            </a:r>
          </a:p>
        </p:txBody>
      </p:sp>
      <p:sp>
        <p:nvSpPr>
          <p:cNvPr id="3" name="テキスト プレースホルダー 2"/>
          <p:cNvSpPr>
            <a:spLocks noGrp="1"/>
          </p:cNvSpPr>
          <p:nvPr>
            <p:ph type="body" sz="quarter" idx="10"/>
          </p:nvPr>
        </p:nvSpPr>
        <p:spPr>
          <a:xfrm>
            <a:off x="2135956" y="1088975"/>
            <a:ext cx="8280092" cy="3150035"/>
          </a:xfrm>
        </p:spPr>
        <p:txBody>
          <a:bodyPr/>
          <a:lstStyle/>
          <a:p>
            <a:r>
              <a:rPr kumimoji="1" lang="ja-JP" altLang="en-US" dirty="0"/>
              <a:t>論理レジスタ：</a:t>
            </a:r>
            <a:endParaRPr kumimoji="1" lang="en-US" altLang="ja-JP" dirty="0"/>
          </a:p>
          <a:p>
            <a:pPr lvl="1"/>
            <a:r>
              <a:rPr lang="ja-JP" altLang="en-US" dirty="0"/>
              <a:t>命令セットで定義されているレジスタ</a:t>
            </a:r>
            <a:endParaRPr lang="en-US" altLang="ja-JP" dirty="0"/>
          </a:p>
          <a:p>
            <a:pPr lvl="1"/>
            <a:r>
              <a:rPr lang="ja-JP" altLang="en-US" dirty="0"/>
              <a:t>プログラマから見える</a:t>
            </a:r>
            <a:endParaRPr lang="en-US" altLang="ja-JP" dirty="0"/>
          </a:p>
          <a:p>
            <a:r>
              <a:rPr lang="ja-JP" altLang="en-US" dirty="0"/>
              <a:t>物理レジスタ：</a:t>
            </a:r>
            <a:endParaRPr lang="en-US" altLang="ja-JP" dirty="0"/>
          </a:p>
          <a:p>
            <a:pPr lvl="1"/>
            <a:r>
              <a:rPr lang="ja-JP" altLang="en-US" dirty="0"/>
              <a:t>レジスタ・リネームによって割り当てられる内部のレジスタ</a:t>
            </a:r>
            <a:endParaRPr lang="en-US" altLang="ja-JP" dirty="0"/>
          </a:p>
          <a:p>
            <a:pPr lvl="1"/>
            <a:r>
              <a:rPr lang="ja-JP" altLang="en-US" dirty="0"/>
              <a:t>通常論理レジスタの数倍程度の数を用意する</a:t>
            </a:r>
            <a:endParaRPr lang="en-US" altLang="ja-JP" dirty="0"/>
          </a:p>
          <a:p>
            <a:pPr lvl="1"/>
            <a:r>
              <a:rPr lang="ja-JP" altLang="en-US" dirty="0"/>
              <a:t>プログラマからは見えない</a:t>
            </a:r>
            <a:endParaRPr lang="en-US" altLang="ja-JP" dirty="0"/>
          </a:p>
        </p:txBody>
      </p:sp>
      <p:sp>
        <p:nvSpPr>
          <p:cNvPr id="4" name="正方形/長方形 3"/>
          <p:cNvSpPr/>
          <p:nvPr/>
        </p:nvSpPr>
        <p:spPr bwMode="auto">
          <a:xfrm>
            <a:off x="3935976" y="468901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I1: </a:t>
            </a:r>
            <a:r>
              <a:rPr lang="en-US" altLang="ja-JP" sz="1600" dirty="0" err="1">
                <a:latin typeface="Consolas" panose="020B0609020204030204" pitchFamily="49" charset="0"/>
              </a:rPr>
              <a:t>mul</a:t>
            </a:r>
            <a:r>
              <a:rPr lang="en-US" altLang="ja-JP" sz="1600" dirty="0">
                <a:latin typeface="Consolas" panose="020B0609020204030204" pitchFamily="49" charset="0"/>
              </a:rPr>
              <a:t> </a:t>
            </a:r>
            <a:r>
              <a:rPr lang="en-US" altLang="ja-JP" sz="1600" b="1" dirty="0">
                <a:solidFill>
                  <a:schemeClr val="accent4"/>
                </a:solidFill>
                <a:latin typeface="Consolas" panose="020B0609020204030204" pitchFamily="49" charset="0"/>
              </a:rPr>
              <a:t>x3</a:t>
            </a:r>
            <a:r>
              <a:rPr lang="ja-JP" altLang="en-US" sz="1600" dirty="0">
                <a:latin typeface="Consolas" panose="020B0609020204030204" pitchFamily="49" charset="0"/>
              </a:rPr>
              <a:t>←</a:t>
            </a:r>
            <a:r>
              <a:rPr lang="en-US" altLang="ja-JP" sz="1600" dirty="0">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5" name="正方形/長方形 4"/>
          <p:cNvSpPr/>
          <p:nvPr/>
        </p:nvSpPr>
        <p:spPr bwMode="auto">
          <a:xfrm>
            <a:off x="3935976" y="513901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I2: add </a:t>
            </a:r>
            <a:r>
              <a:rPr lang="en-US" altLang="ja-JP" sz="1600" b="1" dirty="0">
                <a:solidFill>
                  <a:schemeClr val="accent4"/>
                </a:solidFill>
                <a:latin typeface="Consolas" panose="020B0609020204030204" pitchFamily="49" charset="0"/>
              </a:rPr>
              <a:t>x3</a:t>
            </a:r>
            <a:r>
              <a:rPr lang="ja-JP" altLang="en-US" sz="1600" dirty="0">
                <a:latin typeface="Consolas" panose="020B0609020204030204" pitchFamily="49" charset="0"/>
              </a:rPr>
              <a:t>←</a:t>
            </a:r>
            <a:r>
              <a:rPr lang="en-US" altLang="ja-JP" sz="1600" b="1" dirty="0">
                <a:solidFill>
                  <a:schemeClr val="accent5"/>
                </a:solidFill>
                <a:latin typeface="Consolas" panose="020B0609020204030204" pitchFamily="49" charset="0"/>
              </a:rPr>
              <a:t>x1</a:t>
            </a:r>
            <a:r>
              <a:rPr lang="en-US" altLang="ja-JP" sz="1600" dirty="0">
                <a:latin typeface="Consolas" panose="020B0609020204030204" pitchFamily="49" charset="0"/>
              </a:rPr>
              <a:t>+1</a:t>
            </a:r>
            <a:endParaRPr lang="ja-JP" altLang="en-US" sz="1600" dirty="0"/>
          </a:p>
        </p:txBody>
      </p:sp>
      <p:sp>
        <p:nvSpPr>
          <p:cNvPr id="6" name="正方形/長方形 5"/>
          <p:cNvSpPr/>
          <p:nvPr/>
        </p:nvSpPr>
        <p:spPr bwMode="auto">
          <a:xfrm>
            <a:off x="3935976" y="558902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I3: sub </a:t>
            </a:r>
            <a:r>
              <a:rPr lang="en-US" altLang="ja-JP" sz="1600" b="1" dirty="0">
                <a:solidFill>
                  <a:schemeClr val="accent5"/>
                </a:solidFill>
                <a:latin typeface="Consolas" panose="020B0609020204030204" pitchFamily="49" charset="0"/>
              </a:rPr>
              <a:t>x1</a:t>
            </a:r>
            <a:r>
              <a:rPr lang="ja-JP" altLang="en-US" sz="1600" dirty="0">
                <a:latin typeface="Consolas" panose="020B0609020204030204" pitchFamily="49" charset="0"/>
              </a:rPr>
              <a:t>←</a:t>
            </a:r>
            <a:r>
              <a:rPr lang="en-US" altLang="ja-JP" sz="1600" dirty="0">
                <a:latin typeface="Consolas" panose="020B0609020204030204" pitchFamily="49" charset="0"/>
              </a:rPr>
              <a:t>x5-1</a:t>
            </a:r>
            <a:endParaRPr lang="ja-JP" altLang="en-US" sz="1600" dirty="0"/>
          </a:p>
        </p:txBody>
      </p:sp>
      <p:sp>
        <p:nvSpPr>
          <p:cNvPr id="7" name="正方形/長方形 6"/>
          <p:cNvSpPr/>
          <p:nvPr/>
        </p:nvSpPr>
        <p:spPr bwMode="auto">
          <a:xfrm>
            <a:off x="3935976" y="603902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I4: and </a:t>
            </a:r>
            <a:r>
              <a:rPr lang="en-US" altLang="ja-JP" sz="1600" dirty="0">
                <a:solidFill>
                  <a:schemeClr val="tx1">
                    <a:lumMod val="75000"/>
                    <a:lumOff val="25000"/>
                  </a:schemeClr>
                </a:solidFill>
                <a:latin typeface="Consolas" panose="020B0609020204030204" pitchFamily="49" charset="0"/>
              </a:rPr>
              <a:t>x6</a:t>
            </a:r>
            <a:r>
              <a:rPr lang="ja-JP" altLang="en-US" sz="1600" dirty="0">
                <a:latin typeface="Consolas" panose="020B0609020204030204" pitchFamily="49" charset="0"/>
              </a:rPr>
              <a:t>←</a:t>
            </a:r>
            <a:r>
              <a:rPr lang="en-US" altLang="ja-JP" sz="1600" dirty="0">
                <a:latin typeface="Consolas" panose="020B0609020204030204" pitchFamily="49" charset="0"/>
              </a:rPr>
              <a:t>x7&amp;1</a:t>
            </a:r>
            <a:endParaRPr lang="ja-JP" altLang="en-US" sz="1600" dirty="0"/>
          </a:p>
        </p:txBody>
      </p:sp>
      <p:sp>
        <p:nvSpPr>
          <p:cNvPr id="8" name="右矢印 7"/>
          <p:cNvSpPr/>
          <p:nvPr/>
        </p:nvSpPr>
        <p:spPr bwMode="auto">
          <a:xfrm>
            <a:off x="5195990" y="5229021"/>
            <a:ext cx="720008" cy="630007"/>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 name="正方形/長方形 8"/>
          <p:cNvSpPr/>
          <p:nvPr/>
        </p:nvSpPr>
        <p:spPr bwMode="auto">
          <a:xfrm>
            <a:off x="7626017" y="468901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I1: </a:t>
            </a:r>
            <a:r>
              <a:rPr lang="en-US" altLang="ja-JP" sz="1600" dirty="0" err="1">
                <a:solidFill>
                  <a:schemeClr val="tx1">
                    <a:lumMod val="75000"/>
                    <a:lumOff val="25000"/>
                  </a:schemeClr>
                </a:solidFill>
                <a:latin typeface="Consolas" panose="020B0609020204030204" pitchFamily="49" charset="0"/>
              </a:rPr>
              <a:t>mul</a:t>
            </a:r>
            <a:r>
              <a:rPr lang="en-US" altLang="ja-JP" sz="1600" dirty="0">
                <a:solidFill>
                  <a:schemeClr val="tx1">
                    <a:lumMod val="75000"/>
                    <a:lumOff val="25000"/>
                  </a:schemeClr>
                </a:solidFill>
                <a:latin typeface="Consolas" panose="020B0609020204030204" pitchFamily="49" charset="0"/>
              </a:rPr>
              <a:t> </a:t>
            </a:r>
            <a:r>
              <a:rPr lang="en-US" altLang="ja-JP" sz="1600" b="1" dirty="0">
                <a:solidFill>
                  <a:schemeClr val="accent6"/>
                </a:solidFill>
                <a:latin typeface="Consolas" panose="020B0609020204030204" pitchFamily="49" charset="0"/>
              </a:rPr>
              <a:t>p20</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p12*4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10" name="正方形/長方形 9"/>
          <p:cNvSpPr/>
          <p:nvPr/>
        </p:nvSpPr>
        <p:spPr bwMode="auto">
          <a:xfrm>
            <a:off x="7626017" y="513901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I2: add </a:t>
            </a:r>
            <a:r>
              <a:rPr lang="en-US" altLang="ja-JP" sz="1600" b="1" dirty="0">
                <a:solidFill>
                  <a:schemeClr val="accent6"/>
                </a:solidFill>
                <a:latin typeface="Consolas" panose="020B0609020204030204" pitchFamily="49" charset="0"/>
              </a:rPr>
              <a:t>p21</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p11+1</a:t>
            </a:r>
            <a:endParaRPr lang="ja-JP" altLang="en-US" sz="1600" dirty="0">
              <a:solidFill>
                <a:schemeClr val="tx1">
                  <a:lumMod val="75000"/>
                  <a:lumOff val="25000"/>
                </a:schemeClr>
              </a:solidFill>
            </a:endParaRPr>
          </a:p>
        </p:txBody>
      </p:sp>
      <p:sp>
        <p:nvSpPr>
          <p:cNvPr id="11" name="正方形/長方形 10"/>
          <p:cNvSpPr/>
          <p:nvPr/>
        </p:nvSpPr>
        <p:spPr bwMode="auto">
          <a:xfrm>
            <a:off x="7626017" y="558902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I3: sub </a:t>
            </a:r>
            <a:r>
              <a:rPr lang="en-US" altLang="ja-JP" sz="1600" b="1" dirty="0">
                <a:solidFill>
                  <a:schemeClr val="accent6"/>
                </a:solidFill>
                <a:latin typeface="Consolas" panose="020B0609020204030204" pitchFamily="49" charset="0"/>
              </a:rPr>
              <a:t>p22</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p15-1</a:t>
            </a:r>
            <a:endParaRPr lang="ja-JP" altLang="en-US" sz="1600" dirty="0">
              <a:solidFill>
                <a:schemeClr val="tx1">
                  <a:lumMod val="75000"/>
                  <a:lumOff val="25000"/>
                </a:schemeClr>
              </a:solidFill>
            </a:endParaRPr>
          </a:p>
        </p:txBody>
      </p:sp>
      <p:sp>
        <p:nvSpPr>
          <p:cNvPr id="12" name="正方形/長方形 11"/>
          <p:cNvSpPr/>
          <p:nvPr/>
        </p:nvSpPr>
        <p:spPr bwMode="auto">
          <a:xfrm>
            <a:off x="7626017" y="603902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I4: and </a:t>
            </a:r>
            <a:r>
              <a:rPr lang="en-US" altLang="ja-JP" sz="1600" b="1" dirty="0">
                <a:solidFill>
                  <a:schemeClr val="accent6"/>
                </a:solidFill>
                <a:latin typeface="Consolas" panose="020B0609020204030204" pitchFamily="49" charset="0"/>
              </a:rPr>
              <a:t>p23</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p17&amp;1</a:t>
            </a:r>
            <a:endParaRPr lang="ja-JP" altLang="en-US" sz="1600" dirty="0">
              <a:solidFill>
                <a:schemeClr val="tx1">
                  <a:lumMod val="75000"/>
                  <a:lumOff val="25000"/>
                </a:schemeClr>
              </a:solidFill>
            </a:endParaRPr>
          </a:p>
        </p:txBody>
      </p:sp>
    </p:spTree>
    <p:extLst>
      <p:ext uri="{BB962C8B-B14F-4D97-AF65-F5344CB8AC3E}">
        <p14:creationId xmlns:p14="http://schemas.microsoft.com/office/powerpoint/2010/main" val="14134814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レジスタ・リネームのための機構</a:t>
            </a:r>
            <a:endParaRPr kumimoji="1" lang="ja-JP" altLang="en-US" dirty="0"/>
          </a:p>
        </p:txBody>
      </p:sp>
      <p:sp>
        <p:nvSpPr>
          <p:cNvPr id="3" name="テキスト プレースホルダー 2"/>
          <p:cNvSpPr>
            <a:spLocks noGrp="1"/>
          </p:cNvSpPr>
          <p:nvPr>
            <p:ph type="body" sz="quarter" idx="10"/>
          </p:nvPr>
        </p:nvSpPr>
        <p:spPr/>
        <p:txBody>
          <a:bodyPr/>
          <a:lstStyle/>
          <a:p>
            <a:r>
              <a:rPr kumimoji="1" lang="en-US" altLang="ja-JP" dirty="0"/>
              <a:t>RMT</a:t>
            </a:r>
            <a:r>
              <a:rPr kumimoji="1" lang="ja-JP" altLang="en-US" dirty="0"/>
              <a:t>（</a:t>
            </a:r>
            <a:r>
              <a:rPr kumimoji="1" lang="en-US" altLang="ja-JP" dirty="0"/>
              <a:t>Register Map Table</a:t>
            </a:r>
            <a:r>
              <a:rPr kumimoji="1" lang="ja-JP" altLang="en-US" dirty="0"/>
              <a:t>）</a:t>
            </a:r>
            <a:endParaRPr kumimoji="1" lang="en-US" altLang="ja-JP" dirty="0"/>
          </a:p>
          <a:p>
            <a:pPr lvl="1"/>
            <a:r>
              <a:rPr lang="ja-JP" altLang="en-US" dirty="0"/>
              <a:t>論理レジスタと物理レジスタの対応関係を保持する表</a:t>
            </a:r>
            <a:endParaRPr lang="en-US" altLang="ja-JP" dirty="0"/>
          </a:p>
          <a:p>
            <a:pPr lvl="1"/>
            <a:r>
              <a:rPr kumimoji="1" lang="ja-JP" altLang="en-US" dirty="0"/>
              <a:t>インテル用語だと </a:t>
            </a:r>
            <a:r>
              <a:rPr lang="en-US" altLang="ja-JP" dirty="0"/>
              <a:t>RAT</a:t>
            </a:r>
            <a:r>
              <a:rPr lang="ja-JP" altLang="en-US" dirty="0"/>
              <a:t>（</a:t>
            </a:r>
            <a:r>
              <a:rPr kumimoji="1" lang="en-US" altLang="ja-JP" dirty="0"/>
              <a:t>Register Alias Table</a:t>
            </a:r>
            <a:r>
              <a:rPr kumimoji="1" lang="ja-JP" altLang="en-US" dirty="0"/>
              <a:t>）</a:t>
            </a:r>
            <a:endParaRPr kumimoji="1" lang="en-US" altLang="ja-JP" dirty="0"/>
          </a:p>
          <a:p>
            <a:pPr lvl="2"/>
            <a:r>
              <a:rPr kumimoji="1" lang="ja-JP" altLang="en-US" dirty="0"/>
              <a:t>こっちの方が最近はよく見るかもしれない</a:t>
            </a:r>
            <a:endParaRPr kumimoji="1" lang="en-US" altLang="ja-JP" dirty="0"/>
          </a:p>
          <a:p>
            <a:r>
              <a:rPr kumimoji="1" lang="ja-JP" altLang="en-US" dirty="0"/>
              <a:t>フリーリスト</a:t>
            </a:r>
            <a:endParaRPr kumimoji="1" lang="en-US" altLang="ja-JP" dirty="0"/>
          </a:p>
          <a:p>
            <a:pPr lvl="1"/>
            <a:r>
              <a:rPr kumimoji="1" lang="ja-JP" altLang="en-US" dirty="0"/>
              <a:t>現在使用できる物理レジスタ番号のリスト</a:t>
            </a:r>
            <a:endParaRPr kumimoji="1" lang="en-US" altLang="ja-JP" dirty="0"/>
          </a:p>
          <a:p>
            <a:pPr lvl="2"/>
            <a:r>
              <a:rPr kumimoji="1" lang="en-US" altLang="ja-JP" dirty="0"/>
              <a:t>FIFO </a:t>
            </a:r>
            <a:r>
              <a:rPr kumimoji="1" lang="ja-JP" altLang="en-US" dirty="0"/>
              <a:t>で構成する</a:t>
            </a:r>
            <a:endParaRPr kumimoji="1" lang="en-US" altLang="ja-JP" dirty="0"/>
          </a:p>
          <a:p>
            <a:pPr lvl="1"/>
            <a:r>
              <a:rPr kumimoji="1" lang="ja-JP" altLang="en-US" dirty="0"/>
              <a:t>ここから物理レジスタを確保して割り当てる</a:t>
            </a:r>
            <a:endParaRPr kumimoji="1" lang="en-US" altLang="ja-JP" dirty="0"/>
          </a:p>
          <a:p>
            <a:pPr lvl="1"/>
            <a:r>
              <a:rPr kumimoji="1" lang="ja-JP" altLang="en-US" dirty="0"/>
              <a:t>使用し終わった</a:t>
            </a:r>
            <a:r>
              <a:rPr lang="ja-JP" altLang="en-US" dirty="0"/>
              <a:t>物理レジスタ番号は</a:t>
            </a:r>
            <a:r>
              <a:rPr kumimoji="1" lang="ja-JP" altLang="en-US" dirty="0"/>
              <a:t>，フリーリストに返却</a:t>
            </a:r>
            <a:endParaRPr kumimoji="1" lang="en-US" altLang="ja-JP" dirty="0"/>
          </a:p>
          <a:p>
            <a:r>
              <a:rPr kumimoji="1" lang="ja-JP" altLang="en-US" dirty="0"/>
              <a:t>リネーム・ステージ</a:t>
            </a:r>
            <a:endParaRPr kumimoji="1" lang="en-US" altLang="ja-JP" dirty="0"/>
          </a:p>
          <a:p>
            <a:pPr lvl="1"/>
            <a:r>
              <a:rPr kumimoji="1" lang="ja-JP" altLang="en-US" dirty="0"/>
              <a:t>デコード</a:t>
            </a:r>
            <a:r>
              <a:rPr lang="ja-JP" altLang="en-US" dirty="0"/>
              <a:t>・ステージ</a:t>
            </a:r>
            <a:r>
              <a:rPr kumimoji="1" lang="ja-JP" altLang="en-US" dirty="0"/>
              <a:t>の後に存在</a:t>
            </a:r>
            <a:endParaRPr kumimoji="1" lang="en-US" altLang="ja-JP" dirty="0"/>
          </a:p>
          <a:p>
            <a:pPr lvl="1"/>
            <a:r>
              <a:rPr kumimoji="1" lang="ja-JP" altLang="en-US" dirty="0"/>
              <a:t>上記を使って，レジスタをリネームする</a:t>
            </a:r>
          </a:p>
        </p:txBody>
      </p:sp>
    </p:spTree>
    <p:extLst>
      <p:ext uri="{BB962C8B-B14F-4D97-AF65-F5344CB8AC3E}">
        <p14:creationId xmlns:p14="http://schemas.microsoft.com/office/powerpoint/2010/main" val="17404791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レジスタ・リネームの動作（１）</a:t>
            </a:r>
          </a:p>
        </p:txBody>
      </p:sp>
      <p:sp>
        <p:nvSpPr>
          <p:cNvPr id="80" name="テキスト プレースホルダー 79"/>
          <p:cNvSpPr>
            <a:spLocks noGrp="1"/>
          </p:cNvSpPr>
          <p:nvPr>
            <p:ph type="body" sz="quarter" idx="10"/>
          </p:nvPr>
        </p:nvSpPr>
        <p:spPr>
          <a:xfrm>
            <a:off x="5645996" y="1088975"/>
            <a:ext cx="4770052" cy="5219751"/>
          </a:xfrm>
        </p:spPr>
        <p:txBody>
          <a:bodyPr/>
          <a:lstStyle/>
          <a:p>
            <a:r>
              <a:rPr lang="en-US" altLang="ja-JP" dirty="0">
                <a:latin typeface="Consolas" panose="020B0609020204030204" pitchFamily="49" charset="0"/>
              </a:rPr>
              <a:t>I1 </a:t>
            </a:r>
            <a:r>
              <a:rPr kumimoji="1" lang="ja-JP" altLang="en-US" dirty="0"/>
              <a:t>の リネーム</a:t>
            </a:r>
            <a:br>
              <a:rPr kumimoji="1" lang="en-US" altLang="ja-JP" dirty="0"/>
            </a:br>
            <a:r>
              <a:rPr kumimoji="1" lang="ja-JP" altLang="en-US" dirty="0"/>
              <a:t>（ディスティネーション）</a:t>
            </a:r>
            <a:endParaRPr kumimoji="1" lang="en-US" altLang="ja-JP" dirty="0"/>
          </a:p>
          <a:p>
            <a:pPr lvl="1"/>
            <a:r>
              <a:rPr kumimoji="1" lang="ja-JP" altLang="en-US" dirty="0"/>
              <a:t>フリーリストから </a:t>
            </a:r>
            <a:r>
              <a:rPr kumimoji="1" lang="en-US" altLang="ja-JP" dirty="0"/>
              <a:t>p20 </a:t>
            </a:r>
            <a:r>
              <a:rPr kumimoji="1" lang="ja-JP" altLang="en-US" dirty="0"/>
              <a:t>を取り出し，ディスティネーションに割り当て</a:t>
            </a:r>
            <a:endParaRPr kumimoji="1" lang="en-US" altLang="ja-JP" dirty="0"/>
          </a:p>
          <a:p>
            <a:pPr lvl="1"/>
            <a:r>
              <a:rPr lang="en-US" altLang="ja-JP" dirty="0"/>
              <a:t>RMT </a:t>
            </a:r>
            <a:r>
              <a:rPr lang="ja-JP" altLang="en-US" dirty="0"/>
              <a:t>の </a:t>
            </a:r>
            <a:r>
              <a:rPr lang="en-US" altLang="ja-JP" dirty="0"/>
              <a:t>x3 </a:t>
            </a:r>
            <a:r>
              <a:rPr lang="ja-JP" altLang="en-US" dirty="0"/>
              <a:t>を書き換える</a:t>
            </a:r>
            <a:endParaRPr kumimoji="1" lang="ja-JP" altLang="en-US" dirty="0"/>
          </a:p>
        </p:txBody>
      </p:sp>
      <p:cxnSp>
        <p:nvCxnSpPr>
          <p:cNvPr id="4" name="直線コネクタ 3"/>
          <p:cNvCxnSpPr>
            <a:endCxn id="9" idx="1"/>
          </p:cNvCxnSpPr>
          <p:nvPr/>
        </p:nvCxnSpPr>
        <p:spPr bwMode="auto">
          <a:xfrm flipV="1">
            <a:off x="3575973" y="1898981"/>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3575972" y="1448978"/>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4115978"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 name="Rectangle 70"/>
          <p:cNvSpPr>
            <a:spLocks noChangeArrowheads="1"/>
          </p:cNvSpPr>
          <p:nvPr/>
        </p:nvSpPr>
        <p:spPr bwMode="auto">
          <a:xfrm>
            <a:off x="4565983"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9" name="Rectangle 69"/>
          <p:cNvSpPr>
            <a:spLocks noChangeArrowheads="1"/>
          </p:cNvSpPr>
          <p:nvPr/>
        </p:nvSpPr>
        <p:spPr bwMode="auto">
          <a:xfrm>
            <a:off x="4565983"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0" name="Rectangle 70"/>
          <p:cNvSpPr>
            <a:spLocks noChangeArrowheads="1"/>
          </p:cNvSpPr>
          <p:nvPr/>
        </p:nvSpPr>
        <p:spPr bwMode="auto">
          <a:xfrm>
            <a:off x="5015992"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13" name="Rectangle 69"/>
          <p:cNvSpPr>
            <a:spLocks noChangeArrowheads="1"/>
          </p:cNvSpPr>
          <p:nvPr/>
        </p:nvSpPr>
        <p:spPr bwMode="auto">
          <a:xfrm>
            <a:off x="5015992"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cxnSp>
        <p:nvCxnSpPr>
          <p:cNvPr id="17" name="直線コネクタ 16"/>
          <p:cNvCxnSpPr>
            <a:endCxn id="13" idx="1"/>
          </p:cNvCxnSpPr>
          <p:nvPr/>
        </p:nvCxnSpPr>
        <p:spPr bwMode="auto">
          <a:xfrm flipV="1">
            <a:off x="3575972" y="2348986"/>
            <a:ext cx="1440020" cy="2"/>
          </a:xfrm>
          <a:prstGeom prst="line">
            <a:avLst/>
          </a:prstGeom>
          <a:noFill/>
          <a:ln w="9525" cap="flat" cmpd="sng" algn="ctr">
            <a:solidFill>
              <a:schemeClr val="tx1"/>
            </a:solidFill>
            <a:prstDash val="dash"/>
            <a:round/>
            <a:headEnd type="none" w="med" len="med"/>
            <a:tailEnd type="none" w="med" len="med"/>
          </a:ln>
          <a:effectLst/>
        </p:spPr>
      </p:cxnSp>
      <p:sp>
        <p:nvSpPr>
          <p:cNvPr id="22" name="Rectangle 70"/>
          <p:cNvSpPr>
            <a:spLocks noChangeArrowheads="1"/>
          </p:cNvSpPr>
          <p:nvPr/>
        </p:nvSpPr>
        <p:spPr bwMode="auto">
          <a:xfrm>
            <a:off x="5015988" y="1268976"/>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RN</a:t>
            </a:r>
          </a:p>
        </p:txBody>
      </p:sp>
      <p:sp>
        <p:nvSpPr>
          <p:cNvPr id="28" name="正方形/長方形 27"/>
          <p:cNvSpPr/>
          <p:nvPr/>
        </p:nvSpPr>
        <p:spPr bwMode="auto">
          <a:xfrm>
            <a:off x="2855964" y="1178975"/>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I1: </a:t>
            </a:r>
            <a:r>
              <a:rPr lang="en-US" altLang="ja-JP" sz="1600" dirty="0" err="1">
                <a:latin typeface="Consolas" panose="020B0609020204030204" pitchFamily="49" charset="0"/>
              </a:rPr>
              <a:t>mul</a:t>
            </a:r>
            <a:r>
              <a:rPr lang="en-US" altLang="ja-JP" sz="1600" dirty="0">
                <a:latin typeface="Consolas" panose="020B0609020204030204" pitchFamily="49" charset="0"/>
              </a:rPr>
              <a:t> </a:t>
            </a:r>
            <a:r>
              <a:rPr lang="en-US" altLang="ja-JP" sz="1600" dirty="0">
                <a:solidFill>
                  <a:schemeClr val="tx1">
                    <a:lumMod val="75000"/>
                    <a:lumOff val="25000"/>
                  </a:schemeClr>
                </a:solidFill>
                <a:latin typeface="Consolas" panose="020B0609020204030204" pitchFamily="49" charset="0"/>
              </a:rPr>
              <a:t>x3</a:t>
            </a:r>
            <a:r>
              <a:rPr lang="ja-JP" altLang="en-US" sz="1600" dirty="0">
                <a:latin typeface="Consolas" panose="020B0609020204030204" pitchFamily="49" charset="0"/>
              </a:rPr>
              <a:t>←</a:t>
            </a:r>
            <a:r>
              <a:rPr lang="en-US" altLang="ja-JP" sz="1600" dirty="0">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29" name="正方形/長方形 28"/>
          <p:cNvSpPr/>
          <p:nvPr/>
        </p:nvSpPr>
        <p:spPr bwMode="auto">
          <a:xfrm>
            <a:off x="2855964" y="171898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I2: add x3</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x1+1</a:t>
            </a:r>
            <a:endParaRPr lang="ja-JP" altLang="en-US" sz="1600" dirty="0">
              <a:solidFill>
                <a:schemeClr val="tx1">
                  <a:lumMod val="75000"/>
                  <a:lumOff val="25000"/>
                </a:schemeClr>
              </a:solidFill>
            </a:endParaRPr>
          </a:p>
        </p:txBody>
      </p:sp>
      <p:sp>
        <p:nvSpPr>
          <p:cNvPr id="30" name="正方形/長方形 29"/>
          <p:cNvSpPr/>
          <p:nvPr/>
        </p:nvSpPr>
        <p:spPr bwMode="auto">
          <a:xfrm>
            <a:off x="2855964" y="216898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I3: sub x1</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x5-1</a:t>
            </a:r>
            <a:endParaRPr lang="ja-JP" altLang="en-US" sz="1600" dirty="0">
              <a:solidFill>
                <a:schemeClr val="tx1">
                  <a:lumMod val="75000"/>
                  <a:lumOff val="25000"/>
                </a:schemeClr>
              </a:solidFill>
            </a:endParaRPr>
          </a:p>
        </p:txBody>
      </p:sp>
      <p:cxnSp>
        <p:nvCxnSpPr>
          <p:cNvPr id="35" name="直線コネクタ 34"/>
          <p:cNvCxnSpPr>
            <a:stCxn id="37" idx="3"/>
          </p:cNvCxnSpPr>
          <p:nvPr/>
        </p:nvCxnSpPr>
        <p:spPr bwMode="auto">
          <a:xfrm flipV="1">
            <a:off x="3575973" y="2798989"/>
            <a:ext cx="1890021" cy="4"/>
          </a:xfrm>
          <a:prstGeom prst="line">
            <a:avLst/>
          </a:prstGeom>
          <a:noFill/>
          <a:ln w="9525" cap="flat" cmpd="sng" algn="ctr">
            <a:solidFill>
              <a:schemeClr val="tx1"/>
            </a:solidFill>
            <a:prstDash val="dash"/>
            <a:round/>
            <a:headEnd type="none" w="med" len="med"/>
            <a:tailEnd type="none" w="med" len="med"/>
          </a:ln>
          <a:effectLst/>
        </p:spPr>
      </p:cxnSp>
      <p:sp>
        <p:nvSpPr>
          <p:cNvPr id="37" name="正方形/長方形 36"/>
          <p:cNvSpPr/>
          <p:nvPr/>
        </p:nvSpPr>
        <p:spPr bwMode="auto">
          <a:xfrm>
            <a:off x="2855964" y="261899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I4: and x6</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x7&amp;1</a:t>
            </a:r>
            <a:endParaRPr lang="ja-JP" altLang="en-US" sz="1600" dirty="0">
              <a:solidFill>
                <a:schemeClr val="tx1">
                  <a:lumMod val="75000"/>
                  <a:lumOff val="25000"/>
                </a:schemeClr>
              </a:solidFill>
            </a:endParaRPr>
          </a:p>
        </p:txBody>
      </p:sp>
      <p:sp>
        <p:nvSpPr>
          <p:cNvPr id="4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3429000"/>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4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3429000"/>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10</a:t>
            </a:r>
            <a:endParaRPr lang="ja-JP" altLang="en-US" sz="1600" dirty="0">
              <a:latin typeface="+mn-ea"/>
              <a:ea typeface="+mn-ea"/>
            </a:endParaRPr>
          </a:p>
        </p:txBody>
      </p:sp>
      <p:sp>
        <p:nvSpPr>
          <p:cNvPr id="4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3789004"/>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11</a:t>
            </a:r>
            <a:endParaRPr lang="ja-JP" altLang="en-US" sz="1600" dirty="0">
              <a:latin typeface="+mn-ea"/>
              <a:ea typeface="+mn-ea"/>
            </a:endParaRPr>
          </a:p>
        </p:txBody>
      </p:sp>
      <p:sp>
        <p:nvSpPr>
          <p:cNvPr id="4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4149008"/>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12</a:t>
            </a:r>
            <a:endParaRPr lang="ja-JP" altLang="en-US" sz="1600" dirty="0">
              <a:latin typeface="+mn-ea"/>
              <a:ea typeface="+mn-ea"/>
            </a:endParaRPr>
          </a:p>
        </p:txBody>
      </p:sp>
      <p:sp>
        <p:nvSpPr>
          <p:cNvPr id="45" name="正方形/長方形 44"/>
          <p:cNvSpPr/>
          <p:nvPr/>
        </p:nvSpPr>
        <p:spPr bwMode="auto">
          <a:xfrm>
            <a:off x="2855964" y="3429000"/>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RMT</a:t>
            </a:r>
            <a:endParaRPr lang="ja-JP" altLang="en-US" sz="1600" dirty="0"/>
          </a:p>
        </p:txBody>
      </p:sp>
      <p:sp>
        <p:nvSpPr>
          <p:cNvPr id="4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395970" y="3429000"/>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x1</a:t>
            </a:r>
            <a:endParaRPr lang="ja-JP" altLang="en-US" sz="1600" dirty="0">
              <a:latin typeface="+mn-ea"/>
              <a:ea typeface="+mn-ea"/>
            </a:endParaRPr>
          </a:p>
        </p:txBody>
      </p:sp>
      <p:sp>
        <p:nvSpPr>
          <p:cNvPr id="4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395970" y="3789004"/>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x2</a:t>
            </a:r>
            <a:endParaRPr lang="ja-JP" altLang="en-US" sz="1600" dirty="0">
              <a:latin typeface="+mn-ea"/>
              <a:ea typeface="+mn-ea"/>
            </a:endParaRPr>
          </a:p>
        </p:txBody>
      </p:sp>
      <p:sp>
        <p:nvSpPr>
          <p:cNvPr id="4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395970" y="4149008"/>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x3</a:t>
            </a:r>
            <a:endParaRPr lang="ja-JP" altLang="en-US" sz="1600" dirty="0">
              <a:latin typeface="+mn-ea"/>
              <a:ea typeface="+mn-ea"/>
            </a:endParaRPr>
          </a:p>
        </p:txBody>
      </p:sp>
      <p:sp>
        <p:nvSpPr>
          <p:cNvPr id="4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5229020"/>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5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5229020"/>
            <a:ext cx="360000" cy="360004"/>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20</a:t>
            </a:r>
            <a:endParaRPr lang="ja-JP" altLang="en-US" sz="1600" dirty="0">
              <a:latin typeface="+mn-ea"/>
              <a:ea typeface="+mn-ea"/>
            </a:endParaRPr>
          </a:p>
        </p:txBody>
      </p:sp>
      <p:sp>
        <p:nvSpPr>
          <p:cNvPr id="5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5589024"/>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23</a:t>
            </a:r>
            <a:endParaRPr lang="ja-JP" altLang="en-US" sz="1600" dirty="0">
              <a:latin typeface="+mn-ea"/>
              <a:ea typeface="+mn-ea"/>
            </a:endParaRPr>
          </a:p>
        </p:txBody>
      </p:sp>
      <p:sp>
        <p:nvSpPr>
          <p:cNvPr id="5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5949028"/>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25</a:t>
            </a:r>
            <a:endParaRPr lang="ja-JP" altLang="en-US" sz="1600" dirty="0">
              <a:latin typeface="+mn-ea"/>
              <a:ea typeface="+mn-ea"/>
            </a:endParaRPr>
          </a:p>
        </p:txBody>
      </p:sp>
      <p:sp>
        <p:nvSpPr>
          <p:cNvPr id="56" name="正方形/長方形 55"/>
          <p:cNvSpPr/>
          <p:nvPr/>
        </p:nvSpPr>
        <p:spPr bwMode="auto">
          <a:xfrm>
            <a:off x="2855964" y="5229020"/>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ja-JP" altLang="en-US" sz="1600" dirty="0"/>
              <a:t>フリーリスト</a:t>
            </a:r>
          </a:p>
        </p:txBody>
      </p:sp>
      <p:sp>
        <p:nvSpPr>
          <p:cNvPr id="5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6309032"/>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a:t>
            </a:r>
            <a:endParaRPr lang="ja-JP" altLang="en-US" sz="1600" dirty="0">
              <a:latin typeface="+mn-ea"/>
              <a:ea typeface="+mn-ea"/>
            </a:endParaRPr>
          </a:p>
        </p:txBody>
      </p:sp>
      <p:sp>
        <p:nvSpPr>
          <p:cNvPr id="5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4509012"/>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a:t>
            </a:r>
            <a:endParaRPr lang="ja-JP" altLang="en-US" sz="1600" dirty="0">
              <a:latin typeface="+mn-ea"/>
              <a:ea typeface="+mn-ea"/>
            </a:endParaRPr>
          </a:p>
        </p:txBody>
      </p:sp>
      <p:sp>
        <p:nvSpPr>
          <p:cNvPr id="6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3429000"/>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6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3429000"/>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10</a:t>
            </a:r>
            <a:endParaRPr lang="ja-JP" altLang="en-US" sz="1600" dirty="0">
              <a:latin typeface="+mn-ea"/>
              <a:ea typeface="+mn-ea"/>
            </a:endParaRPr>
          </a:p>
        </p:txBody>
      </p:sp>
      <p:sp>
        <p:nvSpPr>
          <p:cNvPr id="6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3789004"/>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11</a:t>
            </a:r>
            <a:endParaRPr lang="ja-JP" altLang="en-US" sz="1600" dirty="0">
              <a:latin typeface="+mn-ea"/>
              <a:ea typeface="+mn-ea"/>
            </a:endParaRPr>
          </a:p>
        </p:txBody>
      </p:sp>
      <p:sp>
        <p:nvSpPr>
          <p:cNvPr id="6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4149008"/>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12</a:t>
            </a:r>
            <a:endParaRPr lang="ja-JP" altLang="en-US" sz="1600" dirty="0">
              <a:latin typeface="+mn-ea"/>
              <a:ea typeface="+mn-ea"/>
            </a:endParaRPr>
          </a:p>
        </p:txBody>
      </p:sp>
      <p:sp>
        <p:nvSpPr>
          <p:cNvPr id="6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5229020"/>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6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5229020"/>
            <a:ext cx="360000" cy="360004"/>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20</a:t>
            </a:r>
            <a:endParaRPr lang="ja-JP" altLang="en-US" sz="1600" dirty="0">
              <a:latin typeface="+mn-ea"/>
              <a:ea typeface="+mn-ea"/>
            </a:endParaRPr>
          </a:p>
        </p:txBody>
      </p:sp>
      <p:sp>
        <p:nvSpPr>
          <p:cNvPr id="6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5589024"/>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23</a:t>
            </a:r>
            <a:endParaRPr lang="ja-JP" altLang="en-US" sz="1600" dirty="0">
              <a:latin typeface="+mn-ea"/>
              <a:ea typeface="+mn-ea"/>
            </a:endParaRPr>
          </a:p>
        </p:txBody>
      </p:sp>
      <p:sp>
        <p:nvSpPr>
          <p:cNvPr id="6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5949028"/>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25</a:t>
            </a:r>
            <a:endParaRPr lang="ja-JP" altLang="en-US" sz="1600" dirty="0">
              <a:latin typeface="+mn-ea"/>
              <a:ea typeface="+mn-ea"/>
            </a:endParaRPr>
          </a:p>
        </p:txBody>
      </p:sp>
      <p:sp>
        <p:nvSpPr>
          <p:cNvPr id="6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6309032"/>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a:t>
            </a:r>
            <a:endParaRPr lang="ja-JP" altLang="en-US" sz="1600" dirty="0">
              <a:latin typeface="+mn-ea"/>
              <a:ea typeface="+mn-ea"/>
            </a:endParaRPr>
          </a:p>
        </p:txBody>
      </p:sp>
      <p:sp>
        <p:nvSpPr>
          <p:cNvPr id="6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4509012"/>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a:t>
            </a:r>
            <a:endParaRPr lang="ja-JP" altLang="en-US" sz="1600" dirty="0">
              <a:latin typeface="+mn-ea"/>
              <a:ea typeface="+mn-ea"/>
            </a:endParaRPr>
          </a:p>
        </p:txBody>
      </p:sp>
      <p:sp>
        <p:nvSpPr>
          <p:cNvPr id="7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3429000"/>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7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3429000"/>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10</a:t>
            </a:r>
            <a:endParaRPr lang="ja-JP" altLang="en-US" sz="1600" dirty="0">
              <a:latin typeface="+mn-ea"/>
              <a:ea typeface="+mn-ea"/>
            </a:endParaRPr>
          </a:p>
        </p:txBody>
      </p:sp>
      <p:sp>
        <p:nvSpPr>
          <p:cNvPr id="7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3789004"/>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11</a:t>
            </a:r>
            <a:endParaRPr lang="ja-JP" altLang="en-US" sz="1600" dirty="0">
              <a:latin typeface="+mn-ea"/>
              <a:ea typeface="+mn-ea"/>
            </a:endParaRPr>
          </a:p>
        </p:txBody>
      </p:sp>
      <p:sp>
        <p:nvSpPr>
          <p:cNvPr id="7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4149008"/>
            <a:ext cx="360000" cy="360004"/>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b="1" dirty="0">
                <a:solidFill>
                  <a:schemeClr val="accent6"/>
                </a:solidFill>
                <a:latin typeface="+mn-ea"/>
                <a:ea typeface="+mn-ea"/>
              </a:rPr>
              <a:t>20</a:t>
            </a:r>
            <a:endParaRPr lang="ja-JP" altLang="en-US" sz="1600" b="1" dirty="0">
              <a:solidFill>
                <a:schemeClr val="accent6"/>
              </a:solidFill>
              <a:latin typeface="+mn-ea"/>
              <a:ea typeface="+mn-ea"/>
            </a:endParaRPr>
          </a:p>
        </p:txBody>
      </p:sp>
      <p:sp>
        <p:nvSpPr>
          <p:cNvPr id="7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5229020"/>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7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5589024"/>
            <a:ext cx="360000" cy="360004"/>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23</a:t>
            </a:r>
            <a:endParaRPr lang="ja-JP" altLang="en-US" sz="1600" dirty="0">
              <a:latin typeface="+mn-ea"/>
              <a:ea typeface="+mn-ea"/>
            </a:endParaRPr>
          </a:p>
        </p:txBody>
      </p:sp>
      <p:sp>
        <p:nvSpPr>
          <p:cNvPr id="7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5949028"/>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25</a:t>
            </a:r>
            <a:endParaRPr lang="ja-JP" altLang="en-US" sz="1600" dirty="0">
              <a:latin typeface="+mn-ea"/>
              <a:ea typeface="+mn-ea"/>
            </a:endParaRPr>
          </a:p>
        </p:txBody>
      </p:sp>
      <p:sp>
        <p:nvSpPr>
          <p:cNvPr id="7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6309032"/>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a:t>
            </a:r>
            <a:endParaRPr lang="ja-JP" altLang="en-US" sz="1600" dirty="0">
              <a:latin typeface="+mn-ea"/>
              <a:ea typeface="+mn-ea"/>
            </a:endParaRPr>
          </a:p>
        </p:txBody>
      </p:sp>
      <p:sp>
        <p:nvSpPr>
          <p:cNvPr id="7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4509012"/>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a:t>
            </a:r>
            <a:endParaRPr lang="ja-JP" altLang="en-US" sz="1600" dirty="0">
              <a:latin typeface="+mn-ea"/>
              <a:ea typeface="+mn-ea"/>
            </a:endParaRPr>
          </a:p>
        </p:txBody>
      </p:sp>
      <p:sp>
        <p:nvSpPr>
          <p:cNvPr id="81" name="正方形/長方形 80"/>
          <p:cNvSpPr/>
          <p:nvPr/>
        </p:nvSpPr>
        <p:spPr bwMode="auto">
          <a:xfrm>
            <a:off x="2960040" y="138207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b="1" dirty="0">
                <a:solidFill>
                  <a:schemeClr val="accent6"/>
                </a:solidFill>
                <a:latin typeface="Consolas" panose="020B0609020204030204" pitchFamily="49" charset="0"/>
              </a:rPr>
              <a:t>p20</a:t>
            </a:r>
            <a:r>
              <a:rPr lang="ja-JP" altLang="en-US" sz="1600" dirty="0">
                <a:latin typeface="Consolas" panose="020B0609020204030204" pitchFamily="49" charset="0"/>
              </a:rPr>
              <a:t>←     </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cxnSp>
        <p:nvCxnSpPr>
          <p:cNvPr id="83" name="曲線コネクタ 82"/>
          <p:cNvCxnSpPr>
            <a:stCxn id="73" idx="1"/>
          </p:cNvCxnSpPr>
          <p:nvPr/>
        </p:nvCxnSpPr>
        <p:spPr bwMode="auto">
          <a:xfrm rot="10800000">
            <a:off x="2855964" y="1718983"/>
            <a:ext cx="2160024" cy="2610029"/>
          </a:xfrm>
          <a:prstGeom prst="curvedConnector2">
            <a:avLst/>
          </a:prstGeom>
          <a:ln>
            <a:headEnd type="none" w="med" len="med"/>
            <a:tailEnd type="triangle"/>
          </a:ln>
        </p:spPr>
        <p:style>
          <a:lnRef idx="2">
            <a:schemeClr val="accent6"/>
          </a:lnRef>
          <a:fillRef idx="0">
            <a:schemeClr val="accent6"/>
          </a:fillRef>
          <a:effectRef idx="1">
            <a:schemeClr val="accent6"/>
          </a:effectRef>
          <a:fontRef idx="minor">
            <a:schemeClr val="tx1"/>
          </a:fontRef>
        </p:style>
      </p:cxnSp>
      <p:cxnSp>
        <p:nvCxnSpPr>
          <p:cNvPr id="88" name="曲線コネクタ 87"/>
          <p:cNvCxnSpPr>
            <a:stCxn id="65" idx="0"/>
          </p:cNvCxnSpPr>
          <p:nvPr/>
        </p:nvCxnSpPr>
        <p:spPr bwMode="auto">
          <a:xfrm rot="5400000" flipH="1" flipV="1">
            <a:off x="4610983" y="4644013"/>
            <a:ext cx="720008" cy="450009"/>
          </a:xfrm>
          <a:prstGeom prst="curvedConnector3">
            <a:avLst>
              <a:gd name="adj1" fmla="val 50000"/>
            </a:avLst>
          </a:prstGeom>
          <a:ln>
            <a:headEnd type="none" w="med" len="med"/>
            <a:tailEnd type="triangle"/>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9125182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レジスタ・リネームの動作（２）</a:t>
            </a:r>
          </a:p>
        </p:txBody>
      </p:sp>
      <p:sp>
        <p:nvSpPr>
          <p:cNvPr id="80" name="テキスト プレースホルダー 79"/>
          <p:cNvSpPr>
            <a:spLocks noGrp="1"/>
          </p:cNvSpPr>
          <p:nvPr>
            <p:ph type="body" sz="quarter" idx="10"/>
          </p:nvPr>
        </p:nvSpPr>
        <p:spPr>
          <a:xfrm>
            <a:off x="5645996" y="1088975"/>
            <a:ext cx="4770052" cy="5219751"/>
          </a:xfrm>
        </p:spPr>
        <p:txBody>
          <a:bodyPr/>
          <a:lstStyle/>
          <a:p>
            <a:r>
              <a:rPr lang="en-US" altLang="ja-JP" dirty="0">
                <a:latin typeface="Consolas" panose="020B0609020204030204" pitchFamily="49" charset="0"/>
              </a:rPr>
              <a:t>I1 </a:t>
            </a:r>
            <a:r>
              <a:rPr kumimoji="1" lang="ja-JP" altLang="en-US" dirty="0"/>
              <a:t>の リネーム（ソース）</a:t>
            </a:r>
            <a:endParaRPr kumimoji="1" lang="en-US" altLang="ja-JP" dirty="0"/>
          </a:p>
          <a:p>
            <a:pPr lvl="1"/>
            <a:r>
              <a:rPr lang="en-US" altLang="ja-JP" dirty="0"/>
              <a:t>RMT </a:t>
            </a:r>
            <a:r>
              <a:rPr lang="ja-JP" altLang="en-US" dirty="0"/>
              <a:t>の </a:t>
            </a:r>
            <a:r>
              <a:rPr lang="en-US" altLang="ja-JP" dirty="0"/>
              <a:t>x2 </a:t>
            </a:r>
            <a:r>
              <a:rPr lang="ja-JP" altLang="en-US" dirty="0"/>
              <a:t>を参照して，</a:t>
            </a:r>
            <a:br>
              <a:rPr lang="en-US" altLang="ja-JP" dirty="0"/>
            </a:br>
            <a:r>
              <a:rPr kumimoji="1" lang="en-US" altLang="ja-JP" dirty="0"/>
              <a:t>x2 </a:t>
            </a:r>
            <a:r>
              <a:rPr kumimoji="1" lang="ja-JP" altLang="en-US" dirty="0"/>
              <a:t>を </a:t>
            </a:r>
            <a:r>
              <a:rPr kumimoji="1" lang="en-US" altLang="ja-JP" dirty="0"/>
              <a:t>p11 </a:t>
            </a:r>
            <a:r>
              <a:rPr kumimoji="1" lang="ja-JP" altLang="en-US" dirty="0"/>
              <a:t>に</a:t>
            </a:r>
            <a:r>
              <a:rPr lang="ja-JP" altLang="en-US" dirty="0"/>
              <a:t>付け替える</a:t>
            </a:r>
            <a:endParaRPr kumimoji="1" lang="ja-JP" altLang="en-US" dirty="0"/>
          </a:p>
        </p:txBody>
      </p:sp>
      <p:cxnSp>
        <p:nvCxnSpPr>
          <p:cNvPr id="4" name="直線コネクタ 3"/>
          <p:cNvCxnSpPr>
            <a:endCxn id="9" idx="1"/>
          </p:cNvCxnSpPr>
          <p:nvPr/>
        </p:nvCxnSpPr>
        <p:spPr bwMode="auto">
          <a:xfrm flipV="1">
            <a:off x="3575973" y="1898981"/>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3575972" y="1448978"/>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4115978"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 name="Rectangle 70"/>
          <p:cNvSpPr>
            <a:spLocks noChangeArrowheads="1"/>
          </p:cNvSpPr>
          <p:nvPr/>
        </p:nvSpPr>
        <p:spPr bwMode="auto">
          <a:xfrm>
            <a:off x="4565983"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9" name="Rectangle 69"/>
          <p:cNvSpPr>
            <a:spLocks noChangeArrowheads="1"/>
          </p:cNvSpPr>
          <p:nvPr/>
        </p:nvSpPr>
        <p:spPr bwMode="auto">
          <a:xfrm>
            <a:off x="4565983"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0" name="Rectangle 70"/>
          <p:cNvSpPr>
            <a:spLocks noChangeArrowheads="1"/>
          </p:cNvSpPr>
          <p:nvPr/>
        </p:nvSpPr>
        <p:spPr bwMode="auto">
          <a:xfrm>
            <a:off x="5015992"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13" name="Rectangle 69"/>
          <p:cNvSpPr>
            <a:spLocks noChangeArrowheads="1"/>
          </p:cNvSpPr>
          <p:nvPr/>
        </p:nvSpPr>
        <p:spPr bwMode="auto">
          <a:xfrm>
            <a:off x="5015992"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cxnSp>
        <p:nvCxnSpPr>
          <p:cNvPr id="17" name="直線コネクタ 16"/>
          <p:cNvCxnSpPr>
            <a:endCxn id="13" idx="1"/>
          </p:cNvCxnSpPr>
          <p:nvPr/>
        </p:nvCxnSpPr>
        <p:spPr bwMode="auto">
          <a:xfrm flipV="1">
            <a:off x="3575972" y="2348986"/>
            <a:ext cx="1440020" cy="2"/>
          </a:xfrm>
          <a:prstGeom prst="line">
            <a:avLst/>
          </a:prstGeom>
          <a:noFill/>
          <a:ln w="9525" cap="flat" cmpd="sng" algn="ctr">
            <a:solidFill>
              <a:schemeClr val="tx1"/>
            </a:solidFill>
            <a:prstDash val="dash"/>
            <a:round/>
            <a:headEnd type="none" w="med" len="med"/>
            <a:tailEnd type="none" w="med" len="med"/>
          </a:ln>
          <a:effectLst/>
        </p:spPr>
      </p:cxnSp>
      <p:sp>
        <p:nvSpPr>
          <p:cNvPr id="22" name="Rectangle 70"/>
          <p:cNvSpPr>
            <a:spLocks noChangeArrowheads="1"/>
          </p:cNvSpPr>
          <p:nvPr/>
        </p:nvSpPr>
        <p:spPr bwMode="auto">
          <a:xfrm>
            <a:off x="5015988" y="1268976"/>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RN</a:t>
            </a:r>
          </a:p>
        </p:txBody>
      </p:sp>
      <p:sp>
        <p:nvSpPr>
          <p:cNvPr id="28" name="正方形/長方形 27"/>
          <p:cNvSpPr/>
          <p:nvPr/>
        </p:nvSpPr>
        <p:spPr bwMode="auto">
          <a:xfrm>
            <a:off x="2855964" y="1178975"/>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I1: </a:t>
            </a:r>
            <a:r>
              <a:rPr lang="en-US" altLang="ja-JP" sz="1600" dirty="0" err="1">
                <a:latin typeface="Consolas" panose="020B0609020204030204" pitchFamily="49" charset="0"/>
              </a:rPr>
              <a:t>mul</a:t>
            </a:r>
            <a:r>
              <a:rPr lang="en-US" altLang="ja-JP" sz="1600" dirty="0">
                <a:latin typeface="Consolas" panose="020B0609020204030204" pitchFamily="49" charset="0"/>
              </a:rPr>
              <a:t> </a:t>
            </a:r>
            <a:r>
              <a:rPr lang="en-US" altLang="ja-JP" sz="1600" dirty="0">
                <a:solidFill>
                  <a:schemeClr val="tx1">
                    <a:lumMod val="75000"/>
                    <a:lumOff val="25000"/>
                  </a:schemeClr>
                </a:solidFill>
                <a:latin typeface="Consolas" panose="020B0609020204030204" pitchFamily="49" charset="0"/>
              </a:rPr>
              <a:t>x3</a:t>
            </a:r>
            <a:r>
              <a:rPr lang="ja-JP" altLang="en-US" sz="1600" dirty="0">
                <a:latin typeface="Consolas" panose="020B0609020204030204" pitchFamily="49" charset="0"/>
              </a:rPr>
              <a:t>←</a:t>
            </a:r>
            <a:r>
              <a:rPr lang="en-US" altLang="ja-JP" sz="1600" dirty="0">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29" name="正方形/長方形 28"/>
          <p:cNvSpPr/>
          <p:nvPr/>
        </p:nvSpPr>
        <p:spPr bwMode="auto">
          <a:xfrm>
            <a:off x="2855964" y="171898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I2: add x3</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x1+1</a:t>
            </a:r>
            <a:endParaRPr lang="ja-JP" altLang="en-US" sz="1600" dirty="0">
              <a:solidFill>
                <a:schemeClr val="tx1">
                  <a:lumMod val="75000"/>
                  <a:lumOff val="25000"/>
                </a:schemeClr>
              </a:solidFill>
            </a:endParaRPr>
          </a:p>
        </p:txBody>
      </p:sp>
      <p:sp>
        <p:nvSpPr>
          <p:cNvPr id="30" name="正方形/長方形 29"/>
          <p:cNvSpPr/>
          <p:nvPr/>
        </p:nvSpPr>
        <p:spPr bwMode="auto">
          <a:xfrm>
            <a:off x="2855964" y="216898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I3: sub x1</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x5-1</a:t>
            </a:r>
            <a:endParaRPr lang="ja-JP" altLang="en-US" sz="1600" dirty="0">
              <a:solidFill>
                <a:schemeClr val="tx1">
                  <a:lumMod val="75000"/>
                  <a:lumOff val="25000"/>
                </a:schemeClr>
              </a:solidFill>
            </a:endParaRPr>
          </a:p>
        </p:txBody>
      </p:sp>
      <p:cxnSp>
        <p:nvCxnSpPr>
          <p:cNvPr id="35" name="直線コネクタ 34"/>
          <p:cNvCxnSpPr>
            <a:stCxn id="37" idx="3"/>
          </p:cNvCxnSpPr>
          <p:nvPr/>
        </p:nvCxnSpPr>
        <p:spPr bwMode="auto">
          <a:xfrm flipV="1">
            <a:off x="3575973" y="2798989"/>
            <a:ext cx="1890021" cy="4"/>
          </a:xfrm>
          <a:prstGeom prst="line">
            <a:avLst/>
          </a:prstGeom>
          <a:noFill/>
          <a:ln w="9525" cap="flat" cmpd="sng" algn="ctr">
            <a:solidFill>
              <a:schemeClr val="tx1"/>
            </a:solidFill>
            <a:prstDash val="dash"/>
            <a:round/>
            <a:headEnd type="none" w="med" len="med"/>
            <a:tailEnd type="none" w="med" len="med"/>
          </a:ln>
          <a:effectLst/>
        </p:spPr>
      </p:cxnSp>
      <p:sp>
        <p:nvSpPr>
          <p:cNvPr id="37" name="正方形/長方形 36"/>
          <p:cNvSpPr/>
          <p:nvPr/>
        </p:nvSpPr>
        <p:spPr bwMode="auto">
          <a:xfrm>
            <a:off x="2855964" y="261899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I4: and x6</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x7&amp;1</a:t>
            </a:r>
            <a:endParaRPr lang="ja-JP" altLang="en-US" sz="1600" dirty="0">
              <a:solidFill>
                <a:schemeClr val="tx1">
                  <a:lumMod val="75000"/>
                  <a:lumOff val="25000"/>
                </a:schemeClr>
              </a:solidFill>
            </a:endParaRPr>
          </a:p>
        </p:txBody>
      </p:sp>
      <p:sp>
        <p:nvSpPr>
          <p:cNvPr id="4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3429000"/>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4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3429000"/>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10</a:t>
            </a:r>
            <a:endParaRPr lang="ja-JP" altLang="en-US" sz="1600" dirty="0">
              <a:latin typeface="+mn-ea"/>
              <a:ea typeface="+mn-ea"/>
            </a:endParaRPr>
          </a:p>
        </p:txBody>
      </p:sp>
      <p:sp>
        <p:nvSpPr>
          <p:cNvPr id="4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3789004"/>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11</a:t>
            </a:r>
            <a:endParaRPr lang="ja-JP" altLang="en-US" sz="1600" dirty="0">
              <a:latin typeface="+mn-ea"/>
              <a:ea typeface="+mn-ea"/>
            </a:endParaRPr>
          </a:p>
        </p:txBody>
      </p:sp>
      <p:sp>
        <p:nvSpPr>
          <p:cNvPr id="4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4149008"/>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12</a:t>
            </a:r>
            <a:endParaRPr lang="ja-JP" altLang="en-US" sz="1600" dirty="0">
              <a:latin typeface="+mn-ea"/>
              <a:ea typeface="+mn-ea"/>
            </a:endParaRPr>
          </a:p>
        </p:txBody>
      </p:sp>
      <p:sp>
        <p:nvSpPr>
          <p:cNvPr id="45" name="正方形/長方形 44"/>
          <p:cNvSpPr/>
          <p:nvPr/>
        </p:nvSpPr>
        <p:spPr bwMode="auto">
          <a:xfrm>
            <a:off x="2855964" y="3429000"/>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RMT</a:t>
            </a:r>
            <a:endParaRPr lang="ja-JP" altLang="en-US" sz="1600" dirty="0"/>
          </a:p>
        </p:txBody>
      </p:sp>
      <p:sp>
        <p:nvSpPr>
          <p:cNvPr id="4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395970" y="3429000"/>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x1</a:t>
            </a:r>
            <a:endParaRPr lang="ja-JP" altLang="en-US" sz="1600" dirty="0">
              <a:latin typeface="+mn-ea"/>
              <a:ea typeface="+mn-ea"/>
            </a:endParaRPr>
          </a:p>
        </p:txBody>
      </p:sp>
      <p:sp>
        <p:nvSpPr>
          <p:cNvPr id="4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395970" y="3789004"/>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x2</a:t>
            </a:r>
            <a:endParaRPr lang="ja-JP" altLang="en-US" sz="1600" dirty="0">
              <a:latin typeface="+mn-ea"/>
              <a:ea typeface="+mn-ea"/>
            </a:endParaRPr>
          </a:p>
        </p:txBody>
      </p:sp>
      <p:sp>
        <p:nvSpPr>
          <p:cNvPr id="4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395970" y="4149008"/>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x3</a:t>
            </a:r>
            <a:endParaRPr lang="ja-JP" altLang="en-US" sz="1600" dirty="0">
              <a:latin typeface="+mn-ea"/>
              <a:ea typeface="+mn-ea"/>
            </a:endParaRPr>
          </a:p>
        </p:txBody>
      </p:sp>
      <p:sp>
        <p:nvSpPr>
          <p:cNvPr id="4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5229020"/>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5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5229020"/>
            <a:ext cx="360000" cy="360004"/>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20</a:t>
            </a:r>
            <a:endParaRPr lang="ja-JP" altLang="en-US" sz="1600" dirty="0">
              <a:latin typeface="+mn-ea"/>
              <a:ea typeface="+mn-ea"/>
            </a:endParaRPr>
          </a:p>
        </p:txBody>
      </p:sp>
      <p:sp>
        <p:nvSpPr>
          <p:cNvPr id="5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5589024"/>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23</a:t>
            </a:r>
            <a:endParaRPr lang="ja-JP" altLang="en-US" sz="1600" dirty="0">
              <a:latin typeface="+mn-ea"/>
              <a:ea typeface="+mn-ea"/>
            </a:endParaRPr>
          </a:p>
        </p:txBody>
      </p:sp>
      <p:sp>
        <p:nvSpPr>
          <p:cNvPr id="5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5949028"/>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25</a:t>
            </a:r>
            <a:endParaRPr lang="ja-JP" altLang="en-US" sz="1600" dirty="0">
              <a:latin typeface="+mn-ea"/>
              <a:ea typeface="+mn-ea"/>
            </a:endParaRPr>
          </a:p>
        </p:txBody>
      </p:sp>
      <p:sp>
        <p:nvSpPr>
          <p:cNvPr id="56" name="正方形/長方形 55"/>
          <p:cNvSpPr/>
          <p:nvPr/>
        </p:nvSpPr>
        <p:spPr bwMode="auto">
          <a:xfrm>
            <a:off x="2855964" y="5229020"/>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ja-JP" altLang="en-US" sz="1600" dirty="0"/>
              <a:t>フリーリスト</a:t>
            </a:r>
          </a:p>
        </p:txBody>
      </p:sp>
      <p:sp>
        <p:nvSpPr>
          <p:cNvPr id="5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6309032"/>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a:t>
            </a:r>
            <a:endParaRPr lang="ja-JP" altLang="en-US" sz="1600" dirty="0">
              <a:latin typeface="+mn-ea"/>
              <a:ea typeface="+mn-ea"/>
            </a:endParaRPr>
          </a:p>
        </p:txBody>
      </p:sp>
      <p:sp>
        <p:nvSpPr>
          <p:cNvPr id="5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4509012"/>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a:t>
            </a:r>
            <a:endParaRPr lang="ja-JP" altLang="en-US" sz="1600" dirty="0">
              <a:latin typeface="+mn-ea"/>
              <a:ea typeface="+mn-ea"/>
            </a:endParaRPr>
          </a:p>
        </p:txBody>
      </p:sp>
      <p:sp>
        <p:nvSpPr>
          <p:cNvPr id="6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3429000"/>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6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3429000"/>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10</a:t>
            </a:r>
            <a:endParaRPr lang="ja-JP" altLang="en-US" sz="1600" dirty="0">
              <a:latin typeface="+mn-ea"/>
              <a:ea typeface="+mn-ea"/>
            </a:endParaRPr>
          </a:p>
        </p:txBody>
      </p:sp>
      <p:sp>
        <p:nvSpPr>
          <p:cNvPr id="6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3789004"/>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11</a:t>
            </a:r>
            <a:endParaRPr lang="ja-JP" altLang="en-US" sz="1600" dirty="0">
              <a:latin typeface="+mn-ea"/>
              <a:ea typeface="+mn-ea"/>
            </a:endParaRPr>
          </a:p>
        </p:txBody>
      </p:sp>
      <p:sp>
        <p:nvSpPr>
          <p:cNvPr id="6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4149008"/>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12</a:t>
            </a:r>
            <a:endParaRPr lang="ja-JP" altLang="en-US" sz="1600" dirty="0">
              <a:latin typeface="+mn-ea"/>
              <a:ea typeface="+mn-ea"/>
            </a:endParaRPr>
          </a:p>
        </p:txBody>
      </p:sp>
      <p:sp>
        <p:nvSpPr>
          <p:cNvPr id="6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5229020"/>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6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5229020"/>
            <a:ext cx="360000" cy="360004"/>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20</a:t>
            </a:r>
            <a:endParaRPr lang="ja-JP" altLang="en-US" sz="1600" dirty="0">
              <a:latin typeface="+mn-ea"/>
              <a:ea typeface="+mn-ea"/>
            </a:endParaRPr>
          </a:p>
        </p:txBody>
      </p:sp>
      <p:sp>
        <p:nvSpPr>
          <p:cNvPr id="6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5589024"/>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23</a:t>
            </a:r>
            <a:endParaRPr lang="ja-JP" altLang="en-US" sz="1600" dirty="0">
              <a:latin typeface="+mn-ea"/>
              <a:ea typeface="+mn-ea"/>
            </a:endParaRPr>
          </a:p>
        </p:txBody>
      </p:sp>
      <p:sp>
        <p:nvSpPr>
          <p:cNvPr id="6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5949028"/>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25</a:t>
            </a:r>
            <a:endParaRPr lang="ja-JP" altLang="en-US" sz="1600" dirty="0">
              <a:latin typeface="+mn-ea"/>
              <a:ea typeface="+mn-ea"/>
            </a:endParaRPr>
          </a:p>
        </p:txBody>
      </p:sp>
      <p:sp>
        <p:nvSpPr>
          <p:cNvPr id="6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6309032"/>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a:t>
            </a:r>
            <a:endParaRPr lang="ja-JP" altLang="en-US" sz="1600" dirty="0">
              <a:latin typeface="+mn-ea"/>
              <a:ea typeface="+mn-ea"/>
            </a:endParaRPr>
          </a:p>
        </p:txBody>
      </p:sp>
      <p:sp>
        <p:nvSpPr>
          <p:cNvPr id="6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4509012"/>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a:t>
            </a:r>
            <a:endParaRPr lang="ja-JP" altLang="en-US" sz="1600" dirty="0">
              <a:latin typeface="+mn-ea"/>
              <a:ea typeface="+mn-ea"/>
            </a:endParaRPr>
          </a:p>
        </p:txBody>
      </p:sp>
      <p:sp>
        <p:nvSpPr>
          <p:cNvPr id="7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3429000"/>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7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3429000"/>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10</a:t>
            </a:r>
            <a:endParaRPr lang="ja-JP" altLang="en-US" sz="1600" dirty="0">
              <a:latin typeface="+mn-ea"/>
              <a:ea typeface="+mn-ea"/>
            </a:endParaRPr>
          </a:p>
        </p:txBody>
      </p:sp>
      <p:sp>
        <p:nvSpPr>
          <p:cNvPr id="7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3789004"/>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11</a:t>
            </a:r>
            <a:endParaRPr lang="ja-JP" altLang="en-US" sz="1600" dirty="0">
              <a:latin typeface="+mn-ea"/>
              <a:ea typeface="+mn-ea"/>
            </a:endParaRPr>
          </a:p>
        </p:txBody>
      </p:sp>
      <p:sp>
        <p:nvSpPr>
          <p:cNvPr id="7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4149008"/>
            <a:ext cx="360000" cy="360004"/>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solidFill>
                  <a:schemeClr val="accent6"/>
                </a:solidFill>
                <a:latin typeface="+mn-ea"/>
                <a:ea typeface="+mn-ea"/>
              </a:rPr>
              <a:t>20</a:t>
            </a:r>
            <a:endParaRPr lang="ja-JP" altLang="en-US" sz="1600" dirty="0">
              <a:solidFill>
                <a:schemeClr val="accent6"/>
              </a:solidFill>
              <a:latin typeface="+mn-ea"/>
              <a:ea typeface="+mn-ea"/>
            </a:endParaRPr>
          </a:p>
        </p:txBody>
      </p:sp>
      <p:sp>
        <p:nvSpPr>
          <p:cNvPr id="7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5229020"/>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7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5589024"/>
            <a:ext cx="360000" cy="360004"/>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23</a:t>
            </a:r>
            <a:endParaRPr lang="ja-JP" altLang="en-US" sz="1600" dirty="0">
              <a:latin typeface="+mn-ea"/>
              <a:ea typeface="+mn-ea"/>
            </a:endParaRPr>
          </a:p>
        </p:txBody>
      </p:sp>
      <p:sp>
        <p:nvSpPr>
          <p:cNvPr id="7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5949028"/>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25</a:t>
            </a:r>
            <a:endParaRPr lang="ja-JP" altLang="en-US" sz="1600" dirty="0">
              <a:latin typeface="+mn-ea"/>
              <a:ea typeface="+mn-ea"/>
            </a:endParaRPr>
          </a:p>
        </p:txBody>
      </p:sp>
      <p:sp>
        <p:nvSpPr>
          <p:cNvPr id="7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6309032"/>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a:t>
            </a:r>
            <a:endParaRPr lang="ja-JP" altLang="en-US" sz="1600" dirty="0">
              <a:latin typeface="+mn-ea"/>
              <a:ea typeface="+mn-ea"/>
            </a:endParaRPr>
          </a:p>
        </p:txBody>
      </p:sp>
      <p:sp>
        <p:nvSpPr>
          <p:cNvPr id="7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4509012"/>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a:t>
            </a:r>
            <a:endParaRPr lang="ja-JP" altLang="en-US" sz="1600" dirty="0">
              <a:latin typeface="+mn-ea"/>
              <a:ea typeface="+mn-ea"/>
            </a:endParaRPr>
          </a:p>
        </p:txBody>
      </p:sp>
      <p:sp>
        <p:nvSpPr>
          <p:cNvPr id="81" name="正方形/長方形 80"/>
          <p:cNvSpPr/>
          <p:nvPr/>
        </p:nvSpPr>
        <p:spPr bwMode="auto">
          <a:xfrm>
            <a:off x="2960040" y="138207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b="1" dirty="0">
                <a:solidFill>
                  <a:schemeClr val="accent6"/>
                </a:solidFill>
                <a:latin typeface="Consolas" panose="020B0609020204030204" pitchFamily="49" charset="0"/>
              </a:rPr>
              <a:t>p20</a:t>
            </a:r>
            <a:r>
              <a:rPr lang="ja-JP" altLang="en-US" sz="1600" dirty="0">
                <a:latin typeface="Consolas" panose="020B0609020204030204" pitchFamily="49" charset="0"/>
              </a:rPr>
              <a:t>←</a:t>
            </a:r>
            <a:r>
              <a:rPr lang="en-US" altLang="ja-JP" sz="1600" b="1" dirty="0">
                <a:solidFill>
                  <a:schemeClr val="accent5"/>
                </a:solidFill>
                <a:latin typeface="Consolas" panose="020B0609020204030204" pitchFamily="49" charset="0"/>
              </a:rPr>
              <a:t>p11</a:t>
            </a:r>
            <a:r>
              <a:rPr lang="en-US" altLang="ja-JP" sz="1600" dirty="0">
                <a:latin typeface="Consolas" panose="020B0609020204030204" pitchFamily="49" charset="0"/>
              </a:rPr>
              <a:t>*4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cxnSp>
        <p:nvCxnSpPr>
          <p:cNvPr id="86" name="曲線コネクタ 85"/>
          <p:cNvCxnSpPr>
            <a:stCxn id="72" idx="1"/>
          </p:cNvCxnSpPr>
          <p:nvPr/>
        </p:nvCxnSpPr>
        <p:spPr bwMode="auto">
          <a:xfrm rot="10800000">
            <a:off x="3395970" y="1718982"/>
            <a:ext cx="1620018" cy="2250024"/>
          </a:xfrm>
          <a:prstGeom prst="curvedConnector2">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2540036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レジスタ・リネームの動作（３）</a:t>
            </a:r>
          </a:p>
        </p:txBody>
      </p:sp>
      <p:sp>
        <p:nvSpPr>
          <p:cNvPr id="80" name="テキスト プレースホルダー 79"/>
          <p:cNvSpPr>
            <a:spLocks noGrp="1"/>
          </p:cNvSpPr>
          <p:nvPr>
            <p:ph type="body" sz="quarter" idx="10"/>
          </p:nvPr>
        </p:nvSpPr>
        <p:spPr>
          <a:xfrm>
            <a:off x="5853954" y="1088975"/>
            <a:ext cx="4814046" cy="5219751"/>
          </a:xfrm>
        </p:spPr>
        <p:txBody>
          <a:bodyPr/>
          <a:lstStyle/>
          <a:p>
            <a:r>
              <a:rPr lang="en-US" altLang="ja-JP" dirty="0">
                <a:latin typeface="Consolas" panose="020B0609020204030204" pitchFamily="49" charset="0"/>
              </a:rPr>
              <a:t>I2 </a:t>
            </a:r>
            <a:r>
              <a:rPr kumimoji="1" lang="ja-JP" altLang="en-US" dirty="0"/>
              <a:t>の リネーム</a:t>
            </a:r>
            <a:endParaRPr kumimoji="1" lang="en-US" altLang="ja-JP" dirty="0"/>
          </a:p>
          <a:p>
            <a:pPr lvl="1"/>
            <a:r>
              <a:rPr kumimoji="1" lang="ja-JP" altLang="en-US" dirty="0"/>
              <a:t>フリーリストから </a:t>
            </a:r>
            <a:r>
              <a:rPr kumimoji="1" lang="en-US" altLang="ja-JP" dirty="0"/>
              <a:t>p23 </a:t>
            </a:r>
            <a:r>
              <a:rPr kumimoji="1" lang="ja-JP" altLang="en-US" dirty="0"/>
              <a:t>を</a:t>
            </a:r>
            <a:r>
              <a:rPr lang="ja-JP" altLang="en-US" dirty="0"/>
              <a:t>取り出し</a:t>
            </a:r>
            <a:br>
              <a:rPr kumimoji="1" lang="en-US" altLang="ja-JP" dirty="0"/>
            </a:br>
            <a:r>
              <a:rPr kumimoji="1" lang="ja-JP" altLang="en-US" dirty="0"/>
              <a:t> ディスティネーションに割り当て</a:t>
            </a:r>
            <a:endParaRPr kumimoji="1" lang="en-US" altLang="ja-JP" dirty="0"/>
          </a:p>
          <a:p>
            <a:pPr lvl="2"/>
            <a:r>
              <a:rPr lang="en-US" altLang="ja-JP" dirty="0"/>
              <a:t>RMT </a:t>
            </a:r>
            <a:r>
              <a:rPr lang="ja-JP" altLang="en-US" dirty="0"/>
              <a:t>の </a:t>
            </a:r>
            <a:r>
              <a:rPr lang="en-US" altLang="ja-JP" dirty="0"/>
              <a:t>x3 </a:t>
            </a:r>
            <a:r>
              <a:rPr lang="ja-JP" altLang="en-US" dirty="0"/>
              <a:t>を書き換える</a:t>
            </a:r>
            <a:endParaRPr lang="en-US" altLang="ja-JP" dirty="0"/>
          </a:p>
          <a:p>
            <a:pPr lvl="1"/>
            <a:r>
              <a:rPr lang="en-US" altLang="ja-JP" dirty="0"/>
              <a:t>RMT </a:t>
            </a:r>
            <a:r>
              <a:rPr lang="ja-JP" altLang="en-US" dirty="0"/>
              <a:t>の </a:t>
            </a:r>
            <a:r>
              <a:rPr lang="en-US" altLang="ja-JP" dirty="0"/>
              <a:t>x1 </a:t>
            </a:r>
            <a:r>
              <a:rPr lang="ja-JP" altLang="en-US" dirty="0"/>
              <a:t>を参照して，</a:t>
            </a:r>
            <a:br>
              <a:rPr lang="en-US" altLang="ja-JP" dirty="0"/>
            </a:br>
            <a:r>
              <a:rPr kumimoji="1" lang="ja-JP" altLang="en-US" dirty="0"/>
              <a:t>ソース</a:t>
            </a:r>
            <a:r>
              <a:rPr kumimoji="1" lang="en-US" altLang="ja-JP" dirty="0"/>
              <a:t> </a:t>
            </a:r>
            <a:r>
              <a:rPr kumimoji="1" lang="ja-JP" altLang="en-US" dirty="0"/>
              <a:t>を </a:t>
            </a:r>
            <a:r>
              <a:rPr kumimoji="1" lang="en-US" altLang="ja-JP" dirty="0"/>
              <a:t>p10 </a:t>
            </a:r>
            <a:r>
              <a:rPr kumimoji="1" lang="ja-JP" altLang="en-US" dirty="0"/>
              <a:t>に書き換える</a:t>
            </a:r>
            <a:endParaRPr kumimoji="1" lang="en-US" altLang="ja-JP" dirty="0"/>
          </a:p>
        </p:txBody>
      </p:sp>
      <p:cxnSp>
        <p:nvCxnSpPr>
          <p:cNvPr id="4" name="直線コネクタ 3"/>
          <p:cNvCxnSpPr>
            <a:endCxn id="9" idx="1"/>
          </p:cNvCxnSpPr>
          <p:nvPr/>
        </p:nvCxnSpPr>
        <p:spPr bwMode="auto">
          <a:xfrm flipV="1">
            <a:off x="3575973" y="1898981"/>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3575972" y="1448978"/>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4115978"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 name="Rectangle 70"/>
          <p:cNvSpPr>
            <a:spLocks noChangeArrowheads="1"/>
          </p:cNvSpPr>
          <p:nvPr/>
        </p:nvSpPr>
        <p:spPr bwMode="auto">
          <a:xfrm>
            <a:off x="4565983"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9" name="Rectangle 69"/>
          <p:cNvSpPr>
            <a:spLocks noChangeArrowheads="1"/>
          </p:cNvSpPr>
          <p:nvPr/>
        </p:nvSpPr>
        <p:spPr bwMode="auto">
          <a:xfrm>
            <a:off x="4565983"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0" name="Rectangle 70"/>
          <p:cNvSpPr>
            <a:spLocks noChangeArrowheads="1"/>
          </p:cNvSpPr>
          <p:nvPr/>
        </p:nvSpPr>
        <p:spPr bwMode="auto">
          <a:xfrm>
            <a:off x="5015992"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13" name="Rectangle 69"/>
          <p:cNvSpPr>
            <a:spLocks noChangeArrowheads="1"/>
          </p:cNvSpPr>
          <p:nvPr/>
        </p:nvSpPr>
        <p:spPr bwMode="auto">
          <a:xfrm>
            <a:off x="5015992"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cxnSp>
        <p:nvCxnSpPr>
          <p:cNvPr id="17" name="直線コネクタ 16"/>
          <p:cNvCxnSpPr>
            <a:endCxn id="13" idx="1"/>
          </p:cNvCxnSpPr>
          <p:nvPr/>
        </p:nvCxnSpPr>
        <p:spPr bwMode="auto">
          <a:xfrm flipV="1">
            <a:off x="3575972" y="2348986"/>
            <a:ext cx="1440020" cy="2"/>
          </a:xfrm>
          <a:prstGeom prst="line">
            <a:avLst/>
          </a:prstGeom>
          <a:noFill/>
          <a:ln w="9525" cap="flat" cmpd="sng" algn="ctr">
            <a:solidFill>
              <a:schemeClr val="tx1"/>
            </a:solidFill>
            <a:prstDash val="dash"/>
            <a:round/>
            <a:headEnd type="none" w="med" len="med"/>
            <a:tailEnd type="none" w="med" len="med"/>
          </a:ln>
          <a:effectLst/>
        </p:spPr>
      </p:cxnSp>
      <p:sp>
        <p:nvSpPr>
          <p:cNvPr id="22" name="Rectangle 70"/>
          <p:cNvSpPr>
            <a:spLocks noChangeArrowheads="1"/>
          </p:cNvSpPr>
          <p:nvPr/>
        </p:nvSpPr>
        <p:spPr bwMode="auto">
          <a:xfrm>
            <a:off x="5015988" y="1268976"/>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RN</a:t>
            </a:r>
          </a:p>
        </p:txBody>
      </p:sp>
      <p:sp>
        <p:nvSpPr>
          <p:cNvPr id="28" name="正方形/長方形 27"/>
          <p:cNvSpPr/>
          <p:nvPr/>
        </p:nvSpPr>
        <p:spPr bwMode="auto">
          <a:xfrm>
            <a:off x="2855964" y="1178975"/>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I1: </a:t>
            </a:r>
            <a:r>
              <a:rPr lang="en-US" altLang="ja-JP" sz="1600" dirty="0" err="1">
                <a:latin typeface="Consolas" panose="020B0609020204030204" pitchFamily="49" charset="0"/>
              </a:rPr>
              <a:t>mul</a:t>
            </a:r>
            <a:r>
              <a:rPr lang="en-US" altLang="ja-JP" sz="1600" dirty="0">
                <a:latin typeface="Consolas" panose="020B0609020204030204" pitchFamily="49" charset="0"/>
              </a:rPr>
              <a:t> </a:t>
            </a:r>
            <a:r>
              <a:rPr lang="en-US" altLang="ja-JP" sz="1600" dirty="0">
                <a:solidFill>
                  <a:schemeClr val="tx1">
                    <a:lumMod val="75000"/>
                    <a:lumOff val="25000"/>
                  </a:schemeClr>
                </a:solidFill>
                <a:latin typeface="Consolas" panose="020B0609020204030204" pitchFamily="49" charset="0"/>
              </a:rPr>
              <a:t>x3</a:t>
            </a:r>
            <a:r>
              <a:rPr lang="ja-JP" altLang="en-US" sz="1600" dirty="0">
                <a:latin typeface="Consolas" panose="020B0609020204030204" pitchFamily="49" charset="0"/>
              </a:rPr>
              <a:t>←</a:t>
            </a:r>
            <a:r>
              <a:rPr lang="en-US" altLang="ja-JP" sz="1600" dirty="0">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29" name="正方形/長方形 28"/>
          <p:cNvSpPr/>
          <p:nvPr/>
        </p:nvSpPr>
        <p:spPr bwMode="auto">
          <a:xfrm>
            <a:off x="2855964" y="1628980"/>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I2: add x3</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x1+1</a:t>
            </a:r>
            <a:endParaRPr lang="ja-JP" altLang="en-US" sz="1600" dirty="0">
              <a:solidFill>
                <a:schemeClr val="tx1">
                  <a:lumMod val="75000"/>
                  <a:lumOff val="25000"/>
                </a:schemeClr>
              </a:solidFill>
            </a:endParaRPr>
          </a:p>
        </p:txBody>
      </p:sp>
      <p:sp>
        <p:nvSpPr>
          <p:cNvPr id="30" name="正方形/長方形 29"/>
          <p:cNvSpPr/>
          <p:nvPr/>
        </p:nvSpPr>
        <p:spPr bwMode="auto">
          <a:xfrm>
            <a:off x="2855964" y="216898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I3: sub x1</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x5-1</a:t>
            </a:r>
            <a:endParaRPr lang="ja-JP" altLang="en-US" sz="1600" dirty="0">
              <a:solidFill>
                <a:schemeClr val="tx1">
                  <a:lumMod val="75000"/>
                  <a:lumOff val="25000"/>
                </a:schemeClr>
              </a:solidFill>
            </a:endParaRPr>
          </a:p>
        </p:txBody>
      </p:sp>
      <p:cxnSp>
        <p:nvCxnSpPr>
          <p:cNvPr id="35" name="直線コネクタ 34"/>
          <p:cNvCxnSpPr>
            <a:stCxn id="37" idx="3"/>
          </p:cNvCxnSpPr>
          <p:nvPr/>
        </p:nvCxnSpPr>
        <p:spPr bwMode="auto">
          <a:xfrm flipV="1">
            <a:off x="3575973" y="2798989"/>
            <a:ext cx="1890021" cy="4"/>
          </a:xfrm>
          <a:prstGeom prst="line">
            <a:avLst/>
          </a:prstGeom>
          <a:noFill/>
          <a:ln w="9525" cap="flat" cmpd="sng" algn="ctr">
            <a:solidFill>
              <a:schemeClr val="tx1"/>
            </a:solidFill>
            <a:prstDash val="dash"/>
            <a:round/>
            <a:headEnd type="none" w="med" len="med"/>
            <a:tailEnd type="none" w="med" len="med"/>
          </a:ln>
          <a:effectLst/>
        </p:spPr>
      </p:cxnSp>
      <p:sp>
        <p:nvSpPr>
          <p:cNvPr id="37" name="正方形/長方形 36"/>
          <p:cNvSpPr/>
          <p:nvPr/>
        </p:nvSpPr>
        <p:spPr bwMode="auto">
          <a:xfrm>
            <a:off x="2855964" y="261899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I4: and x6</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x7&amp;1</a:t>
            </a:r>
            <a:endParaRPr lang="ja-JP" altLang="en-US" sz="1600" dirty="0">
              <a:solidFill>
                <a:schemeClr val="tx1">
                  <a:lumMod val="75000"/>
                  <a:lumOff val="25000"/>
                </a:schemeClr>
              </a:solidFill>
            </a:endParaRPr>
          </a:p>
        </p:txBody>
      </p:sp>
      <p:sp>
        <p:nvSpPr>
          <p:cNvPr id="4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3429000"/>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4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3429000"/>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10</a:t>
            </a:r>
            <a:endParaRPr lang="ja-JP" altLang="en-US" sz="1600" dirty="0">
              <a:latin typeface="+mn-ea"/>
              <a:ea typeface="+mn-ea"/>
            </a:endParaRPr>
          </a:p>
        </p:txBody>
      </p:sp>
      <p:sp>
        <p:nvSpPr>
          <p:cNvPr id="4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3789004"/>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11</a:t>
            </a:r>
            <a:endParaRPr lang="ja-JP" altLang="en-US" sz="1600" dirty="0">
              <a:latin typeface="+mn-ea"/>
              <a:ea typeface="+mn-ea"/>
            </a:endParaRPr>
          </a:p>
        </p:txBody>
      </p:sp>
      <p:sp>
        <p:nvSpPr>
          <p:cNvPr id="4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4149008"/>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12</a:t>
            </a:r>
            <a:endParaRPr lang="ja-JP" altLang="en-US" sz="1600" dirty="0">
              <a:latin typeface="+mn-ea"/>
              <a:ea typeface="+mn-ea"/>
            </a:endParaRPr>
          </a:p>
        </p:txBody>
      </p:sp>
      <p:sp>
        <p:nvSpPr>
          <p:cNvPr id="45" name="正方形/長方形 44"/>
          <p:cNvSpPr/>
          <p:nvPr/>
        </p:nvSpPr>
        <p:spPr bwMode="auto">
          <a:xfrm>
            <a:off x="2855964" y="3429000"/>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RMT</a:t>
            </a:r>
            <a:endParaRPr lang="ja-JP" altLang="en-US" sz="1600" dirty="0"/>
          </a:p>
        </p:txBody>
      </p:sp>
      <p:sp>
        <p:nvSpPr>
          <p:cNvPr id="4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395970" y="3429000"/>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x1</a:t>
            </a:r>
            <a:endParaRPr lang="ja-JP" altLang="en-US" sz="1600" dirty="0">
              <a:latin typeface="+mn-ea"/>
              <a:ea typeface="+mn-ea"/>
            </a:endParaRPr>
          </a:p>
        </p:txBody>
      </p:sp>
      <p:sp>
        <p:nvSpPr>
          <p:cNvPr id="4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395970" y="3789004"/>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x2</a:t>
            </a:r>
            <a:endParaRPr lang="ja-JP" altLang="en-US" sz="1600" dirty="0">
              <a:latin typeface="+mn-ea"/>
              <a:ea typeface="+mn-ea"/>
            </a:endParaRPr>
          </a:p>
        </p:txBody>
      </p:sp>
      <p:sp>
        <p:nvSpPr>
          <p:cNvPr id="4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395970" y="4149008"/>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latin typeface="+mn-ea"/>
                <a:ea typeface="+mn-ea"/>
              </a:rPr>
              <a:t>x3</a:t>
            </a:r>
            <a:endParaRPr lang="ja-JP" altLang="en-US" sz="1600" dirty="0">
              <a:latin typeface="+mn-ea"/>
              <a:ea typeface="+mn-ea"/>
            </a:endParaRPr>
          </a:p>
        </p:txBody>
      </p:sp>
      <p:sp>
        <p:nvSpPr>
          <p:cNvPr id="4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5229020"/>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5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5229020"/>
            <a:ext cx="360000" cy="360004"/>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20</a:t>
            </a:r>
            <a:endParaRPr lang="ja-JP" altLang="en-US" sz="1600" dirty="0">
              <a:latin typeface="+mn-ea"/>
              <a:ea typeface="+mn-ea"/>
            </a:endParaRPr>
          </a:p>
        </p:txBody>
      </p:sp>
      <p:sp>
        <p:nvSpPr>
          <p:cNvPr id="5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5589024"/>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23</a:t>
            </a:r>
            <a:endParaRPr lang="ja-JP" altLang="en-US" sz="1600" dirty="0">
              <a:latin typeface="+mn-ea"/>
              <a:ea typeface="+mn-ea"/>
            </a:endParaRPr>
          </a:p>
        </p:txBody>
      </p:sp>
      <p:sp>
        <p:nvSpPr>
          <p:cNvPr id="5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5949028"/>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25</a:t>
            </a:r>
            <a:endParaRPr lang="ja-JP" altLang="en-US" sz="1600" dirty="0">
              <a:latin typeface="+mn-ea"/>
              <a:ea typeface="+mn-ea"/>
            </a:endParaRPr>
          </a:p>
        </p:txBody>
      </p:sp>
      <p:sp>
        <p:nvSpPr>
          <p:cNvPr id="56" name="正方形/長方形 55"/>
          <p:cNvSpPr/>
          <p:nvPr/>
        </p:nvSpPr>
        <p:spPr bwMode="auto">
          <a:xfrm>
            <a:off x="2855964" y="5229020"/>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ja-JP" altLang="en-US" sz="1600" dirty="0"/>
              <a:t>フリーリスト</a:t>
            </a:r>
          </a:p>
        </p:txBody>
      </p:sp>
      <p:sp>
        <p:nvSpPr>
          <p:cNvPr id="5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6309032"/>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a:t>
            </a:r>
            <a:endParaRPr lang="ja-JP" altLang="en-US" sz="1600" dirty="0">
              <a:latin typeface="+mn-ea"/>
              <a:ea typeface="+mn-ea"/>
            </a:endParaRPr>
          </a:p>
        </p:txBody>
      </p:sp>
      <p:sp>
        <p:nvSpPr>
          <p:cNvPr id="5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115978" y="4509012"/>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a:t>
            </a:r>
            <a:endParaRPr lang="ja-JP" altLang="en-US" sz="1600" dirty="0">
              <a:latin typeface="+mn-ea"/>
              <a:ea typeface="+mn-ea"/>
            </a:endParaRPr>
          </a:p>
        </p:txBody>
      </p:sp>
      <p:sp>
        <p:nvSpPr>
          <p:cNvPr id="6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3429000"/>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6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3429000"/>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10</a:t>
            </a:r>
            <a:endParaRPr lang="ja-JP" altLang="en-US" sz="1600" dirty="0">
              <a:latin typeface="+mn-ea"/>
              <a:ea typeface="+mn-ea"/>
            </a:endParaRPr>
          </a:p>
        </p:txBody>
      </p:sp>
      <p:sp>
        <p:nvSpPr>
          <p:cNvPr id="6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3789004"/>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11</a:t>
            </a:r>
            <a:endParaRPr lang="ja-JP" altLang="en-US" sz="1600" dirty="0">
              <a:latin typeface="+mn-ea"/>
              <a:ea typeface="+mn-ea"/>
            </a:endParaRPr>
          </a:p>
        </p:txBody>
      </p:sp>
      <p:sp>
        <p:nvSpPr>
          <p:cNvPr id="6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4149008"/>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a:latin typeface="+mn-ea"/>
                <a:ea typeface="+mn-ea"/>
              </a:rPr>
              <a:t>12</a:t>
            </a:r>
            <a:endParaRPr lang="ja-JP" altLang="en-US" sz="1600" dirty="0">
              <a:latin typeface="+mn-ea"/>
              <a:ea typeface="+mn-ea"/>
            </a:endParaRPr>
          </a:p>
        </p:txBody>
      </p:sp>
      <p:sp>
        <p:nvSpPr>
          <p:cNvPr id="6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5229020"/>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6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5229020"/>
            <a:ext cx="360000" cy="360004"/>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20</a:t>
            </a:r>
            <a:endParaRPr lang="ja-JP" altLang="en-US" sz="1600" dirty="0">
              <a:latin typeface="+mn-ea"/>
              <a:ea typeface="+mn-ea"/>
            </a:endParaRPr>
          </a:p>
        </p:txBody>
      </p:sp>
      <p:sp>
        <p:nvSpPr>
          <p:cNvPr id="6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5589024"/>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23</a:t>
            </a:r>
            <a:endParaRPr lang="ja-JP" altLang="en-US" sz="1600" dirty="0">
              <a:latin typeface="+mn-ea"/>
              <a:ea typeface="+mn-ea"/>
            </a:endParaRPr>
          </a:p>
        </p:txBody>
      </p:sp>
      <p:sp>
        <p:nvSpPr>
          <p:cNvPr id="6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5949028"/>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25</a:t>
            </a:r>
            <a:endParaRPr lang="ja-JP" altLang="en-US" sz="1600" dirty="0">
              <a:latin typeface="+mn-ea"/>
              <a:ea typeface="+mn-ea"/>
            </a:endParaRPr>
          </a:p>
        </p:txBody>
      </p:sp>
      <p:sp>
        <p:nvSpPr>
          <p:cNvPr id="6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6309032"/>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a:t>
            </a:r>
            <a:endParaRPr lang="ja-JP" altLang="en-US" sz="1600" dirty="0">
              <a:latin typeface="+mn-ea"/>
              <a:ea typeface="+mn-ea"/>
            </a:endParaRPr>
          </a:p>
        </p:txBody>
      </p:sp>
      <p:sp>
        <p:nvSpPr>
          <p:cNvPr id="6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565983" y="4509012"/>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a:t>
            </a:r>
            <a:endParaRPr lang="ja-JP" altLang="en-US" sz="1600" dirty="0">
              <a:latin typeface="+mn-ea"/>
              <a:ea typeface="+mn-ea"/>
            </a:endParaRPr>
          </a:p>
        </p:txBody>
      </p:sp>
      <p:sp>
        <p:nvSpPr>
          <p:cNvPr id="7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3429000"/>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7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3429000"/>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10</a:t>
            </a:r>
            <a:endParaRPr lang="ja-JP" altLang="en-US" sz="1600" dirty="0">
              <a:latin typeface="+mn-ea"/>
              <a:ea typeface="+mn-ea"/>
            </a:endParaRPr>
          </a:p>
        </p:txBody>
      </p:sp>
      <p:sp>
        <p:nvSpPr>
          <p:cNvPr id="7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3789004"/>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11</a:t>
            </a:r>
            <a:endParaRPr lang="ja-JP" altLang="en-US" sz="1600" dirty="0">
              <a:latin typeface="+mn-ea"/>
              <a:ea typeface="+mn-ea"/>
            </a:endParaRPr>
          </a:p>
        </p:txBody>
      </p:sp>
      <p:sp>
        <p:nvSpPr>
          <p:cNvPr id="7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4149008"/>
            <a:ext cx="360000" cy="360004"/>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b="1" dirty="0">
                <a:solidFill>
                  <a:schemeClr val="tx1">
                    <a:lumMod val="75000"/>
                    <a:lumOff val="25000"/>
                  </a:schemeClr>
                </a:solidFill>
                <a:latin typeface="+mn-ea"/>
                <a:ea typeface="+mn-ea"/>
              </a:rPr>
              <a:t>20</a:t>
            </a:r>
            <a:endParaRPr lang="ja-JP" altLang="en-US" sz="1600" b="1" dirty="0">
              <a:solidFill>
                <a:schemeClr val="tx1">
                  <a:lumMod val="75000"/>
                  <a:lumOff val="25000"/>
                </a:schemeClr>
              </a:solidFill>
              <a:latin typeface="+mn-ea"/>
              <a:ea typeface="+mn-ea"/>
            </a:endParaRPr>
          </a:p>
        </p:txBody>
      </p:sp>
      <p:sp>
        <p:nvSpPr>
          <p:cNvPr id="7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5229020"/>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7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5589024"/>
            <a:ext cx="360000" cy="360004"/>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23</a:t>
            </a:r>
            <a:endParaRPr lang="ja-JP" altLang="en-US" sz="1600" dirty="0">
              <a:latin typeface="+mn-ea"/>
              <a:ea typeface="+mn-ea"/>
            </a:endParaRPr>
          </a:p>
        </p:txBody>
      </p:sp>
      <p:sp>
        <p:nvSpPr>
          <p:cNvPr id="7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5949028"/>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25</a:t>
            </a:r>
            <a:endParaRPr lang="ja-JP" altLang="en-US" sz="1600" dirty="0">
              <a:latin typeface="+mn-ea"/>
              <a:ea typeface="+mn-ea"/>
            </a:endParaRPr>
          </a:p>
        </p:txBody>
      </p:sp>
      <p:sp>
        <p:nvSpPr>
          <p:cNvPr id="7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6309032"/>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a:t>
            </a:r>
            <a:endParaRPr lang="ja-JP" altLang="en-US" sz="1600" dirty="0">
              <a:latin typeface="+mn-ea"/>
              <a:ea typeface="+mn-ea"/>
            </a:endParaRPr>
          </a:p>
        </p:txBody>
      </p:sp>
      <p:sp>
        <p:nvSpPr>
          <p:cNvPr id="7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4509012"/>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a:t>
            </a:r>
            <a:endParaRPr lang="ja-JP" altLang="en-US" sz="1600" dirty="0">
              <a:latin typeface="+mn-ea"/>
              <a:ea typeface="+mn-ea"/>
            </a:endParaRPr>
          </a:p>
        </p:txBody>
      </p:sp>
      <p:sp>
        <p:nvSpPr>
          <p:cNvPr id="81" name="正方形/長方形 80"/>
          <p:cNvSpPr/>
          <p:nvPr/>
        </p:nvSpPr>
        <p:spPr bwMode="auto">
          <a:xfrm>
            <a:off x="2960040" y="138207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accent6"/>
                </a:solidFill>
                <a:latin typeface="Consolas" panose="020B0609020204030204" pitchFamily="49" charset="0"/>
              </a:rPr>
              <a:t>p20</a:t>
            </a:r>
            <a:r>
              <a:rPr lang="ja-JP" altLang="en-US" sz="1600" dirty="0">
                <a:latin typeface="Consolas" panose="020B0609020204030204" pitchFamily="49" charset="0"/>
              </a:rPr>
              <a:t>←</a:t>
            </a:r>
            <a:r>
              <a:rPr lang="en-US" altLang="ja-JP" sz="1600" dirty="0">
                <a:solidFill>
                  <a:schemeClr val="accent5"/>
                </a:solidFill>
                <a:latin typeface="Consolas" panose="020B0609020204030204" pitchFamily="49" charset="0"/>
              </a:rPr>
              <a:t>p11</a:t>
            </a:r>
            <a:r>
              <a:rPr lang="en-US" altLang="ja-JP" sz="1600" dirty="0">
                <a:latin typeface="Consolas" panose="020B0609020204030204" pitchFamily="49" charset="0"/>
              </a:rPr>
              <a:t>*4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cxnSp>
        <p:nvCxnSpPr>
          <p:cNvPr id="86" name="曲線コネクタ 85"/>
          <p:cNvCxnSpPr>
            <a:stCxn id="85" idx="1"/>
            <a:endCxn id="95" idx="2"/>
          </p:cNvCxnSpPr>
          <p:nvPr/>
        </p:nvCxnSpPr>
        <p:spPr bwMode="auto">
          <a:xfrm rot="10800000">
            <a:off x="3305969" y="2133002"/>
            <a:ext cx="2160024" cy="1476000"/>
          </a:xfrm>
          <a:prstGeom prst="curvedConnector2">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57" name="Rectangle 70"/>
          <p:cNvSpPr>
            <a:spLocks noChangeArrowheads="1"/>
          </p:cNvSpPr>
          <p:nvPr/>
        </p:nvSpPr>
        <p:spPr bwMode="auto">
          <a:xfrm>
            <a:off x="5465993" y="1718981"/>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RN</a:t>
            </a:r>
          </a:p>
        </p:txBody>
      </p:sp>
      <p:sp>
        <p:nvSpPr>
          <p:cNvPr id="75" name="Rectangle 70"/>
          <p:cNvSpPr>
            <a:spLocks noChangeArrowheads="1"/>
          </p:cNvSpPr>
          <p:nvPr/>
        </p:nvSpPr>
        <p:spPr bwMode="auto">
          <a:xfrm>
            <a:off x="5465993"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82" name="Rectangle 69"/>
          <p:cNvSpPr>
            <a:spLocks noChangeArrowheads="1"/>
          </p:cNvSpPr>
          <p:nvPr/>
        </p:nvSpPr>
        <p:spPr bwMode="auto">
          <a:xfrm>
            <a:off x="5465993"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8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465993" y="3429000"/>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8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465993" y="3429000"/>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10</a:t>
            </a:r>
            <a:endParaRPr lang="ja-JP" altLang="en-US" sz="1600" dirty="0">
              <a:latin typeface="+mn-ea"/>
              <a:ea typeface="+mn-ea"/>
            </a:endParaRPr>
          </a:p>
        </p:txBody>
      </p:sp>
      <p:sp>
        <p:nvSpPr>
          <p:cNvPr id="8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465993" y="3789004"/>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11</a:t>
            </a:r>
            <a:endParaRPr lang="ja-JP" altLang="en-US" sz="1600" dirty="0">
              <a:latin typeface="+mn-ea"/>
              <a:ea typeface="+mn-ea"/>
            </a:endParaRPr>
          </a:p>
        </p:txBody>
      </p:sp>
      <p:sp>
        <p:nvSpPr>
          <p:cNvPr id="8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465993" y="4149008"/>
            <a:ext cx="360000" cy="360004"/>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b="1" dirty="0">
                <a:solidFill>
                  <a:schemeClr val="accent6"/>
                </a:solidFill>
                <a:latin typeface="+mn-ea"/>
                <a:ea typeface="+mn-ea"/>
              </a:rPr>
              <a:t>23</a:t>
            </a:r>
            <a:endParaRPr lang="ja-JP" altLang="en-US" sz="1600" b="1" dirty="0">
              <a:solidFill>
                <a:schemeClr val="accent6"/>
              </a:solidFill>
              <a:latin typeface="+mn-ea"/>
              <a:ea typeface="+mn-ea"/>
            </a:endParaRPr>
          </a:p>
        </p:txBody>
      </p:sp>
      <p:sp>
        <p:nvSpPr>
          <p:cNvPr id="9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465993" y="5229020"/>
            <a:ext cx="360000" cy="144001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9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465993" y="5589024"/>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9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465993" y="5949028"/>
            <a:ext cx="360000" cy="360004"/>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25</a:t>
            </a:r>
            <a:endParaRPr lang="ja-JP" altLang="en-US" sz="1600" dirty="0">
              <a:latin typeface="+mn-ea"/>
              <a:ea typeface="+mn-ea"/>
            </a:endParaRPr>
          </a:p>
        </p:txBody>
      </p:sp>
      <p:sp>
        <p:nvSpPr>
          <p:cNvPr id="9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465993" y="6309032"/>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a:t>
            </a:r>
            <a:endParaRPr lang="ja-JP" altLang="en-US" sz="1600" dirty="0">
              <a:latin typeface="+mn-ea"/>
              <a:ea typeface="+mn-ea"/>
            </a:endParaRPr>
          </a:p>
        </p:txBody>
      </p:sp>
      <p:sp>
        <p:nvSpPr>
          <p:cNvPr id="9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465993" y="4509012"/>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a:t>
            </a:r>
            <a:endParaRPr lang="ja-JP" altLang="en-US" sz="1600" dirty="0">
              <a:latin typeface="+mn-ea"/>
              <a:ea typeface="+mn-ea"/>
            </a:endParaRPr>
          </a:p>
        </p:txBody>
      </p:sp>
      <p:cxnSp>
        <p:nvCxnSpPr>
          <p:cNvPr id="88" name="曲線コネクタ 87"/>
          <p:cNvCxnSpPr/>
          <p:nvPr/>
        </p:nvCxnSpPr>
        <p:spPr bwMode="auto">
          <a:xfrm rot="5400000" flipH="1" flipV="1">
            <a:off x="4880987" y="4824016"/>
            <a:ext cx="1080012" cy="450007"/>
          </a:xfrm>
          <a:prstGeom prst="curvedConnector3">
            <a:avLst>
              <a:gd name="adj1" fmla="val 50000"/>
            </a:avLst>
          </a:prstGeom>
          <a:ln>
            <a:headEnd type="none" w="med" len="med"/>
            <a:tailEnd type="triangle"/>
          </a:ln>
        </p:spPr>
        <p:style>
          <a:lnRef idx="2">
            <a:schemeClr val="accent6"/>
          </a:lnRef>
          <a:fillRef idx="0">
            <a:schemeClr val="accent6"/>
          </a:fillRef>
          <a:effectRef idx="1">
            <a:schemeClr val="accent6"/>
          </a:effectRef>
          <a:fontRef idx="minor">
            <a:schemeClr val="tx1"/>
          </a:fontRef>
        </p:style>
      </p:cxnSp>
      <p:sp>
        <p:nvSpPr>
          <p:cNvPr id="95" name="正方形/長方形 94"/>
          <p:cNvSpPr/>
          <p:nvPr/>
        </p:nvSpPr>
        <p:spPr bwMode="auto">
          <a:xfrm>
            <a:off x="2945965" y="180898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accent6"/>
                </a:solidFill>
                <a:latin typeface="Consolas" panose="020B0609020204030204" pitchFamily="49" charset="0"/>
              </a:rPr>
              <a:t>p23</a:t>
            </a:r>
            <a:r>
              <a:rPr lang="ja-JP" altLang="en-US" sz="1600" dirty="0">
                <a:latin typeface="Consolas" panose="020B0609020204030204" pitchFamily="49" charset="0"/>
              </a:rPr>
              <a:t>←</a:t>
            </a:r>
            <a:r>
              <a:rPr lang="en-US" altLang="ja-JP" sz="1600" dirty="0">
                <a:solidFill>
                  <a:schemeClr val="accent5"/>
                </a:solidFill>
                <a:latin typeface="Consolas" panose="020B0609020204030204" pitchFamily="49" charset="0"/>
              </a:rPr>
              <a:t>p10</a:t>
            </a:r>
            <a:r>
              <a:rPr lang="en-US" altLang="ja-JP" sz="1600" dirty="0">
                <a:solidFill>
                  <a:schemeClr val="tx1">
                    <a:lumMod val="75000"/>
                    <a:lumOff val="25000"/>
                  </a:schemeClr>
                </a:solidFill>
                <a:latin typeface="Consolas" panose="020B0609020204030204" pitchFamily="49" charset="0"/>
              </a:rPr>
              <a:t>+1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cxnSp>
        <p:nvCxnSpPr>
          <p:cNvPr id="96" name="曲線コネクタ 95"/>
          <p:cNvCxnSpPr>
            <a:stCxn id="89" idx="1"/>
          </p:cNvCxnSpPr>
          <p:nvPr/>
        </p:nvCxnSpPr>
        <p:spPr bwMode="auto">
          <a:xfrm rot="10800000">
            <a:off x="2855966" y="2133010"/>
            <a:ext cx="2610029" cy="2196000"/>
          </a:xfrm>
          <a:prstGeom prst="curvedConnector2">
            <a:avLst/>
          </a:prstGeom>
          <a:ln>
            <a:headEnd type="none" w="med" len="med"/>
            <a:tailEnd type="triangle"/>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31878060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レジスタ・リネームのまとめ</a:t>
            </a:r>
          </a:p>
        </p:txBody>
      </p:sp>
      <p:sp>
        <p:nvSpPr>
          <p:cNvPr id="3" name="テキスト プレースホルダー 2"/>
          <p:cNvSpPr>
            <a:spLocks noGrp="1"/>
          </p:cNvSpPr>
          <p:nvPr>
            <p:ph type="body" sz="quarter" idx="10"/>
          </p:nvPr>
        </p:nvSpPr>
        <p:spPr/>
        <p:txBody>
          <a:bodyPr/>
          <a:lstStyle/>
          <a:p>
            <a:r>
              <a:rPr lang="ja-JP" altLang="en-US" dirty="0"/>
              <a:t>各命令のディスティネーションに専用のレジスタを与える</a:t>
            </a:r>
            <a:endParaRPr lang="en-US" altLang="ja-JP" dirty="0"/>
          </a:p>
          <a:p>
            <a:pPr lvl="1"/>
            <a:r>
              <a:rPr lang="ja-JP" altLang="en-US" dirty="0"/>
              <a:t>レジスタ番号がかぶらないので，</a:t>
            </a:r>
            <a:br>
              <a:rPr lang="en-US" altLang="ja-JP" dirty="0"/>
            </a:br>
            <a:r>
              <a:rPr lang="ja-JP" altLang="en-US" dirty="0"/>
              <a:t>他の命令との間で出力依存や逆依存は生じなくなる</a:t>
            </a:r>
            <a:endParaRPr lang="en-US" altLang="ja-JP" dirty="0"/>
          </a:p>
          <a:p>
            <a:pPr lvl="1"/>
            <a:r>
              <a:rPr lang="en-US" altLang="ja-JP" dirty="0"/>
              <a:t>RMT </a:t>
            </a:r>
            <a:r>
              <a:rPr lang="ja-JP" altLang="en-US" dirty="0"/>
              <a:t>やフリーリストにより実現</a:t>
            </a:r>
            <a:endParaRPr lang="en-US" altLang="ja-JP" dirty="0"/>
          </a:p>
          <a:p>
            <a:r>
              <a:rPr lang="ja-JP" altLang="en-US" dirty="0"/>
              <a:t>リネームを済ました後は，真の依存だけを考えて発行すればよい</a:t>
            </a:r>
            <a:endParaRPr lang="en-US" altLang="ja-JP" dirty="0"/>
          </a:p>
        </p:txBody>
      </p:sp>
    </p:spTree>
    <p:extLst>
      <p:ext uri="{BB962C8B-B14F-4D97-AF65-F5344CB8AC3E}">
        <p14:creationId xmlns:p14="http://schemas.microsoft.com/office/powerpoint/2010/main" val="16317427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out-of-order </a:t>
            </a:r>
            <a:r>
              <a:rPr lang="ja-JP" altLang="en-US" dirty="0"/>
              <a:t>発行</a:t>
            </a:r>
            <a:r>
              <a:rPr lang="en-US" altLang="ja-JP" dirty="0"/>
              <a:t>/out-of-order </a:t>
            </a:r>
            <a:r>
              <a:rPr lang="ja-JP" altLang="en-US" dirty="0"/>
              <a:t>完了</a:t>
            </a:r>
            <a:endParaRPr kumimoji="1" lang="ja-JP" altLang="en-US" dirty="0"/>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レジスタ・リネーム</a:t>
            </a:r>
            <a:endParaRPr kumimoji="1" lang="en-US" altLang="ja-JP" dirty="0"/>
          </a:p>
          <a:p>
            <a:pPr marL="457200" indent="-457200">
              <a:buFont typeface="+mj-lt"/>
              <a:buAutoNum type="arabicPeriod"/>
            </a:pPr>
            <a:r>
              <a:rPr lang="en-US" altLang="ja-JP" b="1" dirty="0"/>
              <a:t>out-of-order </a:t>
            </a:r>
            <a:r>
              <a:rPr lang="ja-JP" altLang="en-US" b="1" dirty="0"/>
              <a:t>発行機構</a:t>
            </a:r>
            <a:endParaRPr lang="en-US" altLang="ja-JP" b="1" dirty="0"/>
          </a:p>
          <a:p>
            <a:pPr marL="817200" lvl="1" indent="-457200">
              <a:buFont typeface="+mj-lt"/>
              <a:buAutoNum type="arabicPeriod"/>
            </a:pPr>
            <a:r>
              <a:rPr kumimoji="1" lang="ja-JP" altLang="en-US" dirty="0"/>
              <a:t>スケジューラの作り方</a:t>
            </a:r>
            <a:endParaRPr kumimoji="1" lang="en-US" altLang="ja-JP" dirty="0"/>
          </a:p>
          <a:p>
            <a:pPr marL="817200" lvl="1" indent="-457200">
              <a:buFont typeface="+mj-lt"/>
              <a:buAutoNum type="arabicPeriod"/>
            </a:pPr>
            <a:r>
              <a:rPr lang="ja-JP" altLang="en-US" dirty="0"/>
              <a:t>性能への影響</a:t>
            </a:r>
            <a:endParaRPr kumimoji="1" lang="en-US" altLang="ja-JP" dirty="0"/>
          </a:p>
          <a:p>
            <a:pPr marL="817200" lvl="1" indent="-457200">
              <a:buFont typeface="+mj-lt"/>
              <a:buAutoNum type="arabicPeriod"/>
            </a:pPr>
            <a:r>
              <a:rPr lang="ja-JP" altLang="en-US" dirty="0"/>
              <a:t>トマスロ方式との違い</a:t>
            </a:r>
            <a:endParaRPr kumimoji="1" lang="ja-JP" altLang="en-US" dirty="0"/>
          </a:p>
        </p:txBody>
      </p:sp>
    </p:spTree>
    <p:extLst>
      <p:ext uri="{BB962C8B-B14F-4D97-AF65-F5344CB8AC3E}">
        <p14:creationId xmlns:p14="http://schemas.microsoft.com/office/powerpoint/2010/main" val="3859928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in-order </a:t>
            </a:r>
            <a:r>
              <a:rPr kumimoji="1" lang="ja-JP" altLang="en-US" dirty="0"/>
              <a:t>発行と </a:t>
            </a:r>
            <a:r>
              <a:rPr kumimoji="1" lang="en-US" altLang="ja-JP" dirty="0"/>
              <a:t>out-of-order </a:t>
            </a:r>
            <a:r>
              <a:rPr kumimoji="1" lang="ja-JP" altLang="en-US" dirty="0"/>
              <a:t>発行の違い</a:t>
            </a:r>
          </a:p>
        </p:txBody>
      </p:sp>
      <p:sp>
        <p:nvSpPr>
          <p:cNvPr id="3" name="テキスト プレースホルダー 2"/>
          <p:cNvSpPr>
            <a:spLocks noGrp="1"/>
          </p:cNvSpPr>
          <p:nvPr>
            <p:ph type="body" sz="quarter" idx="10"/>
          </p:nvPr>
        </p:nvSpPr>
        <p:spPr>
          <a:xfrm>
            <a:off x="2225957" y="1718982"/>
            <a:ext cx="8280092" cy="810009"/>
          </a:xfrm>
        </p:spPr>
        <p:txBody>
          <a:bodyPr/>
          <a:lstStyle/>
          <a:p>
            <a:r>
              <a:rPr kumimoji="1" lang="en-US" altLang="ja-JP" dirty="0"/>
              <a:t>in-order </a:t>
            </a:r>
            <a:r>
              <a:rPr kumimoji="1" lang="ja-JP" altLang="en-US" dirty="0"/>
              <a:t>発行：</a:t>
            </a:r>
            <a:endParaRPr kumimoji="1" lang="en-US" altLang="ja-JP" dirty="0"/>
          </a:p>
          <a:p>
            <a:pPr lvl="1"/>
            <a:r>
              <a:rPr kumimoji="1" lang="en-US" altLang="ja-JP" dirty="0"/>
              <a:t>IS </a:t>
            </a:r>
            <a:r>
              <a:rPr kumimoji="1" lang="ja-JP" altLang="en-US" dirty="0"/>
              <a:t>ステージにいる１命令 の依存だけを考えれば良い</a:t>
            </a:r>
            <a:endParaRPr kumimoji="1" lang="en-US" altLang="ja-JP" dirty="0"/>
          </a:p>
          <a:p>
            <a:r>
              <a:rPr lang="en-US" altLang="ja-JP" dirty="0"/>
              <a:t>out-of-order </a:t>
            </a:r>
            <a:r>
              <a:rPr lang="ja-JP" altLang="en-US" dirty="0"/>
              <a:t>発行：</a:t>
            </a:r>
            <a:endParaRPr lang="en-US" altLang="ja-JP" dirty="0"/>
          </a:p>
          <a:p>
            <a:pPr lvl="1"/>
            <a:r>
              <a:rPr lang="ja-JP" altLang="en-US" dirty="0"/>
              <a:t>発行待ち命令（</a:t>
            </a:r>
            <a:r>
              <a:rPr lang="en-US" altLang="ja-JP" dirty="0">
                <a:latin typeface="Consolas" panose="020B0609020204030204" pitchFamily="49" charset="0"/>
              </a:rPr>
              <a:t>I2</a:t>
            </a:r>
            <a:r>
              <a:rPr lang="ja-JP" altLang="en-US" dirty="0"/>
              <a:t>）をどこかおいておく必要 </a:t>
            </a:r>
            <a:r>
              <a:rPr lang="en-US" altLang="ja-JP" dirty="0"/>
              <a:t>= </a:t>
            </a:r>
            <a:r>
              <a:rPr lang="ja-JP" altLang="en-US" dirty="0"/>
              <a:t>バッファがいる</a:t>
            </a:r>
            <a:endParaRPr lang="en-US" altLang="ja-JP" dirty="0"/>
          </a:p>
          <a:p>
            <a:pPr lvl="1"/>
            <a:r>
              <a:rPr lang="en-US" altLang="ja-JP" dirty="0">
                <a:latin typeface="Consolas" panose="020B0609020204030204" pitchFamily="49" charset="0"/>
              </a:rPr>
              <a:t>I2 </a:t>
            </a:r>
            <a:r>
              <a:rPr lang="ja-JP" altLang="en-US" dirty="0">
                <a:latin typeface="Consolas" panose="020B0609020204030204" pitchFamily="49" charset="0"/>
              </a:rPr>
              <a:t>の</a:t>
            </a:r>
            <a:r>
              <a:rPr lang="ja-JP" altLang="en-US" dirty="0"/>
              <a:t>依存を監視して満たされたら，そのタイミングで発行</a:t>
            </a:r>
            <a:endParaRPr kumimoji="1" lang="ja-JP" altLang="en-US" dirty="0"/>
          </a:p>
        </p:txBody>
      </p:sp>
      <p:cxnSp>
        <p:nvCxnSpPr>
          <p:cNvPr id="4" name="直線コネクタ 3"/>
          <p:cNvCxnSpPr>
            <a:endCxn id="9" idx="1"/>
          </p:cNvCxnSpPr>
          <p:nvPr/>
        </p:nvCxnSpPr>
        <p:spPr bwMode="auto">
          <a:xfrm flipV="1">
            <a:off x="3935977" y="4059005"/>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3935976" y="3609002"/>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4475982" y="342900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 name="Rectangle 70"/>
          <p:cNvSpPr>
            <a:spLocks noChangeArrowheads="1"/>
          </p:cNvSpPr>
          <p:nvPr/>
        </p:nvSpPr>
        <p:spPr bwMode="auto">
          <a:xfrm>
            <a:off x="4925987" y="342900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8" name="Rectangle 71"/>
          <p:cNvSpPr>
            <a:spLocks noChangeArrowheads="1"/>
          </p:cNvSpPr>
          <p:nvPr/>
        </p:nvSpPr>
        <p:spPr bwMode="auto">
          <a:xfrm>
            <a:off x="5826001" y="3429000"/>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9" name="Rectangle 69"/>
          <p:cNvSpPr>
            <a:spLocks noChangeArrowheads="1"/>
          </p:cNvSpPr>
          <p:nvPr/>
        </p:nvSpPr>
        <p:spPr bwMode="auto">
          <a:xfrm>
            <a:off x="4925987" y="387900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0" name="Rectangle 70"/>
          <p:cNvSpPr>
            <a:spLocks noChangeArrowheads="1"/>
          </p:cNvSpPr>
          <p:nvPr/>
        </p:nvSpPr>
        <p:spPr bwMode="auto">
          <a:xfrm>
            <a:off x="5375996" y="3879005"/>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11" name="Rectangle 71"/>
          <p:cNvSpPr>
            <a:spLocks noChangeArrowheads="1"/>
          </p:cNvSpPr>
          <p:nvPr/>
        </p:nvSpPr>
        <p:spPr bwMode="auto">
          <a:xfrm>
            <a:off x="7626021" y="3879005"/>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2" name="Rectangle 73"/>
          <p:cNvSpPr>
            <a:spLocks noChangeArrowheads="1"/>
          </p:cNvSpPr>
          <p:nvPr/>
        </p:nvSpPr>
        <p:spPr bwMode="auto">
          <a:xfrm>
            <a:off x="8076026" y="3879005"/>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13" name="Rectangle 69"/>
          <p:cNvSpPr>
            <a:spLocks noChangeArrowheads="1"/>
          </p:cNvSpPr>
          <p:nvPr/>
        </p:nvSpPr>
        <p:spPr bwMode="auto">
          <a:xfrm>
            <a:off x="5375996" y="432901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4" name="Rectangle 70"/>
          <p:cNvSpPr>
            <a:spLocks noChangeArrowheads="1"/>
          </p:cNvSpPr>
          <p:nvPr/>
        </p:nvSpPr>
        <p:spPr bwMode="auto">
          <a:xfrm>
            <a:off x="7176012" y="4329010"/>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5" name="Rectangle 71"/>
          <p:cNvSpPr>
            <a:spLocks noChangeArrowheads="1"/>
          </p:cNvSpPr>
          <p:nvPr/>
        </p:nvSpPr>
        <p:spPr bwMode="auto">
          <a:xfrm>
            <a:off x="8076026" y="4329010"/>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6" name="Rectangle 73"/>
          <p:cNvSpPr>
            <a:spLocks noChangeArrowheads="1"/>
          </p:cNvSpPr>
          <p:nvPr/>
        </p:nvSpPr>
        <p:spPr bwMode="auto">
          <a:xfrm>
            <a:off x="8526031" y="4329010"/>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18" name="Rectangle 73"/>
          <p:cNvSpPr>
            <a:spLocks noChangeArrowheads="1"/>
          </p:cNvSpPr>
          <p:nvPr/>
        </p:nvSpPr>
        <p:spPr bwMode="auto">
          <a:xfrm>
            <a:off x="7626021" y="3429000"/>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19" name="Rectangle 71"/>
          <p:cNvSpPr>
            <a:spLocks noChangeArrowheads="1"/>
          </p:cNvSpPr>
          <p:nvPr/>
        </p:nvSpPr>
        <p:spPr bwMode="auto">
          <a:xfrm>
            <a:off x="6276006" y="3429000"/>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0" name="Rectangle 71"/>
          <p:cNvSpPr>
            <a:spLocks noChangeArrowheads="1"/>
          </p:cNvSpPr>
          <p:nvPr/>
        </p:nvSpPr>
        <p:spPr bwMode="auto">
          <a:xfrm>
            <a:off x="6726011" y="3429000"/>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1" name="Rectangle 71"/>
          <p:cNvSpPr>
            <a:spLocks noChangeArrowheads="1"/>
          </p:cNvSpPr>
          <p:nvPr/>
        </p:nvSpPr>
        <p:spPr bwMode="auto">
          <a:xfrm>
            <a:off x="7176016" y="3429000"/>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2" name="Rectangle 70"/>
          <p:cNvSpPr>
            <a:spLocks noChangeArrowheads="1"/>
          </p:cNvSpPr>
          <p:nvPr/>
        </p:nvSpPr>
        <p:spPr bwMode="auto">
          <a:xfrm>
            <a:off x="5375992" y="3429000"/>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23" name="Rectangle 70"/>
          <p:cNvSpPr>
            <a:spLocks noChangeArrowheads="1"/>
          </p:cNvSpPr>
          <p:nvPr/>
        </p:nvSpPr>
        <p:spPr bwMode="auto">
          <a:xfrm>
            <a:off x="7176012" y="3879005"/>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24" name="Rectangle 70"/>
          <p:cNvSpPr>
            <a:spLocks noChangeArrowheads="1"/>
          </p:cNvSpPr>
          <p:nvPr/>
        </p:nvSpPr>
        <p:spPr bwMode="auto">
          <a:xfrm>
            <a:off x="7626017" y="4329010"/>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25" name="Rectangle 73"/>
          <p:cNvSpPr>
            <a:spLocks noChangeArrowheads="1"/>
          </p:cNvSpPr>
          <p:nvPr/>
        </p:nvSpPr>
        <p:spPr bwMode="auto">
          <a:xfrm>
            <a:off x="5826001" y="3879005"/>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6" name="Rectangle 73"/>
          <p:cNvSpPr>
            <a:spLocks noChangeArrowheads="1"/>
          </p:cNvSpPr>
          <p:nvPr/>
        </p:nvSpPr>
        <p:spPr bwMode="auto">
          <a:xfrm>
            <a:off x="6276006" y="3879005"/>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7" name="Rectangle 73"/>
          <p:cNvSpPr>
            <a:spLocks noChangeArrowheads="1"/>
          </p:cNvSpPr>
          <p:nvPr/>
        </p:nvSpPr>
        <p:spPr bwMode="auto">
          <a:xfrm>
            <a:off x="6726011" y="3879005"/>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8" name="Rectangle 73"/>
          <p:cNvSpPr>
            <a:spLocks noChangeArrowheads="1"/>
          </p:cNvSpPr>
          <p:nvPr/>
        </p:nvSpPr>
        <p:spPr bwMode="auto">
          <a:xfrm>
            <a:off x="5826001" y="4329010"/>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9" name="Rectangle 73"/>
          <p:cNvSpPr>
            <a:spLocks noChangeArrowheads="1"/>
          </p:cNvSpPr>
          <p:nvPr/>
        </p:nvSpPr>
        <p:spPr bwMode="auto">
          <a:xfrm>
            <a:off x="6276006" y="4329010"/>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0" name="Rectangle 73"/>
          <p:cNvSpPr>
            <a:spLocks noChangeArrowheads="1"/>
          </p:cNvSpPr>
          <p:nvPr/>
        </p:nvSpPr>
        <p:spPr bwMode="auto">
          <a:xfrm>
            <a:off x="6726011" y="4329010"/>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1" name="正方形/長方形 30"/>
          <p:cNvSpPr/>
          <p:nvPr/>
        </p:nvSpPr>
        <p:spPr bwMode="auto">
          <a:xfrm>
            <a:off x="3215968" y="3429000"/>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I1: </a:t>
            </a:r>
            <a:r>
              <a:rPr lang="en-US" altLang="ja-JP" sz="1600" dirty="0" err="1">
                <a:solidFill>
                  <a:schemeClr val="tx1">
                    <a:lumMod val="75000"/>
                    <a:lumOff val="25000"/>
                  </a:schemeClr>
                </a:solidFill>
                <a:latin typeface="Consolas" panose="020B0609020204030204" pitchFamily="49" charset="0"/>
              </a:rPr>
              <a:t>mul</a:t>
            </a:r>
            <a:r>
              <a:rPr lang="en-US" altLang="ja-JP" sz="1600" dirty="0">
                <a:solidFill>
                  <a:schemeClr val="tx1">
                    <a:lumMod val="75000"/>
                    <a:lumOff val="25000"/>
                  </a:schemeClr>
                </a:solidFill>
                <a:latin typeface="Consolas" panose="020B0609020204030204" pitchFamily="49" charset="0"/>
              </a:rPr>
              <a:t> x1</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32" name="正方形/長方形 31"/>
          <p:cNvSpPr/>
          <p:nvPr/>
        </p:nvSpPr>
        <p:spPr bwMode="auto">
          <a:xfrm>
            <a:off x="3215968" y="3879005"/>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I2: add x3</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x1+1</a:t>
            </a:r>
            <a:endParaRPr lang="ja-JP" altLang="en-US" sz="1600" dirty="0">
              <a:solidFill>
                <a:schemeClr val="tx1">
                  <a:lumMod val="75000"/>
                  <a:lumOff val="25000"/>
                </a:schemeClr>
              </a:solidFill>
            </a:endParaRPr>
          </a:p>
        </p:txBody>
      </p:sp>
      <p:sp>
        <p:nvSpPr>
          <p:cNvPr id="33" name="正方形/長方形 32"/>
          <p:cNvSpPr/>
          <p:nvPr/>
        </p:nvSpPr>
        <p:spPr bwMode="auto">
          <a:xfrm>
            <a:off x="3215968" y="4329010"/>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I3: sub x4</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x5-1</a:t>
            </a:r>
            <a:endParaRPr lang="ja-JP" altLang="en-US" sz="1600" dirty="0">
              <a:solidFill>
                <a:schemeClr val="tx1">
                  <a:lumMod val="75000"/>
                  <a:lumOff val="25000"/>
                </a:schemeClr>
              </a:solidFill>
            </a:endParaRPr>
          </a:p>
        </p:txBody>
      </p:sp>
      <p:sp>
        <p:nvSpPr>
          <p:cNvPr id="41" name="下矢印 40"/>
          <p:cNvSpPr/>
          <p:nvPr/>
        </p:nvSpPr>
        <p:spPr bwMode="auto">
          <a:xfrm>
            <a:off x="5915999" y="4869017"/>
            <a:ext cx="450005" cy="450005"/>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42" name="直線コネクタ 41"/>
          <p:cNvCxnSpPr>
            <a:endCxn id="47" idx="1"/>
          </p:cNvCxnSpPr>
          <p:nvPr/>
        </p:nvCxnSpPr>
        <p:spPr bwMode="auto">
          <a:xfrm flipV="1">
            <a:off x="3935973" y="6129028"/>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43" name="直線コネクタ 42"/>
          <p:cNvCxnSpPr/>
          <p:nvPr/>
        </p:nvCxnSpPr>
        <p:spPr bwMode="auto">
          <a:xfrm>
            <a:off x="3935972" y="5679025"/>
            <a:ext cx="720080" cy="0"/>
          </a:xfrm>
          <a:prstGeom prst="line">
            <a:avLst/>
          </a:prstGeom>
          <a:noFill/>
          <a:ln w="9525" cap="flat" cmpd="sng" algn="ctr">
            <a:solidFill>
              <a:schemeClr val="tx1"/>
            </a:solidFill>
            <a:prstDash val="dash"/>
            <a:round/>
            <a:headEnd type="none" w="med" len="med"/>
            <a:tailEnd type="none" w="med" len="med"/>
          </a:ln>
          <a:effectLst/>
        </p:spPr>
      </p:cxnSp>
      <p:sp>
        <p:nvSpPr>
          <p:cNvPr id="44" name="Rectangle 69"/>
          <p:cNvSpPr>
            <a:spLocks noChangeArrowheads="1"/>
          </p:cNvSpPr>
          <p:nvPr/>
        </p:nvSpPr>
        <p:spPr bwMode="auto">
          <a:xfrm>
            <a:off x="4475978" y="549902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5" name="Rectangle 70"/>
          <p:cNvSpPr>
            <a:spLocks noChangeArrowheads="1"/>
          </p:cNvSpPr>
          <p:nvPr/>
        </p:nvSpPr>
        <p:spPr bwMode="auto">
          <a:xfrm>
            <a:off x="4925983" y="549902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46" name="Rectangle 71"/>
          <p:cNvSpPr>
            <a:spLocks noChangeArrowheads="1"/>
          </p:cNvSpPr>
          <p:nvPr/>
        </p:nvSpPr>
        <p:spPr bwMode="auto">
          <a:xfrm>
            <a:off x="5825997" y="5499023"/>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47" name="Rectangle 69"/>
          <p:cNvSpPr>
            <a:spLocks noChangeArrowheads="1"/>
          </p:cNvSpPr>
          <p:nvPr/>
        </p:nvSpPr>
        <p:spPr bwMode="auto">
          <a:xfrm>
            <a:off x="4925983" y="594902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8" name="Rectangle 70"/>
          <p:cNvSpPr>
            <a:spLocks noChangeArrowheads="1"/>
          </p:cNvSpPr>
          <p:nvPr/>
        </p:nvSpPr>
        <p:spPr bwMode="auto">
          <a:xfrm>
            <a:off x="5375992" y="594902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49" name="Rectangle 71"/>
          <p:cNvSpPr>
            <a:spLocks noChangeArrowheads="1"/>
          </p:cNvSpPr>
          <p:nvPr/>
        </p:nvSpPr>
        <p:spPr bwMode="auto">
          <a:xfrm>
            <a:off x="7626017" y="594902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50" name="Rectangle 73"/>
          <p:cNvSpPr>
            <a:spLocks noChangeArrowheads="1"/>
          </p:cNvSpPr>
          <p:nvPr/>
        </p:nvSpPr>
        <p:spPr bwMode="auto">
          <a:xfrm>
            <a:off x="8076022" y="5949028"/>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51" name="Rectangle 69"/>
          <p:cNvSpPr>
            <a:spLocks noChangeArrowheads="1"/>
          </p:cNvSpPr>
          <p:nvPr/>
        </p:nvSpPr>
        <p:spPr bwMode="auto">
          <a:xfrm>
            <a:off x="5375992" y="639903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52" name="Rectangle 70"/>
          <p:cNvSpPr>
            <a:spLocks noChangeArrowheads="1"/>
          </p:cNvSpPr>
          <p:nvPr/>
        </p:nvSpPr>
        <p:spPr bwMode="auto">
          <a:xfrm>
            <a:off x="5825993" y="639903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53" name="Rectangle 71"/>
          <p:cNvSpPr>
            <a:spLocks noChangeArrowheads="1"/>
          </p:cNvSpPr>
          <p:nvPr/>
        </p:nvSpPr>
        <p:spPr bwMode="auto">
          <a:xfrm>
            <a:off x="6726007" y="6399031"/>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54" name="Rectangle 73"/>
          <p:cNvSpPr>
            <a:spLocks noChangeArrowheads="1"/>
          </p:cNvSpPr>
          <p:nvPr/>
        </p:nvSpPr>
        <p:spPr bwMode="auto">
          <a:xfrm>
            <a:off x="7176012" y="6399031"/>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cxnSp>
        <p:nvCxnSpPr>
          <p:cNvPr id="55" name="直線コネクタ 54"/>
          <p:cNvCxnSpPr>
            <a:endCxn id="51" idx="1"/>
          </p:cNvCxnSpPr>
          <p:nvPr/>
        </p:nvCxnSpPr>
        <p:spPr bwMode="auto">
          <a:xfrm flipV="1">
            <a:off x="3935972" y="6579033"/>
            <a:ext cx="1440020" cy="2"/>
          </a:xfrm>
          <a:prstGeom prst="line">
            <a:avLst/>
          </a:prstGeom>
          <a:noFill/>
          <a:ln w="9525" cap="flat" cmpd="sng" algn="ctr">
            <a:solidFill>
              <a:schemeClr val="tx1"/>
            </a:solidFill>
            <a:prstDash val="dash"/>
            <a:round/>
            <a:headEnd type="none" w="med" len="med"/>
            <a:tailEnd type="none" w="med" len="med"/>
          </a:ln>
          <a:effectLst/>
        </p:spPr>
      </p:cxnSp>
      <p:sp>
        <p:nvSpPr>
          <p:cNvPr id="56" name="Rectangle 73"/>
          <p:cNvSpPr>
            <a:spLocks noChangeArrowheads="1"/>
          </p:cNvSpPr>
          <p:nvPr/>
        </p:nvSpPr>
        <p:spPr bwMode="auto">
          <a:xfrm>
            <a:off x="7626017" y="5499023"/>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57" name="Rectangle 71"/>
          <p:cNvSpPr>
            <a:spLocks noChangeArrowheads="1"/>
          </p:cNvSpPr>
          <p:nvPr/>
        </p:nvSpPr>
        <p:spPr bwMode="auto">
          <a:xfrm>
            <a:off x="6276002" y="5499023"/>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58" name="Rectangle 71"/>
          <p:cNvSpPr>
            <a:spLocks noChangeArrowheads="1"/>
          </p:cNvSpPr>
          <p:nvPr/>
        </p:nvSpPr>
        <p:spPr bwMode="auto">
          <a:xfrm>
            <a:off x="6726007" y="5499023"/>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59" name="Rectangle 71"/>
          <p:cNvSpPr>
            <a:spLocks noChangeArrowheads="1"/>
          </p:cNvSpPr>
          <p:nvPr/>
        </p:nvSpPr>
        <p:spPr bwMode="auto">
          <a:xfrm>
            <a:off x="7176012" y="5499023"/>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60" name="Rectangle 70"/>
          <p:cNvSpPr>
            <a:spLocks noChangeArrowheads="1"/>
          </p:cNvSpPr>
          <p:nvPr/>
        </p:nvSpPr>
        <p:spPr bwMode="auto">
          <a:xfrm>
            <a:off x="5375988" y="5499023"/>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61" name="Rectangle 70"/>
          <p:cNvSpPr>
            <a:spLocks noChangeArrowheads="1"/>
          </p:cNvSpPr>
          <p:nvPr/>
        </p:nvSpPr>
        <p:spPr bwMode="auto">
          <a:xfrm>
            <a:off x="7176008" y="5949028"/>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62" name="Rectangle 70"/>
          <p:cNvSpPr>
            <a:spLocks noChangeArrowheads="1"/>
          </p:cNvSpPr>
          <p:nvPr/>
        </p:nvSpPr>
        <p:spPr bwMode="auto">
          <a:xfrm>
            <a:off x="6275998" y="6399031"/>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63" name="Rectangle 73"/>
          <p:cNvSpPr>
            <a:spLocks noChangeArrowheads="1"/>
          </p:cNvSpPr>
          <p:nvPr/>
        </p:nvSpPr>
        <p:spPr bwMode="auto">
          <a:xfrm>
            <a:off x="5825997" y="594902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64" name="Rectangle 73"/>
          <p:cNvSpPr>
            <a:spLocks noChangeArrowheads="1"/>
          </p:cNvSpPr>
          <p:nvPr/>
        </p:nvSpPr>
        <p:spPr bwMode="auto">
          <a:xfrm>
            <a:off x="6276002" y="594902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65" name="Rectangle 73"/>
          <p:cNvSpPr>
            <a:spLocks noChangeArrowheads="1"/>
          </p:cNvSpPr>
          <p:nvPr/>
        </p:nvSpPr>
        <p:spPr bwMode="auto">
          <a:xfrm>
            <a:off x="6726007" y="594902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66" name="正方形/長方形 65"/>
          <p:cNvSpPr/>
          <p:nvPr/>
        </p:nvSpPr>
        <p:spPr bwMode="auto">
          <a:xfrm>
            <a:off x="3215964" y="5499023"/>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I1: </a:t>
            </a:r>
            <a:r>
              <a:rPr lang="en-US" altLang="ja-JP" sz="1600" dirty="0" err="1">
                <a:solidFill>
                  <a:schemeClr val="tx1">
                    <a:lumMod val="75000"/>
                    <a:lumOff val="25000"/>
                  </a:schemeClr>
                </a:solidFill>
                <a:latin typeface="Consolas" panose="020B0609020204030204" pitchFamily="49" charset="0"/>
              </a:rPr>
              <a:t>mul</a:t>
            </a:r>
            <a:r>
              <a:rPr lang="en-US" altLang="ja-JP" sz="1600" dirty="0">
                <a:solidFill>
                  <a:schemeClr val="tx1">
                    <a:lumMod val="75000"/>
                    <a:lumOff val="25000"/>
                  </a:schemeClr>
                </a:solidFill>
                <a:latin typeface="Consolas" panose="020B0609020204030204" pitchFamily="49" charset="0"/>
              </a:rPr>
              <a:t> x1</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67" name="正方形/長方形 66"/>
          <p:cNvSpPr/>
          <p:nvPr/>
        </p:nvSpPr>
        <p:spPr bwMode="auto">
          <a:xfrm>
            <a:off x="3215964" y="5949028"/>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I2: add x3</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x1+1</a:t>
            </a:r>
            <a:endParaRPr lang="ja-JP" altLang="en-US" sz="1600" dirty="0">
              <a:solidFill>
                <a:schemeClr val="tx1">
                  <a:lumMod val="75000"/>
                  <a:lumOff val="25000"/>
                </a:schemeClr>
              </a:solidFill>
            </a:endParaRPr>
          </a:p>
        </p:txBody>
      </p:sp>
      <p:sp>
        <p:nvSpPr>
          <p:cNvPr id="68" name="正方形/長方形 67"/>
          <p:cNvSpPr/>
          <p:nvPr/>
        </p:nvSpPr>
        <p:spPr bwMode="auto">
          <a:xfrm>
            <a:off x="3215964" y="6399033"/>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I3: sub x4</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x5-1</a:t>
            </a:r>
            <a:endParaRPr lang="ja-JP" altLang="en-US" sz="1600" dirty="0">
              <a:solidFill>
                <a:schemeClr val="tx1">
                  <a:lumMod val="75000"/>
                  <a:lumOff val="25000"/>
                </a:schemeClr>
              </a:solidFill>
            </a:endParaRPr>
          </a:p>
        </p:txBody>
      </p:sp>
    </p:spTree>
    <p:extLst>
      <p:ext uri="{BB962C8B-B14F-4D97-AF65-F5344CB8AC3E}">
        <p14:creationId xmlns:p14="http://schemas.microsoft.com/office/powerpoint/2010/main" val="13054582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out-of-order </a:t>
            </a:r>
            <a:r>
              <a:rPr lang="ja-JP" altLang="en-US" dirty="0"/>
              <a:t>発行を行う </a:t>
            </a:r>
            <a:r>
              <a:rPr lang="en-US" altLang="ja-JP" dirty="0"/>
              <a:t>CPU </a:t>
            </a:r>
            <a:r>
              <a:rPr lang="ja-JP" altLang="en-US" dirty="0"/>
              <a:t>の構造</a:t>
            </a:r>
            <a:endParaRPr lang="ja-JP" altLang="en-US" sz="2000" dirty="0"/>
          </a:p>
        </p:txBody>
      </p:sp>
      <p:sp>
        <p:nvSpPr>
          <p:cNvPr id="3" name="テキスト プレースホルダー 2"/>
          <p:cNvSpPr>
            <a:spLocks noGrp="1"/>
          </p:cNvSpPr>
          <p:nvPr>
            <p:ph type="body" sz="quarter" idx="10"/>
          </p:nvPr>
        </p:nvSpPr>
        <p:spPr>
          <a:xfrm>
            <a:off x="2135956" y="5589331"/>
            <a:ext cx="8280092" cy="629700"/>
          </a:xfrm>
        </p:spPr>
        <p:txBody>
          <a:bodyPr/>
          <a:lstStyle/>
          <a:p>
            <a:r>
              <a:rPr lang="ja-JP" altLang="en-US" dirty="0"/>
              <a:t>発行キューによって前後に分離された構造を持つ</a:t>
            </a:r>
            <a:endParaRPr kumimoji="1" lang="en-US" altLang="ja-JP" dirty="0"/>
          </a:p>
          <a:p>
            <a:pPr marL="817200" lvl="1" indent="-457200">
              <a:buFont typeface="+mj-lt"/>
              <a:buAutoNum type="arabicPeriod"/>
            </a:pPr>
            <a:r>
              <a:rPr kumimoji="1" lang="ja-JP" altLang="en-US" dirty="0"/>
              <a:t>フロントエンド：</a:t>
            </a:r>
            <a:r>
              <a:rPr kumimoji="1" lang="en-US" altLang="ja-JP" dirty="0"/>
              <a:t>	</a:t>
            </a:r>
            <a:r>
              <a:rPr kumimoji="1" lang="ja-JP" altLang="en-US" dirty="0"/>
              <a:t>命令をフェッチ，リネーム</a:t>
            </a:r>
            <a:endParaRPr kumimoji="1" lang="en-US" altLang="ja-JP" dirty="0"/>
          </a:p>
          <a:p>
            <a:pPr marL="817200" lvl="1" indent="-457200">
              <a:buFont typeface="+mj-lt"/>
              <a:buAutoNum type="arabicPeriod"/>
            </a:pPr>
            <a:r>
              <a:rPr kumimoji="1" lang="ja-JP" altLang="en-US" dirty="0">
                <a:solidFill>
                  <a:schemeClr val="accent5"/>
                </a:solidFill>
              </a:rPr>
              <a:t>発行キュー：</a:t>
            </a:r>
            <a:r>
              <a:rPr kumimoji="1" lang="en-US" altLang="ja-JP" dirty="0">
                <a:solidFill>
                  <a:schemeClr val="accent5"/>
                </a:solidFill>
              </a:rPr>
              <a:t>		</a:t>
            </a:r>
            <a:r>
              <a:rPr kumimoji="1" lang="ja-JP" altLang="en-US" dirty="0">
                <a:solidFill>
                  <a:schemeClr val="accent5"/>
                </a:solidFill>
              </a:rPr>
              <a:t>発行待ち命令の待ち合わせのバッファ</a:t>
            </a:r>
            <a:endParaRPr kumimoji="1" lang="en-US" altLang="ja-JP" dirty="0">
              <a:solidFill>
                <a:schemeClr val="accent5"/>
              </a:solidFill>
            </a:endParaRPr>
          </a:p>
          <a:p>
            <a:pPr marL="817200" lvl="1" indent="-457200">
              <a:buFont typeface="+mj-lt"/>
              <a:buAutoNum type="arabicPeriod"/>
            </a:pPr>
            <a:r>
              <a:rPr kumimoji="1" lang="ja-JP" altLang="en-US" dirty="0"/>
              <a:t>バックエンド：</a:t>
            </a:r>
            <a:r>
              <a:rPr kumimoji="1" lang="en-US" altLang="ja-JP" dirty="0"/>
              <a:t>		</a:t>
            </a:r>
            <a:r>
              <a:rPr kumimoji="1" lang="ja-JP" altLang="en-US" dirty="0"/>
              <a:t>命令を実行</a:t>
            </a:r>
          </a:p>
        </p:txBody>
      </p:sp>
      <p:grpSp>
        <p:nvGrpSpPr>
          <p:cNvPr id="4" name="グループ化 3"/>
          <p:cNvGrpSpPr/>
          <p:nvPr/>
        </p:nvGrpSpPr>
        <p:grpSpPr>
          <a:xfrm>
            <a:off x="2945965" y="3248998"/>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5916142" y="3248998"/>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7356302" y="3248998"/>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8796462" y="3248998"/>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907805" y="2384455"/>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5877982" y="2384455"/>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7320029" y="2403039"/>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8760189" y="2403039"/>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2" name="Freeform 25"/>
          <p:cNvSpPr>
            <a:spLocks/>
          </p:cNvSpPr>
          <p:nvPr/>
        </p:nvSpPr>
        <p:spPr bwMode="auto">
          <a:xfrm>
            <a:off x="6096000" y="1088974"/>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3"/>
          </a:lnRef>
          <a:fillRef idx="2">
            <a:schemeClr val="accent3"/>
          </a:fillRef>
          <a:effectRef idx="1">
            <a:schemeClr val="accent3"/>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物理レジスタ・ファイル</a:t>
            </a:r>
          </a:p>
        </p:txBody>
      </p:sp>
      <p:sp>
        <p:nvSpPr>
          <p:cNvPr id="23" name="AutoShape 5"/>
          <p:cNvSpPr>
            <a:spLocks noChangeArrowheads="1"/>
          </p:cNvSpPr>
          <p:nvPr/>
        </p:nvSpPr>
        <p:spPr bwMode="auto">
          <a:xfrm rot="-5400000">
            <a:off x="7716180" y="1773050"/>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ALU</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24" name="グループ化 23"/>
          <p:cNvGrpSpPr/>
          <p:nvPr/>
        </p:nvGrpSpPr>
        <p:grpSpPr>
          <a:xfrm>
            <a:off x="6384032" y="1809054"/>
            <a:ext cx="1008112" cy="432048"/>
            <a:chOff x="3563888" y="2708920"/>
            <a:chExt cx="1296144" cy="432048"/>
          </a:xfrm>
        </p:grpSpPr>
        <p:sp>
          <p:nvSpPr>
            <p:cNvPr id="25" name="Freeform 9"/>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26" name="Freeform 10"/>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27" name="Freeform 8"/>
          <p:cNvSpPr>
            <a:spLocks/>
          </p:cNvSpPr>
          <p:nvPr/>
        </p:nvSpPr>
        <p:spPr bwMode="auto">
          <a:xfrm>
            <a:off x="8832304" y="1809054"/>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4" name="正方形/長方形 33"/>
          <p:cNvSpPr/>
          <p:nvPr/>
        </p:nvSpPr>
        <p:spPr bwMode="auto">
          <a:xfrm>
            <a:off x="4655984" y="2348989"/>
            <a:ext cx="1080012" cy="2430027"/>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発行キュー</a:t>
            </a:r>
          </a:p>
        </p:txBody>
      </p:sp>
      <p:sp>
        <p:nvSpPr>
          <p:cNvPr id="35" name="正方形/長方形 34"/>
          <p:cNvSpPr/>
          <p:nvPr/>
        </p:nvSpPr>
        <p:spPr bwMode="auto">
          <a:xfrm>
            <a:off x="1955955" y="189898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命令メモリ</a:t>
            </a:r>
          </a:p>
        </p:txBody>
      </p:sp>
      <p:sp>
        <p:nvSpPr>
          <p:cNvPr id="36" name="正方形/長方形 35"/>
          <p:cNvSpPr/>
          <p:nvPr/>
        </p:nvSpPr>
        <p:spPr bwMode="auto">
          <a:xfrm>
            <a:off x="1685951" y="2438990"/>
            <a:ext cx="1152128" cy="1710019"/>
          </a:xfrm>
          <a:prstGeom prst="rect">
            <a:avLst/>
          </a:prstGeom>
          <a:ln>
            <a:headEnd/>
            <a:tailEnd type="non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r>
              <a:rPr lang="en-US" altLang="ja-JP" sz="2000" dirty="0">
                <a:solidFill>
                  <a:schemeClr val="bg1"/>
                </a:solidFill>
                <a:latin typeface="Arial Narrow" panose="020B0606020202030204" pitchFamily="34" charset="0"/>
              </a:rPr>
              <a:t>b=a+1</a:t>
            </a:r>
          </a:p>
          <a:p>
            <a:pPr>
              <a:lnSpc>
                <a:spcPct val="80000"/>
              </a:lnSpc>
            </a:pPr>
            <a:r>
              <a:rPr lang="en-US" altLang="ja-JP" sz="2000" dirty="0">
                <a:solidFill>
                  <a:schemeClr val="bg1"/>
                </a:solidFill>
                <a:latin typeface="Arial Narrow" panose="020B0606020202030204" pitchFamily="34" charset="0"/>
              </a:rPr>
              <a:t>c=b-1</a:t>
            </a:r>
          </a:p>
          <a:p>
            <a:pPr>
              <a:lnSpc>
                <a:spcPct val="80000"/>
              </a:lnSpc>
            </a:pPr>
            <a:r>
              <a:rPr lang="en-US" altLang="ja-JP" sz="2000" dirty="0">
                <a:solidFill>
                  <a:schemeClr val="bg1"/>
                </a:solidFill>
                <a:latin typeface="Arial Narrow" panose="020B0606020202030204" pitchFamily="34" charset="0"/>
              </a:rPr>
              <a:t>d=c+2</a:t>
            </a:r>
          </a:p>
          <a:p>
            <a:pPr>
              <a:lnSpc>
                <a:spcPct val="80000"/>
              </a:lnSpc>
            </a:pPr>
            <a:r>
              <a:rPr lang="en-US" altLang="ja-JP" sz="2000" dirty="0">
                <a:solidFill>
                  <a:schemeClr val="bg1"/>
                </a:solidFill>
                <a:latin typeface="Arial Narrow" panose="020B0606020202030204" pitchFamily="34" charset="0"/>
              </a:rPr>
              <a:t>e=…</a:t>
            </a:r>
          </a:p>
          <a:p>
            <a:pPr>
              <a:lnSpc>
                <a:spcPct val="80000"/>
              </a:lnSpc>
            </a:pPr>
            <a:r>
              <a:rPr lang="en-US" altLang="ja-JP" sz="2000" dirty="0">
                <a:solidFill>
                  <a:schemeClr val="bg1"/>
                </a:solidFill>
                <a:latin typeface="Arial Narrow" panose="020B0606020202030204" pitchFamily="34" charset="0"/>
              </a:rPr>
              <a:t>…</a:t>
            </a:r>
            <a:endParaRPr lang="ja-JP" altLang="en-US" sz="2000" dirty="0">
              <a:solidFill>
                <a:schemeClr val="bg1"/>
              </a:solidFill>
              <a:latin typeface="Arial Narrow" panose="020B0606020202030204" pitchFamily="34" charset="0"/>
            </a:endParaRPr>
          </a:p>
        </p:txBody>
      </p:sp>
      <p:cxnSp>
        <p:nvCxnSpPr>
          <p:cNvPr id="37" name="直線矢印コネクタ 36"/>
          <p:cNvCxnSpPr/>
          <p:nvPr/>
        </p:nvCxnSpPr>
        <p:spPr bwMode="auto">
          <a:xfrm flipH="1">
            <a:off x="1685952" y="4329010"/>
            <a:ext cx="2790030"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38" name="角丸四角形吹き出し 37"/>
          <p:cNvSpPr/>
          <p:nvPr/>
        </p:nvSpPr>
        <p:spPr bwMode="auto">
          <a:xfrm>
            <a:off x="2315958" y="441901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フロントエンド</a:t>
            </a:r>
          </a:p>
        </p:txBody>
      </p:sp>
      <p:cxnSp>
        <p:nvCxnSpPr>
          <p:cNvPr id="40" name="直線矢印コネクタ 39"/>
          <p:cNvCxnSpPr/>
          <p:nvPr/>
        </p:nvCxnSpPr>
        <p:spPr bwMode="auto">
          <a:xfrm flipH="1">
            <a:off x="5915999" y="4329010"/>
            <a:ext cx="4410049"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41" name="角丸四角形吹き出し 40"/>
          <p:cNvSpPr/>
          <p:nvPr/>
        </p:nvSpPr>
        <p:spPr bwMode="auto">
          <a:xfrm>
            <a:off x="7356014" y="441901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バックエンド</a:t>
            </a:r>
          </a:p>
        </p:txBody>
      </p:sp>
      <p:sp>
        <p:nvSpPr>
          <p:cNvPr id="43" name="正方形/長方形 42"/>
          <p:cNvSpPr/>
          <p:nvPr/>
        </p:nvSpPr>
        <p:spPr>
          <a:xfrm>
            <a:off x="4745986" y="1538979"/>
            <a:ext cx="865983" cy="738664"/>
          </a:xfrm>
          <a:prstGeom prst="rect">
            <a:avLst/>
          </a:prstGeom>
        </p:spPr>
        <p:txBody>
          <a:bodyPr wrap="square">
            <a:spAutoFit/>
          </a:bodyPr>
          <a:lstStyle/>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彡</a:t>
            </a:r>
            <a:endPar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Tree>
    <p:extLst>
      <p:ext uri="{BB962C8B-B14F-4D97-AF65-F5344CB8AC3E}">
        <p14:creationId xmlns:p14="http://schemas.microsoft.com/office/powerpoint/2010/main" val="20423956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大ざっぱな動作</a:t>
            </a:r>
            <a:endParaRPr kumimoji="1" lang="ja-JP" altLang="en-US" dirty="0"/>
          </a:p>
        </p:txBody>
      </p:sp>
      <p:sp>
        <p:nvSpPr>
          <p:cNvPr id="3" name="テキスト プレースホルダー 2"/>
          <p:cNvSpPr>
            <a:spLocks noGrp="1"/>
          </p:cNvSpPr>
          <p:nvPr>
            <p:ph type="body" sz="quarter" idx="10"/>
          </p:nvPr>
        </p:nvSpPr>
        <p:spPr>
          <a:xfrm>
            <a:off x="2135956" y="5319021"/>
            <a:ext cx="8280092" cy="629700"/>
          </a:xfrm>
        </p:spPr>
        <p:txBody>
          <a:bodyPr/>
          <a:lstStyle/>
          <a:p>
            <a:pPr marL="817200" lvl="1" indent="-457200">
              <a:buFont typeface="+mj-lt"/>
              <a:buAutoNum type="arabicPeriod"/>
            </a:pPr>
            <a:r>
              <a:rPr kumimoji="1" lang="ja-JP" altLang="en-US" dirty="0"/>
              <a:t>フロントエンドで命令を順にフェッチしてリネーム</a:t>
            </a:r>
            <a:endParaRPr kumimoji="1" lang="en-US" altLang="ja-JP" dirty="0"/>
          </a:p>
          <a:p>
            <a:pPr marL="817200" lvl="1" indent="-457200">
              <a:buFont typeface="+mj-lt"/>
              <a:buAutoNum type="arabicPeriod"/>
            </a:pPr>
            <a:r>
              <a:rPr kumimoji="1" lang="ja-JP" altLang="en-US" dirty="0"/>
              <a:t>発行キューにディスパッチ</a:t>
            </a:r>
            <a:endParaRPr kumimoji="1" lang="en-US" altLang="ja-JP" dirty="0"/>
          </a:p>
          <a:p>
            <a:pPr marL="817200" lvl="1" indent="-457200">
              <a:buFont typeface="+mj-lt"/>
              <a:buAutoNum type="arabicPeriod"/>
            </a:pPr>
            <a:r>
              <a:rPr kumimoji="1" lang="ja-JP" altLang="en-US" dirty="0"/>
              <a:t>発行可能なものから順にバックエンドに命令を発行</a:t>
            </a:r>
            <a:endParaRPr kumimoji="1" lang="en-US" altLang="ja-JP" dirty="0"/>
          </a:p>
          <a:p>
            <a:pPr marL="817200" lvl="1" indent="-457200">
              <a:buFont typeface="+mj-lt"/>
              <a:buAutoNum type="arabicPeriod"/>
            </a:pPr>
            <a:r>
              <a:rPr kumimoji="1" lang="ja-JP" altLang="en-US" dirty="0"/>
              <a:t>レジスタを読んで演算器で実行し書き戻す</a:t>
            </a:r>
          </a:p>
        </p:txBody>
      </p:sp>
      <p:grpSp>
        <p:nvGrpSpPr>
          <p:cNvPr id="4" name="グループ化 3"/>
          <p:cNvGrpSpPr/>
          <p:nvPr/>
        </p:nvGrpSpPr>
        <p:grpSpPr>
          <a:xfrm>
            <a:off x="2495960" y="2798993"/>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5466137" y="2798993"/>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6906297" y="2798993"/>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8346457" y="2798993"/>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457800" y="1934450"/>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5427977" y="1934450"/>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6870024" y="1953034"/>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8310184" y="1953034"/>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4" name="正方形/長方形 33"/>
          <p:cNvSpPr/>
          <p:nvPr/>
        </p:nvSpPr>
        <p:spPr bwMode="auto">
          <a:xfrm>
            <a:off x="4205979" y="2438990"/>
            <a:ext cx="1080012" cy="1350015"/>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発行キュー</a:t>
            </a:r>
          </a:p>
        </p:txBody>
      </p:sp>
      <p:cxnSp>
        <p:nvCxnSpPr>
          <p:cNvPr id="37" name="直線矢印コネクタ 36"/>
          <p:cNvCxnSpPr/>
          <p:nvPr/>
        </p:nvCxnSpPr>
        <p:spPr bwMode="auto">
          <a:xfrm flipH="1">
            <a:off x="2495961" y="3536360"/>
            <a:ext cx="1530017"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38" name="角丸四角形吹き出し 37"/>
          <p:cNvSpPr/>
          <p:nvPr/>
        </p:nvSpPr>
        <p:spPr bwMode="auto">
          <a:xfrm>
            <a:off x="2405959" y="362636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フロントエンド</a:t>
            </a:r>
          </a:p>
        </p:txBody>
      </p:sp>
      <p:cxnSp>
        <p:nvCxnSpPr>
          <p:cNvPr id="40" name="直線矢印コネクタ 39"/>
          <p:cNvCxnSpPr/>
          <p:nvPr/>
        </p:nvCxnSpPr>
        <p:spPr bwMode="auto">
          <a:xfrm flipH="1">
            <a:off x="5465994" y="3536360"/>
            <a:ext cx="4410049"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41" name="角丸四角形吹き出し 40"/>
          <p:cNvSpPr/>
          <p:nvPr/>
        </p:nvSpPr>
        <p:spPr bwMode="auto">
          <a:xfrm>
            <a:off x="6906009" y="362636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バックエンド</a:t>
            </a:r>
          </a:p>
        </p:txBody>
      </p:sp>
      <p:sp>
        <p:nvSpPr>
          <p:cNvPr id="43" name="正方形/長方形 42"/>
          <p:cNvSpPr/>
          <p:nvPr/>
        </p:nvSpPr>
        <p:spPr>
          <a:xfrm>
            <a:off x="4295981" y="1628980"/>
            <a:ext cx="865983" cy="738664"/>
          </a:xfrm>
          <a:prstGeom prst="rect">
            <a:avLst/>
          </a:prstGeom>
        </p:spPr>
        <p:txBody>
          <a:bodyPr wrap="square">
            <a:spAutoFit/>
          </a:bodyPr>
          <a:lstStyle/>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彡</a:t>
            </a:r>
            <a:endPar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6" name="正方形/長方形 25">
            <a:extLst>
              <a:ext uri="{FF2B5EF4-FFF2-40B4-BE49-F238E27FC236}">
                <a16:creationId xmlns:a16="http://schemas.microsoft.com/office/drawing/2014/main" id="{856E6143-44C5-419E-A3D6-384E59128F7C}"/>
              </a:ext>
            </a:extLst>
          </p:cNvPr>
          <p:cNvSpPr/>
          <p:nvPr/>
        </p:nvSpPr>
        <p:spPr bwMode="auto">
          <a:xfrm>
            <a:off x="3215968" y="2078985"/>
            <a:ext cx="602404" cy="512404"/>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RMT</a:t>
            </a: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2681644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ディスパッチ</a:t>
            </a:r>
            <a:endParaRPr kumimoji="1" lang="ja-JP" altLang="en-US" dirty="0"/>
          </a:p>
        </p:txBody>
      </p:sp>
      <p:sp>
        <p:nvSpPr>
          <p:cNvPr id="3" name="テキスト プレースホルダー 2"/>
          <p:cNvSpPr>
            <a:spLocks noGrp="1"/>
          </p:cNvSpPr>
          <p:nvPr>
            <p:ph type="body" sz="quarter" idx="10"/>
          </p:nvPr>
        </p:nvSpPr>
        <p:spPr>
          <a:xfrm>
            <a:off x="2135956" y="5319021"/>
            <a:ext cx="8280092" cy="629700"/>
          </a:xfrm>
        </p:spPr>
        <p:txBody>
          <a:bodyPr/>
          <a:lstStyle/>
          <a:p>
            <a:r>
              <a:rPr lang="ja-JP" altLang="en-US" dirty="0"/>
              <a:t>別にある発行キューのフリーリストから空きエントリ番号を確保</a:t>
            </a:r>
            <a:endParaRPr lang="en-US" altLang="ja-JP" dirty="0"/>
          </a:p>
          <a:p>
            <a:pPr lvl="1"/>
            <a:r>
              <a:rPr lang="ja-JP" altLang="en-US" dirty="0"/>
              <a:t>物理レジスタのフリーリストの場合と同様</a:t>
            </a:r>
            <a:endParaRPr lang="en-US" altLang="ja-JP" dirty="0"/>
          </a:p>
          <a:p>
            <a:pPr lvl="1"/>
            <a:r>
              <a:rPr lang="ja-JP" altLang="en-US" dirty="0"/>
              <a:t>発行したら返却</a:t>
            </a:r>
            <a:endParaRPr kumimoji="1" lang="ja-JP" altLang="en-US" dirty="0"/>
          </a:p>
        </p:txBody>
      </p:sp>
      <p:grpSp>
        <p:nvGrpSpPr>
          <p:cNvPr id="4" name="グループ化 3"/>
          <p:cNvGrpSpPr/>
          <p:nvPr/>
        </p:nvGrpSpPr>
        <p:grpSpPr>
          <a:xfrm>
            <a:off x="2495960" y="2798993"/>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5466137" y="2798993"/>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6906297" y="2798993"/>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8346457" y="2798993"/>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457800" y="1934450"/>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5427977" y="1934450"/>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6870024" y="1953034"/>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8310184" y="1953034"/>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4" name="正方形/長方形 33"/>
          <p:cNvSpPr/>
          <p:nvPr/>
        </p:nvSpPr>
        <p:spPr bwMode="auto">
          <a:xfrm>
            <a:off x="4205979" y="2438990"/>
            <a:ext cx="1080012" cy="1350015"/>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発行キュー</a:t>
            </a:r>
          </a:p>
        </p:txBody>
      </p:sp>
      <p:cxnSp>
        <p:nvCxnSpPr>
          <p:cNvPr id="37" name="直線矢印コネクタ 36"/>
          <p:cNvCxnSpPr/>
          <p:nvPr/>
        </p:nvCxnSpPr>
        <p:spPr bwMode="auto">
          <a:xfrm flipH="1">
            <a:off x="2495961" y="3536360"/>
            <a:ext cx="1530017"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38" name="角丸四角形吹き出し 37"/>
          <p:cNvSpPr/>
          <p:nvPr/>
        </p:nvSpPr>
        <p:spPr bwMode="auto">
          <a:xfrm>
            <a:off x="2405959" y="362636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フロントエンド</a:t>
            </a:r>
          </a:p>
        </p:txBody>
      </p:sp>
      <p:cxnSp>
        <p:nvCxnSpPr>
          <p:cNvPr id="40" name="直線矢印コネクタ 39"/>
          <p:cNvCxnSpPr/>
          <p:nvPr/>
        </p:nvCxnSpPr>
        <p:spPr bwMode="auto">
          <a:xfrm flipH="1">
            <a:off x="5465994" y="3536360"/>
            <a:ext cx="4410049"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41" name="角丸四角形吹き出し 40"/>
          <p:cNvSpPr/>
          <p:nvPr/>
        </p:nvSpPr>
        <p:spPr bwMode="auto">
          <a:xfrm>
            <a:off x="6906009" y="362636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バックエンド</a:t>
            </a:r>
          </a:p>
        </p:txBody>
      </p:sp>
      <p:sp>
        <p:nvSpPr>
          <p:cNvPr id="43" name="正方形/長方形 42"/>
          <p:cNvSpPr/>
          <p:nvPr/>
        </p:nvSpPr>
        <p:spPr>
          <a:xfrm>
            <a:off x="4295981" y="1628980"/>
            <a:ext cx="865983" cy="738664"/>
          </a:xfrm>
          <a:prstGeom prst="rect">
            <a:avLst/>
          </a:prstGeom>
        </p:spPr>
        <p:txBody>
          <a:bodyPr wrap="square">
            <a:spAutoFit/>
          </a:bodyPr>
          <a:lstStyle/>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彡</a:t>
            </a:r>
            <a:endPar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6" name="正方形/長方形 25">
            <a:extLst>
              <a:ext uri="{FF2B5EF4-FFF2-40B4-BE49-F238E27FC236}">
                <a16:creationId xmlns:a16="http://schemas.microsoft.com/office/drawing/2014/main" id="{0E10C941-8690-44CA-8AA4-186A7F9EF852}"/>
              </a:ext>
            </a:extLst>
          </p:cNvPr>
          <p:cNvSpPr/>
          <p:nvPr/>
        </p:nvSpPr>
        <p:spPr bwMode="auto">
          <a:xfrm>
            <a:off x="3215968" y="2078985"/>
            <a:ext cx="602404" cy="512404"/>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RMT</a:t>
            </a: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0645929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DA3969-16C9-414E-99A2-19CD6A2B5E25}"/>
              </a:ext>
            </a:extLst>
          </p:cNvPr>
          <p:cNvSpPr>
            <a:spLocks noGrp="1"/>
          </p:cNvSpPr>
          <p:nvPr>
            <p:ph type="title"/>
          </p:nvPr>
        </p:nvSpPr>
        <p:spPr/>
        <p:txBody>
          <a:bodyPr/>
          <a:lstStyle/>
          <a:p>
            <a:r>
              <a:rPr kumimoji="1" lang="ja-JP" altLang="en-US" dirty="0"/>
              <a:t>バックエンドへの命令の発行</a:t>
            </a:r>
          </a:p>
        </p:txBody>
      </p:sp>
      <p:sp>
        <p:nvSpPr>
          <p:cNvPr id="3" name="テキスト プレースホルダー 2">
            <a:extLst>
              <a:ext uri="{FF2B5EF4-FFF2-40B4-BE49-F238E27FC236}">
                <a16:creationId xmlns:a16="http://schemas.microsoft.com/office/drawing/2014/main" id="{8B1596D3-5E84-4F12-89E3-28EA8850F188}"/>
              </a:ext>
            </a:extLst>
          </p:cNvPr>
          <p:cNvSpPr>
            <a:spLocks noGrp="1"/>
          </p:cNvSpPr>
          <p:nvPr>
            <p:ph type="body" sz="quarter" idx="10"/>
          </p:nvPr>
        </p:nvSpPr>
        <p:spPr/>
        <p:txBody>
          <a:bodyPr/>
          <a:lstStyle/>
          <a:p>
            <a:r>
              <a:rPr lang="ja-JP" altLang="en-US" dirty="0"/>
              <a:t>スケジューラ（発行キュー）</a:t>
            </a:r>
            <a:r>
              <a:rPr kumimoji="1" lang="ja-JP" altLang="en-US" dirty="0"/>
              <a:t>の作り方</a:t>
            </a:r>
            <a:endParaRPr kumimoji="1" lang="en-US" altLang="ja-JP" dirty="0"/>
          </a:p>
          <a:p>
            <a:pPr marL="817200" lvl="1" indent="-457200">
              <a:buFont typeface="+mj-lt"/>
              <a:buAutoNum type="arabicPeriod"/>
            </a:pPr>
            <a:r>
              <a:rPr lang="ja-JP" altLang="en-US" dirty="0"/>
              <a:t>スコアボードを使った方法</a:t>
            </a:r>
            <a:endParaRPr lang="en-US" altLang="ja-JP" dirty="0"/>
          </a:p>
          <a:p>
            <a:pPr marL="817200" lvl="1" indent="-457200">
              <a:buFont typeface="+mj-lt"/>
              <a:buAutoNum type="arabicPeriod"/>
            </a:pPr>
            <a:r>
              <a:rPr kumimoji="1" lang="ja-JP" altLang="en-US" dirty="0"/>
              <a:t>連想検索を使う方法</a:t>
            </a:r>
            <a:endParaRPr kumimoji="1" lang="en-US" altLang="ja-JP" dirty="0"/>
          </a:p>
          <a:p>
            <a:pPr marL="817200" lvl="1" indent="-457200">
              <a:buFont typeface="+mj-lt"/>
              <a:buAutoNum type="arabicPeriod"/>
            </a:pPr>
            <a:r>
              <a:rPr lang="ja-JP" altLang="en-US" dirty="0"/>
              <a:t>行列を使う方法</a:t>
            </a:r>
            <a:endParaRPr kumimoji="1" lang="ja-JP" altLang="en-US" dirty="0"/>
          </a:p>
        </p:txBody>
      </p:sp>
    </p:spTree>
    <p:extLst>
      <p:ext uri="{BB962C8B-B14F-4D97-AF65-F5344CB8AC3E}">
        <p14:creationId xmlns:p14="http://schemas.microsoft.com/office/powerpoint/2010/main" val="28168744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発行キューのナイーブな実装</a:t>
            </a:r>
          </a:p>
        </p:txBody>
      </p:sp>
      <p:sp>
        <p:nvSpPr>
          <p:cNvPr id="3" name="テキスト プレースホルダー 2"/>
          <p:cNvSpPr>
            <a:spLocks noGrp="1"/>
          </p:cNvSpPr>
          <p:nvPr>
            <p:ph type="body" sz="quarter" idx="10"/>
          </p:nvPr>
        </p:nvSpPr>
        <p:spPr>
          <a:xfrm>
            <a:off x="2135956" y="4779015"/>
            <a:ext cx="8280092" cy="1349708"/>
          </a:xfrm>
        </p:spPr>
        <p:txBody>
          <a:bodyPr/>
          <a:lstStyle/>
          <a:p>
            <a:r>
              <a:rPr lang="ja-JP" altLang="en-US" dirty="0"/>
              <a:t>発行可能なものから順にバックエンドに命令を発行</a:t>
            </a:r>
            <a:endParaRPr lang="en-US" altLang="ja-JP" dirty="0"/>
          </a:p>
          <a:p>
            <a:r>
              <a:rPr lang="ja-JP" altLang="en-US" dirty="0"/>
              <a:t>ナイーブには，スコアボードで実装できる</a:t>
            </a:r>
            <a:endParaRPr lang="en-US" altLang="ja-JP" dirty="0"/>
          </a:p>
          <a:p>
            <a:pPr lvl="1"/>
            <a:r>
              <a:rPr lang="ja-JP" altLang="en-US" dirty="0"/>
              <a:t>発行キューの各エントリの命令がそれぞれスコアボードを監視</a:t>
            </a:r>
            <a:endParaRPr lang="en-US" altLang="ja-JP" dirty="0"/>
          </a:p>
        </p:txBody>
      </p:sp>
      <p:sp>
        <p:nvSpPr>
          <p:cNvPr id="4" name="正方形/長方形 3"/>
          <p:cNvSpPr/>
          <p:nvPr/>
        </p:nvSpPr>
        <p:spPr bwMode="auto">
          <a:xfrm>
            <a:off x="3935976" y="1538979"/>
            <a:ext cx="1440016" cy="2880032"/>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dirty="0">
              <a:solidFill>
                <a:schemeClr val="tx1">
                  <a:lumMod val="75000"/>
                  <a:lumOff val="25000"/>
                </a:schemeClr>
              </a:solidFill>
              <a:latin typeface="+mn-ea"/>
            </a:endParaRPr>
          </a:p>
        </p:txBody>
      </p:sp>
      <p:sp>
        <p:nvSpPr>
          <p:cNvPr id="5" name="正方形/長方形 4"/>
          <p:cNvSpPr/>
          <p:nvPr/>
        </p:nvSpPr>
        <p:spPr>
          <a:xfrm>
            <a:off x="3035967" y="2708992"/>
            <a:ext cx="865983" cy="738664"/>
          </a:xfrm>
          <a:prstGeom prst="rect">
            <a:avLst/>
          </a:prstGeom>
        </p:spPr>
        <p:txBody>
          <a:bodyPr wrap="square">
            <a:spAutoFit/>
          </a:bodyPr>
          <a:lstStyle/>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彡</a:t>
            </a:r>
            <a:endPar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1538979"/>
            <a:ext cx="1440016"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p20</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p12*4</a:t>
            </a:r>
            <a:endParaRPr lang="ja-JP" altLang="en-US" sz="1600" dirty="0">
              <a:solidFill>
                <a:schemeClr val="tx1">
                  <a:lumMod val="75000"/>
                  <a:lumOff val="25000"/>
                </a:schemeClr>
              </a:solidFill>
              <a:latin typeface="+mn-ea"/>
              <a:ea typeface="+mn-ea"/>
            </a:endParaRPr>
          </a:p>
        </p:txBody>
      </p:sp>
      <p:sp>
        <p:nvSpPr>
          <p:cNvPr id="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1898983"/>
            <a:ext cx="1440016"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p24</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p12+p15</a:t>
            </a:r>
            <a:endParaRPr lang="ja-JP" altLang="en-US" sz="1600" dirty="0">
              <a:solidFill>
                <a:schemeClr val="tx1">
                  <a:lumMod val="75000"/>
                  <a:lumOff val="25000"/>
                </a:schemeClr>
              </a:solidFill>
              <a:latin typeface="+mn-ea"/>
              <a:ea typeface="+mn-ea"/>
            </a:endParaRPr>
          </a:p>
        </p:txBody>
      </p:sp>
      <p:sp>
        <p:nvSpPr>
          <p:cNvPr id="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2258987"/>
            <a:ext cx="1440016"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p34</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p45+p3</a:t>
            </a:r>
            <a:endParaRPr lang="ja-JP" altLang="en-US" sz="1600" dirty="0">
              <a:solidFill>
                <a:schemeClr val="tx1">
                  <a:lumMod val="75000"/>
                  <a:lumOff val="25000"/>
                </a:schemeClr>
              </a:solidFill>
              <a:latin typeface="+mn-ea"/>
              <a:ea typeface="+mn-ea"/>
            </a:endParaRPr>
          </a:p>
        </p:txBody>
      </p:sp>
      <p:sp>
        <p:nvSpPr>
          <p:cNvPr id="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2618991"/>
            <a:ext cx="1440016"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solidFill>
                  <a:schemeClr val="tx1">
                    <a:lumMod val="75000"/>
                    <a:lumOff val="25000"/>
                  </a:schemeClr>
                </a:solidFill>
                <a:latin typeface="Consolas" panose="020B0609020204030204" pitchFamily="49" charset="0"/>
              </a:rPr>
              <a:t>…</a:t>
            </a:r>
            <a:endParaRPr lang="ja-JP" altLang="en-US" sz="1600" dirty="0">
              <a:solidFill>
                <a:schemeClr val="tx1">
                  <a:lumMod val="75000"/>
                  <a:lumOff val="25000"/>
                </a:schemeClr>
              </a:solidFill>
              <a:latin typeface="+mn-ea"/>
              <a:ea typeface="+mn-ea"/>
            </a:endParaRPr>
          </a:p>
        </p:txBody>
      </p:sp>
      <p:sp>
        <p:nvSpPr>
          <p:cNvPr id="1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816008" y="1538979"/>
            <a:ext cx="360000" cy="288003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1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816008" y="153897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600" dirty="0">
                <a:latin typeface="+mn-ea"/>
                <a:ea typeface="+mn-ea"/>
              </a:rPr>
              <a:t>１</a:t>
            </a:r>
          </a:p>
        </p:txBody>
      </p:sp>
      <p:sp>
        <p:nvSpPr>
          <p:cNvPr id="1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816008" y="1898983"/>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600" dirty="0">
                <a:latin typeface="+mn-ea"/>
                <a:ea typeface="+mn-ea"/>
              </a:rPr>
              <a:t>０</a:t>
            </a:r>
          </a:p>
        </p:txBody>
      </p:sp>
      <p:sp>
        <p:nvSpPr>
          <p:cNvPr id="1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816008" y="2258987"/>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600" dirty="0">
                <a:latin typeface="+mn-ea"/>
                <a:ea typeface="+mn-ea"/>
              </a:rPr>
              <a:t>１</a:t>
            </a:r>
          </a:p>
        </p:txBody>
      </p:sp>
      <p:sp>
        <p:nvSpPr>
          <p:cNvPr id="1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816008" y="261899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a:latin typeface="+mn-ea"/>
              </a:rPr>
              <a:t>...</a:t>
            </a:r>
            <a:endParaRPr lang="ja-JP" altLang="en-US" sz="1600" dirty="0">
              <a:latin typeface="+mn-ea"/>
            </a:endParaRPr>
          </a:p>
        </p:txBody>
      </p:sp>
      <p:sp>
        <p:nvSpPr>
          <p:cNvPr id="1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636006" y="1088974"/>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600" dirty="0">
                <a:latin typeface="+mn-ea"/>
                <a:ea typeface="+mn-ea"/>
              </a:rPr>
              <a:t>物理レジスタ番号の</a:t>
            </a:r>
            <a:endParaRPr lang="en-US" altLang="ja-JP" sz="1600" dirty="0">
              <a:latin typeface="+mn-ea"/>
              <a:ea typeface="+mn-ea"/>
            </a:endParaRPr>
          </a:p>
          <a:p>
            <a:pPr algn="ctr"/>
            <a:r>
              <a:rPr lang="ja-JP" altLang="en-US" sz="1600" dirty="0">
                <a:latin typeface="+mn-ea"/>
                <a:ea typeface="+mn-ea"/>
              </a:rPr>
              <a:t>スコアボード</a:t>
            </a:r>
            <a:endParaRPr lang="en-US" altLang="ja-JP" sz="1600" dirty="0">
              <a:latin typeface="+mn-ea"/>
              <a:ea typeface="+mn-ea"/>
            </a:endParaRPr>
          </a:p>
        </p:txBody>
      </p:sp>
      <p:sp>
        <p:nvSpPr>
          <p:cNvPr id="1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295980" y="1178975"/>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600" dirty="0">
                <a:latin typeface="+mn-ea"/>
                <a:ea typeface="+mn-ea"/>
              </a:rPr>
              <a:t>発行キュー</a:t>
            </a:r>
          </a:p>
        </p:txBody>
      </p:sp>
      <p:cxnSp>
        <p:nvCxnSpPr>
          <p:cNvPr id="18" name="直線矢印コネクタ 17"/>
          <p:cNvCxnSpPr/>
          <p:nvPr/>
        </p:nvCxnSpPr>
        <p:spPr bwMode="auto">
          <a:xfrm>
            <a:off x="4745986" y="1808983"/>
            <a:ext cx="2070023" cy="1350015"/>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20" name="直線矢印コネクタ 19"/>
          <p:cNvCxnSpPr/>
          <p:nvPr/>
        </p:nvCxnSpPr>
        <p:spPr bwMode="auto">
          <a:xfrm>
            <a:off x="4745986" y="2168986"/>
            <a:ext cx="2070023" cy="1080012"/>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22" name="直線矢印コネクタ 21"/>
          <p:cNvCxnSpPr/>
          <p:nvPr/>
        </p:nvCxnSpPr>
        <p:spPr bwMode="auto">
          <a:xfrm>
            <a:off x="5105990" y="2168986"/>
            <a:ext cx="1710019" cy="1440016"/>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27" name="直線矢印コネクタ 26"/>
          <p:cNvCxnSpPr/>
          <p:nvPr/>
        </p:nvCxnSpPr>
        <p:spPr bwMode="auto">
          <a:xfrm>
            <a:off x="4745986" y="2528991"/>
            <a:ext cx="2070023" cy="1530017"/>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29" name="直線矢印コネクタ 28"/>
          <p:cNvCxnSpPr/>
          <p:nvPr/>
        </p:nvCxnSpPr>
        <p:spPr bwMode="auto">
          <a:xfrm flipV="1">
            <a:off x="5195990" y="2438990"/>
            <a:ext cx="1620018" cy="1"/>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16470652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タイトル 16"/>
          <p:cNvSpPr>
            <a:spLocks noGrp="1"/>
          </p:cNvSpPr>
          <p:nvPr>
            <p:ph type="title"/>
          </p:nvPr>
        </p:nvSpPr>
        <p:spPr/>
        <p:txBody>
          <a:bodyPr/>
          <a:lstStyle/>
          <a:p>
            <a:r>
              <a:rPr kumimoji="1" lang="ja-JP" altLang="en-US" dirty="0"/>
              <a:t>ナイーブな実装の問題</a:t>
            </a:r>
          </a:p>
        </p:txBody>
      </p:sp>
      <p:sp>
        <p:nvSpPr>
          <p:cNvPr id="3" name="テキスト プレースホルダー 2"/>
          <p:cNvSpPr>
            <a:spLocks noGrp="1"/>
          </p:cNvSpPr>
          <p:nvPr>
            <p:ph type="body" sz="quarter" idx="10"/>
          </p:nvPr>
        </p:nvSpPr>
        <p:spPr>
          <a:xfrm>
            <a:off x="2135956" y="5319021"/>
            <a:ext cx="8280092" cy="629700"/>
          </a:xfrm>
        </p:spPr>
        <p:txBody>
          <a:bodyPr/>
          <a:lstStyle/>
          <a:p>
            <a:r>
              <a:rPr lang="ja-JP" altLang="en-US" dirty="0"/>
              <a:t>スコアボードによる実装はスケールしない</a:t>
            </a:r>
            <a:endParaRPr lang="en-US" altLang="ja-JP" dirty="0"/>
          </a:p>
          <a:p>
            <a:pPr lvl="1"/>
            <a:r>
              <a:rPr lang="ja-JP" altLang="en-US" dirty="0"/>
              <a:t>発行キューのエントリ数：数十から数百命令</a:t>
            </a:r>
            <a:endParaRPr lang="en-US" altLang="ja-JP" dirty="0"/>
          </a:p>
          <a:p>
            <a:pPr lvl="1"/>
            <a:r>
              <a:rPr lang="ja-JP" altLang="en-US" dirty="0"/>
              <a:t>スコアボードはソース・オペランドの数だけ独立に読まれる</a:t>
            </a:r>
            <a:br>
              <a:rPr lang="en-US" altLang="ja-JP" dirty="0"/>
            </a:br>
            <a:r>
              <a:rPr lang="en-US" altLang="ja-JP" dirty="0"/>
              <a:t>= </a:t>
            </a:r>
            <a:r>
              <a:rPr lang="ja-JP" altLang="en-US" dirty="0"/>
              <a:t>ものすごい数のポート数（</a:t>
            </a:r>
            <a:r>
              <a:rPr lang="en-US" altLang="ja-JP" dirty="0"/>
              <a:t>100*3 </a:t>
            </a:r>
            <a:r>
              <a:rPr lang="ja-JP" altLang="en-US" dirty="0"/>
              <a:t>とか）になる</a:t>
            </a:r>
            <a:endParaRPr lang="en-US" altLang="ja-JP" dirty="0"/>
          </a:p>
          <a:p>
            <a:pPr lvl="1"/>
            <a:r>
              <a:rPr lang="ja-JP" altLang="en-US" dirty="0"/>
              <a:t>メモリのサイズはポート数の二乗に比例するのでヤバイ</a:t>
            </a:r>
            <a:endParaRPr lang="en-US" altLang="ja-JP" dirty="0"/>
          </a:p>
        </p:txBody>
      </p:sp>
      <p:sp>
        <p:nvSpPr>
          <p:cNvPr id="23" name="正方形/長方形 22"/>
          <p:cNvSpPr/>
          <p:nvPr/>
        </p:nvSpPr>
        <p:spPr bwMode="auto">
          <a:xfrm>
            <a:off x="3935976" y="1538979"/>
            <a:ext cx="1440016" cy="2880032"/>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dirty="0">
              <a:solidFill>
                <a:schemeClr val="tx1">
                  <a:lumMod val="75000"/>
                  <a:lumOff val="25000"/>
                </a:schemeClr>
              </a:solidFill>
              <a:latin typeface="+mn-ea"/>
            </a:endParaRPr>
          </a:p>
        </p:txBody>
      </p:sp>
      <p:sp>
        <p:nvSpPr>
          <p:cNvPr id="24" name="正方形/長方形 23"/>
          <p:cNvSpPr/>
          <p:nvPr/>
        </p:nvSpPr>
        <p:spPr>
          <a:xfrm>
            <a:off x="3035967" y="2708992"/>
            <a:ext cx="865983" cy="738664"/>
          </a:xfrm>
          <a:prstGeom prst="rect">
            <a:avLst/>
          </a:prstGeom>
        </p:spPr>
        <p:txBody>
          <a:bodyPr wrap="square">
            <a:spAutoFit/>
          </a:bodyPr>
          <a:lstStyle/>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彡</a:t>
            </a:r>
            <a:endPar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1538979"/>
            <a:ext cx="1440016"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p20</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p12*4</a:t>
            </a:r>
            <a:endParaRPr lang="ja-JP" altLang="en-US" sz="1600" dirty="0">
              <a:solidFill>
                <a:schemeClr val="tx1">
                  <a:lumMod val="75000"/>
                  <a:lumOff val="25000"/>
                </a:schemeClr>
              </a:solidFill>
              <a:latin typeface="+mn-ea"/>
              <a:ea typeface="+mn-ea"/>
            </a:endParaRPr>
          </a:p>
        </p:txBody>
      </p:sp>
      <p:sp>
        <p:nvSpPr>
          <p:cNvPr id="2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1898983"/>
            <a:ext cx="1440016"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p24</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p12+p15</a:t>
            </a:r>
            <a:endParaRPr lang="ja-JP" altLang="en-US" sz="1600" dirty="0">
              <a:solidFill>
                <a:schemeClr val="tx1">
                  <a:lumMod val="75000"/>
                  <a:lumOff val="25000"/>
                </a:schemeClr>
              </a:solidFill>
              <a:latin typeface="+mn-ea"/>
              <a:ea typeface="+mn-ea"/>
            </a:endParaRPr>
          </a:p>
        </p:txBody>
      </p:sp>
      <p:sp>
        <p:nvSpPr>
          <p:cNvPr id="2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2258987"/>
            <a:ext cx="1440016"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p34</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p45+p3</a:t>
            </a:r>
            <a:endParaRPr lang="ja-JP" altLang="en-US" sz="1600" dirty="0">
              <a:solidFill>
                <a:schemeClr val="tx1">
                  <a:lumMod val="75000"/>
                  <a:lumOff val="25000"/>
                </a:schemeClr>
              </a:solidFill>
              <a:latin typeface="+mn-ea"/>
              <a:ea typeface="+mn-ea"/>
            </a:endParaRPr>
          </a:p>
        </p:txBody>
      </p:sp>
      <p:sp>
        <p:nvSpPr>
          <p:cNvPr id="3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2618991"/>
            <a:ext cx="1440016"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solidFill>
                  <a:schemeClr val="tx1">
                    <a:lumMod val="75000"/>
                    <a:lumOff val="25000"/>
                  </a:schemeClr>
                </a:solidFill>
                <a:latin typeface="Consolas" panose="020B0609020204030204" pitchFamily="49" charset="0"/>
              </a:rPr>
              <a:t>…</a:t>
            </a:r>
            <a:endParaRPr lang="ja-JP" altLang="en-US" sz="1600" dirty="0">
              <a:solidFill>
                <a:schemeClr val="tx1">
                  <a:lumMod val="75000"/>
                  <a:lumOff val="25000"/>
                </a:schemeClr>
              </a:solidFill>
              <a:latin typeface="+mn-ea"/>
              <a:ea typeface="+mn-ea"/>
            </a:endParaRPr>
          </a:p>
        </p:txBody>
      </p:sp>
      <p:sp>
        <p:nvSpPr>
          <p:cNvPr id="3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816008" y="1538979"/>
            <a:ext cx="360000" cy="288003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sz="1600" dirty="0">
              <a:latin typeface="+mn-ea"/>
              <a:ea typeface="+mn-ea"/>
            </a:endParaRPr>
          </a:p>
        </p:txBody>
      </p:sp>
      <p:sp>
        <p:nvSpPr>
          <p:cNvPr id="3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816008" y="1538979"/>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600" dirty="0">
                <a:latin typeface="+mn-ea"/>
                <a:ea typeface="+mn-ea"/>
              </a:rPr>
              <a:t>１</a:t>
            </a:r>
          </a:p>
        </p:txBody>
      </p:sp>
      <p:sp>
        <p:nvSpPr>
          <p:cNvPr id="3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816008" y="1898983"/>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600" dirty="0">
                <a:latin typeface="+mn-ea"/>
                <a:ea typeface="+mn-ea"/>
              </a:rPr>
              <a:t>０</a:t>
            </a:r>
          </a:p>
        </p:txBody>
      </p:sp>
      <p:sp>
        <p:nvSpPr>
          <p:cNvPr id="3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816008" y="2258987"/>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600" dirty="0">
                <a:latin typeface="+mn-ea"/>
                <a:ea typeface="+mn-ea"/>
              </a:rPr>
              <a:t>１</a:t>
            </a:r>
          </a:p>
        </p:txBody>
      </p:sp>
      <p:sp>
        <p:nvSpPr>
          <p:cNvPr id="3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816008" y="2618991"/>
            <a:ext cx="360000"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a:latin typeface="+mn-ea"/>
              </a:rPr>
              <a:t>...</a:t>
            </a:r>
            <a:endParaRPr lang="ja-JP" altLang="en-US" sz="1600" dirty="0">
              <a:latin typeface="+mn-ea"/>
            </a:endParaRPr>
          </a:p>
        </p:txBody>
      </p:sp>
      <p:sp>
        <p:nvSpPr>
          <p:cNvPr id="3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636006" y="1088974"/>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600" dirty="0">
                <a:latin typeface="+mn-ea"/>
                <a:ea typeface="+mn-ea"/>
              </a:rPr>
              <a:t>物理レジスタ番号の</a:t>
            </a:r>
            <a:endParaRPr lang="en-US" altLang="ja-JP" sz="1600" dirty="0">
              <a:latin typeface="+mn-ea"/>
              <a:ea typeface="+mn-ea"/>
            </a:endParaRPr>
          </a:p>
          <a:p>
            <a:pPr algn="ctr"/>
            <a:r>
              <a:rPr lang="ja-JP" altLang="en-US" sz="1600" dirty="0">
                <a:latin typeface="+mn-ea"/>
                <a:ea typeface="+mn-ea"/>
              </a:rPr>
              <a:t>スコアボード</a:t>
            </a:r>
            <a:endParaRPr lang="en-US" altLang="ja-JP" sz="1600" dirty="0">
              <a:latin typeface="+mn-ea"/>
              <a:ea typeface="+mn-ea"/>
            </a:endParaRPr>
          </a:p>
        </p:txBody>
      </p:sp>
      <p:sp>
        <p:nvSpPr>
          <p:cNvPr id="3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295980" y="1178975"/>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600" dirty="0">
                <a:latin typeface="+mn-ea"/>
                <a:ea typeface="+mn-ea"/>
              </a:rPr>
              <a:t>発行キュー</a:t>
            </a:r>
          </a:p>
        </p:txBody>
      </p:sp>
      <p:cxnSp>
        <p:nvCxnSpPr>
          <p:cNvPr id="38" name="直線矢印コネクタ 37"/>
          <p:cNvCxnSpPr/>
          <p:nvPr/>
        </p:nvCxnSpPr>
        <p:spPr bwMode="auto">
          <a:xfrm>
            <a:off x="4745986" y="1808983"/>
            <a:ext cx="2070023" cy="1350015"/>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39" name="直線矢印コネクタ 38"/>
          <p:cNvCxnSpPr/>
          <p:nvPr/>
        </p:nvCxnSpPr>
        <p:spPr bwMode="auto">
          <a:xfrm>
            <a:off x="4745986" y="2168986"/>
            <a:ext cx="2070023" cy="1080012"/>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40" name="直線矢印コネクタ 39"/>
          <p:cNvCxnSpPr/>
          <p:nvPr/>
        </p:nvCxnSpPr>
        <p:spPr bwMode="auto">
          <a:xfrm>
            <a:off x="5105990" y="2168986"/>
            <a:ext cx="1710019" cy="1440016"/>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41" name="直線矢印コネクタ 40"/>
          <p:cNvCxnSpPr/>
          <p:nvPr/>
        </p:nvCxnSpPr>
        <p:spPr bwMode="auto">
          <a:xfrm>
            <a:off x="4745986" y="2528991"/>
            <a:ext cx="2070023" cy="1530017"/>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42" name="直線矢印コネクタ 41"/>
          <p:cNvCxnSpPr/>
          <p:nvPr/>
        </p:nvCxnSpPr>
        <p:spPr bwMode="auto">
          <a:xfrm flipV="1">
            <a:off x="5195990" y="2438990"/>
            <a:ext cx="1620018" cy="1"/>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7410734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DA3969-16C9-414E-99A2-19CD6A2B5E25}"/>
              </a:ext>
            </a:extLst>
          </p:cNvPr>
          <p:cNvSpPr>
            <a:spLocks noGrp="1"/>
          </p:cNvSpPr>
          <p:nvPr>
            <p:ph type="title"/>
          </p:nvPr>
        </p:nvSpPr>
        <p:spPr/>
        <p:txBody>
          <a:bodyPr/>
          <a:lstStyle/>
          <a:p>
            <a:r>
              <a:rPr kumimoji="1" lang="ja-JP" altLang="en-US" dirty="0"/>
              <a:t>バックエンドへの命令の発行</a:t>
            </a:r>
          </a:p>
        </p:txBody>
      </p:sp>
      <p:sp>
        <p:nvSpPr>
          <p:cNvPr id="3" name="テキスト プレースホルダー 2">
            <a:extLst>
              <a:ext uri="{FF2B5EF4-FFF2-40B4-BE49-F238E27FC236}">
                <a16:creationId xmlns:a16="http://schemas.microsoft.com/office/drawing/2014/main" id="{8B1596D3-5E84-4F12-89E3-28EA8850F188}"/>
              </a:ext>
            </a:extLst>
          </p:cNvPr>
          <p:cNvSpPr>
            <a:spLocks noGrp="1"/>
          </p:cNvSpPr>
          <p:nvPr>
            <p:ph type="body" sz="quarter" idx="10"/>
          </p:nvPr>
        </p:nvSpPr>
        <p:spPr/>
        <p:txBody>
          <a:bodyPr/>
          <a:lstStyle/>
          <a:p>
            <a:r>
              <a:rPr lang="ja-JP" altLang="en-US" dirty="0"/>
              <a:t>スケジューラ</a:t>
            </a:r>
            <a:r>
              <a:rPr kumimoji="1" lang="ja-JP" altLang="en-US" dirty="0"/>
              <a:t>の作り方</a:t>
            </a:r>
            <a:endParaRPr kumimoji="1" lang="en-US" altLang="ja-JP" dirty="0"/>
          </a:p>
          <a:p>
            <a:pPr marL="817200" lvl="1" indent="-457200">
              <a:buFont typeface="+mj-lt"/>
              <a:buAutoNum type="arabicPeriod"/>
            </a:pPr>
            <a:r>
              <a:rPr lang="ja-JP" altLang="en-US" dirty="0"/>
              <a:t>スコアボードを使った方法</a:t>
            </a:r>
            <a:endParaRPr lang="en-US" altLang="ja-JP" dirty="0"/>
          </a:p>
          <a:p>
            <a:pPr marL="817200" lvl="1" indent="-457200">
              <a:buFont typeface="+mj-lt"/>
              <a:buAutoNum type="arabicPeriod"/>
            </a:pPr>
            <a:r>
              <a:rPr kumimoji="1" lang="ja-JP" altLang="en-US" dirty="0">
                <a:solidFill>
                  <a:schemeClr val="accent5"/>
                </a:solidFill>
              </a:rPr>
              <a:t>連想検索を使う方法</a:t>
            </a:r>
            <a:endParaRPr kumimoji="1" lang="en-US" altLang="ja-JP" dirty="0">
              <a:solidFill>
                <a:schemeClr val="accent5"/>
              </a:solidFill>
            </a:endParaRPr>
          </a:p>
          <a:p>
            <a:pPr marL="817200" lvl="1" indent="-457200">
              <a:buFont typeface="+mj-lt"/>
              <a:buAutoNum type="arabicPeriod"/>
            </a:pPr>
            <a:r>
              <a:rPr lang="ja-JP" altLang="en-US" dirty="0"/>
              <a:t>行列を使う方法</a:t>
            </a:r>
            <a:endParaRPr kumimoji="1" lang="ja-JP" altLang="en-US" dirty="0"/>
          </a:p>
        </p:txBody>
      </p:sp>
    </p:spTree>
    <p:extLst>
      <p:ext uri="{BB962C8B-B14F-4D97-AF65-F5344CB8AC3E}">
        <p14:creationId xmlns:p14="http://schemas.microsoft.com/office/powerpoint/2010/main" val="17821246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連想検索による実装</a:t>
            </a:r>
          </a:p>
        </p:txBody>
      </p:sp>
      <p:sp>
        <p:nvSpPr>
          <p:cNvPr id="3" name="テキスト プレースホルダー 2"/>
          <p:cNvSpPr>
            <a:spLocks noGrp="1"/>
          </p:cNvSpPr>
          <p:nvPr>
            <p:ph type="body" sz="quarter" idx="10"/>
          </p:nvPr>
        </p:nvSpPr>
        <p:spPr>
          <a:xfrm>
            <a:off x="2135956" y="5769026"/>
            <a:ext cx="8280092" cy="989704"/>
          </a:xfrm>
        </p:spPr>
        <p:txBody>
          <a:bodyPr/>
          <a:lstStyle/>
          <a:p>
            <a:r>
              <a:rPr kumimoji="1" lang="en-US" altLang="ja-JP" dirty="0"/>
              <a:t>Wakeup Logic</a:t>
            </a:r>
            <a:r>
              <a:rPr kumimoji="1" lang="ja-JP" altLang="en-US" dirty="0"/>
              <a:t>：寝ている（発行待ち）命令を起こす機構</a:t>
            </a:r>
            <a:endParaRPr kumimoji="1" lang="en-US" altLang="ja-JP" dirty="0"/>
          </a:p>
          <a:p>
            <a:pPr lvl="1"/>
            <a:r>
              <a:rPr lang="en-US" altLang="ja-JP" dirty="0" err="1"/>
              <a:t>Dst</a:t>
            </a:r>
            <a:r>
              <a:rPr lang="ja-JP" altLang="en-US" dirty="0"/>
              <a:t>：ディスティネーションの物理レジスタ番号</a:t>
            </a:r>
            <a:endParaRPr lang="en-US" altLang="ja-JP" dirty="0"/>
          </a:p>
          <a:p>
            <a:pPr lvl="1"/>
            <a:r>
              <a:rPr lang="en-US" altLang="ja-JP" dirty="0" err="1"/>
              <a:t>Src</a:t>
            </a:r>
            <a:r>
              <a:rPr lang="ja-JP" altLang="en-US" dirty="0"/>
              <a:t>：ソースの物理レジスタ番号（簡単のためここでは１つ）</a:t>
            </a:r>
            <a:endParaRPr lang="en-US" altLang="ja-JP" dirty="0"/>
          </a:p>
          <a:p>
            <a:pPr lvl="1"/>
            <a:r>
              <a:rPr lang="en-US" altLang="ja-JP" dirty="0" err="1"/>
              <a:t>Rdy</a:t>
            </a:r>
            <a:r>
              <a:rPr lang="ja-JP" altLang="en-US" dirty="0"/>
              <a:t>：依存元命令が実行され，発行準備ができているか</a:t>
            </a:r>
            <a:endParaRPr lang="en-US" altLang="ja-JP" dirty="0"/>
          </a:p>
          <a:p>
            <a:pPr lvl="1"/>
            <a:endParaRPr kumimoji="1" lang="en-US" altLang="ja-JP" dirty="0"/>
          </a:p>
          <a:p>
            <a:endParaRPr kumimoji="1" lang="ja-JP" altLang="en-US" dirty="0"/>
          </a:p>
        </p:txBody>
      </p:sp>
      <p:sp>
        <p:nvSpPr>
          <p:cNvPr id="4" name="正方形/長方形 3"/>
          <p:cNvSpPr/>
          <p:nvPr/>
        </p:nvSpPr>
        <p:spPr bwMode="auto">
          <a:xfrm>
            <a:off x="3935976" y="1808983"/>
            <a:ext cx="1800020" cy="252002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dirty="0">
              <a:solidFill>
                <a:schemeClr val="tx1">
                  <a:lumMod val="75000"/>
                  <a:lumOff val="25000"/>
                </a:schemeClr>
              </a:solidFill>
              <a:latin typeface="+mn-ea"/>
            </a:endParaRPr>
          </a:p>
        </p:txBody>
      </p:sp>
      <p:sp>
        <p:nvSpPr>
          <p:cNvPr id="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1808982"/>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p20</a:t>
            </a:r>
            <a:endParaRPr lang="ja-JP" altLang="en-US" sz="1600" dirty="0">
              <a:solidFill>
                <a:schemeClr val="tx1">
                  <a:lumMod val="75000"/>
                  <a:lumOff val="25000"/>
                </a:schemeClr>
              </a:solidFill>
              <a:latin typeface="+mn-ea"/>
              <a:ea typeface="+mn-ea"/>
            </a:endParaRPr>
          </a:p>
        </p:txBody>
      </p:sp>
      <p:sp>
        <p:nvSpPr>
          <p:cNvPr id="1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1808982"/>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p12</a:t>
            </a:r>
            <a:endParaRPr lang="ja-JP" altLang="en-US" sz="1600" dirty="0">
              <a:solidFill>
                <a:schemeClr val="tx1">
                  <a:lumMod val="75000"/>
                  <a:lumOff val="25000"/>
                </a:schemeClr>
              </a:solidFill>
              <a:latin typeface="+mn-ea"/>
            </a:endParaRPr>
          </a:p>
        </p:txBody>
      </p:sp>
      <p:sp>
        <p:nvSpPr>
          <p:cNvPr id="1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2168986"/>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p24</a:t>
            </a:r>
            <a:endParaRPr lang="ja-JP" altLang="en-US" sz="1600" dirty="0">
              <a:solidFill>
                <a:schemeClr val="tx1">
                  <a:lumMod val="75000"/>
                  <a:lumOff val="25000"/>
                </a:schemeClr>
              </a:solidFill>
              <a:latin typeface="+mn-ea"/>
              <a:ea typeface="+mn-ea"/>
            </a:endParaRPr>
          </a:p>
        </p:txBody>
      </p:sp>
      <p:sp>
        <p:nvSpPr>
          <p:cNvPr id="1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2168986"/>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p20</a:t>
            </a:r>
            <a:endParaRPr lang="ja-JP" altLang="en-US" sz="1600" dirty="0">
              <a:solidFill>
                <a:schemeClr val="tx1">
                  <a:lumMod val="75000"/>
                  <a:lumOff val="25000"/>
                </a:schemeClr>
              </a:solidFill>
              <a:latin typeface="+mn-ea"/>
            </a:endParaRPr>
          </a:p>
        </p:txBody>
      </p:sp>
      <p:sp>
        <p:nvSpPr>
          <p:cNvPr id="1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3" y="1808982"/>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0</a:t>
            </a:r>
            <a:endParaRPr lang="ja-JP" altLang="en-US" sz="1600" dirty="0">
              <a:solidFill>
                <a:schemeClr val="tx1">
                  <a:lumMod val="75000"/>
                  <a:lumOff val="25000"/>
                </a:schemeClr>
              </a:solidFill>
              <a:latin typeface="+mn-ea"/>
            </a:endParaRPr>
          </a:p>
        </p:txBody>
      </p:sp>
      <p:sp>
        <p:nvSpPr>
          <p:cNvPr id="1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2168986"/>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0</a:t>
            </a:r>
            <a:endParaRPr lang="ja-JP" altLang="en-US" sz="1600" dirty="0">
              <a:solidFill>
                <a:schemeClr val="tx1">
                  <a:lumMod val="75000"/>
                  <a:lumOff val="25000"/>
                </a:schemeClr>
              </a:solidFill>
              <a:latin typeface="+mn-ea"/>
            </a:endParaRPr>
          </a:p>
        </p:txBody>
      </p:sp>
      <p:sp>
        <p:nvSpPr>
          <p:cNvPr id="1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2528990"/>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p32</a:t>
            </a:r>
            <a:endParaRPr lang="ja-JP" altLang="en-US" sz="1600" dirty="0">
              <a:solidFill>
                <a:schemeClr val="tx1">
                  <a:lumMod val="75000"/>
                  <a:lumOff val="25000"/>
                </a:schemeClr>
              </a:solidFill>
              <a:latin typeface="+mn-ea"/>
              <a:ea typeface="+mn-ea"/>
            </a:endParaRPr>
          </a:p>
        </p:txBody>
      </p:sp>
      <p:sp>
        <p:nvSpPr>
          <p:cNvPr id="1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2528990"/>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p15</a:t>
            </a:r>
            <a:endParaRPr lang="ja-JP" altLang="en-US" sz="1600" dirty="0">
              <a:solidFill>
                <a:schemeClr val="tx1">
                  <a:lumMod val="75000"/>
                  <a:lumOff val="25000"/>
                </a:schemeClr>
              </a:solidFill>
              <a:latin typeface="+mn-ea"/>
            </a:endParaRPr>
          </a:p>
        </p:txBody>
      </p:sp>
      <p:sp>
        <p:nvSpPr>
          <p:cNvPr id="1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2528990"/>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1</a:t>
            </a:r>
            <a:endParaRPr lang="ja-JP" altLang="en-US" sz="1600" dirty="0">
              <a:solidFill>
                <a:schemeClr val="tx1">
                  <a:lumMod val="75000"/>
                  <a:lumOff val="25000"/>
                </a:schemeClr>
              </a:solidFill>
              <a:latin typeface="+mn-ea"/>
            </a:endParaRPr>
          </a:p>
        </p:txBody>
      </p:sp>
      <p:sp>
        <p:nvSpPr>
          <p:cNvPr id="2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2888994"/>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a typeface="+mn-ea"/>
            </a:endParaRPr>
          </a:p>
        </p:txBody>
      </p:sp>
      <p:sp>
        <p:nvSpPr>
          <p:cNvPr id="2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2888994"/>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2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2888994"/>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2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3248998"/>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a typeface="+mn-ea"/>
            </a:endParaRPr>
          </a:p>
        </p:txBody>
      </p:sp>
      <p:sp>
        <p:nvSpPr>
          <p:cNvPr id="2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3248998"/>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2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3248998"/>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2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3609002"/>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a typeface="+mn-ea"/>
            </a:endParaRPr>
          </a:p>
        </p:txBody>
      </p:sp>
      <p:sp>
        <p:nvSpPr>
          <p:cNvPr id="2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3609002"/>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2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3609002"/>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2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3969006"/>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3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4329010"/>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err="1">
                <a:solidFill>
                  <a:schemeClr val="tx1">
                    <a:lumMod val="75000"/>
                    <a:lumOff val="25000"/>
                  </a:schemeClr>
                </a:solidFill>
                <a:latin typeface="+mn-ea"/>
                <a:ea typeface="+mn-ea"/>
              </a:rPr>
              <a:t>Dst</a:t>
            </a:r>
            <a:endParaRPr lang="ja-JP" altLang="en-US" sz="1600" dirty="0">
              <a:solidFill>
                <a:schemeClr val="tx1">
                  <a:lumMod val="75000"/>
                  <a:lumOff val="25000"/>
                </a:schemeClr>
              </a:solidFill>
              <a:latin typeface="+mn-ea"/>
              <a:ea typeface="+mn-ea"/>
            </a:endParaRPr>
          </a:p>
        </p:txBody>
      </p:sp>
      <p:sp>
        <p:nvSpPr>
          <p:cNvPr id="3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4329010"/>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err="1">
                <a:solidFill>
                  <a:schemeClr val="tx1">
                    <a:lumMod val="75000"/>
                    <a:lumOff val="25000"/>
                  </a:schemeClr>
                </a:solidFill>
                <a:latin typeface="+mn-ea"/>
                <a:ea typeface="+mn-ea"/>
              </a:rPr>
              <a:t>Src</a:t>
            </a:r>
            <a:endParaRPr lang="ja-JP" altLang="en-US" sz="1600" dirty="0">
              <a:solidFill>
                <a:schemeClr val="tx1">
                  <a:lumMod val="75000"/>
                  <a:lumOff val="25000"/>
                </a:schemeClr>
              </a:solidFill>
              <a:latin typeface="+mn-ea"/>
              <a:ea typeface="+mn-ea"/>
            </a:endParaRPr>
          </a:p>
        </p:txBody>
      </p:sp>
      <p:sp>
        <p:nvSpPr>
          <p:cNvPr id="3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4329010"/>
            <a:ext cx="360004"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err="1">
                <a:solidFill>
                  <a:schemeClr val="tx1">
                    <a:lumMod val="75000"/>
                    <a:lumOff val="25000"/>
                  </a:schemeClr>
                </a:solidFill>
                <a:latin typeface="+mn-ea"/>
                <a:ea typeface="+mn-ea"/>
              </a:rPr>
              <a:t>Rdy</a:t>
            </a:r>
            <a:endParaRPr lang="ja-JP" altLang="en-US" sz="1600" dirty="0">
              <a:solidFill>
                <a:schemeClr val="tx1">
                  <a:lumMod val="75000"/>
                  <a:lumOff val="25000"/>
                </a:schemeClr>
              </a:solidFill>
              <a:latin typeface="+mn-ea"/>
              <a:ea typeface="+mn-ea"/>
            </a:endParaRPr>
          </a:p>
        </p:txBody>
      </p:sp>
      <p:sp>
        <p:nvSpPr>
          <p:cNvPr id="33" name="フローチャート: 手作業 32"/>
          <p:cNvSpPr/>
          <p:nvPr/>
        </p:nvSpPr>
        <p:spPr bwMode="auto">
          <a:xfrm rot="16200000">
            <a:off x="4925989" y="2978994"/>
            <a:ext cx="2520028" cy="180003"/>
          </a:xfrm>
          <a:prstGeom prst="flowChartManualOperation">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4" name="Freeform 10"/>
          <p:cNvSpPr>
            <a:spLocks/>
          </p:cNvSpPr>
          <p:nvPr/>
        </p:nvSpPr>
        <p:spPr bwMode="auto">
          <a:xfrm rot="16200000">
            <a:off x="5465994" y="1898982"/>
            <a:ext cx="1980022"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none" w="sm" len="sm"/>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cxnSp>
        <p:nvCxnSpPr>
          <p:cNvPr id="35" name="直線矢印コネクタ 34"/>
          <p:cNvCxnSpPr/>
          <p:nvPr/>
        </p:nvCxnSpPr>
        <p:spPr bwMode="auto">
          <a:xfrm>
            <a:off x="5015988" y="1088974"/>
            <a:ext cx="1620018" cy="0"/>
          </a:xfrm>
          <a:prstGeom prst="straightConnector1">
            <a:avLst/>
          </a:prstGeom>
          <a:ln>
            <a:headEnd type="none" w="sm" len="sm"/>
            <a:tailEnd type="none"/>
          </a:ln>
        </p:spPr>
        <p:style>
          <a:lnRef idx="2">
            <a:schemeClr val="accent5"/>
          </a:lnRef>
          <a:fillRef idx="0">
            <a:schemeClr val="accent5"/>
          </a:fillRef>
          <a:effectRef idx="1">
            <a:schemeClr val="accent5"/>
          </a:effectRef>
          <a:fontRef idx="minor">
            <a:schemeClr val="tx1"/>
          </a:fontRef>
        </p:style>
      </p:cxnSp>
      <p:cxnSp>
        <p:nvCxnSpPr>
          <p:cNvPr id="38" name="直線矢印コネクタ 37"/>
          <p:cNvCxnSpPr/>
          <p:nvPr/>
        </p:nvCxnSpPr>
        <p:spPr bwMode="auto">
          <a:xfrm>
            <a:off x="6636006" y="3068996"/>
            <a:ext cx="900010"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40" name="直線矢印コネクタ 39"/>
          <p:cNvCxnSpPr/>
          <p:nvPr/>
        </p:nvCxnSpPr>
        <p:spPr bwMode="auto">
          <a:xfrm>
            <a:off x="5015988" y="1088974"/>
            <a:ext cx="0" cy="540006"/>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42" name="直線矢印コネクタ 41"/>
          <p:cNvCxnSpPr/>
          <p:nvPr/>
        </p:nvCxnSpPr>
        <p:spPr bwMode="auto">
          <a:xfrm>
            <a:off x="5735996" y="1988984"/>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45" name="直線矢印コネクタ 44"/>
          <p:cNvCxnSpPr/>
          <p:nvPr/>
        </p:nvCxnSpPr>
        <p:spPr bwMode="auto">
          <a:xfrm>
            <a:off x="5735996" y="2348988"/>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46" name="直線矢印コネクタ 45"/>
          <p:cNvCxnSpPr/>
          <p:nvPr/>
        </p:nvCxnSpPr>
        <p:spPr bwMode="auto">
          <a:xfrm>
            <a:off x="5735996" y="2708992"/>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47" name="直線矢印コネクタ 46"/>
          <p:cNvCxnSpPr/>
          <p:nvPr/>
        </p:nvCxnSpPr>
        <p:spPr bwMode="auto">
          <a:xfrm>
            <a:off x="5735996" y="3068996"/>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48" name="直線矢印コネクタ 47"/>
          <p:cNvCxnSpPr/>
          <p:nvPr/>
        </p:nvCxnSpPr>
        <p:spPr bwMode="auto">
          <a:xfrm>
            <a:off x="5735996" y="3429000"/>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49" name="直線矢印コネクタ 48"/>
          <p:cNvCxnSpPr/>
          <p:nvPr/>
        </p:nvCxnSpPr>
        <p:spPr bwMode="auto">
          <a:xfrm>
            <a:off x="5735996" y="3789004"/>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50" name="直線矢印コネクタ 49"/>
          <p:cNvCxnSpPr/>
          <p:nvPr/>
        </p:nvCxnSpPr>
        <p:spPr bwMode="auto">
          <a:xfrm>
            <a:off x="5735996" y="4149008"/>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sp>
        <p:nvSpPr>
          <p:cNvPr id="51" name="フリーフォーム 50"/>
          <p:cNvSpPr>
            <a:spLocks noChangeArrowheads="1"/>
          </p:cNvSpPr>
          <p:nvPr/>
        </p:nvSpPr>
        <p:spPr bwMode="auto">
          <a:xfrm rot="-5400000">
            <a:off x="8256026" y="2708992"/>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1"/>
          </a:lnRef>
          <a:fillRef idx="2">
            <a:schemeClr val="accent1"/>
          </a:fillRef>
          <a:effectRef idx="1">
            <a:schemeClr val="accent1"/>
          </a:effectRef>
          <a:fontRef idx="minor">
            <a:schemeClr val="dk1"/>
          </a:fontRef>
        </p:style>
        <p:txBody>
          <a:bodyPr vert="eaVert" wrap="square" anchor="ctr">
            <a:noAutofit/>
          </a:bodyPr>
          <a:lstStyle/>
          <a:p>
            <a:pPr algn="ctr"/>
            <a:r>
              <a:rPr lang="ja-JP" altLang="en-US" sz="1600" dirty="0">
                <a:latin typeface="Arial Narrow" pitchFamily="34" charset="0"/>
                <a:cs typeface="Times New Roman" pitchFamily="18" charset="0"/>
              </a:rPr>
              <a:t>演算器</a:t>
            </a:r>
          </a:p>
        </p:txBody>
      </p:sp>
      <p:sp>
        <p:nvSpPr>
          <p:cNvPr id="5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395970" y="1358977"/>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solidFill>
                  <a:schemeClr val="tx1">
                    <a:lumMod val="75000"/>
                    <a:lumOff val="25000"/>
                  </a:schemeClr>
                </a:solidFill>
                <a:latin typeface="+mn-ea"/>
                <a:ea typeface="+mn-ea"/>
              </a:rPr>
              <a:t>Wakeup Logic</a:t>
            </a:r>
            <a:endParaRPr lang="ja-JP" altLang="en-US" sz="1600" dirty="0">
              <a:solidFill>
                <a:schemeClr val="tx1">
                  <a:lumMod val="75000"/>
                  <a:lumOff val="25000"/>
                </a:schemeClr>
              </a:solidFill>
              <a:latin typeface="+mn-ea"/>
              <a:ea typeface="+mn-ea"/>
            </a:endParaRPr>
          </a:p>
        </p:txBody>
      </p:sp>
      <p:sp>
        <p:nvSpPr>
          <p:cNvPr id="5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546005" y="3879005"/>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solidFill>
                  <a:schemeClr val="tx1">
                    <a:lumMod val="75000"/>
                    <a:lumOff val="25000"/>
                  </a:schemeClr>
                </a:solidFill>
                <a:latin typeface="+mn-ea"/>
                <a:ea typeface="+mn-ea"/>
              </a:rPr>
              <a:t>Select Logic</a:t>
            </a:r>
            <a:endParaRPr lang="ja-JP" altLang="en-US" sz="1600" dirty="0">
              <a:solidFill>
                <a:schemeClr val="tx1">
                  <a:lumMod val="75000"/>
                  <a:lumOff val="25000"/>
                </a:schemeClr>
              </a:solidFill>
              <a:latin typeface="+mn-ea"/>
              <a:ea typeface="+mn-ea"/>
            </a:endParaRPr>
          </a:p>
        </p:txBody>
      </p:sp>
      <p:sp>
        <p:nvSpPr>
          <p:cNvPr id="5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2888994"/>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p45</a:t>
            </a:r>
            <a:endParaRPr lang="ja-JP" altLang="en-US" sz="1600" dirty="0">
              <a:solidFill>
                <a:schemeClr val="tx1">
                  <a:lumMod val="75000"/>
                  <a:lumOff val="25000"/>
                </a:schemeClr>
              </a:solidFill>
              <a:latin typeface="+mn-ea"/>
              <a:ea typeface="+mn-ea"/>
            </a:endParaRPr>
          </a:p>
        </p:txBody>
      </p:sp>
      <p:sp>
        <p:nvSpPr>
          <p:cNvPr id="5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2888994"/>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p20</a:t>
            </a:r>
            <a:endParaRPr lang="ja-JP" altLang="en-US" sz="1600" dirty="0">
              <a:solidFill>
                <a:schemeClr val="tx1">
                  <a:lumMod val="75000"/>
                  <a:lumOff val="25000"/>
                </a:schemeClr>
              </a:solidFill>
              <a:latin typeface="+mn-ea"/>
            </a:endParaRPr>
          </a:p>
        </p:txBody>
      </p:sp>
      <p:sp>
        <p:nvSpPr>
          <p:cNvPr id="5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2888994"/>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0</a:t>
            </a:r>
            <a:endParaRPr lang="ja-JP" altLang="en-US" sz="1600" dirty="0">
              <a:solidFill>
                <a:schemeClr val="tx1">
                  <a:lumMod val="75000"/>
                  <a:lumOff val="25000"/>
                </a:schemeClr>
              </a:solidFill>
              <a:latin typeface="+mn-ea"/>
            </a:endParaRPr>
          </a:p>
        </p:txBody>
      </p:sp>
      <p:sp>
        <p:nvSpPr>
          <p:cNvPr id="57" name="Freeform 25"/>
          <p:cNvSpPr>
            <a:spLocks/>
          </p:cNvSpPr>
          <p:nvPr/>
        </p:nvSpPr>
        <p:spPr bwMode="auto">
          <a:xfrm>
            <a:off x="7716019" y="1718981"/>
            <a:ext cx="2502431"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1"/>
          </a:lnRef>
          <a:fillRef idx="2">
            <a:schemeClr val="accent1"/>
          </a:fillRef>
          <a:effectRef idx="1">
            <a:schemeClr val="accent1"/>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レジスタ・ファイル</a:t>
            </a:r>
          </a:p>
        </p:txBody>
      </p:sp>
    </p:spTree>
    <p:extLst>
      <p:ext uri="{BB962C8B-B14F-4D97-AF65-F5344CB8AC3E}">
        <p14:creationId xmlns:p14="http://schemas.microsoft.com/office/powerpoint/2010/main" val="19074386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連想検索による実装</a:t>
            </a:r>
          </a:p>
        </p:txBody>
      </p:sp>
      <p:sp>
        <p:nvSpPr>
          <p:cNvPr id="3" name="テキスト プレースホルダー 2"/>
          <p:cNvSpPr>
            <a:spLocks noGrp="1"/>
          </p:cNvSpPr>
          <p:nvPr>
            <p:ph type="body" sz="quarter" idx="10"/>
          </p:nvPr>
        </p:nvSpPr>
        <p:spPr>
          <a:xfrm>
            <a:off x="2135956" y="4869016"/>
            <a:ext cx="8280092" cy="1889714"/>
          </a:xfrm>
        </p:spPr>
        <p:txBody>
          <a:bodyPr/>
          <a:lstStyle/>
          <a:p>
            <a:r>
              <a:rPr kumimoji="1" lang="en-US" altLang="ja-JP" dirty="0"/>
              <a:t>Select Logic</a:t>
            </a:r>
            <a:r>
              <a:rPr kumimoji="1" lang="ja-JP" altLang="en-US" dirty="0"/>
              <a:t>：起きた命令から発行する命令を選ぶ機構</a:t>
            </a:r>
            <a:endParaRPr kumimoji="1" lang="en-US" altLang="ja-JP" dirty="0"/>
          </a:p>
          <a:p>
            <a:pPr lvl="1"/>
            <a:r>
              <a:rPr lang="ja-JP" altLang="en-US" dirty="0"/>
              <a:t>発行準備ができている命令（</a:t>
            </a:r>
            <a:r>
              <a:rPr lang="en-US" altLang="ja-JP" dirty="0" err="1"/>
              <a:t>Rdy</a:t>
            </a:r>
            <a:r>
              <a:rPr lang="en-US" altLang="ja-JP" dirty="0"/>
              <a:t>=1</a:t>
            </a:r>
            <a:r>
              <a:rPr lang="ja-JP" altLang="en-US" dirty="0"/>
              <a:t>）から１つを選んで発行</a:t>
            </a:r>
            <a:endParaRPr lang="en-US" altLang="ja-JP" dirty="0"/>
          </a:p>
          <a:p>
            <a:pPr lvl="1"/>
            <a:r>
              <a:rPr lang="ja-JP" altLang="en-US" dirty="0"/>
              <a:t>インテル用語だと </a:t>
            </a:r>
            <a:r>
              <a:rPr lang="en-US" altLang="ja-JP" dirty="0"/>
              <a:t>Picker </a:t>
            </a:r>
            <a:endParaRPr kumimoji="1" lang="ja-JP" altLang="en-US" dirty="0"/>
          </a:p>
        </p:txBody>
      </p:sp>
      <p:sp>
        <p:nvSpPr>
          <p:cNvPr id="4" name="正方形/長方形 3"/>
          <p:cNvSpPr/>
          <p:nvPr/>
        </p:nvSpPr>
        <p:spPr bwMode="auto">
          <a:xfrm>
            <a:off x="3935976" y="1808983"/>
            <a:ext cx="1800020" cy="252002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dirty="0">
              <a:solidFill>
                <a:schemeClr val="tx1">
                  <a:lumMod val="75000"/>
                  <a:lumOff val="25000"/>
                </a:schemeClr>
              </a:solidFill>
              <a:latin typeface="+mn-ea"/>
            </a:endParaRPr>
          </a:p>
        </p:txBody>
      </p:sp>
      <p:sp>
        <p:nvSpPr>
          <p:cNvPr id="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1808982"/>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p20</a:t>
            </a:r>
            <a:endParaRPr lang="ja-JP" altLang="en-US" sz="1600" dirty="0">
              <a:solidFill>
                <a:schemeClr val="tx1">
                  <a:lumMod val="75000"/>
                  <a:lumOff val="25000"/>
                </a:schemeClr>
              </a:solidFill>
              <a:latin typeface="+mn-ea"/>
              <a:ea typeface="+mn-ea"/>
            </a:endParaRPr>
          </a:p>
        </p:txBody>
      </p:sp>
      <p:sp>
        <p:nvSpPr>
          <p:cNvPr id="1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1808982"/>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p12</a:t>
            </a:r>
            <a:endParaRPr lang="ja-JP" altLang="en-US" sz="1600" dirty="0">
              <a:solidFill>
                <a:schemeClr val="tx1">
                  <a:lumMod val="75000"/>
                  <a:lumOff val="25000"/>
                </a:schemeClr>
              </a:solidFill>
              <a:latin typeface="+mn-ea"/>
            </a:endParaRPr>
          </a:p>
        </p:txBody>
      </p:sp>
      <p:sp>
        <p:nvSpPr>
          <p:cNvPr id="1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2168986"/>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p24</a:t>
            </a:r>
            <a:endParaRPr lang="ja-JP" altLang="en-US" sz="1600" dirty="0">
              <a:solidFill>
                <a:schemeClr val="tx1">
                  <a:lumMod val="75000"/>
                  <a:lumOff val="25000"/>
                </a:schemeClr>
              </a:solidFill>
              <a:latin typeface="+mn-ea"/>
              <a:ea typeface="+mn-ea"/>
            </a:endParaRPr>
          </a:p>
        </p:txBody>
      </p:sp>
      <p:sp>
        <p:nvSpPr>
          <p:cNvPr id="1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2168986"/>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p20</a:t>
            </a:r>
            <a:endParaRPr lang="ja-JP" altLang="en-US" sz="1600" dirty="0">
              <a:solidFill>
                <a:schemeClr val="tx1">
                  <a:lumMod val="75000"/>
                  <a:lumOff val="25000"/>
                </a:schemeClr>
              </a:solidFill>
              <a:latin typeface="+mn-ea"/>
            </a:endParaRPr>
          </a:p>
        </p:txBody>
      </p:sp>
      <p:sp>
        <p:nvSpPr>
          <p:cNvPr id="1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3" y="1808982"/>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0</a:t>
            </a:r>
            <a:endParaRPr lang="ja-JP" altLang="en-US" sz="1600" dirty="0">
              <a:solidFill>
                <a:schemeClr val="tx1">
                  <a:lumMod val="75000"/>
                  <a:lumOff val="25000"/>
                </a:schemeClr>
              </a:solidFill>
              <a:latin typeface="+mn-ea"/>
            </a:endParaRPr>
          </a:p>
        </p:txBody>
      </p:sp>
      <p:sp>
        <p:nvSpPr>
          <p:cNvPr id="1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2168986"/>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0</a:t>
            </a:r>
            <a:endParaRPr lang="ja-JP" altLang="en-US" sz="1600" dirty="0">
              <a:solidFill>
                <a:schemeClr val="tx1">
                  <a:lumMod val="75000"/>
                  <a:lumOff val="25000"/>
                </a:schemeClr>
              </a:solidFill>
              <a:latin typeface="+mn-ea"/>
            </a:endParaRPr>
          </a:p>
        </p:txBody>
      </p:sp>
      <p:sp>
        <p:nvSpPr>
          <p:cNvPr id="1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2528990"/>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p32</a:t>
            </a:r>
            <a:endParaRPr lang="ja-JP" altLang="en-US" sz="1600" dirty="0">
              <a:solidFill>
                <a:schemeClr val="tx1">
                  <a:lumMod val="75000"/>
                  <a:lumOff val="25000"/>
                </a:schemeClr>
              </a:solidFill>
              <a:latin typeface="+mn-ea"/>
              <a:ea typeface="+mn-ea"/>
            </a:endParaRPr>
          </a:p>
        </p:txBody>
      </p:sp>
      <p:sp>
        <p:nvSpPr>
          <p:cNvPr id="1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2528990"/>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p15</a:t>
            </a:r>
            <a:endParaRPr lang="ja-JP" altLang="en-US" sz="1600" dirty="0">
              <a:solidFill>
                <a:schemeClr val="tx1">
                  <a:lumMod val="75000"/>
                  <a:lumOff val="25000"/>
                </a:schemeClr>
              </a:solidFill>
              <a:latin typeface="+mn-ea"/>
            </a:endParaRPr>
          </a:p>
        </p:txBody>
      </p:sp>
      <p:sp>
        <p:nvSpPr>
          <p:cNvPr id="1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2528990"/>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1</a:t>
            </a:r>
            <a:endParaRPr lang="ja-JP" altLang="en-US" sz="1600" dirty="0">
              <a:solidFill>
                <a:schemeClr val="tx1">
                  <a:lumMod val="75000"/>
                  <a:lumOff val="25000"/>
                </a:schemeClr>
              </a:solidFill>
              <a:latin typeface="+mn-ea"/>
            </a:endParaRPr>
          </a:p>
        </p:txBody>
      </p:sp>
      <p:sp>
        <p:nvSpPr>
          <p:cNvPr id="2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2888994"/>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a typeface="+mn-ea"/>
            </a:endParaRPr>
          </a:p>
        </p:txBody>
      </p:sp>
      <p:sp>
        <p:nvSpPr>
          <p:cNvPr id="2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2888994"/>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2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2888994"/>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2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3248998"/>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a typeface="+mn-ea"/>
            </a:endParaRPr>
          </a:p>
        </p:txBody>
      </p:sp>
      <p:sp>
        <p:nvSpPr>
          <p:cNvPr id="2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3248998"/>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2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3248998"/>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2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3609002"/>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a typeface="+mn-ea"/>
            </a:endParaRPr>
          </a:p>
        </p:txBody>
      </p:sp>
      <p:sp>
        <p:nvSpPr>
          <p:cNvPr id="2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3609002"/>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2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3609002"/>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2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3969006"/>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3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4329010"/>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err="1">
                <a:solidFill>
                  <a:schemeClr val="tx1">
                    <a:lumMod val="75000"/>
                    <a:lumOff val="25000"/>
                  </a:schemeClr>
                </a:solidFill>
                <a:latin typeface="+mn-ea"/>
                <a:ea typeface="+mn-ea"/>
              </a:rPr>
              <a:t>Dst</a:t>
            </a:r>
            <a:endParaRPr lang="ja-JP" altLang="en-US" sz="1600" dirty="0">
              <a:solidFill>
                <a:schemeClr val="tx1">
                  <a:lumMod val="75000"/>
                  <a:lumOff val="25000"/>
                </a:schemeClr>
              </a:solidFill>
              <a:latin typeface="+mn-ea"/>
              <a:ea typeface="+mn-ea"/>
            </a:endParaRPr>
          </a:p>
        </p:txBody>
      </p:sp>
      <p:sp>
        <p:nvSpPr>
          <p:cNvPr id="3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4329010"/>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err="1">
                <a:solidFill>
                  <a:schemeClr val="tx1">
                    <a:lumMod val="75000"/>
                    <a:lumOff val="25000"/>
                  </a:schemeClr>
                </a:solidFill>
                <a:latin typeface="+mn-ea"/>
                <a:ea typeface="+mn-ea"/>
              </a:rPr>
              <a:t>Src</a:t>
            </a:r>
            <a:endParaRPr lang="ja-JP" altLang="en-US" sz="1600" dirty="0">
              <a:solidFill>
                <a:schemeClr val="tx1">
                  <a:lumMod val="75000"/>
                  <a:lumOff val="25000"/>
                </a:schemeClr>
              </a:solidFill>
              <a:latin typeface="+mn-ea"/>
              <a:ea typeface="+mn-ea"/>
            </a:endParaRPr>
          </a:p>
        </p:txBody>
      </p:sp>
      <p:sp>
        <p:nvSpPr>
          <p:cNvPr id="3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4329010"/>
            <a:ext cx="360004"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err="1">
                <a:solidFill>
                  <a:schemeClr val="tx1">
                    <a:lumMod val="75000"/>
                    <a:lumOff val="25000"/>
                  </a:schemeClr>
                </a:solidFill>
                <a:latin typeface="+mn-ea"/>
                <a:ea typeface="+mn-ea"/>
              </a:rPr>
              <a:t>Rdy</a:t>
            </a:r>
            <a:endParaRPr lang="ja-JP" altLang="en-US" sz="1600" dirty="0">
              <a:solidFill>
                <a:schemeClr val="tx1">
                  <a:lumMod val="75000"/>
                  <a:lumOff val="25000"/>
                </a:schemeClr>
              </a:solidFill>
              <a:latin typeface="+mn-ea"/>
              <a:ea typeface="+mn-ea"/>
            </a:endParaRPr>
          </a:p>
        </p:txBody>
      </p:sp>
      <p:sp>
        <p:nvSpPr>
          <p:cNvPr id="33" name="フローチャート: 手作業 32"/>
          <p:cNvSpPr/>
          <p:nvPr/>
        </p:nvSpPr>
        <p:spPr bwMode="auto">
          <a:xfrm rot="16200000">
            <a:off x="4925989" y="2978994"/>
            <a:ext cx="2520028" cy="180003"/>
          </a:xfrm>
          <a:prstGeom prst="flowChartManualOperation">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4" name="Freeform 10"/>
          <p:cNvSpPr>
            <a:spLocks/>
          </p:cNvSpPr>
          <p:nvPr/>
        </p:nvSpPr>
        <p:spPr bwMode="auto">
          <a:xfrm rot="16200000">
            <a:off x="5465994" y="1898982"/>
            <a:ext cx="1980022"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none" w="sm" len="sm"/>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cxnSp>
        <p:nvCxnSpPr>
          <p:cNvPr id="35" name="直線矢印コネクタ 34"/>
          <p:cNvCxnSpPr/>
          <p:nvPr/>
        </p:nvCxnSpPr>
        <p:spPr bwMode="auto">
          <a:xfrm>
            <a:off x="5015988" y="1088974"/>
            <a:ext cx="1620018" cy="0"/>
          </a:xfrm>
          <a:prstGeom prst="straightConnector1">
            <a:avLst/>
          </a:prstGeom>
          <a:ln>
            <a:headEnd type="none" w="sm" len="sm"/>
            <a:tailEnd type="none"/>
          </a:ln>
        </p:spPr>
        <p:style>
          <a:lnRef idx="2">
            <a:schemeClr val="accent5"/>
          </a:lnRef>
          <a:fillRef idx="0">
            <a:schemeClr val="accent5"/>
          </a:fillRef>
          <a:effectRef idx="1">
            <a:schemeClr val="accent5"/>
          </a:effectRef>
          <a:fontRef idx="minor">
            <a:schemeClr val="tx1"/>
          </a:fontRef>
        </p:style>
      </p:cxnSp>
      <p:cxnSp>
        <p:nvCxnSpPr>
          <p:cNvPr id="38" name="直線矢印コネクタ 37"/>
          <p:cNvCxnSpPr/>
          <p:nvPr/>
        </p:nvCxnSpPr>
        <p:spPr bwMode="auto">
          <a:xfrm>
            <a:off x="6636006" y="3068996"/>
            <a:ext cx="900010"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40" name="直線矢印コネクタ 39"/>
          <p:cNvCxnSpPr/>
          <p:nvPr/>
        </p:nvCxnSpPr>
        <p:spPr bwMode="auto">
          <a:xfrm>
            <a:off x="5015988" y="1088974"/>
            <a:ext cx="0" cy="540006"/>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42" name="直線矢印コネクタ 41"/>
          <p:cNvCxnSpPr/>
          <p:nvPr/>
        </p:nvCxnSpPr>
        <p:spPr bwMode="auto">
          <a:xfrm>
            <a:off x="5735996" y="1988984"/>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45" name="直線矢印コネクタ 44"/>
          <p:cNvCxnSpPr/>
          <p:nvPr/>
        </p:nvCxnSpPr>
        <p:spPr bwMode="auto">
          <a:xfrm>
            <a:off x="5735996" y="2348988"/>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46" name="直線矢印コネクタ 45"/>
          <p:cNvCxnSpPr/>
          <p:nvPr/>
        </p:nvCxnSpPr>
        <p:spPr bwMode="auto">
          <a:xfrm>
            <a:off x="5735996" y="2708992"/>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47" name="直線矢印コネクタ 46"/>
          <p:cNvCxnSpPr/>
          <p:nvPr/>
        </p:nvCxnSpPr>
        <p:spPr bwMode="auto">
          <a:xfrm>
            <a:off x="5735996" y="3068996"/>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48" name="直線矢印コネクタ 47"/>
          <p:cNvCxnSpPr/>
          <p:nvPr/>
        </p:nvCxnSpPr>
        <p:spPr bwMode="auto">
          <a:xfrm>
            <a:off x="5735996" y="3429000"/>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49" name="直線矢印コネクタ 48"/>
          <p:cNvCxnSpPr/>
          <p:nvPr/>
        </p:nvCxnSpPr>
        <p:spPr bwMode="auto">
          <a:xfrm>
            <a:off x="5735996" y="3789004"/>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50" name="直線矢印コネクタ 49"/>
          <p:cNvCxnSpPr/>
          <p:nvPr/>
        </p:nvCxnSpPr>
        <p:spPr bwMode="auto">
          <a:xfrm>
            <a:off x="5735996" y="4149008"/>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sp>
        <p:nvSpPr>
          <p:cNvPr id="5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395970" y="1358977"/>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solidFill>
                  <a:schemeClr val="tx1">
                    <a:lumMod val="75000"/>
                    <a:lumOff val="25000"/>
                  </a:schemeClr>
                </a:solidFill>
                <a:latin typeface="+mn-ea"/>
                <a:ea typeface="+mn-ea"/>
              </a:rPr>
              <a:t>Wakeup Logic</a:t>
            </a:r>
            <a:endParaRPr lang="ja-JP" altLang="en-US" sz="1600" dirty="0">
              <a:solidFill>
                <a:schemeClr val="tx1">
                  <a:lumMod val="75000"/>
                  <a:lumOff val="25000"/>
                </a:schemeClr>
              </a:solidFill>
              <a:latin typeface="+mn-ea"/>
              <a:ea typeface="+mn-ea"/>
            </a:endParaRPr>
          </a:p>
        </p:txBody>
      </p:sp>
      <p:sp>
        <p:nvSpPr>
          <p:cNvPr id="5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546005" y="3879005"/>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solidFill>
                  <a:schemeClr val="tx1">
                    <a:lumMod val="75000"/>
                    <a:lumOff val="25000"/>
                  </a:schemeClr>
                </a:solidFill>
                <a:latin typeface="+mn-ea"/>
                <a:ea typeface="+mn-ea"/>
              </a:rPr>
              <a:t>Select Logic</a:t>
            </a:r>
            <a:endParaRPr lang="ja-JP" altLang="en-US" sz="1600" dirty="0">
              <a:solidFill>
                <a:schemeClr val="tx1">
                  <a:lumMod val="75000"/>
                  <a:lumOff val="25000"/>
                </a:schemeClr>
              </a:solidFill>
              <a:latin typeface="+mn-ea"/>
              <a:ea typeface="+mn-ea"/>
            </a:endParaRPr>
          </a:p>
        </p:txBody>
      </p:sp>
      <p:sp>
        <p:nvSpPr>
          <p:cNvPr id="5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2888994"/>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p45</a:t>
            </a:r>
            <a:endParaRPr lang="ja-JP" altLang="en-US" sz="1600" dirty="0">
              <a:solidFill>
                <a:schemeClr val="tx1">
                  <a:lumMod val="75000"/>
                  <a:lumOff val="25000"/>
                </a:schemeClr>
              </a:solidFill>
              <a:latin typeface="+mn-ea"/>
              <a:ea typeface="+mn-ea"/>
            </a:endParaRPr>
          </a:p>
        </p:txBody>
      </p:sp>
      <p:sp>
        <p:nvSpPr>
          <p:cNvPr id="5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2888994"/>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p20</a:t>
            </a:r>
            <a:endParaRPr lang="ja-JP" altLang="en-US" sz="1600" dirty="0">
              <a:solidFill>
                <a:schemeClr val="tx1">
                  <a:lumMod val="75000"/>
                  <a:lumOff val="25000"/>
                </a:schemeClr>
              </a:solidFill>
              <a:latin typeface="+mn-ea"/>
            </a:endParaRPr>
          </a:p>
        </p:txBody>
      </p:sp>
      <p:sp>
        <p:nvSpPr>
          <p:cNvPr id="5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2888994"/>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0</a:t>
            </a:r>
            <a:endParaRPr lang="ja-JP" altLang="en-US" sz="1600" dirty="0">
              <a:solidFill>
                <a:schemeClr val="tx1">
                  <a:lumMod val="75000"/>
                  <a:lumOff val="25000"/>
                </a:schemeClr>
              </a:solidFill>
              <a:latin typeface="+mn-ea"/>
            </a:endParaRPr>
          </a:p>
        </p:txBody>
      </p:sp>
      <p:sp>
        <p:nvSpPr>
          <p:cNvPr id="59" name="フリーフォーム 58"/>
          <p:cNvSpPr>
            <a:spLocks noChangeArrowheads="1"/>
          </p:cNvSpPr>
          <p:nvPr/>
        </p:nvSpPr>
        <p:spPr bwMode="auto">
          <a:xfrm rot="-5400000">
            <a:off x="8256026" y="2708992"/>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1"/>
          </a:lnRef>
          <a:fillRef idx="2">
            <a:schemeClr val="accent1"/>
          </a:fillRef>
          <a:effectRef idx="1">
            <a:schemeClr val="accent1"/>
          </a:effectRef>
          <a:fontRef idx="minor">
            <a:schemeClr val="dk1"/>
          </a:fontRef>
        </p:style>
        <p:txBody>
          <a:bodyPr vert="eaVert" wrap="square" anchor="ctr">
            <a:noAutofit/>
          </a:bodyPr>
          <a:lstStyle/>
          <a:p>
            <a:pPr algn="ctr"/>
            <a:r>
              <a:rPr lang="ja-JP" altLang="en-US" sz="1600" dirty="0">
                <a:latin typeface="Arial Narrow" pitchFamily="34" charset="0"/>
                <a:cs typeface="Times New Roman" pitchFamily="18" charset="0"/>
              </a:rPr>
              <a:t>演算器</a:t>
            </a:r>
          </a:p>
        </p:txBody>
      </p:sp>
      <p:sp>
        <p:nvSpPr>
          <p:cNvPr id="60" name="Freeform 25"/>
          <p:cNvSpPr>
            <a:spLocks/>
          </p:cNvSpPr>
          <p:nvPr/>
        </p:nvSpPr>
        <p:spPr bwMode="auto">
          <a:xfrm>
            <a:off x="7716019" y="1718981"/>
            <a:ext cx="2502431"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1"/>
          </a:lnRef>
          <a:fillRef idx="2">
            <a:schemeClr val="accent1"/>
          </a:fillRef>
          <a:effectRef idx="1">
            <a:schemeClr val="accent1"/>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レジスタ・ファイル</a:t>
            </a:r>
          </a:p>
        </p:txBody>
      </p:sp>
    </p:spTree>
    <p:extLst>
      <p:ext uri="{BB962C8B-B14F-4D97-AF65-F5344CB8AC3E}">
        <p14:creationId xmlns:p14="http://schemas.microsoft.com/office/powerpoint/2010/main" val="16319524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発行キューの動作（１）：</a:t>
            </a:r>
            <a:r>
              <a:rPr kumimoji="1" lang="en-US" altLang="ja-JP" dirty="0"/>
              <a:t>Select</a:t>
            </a:r>
            <a:endParaRPr kumimoji="1" lang="ja-JP" altLang="en-US" dirty="0"/>
          </a:p>
        </p:txBody>
      </p:sp>
      <p:sp>
        <p:nvSpPr>
          <p:cNvPr id="3" name="テキスト プレースホルダー 2"/>
          <p:cNvSpPr>
            <a:spLocks noGrp="1"/>
          </p:cNvSpPr>
          <p:nvPr>
            <p:ph type="body" sz="quarter" idx="10"/>
          </p:nvPr>
        </p:nvSpPr>
        <p:spPr>
          <a:xfrm>
            <a:off x="2135956" y="5049326"/>
            <a:ext cx="8280092" cy="1439709"/>
          </a:xfrm>
        </p:spPr>
        <p:txBody>
          <a:bodyPr/>
          <a:lstStyle/>
          <a:p>
            <a:r>
              <a:rPr kumimoji="1" lang="ja-JP" altLang="en-US" dirty="0"/>
              <a:t>現在エントリ </a:t>
            </a:r>
            <a:r>
              <a:rPr kumimoji="1" lang="en-US" altLang="ja-JP" dirty="0"/>
              <a:t>0 </a:t>
            </a:r>
            <a:r>
              <a:rPr kumimoji="1" lang="ja-JP" altLang="en-US" dirty="0"/>
              <a:t>番と </a:t>
            </a:r>
            <a:r>
              <a:rPr kumimoji="1" lang="en-US" altLang="ja-JP" dirty="0"/>
              <a:t>2 </a:t>
            </a:r>
            <a:r>
              <a:rPr kumimoji="1" lang="ja-JP" altLang="en-US" dirty="0"/>
              <a:t>番で発行準備ができている</a:t>
            </a:r>
            <a:endParaRPr kumimoji="1" lang="en-US" altLang="ja-JP" dirty="0"/>
          </a:p>
          <a:p>
            <a:pPr lvl="1"/>
            <a:r>
              <a:rPr kumimoji="1" lang="en-US" altLang="ja-JP" dirty="0"/>
              <a:t>Select Logic </a:t>
            </a:r>
            <a:r>
              <a:rPr kumimoji="1" lang="ja-JP" altLang="en-US" dirty="0"/>
              <a:t>により，</a:t>
            </a:r>
            <a:r>
              <a:rPr kumimoji="1" lang="en-US" altLang="ja-JP" dirty="0"/>
              <a:t>0 </a:t>
            </a:r>
            <a:r>
              <a:rPr kumimoji="1" lang="ja-JP" altLang="en-US" dirty="0"/>
              <a:t>番を選択</a:t>
            </a:r>
            <a:endParaRPr kumimoji="1" lang="en-US" altLang="ja-JP" dirty="0"/>
          </a:p>
          <a:p>
            <a:pPr lvl="1"/>
            <a:r>
              <a:rPr kumimoji="1" lang="en-US" altLang="ja-JP" dirty="0"/>
              <a:t>0 </a:t>
            </a:r>
            <a:r>
              <a:rPr kumimoji="1" lang="ja-JP" altLang="en-US" dirty="0"/>
              <a:t>番の内容（命令）がバックエンドに発行される</a:t>
            </a:r>
          </a:p>
          <a:p>
            <a:r>
              <a:rPr lang="ja-JP" altLang="en-US" dirty="0"/>
              <a:t>（理想的にはプログラム内の命令順に優先度を付けて選ぶ</a:t>
            </a:r>
            <a:r>
              <a:rPr kumimoji="1" lang="ja-JP" altLang="en-US" dirty="0"/>
              <a:t>が，</a:t>
            </a:r>
            <a:br>
              <a:rPr kumimoji="1" lang="en-US" altLang="ja-JP" dirty="0"/>
            </a:br>
            <a:r>
              <a:rPr kumimoji="1" lang="ja-JP" altLang="en-US" dirty="0"/>
              <a:t>　ハードが複雑なので適当に番号が若いものを選ぶことも多い</a:t>
            </a:r>
          </a:p>
        </p:txBody>
      </p:sp>
      <p:sp>
        <p:nvSpPr>
          <p:cNvPr id="4" name="正方形/長方形 3"/>
          <p:cNvSpPr/>
          <p:nvPr/>
        </p:nvSpPr>
        <p:spPr bwMode="auto">
          <a:xfrm>
            <a:off x="3935976" y="1808983"/>
            <a:ext cx="1800020" cy="252002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dirty="0">
              <a:solidFill>
                <a:schemeClr val="tx1">
                  <a:lumMod val="75000"/>
                  <a:lumOff val="25000"/>
                </a:schemeClr>
              </a:solidFill>
              <a:latin typeface="+mn-ea"/>
            </a:endParaRPr>
          </a:p>
        </p:txBody>
      </p:sp>
      <p:sp>
        <p:nvSpPr>
          <p:cNvPr id="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1808982"/>
            <a:ext cx="720008" cy="360004"/>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p20</a:t>
            </a:r>
            <a:endParaRPr lang="ja-JP" altLang="en-US" sz="1600" dirty="0">
              <a:solidFill>
                <a:schemeClr val="tx1">
                  <a:lumMod val="75000"/>
                  <a:lumOff val="25000"/>
                </a:schemeClr>
              </a:solidFill>
              <a:latin typeface="+mn-ea"/>
              <a:ea typeface="+mn-ea"/>
            </a:endParaRPr>
          </a:p>
        </p:txBody>
      </p:sp>
      <p:sp>
        <p:nvSpPr>
          <p:cNvPr id="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1808982"/>
            <a:ext cx="720008" cy="360004"/>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p12</a:t>
            </a:r>
            <a:endParaRPr lang="ja-JP" altLang="en-US" sz="1600" dirty="0">
              <a:solidFill>
                <a:schemeClr val="tx1">
                  <a:lumMod val="75000"/>
                  <a:lumOff val="25000"/>
                </a:schemeClr>
              </a:solidFill>
              <a:latin typeface="+mn-ea"/>
            </a:endParaRPr>
          </a:p>
        </p:txBody>
      </p:sp>
      <p:sp>
        <p:nvSpPr>
          <p:cNvPr id="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2168986"/>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p24</a:t>
            </a:r>
            <a:endParaRPr lang="ja-JP" altLang="en-US" sz="1600" dirty="0">
              <a:solidFill>
                <a:schemeClr val="tx1">
                  <a:lumMod val="75000"/>
                  <a:lumOff val="25000"/>
                </a:schemeClr>
              </a:solidFill>
              <a:latin typeface="+mn-ea"/>
              <a:ea typeface="+mn-ea"/>
            </a:endParaRPr>
          </a:p>
        </p:txBody>
      </p:sp>
      <p:sp>
        <p:nvSpPr>
          <p:cNvPr id="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2168986"/>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p20</a:t>
            </a:r>
            <a:endParaRPr lang="ja-JP" altLang="en-US" sz="1600" dirty="0">
              <a:solidFill>
                <a:schemeClr val="tx1">
                  <a:lumMod val="75000"/>
                  <a:lumOff val="25000"/>
                </a:schemeClr>
              </a:solidFill>
              <a:latin typeface="+mn-ea"/>
            </a:endParaRPr>
          </a:p>
        </p:txBody>
      </p:sp>
      <p:sp>
        <p:nvSpPr>
          <p:cNvPr id="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3" y="1808982"/>
            <a:ext cx="360004" cy="360004"/>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1</a:t>
            </a:r>
            <a:endParaRPr lang="ja-JP" altLang="en-US" sz="1600" dirty="0">
              <a:solidFill>
                <a:schemeClr val="tx1">
                  <a:lumMod val="75000"/>
                  <a:lumOff val="25000"/>
                </a:schemeClr>
              </a:solidFill>
              <a:latin typeface="+mn-ea"/>
            </a:endParaRPr>
          </a:p>
        </p:txBody>
      </p:sp>
      <p:sp>
        <p:nvSpPr>
          <p:cNvPr id="1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2168986"/>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0</a:t>
            </a:r>
            <a:endParaRPr lang="ja-JP" altLang="en-US" sz="1600" dirty="0">
              <a:solidFill>
                <a:schemeClr val="tx1">
                  <a:lumMod val="75000"/>
                  <a:lumOff val="25000"/>
                </a:schemeClr>
              </a:solidFill>
              <a:latin typeface="+mn-ea"/>
            </a:endParaRPr>
          </a:p>
        </p:txBody>
      </p:sp>
      <p:sp>
        <p:nvSpPr>
          <p:cNvPr id="1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2528990"/>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p32</a:t>
            </a:r>
            <a:endParaRPr lang="ja-JP" altLang="en-US" sz="1600" dirty="0">
              <a:solidFill>
                <a:schemeClr val="tx1">
                  <a:lumMod val="75000"/>
                  <a:lumOff val="25000"/>
                </a:schemeClr>
              </a:solidFill>
              <a:latin typeface="+mn-ea"/>
              <a:ea typeface="+mn-ea"/>
            </a:endParaRPr>
          </a:p>
        </p:txBody>
      </p:sp>
      <p:sp>
        <p:nvSpPr>
          <p:cNvPr id="1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2528990"/>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p15</a:t>
            </a:r>
            <a:endParaRPr lang="ja-JP" altLang="en-US" sz="1600" dirty="0">
              <a:solidFill>
                <a:schemeClr val="tx1">
                  <a:lumMod val="75000"/>
                  <a:lumOff val="25000"/>
                </a:schemeClr>
              </a:solidFill>
              <a:latin typeface="+mn-ea"/>
            </a:endParaRPr>
          </a:p>
        </p:txBody>
      </p:sp>
      <p:sp>
        <p:nvSpPr>
          <p:cNvPr id="1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2528990"/>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1</a:t>
            </a:r>
            <a:endParaRPr lang="ja-JP" altLang="en-US" sz="1600" dirty="0">
              <a:solidFill>
                <a:schemeClr val="tx1">
                  <a:lumMod val="75000"/>
                  <a:lumOff val="25000"/>
                </a:schemeClr>
              </a:solidFill>
              <a:latin typeface="+mn-ea"/>
            </a:endParaRPr>
          </a:p>
        </p:txBody>
      </p:sp>
      <p:sp>
        <p:nvSpPr>
          <p:cNvPr id="1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2888994"/>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a typeface="+mn-ea"/>
            </a:endParaRPr>
          </a:p>
        </p:txBody>
      </p:sp>
      <p:sp>
        <p:nvSpPr>
          <p:cNvPr id="1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2888994"/>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1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2888994"/>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1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3248998"/>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a typeface="+mn-ea"/>
            </a:endParaRPr>
          </a:p>
        </p:txBody>
      </p:sp>
      <p:sp>
        <p:nvSpPr>
          <p:cNvPr id="1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3248998"/>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1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3248998"/>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2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3609002"/>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a typeface="+mn-ea"/>
            </a:endParaRPr>
          </a:p>
        </p:txBody>
      </p:sp>
      <p:sp>
        <p:nvSpPr>
          <p:cNvPr id="2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3609002"/>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2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3609002"/>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2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3969006"/>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2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4329010"/>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err="1">
                <a:solidFill>
                  <a:schemeClr val="tx1">
                    <a:lumMod val="75000"/>
                    <a:lumOff val="25000"/>
                  </a:schemeClr>
                </a:solidFill>
                <a:latin typeface="+mn-ea"/>
                <a:ea typeface="+mn-ea"/>
              </a:rPr>
              <a:t>Dst</a:t>
            </a:r>
            <a:endParaRPr lang="ja-JP" altLang="en-US" sz="1600" dirty="0">
              <a:solidFill>
                <a:schemeClr val="tx1">
                  <a:lumMod val="75000"/>
                  <a:lumOff val="25000"/>
                </a:schemeClr>
              </a:solidFill>
              <a:latin typeface="+mn-ea"/>
              <a:ea typeface="+mn-ea"/>
            </a:endParaRPr>
          </a:p>
        </p:txBody>
      </p:sp>
      <p:sp>
        <p:nvSpPr>
          <p:cNvPr id="2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4329010"/>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err="1">
                <a:solidFill>
                  <a:schemeClr val="tx1">
                    <a:lumMod val="75000"/>
                    <a:lumOff val="25000"/>
                  </a:schemeClr>
                </a:solidFill>
                <a:latin typeface="+mn-ea"/>
                <a:ea typeface="+mn-ea"/>
              </a:rPr>
              <a:t>Src</a:t>
            </a:r>
            <a:endParaRPr lang="ja-JP" altLang="en-US" sz="1600" dirty="0">
              <a:solidFill>
                <a:schemeClr val="tx1">
                  <a:lumMod val="75000"/>
                  <a:lumOff val="25000"/>
                </a:schemeClr>
              </a:solidFill>
              <a:latin typeface="+mn-ea"/>
              <a:ea typeface="+mn-ea"/>
            </a:endParaRPr>
          </a:p>
        </p:txBody>
      </p:sp>
      <p:sp>
        <p:nvSpPr>
          <p:cNvPr id="2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4329010"/>
            <a:ext cx="360004"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err="1">
                <a:solidFill>
                  <a:schemeClr val="tx1">
                    <a:lumMod val="75000"/>
                    <a:lumOff val="25000"/>
                  </a:schemeClr>
                </a:solidFill>
                <a:latin typeface="+mn-ea"/>
                <a:ea typeface="+mn-ea"/>
              </a:rPr>
              <a:t>Rdy</a:t>
            </a:r>
            <a:endParaRPr lang="ja-JP" altLang="en-US" sz="1600" dirty="0">
              <a:solidFill>
                <a:schemeClr val="tx1">
                  <a:lumMod val="75000"/>
                  <a:lumOff val="25000"/>
                </a:schemeClr>
              </a:solidFill>
              <a:latin typeface="+mn-ea"/>
              <a:ea typeface="+mn-ea"/>
            </a:endParaRPr>
          </a:p>
        </p:txBody>
      </p:sp>
      <p:sp>
        <p:nvSpPr>
          <p:cNvPr id="27" name="フローチャート: 手作業 26"/>
          <p:cNvSpPr/>
          <p:nvPr/>
        </p:nvSpPr>
        <p:spPr bwMode="auto">
          <a:xfrm rot="16200000">
            <a:off x="4925989" y="2978994"/>
            <a:ext cx="2520028" cy="180003"/>
          </a:xfrm>
          <a:prstGeom prst="flowChartManualOperation">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8" name="Freeform 10"/>
          <p:cNvSpPr>
            <a:spLocks/>
          </p:cNvSpPr>
          <p:nvPr/>
        </p:nvSpPr>
        <p:spPr bwMode="auto">
          <a:xfrm rot="16200000">
            <a:off x="5465994" y="1898982"/>
            <a:ext cx="1980022"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none" w="sm" len="sm"/>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cxnSp>
        <p:nvCxnSpPr>
          <p:cNvPr id="29" name="直線矢印コネクタ 28"/>
          <p:cNvCxnSpPr/>
          <p:nvPr/>
        </p:nvCxnSpPr>
        <p:spPr bwMode="auto">
          <a:xfrm>
            <a:off x="5015988" y="1088974"/>
            <a:ext cx="1620018" cy="0"/>
          </a:xfrm>
          <a:prstGeom prst="straightConnector1">
            <a:avLst/>
          </a:prstGeom>
          <a:ln>
            <a:headEnd type="none" w="sm" len="sm"/>
            <a:tailEnd type="none"/>
          </a:ln>
        </p:spPr>
        <p:style>
          <a:lnRef idx="2">
            <a:schemeClr val="accent5"/>
          </a:lnRef>
          <a:fillRef idx="0">
            <a:schemeClr val="accent5"/>
          </a:fillRef>
          <a:effectRef idx="1">
            <a:schemeClr val="accent5"/>
          </a:effectRef>
          <a:fontRef idx="minor">
            <a:schemeClr val="tx1"/>
          </a:fontRef>
        </p:style>
      </p:cxnSp>
      <p:cxnSp>
        <p:nvCxnSpPr>
          <p:cNvPr id="30" name="直線矢印コネクタ 29"/>
          <p:cNvCxnSpPr/>
          <p:nvPr/>
        </p:nvCxnSpPr>
        <p:spPr bwMode="auto">
          <a:xfrm>
            <a:off x="6636006" y="3068996"/>
            <a:ext cx="900010"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31" name="直線矢印コネクタ 30"/>
          <p:cNvCxnSpPr/>
          <p:nvPr/>
        </p:nvCxnSpPr>
        <p:spPr bwMode="auto">
          <a:xfrm>
            <a:off x="5015988" y="1088974"/>
            <a:ext cx="0" cy="540006"/>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32" name="直線矢印コネクタ 31"/>
          <p:cNvCxnSpPr/>
          <p:nvPr/>
        </p:nvCxnSpPr>
        <p:spPr bwMode="auto">
          <a:xfrm>
            <a:off x="5735996" y="1988984"/>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33" name="直線矢印コネクタ 32"/>
          <p:cNvCxnSpPr/>
          <p:nvPr/>
        </p:nvCxnSpPr>
        <p:spPr bwMode="auto">
          <a:xfrm>
            <a:off x="5735996" y="2348988"/>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34" name="直線矢印コネクタ 33"/>
          <p:cNvCxnSpPr/>
          <p:nvPr/>
        </p:nvCxnSpPr>
        <p:spPr bwMode="auto">
          <a:xfrm>
            <a:off x="5735996" y="2708992"/>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35" name="直線矢印コネクタ 34"/>
          <p:cNvCxnSpPr/>
          <p:nvPr/>
        </p:nvCxnSpPr>
        <p:spPr bwMode="auto">
          <a:xfrm>
            <a:off x="5735996" y="3068996"/>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36" name="直線矢印コネクタ 35"/>
          <p:cNvCxnSpPr/>
          <p:nvPr/>
        </p:nvCxnSpPr>
        <p:spPr bwMode="auto">
          <a:xfrm>
            <a:off x="5735996" y="3429000"/>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37" name="直線矢印コネクタ 36"/>
          <p:cNvCxnSpPr/>
          <p:nvPr/>
        </p:nvCxnSpPr>
        <p:spPr bwMode="auto">
          <a:xfrm>
            <a:off x="5735996" y="3789004"/>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38" name="直線矢印コネクタ 37"/>
          <p:cNvCxnSpPr/>
          <p:nvPr/>
        </p:nvCxnSpPr>
        <p:spPr bwMode="auto">
          <a:xfrm>
            <a:off x="5735996" y="4149008"/>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sp>
        <p:nvSpPr>
          <p:cNvPr id="4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395970" y="1358977"/>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solidFill>
                  <a:schemeClr val="tx1">
                    <a:lumMod val="75000"/>
                    <a:lumOff val="25000"/>
                  </a:schemeClr>
                </a:solidFill>
                <a:latin typeface="+mn-ea"/>
                <a:ea typeface="+mn-ea"/>
              </a:rPr>
              <a:t>Wakeup Logic</a:t>
            </a:r>
            <a:endParaRPr lang="ja-JP" altLang="en-US" sz="1600" dirty="0">
              <a:solidFill>
                <a:schemeClr val="tx1">
                  <a:lumMod val="75000"/>
                  <a:lumOff val="25000"/>
                </a:schemeClr>
              </a:solidFill>
              <a:latin typeface="+mn-ea"/>
              <a:ea typeface="+mn-ea"/>
            </a:endParaRPr>
          </a:p>
        </p:txBody>
      </p:sp>
      <p:sp>
        <p:nvSpPr>
          <p:cNvPr id="4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546005" y="3879005"/>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solidFill>
                  <a:schemeClr val="tx1">
                    <a:lumMod val="75000"/>
                    <a:lumOff val="25000"/>
                  </a:schemeClr>
                </a:solidFill>
                <a:latin typeface="+mn-ea"/>
                <a:ea typeface="+mn-ea"/>
              </a:rPr>
              <a:t>Select Logic</a:t>
            </a:r>
            <a:endParaRPr lang="ja-JP" altLang="en-US" sz="1600" dirty="0">
              <a:solidFill>
                <a:schemeClr val="tx1">
                  <a:lumMod val="75000"/>
                  <a:lumOff val="25000"/>
                </a:schemeClr>
              </a:solidFill>
              <a:latin typeface="+mn-ea"/>
              <a:ea typeface="+mn-ea"/>
            </a:endParaRPr>
          </a:p>
        </p:txBody>
      </p:sp>
      <p:sp>
        <p:nvSpPr>
          <p:cNvPr id="4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2888994"/>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p45</a:t>
            </a:r>
            <a:endParaRPr lang="ja-JP" altLang="en-US" sz="1600" dirty="0">
              <a:solidFill>
                <a:schemeClr val="tx1">
                  <a:lumMod val="75000"/>
                  <a:lumOff val="25000"/>
                </a:schemeClr>
              </a:solidFill>
              <a:latin typeface="+mn-ea"/>
              <a:ea typeface="+mn-ea"/>
            </a:endParaRPr>
          </a:p>
        </p:txBody>
      </p:sp>
      <p:sp>
        <p:nvSpPr>
          <p:cNvPr id="4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2888994"/>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p20</a:t>
            </a:r>
            <a:endParaRPr lang="ja-JP" altLang="en-US" sz="1600" dirty="0">
              <a:solidFill>
                <a:schemeClr val="tx1">
                  <a:lumMod val="75000"/>
                  <a:lumOff val="25000"/>
                </a:schemeClr>
              </a:solidFill>
              <a:latin typeface="+mn-ea"/>
            </a:endParaRPr>
          </a:p>
        </p:txBody>
      </p:sp>
      <p:sp>
        <p:nvSpPr>
          <p:cNvPr id="4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2888994"/>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0</a:t>
            </a:r>
            <a:endParaRPr lang="ja-JP" altLang="en-US" sz="1600" dirty="0">
              <a:solidFill>
                <a:schemeClr val="tx1">
                  <a:lumMod val="75000"/>
                  <a:lumOff val="25000"/>
                </a:schemeClr>
              </a:solidFill>
              <a:latin typeface="+mn-ea"/>
            </a:endParaRPr>
          </a:p>
        </p:txBody>
      </p:sp>
      <p:sp>
        <p:nvSpPr>
          <p:cNvPr id="4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215968" y="1808982"/>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solidFill>
                  <a:schemeClr val="tx1">
                    <a:lumMod val="75000"/>
                    <a:lumOff val="25000"/>
                  </a:schemeClr>
                </a:solidFill>
                <a:latin typeface="+mn-ea"/>
                <a:ea typeface="+mn-ea"/>
              </a:rPr>
              <a:t>0</a:t>
            </a:r>
            <a:endParaRPr lang="ja-JP" altLang="en-US" sz="1600" dirty="0">
              <a:solidFill>
                <a:schemeClr val="tx1">
                  <a:lumMod val="75000"/>
                  <a:lumOff val="25000"/>
                </a:schemeClr>
              </a:solidFill>
              <a:latin typeface="+mn-ea"/>
              <a:ea typeface="+mn-ea"/>
            </a:endParaRPr>
          </a:p>
        </p:txBody>
      </p:sp>
      <p:sp>
        <p:nvSpPr>
          <p:cNvPr id="4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215968" y="2168986"/>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solidFill>
                  <a:schemeClr val="tx1">
                    <a:lumMod val="75000"/>
                    <a:lumOff val="25000"/>
                  </a:schemeClr>
                </a:solidFill>
                <a:latin typeface="+mn-ea"/>
                <a:ea typeface="+mn-ea"/>
              </a:rPr>
              <a:t>1</a:t>
            </a:r>
            <a:endParaRPr lang="ja-JP" altLang="en-US" sz="1600" dirty="0">
              <a:solidFill>
                <a:schemeClr val="tx1">
                  <a:lumMod val="75000"/>
                  <a:lumOff val="25000"/>
                </a:schemeClr>
              </a:solidFill>
              <a:latin typeface="+mn-ea"/>
              <a:ea typeface="+mn-ea"/>
            </a:endParaRPr>
          </a:p>
        </p:txBody>
      </p:sp>
      <p:sp>
        <p:nvSpPr>
          <p:cNvPr id="4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215968" y="2528990"/>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solidFill>
                  <a:schemeClr val="tx1">
                    <a:lumMod val="75000"/>
                    <a:lumOff val="25000"/>
                  </a:schemeClr>
                </a:solidFill>
                <a:latin typeface="+mn-ea"/>
                <a:ea typeface="+mn-ea"/>
              </a:rPr>
              <a:t>2</a:t>
            </a:r>
            <a:endParaRPr lang="ja-JP" altLang="en-US" sz="1600" dirty="0">
              <a:solidFill>
                <a:schemeClr val="tx1">
                  <a:lumMod val="75000"/>
                  <a:lumOff val="25000"/>
                </a:schemeClr>
              </a:solidFill>
              <a:latin typeface="+mn-ea"/>
              <a:ea typeface="+mn-ea"/>
            </a:endParaRPr>
          </a:p>
        </p:txBody>
      </p:sp>
      <p:sp>
        <p:nvSpPr>
          <p:cNvPr id="4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215968" y="2888994"/>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solidFill>
                  <a:schemeClr val="tx1">
                    <a:lumMod val="75000"/>
                    <a:lumOff val="25000"/>
                  </a:schemeClr>
                </a:solidFill>
                <a:latin typeface="+mn-ea"/>
                <a:ea typeface="+mn-ea"/>
              </a:rPr>
              <a:t>3</a:t>
            </a:r>
            <a:endParaRPr lang="ja-JP" altLang="en-US" sz="1600" dirty="0">
              <a:solidFill>
                <a:schemeClr val="tx1">
                  <a:lumMod val="75000"/>
                  <a:lumOff val="25000"/>
                </a:schemeClr>
              </a:solidFill>
              <a:latin typeface="+mn-ea"/>
              <a:ea typeface="+mn-ea"/>
            </a:endParaRPr>
          </a:p>
        </p:txBody>
      </p:sp>
      <p:sp>
        <p:nvSpPr>
          <p:cNvPr id="49" name="フリーフォーム 48"/>
          <p:cNvSpPr>
            <a:spLocks noChangeArrowheads="1"/>
          </p:cNvSpPr>
          <p:nvPr/>
        </p:nvSpPr>
        <p:spPr bwMode="auto">
          <a:xfrm rot="-5400000">
            <a:off x="8256026" y="2708992"/>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1"/>
          </a:lnRef>
          <a:fillRef idx="2">
            <a:schemeClr val="accent1"/>
          </a:fillRef>
          <a:effectRef idx="1">
            <a:schemeClr val="accent1"/>
          </a:effectRef>
          <a:fontRef idx="minor">
            <a:schemeClr val="dk1"/>
          </a:fontRef>
        </p:style>
        <p:txBody>
          <a:bodyPr vert="eaVert" wrap="square" anchor="ctr">
            <a:noAutofit/>
          </a:bodyPr>
          <a:lstStyle/>
          <a:p>
            <a:pPr algn="ctr"/>
            <a:r>
              <a:rPr lang="ja-JP" altLang="en-US" sz="1600" dirty="0">
                <a:latin typeface="Arial Narrow" pitchFamily="34" charset="0"/>
                <a:cs typeface="Times New Roman" pitchFamily="18" charset="0"/>
              </a:rPr>
              <a:t>演算器</a:t>
            </a:r>
          </a:p>
        </p:txBody>
      </p:sp>
      <p:sp>
        <p:nvSpPr>
          <p:cNvPr id="50" name="Freeform 25"/>
          <p:cNvSpPr>
            <a:spLocks/>
          </p:cNvSpPr>
          <p:nvPr/>
        </p:nvSpPr>
        <p:spPr bwMode="auto">
          <a:xfrm>
            <a:off x="7716019" y="1718981"/>
            <a:ext cx="2502431"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1"/>
          </a:lnRef>
          <a:fillRef idx="2">
            <a:schemeClr val="accent1"/>
          </a:fillRef>
          <a:effectRef idx="1">
            <a:schemeClr val="accent1"/>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レジスタ・ファイル</a:t>
            </a:r>
          </a:p>
        </p:txBody>
      </p:sp>
    </p:spTree>
    <p:extLst>
      <p:ext uri="{BB962C8B-B14F-4D97-AF65-F5344CB8AC3E}">
        <p14:creationId xmlns:p14="http://schemas.microsoft.com/office/powerpoint/2010/main" val="32065952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発行キューの動作（２）：</a:t>
            </a:r>
            <a:r>
              <a:rPr kumimoji="1" lang="en-US" altLang="ja-JP" dirty="0"/>
              <a:t>Wakeup</a:t>
            </a:r>
            <a:endParaRPr kumimoji="1" lang="ja-JP" altLang="en-US" dirty="0"/>
          </a:p>
        </p:txBody>
      </p:sp>
      <p:sp>
        <p:nvSpPr>
          <p:cNvPr id="3" name="テキスト プレースホルダー 2"/>
          <p:cNvSpPr>
            <a:spLocks noGrp="1"/>
          </p:cNvSpPr>
          <p:nvPr>
            <p:ph type="body" sz="quarter" idx="10"/>
          </p:nvPr>
        </p:nvSpPr>
        <p:spPr>
          <a:xfrm>
            <a:off x="2135956" y="4959325"/>
            <a:ext cx="8280092" cy="1439709"/>
          </a:xfrm>
        </p:spPr>
        <p:txBody>
          <a:bodyPr/>
          <a:lstStyle/>
          <a:p>
            <a:r>
              <a:rPr kumimoji="1" lang="en-US" altLang="ja-JP" dirty="0"/>
              <a:t>Select </a:t>
            </a:r>
            <a:r>
              <a:rPr kumimoji="1" lang="ja-JP" altLang="en-US" dirty="0"/>
              <a:t>して発行した命令のディスティネーション番号を</a:t>
            </a:r>
            <a:br>
              <a:rPr kumimoji="1" lang="en-US" altLang="ja-JP" dirty="0"/>
            </a:br>
            <a:r>
              <a:rPr kumimoji="1" lang="ja-JP" altLang="en-US" dirty="0"/>
              <a:t> </a:t>
            </a:r>
            <a:r>
              <a:rPr kumimoji="1" lang="en-US" altLang="ja-JP" dirty="0"/>
              <a:t>Wakeup Logic </a:t>
            </a:r>
            <a:r>
              <a:rPr kumimoji="1" lang="ja-JP" altLang="en-US" dirty="0"/>
              <a:t>全体にブロードキャスト</a:t>
            </a:r>
            <a:endParaRPr kumimoji="1" lang="en-US" altLang="ja-JP" dirty="0"/>
          </a:p>
          <a:p>
            <a:pPr lvl="1"/>
            <a:r>
              <a:rPr kumimoji="1" lang="ja-JP" altLang="en-US" dirty="0"/>
              <a:t>各エントリのソースオペランドの番号と一致比較を行う</a:t>
            </a:r>
            <a:endParaRPr kumimoji="1" lang="en-US" altLang="ja-JP" dirty="0"/>
          </a:p>
          <a:p>
            <a:pPr lvl="1"/>
            <a:r>
              <a:rPr kumimoji="1" lang="ja-JP" altLang="en-US" dirty="0"/>
              <a:t>一致した場合は真の依存が満たされた</a:t>
            </a:r>
            <a:r>
              <a:rPr lang="en-US" altLang="ja-JP" dirty="0"/>
              <a:t> =</a:t>
            </a:r>
            <a:r>
              <a:rPr kumimoji="1" lang="ja-JP" altLang="en-US" dirty="0"/>
              <a:t> </a:t>
            </a:r>
            <a:r>
              <a:rPr kumimoji="1" lang="en-US" altLang="ja-JP" dirty="0" err="1"/>
              <a:t>Rdy</a:t>
            </a:r>
            <a:r>
              <a:rPr kumimoji="1" lang="en-US" altLang="ja-JP" dirty="0"/>
              <a:t> </a:t>
            </a:r>
            <a:r>
              <a:rPr kumimoji="1" lang="ja-JP" altLang="en-US" dirty="0"/>
              <a:t>を </a:t>
            </a:r>
            <a:r>
              <a:rPr kumimoji="1" lang="en-US" altLang="ja-JP" dirty="0"/>
              <a:t>1</a:t>
            </a:r>
            <a:r>
              <a:rPr kumimoji="1" lang="ja-JP" altLang="en-US" dirty="0"/>
              <a:t>に（</a:t>
            </a:r>
            <a:r>
              <a:rPr kumimoji="1" lang="en-US" altLang="ja-JP" dirty="0"/>
              <a:t>wakeup</a:t>
            </a:r>
            <a:r>
              <a:rPr kumimoji="1" lang="ja-JP" altLang="en-US" dirty="0"/>
              <a:t>）</a:t>
            </a:r>
          </a:p>
        </p:txBody>
      </p:sp>
      <p:sp>
        <p:nvSpPr>
          <p:cNvPr id="2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4329010"/>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err="1">
                <a:solidFill>
                  <a:schemeClr val="tx1">
                    <a:lumMod val="75000"/>
                    <a:lumOff val="25000"/>
                  </a:schemeClr>
                </a:solidFill>
                <a:latin typeface="+mn-ea"/>
                <a:ea typeface="+mn-ea"/>
              </a:rPr>
              <a:t>Dst</a:t>
            </a:r>
            <a:endParaRPr lang="ja-JP" altLang="en-US" sz="1600" dirty="0">
              <a:solidFill>
                <a:schemeClr val="tx1">
                  <a:lumMod val="75000"/>
                  <a:lumOff val="25000"/>
                </a:schemeClr>
              </a:solidFill>
              <a:latin typeface="+mn-ea"/>
              <a:ea typeface="+mn-ea"/>
            </a:endParaRPr>
          </a:p>
        </p:txBody>
      </p:sp>
      <p:sp>
        <p:nvSpPr>
          <p:cNvPr id="2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4329010"/>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err="1">
                <a:solidFill>
                  <a:schemeClr val="tx1">
                    <a:lumMod val="75000"/>
                    <a:lumOff val="25000"/>
                  </a:schemeClr>
                </a:solidFill>
                <a:latin typeface="+mn-ea"/>
                <a:ea typeface="+mn-ea"/>
              </a:rPr>
              <a:t>Src</a:t>
            </a:r>
            <a:endParaRPr lang="ja-JP" altLang="en-US" sz="1600" dirty="0">
              <a:solidFill>
                <a:schemeClr val="tx1">
                  <a:lumMod val="75000"/>
                  <a:lumOff val="25000"/>
                </a:schemeClr>
              </a:solidFill>
              <a:latin typeface="+mn-ea"/>
              <a:ea typeface="+mn-ea"/>
            </a:endParaRPr>
          </a:p>
        </p:txBody>
      </p:sp>
      <p:sp>
        <p:nvSpPr>
          <p:cNvPr id="2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4329010"/>
            <a:ext cx="360004"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err="1">
                <a:solidFill>
                  <a:schemeClr val="tx1">
                    <a:lumMod val="75000"/>
                    <a:lumOff val="25000"/>
                  </a:schemeClr>
                </a:solidFill>
                <a:latin typeface="+mn-ea"/>
                <a:ea typeface="+mn-ea"/>
              </a:rPr>
              <a:t>Rdy</a:t>
            </a:r>
            <a:endParaRPr lang="ja-JP" altLang="en-US" sz="1600" dirty="0">
              <a:solidFill>
                <a:schemeClr val="tx1">
                  <a:lumMod val="75000"/>
                  <a:lumOff val="25000"/>
                </a:schemeClr>
              </a:solidFill>
              <a:latin typeface="+mn-ea"/>
              <a:ea typeface="+mn-ea"/>
            </a:endParaRPr>
          </a:p>
        </p:txBody>
      </p:sp>
      <p:sp>
        <p:nvSpPr>
          <p:cNvPr id="27" name="フローチャート: 手作業 26"/>
          <p:cNvSpPr/>
          <p:nvPr/>
        </p:nvSpPr>
        <p:spPr bwMode="auto">
          <a:xfrm rot="16200000">
            <a:off x="4925989" y="2978994"/>
            <a:ext cx="2520028" cy="180003"/>
          </a:xfrm>
          <a:prstGeom prst="flowChartManualOperation">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8" name="Freeform 10"/>
          <p:cNvSpPr>
            <a:spLocks/>
          </p:cNvSpPr>
          <p:nvPr/>
        </p:nvSpPr>
        <p:spPr bwMode="auto">
          <a:xfrm rot="16200000">
            <a:off x="5465994" y="1898982"/>
            <a:ext cx="1980022"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none" w="sm" len="sm"/>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cxnSp>
        <p:nvCxnSpPr>
          <p:cNvPr id="29" name="直線矢印コネクタ 28"/>
          <p:cNvCxnSpPr/>
          <p:nvPr/>
        </p:nvCxnSpPr>
        <p:spPr bwMode="auto">
          <a:xfrm>
            <a:off x="5015988" y="1088974"/>
            <a:ext cx="1620018" cy="0"/>
          </a:xfrm>
          <a:prstGeom prst="straightConnector1">
            <a:avLst/>
          </a:prstGeom>
          <a:ln>
            <a:headEnd type="none" w="sm" len="sm"/>
            <a:tailEnd type="none"/>
          </a:ln>
        </p:spPr>
        <p:style>
          <a:lnRef idx="2">
            <a:schemeClr val="accent5"/>
          </a:lnRef>
          <a:fillRef idx="0">
            <a:schemeClr val="accent5"/>
          </a:fillRef>
          <a:effectRef idx="1">
            <a:schemeClr val="accent5"/>
          </a:effectRef>
          <a:fontRef idx="minor">
            <a:schemeClr val="tx1"/>
          </a:fontRef>
        </p:style>
      </p:cxnSp>
      <p:cxnSp>
        <p:nvCxnSpPr>
          <p:cNvPr id="30" name="直線矢印コネクタ 29"/>
          <p:cNvCxnSpPr/>
          <p:nvPr/>
        </p:nvCxnSpPr>
        <p:spPr bwMode="auto">
          <a:xfrm>
            <a:off x="6636006" y="3068996"/>
            <a:ext cx="900010"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31" name="直線矢印コネクタ 30"/>
          <p:cNvCxnSpPr/>
          <p:nvPr/>
        </p:nvCxnSpPr>
        <p:spPr bwMode="auto">
          <a:xfrm>
            <a:off x="5015988" y="1088974"/>
            <a:ext cx="0" cy="540006"/>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32" name="直線矢印コネクタ 31"/>
          <p:cNvCxnSpPr/>
          <p:nvPr/>
        </p:nvCxnSpPr>
        <p:spPr bwMode="auto">
          <a:xfrm>
            <a:off x="5735996" y="1988984"/>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33" name="直線矢印コネクタ 32"/>
          <p:cNvCxnSpPr/>
          <p:nvPr/>
        </p:nvCxnSpPr>
        <p:spPr bwMode="auto">
          <a:xfrm>
            <a:off x="5735996" y="2348988"/>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34" name="直線矢印コネクタ 33"/>
          <p:cNvCxnSpPr/>
          <p:nvPr/>
        </p:nvCxnSpPr>
        <p:spPr bwMode="auto">
          <a:xfrm>
            <a:off x="5735996" y="2708992"/>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35" name="直線矢印コネクタ 34"/>
          <p:cNvCxnSpPr/>
          <p:nvPr/>
        </p:nvCxnSpPr>
        <p:spPr bwMode="auto">
          <a:xfrm>
            <a:off x="5735996" y="3068996"/>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36" name="直線矢印コネクタ 35"/>
          <p:cNvCxnSpPr/>
          <p:nvPr/>
        </p:nvCxnSpPr>
        <p:spPr bwMode="auto">
          <a:xfrm>
            <a:off x="5735996" y="3429000"/>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37" name="直線矢印コネクタ 36"/>
          <p:cNvCxnSpPr/>
          <p:nvPr/>
        </p:nvCxnSpPr>
        <p:spPr bwMode="auto">
          <a:xfrm>
            <a:off x="5735996" y="3789004"/>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cxnSp>
        <p:nvCxnSpPr>
          <p:cNvPr id="38" name="直線矢印コネクタ 37"/>
          <p:cNvCxnSpPr/>
          <p:nvPr/>
        </p:nvCxnSpPr>
        <p:spPr bwMode="auto">
          <a:xfrm>
            <a:off x="5735996" y="4149008"/>
            <a:ext cx="360004" cy="0"/>
          </a:xfrm>
          <a:prstGeom prst="straightConnector1">
            <a:avLst/>
          </a:prstGeom>
          <a:ln>
            <a:headEnd type="none" w="sm" len="sm"/>
            <a:tailEnd type="triangle"/>
          </a:ln>
        </p:spPr>
        <p:style>
          <a:lnRef idx="2">
            <a:schemeClr val="accent5"/>
          </a:lnRef>
          <a:fillRef idx="0">
            <a:schemeClr val="accent5"/>
          </a:fillRef>
          <a:effectRef idx="1">
            <a:schemeClr val="accent5"/>
          </a:effectRef>
          <a:fontRef idx="minor">
            <a:schemeClr val="tx1"/>
          </a:fontRef>
        </p:style>
      </p:cxnSp>
      <p:sp>
        <p:nvSpPr>
          <p:cNvPr id="4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395970" y="1358977"/>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solidFill>
                  <a:schemeClr val="tx1">
                    <a:lumMod val="75000"/>
                    <a:lumOff val="25000"/>
                  </a:schemeClr>
                </a:solidFill>
                <a:latin typeface="+mn-ea"/>
                <a:ea typeface="+mn-ea"/>
              </a:rPr>
              <a:t>Wakeup Logic</a:t>
            </a:r>
            <a:endParaRPr lang="ja-JP" altLang="en-US" sz="1600" dirty="0">
              <a:solidFill>
                <a:schemeClr val="tx1">
                  <a:lumMod val="75000"/>
                  <a:lumOff val="25000"/>
                </a:schemeClr>
              </a:solidFill>
              <a:latin typeface="+mn-ea"/>
              <a:ea typeface="+mn-ea"/>
            </a:endParaRPr>
          </a:p>
        </p:txBody>
      </p:sp>
      <p:sp>
        <p:nvSpPr>
          <p:cNvPr id="4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6546005" y="3879005"/>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solidFill>
                  <a:schemeClr val="tx1">
                    <a:lumMod val="75000"/>
                    <a:lumOff val="25000"/>
                  </a:schemeClr>
                </a:solidFill>
                <a:latin typeface="+mn-ea"/>
                <a:ea typeface="+mn-ea"/>
              </a:rPr>
              <a:t>Select Logic</a:t>
            </a:r>
            <a:endParaRPr lang="ja-JP" altLang="en-US" sz="1600" dirty="0">
              <a:solidFill>
                <a:schemeClr val="tx1">
                  <a:lumMod val="75000"/>
                  <a:lumOff val="25000"/>
                </a:schemeClr>
              </a:solidFill>
              <a:latin typeface="+mn-ea"/>
              <a:ea typeface="+mn-ea"/>
            </a:endParaRPr>
          </a:p>
        </p:txBody>
      </p:sp>
      <p:sp>
        <p:nvSpPr>
          <p:cNvPr id="4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215968" y="1808982"/>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solidFill>
                  <a:schemeClr val="tx1">
                    <a:lumMod val="75000"/>
                    <a:lumOff val="25000"/>
                  </a:schemeClr>
                </a:solidFill>
                <a:latin typeface="+mn-ea"/>
                <a:ea typeface="+mn-ea"/>
              </a:rPr>
              <a:t>0</a:t>
            </a:r>
            <a:endParaRPr lang="ja-JP" altLang="en-US" sz="1600" dirty="0">
              <a:solidFill>
                <a:schemeClr val="tx1">
                  <a:lumMod val="75000"/>
                  <a:lumOff val="25000"/>
                </a:schemeClr>
              </a:solidFill>
              <a:latin typeface="+mn-ea"/>
              <a:ea typeface="+mn-ea"/>
            </a:endParaRPr>
          </a:p>
        </p:txBody>
      </p:sp>
      <p:sp>
        <p:nvSpPr>
          <p:cNvPr id="4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215968" y="2168986"/>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solidFill>
                  <a:schemeClr val="tx1">
                    <a:lumMod val="75000"/>
                    <a:lumOff val="25000"/>
                  </a:schemeClr>
                </a:solidFill>
                <a:latin typeface="+mn-ea"/>
                <a:ea typeface="+mn-ea"/>
              </a:rPr>
              <a:t>1</a:t>
            </a:r>
            <a:endParaRPr lang="ja-JP" altLang="en-US" sz="1600" dirty="0">
              <a:solidFill>
                <a:schemeClr val="tx1">
                  <a:lumMod val="75000"/>
                  <a:lumOff val="25000"/>
                </a:schemeClr>
              </a:solidFill>
              <a:latin typeface="+mn-ea"/>
              <a:ea typeface="+mn-ea"/>
            </a:endParaRPr>
          </a:p>
        </p:txBody>
      </p:sp>
      <p:sp>
        <p:nvSpPr>
          <p:cNvPr id="4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215968" y="2528990"/>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solidFill>
                  <a:schemeClr val="tx1">
                    <a:lumMod val="75000"/>
                    <a:lumOff val="25000"/>
                  </a:schemeClr>
                </a:solidFill>
                <a:latin typeface="+mn-ea"/>
                <a:ea typeface="+mn-ea"/>
              </a:rPr>
              <a:t>2</a:t>
            </a:r>
            <a:endParaRPr lang="ja-JP" altLang="en-US" sz="1600" dirty="0">
              <a:solidFill>
                <a:schemeClr val="tx1">
                  <a:lumMod val="75000"/>
                  <a:lumOff val="25000"/>
                </a:schemeClr>
              </a:solidFill>
              <a:latin typeface="+mn-ea"/>
              <a:ea typeface="+mn-ea"/>
            </a:endParaRPr>
          </a:p>
        </p:txBody>
      </p:sp>
      <p:sp>
        <p:nvSpPr>
          <p:cNvPr id="4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215968" y="2888994"/>
            <a:ext cx="720008" cy="360004"/>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r"/>
            <a:r>
              <a:rPr lang="en-US" altLang="ja-JP" sz="1600" dirty="0">
                <a:solidFill>
                  <a:schemeClr val="tx1">
                    <a:lumMod val="75000"/>
                    <a:lumOff val="25000"/>
                  </a:schemeClr>
                </a:solidFill>
                <a:latin typeface="+mn-ea"/>
                <a:ea typeface="+mn-ea"/>
              </a:rPr>
              <a:t>3</a:t>
            </a:r>
            <a:endParaRPr lang="ja-JP" altLang="en-US" sz="1600" dirty="0">
              <a:solidFill>
                <a:schemeClr val="tx1">
                  <a:lumMod val="75000"/>
                  <a:lumOff val="25000"/>
                </a:schemeClr>
              </a:solidFill>
              <a:latin typeface="+mn-ea"/>
              <a:ea typeface="+mn-ea"/>
            </a:endParaRPr>
          </a:p>
        </p:txBody>
      </p:sp>
      <p:sp>
        <p:nvSpPr>
          <p:cNvPr id="49" name="正方形/長方形 48"/>
          <p:cNvSpPr/>
          <p:nvPr/>
        </p:nvSpPr>
        <p:spPr bwMode="auto">
          <a:xfrm>
            <a:off x="3935976" y="1808983"/>
            <a:ext cx="1800020" cy="252002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dirty="0">
              <a:solidFill>
                <a:schemeClr val="tx1">
                  <a:lumMod val="75000"/>
                  <a:lumOff val="25000"/>
                </a:schemeClr>
              </a:solidFill>
              <a:latin typeface="+mn-ea"/>
            </a:endParaRPr>
          </a:p>
        </p:txBody>
      </p:sp>
      <p:sp>
        <p:nvSpPr>
          <p:cNvPr id="5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1808982"/>
            <a:ext cx="720008" cy="360004"/>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accent6"/>
                </a:solidFill>
                <a:latin typeface="Consolas" panose="020B0609020204030204" pitchFamily="49" charset="0"/>
              </a:rPr>
              <a:t>p20</a:t>
            </a:r>
            <a:endParaRPr lang="ja-JP" altLang="en-US" sz="1600" dirty="0">
              <a:solidFill>
                <a:schemeClr val="accent6"/>
              </a:solidFill>
              <a:latin typeface="+mn-ea"/>
              <a:ea typeface="+mn-ea"/>
            </a:endParaRPr>
          </a:p>
        </p:txBody>
      </p:sp>
      <p:sp>
        <p:nvSpPr>
          <p:cNvPr id="5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1808982"/>
            <a:ext cx="720008" cy="360004"/>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p12</a:t>
            </a:r>
            <a:endParaRPr lang="ja-JP" altLang="en-US" sz="1600" dirty="0">
              <a:solidFill>
                <a:schemeClr val="tx1">
                  <a:lumMod val="75000"/>
                  <a:lumOff val="25000"/>
                </a:schemeClr>
              </a:solidFill>
              <a:latin typeface="+mn-ea"/>
            </a:endParaRPr>
          </a:p>
        </p:txBody>
      </p:sp>
      <p:sp>
        <p:nvSpPr>
          <p:cNvPr id="5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2168986"/>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p24</a:t>
            </a:r>
            <a:endParaRPr lang="ja-JP" altLang="en-US" sz="1600" dirty="0">
              <a:solidFill>
                <a:schemeClr val="tx1">
                  <a:lumMod val="75000"/>
                  <a:lumOff val="25000"/>
                </a:schemeClr>
              </a:solidFill>
              <a:latin typeface="+mn-ea"/>
              <a:ea typeface="+mn-ea"/>
            </a:endParaRPr>
          </a:p>
        </p:txBody>
      </p:sp>
      <p:sp>
        <p:nvSpPr>
          <p:cNvPr id="5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2168986"/>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accent6"/>
                </a:solidFill>
                <a:latin typeface="Consolas" panose="020B0609020204030204" pitchFamily="49" charset="0"/>
              </a:rPr>
              <a:t>p20</a:t>
            </a:r>
            <a:endParaRPr lang="ja-JP" altLang="en-US" sz="1600" dirty="0">
              <a:solidFill>
                <a:schemeClr val="accent6"/>
              </a:solidFill>
              <a:latin typeface="+mn-ea"/>
            </a:endParaRPr>
          </a:p>
        </p:txBody>
      </p:sp>
      <p:sp>
        <p:nvSpPr>
          <p:cNvPr id="5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3" y="1808982"/>
            <a:ext cx="360004" cy="360004"/>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0</a:t>
            </a:r>
            <a:endParaRPr lang="ja-JP" altLang="en-US" sz="1600" dirty="0">
              <a:solidFill>
                <a:schemeClr val="tx1">
                  <a:lumMod val="75000"/>
                  <a:lumOff val="25000"/>
                </a:schemeClr>
              </a:solidFill>
              <a:latin typeface="+mn-ea"/>
            </a:endParaRPr>
          </a:p>
        </p:txBody>
      </p:sp>
      <p:sp>
        <p:nvSpPr>
          <p:cNvPr id="5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2168986"/>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b="1" dirty="0">
                <a:solidFill>
                  <a:schemeClr val="accent6"/>
                </a:solidFill>
                <a:latin typeface="Consolas" panose="020B0609020204030204" pitchFamily="49" charset="0"/>
              </a:rPr>
              <a:t>1</a:t>
            </a:r>
            <a:endParaRPr lang="ja-JP" altLang="en-US" sz="1600" b="1" dirty="0">
              <a:solidFill>
                <a:schemeClr val="accent6"/>
              </a:solidFill>
              <a:latin typeface="+mn-ea"/>
            </a:endParaRPr>
          </a:p>
        </p:txBody>
      </p:sp>
      <p:sp>
        <p:nvSpPr>
          <p:cNvPr id="5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2528990"/>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p32</a:t>
            </a:r>
            <a:endParaRPr lang="ja-JP" altLang="en-US" sz="1600" dirty="0">
              <a:solidFill>
                <a:schemeClr val="tx1">
                  <a:lumMod val="75000"/>
                  <a:lumOff val="25000"/>
                </a:schemeClr>
              </a:solidFill>
              <a:latin typeface="+mn-ea"/>
              <a:ea typeface="+mn-ea"/>
            </a:endParaRPr>
          </a:p>
        </p:txBody>
      </p:sp>
      <p:sp>
        <p:nvSpPr>
          <p:cNvPr id="5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2528990"/>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p15</a:t>
            </a:r>
            <a:endParaRPr lang="ja-JP" altLang="en-US" sz="1600" dirty="0">
              <a:solidFill>
                <a:schemeClr val="tx1">
                  <a:lumMod val="75000"/>
                  <a:lumOff val="25000"/>
                </a:schemeClr>
              </a:solidFill>
              <a:latin typeface="+mn-ea"/>
            </a:endParaRPr>
          </a:p>
        </p:txBody>
      </p:sp>
      <p:sp>
        <p:nvSpPr>
          <p:cNvPr id="5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2528990"/>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1</a:t>
            </a:r>
            <a:endParaRPr lang="ja-JP" altLang="en-US" sz="1600" dirty="0">
              <a:solidFill>
                <a:schemeClr val="tx1">
                  <a:lumMod val="75000"/>
                  <a:lumOff val="25000"/>
                </a:schemeClr>
              </a:solidFill>
              <a:latin typeface="+mn-ea"/>
            </a:endParaRPr>
          </a:p>
        </p:txBody>
      </p:sp>
      <p:sp>
        <p:nvSpPr>
          <p:cNvPr id="5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2888994"/>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a typeface="+mn-ea"/>
            </a:endParaRPr>
          </a:p>
        </p:txBody>
      </p:sp>
      <p:sp>
        <p:nvSpPr>
          <p:cNvPr id="6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2888994"/>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6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2888994"/>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6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3248998"/>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a typeface="+mn-ea"/>
            </a:endParaRPr>
          </a:p>
        </p:txBody>
      </p:sp>
      <p:sp>
        <p:nvSpPr>
          <p:cNvPr id="63"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3248998"/>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6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3248998"/>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65"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3609002"/>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a typeface="+mn-ea"/>
            </a:endParaRPr>
          </a:p>
        </p:txBody>
      </p:sp>
      <p:sp>
        <p:nvSpPr>
          <p:cNvPr id="6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3609002"/>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6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3609002"/>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6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3969006"/>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sz="1600" dirty="0">
              <a:solidFill>
                <a:schemeClr val="tx1">
                  <a:lumMod val="75000"/>
                  <a:lumOff val="25000"/>
                </a:schemeClr>
              </a:solidFill>
              <a:latin typeface="+mn-ea"/>
            </a:endParaRPr>
          </a:p>
        </p:txBody>
      </p:sp>
      <p:sp>
        <p:nvSpPr>
          <p:cNvPr id="6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935976" y="2888994"/>
            <a:ext cx="720008"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tx1">
                    <a:lumMod val="75000"/>
                    <a:lumOff val="25000"/>
                  </a:schemeClr>
                </a:solidFill>
                <a:latin typeface="Consolas" panose="020B0609020204030204" pitchFamily="49" charset="0"/>
              </a:rPr>
              <a:t>p45</a:t>
            </a:r>
            <a:endParaRPr lang="ja-JP" altLang="en-US" sz="1600" dirty="0">
              <a:solidFill>
                <a:schemeClr val="tx1">
                  <a:lumMod val="75000"/>
                  <a:lumOff val="25000"/>
                </a:schemeClr>
              </a:solidFill>
              <a:latin typeface="+mn-ea"/>
              <a:ea typeface="+mn-ea"/>
            </a:endParaRPr>
          </a:p>
        </p:txBody>
      </p:sp>
      <p:sp>
        <p:nvSpPr>
          <p:cNvPr id="70"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5984" y="2888994"/>
            <a:ext cx="720008" cy="360004"/>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accent6"/>
                </a:solidFill>
                <a:latin typeface="Consolas" panose="020B0609020204030204" pitchFamily="49" charset="0"/>
              </a:rPr>
              <a:t>p20</a:t>
            </a:r>
            <a:endParaRPr lang="ja-JP" altLang="en-US" sz="1600" dirty="0">
              <a:solidFill>
                <a:schemeClr val="accent6"/>
              </a:solidFill>
              <a:latin typeface="+mn-ea"/>
            </a:endParaRPr>
          </a:p>
        </p:txBody>
      </p:sp>
      <p:sp>
        <p:nvSpPr>
          <p:cNvPr id="71"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375992" y="2888994"/>
            <a:ext cx="360004" cy="360004"/>
          </a:xfrm>
          <a:prstGeom prst="rect">
            <a:avLst/>
          </a:prstGeom>
          <a:noFill/>
          <a:ln>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b="1" dirty="0">
                <a:solidFill>
                  <a:schemeClr val="accent6"/>
                </a:solidFill>
                <a:latin typeface="Consolas" panose="020B0609020204030204" pitchFamily="49" charset="0"/>
              </a:rPr>
              <a:t>1</a:t>
            </a:r>
            <a:endParaRPr lang="ja-JP" altLang="en-US" sz="1600" b="1" dirty="0">
              <a:solidFill>
                <a:schemeClr val="accent6"/>
              </a:solidFill>
              <a:latin typeface="+mn-ea"/>
            </a:endParaRPr>
          </a:p>
        </p:txBody>
      </p:sp>
      <p:sp>
        <p:nvSpPr>
          <p:cNvPr id="7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5015988" y="1268976"/>
            <a:ext cx="720008" cy="360004"/>
          </a:xfrm>
          <a:prstGeom prst="rect">
            <a:avLst/>
          </a:prstGeom>
          <a:noFill/>
          <a:ln>
            <a:noFill/>
            <a:headEnd/>
            <a:tailEnd/>
          </a:ln>
          <a:effectLst/>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en-US" altLang="ja-JP" sz="1600" dirty="0">
                <a:solidFill>
                  <a:schemeClr val="accent6"/>
                </a:solidFill>
                <a:latin typeface="Consolas" panose="020B0609020204030204" pitchFamily="49" charset="0"/>
              </a:rPr>
              <a:t>p20</a:t>
            </a:r>
            <a:endParaRPr lang="ja-JP" altLang="en-US" sz="1600" dirty="0">
              <a:solidFill>
                <a:schemeClr val="accent6"/>
              </a:solidFill>
              <a:latin typeface="+mn-ea"/>
            </a:endParaRPr>
          </a:p>
        </p:txBody>
      </p:sp>
      <p:sp>
        <p:nvSpPr>
          <p:cNvPr id="73" name="下矢印 72"/>
          <p:cNvSpPr/>
          <p:nvPr/>
        </p:nvSpPr>
        <p:spPr bwMode="auto">
          <a:xfrm>
            <a:off x="5015988" y="1628981"/>
            <a:ext cx="360004" cy="2520028"/>
          </a:xfrm>
          <a:prstGeom prst="downArrow">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4" name="フリーフォーム 73"/>
          <p:cNvSpPr>
            <a:spLocks noChangeArrowheads="1"/>
          </p:cNvSpPr>
          <p:nvPr/>
        </p:nvSpPr>
        <p:spPr bwMode="auto">
          <a:xfrm rot="-5400000">
            <a:off x="8256026" y="2708992"/>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1"/>
          </a:lnRef>
          <a:fillRef idx="2">
            <a:schemeClr val="accent1"/>
          </a:fillRef>
          <a:effectRef idx="1">
            <a:schemeClr val="accent1"/>
          </a:effectRef>
          <a:fontRef idx="minor">
            <a:schemeClr val="dk1"/>
          </a:fontRef>
        </p:style>
        <p:txBody>
          <a:bodyPr vert="eaVert" wrap="square" anchor="ctr">
            <a:noAutofit/>
          </a:bodyPr>
          <a:lstStyle/>
          <a:p>
            <a:pPr algn="ctr"/>
            <a:r>
              <a:rPr lang="ja-JP" altLang="en-US" sz="1600" dirty="0">
                <a:latin typeface="Arial Narrow" pitchFamily="34" charset="0"/>
                <a:cs typeface="Times New Roman" pitchFamily="18" charset="0"/>
              </a:rPr>
              <a:t>演算器</a:t>
            </a:r>
          </a:p>
        </p:txBody>
      </p:sp>
      <p:sp>
        <p:nvSpPr>
          <p:cNvPr id="75" name="Freeform 25"/>
          <p:cNvSpPr>
            <a:spLocks/>
          </p:cNvSpPr>
          <p:nvPr/>
        </p:nvSpPr>
        <p:spPr bwMode="auto">
          <a:xfrm>
            <a:off x="7716019" y="1718981"/>
            <a:ext cx="2502431"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1"/>
          </a:lnRef>
          <a:fillRef idx="2">
            <a:schemeClr val="accent1"/>
          </a:fillRef>
          <a:effectRef idx="1">
            <a:schemeClr val="accent1"/>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レジスタ・ファイル</a:t>
            </a:r>
          </a:p>
        </p:txBody>
      </p:sp>
    </p:spTree>
    <p:extLst>
      <p:ext uri="{BB962C8B-B14F-4D97-AF65-F5344CB8AC3E}">
        <p14:creationId xmlns:p14="http://schemas.microsoft.com/office/powerpoint/2010/main" val="35386796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DA3969-16C9-414E-99A2-19CD6A2B5E25}"/>
              </a:ext>
            </a:extLst>
          </p:cNvPr>
          <p:cNvSpPr>
            <a:spLocks noGrp="1"/>
          </p:cNvSpPr>
          <p:nvPr>
            <p:ph type="title"/>
          </p:nvPr>
        </p:nvSpPr>
        <p:spPr/>
        <p:txBody>
          <a:bodyPr/>
          <a:lstStyle/>
          <a:p>
            <a:r>
              <a:rPr kumimoji="1" lang="ja-JP" altLang="en-US" dirty="0"/>
              <a:t>バックエンドへの命令の発行</a:t>
            </a:r>
          </a:p>
        </p:txBody>
      </p:sp>
      <p:sp>
        <p:nvSpPr>
          <p:cNvPr id="3" name="テキスト プレースホルダー 2">
            <a:extLst>
              <a:ext uri="{FF2B5EF4-FFF2-40B4-BE49-F238E27FC236}">
                <a16:creationId xmlns:a16="http://schemas.microsoft.com/office/drawing/2014/main" id="{8B1596D3-5E84-4F12-89E3-28EA8850F188}"/>
              </a:ext>
            </a:extLst>
          </p:cNvPr>
          <p:cNvSpPr>
            <a:spLocks noGrp="1"/>
          </p:cNvSpPr>
          <p:nvPr>
            <p:ph type="body" sz="quarter" idx="10"/>
          </p:nvPr>
        </p:nvSpPr>
        <p:spPr/>
        <p:txBody>
          <a:bodyPr/>
          <a:lstStyle/>
          <a:p>
            <a:r>
              <a:rPr kumimoji="1" lang="ja-JP" altLang="en-US" dirty="0"/>
              <a:t>発行キューの作り方</a:t>
            </a:r>
            <a:endParaRPr kumimoji="1" lang="en-US" altLang="ja-JP" dirty="0"/>
          </a:p>
          <a:p>
            <a:pPr marL="817200" lvl="1" indent="-457200">
              <a:buFont typeface="+mj-lt"/>
              <a:buAutoNum type="arabicPeriod"/>
            </a:pPr>
            <a:r>
              <a:rPr lang="ja-JP" altLang="en-US" dirty="0"/>
              <a:t>スコアボードを使った方法</a:t>
            </a:r>
            <a:endParaRPr lang="en-US" altLang="ja-JP" dirty="0"/>
          </a:p>
          <a:p>
            <a:pPr marL="817200" lvl="1" indent="-457200">
              <a:buFont typeface="+mj-lt"/>
              <a:buAutoNum type="arabicPeriod"/>
            </a:pPr>
            <a:r>
              <a:rPr kumimoji="1" lang="ja-JP" altLang="en-US" dirty="0"/>
              <a:t>連想検索を使う方法</a:t>
            </a:r>
            <a:endParaRPr kumimoji="1" lang="en-US" altLang="ja-JP" dirty="0"/>
          </a:p>
          <a:p>
            <a:pPr marL="817200" lvl="1" indent="-457200">
              <a:buFont typeface="+mj-lt"/>
              <a:buAutoNum type="arabicPeriod"/>
            </a:pPr>
            <a:r>
              <a:rPr lang="ja-JP" altLang="en-US" dirty="0">
                <a:solidFill>
                  <a:schemeClr val="accent5"/>
                </a:solidFill>
              </a:rPr>
              <a:t>行列を使う方法</a:t>
            </a:r>
            <a:endParaRPr kumimoji="1" lang="ja-JP" altLang="en-US" dirty="0">
              <a:solidFill>
                <a:schemeClr val="accent5"/>
              </a:solidFill>
            </a:endParaRPr>
          </a:p>
        </p:txBody>
      </p:sp>
    </p:spTree>
    <p:extLst>
      <p:ext uri="{BB962C8B-B14F-4D97-AF65-F5344CB8AC3E}">
        <p14:creationId xmlns:p14="http://schemas.microsoft.com/office/powerpoint/2010/main" val="24022966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EC02FA-CF95-4A20-8B6D-1D8051C3EF26}"/>
              </a:ext>
            </a:extLst>
          </p:cNvPr>
          <p:cNvSpPr>
            <a:spLocks noGrp="1"/>
          </p:cNvSpPr>
          <p:nvPr>
            <p:ph type="title"/>
          </p:nvPr>
        </p:nvSpPr>
        <p:spPr/>
        <p:txBody>
          <a:bodyPr/>
          <a:lstStyle/>
          <a:p>
            <a:r>
              <a:rPr kumimoji="1" lang="ja-JP" altLang="en-US" dirty="0"/>
              <a:t>行列を使った方式</a:t>
            </a:r>
          </a:p>
        </p:txBody>
      </p:sp>
      <p:sp>
        <p:nvSpPr>
          <p:cNvPr id="3" name="テキスト プレースホルダー 2">
            <a:extLst>
              <a:ext uri="{FF2B5EF4-FFF2-40B4-BE49-F238E27FC236}">
                <a16:creationId xmlns:a16="http://schemas.microsoft.com/office/drawing/2014/main" id="{E1A94A13-AF23-48F4-BBEF-F8176CA19800}"/>
              </a:ext>
            </a:extLst>
          </p:cNvPr>
          <p:cNvSpPr>
            <a:spLocks noGrp="1"/>
          </p:cNvSpPr>
          <p:nvPr>
            <p:ph type="body" sz="quarter" idx="10"/>
          </p:nvPr>
        </p:nvSpPr>
        <p:spPr/>
        <p:txBody>
          <a:bodyPr/>
          <a:lstStyle/>
          <a:p>
            <a:r>
              <a:rPr kumimoji="1" lang="ja-JP" altLang="en-US" dirty="0"/>
              <a:t>モチベーション：</a:t>
            </a:r>
            <a:r>
              <a:rPr lang="ja-JP" altLang="en-US" dirty="0"/>
              <a:t>連想検索を使った方式の問題</a:t>
            </a:r>
            <a:endParaRPr lang="en-US" altLang="ja-JP" dirty="0"/>
          </a:p>
          <a:p>
            <a:pPr lvl="1"/>
            <a:r>
              <a:rPr lang="ja-JP" altLang="en-US" dirty="0"/>
              <a:t>遅延が大きい</a:t>
            </a:r>
            <a:endParaRPr lang="en-US" altLang="ja-JP" dirty="0"/>
          </a:p>
          <a:p>
            <a:pPr lvl="2"/>
            <a:r>
              <a:rPr lang="ja-JP" altLang="en-US" dirty="0"/>
              <a:t>命令のセレクト後に物理レジスタ番号を読み出す必要がある</a:t>
            </a:r>
            <a:endParaRPr lang="en-US" altLang="ja-JP" dirty="0"/>
          </a:p>
          <a:p>
            <a:pPr lvl="1"/>
            <a:r>
              <a:rPr lang="ja-JP" altLang="en-US" dirty="0"/>
              <a:t>消費電力が大きい</a:t>
            </a:r>
            <a:endParaRPr lang="en-US" altLang="ja-JP" dirty="0"/>
          </a:p>
          <a:p>
            <a:pPr lvl="2"/>
            <a:r>
              <a:rPr kumimoji="1" lang="ja-JP" altLang="en-US" dirty="0"/>
              <a:t>ものすごい数の比較器が同時に稼働している</a:t>
            </a:r>
          </a:p>
        </p:txBody>
      </p:sp>
    </p:spTree>
    <p:extLst>
      <p:ext uri="{BB962C8B-B14F-4D97-AF65-F5344CB8AC3E}">
        <p14:creationId xmlns:p14="http://schemas.microsoft.com/office/powerpoint/2010/main" val="9541358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EC02FA-CF95-4A20-8B6D-1D8051C3EF26}"/>
              </a:ext>
            </a:extLst>
          </p:cNvPr>
          <p:cNvSpPr>
            <a:spLocks noGrp="1"/>
          </p:cNvSpPr>
          <p:nvPr>
            <p:ph type="title"/>
          </p:nvPr>
        </p:nvSpPr>
        <p:spPr/>
        <p:txBody>
          <a:bodyPr/>
          <a:lstStyle/>
          <a:p>
            <a:r>
              <a:rPr kumimoji="1" lang="ja-JP" altLang="en-US" dirty="0"/>
              <a:t>行列を使った方式</a:t>
            </a:r>
          </a:p>
        </p:txBody>
      </p:sp>
      <p:sp>
        <p:nvSpPr>
          <p:cNvPr id="3" name="テキスト プレースホルダー 2">
            <a:extLst>
              <a:ext uri="{FF2B5EF4-FFF2-40B4-BE49-F238E27FC236}">
                <a16:creationId xmlns:a16="http://schemas.microsoft.com/office/drawing/2014/main" id="{E1A94A13-AF23-48F4-BBEF-F8176CA19800}"/>
              </a:ext>
            </a:extLst>
          </p:cNvPr>
          <p:cNvSpPr>
            <a:spLocks noGrp="1"/>
          </p:cNvSpPr>
          <p:nvPr>
            <p:ph type="body" sz="quarter" idx="10"/>
          </p:nvPr>
        </p:nvSpPr>
        <p:spPr/>
        <p:txBody>
          <a:bodyPr/>
          <a:lstStyle/>
          <a:p>
            <a:r>
              <a:rPr lang="ja-JP" altLang="en-US" dirty="0"/>
              <a:t>マトリクス・スケジューラ</a:t>
            </a:r>
            <a:endParaRPr lang="en-US" altLang="ja-JP" dirty="0"/>
          </a:p>
          <a:p>
            <a:pPr lvl="1"/>
            <a:r>
              <a:rPr lang="en-US" altLang="ja-JP" sz="1600" dirty="0"/>
              <a:t>Masahiro Goshima et al., A High-Speed Dynamic Instruction Scheduling Scheme for Superscalar Processors, MICRO 2001</a:t>
            </a:r>
          </a:p>
          <a:p>
            <a:pPr lvl="1"/>
            <a:r>
              <a:rPr lang="en-US" altLang="ja-JP" sz="1600" dirty="0" err="1"/>
              <a:t>Sassone</a:t>
            </a:r>
            <a:r>
              <a:rPr lang="en-US" altLang="ja-JP" sz="1600" dirty="0"/>
              <a:t>, Peter G. et al., Matrix Scheduler Reloaded, ISCA 2007</a:t>
            </a:r>
          </a:p>
          <a:p>
            <a:r>
              <a:rPr kumimoji="1" lang="ja-JP" altLang="en-US" dirty="0"/>
              <a:t>行列状の構造を使って </a:t>
            </a:r>
            <a:r>
              <a:rPr kumimoji="1" lang="en-US" altLang="ja-JP" dirty="0"/>
              <a:t>wakeup </a:t>
            </a:r>
            <a:r>
              <a:rPr kumimoji="1" lang="ja-JP" altLang="en-US" dirty="0"/>
              <a:t>を行う</a:t>
            </a:r>
            <a:endParaRPr kumimoji="1" lang="en-US" altLang="ja-JP" dirty="0"/>
          </a:p>
          <a:p>
            <a:pPr lvl="1"/>
            <a:r>
              <a:rPr lang="ja-JP" altLang="en-US" dirty="0"/>
              <a:t>各命令が依存元命令のビットベクタもつ</a:t>
            </a:r>
            <a:endParaRPr kumimoji="1" lang="en-US" altLang="ja-JP" dirty="0"/>
          </a:p>
          <a:p>
            <a:pPr lvl="1"/>
            <a:r>
              <a:rPr lang="ja-JP" altLang="en-US" dirty="0"/>
              <a:t>レジスタ番号を介さずに命令 </a:t>
            </a:r>
            <a:r>
              <a:rPr lang="en-US" altLang="ja-JP" dirty="0"/>
              <a:t>to </a:t>
            </a:r>
            <a:r>
              <a:rPr lang="ja-JP" altLang="en-US" dirty="0"/>
              <a:t>命令で直接 </a:t>
            </a:r>
            <a:r>
              <a:rPr lang="en-US" altLang="ja-JP" dirty="0"/>
              <a:t>wakeup</a:t>
            </a:r>
          </a:p>
          <a:p>
            <a:pPr lvl="1"/>
            <a:r>
              <a:rPr lang="ja-JP" altLang="en-US" dirty="0"/>
              <a:t>代表的な現代の高性能 </a:t>
            </a:r>
            <a:r>
              <a:rPr lang="en-US" altLang="ja-JP" dirty="0"/>
              <a:t>CPU </a:t>
            </a:r>
            <a:r>
              <a:rPr lang="ja-JP" altLang="en-US" dirty="0"/>
              <a:t>ではこれを使っている</a:t>
            </a:r>
            <a:endParaRPr lang="en-US" altLang="ja-JP" dirty="0"/>
          </a:p>
          <a:p>
            <a:pPr lvl="2"/>
            <a:r>
              <a:rPr kumimoji="1" lang="en-US" altLang="ja-JP" dirty="0"/>
              <a:t>Dependency matrix </a:t>
            </a:r>
            <a:r>
              <a:rPr lang="ja-JP" altLang="en-US" dirty="0"/>
              <a:t>や </a:t>
            </a:r>
            <a:r>
              <a:rPr lang="en-US" altLang="ja-JP" dirty="0"/>
              <a:t>age matrix </a:t>
            </a:r>
            <a:r>
              <a:rPr lang="ja-JP" altLang="en-US" dirty="0"/>
              <a:t>などの用語が資料にみられる</a:t>
            </a:r>
            <a:endParaRPr kumimoji="1" lang="ja-JP" altLang="en-US" dirty="0"/>
          </a:p>
        </p:txBody>
      </p:sp>
    </p:spTree>
    <p:extLst>
      <p:ext uri="{BB962C8B-B14F-4D97-AF65-F5344CB8AC3E}">
        <p14:creationId xmlns:p14="http://schemas.microsoft.com/office/powerpoint/2010/main" val="1791123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マトリクス・スケジューラ</a:t>
            </a:r>
            <a:endParaRPr kumimoji="1" lang="ja-JP" altLang="en-US" dirty="0"/>
          </a:p>
        </p:txBody>
      </p:sp>
      <p:sp>
        <p:nvSpPr>
          <p:cNvPr id="3" name="コンテンツ プレースホルダー 2"/>
          <p:cNvSpPr>
            <a:spLocks noGrp="1"/>
          </p:cNvSpPr>
          <p:nvPr>
            <p:ph idx="1"/>
          </p:nvPr>
        </p:nvSpPr>
        <p:spPr>
          <a:xfrm>
            <a:off x="2209800" y="4382268"/>
            <a:ext cx="7848600" cy="2071068"/>
          </a:xfrm>
        </p:spPr>
        <p:txBody>
          <a:bodyPr/>
          <a:lstStyle/>
          <a:p>
            <a:r>
              <a:rPr lang="ja-JP" altLang="en-US" dirty="0"/>
              <a:t>行，列がそれぞれ発行キューのエントリに対応</a:t>
            </a:r>
            <a:endParaRPr lang="en-US" altLang="ja-JP" dirty="0"/>
          </a:p>
          <a:p>
            <a:pPr lvl="1"/>
            <a:r>
              <a:rPr kumimoji="1" lang="ja-JP" altLang="en-US" dirty="0"/>
              <a:t>行：コンシューマ　　列：プロデューサ</a:t>
            </a:r>
            <a:endParaRPr kumimoji="1" lang="en-US" altLang="ja-JP" dirty="0"/>
          </a:p>
          <a:p>
            <a:r>
              <a:rPr lang="ja-JP" altLang="en-US" dirty="0"/>
              <a:t>プロデューサとコンシューマの交点により依存関係を表す</a:t>
            </a:r>
            <a:endParaRPr lang="en-US" altLang="ja-JP" dirty="0"/>
          </a:p>
          <a:p>
            <a:pPr lvl="1"/>
            <a:r>
              <a:rPr lang="ja-JP" altLang="en-US" dirty="0"/>
              <a:t>各行は，その命令が依存している列に１を立てる</a:t>
            </a:r>
            <a:endParaRPr lang="en-US" altLang="ja-JP" dirty="0"/>
          </a:p>
        </p:txBody>
      </p:sp>
      <p:sp>
        <p:nvSpPr>
          <p:cNvPr id="4" name="スライド番号プレースホルダー 3"/>
          <p:cNvSpPr>
            <a:spLocks noGrp="1"/>
          </p:cNvSpPr>
          <p:nvPr>
            <p:ph type="sldNum" sz="quarter" idx="10"/>
          </p:nvPr>
        </p:nvSpPr>
        <p:spPr/>
        <p:txBody>
          <a:bodyPr/>
          <a:lstStyle/>
          <a:p>
            <a:fld id="{D2D8002D-B5B0-4BAC-B1F6-782DDCCE6D9C}" type="slidenum">
              <a:rPr kumimoji="1" lang="ja-JP" altLang="en-US" smtClean="0"/>
              <a:t>59</a:t>
            </a:fld>
            <a:endParaRPr kumimoji="1" lang="ja-JP" altLang="en-US"/>
          </a:p>
        </p:txBody>
      </p:sp>
      <p:sp>
        <p:nvSpPr>
          <p:cNvPr id="82" name="Rectangle 3"/>
          <p:cNvSpPr>
            <a:spLocks noChangeArrowheads="1"/>
          </p:cNvSpPr>
          <p:nvPr/>
        </p:nvSpPr>
        <p:spPr bwMode="auto">
          <a:xfrm>
            <a:off x="2405960" y="1988984"/>
            <a:ext cx="72072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dirty="0" err="1">
                <a:solidFill>
                  <a:schemeClr val="tx1">
                    <a:lumMod val="75000"/>
                    <a:lumOff val="25000"/>
                  </a:schemeClr>
                </a:solidFill>
                <a:latin typeface="Consolas" panose="020B0609020204030204" pitchFamily="49" charset="0"/>
                <a:ea typeface="ＭＳ Ｐゴシック" charset="-128"/>
              </a:rPr>
              <a:t>ld</a:t>
            </a:r>
            <a:endParaRPr lang="en-US" altLang="ja-JP" sz="2000" b="1" dirty="0">
              <a:solidFill>
                <a:schemeClr val="tx1">
                  <a:lumMod val="75000"/>
                  <a:lumOff val="25000"/>
                </a:schemeClr>
              </a:solidFill>
              <a:latin typeface="Consolas" panose="020B0609020204030204" pitchFamily="49" charset="0"/>
              <a:ea typeface="ＭＳ Ｐゴシック" charset="-128"/>
            </a:endParaRPr>
          </a:p>
        </p:txBody>
      </p:sp>
      <p:sp>
        <p:nvSpPr>
          <p:cNvPr id="83" name="Rectangle 4"/>
          <p:cNvSpPr>
            <a:spLocks noChangeArrowheads="1"/>
          </p:cNvSpPr>
          <p:nvPr/>
        </p:nvSpPr>
        <p:spPr bwMode="auto">
          <a:xfrm>
            <a:off x="2405960" y="3338999"/>
            <a:ext cx="72072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dirty="0">
                <a:solidFill>
                  <a:schemeClr val="tx1">
                    <a:lumMod val="75000"/>
                    <a:lumOff val="25000"/>
                  </a:schemeClr>
                </a:solidFill>
                <a:latin typeface="Consolas" panose="020B0609020204030204" pitchFamily="49" charset="0"/>
                <a:ea typeface="ＭＳ Ｐゴシック" charset="-128"/>
              </a:rPr>
              <a:t>add</a:t>
            </a:r>
          </a:p>
        </p:txBody>
      </p:sp>
      <p:sp>
        <p:nvSpPr>
          <p:cNvPr id="84" name="Rectangle 5"/>
          <p:cNvSpPr>
            <a:spLocks noChangeArrowheads="1"/>
          </p:cNvSpPr>
          <p:nvPr/>
        </p:nvSpPr>
        <p:spPr bwMode="auto">
          <a:xfrm>
            <a:off x="4025978" y="1988984"/>
            <a:ext cx="989013"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dirty="0">
                <a:solidFill>
                  <a:schemeClr val="tx1">
                    <a:lumMod val="75000"/>
                    <a:lumOff val="25000"/>
                  </a:schemeClr>
                </a:solidFill>
                <a:latin typeface="Consolas" panose="020B0609020204030204" pitchFamily="49" charset="0"/>
                <a:ea typeface="ＭＳ Ｐゴシック" charset="-128"/>
              </a:rPr>
              <a:t>*(p10)</a:t>
            </a:r>
          </a:p>
        </p:txBody>
      </p:sp>
      <p:sp>
        <p:nvSpPr>
          <p:cNvPr id="85" name="Rectangle 7"/>
          <p:cNvSpPr>
            <a:spLocks noChangeArrowheads="1"/>
          </p:cNvSpPr>
          <p:nvPr/>
        </p:nvSpPr>
        <p:spPr bwMode="auto">
          <a:xfrm>
            <a:off x="3665973" y="1988984"/>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dirty="0">
                <a:solidFill>
                  <a:schemeClr val="tx1">
                    <a:lumMod val="75000"/>
                    <a:lumOff val="25000"/>
                  </a:schemeClr>
                </a:solidFill>
                <a:latin typeface="Consolas" panose="020B0609020204030204" pitchFamily="49" charset="0"/>
                <a:ea typeface="ＭＳ Ｐゴシック" charset="-128"/>
              </a:rPr>
              <a:t>=</a:t>
            </a:r>
          </a:p>
        </p:txBody>
      </p:sp>
      <p:sp>
        <p:nvSpPr>
          <p:cNvPr id="87" name="Rectangle 9"/>
          <p:cNvSpPr>
            <a:spLocks noChangeArrowheads="1"/>
          </p:cNvSpPr>
          <p:nvPr/>
        </p:nvSpPr>
        <p:spPr bwMode="auto">
          <a:xfrm>
            <a:off x="3665615" y="3337997"/>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a:solidFill>
                  <a:schemeClr val="tx1">
                    <a:lumMod val="75000"/>
                    <a:lumOff val="25000"/>
                  </a:schemeClr>
                </a:solidFill>
                <a:latin typeface="Consolas" panose="020B0609020204030204" pitchFamily="49" charset="0"/>
                <a:ea typeface="ＭＳ Ｐゴシック" charset="-128"/>
              </a:rPr>
              <a:t>=</a:t>
            </a:r>
          </a:p>
        </p:txBody>
      </p:sp>
      <p:sp>
        <p:nvSpPr>
          <p:cNvPr id="88" name="Rectangle 10"/>
          <p:cNvSpPr>
            <a:spLocks noChangeArrowheads="1"/>
          </p:cNvSpPr>
          <p:nvPr/>
        </p:nvSpPr>
        <p:spPr bwMode="auto">
          <a:xfrm>
            <a:off x="2407535" y="2887049"/>
            <a:ext cx="720725"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dirty="0" err="1">
                <a:solidFill>
                  <a:schemeClr val="tx1">
                    <a:lumMod val="75000"/>
                    <a:lumOff val="25000"/>
                  </a:schemeClr>
                </a:solidFill>
                <a:latin typeface="Consolas" panose="020B0609020204030204" pitchFamily="49" charset="0"/>
                <a:ea typeface="ＭＳ Ｐゴシック" charset="-128"/>
              </a:rPr>
              <a:t>sll</a:t>
            </a:r>
            <a:endParaRPr lang="en-US" altLang="ja-JP" sz="2000" b="1" dirty="0">
              <a:solidFill>
                <a:schemeClr val="tx1">
                  <a:lumMod val="75000"/>
                  <a:lumOff val="25000"/>
                </a:schemeClr>
              </a:solidFill>
              <a:latin typeface="Consolas" panose="020B0609020204030204" pitchFamily="49" charset="0"/>
              <a:ea typeface="ＭＳ Ｐゴシック" charset="-128"/>
            </a:endParaRPr>
          </a:p>
        </p:txBody>
      </p:sp>
      <p:sp>
        <p:nvSpPr>
          <p:cNvPr id="89" name="Rectangle 12"/>
          <p:cNvSpPr>
            <a:spLocks noChangeArrowheads="1"/>
          </p:cNvSpPr>
          <p:nvPr/>
        </p:nvSpPr>
        <p:spPr bwMode="auto">
          <a:xfrm>
            <a:off x="4531460" y="2887049"/>
            <a:ext cx="539750"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a:solidFill>
                  <a:schemeClr val="tx1">
                    <a:lumMod val="75000"/>
                    <a:lumOff val="25000"/>
                  </a:schemeClr>
                </a:solidFill>
                <a:latin typeface="Consolas" panose="020B0609020204030204" pitchFamily="49" charset="0"/>
                <a:ea typeface="ＭＳ Ｐゴシック" charset="-128"/>
              </a:rPr>
              <a:t>&lt;&lt; 2</a:t>
            </a:r>
          </a:p>
        </p:txBody>
      </p:sp>
      <p:sp>
        <p:nvSpPr>
          <p:cNvPr id="103" name="Rectangle 13"/>
          <p:cNvSpPr>
            <a:spLocks noChangeArrowheads="1"/>
          </p:cNvSpPr>
          <p:nvPr/>
        </p:nvSpPr>
        <p:spPr bwMode="auto">
          <a:xfrm>
            <a:off x="3665615" y="2888636"/>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a:solidFill>
                  <a:schemeClr val="tx1">
                    <a:lumMod val="75000"/>
                    <a:lumOff val="25000"/>
                  </a:schemeClr>
                </a:solidFill>
                <a:latin typeface="Consolas" panose="020B0609020204030204" pitchFamily="49" charset="0"/>
                <a:ea typeface="ＭＳ Ｐゴシック" charset="-128"/>
              </a:rPr>
              <a:t>=</a:t>
            </a:r>
          </a:p>
        </p:txBody>
      </p:sp>
      <p:sp>
        <p:nvSpPr>
          <p:cNvPr id="110" name="Rectangle 16"/>
          <p:cNvSpPr>
            <a:spLocks noChangeArrowheads="1"/>
          </p:cNvSpPr>
          <p:nvPr/>
        </p:nvSpPr>
        <p:spPr bwMode="auto">
          <a:xfrm>
            <a:off x="2404955" y="2438345"/>
            <a:ext cx="72072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dirty="0" err="1">
                <a:solidFill>
                  <a:schemeClr val="tx1">
                    <a:lumMod val="75000"/>
                    <a:lumOff val="25000"/>
                  </a:schemeClr>
                </a:solidFill>
                <a:latin typeface="Consolas" panose="020B0609020204030204" pitchFamily="49" charset="0"/>
                <a:ea typeface="ＭＳ Ｐゴシック" charset="-128"/>
              </a:rPr>
              <a:t>sll</a:t>
            </a:r>
            <a:endParaRPr lang="en-US" altLang="ja-JP" sz="2000" b="1" dirty="0">
              <a:solidFill>
                <a:schemeClr val="tx1">
                  <a:lumMod val="75000"/>
                  <a:lumOff val="25000"/>
                </a:schemeClr>
              </a:solidFill>
              <a:latin typeface="Consolas" panose="020B0609020204030204" pitchFamily="49" charset="0"/>
              <a:ea typeface="ＭＳ Ｐゴシック" charset="-128"/>
            </a:endParaRPr>
          </a:p>
        </p:txBody>
      </p:sp>
      <p:sp>
        <p:nvSpPr>
          <p:cNvPr id="111" name="Rectangle 18"/>
          <p:cNvSpPr>
            <a:spLocks noChangeArrowheads="1"/>
          </p:cNvSpPr>
          <p:nvPr/>
        </p:nvSpPr>
        <p:spPr bwMode="auto">
          <a:xfrm>
            <a:off x="4530145" y="2438345"/>
            <a:ext cx="53975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dirty="0">
                <a:solidFill>
                  <a:schemeClr val="tx1">
                    <a:lumMod val="75000"/>
                    <a:lumOff val="25000"/>
                  </a:schemeClr>
                </a:solidFill>
                <a:latin typeface="Consolas" panose="020B0609020204030204" pitchFamily="49" charset="0"/>
                <a:ea typeface="ＭＳ Ｐゴシック" charset="-128"/>
              </a:rPr>
              <a:t>&lt;&lt; 1</a:t>
            </a:r>
          </a:p>
        </p:txBody>
      </p:sp>
      <p:sp>
        <p:nvSpPr>
          <p:cNvPr id="112" name="Rectangle 19"/>
          <p:cNvSpPr>
            <a:spLocks noChangeArrowheads="1"/>
          </p:cNvSpPr>
          <p:nvPr/>
        </p:nvSpPr>
        <p:spPr bwMode="auto">
          <a:xfrm>
            <a:off x="3663358" y="2438345"/>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dirty="0">
                <a:solidFill>
                  <a:schemeClr val="tx1">
                    <a:lumMod val="75000"/>
                    <a:lumOff val="25000"/>
                  </a:schemeClr>
                </a:solidFill>
                <a:latin typeface="Consolas" panose="020B0609020204030204" pitchFamily="49" charset="0"/>
                <a:ea typeface="ＭＳ Ｐゴシック" charset="-128"/>
              </a:rPr>
              <a:t>=</a:t>
            </a:r>
          </a:p>
        </p:txBody>
      </p:sp>
      <p:sp>
        <p:nvSpPr>
          <p:cNvPr id="123" name="Rectangle 22"/>
          <p:cNvSpPr>
            <a:spLocks noChangeArrowheads="1"/>
          </p:cNvSpPr>
          <p:nvPr/>
        </p:nvSpPr>
        <p:spPr bwMode="auto">
          <a:xfrm>
            <a:off x="4531461" y="3334822"/>
            <a:ext cx="360363"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a:solidFill>
                  <a:schemeClr val="tx1">
                    <a:lumMod val="75000"/>
                    <a:lumOff val="25000"/>
                  </a:schemeClr>
                </a:solidFill>
                <a:latin typeface="Consolas" panose="020B0609020204030204" pitchFamily="49" charset="0"/>
                <a:ea typeface="ＭＳ Ｐゴシック" charset="-128"/>
              </a:rPr>
              <a:t>+</a:t>
            </a:r>
          </a:p>
        </p:txBody>
      </p:sp>
      <p:sp>
        <p:nvSpPr>
          <p:cNvPr id="128" name="Rectangle 21"/>
          <p:cNvSpPr>
            <a:spLocks noChangeArrowheads="1"/>
          </p:cNvSpPr>
          <p:nvPr/>
        </p:nvSpPr>
        <p:spPr bwMode="auto">
          <a:xfrm>
            <a:off x="3215969" y="1988984"/>
            <a:ext cx="35877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dirty="0">
                <a:solidFill>
                  <a:schemeClr val="accent2"/>
                </a:solidFill>
                <a:latin typeface="Consolas" panose="020B0609020204030204" pitchFamily="49" charset="0"/>
                <a:ea typeface="ＭＳ Ｐゴシック" charset="-128"/>
              </a:rPr>
              <a:t>p11</a:t>
            </a:r>
          </a:p>
        </p:txBody>
      </p:sp>
      <p:sp>
        <p:nvSpPr>
          <p:cNvPr id="130" name="Rectangle 21"/>
          <p:cNvSpPr>
            <a:spLocks noChangeArrowheads="1"/>
          </p:cNvSpPr>
          <p:nvPr/>
        </p:nvSpPr>
        <p:spPr bwMode="auto">
          <a:xfrm>
            <a:off x="4133792" y="2438667"/>
            <a:ext cx="35877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dirty="0">
                <a:solidFill>
                  <a:schemeClr val="accent2"/>
                </a:solidFill>
                <a:latin typeface="Consolas" panose="020B0609020204030204" pitchFamily="49" charset="0"/>
                <a:ea typeface="ＭＳ Ｐゴシック" charset="-128"/>
              </a:rPr>
              <a:t>p11</a:t>
            </a:r>
          </a:p>
        </p:txBody>
      </p:sp>
      <p:sp>
        <p:nvSpPr>
          <p:cNvPr id="131" name="Rectangle 21"/>
          <p:cNvSpPr>
            <a:spLocks noChangeArrowheads="1"/>
          </p:cNvSpPr>
          <p:nvPr/>
        </p:nvSpPr>
        <p:spPr bwMode="auto">
          <a:xfrm>
            <a:off x="3215969" y="2438989"/>
            <a:ext cx="35877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dirty="0">
                <a:solidFill>
                  <a:schemeClr val="accent3"/>
                </a:solidFill>
                <a:latin typeface="Consolas" panose="020B0609020204030204" pitchFamily="49" charset="0"/>
                <a:ea typeface="ＭＳ Ｐゴシック" charset="-128"/>
              </a:rPr>
              <a:t>p1</a:t>
            </a:r>
            <a:r>
              <a:rPr lang="ja-JP" altLang="en-US" sz="2000" b="1" dirty="0">
                <a:solidFill>
                  <a:schemeClr val="accent3"/>
                </a:solidFill>
                <a:latin typeface="Consolas" panose="020B0609020204030204" pitchFamily="49" charset="0"/>
                <a:ea typeface="ＭＳ Ｐゴシック" charset="-128"/>
              </a:rPr>
              <a:t>２</a:t>
            </a:r>
            <a:endParaRPr lang="en-US" altLang="ja-JP" sz="2000" b="1" dirty="0">
              <a:solidFill>
                <a:schemeClr val="accent3"/>
              </a:solidFill>
              <a:latin typeface="Consolas" panose="020B0609020204030204" pitchFamily="49" charset="0"/>
              <a:ea typeface="ＭＳ Ｐゴシック" charset="-128"/>
            </a:endParaRPr>
          </a:p>
        </p:txBody>
      </p:sp>
      <p:sp>
        <p:nvSpPr>
          <p:cNvPr id="132" name="Rectangle 21"/>
          <p:cNvSpPr>
            <a:spLocks noChangeArrowheads="1"/>
          </p:cNvSpPr>
          <p:nvPr/>
        </p:nvSpPr>
        <p:spPr bwMode="auto">
          <a:xfrm>
            <a:off x="4135057" y="2887048"/>
            <a:ext cx="35877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dirty="0">
                <a:solidFill>
                  <a:schemeClr val="accent2"/>
                </a:solidFill>
                <a:latin typeface="Consolas" panose="020B0609020204030204" pitchFamily="49" charset="0"/>
                <a:ea typeface="ＭＳ Ｐゴシック" charset="-128"/>
              </a:rPr>
              <a:t>p11</a:t>
            </a:r>
          </a:p>
        </p:txBody>
      </p:sp>
      <p:sp>
        <p:nvSpPr>
          <p:cNvPr id="133" name="Rectangle 21"/>
          <p:cNvSpPr>
            <a:spLocks noChangeArrowheads="1"/>
          </p:cNvSpPr>
          <p:nvPr/>
        </p:nvSpPr>
        <p:spPr bwMode="auto">
          <a:xfrm>
            <a:off x="3198953" y="2887048"/>
            <a:ext cx="35877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dirty="0">
                <a:solidFill>
                  <a:schemeClr val="accent6"/>
                </a:solidFill>
                <a:latin typeface="Consolas" panose="020B0609020204030204" pitchFamily="49" charset="0"/>
                <a:ea typeface="ＭＳ Ｐゴシック" charset="-128"/>
              </a:rPr>
              <a:t>p13</a:t>
            </a:r>
          </a:p>
        </p:txBody>
      </p:sp>
      <p:sp>
        <p:nvSpPr>
          <p:cNvPr id="134" name="Rectangle 21"/>
          <p:cNvSpPr>
            <a:spLocks noChangeArrowheads="1"/>
          </p:cNvSpPr>
          <p:nvPr/>
        </p:nvSpPr>
        <p:spPr bwMode="auto">
          <a:xfrm>
            <a:off x="4133792" y="3338641"/>
            <a:ext cx="35877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dirty="0">
                <a:solidFill>
                  <a:schemeClr val="accent3"/>
                </a:solidFill>
                <a:latin typeface="Consolas" panose="020B0609020204030204" pitchFamily="49" charset="0"/>
                <a:ea typeface="ＭＳ Ｐゴシック" charset="-128"/>
              </a:rPr>
              <a:t>p12</a:t>
            </a:r>
          </a:p>
        </p:txBody>
      </p:sp>
      <p:sp>
        <p:nvSpPr>
          <p:cNvPr id="135" name="Rectangle 21"/>
          <p:cNvSpPr>
            <a:spLocks noChangeArrowheads="1"/>
          </p:cNvSpPr>
          <p:nvPr/>
        </p:nvSpPr>
        <p:spPr bwMode="auto">
          <a:xfrm>
            <a:off x="4927145" y="3334822"/>
            <a:ext cx="35877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dirty="0">
                <a:solidFill>
                  <a:schemeClr val="tx1">
                    <a:lumMod val="75000"/>
                    <a:lumOff val="25000"/>
                  </a:schemeClr>
                </a:solidFill>
                <a:latin typeface="Consolas" panose="020B0609020204030204" pitchFamily="49" charset="0"/>
                <a:ea typeface="ＭＳ Ｐゴシック" charset="-128"/>
              </a:rPr>
              <a:t>1</a:t>
            </a:r>
          </a:p>
        </p:txBody>
      </p:sp>
      <p:sp>
        <p:nvSpPr>
          <p:cNvPr id="147" name="Rectangle 21"/>
          <p:cNvSpPr>
            <a:spLocks noChangeArrowheads="1"/>
          </p:cNvSpPr>
          <p:nvPr/>
        </p:nvSpPr>
        <p:spPr bwMode="auto">
          <a:xfrm>
            <a:off x="3198953" y="3338319"/>
            <a:ext cx="35877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dirty="0">
                <a:solidFill>
                  <a:schemeClr val="accent5"/>
                </a:solidFill>
                <a:latin typeface="Consolas" panose="020B0609020204030204" pitchFamily="49" charset="0"/>
                <a:ea typeface="ＭＳ Ｐゴシック" charset="-128"/>
              </a:rPr>
              <a:t>p14</a:t>
            </a:r>
          </a:p>
        </p:txBody>
      </p:sp>
      <p:sp>
        <p:nvSpPr>
          <p:cNvPr id="148" name="Rectangle 3"/>
          <p:cNvSpPr>
            <a:spLocks noChangeArrowheads="1"/>
          </p:cNvSpPr>
          <p:nvPr/>
        </p:nvSpPr>
        <p:spPr bwMode="auto">
          <a:xfrm>
            <a:off x="1992157" y="1988984"/>
            <a:ext cx="72072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solidFill>
                  <a:schemeClr val="accent2"/>
                </a:solidFill>
                <a:latin typeface="Consolas" panose="020B0609020204030204" pitchFamily="49" charset="0"/>
                <a:cs typeface="Times New Roman" pitchFamily="18" charset="0"/>
              </a:rPr>
              <a:t>I</a:t>
            </a:r>
            <a:r>
              <a:rPr lang="en-US" altLang="ja-JP" sz="2400" b="1" i="1" baseline="-25000" dirty="0">
                <a:solidFill>
                  <a:schemeClr val="accent2"/>
                </a:solidFill>
                <a:latin typeface="Consolas" panose="020B0609020204030204" pitchFamily="49" charset="0"/>
                <a:cs typeface="Times New Roman" pitchFamily="18" charset="0"/>
              </a:rPr>
              <a:t>0</a:t>
            </a:r>
            <a:endParaRPr lang="en-US" altLang="ja-JP" sz="2000" b="1" i="1" dirty="0">
              <a:solidFill>
                <a:schemeClr val="accent2"/>
              </a:solidFill>
              <a:latin typeface="Consolas" panose="020B0609020204030204" pitchFamily="49" charset="0"/>
              <a:ea typeface="ＭＳ Ｐゴシック" charset="-128"/>
              <a:cs typeface="Times New Roman" pitchFamily="18" charset="0"/>
            </a:endParaRPr>
          </a:p>
        </p:txBody>
      </p:sp>
      <p:sp>
        <p:nvSpPr>
          <p:cNvPr id="149" name="Rectangle 3"/>
          <p:cNvSpPr>
            <a:spLocks noChangeArrowheads="1"/>
          </p:cNvSpPr>
          <p:nvPr/>
        </p:nvSpPr>
        <p:spPr bwMode="auto">
          <a:xfrm>
            <a:off x="1955955" y="2438989"/>
            <a:ext cx="72072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solidFill>
                  <a:schemeClr val="accent3"/>
                </a:solidFill>
                <a:latin typeface="Consolas" panose="020B0609020204030204" pitchFamily="49" charset="0"/>
                <a:cs typeface="Times New Roman" pitchFamily="18" charset="0"/>
              </a:rPr>
              <a:t>I</a:t>
            </a:r>
            <a:r>
              <a:rPr lang="en-US" altLang="ja-JP" sz="2400" b="1" i="1" baseline="-25000" dirty="0">
                <a:solidFill>
                  <a:schemeClr val="accent3"/>
                </a:solidFill>
                <a:latin typeface="Consolas" panose="020B0609020204030204" pitchFamily="49" charset="0"/>
                <a:cs typeface="Times New Roman" pitchFamily="18" charset="0"/>
              </a:rPr>
              <a:t>1</a:t>
            </a:r>
            <a:endParaRPr lang="en-US" altLang="ja-JP" sz="2000" b="1" i="1" dirty="0">
              <a:solidFill>
                <a:schemeClr val="accent3"/>
              </a:solidFill>
              <a:latin typeface="Consolas" panose="020B0609020204030204" pitchFamily="49" charset="0"/>
              <a:ea typeface="ＭＳ Ｐゴシック" charset="-128"/>
              <a:cs typeface="Times New Roman" pitchFamily="18" charset="0"/>
            </a:endParaRPr>
          </a:p>
        </p:txBody>
      </p:sp>
      <p:sp>
        <p:nvSpPr>
          <p:cNvPr id="150" name="Rectangle 3"/>
          <p:cNvSpPr>
            <a:spLocks noChangeArrowheads="1"/>
          </p:cNvSpPr>
          <p:nvPr/>
        </p:nvSpPr>
        <p:spPr bwMode="auto">
          <a:xfrm>
            <a:off x="1955955" y="2888994"/>
            <a:ext cx="72072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solidFill>
                  <a:schemeClr val="accent6"/>
                </a:solidFill>
                <a:latin typeface="Consolas" panose="020B0609020204030204" pitchFamily="49" charset="0"/>
                <a:cs typeface="Times New Roman" pitchFamily="18" charset="0"/>
              </a:rPr>
              <a:t>I</a:t>
            </a:r>
            <a:r>
              <a:rPr lang="en-US" altLang="ja-JP" sz="2400" b="1" i="1" baseline="-25000" dirty="0">
                <a:solidFill>
                  <a:schemeClr val="accent6"/>
                </a:solidFill>
                <a:latin typeface="Consolas" panose="020B0609020204030204" pitchFamily="49" charset="0"/>
                <a:cs typeface="Times New Roman" pitchFamily="18" charset="0"/>
              </a:rPr>
              <a:t>2</a:t>
            </a:r>
            <a:endParaRPr lang="en-US" altLang="ja-JP" sz="2000" b="1" i="1" dirty="0">
              <a:solidFill>
                <a:schemeClr val="accent6"/>
              </a:solidFill>
              <a:latin typeface="Consolas" panose="020B0609020204030204" pitchFamily="49" charset="0"/>
              <a:ea typeface="ＭＳ Ｐゴシック" charset="-128"/>
              <a:cs typeface="Times New Roman" pitchFamily="18" charset="0"/>
            </a:endParaRPr>
          </a:p>
        </p:txBody>
      </p:sp>
      <p:sp>
        <p:nvSpPr>
          <p:cNvPr id="151" name="Rectangle 3"/>
          <p:cNvSpPr>
            <a:spLocks noChangeArrowheads="1"/>
          </p:cNvSpPr>
          <p:nvPr/>
        </p:nvSpPr>
        <p:spPr bwMode="auto">
          <a:xfrm>
            <a:off x="1955955" y="3338999"/>
            <a:ext cx="72072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solidFill>
                  <a:schemeClr val="accent5"/>
                </a:solidFill>
                <a:latin typeface="Consolas" panose="020B0609020204030204" pitchFamily="49" charset="0"/>
                <a:cs typeface="Times New Roman" pitchFamily="18" charset="0"/>
              </a:rPr>
              <a:t>I</a:t>
            </a:r>
            <a:r>
              <a:rPr lang="en-US" altLang="ja-JP" sz="2400" b="1" i="1" baseline="-25000" dirty="0">
                <a:solidFill>
                  <a:schemeClr val="accent5"/>
                </a:solidFill>
                <a:latin typeface="Consolas" panose="020B0609020204030204" pitchFamily="49" charset="0"/>
                <a:cs typeface="Times New Roman" pitchFamily="18" charset="0"/>
              </a:rPr>
              <a:t>3</a:t>
            </a:r>
            <a:endParaRPr lang="en-US" altLang="ja-JP" sz="2000" b="1" i="1" dirty="0">
              <a:solidFill>
                <a:schemeClr val="accent5"/>
              </a:solidFill>
              <a:latin typeface="Consolas" panose="020B0609020204030204" pitchFamily="49" charset="0"/>
              <a:ea typeface="ＭＳ Ｐゴシック" charset="-128"/>
              <a:cs typeface="Times New Roman" pitchFamily="18" charset="0"/>
            </a:endParaRPr>
          </a:p>
        </p:txBody>
      </p:sp>
      <p:sp>
        <p:nvSpPr>
          <p:cNvPr id="155" name="Rectangle 3"/>
          <p:cNvSpPr>
            <a:spLocks noChangeArrowheads="1"/>
          </p:cNvSpPr>
          <p:nvPr/>
        </p:nvSpPr>
        <p:spPr bwMode="auto">
          <a:xfrm>
            <a:off x="6096000" y="2348880"/>
            <a:ext cx="3600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latin typeface="Consolas" panose="020B0609020204030204" pitchFamily="49" charset="0"/>
                <a:cs typeface="Times New Roman" pitchFamily="18" charset="0"/>
              </a:rPr>
              <a:t>I</a:t>
            </a:r>
            <a:r>
              <a:rPr lang="en-US" altLang="ja-JP" sz="2400" b="1" i="1" baseline="-25000" dirty="0">
                <a:latin typeface="Consolas" panose="020B0609020204030204" pitchFamily="49" charset="0"/>
                <a:cs typeface="Times New Roman" pitchFamily="18" charset="0"/>
              </a:rPr>
              <a:t>0</a:t>
            </a:r>
            <a:endParaRPr lang="en-US" altLang="ja-JP" sz="2000" b="1" i="1" dirty="0">
              <a:solidFill>
                <a:srgbClr val="FF0000"/>
              </a:solidFill>
              <a:latin typeface="Consolas" panose="020B0609020204030204" pitchFamily="49" charset="0"/>
              <a:ea typeface="ＭＳ Ｐゴシック" charset="-128"/>
              <a:cs typeface="Times New Roman" pitchFamily="18" charset="0"/>
            </a:endParaRPr>
          </a:p>
        </p:txBody>
      </p:sp>
      <p:sp>
        <p:nvSpPr>
          <p:cNvPr id="156" name="Rectangle 3"/>
          <p:cNvSpPr>
            <a:spLocks noChangeArrowheads="1"/>
          </p:cNvSpPr>
          <p:nvPr/>
        </p:nvSpPr>
        <p:spPr bwMode="auto">
          <a:xfrm>
            <a:off x="6096645" y="2780928"/>
            <a:ext cx="3600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latin typeface="Consolas" panose="020B0609020204030204" pitchFamily="49" charset="0"/>
                <a:cs typeface="Times New Roman" pitchFamily="18" charset="0"/>
              </a:rPr>
              <a:t>I</a:t>
            </a:r>
            <a:r>
              <a:rPr lang="en-US" altLang="ja-JP" sz="2400" b="1" i="1" baseline="-25000" dirty="0">
                <a:latin typeface="Consolas" panose="020B0609020204030204" pitchFamily="49" charset="0"/>
                <a:cs typeface="Times New Roman" pitchFamily="18" charset="0"/>
              </a:rPr>
              <a:t>1</a:t>
            </a:r>
            <a:endParaRPr lang="en-US" altLang="ja-JP" sz="2000" b="1" i="1" dirty="0">
              <a:solidFill>
                <a:srgbClr val="FF0000"/>
              </a:solidFill>
              <a:latin typeface="Consolas" panose="020B0609020204030204" pitchFamily="49" charset="0"/>
              <a:ea typeface="ＭＳ Ｐゴシック" charset="-128"/>
              <a:cs typeface="Times New Roman" pitchFamily="18" charset="0"/>
            </a:endParaRPr>
          </a:p>
        </p:txBody>
      </p:sp>
      <p:sp>
        <p:nvSpPr>
          <p:cNvPr id="157" name="Rectangle 3"/>
          <p:cNvSpPr>
            <a:spLocks noChangeArrowheads="1"/>
          </p:cNvSpPr>
          <p:nvPr/>
        </p:nvSpPr>
        <p:spPr bwMode="auto">
          <a:xfrm>
            <a:off x="6096000" y="3212976"/>
            <a:ext cx="3600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latin typeface="Consolas" panose="020B0609020204030204" pitchFamily="49" charset="0"/>
                <a:cs typeface="Times New Roman" pitchFamily="18" charset="0"/>
              </a:rPr>
              <a:t>I</a:t>
            </a:r>
            <a:r>
              <a:rPr lang="en-US" altLang="ja-JP" sz="2400" b="1" i="1" baseline="-25000" dirty="0">
                <a:latin typeface="Consolas" panose="020B0609020204030204" pitchFamily="49" charset="0"/>
                <a:cs typeface="Times New Roman" pitchFamily="18" charset="0"/>
              </a:rPr>
              <a:t>2</a:t>
            </a:r>
            <a:endParaRPr lang="en-US" altLang="ja-JP" sz="2000" b="1" i="1" dirty="0">
              <a:solidFill>
                <a:srgbClr val="FF0000"/>
              </a:solidFill>
              <a:latin typeface="Consolas" panose="020B0609020204030204" pitchFamily="49" charset="0"/>
              <a:ea typeface="ＭＳ Ｐゴシック" charset="-128"/>
              <a:cs typeface="Times New Roman" pitchFamily="18" charset="0"/>
            </a:endParaRPr>
          </a:p>
        </p:txBody>
      </p:sp>
      <p:sp>
        <p:nvSpPr>
          <p:cNvPr id="158" name="Rectangle 3"/>
          <p:cNvSpPr>
            <a:spLocks noChangeArrowheads="1"/>
          </p:cNvSpPr>
          <p:nvPr/>
        </p:nvSpPr>
        <p:spPr bwMode="auto">
          <a:xfrm>
            <a:off x="6096645" y="3645024"/>
            <a:ext cx="3600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latin typeface="Consolas" panose="020B0609020204030204" pitchFamily="49" charset="0"/>
                <a:cs typeface="Times New Roman" pitchFamily="18" charset="0"/>
              </a:rPr>
              <a:t>I</a:t>
            </a:r>
            <a:r>
              <a:rPr lang="en-US" altLang="ja-JP" sz="2400" b="1" i="1" baseline="-25000" dirty="0">
                <a:latin typeface="Consolas" panose="020B0609020204030204" pitchFamily="49" charset="0"/>
                <a:cs typeface="Times New Roman" pitchFamily="18" charset="0"/>
              </a:rPr>
              <a:t>3</a:t>
            </a:r>
            <a:endParaRPr lang="en-US" altLang="ja-JP" sz="2000" b="1" i="1" dirty="0">
              <a:solidFill>
                <a:srgbClr val="FF0000"/>
              </a:solidFill>
              <a:latin typeface="Consolas" panose="020B0609020204030204" pitchFamily="49" charset="0"/>
              <a:ea typeface="ＭＳ Ｐゴシック" charset="-128"/>
              <a:cs typeface="Times New Roman" pitchFamily="18" charset="0"/>
            </a:endParaRPr>
          </a:p>
        </p:txBody>
      </p:sp>
      <p:sp>
        <p:nvSpPr>
          <p:cNvPr id="159" name="Rectangle 3"/>
          <p:cNvSpPr>
            <a:spLocks noChangeArrowheads="1"/>
          </p:cNvSpPr>
          <p:nvPr/>
        </p:nvSpPr>
        <p:spPr bwMode="auto">
          <a:xfrm>
            <a:off x="6599411" y="1844824"/>
            <a:ext cx="3600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solidFill>
                  <a:schemeClr val="accent2"/>
                </a:solidFill>
                <a:latin typeface="Consolas" panose="020B0609020204030204" pitchFamily="49" charset="0"/>
                <a:cs typeface="Times New Roman" pitchFamily="18" charset="0"/>
              </a:rPr>
              <a:t>I</a:t>
            </a:r>
            <a:r>
              <a:rPr lang="en-US" altLang="ja-JP" sz="2400" b="1" i="1" baseline="-25000" dirty="0">
                <a:solidFill>
                  <a:schemeClr val="accent2"/>
                </a:solidFill>
                <a:latin typeface="Consolas" panose="020B0609020204030204" pitchFamily="49" charset="0"/>
                <a:cs typeface="Times New Roman" pitchFamily="18" charset="0"/>
              </a:rPr>
              <a:t>0</a:t>
            </a:r>
            <a:endParaRPr lang="en-US" altLang="ja-JP" sz="2000" b="1" i="1" dirty="0">
              <a:solidFill>
                <a:schemeClr val="accent2"/>
              </a:solidFill>
              <a:latin typeface="Consolas" panose="020B0609020204030204" pitchFamily="49" charset="0"/>
              <a:ea typeface="ＭＳ Ｐゴシック" charset="-128"/>
              <a:cs typeface="Times New Roman" pitchFamily="18" charset="0"/>
            </a:endParaRPr>
          </a:p>
        </p:txBody>
      </p:sp>
      <p:sp>
        <p:nvSpPr>
          <p:cNvPr id="160" name="Rectangle 3"/>
          <p:cNvSpPr>
            <a:spLocks noChangeArrowheads="1"/>
          </p:cNvSpPr>
          <p:nvPr/>
        </p:nvSpPr>
        <p:spPr bwMode="auto">
          <a:xfrm>
            <a:off x="7032105" y="1844824"/>
            <a:ext cx="3600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solidFill>
                  <a:schemeClr val="accent3">
                    <a:lumMod val="75000"/>
                  </a:schemeClr>
                </a:solidFill>
                <a:latin typeface="Consolas" panose="020B0609020204030204" pitchFamily="49" charset="0"/>
                <a:cs typeface="Times New Roman" pitchFamily="18" charset="0"/>
              </a:rPr>
              <a:t>I</a:t>
            </a:r>
            <a:r>
              <a:rPr lang="en-US" altLang="ja-JP" sz="2400" b="1" i="1" baseline="-25000" dirty="0">
                <a:solidFill>
                  <a:schemeClr val="accent3">
                    <a:lumMod val="75000"/>
                  </a:schemeClr>
                </a:solidFill>
                <a:latin typeface="Consolas" panose="020B0609020204030204" pitchFamily="49" charset="0"/>
                <a:cs typeface="Times New Roman" pitchFamily="18" charset="0"/>
              </a:rPr>
              <a:t>1</a:t>
            </a:r>
            <a:endParaRPr lang="en-US" altLang="ja-JP" sz="2000" b="1" i="1" dirty="0">
              <a:solidFill>
                <a:schemeClr val="accent3">
                  <a:lumMod val="75000"/>
                </a:schemeClr>
              </a:solidFill>
              <a:latin typeface="Consolas" panose="020B0609020204030204" pitchFamily="49" charset="0"/>
              <a:ea typeface="ＭＳ Ｐゴシック" charset="-128"/>
              <a:cs typeface="Times New Roman" pitchFamily="18" charset="0"/>
            </a:endParaRPr>
          </a:p>
        </p:txBody>
      </p:sp>
      <p:sp>
        <p:nvSpPr>
          <p:cNvPr id="161" name="Rectangle 3"/>
          <p:cNvSpPr>
            <a:spLocks noChangeArrowheads="1"/>
          </p:cNvSpPr>
          <p:nvPr/>
        </p:nvSpPr>
        <p:spPr bwMode="auto">
          <a:xfrm>
            <a:off x="7464152" y="1844824"/>
            <a:ext cx="3600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solidFill>
                  <a:schemeClr val="accent6"/>
                </a:solidFill>
                <a:latin typeface="Consolas" panose="020B0609020204030204" pitchFamily="49" charset="0"/>
                <a:cs typeface="Times New Roman" pitchFamily="18" charset="0"/>
              </a:rPr>
              <a:t>I</a:t>
            </a:r>
            <a:r>
              <a:rPr lang="en-US" altLang="ja-JP" sz="2400" b="1" i="1" baseline="-25000" dirty="0">
                <a:solidFill>
                  <a:schemeClr val="accent6"/>
                </a:solidFill>
                <a:latin typeface="Consolas" panose="020B0609020204030204" pitchFamily="49" charset="0"/>
                <a:cs typeface="Times New Roman" pitchFamily="18" charset="0"/>
              </a:rPr>
              <a:t>2</a:t>
            </a:r>
            <a:endParaRPr lang="en-US" altLang="ja-JP" sz="2000" b="1" i="1" dirty="0">
              <a:solidFill>
                <a:schemeClr val="accent6"/>
              </a:solidFill>
              <a:latin typeface="Consolas" panose="020B0609020204030204" pitchFamily="49" charset="0"/>
              <a:ea typeface="ＭＳ Ｐゴシック" charset="-128"/>
              <a:cs typeface="Times New Roman" pitchFamily="18" charset="0"/>
            </a:endParaRPr>
          </a:p>
        </p:txBody>
      </p:sp>
      <p:sp>
        <p:nvSpPr>
          <p:cNvPr id="162" name="Rectangle 3"/>
          <p:cNvSpPr>
            <a:spLocks noChangeArrowheads="1"/>
          </p:cNvSpPr>
          <p:nvPr/>
        </p:nvSpPr>
        <p:spPr bwMode="auto">
          <a:xfrm>
            <a:off x="7896200" y="1844824"/>
            <a:ext cx="3600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solidFill>
                  <a:schemeClr val="accent5"/>
                </a:solidFill>
                <a:latin typeface="Consolas" panose="020B0609020204030204" pitchFamily="49" charset="0"/>
                <a:cs typeface="Times New Roman" pitchFamily="18" charset="0"/>
              </a:rPr>
              <a:t>I</a:t>
            </a:r>
            <a:r>
              <a:rPr lang="en-US" altLang="ja-JP" sz="2400" b="1" i="1" baseline="-25000" dirty="0">
                <a:solidFill>
                  <a:schemeClr val="accent5"/>
                </a:solidFill>
                <a:latin typeface="Consolas" panose="020B0609020204030204" pitchFamily="49" charset="0"/>
                <a:cs typeface="Times New Roman" pitchFamily="18" charset="0"/>
              </a:rPr>
              <a:t>3</a:t>
            </a:r>
            <a:endParaRPr lang="en-US" altLang="ja-JP" sz="2000" b="1" i="1" dirty="0">
              <a:solidFill>
                <a:schemeClr val="accent5"/>
              </a:solidFill>
              <a:latin typeface="Consolas" panose="020B0609020204030204" pitchFamily="49" charset="0"/>
              <a:ea typeface="ＭＳ Ｐゴシック" charset="-128"/>
              <a:cs typeface="Times New Roman" pitchFamily="18" charset="0"/>
            </a:endParaRPr>
          </a:p>
        </p:txBody>
      </p:sp>
      <p:sp>
        <p:nvSpPr>
          <p:cNvPr id="163" name="Rectangle 105"/>
          <p:cNvSpPr>
            <a:spLocks noChangeArrowheads="1"/>
          </p:cNvSpPr>
          <p:nvPr/>
        </p:nvSpPr>
        <p:spPr bwMode="auto">
          <a:xfrm>
            <a:off x="8472265" y="2276872"/>
            <a:ext cx="432048" cy="432048"/>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b" anchorCtr="1"/>
          <a:lstStyle/>
          <a:p>
            <a:pPr algn="ctr"/>
            <a:r>
              <a:rPr lang="en-US" altLang="ja-JP" sz="2000" b="1" dirty="0">
                <a:solidFill>
                  <a:srgbClr val="000000"/>
                </a:solidFill>
                <a:latin typeface="Courier New" pitchFamily="49" charset="0"/>
                <a:cs typeface="Courier New" pitchFamily="49" charset="0"/>
              </a:rPr>
              <a:t>1</a:t>
            </a:r>
            <a:endParaRPr lang="ja-JP" altLang="en-US" sz="2000" b="1" dirty="0">
              <a:solidFill>
                <a:srgbClr val="000000"/>
              </a:solidFill>
              <a:latin typeface="Courier New" pitchFamily="49" charset="0"/>
              <a:cs typeface="Courier New" pitchFamily="49" charset="0"/>
            </a:endParaRPr>
          </a:p>
        </p:txBody>
      </p:sp>
      <p:sp>
        <p:nvSpPr>
          <p:cNvPr id="164" name="Rectangle 105"/>
          <p:cNvSpPr>
            <a:spLocks noChangeArrowheads="1"/>
          </p:cNvSpPr>
          <p:nvPr/>
        </p:nvSpPr>
        <p:spPr bwMode="auto">
          <a:xfrm>
            <a:off x="8472265" y="2708920"/>
            <a:ext cx="432048" cy="432048"/>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b" anchorCtr="1"/>
          <a:lstStyle/>
          <a:p>
            <a:pPr algn="ctr"/>
            <a:r>
              <a:rPr lang="en-US" altLang="ja-JP" sz="2000" b="1" dirty="0">
                <a:solidFill>
                  <a:srgbClr val="000000"/>
                </a:solidFill>
                <a:latin typeface="Courier New" pitchFamily="49" charset="0"/>
                <a:cs typeface="Courier New" pitchFamily="49" charset="0"/>
              </a:rPr>
              <a:t>0</a:t>
            </a:r>
            <a:endParaRPr lang="ja-JP" altLang="en-US" sz="2000" b="1" dirty="0">
              <a:solidFill>
                <a:srgbClr val="000000"/>
              </a:solidFill>
              <a:latin typeface="Courier New" pitchFamily="49" charset="0"/>
              <a:cs typeface="Courier New" pitchFamily="49" charset="0"/>
            </a:endParaRPr>
          </a:p>
        </p:txBody>
      </p:sp>
      <p:sp>
        <p:nvSpPr>
          <p:cNvPr id="165" name="Rectangle 105"/>
          <p:cNvSpPr>
            <a:spLocks noChangeArrowheads="1"/>
          </p:cNvSpPr>
          <p:nvPr/>
        </p:nvSpPr>
        <p:spPr bwMode="auto">
          <a:xfrm>
            <a:off x="8472265" y="3140968"/>
            <a:ext cx="432048" cy="432048"/>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b" anchorCtr="1"/>
          <a:lstStyle/>
          <a:p>
            <a:pPr algn="ctr"/>
            <a:r>
              <a:rPr lang="en-US" altLang="ja-JP" sz="2000" b="1" dirty="0">
                <a:solidFill>
                  <a:srgbClr val="000000"/>
                </a:solidFill>
                <a:latin typeface="Courier New" pitchFamily="49" charset="0"/>
                <a:cs typeface="Courier New" pitchFamily="49" charset="0"/>
              </a:rPr>
              <a:t>0</a:t>
            </a:r>
            <a:endParaRPr lang="ja-JP" altLang="en-US" sz="2000" b="1" dirty="0">
              <a:solidFill>
                <a:srgbClr val="000000"/>
              </a:solidFill>
              <a:latin typeface="Courier New" pitchFamily="49" charset="0"/>
              <a:cs typeface="Courier New" pitchFamily="49" charset="0"/>
            </a:endParaRPr>
          </a:p>
        </p:txBody>
      </p:sp>
      <p:sp>
        <p:nvSpPr>
          <p:cNvPr id="166" name="Rectangle 51"/>
          <p:cNvSpPr>
            <a:spLocks noChangeArrowheads="1"/>
          </p:cNvSpPr>
          <p:nvPr/>
        </p:nvSpPr>
        <p:spPr bwMode="auto">
          <a:xfrm>
            <a:off x="8328248" y="1556792"/>
            <a:ext cx="719138"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b="1" dirty="0" err="1">
                <a:latin typeface="Courier New" pitchFamily="49" charset="0"/>
                <a:cs typeface="Courier New" pitchFamily="49" charset="0"/>
              </a:rPr>
              <a:t>rdy</a:t>
            </a:r>
            <a:endParaRPr lang="en-US" altLang="ja-JP" b="1" dirty="0">
              <a:latin typeface="Courier New" pitchFamily="49" charset="0"/>
              <a:cs typeface="Courier New" pitchFamily="49" charset="0"/>
            </a:endParaRPr>
          </a:p>
        </p:txBody>
      </p:sp>
      <p:sp>
        <p:nvSpPr>
          <p:cNvPr id="173" name="Rectangle 105"/>
          <p:cNvSpPr>
            <a:spLocks noChangeArrowheads="1"/>
          </p:cNvSpPr>
          <p:nvPr/>
        </p:nvSpPr>
        <p:spPr bwMode="auto">
          <a:xfrm>
            <a:off x="8472264" y="3573016"/>
            <a:ext cx="432048" cy="432048"/>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b" anchorCtr="1"/>
          <a:lstStyle/>
          <a:p>
            <a:pPr algn="ctr"/>
            <a:r>
              <a:rPr lang="en-US" altLang="ja-JP" sz="2000" b="1" dirty="0">
                <a:solidFill>
                  <a:srgbClr val="000000"/>
                </a:solidFill>
                <a:latin typeface="Courier New" pitchFamily="49" charset="0"/>
                <a:cs typeface="Courier New" pitchFamily="49" charset="0"/>
              </a:rPr>
              <a:t>0</a:t>
            </a:r>
            <a:endParaRPr lang="ja-JP" altLang="en-US" sz="2000" b="1" dirty="0">
              <a:solidFill>
                <a:srgbClr val="000000"/>
              </a:solidFill>
              <a:latin typeface="Courier New" pitchFamily="49" charset="0"/>
              <a:cs typeface="Courier New" pitchFamily="49" charset="0"/>
            </a:endParaRPr>
          </a:p>
        </p:txBody>
      </p:sp>
      <p:sp>
        <p:nvSpPr>
          <p:cNvPr id="175" name="Rectangle 3"/>
          <p:cNvSpPr>
            <a:spLocks noChangeArrowheads="1"/>
          </p:cNvSpPr>
          <p:nvPr/>
        </p:nvSpPr>
        <p:spPr bwMode="auto">
          <a:xfrm rot="16200000">
            <a:off x="5339755" y="3032794"/>
            <a:ext cx="1296144"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b="1" i="1" dirty="0">
                <a:latin typeface="Consolas" panose="020B0609020204030204" pitchFamily="49" charset="0"/>
                <a:cs typeface="Courier New" pitchFamily="49" charset="0"/>
              </a:rPr>
              <a:t>consumer</a:t>
            </a:r>
            <a:endParaRPr lang="en-US" altLang="ja-JP" b="1" i="1" dirty="0">
              <a:solidFill>
                <a:srgbClr val="FF0000"/>
              </a:solidFill>
              <a:latin typeface="Consolas" panose="020B0609020204030204" pitchFamily="49" charset="0"/>
              <a:ea typeface="ＭＳ Ｐゴシック" charset="-128"/>
              <a:cs typeface="Courier New" pitchFamily="49" charset="0"/>
            </a:endParaRPr>
          </a:p>
        </p:txBody>
      </p:sp>
      <p:sp>
        <p:nvSpPr>
          <p:cNvPr id="176" name="Rectangle 3"/>
          <p:cNvSpPr>
            <a:spLocks noChangeArrowheads="1"/>
          </p:cNvSpPr>
          <p:nvPr/>
        </p:nvSpPr>
        <p:spPr bwMode="auto">
          <a:xfrm>
            <a:off x="6888088" y="1628800"/>
            <a:ext cx="1296144"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b="1" i="1" dirty="0">
                <a:latin typeface="Consolas" panose="020B0609020204030204" pitchFamily="49" charset="0"/>
                <a:cs typeface="Times New Roman" pitchFamily="18" charset="0"/>
              </a:rPr>
              <a:t>producer</a:t>
            </a:r>
            <a:endParaRPr lang="en-US" altLang="ja-JP" b="1" i="1" dirty="0">
              <a:solidFill>
                <a:srgbClr val="FF0000"/>
              </a:solidFill>
              <a:latin typeface="Consolas" panose="020B0609020204030204" pitchFamily="49" charset="0"/>
              <a:ea typeface="ＭＳ Ｐゴシック" charset="-128"/>
              <a:cs typeface="Times New Roman" pitchFamily="18" charset="0"/>
            </a:endParaRPr>
          </a:p>
        </p:txBody>
      </p:sp>
      <p:grpSp>
        <p:nvGrpSpPr>
          <p:cNvPr id="39" name="グループ化 38"/>
          <p:cNvGrpSpPr/>
          <p:nvPr/>
        </p:nvGrpSpPr>
        <p:grpSpPr>
          <a:xfrm>
            <a:off x="6600056" y="2276872"/>
            <a:ext cx="1728192" cy="1728192"/>
            <a:chOff x="5076056" y="2276872"/>
            <a:chExt cx="1728192" cy="1728192"/>
          </a:xfrm>
        </p:grpSpPr>
        <p:sp>
          <p:nvSpPr>
            <p:cNvPr id="8" name="正方形/長方形 7"/>
            <p:cNvSpPr/>
            <p:nvPr/>
          </p:nvSpPr>
          <p:spPr>
            <a:xfrm>
              <a:off x="5076056" y="2276872"/>
              <a:ext cx="1728192" cy="1728192"/>
            </a:xfrm>
            <a:prstGeom prst="rect">
              <a:avLst/>
            </a:prstGeom>
            <a:ln w="15875">
              <a:tailEnd type="stealth" w="lg" len="lg"/>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0000" tIns="46800" rIns="90000" bIns="46800" numCol="1" spcCol="0" rtlCol="0" fromWordArt="0" anchor="ctr" anchorCtr="0" forceAA="0" compatLnSpc="1">
              <a:prstTxWarp prst="textNoShape">
                <a:avLst/>
              </a:prstTxWarp>
              <a:noAutofit/>
            </a:bodyPr>
            <a:lstStyle/>
            <a:p>
              <a:pPr fontAlgn="base">
                <a:spcBef>
                  <a:spcPct val="0"/>
                </a:spcBef>
                <a:spcAft>
                  <a:spcPct val="0"/>
                </a:spcAft>
              </a:pPr>
              <a:endParaRPr lang="ja-JP" altLang="en-US">
                <a:solidFill>
                  <a:schemeClr val="tx1"/>
                </a:solidFill>
                <a:latin typeface="Verdana" pitchFamily="34" charset="0"/>
                <a:ea typeface="HG丸ｺﾞｼｯｸM-PRO" pitchFamily="50" charset="-128"/>
              </a:endParaRPr>
            </a:p>
          </p:txBody>
        </p:sp>
        <p:cxnSp>
          <p:nvCxnSpPr>
            <p:cNvPr id="13" name="直線コネクタ 12"/>
            <p:cNvCxnSpPr/>
            <p:nvPr/>
          </p:nvCxnSpPr>
          <p:spPr bwMode="auto">
            <a:xfrm>
              <a:off x="5076056" y="2708920"/>
              <a:ext cx="1728192" cy="0"/>
            </a:xfrm>
            <a:prstGeom prst="line">
              <a:avLst/>
            </a:prstGeom>
            <a:noFill/>
            <a:ln w="19050" cap="flat" cmpd="sng" algn="ctr">
              <a:solidFill>
                <a:schemeClr val="accent1"/>
              </a:solidFill>
              <a:prstDash val="solid"/>
              <a:round/>
              <a:headEnd type="none" w="med" len="med"/>
              <a:tailEnd type="none" w="med" len="med"/>
            </a:ln>
            <a:effectLst/>
          </p:spPr>
        </p:cxnSp>
        <p:cxnSp>
          <p:nvCxnSpPr>
            <p:cNvPr id="80" name="直線コネクタ 79"/>
            <p:cNvCxnSpPr>
              <a:stCxn id="8" idx="1"/>
              <a:endCxn id="8" idx="3"/>
            </p:cNvCxnSpPr>
            <p:nvPr/>
          </p:nvCxnSpPr>
          <p:spPr bwMode="auto">
            <a:xfrm>
              <a:off x="5076056" y="3140968"/>
              <a:ext cx="1728192" cy="0"/>
            </a:xfrm>
            <a:prstGeom prst="line">
              <a:avLst/>
            </a:prstGeom>
            <a:noFill/>
            <a:ln w="19050" cap="flat" cmpd="sng" algn="ctr">
              <a:solidFill>
                <a:schemeClr val="accent1"/>
              </a:solidFill>
              <a:prstDash val="solid"/>
              <a:round/>
              <a:headEnd type="none" w="med" len="med"/>
              <a:tailEnd type="none" w="med" len="med"/>
            </a:ln>
            <a:effectLst/>
          </p:spPr>
        </p:cxnSp>
        <p:cxnSp>
          <p:nvCxnSpPr>
            <p:cNvPr id="81" name="直線コネクタ 80"/>
            <p:cNvCxnSpPr/>
            <p:nvPr/>
          </p:nvCxnSpPr>
          <p:spPr bwMode="auto">
            <a:xfrm>
              <a:off x="5076056" y="3573016"/>
              <a:ext cx="1728192" cy="0"/>
            </a:xfrm>
            <a:prstGeom prst="line">
              <a:avLst/>
            </a:prstGeom>
            <a:noFill/>
            <a:ln w="19050" cap="flat" cmpd="sng" algn="ctr">
              <a:solidFill>
                <a:schemeClr val="accent1"/>
              </a:solidFill>
              <a:prstDash val="solid"/>
              <a:round/>
              <a:headEnd type="none" w="med" len="med"/>
              <a:tailEnd type="none" w="med" len="med"/>
            </a:ln>
            <a:effectLst/>
          </p:spPr>
        </p:cxnSp>
        <p:cxnSp>
          <p:nvCxnSpPr>
            <p:cNvPr id="152" name="直線コネクタ 151"/>
            <p:cNvCxnSpPr/>
            <p:nvPr/>
          </p:nvCxnSpPr>
          <p:spPr bwMode="auto">
            <a:xfrm>
              <a:off x="5508104" y="2276872"/>
              <a:ext cx="0" cy="1728192"/>
            </a:xfrm>
            <a:prstGeom prst="line">
              <a:avLst/>
            </a:prstGeom>
            <a:noFill/>
            <a:ln w="19050" cap="flat" cmpd="sng" algn="ctr">
              <a:solidFill>
                <a:schemeClr val="accent1"/>
              </a:solidFill>
              <a:prstDash val="solid"/>
              <a:round/>
              <a:headEnd type="none" w="med" len="med"/>
              <a:tailEnd type="none" w="med" len="med"/>
            </a:ln>
            <a:effectLst/>
          </p:spPr>
        </p:cxnSp>
        <p:cxnSp>
          <p:nvCxnSpPr>
            <p:cNvPr id="153" name="直線コネクタ 152"/>
            <p:cNvCxnSpPr/>
            <p:nvPr/>
          </p:nvCxnSpPr>
          <p:spPr bwMode="auto">
            <a:xfrm>
              <a:off x="5940152" y="2276872"/>
              <a:ext cx="0" cy="1728192"/>
            </a:xfrm>
            <a:prstGeom prst="line">
              <a:avLst/>
            </a:prstGeom>
            <a:noFill/>
            <a:ln w="19050" cap="flat" cmpd="sng" algn="ctr">
              <a:solidFill>
                <a:schemeClr val="accent1"/>
              </a:solidFill>
              <a:prstDash val="solid"/>
              <a:round/>
              <a:headEnd type="none" w="med" len="med"/>
              <a:tailEnd type="none" w="med" len="med"/>
            </a:ln>
            <a:effectLst/>
          </p:spPr>
        </p:cxnSp>
        <p:cxnSp>
          <p:nvCxnSpPr>
            <p:cNvPr id="154" name="直線コネクタ 153"/>
            <p:cNvCxnSpPr/>
            <p:nvPr/>
          </p:nvCxnSpPr>
          <p:spPr bwMode="auto">
            <a:xfrm>
              <a:off x="6372200" y="2276872"/>
              <a:ext cx="0" cy="1728192"/>
            </a:xfrm>
            <a:prstGeom prst="line">
              <a:avLst/>
            </a:prstGeom>
            <a:noFill/>
            <a:ln w="19050" cap="flat" cmpd="sng" algn="ctr">
              <a:solidFill>
                <a:schemeClr val="accent1"/>
              </a:solidFill>
              <a:prstDash val="solid"/>
              <a:round/>
              <a:headEnd type="none" w="med" len="med"/>
              <a:tailEnd type="none" w="med" len="med"/>
            </a:ln>
            <a:effectLst/>
          </p:spPr>
        </p:cxnSp>
        <p:cxnSp>
          <p:nvCxnSpPr>
            <p:cNvPr id="180" name="直線コネクタ 179"/>
            <p:cNvCxnSpPr/>
            <p:nvPr/>
          </p:nvCxnSpPr>
          <p:spPr bwMode="auto">
            <a:xfrm>
              <a:off x="5076056" y="2276872"/>
              <a:ext cx="1728192" cy="1728192"/>
            </a:xfrm>
            <a:prstGeom prst="line">
              <a:avLst/>
            </a:prstGeom>
            <a:noFill/>
            <a:ln w="19050" cap="flat" cmpd="sng" algn="ctr">
              <a:solidFill>
                <a:schemeClr val="accent1"/>
              </a:solidFill>
              <a:prstDash val="solid"/>
              <a:round/>
              <a:headEnd type="none" w="med" len="med"/>
              <a:tailEnd type="none" w="med" len="med"/>
            </a:ln>
            <a:effectLst/>
          </p:spPr>
        </p:cxnSp>
      </p:grpSp>
      <p:sp>
        <p:nvSpPr>
          <p:cNvPr id="177" name="Rectangle 3"/>
          <p:cNvSpPr>
            <a:spLocks noChangeArrowheads="1"/>
          </p:cNvSpPr>
          <p:nvPr/>
        </p:nvSpPr>
        <p:spPr bwMode="auto">
          <a:xfrm>
            <a:off x="6600056" y="2708920"/>
            <a:ext cx="432008" cy="432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dirty="0">
                <a:solidFill>
                  <a:srgbClr val="FF0000"/>
                </a:solidFill>
                <a:latin typeface="Times New Roman" pitchFamily="18" charset="0"/>
                <a:cs typeface="Times New Roman" pitchFamily="18" charset="0"/>
              </a:rPr>
              <a:t>1</a:t>
            </a:r>
            <a:endParaRPr lang="en-US" altLang="ja-JP" sz="2000" b="1" dirty="0">
              <a:solidFill>
                <a:srgbClr val="FF0000"/>
              </a:solidFill>
              <a:latin typeface="Times New Roman" pitchFamily="18" charset="0"/>
              <a:ea typeface="ＭＳ Ｐゴシック" charset="-128"/>
              <a:cs typeface="Times New Roman" pitchFamily="18" charset="0"/>
            </a:endParaRPr>
          </a:p>
        </p:txBody>
      </p:sp>
      <p:sp>
        <p:nvSpPr>
          <p:cNvPr id="178" name="Rectangle 3"/>
          <p:cNvSpPr>
            <a:spLocks noChangeArrowheads="1"/>
          </p:cNvSpPr>
          <p:nvPr/>
        </p:nvSpPr>
        <p:spPr bwMode="auto">
          <a:xfrm>
            <a:off x="6600056" y="3140968"/>
            <a:ext cx="432008" cy="432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dirty="0">
                <a:solidFill>
                  <a:srgbClr val="FF0000"/>
                </a:solidFill>
                <a:latin typeface="Times New Roman" pitchFamily="18" charset="0"/>
                <a:cs typeface="Times New Roman" pitchFamily="18" charset="0"/>
              </a:rPr>
              <a:t>1</a:t>
            </a:r>
            <a:endParaRPr lang="en-US" altLang="ja-JP" sz="2000" b="1" dirty="0">
              <a:solidFill>
                <a:srgbClr val="FF0000"/>
              </a:solidFill>
              <a:latin typeface="Times New Roman" pitchFamily="18" charset="0"/>
              <a:ea typeface="ＭＳ Ｐゴシック" charset="-128"/>
              <a:cs typeface="Times New Roman" pitchFamily="18" charset="0"/>
            </a:endParaRPr>
          </a:p>
        </p:txBody>
      </p:sp>
      <p:sp>
        <p:nvSpPr>
          <p:cNvPr id="182" name="Rectangle 3"/>
          <p:cNvSpPr>
            <a:spLocks noChangeArrowheads="1"/>
          </p:cNvSpPr>
          <p:nvPr/>
        </p:nvSpPr>
        <p:spPr bwMode="auto">
          <a:xfrm>
            <a:off x="7032104" y="3573016"/>
            <a:ext cx="432008" cy="432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dirty="0">
                <a:solidFill>
                  <a:schemeClr val="accent3">
                    <a:lumMod val="75000"/>
                  </a:schemeClr>
                </a:solidFill>
                <a:latin typeface="Times New Roman" pitchFamily="18" charset="0"/>
                <a:cs typeface="Times New Roman" pitchFamily="18" charset="0"/>
              </a:rPr>
              <a:t>1</a:t>
            </a:r>
            <a:endParaRPr lang="en-US" altLang="ja-JP" sz="2000" b="1" dirty="0">
              <a:solidFill>
                <a:schemeClr val="accent3">
                  <a:lumMod val="75000"/>
                </a:schemeClr>
              </a:solidFill>
              <a:latin typeface="Times New Roman" pitchFamily="18" charset="0"/>
              <a:ea typeface="ＭＳ Ｐゴシック" charset="-128"/>
              <a:cs typeface="Times New Roman" pitchFamily="18" charset="0"/>
            </a:endParaRPr>
          </a:p>
        </p:txBody>
      </p:sp>
    </p:spTree>
    <p:extLst>
      <p:ext uri="{BB962C8B-B14F-4D97-AF65-F5344CB8AC3E}">
        <p14:creationId xmlns:p14="http://schemas.microsoft.com/office/powerpoint/2010/main" val="41303917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2209800" y="4382268"/>
            <a:ext cx="7848600" cy="2071068"/>
          </a:xfrm>
        </p:spPr>
        <p:txBody>
          <a:bodyPr/>
          <a:lstStyle/>
          <a:p>
            <a:r>
              <a:rPr kumimoji="1" lang="en-US" altLang="ja-JP" dirty="0"/>
              <a:t>Wakeup </a:t>
            </a:r>
            <a:r>
              <a:rPr kumimoji="1" lang="ja-JP" altLang="en-US" dirty="0"/>
              <a:t>の動作</a:t>
            </a:r>
            <a:endParaRPr kumimoji="1" lang="en-US" altLang="ja-JP" dirty="0"/>
          </a:p>
          <a:p>
            <a:pPr lvl="1"/>
            <a:r>
              <a:rPr lang="ja-JP" altLang="en-US" dirty="0"/>
              <a:t>発行された命令の</a:t>
            </a:r>
            <a:r>
              <a:rPr kumimoji="1" lang="ja-JP" altLang="en-US" dirty="0"/>
              <a:t>列をアサートする</a:t>
            </a:r>
            <a:endParaRPr kumimoji="1" lang="en-US" altLang="ja-JP" dirty="0"/>
          </a:p>
          <a:p>
            <a:pPr lvl="1"/>
            <a:r>
              <a:rPr kumimoji="1" lang="ja-JP" altLang="en-US" dirty="0"/>
              <a:t>各行のその列のビットが立っていたら </a:t>
            </a:r>
            <a:r>
              <a:rPr kumimoji="1" lang="en-US" altLang="ja-JP" dirty="0" err="1"/>
              <a:t>rdy</a:t>
            </a:r>
            <a:r>
              <a:rPr kumimoji="1" lang="en-US" altLang="ja-JP" dirty="0"/>
              <a:t> </a:t>
            </a:r>
            <a:r>
              <a:rPr kumimoji="1" lang="ja-JP" altLang="en-US" dirty="0"/>
              <a:t>を </a:t>
            </a:r>
            <a:r>
              <a:rPr kumimoji="1" lang="en-US" altLang="ja-JP" dirty="0"/>
              <a:t>1 </a:t>
            </a:r>
            <a:r>
              <a:rPr kumimoji="1" lang="ja-JP" altLang="en-US" dirty="0"/>
              <a:t>に</a:t>
            </a:r>
            <a:endParaRPr kumimoji="1" lang="en-US" altLang="ja-JP" dirty="0"/>
          </a:p>
          <a:p>
            <a:r>
              <a:rPr lang="en-US" altLang="ja-JP" dirty="0"/>
              <a:t>RAM </a:t>
            </a:r>
            <a:r>
              <a:rPr lang="ja-JP" altLang="en-US" dirty="0"/>
              <a:t>の読み出しに近い構造で実現できる</a:t>
            </a:r>
            <a:endParaRPr kumimoji="1" lang="en-US" altLang="ja-JP" dirty="0"/>
          </a:p>
        </p:txBody>
      </p:sp>
      <p:sp>
        <p:nvSpPr>
          <p:cNvPr id="4" name="スライド番号プレースホルダー 3"/>
          <p:cNvSpPr>
            <a:spLocks noGrp="1"/>
          </p:cNvSpPr>
          <p:nvPr>
            <p:ph type="sldNum" sz="quarter" idx="10"/>
          </p:nvPr>
        </p:nvSpPr>
        <p:spPr/>
        <p:txBody>
          <a:bodyPr/>
          <a:lstStyle/>
          <a:p>
            <a:fld id="{D2D8002D-B5B0-4BAC-B1F6-782DDCCE6D9C}" type="slidenum">
              <a:rPr kumimoji="1" lang="ja-JP" altLang="en-US" smtClean="0"/>
              <a:t>60</a:t>
            </a:fld>
            <a:endParaRPr kumimoji="1" lang="ja-JP" altLang="en-US"/>
          </a:p>
        </p:txBody>
      </p:sp>
      <p:sp>
        <p:nvSpPr>
          <p:cNvPr id="2" name="タイトル 1"/>
          <p:cNvSpPr>
            <a:spLocks noGrp="1"/>
          </p:cNvSpPr>
          <p:nvPr>
            <p:ph type="title"/>
          </p:nvPr>
        </p:nvSpPr>
        <p:spPr/>
        <p:txBody>
          <a:bodyPr/>
          <a:lstStyle/>
          <a:p>
            <a:r>
              <a:rPr lang="ja-JP" altLang="en-US" dirty="0"/>
              <a:t>マトリクス・スケジューラ</a:t>
            </a:r>
            <a:endParaRPr kumimoji="1" lang="ja-JP" altLang="en-US" dirty="0"/>
          </a:p>
        </p:txBody>
      </p:sp>
      <p:sp>
        <p:nvSpPr>
          <p:cNvPr id="82" name="Rectangle 3"/>
          <p:cNvSpPr>
            <a:spLocks noChangeArrowheads="1"/>
          </p:cNvSpPr>
          <p:nvPr/>
        </p:nvSpPr>
        <p:spPr bwMode="auto">
          <a:xfrm>
            <a:off x="2405960" y="1988984"/>
            <a:ext cx="72072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dirty="0" err="1">
                <a:solidFill>
                  <a:schemeClr val="tx1">
                    <a:lumMod val="75000"/>
                    <a:lumOff val="25000"/>
                  </a:schemeClr>
                </a:solidFill>
                <a:latin typeface="Consolas" panose="020B0609020204030204" pitchFamily="49" charset="0"/>
                <a:ea typeface="ＭＳ Ｐゴシック" charset="-128"/>
              </a:rPr>
              <a:t>ld</a:t>
            </a:r>
            <a:endParaRPr lang="en-US" altLang="ja-JP" sz="2000" b="1" dirty="0">
              <a:solidFill>
                <a:schemeClr val="tx1">
                  <a:lumMod val="75000"/>
                  <a:lumOff val="25000"/>
                </a:schemeClr>
              </a:solidFill>
              <a:latin typeface="Consolas" panose="020B0609020204030204" pitchFamily="49" charset="0"/>
              <a:ea typeface="ＭＳ Ｐゴシック" charset="-128"/>
            </a:endParaRPr>
          </a:p>
        </p:txBody>
      </p:sp>
      <p:sp>
        <p:nvSpPr>
          <p:cNvPr id="83" name="Rectangle 4"/>
          <p:cNvSpPr>
            <a:spLocks noChangeArrowheads="1"/>
          </p:cNvSpPr>
          <p:nvPr/>
        </p:nvSpPr>
        <p:spPr bwMode="auto">
          <a:xfrm>
            <a:off x="2405960" y="3338999"/>
            <a:ext cx="72072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dirty="0">
                <a:solidFill>
                  <a:schemeClr val="tx1">
                    <a:lumMod val="75000"/>
                    <a:lumOff val="25000"/>
                  </a:schemeClr>
                </a:solidFill>
                <a:latin typeface="Consolas" panose="020B0609020204030204" pitchFamily="49" charset="0"/>
                <a:ea typeface="ＭＳ Ｐゴシック" charset="-128"/>
              </a:rPr>
              <a:t>add</a:t>
            </a:r>
          </a:p>
        </p:txBody>
      </p:sp>
      <p:sp>
        <p:nvSpPr>
          <p:cNvPr id="84" name="Rectangle 5"/>
          <p:cNvSpPr>
            <a:spLocks noChangeArrowheads="1"/>
          </p:cNvSpPr>
          <p:nvPr/>
        </p:nvSpPr>
        <p:spPr bwMode="auto">
          <a:xfrm>
            <a:off x="4025978" y="1988984"/>
            <a:ext cx="989013"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dirty="0">
                <a:solidFill>
                  <a:schemeClr val="tx1">
                    <a:lumMod val="75000"/>
                    <a:lumOff val="25000"/>
                  </a:schemeClr>
                </a:solidFill>
                <a:latin typeface="Consolas" panose="020B0609020204030204" pitchFamily="49" charset="0"/>
                <a:ea typeface="ＭＳ Ｐゴシック" charset="-128"/>
              </a:rPr>
              <a:t>*(p10)</a:t>
            </a:r>
          </a:p>
        </p:txBody>
      </p:sp>
      <p:sp>
        <p:nvSpPr>
          <p:cNvPr id="85" name="Rectangle 7"/>
          <p:cNvSpPr>
            <a:spLocks noChangeArrowheads="1"/>
          </p:cNvSpPr>
          <p:nvPr/>
        </p:nvSpPr>
        <p:spPr bwMode="auto">
          <a:xfrm>
            <a:off x="3666582" y="1988984"/>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a:solidFill>
                  <a:schemeClr val="tx1">
                    <a:lumMod val="75000"/>
                    <a:lumOff val="25000"/>
                  </a:schemeClr>
                </a:solidFill>
                <a:latin typeface="Consolas" panose="020B0609020204030204" pitchFamily="49" charset="0"/>
                <a:ea typeface="ＭＳ Ｐゴシック" charset="-128"/>
              </a:rPr>
              <a:t>=</a:t>
            </a:r>
          </a:p>
        </p:txBody>
      </p:sp>
      <p:sp>
        <p:nvSpPr>
          <p:cNvPr id="87" name="Rectangle 9"/>
          <p:cNvSpPr>
            <a:spLocks noChangeArrowheads="1"/>
          </p:cNvSpPr>
          <p:nvPr/>
        </p:nvSpPr>
        <p:spPr bwMode="auto">
          <a:xfrm>
            <a:off x="3632315" y="3337997"/>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a:solidFill>
                  <a:schemeClr val="tx1">
                    <a:lumMod val="75000"/>
                    <a:lumOff val="25000"/>
                  </a:schemeClr>
                </a:solidFill>
                <a:latin typeface="Consolas" panose="020B0609020204030204" pitchFamily="49" charset="0"/>
                <a:ea typeface="ＭＳ Ｐゴシック" charset="-128"/>
              </a:rPr>
              <a:t>=</a:t>
            </a:r>
          </a:p>
        </p:txBody>
      </p:sp>
      <p:sp>
        <p:nvSpPr>
          <p:cNvPr id="88" name="Rectangle 10"/>
          <p:cNvSpPr>
            <a:spLocks noChangeArrowheads="1"/>
          </p:cNvSpPr>
          <p:nvPr/>
        </p:nvSpPr>
        <p:spPr bwMode="auto">
          <a:xfrm>
            <a:off x="2407535" y="2887049"/>
            <a:ext cx="720725"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dirty="0" err="1">
                <a:solidFill>
                  <a:schemeClr val="tx1">
                    <a:lumMod val="75000"/>
                    <a:lumOff val="25000"/>
                  </a:schemeClr>
                </a:solidFill>
                <a:latin typeface="Consolas" panose="020B0609020204030204" pitchFamily="49" charset="0"/>
                <a:ea typeface="ＭＳ Ｐゴシック" charset="-128"/>
              </a:rPr>
              <a:t>sll</a:t>
            </a:r>
            <a:endParaRPr lang="en-US" altLang="ja-JP" sz="2000" b="1" dirty="0">
              <a:solidFill>
                <a:schemeClr val="tx1">
                  <a:lumMod val="75000"/>
                  <a:lumOff val="25000"/>
                </a:schemeClr>
              </a:solidFill>
              <a:latin typeface="Consolas" panose="020B0609020204030204" pitchFamily="49" charset="0"/>
              <a:ea typeface="ＭＳ Ｐゴシック" charset="-128"/>
            </a:endParaRPr>
          </a:p>
        </p:txBody>
      </p:sp>
      <p:sp>
        <p:nvSpPr>
          <p:cNvPr id="89" name="Rectangle 12"/>
          <p:cNvSpPr>
            <a:spLocks noChangeArrowheads="1"/>
          </p:cNvSpPr>
          <p:nvPr/>
        </p:nvSpPr>
        <p:spPr bwMode="auto">
          <a:xfrm>
            <a:off x="4531460" y="2887049"/>
            <a:ext cx="539750"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a:solidFill>
                  <a:schemeClr val="tx1">
                    <a:lumMod val="75000"/>
                    <a:lumOff val="25000"/>
                  </a:schemeClr>
                </a:solidFill>
                <a:latin typeface="Consolas" panose="020B0609020204030204" pitchFamily="49" charset="0"/>
                <a:ea typeface="ＭＳ Ｐゴシック" charset="-128"/>
              </a:rPr>
              <a:t>&lt;&lt; 2</a:t>
            </a:r>
          </a:p>
        </p:txBody>
      </p:sp>
      <p:sp>
        <p:nvSpPr>
          <p:cNvPr id="103" name="Rectangle 13"/>
          <p:cNvSpPr>
            <a:spLocks noChangeArrowheads="1"/>
          </p:cNvSpPr>
          <p:nvPr/>
        </p:nvSpPr>
        <p:spPr bwMode="auto">
          <a:xfrm>
            <a:off x="3632315" y="2888636"/>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a:solidFill>
                  <a:schemeClr val="tx1">
                    <a:lumMod val="75000"/>
                    <a:lumOff val="25000"/>
                  </a:schemeClr>
                </a:solidFill>
                <a:latin typeface="Consolas" panose="020B0609020204030204" pitchFamily="49" charset="0"/>
                <a:ea typeface="ＭＳ Ｐゴシック" charset="-128"/>
              </a:rPr>
              <a:t>=</a:t>
            </a:r>
          </a:p>
        </p:txBody>
      </p:sp>
      <p:sp>
        <p:nvSpPr>
          <p:cNvPr id="110" name="Rectangle 16"/>
          <p:cNvSpPr>
            <a:spLocks noChangeArrowheads="1"/>
          </p:cNvSpPr>
          <p:nvPr/>
        </p:nvSpPr>
        <p:spPr bwMode="auto">
          <a:xfrm>
            <a:off x="2404955" y="2438345"/>
            <a:ext cx="72072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dirty="0" err="1">
                <a:solidFill>
                  <a:schemeClr val="tx1">
                    <a:lumMod val="75000"/>
                    <a:lumOff val="25000"/>
                  </a:schemeClr>
                </a:solidFill>
                <a:latin typeface="Consolas" panose="020B0609020204030204" pitchFamily="49" charset="0"/>
                <a:ea typeface="ＭＳ Ｐゴシック" charset="-128"/>
              </a:rPr>
              <a:t>sll</a:t>
            </a:r>
            <a:endParaRPr lang="en-US" altLang="ja-JP" sz="2000" b="1" dirty="0">
              <a:solidFill>
                <a:schemeClr val="tx1">
                  <a:lumMod val="75000"/>
                  <a:lumOff val="25000"/>
                </a:schemeClr>
              </a:solidFill>
              <a:latin typeface="Consolas" panose="020B0609020204030204" pitchFamily="49" charset="0"/>
              <a:ea typeface="ＭＳ Ｐゴシック" charset="-128"/>
            </a:endParaRPr>
          </a:p>
        </p:txBody>
      </p:sp>
      <p:sp>
        <p:nvSpPr>
          <p:cNvPr id="111" name="Rectangle 18"/>
          <p:cNvSpPr>
            <a:spLocks noChangeArrowheads="1"/>
          </p:cNvSpPr>
          <p:nvPr/>
        </p:nvSpPr>
        <p:spPr bwMode="auto">
          <a:xfrm>
            <a:off x="4530145" y="2438345"/>
            <a:ext cx="53975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dirty="0">
                <a:solidFill>
                  <a:schemeClr val="tx1">
                    <a:lumMod val="75000"/>
                    <a:lumOff val="25000"/>
                  </a:schemeClr>
                </a:solidFill>
                <a:latin typeface="Consolas" panose="020B0609020204030204" pitchFamily="49" charset="0"/>
                <a:ea typeface="ＭＳ Ｐゴシック" charset="-128"/>
              </a:rPr>
              <a:t>&lt;&lt; 1</a:t>
            </a:r>
          </a:p>
        </p:txBody>
      </p:sp>
      <p:sp>
        <p:nvSpPr>
          <p:cNvPr id="112" name="Rectangle 19"/>
          <p:cNvSpPr>
            <a:spLocks noChangeArrowheads="1"/>
          </p:cNvSpPr>
          <p:nvPr/>
        </p:nvSpPr>
        <p:spPr bwMode="auto">
          <a:xfrm>
            <a:off x="3630058" y="2438345"/>
            <a:ext cx="360362"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dirty="0">
                <a:solidFill>
                  <a:schemeClr val="tx1">
                    <a:lumMod val="75000"/>
                    <a:lumOff val="25000"/>
                  </a:schemeClr>
                </a:solidFill>
                <a:latin typeface="Consolas" panose="020B0609020204030204" pitchFamily="49" charset="0"/>
                <a:ea typeface="ＭＳ Ｐゴシック" charset="-128"/>
              </a:rPr>
              <a:t>=</a:t>
            </a:r>
          </a:p>
        </p:txBody>
      </p:sp>
      <p:sp>
        <p:nvSpPr>
          <p:cNvPr id="123" name="Rectangle 22"/>
          <p:cNvSpPr>
            <a:spLocks noChangeArrowheads="1"/>
          </p:cNvSpPr>
          <p:nvPr/>
        </p:nvSpPr>
        <p:spPr bwMode="auto">
          <a:xfrm>
            <a:off x="4531461" y="3334822"/>
            <a:ext cx="360363"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a:solidFill>
                  <a:schemeClr val="tx1">
                    <a:lumMod val="75000"/>
                    <a:lumOff val="25000"/>
                  </a:schemeClr>
                </a:solidFill>
                <a:latin typeface="Consolas" panose="020B0609020204030204" pitchFamily="49" charset="0"/>
                <a:ea typeface="ＭＳ Ｐゴシック" charset="-128"/>
              </a:rPr>
              <a:t>+</a:t>
            </a:r>
          </a:p>
        </p:txBody>
      </p:sp>
      <p:sp>
        <p:nvSpPr>
          <p:cNvPr id="128" name="Rectangle 21"/>
          <p:cNvSpPr>
            <a:spLocks noChangeArrowheads="1"/>
          </p:cNvSpPr>
          <p:nvPr/>
        </p:nvSpPr>
        <p:spPr bwMode="auto">
          <a:xfrm>
            <a:off x="3233220" y="1988984"/>
            <a:ext cx="35877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dirty="0">
                <a:solidFill>
                  <a:schemeClr val="accent2"/>
                </a:solidFill>
                <a:latin typeface="Consolas" panose="020B0609020204030204" pitchFamily="49" charset="0"/>
                <a:ea typeface="ＭＳ Ｐゴシック" charset="-128"/>
              </a:rPr>
              <a:t>p11</a:t>
            </a:r>
          </a:p>
        </p:txBody>
      </p:sp>
      <p:sp>
        <p:nvSpPr>
          <p:cNvPr id="130" name="Rectangle 21"/>
          <p:cNvSpPr>
            <a:spLocks noChangeArrowheads="1"/>
          </p:cNvSpPr>
          <p:nvPr/>
        </p:nvSpPr>
        <p:spPr bwMode="auto">
          <a:xfrm>
            <a:off x="4133792" y="2438667"/>
            <a:ext cx="35877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dirty="0">
                <a:solidFill>
                  <a:schemeClr val="accent2"/>
                </a:solidFill>
                <a:latin typeface="Consolas" panose="020B0609020204030204" pitchFamily="49" charset="0"/>
                <a:ea typeface="ＭＳ Ｐゴシック" charset="-128"/>
              </a:rPr>
              <a:t>p11</a:t>
            </a:r>
          </a:p>
        </p:txBody>
      </p:sp>
      <p:sp>
        <p:nvSpPr>
          <p:cNvPr id="131" name="Rectangle 21"/>
          <p:cNvSpPr>
            <a:spLocks noChangeArrowheads="1"/>
          </p:cNvSpPr>
          <p:nvPr/>
        </p:nvSpPr>
        <p:spPr bwMode="auto">
          <a:xfrm>
            <a:off x="3215969" y="2438989"/>
            <a:ext cx="35877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dirty="0">
                <a:solidFill>
                  <a:schemeClr val="accent3"/>
                </a:solidFill>
                <a:latin typeface="Consolas" panose="020B0609020204030204" pitchFamily="49" charset="0"/>
                <a:ea typeface="ＭＳ Ｐゴシック" charset="-128"/>
              </a:rPr>
              <a:t>p1</a:t>
            </a:r>
            <a:r>
              <a:rPr lang="ja-JP" altLang="en-US" sz="2000" b="1" dirty="0">
                <a:solidFill>
                  <a:schemeClr val="accent3"/>
                </a:solidFill>
                <a:latin typeface="Consolas" panose="020B0609020204030204" pitchFamily="49" charset="0"/>
                <a:ea typeface="ＭＳ Ｐゴシック" charset="-128"/>
              </a:rPr>
              <a:t>２</a:t>
            </a:r>
            <a:endParaRPr lang="en-US" altLang="ja-JP" sz="2000" b="1" dirty="0">
              <a:solidFill>
                <a:schemeClr val="accent3"/>
              </a:solidFill>
              <a:latin typeface="Consolas" panose="020B0609020204030204" pitchFamily="49" charset="0"/>
              <a:ea typeface="ＭＳ Ｐゴシック" charset="-128"/>
            </a:endParaRPr>
          </a:p>
        </p:txBody>
      </p:sp>
      <p:sp>
        <p:nvSpPr>
          <p:cNvPr id="132" name="Rectangle 21"/>
          <p:cNvSpPr>
            <a:spLocks noChangeArrowheads="1"/>
          </p:cNvSpPr>
          <p:nvPr/>
        </p:nvSpPr>
        <p:spPr bwMode="auto">
          <a:xfrm>
            <a:off x="4135057" y="2887048"/>
            <a:ext cx="35877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dirty="0">
                <a:solidFill>
                  <a:schemeClr val="accent2"/>
                </a:solidFill>
                <a:latin typeface="Consolas" panose="020B0609020204030204" pitchFamily="49" charset="0"/>
                <a:ea typeface="ＭＳ Ｐゴシック" charset="-128"/>
              </a:rPr>
              <a:t>p11</a:t>
            </a:r>
          </a:p>
        </p:txBody>
      </p:sp>
      <p:sp>
        <p:nvSpPr>
          <p:cNvPr id="133" name="Rectangle 21"/>
          <p:cNvSpPr>
            <a:spLocks noChangeArrowheads="1"/>
          </p:cNvSpPr>
          <p:nvPr/>
        </p:nvSpPr>
        <p:spPr bwMode="auto">
          <a:xfrm>
            <a:off x="3198953" y="2887048"/>
            <a:ext cx="35877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dirty="0">
                <a:solidFill>
                  <a:schemeClr val="accent6"/>
                </a:solidFill>
                <a:latin typeface="Consolas" panose="020B0609020204030204" pitchFamily="49" charset="0"/>
                <a:ea typeface="ＭＳ Ｐゴシック" charset="-128"/>
              </a:rPr>
              <a:t>p13</a:t>
            </a:r>
          </a:p>
        </p:txBody>
      </p:sp>
      <p:sp>
        <p:nvSpPr>
          <p:cNvPr id="134" name="Rectangle 21"/>
          <p:cNvSpPr>
            <a:spLocks noChangeArrowheads="1"/>
          </p:cNvSpPr>
          <p:nvPr/>
        </p:nvSpPr>
        <p:spPr bwMode="auto">
          <a:xfrm>
            <a:off x="4133792" y="3338641"/>
            <a:ext cx="35877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dirty="0">
                <a:solidFill>
                  <a:schemeClr val="accent3"/>
                </a:solidFill>
                <a:latin typeface="Consolas" panose="020B0609020204030204" pitchFamily="49" charset="0"/>
                <a:ea typeface="ＭＳ Ｐゴシック" charset="-128"/>
              </a:rPr>
              <a:t>p12</a:t>
            </a:r>
          </a:p>
        </p:txBody>
      </p:sp>
      <p:sp>
        <p:nvSpPr>
          <p:cNvPr id="135" name="Rectangle 21"/>
          <p:cNvSpPr>
            <a:spLocks noChangeArrowheads="1"/>
          </p:cNvSpPr>
          <p:nvPr/>
        </p:nvSpPr>
        <p:spPr bwMode="auto">
          <a:xfrm>
            <a:off x="4927145" y="3334822"/>
            <a:ext cx="35877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dirty="0">
                <a:solidFill>
                  <a:schemeClr val="tx1">
                    <a:lumMod val="75000"/>
                    <a:lumOff val="25000"/>
                  </a:schemeClr>
                </a:solidFill>
                <a:latin typeface="Consolas" panose="020B0609020204030204" pitchFamily="49" charset="0"/>
                <a:ea typeface="ＭＳ Ｐゴシック" charset="-128"/>
              </a:rPr>
              <a:t>1</a:t>
            </a:r>
          </a:p>
        </p:txBody>
      </p:sp>
      <p:sp>
        <p:nvSpPr>
          <p:cNvPr id="147" name="Rectangle 21"/>
          <p:cNvSpPr>
            <a:spLocks noChangeArrowheads="1"/>
          </p:cNvSpPr>
          <p:nvPr/>
        </p:nvSpPr>
        <p:spPr bwMode="auto">
          <a:xfrm>
            <a:off x="3198953" y="3338319"/>
            <a:ext cx="35877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sz="2000" b="1" dirty="0">
                <a:solidFill>
                  <a:schemeClr val="accent5"/>
                </a:solidFill>
                <a:latin typeface="Consolas" panose="020B0609020204030204" pitchFamily="49" charset="0"/>
                <a:ea typeface="ＭＳ Ｐゴシック" charset="-128"/>
              </a:rPr>
              <a:t>p14</a:t>
            </a:r>
          </a:p>
        </p:txBody>
      </p:sp>
      <p:sp>
        <p:nvSpPr>
          <p:cNvPr id="148" name="Rectangle 3"/>
          <p:cNvSpPr>
            <a:spLocks noChangeArrowheads="1"/>
          </p:cNvSpPr>
          <p:nvPr/>
        </p:nvSpPr>
        <p:spPr bwMode="auto">
          <a:xfrm>
            <a:off x="1992157" y="1988984"/>
            <a:ext cx="72072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solidFill>
                  <a:schemeClr val="accent2"/>
                </a:solidFill>
                <a:latin typeface="Consolas" panose="020B0609020204030204" pitchFamily="49" charset="0"/>
                <a:cs typeface="Times New Roman" pitchFamily="18" charset="0"/>
              </a:rPr>
              <a:t>I</a:t>
            </a:r>
            <a:r>
              <a:rPr lang="en-US" altLang="ja-JP" sz="2400" b="1" i="1" baseline="-25000" dirty="0">
                <a:solidFill>
                  <a:schemeClr val="accent2"/>
                </a:solidFill>
                <a:latin typeface="Consolas" panose="020B0609020204030204" pitchFamily="49" charset="0"/>
                <a:cs typeface="Times New Roman" pitchFamily="18" charset="0"/>
              </a:rPr>
              <a:t>0</a:t>
            </a:r>
            <a:endParaRPr lang="en-US" altLang="ja-JP" sz="2000" b="1" i="1" dirty="0">
              <a:solidFill>
                <a:schemeClr val="accent2"/>
              </a:solidFill>
              <a:latin typeface="Consolas" panose="020B0609020204030204" pitchFamily="49" charset="0"/>
              <a:ea typeface="ＭＳ Ｐゴシック" charset="-128"/>
              <a:cs typeface="Times New Roman" pitchFamily="18" charset="0"/>
            </a:endParaRPr>
          </a:p>
        </p:txBody>
      </p:sp>
      <p:sp>
        <p:nvSpPr>
          <p:cNvPr id="149" name="Rectangle 3"/>
          <p:cNvSpPr>
            <a:spLocks noChangeArrowheads="1"/>
          </p:cNvSpPr>
          <p:nvPr/>
        </p:nvSpPr>
        <p:spPr bwMode="auto">
          <a:xfrm>
            <a:off x="1955955" y="2438989"/>
            <a:ext cx="72072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solidFill>
                  <a:schemeClr val="accent3"/>
                </a:solidFill>
                <a:latin typeface="Consolas" panose="020B0609020204030204" pitchFamily="49" charset="0"/>
                <a:cs typeface="Times New Roman" pitchFamily="18" charset="0"/>
              </a:rPr>
              <a:t>I</a:t>
            </a:r>
            <a:r>
              <a:rPr lang="en-US" altLang="ja-JP" sz="2400" b="1" i="1" baseline="-25000" dirty="0">
                <a:solidFill>
                  <a:schemeClr val="accent3"/>
                </a:solidFill>
                <a:latin typeface="Consolas" panose="020B0609020204030204" pitchFamily="49" charset="0"/>
                <a:cs typeface="Times New Roman" pitchFamily="18" charset="0"/>
              </a:rPr>
              <a:t>1</a:t>
            </a:r>
            <a:endParaRPr lang="en-US" altLang="ja-JP" sz="2000" b="1" i="1" dirty="0">
              <a:solidFill>
                <a:schemeClr val="accent3"/>
              </a:solidFill>
              <a:latin typeface="Consolas" panose="020B0609020204030204" pitchFamily="49" charset="0"/>
              <a:ea typeface="ＭＳ Ｐゴシック" charset="-128"/>
              <a:cs typeface="Times New Roman" pitchFamily="18" charset="0"/>
            </a:endParaRPr>
          </a:p>
        </p:txBody>
      </p:sp>
      <p:sp>
        <p:nvSpPr>
          <p:cNvPr id="150" name="Rectangle 3"/>
          <p:cNvSpPr>
            <a:spLocks noChangeArrowheads="1"/>
          </p:cNvSpPr>
          <p:nvPr/>
        </p:nvSpPr>
        <p:spPr bwMode="auto">
          <a:xfrm>
            <a:off x="1955955" y="2888994"/>
            <a:ext cx="72072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solidFill>
                  <a:schemeClr val="accent6"/>
                </a:solidFill>
                <a:latin typeface="Consolas" panose="020B0609020204030204" pitchFamily="49" charset="0"/>
                <a:cs typeface="Times New Roman" pitchFamily="18" charset="0"/>
              </a:rPr>
              <a:t>I</a:t>
            </a:r>
            <a:r>
              <a:rPr lang="en-US" altLang="ja-JP" sz="2400" b="1" i="1" baseline="-25000" dirty="0">
                <a:solidFill>
                  <a:schemeClr val="accent6"/>
                </a:solidFill>
                <a:latin typeface="Consolas" panose="020B0609020204030204" pitchFamily="49" charset="0"/>
                <a:cs typeface="Times New Roman" pitchFamily="18" charset="0"/>
              </a:rPr>
              <a:t>2</a:t>
            </a:r>
            <a:endParaRPr lang="en-US" altLang="ja-JP" sz="2000" b="1" i="1" dirty="0">
              <a:solidFill>
                <a:schemeClr val="accent6"/>
              </a:solidFill>
              <a:latin typeface="Consolas" panose="020B0609020204030204" pitchFamily="49" charset="0"/>
              <a:ea typeface="ＭＳ Ｐゴシック" charset="-128"/>
              <a:cs typeface="Times New Roman" pitchFamily="18" charset="0"/>
            </a:endParaRPr>
          </a:p>
        </p:txBody>
      </p:sp>
      <p:sp>
        <p:nvSpPr>
          <p:cNvPr id="151" name="Rectangle 3"/>
          <p:cNvSpPr>
            <a:spLocks noChangeArrowheads="1"/>
          </p:cNvSpPr>
          <p:nvPr/>
        </p:nvSpPr>
        <p:spPr bwMode="auto">
          <a:xfrm>
            <a:off x="1955955" y="3338999"/>
            <a:ext cx="72072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solidFill>
                  <a:schemeClr val="accent5"/>
                </a:solidFill>
                <a:latin typeface="Consolas" panose="020B0609020204030204" pitchFamily="49" charset="0"/>
                <a:cs typeface="Times New Roman" pitchFamily="18" charset="0"/>
              </a:rPr>
              <a:t>I</a:t>
            </a:r>
            <a:r>
              <a:rPr lang="en-US" altLang="ja-JP" sz="2400" b="1" i="1" baseline="-25000" dirty="0">
                <a:solidFill>
                  <a:schemeClr val="accent5"/>
                </a:solidFill>
                <a:latin typeface="Consolas" panose="020B0609020204030204" pitchFamily="49" charset="0"/>
                <a:cs typeface="Times New Roman" pitchFamily="18" charset="0"/>
              </a:rPr>
              <a:t>3</a:t>
            </a:r>
            <a:endParaRPr lang="en-US" altLang="ja-JP" sz="2000" b="1" i="1" dirty="0">
              <a:solidFill>
                <a:schemeClr val="accent5"/>
              </a:solidFill>
              <a:latin typeface="Consolas" panose="020B0609020204030204" pitchFamily="49" charset="0"/>
              <a:ea typeface="ＭＳ Ｐゴシック" charset="-128"/>
              <a:cs typeface="Times New Roman" pitchFamily="18" charset="0"/>
            </a:endParaRPr>
          </a:p>
        </p:txBody>
      </p:sp>
      <p:sp>
        <p:nvSpPr>
          <p:cNvPr id="155" name="Rectangle 3"/>
          <p:cNvSpPr>
            <a:spLocks noChangeArrowheads="1"/>
          </p:cNvSpPr>
          <p:nvPr/>
        </p:nvSpPr>
        <p:spPr bwMode="auto">
          <a:xfrm>
            <a:off x="6096000" y="2348880"/>
            <a:ext cx="3600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latin typeface="Consolas" panose="020B0609020204030204" pitchFamily="49" charset="0"/>
                <a:cs typeface="Times New Roman" pitchFamily="18" charset="0"/>
              </a:rPr>
              <a:t>I</a:t>
            </a:r>
            <a:r>
              <a:rPr lang="en-US" altLang="ja-JP" sz="2400" b="1" i="1" baseline="-25000" dirty="0">
                <a:latin typeface="Consolas" panose="020B0609020204030204" pitchFamily="49" charset="0"/>
                <a:cs typeface="Times New Roman" pitchFamily="18" charset="0"/>
              </a:rPr>
              <a:t>0</a:t>
            </a:r>
            <a:endParaRPr lang="en-US" altLang="ja-JP" sz="2000" b="1" i="1" dirty="0">
              <a:solidFill>
                <a:srgbClr val="FF0000"/>
              </a:solidFill>
              <a:latin typeface="Consolas" panose="020B0609020204030204" pitchFamily="49" charset="0"/>
              <a:ea typeface="ＭＳ Ｐゴシック" charset="-128"/>
              <a:cs typeface="Times New Roman" pitchFamily="18" charset="0"/>
            </a:endParaRPr>
          </a:p>
        </p:txBody>
      </p:sp>
      <p:sp>
        <p:nvSpPr>
          <p:cNvPr id="156" name="Rectangle 3"/>
          <p:cNvSpPr>
            <a:spLocks noChangeArrowheads="1"/>
          </p:cNvSpPr>
          <p:nvPr/>
        </p:nvSpPr>
        <p:spPr bwMode="auto">
          <a:xfrm>
            <a:off x="6096645" y="2780928"/>
            <a:ext cx="3600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latin typeface="Consolas" panose="020B0609020204030204" pitchFamily="49" charset="0"/>
                <a:cs typeface="Times New Roman" pitchFamily="18" charset="0"/>
              </a:rPr>
              <a:t>I</a:t>
            </a:r>
            <a:r>
              <a:rPr lang="en-US" altLang="ja-JP" sz="2400" b="1" i="1" baseline="-25000" dirty="0">
                <a:latin typeface="Consolas" panose="020B0609020204030204" pitchFamily="49" charset="0"/>
                <a:cs typeface="Times New Roman" pitchFamily="18" charset="0"/>
              </a:rPr>
              <a:t>1</a:t>
            </a:r>
            <a:endParaRPr lang="en-US" altLang="ja-JP" sz="2000" b="1" i="1" dirty="0">
              <a:solidFill>
                <a:srgbClr val="FF0000"/>
              </a:solidFill>
              <a:latin typeface="Consolas" panose="020B0609020204030204" pitchFamily="49" charset="0"/>
              <a:ea typeface="ＭＳ Ｐゴシック" charset="-128"/>
              <a:cs typeface="Times New Roman" pitchFamily="18" charset="0"/>
            </a:endParaRPr>
          </a:p>
        </p:txBody>
      </p:sp>
      <p:sp>
        <p:nvSpPr>
          <p:cNvPr id="157" name="Rectangle 3"/>
          <p:cNvSpPr>
            <a:spLocks noChangeArrowheads="1"/>
          </p:cNvSpPr>
          <p:nvPr/>
        </p:nvSpPr>
        <p:spPr bwMode="auto">
          <a:xfrm>
            <a:off x="6096000" y="3212976"/>
            <a:ext cx="3600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latin typeface="Consolas" panose="020B0609020204030204" pitchFamily="49" charset="0"/>
                <a:cs typeface="Times New Roman" pitchFamily="18" charset="0"/>
              </a:rPr>
              <a:t>I</a:t>
            </a:r>
            <a:r>
              <a:rPr lang="en-US" altLang="ja-JP" sz="2400" b="1" i="1" baseline="-25000" dirty="0">
                <a:latin typeface="Consolas" panose="020B0609020204030204" pitchFamily="49" charset="0"/>
                <a:cs typeface="Times New Roman" pitchFamily="18" charset="0"/>
              </a:rPr>
              <a:t>2</a:t>
            </a:r>
            <a:endParaRPr lang="en-US" altLang="ja-JP" sz="2000" b="1" i="1" dirty="0">
              <a:solidFill>
                <a:srgbClr val="FF0000"/>
              </a:solidFill>
              <a:latin typeface="Consolas" panose="020B0609020204030204" pitchFamily="49" charset="0"/>
              <a:ea typeface="ＭＳ Ｐゴシック" charset="-128"/>
              <a:cs typeface="Times New Roman" pitchFamily="18" charset="0"/>
            </a:endParaRPr>
          </a:p>
        </p:txBody>
      </p:sp>
      <p:sp>
        <p:nvSpPr>
          <p:cNvPr id="158" name="Rectangle 3"/>
          <p:cNvSpPr>
            <a:spLocks noChangeArrowheads="1"/>
          </p:cNvSpPr>
          <p:nvPr/>
        </p:nvSpPr>
        <p:spPr bwMode="auto">
          <a:xfrm>
            <a:off x="6096645" y="3645024"/>
            <a:ext cx="3600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latin typeface="Consolas" panose="020B0609020204030204" pitchFamily="49" charset="0"/>
                <a:cs typeface="Times New Roman" pitchFamily="18" charset="0"/>
              </a:rPr>
              <a:t>I</a:t>
            </a:r>
            <a:r>
              <a:rPr lang="en-US" altLang="ja-JP" sz="2400" b="1" i="1" baseline="-25000" dirty="0">
                <a:latin typeface="Consolas" panose="020B0609020204030204" pitchFamily="49" charset="0"/>
                <a:cs typeface="Times New Roman" pitchFamily="18" charset="0"/>
              </a:rPr>
              <a:t>3</a:t>
            </a:r>
            <a:endParaRPr lang="en-US" altLang="ja-JP" sz="2000" b="1" i="1" dirty="0">
              <a:solidFill>
                <a:srgbClr val="FF0000"/>
              </a:solidFill>
              <a:latin typeface="Consolas" panose="020B0609020204030204" pitchFamily="49" charset="0"/>
              <a:ea typeface="ＭＳ Ｐゴシック" charset="-128"/>
              <a:cs typeface="Times New Roman" pitchFamily="18" charset="0"/>
            </a:endParaRPr>
          </a:p>
        </p:txBody>
      </p:sp>
      <p:sp>
        <p:nvSpPr>
          <p:cNvPr id="159" name="Rectangle 3"/>
          <p:cNvSpPr>
            <a:spLocks noChangeArrowheads="1"/>
          </p:cNvSpPr>
          <p:nvPr/>
        </p:nvSpPr>
        <p:spPr bwMode="auto">
          <a:xfrm>
            <a:off x="6599411" y="1844824"/>
            <a:ext cx="3600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solidFill>
                  <a:schemeClr val="accent2"/>
                </a:solidFill>
                <a:latin typeface="Consolas" panose="020B0609020204030204" pitchFamily="49" charset="0"/>
                <a:cs typeface="Times New Roman" pitchFamily="18" charset="0"/>
              </a:rPr>
              <a:t>I</a:t>
            </a:r>
            <a:r>
              <a:rPr lang="en-US" altLang="ja-JP" sz="2400" b="1" i="1" baseline="-25000" dirty="0">
                <a:solidFill>
                  <a:schemeClr val="accent2"/>
                </a:solidFill>
                <a:latin typeface="Consolas" panose="020B0609020204030204" pitchFamily="49" charset="0"/>
                <a:cs typeface="Times New Roman" pitchFamily="18" charset="0"/>
              </a:rPr>
              <a:t>0</a:t>
            </a:r>
            <a:endParaRPr lang="en-US" altLang="ja-JP" sz="2000" b="1" i="1" dirty="0">
              <a:solidFill>
                <a:schemeClr val="accent2"/>
              </a:solidFill>
              <a:latin typeface="Consolas" panose="020B0609020204030204" pitchFamily="49" charset="0"/>
              <a:ea typeface="ＭＳ Ｐゴシック" charset="-128"/>
              <a:cs typeface="Times New Roman" pitchFamily="18" charset="0"/>
            </a:endParaRPr>
          </a:p>
        </p:txBody>
      </p:sp>
      <p:sp>
        <p:nvSpPr>
          <p:cNvPr id="160" name="Rectangle 3"/>
          <p:cNvSpPr>
            <a:spLocks noChangeArrowheads="1"/>
          </p:cNvSpPr>
          <p:nvPr/>
        </p:nvSpPr>
        <p:spPr bwMode="auto">
          <a:xfrm>
            <a:off x="7032105" y="1844824"/>
            <a:ext cx="3600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solidFill>
                  <a:schemeClr val="accent3">
                    <a:lumMod val="75000"/>
                  </a:schemeClr>
                </a:solidFill>
                <a:latin typeface="Consolas" panose="020B0609020204030204" pitchFamily="49" charset="0"/>
                <a:cs typeface="Times New Roman" pitchFamily="18" charset="0"/>
              </a:rPr>
              <a:t>I</a:t>
            </a:r>
            <a:r>
              <a:rPr lang="en-US" altLang="ja-JP" sz="2400" b="1" i="1" baseline="-25000" dirty="0">
                <a:solidFill>
                  <a:schemeClr val="accent3">
                    <a:lumMod val="75000"/>
                  </a:schemeClr>
                </a:solidFill>
                <a:latin typeface="Consolas" panose="020B0609020204030204" pitchFamily="49" charset="0"/>
                <a:cs typeface="Times New Roman" pitchFamily="18" charset="0"/>
              </a:rPr>
              <a:t>1</a:t>
            </a:r>
            <a:endParaRPr lang="en-US" altLang="ja-JP" sz="2000" b="1" i="1" dirty="0">
              <a:solidFill>
                <a:schemeClr val="accent3">
                  <a:lumMod val="75000"/>
                </a:schemeClr>
              </a:solidFill>
              <a:latin typeface="Consolas" panose="020B0609020204030204" pitchFamily="49" charset="0"/>
              <a:ea typeface="ＭＳ Ｐゴシック" charset="-128"/>
              <a:cs typeface="Times New Roman" pitchFamily="18" charset="0"/>
            </a:endParaRPr>
          </a:p>
        </p:txBody>
      </p:sp>
      <p:sp>
        <p:nvSpPr>
          <p:cNvPr id="161" name="Rectangle 3"/>
          <p:cNvSpPr>
            <a:spLocks noChangeArrowheads="1"/>
          </p:cNvSpPr>
          <p:nvPr/>
        </p:nvSpPr>
        <p:spPr bwMode="auto">
          <a:xfrm>
            <a:off x="7464152" y="1844824"/>
            <a:ext cx="3600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solidFill>
                  <a:schemeClr val="accent6"/>
                </a:solidFill>
                <a:latin typeface="Consolas" panose="020B0609020204030204" pitchFamily="49" charset="0"/>
                <a:cs typeface="Times New Roman" pitchFamily="18" charset="0"/>
              </a:rPr>
              <a:t>I</a:t>
            </a:r>
            <a:r>
              <a:rPr lang="en-US" altLang="ja-JP" sz="2400" b="1" i="1" baseline="-25000" dirty="0">
                <a:solidFill>
                  <a:schemeClr val="accent6"/>
                </a:solidFill>
                <a:latin typeface="Consolas" panose="020B0609020204030204" pitchFamily="49" charset="0"/>
                <a:cs typeface="Times New Roman" pitchFamily="18" charset="0"/>
              </a:rPr>
              <a:t>2</a:t>
            </a:r>
            <a:endParaRPr lang="en-US" altLang="ja-JP" sz="2000" b="1" i="1" dirty="0">
              <a:solidFill>
                <a:schemeClr val="accent6"/>
              </a:solidFill>
              <a:latin typeface="Consolas" panose="020B0609020204030204" pitchFamily="49" charset="0"/>
              <a:ea typeface="ＭＳ Ｐゴシック" charset="-128"/>
              <a:cs typeface="Times New Roman" pitchFamily="18" charset="0"/>
            </a:endParaRPr>
          </a:p>
        </p:txBody>
      </p:sp>
      <p:sp>
        <p:nvSpPr>
          <p:cNvPr id="162" name="Rectangle 3"/>
          <p:cNvSpPr>
            <a:spLocks noChangeArrowheads="1"/>
          </p:cNvSpPr>
          <p:nvPr/>
        </p:nvSpPr>
        <p:spPr bwMode="auto">
          <a:xfrm>
            <a:off x="7896200" y="1844824"/>
            <a:ext cx="3600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i="1" dirty="0">
                <a:solidFill>
                  <a:schemeClr val="accent5"/>
                </a:solidFill>
                <a:latin typeface="Consolas" panose="020B0609020204030204" pitchFamily="49" charset="0"/>
                <a:cs typeface="Times New Roman" pitchFamily="18" charset="0"/>
              </a:rPr>
              <a:t>I</a:t>
            </a:r>
            <a:r>
              <a:rPr lang="en-US" altLang="ja-JP" sz="2400" b="1" i="1" baseline="-25000" dirty="0">
                <a:solidFill>
                  <a:schemeClr val="accent5"/>
                </a:solidFill>
                <a:latin typeface="Consolas" panose="020B0609020204030204" pitchFamily="49" charset="0"/>
                <a:cs typeface="Times New Roman" pitchFamily="18" charset="0"/>
              </a:rPr>
              <a:t>3</a:t>
            </a:r>
            <a:endParaRPr lang="en-US" altLang="ja-JP" sz="2000" b="1" i="1" dirty="0">
              <a:solidFill>
                <a:schemeClr val="accent5"/>
              </a:solidFill>
              <a:latin typeface="Consolas" panose="020B0609020204030204" pitchFamily="49" charset="0"/>
              <a:ea typeface="ＭＳ Ｐゴシック" charset="-128"/>
              <a:cs typeface="Times New Roman" pitchFamily="18" charset="0"/>
            </a:endParaRPr>
          </a:p>
        </p:txBody>
      </p:sp>
      <p:sp>
        <p:nvSpPr>
          <p:cNvPr id="163" name="Rectangle 105"/>
          <p:cNvSpPr>
            <a:spLocks noChangeArrowheads="1"/>
          </p:cNvSpPr>
          <p:nvPr/>
        </p:nvSpPr>
        <p:spPr bwMode="auto">
          <a:xfrm>
            <a:off x="8472265" y="2276872"/>
            <a:ext cx="432048" cy="432048"/>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b" anchorCtr="1"/>
          <a:lstStyle/>
          <a:p>
            <a:pPr algn="ctr"/>
            <a:r>
              <a:rPr lang="en-US" altLang="ja-JP" sz="2000" b="1" dirty="0">
                <a:solidFill>
                  <a:srgbClr val="000000"/>
                </a:solidFill>
                <a:latin typeface="Courier New" pitchFamily="49" charset="0"/>
                <a:cs typeface="Courier New" pitchFamily="49" charset="0"/>
              </a:rPr>
              <a:t>1</a:t>
            </a:r>
            <a:endParaRPr lang="ja-JP" altLang="en-US" sz="2000" b="1" dirty="0">
              <a:solidFill>
                <a:srgbClr val="000000"/>
              </a:solidFill>
              <a:latin typeface="Courier New" pitchFamily="49" charset="0"/>
              <a:cs typeface="Courier New" pitchFamily="49" charset="0"/>
            </a:endParaRPr>
          </a:p>
        </p:txBody>
      </p:sp>
      <p:sp>
        <p:nvSpPr>
          <p:cNvPr id="164" name="Rectangle 105"/>
          <p:cNvSpPr>
            <a:spLocks noChangeArrowheads="1"/>
          </p:cNvSpPr>
          <p:nvPr/>
        </p:nvSpPr>
        <p:spPr bwMode="auto">
          <a:xfrm>
            <a:off x="8472265" y="2708920"/>
            <a:ext cx="432048" cy="432048"/>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b" anchorCtr="1"/>
          <a:lstStyle/>
          <a:p>
            <a:pPr algn="ctr"/>
            <a:r>
              <a:rPr lang="en-US" altLang="ja-JP" sz="2000" b="1" dirty="0">
                <a:solidFill>
                  <a:srgbClr val="000000"/>
                </a:solidFill>
                <a:latin typeface="Courier New" pitchFamily="49" charset="0"/>
                <a:cs typeface="Courier New" pitchFamily="49" charset="0"/>
              </a:rPr>
              <a:t>0</a:t>
            </a:r>
            <a:endParaRPr lang="ja-JP" altLang="en-US" sz="2000" b="1" dirty="0">
              <a:solidFill>
                <a:srgbClr val="000000"/>
              </a:solidFill>
              <a:latin typeface="Courier New" pitchFamily="49" charset="0"/>
              <a:cs typeface="Courier New" pitchFamily="49" charset="0"/>
            </a:endParaRPr>
          </a:p>
        </p:txBody>
      </p:sp>
      <p:sp>
        <p:nvSpPr>
          <p:cNvPr id="165" name="Rectangle 105"/>
          <p:cNvSpPr>
            <a:spLocks noChangeArrowheads="1"/>
          </p:cNvSpPr>
          <p:nvPr/>
        </p:nvSpPr>
        <p:spPr bwMode="auto">
          <a:xfrm>
            <a:off x="8472265" y="3140968"/>
            <a:ext cx="432048" cy="432048"/>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b" anchorCtr="1"/>
          <a:lstStyle/>
          <a:p>
            <a:pPr algn="ctr"/>
            <a:r>
              <a:rPr lang="en-US" altLang="ja-JP" sz="2000" b="1" dirty="0">
                <a:solidFill>
                  <a:srgbClr val="000000"/>
                </a:solidFill>
                <a:latin typeface="Courier New" pitchFamily="49" charset="0"/>
                <a:cs typeface="Courier New" pitchFamily="49" charset="0"/>
              </a:rPr>
              <a:t>0</a:t>
            </a:r>
            <a:endParaRPr lang="ja-JP" altLang="en-US" sz="2000" b="1" dirty="0">
              <a:solidFill>
                <a:srgbClr val="000000"/>
              </a:solidFill>
              <a:latin typeface="Courier New" pitchFamily="49" charset="0"/>
              <a:cs typeface="Courier New" pitchFamily="49" charset="0"/>
            </a:endParaRPr>
          </a:p>
        </p:txBody>
      </p:sp>
      <p:sp>
        <p:nvSpPr>
          <p:cNvPr id="166" name="Rectangle 51"/>
          <p:cNvSpPr>
            <a:spLocks noChangeArrowheads="1"/>
          </p:cNvSpPr>
          <p:nvPr/>
        </p:nvSpPr>
        <p:spPr bwMode="auto">
          <a:xfrm>
            <a:off x="8328248" y="1556792"/>
            <a:ext cx="719138"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ja-JP" b="1" dirty="0" err="1">
                <a:latin typeface="Courier New" pitchFamily="49" charset="0"/>
                <a:cs typeface="Courier New" pitchFamily="49" charset="0"/>
              </a:rPr>
              <a:t>rdy</a:t>
            </a:r>
            <a:r>
              <a:rPr lang="en-US" altLang="ja-JP" b="1" dirty="0">
                <a:latin typeface="Courier New" pitchFamily="49" charset="0"/>
                <a:cs typeface="Courier New" pitchFamily="49" charset="0"/>
              </a:rPr>
              <a:t> </a:t>
            </a:r>
          </a:p>
        </p:txBody>
      </p:sp>
      <p:sp>
        <p:nvSpPr>
          <p:cNvPr id="173" name="Rectangle 105"/>
          <p:cNvSpPr>
            <a:spLocks noChangeArrowheads="1"/>
          </p:cNvSpPr>
          <p:nvPr/>
        </p:nvSpPr>
        <p:spPr bwMode="auto">
          <a:xfrm>
            <a:off x="8472264" y="3573016"/>
            <a:ext cx="432048" cy="432048"/>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b" anchorCtr="1"/>
          <a:lstStyle/>
          <a:p>
            <a:pPr algn="ctr"/>
            <a:r>
              <a:rPr lang="en-US" altLang="ja-JP" sz="2000" b="1" dirty="0">
                <a:solidFill>
                  <a:srgbClr val="000000"/>
                </a:solidFill>
                <a:latin typeface="Courier New" pitchFamily="49" charset="0"/>
                <a:cs typeface="Courier New" pitchFamily="49" charset="0"/>
              </a:rPr>
              <a:t>0</a:t>
            </a:r>
            <a:endParaRPr lang="ja-JP" altLang="en-US" sz="2000" b="1" dirty="0">
              <a:solidFill>
                <a:srgbClr val="000000"/>
              </a:solidFill>
              <a:latin typeface="Courier New" pitchFamily="49" charset="0"/>
              <a:cs typeface="Courier New" pitchFamily="49" charset="0"/>
            </a:endParaRPr>
          </a:p>
        </p:txBody>
      </p:sp>
      <p:sp>
        <p:nvSpPr>
          <p:cNvPr id="175" name="Rectangle 3"/>
          <p:cNvSpPr>
            <a:spLocks noChangeArrowheads="1"/>
          </p:cNvSpPr>
          <p:nvPr/>
        </p:nvSpPr>
        <p:spPr bwMode="auto">
          <a:xfrm rot="16200000">
            <a:off x="5339755" y="3032794"/>
            <a:ext cx="1296144"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b="1" i="1" dirty="0">
                <a:latin typeface="Consolas" panose="020B0609020204030204" pitchFamily="49" charset="0"/>
                <a:cs typeface="Courier New" pitchFamily="49" charset="0"/>
              </a:rPr>
              <a:t>consumer</a:t>
            </a:r>
            <a:endParaRPr lang="en-US" altLang="ja-JP" b="1" i="1" dirty="0">
              <a:solidFill>
                <a:srgbClr val="FF0000"/>
              </a:solidFill>
              <a:latin typeface="Consolas" panose="020B0609020204030204" pitchFamily="49" charset="0"/>
              <a:ea typeface="ＭＳ Ｐゴシック" charset="-128"/>
              <a:cs typeface="Courier New" pitchFamily="49" charset="0"/>
            </a:endParaRPr>
          </a:p>
        </p:txBody>
      </p:sp>
      <p:sp>
        <p:nvSpPr>
          <p:cNvPr id="176" name="Rectangle 3"/>
          <p:cNvSpPr>
            <a:spLocks noChangeArrowheads="1"/>
          </p:cNvSpPr>
          <p:nvPr/>
        </p:nvSpPr>
        <p:spPr bwMode="auto">
          <a:xfrm>
            <a:off x="6888088" y="1628800"/>
            <a:ext cx="1296144"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b="1" i="1" dirty="0">
                <a:latin typeface="Consolas" panose="020B0609020204030204" pitchFamily="49" charset="0"/>
                <a:cs typeface="Times New Roman" pitchFamily="18" charset="0"/>
              </a:rPr>
              <a:t>producer</a:t>
            </a:r>
            <a:endParaRPr lang="en-US" altLang="ja-JP" b="1" i="1" dirty="0">
              <a:solidFill>
                <a:srgbClr val="FF0000"/>
              </a:solidFill>
              <a:latin typeface="Consolas" panose="020B0609020204030204" pitchFamily="49" charset="0"/>
              <a:ea typeface="ＭＳ Ｐゴシック" charset="-128"/>
              <a:cs typeface="Times New Roman" pitchFamily="18" charset="0"/>
            </a:endParaRPr>
          </a:p>
        </p:txBody>
      </p:sp>
      <p:grpSp>
        <p:nvGrpSpPr>
          <p:cNvPr id="39" name="グループ化 38"/>
          <p:cNvGrpSpPr/>
          <p:nvPr/>
        </p:nvGrpSpPr>
        <p:grpSpPr>
          <a:xfrm>
            <a:off x="6600056" y="2276872"/>
            <a:ext cx="1728192" cy="1728192"/>
            <a:chOff x="5076056" y="2276872"/>
            <a:chExt cx="1728192" cy="1728192"/>
          </a:xfrm>
        </p:grpSpPr>
        <p:sp>
          <p:nvSpPr>
            <p:cNvPr id="8" name="正方形/長方形 7"/>
            <p:cNvSpPr/>
            <p:nvPr/>
          </p:nvSpPr>
          <p:spPr>
            <a:xfrm>
              <a:off x="5076056" y="2276872"/>
              <a:ext cx="1728192" cy="1728192"/>
            </a:xfrm>
            <a:prstGeom prst="rect">
              <a:avLst/>
            </a:prstGeom>
            <a:ln w="15875">
              <a:tailEnd type="stealth" w="lg" len="lg"/>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0000" tIns="46800" rIns="90000" bIns="46800" numCol="1" spcCol="0" rtlCol="0" fromWordArt="0" anchor="ctr" anchorCtr="0" forceAA="0" compatLnSpc="1">
              <a:prstTxWarp prst="textNoShape">
                <a:avLst/>
              </a:prstTxWarp>
              <a:noAutofit/>
            </a:bodyPr>
            <a:lstStyle/>
            <a:p>
              <a:pPr fontAlgn="base">
                <a:spcBef>
                  <a:spcPct val="0"/>
                </a:spcBef>
                <a:spcAft>
                  <a:spcPct val="0"/>
                </a:spcAft>
              </a:pPr>
              <a:endParaRPr lang="ja-JP" altLang="en-US">
                <a:solidFill>
                  <a:schemeClr val="tx1"/>
                </a:solidFill>
                <a:latin typeface="Verdana" pitchFamily="34" charset="0"/>
                <a:ea typeface="HG丸ｺﾞｼｯｸM-PRO" pitchFamily="50" charset="-128"/>
              </a:endParaRPr>
            </a:p>
          </p:txBody>
        </p:sp>
        <p:cxnSp>
          <p:nvCxnSpPr>
            <p:cNvPr id="13" name="直線コネクタ 12"/>
            <p:cNvCxnSpPr/>
            <p:nvPr/>
          </p:nvCxnSpPr>
          <p:spPr bwMode="auto">
            <a:xfrm>
              <a:off x="5076056" y="2708920"/>
              <a:ext cx="1728192" cy="0"/>
            </a:xfrm>
            <a:prstGeom prst="line">
              <a:avLst/>
            </a:prstGeom>
            <a:noFill/>
            <a:ln w="19050" cap="flat" cmpd="sng" algn="ctr">
              <a:solidFill>
                <a:schemeClr val="accent1"/>
              </a:solidFill>
              <a:prstDash val="solid"/>
              <a:round/>
              <a:headEnd type="none" w="med" len="med"/>
              <a:tailEnd type="none" w="med" len="med"/>
            </a:ln>
            <a:effectLst/>
          </p:spPr>
        </p:cxnSp>
        <p:cxnSp>
          <p:nvCxnSpPr>
            <p:cNvPr id="80" name="直線コネクタ 79"/>
            <p:cNvCxnSpPr>
              <a:stCxn id="8" idx="1"/>
              <a:endCxn id="8" idx="3"/>
            </p:cNvCxnSpPr>
            <p:nvPr/>
          </p:nvCxnSpPr>
          <p:spPr bwMode="auto">
            <a:xfrm>
              <a:off x="5076056" y="3140968"/>
              <a:ext cx="1728192" cy="0"/>
            </a:xfrm>
            <a:prstGeom prst="line">
              <a:avLst/>
            </a:prstGeom>
            <a:noFill/>
            <a:ln w="19050" cap="flat" cmpd="sng" algn="ctr">
              <a:solidFill>
                <a:schemeClr val="accent1"/>
              </a:solidFill>
              <a:prstDash val="solid"/>
              <a:round/>
              <a:headEnd type="none" w="med" len="med"/>
              <a:tailEnd type="none" w="med" len="med"/>
            </a:ln>
            <a:effectLst/>
          </p:spPr>
        </p:cxnSp>
        <p:cxnSp>
          <p:nvCxnSpPr>
            <p:cNvPr id="81" name="直線コネクタ 80"/>
            <p:cNvCxnSpPr/>
            <p:nvPr/>
          </p:nvCxnSpPr>
          <p:spPr bwMode="auto">
            <a:xfrm>
              <a:off x="5076056" y="3573016"/>
              <a:ext cx="1728192" cy="0"/>
            </a:xfrm>
            <a:prstGeom prst="line">
              <a:avLst/>
            </a:prstGeom>
            <a:noFill/>
            <a:ln w="19050" cap="flat" cmpd="sng" algn="ctr">
              <a:solidFill>
                <a:schemeClr val="accent1"/>
              </a:solidFill>
              <a:prstDash val="solid"/>
              <a:round/>
              <a:headEnd type="none" w="med" len="med"/>
              <a:tailEnd type="none" w="med" len="med"/>
            </a:ln>
            <a:effectLst/>
          </p:spPr>
        </p:cxnSp>
        <p:cxnSp>
          <p:nvCxnSpPr>
            <p:cNvPr id="152" name="直線コネクタ 151"/>
            <p:cNvCxnSpPr/>
            <p:nvPr/>
          </p:nvCxnSpPr>
          <p:spPr bwMode="auto">
            <a:xfrm>
              <a:off x="5508104" y="2276872"/>
              <a:ext cx="0" cy="1728192"/>
            </a:xfrm>
            <a:prstGeom prst="line">
              <a:avLst/>
            </a:prstGeom>
            <a:noFill/>
            <a:ln w="19050" cap="flat" cmpd="sng" algn="ctr">
              <a:solidFill>
                <a:schemeClr val="accent1"/>
              </a:solidFill>
              <a:prstDash val="solid"/>
              <a:round/>
              <a:headEnd type="none" w="med" len="med"/>
              <a:tailEnd type="none" w="med" len="med"/>
            </a:ln>
            <a:effectLst/>
          </p:spPr>
        </p:cxnSp>
        <p:cxnSp>
          <p:nvCxnSpPr>
            <p:cNvPr id="153" name="直線コネクタ 152"/>
            <p:cNvCxnSpPr/>
            <p:nvPr/>
          </p:nvCxnSpPr>
          <p:spPr bwMode="auto">
            <a:xfrm>
              <a:off x="5940152" y="2276872"/>
              <a:ext cx="0" cy="1728192"/>
            </a:xfrm>
            <a:prstGeom prst="line">
              <a:avLst/>
            </a:prstGeom>
            <a:noFill/>
            <a:ln w="19050" cap="flat" cmpd="sng" algn="ctr">
              <a:solidFill>
                <a:schemeClr val="accent1"/>
              </a:solidFill>
              <a:prstDash val="solid"/>
              <a:round/>
              <a:headEnd type="none" w="med" len="med"/>
              <a:tailEnd type="none" w="med" len="med"/>
            </a:ln>
            <a:effectLst/>
          </p:spPr>
        </p:cxnSp>
        <p:cxnSp>
          <p:nvCxnSpPr>
            <p:cNvPr id="154" name="直線コネクタ 153"/>
            <p:cNvCxnSpPr/>
            <p:nvPr/>
          </p:nvCxnSpPr>
          <p:spPr bwMode="auto">
            <a:xfrm>
              <a:off x="6372200" y="2276872"/>
              <a:ext cx="0" cy="1728192"/>
            </a:xfrm>
            <a:prstGeom prst="line">
              <a:avLst/>
            </a:prstGeom>
            <a:noFill/>
            <a:ln w="19050" cap="flat" cmpd="sng" algn="ctr">
              <a:solidFill>
                <a:schemeClr val="accent1"/>
              </a:solidFill>
              <a:prstDash val="solid"/>
              <a:round/>
              <a:headEnd type="none" w="med" len="med"/>
              <a:tailEnd type="none" w="med" len="med"/>
            </a:ln>
            <a:effectLst/>
          </p:spPr>
        </p:cxnSp>
        <p:cxnSp>
          <p:nvCxnSpPr>
            <p:cNvPr id="180" name="直線コネクタ 179"/>
            <p:cNvCxnSpPr/>
            <p:nvPr/>
          </p:nvCxnSpPr>
          <p:spPr bwMode="auto">
            <a:xfrm>
              <a:off x="5076056" y="2276872"/>
              <a:ext cx="1728192" cy="1728192"/>
            </a:xfrm>
            <a:prstGeom prst="line">
              <a:avLst/>
            </a:prstGeom>
            <a:noFill/>
            <a:ln w="19050" cap="flat" cmpd="sng" algn="ctr">
              <a:solidFill>
                <a:schemeClr val="accent1"/>
              </a:solidFill>
              <a:prstDash val="solid"/>
              <a:round/>
              <a:headEnd type="none" w="med" len="med"/>
              <a:tailEnd type="none" w="med" len="med"/>
            </a:ln>
            <a:effectLst/>
          </p:spPr>
        </p:cxnSp>
      </p:grpSp>
      <p:sp>
        <p:nvSpPr>
          <p:cNvPr id="177" name="Rectangle 3"/>
          <p:cNvSpPr>
            <a:spLocks noChangeArrowheads="1"/>
          </p:cNvSpPr>
          <p:nvPr/>
        </p:nvSpPr>
        <p:spPr bwMode="auto">
          <a:xfrm>
            <a:off x="6600056" y="2708920"/>
            <a:ext cx="432008" cy="432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dirty="0">
                <a:solidFill>
                  <a:srgbClr val="FF0000"/>
                </a:solidFill>
                <a:latin typeface="Times New Roman" pitchFamily="18" charset="0"/>
                <a:cs typeface="Times New Roman" pitchFamily="18" charset="0"/>
              </a:rPr>
              <a:t>1</a:t>
            </a:r>
            <a:endParaRPr lang="en-US" altLang="ja-JP" sz="2000" b="1" dirty="0">
              <a:solidFill>
                <a:srgbClr val="FF0000"/>
              </a:solidFill>
              <a:latin typeface="Times New Roman" pitchFamily="18" charset="0"/>
              <a:ea typeface="ＭＳ Ｐゴシック" charset="-128"/>
              <a:cs typeface="Times New Roman" pitchFamily="18" charset="0"/>
            </a:endParaRPr>
          </a:p>
        </p:txBody>
      </p:sp>
      <p:sp>
        <p:nvSpPr>
          <p:cNvPr id="178" name="Rectangle 3"/>
          <p:cNvSpPr>
            <a:spLocks noChangeArrowheads="1"/>
          </p:cNvSpPr>
          <p:nvPr/>
        </p:nvSpPr>
        <p:spPr bwMode="auto">
          <a:xfrm>
            <a:off x="6600056" y="3140968"/>
            <a:ext cx="432008" cy="432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dirty="0">
                <a:solidFill>
                  <a:srgbClr val="FF0000"/>
                </a:solidFill>
                <a:latin typeface="Times New Roman" pitchFamily="18" charset="0"/>
                <a:cs typeface="Times New Roman" pitchFamily="18" charset="0"/>
              </a:rPr>
              <a:t>1</a:t>
            </a:r>
            <a:endParaRPr lang="en-US" altLang="ja-JP" sz="2000" b="1" dirty="0">
              <a:solidFill>
                <a:srgbClr val="FF0000"/>
              </a:solidFill>
              <a:latin typeface="Times New Roman" pitchFamily="18" charset="0"/>
              <a:ea typeface="ＭＳ Ｐゴシック" charset="-128"/>
              <a:cs typeface="Times New Roman" pitchFamily="18" charset="0"/>
            </a:endParaRPr>
          </a:p>
        </p:txBody>
      </p:sp>
      <p:sp>
        <p:nvSpPr>
          <p:cNvPr id="182" name="Rectangle 3"/>
          <p:cNvSpPr>
            <a:spLocks noChangeArrowheads="1"/>
          </p:cNvSpPr>
          <p:nvPr/>
        </p:nvSpPr>
        <p:spPr bwMode="auto">
          <a:xfrm>
            <a:off x="7032104" y="3573016"/>
            <a:ext cx="432008" cy="432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ja-JP" sz="2000" b="1" dirty="0">
                <a:solidFill>
                  <a:schemeClr val="accent3">
                    <a:lumMod val="75000"/>
                  </a:schemeClr>
                </a:solidFill>
                <a:latin typeface="Times New Roman" pitchFamily="18" charset="0"/>
                <a:cs typeface="Times New Roman" pitchFamily="18" charset="0"/>
              </a:rPr>
              <a:t>1</a:t>
            </a:r>
            <a:endParaRPr lang="en-US" altLang="ja-JP" sz="2000" b="1" dirty="0">
              <a:solidFill>
                <a:schemeClr val="accent3">
                  <a:lumMod val="75000"/>
                </a:schemeClr>
              </a:solidFill>
              <a:latin typeface="Times New Roman" pitchFamily="18" charset="0"/>
              <a:ea typeface="ＭＳ Ｐゴシック" charset="-128"/>
              <a:cs typeface="Times New Roman" pitchFamily="18" charset="0"/>
            </a:endParaRPr>
          </a:p>
        </p:txBody>
      </p:sp>
      <p:sp>
        <p:nvSpPr>
          <p:cNvPr id="185" name="右矢印 184"/>
          <p:cNvSpPr/>
          <p:nvPr/>
        </p:nvSpPr>
        <p:spPr bwMode="auto">
          <a:xfrm rot="16200000">
            <a:off x="5951985" y="3068960"/>
            <a:ext cx="2016224" cy="288032"/>
          </a:xfrm>
          <a:prstGeom prst="rightArrow">
            <a:avLst/>
          </a:prstGeom>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solidFill>
                <a:schemeClr val="tx1"/>
              </a:solidFill>
              <a:latin typeface="Verdana" pitchFamily="34" charset="0"/>
              <a:ea typeface="HG丸ｺﾞｼｯｸM-PRO" pitchFamily="50" charset="-128"/>
            </a:endParaRPr>
          </a:p>
        </p:txBody>
      </p:sp>
      <p:sp>
        <p:nvSpPr>
          <p:cNvPr id="188" name="Rectangle 105"/>
          <p:cNvSpPr>
            <a:spLocks noChangeArrowheads="1"/>
          </p:cNvSpPr>
          <p:nvPr/>
        </p:nvSpPr>
        <p:spPr bwMode="auto">
          <a:xfrm>
            <a:off x="8472264" y="2708920"/>
            <a:ext cx="432048" cy="432048"/>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b" anchorCtr="1"/>
          <a:lstStyle/>
          <a:p>
            <a:pPr algn="ctr"/>
            <a:r>
              <a:rPr lang="en-US" altLang="ja-JP" sz="2000" b="1" dirty="0">
                <a:solidFill>
                  <a:srgbClr val="000000"/>
                </a:solidFill>
                <a:latin typeface="Courier New" pitchFamily="49" charset="0"/>
                <a:cs typeface="Courier New" pitchFamily="49" charset="0"/>
              </a:rPr>
              <a:t>1</a:t>
            </a:r>
            <a:endParaRPr lang="ja-JP" altLang="en-US" sz="2000" b="1" dirty="0">
              <a:solidFill>
                <a:srgbClr val="000000"/>
              </a:solidFill>
              <a:latin typeface="Courier New" pitchFamily="49" charset="0"/>
              <a:cs typeface="Courier New" pitchFamily="49" charset="0"/>
            </a:endParaRPr>
          </a:p>
        </p:txBody>
      </p:sp>
      <p:sp>
        <p:nvSpPr>
          <p:cNvPr id="189" name="Rectangle 105"/>
          <p:cNvSpPr>
            <a:spLocks noChangeArrowheads="1"/>
          </p:cNvSpPr>
          <p:nvPr/>
        </p:nvSpPr>
        <p:spPr bwMode="auto">
          <a:xfrm>
            <a:off x="8472264" y="3140968"/>
            <a:ext cx="432048" cy="432048"/>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b" anchorCtr="1"/>
          <a:lstStyle/>
          <a:p>
            <a:pPr algn="ctr"/>
            <a:r>
              <a:rPr lang="en-US" altLang="ja-JP" sz="2000" b="1" dirty="0">
                <a:solidFill>
                  <a:srgbClr val="000000"/>
                </a:solidFill>
                <a:latin typeface="Courier New" pitchFamily="49" charset="0"/>
                <a:cs typeface="Courier New" pitchFamily="49" charset="0"/>
              </a:rPr>
              <a:t>1</a:t>
            </a:r>
            <a:endParaRPr lang="ja-JP" altLang="en-US" sz="2000" b="1" dirty="0">
              <a:solidFill>
                <a:srgbClr val="000000"/>
              </a:solidFill>
              <a:latin typeface="Courier New" pitchFamily="49" charset="0"/>
              <a:cs typeface="Courier New" pitchFamily="49" charset="0"/>
            </a:endParaRPr>
          </a:p>
        </p:txBody>
      </p:sp>
      <p:sp>
        <p:nvSpPr>
          <p:cNvPr id="186" name="Line 15"/>
          <p:cNvSpPr>
            <a:spLocks noChangeShapeType="1"/>
          </p:cNvSpPr>
          <p:nvPr/>
        </p:nvSpPr>
        <p:spPr bwMode="auto">
          <a:xfrm flipV="1">
            <a:off x="6931294" y="2852936"/>
            <a:ext cx="1684986" cy="0"/>
          </a:xfrm>
          <a:prstGeom prst="line">
            <a:avLst/>
          </a:prstGeom>
          <a:noFill/>
          <a:ln w="635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187" name="Line 16"/>
          <p:cNvSpPr>
            <a:spLocks noChangeShapeType="1"/>
          </p:cNvSpPr>
          <p:nvPr/>
        </p:nvSpPr>
        <p:spPr bwMode="auto">
          <a:xfrm flipV="1">
            <a:off x="6931294" y="3284985"/>
            <a:ext cx="1684986" cy="1585"/>
          </a:xfrm>
          <a:prstGeom prst="line">
            <a:avLst/>
          </a:prstGeom>
          <a:noFill/>
          <a:ln w="635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Tree>
    <p:extLst>
      <p:ext uri="{BB962C8B-B14F-4D97-AF65-F5344CB8AC3E}">
        <p14:creationId xmlns:p14="http://schemas.microsoft.com/office/powerpoint/2010/main" val="1467384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1" nodeType="clickEffect">
                                  <p:stCondLst>
                                    <p:cond delay="0"/>
                                  </p:stCondLst>
                                  <p:childTnLst>
                                    <p:set>
                                      <p:cBhvr>
                                        <p:cTn id="6" dur="1" fill="hold">
                                          <p:stCondLst>
                                            <p:cond delay="0"/>
                                          </p:stCondLst>
                                        </p:cTn>
                                        <p:tgtEl>
                                          <p:spTgt spid="185"/>
                                        </p:tgtEl>
                                        <p:attrNameLst>
                                          <p:attrName>style.visibility</p:attrName>
                                        </p:attrNameLst>
                                      </p:cBhvr>
                                      <p:to>
                                        <p:strVal val="visible"/>
                                      </p:to>
                                    </p:set>
                                    <p:animEffect transition="in" filter="wipe(down)">
                                      <p:cBhvr>
                                        <p:cTn id="7" dur="500"/>
                                        <p:tgtEl>
                                          <p:spTgt spid="18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1" fill="hold">
                                          <p:stCondLst>
                                            <p:cond delay="0"/>
                                          </p:stCondLst>
                                        </p:cTn>
                                        <p:tgtEl>
                                          <p:spTgt spid="186"/>
                                        </p:tgtEl>
                                        <p:attrNameLst>
                                          <p:attrName>style.visibility</p:attrName>
                                        </p:attrNameLst>
                                      </p:cBhvr>
                                      <p:to>
                                        <p:strVal val="visible"/>
                                      </p:to>
                                    </p:set>
                                    <p:animEffect transition="in" filter="wipe(left)">
                                      <p:cBhvr>
                                        <p:cTn id="12" dur="500"/>
                                        <p:tgtEl>
                                          <p:spTgt spid="186"/>
                                        </p:tgtEl>
                                      </p:cBhvr>
                                    </p:animEffect>
                                  </p:childTnLst>
                                </p:cTn>
                              </p:par>
                              <p:par>
                                <p:cTn id="13" presetID="22" presetClass="entr" presetSubtype="8" fill="hold" grpId="1" nodeType="withEffect">
                                  <p:stCondLst>
                                    <p:cond delay="0"/>
                                  </p:stCondLst>
                                  <p:childTnLst>
                                    <p:set>
                                      <p:cBhvr>
                                        <p:cTn id="14" dur="1" fill="hold">
                                          <p:stCondLst>
                                            <p:cond delay="0"/>
                                          </p:stCondLst>
                                        </p:cTn>
                                        <p:tgtEl>
                                          <p:spTgt spid="187"/>
                                        </p:tgtEl>
                                        <p:attrNameLst>
                                          <p:attrName>style.visibility</p:attrName>
                                        </p:attrNameLst>
                                      </p:cBhvr>
                                      <p:to>
                                        <p:strVal val="visible"/>
                                      </p:to>
                                    </p:set>
                                    <p:animEffect transition="in" filter="wipe(left)">
                                      <p:cBhvr>
                                        <p:cTn id="15" dur="500"/>
                                        <p:tgtEl>
                                          <p:spTgt spid="18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88"/>
                                        </p:tgtEl>
                                        <p:attrNameLst>
                                          <p:attrName>style.visibility</p:attrName>
                                        </p:attrNameLst>
                                      </p:cBhvr>
                                      <p:to>
                                        <p:strVal val="visible"/>
                                      </p:to>
                                    </p:set>
                                    <p:animEffect transition="in" filter="wipe(left)">
                                      <p:cBhvr>
                                        <p:cTn id="20" dur="500"/>
                                        <p:tgtEl>
                                          <p:spTgt spid="188"/>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189"/>
                                        </p:tgtEl>
                                        <p:attrNameLst>
                                          <p:attrName>style.visibility</p:attrName>
                                        </p:attrNameLst>
                                      </p:cBhvr>
                                      <p:to>
                                        <p:strVal val="visible"/>
                                      </p:to>
                                    </p:set>
                                    <p:animEffect transition="in" filter="wipe(left)">
                                      <p:cBhvr>
                                        <p:cTn id="23" dur="500"/>
                                        <p:tgtEl>
                                          <p:spTgt spid="18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0" nodeType="clickEffect">
                                  <p:stCondLst>
                                    <p:cond delay="0"/>
                                  </p:stCondLst>
                                  <p:childTnLst>
                                    <p:animEffect transition="out" filter="fade">
                                      <p:cBhvr>
                                        <p:cTn id="27" dur="500"/>
                                        <p:tgtEl>
                                          <p:spTgt spid="185"/>
                                        </p:tgtEl>
                                      </p:cBhvr>
                                    </p:animEffect>
                                    <p:set>
                                      <p:cBhvr>
                                        <p:cTn id="28" dur="1" fill="hold">
                                          <p:stCondLst>
                                            <p:cond delay="499"/>
                                          </p:stCondLst>
                                        </p:cTn>
                                        <p:tgtEl>
                                          <p:spTgt spid="185"/>
                                        </p:tgtEl>
                                        <p:attrNameLst>
                                          <p:attrName>style.visibility</p:attrName>
                                        </p:attrNameLst>
                                      </p:cBhvr>
                                      <p:to>
                                        <p:strVal val="hidden"/>
                                      </p:to>
                                    </p:set>
                                  </p:childTnLst>
                                </p:cTn>
                              </p:par>
                              <p:par>
                                <p:cTn id="29" presetID="10" presetClass="exit" presetSubtype="0" fill="hold" grpId="0" nodeType="withEffect">
                                  <p:stCondLst>
                                    <p:cond delay="0"/>
                                  </p:stCondLst>
                                  <p:childTnLst>
                                    <p:animEffect transition="out" filter="fade">
                                      <p:cBhvr>
                                        <p:cTn id="30" dur="500"/>
                                        <p:tgtEl>
                                          <p:spTgt spid="186"/>
                                        </p:tgtEl>
                                      </p:cBhvr>
                                    </p:animEffect>
                                    <p:set>
                                      <p:cBhvr>
                                        <p:cTn id="31" dur="1" fill="hold">
                                          <p:stCondLst>
                                            <p:cond delay="499"/>
                                          </p:stCondLst>
                                        </p:cTn>
                                        <p:tgtEl>
                                          <p:spTgt spid="186"/>
                                        </p:tgtEl>
                                        <p:attrNameLst>
                                          <p:attrName>style.visibility</p:attrName>
                                        </p:attrNameLst>
                                      </p:cBhvr>
                                      <p:to>
                                        <p:strVal val="hidden"/>
                                      </p:to>
                                    </p:set>
                                  </p:childTnLst>
                                </p:cTn>
                              </p:par>
                              <p:par>
                                <p:cTn id="32" presetID="10" presetClass="exit" presetSubtype="0" fill="hold" grpId="0" nodeType="withEffect">
                                  <p:stCondLst>
                                    <p:cond delay="0"/>
                                  </p:stCondLst>
                                  <p:childTnLst>
                                    <p:animEffect transition="out" filter="fade">
                                      <p:cBhvr>
                                        <p:cTn id="33" dur="500"/>
                                        <p:tgtEl>
                                          <p:spTgt spid="187"/>
                                        </p:tgtEl>
                                      </p:cBhvr>
                                    </p:animEffect>
                                    <p:set>
                                      <p:cBhvr>
                                        <p:cTn id="34" dur="1" fill="hold">
                                          <p:stCondLst>
                                            <p:cond delay="499"/>
                                          </p:stCondLst>
                                        </p:cTn>
                                        <p:tgtEl>
                                          <p:spTgt spid="18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 grpId="0" animBg="1"/>
      <p:bldP spid="185" grpId="1" animBg="1"/>
      <p:bldP spid="188" grpId="0" animBg="1"/>
      <p:bldP spid="189" grpId="0" animBg="1"/>
      <p:bldP spid="186" grpId="0" animBg="1"/>
      <p:bldP spid="186" grpId="1" animBg="1"/>
      <p:bldP spid="187" grpId="0" animBg="1"/>
      <p:bldP spid="187" grpId="1"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DB5576-78BB-FC74-90E8-54BC16B32BCF}"/>
              </a:ext>
            </a:extLst>
          </p:cNvPr>
          <p:cNvSpPr>
            <a:spLocks noGrp="1"/>
          </p:cNvSpPr>
          <p:nvPr>
            <p:ph type="title"/>
          </p:nvPr>
        </p:nvSpPr>
        <p:spPr/>
        <p:txBody>
          <a:bodyPr/>
          <a:lstStyle/>
          <a:p>
            <a:r>
              <a:rPr lang="ja-JP" altLang="en-US" dirty="0"/>
              <a:t>実装の流派について</a:t>
            </a:r>
          </a:p>
        </p:txBody>
      </p:sp>
      <p:sp>
        <p:nvSpPr>
          <p:cNvPr id="8" name="テキスト プレースホルダー 7">
            <a:extLst>
              <a:ext uri="{FF2B5EF4-FFF2-40B4-BE49-F238E27FC236}">
                <a16:creationId xmlns:a16="http://schemas.microsoft.com/office/drawing/2014/main" id="{4901C4BE-3DCC-A807-C180-82A98609CFF0}"/>
              </a:ext>
            </a:extLst>
          </p:cNvPr>
          <p:cNvSpPr>
            <a:spLocks noGrp="1"/>
          </p:cNvSpPr>
          <p:nvPr>
            <p:ph type="body" sz="quarter" idx="10"/>
          </p:nvPr>
        </p:nvSpPr>
        <p:spPr/>
        <p:txBody>
          <a:bodyPr/>
          <a:lstStyle/>
          <a:p>
            <a:r>
              <a:rPr lang="ja-JP" altLang="en-US" dirty="0"/>
              <a:t>連想検索ではなく行列を用いるところは共通</a:t>
            </a:r>
            <a:endParaRPr lang="en-US" altLang="ja-JP" dirty="0"/>
          </a:p>
          <a:p>
            <a:r>
              <a:rPr lang="ja-JP" altLang="en-US" dirty="0"/>
              <a:t>バリエーションがある：</a:t>
            </a:r>
          </a:p>
          <a:p>
            <a:pPr lvl="1"/>
            <a:r>
              <a:rPr lang="ja-JP" altLang="en-US" dirty="0"/>
              <a:t>依存行列の列に対して，対応する外部 </a:t>
            </a:r>
            <a:r>
              <a:rPr lang="en-US" altLang="ja-JP" dirty="0" err="1"/>
              <a:t>rdy</a:t>
            </a:r>
            <a:r>
              <a:rPr lang="en-US" altLang="ja-JP" dirty="0"/>
              <a:t> bit </a:t>
            </a:r>
            <a:r>
              <a:rPr lang="ja-JP" altLang="en-US" dirty="0"/>
              <a:t>をたてる</a:t>
            </a:r>
            <a:endParaRPr lang="en-US" altLang="ja-JP" dirty="0"/>
          </a:p>
          <a:p>
            <a:pPr lvl="2"/>
            <a:r>
              <a:rPr lang="ja-JP" altLang="en-US" dirty="0"/>
              <a:t>非破壊読み出しなので投機からの復帰が比較的容易</a:t>
            </a:r>
            <a:endParaRPr lang="en-US" altLang="ja-JP" dirty="0"/>
          </a:p>
          <a:p>
            <a:pPr lvl="2"/>
            <a:r>
              <a:rPr lang="ja-JP" altLang="en-US" dirty="0"/>
              <a:t>ソース・オペランド数に比例した行列が必要</a:t>
            </a:r>
            <a:endParaRPr lang="en-US" altLang="ja-JP" dirty="0"/>
          </a:p>
          <a:p>
            <a:pPr lvl="1"/>
            <a:r>
              <a:rPr lang="ja-JP" altLang="en-US" dirty="0"/>
              <a:t>依存行列の列をクリアし，行がすべて </a:t>
            </a:r>
            <a:r>
              <a:rPr lang="en-US" altLang="ja-JP" dirty="0"/>
              <a:t>0 </a:t>
            </a:r>
            <a:r>
              <a:rPr lang="ja-JP" altLang="en-US" dirty="0"/>
              <a:t>になったら </a:t>
            </a:r>
            <a:r>
              <a:rPr lang="en-US" altLang="ja-JP" dirty="0" err="1"/>
              <a:t>rdy</a:t>
            </a:r>
            <a:r>
              <a:rPr lang="en-US" altLang="ja-JP" dirty="0"/>
              <a:t> </a:t>
            </a:r>
            <a:r>
              <a:rPr lang="ja-JP" altLang="en-US" dirty="0"/>
              <a:t>とする</a:t>
            </a:r>
            <a:endParaRPr lang="en-US" altLang="ja-JP" dirty="0"/>
          </a:p>
          <a:p>
            <a:pPr lvl="2"/>
            <a:r>
              <a:rPr lang="ja-JP" altLang="en-US" dirty="0"/>
              <a:t>ソース・オペランド数とは無関係に構成可能</a:t>
            </a:r>
            <a:endParaRPr lang="en-US" altLang="ja-JP" dirty="0"/>
          </a:p>
        </p:txBody>
      </p:sp>
      <p:sp>
        <p:nvSpPr>
          <p:cNvPr id="4" name="スライド番号プレースホルダー 3">
            <a:extLst>
              <a:ext uri="{FF2B5EF4-FFF2-40B4-BE49-F238E27FC236}">
                <a16:creationId xmlns:a16="http://schemas.microsoft.com/office/drawing/2014/main" id="{9BE324C8-FCEB-BD46-A5C1-82D6B0C7240C}"/>
              </a:ext>
            </a:extLst>
          </p:cNvPr>
          <p:cNvSpPr>
            <a:spLocks noGrp="1"/>
          </p:cNvSpPr>
          <p:nvPr>
            <p:ph type="sldNum" sz="quarter" idx="4294967295"/>
          </p:nvPr>
        </p:nvSpPr>
        <p:spPr>
          <a:xfrm>
            <a:off x="11376025" y="6308725"/>
            <a:ext cx="815975" cy="549275"/>
          </a:xfrm>
        </p:spPr>
        <p:txBody>
          <a:bodyPr/>
          <a:lstStyle/>
          <a:p>
            <a:fld id="{D2D8002D-B5B0-4BAC-B1F6-782DDCCE6D9C}" type="slidenum">
              <a:rPr lang="ja-JP" altLang="en-US" smtClean="0"/>
              <a:pPr/>
              <a:t>61</a:t>
            </a:fld>
            <a:endParaRPr lang="ja-JP" altLang="en-US"/>
          </a:p>
        </p:txBody>
      </p:sp>
    </p:spTree>
    <p:extLst>
      <p:ext uri="{BB962C8B-B14F-4D97-AF65-F5344CB8AC3E}">
        <p14:creationId xmlns:p14="http://schemas.microsoft.com/office/powerpoint/2010/main" val="10632576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out-of-order </a:t>
            </a:r>
            <a:r>
              <a:rPr lang="ja-JP" altLang="en-US" dirty="0"/>
              <a:t>発行</a:t>
            </a:r>
            <a:r>
              <a:rPr lang="en-US" altLang="ja-JP" dirty="0"/>
              <a:t>/out-of-order </a:t>
            </a:r>
            <a:r>
              <a:rPr lang="ja-JP" altLang="en-US" dirty="0"/>
              <a:t>完了</a:t>
            </a:r>
            <a:endParaRPr kumimoji="1" lang="ja-JP" altLang="en-US" dirty="0"/>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レジスタ・リネーム</a:t>
            </a:r>
            <a:endParaRPr kumimoji="1" lang="en-US" altLang="ja-JP" dirty="0"/>
          </a:p>
          <a:p>
            <a:pPr marL="457200" indent="-457200">
              <a:buFont typeface="+mj-lt"/>
              <a:buAutoNum type="arabicPeriod"/>
            </a:pPr>
            <a:r>
              <a:rPr lang="en-US" altLang="ja-JP" dirty="0"/>
              <a:t>out-of-order </a:t>
            </a:r>
            <a:r>
              <a:rPr lang="ja-JP" altLang="en-US" dirty="0"/>
              <a:t>発行機構</a:t>
            </a:r>
            <a:endParaRPr lang="en-US" altLang="ja-JP" dirty="0"/>
          </a:p>
          <a:p>
            <a:pPr marL="817200" lvl="1" indent="-457200">
              <a:buFont typeface="+mj-lt"/>
              <a:buAutoNum type="arabicPeriod"/>
            </a:pPr>
            <a:r>
              <a:rPr kumimoji="1" lang="ja-JP" altLang="en-US" dirty="0"/>
              <a:t>スケジューラの作り方</a:t>
            </a:r>
            <a:endParaRPr kumimoji="1" lang="en-US" altLang="ja-JP" dirty="0"/>
          </a:p>
          <a:p>
            <a:pPr marL="817200" lvl="1" indent="-457200">
              <a:buFont typeface="+mj-lt"/>
              <a:buAutoNum type="arabicPeriod"/>
            </a:pPr>
            <a:r>
              <a:rPr lang="ja-JP" altLang="en-US" b="1" dirty="0"/>
              <a:t>性能への影響</a:t>
            </a:r>
            <a:endParaRPr kumimoji="1" lang="en-US" altLang="ja-JP" b="1" dirty="0"/>
          </a:p>
          <a:p>
            <a:pPr marL="817200" lvl="1" indent="-457200">
              <a:buFont typeface="+mj-lt"/>
              <a:buAutoNum type="arabicPeriod"/>
            </a:pPr>
            <a:r>
              <a:rPr lang="ja-JP" altLang="en-US" dirty="0"/>
              <a:t>トマスロ方式との違い</a:t>
            </a:r>
            <a:endParaRPr kumimoji="1" lang="ja-JP" altLang="en-US" dirty="0"/>
          </a:p>
        </p:txBody>
      </p:sp>
    </p:spTree>
    <p:extLst>
      <p:ext uri="{BB962C8B-B14F-4D97-AF65-F5344CB8AC3E}">
        <p14:creationId xmlns:p14="http://schemas.microsoft.com/office/powerpoint/2010/main" val="19420886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発行キューの特性</a:t>
            </a:r>
          </a:p>
        </p:txBody>
      </p:sp>
      <p:sp>
        <p:nvSpPr>
          <p:cNvPr id="3" name="テキスト プレースホルダー 2"/>
          <p:cNvSpPr>
            <a:spLocks noGrp="1"/>
          </p:cNvSpPr>
          <p:nvPr>
            <p:ph type="body" sz="quarter" idx="10"/>
          </p:nvPr>
        </p:nvSpPr>
        <p:spPr>
          <a:xfrm>
            <a:off x="2135956" y="1088975"/>
            <a:ext cx="8280092" cy="1890020"/>
          </a:xfrm>
        </p:spPr>
        <p:txBody>
          <a:bodyPr/>
          <a:lstStyle/>
          <a:p>
            <a:r>
              <a:rPr kumimoji="1" lang="en-US" altLang="ja-JP" dirty="0"/>
              <a:t>Wakeup-Select </a:t>
            </a:r>
            <a:r>
              <a:rPr kumimoji="1" lang="ja-JP" altLang="en-US" dirty="0"/>
              <a:t>は１サイクルで終える必要がある</a:t>
            </a:r>
            <a:endParaRPr kumimoji="1" lang="en-US" altLang="ja-JP" dirty="0"/>
          </a:p>
          <a:p>
            <a:pPr lvl="1"/>
            <a:r>
              <a:rPr kumimoji="1" lang="ja-JP" altLang="en-US" dirty="0"/>
              <a:t>ここをパイプライン化すると，依存がある命令の実行が遅くなる</a:t>
            </a:r>
            <a:endParaRPr kumimoji="1" lang="en-US" altLang="ja-JP" dirty="0"/>
          </a:p>
          <a:p>
            <a:r>
              <a:rPr kumimoji="1" lang="ja-JP" altLang="en-US" dirty="0"/>
              <a:t>広範囲へのブロードキャストや選択などを伴う</a:t>
            </a:r>
            <a:endParaRPr kumimoji="1" lang="en-US" altLang="ja-JP" dirty="0"/>
          </a:p>
          <a:p>
            <a:pPr lvl="1"/>
            <a:r>
              <a:rPr kumimoji="1" lang="ja-JP" altLang="en-US" dirty="0"/>
              <a:t>クリティカルパスになりやすい</a:t>
            </a:r>
          </a:p>
        </p:txBody>
      </p:sp>
      <p:sp>
        <p:nvSpPr>
          <p:cNvPr id="4" name="Rectangle 69"/>
          <p:cNvSpPr>
            <a:spLocks noChangeArrowheads="1"/>
          </p:cNvSpPr>
          <p:nvPr/>
        </p:nvSpPr>
        <p:spPr bwMode="auto">
          <a:xfrm>
            <a:off x="3935976" y="342003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5" name="Rectangle 70"/>
          <p:cNvSpPr>
            <a:spLocks noChangeArrowheads="1"/>
          </p:cNvSpPr>
          <p:nvPr/>
        </p:nvSpPr>
        <p:spPr bwMode="auto">
          <a:xfrm>
            <a:off x="4385977" y="342003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6" name="Rectangle 71"/>
          <p:cNvSpPr>
            <a:spLocks noChangeArrowheads="1"/>
          </p:cNvSpPr>
          <p:nvPr/>
        </p:nvSpPr>
        <p:spPr bwMode="auto">
          <a:xfrm>
            <a:off x="6186001" y="342003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7" name="Rectangle 73"/>
          <p:cNvSpPr>
            <a:spLocks noChangeArrowheads="1"/>
          </p:cNvSpPr>
          <p:nvPr/>
        </p:nvSpPr>
        <p:spPr bwMode="auto">
          <a:xfrm>
            <a:off x="6636006" y="3420034"/>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8" name="Rectangle 70"/>
          <p:cNvSpPr>
            <a:spLocks noChangeArrowheads="1"/>
          </p:cNvSpPr>
          <p:nvPr/>
        </p:nvSpPr>
        <p:spPr bwMode="auto">
          <a:xfrm>
            <a:off x="5735992" y="3420034"/>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9" name="Rectangle 70"/>
          <p:cNvSpPr>
            <a:spLocks noChangeArrowheads="1"/>
          </p:cNvSpPr>
          <p:nvPr/>
        </p:nvSpPr>
        <p:spPr bwMode="auto">
          <a:xfrm>
            <a:off x="4835986" y="342003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RN</a:t>
            </a:r>
          </a:p>
        </p:txBody>
      </p:sp>
      <p:sp>
        <p:nvSpPr>
          <p:cNvPr id="13" name="Rectangle 70"/>
          <p:cNvSpPr>
            <a:spLocks noChangeArrowheads="1"/>
          </p:cNvSpPr>
          <p:nvPr/>
        </p:nvSpPr>
        <p:spPr bwMode="auto">
          <a:xfrm>
            <a:off x="5285991" y="3420034"/>
            <a:ext cx="360004" cy="360000"/>
          </a:xfrm>
          <a:prstGeom prst="rect">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lIns="93600" tIns="46800" rIns="93600" bIns="46800" anchor="ctr"/>
          <a:lstStyle/>
          <a:p>
            <a:pPr algn="ctr"/>
            <a:endParaRPr lang="en-US" altLang="ja-JP" sz="1200" dirty="0">
              <a:latin typeface="Arial Narrow" panose="020B0606020202030204" pitchFamily="34" charset="0"/>
            </a:endParaRPr>
          </a:p>
        </p:txBody>
      </p:sp>
      <p:sp>
        <p:nvSpPr>
          <p:cNvPr id="11" name="Rectangle 70"/>
          <p:cNvSpPr>
            <a:spLocks noChangeArrowheads="1"/>
          </p:cNvSpPr>
          <p:nvPr/>
        </p:nvSpPr>
        <p:spPr bwMode="auto">
          <a:xfrm>
            <a:off x="5465993" y="3420034"/>
            <a:ext cx="180002" cy="360000"/>
          </a:xfrm>
          <a:prstGeom prst="rect">
            <a:avLst/>
          </a:prstGeom>
          <a:noFill/>
          <a:ln>
            <a:solidFill>
              <a:schemeClr val="accent2">
                <a:shade val="95000"/>
                <a:satMod val="105000"/>
              </a:schemeClr>
            </a:solidFill>
            <a:headEnd/>
            <a:tailEnd type="none" w="med" len="lg"/>
          </a:ln>
          <a:effectLst/>
        </p:spPr>
        <p:style>
          <a:lnRef idx="1">
            <a:schemeClr val="accent2"/>
          </a:lnRef>
          <a:fillRef idx="2">
            <a:schemeClr val="accent2"/>
          </a:fillRef>
          <a:effectRef idx="1">
            <a:schemeClr val="accent2"/>
          </a:effectRef>
          <a:fontRef idx="minor">
            <a:schemeClr val="dk1"/>
          </a:fontRef>
        </p:style>
        <p:txBody>
          <a:bodyPr wrap="none" lIns="93600" tIns="46800" rIns="93600" bIns="46800" anchor="ctr"/>
          <a:lstStyle/>
          <a:p>
            <a:pPr algn="ctr"/>
            <a:r>
              <a:rPr lang="en-US" altLang="ja-JP" sz="1200" dirty="0">
                <a:latin typeface="Arial Narrow" panose="020B0606020202030204" pitchFamily="34" charset="0"/>
              </a:rPr>
              <a:t>SC</a:t>
            </a:r>
          </a:p>
        </p:txBody>
      </p:sp>
      <p:sp>
        <p:nvSpPr>
          <p:cNvPr id="10" name="Rectangle 70"/>
          <p:cNvSpPr>
            <a:spLocks noChangeArrowheads="1"/>
          </p:cNvSpPr>
          <p:nvPr/>
        </p:nvSpPr>
        <p:spPr bwMode="auto">
          <a:xfrm>
            <a:off x="5285991" y="3420034"/>
            <a:ext cx="180002" cy="360000"/>
          </a:xfrm>
          <a:prstGeom prst="rect">
            <a:avLst/>
          </a:prstGeom>
          <a:noFill/>
          <a:ln>
            <a:solidFill>
              <a:schemeClr val="accent2">
                <a:shade val="95000"/>
                <a:satMod val="105000"/>
              </a:schemeClr>
            </a:solidFill>
            <a:headEnd/>
            <a:tailEnd type="none" w="med" len="lg"/>
          </a:ln>
          <a:effectLst/>
        </p:spPr>
        <p:style>
          <a:lnRef idx="1">
            <a:schemeClr val="accent2"/>
          </a:lnRef>
          <a:fillRef idx="2">
            <a:schemeClr val="accent2"/>
          </a:fillRef>
          <a:effectRef idx="1">
            <a:schemeClr val="accent2"/>
          </a:effectRef>
          <a:fontRef idx="minor">
            <a:schemeClr val="dk1"/>
          </a:fontRef>
        </p:style>
        <p:txBody>
          <a:bodyPr wrap="none" lIns="93600" tIns="46800" rIns="93600" bIns="46800" anchor="ctr"/>
          <a:lstStyle/>
          <a:p>
            <a:pPr algn="ctr"/>
            <a:r>
              <a:rPr lang="en-US" altLang="ja-JP" sz="1200" dirty="0">
                <a:latin typeface="Arial Narrow" panose="020B0606020202030204" pitchFamily="34" charset="0"/>
              </a:rPr>
              <a:t>WU</a:t>
            </a:r>
          </a:p>
        </p:txBody>
      </p:sp>
      <p:sp>
        <p:nvSpPr>
          <p:cNvPr id="14" name="Rectangle 69"/>
          <p:cNvSpPr>
            <a:spLocks noChangeArrowheads="1"/>
          </p:cNvSpPr>
          <p:nvPr/>
        </p:nvSpPr>
        <p:spPr bwMode="auto">
          <a:xfrm>
            <a:off x="4385981" y="387003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5" name="Rectangle 70"/>
          <p:cNvSpPr>
            <a:spLocks noChangeArrowheads="1"/>
          </p:cNvSpPr>
          <p:nvPr/>
        </p:nvSpPr>
        <p:spPr bwMode="auto">
          <a:xfrm>
            <a:off x="4835982" y="387003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6" name="Rectangle 71"/>
          <p:cNvSpPr>
            <a:spLocks noChangeArrowheads="1"/>
          </p:cNvSpPr>
          <p:nvPr/>
        </p:nvSpPr>
        <p:spPr bwMode="auto">
          <a:xfrm>
            <a:off x="6636006" y="3870039"/>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7" name="Rectangle 73"/>
          <p:cNvSpPr>
            <a:spLocks noChangeArrowheads="1"/>
          </p:cNvSpPr>
          <p:nvPr/>
        </p:nvSpPr>
        <p:spPr bwMode="auto">
          <a:xfrm>
            <a:off x="7086011" y="3870039"/>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18" name="Rectangle 70"/>
          <p:cNvSpPr>
            <a:spLocks noChangeArrowheads="1"/>
          </p:cNvSpPr>
          <p:nvPr/>
        </p:nvSpPr>
        <p:spPr bwMode="auto">
          <a:xfrm>
            <a:off x="6185997" y="3870039"/>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19" name="Rectangle 70"/>
          <p:cNvSpPr>
            <a:spLocks noChangeArrowheads="1"/>
          </p:cNvSpPr>
          <p:nvPr/>
        </p:nvSpPr>
        <p:spPr bwMode="auto">
          <a:xfrm>
            <a:off x="5285991" y="387003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RN</a:t>
            </a:r>
          </a:p>
        </p:txBody>
      </p:sp>
      <p:sp>
        <p:nvSpPr>
          <p:cNvPr id="20" name="Rectangle 70"/>
          <p:cNvSpPr>
            <a:spLocks noChangeArrowheads="1"/>
          </p:cNvSpPr>
          <p:nvPr/>
        </p:nvSpPr>
        <p:spPr bwMode="auto">
          <a:xfrm>
            <a:off x="5735996" y="3870039"/>
            <a:ext cx="360004" cy="360000"/>
          </a:xfrm>
          <a:prstGeom prst="rect">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lIns="93600" tIns="46800" rIns="93600" bIns="46800" anchor="ctr"/>
          <a:lstStyle/>
          <a:p>
            <a:pPr algn="ctr"/>
            <a:endParaRPr lang="en-US" altLang="ja-JP" sz="1200" dirty="0">
              <a:latin typeface="Arial Narrow" panose="020B0606020202030204" pitchFamily="34" charset="0"/>
            </a:endParaRPr>
          </a:p>
        </p:txBody>
      </p:sp>
      <p:sp>
        <p:nvSpPr>
          <p:cNvPr id="21" name="Rectangle 70"/>
          <p:cNvSpPr>
            <a:spLocks noChangeArrowheads="1"/>
          </p:cNvSpPr>
          <p:nvPr/>
        </p:nvSpPr>
        <p:spPr bwMode="auto">
          <a:xfrm>
            <a:off x="5915998" y="3870039"/>
            <a:ext cx="180002" cy="360000"/>
          </a:xfrm>
          <a:prstGeom prst="rect">
            <a:avLst/>
          </a:prstGeom>
          <a:noFill/>
          <a:ln>
            <a:solidFill>
              <a:schemeClr val="accent2">
                <a:shade val="95000"/>
                <a:satMod val="105000"/>
              </a:schemeClr>
            </a:solidFill>
            <a:headEnd/>
            <a:tailEnd type="none" w="med" len="lg"/>
          </a:ln>
          <a:effectLst/>
        </p:spPr>
        <p:style>
          <a:lnRef idx="1">
            <a:schemeClr val="accent2"/>
          </a:lnRef>
          <a:fillRef idx="2">
            <a:schemeClr val="accent2"/>
          </a:fillRef>
          <a:effectRef idx="1">
            <a:schemeClr val="accent2"/>
          </a:effectRef>
          <a:fontRef idx="minor">
            <a:schemeClr val="dk1"/>
          </a:fontRef>
        </p:style>
        <p:txBody>
          <a:bodyPr wrap="none" lIns="93600" tIns="46800" rIns="93600" bIns="46800" anchor="ctr"/>
          <a:lstStyle/>
          <a:p>
            <a:pPr algn="ctr"/>
            <a:r>
              <a:rPr lang="en-US" altLang="ja-JP" sz="1200" dirty="0">
                <a:latin typeface="Arial Narrow" panose="020B0606020202030204" pitchFamily="34" charset="0"/>
              </a:rPr>
              <a:t>SC</a:t>
            </a:r>
          </a:p>
        </p:txBody>
      </p:sp>
      <p:sp>
        <p:nvSpPr>
          <p:cNvPr id="22" name="Rectangle 70"/>
          <p:cNvSpPr>
            <a:spLocks noChangeArrowheads="1"/>
          </p:cNvSpPr>
          <p:nvPr/>
        </p:nvSpPr>
        <p:spPr bwMode="auto">
          <a:xfrm>
            <a:off x="5735996" y="3870039"/>
            <a:ext cx="180002" cy="360000"/>
          </a:xfrm>
          <a:prstGeom prst="rect">
            <a:avLst/>
          </a:prstGeom>
          <a:noFill/>
          <a:ln>
            <a:solidFill>
              <a:schemeClr val="accent2">
                <a:shade val="95000"/>
                <a:satMod val="105000"/>
              </a:schemeClr>
            </a:solidFill>
            <a:headEnd/>
            <a:tailEnd type="none" w="med" len="lg"/>
          </a:ln>
          <a:effectLst/>
        </p:spPr>
        <p:style>
          <a:lnRef idx="1">
            <a:schemeClr val="accent2"/>
          </a:lnRef>
          <a:fillRef idx="2">
            <a:schemeClr val="accent2"/>
          </a:fillRef>
          <a:effectRef idx="1">
            <a:schemeClr val="accent2"/>
          </a:effectRef>
          <a:fontRef idx="minor">
            <a:schemeClr val="dk1"/>
          </a:fontRef>
        </p:style>
        <p:txBody>
          <a:bodyPr wrap="none" lIns="93600" tIns="46800" rIns="93600" bIns="46800" anchor="ctr"/>
          <a:lstStyle/>
          <a:p>
            <a:pPr algn="ctr"/>
            <a:r>
              <a:rPr lang="en-US" altLang="ja-JP" sz="1200" dirty="0">
                <a:latin typeface="Arial Narrow" panose="020B0606020202030204" pitchFamily="34" charset="0"/>
              </a:rPr>
              <a:t>WU</a:t>
            </a:r>
          </a:p>
        </p:txBody>
      </p:sp>
      <p:sp>
        <p:nvSpPr>
          <p:cNvPr id="23" name="Rectangle 69"/>
          <p:cNvSpPr>
            <a:spLocks noChangeArrowheads="1"/>
          </p:cNvSpPr>
          <p:nvPr/>
        </p:nvSpPr>
        <p:spPr bwMode="auto">
          <a:xfrm>
            <a:off x="4835986" y="432004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4" name="Rectangle 70"/>
          <p:cNvSpPr>
            <a:spLocks noChangeArrowheads="1"/>
          </p:cNvSpPr>
          <p:nvPr/>
        </p:nvSpPr>
        <p:spPr bwMode="auto">
          <a:xfrm>
            <a:off x="5285987" y="432004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5" name="Rectangle 71"/>
          <p:cNvSpPr>
            <a:spLocks noChangeArrowheads="1"/>
          </p:cNvSpPr>
          <p:nvPr/>
        </p:nvSpPr>
        <p:spPr bwMode="auto">
          <a:xfrm>
            <a:off x="7086011" y="432004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26" name="Rectangle 73"/>
          <p:cNvSpPr>
            <a:spLocks noChangeArrowheads="1"/>
          </p:cNvSpPr>
          <p:nvPr/>
        </p:nvSpPr>
        <p:spPr bwMode="auto">
          <a:xfrm>
            <a:off x="7536016" y="4320044"/>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27" name="Rectangle 70"/>
          <p:cNvSpPr>
            <a:spLocks noChangeArrowheads="1"/>
          </p:cNvSpPr>
          <p:nvPr/>
        </p:nvSpPr>
        <p:spPr bwMode="auto">
          <a:xfrm>
            <a:off x="6636002" y="4320044"/>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28" name="Rectangle 70"/>
          <p:cNvSpPr>
            <a:spLocks noChangeArrowheads="1"/>
          </p:cNvSpPr>
          <p:nvPr/>
        </p:nvSpPr>
        <p:spPr bwMode="auto">
          <a:xfrm>
            <a:off x="5735996" y="432004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RN</a:t>
            </a:r>
          </a:p>
        </p:txBody>
      </p:sp>
      <p:sp>
        <p:nvSpPr>
          <p:cNvPr id="29" name="Rectangle 70"/>
          <p:cNvSpPr>
            <a:spLocks noChangeArrowheads="1"/>
          </p:cNvSpPr>
          <p:nvPr/>
        </p:nvSpPr>
        <p:spPr bwMode="auto">
          <a:xfrm>
            <a:off x="6186001" y="4320044"/>
            <a:ext cx="360004" cy="360000"/>
          </a:xfrm>
          <a:prstGeom prst="rect">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lIns="93600" tIns="46800" rIns="93600" bIns="46800" anchor="ctr"/>
          <a:lstStyle/>
          <a:p>
            <a:pPr algn="ctr"/>
            <a:endParaRPr lang="en-US" altLang="ja-JP" sz="1200" dirty="0">
              <a:latin typeface="Arial Narrow" panose="020B0606020202030204" pitchFamily="34" charset="0"/>
            </a:endParaRPr>
          </a:p>
        </p:txBody>
      </p:sp>
      <p:sp>
        <p:nvSpPr>
          <p:cNvPr id="30" name="Rectangle 70"/>
          <p:cNvSpPr>
            <a:spLocks noChangeArrowheads="1"/>
          </p:cNvSpPr>
          <p:nvPr/>
        </p:nvSpPr>
        <p:spPr bwMode="auto">
          <a:xfrm>
            <a:off x="6366003" y="4320044"/>
            <a:ext cx="180002" cy="360000"/>
          </a:xfrm>
          <a:prstGeom prst="rect">
            <a:avLst/>
          </a:prstGeom>
          <a:noFill/>
          <a:ln>
            <a:solidFill>
              <a:schemeClr val="accent2">
                <a:shade val="95000"/>
                <a:satMod val="105000"/>
              </a:schemeClr>
            </a:solidFill>
            <a:headEnd/>
            <a:tailEnd type="none" w="med" len="lg"/>
          </a:ln>
          <a:effectLst/>
        </p:spPr>
        <p:style>
          <a:lnRef idx="1">
            <a:schemeClr val="accent2"/>
          </a:lnRef>
          <a:fillRef idx="2">
            <a:schemeClr val="accent2"/>
          </a:fillRef>
          <a:effectRef idx="1">
            <a:schemeClr val="accent2"/>
          </a:effectRef>
          <a:fontRef idx="minor">
            <a:schemeClr val="dk1"/>
          </a:fontRef>
        </p:style>
        <p:txBody>
          <a:bodyPr wrap="none" lIns="93600" tIns="46800" rIns="93600" bIns="46800" anchor="ctr"/>
          <a:lstStyle/>
          <a:p>
            <a:pPr algn="ctr"/>
            <a:r>
              <a:rPr lang="en-US" altLang="ja-JP" sz="1200" dirty="0">
                <a:latin typeface="Arial Narrow" panose="020B0606020202030204" pitchFamily="34" charset="0"/>
              </a:rPr>
              <a:t>SC</a:t>
            </a:r>
          </a:p>
        </p:txBody>
      </p:sp>
      <p:sp>
        <p:nvSpPr>
          <p:cNvPr id="31" name="Rectangle 70"/>
          <p:cNvSpPr>
            <a:spLocks noChangeArrowheads="1"/>
          </p:cNvSpPr>
          <p:nvPr/>
        </p:nvSpPr>
        <p:spPr bwMode="auto">
          <a:xfrm>
            <a:off x="6186001" y="4320044"/>
            <a:ext cx="180002" cy="360000"/>
          </a:xfrm>
          <a:prstGeom prst="rect">
            <a:avLst/>
          </a:prstGeom>
          <a:noFill/>
          <a:ln>
            <a:solidFill>
              <a:schemeClr val="accent2">
                <a:shade val="95000"/>
                <a:satMod val="105000"/>
              </a:schemeClr>
            </a:solidFill>
            <a:headEnd/>
            <a:tailEnd type="none" w="med" len="lg"/>
          </a:ln>
          <a:effectLst/>
        </p:spPr>
        <p:style>
          <a:lnRef idx="1">
            <a:schemeClr val="accent2"/>
          </a:lnRef>
          <a:fillRef idx="2">
            <a:schemeClr val="accent2"/>
          </a:fillRef>
          <a:effectRef idx="1">
            <a:schemeClr val="accent2"/>
          </a:effectRef>
          <a:fontRef idx="minor">
            <a:schemeClr val="dk1"/>
          </a:fontRef>
        </p:style>
        <p:txBody>
          <a:bodyPr wrap="none" lIns="93600" tIns="46800" rIns="93600" bIns="46800" anchor="ctr"/>
          <a:lstStyle/>
          <a:p>
            <a:pPr algn="ctr"/>
            <a:r>
              <a:rPr lang="en-US" altLang="ja-JP" sz="1200" dirty="0">
                <a:latin typeface="Arial Narrow" panose="020B0606020202030204" pitchFamily="34" charset="0"/>
              </a:rPr>
              <a:t>WU</a:t>
            </a:r>
          </a:p>
        </p:txBody>
      </p:sp>
      <p:sp>
        <p:nvSpPr>
          <p:cNvPr id="32" name="Rectangle 69"/>
          <p:cNvSpPr>
            <a:spLocks noChangeArrowheads="1"/>
          </p:cNvSpPr>
          <p:nvPr/>
        </p:nvSpPr>
        <p:spPr bwMode="auto">
          <a:xfrm>
            <a:off x="3935976" y="504901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33" name="Rectangle 70"/>
          <p:cNvSpPr>
            <a:spLocks noChangeArrowheads="1"/>
          </p:cNvSpPr>
          <p:nvPr/>
        </p:nvSpPr>
        <p:spPr bwMode="auto">
          <a:xfrm>
            <a:off x="4385977" y="504901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34" name="Rectangle 71"/>
          <p:cNvSpPr>
            <a:spLocks noChangeArrowheads="1"/>
          </p:cNvSpPr>
          <p:nvPr/>
        </p:nvSpPr>
        <p:spPr bwMode="auto">
          <a:xfrm>
            <a:off x="6636006" y="5040052"/>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35" name="Rectangle 73"/>
          <p:cNvSpPr>
            <a:spLocks noChangeArrowheads="1"/>
          </p:cNvSpPr>
          <p:nvPr/>
        </p:nvSpPr>
        <p:spPr bwMode="auto">
          <a:xfrm>
            <a:off x="7086011" y="5040052"/>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36" name="Rectangle 70"/>
          <p:cNvSpPr>
            <a:spLocks noChangeArrowheads="1"/>
          </p:cNvSpPr>
          <p:nvPr/>
        </p:nvSpPr>
        <p:spPr bwMode="auto">
          <a:xfrm>
            <a:off x="6185997" y="5040052"/>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37" name="Rectangle 70"/>
          <p:cNvSpPr>
            <a:spLocks noChangeArrowheads="1"/>
          </p:cNvSpPr>
          <p:nvPr/>
        </p:nvSpPr>
        <p:spPr bwMode="auto">
          <a:xfrm>
            <a:off x="4835986" y="504901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RN</a:t>
            </a:r>
          </a:p>
        </p:txBody>
      </p:sp>
      <p:sp>
        <p:nvSpPr>
          <p:cNvPr id="38" name="Rectangle 70"/>
          <p:cNvSpPr>
            <a:spLocks noChangeArrowheads="1"/>
          </p:cNvSpPr>
          <p:nvPr/>
        </p:nvSpPr>
        <p:spPr bwMode="auto">
          <a:xfrm>
            <a:off x="5285991" y="5049018"/>
            <a:ext cx="360004" cy="360000"/>
          </a:xfrm>
          <a:prstGeom prst="rect">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lIns="93600" tIns="46800" rIns="93600" bIns="46800" anchor="ctr"/>
          <a:lstStyle/>
          <a:p>
            <a:pPr algn="ctr"/>
            <a:r>
              <a:rPr lang="en-US" altLang="ja-JP" sz="1600" dirty="0">
                <a:latin typeface="Arial Narrow" panose="020B0606020202030204" pitchFamily="34" charset="0"/>
              </a:rPr>
              <a:t>WU</a:t>
            </a:r>
          </a:p>
        </p:txBody>
      </p:sp>
      <p:sp>
        <p:nvSpPr>
          <p:cNvPr id="41" name="Rectangle 69"/>
          <p:cNvSpPr>
            <a:spLocks noChangeArrowheads="1"/>
          </p:cNvSpPr>
          <p:nvPr/>
        </p:nvSpPr>
        <p:spPr bwMode="auto">
          <a:xfrm>
            <a:off x="4385981" y="549902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2" name="Rectangle 70"/>
          <p:cNvSpPr>
            <a:spLocks noChangeArrowheads="1"/>
          </p:cNvSpPr>
          <p:nvPr/>
        </p:nvSpPr>
        <p:spPr bwMode="auto">
          <a:xfrm>
            <a:off x="4835982" y="549902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43" name="Rectangle 71"/>
          <p:cNvSpPr>
            <a:spLocks noChangeArrowheads="1"/>
          </p:cNvSpPr>
          <p:nvPr/>
        </p:nvSpPr>
        <p:spPr bwMode="auto">
          <a:xfrm>
            <a:off x="7536016" y="5490057"/>
            <a:ext cx="360000" cy="377946"/>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44" name="Rectangle 73"/>
          <p:cNvSpPr>
            <a:spLocks noChangeArrowheads="1"/>
          </p:cNvSpPr>
          <p:nvPr/>
        </p:nvSpPr>
        <p:spPr bwMode="auto">
          <a:xfrm>
            <a:off x="7986021" y="5490057"/>
            <a:ext cx="360000" cy="377946"/>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45" name="Rectangle 70"/>
          <p:cNvSpPr>
            <a:spLocks noChangeArrowheads="1"/>
          </p:cNvSpPr>
          <p:nvPr/>
        </p:nvSpPr>
        <p:spPr bwMode="auto">
          <a:xfrm>
            <a:off x="7086007" y="5490057"/>
            <a:ext cx="360000" cy="377946"/>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46" name="Rectangle 70"/>
          <p:cNvSpPr>
            <a:spLocks noChangeArrowheads="1"/>
          </p:cNvSpPr>
          <p:nvPr/>
        </p:nvSpPr>
        <p:spPr bwMode="auto">
          <a:xfrm>
            <a:off x="5285991" y="549902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RN</a:t>
            </a:r>
          </a:p>
        </p:txBody>
      </p:sp>
      <p:sp>
        <p:nvSpPr>
          <p:cNvPr id="50" name="Rectangle 69"/>
          <p:cNvSpPr>
            <a:spLocks noChangeArrowheads="1"/>
          </p:cNvSpPr>
          <p:nvPr/>
        </p:nvSpPr>
        <p:spPr bwMode="auto">
          <a:xfrm>
            <a:off x="4835986" y="594902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51" name="Rectangle 70"/>
          <p:cNvSpPr>
            <a:spLocks noChangeArrowheads="1"/>
          </p:cNvSpPr>
          <p:nvPr/>
        </p:nvSpPr>
        <p:spPr bwMode="auto">
          <a:xfrm>
            <a:off x="5285987" y="594902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55" name="Rectangle 70"/>
          <p:cNvSpPr>
            <a:spLocks noChangeArrowheads="1"/>
          </p:cNvSpPr>
          <p:nvPr/>
        </p:nvSpPr>
        <p:spPr bwMode="auto">
          <a:xfrm>
            <a:off x="5735996" y="594902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RN</a:t>
            </a:r>
          </a:p>
        </p:txBody>
      </p:sp>
      <p:sp>
        <p:nvSpPr>
          <p:cNvPr id="59" name="Rectangle 70"/>
          <p:cNvSpPr>
            <a:spLocks noChangeArrowheads="1"/>
          </p:cNvSpPr>
          <p:nvPr/>
        </p:nvSpPr>
        <p:spPr bwMode="auto">
          <a:xfrm>
            <a:off x="5735996" y="5049018"/>
            <a:ext cx="360004" cy="360000"/>
          </a:xfrm>
          <a:prstGeom prst="rect">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lIns="93600" tIns="46800" rIns="93600" bIns="46800" anchor="ctr"/>
          <a:lstStyle/>
          <a:p>
            <a:pPr algn="ctr"/>
            <a:r>
              <a:rPr lang="en-US" altLang="ja-JP" sz="1600" dirty="0">
                <a:latin typeface="Arial Narrow" panose="020B0606020202030204" pitchFamily="34" charset="0"/>
              </a:rPr>
              <a:t>SC</a:t>
            </a:r>
          </a:p>
        </p:txBody>
      </p:sp>
      <p:sp>
        <p:nvSpPr>
          <p:cNvPr id="60" name="Rectangle 70"/>
          <p:cNvSpPr>
            <a:spLocks noChangeArrowheads="1"/>
          </p:cNvSpPr>
          <p:nvPr/>
        </p:nvSpPr>
        <p:spPr bwMode="auto">
          <a:xfrm>
            <a:off x="6186001" y="5490057"/>
            <a:ext cx="360004" cy="360000"/>
          </a:xfrm>
          <a:prstGeom prst="rect">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lIns="93600" tIns="46800" rIns="93600" bIns="46800" anchor="ctr"/>
          <a:lstStyle/>
          <a:p>
            <a:pPr algn="ctr"/>
            <a:r>
              <a:rPr lang="en-US" altLang="ja-JP" sz="1600" dirty="0">
                <a:latin typeface="Arial Narrow" panose="020B0606020202030204" pitchFamily="34" charset="0"/>
              </a:rPr>
              <a:t>WU</a:t>
            </a:r>
          </a:p>
        </p:txBody>
      </p:sp>
      <p:sp>
        <p:nvSpPr>
          <p:cNvPr id="61" name="Rectangle 70"/>
          <p:cNvSpPr>
            <a:spLocks noChangeArrowheads="1"/>
          </p:cNvSpPr>
          <p:nvPr/>
        </p:nvSpPr>
        <p:spPr bwMode="auto">
          <a:xfrm>
            <a:off x="6636006" y="5490057"/>
            <a:ext cx="360004" cy="360000"/>
          </a:xfrm>
          <a:prstGeom prst="rect">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lIns="93600" tIns="46800" rIns="93600" bIns="46800" anchor="ctr"/>
          <a:lstStyle/>
          <a:p>
            <a:pPr algn="ctr"/>
            <a:r>
              <a:rPr lang="en-US" altLang="ja-JP" sz="1600" dirty="0">
                <a:latin typeface="Arial Narrow" panose="020B0606020202030204" pitchFamily="34" charset="0"/>
              </a:rPr>
              <a:t>SC</a:t>
            </a:r>
          </a:p>
        </p:txBody>
      </p:sp>
      <p:sp>
        <p:nvSpPr>
          <p:cNvPr id="62" name="Rectangle 71"/>
          <p:cNvSpPr>
            <a:spLocks noChangeArrowheads="1"/>
          </p:cNvSpPr>
          <p:nvPr/>
        </p:nvSpPr>
        <p:spPr bwMode="auto">
          <a:xfrm>
            <a:off x="8436026" y="5949028"/>
            <a:ext cx="360000" cy="377946"/>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63" name="Rectangle 73"/>
          <p:cNvSpPr>
            <a:spLocks noChangeArrowheads="1"/>
          </p:cNvSpPr>
          <p:nvPr/>
        </p:nvSpPr>
        <p:spPr bwMode="auto">
          <a:xfrm>
            <a:off x="8886031" y="5949028"/>
            <a:ext cx="360000" cy="377946"/>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64" name="Rectangle 70"/>
          <p:cNvSpPr>
            <a:spLocks noChangeArrowheads="1"/>
          </p:cNvSpPr>
          <p:nvPr/>
        </p:nvSpPr>
        <p:spPr bwMode="auto">
          <a:xfrm>
            <a:off x="7986017" y="5949028"/>
            <a:ext cx="360000" cy="377946"/>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IS</a:t>
            </a:r>
          </a:p>
        </p:txBody>
      </p:sp>
      <p:sp>
        <p:nvSpPr>
          <p:cNvPr id="65" name="Rectangle 70"/>
          <p:cNvSpPr>
            <a:spLocks noChangeArrowheads="1"/>
          </p:cNvSpPr>
          <p:nvPr/>
        </p:nvSpPr>
        <p:spPr bwMode="auto">
          <a:xfrm>
            <a:off x="7086011" y="5949028"/>
            <a:ext cx="360004" cy="360000"/>
          </a:xfrm>
          <a:prstGeom prst="rect">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lIns="93600" tIns="46800" rIns="93600" bIns="46800" anchor="ctr"/>
          <a:lstStyle/>
          <a:p>
            <a:pPr algn="ctr"/>
            <a:r>
              <a:rPr lang="en-US" altLang="ja-JP" sz="1600" dirty="0">
                <a:latin typeface="Arial Narrow" panose="020B0606020202030204" pitchFamily="34" charset="0"/>
              </a:rPr>
              <a:t>WU</a:t>
            </a:r>
          </a:p>
        </p:txBody>
      </p:sp>
      <p:sp>
        <p:nvSpPr>
          <p:cNvPr id="66" name="Rectangle 70"/>
          <p:cNvSpPr>
            <a:spLocks noChangeArrowheads="1"/>
          </p:cNvSpPr>
          <p:nvPr/>
        </p:nvSpPr>
        <p:spPr bwMode="auto">
          <a:xfrm>
            <a:off x="7536016" y="5949028"/>
            <a:ext cx="360004" cy="360000"/>
          </a:xfrm>
          <a:prstGeom prst="rect">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lIns="93600" tIns="46800" rIns="93600" bIns="46800" anchor="ctr"/>
          <a:lstStyle/>
          <a:p>
            <a:pPr algn="ctr"/>
            <a:r>
              <a:rPr lang="en-US" altLang="ja-JP" sz="1600" dirty="0">
                <a:latin typeface="Arial Narrow" panose="020B0606020202030204" pitchFamily="34" charset="0"/>
              </a:rPr>
              <a:t>SC</a:t>
            </a:r>
          </a:p>
        </p:txBody>
      </p:sp>
    </p:spTree>
    <p:extLst>
      <p:ext uri="{BB962C8B-B14F-4D97-AF65-F5344CB8AC3E}">
        <p14:creationId xmlns:p14="http://schemas.microsoft.com/office/powerpoint/2010/main" val="28274312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in-order </a:t>
            </a:r>
            <a:r>
              <a:rPr kumimoji="1" lang="ja-JP" altLang="en-US" dirty="0"/>
              <a:t>発行と </a:t>
            </a:r>
            <a:r>
              <a:rPr kumimoji="1" lang="en-US" altLang="ja-JP" dirty="0"/>
              <a:t>out-of-order </a:t>
            </a:r>
            <a:r>
              <a:rPr kumimoji="1" lang="ja-JP" altLang="en-US" dirty="0"/>
              <a:t>発行の性能（</a:t>
            </a:r>
            <a:r>
              <a:rPr kumimoji="1" lang="en-US" altLang="ja-JP" dirty="0"/>
              <a:t>IPC</a:t>
            </a:r>
            <a:r>
              <a:rPr kumimoji="1" lang="ja-JP" altLang="en-US" dirty="0"/>
              <a:t>）</a:t>
            </a:r>
            <a:br>
              <a:rPr kumimoji="1" lang="en-US" altLang="ja-JP" dirty="0"/>
            </a:br>
            <a:r>
              <a:rPr kumimoji="1" lang="en-US" altLang="ja-JP" dirty="0"/>
              <a:t>SPECCPU 2006 </a:t>
            </a:r>
            <a:r>
              <a:rPr kumimoji="1" lang="ja-JP" altLang="en-US" dirty="0"/>
              <a:t>より</a:t>
            </a:r>
          </a:p>
        </p:txBody>
      </p:sp>
      <p:sp>
        <p:nvSpPr>
          <p:cNvPr id="3" name="テキスト プレースホルダー 2"/>
          <p:cNvSpPr>
            <a:spLocks noGrp="1"/>
          </p:cNvSpPr>
          <p:nvPr>
            <p:ph type="body" sz="quarter" idx="10"/>
          </p:nvPr>
        </p:nvSpPr>
        <p:spPr>
          <a:xfrm>
            <a:off x="2135956" y="5769026"/>
            <a:ext cx="8280092" cy="1088974"/>
          </a:xfrm>
        </p:spPr>
        <p:txBody>
          <a:bodyPr/>
          <a:lstStyle/>
          <a:p>
            <a:r>
              <a:rPr kumimoji="1" lang="en-US" altLang="ja-JP" dirty="0"/>
              <a:t>4way </a:t>
            </a:r>
            <a:r>
              <a:rPr kumimoji="1" lang="en-US" altLang="ja-JP" dirty="0" err="1"/>
              <a:t>OoO</a:t>
            </a:r>
            <a:r>
              <a:rPr kumimoji="1" lang="en-US" altLang="ja-JP" dirty="0"/>
              <a:t> </a:t>
            </a:r>
            <a:r>
              <a:rPr kumimoji="1" lang="ja-JP" altLang="en-US" dirty="0"/>
              <a:t>発行の </a:t>
            </a:r>
            <a:r>
              <a:rPr kumimoji="1" lang="en-US" altLang="ja-JP" dirty="0"/>
              <a:t>CPU </a:t>
            </a:r>
            <a:r>
              <a:rPr kumimoji="1" lang="ja-JP" altLang="en-US" dirty="0"/>
              <a:t>の性能で正規化</a:t>
            </a:r>
            <a:endParaRPr kumimoji="1" lang="en-US" altLang="ja-JP" dirty="0"/>
          </a:p>
          <a:p>
            <a:pPr lvl="1"/>
            <a:r>
              <a:rPr lang="en-US" altLang="ja-JP" dirty="0"/>
              <a:t>InO </a:t>
            </a:r>
            <a:r>
              <a:rPr lang="ja-JP" altLang="en-US" dirty="0"/>
              <a:t>発行の </a:t>
            </a:r>
            <a:r>
              <a:rPr lang="en-US" altLang="ja-JP" dirty="0"/>
              <a:t>CPU </a:t>
            </a:r>
            <a:r>
              <a:rPr lang="ja-JP" altLang="en-US" dirty="0"/>
              <a:t>の性能は，平均で </a:t>
            </a:r>
            <a:r>
              <a:rPr lang="en-US" altLang="ja-JP" dirty="0"/>
              <a:t>OoO </a:t>
            </a:r>
            <a:r>
              <a:rPr lang="ja-JP" altLang="en-US" dirty="0"/>
              <a:t>発行の</a:t>
            </a:r>
            <a:r>
              <a:rPr lang="en-US" altLang="ja-JP" dirty="0"/>
              <a:t>60%</a:t>
            </a:r>
            <a:r>
              <a:rPr lang="ja-JP" altLang="en-US" dirty="0"/>
              <a:t>程度</a:t>
            </a:r>
            <a:endParaRPr kumimoji="1" lang="ja-JP" altLang="en-US" dirty="0"/>
          </a:p>
        </p:txBody>
      </p:sp>
      <p:graphicFrame>
        <p:nvGraphicFramePr>
          <p:cNvPr id="4" name="グラフ 3"/>
          <p:cNvGraphicFramePr>
            <a:graphicFrameLocks/>
          </p:cNvGraphicFramePr>
          <p:nvPr>
            <p:extLst>
              <p:ext uri="{D42A27DB-BD31-4B8C-83A1-F6EECF244321}">
                <p14:modId xmlns:p14="http://schemas.microsoft.com/office/powerpoint/2010/main" val="70573840"/>
              </p:ext>
            </p:extLst>
          </p:nvPr>
        </p:nvGraphicFramePr>
        <p:xfrm>
          <a:off x="1865954" y="1006288"/>
          <a:ext cx="8550095" cy="484542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650715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out-of-order </a:t>
            </a:r>
            <a:r>
              <a:rPr lang="ja-JP" altLang="en-US" dirty="0"/>
              <a:t>発行</a:t>
            </a:r>
            <a:r>
              <a:rPr lang="en-US" altLang="ja-JP" dirty="0"/>
              <a:t>/out-of-order </a:t>
            </a:r>
            <a:r>
              <a:rPr lang="ja-JP" altLang="en-US" dirty="0"/>
              <a:t>完了</a:t>
            </a:r>
            <a:endParaRPr kumimoji="1" lang="ja-JP" altLang="en-US" dirty="0"/>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レジスタ・リネーム</a:t>
            </a:r>
            <a:endParaRPr kumimoji="1" lang="en-US" altLang="ja-JP" dirty="0"/>
          </a:p>
          <a:p>
            <a:pPr marL="457200" indent="-457200">
              <a:buFont typeface="+mj-lt"/>
              <a:buAutoNum type="arabicPeriod"/>
            </a:pPr>
            <a:r>
              <a:rPr lang="en-US" altLang="ja-JP" dirty="0"/>
              <a:t>out-of-order </a:t>
            </a:r>
            <a:r>
              <a:rPr lang="ja-JP" altLang="en-US" dirty="0"/>
              <a:t>発行機構</a:t>
            </a:r>
            <a:endParaRPr lang="en-US" altLang="ja-JP" dirty="0"/>
          </a:p>
          <a:p>
            <a:pPr marL="817200" lvl="1" indent="-457200">
              <a:buFont typeface="+mj-lt"/>
              <a:buAutoNum type="arabicPeriod"/>
            </a:pPr>
            <a:r>
              <a:rPr kumimoji="1" lang="ja-JP" altLang="en-US" dirty="0"/>
              <a:t>スケジューラの作り方</a:t>
            </a:r>
            <a:endParaRPr kumimoji="1" lang="en-US" altLang="ja-JP" dirty="0"/>
          </a:p>
          <a:p>
            <a:pPr marL="817200" lvl="1" indent="-457200">
              <a:buFont typeface="+mj-lt"/>
              <a:buAutoNum type="arabicPeriod"/>
            </a:pPr>
            <a:r>
              <a:rPr lang="ja-JP" altLang="en-US" dirty="0"/>
              <a:t>性能への影響</a:t>
            </a:r>
            <a:endParaRPr kumimoji="1" lang="en-US" altLang="ja-JP" dirty="0"/>
          </a:p>
          <a:p>
            <a:pPr marL="817200" lvl="1" indent="-457200">
              <a:buFont typeface="+mj-lt"/>
              <a:buAutoNum type="arabicPeriod"/>
            </a:pPr>
            <a:r>
              <a:rPr lang="ja-JP" altLang="en-US" b="1" dirty="0"/>
              <a:t>トマスロ方式との違い</a:t>
            </a:r>
            <a:endParaRPr kumimoji="1" lang="ja-JP" altLang="en-US" b="1" dirty="0"/>
          </a:p>
        </p:txBody>
      </p:sp>
    </p:spTree>
    <p:extLst>
      <p:ext uri="{BB962C8B-B14F-4D97-AF65-F5344CB8AC3E}">
        <p14:creationId xmlns:p14="http://schemas.microsoft.com/office/powerpoint/2010/main" val="32927842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50CF86-C743-4250-965D-15AD241EF77C}"/>
              </a:ext>
            </a:extLst>
          </p:cNvPr>
          <p:cNvSpPr>
            <a:spLocks noGrp="1"/>
          </p:cNvSpPr>
          <p:nvPr>
            <p:ph type="title"/>
          </p:nvPr>
        </p:nvSpPr>
        <p:spPr/>
        <p:txBody>
          <a:bodyPr/>
          <a:lstStyle/>
          <a:p>
            <a:r>
              <a:rPr kumimoji="1" lang="en-US" altLang="ja-JP" dirty="0"/>
              <a:t>Out-of-order </a:t>
            </a:r>
            <a:r>
              <a:rPr kumimoji="1" lang="ja-JP" altLang="en-US" dirty="0"/>
              <a:t>発行の方式</a:t>
            </a:r>
          </a:p>
        </p:txBody>
      </p:sp>
      <p:sp>
        <p:nvSpPr>
          <p:cNvPr id="3" name="テキスト プレースホルダー 2">
            <a:extLst>
              <a:ext uri="{FF2B5EF4-FFF2-40B4-BE49-F238E27FC236}">
                <a16:creationId xmlns:a16="http://schemas.microsoft.com/office/drawing/2014/main" id="{F0A21FAD-61D6-459C-9221-D620BCB0628E}"/>
              </a:ext>
            </a:extLst>
          </p:cNvPr>
          <p:cNvSpPr>
            <a:spLocks noGrp="1"/>
          </p:cNvSpPr>
          <p:nvPr>
            <p:ph type="body" sz="quarter" idx="10"/>
          </p:nvPr>
        </p:nvSpPr>
        <p:spPr/>
        <p:txBody>
          <a:bodyPr/>
          <a:lstStyle/>
          <a:p>
            <a:r>
              <a:rPr kumimoji="1" lang="ja-JP" altLang="en-US" dirty="0"/>
              <a:t>ここまで話をしてきたのは物理レジスタ方式</a:t>
            </a:r>
            <a:endParaRPr kumimoji="1" lang="en-US" altLang="ja-JP" dirty="0"/>
          </a:p>
          <a:p>
            <a:pPr lvl="1"/>
            <a:r>
              <a:rPr lang="ja-JP" altLang="en-US" dirty="0"/>
              <a:t>現在はこれが主流</a:t>
            </a:r>
            <a:endParaRPr kumimoji="1" lang="en-US" altLang="ja-JP" dirty="0"/>
          </a:p>
          <a:p>
            <a:pPr lvl="1"/>
            <a:r>
              <a:rPr lang="ja-JP" altLang="en-US" dirty="0"/>
              <a:t>比較のためにトマスロ方式も説明</a:t>
            </a:r>
            <a:endParaRPr kumimoji="1" lang="ja-JP" altLang="en-US" dirty="0"/>
          </a:p>
        </p:txBody>
      </p:sp>
    </p:spTree>
    <p:extLst>
      <p:ext uri="{BB962C8B-B14F-4D97-AF65-F5344CB8AC3E}">
        <p14:creationId xmlns:p14="http://schemas.microsoft.com/office/powerpoint/2010/main" val="10352714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FCB0BF-00D9-4C51-8560-D5E34E08F88B}"/>
              </a:ext>
            </a:extLst>
          </p:cNvPr>
          <p:cNvSpPr>
            <a:spLocks noGrp="1"/>
          </p:cNvSpPr>
          <p:nvPr>
            <p:ph type="title"/>
          </p:nvPr>
        </p:nvSpPr>
        <p:spPr/>
        <p:txBody>
          <a:bodyPr/>
          <a:lstStyle/>
          <a:p>
            <a:r>
              <a:rPr kumimoji="1" lang="ja-JP" altLang="en-US" dirty="0"/>
              <a:t>トマスロ方式</a:t>
            </a:r>
          </a:p>
        </p:txBody>
      </p:sp>
      <p:sp>
        <p:nvSpPr>
          <p:cNvPr id="3" name="テキスト プレースホルダー 2">
            <a:extLst>
              <a:ext uri="{FF2B5EF4-FFF2-40B4-BE49-F238E27FC236}">
                <a16:creationId xmlns:a16="http://schemas.microsoft.com/office/drawing/2014/main" id="{F367D232-12AD-470A-977F-E77AB6BCEEBE}"/>
              </a:ext>
            </a:extLst>
          </p:cNvPr>
          <p:cNvSpPr>
            <a:spLocks noGrp="1"/>
          </p:cNvSpPr>
          <p:nvPr>
            <p:ph type="body" sz="quarter" idx="10"/>
          </p:nvPr>
        </p:nvSpPr>
        <p:spPr/>
        <p:txBody>
          <a:bodyPr/>
          <a:lstStyle/>
          <a:p>
            <a:r>
              <a:rPr kumimoji="1" lang="ja-JP" altLang="en-US" dirty="0"/>
              <a:t>構成要素：</a:t>
            </a:r>
            <a:endParaRPr kumimoji="1" lang="en-US" altLang="ja-JP" dirty="0"/>
          </a:p>
          <a:p>
            <a:pPr lvl="1"/>
            <a:r>
              <a:rPr lang="ja-JP" altLang="en-US" dirty="0"/>
              <a:t>論理レジスタ・ファイル</a:t>
            </a:r>
            <a:endParaRPr lang="en-US" altLang="ja-JP" dirty="0"/>
          </a:p>
          <a:p>
            <a:pPr lvl="2"/>
            <a:r>
              <a:rPr lang="ja-JP" altLang="en-US" dirty="0"/>
              <a:t>論理レジスタ番号でアクセスされる</a:t>
            </a:r>
            <a:endParaRPr lang="en-US" altLang="ja-JP" dirty="0"/>
          </a:p>
          <a:p>
            <a:pPr lvl="2"/>
            <a:r>
              <a:rPr lang="ja-JP" altLang="en-US" dirty="0"/>
              <a:t>レジスタ値 </a:t>
            </a:r>
            <a:r>
              <a:rPr lang="en-US" altLang="ja-JP" dirty="0"/>
              <a:t>or </a:t>
            </a:r>
            <a:r>
              <a:rPr lang="ja-JP" altLang="en-US" dirty="0"/>
              <a:t>タグが置かれる</a:t>
            </a:r>
            <a:endParaRPr lang="en-US" altLang="ja-JP" dirty="0"/>
          </a:p>
          <a:p>
            <a:pPr lvl="2"/>
            <a:r>
              <a:rPr lang="ja-JP" altLang="en-US" dirty="0"/>
              <a:t>タグ：命令を識別する </a:t>
            </a:r>
            <a:r>
              <a:rPr lang="en-US" altLang="ja-JP" dirty="0"/>
              <a:t>ID </a:t>
            </a:r>
            <a:br>
              <a:rPr lang="en-US" altLang="ja-JP" dirty="0"/>
            </a:br>
            <a:endParaRPr lang="en-US" altLang="ja-JP" dirty="0"/>
          </a:p>
          <a:p>
            <a:pPr lvl="1"/>
            <a:r>
              <a:rPr kumimoji="1" lang="ja-JP" altLang="en-US" dirty="0"/>
              <a:t>リザベーション・ステーション</a:t>
            </a:r>
            <a:endParaRPr kumimoji="1" lang="en-US" altLang="ja-JP" dirty="0"/>
          </a:p>
          <a:p>
            <a:pPr lvl="2"/>
            <a:r>
              <a:rPr lang="ja-JP" altLang="en-US" dirty="0"/>
              <a:t>ソースオペランドのレジスタ値 </a:t>
            </a:r>
            <a:r>
              <a:rPr lang="en-US" altLang="ja-JP" dirty="0"/>
              <a:t>or </a:t>
            </a:r>
            <a:r>
              <a:rPr lang="ja-JP" altLang="en-US" dirty="0"/>
              <a:t>タグが置かれる</a:t>
            </a:r>
            <a:endParaRPr lang="en-US" altLang="ja-JP" dirty="0"/>
          </a:p>
          <a:p>
            <a:pPr lvl="2"/>
            <a:r>
              <a:rPr kumimoji="1" lang="ja-JP" altLang="en-US" dirty="0"/>
              <a:t>発行キューと同様に</a:t>
            </a:r>
            <a:r>
              <a:rPr lang="ja-JP" altLang="en-US" dirty="0"/>
              <a:t>値の待ち合わせを行う</a:t>
            </a:r>
            <a:br>
              <a:rPr lang="en-US" altLang="ja-JP" dirty="0"/>
            </a:br>
            <a:endParaRPr lang="en-US" altLang="ja-JP" dirty="0"/>
          </a:p>
          <a:p>
            <a:pPr lvl="2"/>
            <a:r>
              <a:rPr lang="ja-JP" altLang="en-US" dirty="0"/>
              <a:t>（ややこしいことに，物理レジスタ方式でもスケジューラや発行キューをリザベーション・ステーションと呼んでいる場合もある</a:t>
            </a:r>
            <a:endParaRPr lang="en-US" altLang="ja-JP" dirty="0"/>
          </a:p>
        </p:txBody>
      </p:sp>
    </p:spTree>
    <p:extLst>
      <p:ext uri="{BB962C8B-B14F-4D97-AF65-F5344CB8AC3E}">
        <p14:creationId xmlns:p14="http://schemas.microsoft.com/office/powerpoint/2010/main" val="38905089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4D36D7-C233-4663-96B9-2702638E8798}"/>
              </a:ext>
            </a:extLst>
          </p:cNvPr>
          <p:cNvSpPr>
            <a:spLocks noGrp="1"/>
          </p:cNvSpPr>
          <p:nvPr>
            <p:ph type="title"/>
          </p:nvPr>
        </p:nvSpPr>
        <p:spPr/>
        <p:txBody>
          <a:bodyPr/>
          <a:lstStyle/>
          <a:p>
            <a:r>
              <a:rPr kumimoji="1" lang="ja-JP" altLang="en-US" dirty="0"/>
              <a:t>トマスロ方式のブロック図</a:t>
            </a:r>
          </a:p>
        </p:txBody>
      </p:sp>
      <p:sp>
        <p:nvSpPr>
          <p:cNvPr id="3" name="テキスト プレースホルダー 2">
            <a:extLst>
              <a:ext uri="{FF2B5EF4-FFF2-40B4-BE49-F238E27FC236}">
                <a16:creationId xmlns:a16="http://schemas.microsoft.com/office/drawing/2014/main" id="{2936ED31-9B24-4EDE-A996-48780C93415F}"/>
              </a:ext>
            </a:extLst>
          </p:cNvPr>
          <p:cNvSpPr>
            <a:spLocks noGrp="1"/>
          </p:cNvSpPr>
          <p:nvPr>
            <p:ph type="body" sz="quarter" idx="10"/>
          </p:nvPr>
        </p:nvSpPr>
        <p:spPr>
          <a:xfrm>
            <a:off x="2135956" y="5949029"/>
            <a:ext cx="8280092" cy="719701"/>
          </a:xfrm>
        </p:spPr>
        <p:txBody>
          <a:bodyPr/>
          <a:lstStyle/>
          <a:p>
            <a:r>
              <a:rPr kumimoji="1" lang="en-US" altLang="ja-JP" dirty="0"/>
              <a:t>An Efficient Algorithm for Exploiting Multiple Arithmetic Units, IBM Journal of Research and Development, 11(1):25-33, 1967.</a:t>
            </a:r>
            <a:endParaRPr kumimoji="1" lang="ja-JP" altLang="en-US" dirty="0"/>
          </a:p>
        </p:txBody>
      </p:sp>
      <p:pic>
        <p:nvPicPr>
          <p:cNvPr id="6" name="図 5">
            <a:extLst>
              <a:ext uri="{FF2B5EF4-FFF2-40B4-BE49-F238E27FC236}">
                <a16:creationId xmlns:a16="http://schemas.microsoft.com/office/drawing/2014/main" id="{BB648A7D-9581-4A75-B345-218E78B3BFE2}"/>
              </a:ext>
            </a:extLst>
          </p:cNvPr>
          <p:cNvPicPr>
            <a:picLocks noChangeAspect="1"/>
          </p:cNvPicPr>
          <p:nvPr/>
        </p:nvPicPr>
        <p:blipFill>
          <a:blip r:embed="rId2"/>
          <a:stretch>
            <a:fillRect/>
          </a:stretch>
        </p:blipFill>
        <p:spPr>
          <a:xfrm>
            <a:off x="2315958" y="908972"/>
            <a:ext cx="7475072" cy="5117164"/>
          </a:xfrm>
          <a:prstGeom prst="rect">
            <a:avLst/>
          </a:prstGeom>
        </p:spPr>
      </p:pic>
      <p:cxnSp>
        <p:nvCxnSpPr>
          <p:cNvPr id="8" name="直線矢印コネクタ 7">
            <a:extLst>
              <a:ext uri="{FF2B5EF4-FFF2-40B4-BE49-F238E27FC236}">
                <a16:creationId xmlns:a16="http://schemas.microsoft.com/office/drawing/2014/main" id="{722BBDC3-7B6B-408E-A046-E3AE43DDB631}"/>
              </a:ext>
            </a:extLst>
          </p:cNvPr>
          <p:cNvCxnSpPr>
            <a:cxnSpLocks/>
          </p:cNvCxnSpPr>
          <p:nvPr/>
        </p:nvCxnSpPr>
        <p:spPr bwMode="auto">
          <a:xfrm flipH="1">
            <a:off x="8706029" y="4239009"/>
            <a:ext cx="900010" cy="0"/>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0" name="直線矢印コネクタ 9">
            <a:extLst>
              <a:ext uri="{FF2B5EF4-FFF2-40B4-BE49-F238E27FC236}">
                <a16:creationId xmlns:a16="http://schemas.microsoft.com/office/drawing/2014/main" id="{A7C459FC-E208-4049-A5F3-1AE6DEE2D1F2}"/>
              </a:ext>
            </a:extLst>
          </p:cNvPr>
          <p:cNvCxnSpPr>
            <a:cxnSpLocks/>
          </p:cNvCxnSpPr>
          <p:nvPr/>
        </p:nvCxnSpPr>
        <p:spPr bwMode="auto">
          <a:xfrm flipH="1">
            <a:off x="8706029" y="1898983"/>
            <a:ext cx="900010" cy="0"/>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2" name="直線コネクタ 11">
            <a:extLst>
              <a:ext uri="{FF2B5EF4-FFF2-40B4-BE49-F238E27FC236}">
                <a16:creationId xmlns:a16="http://schemas.microsoft.com/office/drawing/2014/main" id="{EBAC6F25-E626-4BAC-A42A-8291AF802432}"/>
              </a:ext>
            </a:extLst>
          </p:cNvPr>
          <p:cNvCxnSpPr/>
          <p:nvPr/>
        </p:nvCxnSpPr>
        <p:spPr bwMode="auto">
          <a:xfrm>
            <a:off x="9606039" y="1898983"/>
            <a:ext cx="0" cy="3780042"/>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cxnSp>
      <p:cxnSp>
        <p:nvCxnSpPr>
          <p:cNvPr id="13" name="直線コネクタ 12">
            <a:extLst>
              <a:ext uri="{FF2B5EF4-FFF2-40B4-BE49-F238E27FC236}">
                <a16:creationId xmlns:a16="http://schemas.microsoft.com/office/drawing/2014/main" id="{229571B7-3026-4502-98EB-BE584720D8FC}"/>
              </a:ext>
            </a:extLst>
          </p:cNvPr>
          <p:cNvCxnSpPr>
            <a:cxnSpLocks/>
          </p:cNvCxnSpPr>
          <p:nvPr/>
        </p:nvCxnSpPr>
        <p:spPr bwMode="auto">
          <a:xfrm>
            <a:off x="7626017" y="5679025"/>
            <a:ext cx="1980022"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27341926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FCB0BF-00D9-4C51-8560-D5E34E08F88B}"/>
              </a:ext>
            </a:extLst>
          </p:cNvPr>
          <p:cNvSpPr>
            <a:spLocks noGrp="1"/>
          </p:cNvSpPr>
          <p:nvPr>
            <p:ph type="title"/>
          </p:nvPr>
        </p:nvSpPr>
        <p:spPr/>
        <p:txBody>
          <a:bodyPr/>
          <a:lstStyle/>
          <a:p>
            <a:r>
              <a:rPr kumimoji="1" lang="ja-JP" altLang="en-US" dirty="0"/>
              <a:t>トマスロ方式のブロック図</a:t>
            </a:r>
          </a:p>
        </p:txBody>
      </p:sp>
      <p:sp>
        <p:nvSpPr>
          <p:cNvPr id="3" name="テキスト プレースホルダー 2">
            <a:extLst>
              <a:ext uri="{FF2B5EF4-FFF2-40B4-BE49-F238E27FC236}">
                <a16:creationId xmlns:a16="http://schemas.microsoft.com/office/drawing/2014/main" id="{F367D232-12AD-470A-977F-E77AB6BCEEBE}"/>
              </a:ext>
            </a:extLst>
          </p:cNvPr>
          <p:cNvSpPr>
            <a:spLocks noGrp="1"/>
          </p:cNvSpPr>
          <p:nvPr>
            <p:ph type="body" sz="quarter" idx="10"/>
          </p:nvPr>
        </p:nvSpPr>
        <p:spPr>
          <a:xfrm>
            <a:off x="1524001" y="3708784"/>
            <a:ext cx="8802047" cy="3149216"/>
          </a:xfrm>
        </p:spPr>
        <p:txBody>
          <a:bodyPr/>
          <a:lstStyle/>
          <a:p>
            <a:pPr lvl="1"/>
            <a:r>
              <a:rPr lang="ja-JP" altLang="en-US" sz="1600" dirty="0"/>
              <a:t>論理レジスタ・ファイル</a:t>
            </a:r>
            <a:endParaRPr lang="en-US" altLang="ja-JP" sz="1600" dirty="0"/>
          </a:p>
          <a:p>
            <a:pPr lvl="2"/>
            <a:r>
              <a:rPr lang="ja-JP" altLang="en-US" sz="1600" dirty="0"/>
              <a:t>デコード後にフロントエンドで論理レジスタ番号でアクセスされる</a:t>
            </a:r>
            <a:endParaRPr lang="en-US" altLang="ja-JP" sz="1600" dirty="0"/>
          </a:p>
          <a:p>
            <a:pPr lvl="2"/>
            <a:r>
              <a:rPr lang="ja-JP" altLang="en-US" sz="1600" dirty="0"/>
              <a:t>レジスタ値 </a:t>
            </a:r>
            <a:r>
              <a:rPr lang="en-US" altLang="ja-JP" sz="1600" dirty="0"/>
              <a:t>or </a:t>
            </a:r>
            <a:r>
              <a:rPr lang="ja-JP" altLang="en-US" sz="1600" dirty="0"/>
              <a:t>タグがとれる（タグ：命令を識別する </a:t>
            </a:r>
            <a:r>
              <a:rPr lang="en-US" altLang="ja-JP" sz="1600" dirty="0"/>
              <a:t>ID</a:t>
            </a:r>
            <a:r>
              <a:rPr lang="ja-JP" altLang="en-US" sz="1600" dirty="0"/>
              <a:t>）</a:t>
            </a:r>
            <a:endParaRPr lang="en-US" altLang="ja-JP" sz="1600" dirty="0"/>
          </a:p>
          <a:p>
            <a:pPr lvl="1"/>
            <a:r>
              <a:rPr lang="en-US" altLang="ja-JP" sz="1600" dirty="0"/>
              <a:t>Reservation Station</a:t>
            </a:r>
          </a:p>
          <a:p>
            <a:pPr lvl="2"/>
            <a:r>
              <a:rPr lang="ja-JP" altLang="en-US" sz="1600" dirty="0"/>
              <a:t>ソース・オペランドのレジスタ値 </a:t>
            </a:r>
            <a:r>
              <a:rPr lang="en-US" altLang="ja-JP" sz="1600" dirty="0"/>
              <a:t>or </a:t>
            </a:r>
            <a:r>
              <a:rPr lang="ja-JP" altLang="en-US" sz="1600" dirty="0"/>
              <a:t>タグが置かれ「値」の待ち合わせを行う</a:t>
            </a:r>
            <a:endParaRPr lang="en-US" altLang="ja-JP" sz="1600" dirty="0"/>
          </a:p>
          <a:p>
            <a:pPr lvl="2"/>
            <a:r>
              <a:rPr lang="ja-JP" altLang="en-US" sz="1600" dirty="0">
                <a:solidFill>
                  <a:schemeClr val="accent5"/>
                </a:solidFill>
              </a:rPr>
              <a:t>演算結果の値とタグをブロードキャスト</a:t>
            </a:r>
            <a:endParaRPr lang="en-US" altLang="ja-JP" sz="1600" dirty="0">
              <a:solidFill>
                <a:schemeClr val="accent5"/>
              </a:solidFill>
            </a:endParaRPr>
          </a:p>
          <a:p>
            <a:pPr lvl="1"/>
            <a:r>
              <a:rPr lang="en-US" altLang="ja-JP" sz="1600" dirty="0"/>
              <a:t>Re-order Buffer (ROB)</a:t>
            </a:r>
          </a:p>
          <a:p>
            <a:pPr lvl="2"/>
            <a:r>
              <a:rPr lang="ja-JP" altLang="en-US" sz="1600" dirty="0"/>
              <a:t>演算器で演算された結果が </a:t>
            </a:r>
            <a:r>
              <a:rPr lang="en-US" altLang="ja-JP" sz="1600" dirty="0"/>
              <a:t>out-of-order </a:t>
            </a:r>
            <a:r>
              <a:rPr lang="ja-JP" altLang="en-US" sz="1600" dirty="0"/>
              <a:t>に書き込まれ，論理 </a:t>
            </a:r>
            <a:r>
              <a:rPr lang="en-US" altLang="ja-JP" sz="1600" dirty="0"/>
              <a:t>RF </a:t>
            </a:r>
            <a:r>
              <a:rPr lang="ja-JP" altLang="en-US" sz="1600" dirty="0"/>
              <a:t>に </a:t>
            </a:r>
            <a:r>
              <a:rPr lang="en-US" altLang="ja-JP" sz="1600" dirty="0"/>
              <a:t>in-order </a:t>
            </a:r>
            <a:r>
              <a:rPr lang="ja-JP" altLang="en-US" sz="1600" dirty="0"/>
              <a:t>に結果を書き戻す</a:t>
            </a:r>
            <a:endParaRPr lang="en-US" altLang="ja-JP" sz="1600" dirty="0"/>
          </a:p>
        </p:txBody>
      </p:sp>
      <p:sp>
        <p:nvSpPr>
          <p:cNvPr id="4" name="平行四辺形 3">
            <a:extLst>
              <a:ext uri="{FF2B5EF4-FFF2-40B4-BE49-F238E27FC236}">
                <a16:creationId xmlns:a16="http://schemas.microsoft.com/office/drawing/2014/main" id="{C54B36C7-C1A0-4EBA-8A38-1CD034557FFB}"/>
              </a:ext>
            </a:extLst>
          </p:cNvPr>
          <p:cNvSpPr/>
          <p:nvPr/>
        </p:nvSpPr>
        <p:spPr bwMode="auto">
          <a:xfrm>
            <a:off x="2945965" y="2708992"/>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ja-JP" dirty="0"/>
              <a:t>IF/ID/RR</a:t>
            </a:r>
            <a:endParaRPr lang="ja-JP" altLang="en-US" dirty="0"/>
          </a:p>
        </p:txBody>
      </p:sp>
      <p:sp>
        <p:nvSpPr>
          <p:cNvPr id="5" name="平行四辺形 4">
            <a:extLst>
              <a:ext uri="{FF2B5EF4-FFF2-40B4-BE49-F238E27FC236}">
                <a16:creationId xmlns:a16="http://schemas.microsoft.com/office/drawing/2014/main" id="{DCB70193-6F43-4A8E-9FBB-84EB3C86E5EE}"/>
              </a:ext>
            </a:extLst>
          </p:cNvPr>
          <p:cNvSpPr/>
          <p:nvPr/>
        </p:nvSpPr>
        <p:spPr bwMode="auto">
          <a:xfrm>
            <a:off x="5916142" y="2708992"/>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ja-JP" dirty="0"/>
              <a:t>IS</a:t>
            </a:r>
            <a:endParaRPr lang="ja-JP" altLang="en-US" dirty="0"/>
          </a:p>
        </p:txBody>
      </p:sp>
      <p:sp>
        <p:nvSpPr>
          <p:cNvPr id="6" name="平行四辺形 5">
            <a:extLst>
              <a:ext uri="{FF2B5EF4-FFF2-40B4-BE49-F238E27FC236}">
                <a16:creationId xmlns:a16="http://schemas.microsoft.com/office/drawing/2014/main" id="{50DFC7BF-5C4F-40C6-8E6E-72562C7ED2EC}"/>
              </a:ext>
            </a:extLst>
          </p:cNvPr>
          <p:cNvSpPr/>
          <p:nvPr/>
        </p:nvSpPr>
        <p:spPr bwMode="auto">
          <a:xfrm>
            <a:off x="7356302" y="2708992"/>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ja-JP" dirty="0"/>
              <a:t>EX</a:t>
            </a:r>
            <a:endParaRPr lang="ja-JP" altLang="en-US" dirty="0"/>
          </a:p>
        </p:txBody>
      </p:sp>
      <p:sp>
        <p:nvSpPr>
          <p:cNvPr id="7" name="平行四辺形 6">
            <a:extLst>
              <a:ext uri="{FF2B5EF4-FFF2-40B4-BE49-F238E27FC236}">
                <a16:creationId xmlns:a16="http://schemas.microsoft.com/office/drawing/2014/main" id="{F8A62681-58D4-47E3-BFDD-65209D418301}"/>
              </a:ext>
            </a:extLst>
          </p:cNvPr>
          <p:cNvSpPr/>
          <p:nvPr/>
        </p:nvSpPr>
        <p:spPr bwMode="auto">
          <a:xfrm>
            <a:off x="8796462" y="2708992"/>
            <a:ext cx="1584176"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ja-JP" dirty="0"/>
              <a:t>WB</a:t>
            </a:r>
            <a:endParaRPr lang="ja-JP" altLang="en-US" dirty="0"/>
          </a:p>
        </p:txBody>
      </p:sp>
      <p:sp>
        <p:nvSpPr>
          <p:cNvPr id="8" name="Freeform 25">
            <a:extLst>
              <a:ext uri="{FF2B5EF4-FFF2-40B4-BE49-F238E27FC236}">
                <a16:creationId xmlns:a16="http://schemas.microsoft.com/office/drawing/2014/main" id="{A9EA1713-B918-49CB-B12A-FB9598FE94B3}"/>
              </a:ext>
            </a:extLst>
          </p:cNvPr>
          <p:cNvSpPr>
            <a:spLocks/>
          </p:cNvSpPr>
          <p:nvPr/>
        </p:nvSpPr>
        <p:spPr bwMode="auto">
          <a:xfrm>
            <a:off x="3215969" y="998974"/>
            <a:ext cx="6930077" cy="450005"/>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3"/>
          </a:lnRef>
          <a:fillRef idx="2">
            <a:schemeClr val="accent3"/>
          </a:fillRef>
          <a:effectRef idx="1">
            <a:schemeClr val="accent3"/>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en-US" altLang="ja-JP" dirty="0">
                <a:solidFill>
                  <a:schemeClr val="tx1">
                    <a:lumMod val="75000"/>
                    <a:lumOff val="25000"/>
                  </a:schemeClr>
                </a:solidFill>
              </a:rPr>
              <a:t>Re-order Buffer</a:t>
            </a:r>
            <a:endParaRPr lang="ja-JP" altLang="en-US" dirty="0">
              <a:solidFill>
                <a:schemeClr val="tx1">
                  <a:lumMod val="75000"/>
                  <a:lumOff val="25000"/>
                </a:schemeClr>
              </a:solidFill>
            </a:endParaRPr>
          </a:p>
        </p:txBody>
      </p:sp>
      <p:sp>
        <p:nvSpPr>
          <p:cNvPr id="9" name="AutoShape 5">
            <a:extLst>
              <a:ext uri="{FF2B5EF4-FFF2-40B4-BE49-F238E27FC236}">
                <a16:creationId xmlns:a16="http://schemas.microsoft.com/office/drawing/2014/main" id="{875E2BEC-B007-44E3-87D0-5435B87F635E}"/>
              </a:ext>
            </a:extLst>
          </p:cNvPr>
          <p:cNvSpPr>
            <a:spLocks noChangeArrowheads="1"/>
          </p:cNvSpPr>
          <p:nvPr/>
        </p:nvSpPr>
        <p:spPr bwMode="auto">
          <a:xfrm rot="16200000">
            <a:off x="7716180" y="1863051"/>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ALU</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10" name="グループ化 9">
            <a:extLst>
              <a:ext uri="{FF2B5EF4-FFF2-40B4-BE49-F238E27FC236}">
                <a16:creationId xmlns:a16="http://schemas.microsoft.com/office/drawing/2014/main" id="{8D395C20-664B-4E7C-838D-18E4CDFFC6E1}"/>
              </a:ext>
            </a:extLst>
          </p:cNvPr>
          <p:cNvGrpSpPr/>
          <p:nvPr/>
        </p:nvGrpSpPr>
        <p:grpSpPr>
          <a:xfrm>
            <a:off x="3575972" y="2168986"/>
            <a:ext cx="1008112" cy="432048"/>
            <a:chOff x="3563888" y="2708920"/>
            <a:chExt cx="1296144" cy="432048"/>
          </a:xfrm>
        </p:grpSpPr>
        <p:sp>
          <p:nvSpPr>
            <p:cNvPr id="11" name="Freeform 9">
              <a:extLst>
                <a:ext uri="{FF2B5EF4-FFF2-40B4-BE49-F238E27FC236}">
                  <a16:creationId xmlns:a16="http://schemas.microsoft.com/office/drawing/2014/main" id="{CF6672D5-7D43-4A10-A82F-17354FBC34FD}"/>
                </a:ext>
              </a:extLst>
            </p:cNvPr>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2" name="Freeform 10">
              <a:extLst>
                <a:ext uri="{FF2B5EF4-FFF2-40B4-BE49-F238E27FC236}">
                  <a16:creationId xmlns:a16="http://schemas.microsoft.com/office/drawing/2014/main" id="{8825E155-079B-4522-BC5F-E57577F115B4}"/>
                </a:ext>
              </a:extLst>
            </p:cNvPr>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13" name="Freeform 8">
            <a:extLst>
              <a:ext uri="{FF2B5EF4-FFF2-40B4-BE49-F238E27FC236}">
                <a16:creationId xmlns:a16="http://schemas.microsoft.com/office/drawing/2014/main" id="{340F709D-712C-4C0E-939E-8E3BBE6812AA}"/>
              </a:ext>
            </a:extLst>
          </p:cNvPr>
          <p:cNvSpPr>
            <a:spLocks/>
          </p:cNvSpPr>
          <p:nvPr/>
        </p:nvSpPr>
        <p:spPr bwMode="auto">
          <a:xfrm>
            <a:off x="8832304" y="1448979"/>
            <a:ext cx="720080" cy="738109"/>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4" name="正方形/長方形 13">
            <a:extLst>
              <a:ext uri="{FF2B5EF4-FFF2-40B4-BE49-F238E27FC236}">
                <a16:creationId xmlns:a16="http://schemas.microsoft.com/office/drawing/2014/main" id="{4D4B8E19-6823-46B6-A0C0-1ACF74569CC5}"/>
              </a:ext>
            </a:extLst>
          </p:cNvPr>
          <p:cNvSpPr/>
          <p:nvPr/>
        </p:nvSpPr>
        <p:spPr bwMode="auto">
          <a:xfrm>
            <a:off x="4655984" y="1988985"/>
            <a:ext cx="1080012" cy="1620018"/>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t>Reservation</a:t>
            </a:r>
          </a:p>
          <a:p>
            <a:r>
              <a:rPr lang="en-US" altLang="ja-JP" dirty="0"/>
              <a:t>Station</a:t>
            </a:r>
            <a:endParaRPr lang="ja-JP" altLang="en-US" dirty="0">
              <a:solidFill>
                <a:schemeClr val="tx1">
                  <a:lumMod val="75000"/>
                  <a:lumOff val="25000"/>
                </a:schemeClr>
              </a:solidFill>
              <a:latin typeface="+mn-ea"/>
            </a:endParaRPr>
          </a:p>
        </p:txBody>
      </p:sp>
      <p:sp>
        <p:nvSpPr>
          <p:cNvPr id="15" name="正方形/長方形 14">
            <a:extLst>
              <a:ext uri="{FF2B5EF4-FFF2-40B4-BE49-F238E27FC236}">
                <a16:creationId xmlns:a16="http://schemas.microsoft.com/office/drawing/2014/main" id="{2983696C-88A9-45BB-B784-9DB794473CB7}"/>
              </a:ext>
            </a:extLst>
          </p:cNvPr>
          <p:cNvSpPr/>
          <p:nvPr/>
        </p:nvSpPr>
        <p:spPr bwMode="auto">
          <a:xfrm>
            <a:off x="1955955" y="1718981"/>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命令メモリ</a:t>
            </a:r>
          </a:p>
        </p:txBody>
      </p:sp>
      <p:sp>
        <p:nvSpPr>
          <p:cNvPr id="16" name="正方形/長方形 15">
            <a:extLst>
              <a:ext uri="{FF2B5EF4-FFF2-40B4-BE49-F238E27FC236}">
                <a16:creationId xmlns:a16="http://schemas.microsoft.com/office/drawing/2014/main" id="{D2FF287F-5748-44D9-AD56-6D6640AD67F6}"/>
              </a:ext>
            </a:extLst>
          </p:cNvPr>
          <p:cNvSpPr/>
          <p:nvPr/>
        </p:nvSpPr>
        <p:spPr bwMode="auto">
          <a:xfrm>
            <a:off x="1685951" y="2168986"/>
            <a:ext cx="1152128" cy="1440016"/>
          </a:xfrm>
          <a:prstGeom prst="rect">
            <a:avLst/>
          </a:prstGeom>
          <a:ln>
            <a:headEnd/>
            <a:tailEnd type="non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sz="2000" dirty="0">
              <a:solidFill>
                <a:schemeClr val="bg1"/>
              </a:solidFill>
              <a:latin typeface="Arial Narrow" panose="020B0606020202030204" pitchFamily="34" charset="0"/>
            </a:endParaRPr>
          </a:p>
        </p:txBody>
      </p:sp>
      <p:sp>
        <p:nvSpPr>
          <p:cNvPr id="17" name="Freeform 25">
            <a:extLst>
              <a:ext uri="{FF2B5EF4-FFF2-40B4-BE49-F238E27FC236}">
                <a16:creationId xmlns:a16="http://schemas.microsoft.com/office/drawing/2014/main" id="{53D646A4-5ED4-4B74-978B-79471EAF9F10}"/>
              </a:ext>
            </a:extLst>
          </p:cNvPr>
          <p:cNvSpPr>
            <a:spLocks/>
          </p:cNvSpPr>
          <p:nvPr/>
        </p:nvSpPr>
        <p:spPr bwMode="auto">
          <a:xfrm>
            <a:off x="3215969" y="1628981"/>
            <a:ext cx="1350015" cy="450005"/>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3"/>
          </a:lnRef>
          <a:fillRef idx="2">
            <a:schemeClr val="accent3"/>
          </a:fillRef>
          <a:effectRef idx="1">
            <a:schemeClr val="accent3"/>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論理 </a:t>
            </a:r>
            <a:r>
              <a:rPr lang="en-US" altLang="ja-JP" dirty="0">
                <a:solidFill>
                  <a:schemeClr val="tx1">
                    <a:lumMod val="75000"/>
                    <a:lumOff val="25000"/>
                  </a:schemeClr>
                </a:solidFill>
              </a:rPr>
              <a:t>RF</a:t>
            </a:r>
            <a:endParaRPr lang="ja-JP" altLang="en-US" dirty="0">
              <a:solidFill>
                <a:schemeClr val="tx1">
                  <a:lumMod val="75000"/>
                  <a:lumOff val="25000"/>
                </a:schemeClr>
              </a:solidFill>
            </a:endParaRPr>
          </a:p>
        </p:txBody>
      </p:sp>
      <p:cxnSp>
        <p:nvCxnSpPr>
          <p:cNvPr id="18" name="直線矢印コネクタ 17">
            <a:extLst>
              <a:ext uri="{FF2B5EF4-FFF2-40B4-BE49-F238E27FC236}">
                <a16:creationId xmlns:a16="http://schemas.microsoft.com/office/drawing/2014/main" id="{297CE2AB-C388-48F5-8463-FA3D627461AC}"/>
              </a:ext>
            </a:extLst>
          </p:cNvPr>
          <p:cNvCxnSpPr/>
          <p:nvPr/>
        </p:nvCxnSpPr>
        <p:spPr bwMode="auto">
          <a:xfrm>
            <a:off x="3845975" y="1268976"/>
            <a:ext cx="0" cy="360004"/>
          </a:xfrm>
          <a:prstGeom prst="straightConnector1">
            <a:avLst/>
          </a:prstGeom>
          <a:ln>
            <a:headEnd type="none" w="med" len="med"/>
            <a:tailEnd type="triangle"/>
          </a:ln>
        </p:spPr>
        <p:style>
          <a:lnRef idx="3">
            <a:schemeClr val="accent4"/>
          </a:lnRef>
          <a:fillRef idx="0">
            <a:schemeClr val="accent4"/>
          </a:fillRef>
          <a:effectRef idx="2">
            <a:schemeClr val="accent4"/>
          </a:effectRef>
          <a:fontRef idx="minor">
            <a:schemeClr val="tx1"/>
          </a:fontRef>
        </p:style>
      </p:cxnSp>
      <p:cxnSp>
        <p:nvCxnSpPr>
          <p:cNvPr id="19" name="直線矢印コネクタ 18">
            <a:extLst>
              <a:ext uri="{FF2B5EF4-FFF2-40B4-BE49-F238E27FC236}">
                <a16:creationId xmlns:a16="http://schemas.microsoft.com/office/drawing/2014/main" id="{30CBC45E-8D4F-4B5A-B424-1BD9FD0BA120}"/>
              </a:ext>
            </a:extLst>
          </p:cNvPr>
          <p:cNvCxnSpPr>
            <a:cxnSpLocks/>
          </p:cNvCxnSpPr>
          <p:nvPr/>
        </p:nvCxnSpPr>
        <p:spPr bwMode="auto">
          <a:xfrm>
            <a:off x="5915998" y="2078985"/>
            <a:ext cx="1440016" cy="0"/>
          </a:xfrm>
          <a:prstGeom prst="straightConnector1">
            <a:avLst/>
          </a:prstGeom>
          <a:ln>
            <a:headEnd type="none" w="med" len="med"/>
            <a:tailEnd type="triangle"/>
          </a:ln>
        </p:spPr>
        <p:style>
          <a:lnRef idx="3">
            <a:schemeClr val="accent3"/>
          </a:lnRef>
          <a:fillRef idx="0">
            <a:schemeClr val="accent3"/>
          </a:fillRef>
          <a:effectRef idx="2">
            <a:schemeClr val="accent3"/>
          </a:effectRef>
          <a:fontRef idx="minor">
            <a:schemeClr val="tx1"/>
          </a:fontRef>
        </p:style>
      </p:cxnSp>
      <p:cxnSp>
        <p:nvCxnSpPr>
          <p:cNvPr id="20" name="直線矢印コネクタ 19">
            <a:extLst>
              <a:ext uri="{FF2B5EF4-FFF2-40B4-BE49-F238E27FC236}">
                <a16:creationId xmlns:a16="http://schemas.microsoft.com/office/drawing/2014/main" id="{D07D3112-7BD2-426C-987D-B19B0F6D847F}"/>
              </a:ext>
            </a:extLst>
          </p:cNvPr>
          <p:cNvCxnSpPr>
            <a:cxnSpLocks/>
          </p:cNvCxnSpPr>
          <p:nvPr/>
        </p:nvCxnSpPr>
        <p:spPr bwMode="auto">
          <a:xfrm>
            <a:off x="5915998" y="2348988"/>
            <a:ext cx="1440016" cy="0"/>
          </a:xfrm>
          <a:prstGeom prst="straightConnector1">
            <a:avLst/>
          </a:prstGeom>
          <a:ln>
            <a:headEnd type="none" w="med" len="med"/>
            <a:tailEnd type="triangle"/>
          </a:ln>
        </p:spPr>
        <p:style>
          <a:lnRef idx="3">
            <a:schemeClr val="accent3"/>
          </a:lnRef>
          <a:fillRef idx="0">
            <a:schemeClr val="accent3"/>
          </a:fillRef>
          <a:effectRef idx="2">
            <a:schemeClr val="accent3"/>
          </a:effectRef>
          <a:fontRef idx="minor">
            <a:schemeClr val="tx1"/>
          </a:fontRef>
        </p:style>
      </p:cxnSp>
      <p:sp>
        <p:nvSpPr>
          <p:cNvPr id="21" name="Freeform 8">
            <a:extLst>
              <a:ext uri="{FF2B5EF4-FFF2-40B4-BE49-F238E27FC236}">
                <a16:creationId xmlns:a16="http://schemas.microsoft.com/office/drawing/2014/main" id="{BB197F92-0808-4095-A248-86F5688BF01D}"/>
              </a:ext>
            </a:extLst>
          </p:cNvPr>
          <p:cNvSpPr>
            <a:spLocks/>
          </p:cNvSpPr>
          <p:nvPr/>
        </p:nvSpPr>
        <p:spPr bwMode="auto">
          <a:xfrm rot="10800000">
            <a:off x="5195990" y="1628979"/>
            <a:ext cx="4320048" cy="360004"/>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Tree>
    <p:extLst>
      <p:ext uri="{BB962C8B-B14F-4D97-AF65-F5344CB8AC3E}">
        <p14:creationId xmlns:p14="http://schemas.microsoft.com/office/powerpoint/2010/main" val="28625742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FCB0BF-00D9-4C51-8560-D5E34E08F88B}"/>
              </a:ext>
            </a:extLst>
          </p:cNvPr>
          <p:cNvSpPr>
            <a:spLocks noGrp="1"/>
          </p:cNvSpPr>
          <p:nvPr>
            <p:ph type="title"/>
          </p:nvPr>
        </p:nvSpPr>
        <p:spPr/>
        <p:txBody>
          <a:bodyPr/>
          <a:lstStyle/>
          <a:p>
            <a:r>
              <a:rPr kumimoji="1" lang="ja-JP" altLang="en-US" dirty="0"/>
              <a:t>トマスロ方式の動作</a:t>
            </a:r>
          </a:p>
        </p:txBody>
      </p:sp>
      <p:sp>
        <p:nvSpPr>
          <p:cNvPr id="3" name="テキスト プレースホルダー 2">
            <a:extLst>
              <a:ext uri="{FF2B5EF4-FFF2-40B4-BE49-F238E27FC236}">
                <a16:creationId xmlns:a16="http://schemas.microsoft.com/office/drawing/2014/main" id="{F367D232-12AD-470A-977F-E77AB6BCEEBE}"/>
              </a:ext>
            </a:extLst>
          </p:cNvPr>
          <p:cNvSpPr>
            <a:spLocks noGrp="1"/>
          </p:cNvSpPr>
          <p:nvPr>
            <p:ph type="body" sz="quarter" idx="10"/>
          </p:nvPr>
        </p:nvSpPr>
        <p:spPr>
          <a:xfrm>
            <a:off x="2135956" y="3699003"/>
            <a:ext cx="8280092" cy="3059727"/>
          </a:xfrm>
        </p:spPr>
        <p:txBody>
          <a:bodyPr/>
          <a:lstStyle/>
          <a:p>
            <a:r>
              <a:rPr kumimoji="1" lang="ja-JP" altLang="en-US" sz="1600" dirty="0"/>
              <a:t>フロントエンド：</a:t>
            </a:r>
            <a:endParaRPr kumimoji="1" lang="en-US" altLang="ja-JP" sz="1600" dirty="0"/>
          </a:p>
          <a:p>
            <a:pPr marL="817200" lvl="1" indent="-457200">
              <a:buFont typeface="+mj-lt"/>
              <a:buAutoNum type="arabicPeriod"/>
            </a:pPr>
            <a:r>
              <a:rPr kumimoji="1" lang="ja-JP" altLang="en-US" sz="1600" dirty="0"/>
              <a:t>論理レジスタ・ファイルを読む</a:t>
            </a:r>
            <a:endParaRPr kumimoji="1" lang="en-US" altLang="ja-JP" sz="1600" dirty="0"/>
          </a:p>
          <a:p>
            <a:pPr lvl="2"/>
            <a:r>
              <a:rPr lang="ja-JP" altLang="en-US" sz="1600" dirty="0"/>
              <a:t>もし </a:t>
            </a:r>
            <a:r>
              <a:rPr lang="en-US" altLang="ja-JP" sz="1600" dirty="0"/>
              <a:t>ready </a:t>
            </a:r>
            <a:r>
              <a:rPr lang="ja-JP" altLang="en-US" sz="1600" dirty="0"/>
              <a:t>なら値が取れる</a:t>
            </a:r>
            <a:endParaRPr lang="en-US" altLang="ja-JP" sz="1600" dirty="0"/>
          </a:p>
          <a:p>
            <a:pPr lvl="2"/>
            <a:r>
              <a:rPr kumimoji="1" lang="ja-JP" altLang="en-US" sz="1600" dirty="0"/>
              <a:t>もし </a:t>
            </a:r>
            <a:r>
              <a:rPr kumimoji="1" lang="en-US" altLang="ja-JP" sz="1600" dirty="0"/>
              <a:t>not-ready </a:t>
            </a:r>
            <a:r>
              <a:rPr kumimoji="1" lang="ja-JP" altLang="en-US" sz="1600" dirty="0"/>
              <a:t>ならタグが取れる</a:t>
            </a:r>
            <a:endParaRPr kumimoji="1" lang="en-US" altLang="ja-JP" sz="1600" dirty="0"/>
          </a:p>
          <a:p>
            <a:pPr lvl="3"/>
            <a:r>
              <a:rPr lang="ja-JP" altLang="en-US" sz="1600" dirty="0"/>
              <a:t>こっちの場合は </a:t>
            </a:r>
            <a:r>
              <a:rPr lang="en-US" altLang="ja-JP" sz="1600" dirty="0"/>
              <a:t>RMT </a:t>
            </a:r>
            <a:r>
              <a:rPr lang="ja-JP" altLang="en-US" sz="1600" dirty="0"/>
              <a:t>に似ている</a:t>
            </a:r>
            <a:endParaRPr kumimoji="1" lang="en-US" altLang="ja-JP" sz="1600" dirty="0"/>
          </a:p>
          <a:p>
            <a:pPr marL="817200" lvl="1" indent="-457200">
              <a:buFont typeface="+mj-lt"/>
              <a:buAutoNum type="arabicPeriod"/>
            </a:pPr>
            <a:r>
              <a:rPr lang="ja-JP" altLang="en-US" sz="1600" dirty="0"/>
              <a:t>自分のタグを</a:t>
            </a:r>
            <a:r>
              <a:rPr kumimoji="1" lang="ja-JP" altLang="en-US" sz="1600" dirty="0"/>
              <a:t>論理レジスタ・ファイルに書き込む</a:t>
            </a:r>
            <a:endParaRPr kumimoji="1" lang="en-US" altLang="ja-JP" sz="1600" dirty="0"/>
          </a:p>
          <a:p>
            <a:pPr lvl="2"/>
            <a:r>
              <a:rPr lang="ja-JP" altLang="en-US" sz="1600" dirty="0"/>
              <a:t>現在自分は演算中でまだ値はないことを示す</a:t>
            </a:r>
            <a:endParaRPr lang="en-US" altLang="ja-JP" sz="1600" dirty="0"/>
          </a:p>
          <a:p>
            <a:pPr lvl="2"/>
            <a:r>
              <a:rPr kumimoji="1" lang="ja-JP" altLang="en-US" sz="1600" dirty="0"/>
              <a:t>いずれ自分が結果を返すことを示すために，</a:t>
            </a:r>
            <a:br>
              <a:rPr kumimoji="1" lang="en-US" altLang="ja-JP" sz="1600" dirty="0"/>
            </a:br>
            <a:r>
              <a:rPr kumimoji="1" lang="ja-JP" altLang="en-US" sz="1600" dirty="0"/>
              <a:t>識別用のタグを書いておく</a:t>
            </a:r>
          </a:p>
        </p:txBody>
      </p:sp>
      <p:sp>
        <p:nvSpPr>
          <p:cNvPr id="4" name="平行四辺形 3">
            <a:extLst>
              <a:ext uri="{FF2B5EF4-FFF2-40B4-BE49-F238E27FC236}">
                <a16:creationId xmlns:a16="http://schemas.microsoft.com/office/drawing/2014/main" id="{501F4B33-8573-4DEA-26FF-1303B012D87D}"/>
              </a:ext>
            </a:extLst>
          </p:cNvPr>
          <p:cNvSpPr/>
          <p:nvPr/>
        </p:nvSpPr>
        <p:spPr bwMode="auto">
          <a:xfrm>
            <a:off x="2945965" y="2708992"/>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ja-JP" dirty="0"/>
              <a:t>IF/ID/RR</a:t>
            </a:r>
            <a:endParaRPr lang="ja-JP" altLang="en-US" dirty="0"/>
          </a:p>
        </p:txBody>
      </p:sp>
      <p:sp>
        <p:nvSpPr>
          <p:cNvPr id="5" name="平行四辺形 4">
            <a:extLst>
              <a:ext uri="{FF2B5EF4-FFF2-40B4-BE49-F238E27FC236}">
                <a16:creationId xmlns:a16="http://schemas.microsoft.com/office/drawing/2014/main" id="{AA5D2805-BA04-3E12-C8C5-A0239233D92C}"/>
              </a:ext>
            </a:extLst>
          </p:cNvPr>
          <p:cNvSpPr/>
          <p:nvPr/>
        </p:nvSpPr>
        <p:spPr bwMode="auto">
          <a:xfrm>
            <a:off x="5916142" y="2708992"/>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ja-JP" dirty="0"/>
              <a:t>IS</a:t>
            </a:r>
            <a:endParaRPr lang="ja-JP" altLang="en-US" dirty="0"/>
          </a:p>
        </p:txBody>
      </p:sp>
      <p:sp>
        <p:nvSpPr>
          <p:cNvPr id="6" name="平行四辺形 5">
            <a:extLst>
              <a:ext uri="{FF2B5EF4-FFF2-40B4-BE49-F238E27FC236}">
                <a16:creationId xmlns:a16="http://schemas.microsoft.com/office/drawing/2014/main" id="{BBC4F384-837B-D626-FBE4-DAD9E3DA510F}"/>
              </a:ext>
            </a:extLst>
          </p:cNvPr>
          <p:cNvSpPr/>
          <p:nvPr/>
        </p:nvSpPr>
        <p:spPr bwMode="auto">
          <a:xfrm>
            <a:off x="7356302" y="2708992"/>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ja-JP" dirty="0"/>
              <a:t>EX</a:t>
            </a:r>
            <a:endParaRPr lang="ja-JP" altLang="en-US" dirty="0"/>
          </a:p>
        </p:txBody>
      </p:sp>
      <p:sp>
        <p:nvSpPr>
          <p:cNvPr id="7" name="平行四辺形 6">
            <a:extLst>
              <a:ext uri="{FF2B5EF4-FFF2-40B4-BE49-F238E27FC236}">
                <a16:creationId xmlns:a16="http://schemas.microsoft.com/office/drawing/2014/main" id="{4913191E-E417-7930-D7D1-4F7E170F7AA9}"/>
              </a:ext>
            </a:extLst>
          </p:cNvPr>
          <p:cNvSpPr/>
          <p:nvPr/>
        </p:nvSpPr>
        <p:spPr bwMode="auto">
          <a:xfrm>
            <a:off x="8796462" y="2708992"/>
            <a:ext cx="1584176"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ja-JP" dirty="0"/>
              <a:t>WB</a:t>
            </a:r>
            <a:endParaRPr lang="ja-JP" altLang="en-US" dirty="0"/>
          </a:p>
        </p:txBody>
      </p:sp>
      <p:sp>
        <p:nvSpPr>
          <p:cNvPr id="8" name="Freeform 25">
            <a:extLst>
              <a:ext uri="{FF2B5EF4-FFF2-40B4-BE49-F238E27FC236}">
                <a16:creationId xmlns:a16="http://schemas.microsoft.com/office/drawing/2014/main" id="{5FF82C28-3B25-44ED-288F-17E535CAEE05}"/>
              </a:ext>
            </a:extLst>
          </p:cNvPr>
          <p:cNvSpPr>
            <a:spLocks/>
          </p:cNvSpPr>
          <p:nvPr/>
        </p:nvSpPr>
        <p:spPr bwMode="auto">
          <a:xfrm>
            <a:off x="3215969" y="998974"/>
            <a:ext cx="6930077" cy="450005"/>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3"/>
          </a:lnRef>
          <a:fillRef idx="2">
            <a:schemeClr val="accent3"/>
          </a:fillRef>
          <a:effectRef idx="1">
            <a:schemeClr val="accent3"/>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en-US" altLang="ja-JP" dirty="0">
                <a:solidFill>
                  <a:schemeClr val="tx1">
                    <a:lumMod val="75000"/>
                    <a:lumOff val="25000"/>
                  </a:schemeClr>
                </a:solidFill>
              </a:rPr>
              <a:t>Re-order Buffer</a:t>
            </a:r>
            <a:endParaRPr lang="ja-JP" altLang="en-US" dirty="0">
              <a:solidFill>
                <a:schemeClr val="tx1">
                  <a:lumMod val="75000"/>
                  <a:lumOff val="25000"/>
                </a:schemeClr>
              </a:solidFill>
            </a:endParaRPr>
          </a:p>
        </p:txBody>
      </p:sp>
      <p:sp>
        <p:nvSpPr>
          <p:cNvPr id="9" name="AutoShape 5">
            <a:extLst>
              <a:ext uri="{FF2B5EF4-FFF2-40B4-BE49-F238E27FC236}">
                <a16:creationId xmlns:a16="http://schemas.microsoft.com/office/drawing/2014/main" id="{17D10CA7-94DE-4565-C43B-B84E48EEBBEC}"/>
              </a:ext>
            </a:extLst>
          </p:cNvPr>
          <p:cNvSpPr>
            <a:spLocks noChangeArrowheads="1"/>
          </p:cNvSpPr>
          <p:nvPr/>
        </p:nvSpPr>
        <p:spPr bwMode="auto">
          <a:xfrm rot="16200000">
            <a:off x="7716180" y="1863051"/>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ALU</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10" name="グループ化 9">
            <a:extLst>
              <a:ext uri="{FF2B5EF4-FFF2-40B4-BE49-F238E27FC236}">
                <a16:creationId xmlns:a16="http://schemas.microsoft.com/office/drawing/2014/main" id="{D2DB2A26-5A6F-D2E9-E57A-A903A892B92D}"/>
              </a:ext>
            </a:extLst>
          </p:cNvPr>
          <p:cNvGrpSpPr/>
          <p:nvPr/>
        </p:nvGrpSpPr>
        <p:grpSpPr>
          <a:xfrm>
            <a:off x="3575972" y="2168986"/>
            <a:ext cx="1008112" cy="432048"/>
            <a:chOff x="3563888" y="2708920"/>
            <a:chExt cx="1296144" cy="432048"/>
          </a:xfrm>
        </p:grpSpPr>
        <p:sp>
          <p:nvSpPr>
            <p:cNvPr id="11" name="Freeform 9">
              <a:extLst>
                <a:ext uri="{FF2B5EF4-FFF2-40B4-BE49-F238E27FC236}">
                  <a16:creationId xmlns:a16="http://schemas.microsoft.com/office/drawing/2014/main" id="{697D0EA7-F5BB-6409-A224-880F13A1B67F}"/>
                </a:ext>
              </a:extLst>
            </p:cNvPr>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2" name="Freeform 10">
              <a:extLst>
                <a:ext uri="{FF2B5EF4-FFF2-40B4-BE49-F238E27FC236}">
                  <a16:creationId xmlns:a16="http://schemas.microsoft.com/office/drawing/2014/main" id="{FB3DCA08-76BD-E04A-2619-8DEDCA49C188}"/>
                </a:ext>
              </a:extLst>
            </p:cNvPr>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13" name="Freeform 8">
            <a:extLst>
              <a:ext uri="{FF2B5EF4-FFF2-40B4-BE49-F238E27FC236}">
                <a16:creationId xmlns:a16="http://schemas.microsoft.com/office/drawing/2014/main" id="{5B37AFD3-74CD-2CFA-F4C3-D9FF90C8F3CE}"/>
              </a:ext>
            </a:extLst>
          </p:cNvPr>
          <p:cNvSpPr>
            <a:spLocks/>
          </p:cNvSpPr>
          <p:nvPr/>
        </p:nvSpPr>
        <p:spPr bwMode="auto">
          <a:xfrm>
            <a:off x="8832304" y="1448979"/>
            <a:ext cx="720080" cy="738109"/>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4" name="正方形/長方形 13">
            <a:extLst>
              <a:ext uri="{FF2B5EF4-FFF2-40B4-BE49-F238E27FC236}">
                <a16:creationId xmlns:a16="http://schemas.microsoft.com/office/drawing/2014/main" id="{12EAD51D-80F3-AE01-E330-A1F6F33AE262}"/>
              </a:ext>
            </a:extLst>
          </p:cNvPr>
          <p:cNvSpPr/>
          <p:nvPr/>
        </p:nvSpPr>
        <p:spPr bwMode="auto">
          <a:xfrm>
            <a:off x="4655984" y="1988985"/>
            <a:ext cx="1080012" cy="1620018"/>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t>Reservation</a:t>
            </a:r>
          </a:p>
          <a:p>
            <a:r>
              <a:rPr lang="en-US" altLang="ja-JP" dirty="0"/>
              <a:t>Station</a:t>
            </a:r>
            <a:endParaRPr lang="ja-JP" altLang="en-US" dirty="0">
              <a:solidFill>
                <a:schemeClr val="tx1">
                  <a:lumMod val="75000"/>
                  <a:lumOff val="25000"/>
                </a:schemeClr>
              </a:solidFill>
              <a:latin typeface="+mn-ea"/>
            </a:endParaRPr>
          </a:p>
        </p:txBody>
      </p:sp>
      <p:sp>
        <p:nvSpPr>
          <p:cNvPr id="15" name="正方形/長方形 14">
            <a:extLst>
              <a:ext uri="{FF2B5EF4-FFF2-40B4-BE49-F238E27FC236}">
                <a16:creationId xmlns:a16="http://schemas.microsoft.com/office/drawing/2014/main" id="{DDB54C8F-187A-629F-A93E-B9B110207E25}"/>
              </a:ext>
            </a:extLst>
          </p:cNvPr>
          <p:cNvSpPr/>
          <p:nvPr/>
        </p:nvSpPr>
        <p:spPr bwMode="auto">
          <a:xfrm>
            <a:off x="1955955" y="1718981"/>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命令メモリ</a:t>
            </a:r>
          </a:p>
        </p:txBody>
      </p:sp>
      <p:sp>
        <p:nvSpPr>
          <p:cNvPr id="16" name="正方形/長方形 15">
            <a:extLst>
              <a:ext uri="{FF2B5EF4-FFF2-40B4-BE49-F238E27FC236}">
                <a16:creationId xmlns:a16="http://schemas.microsoft.com/office/drawing/2014/main" id="{96F61C6C-2DB5-A703-6FBB-80A41C0A6912}"/>
              </a:ext>
            </a:extLst>
          </p:cNvPr>
          <p:cNvSpPr/>
          <p:nvPr/>
        </p:nvSpPr>
        <p:spPr bwMode="auto">
          <a:xfrm>
            <a:off x="1685951" y="2168986"/>
            <a:ext cx="1152128" cy="1440016"/>
          </a:xfrm>
          <a:prstGeom prst="rect">
            <a:avLst/>
          </a:prstGeom>
          <a:ln>
            <a:headEnd/>
            <a:tailEnd type="non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sz="2000" dirty="0">
              <a:solidFill>
                <a:schemeClr val="bg1"/>
              </a:solidFill>
              <a:latin typeface="Arial Narrow" panose="020B0606020202030204" pitchFamily="34" charset="0"/>
            </a:endParaRPr>
          </a:p>
        </p:txBody>
      </p:sp>
      <p:sp>
        <p:nvSpPr>
          <p:cNvPr id="17" name="Freeform 25">
            <a:extLst>
              <a:ext uri="{FF2B5EF4-FFF2-40B4-BE49-F238E27FC236}">
                <a16:creationId xmlns:a16="http://schemas.microsoft.com/office/drawing/2014/main" id="{2AF52B2E-2C29-DD12-1C51-6F16D9CE2F71}"/>
              </a:ext>
            </a:extLst>
          </p:cNvPr>
          <p:cNvSpPr>
            <a:spLocks/>
          </p:cNvSpPr>
          <p:nvPr/>
        </p:nvSpPr>
        <p:spPr bwMode="auto">
          <a:xfrm>
            <a:off x="3215969" y="1628981"/>
            <a:ext cx="1350015" cy="450005"/>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3"/>
          </a:lnRef>
          <a:fillRef idx="2">
            <a:schemeClr val="accent3"/>
          </a:fillRef>
          <a:effectRef idx="1">
            <a:schemeClr val="accent3"/>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論理 </a:t>
            </a:r>
            <a:r>
              <a:rPr lang="en-US" altLang="ja-JP" dirty="0">
                <a:solidFill>
                  <a:schemeClr val="tx1">
                    <a:lumMod val="75000"/>
                    <a:lumOff val="25000"/>
                  </a:schemeClr>
                </a:solidFill>
              </a:rPr>
              <a:t>RF</a:t>
            </a:r>
            <a:endParaRPr lang="ja-JP" altLang="en-US" dirty="0">
              <a:solidFill>
                <a:schemeClr val="tx1">
                  <a:lumMod val="75000"/>
                  <a:lumOff val="25000"/>
                </a:schemeClr>
              </a:solidFill>
            </a:endParaRPr>
          </a:p>
        </p:txBody>
      </p:sp>
      <p:cxnSp>
        <p:nvCxnSpPr>
          <p:cNvPr id="18" name="直線矢印コネクタ 17">
            <a:extLst>
              <a:ext uri="{FF2B5EF4-FFF2-40B4-BE49-F238E27FC236}">
                <a16:creationId xmlns:a16="http://schemas.microsoft.com/office/drawing/2014/main" id="{DA979ECF-FD87-F1DF-17D5-C861CF0EA573}"/>
              </a:ext>
            </a:extLst>
          </p:cNvPr>
          <p:cNvCxnSpPr/>
          <p:nvPr/>
        </p:nvCxnSpPr>
        <p:spPr bwMode="auto">
          <a:xfrm>
            <a:off x="3845975" y="1268976"/>
            <a:ext cx="0" cy="360004"/>
          </a:xfrm>
          <a:prstGeom prst="straightConnector1">
            <a:avLst/>
          </a:prstGeom>
          <a:ln>
            <a:headEnd type="none" w="med" len="med"/>
            <a:tailEnd type="triangle"/>
          </a:ln>
        </p:spPr>
        <p:style>
          <a:lnRef idx="3">
            <a:schemeClr val="accent4"/>
          </a:lnRef>
          <a:fillRef idx="0">
            <a:schemeClr val="accent4"/>
          </a:fillRef>
          <a:effectRef idx="2">
            <a:schemeClr val="accent4"/>
          </a:effectRef>
          <a:fontRef idx="minor">
            <a:schemeClr val="tx1"/>
          </a:fontRef>
        </p:style>
      </p:cxnSp>
      <p:cxnSp>
        <p:nvCxnSpPr>
          <p:cNvPr id="19" name="直線矢印コネクタ 18">
            <a:extLst>
              <a:ext uri="{FF2B5EF4-FFF2-40B4-BE49-F238E27FC236}">
                <a16:creationId xmlns:a16="http://schemas.microsoft.com/office/drawing/2014/main" id="{55B6B583-6BC9-C91E-0531-20BCB8CFDC29}"/>
              </a:ext>
            </a:extLst>
          </p:cNvPr>
          <p:cNvCxnSpPr>
            <a:cxnSpLocks/>
          </p:cNvCxnSpPr>
          <p:nvPr/>
        </p:nvCxnSpPr>
        <p:spPr bwMode="auto">
          <a:xfrm>
            <a:off x="5915998" y="2078985"/>
            <a:ext cx="1440016" cy="0"/>
          </a:xfrm>
          <a:prstGeom prst="straightConnector1">
            <a:avLst/>
          </a:prstGeom>
          <a:ln>
            <a:headEnd type="none" w="med" len="med"/>
            <a:tailEnd type="triangle"/>
          </a:ln>
        </p:spPr>
        <p:style>
          <a:lnRef idx="3">
            <a:schemeClr val="accent3"/>
          </a:lnRef>
          <a:fillRef idx="0">
            <a:schemeClr val="accent3"/>
          </a:fillRef>
          <a:effectRef idx="2">
            <a:schemeClr val="accent3"/>
          </a:effectRef>
          <a:fontRef idx="minor">
            <a:schemeClr val="tx1"/>
          </a:fontRef>
        </p:style>
      </p:cxnSp>
      <p:cxnSp>
        <p:nvCxnSpPr>
          <p:cNvPr id="20" name="直線矢印コネクタ 19">
            <a:extLst>
              <a:ext uri="{FF2B5EF4-FFF2-40B4-BE49-F238E27FC236}">
                <a16:creationId xmlns:a16="http://schemas.microsoft.com/office/drawing/2014/main" id="{0D2AE045-30D3-DC0A-E39B-AC6C62721B1D}"/>
              </a:ext>
            </a:extLst>
          </p:cNvPr>
          <p:cNvCxnSpPr>
            <a:cxnSpLocks/>
          </p:cNvCxnSpPr>
          <p:nvPr/>
        </p:nvCxnSpPr>
        <p:spPr bwMode="auto">
          <a:xfrm>
            <a:off x="5915998" y="2348988"/>
            <a:ext cx="1440016" cy="0"/>
          </a:xfrm>
          <a:prstGeom prst="straightConnector1">
            <a:avLst/>
          </a:prstGeom>
          <a:ln>
            <a:headEnd type="none" w="med" len="med"/>
            <a:tailEnd type="triangle"/>
          </a:ln>
        </p:spPr>
        <p:style>
          <a:lnRef idx="3">
            <a:schemeClr val="accent3"/>
          </a:lnRef>
          <a:fillRef idx="0">
            <a:schemeClr val="accent3"/>
          </a:fillRef>
          <a:effectRef idx="2">
            <a:schemeClr val="accent3"/>
          </a:effectRef>
          <a:fontRef idx="minor">
            <a:schemeClr val="tx1"/>
          </a:fontRef>
        </p:style>
      </p:cxnSp>
      <p:sp>
        <p:nvSpPr>
          <p:cNvPr id="21" name="Freeform 8">
            <a:extLst>
              <a:ext uri="{FF2B5EF4-FFF2-40B4-BE49-F238E27FC236}">
                <a16:creationId xmlns:a16="http://schemas.microsoft.com/office/drawing/2014/main" id="{7F4267D8-E0F9-53AA-581F-D484A92C0F66}"/>
              </a:ext>
            </a:extLst>
          </p:cNvPr>
          <p:cNvSpPr>
            <a:spLocks/>
          </p:cNvSpPr>
          <p:nvPr/>
        </p:nvSpPr>
        <p:spPr bwMode="auto">
          <a:xfrm rot="10800000">
            <a:off x="5195990" y="1628979"/>
            <a:ext cx="4320048" cy="360004"/>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Tree>
    <p:extLst>
      <p:ext uri="{BB962C8B-B14F-4D97-AF65-F5344CB8AC3E}">
        <p14:creationId xmlns:p14="http://schemas.microsoft.com/office/powerpoint/2010/main" val="7188920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FCB0BF-00D9-4C51-8560-D5E34E08F88B}"/>
              </a:ext>
            </a:extLst>
          </p:cNvPr>
          <p:cNvSpPr>
            <a:spLocks noGrp="1"/>
          </p:cNvSpPr>
          <p:nvPr>
            <p:ph type="title"/>
          </p:nvPr>
        </p:nvSpPr>
        <p:spPr/>
        <p:txBody>
          <a:bodyPr/>
          <a:lstStyle/>
          <a:p>
            <a:r>
              <a:rPr kumimoji="1" lang="ja-JP" altLang="en-US" dirty="0"/>
              <a:t>トマスロ方式の動作</a:t>
            </a:r>
          </a:p>
        </p:txBody>
      </p:sp>
      <p:sp>
        <p:nvSpPr>
          <p:cNvPr id="3" name="テキスト プレースホルダー 2">
            <a:extLst>
              <a:ext uri="{FF2B5EF4-FFF2-40B4-BE49-F238E27FC236}">
                <a16:creationId xmlns:a16="http://schemas.microsoft.com/office/drawing/2014/main" id="{F367D232-12AD-470A-977F-E77AB6BCEEBE}"/>
              </a:ext>
            </a:extLst>
          </p:cNvPr>
          <p:cNvSpPr>
            <a:spLocks noGrp="1"/>
          </p:cNvSpPr>
          <p:nvPr>
            <p:ph type="body" sz="quarter" idx="10"/>
          </p:nvPr>
        </p:nvSpPr>
        <p:spPr>
          <a:xfrm>
            <a:off x="2135956" y="3789004"/>
            <a:ext cx="8280092" cy="2789724"/>
          </a:xfrm>
        </p:spPr>
        <p:txBody>
          <a:bodyPr/>
          <a:lstStyle/>
          <a:p>
            <a:r>
              <a:rPr lang="ja-JP" altLang="en-US" dirty="0"/>
              <a:t>バックエンド：</a:t>
            </a:r>
            <a:endParaRPr kumimoji="1" lang="en-US" altLang="ja-JP" dirty="0"/>
          </a:p>
          <a:p>
            <a:pPr marL="817200" lvl="1" indent="-457200">
              <a:buFont typeface="+mj-lt"/>
              <a:buAutoNum type="arabicPeriod"/>
            </a:pPr>
            <a:r>
              <a:rPr lang="ja-JP" altLang="en-US" dirty="0"/>
              <a:t>読めた値 </a:t>
            </a:r>
            <a:r>
              <a:rPr lang="en-US" altLang="ja-JP" dirty="0"/>
              <a:t>or </a:t>
            </a:r>
            <a:r>
              <a:rPr lang="ja-JP" altLang="en-US" dirty="0"/>
              <a:t>タグをリザベーション・ステーションに登録</a:t>
            </a:r>
            <a:endParaRPr lang="en-US" altLang="ja-JP" dirty="0"/>
          </a:p>
          <a:p>
            <a:pPr marL="817200" lvl="1" indent="-457200">
              <a:buFont typeface="+mj-lt"/>
              <a:buAutoNum type="arabicPeriod"/>
            </a:pPr>
            <a:r>
              <a:rPr kumimoji="1" lang="ja-JP" altLang="en-US" dirty="0"/>
              <a:t>ソースが揃ったものから演算器に発行</a:t>
            </a:r>
            <a:endParaRPr kumimoji="1" lang="en-US" altLang="ja-JP" dirty="0"/>
          </a:p>
          <a:p>
            <a:pPr marL="817200" lvl="1" indent="-457200">
              <a:buFont typeface="+mj-lt"/>
              <a:buAutoNum type="arabicPeriod"/>
            </a:pPr>
            <a:r>
              <a:rPr kumimoji="1" lang="ja-JP" altLang="en-US" dirty="0"/>
              <a:t>完了したら，</a:t>
            </a:r>
            <a:endParaRPr kumimoji="1" lang="en-US" altLang="ja-JP" dirty="0"/>
          </a:p>
          <a:p>
            <a:pPr marL="1177200" lvl="2" indent="-457200">
              <a:buFont typeface="+mj-lt"/>
              <a:buAutoNum type="arabicPeriod"/>
            </a:pPr>
            <a:r>
              <a:rPr kumimoji="1" lang="ja-JP" altLang="en-US" dirty="0"/>
              <a:t>リザベーション・ステーションに結果をブロードキャスト</a:t>
            </a:r>
            <a:endParaRPr kumimoji="1" lang="en-US" altLang="ja-JP" dirty="0"/>
          </a:p>
          <a:p>
            <a:pPr marL="1177200" lvl="2" indent="-457200">
              <a:buFont typeface="+mj-lt"/>
              <a:buAutoNum type="arabicPeriod"/>
            </a:pPr>
            <a:r>
              <a:rPr kumimoji="1" lang="ja-JP" altLang="en-US" dirty="0"/>
              <a:t>論理レジスタ番号に結果を書き込む</a:t>
            </a:r>
          </a:p>
        </p:txBody>
      </p:sp>
      <p:sp>
        <p:nvSpPr>
          <p:cNvPr id="4" name="平行四辺形 3">
            <a:extLst>
              <a:ext uri="{FF2B5EF4-FFF2-40B4-BE49-F238E27FC236}">
                <a16:creationId xmlns:a16="http://schemas.microsoft.com/office/drawing/2014/main" id="{60AA5636-4ACD-22E9-B0DB-DD56C74174A8}"/>
              </a:ext>
            </a:extLst>
          </p:cNvPr>
          <p:cNvSpPr/>
          <p:nvPr/>
        </p:nvSpPr>
        <p:spPr bwMode="auto">
          <a:xfrm>
            <a:off x="2945965" y="2708992"/>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ja-JP" dirty="0"/>
              <a:t>IF/ID/RR</a:t>
            </a:r>
            <a:endParaRPr lang="ja-JP" altLang="en-US" dirty="0"/>
          </a:p>
        </p:txBody>
      </p:sp>
      <p:sp>
        <p:nvSpPr>
          <p:cNvPr id="5" name="平行四辺形 4">
            <a:extLst>
              <a:ext uri="{FF2B5EF4-FFF2-40B4-BE49-F238E27FC236}">
                <a16:creationId xmlns:a16="http://schemas.microsoft.com/office/drawing/2014/main" id="{86B3F975-4F5E-134A-25F1-D95E84ACB4EC}"/>
              </a:ext>
            </a:extLst>
          </p:cNvPr>
          <p:cNvSpPr/>
          <p:nvPr/>
        </p:nvSpPr>
        <p:spPr bwMode="auto">
          <a:xfrm>
            <a:off x="5916142" y="2708992"/>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ja-JP" dirty="0"/>
              <a:t>IS</a:t>
            </a:r>
            <a:endParaRPr lang="ja-JP" altLang="en-US" dirty="0"/>
          </a:p>
        </p:txBody>
      </p:sp>
      <p:sp>
        <p:nvSpPr>
          <p:cNvPr id="6" name="平行四辺形 5">
            <a:extLst>
              <a:ext uri="{FF2B5EF4-FFF2-40B4-BE49-F238E27FC236}">
                <a16:creationId xmlns:a16="http://schemas.microsoft.com/office/drawing/2014/main" id="{8D680AF5-27F4-D050-7777-A109B5D7C609}"/>
              </a:ext>
            </a:extLst>
          </p:cNvPr>
          <p:cNvSpPr/>
          <p:nvPr/>
        </p:nvSpPr>
        <p:spPr bwMode="auto">
          <a:xfrm>
            <a:off x="7356302" y="2708992"/>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ja-JP" dirty="0"/>
              <a:t>EX</a:t>
            </a:r>
            <a:endParaRPr lang="ja-JP" altLang="en-US" dirty="0"/>
          </a:p>
        </p:txBody>
      </p:sp>
      <p:sp>
        <p:nvSpPr>
          <p:cNvPr id="7" name="平行四辺形 6">
            <a:extLst>
              <a:ext uri="{FF2B5EF4-FFF2-40B4-BE49-F238E27FC236}">
                <a16:creationId xmlns:a16="http://schemas.microsoft.com/office/drawing/2014/main" id="{E0D84B81-9378-E669-8AB0-DE9416A9194F}"/>
              </a:ext>
            </a:extLst>
          </p:cNvPr>
          <p:cNvSpPr/>
          <p:nvPr/>
        </p:nvSpPr>
        <p:spPr bwMode="auto">
          <a:xfrm>
            <a:off x="8796462" y="2708992"/>
            <a:ext cx="1584176"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ja-JP" dirty="0"/>
              <a:t>WB</a:t>
            </a:r>
            <a:endParaRPr lang="ja-JP" altLang="en-US" dirty="0"/>
          </a:p>
        </p:txBody>
      </p:sp>
      <p:sp>
        <p:nvSpPr>
          <p:cNvPr id="8" name="Freeform 25">
            <a:extLst>
              <a:ext uri="{FF2B5EF4-FFF2-40B4-BE49-F238E27FC236}">
                <a16:creationId xmlns:a16="http://schemas.microsoft.com/office/drawing/2014/main" id="{3231AF3E-28EE-73A3-0232-87C92E524B73}"/>
              </a:ext>
            </a:extLst>
          </p:cNvPr>
          <p:cNvSpPr>
            <a:spLocks/>
          </p:cNvSpPr>
          <p:nvPr/>
        </p:nvSpPr>
        <p:spPr bwMode="auto">
          <a:xfrm>
            <a:off x="3215969" y="998974"/>
            <a:ext cx="6930077" cy="450005"/>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3"/>
          </a:lnRef>
          <a:fillRef idx="2">
            <a:schemeClr val="accent3"/>
          </a:fillRef>
          <a:effectRef idx="1">
            <a:schemeClr val="accent3"/>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en-US" altLang="ja-JP" dirty="0">
                <a:solidFill>
                  <a:schemeClr val="tx1">
                    <a:lumMod val="75000"/>
                    <a:lumOff val="25000"/>
                  </a:schemeClr>
                </a:solidFill>
              </a:rPr>
              <a:t>Re-order Buffer</a:t>
            </a:r>
            <a:endParaRPr lang="ja-JP" altLang="en-US" dirty="0">
              <a:solidFill>
                <a:schemeClr val="tx1">
                  <a:lumMod val="75000"/>
                  <a:lumOff val="25000"/>
                </a:schemeClr>
              </a:solidFill>
            </a:endParaRPr>
          </a:p>
        </p:txBody>
      </p:sp>
      <p:sp>
        <p:nvSpPr>
          <p:cNvPr id="9" name="AutoShape 5">
            <a:extLst>
              <a:ext uri="{FF2B5EF4-FFF2-40B4-BE49-F238E27FC236}">
                <a16:creationId xmlns:a16="http://schemas.microsoft.com/office/drawing/2014/main" id="{5D677340-1DA9-2233-8AF5-7EE359825D34}"/>
              </a:ext>
            </a:extLst>
          </p:cNvPr>
          <p:cNvSpPr>
            <a:spLocks noChangeArrowheads="1"/>
          </p:cNvSpPr>
          <p:nvPr/>
        </p:nvSpPr>
        <p:spPr bwMode="auto">
          <a:xfrm rot="16200000">
            <a:off x="7716180" y="1863051"/>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ALU</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10" name="グループ化 9">
            <a:extLst>
              <a:ext uri="{FF2B5EF4-FFF2-40B4-BE49-F238E27FC236}">
                <a16:creationId xmlns:a16="http://schemas.microsoft.com/office/drawing/2014/main" id="{A98E540E-E1CD-C4FD-2245-68DA258761CE}"/>
              </a:ext>
            </a:extLst>
          </p:cNvPr>
          <p:cNvGrpSpPr/>
          <p:nvPr/>
        </p:nvGrpSpPr>
        <p:grpSpPr>
          <a:xfrm>
            <a:off x="3575972" y="2168986"/>
            <a:ext cx="1008112" cy="432048"/>
            <a:chOff x="3563888" y="2708920"/>
            <a:chExt cx="1296144" cy="432048"/>
          </a:xfrm>
        </p:grpSpPr>
        <p:sp>
          <p:nvSpPr>
            <p:cNvPr id="11" name="Freeform 9">
              <a:extLst>
                <a:ext uri="{FF2B5EF4-FFF2-40B4-BE49-F238E27FC236}">
                  <a16:creationId xmlns:a16="http://schemas.microsoft.com/office/drawing/2014/main" id="{6191190B-1F7F-3302-AA1D-57DA545B92C5}"/>
                </a:ext>
              </a:extLst>
            </p:cNvPr>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2" name="Freeform 10">
              <a:extLst>
                <a:ext uri="{FF2B5EF4-FFF2-40B4-BE49-F238E27FC236}">
                  <a16:creationId xmlns:a16="http://schemas.microsoft.com/office/drawing/2014/main" id="{A5ACF337-4B4D-6935-2891-E406FA59DD3E}"/>
                </a:ext>
              </a:extLst>
            </p:cNvPr>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13" name="Freeform 8">
            <a:extLst>
              <a:ext uri="{FF2B5EF4-FFF2-40B4-BE49-F238E27FC236}">
                <a16:creationId xmlns:a16="http://schemas.microsoft.com/office/drawing/2014/main" id="{FE5495A7-DB18-1B65-BA68-EF6AD3D26139}"/>
              </a:ext>
            </a:extLst>
          </p:cNvPr>
          <p:cNvSpPr>
            <a:spLocks/>
          </p:cNvSpPr>
          <p:nvPr/>
        </p:nvSpPr>
        <p:spPr bwMode="auto">
          <a:xfrm>
            <a:off x="8832304" y="1448979"/>
            <a:ext cx="720080" cy="738109"/>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4" name="正方形/長方形 13">
            <a:extLst>
              <a:ext uri="{FF2B5EF4-FFF2-40B4-BE49-F238E27FC236}">
                <a16:creationId xmlns:a16="http://schemas.microsoft.com/office/drawing/2014/main" id="{D44A857F-97B8-6A85-00E1-350F2A2EC22D}"/>
              </a:ext>
            </a:extLst>
          </p:cNvPr>
          <p:cNvSpPr/>
          <p:nvPr/>
        </p:nvSpPr>
        <p:spPr bwMode="auto">
          <a:xfrm>
            <a:off x="4655984" y="1988985"/>
            <a:ext cx="1080012" cy="1620018"/>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t>Reservation</a:t>
            </a:r>
          </a:p>
          <a:p>
            <a:r>
              <a:rPr lang="en-US" altLang="ja-JP" dirty="0"/>
              <a:t>Station</a:t>
            </a:r>
            <a:endParaRPr lang="ja-JP" altLang="en-US" dirty="0">
              <a:solidFill>
                <a:schemeClr val="tx1">
                  <a:lumMod val="75000"/>
                  <a:lumOff val="25000"/>
                </a:schemeClr>
              </a:solidFill>
              <a:latin typeface="+mn-ea"/>
            </a:endParaRPr>
          </a:p>
        </p:txBody>
      </p:sp>
      <p:sp>
        <p:nvSpPr>
          <p:cNvPr id="15" name="正方形/長方形 14">
            <a:extLst>
              <a:ext uri="{FF2B5EF4-FFF2-40B4-BE49-F238E27FC236}">
                <a16:creationId xmlns:a16="http://schemas.microsoft.com/office/drawing/2014/main" id="{3B7C6CBC-47DB-A359-BBE4-F190FF0DB873}"/>
              </a:ext>
            </a:extLst>
          </p:cNvPr>
          <p:cNvSpPr/>
          <p:nvPr/>
        </p:nvSpPr>
        <p:spPr bwMode="auto">
          <a:xfrm>
            <a:off x="1955955" y="1718981"/>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命令メモリ</a:t>
            </a:r>
          </a:p>
        </p:txBody>
      </p:sp>
      <p:sp>
        <p:nvSpPr>
          <p:cNvPr id="16" name="正方形/長方形 15">
            <a:extLst>
              <a:ext uri="{FF2B5EF4-FFF2-40B4-BE49-F238E27FC236}">
                <a16:creationId xmlns:a16="http://schemas.microsoft.com/office/drawing/2014/main" id="{B6C45270-FD0D-9F9F-17A4-C86DBF283EE3}"/>
              </a:ext>
            </a:extLst>
          </p:cNvPr>
          <p:cNvSpPr/>
          <p:nvPr/>
        </p:nvSpPr>
        <p:spPr bwMode="auto">
          <a:xfrm>
            <a:off x="1685951" y="2168986"/>
            <a:ext cx="1152128" cy="1440016"/>
          </a:xfrm>
          <a:prstGeom prst="rect">
            <a:avLst/>
          </a:prstGeom>
          <a:ln>
            <a:headEnd/>
            <a:tailEnd type="non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sz="2000" dirty="0">
              <a:solidFill>
                <a:schemeClr val="bg1"/>
              </a:solidFill>
              <a:latin typeface="Arial Narrow" panose="020B0606020202030204" pitchFamily="34" charset="0"/>
            </a:endParaRPr>
          </a:p>
        </p:txBody>
      </p:sp>
      <p:sp>
        <p:nvSpPr>
          <p:cNvPr id="17" name="Freeform 25">
            <a:extLst>
              <a:ext uri="{FF2B5EF4-FFF2-40B4-BE49-F238E27FC236}">
                <a16:creationId xmlns:a16="http://schemas.microsoft.com/office/drawing/2014/main" id="{8D9C4501-59D3-BFF1-A071-C50334DFF15B}"/>
              </a:ext>
            </a:extLst>
          </p:cNvPr>
          <p:cNvSpPr>
            <a:spLocks/>
          </p:cNvSpPr>
          <p:nvPr/>
        </p:nvSpPr>
        <p:spPr bwMode="auto">
          <a:xfrm>
            <a:off x="3215969" y="1628981"/>
            <a:ext cx="1350015" cy="450005"/>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3"/>
          </a:lnRef>
          <a:fillRef idx="2">
            <a:schemeClr val="accent3"/>
          </a:fillRef>
          <a:effectRef idx="1">
            <a:schemeClr val="accent3"/>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論理 </a:t>
            </a:r>
            <a:r>
              <a:rPr lang="en-US" altLang="ja-JP" dirty="0">
                <a:solidFill>
                  <a:schemeClr val="tx1">
                    <a:lumMod val="75000"/>
                    <a:lumOff val="25000"/>
                  </a:schemeClr>
                </a:solidFill>
              </a:rPr>
              <a:t>RF</a:t>
            </a:r>
            <a:endParaRPr lang="ja-JP" altLang="en-US" dirty="0">
              <a:solidFill>
                <a:schemeClr val="tx1">
                  <a:lumMod val="75000"/>
                  <a:lumOff val="25000"/>
                </a:schemeClr>
              </a:solidFill>
            </a:endParaRPr>
          </a:p>
        </p:txBody>
      </p:sp>
      <p:cxnSp>
        <p:nvCxnSpPr>
          <p:cNvPr id="18" name="直線矢印コネクタ 17">
            <a:extLst>
              <a:ext uri="{FF2B5EF4-FFF2-40B4-BE49-F238E27FC236}">
                <a16:creationId xmlns:a16="http://schemas.microsoft.com/office/drawing/2014/main" id="{CF117C28-4615-B660-89C1-26E60879A32B}"/>
              </a:ext>
            </a:extLst>
          </p:cNvPr>
          <p:cNvCxnSpPr/>
          <p:nvPr/>
        </p:nvCxnSpPr>
        <p:spPr bwMode="auto">
          <a:xfrm>
            <a:off x="3845975" y="1268976"/>
            <a:ext cx="0" cy="360004"/>
          </a:xfrm>
          <a:prstGeom prst="straightConnector1">
            <a:avLst/>
          </a:prstGeom>
          <a:ln>
            <a:headEnd type="none" w="med" len="med"/>
            <a:tailEnd type="triangle"/>
          </a:ln>
        </p:spPr>
        <p:style>
          <a:lnRef idx="3">
            <a:schemeClr val="accent4"/>
          </a:lnRef>
          <a:fillRef idx="0">
            <a:schemeClr val="accent4"/>
          </a:fillRef>
          <a:effectRef idx="2">
            <a:schemeClr val="accent4"/>
          </a:effectRef>
          <a:fontRef idx="minor">
            <a:schemeClr val="tx1"/>
          </a:fontRef>
        </p:style>
      </p:cxnSp>
      <p:cxnSp>
        <p:nvCxnSpPr>
          <p:cNvPr id="19" name="直線矢印コネクタ 18">
            <a:extLst>
              <a:ext uri="{FF2B5EF4-FFF2-40B4-BE49-F238E27FC236}">
                <a16:creationId xmlns:a16="http://schemas.microsoft.com/office/drawing/2014/main" id="{B8DC33DD-395C-099A-5C65-7D55B4303914}"/>
              </a:ext>
            </a:extLst>
          </p:cNvPr>
          <p:cNvCxnSpPr>
            <a:cxnSpLocks/>
          </p:cNvCxnSpPr>
          <p:nvPr/>
        </p:nvCxnSpPr>
        <p:spPr bwMode="auto">
          <a:xfrm>
            <a:off x="5915998" y="2078985"/>
            <a:ext cx="1440016" cy="0"/>
          </a:xfrm>
          <a:prstGeom prst="straightConnector1">
            <a:avLst/>
          </a:prstGeom>
          <a:ln>
            <a:headEnd type="none" w="med" len="med"/>
            <a:tailEnd type="triangle"/>
          </a:ln>
        </p:spPr>
        <p:style>
          <a:lnRef idx="3">
            <a:schemeClr val="accent3"/>
          </a:lnRef>
          <a:fillRef idx="0">
            <a:schemeClr val="accent3"/>
          </a:fillRef>
          <a:effectRef idx="2">
            <a:schemeClr val="accent3"/>
          </a:effectRef>
          <a:fontRef idx="minor">
            <a:schemeClr val="tx1"/>
          </a:fontRef>
        </p:style>
      </p:cxnSp>
      <p:cxnSp>
        <p:nvCxnSpPr>
          <p:cNvPr id="20" name="直線矢印コネクタ 19">
            <a:extLst>
              <a:ext uri="{FF2B5EF4-FFF2-40B4-BE49-F238E27FC236}">
                <a16:creationId xmlns:a16="http://schemas.microsoft.com/office/drawing/2014/main" id="{F3595E05-B747-3BC0-89BC-59D435699174}"/>
              </a:ext>
            </a:extLst>
          </p:cNvPr>
          <p:cNvCxnSpPr>
            <a:cxnSpLocks/>
          </p:cNvCxnSpPr>
          <p:nvPr/>
        </p:nvCxnSpPr>
        <p:spPr bwMode="auto">
          <a:xfrm>
            <a:off x="5915998" y="2348988"/>
            <a:ext cx="1440016" cy="0"/>
          </a:xfrm>
          <a:prstGeom prst="straightConnector1">
            <a:avLst/>
          </a:prstGeom>
          <a:ln>
            <a:headEnd type="none" w="med" len="med"/>
            <a:tailEnd type="triangle"/>
          </a:ln>
        </p:spPr>
        <p:style>
          <a:lnRef idx="3">
            <a:schemeClr val="accent3"/>
          </a:lnRef>
          <a:fillRef idx="0">
            <a:schemeClr val="accent3"/>
          </a:fillRef>
          <a:effectRef idx="2">
            <a:schemeClr val="accent3"/>
          </a:effectRef>
          <a:fontRef idx="minor">
            <a:schemeClr val="tx1"/>
          </a:fontRef>
        </p:style>
      </p:cxnSp>
      <p:sp>
        <p:nvSpPr>
          <p:cNvPr id="21" name="Freeform 8">
            <a:extLst>
              <a:ext uri="{FF2B5EF4-FFF2-40B4-BE49-F238E27FC236}">
                <a16:creationId xmlns:a16="http://schemas.microsoft.com/office/drawing/2014/main" id="{03DCB74F-A9A1-6444-4193-49933B5CBA6B}"/>
              </a:ext>
            </a:extLst>
          </p:cNvPr>
          <p:cNvSpPr>
            <a:spLocks/>
          </p:cNvSpPr>
          <p:nvPr/>
        </p:nvSpPr>
        <p:spPr bwMode="auto">
          <a:xfrm rot="10800000">
            <a:off x="5195990" y="1628979"/>
            <a:ext cx="4320048" cy="360004"/>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Tree>
    <p:extLst>
      <p:ext uri="{BB962C8B-B14F-4D97-AF65-F5344CB8AC3E}">
        <p14:creationId xmlns:p14="http://schemas.microsoft.com/office/powerpoint/2010/main" val="1131569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133B96-5148-4630-9A24-0AF62BD869E7}"/>
              </a:ext>
            </a:extLst>
          </p:cNvPr>
          <p:cNvSpPr>
            <a:spLocks noGrp="1"/>
          </p:cNvSpPr>
          <p:nvPr>
            <p:ph type="title"/>
          </p:nvPr>
        </p:nvSpPr>
        <p:spPr/>
        <p:txBody>
          <a:bodyPr/>
          <a:lstStyle/>
          <a:p>
            <a:r>
              <a:rPr kumimoji="1" lang="ja-JP" altLang="en-US" dirty="0"/>
              <a:t>トマスロ方式におけるリネームとスケジュール</a:t>
            </a:r>
          </a:p>
        </p:txBody>
      </p:sp>
      <p:sp>
        <p:nvSpPr>
          <p:cNvPr id="3" name="テキスト プレースホルダー 2">
            <a:extLst>
              <a:ext uri="{FF2B5EF4-FFF2-40B4-BE49-F238E27FC236}">
                <a16:creationId xmlns:a16="http://schemas.microsoft.com/office/drawing/2014/main" id="{F6EB909F-32B5-4C75-A930-25B6BB0BD31F}"/>
              </a:ext>
            </a:extLst>
          </p:cNvPr>
          <p:cNvSpPr>
            <a:spLocks noGrp="1"/>
          </p:cNvSpPr>
          <p:nvPr>
            <p:ph type="body" sz="quarter" idx="10"/>
          </p:nvPr>
        </p:nvSpPr>
        <p:spPr/>
        <p:txBody>
          <a:bodyPr/>
          <a:lstStyle/>
          <a:p>
            <a:r>
              <a:rPr kumimoji="1" lang="ja-JP" altLang="en-US" dirty="0"/>
              <a:t>リネーム</a:t>
            </a:r>
            <a:endParaRPr kumimoji="1" lang="en-US" altLang="ja-JP" dirty="0"/>
          </a:p>
          <a:p>
            <a:pPr lvl="1"/>
            <a:r>
              <a:rPr lang="ja-JP" altLang="en-US" dirty="0"/>
              <a:t>論理レジスタを読んだ際のタグへの置き換えと</a:t>
            </a:r>
            <a:br>
              <a:rPr lang="en-US" altLang="ja-JP" dirty="0"/>
            </a:br>
            <a:r>
              <a:rPr lang="ja-JP" altLang="en-US" dirty="0"/>
              <a:t>リザベーション・ステーションへのコピーにより実現</a:t>
            </a:r>
            <a:endParaRPr lang="en-US" altLang="ja-JP" dirty="0"/>
          </a:p>
          <a:p>
            <a:r>
              <a:rPr kumimoji="1" lang="ja-JP" altLang="en-US" dirty="0"/>
              <a:t>スケジュール</a:t>
            </a:r>
            <a:endParaRPr kumimoji="1" lang="en-US" altLang="ja-JP" dirty="0"/>
          </a:p>
          <a:p>
            <a:pPr lvl="1"/>
            <a:r>
              <a:rPr kumimoji="1" lang="ja-JP" altLang="en-US" dirty="0"/>
              <a:t>リザベーション・ステーションでの待ち合わせにより実現</a:t>
            </a:r>
          </a:p>
        </p:txBody>
      </p:sp>
    </p:spTree>
    <p:extLst>
      <p:ext uri="{BB962C8B-B14F-4D97-AF65-F5344CB8AC3E}">
        <p14:creationId xmlns:p14="http://schemas.microsoft.com/office/powerpoint/2010/main" val="31615783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z="2400" dirty="0"/>
              <a:t>トマスロ方式（上）と物理レジスタ方式（下）の違い</a:t>
            </a:r>
            <a:br>
              <a:rPr kumimoji="1" lang="en-US" altLang="ja-JP" dirty="0"/>
            </a:br>
            <a:r>
              <a:rPr lang="ja-JP" altLang="en-US" sz="1800" dirty="0"/>
              <a:t>トマスロ方式はデータ・パス（緑部分）がかなり複雑</a:t>
            </a:r>
          </a:p>
        </p:txBody>
      </p:sp>
      <p:sp>
        <p:nvSpPr>
          <p:cNvPr id="44" name="平行四辺形 43">
            <a:extLst>
              <a:ext uri="{FF2B5EF4-FFF2-40B4-BE49-F238E27FC236}">
                <a16:creationId xmlns:a16="http://schemas.microsoft.com/office/drawing/2014/main" id="{5516F521-1029-4150-A770-96B8C42E8803}"/>
              </a:ext>
            </a:extLst>
          </p:cNvPr>
          <p:cNvSpPr/>
          <p:nvPr/>
        </p:nvSpPr>
        <p:spPr bwMode="auto">
          <a:xfrm>
            <a:off x="2945965" y="2978995"/>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rPr>
              <a:t>RR</a:t>
            </a:r>
            <a:endParaRPr lang="ja-JP" altLang="en-US" dirty="0">
              <a:solidFill>
                <a:schemeClr val="tx1">
                  <a:lumMod val="75000"/>
                  <a:lumOff val="25000"/>
                </a:schemeClr>
              </a:solidFill>
            </a:endParaRPr>
          </a:p>
        </p:txBody>
      </p:sp>
      <p:sp>
        <p:nvSpPr>
          <p:cNvPr id="47" name="平行四辺形 46">
            <a:extLst>
              <a:ext uri="{FF2B5EF4-FFF2-40B4-BE49-F238E27FC236}">
                <a16:creationId xmlns:a16="http://schemas.microsoft.com/office/drawing/2014/main" id="{3D9691A8-BB97-4172-B928-E39A06BEA8FC}"/>
              </a:ext>
            </a:extLst>
          </p:cNvPr>
          <p:cNvSpPr/>
          <p:nvPr/>
        </p:nvSpPr>
        <p:spPr bwMode="auto">
          <a:xfrm>
            <a:off x="5916142" y="2978995"/>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ja-JP" dirty="0"/>
              <a:t>IS</a:t>
            </a:r>
            <a:endParaRPr lang="ja-JP" altLang="en-US" dirty="0"/>
          </a:p>
        </p:txBody>
      </p:sp>
      <p:sp>
        <p:nvSpPr>
          <p:cNvPr id="50" name="平行四辺形 49">
            <a:extLst>
              <a:ext uri="{FF2B5EF4-FFF2-40B4-BE49-F238E27FC236}">
                <a16:creationId xmlns:a16="http://schemas.microsoft.com/office/drawing/2014/main" id="{46696027-296E-4D23-866E-284CA01572EB}"/>
              </a:ext>
            </a:extLst>
          </p:cNvPr>
          <p:cNvSpPr/>
          <p:nvPr/>
        </p:nvSpPr>
        <p:spPr bwMode="auto">
          <a:xfrm>
            <a:off x="7356302" y="2978995"/>
            <a:ext cx="1562400" cy="504056"/>
          </a:xfrm>
          <a:prstGeom prst="parallelogram">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ja-JP" dirty="0"/>
              <a:t>EX</a:t>
            </a:r>
            <a:endParaRPr lang="ja-JP" altLang="en-US" dirty="0"/>
          </a:p>
        </p:txBody>
      </p:sp>
      <p:sp>
        <p:nvSpPr>
          <p:cNvPr id="53" name="平行四辺形 52">
            <a:extLst>
              <a:ext uri="{FF2B5EF4-FFF2-40B4-BE49-F238E27FC236}">
                <a16:creationId xmlns:a16="http://schemas.microsoft.com/office/drawing/2014/main" id="{C91507D4-24F8-4FA5-B51B-1B05D3A5E0DC}"/>
              </a:ext>
            </a:extLst>
          </p:cNvPr>
          <p:cNvSpPr/>
          <p:nvPr/>
        </p:nvSpPr>
        <p:spPr bwMode="auto">
          <a:xfrm>
            <a:off x="8796462" y="2978995"/>
            <a:ext cx="1584176"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ja-JP" dirty="0"/>
              <a:t>WB</a:t>
            </a:r>
            <a:endParaRPr lang="ja-JP" altLang="en-US" dirty="0"/>
          </a:p>
        </p:txBody>
      </p:sp>
      <p:sp>
        <p:nvSpPr>
          <p:cNvPr id="54" name="Freeform 25">
            <a:extLst>
              <a:ext uri="{FF2B5EF4-FFF2-40B4-BE49-F238E27FC236}">
                <a16:creationId xmlns:a16="http://schemas.microsoft.com/office/drawing/2014/main" id="{68E895CA-F68D-4625-8354-609E6482DC50}"/>
              </a:ext>
            </a:extLst>
          </p:cNvPr>
          <p:cNvSpPr>
            <a:spLocks/>
          </p:cNvSpPr>
          <p:nvPr/>
        </p:nvSpPr>
        <p:spPr bwMode="auto">
          <a:xfrm>
            <a:off x="3215969" y="1268977"/>
            <a:ext cx="6930077" cy="450005"/>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3"/>
          </a:lnRef>
          <a:fillRef idx="2">
            <a:schemeClr val="accent3"/>
          </a:fillRef>
          <a:effectRef idx="1">
            <a:schemeClr val="accent3"/>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en-US" altLang="ja-JP" dirty="0">
                <a:solidFill>
                  <a:schemeClr val="tx1">
                    <a:lumMod val="75000"/>
                    <a:lumOff val="25000"/>
                  </a:schemeClr>
                </a:solidFill>
              </a:rPr>
              <a:t>Re-order Buffer</a:t>
            </a:r>
            <a:endParaRPr lang="ja-JP" altLang="en-US" dirty="0">
              <a:solidFill>
                <a:schemeClr val="tx1">
                  <a:lumMod val="75000"/>
                  <a:lumOff val="25000"/>
                </a:schemeClr>
              </a:solidFill>
            </a:endParaRPr>
          </a:p>
        </p:txBody>
      </p:sp>
      <p:sp>
        <p:nvSpPr>
          <p:cNvPr id="55" name="AutoShape 5">
            <a:extLst>
              <a:ext uri="{FF2B5EF4-FFF2-40B4-BE49-F238E27FC236}">
                <a16:creationId xmlns:a16="http://schemas.microsoft.com/office/drawing/2014/main" id="{4089963C-D240-4A78-A0A4-E78609787D1F}"/>
              </a:ext>
            </a:extLst>
          </p:cNvPr>
          <p:cNvSpPr>
            <a:spLocks noChangeArrowheads="1"/>
          </p:cNvSpPr>
          <p:nvPr/>
        </p:nvSpPr>
        <p:spPr bwMode="auto">
          <a:xfrm rot="-5400000">
            <a:off x="7716180" y="2133054"/>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ALU</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56" name="グループ化 55">
            <a:extLst>
              <a:ext uri="{FF2B5EF4-FFF2-40B4-BE49-F238E27FC236}">
                <a16:creationId xmlns:a16="http://schemas.microsoft.com/office/drawing/2014/main" id="{BF2EEAA1-26C3-476B-9FCC-8861A0B091E0}"/>
              </a:ext>
            </a:extLst>
          </p:cNvPr>
          <p:cNvGrpSpPr/>
          <p:nvPr/>
        </p:nvGrpSpPr>
        <p:grpSpPr>
          <a:xfrm>
            <a:off x="3575972" y="2438989"/>
            <a:ext cx="1008112" cy="432048"/>
            <a:chOff x="3563888" y="2708920"/>
            <a:chExt cx="1296144" cy="432048"/>
          </a:xfrm>
        </p:grpSpPr>
        <p:sp>
          <p:nvSpPr>
            <p:cNvPr id="57" name="Freeform 9">
              <a:extLst>
                <a:ext uri="{FF2B5EF4-FFF2-40B4-BE49-F238E27FC236}">
                  <a16:creationId xmlns:a16="http://schemas.microsoft.com/office/drawing/2014/main" id="{F24AC9F4-1CCE-4E78-8443-38C23F05F8C0}"/>
                </a:ext>
              </a:extLst>
            </p:cNvPr>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58" name="Freeform 10">
              <a:extLst>
                <a:ext uri="{FF2B5EF4-FFF2-40B4-BE49-F238E27FC236}">
                  <a16:creationId xmlns:a16="http://schemas.microsoft.com/office/drawing/2014/main" id="{D2871F80-0935-44AB-AB10-5E8C7D19BC47}"/>
                </a:ext>
              </a:extLst>
            </p:cNvPr>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59" name="Freeform 8">
            <a:extLst>
              <a:ext uri="{FF2B5EF4-FFF2-40B4-BE49-F238E27FC236}">
                <a16:creationId xmlns:a16="http://schemas.microsoft.com/office/drawing/2014/main" id="{E3D3A56B-B602-485C-9570-C696B5F06608}"/>
              </a:ext>
            </a:extLst>
          </p:cNvPr>
          <p:cNvSpPr>
            <a:spLocks/>
          </p:cNvSpPr>
          <p:nvPr/>
        </p:nvSpPr>
        <p:spPr bwMode="auto">
          <a:xfrm>
            <a:off x="8832304" y="1718982"/>
            <a:ext cx="720080" cy="738109"/>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60" name="正方形/長方形 59">
            <a:extLst>
              <a:ext uri="{FF2B5EF4-FFF2-40B4-BE49-F238E27FC236}">
                <a16:creationId xmlns:a16="http://schemas.microsoft.com/office/drawing/2014/main" id="{D5C6BF65-1B03-4891-893B-EC37AF4CA396}"/>
              </a:ext>
            </a:extLst>
          </p:cNvPr>
          <p:cNvSpPr/>
          <p:nvPr/>
        </p:nvSpPr>
        <p:spPr bwMode="auto">
          <a:xfrm>
            <a:off x="4655984" y="2258988"/>
            <a:ext cx="1080012" cy="1620018"/>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t>Reservation</a:t>
            </a:r>
          </a:p>
          <a:p>
            <a:r>
              <a:rPr lang="en-US" altLang="ja-JP" dirty="0"/>
              <a:t>Station</a:t>
            </a:r>
            <a:endParaRPr lang="ja-JP" altLang="en-US" dirty="0">
              <a:solidFill>
                <a:schemeClr val="tx1">
                  <a:lumMod val="75000"/>
                  <a:lumOff val="25000"/>
                </a:schemeClr>
              </a:solidFill>
              <a:latin typeface="+mn-ea"/>
            </a:endParaRPr>
          </a:p>
        </p:txBody>
      </p:sp>
      <p:sp>
        <p:nvSpPr>
          <p:cNvPr id="61" name="正方形/長方形 60">
            <a:extLst>
              <a:ext uri="{FF2B5EF4-FFF2-40B4-BE49-F238E27FC236}">
                <a16:creationId xmlns:a16="http://schemas.microsoft.com/office/drawing/2014/main" id="{060AAE61-A3AD-4936-885C-6E1CB74286A7}"/>
              </a:ext>
            </a:extLst>
          </p:cNvPr>
          <p:cNvSpPr/>
          <p:nvPr/>
        </p:nvSpPr>
        <p:spPr bwMode="auto">
          <a:xfrm>
            <a:off x="1955955" y="1988984"/>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命令メモリ</a:t>
            </a:r>
          </a:p>
        </p:txBody>
      </p:sp>
      <p:sp>
        <p:nvSpPr>
          <p:cNvPr id="62" name="正方形/長方形 61">
            <a:extLst>
              <a:ext uri="{FF2B5EF4-FFF2-40B4-BE49-F238E27FC236}">
                <a16:creationId xmlns:a16="http://schemas.microsoft.com/office/drawing/2014/main" id="{7B78D1BC-6DA1-4F21-99D3-BF485B603B13}"/>
              </a:ext>
            </a:extLst>
          </p:cNvPr>
          <p:cNvSpPr/>
          <p:nvPr/>
        </p:nvSpPr>
        <p:spPr bwMode="auto">
          <a:xfrm>
            <a:off x="1685951" y="2438989"/>
            <a:ext cx="1152128" cy="1440016"/>
          </a:xfrm>
          <a:prstGeom prst="rect">
            <a:avLst/>
          </a:prstGeom>
          <a:ln>
            <a:headEnd/>
            <a:tailEnd type="non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sz="2000" dirty="0">
              <a:solidFill>
                <a:schemeClr val="bg1"/>
              </a:solidFill>
              <a:latin typeface="Arial Narrow" panose="020B0606020202030204" pitchFamily="34" charset="0"/>
            </a:endParaRPr>
          </a:p>
        </p:txBody>
      </p:sp>
      <p:sp>
        <p:nvSpPr>
          <p:cNvPr id="67" name="Freeform 25">
            <a:extLst>
              <a:ext uri="{FF2B5EF4-FFF2-40B4-BE49-F238E27FC236}">
                <a16:creationId xmlns:a16="http://schemas.microsoft.com/office/drawing/2014/main" id="{3BA23385-76ED-4B58-8DDF-5D7619B753F0}"/>
              </a:ext>
            </a:extLst>
          </p:cNvPr>
          <p:cNvSpPr>
            <a:spLocks/>
          </p:cNvSpPr>
          <p:nvPr/>
        </p:nvSpPr>
        <p:spPr bwMode="auto">
          <a:xfrm>
            <a:off x="3215969" y="1898984"/>
            <a:ext cx="1350015" cy="450005"/>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3"/>
          </a:lnRef>
          <a:fillRef idx="2">
            <a:schemeClr val="accent3"/>
          </a:fillRef>
          <a:effectRef idx="1">
            <a:schemeClr val="accent3"/>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論理 </a:t>
            </a:r>
            <a:r>
              <a:rPr lang="en-US" altLang="ja-JP" dirty="0">
                <a:solidFill>
                  <a:schemeClr val="tx1">
                    <a:lumMod val="75000"/>
                    <a:lumOff val="25000"/>
                  </a:schemeClr>
                </a:solidFill>
              </a:rPr>
              <a:t>RF</a:t>
            </a:r>
            <a:endParaRPr lang="ja-JP" altLang="en-US" dirty="0">
              <a:solidFill>
                <a:schemeClr val="tx1">
                  <a:lumMod val="75000"/>
                  <a:lumOff val="25000"/>
                </a:schemeClr>
              </a:solidFill>
            </a:endParaRPr>
          </a:p>
        </p:txBody>
      </p:sp>
      <p:cxnSp>
        <p:nvCxnSpPr>
          <p:cNvPr id="29" name="直線矢印コネクタ 28">
            <a:extLst>
              <a:ext uri="{FF2B5EF4-FFF2-40B4-BE49-F238E27FC236}">
                <a16:creationId xmlns:a16="http://schemas.microsoft.com/office/drawing/2014/main" id="{14A2B10C-5B8D-46AB-B4E4-65C6EB07E460}"/>
              </a:ext>
            </a:extLst>
          </p:cNvPr>
          <p:cNvCxnSpPr/>
          <p:nvPr/>
        </p:nvCxnSpPr>
        <p:spPr bwMode="auto">
          <a:xfrm>
            <a:off x="3845975" y="1538979"/>
            <a:ext cx="0" cy="360004"/>
          </a:xfrm>
          <a:prstGeom prst="straightConnector1">
            <a:avLst/>
          </a:prstGeom>
          <a:ln>
            <a:headEnd type="none" w="med" len="med"/>
            <a:tailEnd type="triangle"/>
          </a:ln>
        </p:spPr>
        <p:style>
          <a:lnRef idx="3">
            <a:schemeClr val="accent3"/>
          </a:lnRef>
          <a:fillRef idx="0">
            <a:schemeClr val="accent3"/>
          </a:fillRef>
          <a:effectRef idx="2">
            <a:schemeClr val="accent3"/>
          </a:effectRef>
          <a:fontRef idx="minor">
            <a:schemeClr val="tx1"/>
          </a:fontRef>
        </p:style>
      </p:cxnSp>
      <p:cxnSp>
        <p:nvCxnSpPr>
          <p:cNvPr id="68" name="直線矢印コネクタ 67">
            <a:extLst>
              <a:ext uri="{FF2B5EF4-FFF2-40B4-BE49-F238E27FC236}">
                <a16:creationId xmlns:a16="http://schemas.microsoft.com/office/drawing/2014/main" id="{758157C2-715A-41D6-85F0-921F8D589D98}"/>
              </a:ext>
            </a:extLst>
          </p:cNvPr>
          <p:cNvCxnSpPr>
            <a:cxnSpLocks/>
          </p:cNvCxnSpPr>
          <p:nvPr/>
        </p:nvCxnSpPr>
        <p:spPr bwMode="auto">
          <a:xfrm>
            <a:off x="5915998" y="2348988"/>
            <a:ext cx="1440016" cy="0"/>
          </a:xfrm>
          <a:prstGeom prst="straightConnector1">
            <a:avLst/>
          </a:prstGeom>
          <a:ln>
            <a:headEnd type="none" w="med" len="med"/>
            <a:tailEnd type="triangle"/>
          </a:ln>
        </p:spPr>
        <p:style>
          <a:lnRef idx="3">
            <a:schemeClr val="accent3"/>
          </a:lnRef>
          <a:fillRef idx="0">
            <a:schemeClr val="accent3"/>
          </a:fillRef>
          <a:effectRef idx="2">
            <a:schemeClr val="accent3"/>
          </a:effectRef>
          <a:fontRef idx="minor">
            <a:schemeClr val="tx1"/>
          </a:fontRef>
        </p:style>
      </p:cxnSp>
      <p:cxnSp>
        <p:nvCxnSpPr>
          <p:cNvPr id="69" name="直線矢印コネクタ 68">
            <a:extLst>
              <a:ext uri="{FF2B5EF4-FFF2-40B4-BE49-F238E27FC236}">
                <a16:creationId xmlns:a16="http://schemas.microsoft.com/office/drawing/2014/main" id="{781822D1-F122-4E27-95CD-219B01052461}"/>
              </a:ext>
            </a:extLst>
          </p:cNvPr>
          <p:cNvCxnSpPr>
            <a:cxnSpLocks/>
          </p:cNvCxnSpPr>
          <p:nvPr/>
        </p:nvCxnSpPr>
        <p:spPr bwMode="auto">
          <a:xfrm>
            <a:off x="5915998" y="2618991"/>
            <a:ext cx="1440016" cy="0"/>
          </a:xfrm>
          <a:prstGeom prst="straightConnector1">
            <a:avLst/>
          </a:prstGeom>
          <a:ln>
            <a:headEnd type="none" w="med" len="med"/>
            <a:tailEnd type="triangle"/>
          </a:ln>
        </p:spPr>
        <p:style>
          <a:lnRef idx="3">
            <a:schemeClr val="accent3"/>
          </a:lnRef>
          <a:fillRef idx="0">
            <a:schemeClr val="accent3"/>
          </a:fillRef>
          <a:effectRef idx="2">
            <a:schemeClr val="accent3"/>
          </a:effectRef>
          <a:fontRef idx="minor">
            <a:schemeClr val="tx1"/>
          </a:fontRef>
        </p:style>
      </p:cxnSp>
      <p:sp>
        <p:nvSpPr>
          <p:cNvPr id="70" name="Freeform 8">
            <a:extLst>
              <a:ext uri="{FF2B5EF4-FFF2-40B4-BE49-F238E27FC236}">
                <a16:creationId xmlns:a16="http://schemas.microsoft.com/office/drawing/2014/main" id="{B11F7E6A-83FD-4AEE-8FB2-BACAA88B55E9}"/>
              </a:ext>
            </a:extLst>
          </p:cNvPr>
          <p:cNvSpPr>
            <a:spLocks/>
          </p:cNvSpPr>
          <p:nvPr/>
        </p:nvSpPr>
        <p:spPr bwMode="auto">
          <a:xfrm rot="10800000">
            <a:off x="5195990" y="1898982"/>
            <a:ext cx="4320048" cy="360004"/>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8" name="正方形/長方形 37">
            <a:extLst>
              <a:ext uri="{FF2B5EF4-FFF2-40B4-BE49-F238E27FC236}">
                <a16:creationId xmlns:a16="http://schemas.microsoft.com/office/drawing/2014/main" id="{B2164A55-AFCE-4459-96C1-AAC0880AC7D3}"/>
              </a:ext>
            </a:extLst>
          </p:cNvPr>
          <p:cNvSpPr/>
          <p:nvPr/>
        </p:nvSpPr>
        <p:spPr bwMode="auto">
          <a:xfrm>
            <a:off x="5285992" y="189898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400" dirty="0">
                <a:solidFill>
                  <a:schemeClr val="tx1">
                    <a:lumMod val="75000"/>
                    <a:lumOff val="25000"/>
                  </a:schemeClr>
                </a:solidFill>
              </a:rPr>
              <a:t>スケジュールと</a:t>
            </a:r>
            <a:br>
              <a:rPr lang="en-US" altLang="ja-JP" sz="1400" dirty="0">
                <a:solidFill>
                  <a:schemeClr val="tx1">
                    <a:lumMod val="75000"/>
                    <a:lumOff val="25000"/>
                  </a:schemeClr>
                </a:solidFill>
              </a:rPr>
            </a:br>
            <a:r>
              <a:rPr lang="ja-JP" altLang="en-US" sz="1400" dirty="0">
                <a:solidFill>
                  <a:schemeClr val="tx1">
                    <a:lumMod val="75000"/>
                    <a:lumOff val="25000"/>
                  </a:schemeClr>
                </a:solidFill>
              </a:rPr>
              <a:t>データの受け渡し</a:t>
            </a:r>
          </a:p>
        </p:txBody>
      </p:sp>
      <p:cxnSp>
        <p:nvCxnSpPr>
          <p:cNvPr id="39" name="直線矢印コネクタ 38">
            <a:extLst>
              <a:ext uri="{FF2B5EF4-FFF2-40B4-BE49-F238E27FC236}">
                <a16:creationId xmlns:a16="http://schemas.microsoft.com/office/drawing/2014/main" id="{CAC76D1C-DED1-49C9-8D4D-6DC2847EA932}"/>
              </a:ext>
            </a:extLst>
          </p:cNvPr>
          <p:cNvCxnSpPr>
            <a:cxnSpLocks/>
          </p:cNvCxnSpPr>
          <p:nvPr/>
        </p:nvCxnSpPr>
        <p:spPr bwMode="auto">
          <a:xfrm>
            <a:off x="4835986" y="1538979"/>
            <a:ext cx="0" cy="720008"/>
          </a:xfrm>
          <a:prstGeom prst="straightConnector1">
            <a:avLst/>
          </a:prstGeom>
          <a:ln>
            <a:headEnd type="none" w="med" len="med"/>
            <a:tailEnd type="triangle"/>
          </a:ln>
        </p:spPr>
        <p:style>
          <a:lnRef idx="3">
            <a:schemeClr val="accent3"/>
          </a:lnRef>
          <a:fillRef idx="0">
            <a:schemeClr val="accent3"/>
          </a:fillRef>
          <a:effectRef idx="2">
            <a:schemeClr val="accent3"/>
          </a:effectRef>
          <a:fontRef idx="minor">
            <a:schemeClr val="tx1"/>
          </a:fontRef>
        </p:style>
      </p:cxnSp>
      <p:sp>
        <p:nvSpPr>
          <p:cNvPr id="4" name="平行四辺形 3"/>
          <p:cNvSpPr/>
          <p:nvPr/>
        </p:nvSpPr>
        <p:spPr bwMode="auto">
          <a:xfrm>
            <a:off x="2945965" y="5679026"/>
            <a:ext cx="1562400" cy="504056"/>
          </a:xfrm>
          <a:prstGeom prst="parallelogram">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ja-JP" dirty="0"/>
              <a:t>RN</a:t>
            </a:r>
            <a:endParaRPr lang="ja-JP" altLang="en-US" dirty="0"/>
          </a:p>
        </p:txBody>
      </p:sp>
      <p:sp>
        <p:nvSpPr>
          <p:cNvPr id="5" name="平行四辺形 4"/>
          <p:cNvSpPr/>
          <p:nvPr/>
        </p:nvSpPr>
        <p:spPr bwMode="auto">
          <a:xfrm>
            <a:off x="5916142" y="5679026"/>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ja-JP" dirty="0"/>
              <a:t>IS/RR</a:t>
            </a:r>
            <a:endParaRPr lang="ja-JP" altLang="en-US" dirty="0"/>
          </a:p>
        </p:txBody>
      </p:sp>
      <p:sp>
        <p:nvSpPr>
          <p:cNvPr id="7" name="平行四辺形 6"/>
          <p:cNvSpPr/>
          <p:nvPr/>
        </p:nvSpPr>
        <p:spPr bwMode="auto">
          <a:xfrm>
            <a:off x="7356302" y="5679026"/>
            <a:ext cx="1562400" cy="504056"/>
          </a:xfrm>
          <a:prstGeom prst="parallelogram">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ja-JP" dirty="0"/>
              <a:t>EX</a:t>
            </a:r>
            <a:endParaRPr lang="ja-JP" altLang="en-US" dirty="0"/>
          </a:p>
        </p:txBody>
      </p:sp>
      <p:sp>
        <p:nvSpPr>
          <p:cNvPr id="8" name="平行四辺形 7"/>
          <p:cNvSpPr/>
          <p:nvPr/>
        </p:nvSpPr>
        <p:spPr bwMode="auto">
          <a:xfrm>
            <a:off x="8796462" y="5679026"/>
            <a:ext cx="1584176"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ja-JP" dirty="0"/>
              <a:t>WB</a:t>
            </a:r>
            <a:endParaRPr lang="ja-JP" altLang="en-US" dirty="0"/>
          </a:p>
        </p:txBody>
      </p:sp>
      <p:sp>
        <p:nvSpPr>
          <p:cNvPr id="10" name="Freeform 25"/>
          <p:cNvSpPr>
            <a:spLocks/>
          </p:cNvSpPr>
          <p:nvPr/>
        </p:nvSpPr>
        <p:spPr bwMode="auto">
          <a:xfrm>
            <a:off x="6096000" y="4149009"/>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3"/>
          </a:lnRef>
          <a:fillRef idx="2">
            <a:schemeClr val="accent3"/>
          </a:fillRef>
          <a:effectRef idx="1">
            <a:schemeClr val="accent3"/>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物理レジスタ・ファイル</a:t>
            </a:r>
          </a:p>
        </p:txBody>
      </p:sp>
      <p:sp>
        <p:nvSpPr>
          <p:cNvPr id="11" name="AutoShape 5"/>
          <p:cNvSpPr>
            <a:spLocks noChangeArrowheads="1"/>
          </p:cNvSpPr>
          <p:nvPr/>
        </p:nvSpPr>
        <p:spPr bwMode="auto">
          <a:xfrm rot="16200000">
            <a:off x="7716180" y="4833085"/>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ALU</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13" name="グループ化 12"/>
          <p:cNvGrpSpPr/>
          <p:nvPr/>
        </p:nvGrpSpPr>
        <p:grpSpPr>
          <a:xfrm>
            <a:off x="6384032" y="4869089"/>
            <a:ext cx="1008112" cy="432048"/>
            <a:chOff x="3563888" y="2708920"/>
            <a:chExt cx="1296144" cy="432048"/>
          </a:xfrm>
        </p:grpSpPr>
        <p:sp>
          <p:nvSpPr>
            <p:cNvPr id="14" name="Freeform 9"/>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6" name="Freeform 10"/>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17" name="Freeform 8"/>
          <p:cNvSpPr>
            <a:spLocks/>
          </p:cNvSpPr>
          <p:nvPr/>
        </p:nvSpPr>
        <p:spPr bwMode="auto">
          <a:xfrm>
            <a:off x="8832304" y="4869089"/>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8" name="正方形/長方形 17"/>
          <p:cNvSpPr/>
          <p:nvPr/>
        </p:nvSpPr>
        <p:spPr bwMode="auto">
          <a:xfrm>
            <a:off x="4655984" y="5139020"/>
            <a:ext cx="1080012" cy="1440017"/>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発行キュー</a:t>
            </a:r>
          </a:p>
        </p:txBody>
      </p:sp>
      <p:sp>
        <p:nvSpPr>
          <p:cNvPr id="19" name="正方形/長方形 18"/>
          <p:cNvSpPr/>
          <p:nvPr/>
        </p:nvSpPr>
        <p:spPr bwMode="auto">
          <a:xfrm>
            <a:off x="1955955" y="4689015"/>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命令メモリ</a:t>
            </a:r>
          </a:p>
        </p:txBody>
      </p:sp>
      <p:sp>
        <p:nvSpPr>
          <p:cNvPr id="20" name="正方形/長方形 19"/>
          <p:cNvSpPr/>
          <p:nvPr/>
        </p:nvSpPr>
        <p:spPr bwMode="auto">
          <a:xfrm>
            <a:off x="1685951" y="5139020"/>
            <a:ext cx="1152128" cy="1440016"/>
          </a:xfrm>
          <a:prstGeom prst="rect">
            <a:avLst/>
          </a:prstGeom>
          <a:ln>
            <a:headEnd/>
            <a:tailEnd type="non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sz="2000" dirty="0">
              <a:solidFill>
                <a:schemeClr val="bg1"/>
              </a:solidFill>
              <a:latin typeface="Arial Narrow" panose="020B0606020202030204" pitchFamily="34" charset="0"/>
            </a:endParaRPr>
          </a:p>
        </p:txBody>
      </p:sp>
      <p:sp>
        <p:nvSpPr>
          <p:cNvPr id="21" name="円弧 20">
            <a:extLst>
              <a:ext uri="{FF2B5EF4-FFF2-40B4-BE49-F238E27FC236}">
                <a16:creationId xmlns:a16="http://schemas.microsoft.com/office/drawing/2014/main" id="{6F1D8C82-3F05-4E06-B186-6D617FA590FE}"/>
              </a:ext>
            </a:extLst>
          </p:cNvPr>
          <p:cNvSpPr/>
          <p:nvPr/>
        </p:nvSpPr>
        <p:spPr bwMode="auto">
          <a:xfrm flipV="1">
            <a:off x="4925987" y="5229021"/>
            <a:ext cx="540006" cy="360004"/>
          </a:xfrm>
          <a:prstGeom prst="arc">
            <a:avLst>
              <a:gd name="adj1" fmla="val 7110124"/>
              <a:gd name="adj2" fmla="val 3999268"/>
            </a:avLst>
          </a:pr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
        <p:nvSpPr>
          <p:cNvPr id="28" name="正方形/長方形 27">
            <a:extLst>
              <a:ext uri="{FF2B5EF4-FFF2-40B4-BE49-F238E27FC236}">
                <a16:creationId xmlns:a16="http://schemas.microsoft.com/office/drawing/2014/main" id="{9B9CDD20-6050-4C5A-BE36-3D5ABA9C2D93}"/>
              </a:ext>
            </a:extLst>
          </p:cNvPr>
          <p:cNvSpPr/>
          <p:nvPr/>
        </p:nvSpPr>
        <p:spPr bwMode="auto">
          <a:xfrm>
            <a:off x="4925988" y="4689015"/>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スケジュール</a:t>
            </a:r>
          </a:p>
        </p:txBody>
      </p:sp>
    </p:spTree>
    <p:extLst>
      <p:ext uri="{BB962C8B-B14F-4D97-AF65-F5344CB8AC3E}">
        <p14:creationId xmlns:p14="http://schemas.microsoft.com/office/powerpoint/2010/main" val="40972679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F35A29-56F4-4B4C-87E7-EEEF61693E9A}"/>
              </a:ext>
            </a:extLst>
          </p:cNvPr>
          <p:cNvSpPr>
            <a:spLocks noGrp="1"/>
          </p:cNvSpPr>
          <p:nvPr>
            <p:ph type="title"/>
          </p:nvPr>
        </p:nvSpPr>
        <p:spPr/>
        <p:txBody>
          <a:bodyPr/>
          <a:lstStyle/>
          <a:p>
            <a:r>
              <a:rPr kumimoji="1" lang="ja-JP" altLang="en-US" dirty="0"/>
              <a:t>トマスロ方式と物理レジスタ方式の違い</a:t>
            </a:r>
          </a:p>
        </p:txBody>
      </p:sp>
      <p:sp>
        <p:nvSpPr>
          <p:cNvPr id="3" name="テキスト プレースホルダー 2">
            <a:extLst>
              <a:ext uri="{FF2B5EF4-FFF2-40B4-BE49-F238E27FC236}">
                <a16:creationId xmlns:a16="http://schemas.microsoft.com/office/drawing/2014/main" id="{33B23E64-0EED-4262-87AB-F05BDEF92084}"/>
              </a:ext>
            </a:extLst>
          </p:cNvPr>
          <p:cNvSpPr>
            <a:spLocks noGrp="1"/>
          </p:cNvSpPr>
          <p:nvPr>
            <p:ph type="body" sz="quarter" idx="10"/>
          </p:nvPr>
        </p:nvSpPr>
        <p:spPr/>
        <p:txBody>
          <a:bodyPr/>
          <a:lstStyle/>
          <a:p>
            <a:r>
              <a:rPr lang="ja-JP" altLang="en-US" dirty="0"/>
              <a:t>トマスロ方式は，</a:t>
            </a:r>
            <a:r>
              <a:rPr lang="en-US" altLang="ja-JP" dirty="0"/>
              <a:t>in-order </a:t>
            </a:r>
            <a:r>
              <a:rPr lang="ja-JP" altLang="en-US" dirty="0"/>
              <a:t>発行を行う </a:t>
            </a:r>
            <a:r>
              <a:rPr lang="en-US" altLang="ja-JP" dirty="0"/>
              <a:t>CPU </a:t>
            </a:r>
            <a:r>
              <a:rPr lang="ja-JP" altLang="en-US" dirty="0"/>
              <a:t>からの延長</a:t>
            </a:r>
            <a:endParaRPr lang="en-US" altLang="ja-JP" dirty="0"/>
          </a:p>
          <a:p>
            <a:pPr lvl="1"/>
            <a:r>
              <a:rPr lang="ja-JP" altLang="en-US" dirty="0"/>
              <a:t>論理レジスタ・ファイルを拡張して，現在待ち合わせ中の場合はそれをタグとして書いておく</a:t>
            </a:r>
            <a:endParaRPr lang="en-US" altLang="ja-JP" dirty="0"/>
          </a:p>
          <a:p>
            <a:pPr lvl="1"/>
            <a:r>
              <a:rPr lang="ja-JP" altLang="en-US" dirty="0"/>
              <a:t>実行結果のデータそのものをバッファ（リザベーション・ステーション）で待ち合わせる</a:t>
            </a:r>
            <a:endParaRPr lang="en-US" altLang="ja-JP" dirty="0"/>
          </a:p>
          <a:p>
            <a:r>
              <a:rPr lang="ja-JP" altLang="en-US" dirty="0"/>
              <a:t>物理レジスタ方式は，データとスケジュールを完全に分離</a:t>
            </a:r>
            <a:endParaRPr lang="en-US" altLang="ja-JP" dirty="0"/>
          </a:p>
          <a:p>
            <a:pPr lvl="1"/>
            <a:r>
              <a:rPr lang="ja-JP" altLang="en-US" dirty="0"/>
              <a:t>まずリネームをしてしまう</a:t>
            </a:r>
            <a:endParaRPr lang="en-US" altLang="ja-JP" dirty="0"/>
          </a:p>
          <a:p>
            <a:pPr lvl="1"/>
            <a:r>
              <a:rPr lang="ja-JP" altLang="en-US" dirty="0"/>
              <a:t>リネーム結果の真の依存にのみ従ってスケジュール</a:t>
            </a:r>
            <a:endParaRPr lang="en-US" altLang="ja-JP" dirty="0"/>
          </a:p>
        </p:txBody>
      </p:sp>
    </p:spTree>
    <p:extLst>
      <p:ext uri="{BB962C8B-B14F-4D97-AF65-F5344CB8AC3E}">
        <p14:creationId xmlns:p14="http://schemas.microsoft.com/office/powerpoint/2010/main" val="1162625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F35A29-56F4-4B4C-87E7-EEEF61693E9A}"/>
              </a:ext>
            </a:extLst>
          </p:cNvPr>
          <p:cNvSpPr>
            <a:spLocks noGrp="1"/>
          </p:cNvSpPr>
          <p:nvPr>
            <p:ph type="title"/>
          </p:nvPr>
        </p:nvSpPr>
        <p:spPr/>
        <p:txBody>
          <a:bodyPr/>
          <a:lstStyle/>
          <a:p>
            <a:r>
              <a:rPr lang="ja-JP" altLang="en-US" dirty="0"/>
              <a:t>性質の違い</a:t>
            </a:r>
            <a:endParaRPr kumimoji="1" lang="ja-JP" altLang="en-US" dirty="0"/>
          </a:p>
        </p:txBody>
      </p:sp>
      <p:sp>
        <p:nvSpPr>
          <p:cNvPr id="3" name="テキスト プレースホルダー 2">
            <a:extLst>
              <a:ext uri="{FF2B5EF4-FFF2-40B4-BE49-F238E27FC236}">
                <a16:creationId xmlns:a16="http://schemas.microsoft.com/office/drawing/2014/main" id="{33B23E64-0EED-4262-87AB-F05BDEF92084}"/>
              </a:ext>
            </a:extLst>
          </p:cNvPr>
          <p:cNvSpPr>
            <a:spLocks noGrp="1"/>
          </p:cNvSpPr>
          <p:nvPr>
            <p:ph type="body" sz="quarter" idx="10"/>
          </p:nvPr>
        </p:nvSpPr>
        <p:spPr/>
        <p:txBody>
          <a:bodyPr/>
          <a:lstStyle/>
          <a:p>
            <a:r>
              <a:rPr lang="ja-JP" altLang="en-US" dirty="0"/>
              <a:t>トマスロ方式</a:t>
            </a:r>
            <a:endParaRPr lang="en-US" altLang="ja-JP" dirty="0"/>
          </a:p>
          <a:p>
            <a:pPr lvl="1"/>
            <a:r>
              <a:rPr lang="ja-JP" altLang="en-US" dirty="0"/>
              <a:t>リネームとスケジュールがちょっとまじってる</a:t>
            </a:r>
            <a:endParaRPr lang="en-US" altLang="ja-JP" dirty="0"/>
          </a:p>
          <a:p>
            <a:pPr lvl="2"/>
            <a:r>
              <a:rPr lang="ja-JP" altLang="en-US" dirty="0"/>
              <a:t>マトリクス・スケジューラとか直接には適用できないと思う</a:t>
            </a:r>
            <a:endParaRPr lang="en-US" altLang="ja-JP" dirty="0"/>
          </a:p>
          <a:p>
            <a:pPr lvl="1"/>
            <a:r>
              <a:rPr lang="ja-JP" altLang="en-US" dirty="0"/>
              <a:t>レジスタの値は複数箇所に複製されて存在</a:t>
            </a:r>
            <a:endParaRPr lang="en-US" altLang="ja-JP" dirty="0"/>
          </a:p>
          <a:p>
            <a:pPr lvl="2"/>
            <a:r>
              <a:rPr kumimoji="1" lang="ja-JP" altLang="en-US" dirty="0"/>
              <a:t>論理レジスタ・ファイル，リザベーション・ステーション</a:t>
            </a:r>
            <a:endParaRPr kumimoji="1" lang="en-US" altLang="ja-JP" dirty="0"/>
          </a:p>
          <a:p>
            <a:pPr lvl="1"/>
            <a:r>
              <a:rPr lang="ja-JP" altLang="en-US" dirty="0"/>
              <a:t>データはフロントエンドとバックエンドでアクセス</a:t>
            </a:r>
            <a:endParaRPr lang="en-US" altLang="ja-JP" dirty="0"/>
          </a:p>
          <a:p>
            <a:r>
              <a:rPr kumimoji="1" lang="ja-JP" altLang="en-US" dirty="0"/>
              <a:t>物理レジスタ方式</a:t>
            </a:r>
            <a:endParaRPr kumimoji="1" lang="en-US" altLang="ja-JP" dirty="0"/>
          </a:p>
          <a:p>
            <a:pPr lvl="1"/>
            <a:r>
              <a:rPr lang="ja-JP" altLang="en-US" dirty="0"/>
              <a:t>リネームとスケジュールはそれぞれ独立に行われる</a:t>
            </a:r>
            <a:endParaRPr lang="en-US" altLang="ja-JP" dirty="0"/>
          </a:p>
          <a:p>
            <a:pPr lvl="1"/>
            <a:r>
              <a:rPr kumimoji="1" lang="ja-JP" altLang="en-US" dirty="0"/>
              <a:t>レジスタの値は単一の物理レジスタ・ファイルに格納</a:t>
            </a:r>
            <a:endParaRPr kumimoji="1" lang="en-US" altLang="ja-JP" dirty="0"/>
          </a:p>
          <a:p>
            <a:pPr lvl="1"/>
            <a:r>
              <a:rPr lang="ja-JP" altLang="en-US" dirty="0"/>
              <a:t>データはバックエンドでのみアクセス</a:t>
            </a:r>
            <a:endParaRPr kumimoji="1" lang="en-US" altLang="ja-JP" dirty="0"/>
          </a:p>
          <a:p>
            <a:r>
              <a:rPr kumimoji="1" lang="ja-JP" altLang="en-US" dirty="0"/>
              <a:t>基本的に後者を理解していればよいが，教科書は前者で書かれている</a:t>
            </a:r>
            <a:br>
              <a:rPr kumimoji="1" lang="en-US" altLang="ja-JP" dirty="0"/>
            </a:br>
            <a:r>
              <a:rPr kumimoji="1" lang="ja-JP" altLang="en-US" dirty="0"/>
              <a:t>ことがあるため，違いをまとめておいた</a:t>
            </a:r>
          </a:p>
        </p:txBody>
      </p:sp>
    </p:spTree>
    <p:extLst>
      <p:ext uri="{BB962C8B-B14F-4D97-AF65-F5344CB8AC3E}">
        <p14:creationId xmlns:p14="http://schemas.microsoft.com/office/powerpoint/2010/main" val="26016631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out-of-order </a:t>
            </a:r>
            <a:r>
              <a:rPr kumimoji="1" lang="ja-JP" altLang="en-US" dirty="0"/>
              <a:t>発行の残りの話題</a:t>
            </a:r>
          </a:p>
        </p:txBody>
      </p:sp>
      <p:sp>
        <p:nvSpPr>
          <p:cNvPr id="3" name="テキスト プレースホルダー 2"/>
          <p:cNvSpPr>
            <a:spLocks noGrp="1"/>
          </p:cNvSpPr>
          <p:nvPr>
            <p:ph type="body" sz="quarter" idx="10"/>
          </p:nvPr>
        </p:nvSpPr>
        <p:spPr/>
        <p:txBody>
          <a:bodyPr/>
          <a:lstStyle/>
          <a:p>
            <a:r>
              <a:rPr kumimoji="1" lang="ja-JP" altLang="en-US" dirty="0"/>
              <a:t>例外への対応</a:t>
            </a:r>
            <a:endParaRPr kumimoji="1" lang="en-US" altLang="ja-JP" dirty="0"/>
          </a:p>
          <a:p>
            <a:r>
              <a:rPr kumimoji="1" lang="ja-JP" altLang="en-US" dirty="0"/>
              <a:t>ロード・ストアへの対応</a:t>
            </a:r>
          </a:p>
        </p:txBody>
      </p:sp>
    </p:spTree>
    <p:extLst>
      <p:ext uri="{BB962C8B-B14F-4D97-AF65-F5344CB8AC3E}">
        <p14:creationId xmlns:p14="http://schemas.microsoft.com/office/powerpoint/2010/main" val="28526281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出欠と感想</a:t>
            </a:r>
            <a:endParaRPr kumimoji="1" lang="ja-JP" altLang="en-US" dirty="0"/>
          </a:p>
        </p:txBody>
      </p:sp>
      <p:sp>
        <p:nvSpPr>
          <p:cNvPr id="3" name="テキスト プレースホルダー 2"/>
          <p:cNvSpPr>
            <a:spLocks noGrp="1"/>
          </p:cNvSpPr>
          <p:nvPr>
            <p:ph type="body" sz="quarter" idx="10"/>
          </p:nvPr>
        </p:nvSpPr>
        <p:spPr>
          <a:xfrm>
            <a:off x="1865953" y="1088977"/>
            <a:ext cx="8532044" cy="5219751"/>
          </a:xfrm>
        </p:spPr>
        <p:txBody>
          <a:bodyPr/>
          <a:lstStyle/>
          <a:p>
            <a:r>
              <a:rPr lang="ja-JP" altLang="en-US" dirty="0"/>
              <a:t>本日の講義でよくわかったところ，わからなかったところ，</a:t>
            </a:r>
            <a:br>
              <a:rPr lang="en-US" altLang="ja-JP" dirty="0"/>
            </a:br>
            <a:r>
              <a:rPr lang="ja-JP" altLang="en-US" dirty="0"/>
              <a:t>質問，感想などを </a:t>
            </a:r>
            <a:r>
              <a:rPr lang="en-US" altLang="ja-JP" dirty="0"/>
              <a:t>UTOL </a:t>
            </a:r>
            <a:r>
              <a:rPr lang="ja-JP" altLang="en-US" dirty="0"/>
              <a:t>の出席欄に書いてください</a:t>
            </a:r>
            <a:endParaRPr lang="en-US" altLang="ja-JP" dirty="0"/>
          </a:p>
          <a:p>
            <a:pPr lvl="1"/>
            <a:r>
              <a:rPr lang="en-US" altLang="ja-JP" dirty="0"/>
              <a:t>LMS </a:t>
            </a:r>
            <a:r>
              <a:rPr lang="ja-JP" altLang="en-US" dirty="0"/>
              <a:t>の出席を設定するので，そこにお願いします</a:t>
            </a:r>
            <a:endParaRPr lang="en-US" altLang="ja-JP" dirty="0"/>
          </a:p>
          <a:p>
            <a:pPr lvl="1"/>
            <a:r>
              <a:rPr lang="ja-JP" altLang="en-US" dirty="0"/>
              <a:t>パスワード ：</a:t>
            </a:r>
            <a:r>
              <a:rPr lang="en-US" altLang="ja-JP" dirty="0"/>
              <a:t>arc</a:t>
            </a:r>
          </a:p>
          <a:p>
            <a:r>
              <a:rPr lang="ja-JP" altLang="en-US" dirty="0"/>
              <a:t>意見や内容へのリクエストもあったら書いてください</a:t>
            </a:r>
            <a:endParaRPr lang="en-US" altLang="ja-JP" dirty="0"/>
          </a:p>
          <a:p>
            <a:r>
              <a:rPr lang="en-US" altLang="ja-JP" dirty="0">
                <a:solidFill>
                  <a:schemeClr val="accent5"/>
                </a:solidFill>
              </a:rPr>
              <a:t>UTOL </a:t>
            </a:r>
            <a:r>
              <a:rPr lang="ja-JP" altLang="en-US" dirty="0">
                <a:solidFill>
                  <a:schemeClr val="accent5"/>
                </a:solidFill>
              </a:rPr>
              <a:t>の出席の締め切りは来週の講義開始までに設定してあります</a:t>
            </a:r>
            <a:endParaRPr lang="en-US" altLang="ja-JP" dirty="0">
              <a:solidFill>
                <a:schemeClr val="accent5"/>
              </a:solidFill>
            </a:endParaRPr>
          </a:p>
          <a:p>
            <a:pPr lvl="1"/>
            <a:r>
              <a:rPr lang="ja-JP" altLang="en-US" dirty="0"/>
              <a:t>仕様上「遅刻」表示になりますが，特に減点等しません</a:t>
            </a:r>
            <a:endParaRPr lang="en-US" altLang="ja-JP" dirty="0"/>
          </a:p>
          <a:p>
            <a:pPr lvl="1"/>
            <a:r>
              <a:rPr lang="ja-JP" altLang="en-US" dirty="0"/>
              <a:t>来週の講義開始までは感想や質問などを受け付けます</a:t>
            </a:r>
          </a:p>
        </p:txBody>
      </p:sp>
    </p:spTree>
    <p:extLst>
      <p:ext uri="{BB962C8B-B14F-4D97-AF65-F5344CB8AC3E}">
        <p14:creationId xmlns:p14="http://schemas.microsoft.com/office/powerpoint/2010/main" val="3225474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D92FC6-C481-4334-E992-204B439ABF09}"/>
              </a:ext>
            </a:extLst>
          </p:cNvPr>
          <p:cNvSpPr>
            <a:spLocks noGrp="1"/>
          </p:cNvSpPr>
          <p:nvPr>
            <p:ph type="title"/>
          </p:nvPr>
        </p:nvSpPr>
        <p:spPr/>
        <p:txBody>
          <a:bodyPr/>
          <a:lstStyle/>
          <a:p>
            <a:r>
              <a:rPr lang="ja-JP" altLang="en-US" dirty="0"/>
              <a:t>出席</a:t>
            </a:r>
            <a:endParaRPr kumimoji="1" lang="ja-JP" altLang="en-US" dirty="0"/>
          </a:p>
        </p:txBody>
      </p:sp>
      <p:sp>
        <p:nvSpPr>
          <p:cNvPr id="3" name="テキスト プレースホルダー 2">
            <a:extLst>
              <a:ext uri="{FF2B5EF4-FFF2-40B4-BE49-F238E27FC236}">
                <a16:creationId xmlns:a16="http://schemas.microsoft.com/office/drawing/2014/main" id="{BA87AF6B-357A-C55C-6782-832EA49BA99E}"/>
              </a:ext>
            </a:extLst>
          </p:cNvPr>
          <p:cNvSpPr>
            <a:spLocks noGrp="1"/>
          </p:cNvSpPr>
          <p:nvPr>
            <p:ph type="body" sz="quarter" idx="10"/>
          </p:nvPr>
        </p:nvSpPr>
        <p:spPr>
          <a:xfrm>
            <a:off x="1775952" y="1088974"/>
            <a:ext cx="9180102" cy="5219751"/>
          </a:xfrm>
        </p:spPr>
        <p:txBody>
          <a:bodyPr/>
          <a:lstStyle/>
          <a:p>
            <a:r>
              <a:rPr lang="ja-JP" altLang="en-US" dirty="0">
                <a:solidFill>
                  <a:schemeClr val="accent6"/>
                </a:solidFill>
              </a:rPr>
              <a:t>以下のスプレッドシートの自分の席のところに学籍番号を書いてください</a:t>
            </a:r>
            <a:endParaRPr kumimoji="1" lang="en-US" altLang="ja-JP" dirty="0">
              <a:hlinkClick r:id="" action="ppaction://noaction"/>
            </a:endParaRPr>
          </a:p>
          <a:p>
            <a:pPr lvl="1"/>
            <a:r>
              <a:rPr lang="en-US" altLang="ja-JP" dirty="0">
                <a:hlinkClick r:id="rId2"/>
              </a:rPr>
              <a:t>https://docs.google.com/spreadsheets/d/1i0bKA1Kc1Q7LkBjUOqE_9eknfiOEaCf1ghw4MIyDTLU/edit?usp=drive_link</a:t>
            </a:r>
            <a:endParaRPr lang="en-US" altLang="ja-JP" dirty="0"/>
          </a:p>
          <a:p>
            <a:pPr lvl="1"/>
            <a:r>
              <a:rPr lang="ja-JP" altLang="en-US" dirty="0"/>
              <a:t>学生側から見た場合の配置で（画面上が教団側），席の対応する行と列のところに書いてください</a:t>
            </a:r>
            <a:endParaRPr lang="en-US" altLang="ja-JP" dirty="0"/>
          </a:p>
          <a:p>
            <a:endParaRPr kumimoji="1" lang="ja-JP" altLang="en-US" dirty="0"/>
          </a:p>
        </p:txBody>
      </p:sp>
    </p:spTree>
    <p:extLst>
      <p:ext uri="{BB962C8B-B14F-4D97-AF65-F5344CB8AC3E}">
        <p14:creationId xmlns:p14="http://schemas.microsoft.com/office/powerpoint/2010/main" val="36423834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523BF5-14FB-8683-FE06-2A37D9B3B5FB}"/>
              </a:ext>
            </a:extLst>
          </p:cNvPr>
          <p:cNvSpPr>
            <a:spLocks noGrp="1"/>
          </p:cNvSpPr>
          <p:nvPr>
            <p:ph type="title"/>
          </p:nvPr>
        </p:nvSpPr>
        <p:spPr/>
        <p:txBody>
          <a:bodyPr/>
          <a:lstStyle/>
          <a:p>
            <a:r>
              <a:rPr kumimoji="1" lang="ja-JP" altLang="en-US" dirty="0"/>
              <a:t>次回講義について</a:t>
            </a:r>
          </a:p>
        </p:txBody>
      </p:sp>
      <p:sp>
        <p:nvSpPr>
          <p:cNvPr id="3" name="テキスト プレースホルダー 2">
            <a:extLst>
              <a:ext uri="{FF2B5EF4-FFF2-40B4-BE49-F238E27FC236}">
                <a16:creationId xmlns:a16="http://schemas.microsoft.com/office/drawing/2014/main" id="{946F9808-8BA5-C968-B215-206E9DD0E343}"/>
              </a:ext>
            </a:extLst>
          </p:cNvPr>
          <p:cNvSpPr>
            <a:spLocks noGrp="1"/>
          </p:cNvSpPr>
          <p:nvPr>
            <p:ph type="body" sz="quarter" idx="10"/>
          </p:nvPr>
        </p:nvSpPr>
        <p:spPr/>
        <p:txBody>
          <a:bodyPr/>
          <a:lstStyle/>
          <a:p>
            <a:r>
              <a:rPr kumimoji="1" lang="en-US" altLang="ja-JP" dirty="0"/>
              <a:t>7/16 </a:t>
            </a:r>
            <a:r>
              <a:rPr kumimoji="1" lang="ja-JP" altLang="en-US" dirty="0"/>
              <a:t>木曜 </a:t>
            </a:r>
            <a:r>
              <a:rPr kumimoji="1" lang="en-US" altLang="ja-JP" dirty="0"/>
              <a:t>2</a:t>
            </a:r>
            <a:r>
              <a:rPr kumimoji="1" lang="ja-JP" altLang="en-US" dirty="0"/>
              <a:t>限（</a:t>
            </a:r>
            <a:r>
              <a:rPr kumimoji="1" lang="en-US" altLang="ja-JP" dirty="0"/>
              <a:t>10:25</a:t>
            </a:r>
            <a:r>
              <a:rPr kumimoji="1" lang="ja-JP" altLang="en-US" dirty="0"/>
              <a:t>）に補講を行います</a:t>
            </a:r>
            <a:endParaRPr kumimoji="1" lang="en-US" altLang="ja-JP" dirty="0"/>
          </a:p>
        </p:txBody>
      </p:sp>
    </p:spTree>
    <p:extLst>
      <p:ext uri="{BB962C8B-B14F-4D97-AF65-F5344CB8AC3E}">
        <p14:creationId xmlns:p14="http://schemas.microsoft.com/office/powerpoint/2010/main" val="39587710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D963A0-8F13-03C7-EADA-ED87B8A615D3}"/>
              </a:ext>
            </a:extLst>
          </p:cNvPr>
          <p:cNvSpPr>
            <a:spLocks noGrp="1"/>
          </p:cNvSpPr>
          <p:nvPr>
            <p:ph type="title"/>
          </p:nvPr>
        </p:nvSpPr>
        <p:spPr/>
        <p:txBody>
          <a:bodyPr/>
          <a:lstStyle/>
          <a:p>
            <a:r>
              <a:rPr kumimoji="1" lang="ja-JP" altLang="en-US" dirty="0"/>
              <a:t>課題について</a:t>
            </a:r>
          </a:p>
        </p:txBody>
      </p:sp>
      <p:sp>
        <p:nvSpPr>
          <p:cNvPr id="3" name="テキスト プレースホルダー 2">
            <a:extLst>
              <a:ext uri="{FF2B5EF4-FFF2-40B4-BE49-F238E27FC236}">
                <a16:creationId xmlns:a16="http://schemas.microsoft.com/office/drawing/2014/main" id="{9C92E4BC-13D6-8B53-B835-FE013406C835}"/>
              </a:ext>
            </a:extLst>
          </p:cNvPr>
          <p:cNvSpPr>
            <a:spLocks noGrp="1"/>
          </p:cNvSpPr>
          <p:nvPr>
            <p:ph type="body" sz="quarter" idx="10"/>
          </p:nvPr>
        </p:nvSpPr>
        <p:spPr>
          <a:xfrm>
            <a:off x="1775952" y="1088974"/>
            <a:ext cx="9540106" cy="5219751"/>
          </a:xfrm>
        </p:spPr>
        <p:txBody>
          <a:bodyPr/>
          <a:lstStyle/>
          <a:p>
            <a:r>
              <a:rPr kumimoji="1" lang="ja-JP" altLang="en-US" dirty="0"/>
              <a:t>ハードウェア</a:t>
            </a:r>
            <a:r>
              <a:rPr lang="ja-JP" altLang="en-US" dirty="0"/>
              <a:t>で使われている高速化技法のうち１つを選び，プログラムを書いて時間計測を行い，そのパラメータを推定して，レポートにまとめよ</a:t>
            </a:r>
            <a:endParaRPr lang="en-US" altLang="ja-JP" dirty="0"/>
          </a:p>
          <a:p>
            <a:r>
              <a:rPr lang="ja-JP" altLang="en-US" dirty="0"/>
              <a:t>例：</a:t>
            </a:r>
            <a:endParaRPr lang="en-US" altLang="ja-JP" dirty="0"/>
          </a:p>
          <a:p>
            <a:pPr lvl="1"/>
            <a:r>
              <a:rPr kumimoji="1" lang="ja-JP" altLang="en-US" dirty="0"/>
              <a:t>キャッシュの各階層のサイズとレイテンシ</a:t>
            </a:r>
            <a:endParaRPr kumimoji="1" lang="en-US" altLang="ja-JP" dirty="0"/>
          </a:p>
          <a:p>
            <a:pPr lvl="1"/>
            <a:r>
              <a:rPr lang="ja-JP" altLang="en-US" dirty="0"/>
              <a:t>分岐予測器の履歴長</a:t>
            </a:r>
            <a:endParaRPr lang="en-US" altLang="ja-JP" dirty="0"/>
          </a:p>
          <a:p>
            <a:pPr lvl="2"/>
            <a:r>
              <a:rPr lang="ja-JP" altLang="en-US" dirty="0"/>
              <a:t>高難易度：</a:t>
            </a:r>
            <a:r>
              <a:rPr lang="en-US" altLang="ja-JP" dirty="0"/>
              <a:t>TAGE </a:t>
            </a:r>
            <a:r>
              <a:rPr lang="ja-JP" altLang="en-US" dirty="0"/>
              <a:t>のテーブルの数やサイズ</a:t>
            </a:r>
            <a:endParaRPr lang="en-US" altLang="ja-JP" dirty="0"/>
          </a:p>
          <a:p>
            <a:pPr lvl="1"/>
            <a:r>
              <a:rPr kumimoji="1" lang="en-US" altLang="ja-JP" dirty="0" err="1"/>
              <a:t>OoO</a:t>
            </a:r>
            <a:r>
              <a:rPr kumimoji="1" lang="en-US" altLang="ja-JP" dirty="0"/>
              <a:t> </a:t>
            </a:r>
            <a:r>
              <a:rPr kumimoji="1" lang="ja-JP" altLang="en-US" dirty="0"/>
              <a:t>実行において，並び替えられる命令の範囲の限界</a:t>
            </a:r>
            <a:endParaRPr kumimoji="1" lang="en-US" altLang="ja-JP" dirty="0"/>
          </a:p>
          <a:p>
            <a:r>
              <a:rPr lang="ja-JP" altLang="en-US" dirty="0"/>
              <a:t>備考</a:t>
            </a:r>
            <a:endParaRPr lang="en-US" altLang="ja-JP" dirty="0"/>
          </a:p>
          <a:p>
            <a:pPr lvl="1"/>
            <a:r>
              <a:rPr lang="ja-JP" altLang="en-US" dirty="0"/>
              <a:t>基本的にはループ状のプログラムを書いて時間を計測することで推定できる</a:t>
            </a:r>
            <a:endParaRPr lang="en-US" altLang="ja-JP" dirty="0"/>
          </a:p>
          <a:p>
            <a:pPr lvl="1"/>
            <a:r>
              <a:rPr kumimoji="1" lang="ja-JP" altLang="en-US" dirty="0"/>
              <a:t>締め切り：</a:t>
            </a:r>
            <a:r>
              <a:rPr kumimoji="1" lang="en-US" altLang="ja-JP" dirty="0"/>
              <a:t>8/12 </a:t>
            </a:r>
            <a:r>
              <a:rPr kumimoji="1" lang="ja-JP" altLang="en-US" dirty="0"/>
              <a:t>水</a:t>
            </a:r>
            <a:r>
              <a:rPr kumimoji="1" lang="en-US" altLang="ja-JP" dirty="0"/>
              <a:t> </a:t>
            </a:r>
          </a:p>
          <a:p>
            <a:pPr lvl="1"/>
            <a:r>
              <a:rPr lang="ja-JP" altLang="en-US" dirty="0"/>
              <a:t>非情報系などの人で，プログラミングが厳しい等の人は応相談</a:t>
            </a:r>
            <a:endParaRPr kumimoji="1" lang="ja-JP" altLang="en-US" dirty="0"/>
          </a:p>
        </p:txBody>
      </p:sp>
    </p:spTree>
    <p:extLst>
      <p:ext uri="{BB962C8B-B14F-4D97-AF65-F5344CB8AC3E}">
        <p14:creationId xmlns:p14="http://schemas.microsoft.com/office/powerpoint/2010/main" val="2642799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442985-A46F-DE96-7049-746BCED75635}"/>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AE21B13D-70EA-8BE8-BFE8-EE89AEAB3DAA}"/>
              </a:ext>
            </a:extLst>
          </p:cNvPr>
          <p:cNvSpPr>
            <a:spLocks noGrp="1"/>
          </p:cNvSpPr>
          <p:nvPr>
            <p:ph type="body" sz="quarter" idx="10"/>
          </p:nvPr>
        </p:nvSpPr>
        <p:spPr/>
        <p:txBody>
          <a:bodyPr/>
          <a:lstStyle/>
          <a:p>
            <a:r>
              <a:rPr lang="ja-JP" altLang="en-US" dirty="0"/>
              <a:t>技術的に「ハードウェアをシンプルにする」という</a:t>
            </a:r>
            <a:r>
              <a:rPr lang="en-US" altLang="ja-JP" dirty="0"/>
              <a:t>VLIW</a:t>
            </a:r>
            <a:r>
              <a:rPr lang="ja-JP" altLang="en-US" dirty="0"/>
              <a:t>の思想は極めて美しく、</a:t>
            </a:r>
            <a:r>
              <a:rPr lang="en-US" altLang="ja-JP" dirty="0"/>
              <a:t>Intel</a:t>
            </a:r>
            <a:r>
              <a:rPr lang="ja-JP" altLang="en-US" dirty="0"/>
              <a:t>という巨人が社運を賭けたにもかかわらず、動的なキャッシュミスや世代間の互換性という現実の壁に阻まれて崩壊していくプロセスへの無常観が切ない</a:t>
            </a:r>
            <a:r>
              <a:rPr lang="en-US" altLang="ja-JP" dirty="0"/>
              <a:t>… </a:t>
            </a:r>
            <a:r>
              <a:rPr lang="ja-JP" altLang="en-US" dirty="0"/>
              <a:t>逆に一見泥臭く見える「過去の遺産（</a:t>
            </a:r>
            <a:r>
              <a:rPr lang="en-US" altLang="ja-JP" dirty="0"/>
              <a:t>x86</a:t>
            </a:r>
            <a:r>
              <a:rPr lang="ja-JP" altLang="en-US" dirty="0"/>
              <a:t>）との互換性や、回路を複雑にしてでも現場で並び替える</a:t>
            </a:r>
            <a:r>
              <a:rPr lang="en-US" altLang="ja-JP" dirty="0"/>
              <a:t>Out-of-Order</a:t>
            </a:r>
            <a:r>
              <a:rPr lang="ja-JP" altLang="en-US" dirty="0"/>
              <a:t>の動的泥臭さこそが、最終的に勝者となるという、いかにもなろう小説っぽい流れが個人的に好きでした。</a:t>
            </a:r>
          </a:p>
          <a:p>
            <a:endParaRPr kumimoji="1" lang="en-US" altLang="ja-JP" dirty="0"/>
          </a:p>
        </p:txBody>
      </p:sp>
    </p:spTree>
    <p:extLst>
      <p:ext uri="{BB962C8B-B14F-4D97-AF65-F5344CB8AC3E}">
        <p14:creationId xmlns:p14="http://schemas.microsoft.com/office/powerpoint/2010/main" val="1801622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08D2E-5623-6C49-3140-0DE0A2C11FB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A83E283-87A8-D4FD-39E2-3C9CB54E2C06}"/>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DEDA8ED7-8505-D7AD-F039-F9DF63474776}"/>
              </a:ext>
            </a:extLst>
          </p:cNvPr>
          <p:cNvSpPr>
            <a:spLocks noGrp="1"/>
          </p:cNvSpPr>
          <p:nvPr>
            <p:ph type="body" sz="quarter" idx="10"/>
          </p:nvPr>
        </p:nvSpPr>
        <p:spPr/>
        <p:txBody>
          <a:bodyPr/>
          <a:lstStyle/>
          <a:p>
            <a:r>
              <a:rPr lang="ja-JP" altLang="en-US" dirty="0"/>
              <a:t>値予測を悪用した攻撃、というところでどのようにやれば攻撃ができてしまうのかすごくざっくり教えていただきたいです。</a:t>
            </a:r>
          </a:p>
          <a:p>
            <a:endParaRPr kumimoji="1" lang="en-US" altLang="ja-JP" dirty="0"/>
          </a:p>
        </p:txBody>
      </p:sp>
    </p:spTree>
    <p:extLst>
      <p:ext uri="{BB962C8B-B14F-4D97-AF65-F5344CB8AC3E}">
        <p14:creationId xmlns:p14="http://schemas.microsoft.com/office/powerpoint/2010/main" val="2116790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030C5-F0D8-0136-9348-663747A5168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FC24B28-A72C-2077-8069-9BF884722BE4}"/>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DB367F5A-1A6F-D2BE-6FB6-340FCE0189FB}"/>
              </a:ext>
            </a:extLst>
          </p:cNvPr>
          <p:cNvSpPr>
            <a:spLocks noGrp="1"/>
          </p:cNvSpPr>
          <p:nvPr>
            <p:ph type="body" sz="quarter" idx="10"/>
          </p:nvPr>
        </p:nvSpPr>
        <p:spPr/>
        <p:txBody>
          <a:bodyPr/>
          <a:lstStyle/>
          <a:p>
            <a:r>
              <a:rPr lang="en-US" altLang="ja-JP" dirty="0"/>
              <a:t>TPU</a:t>
            </a:r>
            <a:r>
              <a:rPr lang="ja-JP" altLang="en-US" dirty="0"/>
              <a:t>における</a:t>
            </a:r>
            <a:r>
              <a:rPr lang="en-US" altLang="ja-JP" dirty="0"/>
              <a:t>VLIW</a:t>
            </a:r>
            <a:r>
              <a:rPr lang="ja-JP" altLang="en-US" dirty="0"/>
              <a:t>や</a:t>
            </a:r>
            <a:r>
              <a:rPr lang="en-US" altLang="ja-JP" dirty="0"/>
              <a:t>RISC</a:t>
            </a:r>
            <a:r>
              <a:rPr lang="ja-JP" altLang="en-US" dirty="0"/>
              <a:t>など、結局は命令セットで解決するのが強いのだなと感じました。</a:t>
            </a:r>
            <a:endParaRPr kumimoji="1" lang="en-US" altLang="ja-JP" dirty="0"/>
          </a:p>
        </p:txBody>
      </p:sp>
    </p:spTree>
    <p:extLst>
      <p:ext uri="{BB962C8B-B14F-4D97-AF65-F5344CB8AC3E}">
        <p14:creationId xmlns:p14="http://schemas.microsoft.com/office/powerpoint/2010/main" val="8472209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08932-F523-338C-B157-54155382AD1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468BD77-97C3-136E-30B1-AD3DB67E7FD2}"/>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D907B763-3871-7463-AA68-149B7B994C6D}"/>
              </a:ext>
            </a:extLst>
          </p:cNvPr>
          <p:cNvSpPr>
            <a:spLocks noGrp="1"/>
          </p:cNvSpPr>
          <p:nvPr>
            <p:ph type="body" sz="quarter" idx="10"/>
          </p:nvPr>
        </p:nvSpPr>
        <p:spPr/>
        <p:txBody>
          <a:bodyPr/>
          <a:lstStyle/>
          <a:p>
            <a:r>
              <a:rPr lang="ja-JP" altLang="en-US" dirty="0"/>
              <a:t>並列プログラムはやっぱり色々大変なんだなと思った。とくに、ハードウェアレベルでの世代を超えた対応、あらゆるプログラムでも確実な動作を保証したうえでの高速化の対応ってとても大変なのだなと思った。</a:t>
            </a:r>
            <a:r>
              <a:rPr lang="en-US" altLang="ja-JP" dirty="0"/>
              <a:t>C</a:t>
            </a:r>
            <a:r>
              <a:rPr lang="ja-JP" altLang="en-US" dirty="0"/>
              <a:t>のポインタ周りは確かに相当厄介なのだろうなと思った。どれぐらいの複雑さまで対しているのだろうか。</a:t>
            </a:r>
          </a:p>
          <a:p>
            <a:endParaRPr kumimoji="1" lang="en-US" altLang="ja-JP" dirty="0"/>
          </a:p>
        </p:txBody>
      </p:sp>
    </p:spTree>
    <p:extLst>
      <p:ext uri="{BB962C8B-B14F-4D97-AF65-F5344CB8AC3E}">
        <p14:creationId xmlns:p14="http://schemas.microsoft.com/office/powerpoint/2010/main" val="34989388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57810-3396-789E-9798-7F488BF168F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8B8AF3C-55C7-F7EC-F168-DB7E54151E03}"/>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9FC99C90-A50D-117E-54BE-C2B29EF07BA2}"/>
              </a:ext>
            </a:extLst>
          </p:cNvPr>
          <p:cNvSpPr>
            <a:spLocks noGrp="1"/>
          </p:cNvSpPr>
          <p:nvPr>
            <p:ph type="body" sz="quarter" idx="10"/>
          </p:nvPr>
        </p:nvSpPr>
        <p:spPr/>
        <p:txBody>
          <a:bodyPr/>
          <a:lstStyle/>
          <a:p>
            <a:r>
              <a:rPr lang="ja-JP" altLang="en-US" dirty="0"/>
              <a:t>特に </a:t>
            </a:r>
            <a:r>
              <a:rPr lang="en-US" altLang="ja-JP" dirty="0"/>
              <a:t>VLIW </a:t>
            </a:r>
            <a:r>
              <a:rPr lang="ja-JP" altLang="en-US" dirty="0"/>
              <a:t>については、本来マイクロアーキテクチャの内部事情であるはずの「並列実行幅」と「実行レイテンシ」を </a:t>
            </a:r>
            <a:r>
              <a:rPr lang="en-US" altLang="ja-JP" dirty="0"/>
              <a:t>ISA </a:t>
            </a:r>
            <a:r>
              <a:rPr lang="ja-JP" altLang="en-US" dirty="0"/>
              <a:t>の契約に焼き込んでしまったことが互換性問題の本質であり、それが </a:t>
            </a:r>
            <a:r>
              <a:rPr lang="en-US" altLang="ja-JP" dirty="0"/>
              <a:t>Itanium </a:t>
            </a:r>
            <a:r>
              <a:rPr lang="ja-JP" altLang="en-US" dirty="0"/>
              <a:t>の失敗につながったという整理が、命令セット設計論として非常に面白かったです。</a:t>
            </a:r>
            <a:endParaRPr kumimoji="1" lang="en-US" altLang="ja-JP" dirty="0"/>
          </a:p>
        </p:txBody>
      </p:sp>
    </p:spTree>
    <p:extLst>
      <p:ext uri="{BB962C8B-B14F-4D97-AF65-F5344CB8AC3E}">
        <p14:creationId xmlns:p14="http://schemas.microsoft.com/office/powerpoint/2010/main" val="23156877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B44F0-88BE-6E3B-2696-111FACDE75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7C749D3-1454-5120-1177-FB4F9CA7942E}"/>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EABBAEE4-3CD5-6ABE-ACB1-440DE9C4E8DC}"/>
              </a:ext>
            </a:extLst>
          </p:cNvPr>
          <p:cNvSpPr>
            <a:spLocks noGrp="1"/>
          </p:cNvSpPr>
          <p:nvPr>
            <p:ph type="body" sz="quarter" idx="10"/>
          </p:nvPr>
        </p:nvSpPr>
        <p:spPr/>
        <p:txBody>
          <a:bodyPr/>
          <a:lstStyle/>
          <a:p>
            <a:r>
              <a:rPr lang="ja-JP" altLang="en-US" dirty="0"/>
              <a:t>マルチポートメモリは面積がポートの</a:t>
            </a:r>
            <a:r>
              <a:rPr lang="en-US" altLang="ja-JP" dirty="0"/>
              <a:t>2</a:t>
            </a:r>
            <a:r>
              <a:rPr lang="ja-JP" altLang="en-US" dirty="0"/>
              <a:t>乗だからせいぜい</a:t>
            </a:r>
            <a:r>
              <a:rPr lang="en-US" altLang="ja-JP" dirty="0"/>
              <a:t>1</a:t>
            </a:r>
            <a:r>
              <a:rPr lang="ja-JP" altLang="en-US" dirty="0"/>
              <a:t>か</a:t>
            </a:r>
            <a:r>
              <a:rPr lang="en-US" altLang="ja-JP" dirty="0"/>
              <a:t>2</a:t>
            </a:r>
            <a:r>
              <a:rPr lang="ja-JP" altLang="en-US" dirty="0"/>
              <a:t>ポートとあったが，</a:t>
            </a:r>
            <a:r>
              <a:rPr lang="en-US" altLang="ja-JP" dirty="0"/>
              <a:t>5</a:t>
            </a:r>
            <a:r>
              <a:rPr lang="ja-JP" altLang="en-US" dirty="0"/>
              <a:t>段階（回路乗は</a:t>
            </a:r>
            <a:r>
              <a:rPr lang="en-US" altLang="ja-JP" dirty="0"/>
              <a:t>4</a:t>
            </a:r>
            <a:r>
              <a:rPr lang="ja-JP" altLang="en-US" dirty="0"/>
              <a:t>つのエリア）のうち</a:t>
            </a:r>
            <a:r>
              <a:rPr lang="en-US" altLang="ja-JP" dirty="0"/>
              <a:t>1</a:t>
            </a:r>
            <a:r>
              <a:rPr lang="ja-JP" altLang="en-US" dirty="0"/>
              <a:t>つが</a:t>
            </a:r>
            <a:r>
              <a:rPr lang="en-US" altLang="ja-JP" dirty="0"/>
              <a:t>4</a:t>
            </a:r>
            <a:r>
              <a:rPr lang="ja-JP" altLang="en-US" dirty="0"/>
              <a:t>倍になっても，（各エリアが均等の面積という過程のもとで）全体から見たら</a:t>
            </a:r>
            <a:r>
              <a:rPr lang="en-US" altLang="ja-JP" dirty="0"/>
              <a:t>1.75</a:t>
            </a:r>
            <a:r>
              <a:rPr lang="ja-JP" altLang="en-US" dirty="0"/>
              <a:t>倍．従って</a:t>
            </a:r>
            <a:r>
              <a:rPr lang="en-US" altLang="ja-JP" dirty="0"/>
              <a:t>7</a:t>
            </a:r>
            <a:r>
              <a:rPr lang="ja-JP" altLang="en-US" dirty="0"/>
              <a:t>割の加速が見込めないとポートを</a:t>
            </a:r>
            <a:r>
              <a:rPr lang="en-US" altLang="ja-JP" dirty="0"/>
              <a:t>2</a:t>
            </a:r>
            <a:r>
              <a:rPr lang="ja-JP" altLang="en-US" dirty="0"/>
              <a:t>つにするメリットがないと考えると，意外とマルチポート化はメリットが小さいのだなあと思った．</a:t>
            </a:r>
            <a:endParaRPr kumimoji="1" lang="en-US" altLang="ja-JP" dirty="0"/>
          </a:p>
        </p:txBody>
      </p:sp>
    </p:spTree>
    <p:extLst>
      <p:ext uri="{BB962C8B-B14F-4D97-AF65-F5344CB8AC3E}">
        <p14:creationId xmlns:p14="http://schemas.microsoft.com/office/powerpoint/2010/main" val="40322730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C13C7-80FB-AA30-F457-80EF86749B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9524A03-79EF-8A3F-9199-E37FA7BBDD66}"/>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1AC7052C-1717-0536-8969-A0BCF7A74045}"/>
              </a:ext>
            </a:extLst>
          </p:cNvPr>
          <p:cNvSpPr>
            <a:spLocks noGrp="1"/>
          </p:cNvSpPr>
          <p:nvPr>
            <p:ph type="body" sz="quarter" idx="10"/>
          </p:nvPr>
        </p:nvSpPr>
        <p:spPr/>
        <p:txBody>
          <a:bodyPr/>
          <a:lstStyle/>
          <a:p>
            <a:r>
              <a:rPr lang="en-US" altLang="ja-JP" dirty="0"/>
              <a:t>Itanium</a:t>
            </a:r>
            <a:r>
              <a:rPr lang="ja-JP" altLang="en-US" dirty="0"/>
              <a:t>の金融機関への提供とライセンス保証，およびその現状の話を見ると，ビジネスの上では進化や方向転換の激しい</a:t>
            </a:r>
            <a:r>
              <a:rPr lang="en-US" altLang="ja-JP" dirty="0"/>
              <a:t>IT</a:t>
            </a:r>
            <a:r>
              <a:rPr lang="ja-JP" altLang="en-US" dirty="0"/>
              <a:t>絡みの長期契約はかなりリスキーだなあと思った．</a:t>
            </a:r>
            <a:br>
              <a:rPr lang="en-US" altLang="ja-JP" dirty="0"/>
            </a:br>
            <a:r>
              <a:rPr lang="ja-JP" altLang="en-US" dirty="0"/>
              <a:t>一方で</a:t>
            </a:r>
            <a:r>
              <a:rPr lang="en-US" altLang="ja-JP" dirty="0"/>
              <a:t>VLIW</a:t>
            </a:r>
            <a:r>
              <a:rPr lang="ja-JP" altLang="en-US" dirty="0"/>
              <a:t>が</a:t>
            </a:r>
            <a:r>
              <a:rPr lang="en-US" altLang="ja-JP" dirty="0"/>
              <a:t>Google TPU</a:t>
            </a:r>
            <a:r>
              <a:rPr lang="ja-JP" altLang="en-US" dirty="0"/>
              <a:t>絡みで利用されていることを見ると，環境と制約次第でいつでも過去のアイデアが主流たりうるので，現在の主流以外の概念を学んでおくことの意義を再確認した．</a:t>
            </a:r>
            <a:endParaRPr kumimoji="1" lang="en-US" altLang="ja-JP" dirty="0"/>
          </a:p>
        </p:txBody>
      </p:sp>
    </p:spTree>
    <p:extLst>
      <p:ext uri="{BB962C8B-B14F-4D97-AF65-F5344CB8AC3E}">
        <p14:creationId xmlns:p14="http://schemas.microsoft.com/office/powerpoint/2010/main" val="21106572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D620F-94FD-5737-4137-A323600D41D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5458BE8-1FE5-8C80-3FA6-17AE6014E2D8}"/>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F529475B-2AF4-E9EA-1B4B-F5A0D5DEE29D}"/>
              </a:ext>
            </a:extLst>
          </p:cNvPr>
          <p:cNvSpPr>
            <a:spLocks noGrp="1"/>
          </p:cNvSpPr>
          <p:nvPr>
            <p:ph type="body" sz="quarter" idx="10"/>
          </p:nvPr>
        </p:nvSpPr>
        <p:spPr/>
        <p:txBody>
          <a:bodyPr/>
          <a:lstStyle/>
          <a:p>
            <a:r>
              <a:rPr lang="en-US" altLang="ja-JP" dirty="0" err="1"/>
              <a:t>OoO</a:t>
            </a:r>
            <a:r>
              <a:rPr lang="ja-JP" altLang="en-US" dirty="0"/>
              <a:t>という伏字みたいな字面を見て，使っているメアドのドメイン</a:t>
            </a:r>
            <a:r>
              <a:rPr lang="en-US" altLang="ja-JP" dirty="0"/>
              <a:t>(</a:t>
            </a:r>
            <a:r>
              <a:rPr lang="en-US" altLang="ja-JP" dirty="0" err="1"/>
              <a:t>ocn</a:t>
            </a:r>
            <a:r>
              <a:rPr lang="en-US" altLang="ja-JP" dirty="0"/>
              <a:t>)</a:t>
            </a:r>
            <a:r>
              <a:rPr lang="ja-JP" altLang="en-US" dirty="0"/>
              <a:t>を聞かれて教えてるのに伝わらないコピペを思い出した．</a:t>
            </a:r>
            <a:endParaRPr kumimoji="1" lang="en-US" altLang="ja-JP" dirty="0"/>
          </a:p>
        </p:txBody>
      </p:sp>
    </p:spTree>
    <p:extLst>
      <p:ext uri="{BB962C8B-B14F-4D97-AF65-F5344CB8AC3E}">
        <p14:creationId xmlns:p14="http://schemas.microsoft.com/office/powerpoint/2010/main" val="22466992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223AE-92AF-1A86-EAFB-FD225ED9439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A22D863-3E96-858C-D183-70AA3A9DC772}"/>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350E6433-A050-8B21-0B2F-3C894FF30D10}"/>
              </a:ext>
            </a:extLst>
          </p:cNvPr>
          <p:cNvSpPr>
            <a:spLocks noGrp="1"/>
          </p:cNvSpPr>
          <p:nvPr>
            <p:ph type="body" sz="quarter" idx="10"/>
          </p:nvPr>
        </p:nvSpPr>
        <p:spPr/>
        <p:txBody>
          <a:bodyPr/>
          <a:lstStyle/>
          <a:p>
            <a:r>
              <a:rPr lang="en-US" altLang="ja-JP" dirty="0"/>
              <a:t>VLIW</a:t>
            </a:r>
            <a:r>
              <a:rPr lang="ja-JP" altLang="en-US" dirty="0"/>
              <a:t>自体はもともと通常の</a:t>
            </a:r>
            <a:r>
              <a:rPr lang="en-US" altLang="ja-JP" dirty="0"/>
              <a:t>CPU</a:t>
            </a:r>
            <a:r>
              <a:rPr lang="ja-JP" altLang="en-US" dirty="0"/>
              <a:t>のアーキテクチャとして期待されていたとのことですが、これと同じような失敗がほかにもあったりしたのかが気になりました。</a:t>
            </a:r>
            <a:endParaRPr kumimoji="1" lang="en-US" altLang="ja-JP" dirty="0"/>
          </a:p>
        </p:txBody>
      </p:sp>
    </p:spTree>
    <p:extLst>
      <p:ext uri="{BB962C8B-B14F-4D97-AF65-F5344CB8AC3E}">
        <p14:creationId xmlns:p14="http://schemas.microsoft.com/office/powerpoint/2010/main" val="972935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CAD99-5F76-2466-B9F9-6623B83BC8D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04794B-40A5-FE38-DC59-45E68FE81ECF}"/>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952D9107-FDAF-9BD6-9948-3E2DCD9F9AAF}"/>
              </a:ext>
            </a:extLst>
          </p:cNvPr>
          <p:cNvSpPr>
            <a:spLocks noGrp="1"/>
          </p:cNvSpPr>
          <p:nvPr>
            <p:ph type="body" sz="quarter" idx="10"/>
          </p:nvPr>
        </p:nvSpPr>
        <p:spPr/>
        <p:txBody>
          <a:bodyPr/>
          <a:lstStyle/>
          <a:p>
            <a:r>
              <a:rPr lang="en-US" altLang="ja-JP" dirty="0"/>
              <a:t>VLIW</a:t>
            </a:r>
            <a:r>
              <a:rPr lang="ja-JP" altLang="en-US" dirty="0"/>
              <a:t>の問題点として①性能向上に限界がある、②互換性がとりにくい、を挙げていたが、</a:t>
            </a:r>
            <a:br>
              <a:rPr lang="en-US" altLang="ja-JP" dirty="0"/>
            </a:br>
            <a:br>
              <a:rPr lang="en-US" altLang="ja-JP" dirty="0"/>
            </a:br>
            <a:r>
              <a:rPr lang="ja-JP" altLang="en-US" dirty="0"/>
              <a:t>・①</a:t>
            </a:r>
            <a:r>
              <a:rPr lang="en-US" altLang="ja-JP" dirty="0"/>
              <a:t>: </a:t>
            </a:r>
            <a:r>
              <a:rPr lang="ja-JP" altLang="en-US" dirty="0"/>
              <a:t>例のプログラムはそもそも並列に実行してはいけないものなので、</a:t>
            </a:r>
            <a:r>
              <a:rPr lang="en-US" altLang="ja-JP" dirty="0"/>
              <a:t>VLIW</a:t>
            </a:r>
            <a:r>
              <a:rPr lang="ja-JP" altLang="en-US" dirty="0"/>
              <a:t>じゃなくても速く実行できないのではないか</a:t>
            </a:r>
            <a:br>
              <a:rPr lang="en-US" altLang="ja-JP" dirty="0"/>
            </a:br>
            <a:r>
              <a:rPr lang="ja-JP" altLang="en-US" dirty="0"/>
              <a:t>・②</a:t>
            </a:r>
            <a:r>
              <a:rPr lang="en-US" altLang="ja-JP" dirty="0"/>
              <a:t>: </a:t>
            </a:r>
            <a:r>
              <a:rPr lang="ja-JP" altLang="en-US" dirty="0"/>
              <a:t>賢いコンパイラでバージョン更新のたびにコンパイルしなおせばいいだけではないか</a:t>
            </a:r>
            <a:br>
              <a:rPr lang="en-US" altLang="ja-JP" dirty="0"/>
            </a:br>
            <a:br>
              <a:rPr lang="en-US" altLang="ja-JP" dirty="0"/>
            </a:br>
            <a:r>
              <a:rPr lang="ja-JP" altLang="en-US" dirty="0"/>
              <a:t>と思った</a:t>
            </a:r>
            <a:endParaRPr kumimoji="1" lang="en-US" altLang="ja-JP" dirty="0"/>
          </a:p>
        </p:txBody>
      </p:sp>
    </p:spTree>
    <p:extLst>
      <p:ext uri="{BB962C8B-B14F-4D97-AF65-F5344CB8AC3E}">
        <p14:creationId xmlns:p14="http://schemas.microsoft.com/office/powerpoint/2010/main" val="1544107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F93CA-0768-B118-8C97-4C2FDE610A1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234FC1A-9ADD-7DAC-22E3-A6F54E34F43C}"/>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8C7CAD21-155F-1A36-B0D2-35A3D1E34C0A}"/>
              </a:ext>
            </a:extLst>
          </p:cNvPr>
          <p:cNvSpPr>
            <a:spLocks noGrp="1"/>
          </p:cNvSpPr>
          <p:nvPr>
            <p:ph type="body" sz="quarter" idx="10"/>
          </p:nvPr>
        </p:nvSpPr>
        <p:spPr/>
        <p:txBody>
          <a:bodyPr/>
          <a:lstStyle/>
          <a:p>
            <a:r>
              <a:rPr lang="ja-JP" altLang="en-US" dirty="0"/>
              <a:t>単純なスーパスカラは </a:t>
            </a:r>
            <a:r>
              <a:rPr lang="en-US" altLang="ja-JP" dirty="0"/>
              <a:t>2-way </a:t>
            </a:r>
            <a:r>
              <a:rPr lang="ja-JP" altLang="en-US" dirty="0"/>
              <a:t>で数割程度の向上とのことでしたが、現代でも </a:t>
            </a:r>
            <a:r>
              <a:rPr lang="en-US" altLang="ja-JP" dirty="0"/>
              <a:t>Arm </a:t>
            </a:r>
            <a:r>
              <a:rPr lang="ja-JP" altLang="en-US" dirty="0"/>
              <a:t>の </a:t>
            </a:r>
            <a:r>
              <a:rPr lang="en-US" altLang="ja-JP" dirty="0"/>
              <a:t>little </a:t>
            </a:r>
            <a:r>
              <a:rPr lang="ja-JP" altLang="en-US" dirty="0"/>
              <a:t>コア（</a:t>
            </a:r>
            <a:r>
              <a:rPr lang="en-US" altLang="ja-JP" dirty="0"/>
              <a:t>Cortex-A510/A520 </a:t>
            </a:r>
            <a:r>
              <a:rPr lang="ja-JP" altLang="en-US" dirty="0"/>
              <a:t>など）は </a:t>
            </a:r>
            <a:r>
              <a:rPr lang="en-US" altLang="ja-JP" dirty="0"/>
              <a:t>3-wide </a:t>
            </a:r>
            <a:r>
              <a:rPr lang="ja-JP" altLang="en-US" dirty="0"/>
              <a:t>の </a:t>
            </a:r>
            <a:r>
              <a:rPr lang="en-US" altLang="ja-JP" dirty="0"/>
              <a:t>in-order </a:t>
            </a:r>
            <a:r>
              <a:rPr lang="ja-JP" altLang="en-US" dirty="0"/>
              <a:t>です。電力効率最優先の文脈では </a:t>
            </a:r>
            <a:r>
              <a:rPr lang="en-US" altLang="ja-JP" dirty="0" err="1"/>
              <a:t>OoO</a:t>
            </a:r>
            <a:r>
              <a:rPr lang="en-US" altLang="ja-JP" dirty="0"/>
              <a:t> </a:t>
            </a:r>
            <a:r>
              <a:rPr lang="ja-JP" altLang="en-US" dirty="0"/>
              <a:t>化より </a:t>
            </a:r>
            <a:r>
              <a:rPr lang="en-US" altLang="ja-JP" dirty="0"/>
              <a:t>in-order </a:t>
            </a:r>
            <a:r>
              <a:rPr lang="ja-JP" altLang="en-US" dirty="0"/>
              <a:t>のまま幅を広げる方が得という判断だと思いますが、その損益分岐は主にどの構造（発行キュー、リネーム、</a:t>
            </a:r>
            <a:r>
              <a:rPr lang="en-US" altLang="ja-JP" dirty="0"/>
              <a:t>LSQ</a:t>
            </a:r>
            <a:r>
              <a:rPr lang="ja-JP" altLang="en-US" dirty="0"/>
              <a:t>）の電力コストで決まるのでしょうか。</a:t>
            </a:r>
            <a:endParaRPr kumimoji="1" lang="en-US" altLang="ja-JP" dirty="0"/>
          </a:p>
        </p:txBody>
      </p:sp>
    </p:spTree>
    <p:extLst>
      <p:ext uri="{BB962C8B-B14F-4D97-AF65-F5344CB8AC3E}">
        <p14:creationId xmlns:p14="http://schemas.microsoft.com/office/powerpoint/2010/main" val="38775035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82558-C952-CE8F-641E-F6F25962E65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6806A83-6DBB-E5F9-839D-9CA88ACAE19F}"/>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1FD4F67A-B852-5F86-A373-152FA1B40512}"/>
              </a:ext>
            </a:extLst>
          </p:cNvPr>
          <p:cNvSpPr>
            <a:spLocks noGrp="1"/>
          </p:cNvSpPr>
          <p:nvPr>
            <p:ph type="body" sz="quarter" idx="10"/>
          </p:nvPr>
        </p:nvSpPr>
        <p:spPr/>
        <p:txBody>
          <a:bodyPr/>
          <a:lstStyle/>
          <a:p>
            <a:r>
              <a:rPr lang="ja-JP" altLang="en-US" dirty="0"/>
              <a:t>スカラプロセッサという存在に対して、スーパスカラプロセッサとベクトルプロセッサの違いがよくわからなくなりました。両者とも依存のない命令をまとめるというのは共通していますが、スーパスカラは種類の異なる命令を並列にして少しでもストールを減らす、ベクトルは同じ</a:t>
            </a:r>
            <a:r>
              <a:rPr lang="en-US" altLang="ja-JP" dirty="0"/>
              <a:t>(</a:t>
            </a:r>
            <a:r>
              <a:rPr lang="ja-JP" altLang="en-US" dirty="0"/>
              <a:t>処理完了までにかかるクロック数が同じ</a:t>
            </a:r>
            <a:r>
              <a:rPr lang="en-US" altLang="ja-JP" dirty="0"/>
              <a:t>)</a:t>
            </a:r>
            <a:r>
              <a:rPr lang="ja-JP" altLang="en-US" dirty="0"/>
              <a:t>ものをバッチ処理する、のようなものと解釈していますがあっていますか？</a:t>
            </a:r>
            <a:endParaRPr kumimoji="1" lang="en-US" altLang="ja-JP" dirty="0"/>
          </a:p>
        </p:txBody>
      </p:sp>
    </p:spTree>
    <p:extLst>
      <p:ext uri="{BB962C8B-B14F-4D97-AF65-F5344CB8AC3E}">
        <p14:creationId xmlns:p14="http://schemas.microsoft.com/office/powerpoint/2010/main" val="28171329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2C321-8862-6257-5FFB-A3ECBBA2975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3684E2F-DC25-A6AA-38F6-D2EC70EA0C3D}"/>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DC129C25-F1E0-2050-4B74-4DA4F2E04990}"/>
              </a:ext>
            </a:extLst>
          </p:cNvPr>
          <p:cNvSpPr>
            <a:spLocks noGrp="1"/>
          </p:cNvSpPr>
          <p:nvPr>
            <p:ph type="body" sz="quarter" idx="10"/>
          </p:nvPr>
        </p:nvSpPr>
        <p:spPr/>
        <p:txBody>
          <a:bodyPr/>
          <a:lstStyle/>
          <a:p>
            <a:r>
              <a:rPr lang="ja-JP" altLang="en-US" dirty="0"/>
              <a:t>プログラム中にはループのように似た命令列や依存関係が繰り返し現れる場合が多いと思います。</a:t>
            </a:r>
            <a:r>
              <a:rPr lang="en-US" altLang="ja-JP" dirty="0"/>
              <a:t>VLIW</a:t>
            </a:r>
            <a:r>
              <a:rPr lang="ja-JP" altLang="en-US" dirty="0"/>
              <a:t>みたいにコンパイラが静的に命令スケジュールを決めるタイプ以外に、動的命令スケジューリングを行うプロセッサでも過去の実行時に得られた依存関係やスケジューリングの傾向をキャッシュのように記憶して、次回以降の実行に利用することはあるのでしょうか？</a:t>
            </a:r>
            <a:endParaRPr kumimoji="1" lang="en-US" altLang="ja-JP" dirty="0"/>
          </a:p>
        </p:txBody>
      </p:sp>
    </p:spTree>
    <p:extLst>
      <p:ext uri="{BB962C8B-B14F-4D97-AF65-F5344CB8AC3E}">
        <p14:creationId xmlns:p14="http://schemas.microsoft.com/office/powerpoint/2010/main" val="23439009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C73B4-59FF-1279-0292-B66C1BE2134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EBC011E-A58E-740F-2B4C-6F20690FEC6E}"/>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9BC3AB0A-5058-B48A-B48A-606A6A4D8AAB}"/>
              </a:ext>
            </a:extLst>
          </p:cNvPr>
          <p:cNvSpPr>
            <a:spLocks noGrp="1"/>
          </p:cNvSpPr>
          <p:nvPr>
            <p:ph type="body" sz="quarter" idx="10"/>
          </p:nvPr>
        </p:nvSpPr>
        <p:spPr/>
        <p:txBody>
          <a:bodyPr/>
          <a:lstStyle/>
          <a:p>
            <a:r>
              <a:rPr lang="ja-JP" altLang="en-US" dirty="0"/>
              <a:t>真の依存によるハザードの値予測での回避について、値の変化パターンを予測するということでしょうか。例えば</a:t>
            </a:r>
            <a:r>
              <a:rPr lang="en-US" altLang="ja-JP" dirty="0"/>
              <a:t>for</a:t>
            </a:r>
            <a:r>
              <a:rPr lang="ja-JP" altLang="en-US" dirty="0"/>
              <a:t>ループでのインクリメントだと最初に</a:t>
            </a:r>
            <a:r>
              <a:rPr lang="en-US" altLang="ja-JP" dirty="0" err="1"/>
              <a:t>i</a:t>
            </a:r>
            <a:r>
              <a:rPr lang="en-US" altLang="ja-JP" dirty="0"/>
              <a:t>=1,2,3,...</a:t>
            </a:r>
            <a:r>
              <a:rPr lang="ja-JP" altLang="en-US" dirty="0"/>
              <a:t>というのを予測して先に実行しておくというのは、確かに増えた計算資源を有効活用する手法だと思いました。</a:t>
            </a:r>
          </a:p>
          <a:p>
            <a:endParaRPr kumimoji="1" lang="en-US" altLang="ja-JP" dirty="0"/>
          </a:p>
        </p:txBody>
      </p:sp>
    </p:spTree>
    <p:extLst>
      <p:ext uri="{BB962C8B-B14F-4D97-AF65-F5344CB8AC3E}">
        <p14:creationId xmlns:p14="http://schemas.microsoft.com/office/powerpoint/2010/main" val="8398489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9B469-1CF7-E8BB-DB80-3F77045D1BC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306FA41-0BB8-04DE-F124-590305295299}"/>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5B83D0B0-B69A-1509-38F6-79DA543148AE}"/>
              </a:ext>
            </a:extLst>
          </p:cNvPr>
          <p:cNvSpPr>
            <a:spLocks noGrp="1"/>
          </p:cNvSpPr>
          <p:nvPr>
            <p:ph type="body" sz="quarter" idx="10"/>
          </p:nvPr>
        </p:nvSpPr>
        <p:spPr/>
        <p:txBody>
          <a:bodyPr/>
          <a:lstStyle/>
          <a:p>
            <a:r>
              <a:rPr lang="ja-JP" altLang="en-US" dirty="0"/>
              <a:t>動的スケジューリングを使う場合に静的スケジューリングも合わせて使うことのメリットってどのくらいあるのでしょうか？</a:t>
            </a:r>
            <a:endParaRPr kumimoji="1" lang="en-US" altLang="ja-JP" dirty="0"/>
          </a:p>
        </p:txBody>
      </p:sp>
    </p:spTree>
    <p:extLst>
      <p:ext uri="{BB962C8B-B14F-4D97-AF65-F5344CB8AC3E}">
        <p14:creationId xmlns:p14="http://schemas.microsoft.com/office/powerpoint/2010/main" val="4108595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E1478-B3D0-8B9F-4682-9FEAEA1F72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BB458FD-3A23-826F-B5CD-6BE5D1874CCD}"/>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41AF812E-A94A-5CB6-547D-E3AF9244BF98}"/>
              </a:ext>
            </a:extLst>
          </p:cNvPr>
          <p:cNvSpPr>
            <a:spLocks noGrp="1"/>
          </p:cNvSpPr>
          <p:nvPr>
            <p:ph type="body" sz="quarter" idx="10"/>
          </p:nvPr>
        </p:nvSpPr>
        <p:spPr/>
        <p:txBody>
          <a:bodyPr/>
          <a:lstStyle/>
          <a:p>
            <a:r>
              <a:rPr lang="ja-JP" altLang="en-US" dirty="0"/>
              <a:t>入江先生のコンピュータアーキテクチャの授業を受けているのですが</a:t>
            </a:r>
            <a:r>
              <a:rPr lang="en-US" altLang="ja-JP" dirty="0"/>
              <a:t>, </a:t>
            </a:r>
            <a:r>
              <a:rPr lang="ja-JP" altLang="en-US" dirty="0"/>
              <a:t>そちらではレジスタリネーミングの話は手厚くて</a:t>
            </a:r>
            <a:r>
              <a:rPr lang="en-US" altLang="ja-JP" dirty="0"/>
              <a:t>VLIW</a:t>
            </a:r>
            <a:r>
              <a:rPr lang="ja-JP" altLang="en-US" dirty="0"/>
              <a:t>はほとんど説明なし、などと、ちょうどこの授業と相互に補完しあってる形になってて非常にバランスが良くてありがたいです。</a:t>
            </a:r>
          </a:p>
          <a:p>
            <a:endParaRPr kumimoji="1" lang="en-US" altLang="ja-JP" dirty="0"/>
          </a:p>
        </p:txBody>
      </p:sp>
    </p:spTree>
    <p:extLst>
      <p:ext uri="{BB962C8B-B14F-4D97-AF65-F5344CB8AC3E}">
        <p14:creationId xmlns:p14="http://schemas.microsoft.com/office/powerpoint/2010/main" val="6788702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24F92-DEF5-A904-85BF-887927F1AE4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DFBBCCB-A292-C2FC-3816-664F3CFBC0BC}"/>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116AD08F-0496-5B7A-65C0-24E22BE1022E}"/>
              </a:ext>
            </a:extLst>
          </p:cNvPr>
          <p:cNvSpPr>
            <a:spLocks noGrp="1"/>
          </p:cNvSpPr>
          <p:nvPr>
            <p:ph type="body" sz="quarter" idx="10"/>
          </p:nvPr>
        </p:nvSpPr>
        <p:spPr/>
        <p:txBody>
          <a:bodyPr/>
          <a:lstStyle/>
          <a:p>
            <a:r>
              <a:rPr lang="ja-JP" altLang="en-US" dirty="0"/>
              <a:t>近年の</a:t>
            </a:r>
            <a:r>
              <a:rPr lang="en-US" altLang="ja-JP" dirty="0"/>
              <a:t>HPC</a:t>
            </a:r>
            <a:r>
              <a:rPr lang="ja-JP" altLang="en-US" dirty="0"/>
              <a:t>における国際学会での学生コンペで、</a:t>
            </a:r>
            <a:r>
              <a:rPr lang="en-US" altLang="ja-JP" dirty="0"/>
              <a:t>6000W</a:t>
            </a:r>
            <a:r>
              <a:rPr lang="ja-JP" altLang="en-US" dirty="0"/>
              <a:t>以内のハードウェアリソースでできるだけ高速なプログラムを実装する、というものがあった。実装内容を見ていないが、</a:t>
            </a:r>
            <a:r>
              <a:rPr lang="en-US" altLang="ja-JP" dirty="0"/>
              <a:t>VLIW</a:t>
            </a:r>
            <a:r>
              <a:rPr lang="ja-JP" altLang="en-US" dirty="0"/>
              <a:t>命令で命令セットを用意していっているのかなと思いました。</a:t>
            </a:r>
            <a:endParaRPr kumimoji="1" lang="en-US" altLang="ja-JP" dirty="0"/>
          </a:p>
        </p:txBody>
      </p:sp>
    </p:spTree>
    <p:extLst>
      <p:ext uri="{BB962C8B-B14F-4D97-AF65-F5344CB8AC3E}">
        <p14:creationId xmlns:p14="http://schemas.microsoft.com/office/powerpoint/2010/main" val="36262499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3F647-E644-3893-E51A-A903C8C1992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5EB2B9B-1E3E-C927-66AF-508B652FDFA9}"/>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D08E4C24-A190-171F-B7D7-1C26B21F586D}"/>
              </a:ext>
            </a:extLst>
          </p:cNvPr>
          <p:cNvSpPr>
            <a:spLocks noGrp="1"/>
          </p:cNvSpPr>
          <p:nvPr>
            <p:ph type="body" sz="quarter" idx="10"/>
          </p:nvPr>
        </p:nvSpPr>
        <p:spPr/>
        <p:txBody>
          <a:bodyPr/>
          <a:lstStyle/>
          <a:p>
            <a:r>
              <a:rPr lang="en-US" altLang="ja-JP" dirty="0"/>
              <a:t>VLIW</a:t>
            </a:r>
            <a:r>
              <a:rPr lang="ja-JP" altLang="en-US" dirty="0"/>
              <a:t>では、依存関係がない複数の命令をまとめている点で</a:t>
            </a:r>
            <a:r>
              <a:rPr lang="en-US" altLang="ja-JP" dirty="0"/>
              <a:t>CISC</a:t>
            </a:r>
            <a:r>
              <a:rPr lang="ja-JP" altLang="en-US" dirty="0"/>
              <a:t>と似ている気がしましたが、特に共通点はないのでしょうか。</a:t>
            </a:r>
            <a:r>
              <a:rPr lang="en-US" altLang="ja-JP" dirty="0"/>
              <a:t>VLIW</a:t>
            </a:r>
            <a:r>
              <a:rPr lang="ja-JP" altLang="en-US" dirty="0"/>
              <a:t>では複数命令が別個のパイプラインに散らされますが、</a:t>
            </a:r>
            <a:r>
              <a:rPr lang="en-US" altLang="ja-JP" dirty="0"/>
              <a:t>CISC</a:t>
            </a:r>
            <a:r>
              <a:rPr lang="ja-JP" altLang="en-US" dirty="0"/>
              <a:t>はそうではないため、全くの別物でしょうか。</a:t>
            </a:r>
            <a:endParaRPr kumimoji="1" lang="en-US" altLang="ja-JP" dirty="0"/>
          </a:p>
        </p:txBody>
      </p:sp>
    </p:spTree>
    <p:extLst>
      <p:ext uri="{BB962C8B-B14F-4D97-AF65-F5344CB8AC3E}">
        <p14:creationId xmlns:p14="http://schemas.microsoft.com/office/powerpoint/2010/main" val="15848570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AFD2D-ACC7-C024-2A68-1DAC472B375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AAFEBC0-CF13-349F-9D65-1ED9AEDCEB81}"/>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222C5C3B-F086-686A-383B-C2589B65D001}"/>
              </a:ext>
            </a:extLst>
          </p:cNvPr>
          <p:cNvSpPr>
            <a:spLocks noGrp="1"/>
          </p:cNvSpPr>
          <p:nvPr>
            <p:ph type="body" sz="quarter" idx="10"/>
          </p:nvPr>
        </p:nvSpPr>
        <p:spPr/>
        <p:txBody>
          <a:bodyPr/>
          <a:lstStyle/>
          <a:p>
            <a:r>
              <a:rPr lang="en-US" altLang="ja-JP" dirty="0"/>
              <a:t>VLIW</a:t>
            </a:r>
            <a:r>
              <a:rPr lang="ja-JP" altLang="en-US" dirty="0"/>
              <a:t>は講義資料にある性質を見ると当然性能がでなさそうですが、当時はいけると思われていたのか、アーキテクチャの刷新を急いだ結果なのかが気になりました</a:t>
            </a:r>
            <a:endParaRPr kumimoji="1" lang="en-US" altLang="ja-JP" dirty="0"/>
          </a:p>
        </p:txBody>
      </p:sp>
    </p:spTree>
    <p:extLst>
      <p:ext uri="{BB962C8B-B14F-4D97-AF65-F5344CB8AC3E}">
        <p14:creationId xmlns:p14="http://schemas.microsoft.com/office/powerpoint/2010/main" val="15597846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EA393-23A6-1102-1B1B-2499949558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C2D5EB-AA37-2909-BBBA-6E1BE0A09C42}"/>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BE78002C-2A76-1D47-3FB9-1421896E92B8}"/>
              </a:ext>
            </a:extLst>
          </p:cNvPr>
          <p:cNvSpPr>
            <a:spLocks noGrp="1"/>
          </p:cNvSpPr>
          <p:nvPr>
            <p:ph type="body" sz="quarter" idx="10"/>
          </p:nvPr>
        </p:nvSpPr>
        <p:spPr/>
        <p:txBody>
          <a:bodyPr/>
          <a:lstStyle/>
          <a:p>
            <a:r>
              <a:rPr lang="ja-JP" altLang="en-US" dirty="0"/>
              <a:t>動的スケジューリングでも、</a:t>
            </a:r>
            <a:r>
              <a:rPr lang="en-US" altLang="ja-JP" dirty="0"/>
              <a:t>CPU</a:t>
            </a:r>
            <a:r>
              <a:rPr lang="ja-JP" altLang="en-US" dirty="0"/>
              <a:t>が結局並べ替えを行うと思うが、これで意味が変わったり例外として落ちてしまうことはないのですか。</a:t>
            </a:r>
            <a:endParaRPr kumimoji="1" lang="en-US" altLang="ja-JP" dirty="0"/>
          </a:p>
        </p:txBody>
      </p:sp>
    </p:spTree>
    <p:extLst>
      <p:ext uri="{BB962C8B-B14F-4D97-AF65-F5344CB8AC3E}">
        <p14:creationId xmlns:p14="http://schemas.microsoft.com/office/powerpoint/2010/main" val="7784419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921C8-3D54-E947-A698-0A3CE3B743B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D9E3F06-EFA3-587F-BAFF-F693E9FF6DB5}"/>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98058188-28AB-4CEF-24E8-34E7D8EDE4ED}"/>
              </a:ext>
            </a:extLst>
          </p:cNvPr>
          <p:cNvSpPr>
            <a:spLocks noGrp="1"/>
          </p:cNvSpPr>
          <p:nvPr>
            <p:ph type="body" sz="quarter" idx="10"/>
          </p:nvPr>
        </p:nvSpPr>
        <p:spPr/>
        <p:txBody>
          <a:bodyPr/>
          <a:lstStyle/>
          <a:p>
            <a:r>
              <a:rPr lang="ja-JP" altLang="en-US" dirty="0"/>
              <a:t>特に、コンパイラがポインタの参照先の値がどこにあるかの空気</a:t>
            </a:r>
            <a:r>
              <a:rPr lang="en-US" altLang="ja-JP" dirty="0"/>
              <a:t>(?)</a:t>
            </a:r>
            <a:r>
              <a:rPr lang="ja-JP" altLang="en-US" dirty="0"/>
              <a:t>を読みすぎるために、ポインタやメンバ変数をそのまま扱うプログラムより、一旦ローカル変数に移したほうが静的命令スケジューリングがうまくいく、という例はかなりすんなりと入ってきました。</a:t>
            </a:r>
            <a:endParaRPr kumimoji="1" lang="en-US" altLang="ja-JP" dirty="0"/>
          </a:p>
        </p:txBody>
      </p:sp>
    </p:spTree>
    <p:extLst>
      <p:ext uri="{BB962C8B-B14F-4D97-AF65-F5344CB8AC3E}">
        <p14:creationId xmlns:p14="http://schemas.microsoft.com/office/powerpoint/2010/main" val="7295554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1F603-768C-5EB6-8788-D3A4BDB44B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25B8F29-F93E-8350-20F5-18AFAF8C52A3}"/>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0AF3B8B3-29D7-C004-8407-EAA7B47DF7EA}"/>
              </a:ext>
            </a:extLst>
          </p:cNvPr>
          <p:cNvSpPr>
            <a:spLocks noGrp="1"/>
          </p:cNvSpPr>
          <p:nvPr>
            <p:ph type="body" sz="quarter" idx="10"/>
          </p:nvPr>
        </p:nvSpPr>
        <p:spPr/>
        <p:txBody>
          <a:bodyPr/>
          <a:lstStyle/>
          <a:p>
            <a:r>
              <a:rPr lang="en-US" altLang="ja-JP" dirty="0"/>
              <a:t>(</a:t>
            </a:r>
            <a:r>
              <a:rPr lang="ja-JP" altLang="en-US" dirty="0"/>
              <a:t>上記コメントとは関係ないですが、</a:t>
            </a:r>
            <a:r>
              <a:rPr lang="en-US" altLang="ja-JP" dirty="0"/>
              <a:t>)</a:t>
            </a:r>
            <a:r>
              <a:rPr lang="ja-JP" altLang="en-US" dirty="0"/>
              <a:t>非情報系の人間として、期末課題のために</a:t>
            </a:r>
            <a:r>
              <a:rPr lang="en-US" altLang="ja-JP" dirty="0"/>
              <a:t>HDL</a:t>
            </a:r>
            <a:r>
              <a:rPr lang="ja-JP" altLang="en-US" dirty="0"/>
              <a:t>などを事前に自習しておいた方がいいでしょうか</a:t>
            </a:r>
            <a:r>
              <a:rPr lang="en-US" altLang="ja-JP" dirty="0"/>
              <a:t>?</a:t>
            </a:r>
            <a:endParaRPr kumimoji="1" lang="en-US" altLang="ja-JP" dirty="0"/>
          </a:p>
        </p:txBody>
      </p:sp>
    </p:spTree>
    <p:extLst>
      <p:ext uri="{BB962C8B-B14F-4D97-AF65-F5344CB8AC3E}">
        <p14:creationId xmlns:p14="http://schemas.microsoft.com/office/powerpoint/2010/main" val="9607132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cerulean">
  <a:themeElements>
    <a:clrScheme name="ユーザー定義 3">
      <a:dk1>
        <a:sysClr val="windowText" lastClr="000000"/>
      </a:dk1>
      <a:lt1>
        <a:sysClr val="window" lastClr="FFFFFF"/>
      </a:lt1>
      <a:dk2>
        <a:srgbClr val="F4EB00"/>
      </a:dk2>
      <a:lt2>
        <a:srgbClr val="C4FF4A"/>
      </a:lt2>
      <a:accent1>
        <a:srgbClr val="5782B5"/>
      </a:accent1>
      <a:accent2>
        <a:srgbClr val="B65A58"/>
      </a:accent2>
      <a:accent3>
        <a:srgbClr val="81945C"/>
      </a:accent3>
      <a:accent4>
        <a:srgbClr val="5C6994"/>
      </a:accent4>
      <a:accent5>
        <a:srgbClr val="4E8EA2"/>
      </a:accent5>
      <a:accent6>
        <a:srgbClr val="C77D63"/>
      </a:accent6>
      <a:hlink>
        <a:srgbClr val="3A3AC6"/>
      </a:hlink>
      <a:folHlink>
        <a:srgbClr val="631D63"/>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aco-shioya-08</Template>
  <TotalTime>62742</TotalTime>
  <Words>7283</Words>
  <Application>Microsoft Office PowerPoint</Application>
  <PresentationFormat>ワイド画面</PresentationFormat>
  <Paragraphs>1664</Paragraphs>
  <Slides>102</Slides>
  <Notes>1</Notes>
  <HiddenSlides>0</HiddenSlides>
  <MMClips>0</MMClips>
  <ScaleCrop>false</ScaleCrop>
  <HeadingPairs>
    <vt:vector size="6" baseType="variant">
      <vt:variant>
        <vt:lpstr>使用されているフォント</vt:lpstr>
      </vt:variant>
      <vt:variant>
        <vt:i4>12</vt:i4>
      </vt:variant>
      <vt:variant>
        <vt:lpstr>テーマ</vt:lpstr>
      </vt:variant>
      <vt:variant>
        <vt:i4>1</vt:i4>
      </vt:variant>
      <vt:variant>
        <vt:lpstr>スライド タイトル</vt:lpstr>
      </vt:variant>
      <vt:variant>
        <vt:i4>102</vt:i4>
      </vt:variant>
    </vt:vector>
  </HeadingPairs>
  <TitlesOfParts>
    <vt:vector size="115" baseType="lpstr">
      <vt:lpstr>HG丸ｺﾞｼｯｸM-PRO</vt:lpstr>
      <vt:lpstr>MeiryoKe_PGothic</vt:lpstr>
      <vt:lpstr>ＭＳ Ｐゴシック</vt:lpstr>
      <vt:lpstr>メイリオ</vt:lpstr>
      <vt:lpstr>Arial Narrow</vt:lpstr>
      <vt:lpstr>Calibri</vt:lpstr>
      <vt:lpstr>Consolas</vt:lpstr>
      <vt:lpstr>Courier New</vt:lpstr>
      <vt:lpstr>Segoe UI</vt:lpstr>
      <vt:lpstr>Times New Roman</vt:lpstr>
      <vt:lpstr>Verdana</vt:lpstr>
      <vt:lpstr>Wingdings</vt:lpstr>
      <vt:lpstr>cerulean</vt:lpstr>
      <vt:lpstr>先進計算機構成論 09</vt:lpstr>
      <vt:lpstr>前回の内容</vt:lpstr>
      <vt:lpstr>今回の内容</vt:lpstr>
      <vt:lpstr>動的命令スケジューリング</vt:lpstr>
      <vt:lpstr>動的命令スケジューリング</vt:lpstr>
      <vt:lpstr>言葉の定義１</vt:lpstr>
      <vt:lpstr>スカラのパイプラインを使って説明</vt:lpstr>
      <vt:lpstr>言葉の定義２</vt:lpstr>
      <vt:lpstr>動的スケジューリングを行う CPU の分類</vt:lpstr>
      <vt:lpstr>真の依存と偽の依存</vt:lpstr>
      <vt:lpstr>スケジューリング方法の分類</vt:lpstr>
      <vt:lpstr>スケジューリング方法の分類</vt:lpstr>
      <vt:lpstr>in-order 発行/in-order 完了</vt:lpstr>
      <vt:lpstr>単純なスカラ・パイプラインの動作と同じ</vt:lpstr>
      <vt:lpstr>in-order 発行/in-order 完了</vt:lpstr>
      <vt:lpstr>in-order 発行/in-order 完了</vt:lpstr>
      <vt:lpstr>動的スケジューリングを行うプロセッサの分類</vt:lpstr>
      <vt:lpstr>モチベーション：依存がない命令を裏で実行したい</vt:lpstr>
      <vt:lpstr>スコアボードによるストールの判定</vt:lpstr>
      <vt:lpstr>スコアボードの更新とストール</vt:lpstr>
      <vt:lpstr>スコアボードによるストールの判定</vt:lpstr>
      <vt:lpstr>1. 真の依存がある場合</vt:lpstr>
      <vt:lpstr>2. 出力依存（WAW）がある場合</vt:lpstr>
      <vt:lpstr>3. 逆依存（WAR）がある場合</vt:lpstr>
      <vt:lpstr>4. 依存がない場合</vt:lpstr>
      <vt:lpstr>in-order 発行/out-of-order 完了</vt:lpstr>
      <vt:lpstr>in-order 発行/out-of-order 完了</vt:lpstr>
      <vt:lpstr>in-order 発行/out-of-order 完了</vt:lpstr>
      <vt:lpstr>動的スケジューリングを行うプロセッサの分類</vt:lpstr>
      <vt:lpstr>out-of-order 発行/out-of-order 完了</vt:lpstr>
      <vt:lpstr>モチベーション</vt:lpstr>
      <vt:lpstr>1. 出力依存（WAW）があると止まってしまう</vt:lpstr>
      <vt:lpstr>2. なんらかの依存がある命令があるとそこで パイプライン全体が止まってしまう</vt:lpstr>
      <vt:lpstr>発行を out-of-order にした場合</vt:lpstr>
      <vt:lpstr>out-of-order 発行を行う方式</vt:lpstr>
      <vt:lpstr>レジスタ・リネーム</vt:lpstr>
      <vt:lpstr>レジスタ・リネーム</vt:lpstr>
      <vt:lpstr>レジスタ・リネームのための機構</vt:lpstr>
      <vt:lpstr>レジスタ・リネームの動作（１）</vt:lpstr>
      <vt:lpstr>レジスタ・リネームの動作（２）</vt:lpstr>
      <vt:lpstr>レジスタ・リネームの動作（３）</vt:lpstr>
      <vt:lpstr>レジスタ・リネームのまとめ</vt:lpstr>
      <vt:lpstr>out-of-order 発行/out-of-order 完了</vt:lpstr>
      <vt:lpstr>in-order 発行と out-of-order 発行の違い</vt:lpstr>
      <vt:lpstr>out-of-order 発行を行う CPU の構造</vt:lpstr>
      <vt:lpstr>大ざっぱな動作</vt:lpstr>
      <vt:lpstr>ディスパッチ</vt:lpstr>
      <vt:lpstr>バックエンドへの命令の発行</vt:lpstr>
      <vt:lpstr>発行キューのナイーブな実装</vt:lpstr>
      <vt:lpstr>ナイーブな実装の問題</vt:lpstr>
      <vt:lpstr>バックエンドへの命令の発行</vt:lpstr>
      <vt:lpstr>連想検索による実装</vt:lpstr>
      <vt:lpstr>連想検索による実装</vt:lpstr>
      <vt:lpstr>発行キューの動作（１）：Select</vt:lpstr>
      <vt:lpstr>発行キューの動作（２）：Wakeup</vt:lpstr>
      <vt:lpstr>バックエンドへの命令の発行</vt:lpstr>
      <vt:lpstr>行列を使った方式</vt:lpstr>
      <vt:lpstr>行列を使った方式</vt:lpstr>
      <vt:lpstr>マトリクス・スケジューラ</vt:lpstr>
      <vt:lpstr>マトリクス・スケジューラ</vt:lpstr>
      <vt:lpstr>実装の流派について</vt:lpstr>
      <vt:lpstr>out-of-order 発行/out-of-order 完了</vt:lpstr>
      <vt:lpstr>発行キューの特性</vt:lpstr>
      <vt:lpstr>in-order 発行と out-of-order 発行の性能（IPC） SPECCPU 2006 より</vt:lpstr>
      <vt:lpstr>out-of-order 発行/out-of-order 完了</vt:lpstr>
      <vt:lpstr>Out-of-order 発行の方式</vt:lpstr>
      <vt:lpstr>トマスロ方式</vt:lpstr>
      <vt:lpstr>トマスロ方式のブロック図</vt:lpstr>
      <vt:lpstr>トマスロ方式のブロック図</vt:lpstr>
      <vt:lpstr>トマスロ方式の動作</vt:lpstr>
      <vt:lpstr>トマスロ方式の動作</vt:lpstr>
      <vt:lpstr>トマスロ方式におけるリネームとスケジュール</vt:lpstr>
      <vt:lpstr>トマスロ方式（上）と物理レジスタ方式（下）の違い トマスロ方式はデータ・パス（緑部分）がかなり複雑</vt:lpstr>
      <vt:lpstr>トマスロ方式と物理レジスタ方式の違い</vt:lpstr>
      <vt:lpstr>性質の違い</vt:lpstr>
      <vt:lpstr>out-of-order 発行の残りの話題</vt:lpstr>
      <vt:lpstr>出欠と感想</vt:lpstr>
      <vt:lpstr>出席</vt:lpstr>
      <vt:lpstr>次回講義について</vt:lpstr>
      <vt:lpstr>課題について</vt:lpstr>
      <vt:lpstr>質問や感想</vt:lpstr>
      <vt:lpstr>質問や感想</vt:lpstr>
      <vt:lpstr>質問や感想</vt:lpstr>
      <vt:lpstr>質問や感想</vt:lpstr>
      <vt:lpstr>質問や感想</vt:lpstr>
      <vt:lpstr>質問や感想</vt:lpstr>
      <vt:lpstr>質問や感想</vt:lpstr>
      <vt:lpstr>質問や感想</vt:lpstr>
      <vt:lpstr>質問や感想</vt:lpstr>
      <vt:lpstr>質問や感想</vt:lpstr>
      <vt:lpstr>質問や感想</vt:lpstr>
      <vt:lpstr>質問や感想</vt:lpstr>
      <vt:lpstr>質問や感想</vt:lpstr>
      <vt:lpstr>質問や感想</vt:lpstr>
      <vt:lpstr>質問や感想</vt:lpstr>
      <vt:lpstr>質問や感想</vt:lpstr>
      <vt:lpstr>質問や感想</vt:lpstr>
      <vt:lpstr>質問や感想</vt:lpstr>
      <vt:lpstr>質問や感想</vt:lpstr>
      <vt:lpstr>質問や感想</vt:lpstr>
      <vt:lpstr>質問や感想</vt:lpstr>
      <vt:lpstr>質問や感想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shioya</dc:creator>
  <cp:lastModifiedBy>塩谷　亮太</cp:lastModifiedBy>
  <cp:revision>15108</cp:revision>
  <cp:lastPrinted>2014-12-10T13:40:48Z</cp:lastPrinted>
  <dcterms:created xsi:type="dcterms:W3CDTF">2014-11-17T10:53:59Z</dcterms:created>
  <dcterms:modified xsi:type="dcterms:W3CDTF">2026-07-13T05:54:02Z</dcterms:modified>
</cp:coreProperties>
</file>